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3/13/21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3/13/21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18108" y="1789683"/>
            <a:ext cx="3485515" cy="4090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3/13/21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3/13/21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3/13/21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996696"/>
            <a:ext cx="9144000" cy="11277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0" y="1021080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19">
                <a:moveTo>
                  <a:pt x="0" y="45720"/>
                </a:moveTo>
                <a:lnTo>
                  <a:pt x="9144000" y="45720"/>
                </a:lnTo>
                <a:lnTo>
                  <a:pt x="9144000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0" y="1"/>
            <a:ext cx="9144000" cy="1021080"/>
          </a:xfrm>
          <a:custGeom>
            <a:avLst/>
            <a:gdLst/>
            <a:ahLst/>
            <a:cxnLst/>
            <a:rect l="l" t="t" r="r" b="b"/>
            <a:pathLst>
              <a:path w="9144000" h="1021080">
                <a:moveTo>
                  <a:pt x="0" y="0"/>
                </a:moveTo>
                <a:lnTo>
                  <a:pt x="9143998" y="0"/>
                </a:lnTo>
                <a:lnTo>
                  <a:pt x="9143998" y="1021078"/>
                </a:lnTo>
                <a:lnTo>
                  <a:pt x="0" y="102107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18108" y="1348740"/>
            <a:ext cx="7911465" cy="9950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8108" y="1348740"/>
            <a:ext cx="7860030" cy="19735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54227" y="6699893"/>
            <a:ext cx="400684" cy="16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3/13/21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673615" y="6699893"/>
            <a:ext cx="3002279" cy="16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06997" y="6699893"/>
            <a:ext cx="165100" cy="16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hyperlink" Target="http://cs224w.stanford.edu/" TargetMode="External"/><Relationship Id="rId6" Type="http://schemas.openxmlformats.org/officeDocument/2006/relationships/image" Target="../media/image5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3" Type="http://schemas.openxmlformats.org/officeDocument/2006/relationships/image" Target="../media/image9.jpg"/><Relationship Id="rId4" Type="http://schemas.openxmlformats.org/officeDocument/2006/relationships/image" Target="../media/image10.png"/><Relationship Id="rId5" Type="http://schemas.openxmlformats.org/officeDocument/2006/relationships/image" Target="../media/image11.jpg"/><Relationship Id="rId6" Type="http://schemas.openxmlformats.org/officeDocument/2006/relationships/image" Target="../media/image12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hyperlink" Target="http://cs224w.stanford.edu/" TargetMode="External"/><Relationship Id="rId6" Type="http://schemas.openxmlformats.org/officeDocument/2006/relationships/image" Target="../media/image25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1.pn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4.pn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hyperlink" Target="http://cs224w.stanford.edu/" TargetMode="External"/><Relationship Id="rId6" Type="http://schemas.openxmlformats.org/officeDocument/2006/relationships/image" Target="../media/image58.jp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9.pn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0.pn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1.png"/><Relationship Id="rId3" Type="http://schemas.openxmlformats.org/officeDocument/2006/relationships/image" Target="../media/image62.pn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3.png"/><Relationship Id="rId3" Type="http://schemas.openxmlformats.org/officeDocument/2006/relationships/image" Target="../media/image64.pn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5.png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6.pn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7.png"/><Relationship Id="rId3" Type="http://schemas.openxmlformats.org/officeDocument/2006/relationships/image" Target="../media/image68.jpg"/><Relationship Id="rId4" Type="http://schemas.openxmlformats.org/officeDocument/2006/relationships/image" Target="../media/image69.png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2.png"/><Relationship Id="rId3" Type="http://schemas.openxmlformats.org/officeDocument/2006/relationships/image" Target="../media/image73.png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4.png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5.png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6.png"/><Relationship Id="rId3" Type="http://schemas.openxmlformats.org/officeDocument/2006/relationships/image" Target="../media/image77.png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8.png"/><Relationship Id="rId3" Type="http://schemas.openxmlformats.org/officeDocument/2006/relationships/image" Target="../media/image79.png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0.png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1.png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2.png"/><Relationship Id="rId3" Type="http://schemas.openxmlformats.org/officeDocument/2006/relationships/image" Target="../media/image83.png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4.png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5.png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6.png"/><Relationship Id="rId3" Type="http://schemas.openxmlformats.org/officeDocument/2006/relationships/image" Target="../media/image87.png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8.png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9.png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0.png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1.png"/><Relationship Id="rId3" Type="http://schemas.openxmlformats.org/officeDocument/2006/relationships/image" Target="../media/image92.png"/><Relationship Id="rId4" Type="http://schemas.openxmlformats.org/officeDocument/2006/relationships/image" Target="../media/image93.png"/><Relationship Id="rId5" Type="http://schemas.openxmlformats.org/officeDocument/2006/relationships/hyperlink" Target="http://cs224w.stanford.edu/" TargetMode="External"/><Relationship Id="rId6" Type="http://schemas.openxmlformats.org/officeDocument/2006/relationships/image" Target="../media/image94.jpg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5.png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6.png"/><Relationship Id="rId3" Type="http://schemas.openxmlformats.org/officeDocument/2006/relationships/hyperlink" Target="http://cs224w.stanford.edu/" TargetMode="External"/></Relationships>
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7.png"/><Relationship Id="rId3" Type="http://schemas.openxmlformats.org/officeDocument/2006/relationships/hyperlink" Target="http://cs224w.stanford.edu/" TargetMode="External"/></Relationships>
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8.png"/></Relationships>
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9.png"/></Relationships>
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0.png"/></Relationships>
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1.png"/></Relationships>
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2.png"/></Relationships>
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3.png"/></Relationships>
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4.png"/></Relationships>
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5.png"/></Relationships>
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6.png"/></Relationships>
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7.png"/></Relationships>
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8.png"/></Relationships>
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9.png"/></Relationships>
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0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5135880"/>
          </a:xfrm>
          <a:custGeom>
            <a:avLst/>
            <a:gdLst/>
            <a:ahLst/>
            <a:cxnLst/>
            <a:rect l="l" t="t" r="r" b="b"/>
            <a:pathLst>
              <a:path w="9144000" h="5135880">
                <a:moveTo>
                  <a:pt x="0" y="0"/>
                </a:moveTo>
                <a:lnTo>
                  <a:pt x="9143998" y="0"/>
                </a:lnTo>
                <a:lnTo>
                  <a:pt x="9143998" y="5135430"/>
                </a:lnTo>
                <a:lnTo>
                  <a:pt x="0" y="51354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5105400"/>
            <a:ext cx="9144000" cy="112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515119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571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07719" y="3538728"/>
            <a:ext cx="7671816" cy="14752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40739" y="5266435"/>
            <a:ext cx="5060950" cy="1249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solidFill>
                  <a:srgbClr val="FFFFFF"/>
                </a:solidFill>
                <a:latin typeface="Corbel"/>
                <a:cs typeface="Corbel"/>
              </a:rPr>
              <a:t>CS224W: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Machine Learning </a:t>
            </a: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with</a:t>
            </a:r>
            <a:r>
              <a:rPr dirty="0" sz="2400" spc="-114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Graphs  Jure </a:t>
            </a:r>
            <a:r>
              <a:rPr dirty="0" sz="2400" spc="-10">
                <a:solidFill>
                  <a:srgbClr val="FFFFFF"/>
                </a:solidFill>
                <a:latin typeface="Corbel"/>
                <a:cs typeface="Corbel"/>
              </a:rPr>
              <a:t>Leskovec,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Stanford</a:t>
            </a:r>
            <a:r>
              <a:rPr dirty="0" sz="20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University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3200" spc="-15">
                <a:solidFill>
                  <a:srgbClr val="FFFFFF"/>
                </a:solidFill>
                <a:latin typeface="Corbel"/>
                <a:cs typeface="Corbel"/>
                <a:hlinkClick r:id="rId5"/>
              </a:rPr>
              <a:t>http://cs224w.stanford.edu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52359" y="5166359"/>
            <a:ext cx="1691640" cy="16916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237690" y="4494474"/>
            <a:ext cx="2146935" cy="302895"/>
          </a:xfrm>
          <a:custGeom>
            <a:avLst/>
            <a:gdLst/>
            <a:ahLst/>
            <a:cxnLst/>
            <a:rect l="l" t="t" r="r" b="b"/>
            <a:pathLst>
              <a:path w="2146934" h="302895">
                <a:moveTo>
                  <a:pt x="1996309" y="59385"/>
                </a:moveTo>
                <a:lnTo>
                  <a:pt x="28729" y="239115"/>
                </a:lnTo>
                <a:lnTo>
                  <a:pt x="0" y="273621"/>
                </a:lnTo>
                <a:lnTo>
                  <a:pt x="3608" y="285701"/>
                </a:lnTo>
                <a:lnTo>
                  <a:pt x="11302" y="295133"/>
                </a:lnTo>
                <a:lnTo>
                  <a:pt x="21971" y="300990"/>
                </a:lnTo>
                <a:lnTo>
                  <a:pt x="34505" y="302351"/>
                </a:lnTo>
                <a:lnTo>
                  <a:pt x="2002087" y="122622"/>
                </a:lnTo>
                <a:lnTo>
                  <a:pt x="2020277" y="89079"/>
                </a:lnTo>
                <a:lnTo>
                  <a:pt x="1996309" y="59385"/>
                </a:lnTo>
                <a:close/>
              </a:path>
              <a:path w="2146934" h="302895">
                <a:moveTo>
                  <a:pt x="2095405" y="57459"/>
                </a:moveTo>
                <a:lnTo>
                  <a:pt x="2017388" y="57459"/>
                </a:lnTo>
                <a:lnTo>
                  <a:pt x="2029922" y="58820"/>
                </a:lnTo>
                <a:lnTo>
                  <a:pt x="2040591" y="64678"/>
                </a:lnTo>
                <a:lnTo>
                  <a:pt x="2048285" y="74109"/>
                </a:lnTo>
                <a:lnTo>
                  <a:pt x="2051894" y="86189"/>
                </a:lnTo>
                <a:lnTo>
                  <a:pt x="2050534" y="98724"/>
                </a:lnTo>
                <a:lnTo>
                  <a:pt x="2044676" y="109393"/>
                </a:lnTo>
                <a:lnTo>
                  <a:pt x="2035244" y="117087"/>
                </a:lnTo>
                <a:lnTo>
                  <a:pt x="2023164" y="120696"/>
                </a:lnTo>
                <a:lnTo>
                  <a:pt x="2002087" y="122622"/>
                </a:lnTo>
                <a:lnTo>
                  <a:pt x="1965704" y="189710"/>
                </a:lnTo>
                <a:lnTo>
                  <a:pt x="2146750" y="77525"/>
                </a:lnTo>
                <a:lnTo>
                  <a:pt x="2095405" y="57459"/>
                </a:lnTo>
                <a:close/>
              </a:path>
              <a:path w="2146934" h="302895">
                <a:moveTo>
                  <a:pt x="2017388" y="57459"/>
                </a:moveTo>
                <a:lnTo>
                  <a:pt x="1996309" y="59385"/>
                </a:lnTo>
                <a:lnTo>
                  <a:pt x="2020277" y="89079"/>
                </a:lnTo>
                <a:lnTo>
                  <a:pt x="2002087" y="122622"/>
                </a:lnTo>
                <a:lnTo>
                  <a:pt x="2044676" y="109393"/>
                </a:lnTo>
                <a:lnTo>
                  <a:pt x="2051894" y="86189"/>
                </a:lnTo>
                <a:lnTo>
                  <a:pt x="2048285" y="74109"/>
                </a:lnTo>
                <a:lnTo>
                  <a:pt x="2040591" y="64678"/>
                </a:lnTo>
                <a:lnTo>
                  <a:pt x="2029922" y="58820"/>
                </a:lnTo>
                <a:lnTo>
                  <a:pt x="2017388" y="57459"/>
                </a:lnTo>
                <a:close/>
              </a:path>
              <a:path w="2146934" h="302895">
                <a:moveTo>
                  <a:pt x="1948375" y="0"/>
                </a:moveTo>
                <a:lnTo>
                  <a:pt x="1996309" y="59385"/>
                </a:lnTo>
                <a:lnTo>
                  <a:pt x="2017388" y="57459"/>
                </a:lnTo>
                <a:lnTo>
                  <a:pt x="2095405" y="57459"/>
                </a:lnTo>
                <a:lnTo>
                  <a:pt x="19483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69976" y="347472"/>
            <a:ext cx="7495032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18108" y="1296924"/>
            <a:ext cx="434911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 b="1">
                <a:solidFill>
                  <a:srgbClr val="D60093"/>
                </a:solidFill>
                <a:latin typeface="Calibri"/>
                <a:cs typeface="Calibri"/>
              </a:rPr>
              <a:t>Recommender</a:t>
            </a:r>
            <a:r>
              <a:rPr dirty="0" spc="-60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pc="-25" b="1">
                <a:solidFill>
                  <a:srgbClr val="D60093"/>
                </a:solidFill>
                <a:latin typeface="Calibri"/>
                <a:cs typeface="Calibri"/>
              </a:rPr>
              <a:t>systems: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55244" rIns="0" bIns="0" rtlCol="0" vert="horz">
            <a:spAutoFit/>
          </a:bodyPr>
          <a:lstStyle/>
          <a:p>
            <a:pPr marL="625475" indent="-274320">
              <a:lnSpc>
                <a:spcPct val="100000"/>
              </a:lnSpc>
              <a:spcBef>
                <a:spcPts val="434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pc="-15"/>
              <a:t>Amazon</a:t>
            </a:r>
          </a:p>
          <a:p>
            <a:pPr marL="625475" indent="-274320">
              <a:lnSpc>
                <a:spcPct val="100000"/>
              </a:lnSpc>
              <a:spcBef>
                <a:spcPts val="334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pc="-60"/>
              <a:t>YouTube</a:t>
            </a:r>
          </a:p>
          <a:p>
            <a:pPr marL="625475" indent="-274320">
              <a:lnSpc>
                <a:spcPct val="100000"/>
              </a:lnSpc>
              <a:spcBef>
                <a:spcPts val="33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pc="-20"/>
              <a:t>Pinterest</a:t>
            </a:r>
          </a:p>
          <a:p>
            <a:pPr marL="625475" indent="-274320">
              <a:lnSpc>
                <a:spcPts val="3185"/>
              </a:lnSpc>
              <a:spcBef>
                <a:spcPts val="334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pc="-20"/>
              <a:t>Etc.</a:t>
            </a:r>
          </a:p>
          <a:p>
            <a:pPr marL="332740" indent="-320040">
              <a:lnSpc>
                <a:spcPts val="366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b="1">
                <a:solidFill>
                  <a:srgbClr val="D60093"/>
                </a:solidFill>
                <a:latin typeface="Calibri"/>
                <a:cs typeface="Calibri"/>
              </a:rPr>
              <a:t>ML</a:t>
            </a:r>
            <a:r>
              <a:rPr dirty="0" sz="3200" spc="-95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200" spc="-15" b="1">
                <a:solidFill>
                  <a:srgbClr val="D60093"/>
                </a:solidFill>
                <a:latin typeface="Calibri"/>
                <a:cs typeface="Calibri"/>
              </a:rPr>
              <a:t>tasks: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35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>
                <a:latin typeface="Calibri"/>
                <a:cs typeface="Calibri"/>
              </a:rPr>
              <a:t>Recommend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items</a:t>
            </a:r>
            <a:endParaRPr sz="2800">
              <a:latin typeface="Calibri"/>
              <a:cs typeface="Calibri"/>
            </a:endParaRPr>
          </a:p>
          <a:p>
            <a:pPr marL="661670">
              <a:lnSpc>
                <a:spcPct val="100000"/>
              </a:lnSpc>
              <a:spcBef>
                <a:spcPts val="229"/>
              </a:spcBef>
            </a:pPr>
            <a:r>
              <a:rPr dirty="0" sz="2400" spc="-5"/>
              <a:t>(link</a:t>
            </a:r>
            <a:r>
              <a:rPr dirty="0" sz="2400" spc="-45"/>
              <a:t> </a:t>
            </a:r>
            <a:r>
              <a:rPr dirty="0" sz="2400" spc="-10"/>
              <a:t>prediction)</a:t>
            </a:r>
            <a:endParaRPr sz="2400"/>
          </a:p>
          <a:p>
            <a:pPr lvl="1" marL="625475" indent="-274320">
              <a:lnSpc>
                <a:spcPct val="100000"/>
              </a:lnSpc>
              <a:spcBef>
                <a:spcPts val="32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Classify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 spc="-60">
                <a:latin typeface="Calibri"/>
                <a:cs typeface="Calibri"/>
              </a:rPr>
              <a:t>users/items</a:t>
            </a:r>
            <a:endParaRPr sz="2800">
              <a:latin typeface="Calibri"/>
              <a:cs typeface="Calibri"/>
            </a:endParaRPr>
          </a:p>
          <a:p>
            <a:pPr algn="ctr" marL="302895">
              <a:lnSpc>
                <a:spcPct val="100000"/>
              </a:lnSpc>
              <a:spcBef>
                <a:spcPts val="350"/>
              </a:spcBef>
            </a:pPr>
            <a:r>
              <a:rPr dirty="0" sz="2400" spc="-5"/>
              <a:t>(node</a:t>
            </a:r>
            <a:r>
              <a:rPr dirty="0" sz="2400" spc="-25"/>
              <a:t> </a:t>
            </a:r>
            <a:r>
              <a:rPr dirty="0" sz="2400" spc="-10"/>
              <a:t>classification)</a:t>
            </a:r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5480725" y="3419430"/>
            <a:ext cx="1908810" cy="219075"/>
          </a:xfrm>
          <a:custGeom>
            <a:avLst/>
            <a:gdLst/>
            <a:ahLst/>
            <a:cxnLst/>
            <a:rect l="l" t="t" r="r" b="b"/>
            <a:pathLst>
              <a:path w="1908809" h="219075">
                <a:moveTo>
                  <a:pt x="1758904" y="61102"/>
                </a:moveTo>
                <a:lnTo>
                  <a:pt x="29975" y="155318"/>
                </a:lnTo>
                <a:lnTo>
                  <a:pt x="0" y="188748"/>
                </a:lnTo>
                <a:lnTo>
                  <a:pt x="3163" y="200953"/>
                </a:lnTo>
                <a:lnTo>
                  <a:pt x="10507" y="210660"/>
                </a:lnTo>
                <a:lnTo>
                  <a:pt x="20954" y="216905"/>
                </a:lnTo>
                <a:lnTo>
                  <a:pt x="33430" y="218724"/>
                </a:lnTo>
                <a:lnTo>
                  <a:pt x="1762360" y="124508"/>
                </a:lnTo>
                <a:lnTo>
                  <a:pt x="1781768" y="91653"/>
                </a:lnTo>
                <a:lnTo>
                  <a:pt x="1758904" y="61102"/>
                </a:lnTo>
                <a:close/>
              </a:path>
              <a:path w="1908809" h="219075">
                <a:moveTo>
                  <a:pt x="1851412" y="59950"/>
                </a:moveTo>
                <a:lnTo>
                  <a:pt x="1780039" y="59950"/>
                </a:lnTo>
                <a:lnTo>
                  <a:pt x="1792515" y="61769"/>
                </a:lnTo>
                <a:lnTo>
                  <a:pt x="1802963" y="68014"/>
                </a:lnTo>
                <a:lnTo>
                  <a:pt x="1810306" y="77721"/>
                </a:lnTo>
                <a:lnTo>
                  <a:pt x="1813471" y="89926"/>
                </a:lnTo>
                <a:lnTo>
                  <a:pt x="1811652" y="102402"/>
                </a:lnTo>
                <a:lnTo>
                  <a:pt x="1805406" y="112849"/>
                </a:lnTo>
                <a:lnTo>
                  <a:pt x="1795699" y="120192"/>
                </a:lnTo>
                <a:lnTo>
                  <a:pt x="1783495" y="123356"/>
                </a:lnTo>
                <a:lnTo>
                  <a:pt x="1762360" y="124508"/>
                </a:lnTo>
                <a:lnTo>
                  <a:pt x="1723544" y="190218"/>
                </a:lnTo>
                <a:lnTo>
                  <a:pt x="1908580" y="84743"/>
                </a:lnTo>
                <a:lnTo>
                  <a:pt x="1851412" y="59950"/>
                </a:lnTo>
                <a:close/>
              </a:path>
              <a:path w="1908809" h="219075">
                <a:moveTo>
                  <a:pt x="1780039" y="59950"/>
                </a:moveTo>
                <a:lnTo>
                  <a:pt x="1758904" y="61102"/>
                </a:lnTo>
                <a:lnTo>
                  <a:pt x="1781768" y="91653"/>
                </a:lnTo>
                <a:lnTo>
                  <a:pt x="1762360" y="124508"/>
                </a:lnTo>
                <a:lnTo>
                  <a:pt x="1805406" y="112849"/>
                </a:lnTo>
                <a:lnTo>
                  <a:pt x="1813471" y="89926"/>
                </a:lnTo>
                <a:lnTo>
                  <a:pt x="1810306" y="77721"/>
                </a:lnTo>
                <a:lnTo>
                  <a:pt x="1802963" y="68014"/>
                </a:lnTo>
                <a:lnTo>
                  <a:pt x="1792515" y="61769"/>
                </a:lnTo>
                <a:lnTo>
                  <a:pt x="1780039" y="59950"/>
                </a:lnTo>
                <a:close/>
              </a:path>
              <a:path w="1908809" h="219075">
                <a:moveTo>
                  <a:pt x="1713179" y="0"/>
                </a:moveTo>
                <a:lnTo>
                  <a:pt x="1758904" y="61102"/>
                </a:lnTo>
                <a:lnTo>
                  <a:pt x="1780039" y="59950"/>
                </a:lnTo>
                <a:lnTo>
                  <a:pt x="1851412" y="59950"/>
                </a:lnTo>
                <a:lnTo>
                  <a:pt x="17131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562819" y="1995932"/>
            <a:ext cx="1340485" cy="760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8000"/>
                </a:solidFill>
                <a:latin typeface="Arial"/>
                <a:cs typeface="Arial"/>
              </a:rPr>
              <a:t>Users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2400" spc="-5">
                <a:latin typeface="Arial"/>
                <a:cs typeface="Arial"/>
              </a:rPr>
              <a:t>100M~1B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41077" y="2020316"/>
            <a:ext cx="2424430" cy="760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C00000"/>
                </a:solidFill>
                <a:latin typeface="Arial"/>
                <a:cs typeface="Arial"/>
              </a:rPr>
              <a:t>Products/Videos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2400">
                <a:latin typeface="Arial"/>
                <a:cs typeface="Arial"/>
              </a:rPr>
              <a:t>10M ~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1B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91168" y="2916427"/>
            <a:ext cx="16192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Arial"/>
                <a:cs typeface="Arial"/>
              </a:rPr>
              <a:t>Bought/saw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149858" y="3574710"/>
            <a:ext cx="2235200" cy="899160"/>
          </a:xfrm>
          <a:custGeom>
            <a:avLst/>
            <a:gdLst/>
            <a:ahLst/>
            <a:cxnLst/>
            <a:rect l="l" t="t" r="r" b="b"/>
            <a:pathLst>
              <a:path w="2235200" h="899160">
                <a:moveTo>
                  <a:pt x="2084888" y="854817"/>
                </a:moveTo>
                <a:lnTo>
                  <a:pt x="2022593" y="898904"/>
                </a:lnTo>
                <a:lnTo>
                  <a:pt x="2234582" y="878333"/>
                </a:lnTo>
                <a:lnTo>
                  <a:pt x="2221960" y="864515"/>
                </a:lnTo>
                <a:lnTo>
                  <a:pt x="2117078" y="864515"/>
                </a:lnTo>
                <a:lnTo>
                  <a:pt x="2104647" y="862411"/>
                </a:lnTo>
                <a:lnTo>
                  <a:pt x="2084888" y="854817"/>
                </a:lnTo>
                <a:close/>
              </a:path>
              <a:path w="2235200" h="899160">
                <a:moveTo>
                  <a:pt x="2107668" y="795544"/>
                </a:moveTo>
                <a:lnTo>
                  <a:pt x="2116035" y="832774"/>
                </a:lnTo>
                <a:lnTo>
                  <a:pt x="2084888" y="854817"/>
                </a:lnTo>
                <a:lnTo>
                  <a:pt x="2104647" y="862411"/>
                </a:lnTo>
                <a:lnTo>
                  <a:pt x="2145673" y="844164"/>
                </a:lnTo>
                <a:lnTo>
                  <a:pt x="2147778" y="831733"/>
                </a:lnTo>
                <a:lnTo>
                  <a:pt x="2145047" y="819871"/>
                </a:lnTo>
                <a:lnTo>
                  <a:pt x="2138068" y="809900"/>
                </a:lnTo>
                <a:lnTo>
                  <a:pt x="2127426" y="803137"/>
                </a:lnTo>
                <a:lnTo>
                  <a:pt x="2107668" y="795544"/>
                </a:lnTo>
                <a:close/>
              </a:path>
              <a:path w="2235200" h="899160">
                <a:moveTo>
                  <a:pt x="2090933" y="721084"/>
                </a:moveTo>
                <a:lnTo>
                  <a:pt x="2107668" y="795544"/>
                </a:lnTo>
                <a:lnTo>
                  <a:pt x="2127426" y="803137"/>
                </a:lnTo>
                <a:lnTo>
                  <a:pt x="2138068" y="809900"/>
                </a:lnTo>
                <a:lnTo>
                  <a:pt x="2145047" y="819871"/>
                </a:lnTo>
                <a:lnTo>
                  <a:pt x="2147778" y="831733"/>
                </a:lnTo>
                <a:lnTo>
                  <a:pt x="2145673" y="844164"/>
                </a:lnTo>
                <a:lnTo>
                  <a:pt x="2138893" y="854817"/>
                </a:lnTo>
                <a:lnTo>
                  <a:pt x="2128939" y="861784"/>
                </a:lnTo>
                <a:lnTo>
                  <a:pt x="2117078" y="864515"/>
                </a:lnTo>
                <a:lnTo>
                  <a:pt x="2221960" y="864515"/>
                </a:lnTo>
                <a:lnTo>
                  <a:pt x="2090933" y="721084"/>
                </a:lnTo>
                <a:close/>
              </a:path>
              <a:path w="2235200" h="899160">
                <a:moveTo>
                  <a:pt x="30699" y="0"/>
                </a:moveTo>
                <a:lnTo>
                  <a:pt x="18838" y="2730"/>
                </a:lnTo>
                <a:lnTo>
                  <a:pt x="8866" y="9709"/>
                </a:lnTo>
                <a:lnTo>
                  <a:pt x="2104" y="20350"/>
                </a:lnTo>
                <a:lnTo>
                  <a:pt x="0" y="32781"/>
                </a:lnTo>
                <a:lnTo>
                  <a:pt x="2730" y="44643"/>
                </a:lnTo>
                <a:lnTo>
                  <a:pt x="9709" y="54615"/>
                </a:lnTo>
                <a:lnTo>
                  <a:pt x="20350" y="61377"/>
                </a:lnTo>
                <a:lnTo>
                  <a:pt x="2084888" y="854817"/>
                </a:lnTo>
                <a:lnTo>
                  <a:pt x="2116035" y="832774"/>
                </a:lnTo>
                <a:lnTo>
                  <a:pt x="2107668" y="795544"/>
                </a:lnTo>
                <a:lnTo>
                  <a:pt x="43130" y="2104"/>
                </a:lnTo>
                <a:lnTo>
                  <a:pt x="306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241914" y="4742592"/>
            <a:ext cx="2143125" cy="732790"/>
          </a:xfrm>
          <a:custGeom>
            <a:avLst/>
            <a:gdLst/>
            <a:ahLst/>
            <a:cxnLst/>
            <a:rect l="l" t="t" r="r" b="b"/>
            <a:pathLst>
              <a:path w="2143125" h="732789">
                <a:moveTo>
                  <a:pt x="1991684" y="684803"/>
                </a:moveTo>
                <a:lnTo>
                  <a:pt x="1932173" y="732582"/>
                </a:lnTo>
                <a:lnTo>
                  <a:pt x="2142527" y="699209"/>
                </a:lnTo>
                <a:lnTo>
                  <a:pt x="2135641" y="692532"/>
                </a:lnTo>
                <a:lnTo>
                  <a:pt x="2024400" y="692532"/>
                </a:lnTo>
                <a:lnTo>
                  <a:pt x="2011864" y="691185"/>
                </a:lnTo>
                <a:lnTo>
                  <a:pt x="1991684" y="684803"/>
                </a:lnTo>
                <a:close/>
              </a:path>
              <a:path w="2143125" h="732789">
                <a:moveTo>
                  <a:pt x="2010831" y="624258"/>
                </a:moveTo>
                <a:lnTo>
                  <a:pt x="2021439" y="660913"/>
                </a:lnTo>
                <a:lnTo>
                  <a:pt x="1991684" y="684803"/>
                </a:lnTo>
                <a:lnTo>
                  <a:pt x="2011864" y="691185"/>
                </a:lnTo>
                <a:lnTo>
                  <a:pt x="2051709" y="670486"/>
                </a:lnTo>
                <a:lnTo>
                  <a:pt x="2053057" y="657951"/>
                </a:lnTo>
                <a:lnTo>
                  <a:pt x="2049613" y="646277"/>
                </a:lnTo>
                <a:lnTo>
                  <a:pt x="2042043" y="636746"/>
                </a:lnTo>
                <a:lnTo>
                  <a:pt x="2031012" y="630640"/>
                </a:lnTo>
                <a:lnTo>
                  <a:pt x="2010831" y="624258"/>
                </a:lnTo>
                <a:close/>
              </a:path>
              <a:path w="2143125" h="732789">
                <a:moveTo>
                  <a:pt x="1989615" y="550949"/>
                </a:moveTo>
                <a:lnTo>
                  <a:pt x="2010831" y="624258"/>
                </a:lnTo>
                <a:lnTo>
                  <a:pt x="2031012" y="630640"/>
                </a:lnTo>
                <a:lnTo>
                  <a:pt x="2042043" y="636746"/>
                </a:lnTo>
                <a:lnTo>
                  <a:pt x="2049613" y="646277"/>
                </a:lnTo>
                <a:lnTo>
                  <a:pt x="2053057" y="657951"/>
                </a:lnTo>
                <a:lnTo>
                  <a:pt x="2051709" y="670486"/>
                </a:lnTo>
                <a:lnTo>
                  <a:pt x="2045604" y="681518"/>
                </a:lnTo>
                <a:lnTo>
                  <a:pt x="2036073" y="689088"/>
                </a:lnTo>
                <a:lnTo>
                  <a:pt x="2024400" y="692532"/>
                </a:lnTo>
                <a:lnTo>
                  <a:pt x="2135641" y="692532"/>
                </a:lnTo>
                <a:lnTo>
                  <a:pt x="1989615" y="550949"/>
                </a:lnTo>
                <a:close/>
              </a:path>
              <a:path w="2143125" h="732789">
                <a:moveTo>
                  <a:pt x="28657" y="0"/>
                </a:moveTo>
                <a:lnTo>
                  <a:pt x="16983" y="3444"/>
                </a:lnTo>
                <a:lnTo>
                  <a:pt x="7453" y="11015"/>
                </a:lnTo>
                <a:lnTo>
                  <a:pt x="1348" y="22046"/>
                </a:lnTo>
                <a:lnTo>
                  <a:pt x="0" y="34581"/>
                </a:lnTo>
                <a:lnTo>
                  <a:pt x="3444" y="46255"/>
                </a:lnTo>
                <a:lnTo>
                  <a:pt x="11015" y="55786"/>
                </a:lnTo>
                <a:lnTo>
                  <a:pt x="22046" y="61891"/>
                </a:lnTo>
                <a:lnTo>
                  <a:pt x="1991684" y="684803"/>
                </a:lnTo>
                <a:lnTo>
                  <a:pt x="2021439" y="660913"/>
                </a:lnTo>
                <a:lnTo>
                  <a:pt x="2010831" y="624258"/>
                </a:lnTo>
                <a:lnTo>
                  <a:pt x="41193" y="1348"/>
                </a:lnTo>
                <a:lnTo>
                  <a:pt x="2865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238170" y="5535015"/>
            <a:ext cx="2146300" cy="519430"/>
          </a:xfrm>
          <a:custGeom>
            <a:avLst/>
            <a:gdLst/>
            <a:ahLst/>
            <a:cxnLst/>
            <a:rect l="l" t="t" r="r" b="b"/>
            <a:pathLst>
              <a:path w="2146300" h="519429">
                <a:moveTo>
                  <a:pt x="1994748" y="53727"/>
                </a:moveTo>
                <a:lnTo>
                  <a:pt x="24774" y="456742"/>
                </a:lnTo>
                <a:lnTo>
                  <a:pt x="13166" y="461663"/>
                </a:lnTo>
                <a:lnTo>
                  <a:pt x="4643" y="470352"/>
                </a:lnTo>
                <a:lnTo>
                  <a:pt x="0" y="481603"/>
                </a:lnTo>
                <a:lnTo>
                  <a:pt x="32" y="494211"/>
                </a:lnTo>
                <a:lnTo>
                  <a:pt x="4954" y="505819"/>
                </a:lnTo>
                <a:lnTo>
                  <a:pt x="13643" y="514343"/>
                </a:lnTo>
                <a:lnTo>
                  <a:pt x="24894" y="518986"/>
                </a:lnTo>
                <a:lnTo>
                  <a:pt x="37502" y="518954"/>
                </a:lnTo>
                <a:lnTo>
                  <a:pt x="2007474" y="115938"/>
                </a:lnTo>
                <a:lnTo>
                  <a:pt x="2021848" y="80590"/>
                </a:lnTo>
                <a:lnTo>
                  <a:pt x="1994748" y="53727"/>
                </a:lnTo>
                <a:close/>
              </a:path>
              <a:path w="2146300" h="519429">
                <a:moveTo>
                  <a:pt x="2125064" y="49452"/>
                </a:moveTo>
                <a:lnTo>
                  <a:pt x="2028092" y="49452"/>
                </a:lnTo>
                <a:lnTo>
                  <a:pt x="2039343" y="54095"/>
                </a:lnTo>
                <a:lnTo>
                  <a:pt x="2048031" y="62619"/>
                </a:lnTo>
                <a:lnTo>
                  <a:pt x="2052953" y="74227"/>
                </a:lnTo>
                <a:lnTo>
                  <a:pt x="2052986" y="86834"/>
                </a:lnTo>
                <a:lnTo>
                  <a:pt x="2048342" y="98086"/>
                </a:lnTo>
                <a:lnTo>
                  <a:pt x="2039818" y="106775"/>
                </a:lnTo>
                <a:lnTo>
                  <a:pt x="2028210" y="111696"/>
                </a:lnTo>
                <a:lnTo>
                  <a:pt x="2007474" y="115938"/>
                </a:lnTo>
                <a:lnTo>
                  <a:pt x="1978727" y="186635"/>
                </a:lnTo>
                <a:lnTo>
                  <a:pt x="2146271" y="55136"/>
                </a:lnTo>
                <a:lnTo>
                  <a:pt x="2125064" y="49452"/>
                </a:lnTo>
                <a:close/>
              </a:path>
              <a:path w="2146300" h="519429">
                <a:moveTo>
                  <a:pt x="2028092" y="49452"/>
                </a:moveTo>
                <a:lnTo>
                  <a:pt x="2015484" y="49485"/>
                </a:lnTo>
                <a:lnTo>
                  <a:pt x="1994748" y="53727"/>
                </a:lnTo>
                <a:lnTo>
                  <a:pt x="2021848" y="80590"/>
                </a:lnTo>
                <a:lnTo>
                  <a:pt x="2007474" y="115938"/>
                </a:lnTo>
                <a:lnTo>
                  <a:pt x="2028210" y="111696"/>
                </a:lnTo>
                <a:lnTo>
                  <a:pt x="2039818" y="106775"/>
                </a:lnTo>
                <a:lnTo>
                  <a:pt x="2048342" y="98086"/>
                </a:lnTo>
                <a:lnTo>
                  <a:pt x="2052986" y="86834"/>
                </a:lnTo>
                <a:lnTo>
                  <a:pt x="2052953" y="74227"/>
                </a:lnTo>
                <a:lnTo>
                  <a:pt x="2048031" y="62619"/>
                </a:lnTo>
                <a:lnTo>
                  <a:pt x="2039343" y="54095"/>
                </a:lnTo>
                <a:lnTo>
                  <a:pt x="2028092" y="49452"/>
                </a:lnTo>
                <a:close/>
              </a:path>
              <a:path w="2146300" h="519429">
                <a:moveTo>
                  <a:pt x="1940546" y="0"/>
                </a:moveTo>
                <a:lnTo>
                  <a:pt x="1994748" y="53727"/>
                </a:lnTo>
                <a:lnTo>
                  <a:pt x="2015484" y="49485"/>
                </a:lnTo>
                <a:lnTo>
                  <a:pt x="2125064" y="49452"/>
                </a:lnTo>
                <a:lnTo>
                  <a:pt x="194054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208490" y="6054361"/>
            <a:ext cx="2176145" cy="339725"/>
          </a:xfrm>
          <a:custGeom>
            <a:avLst/>
            <a:gdLst/>
            <a:ahLst/>
            <a:cxnLst/>
            <a:rect l="l" t="t" r="r" b="b"/>
            <a:pathLst>
              <a:path w="2176145" h="339725">
                <a:moveTo>
                  <a:pt x="2025216" y="280715"/>
                </a:moveTo>
                <a:lnTo>
                  <a:pt x="1976254" y="339257"/>
                </a:lnTo>
                <a:lnTo>
                  <a:pt x="2127930" y="283009"/>
                </a:lnTo>
                <a:lnTo>
                  <a:pt x="2046264" y="283009"/>
                </a:lnTo>
                <a:lnTo>
                  <a:pt x="2025216" y="280715"/>
                </a:lnTo>
                <a:close/>
              </a:path>
              <a:path w="2176145" h="339725">
                <a:moveTo>
                  <a:pt x="2032094" y="217589"/>
                </a:moveTo>
                <a:lnTo>
                  <a:pt x="2049697" y="251445"/>
                </a:lnTo>
                <a:lnTo>
                  <a:pt x="2025216" y="280715"/>
                </a:lnTo>
                <a:lnTo>
                  <a:pt x="2046264" y="283009"/>
                </a:lnTo>
                <a:lnTo>
                  <a:pt x="2058820" y="281867"/>
                </a:lnTo>
                <a:lnTo>
                  <a:pt x="2069589" y="276196"/>
                </a:lnTo>
                <a:lnTo>
                  <a:pt x="2077447" y="266900"/>
                </a:lnTo>
                <a:lnTo>
                  <a:pt x="2081265" y="254884"/>
                </a:lnTo>
                <a:lnTo>
                  <a:pt x="2080124" y="242328"/>
                </a:lnTo>
                <a:lnTo>
                  <a:pt x="2074453" y="231559"/>
                </a:lnTo>
                <a:lnTo>
                  <a:pt x="2065157" y="223701"/>
                </a:lnTo>
                <a:lnTo>
                  <a:pt x="2053141" y="219882"/>
                </a:lnTo>
                <a:lnTo>
                  <a:pt x="2032094" y="217589"/>
                </a:lnTo>
                <a:close/>
              </a:path>
              <a:path w="2176145" h="339725">
                <a:moveTo>
                  <a:pt x="1996888" y="149878"/>
                </a:moveTo>
                <a:lnTo>
                  <a:pt x="2032094" y="217589"/>
                </a:lnTo>
                <a:lnTo>
                  <a:pt x="2053141" y="219882"/>
                </a:lnTo>
                <a:lnTo>
                  <a:pt x="2065157" y="223701"/>
                </a:lnTo>
                <a:lnTo>
                  <a:pt x="2074453" y="231559"/>
                </a:lnTo>
                <a:lnTo>
                  <a:pt x="2080124" y="242328"/>
                </a:lnTo>
                <a:lnTo>
                  <a:pt x="2081265" y="254884"/>
                </a:lnTo>
                <a:lnTo>
                  <a:pt x="2077447" y="266900"/>
                </a:lnTo>
                <a:lnTo>
                  <a:pt x="2069589" y="276196"/>
                </a:lnTo>
                <a:lnTo>
                  <a:pt x="2058820" y="281867"/>
                </a:lnTo>
                <a:lnTo>
                  <a:pt x="2046264" y="283009"/>
                </a:lnTo>
                <a:lnTo>
                  <a:pt x="2127930" y="283009"/>
                </a:lnTo>
                <a:lnTo>
                  <a:pt x="2175950" y="265201"/>
                </a:lnTo>
                <a:lnTo>
                  <a:pt x="1996888" y="149878"/>
                </a:lnTo>
                <a:close/>
              </a:path>
              <a:path w="2176145" h="339725">
                <a:moveTo>
                  <a:pt x="35002" y="0"/>
                </a:moveTo>
                <a:lnTo>
                  <a:pt x="22446" y="1141"/>
                </a:lnTo>
                <a:lnTo>
                  <a:pt x="11676" y="6812"/>
                </a:lnTo>
                <a:lnTo>
                  <a:pt x="3819" y="16108"/>
                </a:lnTo>
                <a:lnTo>
                  <a:pt x="0" y="28124"/>
                </a:lnTo>
                <a:lnTo>
                  <a:pt x="1142" y="40680"/>
                </a:lnTo>
                <a:lnTo>
                  <a:pt x="6813" y="51450"/>
                </a:lnTo>
                <a:lnTo>
                  <a:pt x="16109" y="59307"/>
                </a:lnTo>
                <a:lnTo>
                  <a:pt x="28125" y="63126"/>
                </a:lnTo>
                <a:lnTo>
                  <a:pt x="2025216" y="280715"/>
                </a:lnTo>
                <a:lnTo>
                  <a:pt x="2049697" y="251445"/>
                </a:lnTo>
                <a:lnTo>
                  <a:pt x="2032094" y="217589"/>
                </a:lnTo>
                <a:lnTo>
                  <a:pt x="350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389305" y="3313673"/>
            <a:ext cx="457200" cy="381000"/>
          </a:xfrm>
          <a:custGeom>
            <a:avLst/>
            <a:gdLst/>
            <a:ahLst/>
            <a:cxnLst/>
            <a:rect l="l" t="t" r="r" b="b"/>
            <a:pathLst>
              <a:path w="457200" h="381000">
                <a:moveTo>
                  <a:pt x="0" y="0"/>
                </a:moveTo>
                <a:lnTo>
                  <a:pt x="457200" y="0"/>
                </a:lnTo>
                <a:lnTo>
                  <a:pt x="4572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389305" y="3313673"/>
            <a:ext cx="457200" cy="381000"/>
          </a:xfrm>
          <a:custGeom>
            <a:avLst/>
            <a:gdLst/>
            <a:ahLst/>
            <a:cxnLst/>
            <a:rect l="l" t="t" r="r" b="b"/>
            <a:pathLst>
              <a:path w="457200" h="381000">
                <a:moveTo>
                  <a:pt x="0" y="0"/>
                </a:moveTo>
                <a:lnTo>
                  <a:pt x="457200" y="0"/>
                </a:lnTo>
                <a:lnTo>
                  <a:pt x="4572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384441" y="6129062"/>
            <a:ext cx="457200" cy="381000"/>
          </a:xfrm>
          <a:custGeom>
            <a:avLst/>
            <a:gdLst/>
            <a:ahLst/>
            <a:cxnLst/>
            <a:rect l="l" t="t" r="r" b="b"/>
            <a:pathLst>
              <a:path w="457200" h="381000">
                <a:moveTo>
                  <a:pt x="0" y="0"/>
                </a:moveTo>
                <a:lnTo>
                  <a:pt x="457200" y="0"/>
                </a:lnTo>
                <a:lnTo>
                  <a:pt x="4572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384441" y="6129062"/>
            <a:ext cx="457200" cy="381000"/>
          </a:xfrm>
          <a:custGeom>
            <a:avLst/>
            <a:gdLst/>
            <a:ahLst/>
            <a:cxnLst/>
            <a:rect l="l" t="t" r="r" b="b"/>
            <a:pathLst>
              <a:path w="457200" h="381000">
                <a:moveTo>
                  <a:pt x="0" y="0"/>
                </a:moveTo>
                <a:lnTo>
                  <a:pt x="457200" y="0"/>
                </a:lnTo>
                <a:lnTo>
                  <a:pt x="4572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384441" y="4262545"/>
            <a:ext cx="457200" cy="381000"/>
          </a:xfrm>
          <a:custGeom>
            <a:avLst/>
            <a:gdLst/>
            <a:ahLst/>
            <a:cxnLst/>
            <a:rect l="l" t="t" r="r" b="b"/>
            <a:pathLst>
              <a:path w="457200" h="381000">
                <a:moveTo>
                  <a:pt x="0" y="0"/>
                </a:moveTo>
                <a:lnTo>
                  <a:pt x="457200" y="0"/>
                </a:lnTo>
                <a:lnTo>
                  <a:pt x="457200" y="380999"/>
                </a:lnTo>
                <a:lnTo>
                  <a:pt x="0" y="380999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384441" y="4262545"/>
            <a:ext cx="457200" cy="381000"/>
          </a:xfrm>
          <a:custGeom>
            <a:avLst/>
            <a:gdLst/>
            <a:ahLst/>
            <a:cxnLst/>
            <a:rect l="l" t="t" r="r" b="b"/>
            <a:pathLst>
              <a:path w="457200" h="381000">
                <a:moveTo>
                  <a:pt x="0" y="0"/>
                </a:moveTo>
                <a:lnTo>
                  <a:pt x="457200" y="0"/>
                </a:lnTo>
                <a:lnTo>
                  <a:pt x="4572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384441" y="5251301"/>
            <a:ext cx="457200" cy="381000"/>
          </a:xfrm>
          <a:custGeom>
            <a:avLst/>
            <a:gdLst/>
            <a:ahLst/>
            <a:cxnLst/>
            <a:rect l="l" t="t" r="r" b="b"/>
            <a:pathLst>
              <a:path w="457200" h="381000">
                <a:moveTo>
                  <a:pt x="0" y="0"/>
                </a:moveTo>
                <a:lnTo>
                  <a:pt x="457200" y="0"/>
                </a:lnTo>
                <a:lnTo>
                  <a:pt x="457200" y="380999"/>
                </a:lnTo>
                <a:lnTo>
                  <a:pt x="0" y="380999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384441" y="5251301"/>
            <a:ext cx="457200" cy="381000"/>
          </a:xfrm>
          <a:custGeom>
            <a:avLst/>
            <a:gdLst/>
            <a:ahLst/>
            <a:cxnLst/>
            <a:rect l="l" t="t" r="r" b="b"/>
            <a:pathLst>
              <a:path w="457200" h="381000">
                <a:moveTo>
                  <a:pt x="0" y="0"/>
                </a:moveTo>
                <a:lnTo>
                  <a:pt x="457200" y="0"/>
                </a:lnTo>
                <a:lnTo>
                  <a:pt x="4572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979028" y="3337550"/>
            <a:ext cx="533400" cy="537845"/>
          </a:xfrm>
          <a:custGeom>
            <a:avLst/>
            <a:gdLst/>
            <a:ahLst/>
            <a:cxnLst/>
            <a:rect l="l" t="t" r="r" b="b"/>
            <a:pathLst>
              <a:path w="533400" h="537845">
                <a:moveTo>
                  <a:pt x="266700" y="0"/>
                </a:moveTo>
                <a:lnTo>
                  <a:pt x="218760" y="4332"/>
                </a:lnTo>
                <a:lnTo>
                  <a:pt x="173639" y="16823"/>
                </a:lnTo>
                <a:lnTo>
                  <a:pt x="132091" y="36712"/>
                </a:lnTo>
                <a:lnTo>
                  <a:pt x="94868" y="63242"/>
                </a:lnTo>
                <a:lnTo>
                  <a:pt x="62724" y="95651"/>
                </a:lnTo>
                <a:lnTo>
                  <a:pt x="36412" y="133181"/>
                </a:lnTo>
                <a:lnTo>
                  <a:pt x="16685" y="175072"/>
                </a:lnTo>
                <a:lnTo>
                  <a:pt x="4296" y="220565"/>
                </a:lnTo>
                <a:lnTo>
                  <a:pt x="0" y="268900"/>
                </a:lnTo>
                <a:lnTo>
                  <a:pt x="4296" y="317235"/>
                </a:lnTo>
                <a:lnTo>
                  <a:pt x="16685" y="362728"/>
                </a:lnTo>
                <a:lnTo>
                  <a:pt x="36412" y="404619"/>
                </a:lnTo>
                <a:lnTo>
                  <a:pt x="62724" y="442149"/>
                </a:lnTo>
                <a:lnTo>
                  <a:pt x="94868" y="474558"/>
                </a:lnTo>
                <a:lnTo>
                  <a:pt x="132091" y="501087"/>
                </a:lnTo>
                <a:lnTo>
                  <a:pt x="173639" y="520977"/>
                </a:lnTo>
                <a:lnTo>
                  <a:pt x="218760" y="533468"/>
                </a:lnTo>
                <a:lnTo>
                  <a:pt x="266700" y="537800"/>
                </a:lnTo>
                <a:lnTo>
                  <a:pt x="314639" y="533468"/>
                </a:lnTo>
                <a:lnTo>
                  <a:pt x="359760" y="520977"/>
                </a:lnTo>
                <a:lnTo>
                  <a:pt x="401308" y="501087"/>
                </a:lnTo>
                <a:lnTo>
                  <a:pt x="438531" y="474558"/>
                </a:lnTo>
                <a:lnTo>
                  <a:pt x="470675" y="442149"/>
                </a:lnTo>
                <a:lnTo>
                  <a:pt x="496987" y="404619"/>
                </a:lnTo>
                <a:lnTo>
                  <a:pt x="516714" y="362728"/>
                </a:lnTo>
                <a:lnTo>
                  <a:pt x="529103" y="317235"/>
                </a:lnTo>
                <a:lnTo>
                  <a:pt x="533400" y="268900"/>
                </a:lnTo>
                <a:lnTo>
                  <a:pt x="529103" y="220565"/>
                </a:lnTo>
                <a:lnTo>
                  <a:pt x="516714" y="175072"/>
                </a:lnTo>
                <a:lnTo>
                  <a:pt x="496987" y="133181"/>
                </a:lnTo>
                <a:lnTo>
                  <a:pt x="470675" y="95651"/>
                </a:lnTo>
                <a:lnTo>
                  <a:pt x="438531" y="63242"/>
                </a:lnTo>
                <a:lnTo>
                  <a:pt x="401308" y="36712"/>
                </a:lnTo>
                <a:lnTo>
                  <a:pt x="359760" y="16823"/>
                </a:lnTo>
                <a:lnTo>
                  <a:pt x="314639" y="4332"/>
                </a:lnTo>
                <a:lnTo>
                  <a:pt x="266700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979028" y="3337550"/>
            <a:ext cx="533400" cy="537845"/>
          </a:xfrm>
          <a:custGeom>
            <a:avLst/>
            <a:gdLst/>
            <a:ahLst/>
            <a:cxnLst/>
            <a:rect l="l" t="t" r="r" b="b"/>
            <a:pathLst>
              <a:path w="533400" h="537845">
                <a:moveTo>
                  <a:pt x="0" y="268900"/>
                </a:moveTo>
                <a:lnTo>
                  <a:pt x="4296" y="220564"/>
                </a:lnTo>
                <a:lnTo>
                  <a:pt x="16685" y="175072"/>
                </a:lnTo>
                <a:lnTo>
                  <a:pt x="36412" y="133181"/>
                </a:lnTo>
                <a:lnTo>
                  <a:pt x="62724" y="95651"/>
                </a:lnTo>
                <a:lnTo>
                  <a:pt x="94868" y="63241"/>
                </a:lnTo>
                <a:lnTo>
                  <a:pt x="132091" y="36712"/>
                </a:lnTo>
                <a:lnTo>
                  <a:pt x="173639" y="16823"/>
                </a:lnTo>
                <a:lnTo>
                  <a:pt x="218760" y="4332"/>
                </a:lnTo>
                <a:lnTo>
                  <a:pt x="266700" y="0"/>
                </a:lnTo>
                <a:lnTo>
                  <a:pt x="314639" y="4332"/>
                </a:lnTo>
                <a:lnTo>
                  <a:pt x="359760" y="16823"/>
                </a:lnTo>
                <a:lnTo>
                  <a:pt x="401308" y="36712"/>
                </a:lnTo>
                <a:lnTo>
                  <a:pt x="438531" y="63241"/>
                </a:lnTo>
                <a:lnTo>
                  <a:pt x="470675" y="95651"/>
                </a:lnTo>
                <a:lnTo>
                  <a:pt x="496987" y="133181"/>
                </a:lnTo>
                <a:lnTo>
                  <a:pt x="516714" y="175072"/>
                </a:lnTo>
                <a:lnTo>
                  <a:pt x="529103" y="220564"/>
                </a:lnTo>
                <a:lnTo>
                  <a:pt x="533400" y="268900"/>
                </a:lnTo>
                <a:lnTo>
                  <a:pt x="529103" y="317235"/>
                </a:lnTo>
                <a:lnTo>
                  <a:pt x="516714" y="362727"/>
                </a:lnTo>
                <a:lnTo>
                  <a:pt x="496987" y="404618"/>
                </a:lnTo>
                <a:lnTo>
                  <a:pt x="470675" y="442148"/>
                </a:lnTo>
                <a:lnTo>
                  <a:pt x="438531" y="474558"/>
                </a:lnTo>
                <a:lnTo>
                  <a:pt x="401308" y="501087"/>
                </a:lnTo>
                <a:lnTo>
                  <a:pt x="359760" y="520976"/>
                </a:lnTo>
                <a:lnTo>
                  <a:pt x="314639" y="533467"/>
                </a:lnTo>
                <a:lnTo>
                  <a:pt x="266700" y="537800"/>
                </a:lnTo>
                <a:lnTo>
                  <a:pt x="218760" y="533467"/>
                </a:lnTo>
                <a:lnTo>
                  <a:pt x="173639" y="520976"/>
                </a:lnTo>
                <a:lnTo>
                  <a:pt x="132091" y="501087"/>
                </a:lnTo>
                <a:lnTo>
                  <a:pt x="94868" y="474558"/>
                </a:lnTo>
                <a:lnTo>
                  <a:pt x="62724" y="442148"/>
                </a:lnTo>
                <a:lnTo>
                  <a:pt x="36412" y="404618"/>
                </a:lnTo>
                <a:lnTo>
                  <a:pt x="16685" y="362727"/>
                </a:lnTo>
                <a:lnTo>
                  <a:pt x="4296" y="317235"/>
                </a:lnTo>
                <a:lnTo>
                  <a:pt x="0" y="268900"/>
                </a:lnTo>
                <a:close/>
              </a:path>
            </a:pathLst>
          </a:custGeom>
          <a:ln w="38100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006833" y="5753963"/>
            <a:ext cx="533400" cy="537845"/>
          </a:xfrm>
          <a:custGeom>
            <a:avLst/>
            <a:gdLst/>
            <a:ahLst/>
            <a:cxnLst/>
            <a:rect l="l" t="t" r="r" b="b"/>
            <a:pathLst>
              <a:path w="533400" h="537845">
                <a:moveTo>
                  <a:pt x="266700" y="0"/>
                </a:moveTo>
                <a:lnTo>
                  <a:pt x="218760" y="4332"/>
                </a:lnTo>
                <a:lnTo>
                  <a:pt x="173639" y="16823"/>
                </a:lnTo>
                <a:lnTo>
                  <a:pt x="132091" y="36712"/>
                </a:lnTo>
                <a:lnTo>
                  <a:pt x="94868" y="63241"/>
                </a:lnTo>
                <a:lnTo>
                  <a:pt x="62724" y="95651"/>
                </a:lnTo>
                <a:lnTo>
                  <a:pt x="36412" y="133180"/>
                </a:lnTo>
                <a:lnTo>
                  <a:pt x="16685" y="175072"/>
                </a:lnTo>
                <a:lnTo>
                  <a:pt x="4296" y="220564"/>
                </a:lnTo>
                <a:lnTo>
                  <a:pt x="0" y="268900"/>
                </a:lnTo>
                <a:lnTo>
                  <a:pt x="4296" y="317235"/>
                </a:lnTo>
                <a:lnTo>
                  <a:pt x="16685" y="362727"/>
                </a:lnTo>
                <a:lnTo>
                  <a:pt x="36412" y="404618"/>
                </a:lnTo>
                <a:lnTo>
                  <a:pt x="62724" y="442148"/>
                </a:lnTo>
                <a:lnTo>
                  <a:pt x="94868" y="474558"/>
                </a:lnTo>
                <a:lnTo>
                  <a:pt x="132091" y="501087"/>
                </a:lnTo>
                <a:lnTo>
                  <a:pt x="173639" y="520976"/>
                </a:lnTo>
                <a:lnTo>
                  <a:pt x="218760" y="533467"/>
                </a:lnTo>
                <a:lnTo>
                  <a:pt x="266700" y="537799"/>
                </a:lnTo>
                <a:lnTo>
                  <a:pt x="314639" y="533467"/>
                </a:lnTo>
                <a:lnTo>
                  <a:pt x="359760" y="520976"/>
                </a:lnTo>
                <a:lnTo>
                  <a:pt x="401308" y="501087"/>
                </a:lnTo>
                <a:lnTo>
                  <a:pt x="438531" y="474558"/>
                </a:lnTo>
                <a:lnTo>
                  <a:pt x="470675" y="442148"/>
                </a:lnTo>
                <a:lnTo>
                  <a:pt x="496987" y="404618"/>
                </a:lnTo>
                <a:lnTo>
                  <a:pt x="516714" y="362727"/>
                </a:lnTo>
                <a:lnTo>
                  <a:pt x="529103" y="317235"/>
                </a:lnTo>
                <a:lnTo>
                  <a:pt x="533400" y="268900"/>
                </a:lnTo>
                <a:lnTo>
                  <a:pt x="529103" y="220564"/>
                </a:lnTo>
                <a:lnTo>
                  <a:pt x="516714" y="175072"/>
                </a:lnTo>
                <a:lnTo>
                  <a:pt x="496987" y="133180"/>
                </a:lnTo>
                <a:lnTo>
                  <a:pt x="470675" y="95651"/>
                </a:lnTo>
                <a:lnTo>
                  <a:pt x="438531" y="63241"/>
                </a:lnTo>
                <a:lnTo>
                  <a:pt x="401308" y="36712"/>
                </a:lnTo>
                <a:lnTo>
                  <a:pt x="359760" y="16823"/>
                </a:lnTo>
                <a:lnTo>
                  <a:pt x="314639" y="4332"/>
                </a:lnTo>
                <a:lnTo>
                  <a:pt x="266700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006833" y="5753963"/>
            <a:ext cx="533400" cy="537845"/>
          </a:xfrm>
          <a:custGeom>
            <a:avLst/>
            <a:gdLst/>
            <a:ahLst/>
            <a:cxnLst/>
            <a:rect l="l" t="t" r="r" b="b"/>
            <a:pathLst>
              <a:path w="533400" h="537845">
                <a:moveTo>
                  <a:pt x="0" y="268900"/>
                </a:moveTo>
                <a:lnTo>
                  <a:pt x="4296" y="220564"/>
                </a:lnTo>
                <a:lnTo>
                  <a:pt x="16685" y="175072"/>
                </a:lnTo>
                <a:lnTo>
                  <a:pt x="36412" y="133181"/>
                </a:lnTo>
                <a:lnTo>
                  <a:pt x="62724" y="95651"/>
                </a:lnTo>
                <a:lnTo>
                  <a:pt x="94868" y="63241"/>
                </a:lnTo>
                <a:lnTo>
                  <a:pt x="132091" y="36712"/>
                </a:lnTo>
                <a:lnTo>
                  <a:pt x="173639" y="16823"/>
                </a:lnTo>
                <a:lnTo>
                  <a:pt x="218760" y="4332"/>
                </a:lnTo>
                <a:lnTo>
                  <a:pt x="266700" y="0"/>
                </a:lnTo>
                <a:lnTo>
                  <a:pt x="314639" y="4332"/>
                </a:lnTo>
                <a:lnTo>
                  <a:pt x="359760" y="16823"/>
                </a:lnTo>
                <a:lnTo>
                  <a:pt x="401308" y="36712"/>
                </a:lnTo>
                <a:lnTo>
                  <a:pt x="438531" y="63241"/>
                </a:lnTo>
                <a:lnTo>
                  <a:pt x="470675" y="95651"/>
                </a:lnTo>
                <a:lnTo>
                  <a:pt x="496987" y="133181"/>
                </a:lnTo>
                <a:lnTo>
                  <a:pt x="516714" y="175072"/>
                </a:lnTo>
                <a:lnTo>
                  <a:pt x="529103" y="220564"/>
                </a:lnTo>
                <a:lnTo>
                  <a:pt x="533400" y="268900"/>
                </a:lnTo>
                <a:lnTo>
                  <a:pt x="529103" y="317235"/>
                </a:lnTo>
                <a:lnTo>
                  <a:pt x="516714" y="362727"/>
                </a:lnTo>
                <a:lnTo>
                  <a:pt x="496987" y="404618"/>
                </a:lnTo>
                <a:lnTo>
                  <a:pt x="470675" y="442148"/>
                </a:lnTo>
                <a:lnTo>
                  <a:pt x="438531" y="474558"/>
                </a:lnTo>
                <a:lnTo>
                  <a:pt x="401308" y="501087"/>
                </a:lnTo>
                <a:lnTo>
                  <a:pt x="359760" y="520976"/>
                </a:lnTo>
                <a:lnTo>
                  <a:pt x="314639" y="533467"/>
                </a:lnTo>
                <a:lnTo>
                  <a:pt x="266700" y="537800"/>
                </a:lnTo>
                <a:lnTo>
                  <a:pt x="218760" y="533467"/>
                </a:lnTo>
                <a:lnTo>
                  <a:pt x="173639" y="520976"/>
                </a:lnTo>
                <a:lnTo>
                  <a:pt x="132091" y="501087"/>
                </a:lnTo>
                <a:lnTo>
                  <a:pt x="94868" y="474558"/>
                </a:lnTo>
                <a:lnTo>
                  <a:pt x="62724" y="442148"/>
                </a:lnTo>
                <a:lnTo>
                  <a:pt x="36412" y="404618"/>
                </a:lnTo>
                <a:lnTo>
                  <a:pt x="16685" y="362727"/>
                </a:lnTo>
                <a:lnTo>
                  <a:pt x="4296" y="317235"/>
                </a:lnTo>
                <a:lnTo>
                  <a:pt x="0" y="268900"/>
                </a:lnTo>
                <a:close/>
              </a:path>
            </a:pathLst>
          </a:custGeom>
          <a:ln w="38100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006833" y="4505312"/>
            <a:ext cx="533400" cy="537845"/>
          </a:xfrm>
          <a:custGeom>
            <a:avLst/>
            <a:gdLst/>
            <a:ahLst/>
            <a:cxnLst/>
            <a:rect l="l" t="t" r="r" b="b"/>
            <a:pathLst>
              <a:path w="533400" h="537845">
                <a:moveTo>
                  <a:pt x="266700" y="0"/>
                </a:moveTo>
                <a:lnTo>
                  <a:pt x="218760" y="4332"/>
                </a:lnTo>
                <a:lnTo>
                  <a:pt x="173639" y="16822"/>
                </a:lnTo>
                <a:lnTo>
                  <a:pt x="132091" y="36712"/>
                </a:lnTo>
                <a:lnTo>
                  <a:pt x="94868" y="63241"/>
                </a:lnTo>
                <a:lnTo>
                  <a:pt x="62724" y="95650"/>
                </a:lnTo>
                <a:lnTo>
                  <a:pt x="36412" y="133180"/>
                </a:lnTo>
                <a:lnTo>
                  <a:pt x="16685" y="175071"/>
                </a:lnTo>
                <a:lnTo>
                  <a:pt x="4296" y="220564"/>
                </a:lnTo>
                <a:lnTo>
                  <a:pt x="0" y="268899"/>
                </a:lnTo>
                <a:lnTo>
                  <a:pt x="4296" y="317234"/>
                </a:lnTo>
                <a:lnTo>
                  <a:pt x="16685" y="362727"/>
                </a:lnTo>
                <a:lnTo>
                  <a:pt x="36412" y="404618"/>
                </a:lnTo>
                <a:lnTo>
                  <a:pt x="62724" y="442148"/>
                </a:lnTo>
                <a:lnTo>
                  <a:pt x="94868" y="474557"/>
                </a:lnTo>
                <a:lnTo>
                  <a:pt x="132091" y="501086"/>
                </a:lnTo>
                <a:lnTo>
                  <a:pt x="173639" y="520976"/>
                </a:lnTo>
                <a:lnTo>
                  <a:pt x="218760" y="533466"/>
                </a:lnTo>
                <a:lnTo>
                  <a:pt x="266700" y="537799"/>
                </a:lnTo>
                <a:lnTo>
                  <a:pt x="314639" y="533466"/>
                </a:lnTo>
                <a:lnTo>
                  <a:pt x="359760" y="520976"/>
                </a:lnTo>
                <a:lnTo>
                  <a:pt x="401308" y="501086"/>
                </a:lnTo>
                <a:lnTo>
                  <a:pt x="438531" y="474557"/>
                </a:lnTo>
                <a:lnTo>
                  <a:pt x="470675" y="442148"/>
                </a:lnTo>
                <a:lnTo>
                  <a:pt x="496987" y="404618"/>
                </a:lnTo>
                <a:lnTo>
                  <a:pt x="516714" y="362727"/>
                </a:lnTo>
                <a:lnTo>
                  <a:pt x="529103" y="317234"/>
                </a:lnTo>
                <a:lnTo>
                  <a:pt x="533400" y="268899"/>
                </a:lnTo>
                <a:lnTo>
                  <a:pt x="529103" y="220564"/>
                </a:lnTo>
                <a:lnTo>
                  <a:pt x="516714" y="175071"/>
                </a:lnTo>
                <a:lnTo>
                  <a:pt x="496987" y="133180"/>
                </a:lnTo>
                <a:lnTo>
                  <a:pt x="470675" y="95650"/>
                </a:lnTo>
                <a:lnTo>
                  <a:pt x="438531" y="63241"/>
                </a:lnTo>
                <a:lnTo>
                  <a:pt x="401308" y="36712"/>
                </a:lnTo>
                <a:lnTo>
                  <a:pt x="359760" y="16822"/>
                </a:lnTo>
                <a:lnTo>
                  <a:pt x="314639" y="4332"/>
                </a:lnTo>
                <a:lnTo>
                  <a:pt x="266700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006833" y="4505312"/>
            <a:ext cx="533400" cy="537845"/>
          </a:xfrm>
          <a:custGeom>
            <a:avLst/>
            <a:gdLst/>
            <a:ahLst/>
            <a:cxnLst/>
            <a:rect l="l" t="t" r="r" b="b"/>
            <a:pathLst>
              <a:path w="533400" h="537845">
                <a:moveTo>
                  <a:pt x="0" y="268900"/>
                </a:moveTo>
                <a:lnTo>
                  <a:pt x="4296" y="220564"/>
                </a:lnTo>
                <a:lnTo>
                  <a:pt x="16685" y="175072"/>
                </a:lnTo>
                <a:lnTo>
                  <a:pt x="36412" y="133181"/>
                </a:lnTo>
                <a:lnTo>
                  <a:pt x="62724" y="95651"/>
                </a:lnTo>
                <a:lnTo>
                  <a:pt x="94868" y="63241"/>
                </a:lnTo>
                <a:lnTo>
                  <a:pt x="132091" y="36712"/>
                </a:lnTo>
                <a:lnTo>
                  <a:pt x="173639" y="16823"/>
                </a:lnTo>
                <a:lnTo>
                  <a:pt x="218760" y="4332"/>
                </a:lnTo>
                <a:lnTo>
                  <a:pt x="266700" y="0"/>
                </a:lnTo>
                <a:lnTo>
                  <a:pt x="314639" y="4332"/>
                </a:lnTo>
                <a:lnTo>
                  <a:pt x="359760" y="16823"/>
                </a:lnTo>
                <a:lnTo>
                  <a:pt x="401308" y="36712"/>
                </a:lnTo>
                <a:lnTo>
                  <a:pt x="438531" y="63241"/>
                </a:lnTo>
                <a:lnTo>
                  <a:pt x="470675" y="95651"/>
                </a:lnTo>
                <a:lnTo>
                  <a:pt x="496987" y="133181"/>
                </a:lnTo>
                <a:lnTo>
                  <a:pt x="516714" y="175072"/>
                </a:lnTo>
                <a:lnTo>
                  <a:pt x="529103" y="220564"/>
                </a:lnTo>
                <a:lnTo>
                  <a:pt x="533400" y="268900"/>
                </a:lnTo>
                <a:lnTo>
                  <a:pt x="529103" y="317235"/>
                </a:lnTo>
                <a:lnTo>
                  <a:pt x="516714" y="362727"/>
                </a:lnTo>
                <a:lnTo>
                  <a:pt x="496987" y="404618"/>
                </a:lnTo>
                <a:lnTo>
                  <a:pt x="470675" y="442148"/>
                </a:lnTo>
                <a:lnTo>
                  <a:pt x="438531" y="474558"/>
                </a:lnTo>
                <a:lnTo>
                  <a:pt x="401308" y="501087"/>
                </a:lnTo>
                <a:lnTo>
                  <a:pt x="359760" y="520976"/>
                </a:lnTo>
                <a:lnTo>
                  <a:pt x="314639" y="533467"/>
                </a:lnTo>
                <a:lnTo>
                  <a:pt x="266700" y="537800"/>
                </a:lnTo>
                <a:lnTo>
                  <a:pt x="218760" y="533467"/>
                </a:lnTo>
                <a:lnTo>
                  <a:pt x="173639" y="520976"/>
                </a:lnTo>
                <a:lnTo>
                  <a:pt x="132091" y="501087"/>
                </a:lnTo>
                <a:lnTo>
                  <a:pt x="94868" y="474558"/>
                </a:lnTo>
                <a:lnTo>
                  <a:pt x="62724" y="442148"/>
                </a:lnTo>
                <a:lnTo>
                  <a:pt x="36412" y="404618"/>
                </a:lnTo>
                <a:lnTo>
                  <a:pt x="16685" y="362727"/>
                </a:lnTo>
                <a:lnTo>
                  <a:pt x="4296" y="317235"/>
                </a:lnTo>
                <a:lnTo>
                  <a:pt x="0" y="268900"/>
                </a:lnTo>
                <a:close/>
              </a:path>
            </a:pathLst>
          </a:custGeom>
          <a:ln w="38100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3/13/21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7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7495032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310896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 b="1">
                <a:solidFill>
                  <a:srgbClr val="D60093"/>
                </a:solidFill>
                <a:latin typeface="Calibri"/>
                <a:cs typeface="Calibri"/>
              </a:rPr>
              <a:t>Social</a:t>
            </a:r>
            <a:r>
              <a:rPr dirty="0" spc="-80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pc="-10" b="1">
                <a:solidFill>
                  <a:srgbClr val="D60093"/>
                </a:solidFill>
                <a:latin typeface="Calibri"/>
                <a:cs typeface="Calibri"/>
              </a:rPr>
              <a:t>networks: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8108" y="1826259"/>
            <a:ext cx="4204970" cy="4622165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625475" indent="-274320">
              <a:lnSpc>
                <a:spcPct val="100000"/>
              </a:lnSpc>
              <a:spcBef>
                <a:spcPts val="84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5">
                <a:latin typeface="Calibri"/>
                <a:cs typeface="Calibri"/>
              </a:rPr>
              <a:t>Facebook</a:t>
            </a:r>
            <a:endParaRPr sz="2800">
              <a:latin typeface="Calibri"/>
              <a:cs typeface="Calibri"/>
            </a:endParaRPr>
          </a:p>
          <a:p>
            <a:pPr marL="625475" indent="-274320">
              <a:lnSpc>
                <a:spcPct val="100000"/>
              </a:lnSpc>
              <a:spcBef>
                <a:spcPts val="74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35">
                <a:latin typeface="Calibri"/>
                <a:cs typeface="Calibri"/>
              </a:rPr>
              <a:t>Twitter</a:t>
            </a:r>
            <a:endParaRPr sz="2800">
              <a:latin typeface="Calibri"/>
              <a:cs typeface="Calibri"/>
            </a:endParaRPr>
          </a:p>
          <a:p>
            <a:pPr marL="625475" indent="-274320">
              <a:lnSpc>
                <a:spcPct val="100000"/>
              </a:lnSpc>
              <a:spcBef>
                <a:spcPts val="62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20">
                <a:latin typeface="Calibri"/>
                <a:cs typeface="Calibri"/>
              </a:rPr>
              <a:t>Instagram</a:t>
            </a:r>
            <a:endParaRPr sz="2800">
              <a:latin typeface="Calibri"/>
              <a:cs typeface="Calibri"/>
            </a:endParaRPr>
          </a:p>
          <a:p>
            <a:pPr marL="625475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20">
                <a:latin typeface="Calibri"/>
                <a:cs typeface="Calibri"/>
              </a:rPr>
              <a:t>Etc.</a:t>
            </a:r>
            <a:endParaRPr sz="2800">
              <a:latin typeface="Calibri"/>
              <a:cs typeface="Calibri"/>
            </a:endParaRPr>
          </a:p>
          <a:p>
            <a:pPr marL="332740" marR="2267585" indent="-320040">
              <a:lnSpc>
                <a:spcPct val="100000"/>
              </a:lnSpc>
              <a:spcBef>
                <a:spcPts val="3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b="1">
                <a:solidFill>
                  <a:srgbClr val="D60093"/>
                </a:solidFill>
                <a:latin typeface="Calibri"/>
                <a:cs typeface="Calibri"/>
              </a:rPr>
              <a:t>ML</a:t>
            </a:r>
            <a:r>
              <a:rPr dirty="0" sz="3200" spc="-95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200" spc="-15" b="1">
                <a:solidFill>
                  <a:srgbClr val="D60093"/>
                </a:solidFill>
                <a:latin typeface="Calibri"/>
                <a:cs typeface="Calibri"/>
              </a:rPr>
              <a:t>tasks:</a:t>
            </a:r>
            <a:endParaRPr sz="3200">
              <a:latin typeface="Calibri"/>
              <a:cs typeface="Calibri"/>
            </a:endParaRPr>
          </a:p>
          <a:p>
            <a:pPr lvl="1" marL="593725" marR="80645" indent="-242570">
              <a:lnSpc>
                <a:spcPct val="119300"/>
              </a:lnSpc>
              <a:spcBef>
                <a:spcPts val="1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Friend </a:t>
            </a:r>
            <a:r>
              <a:rPr dirty="0" sz="2800" spc="-60">
                <a:latin typeface="Calibri"/>
                <a:cs typeface="Calibri"/>
              </a:rPr>
              <a:t>recommendation  </a:t>
            </a:r>
            <a:r>
              <a:rPr dirty="0" sz="2800" spc="-20">
                <a:latin typeface="Calibri"/>
                <a:cs typeface="Calibri"/>
              </a:rPr>
              <a:t>(link-level)</a:t>
            </a:r>
            <a:endParaRPr sz="2800">
              <a:latin typeface="Calibri"/>
              <a:cs typeface="Calibri"/>
            </a:endParaRPr>
          </a:p>
          <a:p>
            <a:pPr lvl="1" marL="593725" marR="5080" indent="-242570">
              <a:lnSpc>
                <a:spcPct val="118600"/>
              </a:lnSpc>
              <a:spcBef>
                <a:spcPts val="114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User </a:t>
            </a:r>
            <a:r>
              <a:rPr dirty="0" sz="2800" spc="-10">
                <a:latin typeface="Calibri"/>
                <a:cs typeface="Calibri"/>
              </a:rPr>
              <a:t>property </a:t>
            </a:r>
            <a:r>
              <a:rPr dirty="0" sz="2800" spc="-75">
                <a:latin typeface="Calibri"/>
                <a:cs typeface="Calibri"/>
              </a:rPr>
              <a:t>prediction  </a:t>
            </a:r>
            <a:r>
              <a:rPr dirty="0" sz="2800" spc="-10">
                <a:latin typeface="Calibri"/>
                <a:cs typeface="Calibri"/>
              </a:rPr>
              <a:t>(node-level)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682725" y="3227233"/>
            <a:ext cx="2332990" cy="403860"/>
          </a:xfrm>
          <a:custGeom>
            <a:avLst/>
            <a:gdLst/>
            <a:ahLst/>
            <a:cxnLst/>
            <a:rect l="l" t="t" r="r" b="b"/>
            <a:pathLst>
              <a:path w="2332990" h="403860">
                <a:moveTo>
                  <a:pt x="0" y="403534"/>
                </a:moveTo>
                <a:lnTo>
                  <a:pt x="2332505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682725" y="3630767"/>
            <a:ext cx="2132330" cy="1000125"/>
          </a:xfrm>
          <a:custGeom>
            <a:avLst/>
            <a:gdLst/>
            <a:ahLst/>
            <a:cxnLst/>
            <a:rect l="l" t="t" r="r" b="b"/>
            <a:pathLst>
              <a:path w="2132329" h="1000125">
                <a:moveTo>
                  <a:pt x="0" y="0"/>
                </a:moveTo>
                <a:lnTo>
                  <a:pt x="2132167" y="100011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809964" y="4821018"/>
            <a:ext cx="2083435" cy="186055"/>
          </a:xfrm>
          <a:custGeom>
            <a:avLst/>
            <a:gdLst/>
            <a:ahLst/>
            <a:cxnLst/>
            <a:rect l="l" t="t" r="r" b="b"/>
            <a:pathLst>
              <a:path w="2083434" h="186054">
                <a:moveTo>
                  <a:pt x="0" y="185948"/>
                </a:moveTo>
                <a:lnTo>
                  <a:pt x="2083042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213277" y="4821018"/>
            <a:ext cx="680085" cy="1081405"/>
          </a:xfrm>
          <a:custGeom>
            <a:avLst/>
            <a:gdLst/>
            <a:ahLst/>
            <a:cxnLst/>
            <a:rect l="l" t="t" r="r" b="b"/>
            <a:pathLst>
              <a:path w="680084" h="1081404">
                <a:moveTo>
                  <a:pt x="0" y="1080868"/>
                </a:moveTo>
                <a:lnTo>
                  <a:pt x="679730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814891" y="4361977"/>
            <a:ext cx="533400" cy="537845"/>
          </a:xfrm>
          <a:custGeom>
            <a:avLst/>
            <a:gdLst/>
            <a:ahLst/>
            <a:cxnLst/>
            <a:rect l="l" t="t" r="r" b="b"/>
            <a:pathLst>
              <a:path w="533400" h="537845">
                <a:moveTo>
                  <a:pt x="266700" y="0"/>
                </a:moveTo>
                <a:lnTo>
                  <a:pt x="218760" y="4332"/>
                </a:lnTo>
                <a:lnTo>
                  <a:pt x="173639" y="16822"/>
                </a:lnTo>
                <a:lnTo>
                  <a:pt x="132091" y="36712"/>
                </a:lnTo>
                <a:lnTo>
                  <a:pt x="94868" y="63241"/>
                </a:lnTo>
                <a:lnTo>
                  <a:pt x="62724" y="95650"/>
                </a:lnTo>
                <a:lnTo>
                  <a:pt x="36412" y="133180"/>
                </a:lnTo>
                <a:lnTo>
                  <a:pt x="16685" y="175071"/>
                </a:lnTo>
                <a:lnTo>
                  <a:pt x="4296" y="220564"/>
                </a:lnTo>
                <a:lnTo>
                  <a:pt x="0" y="268899"/>
                </a:lnTo>
                <a:lnTo>
                  <a:pt x="4296" y="317234"/>
                </a:lnTo>
                <a:lnTo>
                  <a:pt x="16685" y="362727"/>
                </a:lnTo>
                <a:lnTo>
                  <a:pt x="36412" y="404618"/>
                </a:lnTo>
                <a:lnTo>
                  <a:pt x="62724" y="442148"/>
                </a:lnTo>
                <a:lnTo>
                  <a:pt x="94868" y="474557"/>
                </a:lnTo>
                <a:lnTo>
                  <a:pt x="132091" y="501086"/>
                </a:lnTo>
                <a:lnTo>
                  <a:pt x="173639" y="520976"/>
                </a:lnTo>
                <a:lnTo>
                  <a:pt x="218760" y="533466"/>
                </a:lnTo>
                <a:lnTo>
                  <a:pt x="266700" y="537799"/>
                </a:lnTo>
                <a:lnTo>
                  <a:pt x="314639" y="533466"/>
                </a:lnTo>
                <a:lnTo>
                  <a:pt x="359760" y="520976"/>
                </a:lnTo>
                <a:lnTo>
                  <a:pt x="401308" y="501086"/>
                </a:lnTo>
                <a:lnTo>
                  <a:pt x="438531" y="474557"/>
                </a:lnTo>
                <a:lnTo>
                  <a:pt x="470675" y="442148"/>
                </a:lnTo>
                <a:lnTo>
                  <a:pt x="496987" y="404618"/>
                </a:lnTo>
                <a:lnTo>
                  <a:pt x="516714" y="362727"/>
                </a:lnTo>
                <a:lnTo>
                  <a:pt x="529103" y="317234"/>
                </a:lnTo>
                <a:lnTo>
                  <a:pt x="533400" y="268899"/>
                </a:lnTo>
                <a:lnTo>
                  <a:pt x="529103" y="220564"/>
                </a:lnTo>
                <a:lnTo>
                  <a:pt x="516714" y="175071"/>
                </a:lnTo>
                <a:lnTo>
                  <a:pt x="496987" y="133180"/>
                </a:lnTo>
                <a:lnTo>
                  <a:pt x="470675" y="95650"/>
                </a:lnTo>
                <a:lnTo>
                  <a:pt x="438531" y="63241"/>
                </a:lnTo>
                <a:lnTo>
                  <a:pt x="401308" y="36712"/>
                </a:lnTo>
                <a:lnTo>
                  <a:pt x="359760" y="16822"/>
                </a:lnTo>
                <a:lnTo>
                  <a:pt x="314639" y="4332"/>
                </a:lnTo>
                <a:lnTo>
                  <a:pt x="266700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814891" y="4361977"/>
            <a:ext cx="533400" cy="537845"/>
          </a:xfrm>
          <a:custGeom>
            <a:avLst/>
            <a:gdLst/>
            <a:ahLst/>
            <a:cxnLst/>
            <a:rect l="l" t="t" r="r" b="b"/>
            <a:pathLst>
              <a:path w="533400" h="537845">
                <a:moveTo>
                  <a:pt x="0" y="268900"/>
                </a:moveTo>
                <a:lnTo>
                  <a:pt x="4296" y="220564"/>
                </a:lnTo>
                <a:lnTo>
                  <a:pt x="16685" y="175072"/>
                </a:lnTo>
                <a:lnTo>
                  <a:pt x="36412" y="133181"/>
                </a:lnTo>
                <a:lnTo>
                  <a:pt x="62724" y="95651"/>
                </a:lnTo>
                <a:lnTo>
                  <a:pt x="94868" y="63241"/>
                </a:lnTo>
                <a:lnTo>
                  <a:pt x="132091" y="36712"/>
                </a:lnTo>
                <a:lnTo>
                  <a:pt x="173639" y="16823"/>
                </a:lnTo>
                <a:lnTo>
                  <a:pt x="218760" y="4332"/>
                </a:lnTo>
                <a:lnTo>
                  <a:pt x="266700" y="0"/>
                </a:lnTo>
                <a:lnTo>
                  <a:pt x="314639" y="4332"/>
                </a:lnTo>
                <a:lnTo>
                  <a:pt x="359760" y="16823"/>
                </a:lnTo>
                <a:lnTo>
                  <a:pt x="401308" y="36712"/>
                </a:lnTo>
                <a:lnTo>
                  <a:pt x="438531" y="63241"/>
                </a:lnTo>
                <a:lnTo>
                  <a:pt x="470675" y="95651"/>
                </a:lnTo>
                <a:lnTo>
                  <a:pt x="496987" y="133181"/>
                </a:lnTo>
                <a:lnTo>
                  <a:pt x="516714" y="175072"/>
                </a:lnTo>
                <a:lnTo>
                  <a:pt x="529103" y="220564"/>
                </a:lnTo>
                <a:lnTo>
                  <a:pt x="533400" y="268900"/>
                </a:lnTo>
                <a:lnTo>
                  <a:pt x="529103" y="317235"/>
                </a:lnTo>
                <a:lnTo>
                  <a:pt x="516714" y="362727"/>
                </a:lnTo>
                <a:lnTo>
                  <a:pt x="496987" y="404618"/>
                </a:lnTo>
                <a:lnTo>
                  <a:pt x="470675" y="442148"/>
                </a:lnTo>
                <a:lnTo>
                  <a:pt x="438531" y="474558"/>
                </a:lnTo>
                <a:lnTo>
                  <a:pt x="401308" y="501087"/>
                </a:lnTo>
                <a:lnTo>
                  <a:pt x="359760" y="520976"/>
                </a:lnTo>
                <a:lnTo>
                  <a:pt x="314639" y="533467"/>
                </a:lnTo>
                <a:lnTo>
                  <a:pt x="266700" y="537800"/>
                </a:lnTo>
                <a:lnTo>
                  <a:pt x="218760" y="533467"/>
                </a:lnTo>
                <a:lnTo>
                  <a:pt x="173639" y="520976"/>
                </a:lnTo>
                <a:lnTo>
                  <a:pt x="132091" y="501087"/>
                </a:lnTo>
                <a:lnTo>
                  <a:pt x="94868" y="474558"/>
                </a:lnTo>
                <a:lnTo>
                  <a:pt x="62724" y="442148"/>
                </a:lnTo>
                <a:lnTo>
                  <a:pt x="36412" y="404618"/>
                </a:lnTo>
                <a:lnTo>
                  <a:pt x="16685" y="362727"/>
                </a:lnTo>
                <a:lnTo>
                  <a:pt x="4296" y="317235"/>
                </a:lnTo>
                <a:lnTo>
                  <a:pt x="0" y="268900"/>
                </a:lnTo>
                <a:close/>
              </a:path>
            </a:pathLst>
          </a:custGeom>
          <a:ln w="38100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015230" y="2958332"/>
            <a:ext cx="533400" cy="537845"/>
          </a:xfrm>
          <a:custGeom>
            <a:avLst/>
            <a:gdLst/>
            <a:ahLst/>
            <a:cxnLst/>
            <a:rect l="l" t="t" r="r" b="b"/>
            <a:pathLst>
              <a:path w="533400" h="537845">
                <a:moveTo>
                  <a:pt x="266700" y="0"/>
                </a:moveTo>
                <a:lnTo>
                  <a:pt x="218760" y="4332"/>
                </a:lnTo>
                <a:lnTo>
                  <a:pt x="173639" y="16823"/>
                </a:lnTo>
                <a:lnTo>
                  <a:pt x="132091" y="36712"/>
                </a:lnTo>
                <a:lnTo>
                  <a:pt x="94868" y="63241"/>
                </a:lnTo>
                <a:lnTo>
                  <a:pt x="62724" y="95651"/>
                </a:lnTo>
                <a:lnTo>
                  <a:pt x="36412" y="133181"/>
                </a:lnTo>
                <a:lnTo>
                  <a:pt x="16685" y="175072"/>
                </a:lnTo>
                <a:lnTo>
                  <a:pt x="4296" y="220564"/>
                </a:lnTo>
                <a:lnTo>
                  <a:pt x="0" y="268899"/>
                </a:lnTo>
                <a:lnTo>
                  <a:pt x="4296" y="317234"/>
                </a:lnTo>
                <a:lnTo>
                  <a:pt x="16685" y="362727"/>
                </a:lnTo>
                <a:lnTo>
                  <a:pt x="36412" y="404619"/>
                </a:lnTo>
                <a:lnTo>
                  <a:pt x="62724" y="442149"/>
                </a:lnTo>
                <a:lnTo>
                  <a:pt x="94868" y="474558"/>
                </a:lnTo>
                <a:lnTo>
                  <a:pt x="132091" y="501087"/>
                </a:lnTo>
                <a:lnTo>
                  <a:pt x="173639" y="520977"/>
                </a:lnTo>
                <a:lnTo>
                  <a:pt x="218760" y="533468"/>
                </a:lnTo>
                <a:lnTo>
                  <a:pt x="266700" y="537800"/>
                </a:lnTo>
                <a:lnTo>
                  <a:pt x="314639" y="533468"/>
                </a:lnTo>
                <a:lnTo>
                  <a:pt x="359760" y="520977"/>
                </a:lnTo>
                <a:lnTo>
                  <a:pt x="401308" y="501087"/>
                </a:lnTo>
                <a:lnTo>
                  <a:pt x="438531" y="474558"/>
                </a:lnTo>
                <a:lnTo>
                  <a:pt x="470675" y="442149"/>
                </a:lnTo>
                <a:lnTo>
                  <a:pt x="496987" y="404619"/>
                </a:lnTo>
                <a:lnTo>
                  <a:pt x="516714" y="362727"/>
                </a:lnTo>
                <a:lnTo>
                  <a:pt x="529103" y="317234"/>
                </a:lnTo>
                <a:lnTo>
                  <a:pt x="533400" y="268899"/>
                </a:lnTo>
                <a:lnTo>
                  <a:pt x="529103" y="220564"/>
                </a:lnTo>
                <a:lnTo>
                  <a:pt x="516714" y="175072"/>
                </a:lnTo>
                <a:lnTo>
                  <a:pt x="496987" y="133181"/>
                </a:lnTo>
                <a:lnTo>
                  <a:pt x="470675" y="95651"/>
                </a:lnTo>
                <a:lnTo>
                  <a:pt x="438531" y="63241"/>
                </a:lnTo>
                <a:lnTo>
                  <a:pt x="401308" y="36712"/>
                </a:lnTo>
                <a:lnTo>
                  <a:pt x="359760" y="16823"/>
                </a:lnTo>
                <a:lnTo>
                  <a:pt x="314639" y="4332"/>
                </a:lnTo>
                <a:lnTo>
                  <a:pt x="266700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015230" y="2958332"/>
            <a:ext cx="533400" cy="537845"/>
          </a:xfrm>
          <a:custGeom>
            <a:avLst/>
            <a:gdLst/>
            <a:ahLst/>
            <a:cxnLst/>
            <a:rect l="l" t="t" r="r" b="b"/>
            <a:pathLst>
              <a:path w="533400" h="537845">
                <a:moveTo>
                  <a:pt x="0" y="268900"/>
                </a:moveTo>
                <a:lnTo>
                  <a:pt x="4296" y="220564"/>
                </a:lnTo>
                <a:lnTo>
                  <a:pt x="16685" y="175072"/>
                </a:lnTo>
                <a:lnTo>
                  <a:pt x="36412" y="133181"/>
                </a:lnTo>
                <a:lnTo>
                  <a:pt x="62724" y="95651"/>
                </a:lnTo>
                <a:lnTo>
                  <a:pt x="94868" y="63241"/>
                </a:lnTo>
                <a:lnTo>
                  <a:pt x="132091" y="36712"/>
                </a:lnTo>
                <a:lnTo>
                  <a:pt x="173639" y="16823"/>
                </a:lnTo>
                <a:lnTo>
                  <a:pt x="218760" y="4332"/>
                </a:lnTo>
                <a:lnTo>
                  <a:pt x="266700" y="0"/>
                </a:lnTo>
                <a:lnTo>
                  <a:pt x="314639" y="4332"/>
                </a:lnTo>
                <a:lnTo>
                  <a:pt x="359760" y="16823"/>
                </a:lnTo>
                <a:lnTo>
                  <a:pt x="401308" y="36712"/>
                </a:lnTo>
                <a:lnTo>
                  <a:pt x="438531" y="63241"/>
                </a:lnTo>
                <a:lnTo>
                  <a:pt x="470675" y="95651"/>
                </a:lnTo>
                <a:lnTo>
                  <a:pt x="496987" y="133181"/>
                </a:lnTo>
                <a:lnTo>
                  <a:pt x="516714" y="175072"/>
                </a:lnTo>
                <a:lnTo>
                  <a:pt x="529103" y="220564"/>
                </a:lnTo>
                <a:lnTo>
                  <a:pt x="533400" y="268900"/>
                </a:lnTo>
                <a:lnTo>
                  <a:pt x="529103" y="317235"/>
                </a:lnTo>
                <a:lnTo>
                  <a:pt x="516714" y="362727"/>
                </a:lnTo>
                <a:lnTo>
                  <a:pt x="496987" y="404618"/>
                </a:lnTo>
                <a:lnTo>
                  <a:pt x="470675" y="442148"/>
                </a:lnTo>
                <a:lnTo>
                  <a:pt x="438531" y="474558"/>
                </a:lnTo>
                <a:lnTo>
                  <a:pt x="401308" y="501087"/>
                </a:lnTo>
                <a:lnTo>
                  <a:pt x="359760" y="520976"/>
                </a:lnTo>
                <a:lnTo>
                  <a:pt x="314639" y="533467"/>
                </a:lnTo>
                <a:lnTo>
                  <a:pt x="266700" y="537800"/>
                </a:lnTo>
                <a:lnTo>
                  <a:pt x="218760" y="533467"/>
                </a:lnTo>
                <a:lnTo>
                  <a:pt x="173639" y="520976"/>
                </a:lnTo>
                <a:lnTo>
                  <a:pt x="132091" y="501087"/>
                </a:lnTo>
                <a:lnTo>
                  <a:pt x="94868" y="474558"/>
                </a:lnTo>
                <a:lnTo>
                  <a:pt x="62724" y="442148"/>
                </a:lnTo>
                <a:lnTo>
                  <a:pt x="36412" y="404618"/>
                </a:lnTo>
                <a:lnTo>
                  <a:pt x="16685" y="362727"/>
                </a:lnTo>
                <a:lnTo>
                  <a:pt x="4296" y="317235"/>
                </a:lnTo>
                <a:lnTo>
                  <a:pt x="0" y="268900"/>
                </a:lnTo>
                <a:close/>
              </a:path>
            </a:pathLst>
          </a:custGeom>
          <a:ln w="38100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731849" y="5197106"/>
            <a:ext cx="1104265" cy="704850"/>
          </a:xfrm>
          <a:custGeom>
            <a:avLst/>
            <a:gdLst/>
            <a:ahLst/>
            <a:cxnLst/>
            <a:rect l="l" t="t" r="r" b="b"/>
            <a:pathLst>
              <a:path w="1104265" h="704850">
                <a:moveTo>
                  <a:pt x="1104257" y="704779"/>
                </a:moveTo>
                <a:lnTo>
                  <a:pt x="0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416024" y="3899667"/>
            <a:ext cx="127635" cy="838835"/>
          </a:xfrm>
          <a:custGeom>
            <a:avLst/>
            <a:gdLst/>
            <a:ahLst/>
            <a:cxnLst/>
            <a:rect l="l" t="t" r="r" b="b"/>
            <a:pathLst>
              <a:path w="127635" h="838835">
                <a:moveTo>
                  <a:pt x="127240" y="838399"/>
                </a:moveTo>
                <a:lnTo>
                  <a:pt x="0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4866028" y="2187955"/>
            <a:ext cx="3253104" cy="1747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8000"/>
                </a:solidFill>
                <a:latin typeface="Arial"/>
                <a:cs typeface="Arial"/>
              </a:rPr>
              <a:t>Users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2400" spc="-5">
                <a:latin typeface="Arial"/>
                <a:cs typeface="Arial"/>
              </a:rPr>
              <a:t>300M~3B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700">
              <a:latin typeface="Times New Roman"/>
              <a:cs typeface="Times New Roman"/>
            </a:endParaRPr>
          </a:p>
          <a:p>
            <a:pPr marL="1508760">
              <a:lnSpc>
                <a:spcPct val="100000"/>
              </a:lnSpc>
              <a:spcBef>
                <a:spcPts val="1789"/>
              </a:spcBef>
            </a:pPr>
            <a:r>
              <a:rPr dirty="0" sz="2400" spc="-5">
                <a:latin typeface="Arial"/>
                <a:cs typeface="Arial"/>
              </a:rPr>
              <a:t>Friend/follow</a:t>
            </a:r>
            <a:endParaRPr sz="24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149325" y="3361866"/>
            <a:ext cx="533400" cy="537845"/>
          </a:xfrm>
          <a:custGeom>
            <a:avLst/>
            <a:gdLst/>
            <a:ahLst/>
            <a:cxnLst/>
            <a:rect l="l" t="t" r="r" b="b"/>
            <a:pathLst>
              <a:path w="533400" h="537845">
                <a:moveTo>
                  <a:pt x="266700" y="0"/>
                </a:moveTo>
                <a:lnTo>
                  <a:pt x="218760" y="4332"/>
                </a:lnTo>
                <a:lnTo>
                  <a:pt x="173639" y="16823"/>
                </a:lnTo>
                <a:lnTo>
                  <a:pt x="132091" y="36712"/>
                </a:lnTo>
                <a:lnTo>
                  <a:pt x="94868" y="63242"/>
                </a:lnTo>
                <a:lnTo>
                  <a:pt x="62724" y="95651"/>
                </a:lnTo>
                <a:lnTo>
                  <a:pt x="36412" y="133181"/>
                </a:lnTo>
                <a:lnTo>
                  <a:pt x="16685" y="175072"/>
                </a:lnTo>
                <a:lnTo>
                  <a:pt x="4296" y="220565"/>
                </a:lnTo>
                <a:lnTo>
                  <a:pt x="0" y="268900"/>
                </a:lnTo>
                <a:lnTo>
                  <a:pt x="4296" y="317235"/>
                </a:lnTo>
                <a:lnTo>
                  <a:pt x="16685" y="362728"/>
                </a:lnTo>
                <a:lnTo>
                  <a:pt x="36412" y="404619"/>
                </a:lnTo>
                <a:lnTo>
                  <a:pt x="62724" y="442149"/>
                </a:lnTo>
                <a:lnTo>
                  <a:pt x="94868" y="474558"/>
                </a:lnTo>
                <a:lnTo>
                  <a:pt x="132091" y="501087"/>
                </a:lnTo>
                <a:lnTo>
                  <a:pt x="173639" y="520977"/>
                </a:lnTo>
                <a:lnTo>
                  <a:pt x="218760" y="533468"/>
                </a:lnTo>
                <a:lnTo>
                  <a:pt x="266700" y="537800"/>
                </a:lnTo>
                <a:lnTo>
                  <a:pt x="314639" y="533468"/>
                </a:lnTo>
                <a:lnTo>
                  <a:pt x="359759" y="520977"/>
                </a:lnTo>
                <a:lnTo>
                  <a:pt x="401308" y="501087"/>
                </a:lnTo>
                <a:lnTo>
                  <a:pt x="438530" y="474558"/>
                </a:lnTo>
                <a:lnTo>
                  <a:pt x="470675" y="442149"/>
                </a:lnTo>
                <a:lnTo>
                  <a:pt x="496987" y="404619"/>
                </a:lnTo>
                <a:lnTo>
                  <a:pt x="516714" y="362728"/>
                </a:lnTo>
                <a:lnTo>
                  <a:pt x="529103" y="317235"/>
                </a:lnTo>
                <a:lnTo>
                  <a:pt x="533400" y="268900"/>
                </a:lnTo>
                <a:lnTo>
                  <a:pt x="529103" y="220565"/>
                </a:lnTo>
                <a:lnTo>
                  <a:pt x="516714" y="175072"/>
                </a:lnTo>
                <a:lnTo>
                  <a:pt x="496987" y="133181"/>
                </a:lnTo>
                <a:lnTo>
                  <a:pt x="470675" y="95651"/>
                </a:lnTo>
                <a:lnTo>
                  <a:pt x="438530" y="63242"/>
                </a:lnTo>
                <a:lnTo>
                  <a:pt x="401308" y="36712"/>
                </a:lnTo>
                <a:lnTo>
                  <a:pt x="359759" y="16823"/>
                </a:lnTo>
                <a:lnTo>
                  <a:pt x="314639" y="4332"/>
                </a:lnTo>
                <a:lnTo>
                  <a:pt x="266700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149325" y="3361866"/>
            <a:ext cx="533400" cy="537845"/>
          </a:xfrm>
          <a:custGeom>
            <a:avLst/>
            <a:gdLst/>
            <a:ahLst/>
            <a:cxnLst/>
            <a:rect l="l" t="t" r="r" b="b"/>
            <a:pathLst>
              <a:path w="533400" h="537845">
                <a:moveTo>
                  <a:pt x="0" y="268900"/>
                </a:moveTo>
                <a:lnTo>
                  <a:pt x="4296" y="220564"/>
                </a:lnTo>
                <a:lnTo>
                  <a:pt x="16685" y="175072"/>
                </a:lnTo>
                <a:lnTo>
                  <a:pt x="36412" y="133181"/>
                </a:lnTo>
                <a:lnTo>
                  <a:pt x="62724" y="95651"/>
                </a:lnTo>
                <a:lnTo>
                  <a:pt x="94868" y="63241"/>
                </a:lnTo>
                <a:lnTo>
                  <a:pt x="132091" y="36712"/>
                </a:lnTo>
                <a:lnTo>
                  <a:pt x="173639" y="16823"/>
                </a:lnTo>
                <a:lnTo>
                  <a:pt x="218760" y="4332"/>
                </a:lnTo>
                <a:lnTo>
                  <a:pt x="266700" y="0"/>
                </a:lnTo>
                <a:lnTo>
                  <a:pt x="314639" y="4332"/>
                </a:lnTo>
                <a:lnTo>
                  <a:pt x="359760" y="16823"/>
                </a:lnTo>
                <a:lnTo>
                  <a:pt x="401308" y="36712"/>
                </a:lnTo>
                <a:lnTo>
                  <a:pt x="438531" y="63241"/>
                </a:lnTo>
                <a:lnTo>
                  <a:pt x="470675" y="95651"/>
                </a:lnTo>
                <a:lnTo>
                  <a:pt x="496987" y="133181"/>
                </a:lnTo>
                <a:lnTo>
                  <a:pt x="516714" y="175072"/>
                </a:lnTo>
                <a:lnTo>
                  <a:pt x="529103" y="220564"/>
                </a:lnTo>
                <a:lnTo>
                  <a:pt x="533400" y="268900"/>
                </a:lnTo>
                <a:lnTo>
                  <a:pt x="529103" y="317235"/>
                </a:lnTo>
                <a:lnTo>
                  <a:pt x="516714" y="362727"/>
                </a:lnTo>
                <a:lnTo>
                  <a:pt x="496987" y="404618"/>
                </a:lnTo>
                <a:lnTo>
                  <a:pt x="470675" y="442148"/>
                </a:lnTo>
                <a:lnTo>
                  <a:pt x="438531" y="474558"/>
                </a:lnTo>
                <a:lnTo>
                  <a:pt x="401308" y="501087"/>
                </a:lnTo>
                <a:lnTo>
                  <a:pt x="359760" y="520976"/>
                </a:lnTo>
                <a:lnTo>
                  <a:pt x="314639" y="533467"/>
                </a:lnTo>
                <a:lnTo>
                  <a:pt x="266700" y="537800"/>
                </a:lnTo>
                <a:lnTo>
                  <a:pt x="218760" y="533467"/>
                </a:lnTo>
                <a:lnTo>
                  <a:pt x="173639" y="520976"/>
                </a:lnTo>
                <a:lnTo>
                  <a:pt x="132091" y="501087"/>
                </a:lnTo>
                <a:lnTo>
                  <a:pt x="94868" y="474558"/>
                </a:lnTo>
                <a:lnTo>
                  <a:pt x="62724" y="442148"/>
                </a:lnTo>
                <a:lnTo>
                  <a:pt x="36412" y="404618"/>
                </a:lnTo>
                <a:lnTo>
                  <a:pt x="16685" y="362727"/>
                </a:lnTo>
                <a:lnTo>
                  <a:pt x="4296" y="317235"/>
                </a:lnTo>
                <a:lnTo>
                  <a:pt x="0" y="268900"/>
                </a:lnTo>
                <a:close/>
              </a:path>
            </a:pathLst>
          </a:custGeom>
          <a:ln w="38100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276564" y="4738066"/>
            <a:ext cx="533400" cy="537845"/>
          </a:xfrm>
          <a:custGeom>
            <a:avLst/>
            <a:gdLst/>
            <a:ahLst/>
            <a:cxnLst/>
            <a:rect l="l" t="t" r="r" b="b"/>
            <a:pathLst>
              <a:path w="533400" h="537845">
                <a:moveTo>
                  <a:pt x="266700" y="0"/>
                </a:moveTo>
                <a:lnTo>
                  <a:pt x="218760" y="4332"/>
                </a:lnTo>
                <a:lnTo>
                  <a:pt x="173640" y="16822"/>
                </a:lnTo>
                <a:lnTo>
                  <a:pt x="132091" y="36712"/>
                </a:lnTo>
                <a:lnTo>
                  <a:pt x="94869" y="63241"/>
                </a:lnTo>
                <a:lnTo>
                  <a:pt x="62724" y="95650"/>
                </a:lnTo>
                <a:lnTo>
                  <a:pt x="36412" y="133180"/>
                </a:lnTo>
                <a:lnTo>
                  <a:pt x="16685" y="175071"/>
                </a:lnTo>
                <a:lnTo>
                  <a:pt x="4296" y="220564"/>
                </a:lnTo>
                <a:lnTo>
                  <a:pt x="0" y="268899"/>
                </a:lnTo>
                <a:lnTo>
                  <a:pt x="4296" y="317234"/>
                </a:lnTo>
                <a:lnTo>
                  <a:pt x="16685" y="362727"/>
                </a:lnTo>
                <a:lnTo>
                  <a:pt x="36412" y="404618"/>
                </a:lnTo>
                <a:lnTo>
                  <a:pt x="62724" y="442148"/>
                </a:lnTo>
                <a:lnTo>
                  <a:pt x="94869" y="474557"/>
                </a:lnTo>
                <a:lnTo>
                  <a:pt x="132091" y="501086"/>
                </a:lnTo>
                <a:lnTo>
                  <a:pt x="173640" y="520976"/>
                </a:lnTo>
                <a:lnTo>
                  <a:pt x="218760" y="533466"/>
                </a:lnTo>
                <a:lnTo>
                  <a:pt x="266700" y="537799"/>
                </a:lnTo>
                <a:lnTo>
                  <a:pt x="314639" y="533466"/>
                </a:lnTo>
                <a:lnTo>
                  <a:pt x="359760" y="520976"/>
                </a:lnTo>
                <a:lnTo>
                  <a:pt x="401308" y="501086"/>
                </a:lnTo>
                <a:lnTo>
                  <a:pt x="438531" y="474557"/>
                </a:lnTo>
                <a:lnTo>
                  <a:pt x="470675" y="442148"/>
                </a:lnTo>
                <a:lnTo>
                  <a:pt x="496987" y="404618"/>
                </a:lnTo>
                <a:lnTo>
                  <a:pt x="516714" y="362727"/>
                </a:lnTo>
                <a:lnTo>
                  <a:pt x="529103" y="317234"/>
                </a:lnTo>
                <a:lnTo>
                  <a:pt x="533400" y="268899"/>
                </a:lnTo>
                <a:lnTo>
                  <a:pt x="529103" y="220564"/>
                </a:lnTo>
                <a:lnTo>
                  <a:pt x="516714" y="175071"/>
                </a:lnTo>
                <a:lnTo>
                  <a:pt x="496987" y="133180"/>
                </a:lnTo>
                <a:lnTo>
                  <a:pt x="470675" y="95650"/>
                </a:lnTo>
                <a:lnTo>
                  <a:pt x="438531" y="63241"/>
                </a:lnTo>
                <a:lnTo>
                  <a:pt x="401308" y="36712"/>
                </a:lnTo>
                <a:lnTo>
                  <a:pt x="359760" y="16822"/>
                </a:lnTo>
                <a:lnTo>
                  <a:pt x="314639" y="4332"/>
                </a:lnTo>
                <a:lnTo>
                  <a:pt x="266700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276564" y="4738066"/>
            <a:ext cx="533400" cy="537845"/>
          </a:xfrm>
          <a:custGeom>
            <a:avLst/>
            <a:gdLst/>
            <a:ahLst/>
            <a:cxnLst/>
            <a:rect l="l" t="t" r="r" b="b"/>
            <a:pathLst>
              <a:path w="533400" h="537845">
                <a:moveTo>
                  <a:pt x="0" y="268900"/>
                </a:moveTo>
                <a:lnTo>
                  <a:pt x="4296" y="220564"/>
                </a:lnTo>
                <a:lnTo>
                  <a:pt x="16685" y="175072"/>
                </a:lnTo>
                <a:lnTo>
                  <a:pt x="36412" y="133181"/>
                </a:lnTo>
                <a:lnTo>
                  <a:pt x="62724" y="95651"/>
                </a:lnTo>
                <a:lnTo>
                  <a:pt x="94868" y="63241"/>
                </a:lnTo>
                <a:lnTo>
                  <a:pt x="132091" y="36712"/>
                </a:lnTo>
                <a:lnTo>
                  <a:pt x="173639" y="16823"/>
                </a:lnTo>
                <a:lnTo>
                  <a:pt x="218760" y="4332"/>
                </a:lnTo>
                <a:lnTo>
                  <a:pt x="266700" y="0"/>
                </a:lnTo>
                <a:lnTo>
                  <a:pt x="314639" y="4332"/>
                </a:lnTo>
                <a:lnTo>
                  <a:pt x="359760" y="16823"/>
                </a:lnTo>
                <a:lnTo>
                  <a:pt x="401308" y="36712"/>
                </a:lnTo>
                <a:lnTo>
                  <a:pt x="438531" y="63241"/>
                </a:lnTo>
                <a:lnTo>
                  <a:pt x="470675" y="95651"/>
                </a:lnTo>
                <a:lnTo>
                  <a:pt x="496987" y="133181"/>
                </a:lnTo>
                <a:lnTo>
                  <a:pt x="516714" y="175072"/>
                </a:lnTo>
                <a:lnTo>
                  <a:pt x="529103" y="220564"/>
                </a:lnTo>
                <a:lnTo>
                  <a:pt x="533400" y="268900"/>
                </a:lnTo>
                <a:lnTo>
                  <a:pt x="529103" y="317235"/>
                </a:lnTo>
                <a:lnTo>
                  <a:pt x="516714" y="362727"/>
                </a:lnTo>
                <a:lnTo>
                  <a:pt x="496987" y="404618"/>
                </a:lnTo>
                <a:lnTo>
                  <a:pt x="470675" y="442148"/>
                </a:lnTo>
                <a:lnTo>
                  <a:pt x="438531" y="474558"/>
                </a:lnTo>
                <a:lnTo>
                  <a:pt x="401308" y="501087"/>
                </a:lnTo>
                <a:lnTo>
                  <a:pt x="359760" y="520976"/>
                </a:lnTo>
                <a:lnTo>
                  <a:pt x="314639" y="533467"/>
                </a:lnTo>
                <a:lnTo>
                  <a:pt x="266700" y="537800"/>
                </a:lnTo>
                <a:lnTo>
                  <a:pt x="218760" y="533467"/>
                </a:lnTo>
                <a:lnTo>
                  <a:pt x="173639" y="520976"/>
                </a:lnTo>
                <a:lnTo>
                  <a:pt x="132091" y="501087"/>
                </a:lnTo>
                <a:lnTo>
                  <a:pt x="94868" y="474558"/>
                </a:lnTo>
                <a:lnTo>
                  <a:pt x="62724" y="442148"/>
                </a:lnTo>
                <a:lnTo>
                  <a:pt x="36412" y="404618"/>
                </a:lnTo>
                <a:lnTo>
                  <a:pt x="16685" y="362727"/>
                </a:lnTo>
                <a:lnTo>
                  <a:pt x="4296" y="317235"/>
                </a:lnTo>
                <a:lnTo>
                  <a:pt x="0" y="268900"/>
                </a:lnTo>
                <a:close/>
              </a:path>
            </a:pathLst>
          </a:custGeom>
          <a:ln w="38100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757991" y="5823126"/>
            <a:ext cx="533400" cy="537845"/>
          </a:xfrm>
          <a:custGeom>
            <a:avLst/>
            <a:gdLst/>
            <a:ahLst/>
            <a:cxnLst/>
            <a:rect l="l" t="t" r="r" b="b"/>
            <a:pathLst>
              <a:path w="533400" h="537845">
                <a:moveTo>
                  <a:pt x="266700" y="0"/>
                </a:moveTo>
                <a:lnTo>
                  <a:pt x="218760" y="4332"/>
                </a:lnTo>
                <a:lnTo>
                  <a:pt x="173640" y="16823"/>
                </a:lnTo>
                <a:lnTo>
                  <a:pt x="132091" y="36712"/>
                </a:lnTo>
                <a:lnTo>
                  <a:pt x="94868" y="63241"/>
                </a:lnTo>
                <a:lnTo>
                  <a:pt x="62724" y="95651"/>
                </a:lnTo>
                <a:lnTo>
                  <a:pt x="36412" y="133180"/>
                </a:lnTo>
                <a:lnTo>
                  <a:pt x="16685" y="175071"/>
                </a:lnTo>
                <a:lnTo>
                  <a:pt x="4296" y="220564"/>
                </a:lnTo>
                <a:lnTo>
                  <a:pt x="0" y="268899"/>
                </a:lnTo>
                <a:lnTo>
                  <a:pt x="4296" y="317235"/>
                </a:lnTo>
                <a:lnTo>
                  <a:pt x="16685" y="362727"/>
                </a:lnTo>
                <a:lnTo>
                  <a:pt x="36412" y="404618"/>
                </a:lnTo>
                <a:lnTo>
                  <a:pt x="62724" y="442148"/>
                </a:lnTo>
                <a:lnTo>
                  <a:pt x="94869" y="474557"/>
                </a:lnTo>
                <a:lnTo>
                  <a:pt x="132091" y="501087"/>
                </a:lnTo>
                <a:lnTo>
                  <a:pt x="173640" y="520976"/>
                </a:lnTo>
                <a:lnTo>
                  <a:pt x="218760" y="533467"/>
                </a:lnTo>
                <a:lnTo>
                  <a:pt x="266700" y="537799"/>
                </a:lnTo>
                <a:lnTo>
                  <a:pt x="314639" y="533467"/>
                </a:lnTo>
                <a:lnTo>
                  <a:pt x="359760" y="520976"/>
                </a:lnTo>
                <a:lnTo>
                  <a:pt x="401308" y="501087"/>
                </a:lnTo>
                <a:lnTo>
                  <a:pt x="438531" y="474557"/>
                </a:lnTo>
                <a:lnTo>
                  <a:pt x="470675" y="442148"/>
                </a:lnTo>
                <a:lnTo>
                  <a:pt x="496987" y="404618"/>
                </a:lnTo>
                <a:lnTo>
                  <a:pt x="516714" y="362727"/>
                </a:lnTo>
                <a:lnTo>
                  <a:pt x="529103" y="317235"/>
                </a:lnTo>
                <a:lnTo>
                  <a:pt x="533400" y="268899"/>
                </a:lnTo>
                <a:lnTo>
                  <a:pt x="529103" y="220564"/>
                </a:lnTo>
                <a:lnTo>
                  <a:pt x="516714" y="175071"/>
                </a:lnTo>
                <a:lnTo>
                  <a:pt x="496987" y="133180"/>
                </a:lnTo>
                <a:lnTo>
                  <a:pt x="470675" y="95651"/>
                </a:lnTo>
                <a:lnTo>
                  <a:pt x="438531" y="63241"/>
                </a:lnTo>
                <a:lnTo>
                  <a:pt x="401308" y="36712"/>
                </a:lnTo>
                <a:lnTo>
                  <a:pt x="359760" y="16823"/>
                </a:lnTo>
                <a:lnTo>
                  <a:pt x="314639" y="4332"/>
                </a:lnTo>
                <a:lnTo>
                  <a:pt x="266700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757991" y="5823126"/>
            <a:ext cx="533400" cy="537845"/>
          </a:xfrm>
          <a:custGeom>
            <a:avLst/>
            <a:gdLst/>
            <a:ahLst/>
            <a:cxnLst/>
            <a:rect l="l" t="t" r="r" b="b"/>
            <a:pathLst>
              <a:path w="533400" h="537845">
                <a:moveTo>
                  <a:pt x="0" y="268900"/>
                </a:moveTo>
                <a:lnTo>
                  <a:pt x="4296" y="220564"/>
                </a:lnTo>
                <a:lnTo>
                  <a:pt x="16685" y="175072"/>
                </a:lnTo>
                <a:lnTo>
                  <a:pt x="36412" y="133181"/>
                </a:lnTo>
                <a:lnTo>
                  <a:pt x="62724" y="95651"/>
                </a:lnTo>
                <a:lnTo>
                  <a:pt x="94868" y="63241"/>
                </a:lnTo>
                <a:lnTo>
                  <a:pt x="132091" y="36712"/>
                </a:lnTo>
                <a:lnTo>
                  <a:pt x="173639" y="16823"/>
                </a:lnTo>
                <a:lnTo>
                  <a:pt x="218760" y="4332"/>
                </a:lnTo>
                <a:lnTo>
                  <a:pt x="266700" y="0"/>
                </a:lnTo>
                <a:lnTo>
                  <a:pt x="314639" y="4332"/>
                </a:lnTo>
                <a:lnTo>
                  <a:pt x="359760" y="16823"/>
                </a:lnTo>
                <a:lnTo>
                  <a:pt x="401308" y="36712"/>
                </a:lnTo>
                <a:lnTo>
                  <a:pt x="438531" y="63241"/>
                </a:lnTo>
                <a:lnTo>
                  <a:pt x="470675" y="95651"/>
                </a:lnTo>
                <a:lnTo>
                  <a:pt x="496987" y="133181"/>
                </a:lnTo>
                <a:lnTo>
                  <a:pt x="516714" y="175072"/>
                </a:lnTo>
                <a:lnTo>
                  <a:pt x="529103" y="220564"/>
                </a:lnTo>
                <a:lnTo>
                  <a:pt x="533400" y="268900"/>
                </a:lnTo>
                <a:lnTo>
                  <a:pt x="529103" y="317235"/>
                </a:lnTo>
                <a:lnTo>
                  <a:pt x="516714" y="362727"/>
                </a:lnTo>
                <a:lnTo>
                  <a:pt x="496987" y="404618"/>
                </a:lnTo>
                <a:lnTo>
                  <a:pt x="470675" y="442148"/>
                </a:lnTo>
                <a:lnTo>
                  <a:pt x="438531" y="474558"/>
                </a:lnTo>
                <a:lnTo>
                  <a:pt x="401308" y="501087"/>
                </a:lnTo>
                <a:lnTo>
                  <a:pt x="359760" y="520976"/>
                </a:lnTo>
                <a:lnTo>
                  <a:pt x="314639" y="533467"/>
                </a:lnTo>
                <a:lnTo>
                  <a:pt x="266700" y="537800"/>
                </a:lnTo>
                <a:lnTo>
                  <a:pt x="218760" y="533467"/>
                </a:lnTo>
                <a:lnTo>
                  <a:pt x="173639" y="520976"/>
                </a:lnTo>
                <a:lnTo>
                  <a:pt x="132091" y="501087"/>
                </a:lnTo>
                <a:lnTo>
                  <a:pt x="94868" y="474558"/>
                </a:lnTo>
                <a:lnTo>
                  <a:pt x="62724" y="442148"/>
                </a:lnTo>
                <a:lnTo>
                  <a:pt x="36412" y="404618"/>
                </a:lnTo>
                <a:lnTo>
                  <a:pt x="16685" y="362727"/>
                </a:lnTo>
                <a:lnTo>
                  <a:pt x="4296" y="317235"/>
                </a:lnTo>
                <a:lnTo>
                  <a:pt x="0" y="268900"/>
                </a:lnTo>
                <a:close/>
              </a:path>
            </a:pathLst>
          </a:custGeom>
          <a:ln w="38100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3/13/21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7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7495032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314833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 b="1">
                <a:solidFill>
                  <a:srgbClr val="D60093"/>
                </a:solidFill>
                <a:latin typeface="Calibri"/>
                <a:cs typeface="Calibri"/>
              </a:rPr>
              <a:t>Academic</a:t>
            </a:r>
            <a:r>
              <a:rPr dirty="0" spc="-45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pc="-20" b="1">
                <a:solidFill>
                  <a:srgbClr val="D60093"/>
                </a:solidFill>
                <a:latin typeface="Calibri"/>
                <a:cs typeface="Calibri"/>
              </a:rPr>
              <a:t>graph: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8108" y="1920747"/>
            <a:ext cx="4486275" cy="39452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5475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>
                <a:latin typeface="Calibri"/>
                <a:cs typeface="Calibri"/>
              </a:rPr>
              <a:t>Microsoft </a:t>
            </a:r>
            <a:r>
              <a:rPr dirty="0" sz="2800" spc="-5">
                <a:latin typeface="Calibri"/>
                <a:cs typeface="Calibri"/>
              </a:rPr>
              <a:t>Academic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 spc="-105">
                <a:latin typeface="Calibri"/>
                <a:cs typeface="Calibri"/>
              </a:rPr>
              <a:t>Graph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spcBef>
                <a:spcPts val="3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b="1">
                <a:solidFill>
                  <a:srgbClr val="D60093"/>
                </a:solidFill>
                <a:latin typeface="Calibri"/>
                <a:cs typeface="Calibri"/>
              </a:rPr>
              <a:t>ML</a:t>
            </a:r>
            <a:r>
              <a:rPr dirty="0" sz="3200" spc="-95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200" spc="-15" b="1">
                <a:solidFill>
                  <a:srgbClr val="D60093"/>
                </a:solidFill>
                <a:latin typeface="Calibri"/>
                <a:cs typeface="Calibri"/>
              </a:rPr>
              <a:t>tasks:</a:t>
            </a:r>
            <a:endParaRPr sz="3200">
              <a:latin typeface="Calibri"/>
              <a:cs typeface="Calibri"/>
            </a:endParaRPr>
          </a:p>
          <a:p>
            <a:pPr lvl="1" marL="593725" indent="-242570">
              <a:lnSpc>
                <a:spcPct val="100000"/>
              </a:lnSpc>
              <a:spcBef>
                <a:spcPts val="66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5">
                <a:latin typeface="Calibri"/>
                <a:cs typeface="Calibri"/>
              </a:rPr>
              <a:t>Paper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categorization</a:t>
            </a:r>
            <a:endParaRPr sz="2800">
              <a:latin typeface="Calibri"/>
              <a:cs typeface="Calibri"/>
            </a:endParaRPr>
          </a:p>
          <a:p>
            <a:pPr marL="661670">
              <a:lnSpc>
                <a:spcPct val="100000"/>
              </a:lnSpc>
              <a:spcBef>
                <a:spcPts val="635"/>
              </a:spcBef>
            </a:pPr>
            <a:r>
              <a:rPr dirty="0" sz="2400" spc="-5">
                <a:latin typeface="Calibri"/>
                <a:cs typeface="Calibri"/>
              </a:rPr>
              <a:t>(node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classification)</a:t>
            </a:r>
            <a:endParaRPr sz="2400">
              <a:latin typeface="Calibri"/>
              <a:cs typeface="Calibri"/>
            </a:endParaRPr>
          </a:p>
          <a:p>
            <a:pPr lvl="1" marL="593725" marR="862965" indent="-242570">
              <a:lnSpc>
                <a:spcPts val="4010"/>
              </a:lnSpc>
              <a:spcBef>
                <a:spcPts val="19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Author </a:t>
            </a:r>
            <a:r>
              <a:rPr dirty="0" sz="2800" spc="-65">
                <a:latin typeface="Calibri"/>
                <a:cs typeface="Calibri"/>
              </a:rPr>
              <a:t>collaboration  </a:t>
            </a:r>
            <a:r>
              <a:rPr dirty="0" sz="2800" spc="-10">
                <a:latin typeface="Calibri"/>
                <a:cs typeface="Calibri"/>
              </a:rPr>
              <a:t>recommendation</a:t>
            </a:r>
            <a:endParaRPr sz="2800">
              <a:latin typeface="Calibri"/>
              <a:cs typeface="Calibri"/>
            </a:endParaRPr>
          </a:p>
          <a:p>
            <a:pPr lvl="1" marL="593725" marR="1392555" indent="-242570">
              <a:lnSpc>
                <a:spcPts val="4010"/>
              </a:lnSpc>
              <a:spcBef>
                <a:spcPts val="9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5">
                <a:latin typeface="Calibri"/>
                <a:cs typeface="Calibri"/>
              </a:rPr>
              <a:t>Paper citation  </a:t>
            </a:r>
            <a:r>
              <a:rPr dirty="0" sz="2800" spc="-40">
                <a:latin typeface="Calibri"/>
                <a:cs typeface="Calibri"/>
              </a:rPr>
              <a:t>r</a:t>
            </a:r>
            <a:r>
              <a:rPr dirty="0" sz="2800" spc="-5">
                <a:latin typeface="Calibri"/>
                <a:cs typeface="Calibri"/>
              </a:rPr>
              <a:t>e</a:t>
            </a:r>
            <a:r>
              <a:rPr dirty="0" sz="2800" spc="-20">
                <a:latin typeface="Calibri"/>
                <a:cs typeface="Calibri"/>
              </a:rPr>
              <a:t>c</a:t>
            </a:r>
            <a:r>
              <a:rPr dirty="0" sz="2800" spc="-5">
                <a:latin typeface="Calibri"/>
                <a:cs typeface="Calibri"/>
              </a:rPr>
              <a:t>o</a:t>
            </a:r>
            <a:r>
              <a:rPr dirty="0" sz="2800">
                <a:latin typeface="Calibri"/>
                <a:cs typeface="Calibri"/>
              </a:rPr>
              <a:t>mm</a:t>
            </a:r>
            <a:r>
              <a:rPr dirty="0" sz="2800" spc="-5">
                <a:latin typeface="Calibri"/>
                <a:cs typeface="Calibri"/>
              </a:rPr>
              <a:t>e</a:t>
            </a:r>
            <a:r>
              <a:rPr dirty="0" sz="2800">
                <a:latin typeface="Calibri"/>
                <a:cs typeface="Calibri"/>
              </a:rPr>
              <a:t>nd</a:t>
            </a:r>
            <a:r>
              <a:rPr dirty="0" sz="2800" spc="-35">
                <a:latin typeface="Calibri"/>
                <a:cs typeface="Calibri"/>
              </a:rPr>
              <a:t>a</a:t>
            </a:r>
            <a:r>
              <a:rPr dirty="0" sz="2800">
                <a:latin typeface="Calibri"/>
                <a:cs typeface="Calibri"/>
              </a:rPr>
              <a:t>t</a:t>
            </a:r>
            <a:r>
              <a:rPr dirty="0" sz="2800" spc="-5">
                <a:latin typeface="Calibri"/>
                <a:cs typeface="Calibri"/>
              </a:rPr>
              <a:t>io</a:t>
            </a:r>
            <a:r>
              <a:rPr dirty="0" sz="2800">
                <a:latin typeface="Calibri"/>
                <a:cs typeface="Calibri"/>
              </a:rPr>
              <a:t>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99451" y="5970523"/>
            <a:ext cx="19831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Calibri"/>
                <a:cs typeface="Calibri"/>
              </a:rPr>
              <a:t>(link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prediction)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963656" y="3771821"/>
            <a:ext cx="778070" cy="78435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919466" y="3056272"/>
            <a:ext cx="779344" cy="8296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059573" y="3544808"/>
            <a:ext cx="905807" cy="114771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352690" y="3454803"/>
            <a:ext cx="583565" cy="317500"/>
          </a:xfrm>
          <a:custGeom>
            <a:avLst/>
            <a:gdLst/>
            <a:ahLst/>
            <a:cxnLst/>
            <a:rect l="l" t="t" r="r" b="b"/>
            <a:pathLst>
              <a:path w="583564" h="317500">
                <a:moveTo>
                  <a:pt x="55639" y="238975"/>
                </a:moveTo>
                <a:lnTo>
                  <a:pt x="0" y="317016"/>
                </a:lnTo>
                <a:lnTo>
                  <a:pt x="95816" y="314703"/>
                </a:lnTo>
                <a:lnTo>
                  <a:pt x="87938" y="299854"/>
                </a:lnTo>
                <a:lnTo>
                  <a:pt x="62831" y="299854"/>
                </a:lnTo>
                <a:lnTo>
                  <a:pt x="54183" y="297201"/>
                </a:lnTo>
                <a:lnTo>
                  <a:pt x="46786" y="283260"/>
                </a:lnTo>
                <a:lnTo>
                  <a:pt x="49439" y="274612"/>
                </a:lnTo>
                <a:lnTo>
                  <a:pt x="69031" y="264217"/>
                </a:lnTo>
                <a:lnTo>
                  <a:pt x="55639" y="238975"/>
                </a:lnTo>
                <a:close/>
              </a:path>
              <a:path w="583564" h="317500">
                <a:moveTo>
                  <a:pt x="69031" y="264217"/>
                </a:moveTo>
                <a:lnTo>
                  <a:pt x="49439" y="274612"/>
                </a:lnTo>
                <a:lnTo>
                  <a:pt x="46786" y="283260"/>
                </a:lnTo>
                <a:lnTo>
                  <a:pt x="54183" y="297201"/>
                </a:lnTo>
                <a:lnTo>
                  <a:pt x="62831" y="299854"/>
                </a:lnTo>
                <a:lnTo>
                  <a:pt x="82423" y="289460"/>
                </a:lnTo>
                <a:lnTo>
                  <a:pt x="69031" y="264217"/>
                </a:lnTo>
                <a:close/>
              </a:path>
              <a:path w="583564" h="317500">
                <a:moveTo>
                  <a:pt x="82423" y="289460"/>
                </a:moveTo>
                <a:lnTo>
                  <a:pt x="62831" y="299854"/>
                </a:lnTo>
                <a:lnTo>
                  <a:pt x="87938" y="299854"/>
                </a:lnTo>
                <a:lnTo>
                  <a:pt x="82423" y="289460"/>
                </a:lnTo>
                <a:close/>
              </a:path>
              <a:path w="583564" h="317500">
                <a:moveTo>
                  <a:pt x="567049" y="0"/>
                </a:moveTo>
                <a:lnTo>
                  <a:pt x="69031" y="264217"/>
                </a:lnTo>
                <a:lnTo>
                  <a:pt x="82423" y="289460"/>
                </a:lnTo>
                <a:lnTo>
                  <a:pt x="580442" y="25242"/>
                </a:lnTo>
                <a:lnTo>
                  <a:pt x="583095" y="16593"/>
                </a:lnTo>
                <a:lnTo>
                  <a:pt x="575698" y="2651"/>
                </a:lnTo>
                <a:lnTo>
                  <a:pt x="5670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741727" y="4104228"/>
            <a:ext cx="2332355" cy="100965"/>
          </a:xfrm>
          <a:custGeom>
            <a:avLst/>
            <a:gdLst/>
            <a:ahLst/>
            <a:cxnLst/>
            <a:rect l="l" t="t" r="r" b="b"/>
            <a:pathLst>
              <a:path w="2332354" h="100964">
                <a:moveTo>
                  <a:pt x="84870" y="15237"/>
                </a:moveTo>
                <a:lnTo>
                  <a:pt x="0" y="59768"/>
                </a:lnTo>
                <a:lnTo>
                  <a:pt x="86546" y="100945"/>
                </a:lnTo>
                <a:lnTo>
                  <a:pt x="85996" y="72810"/>
                </a:lnTo>
                <a:lnTo>
                  <a:pt x="63809" y="72810"/>
                </a:lnTo>
                <a:lnTo>
                  <a:pt x="57289" y="66540"/>
                </a:lnTo>
                <a:lnTo>
                  <a:pt x="56981" y="50761"/>
                </a:lnTo>
                <a:lnTo>
                  <a:pt x="63251" y="44241"/>
                </a:lnTo>
                <a:lnTo>
                  <a:pt x="85429" y="43807"/>
                </a:lnTo>
                <a:lnTo>
                  <a:pt x="84870" y="15237"/>
                </a:lnTo>
                <a:close/>
              </a:path>
              <a:path w="2332354" h="100964">
                <a:moveTo>
                  <a:pt x="85429" y="43807"/>
                </a:moveTo>
                <a:lnTo>
                  <a:pt x="63251" y="44241"/>
                </a:lnTo>
                <a:lnTo>
                  <a:pt x="56981" y="50761"/>
                </a:lnTo>
                <a:lnTo>
                  <a:pt x="57289" y="66540"/>
                </a:lnTo>
                <a:lnTo>
                  <a:pt x="63809" y="72810"/>
                </a:lnTo>
                <a:lnTo>
                  <a:pt x="85987" y="72376"/>
                </a:lnTo>
                <a:lnTo>
                  <a:pt x="85429" y="43807"/>
                </a:lnTo>
                <a:close/>
              </a:path>
              <a:path w="2332354" h="100964">
                <a:moveTo>
                  <a:pt x="85987" y="72376"/>
                </a:moveTo>
                <a:lnTo>
                  <a:pt x="63809" y="72810"/>
                </a:lnTo>
                <a:lnTo>
                  <a:pt x="85996" y="72810"/>
                </a:lnTo>
                <a:lnTo>
                  <a:pt x="85987" y="72376"/>
                </a:lnTo>
                <a:close/>
              </a:path>
              <a:path w="2332354" h="100964">
                <a:moveTo>
                  <a:pt x="2325456" y="0"/>
                </a:moveTo>
                <a:lnTo>
                  <a:pt x="85429" y="43807"/>
                </a:lnTo>
                <a:lnTo>
                  <a:pt x="85987" y="72376"/>
                </a:lnTo>
                <a:lnTo>
                  <a:pt x="2326015" y="28569"/>
                </a:lnTo>
                <a:lnTo>
                  <a:pt x="2332286" y="22049"/>
                </a:lnTo>
                <a:lnTo>
                  <a:pt x="2331977" y="6271"/>
                </a:lnTo>
                <a:lnTo>
                  <a:pt x="23254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339334" y="3469255"/>
            <a:ext cx="2815369" cy="285678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8122473" y="3041395"/>
            <a:ext cx="8731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latin typeface="Arial"/>
                <a:cs typeface="Arial"/>
              </a:rPr>
              <a:t>P</a:t>
            </a:r>
            <a:r>
              <a:rPr dirty="0" sz="2400" b="1">
                <a:latin typeface="Arial"/>
                <a:cs typeface="Arial"/>
              </a:rPr>
              <a:t>a</a:t>
            </a:r>
            <a:r>
              <a:rPr dirty="0" sz="2400" spc="-5" b="1">
                <a:latin typeface="Arial"/>
                <a:cs typeface="Arial"/>
              </a:rPr>
              <a:t>p</a:t>
            </a:r>
            <a:r>
              <a:rPr dirty="0" sz="2400" b="1">
                <a:latin typeface="Arial"/>
                <a:cs typeface="Arial"/>
              </a:rPr>
              <a:t>er</a:t>
            </a:r>
            <a:endParaRPr sz="240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3/13/21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7</a:t>
            </a:fld>
            <a:endParaRPr sz="9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69736" y="5848603"/>
            <a:ext cx="10229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dirty="0" sz="2400" spc="-10" b="1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dirty="0" sz="2400" spc="-5" b="1">
                <a:solidFill>
                  <a:srgbClr val="C00000"/>
                </a:solidFill>
                <a:latin typeface="Arial"/>
                <a:cs typeface="Arial"/>
              </a:rPr>
              <a:t>tho</a:t>
            </a:r>
            <a:r>
              <a:rPr dirty="0" sz="2400" b="1">
                <a:solidFill>
                  <a:srgbClr val="C00000"/>
                </a:solidFill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497133" y="4943347"/>
            <a:ext cx="14947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0000FF"/>
                </a:solidFill>
                <a:latin typeface="Arial"/>
                <a:cs typeface="Arial"/>
              </a:rPr>
              <a:t>In</a:t>
            </a:r>
            <a:r>
              <a:rPr dirty="0" sz="2400" b="1">
                <a:solidFill>
                  <a:srgbClr val="0000FF"/>
                </a:solidFill>
                <a:latin typeface="Arial"/>
                <a:cs typeface="Arial"/>
              </a:rPr>
              <a:t>s</a:t>
            </a:r>
            <a:r>
              <a:rPr dirty="0" sz="2400" spc="-5" b="1">
                <a:solidFill>
                  <a:srgbClr val="0000FF"/>
                </a:solidFill>
                <a:latin typeface="Arial"/>
                <a:cs typeface="Arial"/>
              </a:rPr>
              <a:t>ti</a:t>
            </a:r>
            <a:r>
              <a:rPr dirty="0" sz="2400" b="1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dirty="0" sz="2400" spc="-5" b="1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dirty="0" sz="2400" b="1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dirty="0" sz="2400" spc="-5" b="1">
                <a:solidFill>
                  <a:srgbClr val="0000FF"/>
                </a:solidFill>
                <a:latin typeface="Arial"/>
                <a:cs typeface="Arial"/>
              </a:rPr>
              <a:t>ion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247368" y="4412996"/>
            <a:ext cx="686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9A3130"/>
                </a:solidFill>
                <a:latin typeface="Arial"/>
                <a:cs typeface="Arial"/>
              </a:rPr>
              <a:t>wri</a:t>
            </a:r>
            <a:r>
              <a:rPr dirty="0" sz="1800" b="1">
                <a:solidFill>
                  <a:srgbClr val="9A3130"/>
                </a:solidFill>
                <a:latin typeface="Arial"/>
                <a:cs typeface="Arial"/>
              </a:rPr>
              <a:t>t</a:t>
            </a:r>
            <a:r>
              <a:rPr dirty="0" sz="1800" spc="-5" b="1">
                <a:solidFill>
                  <a:srgbClr val="9A3130"/>
                </a:solidFill>
                <a:latin typeface="Arial"/>
                <a:cs typeface="Arial"/>
              </a:rPr>
              <a:t>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187093" y="5626100"/>
            <a:ext cx="14865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008000"/>
                </a:solidFill>
                <a:latin typeface="Arial"/>
                <a:cs typeface="Arial"/>
              </a:rPr>
              <a:t>affiliated</a:t>
            </a:r>
            <a:r>
              <a:rPr dirty="0" sz="1800" spc="-70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008000"/>
                </a:solidFill>
                <a:latin typeface="Arial"/>
                <a:cs typeface="Arial"/>
              </a:rPr>
              <a:t>with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701239" y="3632708"/>
            <a:ext cx="5461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Arial"/>
                <a:cs typeface="Arial"/>
              </a:rPr>
              <a:t>ci</a:t>
            </a:r>
            <a:r>
              <a:rPr dirty="0" sz="1800" b="1">
                <a:latin typeface="Arial"/>
                <a:cs typeface="Arial"/>
              </a:rPr>
              <a:t>t</a:t>
            </a:r>
            <a:r>
              <a:rPr dirty="0" sz="1800" spc="-5" b="1">
                <a:latin typeface="Arial"/>
                <a:cs typeface="Arial"/>
              </a:rPr>
              <a:t>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153625" y="1904492"/>
            <a:ext cx="1043305" cy="760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latin typeface="Arial"/>
                <a:cs typeface="Arial"/>
              </a:rPr>
              <a:t>P</a:t>
            </a:r>
            <a:r>
              <a:rPr dirty="0" sz="2400" b="1">
                <a:latin typeface="Arial"/>
                <a:cs typeface="Arial"/>
              </a:rPr>
              <a:t>a</a:t>
            </a:r>
            <a:r>
              <a:rPr dirty="0" sz="2400" spc="-5" b="1">
                <a:latin typeface="Arial"/>
                <a:cs typeface="Arial"/>
              </a:rPr>
              <a:t>p</a:t>
            </a:r>
            <a:r>
              <a:rPr dirty="0" sz="2400" b="1">
                <a:latin typeface="Arial"/>
                <a:cs typeface="Arial"/>
              </a:rPr>
              <a:t>ers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2400">
                <a:latin typeface="Arial"/>
                <a:cs typeface="Arial"/>
              </a:rPr>
              <a:t>120M</a:t>
            </a:r>
            <a:endParaRPr sz="2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526793" y="1931923"/>
            <a:ext cx="1193800" cy="760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dirty="0" sz="2400" spc="-10" b="1">
                <a:solidFill>
                  <a:srgbClr val="FF0000"/>
                </a:solidFill>
                <a:latin typeface="Arial"/>
                <a:cs typeface="Arial"/>
              </a:rPr>
              <a:t>u</a:t>
            </a:r>
            <a:r>
              <a:rPr dirty="0" sz="2400" spc="-5" b="1">
                <a:solidFill>
                  <a:srgbClr val="FF0000"/>
                </a:solidFill>
                <a:latin typeface="Arial"/>
                <a:cs typeface="Arial"/>
              </a:rPr>
              <a:t>tho</a:t>
            </a:r>
            <a:r>
              <a:rPr dirty="0" sz="2400" b="1">
                <a:solidFill>
                  <a:srgbClr val="FF0000"/>
                </a:solidFill>
                <a:latin typeface="Arial"/>
                <a:cs typeface="Arial"/>
              </a:rPr>
              <a:t>rs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2400">
                <a:latin typeface="Arial"/>
                <a:cs typeface="Arial"/>
              </a:rPr>
              <a:t>120M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7495032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458597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5" b="1">
                <a:solidFill>
                  <a:srgbClr val="D60093"/>
                </a:solidFill>
                <a:latin typeface="Calibri"/>
                <a:cs typeface="Calibri"/>
              </a:rPr>
              <a:t>Knowledge </a:t>
            </a:r>
            <a:r>
              <a:rPr dirty="0" spc="-20" b="1">
                <a:solidFill>
                  <a:srgbClr val="D60093"/>
                </a:solidFill>
                <a:latin typeface="Calibri"/>
                <a:cs typeface="Calibri"/>
              </a:rPr>
              <a:t>Graphs</a:t>
            </a:r>
            <a:r>
              <a:rPr dirty="0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pc="-25" b="1">
                <a:solidFill>
                  <a:srgbClr val="D60093"/>
                </a:solidFill>
                <a:latin typeface="Calibri"/>
                <a:cs typeface="Calibri"/>
              </a:rPr>
              <a:t>(KGs):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8108" y="2441955"/>
            <a:ext cx="2749550" cy="1960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5475" indent="-274320">
              <a:lnSpc>
                <a:spcPts val="3329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>
                <a:latin typeface="Calibri"/>
                <a:cs typeface="Calibri"/>
              </a:rPr>
              <a:t>Freebase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ts val="381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b="1">
                <a:solidFill>
                  <a:srgbClr val="D60093"/>
                </a:solidFill>
                <a:latin typeface="Calibri"/>
                <a:cs typeface="Calibri"/>
              </a:rPr>
              <a:t>ML</a:t>
            </a:r>
            <a:r>
              <a:rPr dirty="0" sz="3200" spc="-95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200" spc="-15" b="1">
                <a:solidFill>
                  <a:srgbClr val="D60093"/>
                </a:solidFill>
                <a:latin typeface="Calibri"/>
                <a:cs typeface="Calibri"/>
              </a:rPr>
              <a:t>tasks: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6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60">
                <a:latin typeface="Calibri"/>
                <a:cs typeface="Calibri"/>
              </a:rPr>
              <a:t>KG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 spc="-70">
                <a:latin typeface="Calibri"/>
                <a:cs typeface="Calibri"/>
              </a:rPr>
              <a:t>completion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72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>
                <a:latin typeface="Calibri"/>
                <a:cs typeface="Calibri"/>
              </a:rPr>
              <a:t>Reasoning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290901" y="3588308"/>
            <a:ext cx="5384452" cy="26099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096165" y="5115052"/>
            <a:ext cx="36576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008000"/>
                </a:solidFill>
                <a:latin typeface="Arial"/>
                <a:cs typeface="Arial"/>
              </a:rPr>
              <a:t>is</a:t>
            </a:r>
            <a:r>
              <a:rPr dirty="0" sz="1600" spc="-100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008000"/>
                </a:solidFill>
                <a:latin typeface="Arial"/>
                <a:cs typeface="Arial"/>
              </a:rPr>
              <a:t>a</a:t>
            </a:r>
            <a:endParaRPr sz="16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3/13/21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7</a:t>
            </a:fld>
            <a:endParaRPr sz="9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59132" y="3362452"/>
            <a:ext cx="14465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Geoffrey</a:t>
            </a:r>
            <a:r>
              <a:rPr dirty="0" sz="1600" spc="-80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Hinton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40244" y="6203188"/>
            <a:ext cx="66929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Pe</a:t>
            </a:r>
            <a:r>
              <a:rPr dirty="0" sz="1600">
                <a:latin typeface="Arial"/>
                <a:cs typeface="Arial"/>
              </a:rPr>
              <a:t>rs</a:t>
            </a:r>
            <a:r>
              <a:rPr dirty="0" sz="1600" spc="-5">
                <a:latin typeface="Arial"/>
                <a:cs typeface="Arial"/>
              </a:rPr>
              <a:t>o</a:t>
            </a:r>
            <a:r>
              <a:rPr dirty="0" sz="1600">
                <a:latin typeface="Arial"/>
                <a:cs typeface="Arial"/>
              </a:rPr>
              <a:t>n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53489" y="3810508"/>
            <a:ext cx="864235" cy="51054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1900"/>
              </a:lnSpc>
              <a:spcBef>
                <a:spcPts val="180"/>
              </a:spcBef>
            </a:pPr>
            <a:r>
              <a:rPr dirty="0" sz="1600" spc="-5" b="1">
                <a:solidFill>
                  <a:srgbClr val="008000"/>
                </a:solidFill>
                <a:latin typeface="Arial"/>
                <a:cs typeface="Arial"/>
              </a:rPr>
              <a:t>a</a:t>
            </a:r>
            <a:r>
              <a:rPr dirty="0" sz="1600" b="1">
                <a:solidFill>
                  <a:srgbClr val="008000"/>
                </a:solidFill>
                <a:latin typeface="Arial"/>
                <a:cs typeface="Arial"/>
              </a:rPr>
              <a:t>ff</a:t>
            </a:r>
            <a:r>
              <a:rPr dirty="0" sz="1600" spc="0" b="1">
                <a:solidFill>
                  <a:srgbClr val="008000"/>
                </a:solidFill>
                <a:latin typeface="Arial"/>
                <a:cs typeface="Arial"/>
              </a:rPr>
              <a:t>ili</a:t>
            </a:r>
            <a:r>
              <a:rPr dirty="0" sz="1600" spc="-5" b="1">
                <a:solidFill>
                  <a:srgbClr val="008000"/>
                </a:solidFill>
                <a:latin typeface="Arial"/>
                <a:cs typeface="Arial"/>
              </a:rPr>
              <a:t>a</a:t>
            </a:r>
            <a:r>
              <a:rPr dirty="0" sz="1600" b="1">
                <a:solidFill>
                  <a:srgbClr val="008000"/>
                </a:solidFill>
                <a:latin typeface="Arial"/>
                <a:cs typeface="Arial"/>
              </a:rPr>
              <a:t>t</a:t>
            </a:r>
            <a:r>
              <a:rPr dirty="0" sz="1600" spc="-5" b="1">
                <a:solidFill>
                  <a:srgbClr val="008000"/>
                </a:solidFill>
                <a:latin typeface="Arial"/>
                <a:cs typeface="Arial"/>
              </a:rPr>
              <a:t>ed  </a:t>
            </a:r>
            <a:r>
              <a:rPr dirty="0" sz="1600" b="1">
                <a:solidFill>
                  <a:srgbClr val="008000"/>
                </a:solidFill>
                <a:latin typeface="Arial"/>
                <a:cs typeface="Arial"/>
              </a:rPr>
              <a:t>wtih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08971" y="5051044"/>
            <a:ext cx="1142365" cy="51054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1900"/>
              </a:lnSpc>
              <a:spcBef>
                <a:spcPts val="180"/>
              </a:spcBef>
            </a:pPr>
            <a:r>
              <a:rPr dirty="0" sz="1600" spc="-5">
                <a:latin typeface="Arial"/>
                <a:cs typeface="Arial"/>
              </a:rPr>
              <a:t>University</a:t>
            </a:r>
            <a:r>
              <a:rPr dirty="0" sz="1600" spc="-70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of  </a:t>
            </a:r>
            <a:r>
              <a:rPr dirty="0" sz="1600" spc="-30">
                <a:latin typeface="Arial"/>
                <a:cs typeface="Arial"/>
              </a:rPr>
              <a:t>Toronto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13237" y="3280155"/>
            <a:ext cx="7353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0">
                <a:latin typeface="Arial"/>
                <a:cs typeface="Arial"/>
              </a:rPr>
              <a:t>C</a:t>
            </a:r>
            <a:r>
              <a:rPr dirty="0" sz="1600" spc="-5">
                <a:latin typeface="Arial"/>
                <a:cs typeface="Arial"/>
              </a:rPr>
              <a:t>anad</a:t>
            </a:r>
            <a:r>
              <a:rPr dirty="0" sz="1600">
                <a:latin typeface="Arial"/>
                <a:cs typeface="Arial"/>
              </a:rPr>
              <a:t>a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08709" y="4197603"/>
            <a:ext cx="975994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 b="1">
                <a:solidFill>
                  <a:srgbClr val="008000"/>
                </a:solidFill>
                <a:latin typeface="Arial"/>
                <a:cs typeface="Arial"/>
              </a:rPr>
              <a:t>located</a:t>
            </a:r>
            <a:r>
              <a:rPr dirty="0" sz="1600" spc="-65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008000"/>
                </a:solidFill>
                <a:latin typeface="Arial"/>
                <a:cs typeface="Arial"/>
              </a:rPr>
              <a:t>in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977217" y="5288788"/>
            <a:ext cx="10528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Paul</a:t>
            </a:r>
            <a:r>
              <a:rPr dirty="0" sz="1600" spc="-75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Martin</a:t>
            </a:r>
            <a:endParaRPr sz="16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25186" y="4627372"/>
            <a:ext cx="151574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 b="1">
                <a:solidFill>
                  <a:srgbClr val="008000"/>
                </a:solidFill>
                <a:latin typeface="Arial"/>
                <a:cs typeface="Arial"/>
              </a:rPr>
              <a:t>graduated</a:t>
            </a:r>
            <a:r>
              <a:rPr dirty="0" sz="1600" spc="-65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008000"/>
                </a:solidFill>
                <a:latin typeface="Arial"/>
                <a:cs typeface="Arial"/>
              </a:rPr>
              <a:t>from</a:t>
            </a:r>
            <a:endParaRPr sz="1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745880" y="3904996"/>
            <a:ext cx="71501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 b="1">
                <a:solidFill>
                  <a:srgbClr val="008000"/>
                </a:solidFill>
                <a:latin typeface="Arial"/>
                <a:cs typeface="Arial"/>
              </a:rPr>
              <a:t>born</a:t>
            </a:r>
            <a:r>
              <a:rPr dirty="0" sz="1600" spc="-85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008000"/>
                </a:solidFill>
                <a:latin typeface="Arial"/>
                <a:cs typeface="Arial"/>
              </a:rPr>
              <a:t>in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34170" y="4843779"/>
            <a:ext cx="30670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0">
                <a:latin typeface="Arial"/>
                <a:cs typeface="Arial"/>
              </a:rPr>
              <a:t>UK</a:t>
            </a:r>
            <a:endParaRPr sz="16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54404" y="5072379"/>
            <a:ext cx="1042035" cy="51054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1900"/>
              </a:lnSpc>
              <a:spcBef>
                <a:spcPts val="180"/>
              </a:spcBef>
            </a:pPr>
            <a:r>
              <a:rPr dirty="0" sz="1600" spc="0" b="1">
                <a:solidFill>
                  <a:srgbClr val="008000"/>
                </a:solidFill>
                <a:latin typeface="Arial"/>
                <a:cs typeface="Arial"/>
              </a:rPr>
              <a:t>G</a:t>
            </a:r>
            <a:r>
              <a:rPr dirty="0" sz="1600" b="1">
                <a:solidFill>
                  <a:srgbClr val="008000"/>
                </a:solidFill>
                <a:latin typeface="Arial"/>
                <a:cs typeface="Arial"/>
              </a:rPr>
              <a:t>r</a:t>
            </a:r>
            <a:r>
              <a:rPr dirty="0" sz="1600" spc="-5" b="1">
                <a:solidFill>
                  <a:srgbClr val="008000"/>
                </a:solidFill>
                <a:latin typeface="Arial"/>
                <a:cs typeface="Arial"/>
              </a:rPr>
              <a:t>adua</a:t>
            </a:r>
            <a:r>
              <a:rPr dirty="0" sz="1600" spc="0" b="1">
                <a:solidFill>
                  <a:srgbClr val="008000"/>
                </a:solidFill>
                <a:latin typeface="Arial"/>
                <a:cs typeface="Arial"/>
              </a:rPr>
              <a:t>t</a:t>
            </a:r>
            <a:r>
              <a:rPr dirty="0" sz="1600" spc="-5" b="1">
                <a:solidFill>
                  <a:srgbClr val="008000"/>
                </a:solidFill>
                <a:latin typeface="Arial"/>
                <a:cs typeface="Arial"/>
              </a:rPr>
              <a:t>e</a:t>
            </a:r>
            <a:r>
              <a:rPr dirty="0" sz="1600" b="1">
                <a:solidFill>
                  <a:srgbClr val="008000"/>
                </a:solidFill>
                <a:latin typeface="Arial"/>
                <a:cs typeface="Arial"/>
              </a:rPr>
              <a:t>d  </a:t>
            </a:r>
            <a:r>
              <a:rPr dirty="0" sz="1600" spc="-5" b="1">
                <a:solidFill>
                  <a:srgbClr val="008000"/>
                </a:solidFill>
                <a:latin typeface="Arial"/>
                <a:cs typeface="Arial"/>
              </a:rPr>
              <a:t>from</a:t>
            </a:r>
            <a:endParaRPr sz="16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764213" y="6032500"/>
            <a:ext cx="1372235" cy="51054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1900"/>
              </a:lnSpc>
              <a:spcBef>
                <a:spcPts val="180"/>
              </a:spcBef>
            </a:pPr>
            <a:r>
              <a:rPr dirty="0" sz="1600" spc="-10">
                <a:latin typeface="Arial"/>
                <a:cs typeface="Arial"/>
              </a:rPr>
              <a:t>King’s</a:t>
            </a:r>
            <a:r>
              <a:rPr dirty="0" sz="1600" spc="-6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College,  </a:t>
            </a:r>
            <a:r>
              <a:rPr dirty="0" sz="1600" spc="-5">
                <a:latin typeface="Arial"/>
                <a:cs typeface="Arial"/>
              </a:rPr>
              <a:t>Cambridge</a:t>
            </a:r>
            <a:endParaRPr sz="16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56563" y="1920747"/>
            <a:ext cx="4015104" cy="789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ts val="325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5">
                <a:latin typeface="Calibri"/>
                <a:cs typeface="Calibri"/>
              </a:rPr>
              <a:t>Wikidata</a:t>
            </a:r>
            <a:endParaRPr sz="2800">
              <a:latin typeface="Calibri"/>
              <a:cs typeface="Calibri"/>
            </a:endParaRPr>
          </a:p>
          <a:p>
            <a:pPr algn="r" marR="5080">
              <a:lnSpc>
                <a:spcPts val="2770"/>
              </a:lnSpc>
            </a:pPr>
            <a:r>
              <a:rPr dirty="0" sz="2400" spc="-5" b="1">
                <a:latin typeface="Arial"/>
                <a:cs typeface="Arial"/>
              </a:rPr>
              <a:t>En</a:t>
            </a:r>
            <a:r>
              <a:rPr dirty="0" sz="2400" b="1">
                <a:latin typeface="Arial"/>
                <a:cs typeface="Arial"/>
              </a:rPr>
              <a:t>t</a:t>
            </a:r>
            <a:r>
              <a:rPr dirty="0" sz="2400" spc="-10" b="1">
                <a:latin typeface="Arial"/>
                <a:cs typeface="Arial"/>
              </a:rPr>
              <a:t>i</a:t>
            </a:r>
            <a:r>
              <a:rPr dirty="0" sz="2400" b="1">
                <a:latin typeface="Arial"/>
                <a:cs typeface="Arial"/>
              </a:rPr>
              <a:t>t</a:t>
            </a:r>
            <a:r>
              <a:rPr dirty="0" sz="2400" spc="-10" b="1">
                <a:latin typeface="Arial"/>
                <a:cs typeface="Arial"/>
              </a:rPr>
              <a:t>i</a:t>
            </a:r>
            <a:r>
              <a:rPr dirty="0" sz="2400" b="1">
                <a:latin typeface="Arial"/>
                <a:cs typeface="Arial"/>
              </a:rPr>
              <a:t>es</a:t>
            </a:r>
            <a:endParaRPr sz="2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845647" y="2687827"/>
            <a:ext cx="15182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"/>
                <a:cs typeface="Arial"/>
              </a:rPr>
              <a:t>80M—90M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5591" y="347472"/>
            <a:ext cx="5023104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232029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5" b="1">
                <a:solidFill>
                  <a:srgbClr val="D60093"/>
                </a:solidFill>
                <a:latin typeface="Calibri"/>
                <a:cs typeface="Calibri"/>
              </a:rPr>
              <a:t>Large-scale: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3/13/21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7</a:t>
            </a:fld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1826259"/>
            <a:ext cx="6874509" cy="3567429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625475" indent="-274320">
              <a:lnSpc>
                <a:spcPct val="100000"/>
              </a:lnSpc>
              <a:spcBef>
                <a:spcPts val="84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#nodes </a:t>
            </a:r>
            <a:r>
              <a:rPr dirty="0" sz="2800" spc="-20">
                <a:latin typeface="Calibri"/>
                <a:cs typeface="Calibri"/>
              </a:rPr>
              <a:t>ranges </a:t>
            </a:r>
            <a:r>
              <a:rPr dirty="0" sz="2800" spc="-15">
                <a:latin typeface="Calibri"/>
                <a:cs typeface="Calibri"/>
              </a:rPr>
              <a:t>from </a:t>
            </a:r>
            <a:r>
              <a:rPr dirty="0" sz="2800">
                <a:latin typeface="Calibri"/>
                <a:cs typeface="Calibri"/>
              </a:rPr>
              <a:t>10M </a:t>
            </a:r>
            <a:r>
              <a:rPr dirty="0" sz="2800" spc="-15">
                <a:latin typeface="Calibri"/>
                <a:cs typeface="Calibri"/>
              </a:rPr>
              <a:t>to</a:t>
            </a:r>
            <a:r>
              <a:rPr dirty="0" sz="2800" spc="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10B.</a:t>
            </a:r>
            <a:endParaRPr sz="2800">
              <a:latin typeface="Calibri"/>
              <a:cs typeface="Calibri"/>
            </a:endParaRPr>
          </a:p>
          <a:p>
            <a:pPr marL="625475" indent="-274320">
              <a:lnSpc>
                <a:spcPts val="3329"/>
              </a:lnSpc>
              <a:spcBef>
                <a:spcPts val="74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>
                <a:latin typeface="Calibri"/>
                <a:cs typeface="Calibri"/>
              </a:rPr>
              <a:t>#edges </a:t>
            </a:r>
            <a:r>
              <a:rPr dirty="0" sz="2800" spc="-20">
                <a:latin typeface="Calibri"/>
                <a:cs typeface="Calibri"/>
              </a:rPr>
              <a:t>ranges </a:t>
            </a:r>
            <a:r>
              <a:rPr dirty="0" sz="2800" spc="-15">
                <a:latin typeface="Calibri"/>
                <a:cs typeface="Calibri"/>
              </a:rPr>
              <a:t>from </a:t>
            </a:r>
            <a:r>
              <a:rPr dirty="0" sz="2800">
                <a:latin typeface="Calibri"/>
                <a:cs typeface="Calibri"/>
              </a:rPr>
              <a:t>100M </a:t>
            </a:r>
            <a:r>
              <a:rPr dirty="0" sz="2800" spc="-15">
                <a:latin typeface="Calibri"/>
                <a:cs typeface="Calibri"/>
              </a:rPr>
              <a:t>to</a:t>
            </a:r>
            <a:r>
              <a:rPr dirty="0" sz="2800" spc="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100B.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ts val="381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60" b="1">
                <a:solidFill>
                  <a:srgbClr val="0000FF"/>
                </a:solidFill>
                <a:latin typeface="Calibri"/>
                <a:cs typeface="Calibri"/>
              </a:rPr>
              <a:t>Tasks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6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 b="1">
                <a:latin typeface="Calibri"/>
                <a:cs typeface="Calibri"/>
              </a:rPr>
              <a:t>Node-level</a:t>
            </a:r>
            <a:r>
              <a:rPr dirty="0" sz="2800" spc="-10">
                <a:latin typeface="Calibri"/>
                <a:cs typeface="Calibri"/>
              </a:rPr>
              <a:t>: </a:t>
            </a:r>
            <a:r>
              <a:rPr dirty="0" sz="2800" spc="-5">
                <a:latin typeface="Calibri"/>
                <a:cs typeface="Calibri"/>
              </a:rPr>
              <a:t>User/item/paper</a:t>
            </a:r>
            <a:r>
              <a:rPr dirty="0" sz="2800" spc="35">
                <a:latin typeface="Calibri"/>
                <a:cs typeface="Calibri"/>
              </a:rPr>
              <a:t> </a:t>
            </a:r>
            <a:r>
              <a:rPr dirty="0" sz="2800" spc="-40">
                <a:latin typeface="Calibri"/>
                <a:cs typeface="Calibri"/>
              </a:rPr>
              <a:t>classification.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ts val="3340"/>
              </a:lnSpc>
              <a:spcBef>
                <a:spcPts val="72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5" b="1">
                <a:latin typeface="Calibri"/>
                <a:cs typeface="Calibri"/>
              </a:rPr>
              <a:t>Link-level</a:t>
            </a:r>
            <a:r>
              <a:rPr dirty="0" sz="2800" spc="-15">
                <a:latin typeface="Calibri"/>
                <a:cs typeface="Calibri"/>
              </a:rPr>
              <a:t>: </a:t>
            </a:r>
            <a:r>
              <a:rPr dirty="0" sz="2800" spc="-10">
                <a:latin typeface="Calibri"/>
                <a:cs typeface="Calibri"/>
              </a:rPr>
              <a:t>Recommendation,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completion.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ts val="382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5" b="1">
                <a:solidFill>
                  <a:srgbClr val="008000"/>
                </a:solidFill>
                <a:latin typeface="Calibri"/>
                <a:cs typeface="Calibri"/>
              </a:rPr>
              <a:t>Todays’</a:t>
            </a:r>
            <a:r>
              <a:rPr dirty="0" sz="3200" spc="-70" b="1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3200" spc="-10" b="1">
                <a:solidFill>
                  <a:srgbClr val="008000"/>
                </a:solidFill>
                <a:latin typeface="Calibri"/>
                <a:cs typeface="Calibri"/>
              </a:rPr>
              <a:t>lecture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4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 b="1">
                <a:latin typeface="Calibri"/>
                <a:cs typeface="Calibri"/>
              </a:rPr>
              <a:t>Scale up </a:t>
            </a:r>
            <a:r>
              <a:rPr dirty="0" sz="2800" b="1">
                <a:latin typeface="Calibri"/>
                <a:cs typeface="Calibri"/>
              </a:rPr>
              <a:t>GNNs </a:t>
            </a:r>
            <a:r>
              <a:rPr dirty="0" sz="2800" spc="-15" b="1">
                <a:latin typeface="Calibri"/>
                <a:cs typeface="Calibri"/>
              </a:rPr>
              <a:t>to large graphs!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5591" y="347472"/>
            <a:ext cx="3681984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1908" y="1272540"/>
            <a:ext cx="7910830" cy="1491615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5" b="1">
                <a:solidFill>
                  <a:srgbClr val="D60093"/>
                </a:solidFill>
                <a:latin typeface="Calibri"/>
                <a:cs typeface="Calibri"/>
              </a:rPr>
              <a:t>Recall</a:t>
            </a:r>
            <a:r>
              <a:rPr dirty="0" spc="-15" b="1">
                <a:latin typeface="Calibri"/>
                <a:cs typeface="Calibri"/>
              </a:rPr>
              <a:t>: </a:t>
            </a:r>
            <a:r>
              <a:rPr dirty="0" spc="-5" b="1">
                <a:latin typeface="Calibri"/>
                <a:cs typeface="Calibri"/>
              </a:rPr>
              <a:t>How </a:t>
            </a:r>
            <a:r>
              <a:rPr dirty="0" spc="-15" b="1">
                <a:latin typeface="Calibri"/>
                <a:cs typeface="Calibri"/>
              </a:rPr>
              <a:t>we </a:t>
            </a:r>
            <a:r>
              <a:rPr dirty="0" spc="-5" b="1">
                <a:latin typeface="Calibri"/>
                <a:cs typeface="Calibri"/>
              </a:rPr>
              <a:t>usually </a:t>
            </a:r>
            <a:r>
              <a:rPr dirty="0" spc="-20" b="1">
                <a:latin typeface="Calibri"/>
                <a:cs typeface="Calibri"/>
              </a:rPr>
              <a:t>train </a:t>
            </a:r>
            <a:r>
              <a:rPr dirty="0" spc="-5" b="1">
                <a:latin typeface="Calibri"/>
                <a:cs typeface="Calibri"/>
              </a:rPr>
              <a:t>an </a:t>
            </a:r>
            <a:r>
              <a:rPr dirty="0" b="1">
                <a:latin typeface="Calibri"/>
                <a:cs typeface="Calibri"/>
              </a:rPr>
              <a:t>ML </a:t>
            </a:r>
            <a:r>
              <a:rPr dirty="0" spc="-5" b="1">
                <a:latin typeface="Calibri"/>
                <a:cs typeface="Calibri"/>
              </a:rPr>
              <a:t>model </a:t>
            </a:r>
            <a:r>
              <a:rPr dirty="0" b="1">
                <a:latin typeface="Calibri"/>
                <a:cs typeface="Calibri"/>
              </a:rPr>
              <a:t>on  </a:t>
            </a:r>
            <a:r>
              <a:rPr dirty="0" spc="-20" b="1">
                <a:latin typeface="Calibri"/>
                <a:cs typeface="Calibri"/>
              </a:rPr>
              <a:t>large data </a:t>
            </a:r>
            <a:r>
              <a:rPr dirty="0" spc="-10" b="1">
                <a:latin typeface="Calibri"/>
                <a:cs typeface="Calibri"/>
              </a:rPr>
              <a:t>(</a:t>
            </a:r>
            <a:r>
              <a:rPr dirty="0" spc="-10">
                <a:latin typeface="Cambria Math"/>
                <a:cs typeface="Cambria Math"/>
              </a:rPr>
              <a:t>𝑵</a:t>
            </a:r>
            <a:r>
              <a:rPr dirty="0" spc="-10" b="1">
                <a:latin typeface="Calibri"/>
                <a:cs typeface="Calibri"/>
              </a:rPr>
              <a:t>=#data </a:t>
            </a:r>
            <a:r>
              <a:rPr dirty="0" b="1">
                <a:latin typeface="Calibri"/>
                <a:cs typeface="Calibri"/>
              </a:rPr>
              <a:t>is</a:t>
            </a:r>
            <a:r>
              <a:rPr dirty="0" spc="-15" b="1">
                <a:latin typeface="Calibri"/>
                <a:cs typeface="Calibri"/>
              </a:rPr>
              <a:t> large)</a:t>
            </a:r>
          </a:p>
          <a:p>
            <a:pPr marL="332740" indent="-320040">
              <a:lnSpc>
                <a:spcPts val="379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 b="1">
                <a:solidFill>
                  <a:srgbClr val="0000FF"/>
                </a:solidFill>
                <a:latin typeface="Calibri"/>
                <a:cs typeface="Calibri"/>
              </a:rPr>
              <a:t>Objective</a:t>
            </a:r>
            <a:r>
              <a:rPr dirty="0" spc="-10"/>
              <a:t>: Minimize </a:t>
            </a:r>
            <a:r>
              <a:rPr dirty="0"/>
              <a:t>the </a:t>
            </a:r>
            <a:r>
              <a:rPr dirty="0" spc="-25"/>
              <a:t>averaged</a:t>
            </a:r>
            <a:r>
              <a:rPr dirty="0" spc="0"/>
              <a:t> </a:t>
            </a:r>
            <a:r>
              <a:rPr dirty="0" spc="-5"/>
              <a:t>loss</a:t>
            </a:r>
          </a:p>
        </p:txBody>
      </p:sp>
      <p:sp>
        <p:nvSpPr>
          <p:cNvPr id="4" name="object 4"/>
          <p:cNvSpPr/>
          <p:nvPr/>
        </p:nvSpPr>
        <p:spPr>
          <a:xfrm>
            <a:off x="3126644" y="3317772"/>
            <a:ext cx="520065" cy="376555"/>
          </a:xfrm>
          <a:custGeom>
            <a:avLst/>
            <a:gdLst/>
            <a:ahLst/>
            <a:cxnLst/>
            <a:rect l="l" t="t" r="r" b="b"/>
            <a:pathLst>
              <a:path w="520064" h="376554">
                <a:moveTo>
                  <a:pt x="399835" y="0"/>
                </a:moveTo>
                <a:lnTo>
                  <a:pt x="394477" y="15279"/>
                </a:lnTo>
                <a:lnTo>
                  <a:pt x="416268" y="24736"/>
                </a:lnTo>
                <a:lnTo>
                  <a:pt x="435008" y="37826"/>
                </a:lnTo>
                <a:lnTo>
                  <a:pt x="463335" y="74909"/>
                </a:lnTo>
                <a:lnTo>
                  <a:pt x="480004" y="124940"/>
                </a:lnTo>
                <a:lnTo>
                  <a:pt x="485560" y="186331"/>
                </a:lnTo>
                <a:lnTo>
                  <a:pt x="484165" y="219533"/>
                </a:lnTo>
                <a:lnTo>
                  <a:pt x="473003" y="276782"/>
                </a:lnTo>
                <a:lnTo>
                  <a:pt x="450604" y="321493"/>
                </a:lnTo>
                <a:lnTo>
                  <a:pt x="416522" y="351655"/>
                </a:lnTo>
                <a:lnTo>
                  <a:pt x="395072" y="361156"/>
                </a:lnTo>
                <a:lnTo>
                  <a:pt x="399835" y="376435"/>
                </a:lnTo>
                <a:lnTo>
                  <a:pt x="451180" y="352350"/>
                </a:lnTo>
                <a:lnTo>
                  <a:pt x="488933" y="310653"/>
                </a:lnTo>
                <a:lnTo>
                  <a:pt x="512150" y="254818"/>
                </a:lnTo>
                <a:lnTo>
                  <a:pt x="519889" y="188316"/>
                </a:lnTo>
                <a:lnTo>
                  <a:pt x="517948" y="153807"/>
                </a:lnTo>
                <a:lnTo>
                  <a:pt x="502421" y="92638"/>
                </a:lnTo>
                <a:lnTo>
                  <a:pt x="471626" y="42843"/>
                </a:lnTo>
                <a:lnTo>
                  <a:pt x="427126" y="9853"/>
                </a:lnTo>
                <a:lnTo>
                  <a:pt x="399835" y="0"/>
                </a:lnTo>
                <a:close/>
              </a:path>
              <a:path w="520064" h="376554">
                <a:moveTo>
                  <a:pt x="120054" y="0"/>
                </a:moveTo>
                <a:lnTo>
                  <a:pt x="68832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3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7" y="351655"/>
                </a:lnTo>
                <a:lnTo>
                  <a:pt x="84856" y="338435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6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207764" y="3507740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 h="0">
                <a:moveTo>
                  <a:pt x="0" y="0"/>
                </a:moveTo>
                <a:lnTo>
                  <a:pt x="3048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198556" y="3476244"/>
            <a:ext cx="32321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latin typeface="Cambria Math"/>
                <a:cs typeface="Cambria Math"/>
              </a:rPr>
              <a:t>𝑁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32578" y="3834384"/>
            <a:ext cx="525780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235">
                <a:latin typeface="Cambria Math"/>
                <a:cs typeface="Cambria Math"/>
              </a:rPr>
              <a:t>!</a:t>
            </a:r>
            <a:r>
              <a:rPr dirty="0" sz="2300" spc="785">
                <a:latin typeface="Cambria Math"/>
                <a:cs typeface="Cambria Math"/>
              </a:rPr>
              <a:t>"</a:t>
            </a:r>
            <a:r>
              <a:rPr dirty="0" sz="2300" spc="-95">
                <a:latin typeface="Cambria Math"/>
                <a:cs typeface="Cambria Math"/>
              </a:rPr>
              <a:t>#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74666" y="2712720"/>
            <a:ext cx="641350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640">
                <a:latin typeface="Cambria Math"/>
                <a:cs typeface="Cambria Math"/>
              </a:rPr>
              <a:t>$</a:t>
            </a:r>
            <a:r>
              <a:rPr dirty="0" sz="2300" spc="-350">
                <a:latin typeface="Cambria Math"/>
                <a:cs typeface="Cambria Math"/>
              </a:rPr>
              <a:t>%</a:t>
            </a:r>
            <a:r>
              <a:rPr dirty="0" sz="2300" spc="-254">
                <a:latin typeface="Cambria Math"/>
                <a:cs typeface="Cambria Math"/>
              </a:rPr>
              <a:t>&amp;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71667" y="3401567"/>
            <a:ext cx="128270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140">
                <a:latin typeface="Cambria Math"/>
                <a:cs typeface="Cambria Math"/>
              </a:rPr>
              <a:t>!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651912" y="3317772"/>
            <a:ext cx="520065" cy="376555"/>
          </a:xfrm>
          <a:custGeom>
            <a:avLst/>
            <a:gdLst/>
            <a:ahLst/>
            <a:cxnLst/>
            <a:rect l="l" t="t" r="r" b="b"/>
            <a:pathLst>
              <a:path w="520064" h="376554">
                <a:moveTo>
                  <a:pt x="399835" y="0"/>
                </a:moveTo>
                <a:lnTo>
                  <a:pt x="394477" y="15279"/>
                </a:lnTo>
                <a:lnTo>
                  <a:pt x="416268" y="24736"/>
                </a:lnTo>
                <a:lnTo>
                  <a:pt x="435008" y="37826"/>
                </a:lnTo>
                <a:lnTo>
                  <a:pt x="463335" y="74909"/>
                </a:lnTo>
                <a:lnTo>
                  <a:pt x="480003" y="124940"/>
                </a:lnTo>
                <a:lnTo>
                  <a:pt x="485560" y="186331"/>
                </a:lnTo>
                <a:lnTo>
                  <a:pt x="484165" y="219533"/>
                </a:lnTo>
                <a:lnTo>
                  <a:pt x="473003" y="276782"/>
                </a:lnTo>
                <a:lnTo>
                  <a:pt x="450604" y="321493"/>
                </a:lnTo>
                <a:lnTo>
                  <a:pt x="416522" y="351655"/>
                </a:lnTo>
                <a:lnTo>
                  <a:pt x="395072" y="361156"/>
                </a:lnTo>
                <a:lnTo>
                  <a:pt x="399835" y="376435"/>
                </a:lnTo>
                <a:lnTo>
                  <a:pt x="451180" y="352350"/>
                </a:lnTo>
                <a:lnTo>
                  <a:pt x="488933" y="310653"/>
                </a:lnTo>
                <a:lnTo>
                  <a:pt x="512150" y="254818"/>
                </a:lnTo>
                <a:lnTo>
                  <a:pt x="519889" y="188316"/>
                </a:lnTo>
                <a:lnTo>
                  <a:pt x="517948" y="153807"/>
                </a:lnTo>
                <a:lnTo>
                  <a:pt x="502421" y="92638"/>
                </a:lnTo>
                <a:lnTo>
                  <a:pt x="471626" y="42843"/>
                </a:lnTo>
                <a:lnTo>
                  <a:pt x="427126" y="9853"/>
                </a:lnTo>
                <a:lnTo>
                  <a:pt x="399835" y="0"/>
                </a:lnTo>
                <a:close/>
              </a:path>
              <a:path w="520064" h="376554">
                <a:moveTo>
                  <a:pt x="120054" y="0"/>
                </a:moveTo>
                <a:lnTo>
                  <a:pt x="68832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3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6" y="351655"/>
                </a:lnTo>
                <a:lnTo>
                  <a:pt x="84856" y="338435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6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867088" y="3201923"/>
            <a:ext cx="318452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2430" algn="l"/>
                <a:tab pos="927735" algn="l"/>
                <a:tab pos="1385570" algn="l"/>
                <a:tab pos="1759585" algn="l"/>
                <a:tab pos="2917190" algn="l"/>
              </a:tabLst>
            </a:pPr>
            <a:r>
              <a:rPr dirty="0" sz="3200">
                <a:latin typeface="Cambria Math"/>
                <a:cs typeface="Cambria Math"/>
              </a:rPr>
              <a:t>ℓ	𝜽	=	</a:t>
            </a:r>
            <a:r>
              <a:rPr dirty="0" baseline="41666" sz="4800">
                <a:latin typeface="Cambria Math"/>
                <a:cs typeface="Cambria Math"/>
              </a:rPr>
              <a:t>1	</a:t>
            </a:r>
            <a:r>
              <a:rPr dirty="0" sz="3200" spc="3475">
                <a:latin typeface="Cambria Math"/>
                <a:cs typeface="Cambria Math"/>
              </a:rPr>
              <a:t>'</a:t>
            </a:r>
            <a:r>
              <a:rPr dirty="0" sz="3200" spc="135"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ℓ	𝜽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713044" y="4295573"/>
            <a:ext cx="455295" cy="329565"/>
          </a:xfrm>
          <a:custGeom>
            <a:avLst/>
            <a:gdLst/>
            <a:ahLst/>
            <a:cxnLst/>
            <a:rect l="l" t="t" r="r" b="b"/>
            <a:pathLst>
              <a:path w="455295" h="329564">
                <a:moveTo>
                  <a:pt x="349855" y="0"/>
                </a:moveTo>
                <a:lnTo>
                  <a:pt x="345168" y="13370"/>
                </a:lnTo>
                <a:lnTo>
                  <a:pt x="364235" y="21644"/>
                </a:lnTo>
                <a:lnTo>
                  <a:pt x="380632" y="33099"/>
                </a:lnTo>
                <a:lnTo>
                  <a:pt x="405418" y="65547"/>
                </a:lnTo>
                <a:lnTo>
                  <a:pt x="420004" y="109324"/>
                </a:lnTo>
                <a:lnTo>
                  <a:pt x="424865" y="163041"/>
                </a:lnTo>
                <a:lnTo>
                  <a:pt x="423644" y="192092"/>
                </a:lnTo>
                <a:lnTo>
                  <a:pt x="413877" y="242185"/>
                </a:lnTo>
                <a:lnTo>
                  <a:pt x="394279" y="281307"/>
                </a:lnTo>
                <a:lnTo>
                  <a:pt x="364457" y="307699"/>
                </a:lnTo>
                <a:lnTo>
                  <a:pt x="345688" y="316011"/>
                </a:lnTo>
                <a:lnTo>
                  <a:pt x="349855" y="329382"/>
                </a:lnTo>
                <a:lnTo>
                  <a:pt x="394783" y="308306"/>
                </a:lnTo>
                <a:lnTo>
                  <a:pt x="427817" y="271821"/>
                </a:lnTo>
                <a:lnTo>
                  <a:pt x="448132" y="222966"/>
                </a:lnTo>
                <a:lnTo>
                  <a:pt x="454903" y="164777"/>
                </a:lnTo>
                <a:lnTo>
                  <a:pt x="453205" y="134581"/>
                </a:lnTo>
                <a:lnTo>
                  <a:pt x="439619" y="81059"/>
                </a:lnTo>
                <a:lnTo>
                  <a:pt x="412673" y="37488"/>
                </a:lnTo>
                <a:lnTo>
                  <a:pt x="373735" y="8621"/>
                </a:lnTo>
                <a:lnTo>
                  <a:pt x="349855" y="0"/>
                </a:lnTo>
                <a:close/>
              </a:path>
              <a:path w="455295" h="329564">
                <a:moveTo>
                  <a:pt x="105048" y="0"/>
                </a:moveTo>
                <a:lnTo>
                  <a:pt x="60228" y="21117"/>
                </a:lnTo>
                <a:lnTo>
                  <a:pt x="27172" y="57732"/>
                </a:lnTo>
                <a:lnTo>
                  <a:pt x="6793" y="106676"/>
                </a:lnTo>
                <a:lnTo>
                  <a:pt x="0" y="164777"/>
                </a:lnTo>
                <a:lnTo>
                  <a:pt x="1692" y="195038"/>
                </a:lnTo>
                <a:lnTo>
                  <a:pt x="15236" y="248560"/>
                </a:lnTo>
                <a:lnTo>
                  <a:pt x="42116" y="291990"/>
                </a:lnTo>
                <a:lnTo>
                  <a:pt x="81097" y="320770"/>
                </a:lnTo>
                <a:lnTo>
                  <a:pt x="105048" y="329382"/>
                </a:lnTo>
                <a:lnTo>
                  <a:pt x="109214" y="316011"/>
                </a:lnTo>
                <a:lnTo>
                  <a:pt x="90446" y="307699"/>
                </a:lnTo>
                <a:lnTo>
                  <a:pt x="74249" y="296130"/>
                </a:lnTo>
                <a:lnTo>
                  <a:pt x="49571" y="263227"/>
                </a:lnTo>
                <a:lnTo>
                  <a:pt x="34921" y="218473"/>
                </a:lnTo>
                <a:lnTo>
                  <a:pt x="30038" y="163041"/>
                </a:lnTo>
                <a:lnTo>
                  <a:pt x="31258" y="134940"/>
                </a:lnTo>
                <a:lnTo>
                  <a:pt x="41025" y="86193"/>
                </a:lnTo>
                <a:lnTo>
                  <a:pt x="60657" y="47733"/>
                </a:lnTo>
                <a:lnTo>
                  <a:pt x="90739" y="21644"/>
                </a:lnTo>
                <a:lnTo>
                  <a:pt x="109735" y="13370"/>
                </a:lnTo>
                <a:lnTo>
                  <a:pt x="1050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541908" y="4194555"/>
            <a:ext cx="8299450" cy="2482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5475" indent="-274320">
              <a:lnSpc>
                <a:spcPts val="3329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  <a:tab pos="4657090" algn="l"/>
              </a:tabLst>
            </a:pPr>
            <a:r>
              <a:rPr dirty="0" sz="2800">
                <a:latin typeface="Cambria Math"/>
                <a:cs typeface="Cambria Math"/>
              </a:rPr>
              <a:t>𝜽</a:t>
            </a:r>
            <a:r>
              <a:rPr dirty="0" sz="2800">
                <a:latin typeface="Calibri"/>
                <a:cs typeface="Calibri"/>
              </a:rPr>
              <a:t>: </a:t>
            </a:r>
            <a:r>
              <a:rPr dirty="0" sz="2800" spc="-5">
                <a:latin typeface="Calibri"/>
                <a:cs typeface="Calibri"/>
              </a:rPr>
              <a:t>model </a:t>
            </a:r>
            <a:r>
              <a:rPr dirty="0" sz="2800" spc="-20">
                <a:latin typeface="Calibri"/>
                <a:cs typeface="Calibri"/>
              </a:rPr>
              <a:t>parameters,</a:t>
            </a:r>
            <a:r>
              <a:rPr dirty="0" sz="2800" spc="25">
                <a:latin typeface="Calibri"/>
                <a:cs typeface="Calibri"/>
              </a:rPr>
              <a:t> </a:t>
            </a:r>
            <a:r>
              <a:rPr dirty="0" sz="2800" spc="55">
                <a:latin typeface="Cambria Math"/>
                <a:cs typeface="Cambria Math"/>
              </a:rPr>
              <a:t>ℓ</a:t>
            </a:r>
            <a:r>
              <a:rPr dirty="0" baseline="-15277" sz="3000" spc="82">
                <a:latin typeface="Cambria Math"/>
                <a:cs typeface="Cambria Math"/>
              </a:rPr>
              <a:t>!</a:t>
            </a:r>
            <a:r>
              <a:rPr dirty="0" baseline="-15277" sz="3000" spc="794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𝜽	</a:t>
            </a:r>
            <a:r>
              <a:rPr dirty="0" sz="2800">
                <a:latin typeface="Calibri"/>
                <a:cs typeface="Calibri"/>
              </a:rPr>
              <a:t>: </a:t>
            </a:r>
            <a:r>
              <a:rPr dirty="0" sz="2800" spc="-5">
                <a:latin typeface="Calibri"/>
                <a:cs typeface="Calibri"/>
              </a:rPr>
              <a:t>loss </a:t>
            </a:r>
            <a:r>
              <a:rPr dirty="0" sz="2800" spc="-25">
                <a:latin typeface="Calibri"/>
                <a:cs typeface="Calibri"/>
              </a:rPr>
              <a:t>for </a:t>
            </a:r>
            <a:r>
              <a:rPr dirty="0" sz="2800" spc="10">
                <a:latin typeface="Cambria Math"/>
                <a:cs typeface="Cambria Math"/>
              </a:rPr>
              <a:t>𝑖</a:t>
            </a:r>
            <a:r>
              <a:rPr dirty="0" sz="2800" spc="10">
                <a:latin typeface="Calibri"/>
                <a:cs typeface="Calibri"/>
              </a:rPr>
              <a:t>-th </a:t>
            </a:r>
            <a:r>
              <a:rPr dirty="0" sz="2800" spc="-20">
                <a:latin typeface="Calibri"/>
                <a:cs typeface="Calibri"/>
              </a:rPr>
              <a:t>data</a:t>
            </a:r>
            <a:r>
              <a:rPr dirty="0" sz="2800" spc="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point.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ts val="381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60">
                <a:latin typeface="Calibri"/>
                <a:cs typeface="Calibri"/>
              </a:rPr>
              <a:t>We </a:t>
            </a:r>
            <a:r>
              <a:rPr dirty="0" sz="3200" spc="-15">
                <a:latin typeface="Calibri"/>
                <a:cs typeface="Calibri"/>
              </a:rPr>
              <a:t>perform </a:t>
            </a: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Stochastic </a:t>
            </a:r>
            <a:r>
              <a:rPr dirty="0" sz="3200" spc="-20" b="1">
                <a:solidFill>
                  <a:srgbClr val="C00000"/>
                </a:solidFill>
                <a:latin typeface="Calibri"/>
                <a:cs typeface="Calibri"/>
              </a:rPr>
              <a:t>Gradient </a:t>
            </a: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Descent</a:t>
            </a:r>
            <a:r>
              <a:rPr dirty="0" sz="3200" spc="10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(SGD)</a:t>
            </a:r>
            <a:r>
              <a:rPr dirty="0" sz="3200" spc="-5">
                <a:latin typeface="Calibri"/>
                <a:cs typeface="Calibri"/>
              </a:rPr>
              <a:t>.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76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Randomly sample </a:t>
            </a:r>
            <a:r>
              <a:rPr dirty="0" sz="2800">
                <a:latin typeface="Cambria Math"/>
                <a:cs typeface="Cambria Math"/>
              </a:rPr>
              <a:t>𝑀 (&lt;&lt; </a:t>
            </a:r>
            <a:r>
              <a:rPr dirty="0" sz="2800" spc="25">
                <a:latin typeface="Cambria Math"/>
                <a:cs typeface="Cambria Math"/>
              </a:rPr>
              <a:t>𝑁) </a:t>
            </a:r>
            <a:r>
              <a:rPr dirty="0" sz="2800" spc="-20">
                <a:latin typeface="Calibri"/>
                <a:cs typeface="Calibri"/>
              </a:rPr>
              <a:t>data</a:t>
            </a:r>
            <a:r>
              <a:rPr dirty="0" sz="2800" spc="1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(</a:t>
            </a:r>
            <a:r>
              <a:rPr dirty="0" sz="2800" spc="-10" b="1">
                <a:latin typeface="Calibri"/>
                <a:cs typeface="Calibri"/>
              </a:rPr>
              <a:t>mini-batches</a:t>
            </a:r>
            <a:r>
              <a:rPr dirty="0" sz="2800" spc="-10">
                <a:latin typeface="Calibri"/>
                <a:cs typeface="Calibri"/>
              </a:rPr>
              <a:t>).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2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>
                <a:latin typeface="Calibri"/>
                <a:cs typeface="Calibri"/>
              </a:rPr>
              <a:t>Compute </a:t>
            </a:r>
            <a:r>
              <a:rPr dirty="0" sz="2800">
                <a:latin typeface="Calibri"/>
                <a:cs typeface="Calibri"/>
              </a:rPr>
              <a:t>the </a:t>
            </a:r>
            <a:r>
              <a:rPr dirty="0" sz="2800" spc="75">
                <a:latin typeface="Cambria Math"/>
                <a:cs typeface="Cambria Math"/>
              </a:rPr>
              <a:t>ℓ</a:t>
            </a:r>
            <a:r>
              <a:rPr dirty="0" baseline="-16666" sz="3000" spc="112">
                <a:latin typeface="Cambria Math"/>
                <a:cs typeface="Cambria Math"/>
              </a:rPr>
              <a:t>"#$</a:t>
            </a:r>
            <a:r>
              <a:rPr dirty="0" sz="2800" spc="75">
                <a:latin typeface="Cambria Math"/>
                <a:cs typeface="Cambria Math"/>
              </a:rPr>
              <a:t>(𝜽) </a:t>
            </a:r>
            <a:r>
              <a:rPr dirty="0" sz="2800" spc="-15">
                <a:latin typeface="Calibri"/>
                <a:cs typeface="Calibri"/>
              </a:rPr>
              <a:t>over </a:t>
            </a:r>
            <a:r>
              <a:rPr dirty="0" sz="2800">
                <a:latin typeface="Calibri"/>
                <a:cs typeface="Calibri"/>
              </a:rPr>
              <a:t>the </a:t>
            </a:r>
            <a:r>
              <a:rPr dirty="0" sz="2800">
                <a:latin typeface="Cambria Math"/>
                <a:cs typeface="Cambria Math"/>
              </a:rPr>
              <a:t>𝑀 </a:t>
            </a:r>
            <a:r>
              <a:rPr dirty="0" sz="2800" spc="-20">
                <a:latin typeface="Calibri"/>
                <a:cs typeface="Calibri"/>
              </a:rPr>
              <a:t>data</a:t>
            </a:r>
            <a:r>
              <a:rPr dirty="0" sz="2800" spc="6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points.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74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  <a:tab pos="3759200" algn="l"/>
              </a:tabLst>
            </a:pPr>
            <a:r>
              <a:rPr dirty="0" sz="2800" spc="-20">
                <a:latin typeface="Calibri"/>
                <a:cs typeface="Calibri"/>
              </a:rPr>
              <a:t>Perform </a:t>
            </a:r>
            <a:r>
              <a:rPr dirty="0" sz="2800" spc="-5">
                <a:latin typeface="Calibri"/>
                <a:cs typeface="Calibri"/>
              </a:rPr>
              <a:t>SGD: </a:t>
            </a:r>
            <a:r>
              <a:rPr dirty="0" sz="2800">
                <a:latin typeface="Cambria Math"/>
                <a:cs typeface="Cambria Math"/>
              </a:rPr>
              <a:t>𝜽</a:t>
            </a:r>
            <a:r>
              <a:rPr dirty="0" sz="2800" spc="19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←</a:t>
            </a:r>
            <a:r>
              <a:rPr dirty="0" sz="2800" spc="16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𝜽	−</a:t>
            </a:r>
            <a:r>
              <a:rPr dirty="0" sz="2800" spc="-70">
                <a:latin typeface="Cambria Math"/>
                <a:cs typeface="Cambria Math"/>
              </a:rPr>
              <a:t> </a:t>
            </a:r>
            <a:r>
              <a:rPr dirty="0" sz="2800" spc="65">
                <a:latin typeface="Cambria Math"/>
                <a:cs typeface="Cambria Math"/>
              </a:rPr>
              <a:t>∇ℓ</a:t>
            </a:r>
            <a:r>
              <a:rPr dirty="0" baseline="-16666" sz="3000" spc="97">
                <a:latin typeface="Cambria Math"/>
                <a:cs typeface="Cambria Math"/>
              </a:rPr>
              <a:t>"#$</a:t>
            </a:r>
            <a:r>
              <a:rPr dirty="0" sz="2800" spc="65">
                <a:latin typeface="Cambria Math"/>
                <a:cs typeface="Cambria Math"/>
              </a:rPr>
              <a:t>(𝜽)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3/13/21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7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5591" y="347472"/>
            <a:ext cx="3681984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96924"/>
            <a:ext cx="7228205" cy="139128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670"/>
              </a:lnSpc>
              <a:spcBef>
                <a:spcPts val="100"/>
              </a:spcBef>
            </a:pPr>
            <a:r>
              <a:rPr dirty="0" spc="-15" b="1">
                <a:solidFill>
                  <a:srgbClr val="D60093"/>
                </a:solidFill>
                <a:latin typeface="Calibri"/>
                <a:cs typeface="Calibri"/>
              </a:rPr>
              <a:t>What </a:t>
            </a:r>
            <a:r>
              <a:rPr dirty="0" b="1">
                <a:solidFill>
                  <a:srgbClr val="D60093"/>
                </a:solidFill>
                <a:latin typeface="Calibri"/>
                <a:cs typeface="Calibri"/>
              </a:rPr>
              <a:t>if </a:t>
            </a:r>
            <a:r>
              <a:rPr dirty="0" spc="-15" b="1">
                <a:solidFill>
                  <a:srgbClr val="D60093"/>
                </a:solidFill>
                <a:latin typeface="Calibri"/>
                <a:cs typeface="Calibri"/>
              </a:rPr>
              <a:t>we </a:t>
            </a:r>
            <a:r>
              <a:rPr dirty="0" spc="-5" b="1">
                <a:solidFill>
                  <a:srgbClr val="D60093"/>
                </a:solidFill>
                <a:latin typeface="Calibri"/>
                <a:cs typeface="Calibri"/>
              </a:rPr>
              <a:t>use the </a:t>
            </a:r>
            <a:r>
              <a:rPr dirty="0" spc="-20" b="1">
                <a:solidFill>
                  <a:srgbClr val="D60093"/>
                </a:solidFill>
                <a:latin typeface="Calibri"/>
                <a:cs typeface="Calibri"/>
              </a:rPr>
              <a:t>standard </a:t>
            </a:r>
            <a:r>
              <a:rPr dirty="0" spc="-5" b="1">
                <a:solidFill>
                  <a:srgbClr val="D60093"/>
                </a:solidFill>
                <a:latin typeface="Calibri"/>
                <a:cs typeface="Calibri"/>
              </a:rPr>
              <a:t>SGD </a:t>
            </a:r>
            <a:r>
              <a:rPr dirty="0" spc="-20" b="1">
                <a:solidFill>
                  <a:srgbClr val="D60093"/>
                </a:solidFill>
                <a:latin typeface="Calibri"/>
                <a:cs typeface="Calibri"/>
              </a:rPr>
              <a:t>for</a:t>
            </a:r>
            <a:r>
              <a:rPr dirty="0" spc="40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pc="-5" b="1">
                <a:solidFill>
                  <a:srgbClr val="D60093"/>
                </a:solidFill>
                <a:latin typeface="Calibri"/>
                <a:cs typeface="Calibri"/>
              </a:rPr>
              <a:t>GNN?</a:t>
            </a:r>
          </a:p>
          <a:p>
            <a:pPr marL="332740" marR="13970" indent="-320040">
              <a:lnSpc>
                <a:spcPts val="3410"/>
              </a:lnSpc>
              <a:spcBef>
                <a:spcPts val="30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 b="1">
                <a:solidFill>
                  <a:srgbClr val="0000FF"/>
                </a:solidFill>
                <a:latin typeface="Calibri"/>
                <a:cs typeface="Calibri"/>
              </a:rPr>
              <a:t>In </a:t>
            </a:r>
            <a:r>
              <a:rPr dirty="0" spc="-15" b="1">
                <a:solidFill>
                  <a:srgbClr val="0000FF"/>
                </a:solidFill>
                <a:latin typeface="Calibri"/>
                <a:cs typeface="Calibri"/>
              </a:rPr>
              <a:t>mini-batch, we </a:t>
            </a:r>
            <a:r>
              <a:rPr dirty="0" spc="-5" b="1">
                <a:solidFill>
                  <a:srgbClr val="0000FF"/>
                </a:solidFill>
                <a:latin typeface="Calibri"/>
                <a:cs typeface="Calibri"/>
              </a:rPr>
              <a:t>sample </a:t>
            </a:r>
            <a:r>
              <a:rPr dirty="0">
                <a:solidFill>
                  <a:srgbClr val="0000FF"/>
                </a:solidFill>
                <a:latin typeface="Cambria Math"/>
                <a:cs typeface="Cambria Math"/>
              </a:rPr>
              <a:t>𝑴 </a:t>
            </a:r>
            <a:r>
              <a:rPr dirty="0" b="1">
                <a:solidFill>
                  <a:srgbClr val="0000FF"/>
                </a:solidFill>
                <a:latin typeface="Calibri"/>
                <a:cs typeface="Calibri"/>
              </a:rPr>
              <a:t>(&lt;&lt;</a:t>
            </a:r>
            <a:r>
              <a:rPr dirty="0">
                <a:solidFill>
                  <a:srgbClr val="0000FF"/>
                </a:solidFill>
                <a:latin typeface="Cambria Math"/>
                <a:cs typeface="Cambria Math"/>
              </a:rPr>
              <a:t>𝑵</a:t>
            </a:r>
            <a:r>
              <a:rPr dirty="0" b="1">
                <a:solidFill>
                  <a:srgbClr val="0000FF"/>
                </a:solidFill>
                <a:latin typeface="Calibri"/>
                <a:cs typeface="Calibri"/>
              </a:rPr>
              <a:t>) </a:t>
            </a:r>
            <a:r>
              <a:rPr dirty="0" spc="-5" b="1">
                <a:solidFill>
                  <a:srgbClr val="0000FF"/>
                </a:solidFill>
                <a:latin typeface="Calibri"/>
                <a:cs typeface="Calibri"/>
              </a:rPr>
              <a:t>nodes  independently:</a:t>
            </a:r>
          </a:p>
        </p:txBody>
      </p:sp>
      <p:sp>
        <p:nvSpPr>
          <p:cNvPr id="4" name="object 4"/>
          <p:cNvSpPr/>
          <p:nvPr/>
        </p:nvSpPr>
        <p:spPr>
          <a:xfrm>
            <a:off x="2355140" y="2601058"/>
            <a:ext cx="3405293" cy="19989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18108" y="4184396"/>
            <a:ext cx="7813675" cy="2426335"/>
          </a:xfrm>
          <a:prstGeom prst="rect">
            <a:avLst/>
          </a:prstGeom>
        </p:spPr>
        <p:txBody>
          <a:bodyPr wrap="square" lIns="0" tIns="121920" rIns="0" bIns="0" rtlCol="0" vert="horz">
            <a:spAutoFit/>
          </a:bodyPr>
          <a:lstStyle/>
          <a:p>
            <a:pPr marL="4544695">
              <a:lnSpc>
                <a:spcPct val="100000"/>
              </a:lnSpc>
              <a:spcBef>
                <a:spcPts val="960"/>
              </a:spcBef>
            </a:pPr>
            <a:r>
              <a:rPr dirty="0" sz="1800" spc="-5" b="1">
                <a:solidFill>
                  <a:srgbClr val="008000"/>
                </a:solidFill>
                <a:latin typeface="Arial"/>
                <a:cs typeface="Arial"/>
              </a:rPr>
              <a:t>Entire</a:t>
            </a:r>
            <a:r>
              <a:rPr dirty="0" sz="1800" spc="-85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008000"/>
                </a:solidFill>
                <a:latin typeface="Arial"/>
                <a:cs typeface="Arial"/>
              </a:rPr>
              <a:t>nodes</a:t>
            </a:r>
            <a:endParaRPr sz="1800">
              <a:latin typeface="Arial"/>
              <a:cs typeface="Arial"/>
            </a:endParaRPr>
          </a:p>
          <a:p>
            <a:pPr marL="625475" indent="-274320">
              <a:lnSpc>
                <a:spcPct val="100000"/>
              </a:lnSpc>
              <a:spcBef>
                <a:spcPts val="114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400" spc="-5" b="1">
                <a:solidFill>
                  <a:srgbClr val="0000FF"/>
                </a:solidFill>
                <a:latin typeface="Calibri"/>
                <a:cs typeface="Calibri"/>
              </a:rPr>
              <a:t>Sampled nodes </a:t>
            </a:r>
            <a:r>
              <a:rPr dirty="0" sz="2400" spc="-10" b="1">
                <a:latin typeface="Calibri"/>
                <a:cs typeface="Calibri"/>
              </a:rPr>
              <a:t>tend to </a:t>
            </a:r>
            <a:r>
              <a:rPr dirty="0" sz="2400" b="1">
                <a:latin typeface="Calibri"/>
                <a:cs typeface="Calibri"/>
              </a:rPr>
              <a:t>be </a:t>
            </a:r>
            <a:r>
              <a:rPr dirty="0" sz="2400" spc="-10" b="1">
                <a:latin typeface="Calibri"/>
                <a:cs typeface="Calibri"/>
              </a:rPr>
              <a:t>isolated from </a:t>
            </a:r>
            <a:r>
              <a:rPr dirty="0" sz="2400" spc="-5" b="1">
                <a:latin typeface="Calibri"/>
                <a:cs typeface="Calibri"/>
              </a:rPr>
              <a:t>each</a:t>
            </a:r>
            <a:r>
              <a:rPr dirty="0" sz="2400" b="1">
                <a:latin typeface="Calibri"/>
                <a:cs typeface="Calibri"/>
              </a:rPr>
              <a:t> </a:t>
            </a:r>
            <a:r>
              <a:rPr dirty="0" sz="2400" spc="-40" b="1">
                <a:latin typeface="Calibri"/>
                <a:cs typeface="Calibri"/>
              </a:rPr>
              <a:t>other.</a:t>
            </a:r>
            <a:endParaRPr sz="2400">
              <a:latin typeface="Calibri"/>
              <a:cs typeface="Calibri"/>
            </a:endParaRPr>
          </a:p>
          <a:p>
            <a:pPr marL="625475" marR="356870" indent="-274320">
              <a:lnSpc>
                <a:spcPts val="2590"/>
              </a:lnSpc>
              <a:spcBef>
                <a:spcPts val="63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Recall: </a:t>
            </a:r>
            <a:r>
              <a:rPr dirty="0" sz="2400" spc="-5">
                <a:latin typeface="Calibri"/>
                <a:cs typeface="Calibri"/>
              </a:rPr>
              <a:t>GNN </a:t>
            </a:r>
            <a:r>
              <a:rPr dirty="0" sz="2400" spc="-20">
                <a:latin typeface="Calibri"/>
                <a:cs typeface="Calibri"/>
              </a:rPr>
              <a:t>generate </a:t>
            </a:r>
            <a:r>
              <a:rPr dirty="0" sz="2400" spc="-5">
                <a:latin typeface="Calibri"/>
                <a:cs typeface="Calibri"/>
              </a:rPr>
              <a:t>node embeddings </a:t>
            </a:r>
            <a:r>
              <a:rPr dirty="0" sz="2400" spc="-10">
                <a:latin typeface="Calibri"/>
                <a:cs typeface="Calibri"/>
              </a:rPr>
              <a:t>by </a:t>
            </a:r>
            <a:r>
              <a:rPr dirty="0" sz="2400" spc="-50">
                <a:latin typeface="Calibri"/>
                <a:cs typeface="Calibri"/>
              </a:rPr>
              <a:t>aggregating  </a:t>
            </a:r>
            <a:r>
              <a:rPr dirty="0" sz="2400" spc="-5">
                <a:latin typeface="Calibri"/>
                <a:cs typeface="Calibri"/>
              </a:rPr>
              <a:t>neighboring node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spc="-15">
                <a:latin typeface="Calibri"/>
                <a:cs typeface="Calibri"/>
              </a:rPr>
              <a:t>features.</a:t>
            </a:r>
            <a:endParaRPr sz="2400">
              <a:latin typeface="Calibri"/>
              <a:cs typeface="Calibri"/>
            </a:endParaRPr>
          </a:p>
          <a:p>
            <a:pPr lvl="1" marL="890905" indent="-228600">
              <a:lnSpc>
                <a:spcPts val="2195"/>
              </a:lnSpc>
              <a:spcBef>
                <a:spcPts val="190"/>
              </a:spcBef>
              <a:buClr>
                <a:srgbClr val="E66C7D"/>
              </a:buClr>
              <a:buFont typeface="Arial"/>
              <a:buChar char="▪"/>
              <a:tabLst>
                <a:tab pos="890905" algn="l"/>
              </a:tabLst>
            </a:pP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GNN does not access </a:t>
            </a:r>
            <a:r>
              <a:rPr dirty="0" sz="2000" spc="-15" b="1">
                <a:solidFill>
                  <a:srgbClr val="C00000"/>
                </a:solidFill>
                <a:latin typeface="Calibri"/>
                <a:cs typeface="Calibri"/>
              </a:rPr>
              <a:t>to </a:t>
            </a: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neighboring nodes within the</a:t>
            </a:r>
            <a:r>
              <a:rPr dirty="0" sz="2000" spc="10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mini-batch!</a:t>
            </a:r>
            <a:endParaRPr sz="2000">
              <a:latin typeface="Calibri"/>
              <a:cs typeface="Calibri"/>
            </a:endParaRPr>
          </a:p>
          <a:p>
            <a:pPr marL="332740" indent="-320040">
              <a:lnSpc>
                <a:spcPts val="363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 b="1">
                <a:solidFill>
                  <a:srgbClr val="D60093"/>
                </a:solidFill>
                <a:latin typeface="Calibri"/>
                <a:cs typeface="Calibri"/>
              </a:rPr>
              <a:t>Standard </a:t>
            </a: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SGD </a:t>
            </a:r>
            <a:r>
              <a:rPr dirty="0" sz="3200" spc="-10" b="1">
                <a:solidFill>
                  <a:srgbClr val="D60093"/>
                </a:solidFill>
                <a:latin typeface="Calibri"/>
                <a:cs typeface="Calibri"/>
              </a:rPr>
              <a:t>cannot </a:t>
            </a:r>
            <a:r>
              <a:rPr dirty="0" sz="3200" spc="-15" b="1">
                <a:solidFill>
                  <a:srgbClr val="D60093"/>
                </a:solidFill>
                <a:latin typeface="Calibri"/>
                <a:cs typeface="Calibri"/>
              </a:rPr>
              <a:t>effectively </a:t>
            </a:r>
            <a:r>
              <a:rPr dirty="0" sz="3200" spc="-20" b="1">
                <a:solidFill>
                  <a:srgbClr val="D60093"/>
                </a:solidFill>
                <a:latin typeface="Calibri"/>
                <a:cs typeface="Calibri"/>
              </a:rPr>
              <a:t>train</a:t>
            </a:r>
            <a:r>
              <a:rPr dirty="0" sz="3200" spc="50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GNNs.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024387" y="3125030"/>
            <a:ext cx="100330" cy="106680"/>
          </a:xfrm>
          <a:custGeom>
            <a:avLst/>
            <a:gdLst/>
            <a:ahLst/>
            <a:cxnLst/>
            <a:rect l="l" t="t" r="r" b="b"/>
            <a:pathLst>
              <a:path w="100329" h="106680">
                <a:moveTo>
                  <a:pt x="0" y="53046"/>
                </a:moveTo>
                <a:lnTo>
                  <a:pt x="3941" y="32398"/>
                </a:lnTo>
                <a:lnTo>
                  <a:pt x="14688" y="15536"/>
                </a:lnTo>
                <a:lnTo>
                  <a:pt x="30629" y="4168"/>
                </a:lnTo>
                <a:lnTo>
                  <a:pt x="50150" y="0"/>
                </a:lnTo>
                <a:lnTo>
                  <a:pt x="69670" y="4168"/>
                </a:lnTo>
                <a:lnTo>
                  <a:pt x="85611" y="15536"/>
                </a:lnTo>
                <a:lnTo>
                  <a:pt x="96358" y="32398"/>
                </a:lnTo>
                <a:lnTo>
                  <a:pt x="100300" y="53046"/>
                </a:lnTo>
                <a:lnTo>
                  <a:pt x="96358" y="73694"/>
                </a:lnTo>
                <a:lnTo>
                  <a:pt x="85611" y="90556"/>
                </a:lnTo>
                <a:lnTo>
                  <a:pt x="69670" y="101924"/>
                </a:lnTo>
                <a:lnTo>
                  <a:pt x="50150" y="106093"/>
                </a:lnTo>
                <a:lnTo>
                  <a:pt x="30629" y="101924"/>
                </a:lnTo>
                <a:lnTo>
                  <a:pt x="14688" y="90556"/>
                </a:lnTo>
                <a:lnTo>
                  <a:pt x="3941" y="73694"/>
                </a:lnTo>
                <a:lnTo>
                  <a:pt x="0" y="53046"/>
                </a:lnTo>
                <a:close/>
              </a:path>
            </a:pathLst>
          </a:custGeom>
          <a:ln w="381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148909" y="3004820"/>
            <a:ext cx="18542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000FF"/>
                </a:solidFill>
                <a:latin typeface="Arial"/>
                <a:cs typeface="Arial"/>
              </a:rPr>
              <a:t>: </a:t>
            </a:r>
            <a:r>
              <a:rPr dirty="0" sz="1800" spc="-5" b="1">
                <a:solidFill>
                  <a:srgbClr val="0000FF"/>
                </a:solidFill>
                <a:latin typeface="Arial"/>
                <a:cs typeface="Arial"/>
              </a:rPr>
              <a:t>Sampled</a:t>
            </a:r>
            <a:r>
              <a:rPr dirty="0" sz="1800" spc="-70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0000FF"/>
                </a:solidFill>
                <a:latin typeface="Arial"/>
                <a:cs typeface="Arial"/>
              </a:rPr>
              <a:t>nodes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3/13/21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7</a:t>
            </a:fld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11065" y="2897123"/>
            <a:ext cx="14414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C00000"/>
                </a:solidFill>
                <a:latin typeface="Arial"/>
                <a:cs typeface="Arial"/>
              </a:rPr>
              <a:t>X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 rot="4920000">
            <a:off x="2840064" y="3186611"/>
            <a:ext cx="214514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400"/>
              </a:lnSpc>
            </a:pPr>
            <a:r>
              <a:rPr dirty="0" sz="1400" b="1">
                <a:solidFill>
                  <a:srgbClr val="C00000"/>
                </a:solidFill>
                <a:latin typeface="Arial"/>
                <a:cs typeface="Arial"/>
              </a:rPr>
              <a:t>X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 rot="19980000">
            <a:off x="4023269" y="2773339"/>
            <a:ext cx="215227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400"/>
              </a:lnSpc>
            </a:pPr>
            <a:r>
              <a:rPr dirty="0" sz="1400" b="1">
                <a:solidFill>
                  <a:srgbClr val="C00000"/>
                </a:solidFill>
                <a:latin typeface="Arial"/>
                <a:cs typeface="Arial"/>
              </a:rPr>
              <a:t>X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 rot="6660000">
            <a:off x="3675908" y="3503633"/>
            <a:ext cx="215586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400"/>
              </a:lnSpc>
            </a:pPr>
            <a:r>
              <a:rPr dirty="0" sz="1400" b="1">
                <a:solidFill>
                  <a:srgbClr val="C00000"/>
                </a:solidFill>
                <a:latin typeface="Arial"/>
                <a:cs typeface="Arial"/>
              </a:rPr>
              <a:t>X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 rot="15060000">
            <a:off x="4171039" y="4302141"/>
            <a:ext cx="215586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400"/>
              </a:lnSpc>
            </a:pPr>
            <a:r>
              <a:rPr dirty="0" sz="1400" b="1">
                <a:solidFill>
                  <a:srgbClr val="C00000"/>
                </a:solidFill>
                <a:latin typeface="Arial"/>
                <a:cs typeface="Arial"/>
              </a:rPr>
              <a:t>X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 rot="2040000">
            <a:off x="3956977" y="3127487"/>
            <a:ext cx="214514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400"/>
              </a:lnSpc>
            </a:pPr>
            <a:r>
              <a:rPr dirty="0" sz="1400" b="1">
                <a:solidFill>
                  <a:srgbClr val="C00000"/>
                </a:solidFill>
                <a:latin typeface="Arial"/>
                <a:cs typeface="Arial"/>
              </a:rPr>
              <a:t>X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 rot="10800000">
            <a:off x="3880831" y="3752259"/>
            <a:ext cx="213806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400"/>
              </a:lnSpc>
            </a:pPr>
            <a:r>
              <a:rPr dirty="0" sz="1400" b="1">
                <a:solidFill>
                  <a:srgbClr val="C00000"/>
                </a:solidFill>
                <a:latin typeface="Arial"/>
                <a:cs typeface="Arial"/>
              </a:rPr>
              <a:t>X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 rot="7860000">
            <a:off x="4146813" y="4019827"/>
            <a:ext cx="214159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400"/>
              </a:lnSpc>
            </a:pPr>
            <a:r>
              <a:rPr dirty="0" sz="1400" b="1">
                <a:solidFill>
                  <a:srgbClr val="C00000"/>
                </a:solidFill>
                <a:latin typeface="Arial"/>
                <a:cs typeface="Arial"/>
              </a:rPr>
              <a:t>X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 rot="9240000">
            <a:off x="3848385" y="4198647"/>
            <a:ext cx="214159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400"/>
              </a:lnSpc>
            </a:pPr>
            <a:r>
              <a:rPr dirty="0" sz="1400" b="1">
                <a:solidFill>
                  <a:srgbClr val="C00000"/>
                </a:solidFill>
                <a:latin typeface="Arial"/>
                <a:cs typeface="Arial"/>
              </a:rPr>
              <a:t>X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5591" y="347472"/>
            <a:ext cx="3681984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5445760" cy="197358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32740" marR="5080" indent="-320040">
              <a:lnSpc>
                <a:spcPct val="99800"/>
              </a:lnSpc>
              <a:spcBef>
                <a:spcPts val="10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 b="1">
                <a:latin typeface="Calibri"/>
                <a:cs typeface="Calibri"/>
              </a:rPr>
              <a:t>Naïve </a:t>
            </a:r>
            <a:r>
              <a:rPr dirty="0" spc="-15" b="1">
                <a:solidFill>
                  <a:srgbClr val="D60093"/>
                </a:solidFill>
                <a:latin typeface="Calibri"/>
                <a:cs typeface="Calibri"/>
              </a:rPr>
              <a:t>full-batch </a:t>
            </a:r>
            <a:r>
              <a:rPr dirty="0" spc="-15" b="1">
                <a:latin typeface="Calibri"/>
                <a:cs typeface="Calibri"/>
              </a:rPr>
              <a:t> </a:t>
            </a:r>
            <a:r>
              <a:rPr dirty="0" spc="-10" b="1">
                <a:latin typeface="Calibri"/>
                <a:cs typeface="Calibri"/>
              </a:rPr>
              <a:t>implementation</a:t>
            </a:r>
            <a:r>
              <a:rPr dirty="0" spc="-10"/>
              <a:t>: </a:t>
            </a:r>
            <a:r>
              <a:rPr dirty="0" spc="-20"/>
              <a:t>Generate  </a:t>
            </a:r>
            <a:r>
              <a:rPr dirty="0" spc="-5"/>
              <a:t>embeddings of </a:t>
            </a:r>
            <a:r>
              <a:rPr dirty="0"/>
              <a:t>all the </a:t>
            </a:r>
            <a:r>
              <a:rPr dirty="0" spc="-5"/>
              <a:t>nodes </a:t>
            </a:r>
            <a:r>
              <a:rPr dirty="0" spc="-35" b="1">
                <a:solidFill>
                  <a:srgbClr val="FF0000"/>
                </a:solidFill>
                <a:latin typeface="Calibri"/>
                <a:cs typeface="Calibri"/>
              </a:rPr>
              <a:t>at  </a:t>
            </a:r>
            <a:r>
              <a:rPr dirty="0" spc="-5" b="1">
                <a:solidFill>
                  <a:srgbClr val="FF0000"/>
                </a:solidFill>
                <a:latin typeface="Calibri"/>
                <a:cs typeface="Calibri"/>
              </a:rPr>
              <a:t>the same</a:t>
            </a:r>
            <a:r>
              <a:rPr dirty="0" spc="-70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pc="-5" b="1">
                <a:solidFill>
                  <a:srgbClr val="FF0000"/>
                </a:solidFill>
                <a:latin typeface="Calibri"/>
                <a:cs typeface="Calibri"/>
              </a:rPr>
              <a:t>time.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6563" y="3310635"/>
            <a:ext cx="5389880" cy="3241040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4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>
                <a:latin typeface="Calibri"/>
                <a:cs typeface="Calibri"/>
              </a:rPr>
              <a:t>Load </a:t>
            </a:r>
            <a:r>
              <a:rPr dirty="0" sz="2800" spc="-5" b="1">
                <a:solidFill>
                  <a:srgbClr val="D60093"/>
                </a:solidFill>
                <a:latin typeface="Calibri"/>
                <a:cs typeface="Calibri"/>
              </a:rPr>
              <a:t>the </a:t>
            </a:r>
            <a:r>
              <a:rPr dirty="0" sz="2800" spc="-15" b="1">
                <a:solidFill>
                  <a:srgbClr val="D60093"/>
                </a:solidFill>
                <a:latin typeface="Calibri"/>
                <a:cs typeface="Calibri"/>
              </a:rPr>
              <a:t>entire graph </a:t>
            </a:r>
            <a:r>
              <a:rPr dirty="0" sz="2800" spc="-5" b="1">
                <a:solidFill>
                  <a:srgbClr val="D60093"/>
                </a:solidFill>
                <a:latin typeface="Calibri"/>
                <a:cs typeface="Calibri"/>
              </a:rPr>
              <a:t>and</a:t>
            </a:r>
            <a:r>
              <a:rPr dirty="0" sz="2800" spc="30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2800" spc="-75" b="1">
                <a:solidFill>
                  <a:srgbClr val="D60093"/>
                </a:solidFill>
                <a:latin typeface="Calibri"/>
                <a:cs typeface="Calibri"/>
              </a:rPr>
              <a:t>features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45" b="1">
                <a:solidFill>
                  <a:srgbClr val="0000FF"/>
                </a:solidFill>
                <a:latin typeface="Calibri"/>
                <a:cs typeface="Calibri"/>
              </a:rPr>
              <a:t>At </a:t>
            </a:r>
            <a:r>
              <a:rPr dirty="0" sz="2800" b="1">
                <a:solidFill>
                  <a:srgbClr val="0000FF"/>
                </a:solidFill>
                <a:latin typeface="Calibri"/>
                <a:cs typeface="Calibri"/>
              </a:rPr>
              <a:t>each GNN</a:t>
            </a:r>
            <a:r>
              <a:rPr dirty="0" sz="2800" spc="-35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2800" spc="-15" b="1">
                <a:solidFill>
                  <a:srgbClr val="0000FF"/>
                </a:solidFill>
                <a:latin typeface="Calibri"/>
                <a:cs typeface="Calibri"/>
              </a:rPr>
              <a:t>layer:</a:t>
            </a:r>
            <a:endParaRPr sz="2800">
              <a:latin typeface="Calibri"/>
              <a:cs typeface="Calibri"/>
            </a:endParaRPr>
          </a:p>
          <a:p>
            <a:pPr lvl="1" marL="552450" marR="287655" indent="-228600">
              <a:lnSpc>
                <a:spcPct val="100400"/>
              </a:lnSpc>
              <a:spcBef>
                <a:spcPts val="530"/>
              </a:spcBef>
              <a:buClr>
                <a:srgbClr val="E66C7D"/>
              </a:buClr>
              <a:buFont typeface="Malgun Gothic"/>
              <a:buChar char="▪"/>
              <a:tabLst>
                <a:tab pos="552450" algn="l"/>
              </a:tabLst>
            </a:pPr>
            <a:r>
              <a:rPr dirty="0" sz="2400" spc="-10" b="1">
                <a:latin typeface="Calibri"/>
                <a:cs typeface="Calibri"/>
              </a:rPr>
              <a:t>Compute </a:t>
            </a:r>
            <a:r>
              <a:rPr dirty="0" sz="2400" spc="-5" b="1">
                <a:latin typeface="Calibri"/>
                <a:cs typeface="Calibri"/>
              </a:rPr>
              <a:t>embeddings of all nodes  using all the node embeddings </a:t>
            </a:r>
            <a:r>
              <a:rPr dirty="0" sz="2400" spc="-10" b="1">
                <a:latin typeface="Calibri"/>
                <a:cs typeface="Calibri"/>
              </a:rPr>
              <a:t>from  </a:t>
            </a:r>
            <a:r>
              <a:rPr dirty="0" sz="2400" spc="-5" b="1">
                <a:latin typeface="Calibri"/>
                <a:cs typeface="Calibri"/>
              </a:rPr>
              <a:t>the </a:t>
            </a:r>
            <a:r>
              <a:rPr dirty="0" sz="2400" spc="-10" b="1">
                <a:latin typeface="Calibri"/>
                <a:cs typeface="Calibri"/>
              </a:rPr>
              <a:t>previous</a:t>
            </a:r>
            <a:r>
              <a:rPr dirty="0" sz="2400" spc="-55" b="1">
                <a:latin typeface="Calibri"/>
                <a:cs typeface="Calibri"/>
              </a:rPr>
              <a:t> </a:t>
            </a:r>
            <a:r>
              <a:rPr dirty="0" sz="2400" spc="-50" b="1">
                <a:latin typeface="Calibri"/>
                <a:cs typeface="Calibri"/>
              </a:rPr>
              <a:t>layer.</a:t>
            </a:r>
            <a:endParaRPr sz="24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3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0">
                <a:latin typeface="Calibri"/>
                <a:cs typeface="Calibri"/>
              </a:rPr>
              <a:t>Compute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loss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74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20">
                <a:latin typeface="Calibri"/>
                <a:cs typeface="Calibri"/>
              </a:rPr>
              <a:t>Perform </a:t>
            </a:r>
            <a:r>
              <a:rPr dirty="0" sz="2800" spc="-15">
                <a:latin typeface="Calibri"/>
                <a:cs typeface="Calibri"/>
              </a:rPr>
              <a:t>gradient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descent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11761" y="1174496"/>
            <a:ext cx="200406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500" spc="-5">
                <a:latin typeface="Arial"/>
                <a:cs typeface="Arial"/>
              </a:rPr>
              <a:t>Given </a:t>
            </a:r>
            <a:r>
              <a:rPr dirty="0" sz="1500" spc="-5" b="1">
                <a:latin typeface="Arial"/>
                <a:cs typeface="Arial"/>
              </a:rPr>
              <a:t>all node  embeddings </a:t>
            </a:r>
            <a:r>
              <a:rPr dirty="0" sz="1500">
                <a:latin typeface="Arial"/>
                <a:cs typeface="Arial"/>
              </a:rPr>
              <a:t>at layer</a:t>
            </a:r>
            <a:r>
              <a:rPr dirty="0" sz="1500" spc="-9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K</a:t>
            </a:r>
            <a:endParaRPr sz="15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409542" y="3829767"/>
            <a:ext cx="762635" cy="127000"/>
          </a:xfrm>
          <a:custGeom>
            <a:avLst/>
            <a:gdLst/>
            <a:ahLst/>
            <a:cxnLst/>
            <a:rect l="l" t="t" r="r" b="b"/>
            <a:pathLst>
              <a:path w="762634" h="127000">
                <a:moveTo>
                  <a:pt x="0" y="126604"/>
                </a:moveTo>
                <a:lnTo>
                  <a:pt x="762413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409542" y="3956371"/>
            <a:ext cx="697230" cy="314325"/>
          </a:xfrm>
          <a:custGeom>
            <a:avLst/>
            <a:gdLst/>
            <a:ahLst/>
            <a:cxnLst/>
            <a:rect l="l" t="t" r="r" b="b"/>
            <a:pathLst>
              <a:path w="697229" h="314325">
                <a:moveTo>
                  <a:pt x="0" y="0"/>
                </a:moveTo>
                <a:lnTo>
                  <a:pt x="696930" y="313773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451132" y="4329798"/>
            <a:ext cx="681355" cy="58419"/>
          </a:xfrm>
          <a:custGeom>
            <a:avLst/>
            <a:gdLst/>
            <a:ahLst/>
            <a:cxnLst/>
            <a:rect l="l" t="t" r="r" b="b"/>
            <a:pathLst>
              <a:path w="681354" h="58420">
                <a:moveTo>
                  <a:pt x="0" y="58339"/>
                </a:moveTo>
                <a:lnTo>
                  <a:pt x="680872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909824" y="4329798"/>
            <a:ext cx="222250" cy="339725"/>
          </a:xfrm>
          <a:custGeom>
            <a:avLst/>
            <a:gdLst/>
            <a:ahLst/>
            <a:cxnLst/>
            <a:rect l="l" t="t" r="r" b="b"/>
            <a:pathLst>
              <a:path w="222250" h="339725">
                <a:moveTo>
                  <a:pt x="0" y="339109"/>
                </a:moveTo>
                <a:lnTo>
                  <a:pt x="222180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106471" y="4185779"/>
            <a:ext cx="174625" cy="168910"/>
          </a:xfrm>
          <a:custGeom>
            <a:avLst/>
            <a:gdLst/>
            <a:ahLst/>
            <a:cxnLst/>
            <a:rect l="l" t="t" r="r" b="b"/>
            <a:pathLst>
              <a:path w="174625" h="168910">
                <a:moveTo>
                  <a:pt x="87174" y="0"/>
                </a:moveTo>
                <a:lnTo>
                  <a:pt x="53242" y="6629"/>
                </a:lnTo>
                <a:lnTo>
                  <a:pt x="25532" y="24709"/>
                </a:lnTo>
                <a:lnTo>
                  <a:pt x="6850" y="51525"/>
                </a:lnTo>
                <a:lnTo>
                  <a:pt x="0" y="84363"/>
                </a:lnTo>
                <a:lnTo>
                  <a:pt x="6850" y="117202"/>
                </a:lnTo>
                <a:lnTo>
                  <a:pt x="25532" y="144018"/>
                </a:lnTo>
                <a:lnTo>
                  <a:pt x="53242" y="162098"/>
                </a:lnTo>
                <a:lnTo>
                  <a:pt x="87174" y="168728"/>
                </a:lnTo>
                <a:lnTo>
                  <a:pt x="121106" y="162098"/>
                </a:lnTo>
                <a:lnTo>
                  <a:pt x="148816" y="144018"/>
                </a:lnTo>
                <a:lnTo>
                  <a:pt x="167498" y="117202"/>
                </a:lnTo>
                <a:lnTo>
                  <a:pt x="174349" y="84363"/>
                </a:lnTo>
                <a:lnTo>
                  <a:pt x="167498" y="51525"/>
                </a:lnTo>
                <a:lnTo>
                  <a:pt x="148816" y="24709"/>
                </a:lnTo>
                <a:lnTo>
                  <a:pt x="121106" y="6629"/>
                </a:lnTo>
                <a:lnTo>
                  <a:pt x="87174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106471" y="4185779"/>
            <a:ext cx="174625" cy="168910"/>
          </a:xfrm>
          <a:custGeom>
            <a:avLst/>
            <a:gdLst/>
            <a:ahLst/>
            <a:cxnLst/>
            <a:rect l="l" t="t" r="r" b="b"/>
            <a:pathLst>
              <a:path w="174625" h="168910">
                <a:moveTo>
                  <a:pt x="0" y="84364"/>
                </a:moveTo>
                <a:lnTo>
                  <a:pt x="6850" y="51525"/>
                </a:lnTo>
                <a:lnTo>
                  <a:pt x="25532" y="24709"/>
                </a:lnTo>
                <a:lnTo>
                  <a:pt x="53242" y="6629"/>
                </a:lnTo>
                <a:lnTo>
                  <a:pt x="87175" y="0"/>
                </a:lnTo>
                <a:lnTo>
                  <a:pt x="121107" y="6629"/>
                </a:lnTo>
                <a:lnTo>
                  <a:pt x="148817" y="24709"/>
                </a:lnTo>
                <a:lnTo>
                  <a:pt x="167499" y="51525"/>
                </a:lnTo>
                <a:lnTo>
                  <a:pt x="174350" y="84364"/>
                </a:lnTo>
                <a:lnTo>
                  <a:pt x="167499" y="117202"/>
                </a:lnTo>
                <a:lnTo>
                  <a:pt x="148817" y="144018"/>
                </a:lnTo>
                <a:lnTo>
                  <a:pt x="121107" y="162098"/>
                </a:lnTo>
                <a:lnTo>
                  <a:pt x="87175" y="168728"/>
                </a:lnTo>
                <a:lnTo>
                  <a:pt x="53242" y="162098"/>
                </a:lnTo>
                <a:lnTo>
                  <a:pt x="25532" y="144018"/>
                </a:lnTo>
                <a:lnTo>
                  <a:pt x="6850" y="117202"/>
                </a:lnTo>
                <a:lnTo>
                  <a:pt x="0" y="84364"/>
                </a:lnTo>
                <a:close/>
              </a:path>
            </a:pathLst>
          </a:custGeom>
          <a:ln w="38100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171953" y="3745402"/>
            <a:ext cx="174625" cy="168910"/>
          </a:xfrm>
          <a:custGeom>
            <a:avLst/>
            <a:gdLst/>
            <a:ahLst/>
            <a:cxnLst/>
            <a:rect l="l" t="t" r="r" b="b"/>
            <a:pathLst>
              <a:path w="174625" h="168910">
                <a:moveTo>
                  <a:pt x="87175" y="0"/>
                </a:moveTo>
                <a:lnTo>
                  <a:pt x="53242" y="6629"/>
                </a:lnTo>
                <a:lnTo>
                  <a:pt x="25533" y="24709"/>
                </a:lnTo>
                <a:lnTo>
                  <a:pt x="6850" y="51526"/>
                </a:lnTo>
                <a:lnTo>
                  <a:pt x="0" y="84364"/>
                </a:lnTo>
                <a:lnTo>
                  <a:pt x="6850" y="117202"/>
                </a:lnTo>
                <a:lnTo>
                  <a:pt x="25533" y="144018"/>
                </a:lnTo>
                <a:lnTo>
                  <a:pt x="53242" y="162098"/>
                </a:lnTo>
                <a:lnTo>
                  <a:pt x="87175" y="168728"/>
                </a:lnTo>
                <a:lnTo>
                  <a:pt x="121107" y="162098"/>
                </a:lnTo>
                <a:lnTo>
                  <a:pt x="148817" y="144018"/>
                </a:lnTo>
                <a:lnTo>
                  <a:pt x="167498" y="117202"/>
                </a:lnTo>
                <a:lnTo>
                  <a:pt x="174349" y="84364"/>
                </a:lnTo>
                <a:lnTo>
                  <a:pt x="167498" y="51526"/>
                </a:lnTo>
                <a:lnTo>
                  <a:pt x="148817" y="24709"/>
                </a:lnTo>
                <a:lnTo>
                  <a:pt x="121107" y="6629"/>
                </a:lnTo>
                <a:lnTo>
                  <a:pt x="87175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171953" y="3745402"/>
            <a:ext cx="174625" cy="168910"/>
          </a:xfrm>
          <a:custGeom>
            <a:avLst/>
            <a:gdLst/>
            <a:ahLst/>
            <a:cxnLst/>
            <a:rect l="l" t="t" r="r" b="b"/>
            <a:pathLst>
              <a:path w="174625" h="168910">
                <a:moveTo>
                  <a:pt x="0" y="84364"/>
                </a:moveTo>
                <a:lnTo>
                  <a:pt x="6850" y="51525"/>
                </a:lnTo>
                <a:lnTo>
                  <a:pt x="25532" y="24709"/>
                </a:lnTo>
                <a:lnTo>
                  <a:pt x="53242" y="6629"/>
                </a:lnTo>
                <a:lnTo>
                  <a:pt x="87175" y="0"/>
                </a:lnTo>
                <a:lnTo>
                  <a:pt x="121107" y="6629"/>
                </a:lnTo>
                <a:lnTo>
                  <a:pt x="148817" y="24709"/>
                </a:lnTo>
                <a:lnTo>
                  <a:pt x="167499" y="51525"/>
                </a:lnTo>
                <a:lnTo>
                  <a:pt x="174350" y="84364"/>
                </a:lnTo>
                <a:lnTo>
                  <a:pt x="167499" y="117202"/>
                </a:lnTo>
                <a:lnTo>
                  <a:pt x="148817" y="144018"/>
                </a:lnTo>
                <a:lnTo>
                  <a:pt x="121107" y="162098"/>
                </a:lnTo>
                <a:lnTo>
                  <a:pt x="87175" y="168728"/>
                </a:lnTo>
                <a:lnTo>
                  <a:pt x="53242" y="162098"/>
                </a:lnTo>
                <a:lnTo>
                  <a:pt x="25532" y="144018"/>
                </a:lnTo>
                <a:lnTo>
                  <a:pt x="6850" y="117202"/>
                </a:lnTo>
                <a:lnTo>
                  <a:pt x="0" y="84364"/>
                </a:lnTo>
                <a:close/>
              </a:path>
            </a:pathLst>
          </a:custGeom>
          <a:ln w="38100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425597" y="4447791"/>
            <a:ext cx="361315" cy="221615"/>
          </a:xfrm>
          <a:custGeom>
            <a:avLst/>
            <a:gdLst/>
            <a:ahLst/>
            <a:cxnLst/>
            <a:rect l="l" t="t" r="r" b="b"/>
            <a:pathLst>
              <a:path w="361315" h="221614">
                <a:moveTo>
                  <a:pt x="360942" y="221116"/>
                </a:moveTo>
                <a:lnTo>
                  <a:pt x="0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322366" y="4040735"/>
            <a:ext cx="41910" cy="263525"/>
          </a:xfrm>
          <a:custGeom>
            <a:avLst/>
            <a:gdLst/>
            <a:ahLst/>
            <a:cxnLst/>
            <a:rect l="l" t="t" r="r" b="b"/>
            <a:pathLst>
              <a:path w="41909" h="263525">
                <a:moveTo>
                  <a:pt x="41590" y="263038"/>
                </a:moveTo>
                <a:lnTo>
                  <a:pt x="0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235192" y="3872006"/>
            <a:ext cx="174625" cy="168910"/>
          </a:xfrm>
          <a:custGeom>
            <a:avLst/>
            <a:gdLst/>
            <a:ahLst/>
            <a:cxnLst/>
            <a:rect l="l" t="t" r="r" b="b"/>
            <a:pathLst>
              <a:path w="174625" h="168910">
                <a:moveTo>
                  <a:pt x="87174" y="0"/>
                </a:moveTo>
                <a:lnTo>
                  <a:pt x="53242" y="6629"/>
                </a:lnTo>
                <a:lnTo>
                  <a:pt x="25532" y="24709"/>
                </a:lnTo>
                <a:lnTo>
                  <a:pt x="6850" y="51526"/>
                </a:lnTo>
                <a:lnTo>
                  <a:pt x="0" y="84364"/>
                </a:lnTo>
                <a:lnTo>
                  <a:pt x="6850" y="117202"/>
                </a:lnTo>
                <a:lnTo>
                  <a:pt x="25532" y="144018"/>
                </a:lnTo>
                <a:lnTo>
                  <a:pt x="53242" y="162098"/>
                </a:lnTo>
                <a:lnTo>
                  <a:pt x="87174" y="168728"/>
                </a:lnTo>
                <a:lnTo>
                  <a:pt x="121106" y="162098"/>
                </a:lnTo>
                <a:lnTo>
                  <a:pt x="148816" y="144018"/>
                </a:lnTo>
                <a:lnTo>
                  <a:pt x="167498" y="117202"/>
                </a:lnTo>
                <a:lnTo>
                  <a:pt x="174349" y="84364"/>
                </a:lnTo>
                <a:lnTo>
                  <a:pt x="167498" y="51526"/>
                </a:lnTo>
                <a:lnTo>
                  <a:pt x="148816" y="24709"/>
                </a:lnTo>
                <a:lnTo>
                  <a:pt x="121106" y="6629"/>
                </a:lnTo>
                <a:lnTo>
                  <a:pt x="87174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235192" y="3872006"/>
            <a:ext cx="174625" cy="168910"/>
          </a:xfrm>
          <a:custGeom>
            <a:avLst/>
            <a:gdLst/>
            <a:ahLst/>
            <a:cxnLst/>
            <a:rect l="l" t="t" r="r" b="b"/>
            <a:pathLst>
              <a:path w="174625" h="168910">
                <a:moveTo>
                  <a:pt x="0" y="84364"/>
                </a:moveTo>
                <a:lnTo>
                  <a:pt x="6850" y="51525"/>
                </a:lnTo>
                <a:lnTo>
                  <a:pt x="25532" y="24709"/>
                </a:lnTo>
                <a:lnTo>
                  <a:pt x="53242" y="6629"/>
                </a:lnTo>
                <a:lnTo>
                  <a:pt x="87175" y="0"/>
                </a:lnTo>
                <a:lnTo>
                  <a:pt x="121107" y="6629"/>
                </a:lnTo>
                <a:lnTo>
                  <a:pt x="148817" y="24709"/>
                </a:lnTo>
                <a:lnTo>
                  <a:pt x="167499" y="51525"/>
                </a:lnTo>
                <a:lnTo>
                  <a:pt x="174350" y="84364"/>
                </a:lnTo>
                <a:lnTo>
                  <a:pt x="167499" y="117202"/>
                </a:lnTo>
                <a:lnTo>
                  <a:pt x="148817" y="144018"/>
                </a:lnTo>
                <a:lnTo>
                  <a:pt x="121107" y="162098"/>
                </a:lnTo>
                <a:lnTo>
                  <a:pt x="87175" y="168728"/>
                </a:lnTo>
                <a:lnTo>
                  <a:pt x="53242" y="162098"/>
                </a:lnTo>
                <a:lnTo>
                  <a:pt x="25532" y="144018"/>
                </a:lnTo>
                <a:lnTo>
                  <a:pt x="6850" y="117202"/>
                </a:lnTo>
                <a:lnTo>
                  <a:pt x="0" y="84364"/>
                </a:lnTo>
                <a:close/>
              </a:path>
            </a:pathLst>
          </a:custGeom>
          <a:ln w="38100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276782" y="4303773"/>
            <a:ext cx="174625" cy="168910"/>
          </a:xfrm>
          <a:custGeom>
            <a:avLst/>
            <a:gdLst/>
            <a:ahLst/>
            <a:cxnLst/>
            <a:rect l="l" t="t" r="r" b="b"/>
            <a:pathLst>
              <a:path w="174625" h="168910">
                <a:moveTo>
                  <a:pt x="87174" y="0"/>
                </a:moveTo>
                <a:lnTo>
                  <a:pt x="53242" y="6629"/>
                </a:lnTo>
                <a:lnTo>
                  <a:pt x="25532" y="24709"/>
                </a:lnTo>
                <a:lnTo>
                  <a:pt x="6850" y="51525"/>
                </a:lnTo>
                <a:lnTo>
                  <a:pt x="0" y="84363"/>
                </a:lnTo>
                <a:lnTo>
                  <a:pt x="6850" y="117201"/>
                </a:lnTo>
                <a:lnTo>
                  <a:pt x="25532" y="144017"/>
                </a:lnTo>
                <a:lnTo>
                  <a:pt x="53242" y="162097"/>
                </a:lnTo>
                <a:lnTo>
                  <a:pt x="87174" y="168727"/>
                </a:lnTo>
                <a:lnTo>
                  <a:pt x="121106" y="162097"/>
                </a:lnTo>
                <a:lnTo>
                  <a:pt x="148816" y="144017"/>
                </a:lnTo>
                <a:lnTo>
                  <a:pt x="167498" y="117201"/>
                </a:lnTo>
                <a:lnTo>
                  <a:pt x="174349" y="84363"/>
                </a:lnTo>
                <a:lnTo>
                  <a:pt x="167498" y="51525"/>
                </a:lnTo>
                <a:lnTo>
                  <a:pt x="148816" y="24709"/>
                </a:lnTo>
                <a:lnTo>
                  <a:pt x="121106" y="6629"/>
                </a:lnTo>
                <a:lnTo>
                  <a:pt x="87174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276782" y="4303773"/>
            <a:ext cx="174625" cy="168910"/>
          </a:xfrm>
          <a:custGeom>
            <a:avLst/>
            <a:gdLst/>
            <a:ahLst/>
            <a:cxnLst/>
            <a:rect l="l" t="t" r="r" b="b"/>
            <a:pathLst>
              <a:path w="174625" h="168910">
                <a:moveTo>
                  <a:pt x="0" y="84364"/>
                </a:moveTo>
                <a:lnTo>
                  <a:pt x="6850" y="51525"/>
                </a:lnTo>
                <a:lnTo>
                  <a:pt x="25532" y="24709"/>
                </a:lnTo>
                <a:lnTo>
                  <a:pt x="53242" y="6629"/>
                </a:lnTo>
                <a:lnTo>
                  <a:pt x="87175" y="0"/>
                </a:lnTo>
                <a:lnTo>
                  <a:pt x="121107" y="6629"/>
                </a:lnTo>
                <a:lnTo>
                  <a:pt x="148817" y="24709"/>
                </a:lnTo>
                <a:lnTo>
                  <a:pt x="167499" y="51525"/>
                </a:lnTo>
                <a:lnTo>
                  <a:pt x="174350" y="84364"/>
                </a:lnTo>
                <a:lnTo>
                  <a:pt x="167499" y="117202"/>
                </a:lnTo>
                <a:lnTo>
                  <a:pt x="148817" y="144018"/>
                </a:lnTo>
                <a:lnTo>
                  <a:pt x="121107" y="162098"/>
                </a:lnTo>
                <a:lnTo>
                  <a:pt x="87175" y="168728"/>
                </a:lnTo>
                <a:lnTo>
                  <a:pt x="53242" y="162098"/>
                </a:lnTo>
                <a:lnTo>
                  <a:pt x="25532" y="144018"/>
                </a:lnTo>
                <a:lnTo>
                  <a:pt x="6850" y="117202"/>
                </a:lnTo>
                <a:lnTo>
                  <a:pt x="0" y="84364"/>
                </a:lnTo>
                <a:close/>
              </a:path>
            </a:pathLst>
          </a:custGeom>
          <a:ln w="38100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761008" y="4644198"/>
            <a:ext cx="174625" cy="168910"/>
          </a:xfrm>
          <a:custGeom>
            <a:avLst/>
            <a:gdLst/>
            <a:ahLst/>
            <a:cxnLst/>
            <a:rect l="l" t="t" r="r" b="b"/>
            <a:pathLst>
              <a:path w="174625" h="168910">
                <a:moveTo>
                  <a:pt x="87174" y="0"/>
                </a:moveTo>
                <a:lnTo>
                  <a:pt x="53242" y="6629"/>
                </a:lnTo>
                <a:lnTo>
                  <a:pt x="25532" y="24709"/>
                </a:lnTo>
                <a:lnTo>
                  <a:pt x="6850" y="51525"/>
                </a:lnTo>
                <a:lnTo>
                  <a:pt x="0" y="84363"/>
                </a:lnTo>
                <a:lnTo>
                  <a:pt x="6850" y="117201"/>
                </a:lnTo>
                <a:lnTo>
                  <a:pt x="25532" y="144017"/>
                </a:lnTo>
                <a:lnTo>
                  <a:pt x="53242" y="162097"/>
                </a:lnTo>
                <a:lnTo>
                  <a:pt x="87174" y="168727"/>
                </a:lnTo>
                <a:lnTo>
                  <a:pt x="121106" y="162097"/>
                </a:lnTo>
                <a:lnTo>
                  <a:pt x="148816" y="144017"/>
                </a:lnTo>
                <a:lnTo>
                  <a:pt x="167498" y="117201"/>
                </a:lnTo>
                <a:lnTo>
                  <a:pt x="174349" y="84363"/>
                </a:lnTo>
                <a:lnTo>
                  <a:pt x="167498" y="51525"/>
                </a:lnTo>
                <a:lnTo>
                  <a:pt x="148816" y="24709"/>
                </a:lnTo>
                <a:lnTo>
                  <a:pt x="121106" y="6629"/>
                </a:lnTo>
                <a:lnTo>
                  <a:pt x="87174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761008" y="4644198"/>
            <a:ext cx="174625" cy="168910"/>
          </a:xfrm>
          <a:custGeom>
            <a:avLst/>
            <a:gdLst/>
            <a:ahLst/>
            <a:cxnLst/>
            <a:rect l="l" t="t" r="r" b="b"/>
            <a:pathLst>
              <a:path w="174625" h="168910">
                <a:moveTo>
                  <a:pt x="0" y="84364"/>
                </a:moveTo>
                <a:lnTo>
                  <a:pt x="6850" y="51525"/>
                </a:lnTo>
                <a:lnTo>
                  <a:pt x="25532" y="24709"/>
                </a:lnTo>
                <a:lnTo>
                  <a:pt x="53242" y="6629"/>
                </a:lnTo>
                <a:lnTo>
                  <a:pt x="87175" y="0"/>
                </a:lnTo>
                <a:lnTo>
                  <a:pt x="121107" y="6629"/>
                </a:lnTo>
                <a:lnTo>
                  <a:pt x="148817" y="24709"/>
                </a:lnTo>
                <a:lnTo>
                  <a:pt x="167499" y="51525"/>
                </a:lnTo>
                <a:lnTo>
                  <a:pt x="174350" y="84364"/>
                </a:lnTo>
                <a:lnTo>
                  <a:pt x="167499" y="117202"/>
                </a:lnTo>
                <a:lnTo>
                  <a:pt x="148817" y="144018"/>
                </a:lnTo>
                <a:lnTo>
                  <a:pt x="121107" y="162098"/>
                </a:lnTo>
                <a:lnTo>
                  <a:pt x="87175" y="168728"/>
                </a:lnTo>
                <a:lnTo>
                  <a:pt x="53242" y="162098"/>
                </a:lnTo>
                <a:lnTo>
                  <a:pt x="25532" y="144018"/>
                </a:lnTo>
                <a:lnTo>
                  <a:pt x="6850" y="117202"/>
                </a:lnTo>
                <a:lnTo>
                  <a:pt x="0" y="84364"/>
                </a:lnTo>
                <a:close/>
              </a:path>
            </a:pathLst>
          </a:custGeom>
          <a:ln w="38100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439093" y="3660314"/>
            <a:ext cx="626745" cy="160655"/>
          </a:xfrm>
          <a:custGeom>
            <a:avLst/>
            <a:gdLst/>
            <a:ahLst/>
            <a:cxnLst/>
            <a:rect l="l" t="t" r="r" b="b"/>
            <a:pathLst>
              <a:path w="626745" h="160654">
                <a:moveTo>
                  <a:pt x="520432" y="34369"/>
                </a:moveTo>
                <a:lnTo>
                  <a:pt x="14084" y="125746"/>
                </a:lnTo>
                <a:lnTo>
                  <a:pt x="0" y="146032"/>
                </a:lnTo>
                <a:lnTo>
                  <a:pt x="2557" y="152477"/>
                </a:lnTo>
                <a:lnTo>
                  <a:pt x="7226" y="157275"/>
                </a:lnTo>
                <a:lnTo>
                  <a:pt x="13353" y="159972"/>
                </a:lnTo>
                <a:lnTo>
                  <a:pt x="20285" y="160116"/>
                </a:lnTo>
                <a:lnTo>
                  <a:pt x="526634" y="68739"/>
                </a:lnTo>
                <a:lnTo>
                  <a:pt x="520432" y="34369"/>
                </a:lnTo>
                <a:close/>
              </a:path>
              <a:path w="626745" h="160654">
                <a:moveTo>
                  <a:pt x="620915" y="31268"/>
                </a:moveTo>
                <a:lnTo>
                  <a:pt x="537616" y="31268"/>
                </a:lnTo>
                <a:lnTo>
                  <a:pt x="544549" y="31411"/>
                </a:lnTo>
                <a:lnTo>
                  <a:pt x="550676" y="34108"/>
                </a:lnTo>
                <a:lnTo>
                  <a:pt x="555345" y="38906"/>
                </a:lnTo>
                <a:lnTo>
                  <a:pt x="557903" y="45351"/>
                </a:lnTo>
                <a:lnTo>
                  <a:pt x="557759" y="52284"/>
                </a:lnTo>
                <a:lnTo>
                  <a:pt x="555062" y="58411"/>
                </a:lnTo>
                <a:lnTo>
                  <a:pt x="550264" y="63080"/>
                </a:lnTo>
                <a:lnTo>
                  <a:pt x="543819" y="65638"/>
                </a:lnTo>
                <a:lnTo>
                  <a:pt x="526634" y="68739"/>
                </a:lnTo>
                <a:lnTo>
                  <a:pt x="532837" y="103108"/>
                </a:lnTo>
                <a:lnTo>
                  <a:pt x="626643" y="32947"/>
                </a:lnTo>
                <a:lnTo>
                  <a:pt x="620915" y="31268"/>
                </a:lnTo>
                <a:close/>
              </a:path>
              <a:path w="626745" h="160654">
                <a:moveTo>
                  <a:pt x="537616" y="31268"/>
                </a:moveTo>
                <a:lnTo>
                  <a:pt x="520432" y="34369"/>
                </a:lnTo>
                <a:lnTo>
                  <a:pt x="526634" y="68739"/>
                </a:lnTo>
                <a:lnTo>
                  <a:pt x="543819" y="65638"/>
                </a:lnTo>
                <a:lnTo>
                  <a:pt x="550264" y="63080"/>
                </a:lnTo>
                <a:lnTo>
                  <a:pt x="555062" y="58411"/>
                </a:lnTo>
                <a:lnTo>
                  <a:pt x="557759" y="52284"/>
                </a:lnTo>
                <a:lnTo>
                  <a:pt x="557903" y="45351"/>
                </a:lnTo>
                <a:lnTo>
                  <a:pt x="555345" y="38906"/>
                </a:lnTo>
                <a:lnTo>
                  <a:pt x="550676" y="34108"/>
                </a:lnTo>
                <a:lnTo>
                  <a:pt x="544549" y="31411"/>
                </a:lnTo>
                <a:lnTo>
                  <a:pt x="537616" y="31268"/>
                </a:lnTo>
                <a:close/>
              </a:path>
              <a:path w="626745" h="160654">
                <a:moveTo>
                  <a:pt x="514229" y="0"/>
                </a:moveTo>
                <a:lnTo>
                  <a:pt x="520432" y="34369"/>
                </a:lnTo>
                <a:lnTo>
                  <a:pt x="537616" y="31268"/>
                </a:lnTo>
                <a:lnTo>
                  <a:pt x="620915" y="31268"/>
                </a:lnTo>
                <a:lnTo>
                  <a:pt x="514229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462561" y="3737871"/>
            <a:ext cx="624840" cy="167005"/>
          </a:xfrm>
          <a:custGeom>
            <a:avLst/>
            <a:gdLst/>
            <a:ahLst/>
            <a:cxnLst/>
            <a:rect l="l" t="t" r="r" b="b"/>
            <a:pathLst>
              <a:path w="624840" h="167004">
                <a:moveTo>
                  <a:pt x="92873" y="63648"/>
                </a:moveTo>
                <a:lnTo>
                  <a:pt x="0" y="135039"/>
                </a:lnTo>
                <a:lnTo>
                  <a:pt x="112836" y="166504"/>
                </a:lnTo>
                <a:lnTo>
                  <a:pt x="106828" y="135545"/>
                </a:lnTo>
                <a:lnTo>
                  <a:pt x="89039" y="135545"/>
                </a:lnTo>
                <a:lnTo>
                  <a:pt x="82105" y="135493"/>
                </a:lnTo>
                <a:lnTo>
                  <a:pt x="75943" y="132877"/>
                </a:lnTo>
                <a:lnTo>
                  <a:pt x="71212" y="128142"/>
                </a:lnTo>
                <a:lnTo>
                  <a:pt x="68569" y="121730"/>
                </a:lnTo>
                <a:lnTo>
                  <a:pt x="68622" y="114796"/>
                </a:lnTo>
                <a:lnTo>
                  <a:pt x="71238" y="108634"/>
                </a:lnTo>
                <a:lnTo>
                  <a:pt x="75974" y="103903"/>
                </a:lnTo>
                <a:lnTo>
                  <a:pt x="82386" y="101260"/>
                </a:lnTo>
                <a:lnTo>
                  <a:pt x="99528" y="97933"/>
                </a:lnTo>
                <a:lnTo>
                  <a:pt x="92873" y="63648"/>
                </a:lnTo>
                <a:close/>
              </a:path>
              <a:path w="624840" h="167004">
                <a:moveTo>
                  <a:pt x="99528" y="97933"/>
                </a:moveTo>
                <a:lnTo>
                  <a:pt x="68569" y="121730"/>
                </a:lnTo>
                <a:lnTo>
                  <a:pt x="71212" y="128142"/>
                </a:lnTo>
                <a:lnTo>
                  <a:pt x="75943" y="132877"/>
                </a:lnTo>
                <a:lnTo>
                  <a:pt x="82105" y="135493"/>
                </a:lnTo>
                <a:lnTo>
                  <a:pt x="89039" y="135545"/>
                </a:lnTo>
                <a:lnTo>
                  <a:pt x="106182" y="132218"/>
                </a:lnTo>
                <a:lnTo>
                  <a:pt x="99528" y="97933"/>
                </a:lnTo>
                <a:close/>
              </a:path>
              <a:path w="624840" h="167004">
                <a:moveTo>
                  <a:pt x="106182" y="132218"/>
                </a:moveTo>
                <a:lnTo>
                  <a:pt x="89039" y="135545"/>
                </a:lnTo>
                <a:lnTo>
                  <a:pt x="106828" y="135545"/>
                </a:lnTo>
                <a:lnTo>
                  <a:pt x="106182" y="132218"/>
                </a:lnTo>
                <a:close/>
              </a:path>
              <a:path w="624840" h="167004">
                <a:moveTo>
                  <a:pt x="604121" y="0"/>
                </a:moveTo>
                <a:lnTo>
                  <a:pt x="99528" y="97933"/>
                </a:lnTo>
                <a:lnTo>
                  <a:pt x="106182" y="132218"/>
                </a:lnTo>
                <a:lnTo>
                  <a:pt x="610776" y="34284"/>
                </a:lnTo>
                <a:lnTo>
                  <a:pt x="617187" y="31642"/>
                </a:lnTo>
                <a:lnTo>
                  <a:pt x="621923" y="26911"/>
                </a:lnTo>
                <a:lnTo>
                  <a:pt x="624539" y="20749"/>
                </a:lnTo>
                <a:lnTo>
                  <a:pt x="624591" y="13815"/>
                </a:lnTo>
                <a:lnTo>
                  <a:pt x="621948" y="7403"/>
                </a:lnTo>
                <a:lnTo>
                  <a:pt x="617217" y="2667"/>
                </a:lnTo>
                <a:lnTo>
                  <a:pt x="611055" y="51"/>
                </a:lnTo>
                <a:lnTo>
                  <a:pt x="604121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146023" y="4038452"/>
            <a:ext cx="104139" cy="315595"/>
          </a:xfrm>
          <a:custGeom>
            <a:avLst/>
            <a:gdLst/>
            <a:ahLst/>
            <a:cxnLst/>
            <a:rect l="l" t="t" r="r" b="b"/>
            <a:pathLst>
              <a:path w="104140" h="315595">
                <a:moveTo>
                  <a:pt x="34566" y="213949"/>
                </a:moveTo>
                <a:lnTo>
                  <a:pt x="0" y="218936"/>
                </a:lnTo>
                <a:lnTo>
                  <a:pt x="66812" y="315156"/>
                </a:lnTo>
                <a:lnTo>
                  <a:pt x="89749" y="246023"/>
                </a:lnTo>
                <a:lnTo>
                  <a:pt x="56837" y="246023"/>
                </a:lnTo>
                <a:lnTo>
                  <a:pt x="49914" y="245635"/>
                </a:lnTo>
                <a:lnTo>
                  <a:pt x="43885" y="242723"/>
                </a:lnTo>
                <a:lnTo>
                  <a:pt x="39389" y="237764"/>
                </a:lnTo>
                <a:lnTo>
                  <a:pt x="37059" y="231232"/>
                </a:lnTo>
                <a:lnTo>
                  <a:pt x="34566" y="213949"/>
                </a:lnTo>
                <a:close/>
              </a:path>
              <a:path w="104140" h="315595">
                <a:moveTo>
                  <a:pt x="69133" y="208962"/>
                </a:moveTo>
                <a:lnTo>
                  <a:pt x="34566" y="213949"/>
                </a:lnTo>
                <a:lnTo>
                  <a:pt x="37059" y="231232"/>
                </a:lnTo>
                <a:lnTo>
                  <a:pt x="39389" y="237764"/>
                </a:lnTo>
                <a:lnTo>
                  <a:pt x="43885" y="242723"/>
                </a:lnTo>
                <a:lnTo>
                  <a:pt x="49914" y="245635"/>
                </a:lnTo>
                <a:lnTo>
                  <a:pt x="56837" y="246023"/>
                </a:lnTo>
                <a:lnTo>
                  <a:pt x="63369" y="243693"/>
                </a:lnTo>
                <a:lnTo>
                  <a:pt x="68328" y="239197"/>
                </a:lnTo>
                <a:lnTo>
                  <a:pt x="71239" y="233168"/>
                </a:lnTo>
                <a:lnTo>
                  <a:pt x="71626" y="226245"/>
                </a:lnTo>
                <a:lnTo>
                  <a:pt x="69133" y="208962"/>
                </a:lnTo>
                <a:close/>
              </a:path>
              <a:path w="104140" h="315595">
                <a:moveTo>
                  <a:pt x="103700" y="203974"/>
                </a:moveTo>
                <a:lnTo>
                  <a:pt x="69133" y="208962"/>
                </a:lnTo>
                <a:lnTo>
                  <a:pt x="71626" y="226245"/>
                </a:lnTo>
                <a:lnTo>
                  <a:pt x="71239" y="233168"/>
                </a:lnTo>
                <a:lnTo>
                  <a:pt x="68328" y="239197"/>
                </a:lnTo>
                <a:lnTo>
                  <a:pt x="63369" y="243693"/>
                </a:lnTo>
                <a:lnTo>
                  <a:pt x="56837" y="246023"/>
                </a:lnTo>
                <a:lnTo>
                  <a:pt x="89749" y="246023"/>
                </a:lnTo>
                <a:lnTo>
                  <a:pt x="103700" y="203974"/>
                </a:lnTo>
                <a:close/>
              </a:path>
              <a:path w="104140" h="315595">
                <a:moveTo>
                  <a:pt x="21339" y="0"/>
                </a:moveTo>
                <a:lnTo>
                  <a:pt x="14808" y="2328"/>
                </a:lnTo>
                <a:lnTo>
                  <a:pt x="9849" y="6824"/>
                </a:lnTo>
                <a:lnTo>
                  <a:pt x="6937" y="12853"/>
                </a:lnTo>
                <a:lnTo>
                  <a:pt x="6550" y="19776"/>
                </a:lnTo>
                <a:lnTo>
                  <a:pt x="34566" y="213949"/>
                </a:lnTo>
                <a:lnTo>
                  <a:pt x="69133" y="208962"/>
                </a:lnTo>
                <a:lnTo>
                  <a:pt x="41117" y="14789"/>
                </a:lnTo>
                <a:lnTo>
                  <a:pt x="38788" y="8257"/>
                </a:lnTo>
                <a:lnTo>
                  <a:pt x="34291" y="3298"/>
                </a:lnTo>
                <a:lnTo>
                  <a:pt x="28263" y="387"/>
                </a:lnTo>
                <a:lnTo>
                  <a:pt x="21339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069984" y="4044450"/>
            <a:ext cx="103505" cy="316230"/>
          </a:xfrm>
          <a:custGeom>
            <a:avLst/>
            <a:gdLst/>
            <a:ahLst/>
            <a:cxnLst/>
            <a:rect l="l" t="t" r="r" b="b"/>
            <a:pathLst>
              <a:path w="103504" h="316229">
                <a:moveTo>
                  <a:pt x="68869" y="100386"/>
                </a:moveTo>
                <a:lnTo>
                  <a:pt x="34435" y="106219"/>
                </a:lnTo>
                <a:lnTo>
                  <a:pt x="67508" y="301486"/>
                </a:lnTo>
                <a:lnTo>
                  <a:pt x="69996" y="307958"/>
                </a:lnTo>
                <a:lnTo>
                  <a:pt x="74612" y="312806"/>
                </a:lnTo>
                <a:lnTo>
                  <a:pt x="80710" y="315568"/>
                </a:lnTo>
                <a:lnTo>
                  <a:pt x="87641" y="315786"/>
                </a:lnTo>
                <a:lnTo>
                  <a:pt x="94114" y="313298"/>
                </a:lnTo>
                <a:lnTo>
                  <a:pt x="98962" y="308681"/>
                </a:lnTo>
                <a:lnTo>
                  <a:pt x="101724" y="302584"/>
                </a:lnTo>
                <a:lnTo>
                  <a:pt x="101942" y="295653"/>
                </a:lnTo>
                <a:lnTo>
                  <a:pt x="68869" y="100386"/>
                </a:lnTo>
                <a:close/>
              </a:path>
              <a:path w="103504" h="316229">
                <a:moveTo>
                  <a:pt x="34155" y="0"/>
                </a:moveTo>
                <a:lnTo>
                  <a:pt x="0" y="112052"/>
                </a:lnTo>
                <a:lnTo>
                  <a:pt x="34435" y="106219"/>
                </a:lnTo>
                <a:lnTo>
                  <a:pt x="31518" y="89001"/>
                </a:lnTo>
                <a:lnTo>
                  <a:pt x="31736" y="82070"/>
                </a:lnTo>
                <a:lnTo>
                  <a:pt x="34500" y="75973"/>
                </a:lnTo>
                <a:lnTo>
                  <a:pt x="39347" y="71356"/>
                </a:lnTo>
                <a:lnTo>
                  <a:pt x="45820" y="68868"/>
                </a:lnTo>
                <a:lnTo>
                  <a:pt x="84519" y="68868"/>
                </a:lnTo>
                <a:lnTo>
                  <a:pt x="34155" y="0"/>
                </a:lnTo>
                <a:close/>
              </a:path>
              <a:path w="103504" h="316229">
                <a:moveTo>
                  <a:pt x="45820" y="68868"/>
                </a:moveTo>
                <a:lnTo>
                  <a:pt x="39347" y="71356"/>
                </a:lnTo>
                <a:lnTo>
                  <a:pt x="34500" y="75973"/>
                </a:lnTo>
                <a:lnTo>
                  <a:pt x="31736" y="82070"/>
                </a:lnTo>
                <a:lnTo>
                  <a:pt x="31518" y="89001"/>
                </a:lnTo>
                <a:lnTo>
                  <a:pt x="34435" y="106219"/>
                </a:lnTo>
                <a:lnTo>
                  <a:pt x="68869" y="100386"/>
                </a:lnTo>
                <a:lnTo>
                  <a:pt x="65953" y="83169"/>
                </a:lnTo>
                <a:lnTo>
                  <a:pt x="63465" y="76697"/>
                </a:lnTo>
                <a:lnTo>
                  <a:pt x="58848" y="71849"/>
                </a:lnTo>
                <a:lnTo>
                  <a:pt x="52751" y="69086"/>
                </a:lnTo>
                <a:lnTo>
                  <a:pt x="45820" y="68868"/>
                </a:lnTo>
                <a:close/>
              </a:path>
              <a:path w="103504" h="316229">
                <a:moveTo>
                  <a:pt x="84519" y="68868"/>
                </a:moveTo>
                <a:lnTo>
                  <a:pt x="45820" y="68868"/>
                </a:lnTo>
                <a:lnTo>
                  <a:pt x="52751" y="69086"/>
                </a:lnTo>
                <a:lnTo>
                  <a:pt x="58848" y="71849"/>
                </a:lnTo>
                <a:lnTo>
                  <a:pt x="63465" y="76697"/>
                </a:lnTo>
                <a:lnTo>
                  <a:pt x="65953" y="83169"/>
                </a:lnTo>
                <a:lnTo>
                  <a:pt x="68869" y="100386"/>
                </a:lnTo>
                <a:lnTo>
                  <a:pt x="103304" y="94554"/>
                </a:lnTo>
                <a:lnTo>
                  <a:pt x="84519" y="68868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471980" y="4290616"/>
            <a:ext cx="546100" cy="104775"/>
          </a:xfrm>
          <a:custGeom>
            <a:avLst/>
            <a:gdLst/>
            <a:ahLst/>
            <a:cxnLst/>
            <a:rect l="l" t="t" r="r" b="b"/>
            <a:pathLst>
              <a:path w="546100" h="104775">
                <a:moveTo>
                  <a:pt x="100754" y="0"/>
                </a:moveTo>
                <a:lnTo>
                  <a:pt x="0" y="59756"/>
                </a:lnTo>
                <a:lnTo>
                  <a:pt x="108258" y="104505"/>
                </a:lnTo>
                <a:lnTo>
                  <a:pt x="105846" y="70920"/>
                </a:lnTo>
                <a:lnTo>
                  <a:pt x="88338" y="70920"/>
                </a:lnTo>
                <a:lnTo>
                  <a:pt x="81460" y="70038"/>
                </a:lnTo>
                <a:lnTo>
                  <a:pt x="75656" y="66703"/>
                </a:lnTo>
                <a:lnTo>
                  <a:pt x="71526" y="61435"/>
                </a:lnTo>
                <a:lnTo>
                  <a:pt x="69670" y="54753"/>
                </a:lnTo>
                <a:lnTo>
                  <a:pt x="70552" y="47875"/>
                </a:lnTo>
                <a:lnTo>
                  <a:pt x="73887" y="42071"/>
                </a:lnTo>
                <a:lnTo>
                  <a:pt x="79156" y="37941"/>
                </a:lnTo>
                <a:lnTo>
                  <a:pt x="85838" y="36085"/>
                </a:lnTo>
                <a:lnTo>
                  <a:pt x="103255" y="34835"/>
                </a:lnTo>
                <a:lnTo>
                  <a:pt x="100754" y="0"/>
                </a:lnTo>
                <a:close/>
              </a:path>
              <a:path w="546100" h="104775">
                <a:moveTo>
                  <a:pt x="103255" y="34835"/>
                </a:moveTo>
                <a:lnTo>
                  <a:pt x="69670" y="54753"/>
                </a:lnTo>
                <a:lnTo>
                  <a:pt x="71526" y="61435"/>
                </a:lnTo>
                <a:lnTo>
                  <a:pt x="75656" y="66703"/>
                </a:lnTo>
                <a:lnTo>
                  <a:pt x="81460" y="70038"/>
                </a:lnTo>
                <a:lnTo>
                  <a:pt x="88338" y="70920"/>
                </a:lnTo>
                <a:lnTo>
                  <a:pt x="105757" y="69669"/>
                </a:lnTo>
                <a:lnTo>
                  <a:pt x="103255" y="34835"/>
                </a:lnTo>
                <a:close/>
              </a:path>
              <a:path w="546100" h="104775">
                <a:moveTo>
                  <a:pt x="105757" y="69669"/>
                </a:moveTo>
                <a:lnTo>
                  <a:pt x="88338" y="70920"/>
                </a:lnTo>
                <a:lnTo>
                  <a:pt x="105846" y="70920"/>
                </a:lnTo>
                <a:lnTo>
                  <a:pt x="105757" y="69669"/>
                </a:lnTo>
                <a:close/>
              </a:path>
              <a:path w="546100" h="104775">
                <a:moveTo>
                  <a:pt x="526818" y="4419"/>
                </a:moveTo>
                <a:lnTo>
                  <a:pt x="103255" y="34835"/>
                </a:lnTo>
                <a:lnTo>
                  <a:pt x="105757" y="69669"/>
                </a:lnTo>
                <a:lnTo>
                  <a:pt x="529319" y="39255"/>
                </a:lnTo>
                <a:lnTo>
                  <a:pt x="536001" y="37399"/>
                </a:lnTo>
                <a:lnTo>
                  <a:pt x="541269" y="33269"/>
                </a:lnTo>
                <a:lnTo>
                  <a:pt x="544604" y="27464"/>
                </a:lnTo>
                <a:lnTo>
                  <a:pt x="545486" y="20586"/>
                </a:lnTo>
                <a:lnTo>
                  <a:pt x="543630" y="13905"/>
                </a:lnTo>
                <a:lnTo>
                  <a:pt x="539500" y="8636"/>
                </a:lnTo>
                <a:lnTo>
                  <a:pt x="533696" y="5301"/>
                </a:lnTo>
                <a:lnTo>
                  <a:pt x="526818" y="4419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457474" y="4210012"/>
            <a:ext cx="544830" cy="106045"/>
          </a:xfrm>
          <a:custGeom>
            <a:avLst/>
            <a:gdLst/>
            <a:ahLst/>
            <a:cxnLst/>
            <a:rect l="l" t="t" r="r" b="b"/>
            <a:pathLst>
              <a:path w="544829" h="106045">
                <a:moveTo>
                  <a:pt x="438713" y="34797"/>
                </a:moveTo>
                <a:lnTo>
                  <a:pt x="15906" y="71051"/>
                </a:lnTo>
                <a:lnTo>
                  <a:pt x="0" y="89942"/>
                </a:lnTo>
                <a:lnTo>
                  <a:pt x="1947" y="96597"/>
                </a:lnTo>
                <a:lnTo>
                  <a:pt x="6150" y="101808"/>
                </a:lnTo>
                <a:lnTo>
                  <a:pt x="12000" y="105062"/>
                </a:lnTo>
                <a:lnTo>
                  <a:pt x="18889" y="105849"/>
                </a:lnTo>
                <a:lnTo>
                  <a:pt x="441697" y="69594"/>
                </a:lnTo>
                <a:lnTo>
                  <a:pt x="438713" y="34797"/>
                </a:lnTo>
                <a:close/>
              </a:path>
              <a:path w="544829" h="106045">
                <a:moveTo>
                  <a:pt x="519576" y="33305"/>
                </a:moveTo>
                <a:lnTo>
                  <a:pt x="456112" y="33305"/>
                </a:lnTo>
                <a:lnTo>
                  <a:pt x="463002" y="34092"/>
                </a:lnTo>
                <a:lnTo>
                  <a:pt x="468852" y="37346"/>
                </a:lnTo>
                <a:lnTo>
                  <a:pt x="473054" y="42556"/>
                </a:lnTo>
                <a:lnTo>
                  <a:pt x="475002" y="49212"/>
                </a:lnTo>
                <a:lnTo>
                  <a:pt x="474216" y="56101"/>
                </a:lnTo>
                <a:lnTo>
                  <a:pt x="470961" y="61951"/>
                </a:lnTo>
                <a:lnTo>
                  <a:pt x="465751" y="66154"/>
                </a:lnTo>
                <a:lnTo>
                  <a:pt x="459096" y="68102"/>
                </a:lnTo>
                <a:lnTo>
                  <a:pt x="441697" y="69594"/>
                </a:lnTo>
                <a:lnTo>
                  <a:pt x="444681" y="104391"/>
                </a:lnTo>
                <a:lnTo>
                  <a:pt x="544597" y="43244"/>
                </a:lnTo>
                <a:lnTo>
                  <a:pt x="519576" y="33305"/>
                </a:lnTo>
                <a:close/>
              </a:path>
              <a:path w="544829" h="106045">
                <a:moveTo>
                  <a:pt x="456112" y="33305"/>
                </a:moveTo>
                <a:lnTo>
                  <a:pt x="438713" y="34797"/>
                </a:lnTo>
                <a:lnTo>
                  <a:pt x="441697" y="69594"/>
                </a:lnTo>
                <a:lnTo>
                  <a:pt x="459096" y="68102"/>
                </a:lnTo>
                <a:lnTo>
                  <a:pt x="465751" y="66154"/>
                </a:lnTo>
                <a:lnTo>
                  <a:pt x="470961" y="61951"/>
                </a:lnTo>
                <a:lnTo>
                  <a:pt x="474216" y="56101"/>
                </a:lnTo>
                <a:lnTo>
                  <a:pt x="475002" y="49212"/>
                </a:lnTo>
                <a:lnTo>
                  <a:pt x="473054" y="42556"/>
                </a:lnTo>
                <a:lnTo>
                  <a:pt x="468852" y="37346"/>
                </a:lnTo>
                <a:lnTo>
                  <a:pt x="463002" y="34092"/>
                </a:lnTo>
                <a:lnTo>
                  <a:pt x="456112" y="33305"/>
                </a:lnTo>
                <a:close/>
              </a:path>
              <a:path w="544829" h="106045">
                <a:moveTo>
                  <a:pt x="435729" y="0"/>
                </a:moveTo>
                <a:lnTo>
                  <a:pt x="438713" y="34797"/>
                </a:lnTo>
                <a:lnTo>
                  <a:pt x="456112" y="33305"/>
                </a:lnTo>
                <a:lnTo>
                  <a:pt x="519576" y="33305"/>
                </a:lnTo>
                <a:lnTo>
                  <a:pt x="435729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608218" y="3989927"/>
            <a:ext cx="497205" cy="245745"/>
          </a:xfrm>
          <a:custGeom>
            <a:avLst/>
            <a:gdLst/>
            <a:ahLst/>
            <a:cxnLst/>
            <a:rect l="l" t="t" r="r" b="b"/>
            <a:pathLst>
              <a:path w="497204" h="245745">
                <a:moveTo>
                  <a:pt x="102250" y="31607"/>
                </a:moveTo>
                <a:lnTo>
                  <a:pt x="87392" y="63213"/>
                </a:lnTo>
                <a:lnTo>
                  <a:pt x="471704" y="243869"/>
                </a:lnTo>
                <a:lnTo>
                  <a:pt x="478439" y="245519"/>
                </a:lnTo>
                <a:lnTo>
                  <a:pt x="485054" y="244493"/>
                </a:lnTo>
                <a:lnTo>
                  <a:pt x="490802" y="241062"/>
                </a:lnTo>
                <a:lnTo>
                  <a:pt x="494936" y="235494"/>
                </a:lnTo>
                <a:lnTo>
                  <a:pt x="496586" y="228759"/>
                </a:lnTo>
                <a:lnTo>
                  <a:pt x="495561" y="222143"/>
                </a:lnTo>
                <a:lnTo>
                  <a:pt x="492129" y="216395"/>
                </a:lnTo>
                <a:lnTo>
                  <a:pt x="486562" y="212262"/>
                </a:lnTo>
                <a:lnTo>
                  <a:pt x="102250" y="31607"/>
                </a:lnTo>
                <a:close/>
              </a:path>
              <a:path w="497204" h="245745">
                <a:moveTo>
                  <a:pt x="117107" y="0"/>
                </a:moveTo>
                <a:lnTo>
                  <a:pt x="0" y="2837"/>
                </a:lnTo>
                <a:lnTo>
                  <a:pt x="72534" y="94820"/>
                </a:lnTo>
                <a:lnTo>
                  <a:pt x="87392" y="63213"/>
                </a:lnTo>
                <a:lnTo>
                  <a:pt x="71589" y="55784"/>
                </a:lnTo>
                <a:lnTo>
                  <a:pt x="66021" y="51651"/>
                </a:lnTo>
                <a:lnTo>
                  <a:pt x="62590" y="45903"/>
                </a:lnTo>
                <a:lnTo>
                  <a:pt x="61564" y="39288"/>
                </a:lnTo>
                <a:lnTo>
                  <a:pt x="63214" y="32552"/>
                </a:lnTo>
                <a:lnTo>
                  <a:pt x="67348" y="26985"/>
                </a:lnTo>
                <a:lnTo>
                  <a:pt x="73096" y="23553"/>
                </a:lnTo>
                <a:lnTo>
                  <a:pt x="79711" y="22528"/>
                </a:lnTo>
                <a:lnTo>
                  <a:pt x="106517" y="22528"/>
                </a:lnTo>
                <a:lnTo>
                  <a:pt x="117107" y="0"/>
                </a:lnTo>
                <a:close/>
              </a:path>
              <a:path w="497204" h="245745">
                <a:moveTo>
                  <a:pt x="79711" y="22528"/>
                </a:moveTo>
                <a:lnTo>
                  <a:pt x="73096" y="23553"/>
                </a:lnTo>
                <a:lnTo>
                  <a:pt x="67348" y="26985"/>
                </a:lnTo>
                <a:lnTo>
                  <a:pt x="63214" y="32552"/>
                </a:lnTo>
                <a:lnTo>
                  <a:pt x="61564" y="39288"/>
                </a:lnTo>
                <a:lnTo>
                  <a:pt x="62590" y="45903"/>
                </a:lnTo>
                <a:lnTo>
                  <a:pt x="66021" y="51651"/>
                </a:lnTo>
                <a:lnTo>
                  <a:pt x="71589" y="55784"/>
                </a:lnTo>
                <a:lnTo>
                  <a:pt x="87392" y="63213"/>
                </a:lnTo>
                <a:lnTo>
                  <a:pt x="102250" y="31607"/>
                </a:lnTo>
                <a:lnTo>
                  <a:pt x="86446" y="24178"/>
                </a:lnTo>
                <a:lnTo>
                  <a:pt x="79711" y="22528"/>
                </a:lnTo>
                <a:close/>
              </a:path>
              <a:path w="497204" h="245745">
                <a:moveTo>
                  <a:pt x="106517" y="22528"/>
                </a:moveTo>
                <a:lnTo>
                  <a:pt x="79711" y="22528"/>
                </a:lnTo>
                <a:lnTo>
                  <a:pt x="86446" y="24178"/>
                </a:lnTo>
                <a:lnTo>
                  <a:pt x="102250" y="31607"/>
                </a:lnTo>
                <a:lnTo>
                  <a:pt x="106517" y="22528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620522" y="3928091"/>
            <a:ext cx="499745" cy="240665"/>
          </a:xfrm>
          <a:custGeom>
            <a:avLst/>
            <a:gdLst/>
            <a:ahLst/>
            <a:cxnLst/>
            <a:rect l="l" t="t" r="r" b="b"/>
            <a:pathLst>
              <a:path w="499745" h="240664">
                <a:moveTo>
                  <a:pt x="396759" y="208556"/>
                </a:moveTo>
                <a:lnTo>
                  <a:pt x="382341" y="240365"/>
                </a:lnTo>
                <a:lnTo>
                  <a:pt x="499398" y="235906"/>
                </a:lnTo>
                <a:lnTo>
                  <a:pt x="484321" y="217322"/>
                </a:lnTo>
                <a:lnTo>
                  <a:pt x="419422" y="217322"/>
                </a:lnTo>
                <a:lnTo>
                  <a:pt x="412665" y="215765"/>
                </a:lnTo>
                <a:lnTo>
                  <a:pt x="396759" y="208556"/>
                </a:lnTo>
                <a:close/>
              </a:path>
              <a:path w="499745" h="240664">
                <a:moveTo>
                  <a:pt x="411178" y="176746"/>
                </a:moveTo>
                <a:lnTo>
                  <a:pt x="396759" y="208556"/>
                </a:lnTo>
                <a:lnTo>
                  <a:pt x="412665" y="215765"/>
                </a:lnTo>
                <a:lnTo>
                  <a:pt x="419422" y="217322"/>
                </a:lnTo>
                <a:lnTo>
                  <a:pt x="426023" y="216204"/>
                </a:lnTo>
                <a:lnTo>
                  <a:pt x="431723" y="212694"/>
                </a:lnTo>
                <a:lnTo>
                  <a:pt x="435779" y="207070"/>
                </a:lnTo>
                <a:lnTo>
                  <a:pt x="437335" y="200312"/>
                </a:lnTo>
                <a:lnTo>
                  <a:pt x="436218" y="193712"/>
                </a:lnTo>
                <a:lnTo>
                  <a:pt x="432707" y="188012"/>
                </a:lnTo>
                <a:lnTo>
                  <a:pt x="427083" y="183956"/>
                </a:lnTo>
                <a:lnTo>
                  <a:pt x="411178" y="176746"/>
                </a:lnTo>
                <a:close/>
              </a:path>
              <a:path w="499745" h="240664">
                <a:moveTo>
                  <a:pt x="425596" y="144936"/>
                </a:moveTo>
                <a:lnTo>
                  <a:pt x="411178" y="176746"/>
                </a:lnTo>
                <a:lnTo>
                  <a:pt x="427083" y="183956"/>
                </a:lnTo>
                <a:lnTo>
                  <a:pt x="432707" y="188012"/>
                </a:lnTo>
                <a:lnTo>
                  <a:pt x="436218" y="193712"/>
                </a:lnTo>
                <a:lnTo>
                  <a:pt x="437335" y="200312"/>
                </a:lnTo>
                <a:lnTo>
                  <a:pt x="435779" y="207070"/>
                </a:lnTo>
                <a:lnTo>
                  <a:pt x="431723" y="212694"/>
                </a:lnTo>
                <a:lnTo>
                  <a:pt x="426023" y="216204"/>
                </a:lnTo>
                <a:lnTo>
                  <a:pt x="419422" y="217322"/>
                </a:lnTo>
                <a:lnTo>
                  <a:pt x="484321" y="217322"/>
                </a:lnTo>
                <a:lnTo>
                  <a:pt x="425596" y="144936"/>
                </a:lnTo>
                <a:close/>
              </a:path>
              <a:path w="499745" h="240664">
                <a:moveTo>
                  <a:pt x="17912" y="0"/>
                </a:moveTo>
                <a:lnTo>
                  <a:pt x="11312" y="1116"/>
                </a:lnTo>
                <a:lnTo>
                  <a:pt x="5612" y="4627"/>
                </a:lnTo>
                <a:lnTo>
                  <a:pt x="1556" y="10251"/>
                </a:lnTo>
                <a:lnTo>
                  <a:pt x="0" y="17009"/>
                </a:lnTo>
                <a:lnTo>
                  <a:pt x="1116" y="23609"/>
                </a:lnTo>
                <a:lnTo>
                  <a:pt x="4627" y="29309"/>
                </a:lnTo>
                <a:lnTo>
                  <a:pt x="10251" y="33365"/>
                </a:lnTo>
                <a:lnTo>
                  <a:pt x="396759" y="208556"/>
                </a:lnTo>
                <a:lnTo>
                  <a:pt x="411178" y="176746"/>
                </a:lnTo>
                <a:lnTo>
                  <a:pt x="24670" y="1556"/>
                </a:lnTo>
                <a:lnTo>
                  <a:pt x="17912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430167" y="4533591"/>
            <a:ext cx="263525" cy="191135"/>
          </a:xfrm>
          <a:custGeom>
            <a:avLst/>
            <a:gdLst/>
            <a:ahLst/>
            <a:cxnLst/>
            <a:rect l="l" t="t" r="r" b="b"/>
            <a:pathLst>
              <a:path w="263525" h="191135">
                <a:moveTo>
                  <a:pt x="167535" y="144460"/>
                </a:moveTo>
                <a:lnTo>
                  <a:pt x="147422" y="173013"/>
                </a:lnTo>
                <a:lnTo>
                  <a:pt x="263247" y="190522"/>
                </a:lnTo>
                <a:lnTo>
                  <a:pt x="245457" y="157446"/>
                </a:lnTo>
                <a:lnTo>
                  <a:pt x="194851" y="157446"/>
                </a:lnTo>
                <a:lnTo>
                  <a:pt x="188158" y="157309"/>
                </a:lnTo>
                <a:lnTo>
                  <a:pt x="181811" y="154516"/>
                </a:lnTo>
                <a:lnTo>
                  <a:pt x="167535" y="144460"/>
                </a:lnTo>
                <a:close/>
              </a:path>
              <a:path w="263525" h="191135">
                <a:moveTo>
                  <a:pt x="187648" y="115908"/>
                </a:moveTo>
                <a:lnTo>
                  <a:pt x="167535" y="144460"/>
                </a:lnTo>
                <a:lnTo>
                  <a:pt x="181811" y="154516"/>
                </a:lnTo>
                <a:lnTo>
                  <a:pt x="188158" y="157309"/>
                </a:lnTo>
                <a:lnTo>
                  <a:pt x="194851" y="157446"/>
                </a:lnTo>
                <a:lnTo>
                  <a:pt x="201107" y="155063"/>
                </a:lnTo>
                <a:lnTo>
                  <a:pt x="206143" y="150296"/>
                </a:lnTo>
                <a:lnTo>
                  <a:pt x="208936" y="143949"/>
                </a:lnTo>
                <a:lnTo>
                  <a:pt x="209073" y="137256"/>
                </a:lnTo>
                <a:lnTo>
                  <a:pt x="206690" y="131000"/>
                </a:lnTo>
                <a:lnTo>
                  <a:pt x="201924" y="125964"/>
                </a:lnTo>
                <a:lnTo>
                  <a:pt x="187648" y="115908"/>
                </a:lnTo>
                <a:close/>
              </a:path>
              <a:path w="263525" h="191135">
                <a:moveTo>
                  <a:pt x="207760" y="87356"/>
                </a:moveTo>
                <a:lnTo>
                  <a:pt x="187648" y="115908"/>
                </a:lnTo>
                <a:lnTo>
                  <a:pt x="201924" y="125964"/>
                </a:lnTo>
                <a:lnTo>
                  <a:pt x="206690" y="131000"/>
                </a:lnTo>
                <a:lnTo>
                  <a:pt x="209073" y="137256"/>
                </a:lnTo>
                <a:lnTo>
                  <a:pt x="208936" y="143949"/>
                </a:lnTo>
                <a:lnTo>
                  <a:pt x="206143" y="150296"/>
                </a:lnTo>
                <a:lnTo>
                  <a:pt x="201107" y="155063"/>
                </a:lnTo>
                <a:lnTo>
                  <a:pt x="194851" y="157446"/>
                </a:lnTo>
                <a:lnTo>
                  <a:pt x="245457" y="157446"/>
                </a:lnTo>
                <a:lnTo>
                  <a:pt x="207760" y="87356"/>
                </a:lnTo>
                <a:close/>
              </a:path>
              <a:path w="263525" h="191135">
                <a:moveTo>
                  <a:pt x="14221" y="0"/>
                </a:moveTo>
                <a:lnTo>
                  <a:pt x="7965" y="2382"/>
                </a:lnTo>
                <a:lnTo>
                  <a:pt x="2929" y="7149"/>
                </a:lnTo>
                <a:lnTo>
                  <a:pt x="137" y="13496"/>
                </a:lnTo>
                <a:lnTo>
                  <a:pt x="0" y="20189"/>
                </a:lnTo>
                <a:lnTo>
                  <a:pt x="2382" y="26445"/>
                </a:lnTo>
                <a:lnTo>
                  <a:pt x="7149" y="31481"/>
                </a:lnTo>
                <a:lnTo>
                  <a:pt x="167535" y="144460"/>
                </a:lnTo>
                <a:lnTo>
                  <a:pt x="187648" y="115908"/>
                </a:lnTo>
                <a:lnTo>
                  <a:pt x="27261" y="2929"/>
                </a:lnTo>
                <a:lnTo>
                  <a:pt x="20914" y="137"/>
                </a:lnTo>
                <a:lnTo>
                  <a:pt x="14221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394039" y="4590817"/>
            <a:ext cx="269240" cy="186055"/>
          </a:xfrm>
          <a:custGeom>
            <a:avLst/>
            <a:gdLst/>
            <a:ahLst/>
            <a:cxnLst/>
            <a:rect l="l" t="t" r="r" b="b"/>
            <a:pathLst>
              <a:path w="269240" h="186054">
                <a:moveTo>
                  <a:pt x="96812" y="43705"/>
                </a:moveTo>
                <a:lnTo>
                  <a:pt x="77404" y="72741"/>
                </a:lnTo>
                <a:lnTo>
                  <a:pt x="242059" y="182794"/>
                </a:lnTo>
                <a:lnTo>
                  <a:pt x="248472" y="185431"/>
                </a:lnTo>
                <a:lnTo>
                  <a:pt x="255166" y="185404"/>
                </a:lnTo>
                <a:lnTo>
                  <a:pt x="261362" y="182869"/>
                </a:lnTo>
                <a:lnTo>
                  <a:pt x="266280" y="177980"/>
                </a:lnTo>
                <a:lnTo>
                  <a:pt x="268917" y="171567"/>
                </a:lnTo>
                <a:lnTo>
                  <a:pt x="268890" y="164872"/>
                </a:lnTo>
                <a:lnTo>
                  <a:pt x="266355" y="158677"/>
                </a:lnTo>
                <a:lnTo>
                  <a:pt x="261466" y="153758"/>
                </a:lnTo>
                <a:lnTo>
                  <a:pt x="96812" y="43705"/>
                </a:lnTo>
                <a:close/>
              </a:path>
              <a:path w="269240" h="186054">
                <a:moveTo>
                  <a:pt x="0" y="0"/>
                </a:moveTo>
                <a:lnTo>
                  <a:pt x="57997" y="101777"/>
                </a:lnTo>
                <a:lnTo>
                  <a:pt x="77404" y="72741"/>
                </a:lnTo>
                <a:lnTo>
                  <a:pt x="62886" y="63037"/>
                </a:lnTo>
                <a:lnTo>
                  <a:pt x="57998" y="58119"/>
                </a:lnTo>
                <a:lnTo>
                  <a:pt x="55463" y="51923"/>
                </a:lnTo>
                <a:lnTo>
                  <a:pt x="55436" y="45229"/>
                </a:lnTo>
                <a:lnTo>
                  <a:pt x="58072" y="38815"/>
                </a:lnTo>
                <a:lnTo>
                  <a:pt x="62990" y="33926"/>
                </a:lnTo>
                <a:lnTo>
                  <a:pt x="69186" y="31392"/>
                </a:lnTo>
                <a:lnTo>
                  <a:pt x="105060" y="31365"/>
                </a:lnTo>
                <a:lnTo>
                  <a:pt x="116220" y="14668"/>
                </a:lnTo>
                <a:lnTo>
                  <a:pt x="0" y="0"/>
                </a:lnTo>
                <a:close/>
              </a:path>
              <a:path w="269240" h="186054">
                <a:moveTo>
                  <a:pt x="75880" y="31365"/>
                </a:moveTo>
                <a:lnTo>
                  <a:pt x="69186" y="31392"/>
                </a:lnTo>
                <a:lnTo>
                  <a:pt x="62990" y="33926"/>
                </a:lnTo>
                <a:lnTo>
                  <a:pt x="58072" y="38815"/>
                </a:lnTo>
                <a:lnTo>
                  <a:pt x="55436" y="45229"/>
                </a:lnTo>
                <a:lnTo>
                  <a:pt x="55463" y="51923"/>
                </a:lnTo>
                <a:lnTo>
                  <a:pt x="57998" y="58119"/>
                </a:lnTo>
                <a:lnTo>
                  <a:pt x="62886" y="63037"/>
                </a:lnTo>
                <a:lnTo>
                  <a:pt x="77404" y="72741"/>
                </a:lnTo>
                <a:lnTo>
                  <a:pt x="96812" y="43705"/>
                </a:lnTo>
                <a:lnTo>
                  <a:pt x="82294" y="34001"/>
                </a:lnTo>
                <a:lnTo>
                  <a:pt x="75880" y="31365"/>
                </a:lnTo>
                <a:close/>
              </a:path>
              <a:path w="269240" h="186054">
                <a:moveTo>
                  <a:pt x="105060" y="31365"/>
                </a:moveTo>
                <a:lnTo>
                  <a:pt x="75880" y="31365"/>
                </a:lnTo>
                <a:lnTo>
                  <a:pt x="82294" y="34001"/>
                </a:lnTo>
                <a:lnTo>
                  <a:pt x="96812" y="43705"/>
                </a:lnTo>
                <a:lnTo>
                  <a:pt x="105060" y="31365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8029545" y="4437602"/>
            <a:ext cx="201295" cy="273050"/>
          </a:xfrm>
          <a:custGeom>
            <a:avLst/>
            <a:gdLst/>
            <a:ahLst/>
            <a:cxnLst/>
            <a:rect l="l" t="t" r="r" b="b"/>
            <a:pathLst>
              <a:path w="201295" h="273050">
                <a:moveTo>
                  <a:pt x="18601" y="157379"/>
                </a:moveTo>
                <a:lnTo>
                  <a:pt x="0" y="273035"/>
                </a:lnTo>
                <a:lnTo>
                  <a:pt x="102084" y="219365"/>
                </a:lnTo>
                <a:lnTo>
                  <a:pt x="53773" y="219365"/>
                </a:lnTo>
                <a:lnTo>
                  <a:pt x="47082" y="219165"/>
                </a:lnTo>
                <a:lnTo>
                  <a:pt x="40761" y="216312"/>
                </a:lnTo>
                <a:lnTo>
                  <a:pt x="36042" y="211231"/>
                </a:lnTo>
                <a:lnTo>
                  <a:pt x="33719" y="204953"/>
                </a:lnTo>
                <a:lnTo>
                  <a:pt x="33919" y="198262"/>
                </a:lnTo>
                <a:lnTo>
                  <a:pt x="36771" y="191941"/>
                </a:lnTo>
                <a:lnTo>
                  <a:pt x="46962" y="177760"/>
                </a:lnTo>
                <a:lnTo>
                  <a:pt x="18601" y="157379"/>
                </a:lnTo>
                <a:close/>
              </a:path>
              <a:path w="201295" h="273050">
                <a:moveTo>
                  <a:pt x="46962" y="177760"/>
                </a:moveTo>
                <a:lnTo>
                  <a:pt x="36771" y="191941"/>
                </a:lnTo>
                <a:lnTo>
                  <a:pt x="33919" y="198262"/>
                </a:lnTo>
                <a:lnTo>
                  <a:pt x="33719" y="204953"/>
                </a:lnTo>
                <a:lnTo>
                  <a:pt x="36042" y="211231"/>
                </a:lnTo>
                <a:lnTo>
                  <a:pt x="40761" y="216312"/>
                </a:lnTo>
                <a:lnTo>
                  <a:pt x="47082" y="219165"/>
                </a:lnTo>
                <a:lnTo>
                  <a:pt x="53773" y="219365"/>
                </a:lnTo>
                <a:lnTo>
                  <a:pt x="60052" y="217041"/>
                </a:lnTo>
                <a:lnTo>
                  <a:pt x="65133" y="212323"/>
                </a:lnTo>
                <a:lnTo>
                  <a:pt x="75324" y="198142"/>
                </a:lnTo>
                <a:lnTo>
                  <a:pt x="46962" y="177760"/>
                </a:lnTo>
                <a:close/>
              </a:path>
              <a:path w="201295" h="273050">
                <a:moveTo>
                  <a:pt x="75324" y="198142"/>
                </a:moveTo>
                <a:lnTo>
                  <a:pt x="65133" y="212323"/>
                </a:lnTo>
                <a:lnTo>
                  <a:pt x="60052" y="217041"/>
                </a:lnTo>
                <a:lnTo>
                  <a:pt x="53773" y="219365"/>
                </a:lnTo>
                <a:lnTo>
                  <a:pt x="102084" y="219365"/>
                </a:lnTo>
                <a:lnTo>
                  <a:pt x="103685" y="218523"/>
                </a:lnTo>
                <a:lnTo>
                  <a:pt x="75324" y="198142"/>
                </a:lnTo>
                <a:close/>
              </a:path>
              <a:path w="201295" h="273050">
                <a:moveTo>
                  <a:pt x="181004" y="0"/>
                </a:moveTo>
                <a:lnTo>
                  <a:pt x="174726" y="2323"/>
                </a:lnTo>
                <a:lnTo>
                  <a:pt x="169645" y="7041"/>
                </a:lnTo>
                <a:lnTo>
                  <a:pt x="46962" y="177760"/>
                </a:lnTo>
                <a:lnTo>
                  <a:pt x="75324" y="198142"/>
                </a:lnTo>
                <a:lnTo>
                  <a:pt x="198006" y="27422"/>
                </a:lnTo>
                <a:lnTo>
                  <a:pt x="200858" y="21102"/>
                </a:lnTo>
                <a:lnTo>
                  <a:pt x="201059" y="14411"/>
                </a:lnTo>
                <a:lnTo>
                  <a:pt x="198735" y="8133"/>
                </a:lnTo>
                <a:lnTo>
                  <a:pt x="194016" y="3051"/>
                </a:lnTo>
                <a:lnTo>
                  <a:pt x="187695" y="199"/>
                </a:lnTo>
                <a:lnTo>
                  <a:pt x="18100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977990" y="4405778"/>
            <a:ext cx="196215" cy="278765"/>
          </a:xfrm>
          <a:custGeom>
            <a:avLst/>
            <a:gdLst/>
            <a:ahLst/>
            <a:cxnLst/>
            <a:rect l="l" t="t" r="r" b="b"/>
            <a:pathLst>
              <a:path w="196215" h="278764">
                <a:moveTo>
                  <a:pt x="122376" y="76562"/>
                </a:moveTo>
                <a:lnTo>
                  <a:pt x="2760" y="251132"/>
                </a:lnTo>
                <a:lnTo>
                  <a:pt x="50" y="257515"/>
                </a:lnTo>
                <a:lnTo>
                  <a:pt x="0" y="264210"/>
                </a:lnTo>
                <a:lnTo>
                  <a:pt x="2463" y="270434"/>
                </a:lnTo>
                <a:lnTo>
                  <a:pt x="7294" y="275408"/>
                </a:lnTo>
                <a:lnTo>
                  <a:pt x="13677" y="278118"/>
                </a:lnTo>
                <a:lnTo>
                  <a:pt x="20372" y="278168"/>
                </a:lnTo>
                <a:lnTo>
                  <a:pt x="26596" y="275705"/>
                </a:lnTo>
                <a:lnTo>
                  <a:pt x="31570" y="270873"/>
                </a:lnTo>
                <a:lnTo>
                  <a:pt x="151186" y="96302"/>
                </a:lnTo>
                <a:lnTo>
                  <a:pt x="122376" y="76562"/>
                </a:lnTo>
                <a:close/>
              </a:path>
              <a:path w="196215" h="278764">
                <a:moveTo>
                  <a:pt x="188437" y="54861"/>
                </a:moveTo>
                <a:lnTo>
                  <a:pt x="143445" y="54861"/>
                </a:lnTo>
                <a:lnTo>
                  <a:pt x="150140" y="54911"/>
                </a:lnTo>
                <a:lnTo>
                  <a:pt x="156523" y="57621"/>
                </a:lnTo>
                <a:lnTo>
                  <a:pt x="161354" y="62595"/>
                </a:lnTo>
                <a:lnTo>
                  <a:pt x="163818" y="68820"/>
                </a:lnTo>
                <a:lnTo>
                  <a:pt x="163767" y="75514"/>
                </a:lnTo>
                <a:lnTo>
                  <a:pt x="161057" y="81897"/>
                </a:lnTo>
                <a:lnTo>
                  <a:pt x="151186" y="96302"/>
                </a:lnTo>
                <a:lnTo>
                  <a:pt x="179998" y="116043"/>
                </a:lnTo>
                <a:lnTo>
                  <a:pt x="188437" y="54861"/>
                </a:lnTo>
                <a:close/>
              </a:path>
              <a:path w="196215" h="278764">
                <a:moveTo>
                  <a:pt x="143445" y="54861"/>
                </a:moveTo>
                <a:lnTo>
                  <a:pt x="137221" y="57325"/>
                </a:lnTo>
                <a:lnTo>
                  <a:pt x="132247" y="62156"/>
                </a:lnTo>
                <a:lnTo>
                  <a:pt x="122376" y="76562"/>
                </a:lnTo>
                <a:lnTo>
                  <a:pt x="151186" y="96302"/>
                </a:lnTo>
                <a:lnTo>
                  <a:pt x="161057" y="81897"/>
                </a:lnTo>
                <a:lnTo>
                  <a:pt x="163767" y="75514"/>
                </a:lnTo>
                <a:lnTo>
                  <a:pt x="163818" y="68820"/>
                </a:lnTo>
                <a:lnTo>
                  <a:pt x="161354" y="62595"/>
                </a:lnTo>
                <a:lnTo>
                  <a:pt x="156523" y="57621"/>
                </a:lnTo>
                <a:lnTo>
                  <a:pt x="150140" y="54911"/>
                </a:lnTo>
                <a:lnTo>
                  <a:pt x="143445" y="54861"/>
                </a:lnTo>
                <a:close/>
              </a:path>
              <a:path w="196215" h="278764">
                <a:moveTo>
                  <a:pt x="196005" y="0"/>
                </a:moveTo>
                <a:lnTo>
                  <a:pt x="93565" y="56821"/>
                </a:lnTo>
                <a:lnTo>
                  <a:pt x="122376" y="76562"/>
                </a:lnTo>
                <a:lnTo>
                  <a:pt x="132247" y="62156"/>
                </a:lnTo>
                <a:lnTo>
                  <a:pt x="137221" y="57325"/>
                </a:lnTo>
                <a:lnTo>
                  <a:pt x="143445" y="54861"/>
                </a:lnTo>
                <a:lnTo>
                  <a:pt x="188437" y="54861"/>
                </a:lnTo>
                <a:lnTo>
                  <a:pt x="19600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444965" y="1888266"/>
            <a:ext cx="626745" cy="109855"/>
          </a:xfrm>
          <a:custGeom>
            <a:avLst/>
            <a:gdLst/>
            <a:ahLst/>
            <a:cxnLst/>
            <a:rect l="l" t="t" r="r" b="b"/>
            <a:pathLst>
              <a:path w="626745" h="109855">
                <a:moveTo>
                  <a:pt x="0" y="109322"/>
                </a:moveTo>
                <a:lnTo>
                  <a:pt x="626457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7444965" y="1997589"/>
            <a:ext cx="572770" cy="271145"/>
          </a:xfrm>
          <a:custGeom>
            <a:avLst/>
            <a:gdLst/>
            <a:ahLst/>
            <a:cxnLst/>
            <a:rect l="l" t="t" r="r" b="b"/>
            <a:pathLst>
              <a:path w="572770" h="271144">
                <a:moveTo>
                  <a:pt x="0" y="0"/>
                </a:moveTo>
                <a:lnTo>
                  <a:pt x="572651" y="270943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7479140" y="2320043"/>
            <a:ext cx="560070" cy="50800"/>
          </a:xfrm>
          <a:custGeom>
            <a:avLst/>
            <a:gdLst/>
            <a:ahLst/>
            <a:cxnLst/>
            <a:rect l="l" t="t" r="r" b="b"/>
            <a:pathLst>
              <a:path w="560070" h="50800">
                <a:moveTo>
                  <a:pt x="0" y="50376"/>
                </a:moveTo>
                <a:lnTo>
                  <a:pt x="559457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856036" y="2320042"/>
            <a:ext cx="182880" cy="293370"/>
          </a:xfrm>
          <a:custGeom>
            <a:avLst/>
            <a:gdLst/>
            <a:ahLst/>
            <a:cxnLst/>
            <a:rect l="l" t="t" r="r" b="b"/>
            <a:pathLst>
              <a:path w="182879" h="293369">
                <a:moveTo>
                  <a:pt x="0" y="292821"/>
                </a:moveTo>
                <a:lnTo>
                  <a:pt x="182560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8017616" y="2195682"/>
            <a:ext cx="143510" cy="146050"/>
          </a:xfrm>
          <a:custGeom>
            <a:avLst/>
            <a:gdLst/>
            <a:ahLst/>
            <a:cxnLst/>
            <a:rect l="l" t="t" r="r" b="b"/>
            <a:pathLst>
              <a:path w="143509" h="146050">
                <a:moveTo>
                  <a:pt x="71629" y="0"/>
                </a:moveTo>
                <a:lnTo>
                  <a:pt x="43748" y="5724"/>
                </a:lnTo>
                <a:lnTo>
                  <a:pt x="20979" y="21337"/>
                </a:lnTo>
                <a:lnTo>
                  <a:pt x="5629" y="44492"/>
                </a:lnTo>
                <a:lnTo>
                  <a:pt x="0" y="72848"/>
                </a:lnTo>
                <a:lnTo>
                  <a:pt x="5629" y="101204"/>
                </a:lnTo>
                <a:lnTo>
                  <a:pt x="20979" y="124360"/>
                </a:lnTo>
                <a:lnTo>
                  <a:pt x="43748" y="139972"/>
                </a:lnTo>
                <a:lnTo>
                  <a:pt x="71629" y="145696"/>
                </a:lnTo>
                <a:lnTo>
                  <a:pt x="99510" y="139972"/>
                </a:lnTo>
                <a:lnTo>
                  <a:pt x="122279" y="124360"/>
                </a:lnTo>
                <a:lnTo>
                  <a:pt x="137629" y="101204"/>
                </a:lnTo>
                <a:lnTo>
                  <a:pt x="143258" y="72848"/>
                </a:lnTo>
                <a:lnTo>
                  <a:pt x="137629" y="44492"/>
                </a:lnTo>
                <a:lnTo>
                  <a:pt x="122279" y="21337"/>
                </a:lnTo>
                <a:lnTo>
                  <a:pt x="99510" y="5724"/>
                </a:lnTo>
                <a:lnTo>
                  <a:pt x="71629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8017616" y="2195682"/>
            <a:ext cx="143510" cy="146050"/>
          </a:xfrm>
          <a:custGeom>
            <a:avLst/>
            <a:gdLst/>
            <a:ahLst/>
            <a:cxnLst/>
            <a:rect l="l" t="t" r="r" b="b"/>
            <a:pathLst>
              <a:path w="143509" h="146050">
                <a:moveTo>
                  <a:pt x="0" y="72848"/>
                </a:moveTo>
                <a:lnTo>
                  <a:pt x="5629" y="44492"/>
                </a:lnTo>
                <a:lnTo>
                  <a:pt x="20979" y="21336"/>
                </a:lnTo>
                <a:lnTo>
                  <a:pt x="43748" y="5724"/>
                </a:lnTo>
                <a:lnTo>
                  <a:pt x="71629" y="0"/>
                </a:lnTo>
                <a:lnTo>
                  <a:pt x="99510" y="5724"/>
                </a:lnTo>
                <a:lnTo>
                  <a:pt x="122279" y="21336"/>
                </a:lnTo>
                <a:lnTo>
                  <a:pt x="137630" y="44492"/>
                </a:lnTo>
                <a:lnTo>
                  <a:pt x="143259" y="72848"/>
                </a:lnTo>
                <a:lnTo>
                  <a:pt x="137630" y="101204"/>
                </a:lnTo>
                <a:lnTo>
                  <a:pt x="122279" y="124360"/>
                </a:lnTo>
                <a:lnTo>
                  <a:pt x="99510" y="139972"/>
                </a:lnTo>
                <a:lnTo>
                  <a:pt x="71629" y="145697"/>
                </a:lnTo>
                <a:lnTo>
                  <a:pt x="43748" y="139972"/>
                </a:lnTo>
                <a:lnTo>
                  <a:pt x="20979" y="124360"/>
                </a:lnTo>
                <a:lnTo>
                  <a:pt x="5629" y="101204"/>
                </a:lnTo>
                <a:lnTo>
                  <a:pt x="0" y="72848"/>
                </a:lnTo>
                <a:close/>
              </a:path>
            </a:pathLst>
          </a:custGeom>
          <a:ln w="38100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8071422" y="1815418"/>
            <a:ext cx="143510" cy="146050"/>
          </a:xfrm>
          <a:custGeom>
            <a:avLst/>
            <a:gdLst/>
            <a:ahLst/>
            <a:cxnLst/>
            <a:rect l="l" t="t" r="r" b="b"/>
            <a:pathLst>
              <a:path w="143509" h="146050">
                <a:moveTo>
                  <a:pt x="71629" y="0"/>
                </a:moveTo>
                <a:lnTo>
                  <a:pt x="43748" y="5724"/>
                </a:lnTo>
                <a:lnTo>
                  <a:pt x="20979" y="21336"/>
                </a:lnTo>
                <a:lnTo>
                  <a:pt x="5629" y="44492"/>
                </a:lnTo>
                <a:lnTo>
                  <a:pt x="0" y="72848"/>
                </a:lnTo>
                <a:lnTo>
                  <a:pt x="5629" y="101204"/>
                </a:lnTo>
                <a:lnTo>
                  <a:pt x="20979" y="124360"/>
                </a:lnTo>
                <a:lnTo>
                  <a:pt x="43748" y="139972"/>
                </a:lnTo>
                <a:lnTo>
                  <a:pt x="71629" y="145696"/>
                </a:lnTo>
                <a:lnTo>
                  <a:pt x="99511" y="139972"/>
                </a:lnTo>
                <a:lnTo>
                  <a:pt x="122279" y="124360"/>
                </a:lnTo>
                <a:lnTo>
                  <a:pt x="137630" y="101204"/>
                </a:lnTo>
                <a:lnTo>
                  <a:pt x="143259" y="72848"/>
                </a:lnTo>
                <a:lnTo>
                  <a:pt x="137630" y="44492"/>
                </a:lnTo>
                <a:lnTo>
                  <a:pt x="122279" y="21336"/>
                </a:lnTo>
                <a:lnTo>
                  <a:pt x="99511" y="5724"/>
                </a:lnTo>
                <a:lnTo>
                  <a:pt x="71629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8071422" y="1815418"/>
            <a:ext cx="143510" cy="146050"/>
          </a:xfrm>
          <a:custGeom>
            <a:avLst/>
            <a:gdLst/>
            <a:ahLst/>
            <a:cxnLst/>
            <a:rect l="l" t="t" r="r" b="b"/>
            <a:pathLst>
              <a:path w="143509" h="146050">
                <a:moveTo>
                  <a:pt x="0" y="72848"/>
                </a:moveTo>
                <a:lnTo>
                  <a:pt x="5629" y="44492"/>
                </a:lnTo>
                <a:lnTo>
                  <a:pt x="20979" y="21336"/>
                </a:lnTo>
                <a:lnTo>
                  <a:pt x="43748" y="5724"/>
                </a:lnTo>
                <a:lnTo>
                  <a:pt x="71629" y="0"/>
                </a:lnTo>
                <a:lnTo>
                  <a:pt x="99510" y="5724"/>
                </a:lnTo>
                <a:lnTo>
                  <a:pt x="122279" y="21336"/>
                </a:lnTo>
                <a:lnTo>
                  <a:pt x="137630" y="44492"/>
                </a:lnTo>
                <a:lnTo>
                  <a:pt x="143259" y="72848"/>
                </a:lnTo>
                <a:lnTo>
                  <a:pt x="137630" y="101204"/>
                </a:lnTo>
                <a:lnTo>
                  <a:pt x="122279" y="124360"/>
                </a:lnTo>
                <a:lnTo>
                  <a:pt x="99510" y="139972"/>
                </a:lnTo>
                <a:lnTo>
                  <a:pt x="71629" y="145697"/>
                </a:lnTo>
                <a:lnTo>
                  <a:pt x="43748" y="139972"/>
                </a:lnTo>
                <a:lnTo>
                  <a:pt x="20979" y="124360"/>
                </a:lnTo>
                <a:lnTo>
                  <a:pt x="5629" y="101204"/>
                </a:lnTo>
                <a:lnTo>
                  <a:pt x="0" y="72848"/>
                </a:lnTo>
                <a:close/>
              </a:path>
            </a:pathLst>
          </a:custGeom>
          <a:ln w="38100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7458160" y="2421929"/>
            <a:ext cx="297180" cy="191135"/>
          </a:xfrm>
          <a:custGeom>
            <a:avLst/>
            <a:gdLst/>
            <a:ahLst/>
            <a:cxnLst/>
            <a:rect l="l" t="t" r="r" b="b"/>
            <a:pathLst>
              <a:path w="297179" h="191135">
                <a:moveTo>
                  <a:pt x="296578" y="190934"/>
                </a:moveTo>
                <a:lnTo>
                  <a:pt x="0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7373335" y="2070436"/>
            <a:ext cx="34290" cy="227329"/>
          </a:xfrm>
          <a:custGeom>
            <a:avLst/>
            <a:gdLst/>
            <a:ahLst/>
            <a:cxnLst/>
            <a:rect l="l" t="t" r="r" b="b"/>
            <a:pathLst>
              <a:path w="34290" h="227330">
                <a:moveTo>
                  <a:pt x="34174" y="227133"/>
                </a:moveTo>
                <a:lnTo>
                  <a:pt x="0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7301707" y="1924739"/>
            <a:ext cx="143510" cy="146050"/>
          </a:xfrm>
          <a:custGeom>
            <a:avLst/>
            <a:gdLst/>
            <a:ahLst/>
            <a:cxnLst/>
            <a:rect l="l" t="t" r="r" b="b"/>
            <a:pathLst>
              <a:path w="143509" h="146050">
                <a:moveTo>
                  <a:pt x="71629" y="0"/>
                </a:moveTo>
                <a:lnTo>
                  <a:pt x="43747" y="5724"/>
                </a:lnTo>
                <a:lnTo>
                  <a:pt x="20979" y="21337"/>
                </a:lnTo>
                <a:lnTo>
                  <a:pt x="5628" y="44492"/>
                </a:lnTo>
                <a:lnTo>
                  <a:pt x="0" y="72848"/>
                </a:lnTo>
                <a:lnTo>
                  <a:pt x="5628" y="101204"/>
                </a:lnTo>
                <a:lnTo>
                  <a:pt x="20979" y="124360"/>
                </a:lnTo>
                <a:lnTo>
                  <a:pt x="43747" y="139972"/>
                </a:lnTo>
                <a:lnTo>
                  <a:pt x="71629" y="145696"/>
                </a:lnTo>
                <a:lnTo>
                  <a:pt x="99510" y="139972"/>
                </a:lnTo>
                <a:lnTo>
                  <a:pt x="122278" y="124360"/>
                </a:lnTo>
                <a:lnTo>
                  <a:pt x="137629" y="101204"/>
                </a:lnTo>
                <a:lnTo>
                  <a:pt x="143258" y="72848"/>
                </a:lnTo>
                <a:lnTo>
                  <a:pt x="137629" y="44492"/>
                </a:lnTo>
                <a:lnTo>
                  <a:pt x="122278" y="21337"/>
                </a:lnTo>
                <a:lnTo>
                  <a:pt x="99510" y="5724"/>
                </a:lnTo>
                <a:lnTo>
                  <a:pt x="71629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7301707" y="1924739"/>
            <a:ext cx="143510" cy="146050"/>
          </a:xfrm>
          <a:custGeom>
            <a:avLst/>
            <a:gdLst/>
            <a:ahLst/>
            <a:cxnLst/>
            <a:rect l="l" t="t" r="r" b="b"/>
            <a:pathLst>
              <a:path w="143509" h="146050">
                <a:moveTo>
                  <a:pt x="0" y="72848"/>
                </a:moveTo>
                <a:lnTo>
                  <a:pt x="5629" y="44492"/>
                </a:lnTo>
                <a:lnTo>
                  <a:pt x="20979" y="21336"/>
                </a:lnTo>
                <a:lnTo>
                  <a:pt x="43748" y="5724"/>
                </a:lnTo>
                <a:lnTo>
                  <a:pt x="71629" y="0"/>
                </a:lnTo>
                <a:lnTo>
                  <a:pt x="99510" y="5724"/>
                </a:lnTo>
                <a:lnTo>
                  <a:pt x="122279" y="21336"/>
                </a:lnTo>
                <a:lnTo>
                  <a:pt x="137630" y="44492"/>
                </a:lnTo>
                <a:lnTo>
                  <a:pt x="143259" y="72848"/>
                </a:lnTo>
                <a:lnTo>
                  <a:pt x="137630" y="101204"/>
                </a:lnTo>
                <a:lnTo>
                  <a:pt x="122279" y="124360"/>
                </a:lnTo>
                <a:lnTo>
                  <a:pt x="99510" y="139972"/>
                </a:lnTo>
                <a:lnTo>
                  <a:pt x="71629" y="145697"/>
                </a:lnTo>
                <a:lnTo>
                  <a:pt x="43748" y="139972"/>
                </a:lnTo>
                <a:lnTo>
                  <a:pt x="20979" y="124360"/>
                </a:lnTo>
                <a:lnTo>
                  <a:pt x="5629" y="101204"/>
                </a:lnTo>
                <a:lnTo>
                  <a:pt x="0" y="72848"/>
                </a:lnTo>
                <a:close/>
              </a:path>
            </a:pathLst>
          </a:custGeom>
          <a:ln w="38100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7335880" y="2297569"/>
            <a:ext cx="143510" cy="146050"/>
          </a:xfrm>
          <a:custGeom>
            <a:avLst/>
            <a:gdLst/>
            <a:ahLst/>
            <a:cxnLst/>
            <a:rect l="l" t="t" r="r" b="b"/>
            <a:pathLst>
              <a:path w="143509" h="146050">
                <a:moveTo>
                  <a:pt x="71629" y="0"/>
                </a:moveTo>
                <a:lnTo>
                  <a:pt x="43748" y="5724"/>
                </a:lnTo>
                <a:lnTo>
                  <a:pt x="20979" y="21337"/>
                </a:lnTo>
                <a:lnTo>
                  <a:pt x="5629" y="44492"/>
                </a:lnTo>
                <a:lnTo>
                  <a:pt x="0" y="72848"/>
                </a:lnTo>
                <a:lnTo>
                  <a:pt x="5629" y="101204"/>
                </a:lnTo>
                <a:lnTo>
                  <a:pt x="20979" y="124360"/>
                </a:lnTo>
                <a:lnTo>
                  <a:pt x="43748" y="139972"/>
                </a:lnTo>
                <a:lnTo>
                  <a:pt x="71629" y="145696"/>
                </a:lnTo>
                <a:lnTo>
                  <a:pt x="99511" y="139972"/>
                </a:lnTo>
                <a:lnTo>
                  <a:pt x="122279" y="124360"/>
                </a:lnTo>
                <a:lnTo>
                  <a:pt x="137630" y="101204"/>
                </a:lnTo>
                <a:lnTo>
                  <a:pt x="143259" y="72848"/>
                </a:lnTo>
                <a:lnTo>
                  <a:pt x="137630" y="44492"/>
                </a:lnTo>
                <a:lnTo>
                  <a:pt x="122279" y="21337"/>
                </a:lnTo>
                <a:lnTo>
                  <a:pt x="99511" y="5724"/>
                </a:lnTo>
                <a:lnTo>
                  <a:pt x="71629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7335880" y="2297569"/>
            <a:ext cx="143510" cy="146050"/>
          </a:xfrm>
          <a:custGeom>
            <a:avLst/>
            <a:gdLst/>
            <a:ahLst/>
            <a:cxnLst/>
            <a:rect l="l" t="t" r="r" b="b"/>
            <a:pathLst>
              <a:path w="143509" h="146050">
                <a:moveTo>
                  <a:pt x="0" y="72848"/>
                </a:moveTo>
                <a:lnTo>
                  <a:pt x="5629" y="44492"/>
                </a:lnTo>
                <a:lnTo>
                  <a:pt x="20979" y="21336"/>
                </a:lnTo>
                <a:lnTo>
                  <a:pt x="43748" y="5724"/>
                </a:lnTo>
                <a:lnTo>
                  <a:pt x="71629" y="0"/>
                </a:lnTo>
                <a:lnTo>
                  <a:pt x="99510" y="5724"/>
                </a:lnTo>
                <a:lnTo>
                  <a:pt x="122279" y="21336"/>
                </a:lnTo>
                <a:lnTo>
                  <a:pt x="137630" y="44492"/>
                </a:lnTo>
                <a:lnTo>
                  <a:pt x="143259" y="72848"/>
                </a:lnTo>
                <a:lnTo>
                  <a:pt x="137630" y="101204"/>
                </a:lnTo>
                <a:lnTo>
                  <a:pt x="122279" y="124360"/>
                </a:lnTo>
                <a:lnTo>
                  <a:pt x="99510" y="139972"/>
                </a:lnTo>
                <a:lnTo>
                  <a:pt x="71629" y="145697"/>
                </a:lnTo>
                <a:lnTo>
                  <a:pt x="43748" y="139972"/>
                </a:lnTo>
                <a:lnTo>
                  <a:pt x="20979" y="124360"/>
                </a:lnTo>
                <a:lnTo>
                  <a:pt x="5629" y="101204"/>
                </a:lnTo>
                <a:lnTo>
                  <a:pt x="0" y="72848"/>
                </a:lnTo>
                <a:close/>
              </a:path>
            </a:pathLst>
          </a:custGeom>
          <a:ln w="38100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7733757" y="2591526"/>
            <a:ext cx="143510" cy="146050"/>
          </a:xfrm>
          <a:custGeom>
            <a:avLst/>
            <a:gdLst/>
            <a:ahLst/>
            <a:cxnLst/>
            <a:rect l="l" t="t" r="r" b="b"/>
            <a:pathLst>
              <a:path w="143509" h="146050">
                <a:moveTo>
                  <a:pt x="71629" y="0"/>
                </a:moveTo>
                <a:lnTo>
                  <a:pt x="43748" y="5724"/>
                </a:lnTo>
                <a:lnTo>
                  <a:pt x="20979" y="21337"/>
                </a:lnTo>
                <a:lnTo>
                  <a:pt x="5629" y="44492"/>
                </a:lnTo>
                <a:lnTo>
                  <a:pt x="0" y="72848"/>
                </a:lnTo>
                <a:lnTo>
                  <a:pt x="5629" y="101204"/>
                </a:lnTo>
                <a:lnTo>
                  <a:pt x="20979" y="124360"/>
                </a:lnTo>
                <a:lnTo>
                  <a:pt x="43748" y="139972"/>
                </a:lnTo>
                <a:lnTo>
                  <a:pt x="71629" y="145696"/>
                </a:lnTo>
                <a:lnTo>
                  <a:pt x="99511" y="139972"/>
                </a:lnTo>
                <a:lnTo>
                  <a:pt x="122279" y="124360"/>
                </a:lnTo>
                <a:lnTo>
                  <a:pt x="137630" y="101204"/>
                </a:lnTo>
                <a:lnTo>
                  <a:pt x="143259" y="72848"/>
                </a:lnTo>
                <a:lnTo>
                  <a:pt x="137630" y="44492"/>
                </a:lnTo>
                <a:lnTo>
                  <a:pt x="122279" y="21337"/>
                </a:lnTo>
                <a:lnTo>
                  <a:pt x="99511" y="5724"/>
                </a:lnTo>
                <a:lnTo>
                  <a:pt x="71629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7733757" y="2591526"/>
            <a:ext cx="143510" cy="146050"/>
          </a:xfrm>
          <a:custGeom>
            <a:avLst/>
            <a:gdLst/>
            <a:ahLst/>
            <a:cxnLst/>
            <a:rect l="l" t="t" r="r" b="b"/>
            <a:pathLst>
              <a:path w="143509" h="146050">
                <a:moveTo>
                  <a:pt x="0" y="72848"/>
                </a:moveTo>
                <a:lnTo>
                  <a:pt x="5629" y="44492"/>
                </a:lnTo>
                <a:lnTo>
                  <a:pt x="20979" y="21336"/>
                </a:lnTo>
                <a:lnTo>
                  <a:pt x="43748" y="5724"/>
                </a:lnTo>
                <a:lnTo>
                  <a:pt x="71629" y="0"/>
                </a:lnTo>
                <a:lnTo>
                  <a:pt x="99510" y="5724"/>
                </a:lnTo>
                <a:lnTo>
                  <a:pt x="122279" y="21336"/>
                </a:lnTo>
                <a:lnTo>
                  <a:pt x="137630" y="44492"/>
                </a:lnTo>
                <a:lnTo>
                  <a:pt x="143259" y="72848"/>
                </a:lnTo>
                <a:lnTo>
                  <a:pt x="137630" y="101204"/>
                </a:lnTo>
                <a:lnTo>
                  <a:pt x="122279" y="124360"/>
                </a:lnTo>
                <a:lnTo>
                  <a:pt x="99510" y="139972"/>
                </a:lnTo>
                <a:lnTo>
                  <a:pt x="71629" y="145697"/>
                </a:lnTo>
                <a:lnTo>
                  <a:pt x="43748" y="139972"/>
                </a:lnTo>
                <a:lnTo>
                  <a:pt x="20979" y="124360"/>
                </a:lnTo>
                <a:lnTo>
                  <a:pt x="5629" y="101204"/>
                </a:lnTo>
                <a:lnTo>
                  <a:pt x="0" y="72848"/>
                </a:lnTo>
                <a:close/>
              </a:path>
            </a:pathLst>
          </a:custGeom>
          <a:ln w="38100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7214144" y="1904998"/>
            <a:ext cx="0" cy="182245"/>
          </a:xfrm>
          <a:custGeom>
            <a:avLst/>
            <a:gdLst/>
            <a:ahLst/>
            <a:cxnLst/>
            <a:rect l="l" t="t" r="r" b="b"/>
            <a:pathLst>
              <a:path w="0" h="182244">
                <a:moveTo>
                  <a:pt x="0" y="0"/>
                </a:moveTo>
                <a:lnTo>
                  <a:pt x="0" y="182168"/>
                </a:lnTo>
              </a:path>
            </a:pathLst>
          </a:custGeom>
          <a:ln w="59107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7184590" y="1904998"/>
            <a:ext cx="59690" cy="182245"/>
          </a:xfrm>
          <a:custGeom>
            <a:avLst/>
            <a:gdLst/>
            <a:ahLst/>
            <a:cxnLst/>
            <a:rect l="l" t="t" r="r" b="b"/>
            <a:pathLst>
              <a:path w="59690" h="182244">
                <a:moveTo>
                  <a:pt x="0" y="0"/>
                </a:moveTo>
                <a:lnTo>
                  <a:pt x="59107" y="0"/>
                </a:lnTo>
                <a:lnTo>
                  <a:pt x="59107" y="182169"/>
                </a:lnTo>
                <a:lnTo>
                  <a:pt x="0" y="182169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8277159" y="1752600"/>
            <a:ext cx="0" cy="182245"/>
          </a:xfrm>
          <a:custGeom>
            <a:avLst/>
            <a:gdLst/>
            <a:ahLst/>
            <a:cxnLst/>
            <a:rect l="l" t="t" r="r" b="b"/>
            <a:pathLst>
              <a:path w="0" h="182244">
                <a:moveTo>
                  <a:pt x="0" y="0"/>
                </a:moveTo>
                <a:lnTo>
                  <a:pt x="0" y="182168"/>
                </a:lnTo>
              </a:path>
            </a:pathLst>
          </a:custGeom>
          <a:ln w="59107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8247605" y="1752600"/>
            <a:ext cx="59690" cy="182245"/>
          </a:xfrm>
          <a:custGeom>
            <a:avLst/>
            <a:gdLst/>
            <a:ahLst/>
            <a:cxnLst/>
            <a:rect l="l" t="t" r="r" b="b"/>
            <a:pathLst>
              <a:path w="59690" h="182244">
                <a:moveTo>
                  <a:pt x="0" y="0"/>
                </a:moveTo>
                <a:lnTo>
                  <a:pt x="59107" y="0"/>
                </a:lnTo>
                <a:lnTo>
                  <a:pt x="59107" y="182169"/>
                </a:lnTo>
                <a:lnTo>
                  <a:pt x="0" y="182169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8218961" y="2115400"/>
            <a:ext cx="0" cy="182245"/>
          </a:xfrm>
          <a:custGeom>
            <a:avLst/>
            <a:gdLst/>
            <a:ahLst/>
            <a:cxnLst/>
            <a:rect l="l" t="t" r="r" b="b"/>
            <a:pathLst>
              <a:path w="0" h="182244">
                <a:moveTo>
                  <a:pt x="0" y="0"/>
                </a:moveTo>
                <a:lnTo>
                  <a:pt x="0" y="182168"/>
                </a:lnTo>
              </a:path>
            </a:pathLst>
          </a:custGeom>
          <a:ln w="59107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8189408" y="2115400"/>
            <a:ext cx="59690" cy="182245"/>
          </a:xfrm>
          <a:custGeom>
            <a:avLst/>
            <a:gdLst/>
            <a:ahLst/>
            <a:cxnLst/>
            <a:rect l="l" t="t" r="r" b="b"/>
            <a:pathLst>
              <a:path w="59690" h="182244">
                <a:moveTo>
                  <a:pt x="0" y="0"/>
                </a:moveTo>
                <a:lnTo>
                  <a:pt x="59107" y="0"/>
                </a:lnTo>
                <a:lnTo>
                  <a:pt x="59107" y="182169"/>
                </a:lnTo>
                <a:lnTo>
                  <a:pt x="0" y="182169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7258044" y="2277962"/>
            <a:ext cx="0" cy="182245"/>
          </a:xfrm>
          <a:custGeom>
            <a:avLst/>
            <a:gdLst/>
            <a:ahLst/>
            <a:cxnLst/>
            <a:rect l="l" t="t" r="r" b="b"/>
            <a:pathLst>
              <a:path w="0" h="182244">
                <a:moveTo>
                  <a:pt x="0" y="0"/>
                </a:moveTo>
                <a:lnTo>
                  <a:pt x="0" y="182168"/>
                </a:lnTo>
              </a:path>
            </a:pathLst>
          </a:custGeom>
          <a:ln w="59107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7228490" y="2277962"/>
            <a:ext cx="59690" cy="182245"/>
          </a:xfrm>
          <a:custGeom>
            <a:avLst/>
            <a:gdLst/>
            <a:ahLst/>
            <a:cxnLst/>
            <a:rect l="l" t="t" r="r" b="b"/>
            <a:pathLst>
              <a:path w="59690" h="182244">
                <a:moveTo>
                  <a:pt x="0" y="0"/>
                </a:moveTo>
                <a:lnTo>
                  <a:pt x="59107" y="0"/>
                </a:lnTo>
                <a:lnTo>
                  <a:pt x="59107" y="182169"/>
                </a:lnTo>
                <a:lnTo>
                  <a:pt x="0" y="182169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7647660" y="2659358"/>
            <a:ext cx="0" cy="182245"/>
          </a:xfrm>
          <a:custGeom>
            <a:avLst/>
            <a:gdLst/>
            <a:ahLst/>
            <a:cxnLst/>
            <a:rect l="l" t="t" r="r" b="b"/>
            <a:pathLst>
              <a:path w="0" h="182244">
                <a:moveTo>
                  <a:pt x="0" y="0"/>
                </a:moveTo>
                <a:lnTo>
                  <a:pt x="0" y="182168"/>
                </a:lnTo>
              </a:path>
            </a:pathLst>
          </a:custGeom>
          <a:ln w="59107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7618106" y="2659358"/>
            <a:ext cx="59690" cy="182245"/>
          </a:xfrm>
          <a:custGeom>
            <a:avLst/>
            <a:gdLst/>
            <a:ahLst/>
            <a:cxnLst/>
            <a:rect l="l" t="t" r="r" b="b"/>
            <a:pathLst>
              <a:path w="59690" h="182244">
                <a:moveTo>
                  <a:pt x="0" y="0"/>
                </a:moveTo>
                <a:lnTo>
                  <a:pt x="59107" y="0"/>
                </a:lnTo>
                <a:lnTo>
                  <a:pt x="59107" y="182169"/>
                </a:lnTo>
                <a:lnTo>
                  <a:pt x="0" y="182169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 txBox="1"/>
          <p:nvPr/>
        </p:nvSpPr>
        <p:spPr>
          <a:xfrm>
            <a:off x="6911761" y="3131311"/>
            <a:ext cx="163703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500" spc="-5">
                <a:latin typeface="Arial"/>
                <a:cs typeface="Arial"/>
              </a:rPr>
              <a:t>Perform</a:t>
            </a:r>
            <a:r>
              <a:rPr dirty="0" sz="1500" spc="-50">
                <a:latin typeface="Arial"/>
                <a:cs typeface="Arial"/>
              </a:rPr>
              <a:t> </a:t>
            </a:r>
            <a:r>
              <a:rPr dirty="0" sz="1500" spc="-5" b="1">
                <a:solidFill>
                  <a:srgbClr val="C00000"/>
                </a:solidFill>
                <a:latin typeface="Arial"/>
                <a:cs typeface="Arial"/>
              </a:rPr>
              <a:t>message-  passing</a:t>
            </a:r>
            <a:endParaRPr sz="1500">
              <a:latin typeface="Arial"/>
              <a:cs typeface="Arial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7423174" y="5725610"/>
            <a:ext cx="626745" cy="109855"/>
          </a:xfrm>
          <a:custGeom>
            <a:avLst/>
            <a:gdLst/>
            <a:ahLst/>
            <a:cxnLst/>
            <a:rect l="l" t="t" r="r" b="b"/>
            <a:pathLst>
              <a:path w="626745" h="109854">
                <a:moveTo>
                  <a:pt x="0" y="109322"/>
                </a:moveTo>
                <a:lnTo>
                  <a:pt x="626457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7423174" y="5834933"/>
            <a:ext cx="572770" cy="271145"/>
          </a:xfrm>
          <a:custGeom>
            <a:avLst/>
            <a:gdLst/>
            <a:ahLst/>
            <a:cxnLst/>
            <a:rect l="l" t="t" r="r" b="b"/>
            <a:pathLst>
              <a:path w="572770" h="271145">
                <a:moveTo>
                  <a:pt x="0" y="0"/>
                </a:moveTo>
                <a:lnTo>
                  <a:pt x="572651" y="270943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7457348" y="6157387"/>
            <a:ext cx="560070" cy="50800"/>
          </a:xfrm>
          <a:custGeom>
            <a:avLst/>
            <a:gdLst/>
            <a:ahLst/>
            <a:cxnLst/>
            <a:rect l="l" t="t" r="r" b="b"/>
            <a:pathLst>
              <a:path w="560070" h="50800">
                <a:moveTo>
                  <a:pt x="0" y="50376"/>
                </a:moveTo>
                <a:lnTo>
                  <a:pt x="559457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7834246" y="6157387"/>
            <a:ext cx="182880" cy="293370"/>
          </a:xfrm>
          <a:custGeom>
            <a:avLst/>
            <a:gdLst/>
            <a:ahLst/>
            <a:cxnLst/>
            <a:rect l="l" t="t" r="r" b="b"/>
            <a:pathLst>
              <a:path w="182879" h="293370">
                <a:moveTo>
                  <a:pt x="0" y="292821"/>
                </a:moveTo>
                <a:lnTo>
                  <a:pt x="182560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7995825" y="6033027"/>
            <a:ext cx="143510" cy="146050"/>
          </a:xfrm>
          <a:custGeom>
            <a:avLst/>
            <a:gdLst/>
            <a:ahLst/>
            <a:cxnLst/>
            <a:rect l="l" t="t" r="r" b="b"/>
            <a:pathLst>
              <a:path w="143509" h="146050">
                <a:moveTo>
                  <a:pt x="71629" y="0"/>
                </a:moveTo>
                <a:lnTo>
                  <a:pt x="43748" y="5724"/>
                </a:lnTo>
                <a:lnTo>
                  <a:pt x="20979" y="21336"/>
                </a:lnTo>
                <a:lnTo>
                  <a:pt x="5629" y="44492"/>
                </a:lnTo>
                <a:lnTo>
                  <a:pt x="0" y="72848"/>
                </a:lnTo>
                <a:lnTo>
                  <a:pt x="5629" y="101204"/>
                </a:lnTo>
                <a:lnTo>
                  <a:pt x="20979" y="124360"/>
                </a:lnTo>
                <a:lnTo>
                  <a:pt x="43748" y="139972"/>
                </a:lnTo>
                <a:lnTo>
                  <a:pt x="71629" y="145697"/>
                </a:lnTo>
                <a:lnTo>
                  <a:pt x="99510" y="139972"/>
                </a:lnTo>
                <a:lnTo>
                  <a:pt x="122279" y="124360"/>
                </a:lnTo>
                <a:lnTo>
                  <a:pt x="137629" y="101204"/>
                </a:lnTo>
                <a:lnTo>
                  <a:pt x="143258" y="72848"/>
                </a:lnTo>
                <a:lnTo>
                  <a:pt x="137629" y="44492"/>
                </a:lnTo>
                <a:lnTo>
                  <a:pt x="122279" y="21336"/>
                </a:lnTo>
                <a:lnTo>
                  <a:pt x="99510" y="5724"/>
                </a:lnTo>
                <a:lnTo>
                  <a:pt x="71629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7995825" y="6033027"/>
            <a:ext cx="143510" cy="146050"/>
          </a:xfrm>
          <a:custGeom>
            <a:avLst/>
            <a:gdLst/>
            <a:ahLst/>
            <a:cxnLst/>
            <a:rect l="l" t="t" r="r" b="b"/>
            <a:pathLst>
              <a:path w="143509" h="146050">
                <a:moveTo>
                  <a:pt x="0" y="72848"/>
                </a:moveTo>
                <a:lnTo>
                  <a:pt x="5629" y="44492"/>
                </a:lnTo>
                <a:lnTo>
                  <a:pt x="20979" y="21336"/>
                </a:lnTo>
                <a:lnTo>
                  <a:pt x="43748" y="5724"/>
                </a:lnTo>
                <a:lnTo>
                  <a:pt x="71629" y="0"/>
                </a:lnTo>
                <a:lnTo>
                  <a:pt x="99510" y="5724"/>
                </a:lnTo>
                <a:lnTo>
                  <a:pt x="122279" y="21336"/>
                </a:lnTo>
                <a:lnTo>
                  <a:pt x="137630" y="44492"/>
                </a:lnTo>
                <a:lnTo>
                  <a:pt x="143259" y="72848"/>
                </a:lnTo>
                <a:lnTo>
                  <a:pt x="137630" y="101204"/>
                </a:lnTo>
                <a:lnTo>
                  <a:pt x="122279" y="124360"/>
                </a:lnTo>
                <a:lnTo>
                  <a:pt x="99510" y="139972"/>
                </a:lnTo>
                <a:lnTo>
                  <a:pt x="71629" y="145697"/>
                </a:lnTo>
                <a:lnTo>
                  <a:pt x="43748" y="139972"/>
                </a:lnTo>
                <a:lnTo>
                  <a:pt x="20979" y="124360"/>
                </a:lnTo>
                <a:lnTo>
                  <a:pt x="5629" y="101204"/>
                </a:lnTo>
                <a:lnTo>
                  <a:pt x="0" y="72848"/>
                </a:lnTo>
                <a:close/>
              </a:path>
            </a:pathLst>
          </a:custGeom>
          <a:ln w="38100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8049631" y="5652762"/>
            <a:ext cx="143510" cy="146050"/>
          </a:xfrm>
          <a:custGeom>
            <a:avLst/>
            <a:gdLst/>
            <a:ahLst/>
            <a:cxnLst/>
            <a:rect l="l" t="t" r="r" b="b"/>
            <a:pathLst>
              <a:path w="143509" h="146050">
                <a:moveTo>
                  <a:pt x="71629" y="0"/>
                </a:moveTo>
                <a:lnTo>
                  <a:pt x="43747" y="5724"/>
                </a:lnTo>
                <a:lnTo>
                  <a:pt x="20979" y="21336"/>
                </a:lnTo>
                <a:lnTo>
                  <a:pt x="5628" y="44492"/>
                </a:lnTo>
                <a:lnTo>
                  <a:pt x="0" y="72848"/>
                </a:lnTo>
                <a:lnTo>
                  <a:pt x="5628" y="101204"/>
                </a:lnTo>
                <a:lnTo>
                  <a:pt x="20979" y="124360"/>
                </a:lnTo>
                <a:lnTo>
                  <a:pt x="43747" y="139972"/>
                </a:lnTo>
                <a:lnTo>
                  <a:pt x="71629" y="145697"/>
                </a:lnTo>
                <a:lnTo>
                  <a:pt x="99510" y="139972"/>
                </a:lnTo>
                <a:lnTo>
                  <a:pt x="122278" y="124360"/>
                </a:lnTo>
                <a:lnTo>
                  <a:pt x="137629" y="101204"/>
                </a:lnTo>
                <a:lnTo>
                  <a:pt x="143258" y="72848"/>
                </a:lnTo>
                <a:lnTo>
                  <a:pt x="137629" y="44492"/>
                </a:lnTo>
                <a:lnTo>
                  <a:pt x="122278" y="21336"/>
                </a:lnTo>
                <a:lnTo>
                  <a:pt x="99510" y="5724"/>
                </a:lnTo>
                <a:lnTo>
                  <a:pt x="71629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8049631" y="5652762"/>
            <a:ext cx="143510" cy="146050"/>
          </a:xfrm>
          <a:custGeom>
            <a:avLst/>
            <a:gdLst/>
            <a:ahLst/>
            <a:cxnLst/>
            <a:rect l="l" t="t" r="r" b="b"/>
            <a:pathLst>
              <a:path w="143509" h="146050">
                <a:moveTo>
                  <a:pt x="0" y="72848"/>
                </a:moveTo>
                <a:lnTo>
                  <a:pt x="5629" y="44492"/>
                </a:lnTo>
                <a:lnTo>
                  <a:pt x="20979" y="21336"/>
                </a:lnTo>
                <a:lnTo>
                  <a:pt x="43748" y="5724"/>
                </a:lnTo>
                <a:lnTo>
                  <a:pt x="71629" y="0"/>
                </a:lnTo>
                <a:lnTo>
                  <a:pt x="99510" y="5724"/>
                </a:lnTo>
                <a:lnTo>
                  <a:pt x="122279" y="21336"/>
                </a:lnTo>
                <a:lnTo>
                  <a:pt x="137630" y="44492"/>
                </a:lnTo>
                <a:lnTo>
                  <a:pt x="143259" y="72848"/>
                </a:lnTo>
                <a:lnTo>
                  <a:pt x="137630" y="101204"/>
                </a:lnTo>
                <a:lnTo>
                  <a:pt x="122279" y="124360"/>
                </a:lnTo>
                <a:lnTo>
                  <a:pt x="99510" y="139972"/>
                </a:lnTo>
                <a:lnTo>
                  <a:pt x="71629" y="145697"/>
                </a:lnTo>
                <a:lnTo>
                  <a:pt x="43748" y="139972"/>
                </a:lnTo>
                <a:lnTo>
                  <a:pt x="20979" y="124360"/>
                </a:lnTo>
                <a:lnTo>
                  <a:pt x="5629" y="101204"/>
                </a:lnTo>
                <a:lnTo>
                  <a:pt x="0" y="72848"/>
                </a:lnTo>
                <a:close/>
              </a:path>
            </a:pathLst>
          </a:custGeom>
          <a:ln w="38100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7436369" y="6259274"/>
            <a:ext cx="297180" cy="191135"/>
          </a:xfrm>
          <a:custGeom>
            <a:avLst/>
            <a:gdLst/>
            <a:ahLst/>
            <a:cxnLst/>
            <a:rect l="l" t="t" r="r" b="b"/>
            <a:pathLst>
              <a:path w="297179" h="191135">
                <a:moveTo>
                  <a:pt x="296578" y="190934"/>
                </a:moveTo>
                <a:lnTo>
                  <a:pt x="0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7351545" y="5907781"/>
            <a:ext cx="34290" cy="227329"/>
          </a:xfrm>
          <a:custGeom>
            <a:avLst/>
            <a:gdLst/>
            <a:ahLst/>
            <a:cxnLst/>
            <a:rect l="l" t="t" r="r" b="b"/>
            <a:pathLst>
              <a:path w="34290" h="227329">
                <a:moveTo>
                  <a:pt x="34174" y="227133"/>
                </a:moveTo>
                <a:lnTo>
                  <a:pt x="0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7279915" y="5762085"/>
            <a:ext cx="143510" cy="146050"/>
          </a:xfrm>
          <a:custGeom>
            <a:avLst/>
            <a:gdLst/>
            <a:ahLst/>
            <a:cxnLst/>
            <a:rect l="l" t="t" r="r" b="b"/>
            <a:pathLst>
              <a:path w="143509" h="146050">
                <a:moveTo>
                  <a:pt x="71629" y="0"/>
                </a:moveTo>
                <a:lnTo>
                  <a:pt x="43748" y="5724"/>
                </a:lnTo>
                <a:lnTo>
                  <a:pt x="20979" y="21336"/>
                </a:lnTo>
                <a:lnTo>
                  <a:pt x="5629" y="44492"/>
                </a:lnTo>
                <a:lnTo>
                  <a:pt x="0" y="72848"/>
                </a:lnTo>
                <a:lnTo>
                  <a:pt x="5629" y="101204"/>
                </a:lnTo>
                <a:lnTo>
                  <a:pt x="20979" y="124360"/>
                </a:lnTo>
                <a:lnTo>
                  <a:pt x="43748" y="139972"/>
                </a:lnTo>
                <a:lnTo>
                  <a:pt x="71629" y="145696"/>
                </a:lnTo>
                <a:lnTo>
                  <a:pt x="99510" y="139972"/>
                </a:lnTo>
                <a:lnTo>
                  <a:pt x="122279" y="124360"/>
                </a:lnTo>
                <a:lnTo>
                  <a:pt x="137629" y="101204"/>
                </a:lnTo>
                <a:lnTo>
                  <a:pt x="143258" y="72848"/>
                </a:lnTo>
                <a:lnTo>
                  <a:pt x="137629" y="44492"/>
                </a:lnTo>
                <a:lnTo>
                  <a:pt x="122279" y="21336"/>
                </a:lnTo>
                <a:lnTo>
                  <a:pt x="99510" y="5724"/>
                </a:lnTo>
                <a:lnTo>
                  <a:pt x="71629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7279915" y="5762085"/>
            <a:ext cx="143510" cy="146050"/>
          </a:xfrm>
          <a:custGeom>
            <a:avLst/>
            <a:gdLst/>
            <a:ahLst/>
            <a:cxnLst/>
            <a:rect l="l" t="t" r="r" b="b"/>
            <a:pathLst>
              <a:path w="143509" h="146050">
                <a:moveTo>
                  <a:pt x="0" y="72848"/>
                </a:moveTo>
                <a:lnTo>
                  <a:pt x="5629" y="44492"/>
                </a:lnTo>
                <a:lnTo>
                  <a:pt x="20979" y="21336"/>
                </a:lnTo>
                <a:lnTo>
                  <a:pt x="43748" y="5724"/>
                </a:lnTo>
                <a:lnTo>
                  <a:pt x="71629" y="0"/>
                </a:lnTo>
                <a:lnTo>
                  <a:pt x="99510" y="5724"/>
                </a:lnTo>
                <a:lnTo>
                  <a:pt x="122279" y="21336"/>
                </a:lnTo>
                <a:lnTo>
                  <a:pt x="137630" y="44492"/>
                </a:lnTo>
                <a:lnTo>
                  <a:pt x="143259" y="72848"/>
                </a:lnTo>
                <a:lnTo>
                  <a:pt x="137630" y="101204"/>
                </a:lnTo>
                <a:lnTo>
                  <a:pt x="122279" y="124360"/>
                </a:lnTo>
                <a:lnTo>
                  <a:pt x="99510" y="139972"/>
                </a:lnTo>
                <a:lnTo>
                  <a:pt x="71629" y="145697"/>
                </a:lnTo>
                <a:lnTo>
                  <a:pt x="43748" y="139972"/>
                </a:lnTo>
                <a:lnTo>
                  <a:pt x="20979" y="124360"/>
                </a:lnTo>
                <a:lnTo>
                  <a:pt x="5629" y="101204"/>
                </a:lnTo>
                <a:lnTo>
                  <a:pt x="0" y="72848"/>
                </a:lnTo>
                <a:close/>
              </a:path>
            </a:pathLst>
          </a:custGeom>
          <a:ln w="38100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7314089" y="6134914"/>
            <a:ext cx="143510" cy="146050"/>
          </a:xfrm>
          <a:custGeom>
            <a:avLst/>
            <a:gdLst/>
            <a:ahLst/>
            <a:cxnLst/>
            <a:rect l="l" t="t" r="r" b="b"/>
            <a:pathLst>
              <a:path w="143509" h="146050">
                <a:moveTo>
                  <a:pt x="71629" y="0"/>
                </a:moveTo>
                <a:lnTo>
                  <a:pt x="43747" y="5724"/>
                </a:lnTo>
                <a:lnTo>
                  <a:pt x="20979" y="21336"/>
                </a:lnTo>
                <a:lnTo>
                  <a:pt x="5628" y="44492"/>
                </a:lnTo>
                <a:lnTo>
                  <a:pt x="0" y="72848"/>
                </a:lnTo>
                <a:lnTo>
                  <a:pt x="5628" y="101204"/>
                </a:lnTo>
                <a:lnTo>
                  <a:pt x="20979" y="124360"/>
                </a:lnTo>
                <a:lnTo>
                  <a:pt x="43747" y="139972"/>
                </a:lnTo>
                <a:lnTo>
                  <a:pt x="71629" y="145696"/>
                </a:lnTo>
                <a:lnTo>
                  <a:pt x="99510" y="139972"/>
                </a:lnTo>
                <a:lnTo>
                  <a:pt x="122278" y="124360"/>
                </a:lnTo>
                <a:lnTo>
                  <a:pt x="137629" y="101204"/>
                </a:lnTo>
                <a:lnTo>
                  <a:pt x="143258" y="72848"/>
                </a:lnTo>
                <a:lnTo>
                  <a:pt x="137629" y="44492"/>
                </a:lnTo>
                <a:lnTo>
                  <a:pt x="122278" y="21336"/>
                </a:lnTo>
                <a:lnTo>
                  <a:pt x="99510" y="5724"/>
                </a:lnTo>
                <a:lnTo>
                  <a:pt x="71629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7314089" y="6134914"/>
            <a:ext cx="143510" cy="146050"/>
          </a:xfrm>
          <a:custGeom>
            <a:avLst/>
            <a:gdLst/>
            <a:ahLst/>
            <a:cxnLst/>
            <a:rect l="l" t="t" r="r" b="b"/>
            <a:pathLst>
              <a:path w="143509" h="146050">
                <a:moveTo>
                  <a:pt x="0" y="72848"/>
                </a:moveTo>
                <a:lnTo>
                  <a:pt x="5629" y="44492"/>
                </a:lnTo>
                <a:lnTo>
                  <a:pt x="20979" y="21336"/>
                </a:lnTo>
                <a:lnTo>
                  <a:pt x="43748" y="5724"/>
                </a:lnTo>
                <a:lnTo>
                  <a:pt x="71629" y="0"/>
                </a:lnTo>
                <a:lnTo>
                  <a:pt x="99510" y="5724"/>
                </a:lnTo>
                <a:lnTo>
                  <a:pt x="122279" y="21336"/>
                </a:lnTo>
                <a:lnTo>
                  <a:pt x="137630" y="44492"/>
                </a:lnTo>
                <a:lnTo>
                  <a:pt x="143259" y="72848"/>
                </a:lnTo>
                <a:lnTo>
                  <a:pt x="137630" y="101204"/>
                </a:lnTo>
                <a:lnTo>
                  <a:pt x="122279" y="124360"/>
                </a:lnTo>
                <a:lnTo>
                  <a:pt x="99510" y="139972"/>
                </a:lnTo>
                <a:lnTo>
                  <a:pt x="71629" y="145697"/>
                </a:lnTo>
                <a:lnTo>
                  <a:pt x="43748" y="139972"/>
                </a:lnTo>
                <a:lnTo>
                  <a:pt x="20979" y="124360"/>
                </a:lnTo>
                <a:lnTo>
                  <a:pt x="5629" y="101204"/>
                </a:lnTo>
                <a:lnTo>
                  <a:pt x="0" y="72848"/>
                </a:lnTo>
                <a:close/>
              </a:path>
            </a:pathLst>
          </a:custGeom>
          <a:ln w="38100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7711967" y="6428871"/>
            <a:ext cx="143510" cy="146050"/>
          </a:xfrm>
          <a:custGeom>
            <a:avLst/>
            <a:gdLst/>
            <a:ahLst/>
            <a:cxnLst/>
            <a:rect l="l" t="t" r="r" b="b"/>
            <a:pathLst>
              <a:path w="143509" h="146050">
                <a:moveTo>
                  <a:pt x="71629" y="0"/>
                </a:moveTo>
                <a:lnTo>
                  <a:pt x="43747" y="5724"/>
                </a:lnTo>
                <a:lnTo>
                  <a:pt x="20979" y="21336"/>
                </a:lnTo>
                <a:lnTo>
                  <a:pt x="5628" y="44492"/>
                </a:lnTo>
                <a:lnTo>
                  <a:pt x="0" y="72848"/>
                </a:lnTo>
                <a:lnTo>
                  <a:pt x="5628" y="101204"/>
                </a:lnTo>
                <a:lnTo>
                  <a:pt x="20979" y="124360"/>
                </a:lnTo>
                <a:lnTo>
                  <a:pt x="43747" y="139972"/>
                </a:lnTo>
                <a:lnTo>
                  <a:pt x="71629" y="145696"/>
                </a:lnTo>
                <a:lnTo>
                  <a:pt x="99510" y="139972"/>
                </a:lnTo>
                <a:lnTo>
                  <a:pt x="122278" y="124360"/>
                </a:lnTo>
                <a:lnTo>
                  <a:pt x="137629" y="101204"/>
                </a:lnTo>
                <a:lnTo>
                  <a:pt x="143258" y="72848"/>
                </a:lnTo>
                <a:lnTo>
                  <a:pt x="137629" y="44492"/>
                </a:lnTo>
                <a:lnTo>
                  <a:pt x="122278" y="21336"/>
                </a:lnTo>
                <a:lnTo>
                  <a:pt x="99510" y="5724"/>
                </a:lnTo>
                <a:lnTo>
                  <a:pt x="71629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7711967" y="6428871"/>
            <a:ext cx="143510" cy="146050"/>
          </a:xfrm>
          <a:custGeom>
            <a:avLst/>
            <a:gdLst/>
            <a:ahLst/>
            <a:cxnLst/>
            <a:rect l="l" t="t" r="r" b="b"/>
            <a:pathLst>
              <a:path w="143509" h="146050">
                <a:moveTo>
                  <a:pt x="0" y="72848"/>
                </a:moveTo>
                <a:lnTo>
                  <a:pt x="5629" y="44492"/>
                </a:lnTo>
                <a:lnTo>
                  <a:pt x="20979" y="21336"/>
                </a:lnTo>
                <a:lnTo>
                  <a:pt x="43748" y="5724"/>
                </a:lnTo>
                <a:lnTo>
                  <a:pt x="71629" y="0"/>
                </a:lnTo>
                <a:lnTo>
                  <a:pt x="99510" y="5724"/>
                </a:lnTo>
                <a:lnTo>
                  <a:pt x="122279" y="21336"/>
                </a:lnTo>
                <a:lnTo>
                  <a:pt x="137630" y="44492"/>
                </a:lnTo>
                <a:lnTo>
                  <a:pt x="143259" y="72848"/>
                </a:lnTo>
                <a:lnTo>
                  <a:pt x="137630" y="101204"/>
                </a:lnTo>
                <a:lnTo>
                  <a:pt x="122279" y="124360"/>
                </a:lnTo>
                <a:lnTo>
                  <a:pt x="99510" y="139972"/>
                </a:lnTo>
                <a:lnTo>
                  <a:pt x="71629" y="145697"/>
                </a:lnTo>
                <a:lnTo>
                  <a:pt x="43748" y="139972"/>
                </a:lnTo>
                <a:lnTo>
                  <a:pt x="20979" y="124360"/>
                </a:lnTo>
                <a:lnTo>
                  <a:pt x="5629" y="101204"/>
                </a:lnTo>
                <a:lnTo>
                  <a:pt x="0" y="72848"/>
                </a:lnTo>
                <a:close/>
              </a:path>
            </a:pathLst>
          </a:custGeom>
          <a:ln w="38100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7192353" y="5685230"/>
            <a:ext cx="0" cy="182245"/>
          </a:xfrm>
          <a:custGeom>
            <a:avLst/>
            <a:gdLst/>
            <a:ahLst/>
            <a:cxnLst/>
            <a:rect l="l" t="t" r="r" b="b"/>
            <a:pathLst>
              <a:path w="0" h="182245">
                <a:moveTo>
                  <a:pt x="0" y="0"/>
                </a:moveTo>
                <a:lnTo>
                  <a:pt x="0" y="182168"/>
                </a:lnTo>
              </a:path>
            </a:pathLst>
          </a:custGeom>
          <a:ln w="59107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7162800" y="5685230"/>
            <a:ext cx="59690" cy="182245"/>
          </a:xfrm>
          <a:custGeom>
            <a:avLst/>
            <a:gdLst/>
            <a:ahLst/>
            <a:cxnLst/>
            <a:rect l="l" t="t" r="r" b="b"/>
            <a:pathLst>
              <a:path w="59690" h="182245">
                <a:moveTo>
                  <a:pt x="0" y="0"/>
                </a:moveTo>
                <a:lnTo>
                  <a:pt x="59107" y="0"/>
                </a:lnTo>
                <a:lnTo>
                  <a:pt x="59107" y="182169"/>
                </a:lnTo>
                <a:lnTo>
                  <a:pt x="0" y="182169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8259152" y="5609032"/>
            <a:ext cx="0" cy="182245"/>
          </a:xfrm>
          <a:custGeom>
            <a:avLst/>
            <a:gdLst/>
            <a:ahLst/>
            <a:cxnLst/>
            <a:rect l="l" t="t" r="r" b="b"/>
            <a:pathLst>
              <a:path w="0" h="182245">
                <a:moveTo>
                  <a:pt x="0" y="0"/>
                </a:moveTo>
                <a:lnTo>
                  <a:pt x="0" y="182169"/>
                </a:lnTo>
              </a:path>
            </a:pathLst>
          </a:custGeom>
          <a:ln w="59107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8229598" y="5609032"/>
            <a:ext cx="59690" cy="182245"/>
          </a:xfrm>
          <a:custGeom>
            <a:avLst/>
            <a:gdLst/>
            <a:ahLst/>
            <a:cxnLst/>
            <a:rect l="l" t="t" r="r" b="b"/>
            <a:pathLst>
              <a:path w="59690" h="182245">
                <a:moveTo>
                  <a:pt x="0" y="0"/>
                </a:moveTo>
                <a:lnTo>
                  <a:pt x="59107" y="0"/>
                </a:lnTo>
                <a:lnTo>
                  <a:pt x="59107" y="182169"/>
                </a:lnTo>
                <a:lnTo>
                  <a:pt x="0" y="182169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8197170" y="5952745"/>
            <a:ext cx="0" cy="182245"/>
          </a:xfrm>
          <a:custGeom>
            <a:avLst/>
            <a:gdLst/>
            <a:ahLst/>
            <a:cxnLst/>
            <a:rect l="l" t="t" r="r" b="b"/>
            <a:pathLst>
              <a:path w="0" h="182245">
                <a:moveTo>
                  <a:pt x="0" y="0"/>
                </a:moveTo>
                <a:lnTo>
                  <a:pt x="0" y="182168"/>
                </a:lnTo>
              </a:path>
            </a:pathLst>
          </a:custGeom>
          <a:ln w="59107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8167617" y="5952745"/>
            <a:ext cx="59690" cy="182245"/>
          </a:xfrm>
          <a:custGeom>
            <a:avLst/>
            <a:gdLst/>
            <a:ahLst/>
            <a:cxnLst/>
            <a:rect l="l" t="t" r="r" b="b"/>
            <a:pathLst>
              <a:path w="59690" h="182245">
                <a:moveTo>
                  <a:pt x="0" y="0"/>
                </a:moveTo>
                <a:lnTo>
                  <a:pt x="59107" y="0"/>
                </a:lnTo>
                <a:lnTo>
                  <a:pt x="59107" y="182169"/>
                </a:lnTo>
                <a:lnTo>
                  <a:pt x="0" y="182169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7236253" y="6115306"/>
            <a:ext cx="0" cy="182245"/>
          </a:xfrm>
          <a:custGeom>
            <a:avLst/>
            <a:gdLst/>
            <a:ahLst/>
            <a:cxnLst/>
            <a:rect l="l" t="t" r="r" b="b"/>
            <a:pathLst>
              <a:path w="0" h="182245">
                <a:moveTo>
                  <a:pt x="0" y="0"/>
                </a:moveTo>
                <a:lnTo>
                  <a:pt x="0" y="182169"/>
                </a:lnTo>
              </a:path>
            </a:pathLst>
          </a:custGeom>
          <a:ln w="59107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7206700" y="6115306"/>
            <a:ext cx="59690" cy="182245"/>
          </a:xfrm>
          <a:custGeom>
            <a:avLst/>
            <a:gdLst/>
            <a:ahLst/>
            <a:cxnLst/>
            <a:rect l="l" t="t" r="r" b="b"/>
            <a:pathLst>
              <a:path w="59690" h="182245">
                <a:moveTo>
                  <a:pt x="0" y="0"/>
                </a:moveTo>
                <a:lnTo>
                  <a:pt x="59107" y="0"/>
                </a:lnTo>
                <a:lnTo>
                  <a:pt x="59107" y="182169"/>
                </a:lnTo>
                <a:lnTo>
                  <a:pt x="0" y="182169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7625869" y="6496703"/>
            <a:ext cx="0" cy="182245"/>
          </a:xfrm>
          <a:custGeom>
            <a:avLst/>
            <a:gdLst/>
            <a:ahLst/>
            <a:cxnLst/>
            <a:rect l="l" t="t" r="r" b="b"/>
            <a:pathLst>
              <a:path w="0" h="182245">
                <a:moveTo>
                  <a:pt x="0" y="0"/>
                </a:moveTo>
                <a:lnTo>
                  <a:pt x="0" y="182169"/>
                </a:lnTo>
              </a:path>
            </a:pathLst>
          </a:custGeom>
          <a:ln w="59107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7596315" y="6496703"/>
            <a:ext cx="59690" cy="182245"/>
          </a:xfrm>
          <a:custGeom>
            <a:avLst/>
            <a:gdLst/>
            <a:ahLst/>
            <a:cxnLst/>
            <a:rect l="l" t="t" r="r" b="b"/>
            <a:pathLst>
              <a:path w="59690" h="182245">
                <a:moveTo>
                  <a:pt x="0" y="0"/>
                </a:moveTo>
                <a:lnTo>
                  <a:pt x="59107" y="0"/>
                </a:lnTo>
                <a:lnTo>
                  <a:pt x="59107" y="182169"/>
                </a:lnTo>
                <a:lnTo>
                  <a:pt x="0" y="182169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 txBox="1"/>
          <p:nvPr/>
        </p:nvSpPr>
        <p:spPr>
          <a:xfrm>
            <a:off x="6784340" y="5011928"/>
            <a:ext cx="222059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500" spc="-5">
                <a:latin typeface="Arial"/>
                <a:cs typeface="Arial"/>
              </a:rPr>
              <a:t>Obtain </a:t>
            </a:r>
            <a:r>
              <a:rPr dirty="0" sz="1500" spc="-5" b="1">
                <a:latin typeface="Arial"/>
                <a:cs typeface="Arial"/>
              </a:rPr>
              <a:t>all node  embeddings </a:t>
            </a:r>
            <a:r>
              <a:rPr dirty="0" sz="1500">
                <a:latin typeface="Arial"/>
                <a:cs typeface="Arial"/>
              </a:rPr>
              <a:t>at layer</a:t>
            </a:r>
            <a:r>
              <a:rPr dirty="0" sz="1500" spc="-85">
                <a:latin typeface="Arial"/>
                <a:cs typeface="Arial"/>
              </a:rPr>
              <a:t> </a:t>
            </a:r>
            <a:r>
              <a:rPr dirty="0" sz="1500" spc="-5">
                <a:latin typeface="Arial"/>
                <a:cs typeface="Arial"/>
              </a:rPr>
              <a:t>K+1</a:t>
            </a:r>
            <a:endParaRPr sz="1500">
              <a:latin typeface="Arial"/>
              <a:cs typeface="Arial"/>
            </a:endParaRPr>
          </a:p>
        </p:txBody>
      </p:sp>
      <p:sp>
        <p:nvSpPr>
          <p:cNvPr id="88" name="object 88"/>
          <p:cNvSpPr/>
          <p:nvPr/>
        </p:nvSpPr>
        <p:spPr>
          <a:xfrm>
            <a:off x="6495527" y="5981516"/>
            <a:ext cx="337820" cy="0"/>
          </a:xfrm>
          <a:custGeom>
            <a:avLst/>
            <a:gdLst/>
            <a:ahLst/>
            <a:cxnLst/>
            <a:rect l="l" t="t" r="r" b="b"/>
            <a:pathLst>
              <a:path w="337820" h="0">
                <a:moveTo>
                  <a:pt x="337494" y="0"/>
                </a:moveTo>
                <a:lnTo>
                  <a:pt x="0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6485199" y="2133059"/>
            <a:ext cx="18415" cy="3848735"/>
          </a:xfrm>
          <a:custGeom>
            <a:avLst/>
            <a:gdLst/>
            <a:ahLst/>
            <a:cxnLst/>
            <a:rect l="l" t="t" r="r" b="b"/>
            <a:pathLst>
              <a:path w="18415" h="3848735">
                <a:moveTo>
                  <a:pt x="0" y="3848458"/>
                </a:moveTo>
                <a:lnTo>
                  <a:pt x="18259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6489170" y="2072539"/>
            <a:ext cx="445134" cy="85725"/>
          </a:xfrm>
          <a:custGeom>
            <a:avLst/>
            <a:gdLst/>
            <a:ahLst/>
            <a:cxnLst/>
            <a:rect l="l" t="t" r="r" b="b"/>
            <a:pathLst>
              <a:path w="445134" h="85725">
                <a:moveTo>
                  <a:pt x="359304" y="57149"/>
                </a:moveTo>
                <a:lnTo>
                  <a:pt x="359304" y="85725"/>
                </a:lnTo>
                <a:lnTo>
                  <a:pt x="416454" y="57150"/>
                </a:lnTo>
                <a:lnTo>
                  <a:pt x="359304" y="57149"/>
                </a:lnTo>
                <a:close/>
              </a:path>
              <a:path w="445134" h="85725">
                <a:moveTo>
                  <a:pt x="359304" y="28574"/>
                </a:moveTo>
                <a:lnTo>
                  <a:pt x="359304" y="57149"/>
                </a:lnTo>
                <a:lnTo>
                  <a:pt x="381483" y="57148"/>
                </a:lnTo>
                <a:lnTo>
                  <a:pt x="387879" y="50753"/>
                </a:lnTo>
                <a:lnTo>
                  <a:pt x="387879" y="34970"/>
                </a:lnTo>
                <a:lnTo>
                  <a:pt x="381482" y="28575"/>
                </a:lnTo>
                <a:lnTo>
                  <a:pt x="359304" y="28574"/>
                </a:lnTo>
                <a:close/>
              </a:path>
              <a:path w="445134" h="85725">
                <a:moveTo>
                  <a:pt x="359304" y="0"/>
                </a:moveTo>
                <a:lnTo>
                  <a:pt x="359304" y="28574"/>
                </a:lnTo>
                <a:lnTo>
                  <a:pt x="373592" y="28575"/>
                </a:lnTo>
                <a:lnTo>
                  <a:pt x="381482" y="28575"/>
                </a:lnTo>
                <a:lnTo>
                  <a:pt x="387879" y="34970"/>
                </a:lnTo>
                <a:lnTo>
                  <a:pt x="387879" y="50753"/>
                </a:lnTo>
                <a:lnTo>
                  <a:pt x="381482" y="57150"/>
                </a:lnTo>
                <a:lnTo>
                  <a:pt x="416457" y="57148"/>
                </a:lnTo>
                <a:lnTo>
                  <a:pt x="445029" y="42862"/>
                </a:lnTo>
                <a:lnTo>
                  <a:pt x="359304" y="0"/>
                </a:lnTo>
                <a:close/>
              </a:path>
              <a:path w="445134" h="85725">
                <a:moveTo>
                  <a:pt x="14287" y="28573"/>
                </a:moveTo>
                <a:lnTo>
                  <a:pt x="6395" y="28575"/>
                </a:lnTo>
                <a:lnTo>
                  <a:pt x="0" y="34970"/>
                </a:lnTo>
                <a:lnTo>
                  <a:pt x="1" y="50753"/>
                </a:lnTo>
                <a:lnTo>
                  <a:pt x="6396" y="57148"/>
                </a:lnTo>
                <a:lnTo>
                  <a:pt x="359304" y="57149"/>
                </a:lnTo>
                <a:lnTo>
                  <a:pt x="359304" y="28574"/>
                </a:lnTo>
                <a:lnTo>
                  <a:pt x="14287" y="285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3/13/21</a:t>
            </a:r>
          </a:p>
        </p:txBody>
      </p:sp>
      <p:sp>
        <p:nvSpPr>
          <p:cNvPr id="92" name="object 9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93" name="object 93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7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5591" y="347472"/>
            <a:ext cx="3681984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46355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0"/>
              <a:t>However, </a:t>
            </a:r>
            <a:r>
              <a:rPr dirty="0" spc="-10" b="1">
                <a:solidFill>
                  <a:srgbClr val="D60093"/>
                </a:solidFill>
                <a:latin typeface="Calibri"/>
                <a:cs typeface="Calibri"/>
              </a:rPr>
              <a:t>Full-batch </a:t>
            </a:r>
            <a:r>
              <a:rPr dirty="0" spc="-10"/>
              <a:t>implementation </a:t>
            </a:r>
            <a:r>
              <a:rPr dirty="0"/>
              <a:t>is </a:t>
            </a:r>
            <a:r>
              <a:rPr dirty="0" spc="-5" b="1">
                <a:solidFill>
                  <a:srgbClr val="0000FF"/>
                </a:solidFill>
                <a:latin typeface="Calibri"/>
                <a:cs typeface="Calibri"/>
              </a:rPr>
              <a:t>not  </a:t>
            </a:r>
            <a:r>
              <a:rPr dirty="0" spc="-10" b="1">
                <a:solidFill>
                  <a:srgbClr val="0000FF"/>
                </a:solidFill>
                <a:latin typeface="Calibri"/>
                <a:cs typeface="Calibri"/>
              </a:rPr>
              <a:t>feasible </a:t>
            </a:r>
            <a:r>
              <a:rPr dirty="0" spc="-25"/>
              <a:t>for </a:t>
            </a:r>
            <a:r>
              <a:rPr dirty="0"/>
              <a:t>a </a:t>
            </a:r>
            <a:r>
              <a:rPr dirty="0" spc="-15"/>
              <a:t>large graphs.</a:t>
            </a:r>
            <a:r>
              <a:rPr dirty="0" spc="5"/>
              <a:t> </a:t>
            </a:r>
            <a:r>
              <a:rPr dirty="0" spc="-20" b="1">
                <a:solidFill>
                  <a:srgbClr val="FF0000"/>
                </a:solidFill>
                <a:latin typeface="Calibri"/>
                <a:cs typeface="Calibri"/>
              </a:rPr>
              <a:t>Why?</a:t>
            </a:r>
          </a:p>
          <a:p>
            <a:pPr marL="332740" marR="5080" indent="-320040">
              <a:lnSpc>
                <a:spcPts val="3790"/>
              </a:lnSpc>
              <a:spcBef>
                <a:spcPts val="114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/>
              <a:t>Because </a:t>
            </a:r>
            <a:r>
              <a:rPr dirty="0" spc="-15"/>
              <a:t>we </a:t>
            </a:r>
            <a:r>
              <a:rPr dirty="0" spc="-20"/>
              <a:t>want </a:t>
            </a:r>
            <a:r>
              <a:rPr dirty="0" spc="-15"/>
              <a:t>to </a:t>
            </a:r>
            <a:r>
              <a:rPr dirty="0" spc="-5"/>
              <a:t>use GPU </a:t>
            </a:r>
            <a:r>
              <a:rPr dirty="0" spc="-25"/>
              <a:t>for </a:t>
            </a:r>
            <a:r>
              <a:rPr dirty="0" spc="-30"/>
              <a:t>fast </a:t>
            </a:r>
            <a:r>
              <a:rPr dirty="0" spc="-5"/>
              <a:t>training,  </a:t>
            </a:r>
            <a:r>
              <a:rPr dirty="0"/>
              <a:t>but </a:t>
            </a:r>
            <a:r>
              <a:rPr dirty="0" spc="-5"/>
              <a:t>GPU </a:t>
            </a:r>
            <a:r>
              <a:rPr dirty="0"/>
              <a:t>memory is </a:t>
            </a:r>
            <a:r>
              <a:rPr dirty="0" spc="-15"/>
              <a:t>extremely </a:t>
            </a:r>
            <a:r>
              <a:rPr dirty="0" spc="-10"/>
              <a:t>limited</a:t>
            </a:r>
            <a:r>
              <a:rPr dirty="0" spc="40"/>
              <a:t> </a:t>
            </a:r>
            <a:r>
              <a:rPr dirty="0" spc="-5"/>
              <a:t>(only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38149" y="3212664"/>
            <a:ext cx="6811009" cy="1546860"/>
          </a:xfrm>
          <a:prstGeom prst="rect">
            <a:avLst/>
          </a:prstGeom>
        </p:spPr>
        <p:txBody>
          <a:bodyPr wrap="square" lIns="0" tIns="1054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dirty="0" sz="3200" spc="-5">
                <a:latin typeface="Calibri"/>
                <a:cs typeface="Calibri"/>
              </a:rPr>
              <a:t>10GB--20GB).</a:t>
            </a:r>
            <a:endParaRPr sz="3200">
              <a:latin typeface="Calibri"/>
              <a:cs typeface="Calibri"/>
            </a:endParaRPr>
          </a:p>
          <a:p>
            <a:pPr marL="305435" marR="5080" indent="-274320">
              <a:lnSpc>
                <a:spcPct val="101400"/>
              </a:lnSpc>
              <a:spcBef>
                <a:spcPts val="590"/>
              </a:spcBef>
              <a:buClr>
                <a:srgbClr val="60B5CC"/>
              </a:buClr>
              <a:buFont typeface="Malgun Gothic"/>
              <a:buChar char="▪"/>
              <a:tabLst>
                <a:tab pos="305435" algn="l"/>
              </a:tabLst>
            </a:pP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The </a:t>
            </a: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entire graph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and the </a:t>
            </a: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features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cannot </a:t>
            </a:r>
            <a:r>
              <a:rPr dirty="0" sz="2800" spc="-315" b="1">
                <a:solidFill>
                  <a:srgbClr val="C00000"/>
                </a:solidFill>
                <a:latin typeface="Calibri"/>
                <a:cs typeface="Calibri"/>
              </a:rPr>
              <a:t>be 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loaded on</a:t>
            </a:r>
            <a:r>
              <a:rPr dirty="0" sz="2800" spc="-6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GPU</a:t>
            </a:r>
            <a:r>
              <a:rPr dirty="0" sz="2800" spc="-15" b="1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425887" y="5562600"/>
            <a:ext cx="1676400" cy="990600"/>
          </a:xfrm>
          <a:custGeom>
            <a:avLst/>
            <a:gdLst/>
            <a:ahLst/>
            <a:cxnLst/>
            <a:rect l="l" t="t" r="r" b="b"/>
            <a:pathLst>
              <a:path w="1676400" h="990600">
                <a:moveTo>
                  <a:pt x="0" y="165102"/>
                </a:moveTo>
                <a:lnTo>
                  <a:pt x="5897" y="121211"/>
                </a:lnTo>
                <a:lnTo>
                  <a:pt x="22541" y="81772"/>
                </a:lnTo>
                <a:lnTo>
                  <a:pt x="48357" y="48357"/>
                </a:lnTo>
                <a:lnTo>
                  <a:pt x="81772" y="22541"/>
                </a:lnTo>
                <a:lnTo>
                  <a:pt x="121211" y="5897"/>
                </a:lnTo>
                <a:lnTo>
                  <a:pt x="165102" y="0"/>
                </a:lnTo>
                <a:lnTo>
                  <a:pt x="1511297" y="0"/>
                </a:lnTo>
                <a:lnTo>
                  <a:pt x="1555187" y="5897"/>
                </a:lnTo>
                <a:lnTo>
                  <a:pt x="1594627" y="22541"/>
                </a:lnTo>
                <a:lnTo>
                  <a:pt x="1628042" y="48357"/>
                </a:lnTo>
                <a:lnTo>
                  <a:pt x="1653858" y="81772"/>
                </a:lnTo>
                <a:lnTo>
                  <a:pt x="1670502" y="121211"/>
                </a:lnTo>
                <a:lnTo>
                  <a:pt x="1676400" y="165102"/>
                </a:lnTo>
                <a:lnTo>
                  <a:pt x="1676400" y="825497"/>
                </a:lnTo>
                <a:lnTo>
                  <a:pt x="1670502" y="869388"/>
                </a:lnTo>
                <a:lnTo>
                  <a:pt x="1653858" y="908827"/>
                </a:lnTo>
                <a:lnTo>
                  <a:pt x="1628042" y="942242"/>
                </a:lnTo>
                <a:lnTo>
                  <a:pt x="1594627" y="968058"/>
                </a:lnTo>
                <a:lnTo>
                  <a:pt x="1555187" y="984702"/>
                </a:lnTo>
                <a:lnTo>
                  <a:pt x="1511297" y="990600"/>
                </a:lnTo>
                <a:lnTo>
                  <a:pt x="165102" y="990600"/>
                </a:lnTo>
                <a:lnTo>
                  <a:pt x="121211" y="984702"/>
                </a:lnTo>
                <a:lnTo>
                  <a:pt x="81772" y="968058"/>
                </a:lnTo>
                <a:lnTo>
                  <a:pt x="48357" y="942242"/>
                </a:lnTo>
                <a:lnTo>
                  <a:pt x="22541" y="908827"/>
                </a:lnTo>
                <a:lnTo>
                  <a:pt x="5897" y="869388"/>
                </a:lnTo>
                <a:lnTo>
                  <a:pt x="0" y="825497"/>
                </a:lnTo>
                <a:lnTo>
                  <a:pt x="0" y="165102"/>
                </a:lnTo>
                <a:close/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614051" y="5562600"/>
            <a:ext cx="1676400" cy="990600"/>
          </a:xfrm>
          <a:custGeom>
            <a:avLst/>
            <a:gdLst/>
            <a:ahLst/>
            <a:cxnLst/>
            <a:rect l="l" t="t" r="r" b="b"/>
            <a:pathLst>
              <a:path w="1676400" h="990600">
                <a:moveTo>
                  <a:pt x="0" y="165102"/>
                </a:moveTo>
                <a:lnTo>
                  <a:pt x="5897" y="121211"/>
                </a:lnTo>
                <a:lnTo>
                  <a:pt x="22541" y="81772"/>
                </a:lnTo>
                <a:lnTo>
                  <a:pt x="48357" y="48357"/>
                </a:lnTo>
                <a:lnTo>
                  <a:pt x="81772" y="22541"/>
                </a:lnTo>
                <a:lnTo>
                  <a:pt x="121211" y="5897"/>
                </a:lnTo>
                <a:lnTo>
                  <a:pt x="165102" y="0"/>
                </a:lnTo>
                <a:lnTo>
                  <a:pt x="1511297" y="0"/>
                </a:lnTo>
                <a:lnTo>
                  <a:pt x="1555187" y="5897"/>
                </a:lnTo>
                <a:lnTo>
                  <a:pt x="1594627" y="22541"/>
                </a:lnTo>
                <a:lnTo>
                  <a:pt x="1628042" y="48357"/>
                </a:lnTo>
                <a:lnTo>
                  <a:pt x="1653858" y="81772"/>
                </a:lnTo>
                <a:lnTo>
                  <a:pt x="1670502" y="121211"/>
                </a:lnTo>
                <a:lnTo>
                  <a:pt x="1676400" y="165102"/>
                </a:lnTo>
                <a:lnTo>
                  <a:pt x="1676400" y="825497"/>
                </a:lnTo>
                <a:lnTo>
                  <a:pt x="1670502" y="869388"/>
                </a:lnTo>
                <a:lnTo>
                  <a:pt x="1653858" y="908827"/>
                </a:lnTo>
                <a:lnTo>
                  <a:pt x="1628042" y="942242"/>
                </a:lnTo>
                <a:lnTo>
                  <a:pt x="1594627" y="968058"/>
                </a:lnTo>
                <a:lnTo>
                  <a:pt x="1555187" y="984702"/>
                </a:lnTo>
                <a:lnTo>
                  <a:pt x="1511297" y="990600"/>
                </a:lnTo>
                <a:lnTo>
                  <a:pt x="165102" y="990600"/>
                </a:lnTo>
                <a:lnTo>
                  <a:pt x="121211" y="984702"/>
                </a:lnTo>
                <a:lnTo>
                  <a:pt x="81772" y="968058"/>
                </a:lnTo>
                <a:lnTo>
                  <a:pt x="48357" y="942242"/>
                </a:lnTo>
                <a:lnTo>
                  <a:pt x="22541" y="908827"/>
                </a:lnTo>
                <a:lnTo>
                  <a:pt x="5897" y="869388"/>
                </a:lnTo>
                <a:lnTo>
                  <a:pt x="0" y="825497"/>
                </a:lnTo>
                <a:lnTo>
                  <a:pt x="0" y="165102"/>
                </a:lnTo>
                <a:close/>
              </a:path>
            </a:pathLst>
          </a:custGeom>
          <a:ln w="381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585030" y="5657595"/>
            <a:ext cx="1353820" cy="7645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800" spc="-5">
                <a:latin typeface="Arial"/>
                <a:cs typeface="Arial"/>
              </a:rPr>
              <a:t>CPU</a:t>
            </a:r>
            <a:endParaRPr sz="2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dirty="0" sz="2000">
                <a:latin typeface="Arial"/>
                <a:cs typeface="Arial"/>
              </a:rPr>
              <a:t>1TB—10TB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3/13/21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10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63265" y="5669788"/>
            <a:ext cx="1577975" cy="7645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800" spc="-5">
                <a:latin typeface="Arial"/>
                <a:cs typeface="Arial"/>
              </a:rPr>
              <a:t>GPU</a:t>
            </a:r>
            <a:endParaRPr sz="2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dirty="0" sz="2000">
                <a:latin typeface="Arial"/>
                <a:cs typeface="Arial"/>
              </a:rPr>
              <a:t>10</a:t>
            </a:r>
            <a:r>
              <a:rPr dirty="0" sz="2000" spc="-10">
                <a:latin typeface="Arial"/>
                <a:cs typeface="Arial"/>
              </a:rPr>
              <a:t>G</a:t>
            </a:r>
            <a:r>
              <a:rPr dirty="0" sz="2000">
                <a:latin typeface="Arial"/>
                <a:cs typeface="Arial"/>
              </a:rPr>
              <a:t>B—20</a:t>
            </a:r>
            <a:r>
              <a:rPr dirty="0" sz="2000" spc="-10">
                <a:latin typeface="Arial"/>
                <a:cs typeface="Arial"/>
              </a:rPr>
              <a:t>G</a:t>
            </a:r>
            <a:r>
              <a:rPr dirty="0" sz="2000">
                <a:latin typeface="Arial"/>
                <a:cs typeface="Arial"/>
              </a:rPr>
              <a:t>B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53801" y="4915915"/>
            <a:ext cx="1842135" cy="568325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12700" marR="5080">
              <a:lnSpc>
                <a:spcPts val="2110"/>
              </a:lnSpc>
              <a:spcBef>
                <a:spcPts val="210"/>
              </a:spcBef>
            </a:pPr>
            <a:r>
              <a:rPr dirty="0" sz="1800" spc="-5">
                <a:latin typeface="Arial"/>
                <a:cs typeface="Arial"/>
              </a:rPr>
              <a:t>Fast</a:t>
            </a:r>
            <a:r>
              <a:rPr dirty="0" sz="1800" spc="-65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computation,  limited</a:t>
            </a:r>
            <a:r>
              <a:rPr dirty="0" sz="1800" spc="-55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memory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04627" y="4912867"/>
            <a:ext cx="1892935" cy="56515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 marR="5080">
              <a:lnSpc>
                <a:spcPts val="2090"/>
              </a:lnSpc>
              <a:spcBef>
                <a:spcPts val="225"/>
              </a:spcBef>
            </a:pPr>
            <a:r>
              <a:rPr dirty="0" sz="1800" spc="-5">
                <a:latin typeface="Arial"/>
                <a:cs typeface="Arial"/>
              </a:rPr>
              <a:t>Slow</a:t>
            </a:r>
            <a:r>
              <a:rPr dirty="0" sz="1800" spc="-65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computation,  large</a:t>
            </a:r>
            <a:r>
              <a:rPr dirty="0" sz="1800" spc="-70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memory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3852672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833691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0"/>
              <a:t>We </a:t>
            </a:r>
            <a:r>
              <a:rPr dirty="0" spc="-10"/>
              <a:t>introduce </a:t>
            </a:r>
            <a:r>
              <a:rPr dirty="0" spc="-15" b="1">
                <a:solidFill>
                  <a:srgbClr val="D60093"/>
                </a:solidFill>
                <a:latin typeface="Calibri"/>
                <a:cs typeface="Calibri"/>
              </a:rPr>
              <a:t>three </a:t>
            </a:r>
            <a:r>
              <a:rPr dirty="0" spc="-10" b="1">
                <a:solidFill>
                  <a:srgbClr val="D60093"/>
                </a:solidFill>
                <a:latin typeface="Calibri"/>
                <a:cs typeface="Calibri"/>
              </a:rPr>
              <a:t>methods </a:t>
            </a:r>
            <a:r>
              <a:rPr dirty="0" spc="-20" b="1">
                <a:solidFill>
                  <a:srgbClr val="D60093"/>
                </a:solidFill>
                <a:latin typeface="Calibri"/>
                <a:cs typeface="Calibri"/>
              </a:rPr>
              <a:t>for </a:t>
            </a:r>
            <a:r>
              <a:rPr dirty="0" spc="-10" b="1">
                <a:solidFill>
                  <a:srgbClr val="D60093"/>
                </a:solidFill>
                <a:latin typeface="Calibri"/>
                <a:cs typeface="Calibri"/>
              </a:rPr>
              <a:t>scaling </a:t>
            </a:r>
            <a:r>
              <a:rPr dirty="0" spc="-5" b="1">
                <a:solidFill>
                  <a:srgbClr val="D60093"/>
                </a:solidFill>
                <a:latin typeface="Calibri"/>
                <a:cs typeface="Calibri"/>
              </a:rPr>
              <a:t>up</a:t>
            </a:r>
            <a:r>
              <a:rPr dirty="0" spc="114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pc="-5" b="1">
                <a:solidFill>
                  <a:srgbClr val="D60093"/>
                </a:solidFill>
                <a:latin typeface="Calibri"/>
                <a:cs typeface="Calibri"/>
              </a:rPr>
              <a:t>GNNs: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3/13/21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11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1831339"/>
            <a:ext cx="8185150" cy="43122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32740" marR="508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5">
                <a:latin typeface="Calibri"/>
                <a:cs typeface="Calibri"/>
              </a:rPr>
              <a:t>Two </a:t>
            </a:r>
            <a:r>
              <a:rPr dirty="0" sz="3000" spc="-10">
                <a:latin typeface="Calibri"/>
                <a:cs typeface="Calibri"/>
              </a:rPr>
              <a:t>methods </a:t>
            </a:r>
            <a:r>
              <a:rPr dirty="0" sz="3000" spc="-15">
                <a:latin typeface="Calibri"/>
                <a:cs typeface="Calibri"/>
              </a:rPr>
              <a:t>perform </a:t>
            </a:r>
            <a:r>
              <a:rPr dirty="0" sz="3000" spc="-5">
                <a:latin typeface="Calibri"/>
                <a:cs typeface="Calibri"/>
              </a:rPr>
              <a:t>message-passing </a:t>
            </a:r>
            <a:r>
              <a:rPr dirty="0" sz="3000" spc="-15">
                <a:latin typeface="Calibri"/>
                <a:cs typeface="Calibri"/>
              </a:rPr>
              <a:t>over </a:t>
            </a:r>
            <a:r>
              <a:rPr dirty="0" sz="3000" spc="-5" b="1">
                <a:solidFill>
                  <a:srgbClr val="008000"/>
                </a:solidFill>
                <a:latin typeface="Calibri"/>
                <a:cs typeface="Calibri"/>
              </a:rPr>
              <a:t>small  </a:t>
            </a:r>
            <a:r>
              <a:rPr dirty="0" sz="3000" spc="-10" b="1">
                <a:solidFill>
                  <a:srgbClr val="008000"/>
                </a:solidFill>
                <a:latin typeface="Calibri"/>
                <a:cs typeface="Calibri"/>
              </a:rPr>
              <a:t>subgraphs </a:t>
            </a:r>
            <a:r>
              <a:rPr dirty="0" sz="3000" b="1">
                <a:solidFill>
                  <a:srgbClr val="008000"/>
                </a:solidFill>
                <a:latin typeface="Calibri"/>
                <a:cs typeface="Calibri"/>
              </a:rPr>
              <a:t>in </a:t>
            </a:r>
            <a:r>
              <a:rPr dirty="0" sz="3000" spc="-5" b="1">
                <a:solidFill>
                  <a:srgbClr val="008000"/>
                </a:solidFill>
                <a:latin typeface="Calibri"/>
                <a:cs typeface="Calibri"/>
              </a:rPr>
              <a:t>each </a:t>
            </a:r>
            <a:r>
              <a:rPr dirty="0" sz="3000" spc="-10" b="1">
                <a:solidFill>
                  <a:srgbClr val="008000"/>
                </a:solidFill>
                <a:latin typeface="Calibri"/>
                <a:cs typeface="Calibri"/>
              </a:rPr>
              <a:t>mini-batch</a:t>
            </a:r>
            <a:r>
              <a:rPr dirty="0" sz="3000" spc="-10">
                <a:latin typeface="Calibri"/>
                <a:cs typeface="Calibri"/>
              </a:rPr>
              <a:t>; </a:t>
            </a:r>
            <a:r>
              <a:rPr dirty="0" sz="3000" spc="-5">
                <a:latin typeface="Calibri"/>
                <a:cs typeface="Calibri"/>
              </a:rPr>
              <a:t>only the </a:t>
            </a:r>
            <a:r>
              <a:rPr dirty="0" sz="3000" spc="-10">
                <a:latin typeface="Calibri"/>
                <a:cs typeface="Calibri"/>
              </a:rPr>
              <a:t>subgraphs  need </a:t>
            </a:r>
            <a:r>
              <a:rPr dirty="0" sz="3000" spc="-20">
                <a:latin typeface="Calibri"/>
                <a:cs typeface="Calibri"/>
              </a:rPr>
              <a:t>to </a:t>
            </a:r>
            <a:r>
              <a:rPr dirty="0" sz="3000" spc="-5">
                <a:latin typeface="Calibri"/>
                <a:cs typeface="Calibri"/>
              </a:rPr>
              <a:t>be loaded </a:t>
            </a:r>
            <a:r>
              <a:rPr dirty="0" sz="3000">
                <a:latin typeface="Calibri"/>
                <a:cs typeface="Calibri"/>
              </a:rPr>
              <a:t>on a </a:t>
            </a:r>
            <a:r>
              <a:rPr dirty="0" sz="3000" spc="-5">
                <a:latin typeface="Calibri"/>
                <a:cs typeface="Calibri"/>
              </a:rPr>
              <a:t>GPU </a:t>
            </a:r>
            <a:r>
              <a:rPr dirty="0" sz="3000" spc="-15">
                <a:latin typeface="Calibri"/>
                <a:cs typeface="Calibri"/>
              </a:rPr>
              <a:t>at </a:t>
            </a:r>
            <a:r>
              <a:rPr dirty="0" sz="3000">
                <a:latin typeface="Calibri"/>
                <a:cs typeface="Calibri"/>
              </a:rPr>
              <a:t>a</a:t>
            </a:r>
            <a:r>
              <a:rPr dirty="0" sz="3000" spc="-50">
                <a:latin typeface="Calibri"/>
                <a:cs typeface="Calibri"/>
              </a:rPr>
              <a:t> </a:t>
            </a:r>
            <a:r>
              <a:rPr dirty="0" sz="3000" spc="-5">
                <a:latin typeface="Calibri"/>
                <a:cs typeface="Calibri"/>
              </a:rPr>
              <a:t>time.</a:t>
            </a:r>
            <a:endParaRPr sz="30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70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 b="1">
                <a:solidFill>
                  <a:srgbClr val="FF0000"/>
                </a:solidFill>
                <a:latin typeface="Calibri"/>
                <a:cs typeface="Calibri"/>
              </a:rPr>
              <a:t>Neighbor Sampling </a:t>
            </a:r>
            <a:r>
              <a:rPr dirty="0" sz="1600" spc="-5">
                <a:latin typeface="Calibri"/>
                <a:cs typeface="Calibri"/>
              </a:rPr>
              <a:t>[Hamilton et al. NeurIPS</a:t>
            </a:r>
            <a:r>
              <a:rPr dirty="0" sz="1600" spc="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2017]</a:t>
            </a:r>
            <a:endParaRPr sz="1600">
              <a:latin typeface="Calibri"/>
              <a:cs typeface="Calibri"/>
            </a:endParaRPr>
          </a:p>
          <a:p>
            <a:pPr lvl="1" marL="625475" indent="-274320">
              <a:lnSpc>
                <a:spcPts val="3320"/>
              </a:lnSpc>
              <a:spcBef>
                <a:spcPts val="74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5" b="1">
                <a:solidFill>
                  <a:srgbClr val="FF0000"/>
                </a:solidFill>
                <a:latin typeface="Calibri"/>
                <a:cs typeface="Calibri"/>
              </a:rPr>
              <a:t>Cluster-GCN </a:t>
            </a:r>
            <a:r>
              <a:rPr dirty="0" sz="1600" spc="-5">
                <a:latin typeface="Calibri"/>
                <a:cs typeface="Calibri"/>
              </a:rPr>
              <a:t>[Chiang et al. </a:t>
            </a:r>
            <a:r>
              <a:rPr dirty="0" sz="1600">
                <a:latin typeface="Calibri"/>
                <a:cs typeface="Calibri"/>
              </a:rPr>
              <a:t>KDD</a:t>
            </a:r>
            <a:r>
              <a:rPr dirty="0" sz="1600" spc="-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2019]</a:t>
            </a:r>
            <a:endParaRPr sz="1600">
              <a:latin typeface="Calibri"/>
              <a:cs typeface="Calibri"/>
            </a:endParaRPr>
          </a:p>
          <a:p>
            <a:pPr algn="just" marL="332740" marR="1136015" indent="-320040">
              <a:lnSpc>
                <a:spcPts val="3600"/>
              </a:lnSpc>
              <a:spcBef>
                <a:spcPts val="8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">
                <a:latin typeface="Calibri"/>
                <a:cs typeface="Calibri"/>
              </a:rPr>
              <a:t>One </a:t>
            </a:r>
            <a:r>
              <a:rPr dirty="0" sz="3000" spc="-10">
                <a:latin typeface="Calibri"/>
                <a:cs typeface="Calibri"/>
              </a:rPr>
              <a:t>method </a:t>
            </a:r>
            <a:r>
              <a:rPr dirty="0" sz="3000" spc="-5" b="1">
                <a:solidFill>
                  <a:srgbClr val="008000"/>
                </a:solidFill>
                <a:latin typeface="Calibri"/>
                <a:cs typeface="Calibri"/>
              </a:rPr>
              <a:t>simplifies </a:t>
            </a:r>
            <a:r>
              <a:rPr dirty="0" sz="3000" b="1">
                <a:solidFill>
                  <a:srgbClr val="008000"/>
                </a:solidFill>
                <a:latin typeface="Calibri"/>
                <a:cs typeface="Calibri"/>
              </a:rPr>
              <a:t>a </a:t>
            </a:r>
            <a:r>
              <a:rPr dirty="0" sz="3000" spc="-5" b="1">
                <a:solidFill>
                  <a:srgbClr val="008000"/>
                </a:solidFill>
                <a:latin typeface="Calibri"/>
                <a:cs typeface="Calibri"/>
              </a:rPr>
              <a:t>GNN </a:t>
            </a:r>
            <a:r>
              <a:rPr dirty="0" sz="3000" spc="-20" b="1">
                <a:solidFill>
                  <a:srgbClr val="008000"/>
                </a:solidFill>
                <a:latin typeface="Calibri"/>
                <a:cs typeface="Calibri"/>
              </a:rPr>
              <a:t>into feature-  </a:t>
            </a:r>
            <a:r>
              <a:rPr dirty="0" sz="3000" spc="-10" b="1">
                <a:solidFill>
                  <a:srgbClr val="008000"/>
                </a:solidFill>
                <a:latin typeface="Calibri"/>
                <a:cs typeface="Calibri"/>
              </a:rPr>
              <a:t>preprocessing </a:t>
            </a:r>
            <a:r>
              <a:rPr dirty="0" sz="3000" spc="-15" b="1">
                <a:solidFill>
                  <a:srgbClr val="008000"/>
                </a:solidFill>
                <a:latin typeface="Calibri"/>
                <a:cs typeface="Calibri"/>
              </a:rPr>
              <a:t>operation </a:t>
            </a:r>
            <a:r>
              <a:rPr dirty="0" sz="3000" spc="-10">
                <a:latin typeface="Calibri"/>
                <a:cs typeface="Calibri"/>
              </a:rPr>
              <a:t>(can </a:t>
            </a:r>
            <a:r>
              <a:rPr dirty="0" sz="3000" spc="-5">
                <a:latin typeface="Calibri"/>
                <a:cs typeface="Calibri"/>
              </a:rPr>
              <a:t>be </a:t>
            </a:r>
            <a:r>
              <a:rPr dirty="0" sz="3000" spc="-15">
                <a:latin typeface="Calibri"/>
                <a:cs typeface="Calibri"/>
              </a:rPr>
              <a:t>efficiently  performed </a:t>
            </a:r>
            <a:r>
              <a:rPr dirty="0" sz="3000" spc="-20">
                <a:latin typeface="Calibri"/>
                <a:cs typeface="Calibri"/>
              </a:rPr>
              <a:t>even </a:t>
            </a:r>
            <a:r>
              <a:rPr dirty="0" sz="3000">
                <a:latin typeface="Calibri"/>
                <a:cs typeface="Calibri"/>
              </a:rPr>
              <a:t>on a</a:t>
            </a:r>
            <a:r>
              <a:rPr dirty="0" sz="3000" spc="-3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CPU)</a:t>
            </a:r>
            <a:endParaRPr sz="30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58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 b="1">
                <a:solidFill>
                  <a:srgbClr val="FF0000"/>
                </a:solidFill>
                <a:latin typeface="Calibri"/>
                <a:cs typeface="Calibri"/>
              </a:rPr>
              <a:t>Simplified </a:t>
            </a:r>
            <a:r>
              <a:rPr dirty="0" sz="2800" b="1">
                <a:solidFill>
                  <a:srgbClr val="FF0000"/>
                </a:solidFill>
                <a:latin typeface="Calibri"/>
                <a:cs typeface="Calibri"/>
              </a:rPr>
              <a:t>GCN </a:t>
            </a:r>
            <a:r>
              <a:rPr dirty="0" sz="1600" spc="-20">
                <a:latin typeface="Calibri"/>
                <a:cs typeface="Calibri"/>
              </a:rPr>
              <a:t>[Wu </a:t>
            </a:r>
            <a:r>
              <a:rPr dirty="0" sz="1600" spc="-5">
                <a:latin typeface="Calibri"/>
                <a:cs typeface="Calibri"/>
              </a:rPr>
              <a:t>et al. ICML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2019]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5135880"/>
          </a:xfrm>
          <a:custGeom>
            <a:avLst/>
            <a:gdLst/>
            <a:ahLst/>
            <a:cxnLst/>
            <a:rect l="l" t="t" r="r" b="b"/>
            <a:pathLst>
              <a:path w="9144000" h="5135880">
                <a:moveTo>
                  <a:pt x="0" y="0"/>
                </a:moveTo>
                <a:lnTo>
                  <a:pt x="9143998" y="0"/>
                </a:lnTo>
                <a:lnTo>
                  <a:pt x="9143998" y="5135430"/>
                </a:lnTo>
                <a:lnTo>
                  <a:pt x="0" y="51354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5105400"/>
            <a:ext cx="9144000" cy="112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515119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571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01623" y="2715767"/>
            <a:ext cx="6406896" cy="23012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40739" y="5266435"/>
            <a:ext cx="5060950" cy="1249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solidFill>
                  <a:srgbClr val="FFFFFF"/>
                </a:solidFill>
                <a:latin typeface="Corbel"/>
                <a:cs typeface="Corbel"/>
              </a:rPr>
              <a:t>CS224W: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Machine Learning </a:t>
            </a: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with</a:t>
            </a:r>
            <a:r>
              <a:rPr dirty="0" sz="2400" spc="-114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Graphs  Jure </a:t>
            </a:r>
            <a:r>
              <a:rPr dirty="0" sz="2400" spc="-10">
                <a:solidFill>
                  <a:srgbClr val="FFFFFF"/>
                </a:solidFill>
                <a:latin typeface="Corbel"/>
                <a:cs typeface="Corbel"/>
              </a:rPr>
              <a:t>Leskovec,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Stanford</a:t>
            </a:r>
            <a:r>
              <a:rPr dirty="0" sz="20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University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3200" spc="-15">
                <a:solidFill>
                  <a:srgbClr val="FFFFFF"/>
                </a:solidFill>
                <a:latin typeface="Corbel"/>
                <a:cs typeface="Corbel"/>
                <a:hlinkClick r:id="rId5"/>
              </a:rPr>
              <a:t>http://cs224w.stanford.edu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52359" y="5166359"/>
            <a:ext cx="1691640" cy="16916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982968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665720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5" b="1">
                <a:solidFill>
                  <a:srgbClr val="D60093"/>
                </a:solidFill>
                <a:latin typeface="Calibri"/>
                <a:cs typeface="Calibri"/>
              </a:rPr>
              <a:t>Recall</a:t>
            </a:r>
            <a:r>
              <a:rPr dirty="0" spc="-15"/>
              <a:t>: </a:t>
            </a:r>
            <a:r>
              <a:rPr dirty="0" spc="-5"/>
              <a:t>GNNs </a:t>
            </a:r>
            <a:r>
              <a:rPr dirty="0" spc="-20"/>
              <a:t>generate </a:t>
            </a:r>
            <a:r>
              <a:rPr dirty="0"/>
              <a:t>node </a:t>
            </a:r>
            <a:r>
              <a:rPr dirty="0" spc="-5"/>
              <a:t>embeddings </a:t>
            </a:r>
            <a:r>
              <a:rPr dirty="0"/>
              <a:t>via  </a:t>
            </a:r>
            <a:r>
              <a:rPr dirty="0" spc="-5"/>
              <a:t>neighbor</a:t>
            </a:r>
            <a:r>
              <a:rPr dirty="0" spc="-35"/>
              <a:t> </a:t>
            </a:r>
            <a:r>
              <a:rPr dirty="0" spc="-10"/>
              <a:t>aggregation.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080729" y="4480052"/>
            <a:ext cx="952500" cy="56515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 marR="5080">
              <a:lnSpc>
                <a:spcPts val="2090"/>
              </a:lnSpc>
              <a:spcBef>
                <a:spcPts val="225"/>
              </a:spcBef>
            </a:pPr>
            <a:r>
              <a:rPr dirty="0" sz="1800">
                <a:latin typeface="Arial"/>
                <a:cs typeface="Arial"/>
              </a:rPr>
              <a:t>N</a:t>
            </a:r>
            <a:r>
              <a:rPr dirty="0" sz="1800" spc="-5">
                <a:latin typeface="Arial"/>
                <a:cs typeface="Arial"/>
              </a:rPr>
              <a:t>e</a:t>
            </a:r>
            <a:r>
              <a:rPr dirty="0" sz="1800">
                <a:latin typeface="Arial"/>
                <a:cs typeface="Arial"/>
              </a:rPr>
              <a:t>i</a:t>
            </a:r>
            <a:r>
              <a:rPr dirty="0" sz="1800" spc="-5">
                <a:latin typeface="Arial"/>
                <a:cs typeface="Arial"/>
              </a:rPr>
              <a:t>ghbo</a:t>
            </a:r>
            <a:r>
              <a:rPr dirty="0" sz="1800">
                <a:latin typeface="Arial"/>
                <a:cs typeface="Arial"/>
              </a:rPr>
              <a:t>r  </a:t>
            </a:r>
            <a:r>
              <a:rPr dirty="0" sz="1800" spc="-5">
                <a:latin typeface="Arial"/>
                <a:cs typeface="Arial"/>
              </a:rPr>
              <a:t>aggr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8122" y="2899676"/>
            <a:ext cx="4280895" cy="37560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452414" y="4611115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50843" y="4342891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23147" y="4169155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82902" y="4894579"/>
            <a:ext cx="1227455" cy="714375"/>
          </a:xfrm>
          <a:prstGeom prst="rect">
            <a:avLst/>
          </a:prstGeom>
        </p:spPr>
        <p:txBody>
          <a:bodyPr wrap="square" lIns="0" tIns="8255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650"/>
              </a:spcBef>
            </a:pPr>
            <a:r>
              <a:rPr dirty="0" sz="1800">
                <a:latin typeface="Arial"/>
                <a:cs typeface="Arial"/>
              </a:rPr>
              <a:t>8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dirty="0" sz="180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48920" y="4342891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27075" y="3611371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9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694170" y="3033636"/>
            <a:ext cx="4333005" cy="353861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7247428" y="3739388"/>
            <a:ext cx="14732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Arial"/>
                <a:cs typeface="Arial"/>
              </a:rPr>
              <a:t>Neighbor</a:t>
            </a:r>
            <a:r>
              <a:rPr dirty="0" sz="1800" spc="-85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aggr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801654" y="5568506"/>
            <a:ext cx="15303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35775" y="5598986"/>
            <a:ext cx="15303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>
                <a:latin typeface="Arial"/>
                <a:cs typeface="Arial"/>
              </a:rPr>
              <a:t>6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767291" y="5620322"/>
            <a:ext cx="15303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>
                <a:latin typeface="Arial"/>
                <a:cs typeface="Arial"/>
              </a:rPr>
              <a:t>9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139715" y="5839778"/>
            <a:ext cx="15303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393939" y="5946458"/>
            <a:ext cx="15303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>
                <a:latin typeface="Arial"/>
                <a:cs typeface="Arial"/>
              </a:rPr>
              <a:t>8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538631" y="6022658"/>
            <a:ext cx="15303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944097" y="6098858"/>
            <a:ext cx="15303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937547" y="6141530"/>
            <a:ext cx="15303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>
                <a:latin typeface="Arial"/>
                <a:cs typeface="Arial"/>
              </a:rPr>
              <a:t>6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700761" y="6162866"/>
            <a:ext cx="15303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471305" y="6187250"/>
            <a:ext cx="15303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294498" y="6187250"/>
            <a:ext cx="15303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>
                <a:latin typeface="Arial"/>
                <a:cs typeface="Arial"/>
              </a:rPr>
              <a:t>8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870234" y="6248210"/>
            <a:ext cx="15303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3/13/21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13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56563" y="2414523"/>
            <a:ext cx="6920865" cy="1158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20">
                <a:latin typeface="Calibri"/>
                <a:cs typeface="Calibri"/>
              </a:rPr>
              <a:t>Represented </a:t>
            </a:r>
            <a:r>
              <a:rPr dirty="0" sz="2800" spc="-5">
                <a:latin typeface="Calibri"/>
                <a:cs typeface="Calibri"/>
              </a:rPr>
              <a:t>as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10">
                <a:latin typeface="Calibri"/>
                <a:cs typeface="Calibri"/>
              </a:rPr>
              <a:t>computational </a:t>
            </a:r>
            <a:r>
              <a:rPr dirty="0" sz="2800" spc="-15">
                <a:latin typeface="Calibri"/>
                <a:cs typeface="Calibri"/>
              </a:rPr>
              <a:t>graph</a:t>
            </a:r>
            <a:r>
              <a:rPr dirty="0" sz="2800" spc="50">
                <a:latin typeface="Calibri"/>
                <a:cs typeface="Calibri"/>
              </a:rPr>
              <a:t> </a:t>
            </a:r>
            <a:r>
              <a:rPr dirty="0" sz="2800" spc="-55">
                <a:latin typeface="Calibri"/>
                <a:cs typeface="Calibri"/>
              </a:rPr>
              <a:t>(right).</a:t>
            </a:r>
            <a:endParaRPr sz="2800">
              <a:latin typeface="Calibri"/>
              <a:cs typeface="Calibri"/>
            </a:endParaRPr>
          </a:p>
          <a:p>
            <a:pPr algn="r" marR="929005">
              <a:lnSpc>
                <a:spcPts val="1850"/>
              </a:lnSpc>
              <a:spcBef>
                <a:spcPts val="1860"/>
              </a:spcBef>
            </a:pPr>
            <a:r>
              <a:rPr dirty="0" sz="180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  <a:p>
            <a:pPr marL="1281430">
              <a:lnSpc>
                <a:spcPts val="1850"/>
              </a:lnSpc>
            </a:pPr>
            <a:r>
              <a:rPr dirty="0" sz="1800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006970" y="4586732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791177" y="4751323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648242" y="4531867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982968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6664959" cy="1491615"/>
          </a:xfrm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332740" marR="5080" indent="-320040">
              <a:lnSpc>
                <a:spcPct val="100299"/>
              </a:lnSpc>
              <a:spcBef>
                <a:spcPts val="8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 b="1">
                <a:solidFill>
                  <a:srgbClr val="D60093"/>
                </a:solidFill>
                <a:latin typeface="Calibri"/>
                <a:cs typeface="Calibri"/>
              </a:rPr>
              <a:t>Observation</a:t>
            </a:r>
            <a:r>
              <a:rPr dirty="0" spc="-10" b="1">
                <a:latin typeface="Calibri"/>
                <a:cs typeface="Calibri"/>
              </a:rPr>
              <a:t>: </a:t>
            </a:r>
            <a:r>
              <a:rPr dirty="0"/>
              <a:t>A </a:t>
            </a:r>
            <a:r>
              <a:rPr dirty="0" spc="-20"/>
              <a:t>2-layer </a:t>
            </a:r>
            <a:r>
              <a:rPr dirty="0" spc="-5"/>
              <a:t>GNN </a:t>
            </a:r>
            <a:r>
              <a:rPr dirty="0" spc="-20"/>
              <a:t>generates  </a:t>
            </a:r>
            <a:r>
              <a:rPr dirty="0" spc="-5"/>
              <a:t>embedding of node “0” using 2-hop  neighborhood </a:t>
            </a:r>
            <a:r>
              <a:rPr dirty="0" spc="-15"/>
              <a:t>structure </a:t>
            </a:r>
            <a:r>
              <a:rPr dirty="0"/>
              <a:t>and</a:t>
            </a:r>
            <a:r>
              <a:rPr dirty="0" spc="30"/>
              <a:t> </a:t>
            </a:r>
            <a:r>
              <a:rPr dirty="0" spc="-20"/>
              <a:t>features.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514042" y="2815844"/>
            <a:ext cx="27597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C00000"/>
                </a:solidFill>
                <a:latin typeface="Arial"/>
                <a:cs typeface="Arial"/>
              </a:rPr>
              <a:t>2-hop</a:t>
            </a:r>
            <a:r>
              <a:rPr dirty="0" sz="2400" spc="-10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C00000"/>
                </a:solidFill>
                <a:latin typeface="Arial"/>
                <a:cs typeface="Arial"/>
              </a:rPr>
              <a:t>neighborhood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8122" y="2899676"/>
            <a:ext cx="4280895" cy="37560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452414" y="4611115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50843" y="4342891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23147" y="4169155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25803" y="3273044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48920" y="4342891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27075" y="3611371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9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694170" y="3033636"/>
            <a:ext cx="4333005" cy="353861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7247428" y="3739388"/>
            <a:ext cx="14732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Arial"/>
                <a:cs typeface="Arial"/>
              </a:rPr>
              <a:t>Neighbor</a:t>
            </a:r>
            <a:r>
              <a:rPr dirty="0" sz="1800" spc="-85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aggr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757211" y="4986338"/>
            <a:ext cx="15303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>
                <a:latin typeface="Arial"/>
                <a:cs typeface="Arial"/>
              </a:rPr>
              <a:t>8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682902" y="5330762"/>
            <a:ext cx="15303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801654" y="5568506"/>
            <a:ext cx="15303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435775" y="5598986"/>
            <a:ext cx="15303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>
                <a:latin typeface="Arial"/>
                <a:cs typeface="Arial"/>
              </a:rPr>
              <a:t>6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767291" y="5620322"/>
            <a:ext cx="15303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>
                <a:latin typeface="Arial"/>
                <a:cs typeface="Arial"/>
              </a:rPr>
              <a:t>9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139715" y="5839778"/>
            <a:ext cx="15303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393939" y="5946458"/>
            <a:ext cx="15303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>
                <a:latin typeface="Arial"/>
                <a:cs typeface="Arial"/>
              </a:rPr>
              <a:t>8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538631" y="6022658"/>
            <a:ext cx="15303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944097" y="6098858"/>
            <a:ext cx="15303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937547" y="6141530"/>
            <a:ext cx="15303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>
                <a:latin typeface="Arial"/>
                <a:cs typeface="Arial"/>
              </a:rPr>
              <a:t>6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700761" y="6162866"/>
            <a:ext cx="15303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471305" y="6187250"/>
            <a:ext cx="15303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294498" y="6187250"/>
            <a:ext cx="15303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>
                <a:latin typeface="Arial"/>
                <a:cs typeface="Arial"/>
              </a:rPr>
              <a:t>8</a:t>
            </a:r>
            <a:endParaRPr sz="18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870234" y="6248210"/>
            <a:ext cx="15303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3/13/21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14</a:t>
            </a:fld>
          </a:p>
        </p:txBody>
      </p:sp>
      <p:sp>
        <p:nvSpPr>
          <p:cNvPr id="14" name="object 14"/>
          <p:cNvSpPr txBox="1"/>
          <p:nvPr/>
        </p:nvSpPr>
        <p:spPr>
          <a:xfrm>
            <a:off x="6800574" y="3077972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006970" y="4586732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791177" y="4751323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648242" y="4531867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982968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547609" cy="1491615"/>
          </a:xfrm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algn="just" marL="332740" marR="5080" indent="-320040">
              <a:lnSpc>
                <a:spcPct val="100299"/>
              </a:lnSpc>
              <a:spcBef>
                <a:spcPts val="8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 b="1">
                <a:solidFill>
                  <a:srgbClr val="D60093"/>
                </a:solidFill>
                <a:latin typeface="Calibri"/>
                <a:cs typeface="Calibri"/>
              </a:rPr>
              <a:t>Observation</a:t>
            </a:r>
            <a:r>
              <a:rPr dirty="0" spc="-10" b="1">
                <a:latin typeface="Calibri"/>
                <a:cs typeface="Calibri"/>
              </a:rPr>
              <a:t>: </a:t>
            </a:r>
            <a:r>
              <a:rPr dirty="0" spc="-15"/>
              <a:t>More </a:t>
            </a:r>
            <a:r>
              <a:rPr dirty="0" spc="-35"/>
              <a:t>generally, </a:t>
            </a:r>
            <a:r>
              <a:rPr dirty="0" spc="-5">
                <a:latin typeface="Cambria Math"/>
                <a:cs typeface="Cambria Math"/>
              </a:rPr>
              <a:t>𝐾</a:t>
            </a:r>
            <a:r>
              <a:rPr dirty="0" spc="-5"/>
              <a:t>-layer GNNs  </a:t>
            </a:r>
            <a:r>
              <a:rPr dirty="0" spc="-25"/>
              <a:t>generate </a:t>
            </a:r>
            <a:r>
              <a:rPr dirty="0" spc="-5"/>
              <a:t>embedding </a:t>
            </a:r>
            <a:r>
              <a:rPr dirty="0"/>
              <a:t>of a node </a:t>
            </a:r>
            <a:r>
              <a:rPr dirty="0" spc="-5"/>
              <a:t>using </a:t>
            </a:r>
            <a:r>
              <a:rPr dirty="0" spc="10">
                <a:latin typeface="Cambria Math"/>
                <a:cs typeface="Cambria Math"/>
              </a:rPr>
              <a:t>𝐾</a:t>
            </a:r>
            <a:r>
              <a:rPr dirty="0" spc="10"/>
              <a:t>-hop  </a:t>
            </a:r>
            <a:r>
              <a:rPr dirty="0" spc="-5"/>
              <a:t>neighborhood </a:t>
            </a:r>
            <a:r>
              <a:rPr dirty="0" spc="-15"/>
              <a:t>structure </a:t>
            </a:r>
            <a:r>
              <a:rPr dirty="0"/>
              <a:t>and</a:t>
            </a:r>
            <a:r>
              <a:rPr dirty="0" spc="30"/>
              <a:t> </a:t>
            </a:r>
            <a:r>
              <a:rPr dirty="0" spc="-20"/>
              <a:t>features.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514042" y="2815844"/>
            <a:ext cx="27597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C00000"/>
                </a:solidFill>
                <a:latin typeface="Arial"/>
                <a:cs typeface="Arial"/>
              </a:rPr>
              <a:t>2-hop</a:t>
            </a:r>
            <a:r>
              <a:rPr dirty="0" sz="2400" spc="-10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C00000"/>
                </a:solidFill>
                <a:latin typeface="Arial"/>
                <a:cs typeface="Arial"/>
              </a:rPr>
              <a:t>neighborhood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8122" y="2899676"/>
            <a:ext cx="4280895" cy="37560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452414" y="4611115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50843" y="4342891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23147" y="4169155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25803" y="3273044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48920" y="4342891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27075" y="3611371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9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694170" y="3033636"/>
            <a:ext cx="4333005" cy="353861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7247428" y="3739388"/>
            <a:ext cx="14732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Arial"/>
                <a:cs typeface="Arial"/>
              </a:rPr>
              <a:t>Neighbor</a:t>
            </a:r>
            <a:r>
              <a:rPr dirty="0" sz="1800" spc="-85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aggr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757211" y="4986338"/>
            <a:ext cx="15303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>
                <a:latin typeface="Arial"/>
                <a:cs typeface="Arial"/>
              </a:rPr>
              <a:t>8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682902" y="5330762"/>
            <a:ext cx="15303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801654" y="5568506"/>
            <a:ext cx="15303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435775" y="5598986"/>
            <a:ext cx="15303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>
                <a:latin typeface="Arial"/>
                <a:cs typeface="Arial"/>
              </a:rPr>
              <a:t>6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767291" y="5620322"/>
            <a:ext cx="15303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>
                <a:latin typeface="Arial"/>
                <a:cs typeface="Arial"/>
              </a:rPr>
              <a:t>9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139715" y="5839778"/>
            <a:ext cx="15303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393939" y="5946458"/>
            <a:ext cx="15303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>
                <a:latin typeface="Arial"/>
                <a:cs typeface="Arial"/>
              </a:rPr>
              <a:t>8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538631" y="6022658"/>
            <a:ext cx="15303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944097" y="6098858"/>
            <a:ext cx="15303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937547" y="6141530"/>
            <a:ext cx="15303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>
                <a:latin typeface="Arial"/>
                <a:cs typeface="Arial"/>
              </a:rPr>
              <a:t>6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700761" y="6162866"/>
            <a:ext cx="15303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471305" y="6187250"/>
            <a:ext cx="15303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294498" y="6187250"/>
            <a:ext cx="15303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>
                <a:latin typeface="Arial"/>
                <a:cs typeface="Arial"/>
              </a:rPr>
              <a:t>8</a:t>
            </a:r>
            <a:endParaRPr sz="18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870234" y="6248210"/>
            <a:ext cx="15303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3/13/21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14</a:t>
            </a:fld>
          </a:p>
        </p:txBody>
      </p:sp>
      <p:sp>
        <p:nvSpPr>
          <p:cNvPr id="14" name="object 14"/>
          <p:cNvSpPr txBox="1"/>
          <p:nvPr/>
        </p:nvSpPr>
        <p:spPr>
          <a:xfrm>
            <a:off x="6800574" y="3077972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006970" y="4586732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791177" y="4751323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648242" y="4531867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7376159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9755"/>
            <a:ext cx="7546975" cy="13646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algn="just" marL="332740" marR="5080" indent="-320040">
              <a:lnSpc>
                <a:spcPct val="99800"/>
              </a:lnSpc>
              <a:spcBef>
                <a:spcPts val="105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30" b="1">
                <a:solidFill>
                  <a:srgbClr val="D60093"/>
                </a:solidFill>
                <a:latin typeface="Calibri"/>
                <a:cs typeface="Calibri"/>
              </a:rPr>
              <a:t>Key </a:t>
            </a:r>
            <a:r>
              <a:rPr dirty="0" sz="3000" spc="-5" b="1">
                <a:solidFill>
                  <a:srgbClr val="D60093"/>
                </a:solidFill>
                <a:latin typeface="Calibri"/>
                <a:cs typeface="Calibri"/>
              </a:rPr>
              <a:t>insight</a:t>
            </a:r>
            <a:r>
              <a:rPr dirty="0" sz="3000" spc="-5"/>
              <a:t>: </a:t>
            </a:r>
            <a:r>
              <a:rPr dirty="0" sz="3000" spc="-135"/>
              <a:t>To </a:t>
            </a:r>
            <a:r>
              <a:rPr dirty="0" sz="3000" spc="-15"/>
              <a:t>compute </a:t>
            </a:r>
            <a:r>
              <a:rPr dirty="0" sz="3000" spc="-5"/>
              <a:t>embedding </a:t>
            </a:r>
            <a:r>
              <a:rPr dirty="0" sz="3000"/>
              <a:t>of a </a:t>
            </a:r>
            <a:r>
              <a:rPr dirty="0" sz="3000" spc="-5"/>
              <a:t>single  node, all </a:t>
            </a:r>
            <a:r>
              <a:rPr dirty="0" sz="3000" spc="-15"/>
              <a:t>we </a:t>
            </a:r>
            <a:r>
              <a:rPr dirty="0" sz="3000" spc="-10"/>
              <a:t>need </a:t>
            </a:r>
            <a:r>
              <a:rPr dirty="0" sz="3000" spc="-5"/>
              <a:t>is </a:t>
            </a:r>
            <a:r>
              <a:rPr dirty="0" sz="3000" spc="-5" b="1">
                <a:solidFill>
                  <a:srgbClr val="C00000"/>
                </a:solidFill>
                <a:latin typeface="Calibri"/>
                <a:cs typeface="Calibri"/>
              </a:rPr>
              <a:t>the </a:t>
            </a:r>
            <a:r>
              <a:rPr dirty="0" sz="3000" spc="-5">
                <a:solidFill>
                  <a:srgbClr val="C00000"/>
                </a:solidFill>
                <a:latin typeface="Cambria Math"/>
                <a:cs typeface="Cambria Math"/>
              </a:rPr>
              <a:t>𝑲</a:t>
            </a:r>
            <a:r>
              <a:rPr dirty="0" sz="3000" spc="-5" b="1">
                <a:solidFill>
                  <a:srgbClr val="C00000"/>
                </a:solidFill>
                <a:latin typeface="Calibri"/>
                <a:cs typeface="Calibri"/>
              </a:rPr>
              <a:t>-hop neighborhood </a:t>
            </a:r>
            <a:r>
              <a:rPr dirty="0" sz="3000" spc="-5" b="1">
                <a:latin typeface="Calibri"/>
                <a:cs typeface="Calibri"/>
              </a:rPr>
              <a:t> </a:t>
            </a:r>
            <a:r>
              <a:rPr dirty="0" sz="2800" spc="-5"/>
              <a:t>(which </a:t>
            </a:r>
            <a:r>
              <a:rPr dirty="0" sz="2800" spc="-10"/>
              <a:t>defines </a:t>
            </a:r>
            <a:r>
              <a:rPr dirty="0" sz="2800" spc="-5"/>
              <a:t>the </a:t>
            </a:r>
            <a:r>
              <a:rPr dirty="0" sz="2800" spc="-15"/>
              <a:t>computation</a:t>
            </a:r>
            <a:r>
              <a:rPr dirty="0" sz="2800" spc="35"/>
              <a:t> </a:t>
            </a:r>
            <a:r>
              <a:rPr dirty="0" sz="2800" spc="-15"/>
              <a:t>graph).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2693923"/>
            <a:ext cx="8068309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marR="508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15">
                <a:latin typeface="Calibri"/>
                <a:cs typeface="Calibri"/>
              </a:rPr>
              <a:t>Given </a:t>
            </a:r>
            <a:r>
              <a:rPr dirty="0" sz="3000">
                <a:latin typeface="Calibri"/>
                <a:cs typeface="Calibri"/>
              </a:rPr>
              <a:t>a </a:t>
            </a:r>
            <a:r>
              <a:rPr dirty="0" sz="3000" spc="-10">
                <a:latin typeface="Calibri"/>
                <a:cs typeface="Calibri"/>
              </a:rPr>
              <a:t>set </a:t>
            </a:r>
            <a:r>
              <a:rPr dirty="0" sz="3000">
                <a:latin typeface="Calibri"/>
                <a:cs typeface="Calibri"/>
              </a:rPr>
              <a:t>of </a:t>
            </a:r>
            <a:r>
              <a:rPr dirty="0" sz="3000">
                <a:solidFill>
                  <a:srgbClr val="C00000"/>
                </a:solidFill>
                <a:latin typeface="Cambria Math"/>
                <a:cs typeface="Cambria Math"/>
              </a:rPr>
              <a:t>𝑀 </a:t>
            </a:r>
            <a:r>
              <a:rPr dirty="0" sz="3000" spc="-25">
                <a:solidFill>
                  <a:srgbClr val="C00000"/>
                </a:solidFill>
                <a:latin typeface="Calibri"/>
                <a:cs typeface="Calibri"/>
              </a:rPr>
              <a:t>different </a:t>
            </a:r>
            <a:r>
              <a:rPr dirty="0" sz="3000" spc="-5">
                <a:solidFill>
                  <a:srgbClr val="C00000"/>
                </a:solidFill>
                <a:latin typeface="Calibri"/>
                <a:cs typeface="Calibri"/>
              </a:rPr>
              <a:t>nodes in </a:t>
            </a:r>
            <a:r>
              <a:rPr dirty="0" sz="3000">
                <a:solidFill>
                  <a:srgbClr val="C00000"/>
                </a:solidFill>
                <a:latin typeface="Calibri"/>
                <a:cs typeface="Calibri"/>
              </a:rPr>
              <a:t>a </a:t>
            </a:r>
            <a:r>
              <a:rPr dirty="0" sz="3000" spc="-10" b="1">
                <a:solidFill>
                  <a:srgbClr val="C00000"/>
                </a:solidFill>
                <a:latin typeface="Calibri"/>
                <a:cs typeface="Calibri"/>
              </a:rPr>
              <a:t>mini-batch</a:t>
            </a:r>
            <a:r>
              <a:rPr dirty="0" sz="3000" spc="-10">
                <a:latin typeface="Calibri"/>
                <a:cs typeface="Calibri"/>
              </a:rPr>
              <a:t>,  </a:t>
            </a:r>
            <a:r>
              <a:rPr dirty="0" sz="3000" spc="-15">
                <a:latin typeface="Calibri"/>
                <a:cs typeface="Calibri"/>
              </a:rPr>
              <a:t>we can </a:t>
            </a:r>
            <a:r>
              <a:rPr dirty="0" sz="3000" spc="-25">
                <a:latin typeface="Calibri"/>
                <a:cs typeface="Calibri"/>
              </a:rPr>
              <a:t>generate </a:t>
            </a:r>
            <a:r>
              <a:rPr dirty="0" sz="3000" spc="-5">
                <a:latin typeface="Calibri"/>
                <a:cs typeface="Calibri"/>
              </a:rPr>
              <a:t>their embeddings using </a:t>
            </a:r>
            <a:r>
              <a:rPr dirty="0" sz="3000">
                <a:latin typeface="Cambria Math"/>
                <a:cs typeface="Cambria Math"/>
              </a:rPr>
              <a:t>𝑀  </a:t>
            </a:r>
            <a:r>
              <a:rPr dirty="0" sz="3000" spc="-15">
                <a:latin typeface="Calibri"/>
                <a:cs typeface="Calibri"/>
              </a:rPr>
              <a:t>computational </a:t>
            </a:r>
            <a:r>
              <a:rPr dirty="0" sz="3000" spc="-10">
                <a:latin typeface="Calibri"/>
                <a:cs typeface="Calibri"/>
              </a:rPr>
              <a:t>graphs. </a:t>
            </a:r>
            <a:r>
              <a:rPr dirty="0" sz="3000" spc="-5" b="1">
                <a:solidFill>
                  <a:srgbClr val="D60093"/>
                </a:solidFill>
                <a:latin typeface="Calibri"/>
                <a:cs typeface="Calibri"/>
              </a:rPr>
              <a:t>Can </a:t>
            </a:r>
            <a:r>
              <a:rPr dirty="0" sz="3000" b="1">
                <a:solidFill>
                  <a:srgbClr val="D60093"/>
                </a:solidFill>
                <a:latin typeface="Calibri"/>
                <a:cs typeface="Calibri"/>
              </a:rPr>
              <a:t>be </a:t>
            </a:r>
            <a:r>
              <a:rPr dirty="0" sz="3000" spc="-10" b="1">
                <a:solidFill>
                  <a:srgbClr val="D60093"/>
                </a:solidFill>
                <a:latin typeface="Calibri"/>
                <a:cs typeface="Calibri"/>
              </a:rPr>
              <a:t>computed </a:t>
            </a:r>
            <a:r>
              <a:rPr dirty="0" sz="3000" spc="-5" b="1">
                <a:solidFill>
                  <a:srgbClr val="D60093"/>
                </a:solidFill>
                <a:latin typeface="Calibri"/>
                <a:cs typeface="Calibri"/>
              </a:rPr>
              <a:t>on</a:t>
            </a:r>
            <a:r>
              <a:rPr dirty="0" sz="3000" spc="25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000" spc="-5" b="1">
                <a:solidFill>
                  <a:srgbClr val="D60093"/>
                </a:solidFill>
                <a:latin typeface="Calibri"/>
                <a:cs typeface="Calibri"/>
              </a:rPr>
              <a:t>GPU!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28981" y="4980204"/>
            <a:ext cx="7086343" cy="178222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568782" y="5606796"/>
            <a:ext cx="43180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latin typeface="Arial"/>
                <a:cs typeface="Arial"/>
              </a:rPr>
              <a:t>…</a:t>
            </a:r>
            <a:endParaRPr sz="32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3/13/21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16</a:t>
            </a:fld>
          </a:p>
        </p:txBody>
      </p:sp>
      <p:sp>
        <p:nvSpPr>
          <p:cNvPr id="7" name="object 7"/>
          <p:cNvSpPr txBox="1"/>
          <p:nvPr/>
        </p:nvSpPr>
        <p:spPr>
          <a:xfrm>
            <a:off x="1630033" y="4300220"/>
            <a:ext cx="1346200" cy="56515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 marR="5080">
              <a:lnSpc>
                <a:spcPts val="2090"/>
              </a:lnSpc>
              <a:spcBef>
                <a:spcPts val="225"/>
              </a:spcBef>
            </a:pPr>
            <a:r>
              <a:rPr dirty="0" sz="1800" spc="-5">
                <a:latin typeface="Arial"/>
                <a:cs typeface="Arial"/>
              </a:rPr>
              <a:t>Comp.</a:t>
            </a:r>
            <a:r>
              <a:rPr dirty="0" sz="1800" spc="-75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graph  for 1-st</a:t>
            </a:r>
            <a:r>
              <a:rPr dirty="0" sz="1800" spc="-75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node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42570" y="4312411"/>
            <a:ext cx="1384300" cy="568325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12700" marR="5080">
              <a:lnSpc>
                <a:spcPts val="2110"/>
              </a:lnSpc>
              <a:spcBef>
                <a:spcPts val="210"/>
              </a:spcBef>
            </a:pPr>
            <a:r>
              <a:rPr dirty="0" sz="1800" spc="-5">
                <a:latin typeface="Arial"/>
                <a:cs typeface="Arial"/>
              </a:rPr>
              <a:t>Comp. graph  for 2-nd</a:t>
            </a:r>
            <a:r>
              <a:rPr dirty="0" sz="1800" spc="-85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node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32717" y="4324603"/>
            <a:ext cx="1395095" cy="56515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 marR="5080">
              <a:lnSpc>
                <a:spcPts val="2090"/>
              </a:lnSpc>
              <a:spcBef>
                <a:spcPts val="225"/>
              </a:spcBef>
            </a:pPr>
            <a:r>
              <a:rPr dirty="0" sz="1800" spc="-5">
                <a:latin typeface="Arial"/>
                <a:cs typeface="Arial"/>
              </a:rPr>
              <a:t>Comp. graph  for </a:t>
            </a:r>
            <a:r>
              <a:rPr dirty="0" sz="1800" spc="0">
                <a:latin typeface="Cambria Math"/>
                <a:cs typeface="Cambria Math"/>
              </a:rPr>
              <a:t>𝑀</a:t>
            </a:r>
            <a:r>
              <a:rPr dirty="0" sz="1800" spc="0">
                <a:latin typeface="Arial"/>
                <a:cs typeface="Arial"/>
              </a:rPr>
              <a:t>-th</a:t>
            </a:r>
            <a:r>
              <a:rPr dirty="0" sz="1800" spc="-80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node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20114" y="5274402"/>
            <a:ext cx="281305" cy="107823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>
                <a:solidFill>
                  <a:srgbClr val="C00000"/>
                </a:solidFill>
                <a:latin typeface="Arial"/>
                <a:cs typeface="Arial"/>
              </a:rPr>
              <a:t>Mi</a:t>
            </a:r>
            <a:r>
              <a:rPr dirty="0" sz="1800" spc="-5">
                <a:solidFill>
                  <a:srgbClr val="C00000"/>
                </a:solidFill>
                <a:latin typeface="Arial"/>
                <a:cs typeface="Arial"/>
              </a:rPr>
              <a:t>n</a:t>
            </a:r>
            <a:r>
              <a:rPr dirty="0" sz="1800" spc="-15">
                <a:solidFill>
                  <a:srgbClr val="C00000"/>
                </a:solidFill>
                <a:latin typeface="Arial"/>
                <a:cs typeface="Arial"/>
              </a:rPr>
              <a:t>i</a:t>
            </a:r>
            <a:r>
              <a:rPr dirty="0" sz="180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dirty="0" sz="1800" spc="-5">
                <a:solidFill>
                  <a:srgbClr val="C00000"/>
                </a:solidFill>
                <a:latin typeface="Arial"/>
                <a:cs typeface="Arial"/>
              </a:rPr>
              <a:t>bat</a:t>
            </a:r>
            <a:r>
              <a:rPr dirty="0" sz="1800">
                <a:solidFill>
                  <a:srgbClr val="C00000"/>
                </a:solidFill>
                <a:latin typeface="Arial"/>
                <a:cs typeface="Arial"/>
              </a:rPr>
              <a:t>ch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41375"/>
            <a:ext cx="6812280" cy="563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67632" y="1315212"/>
            <a:ext cx="705929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60" b="1">
                <a:latin typeface="Calibri"/>
                <a:cs typeface="Calibri"/>
              </a:rPr>
              <a:t>We </a:t>
            </a:r>
            <a:r>
              <a:rPr dirty="0" spc="-10" b="1">
                <a:latin typeface="Calibri"/>
                <a:cs typeface="Calibri"/>
              </a:rPr>
              <a:t>can </a:t>
            </a:r>
            <a:r>
              <a:rPr dirty="0" spc="-5" b="1">
                <a:latin typeface="Calibri"/>
                <a:cs typeface="Calibri"/>
              </a:rPr>
              <a:t>now consider the </a:t>
            </a:r>
            <a:r>
              <a:rPr dirty="0" spc="-10" b="1">
                <a:latin typeface="Calibri"/>
                <a:cs typeface="Calibri"/>
              </a:rPr>
              <a:t>following</a:t>
            </a:r>
            <a:r>
              <a:rPr dirty="0" spc="50" b="1">
                <a:latin typeface="Calibri"/>
                <a:cs typeface="Calibri"/>
              </a:rPr>
              <a:t> </a:t>
            </a:r>
            <a:r>
              <a:rPr dirty="0" spc="-5" b="1">
                <a:latin typeface="Calibri"/>
                <a:cs typeface="Calibri"/>
              </a:rPr>
              <a:t>SGD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87671" y="1686487"/>
            <a:ext cx="6205855" cy="4347210"/>
          </a:xfrm>
          <a:prstGeom prst="rect">
            <a:avLst/>
          </a:prstGeom>
        </p:spPr>
        <p:txBody>
          <a:bodyPr wrap="square" lIns="0" tIns="1225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dirty="0" sz="3200" spc="-25" b="1">
                <a:latin typeface="Calibri"/>
                <a:cs typeface="Calibri"/>
              </a:rPr>
              <a:t>strategy </a:t>
            </a:r>
            <a:r>
              <a:rPr dirty="0" sz="3200" spc="-20" b="1">
                <a:latin typeface="Calibri"/>
                <a:cs typeface="Calibri"/>
              </a:rPr>
              <a:t>for </a:t>
            </a:r>
            <a:r>
              <a:rPr dirty="0" sz="3200" spc="-15" b="1">
                <a:latin typeface="Calibri"/>
                <a:cs typeface="Calibri"/>
              </a:rPr>
              <a:t>training </a:t>
            </a:r>
            <a:r>
              <a:rPr dirty="0" sz="3200" spc="-20">
                <a:latin typeface="Cambria Math"/>
                <a:cs typeface="Cambria Math"/>
              </a:rPr>
              <a:t>𝑲</a:t>
            </a:r>
            <a:r>
              <a:rPr dirty="0" sz="3200" spc="-20" b="1">
                <a:latin typeface="Calibri"/>
                <a:cs typeface="Calibri"/>
              </a:rPr>
              <a:t>-layer</a:t>
            </a:r>
            <a:r>
              <a:rPr dirty="0" sz="3200" spc="25" b="1">
                <a:latin typeface="Calibri"/>
                <a:cs typeface="Calibri"/>
              </a:rPr>
              <a:t> </a:t>
            </a:r>
            <a:r>
              <a:rPr dirty="0" sz="3200" spc="-5" b="1">
                <a:latin typeface="Calibri"/>
                <a:cs typeface="Calibri"/>
              </a:rPr>
              <a:t>GNNs:</a:t>
            </a:r>
            <a:endParaRPr sz="3200">
              <a:latin typeface="Calibri"/>
              <a:cs typeface="Calibri"/>
            </a:endParaRPr>
          </a:p>
          <a:p>
            <a:pPr marL="305435" indent="-274320">
              <a:lnSpc>
                <a:spcPct val="100000"/>
              </a:lnSpc>
              <a:spcBef>
                <a:spcPts val="755"/>
              </a:spcBef>
              <a:buClr>
                <a:srgbClr val="60B5CC"/>
              </a:buClr>
              <a:buFont typeface="Malgun Gothic"/>
              <a:buChar char="▪"/>
              <a:tabLst>
                <a:tab pos="305435" algn="l"/>
              </a:tabLst>
            </a:pPr>
            <a:r>
              <a:rPr dirty="0" sz="2800" spc="-5">
                <a:latin typeface="Calibri"/>
                <a:cs typeface="Calibri"/>
              </a:rPr>
              <a:t>Randomly sample </a:t>
            </a:r>
            <a:r>
              <a:rPr dirty="0" sz="2800">
                <a:latin typeface="Cambria Math"/>
                <a:cs typeface="Cambria Math"/>
              </a:rPr>
              <a:t>𝑀 (&lt;&lt; </a:t>
            </a:r>
            <a:r>
              <a:rPr dirty="0" sz="2800" spc="25">
                <a:latin typeface="Cambria Math"/>
                <a:cs typeface="Cambria Math"/>
              </a:rPr>
              <a:t>𝑁)</a:t>
            </a:r>
            <a:r>
              <a:rPr dirty="0" sz="2800" spc="150">
                <a:latin typeface="Cambria Math"/>
                <a:cs typeface="Cambria Math"/>
              </a:rPr>
              <a:t> </a:t>
            </a:r>
            <a:r>
              <a:rPr dirty="0" sz="2800" spc="-5">
                <a:latin typeface="Calibri"/>
                <a:cs typeface="Calibri"/>
              </a:rPr>
              <a:t>nodes.</a:t>
            </a:r>
            <a:endParaRPr sz="2800">
              <a:latin typeface="Calibri"/>
              <a:cs typeface="Calibri"/>
            </a:endParaRPr>
          </a:p>
          <a:p>
            <a:pPr marL="305435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Malgun Gothic"/>
              <a:buChar char="▪"/>
              <a:tabLst>
                <a:tab pos="305435" algn="l"/>
              </a:tabLst>
            </a:pPr>
            <a:r>
              <a:rPr dirty="0" sz="2800" spc="-15">
                <a:latin typeface="Calibri"/>
                <a:cs typeface="Calibri"/>
              </a:rPr>
              <a:t>For </a:t>
            </a:r>
            <a:r>
              <a:rPr dirty="0" sz="2800" spc="-5">
                <a:latin typeface="Calibri"/>
                <a:cs typeface="Calibri"/>
              </a:rPr>
              <a:t>each sampled node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 spc="30">
                <a:latin typeface="Cambria Math"/>
                <a:cs typeface="Cambria Math"/>
              </a:rPr>
              <a:t>𝑣</a:t>
            </a:r>
            <a:r>
              <a:rPr dirty="0" sz="2800" spc="30">
                <a:latin typeface="Calibri"/>
                <a:cs typeface="Calibri"/>
              </a:rPr>
              <a:t>:</a:t>
            </a:r>
            <a:endParaRPr sz="2800">
              <a:latin typeface="Calibri"/>
              <a:cs typeface="Calibri"/>
            </a:endParaRPr>
          </a:p>
          <a:p>
            <a:pPr lvl="1" marL="570865" indent="-228600">
              <a:lnSpc>
                <a:spcPts val="2845"/>
              </a:lnSpc>
              <a:spcBef>
                <a:spcPts val="635"/>
              </a:spcBef>
              <a:buClr>
                <a:srgbClr val="E66C7D"/>
              </a:buClr>
              <a:buFont typeface="Malgun Gothic"/>
              <a:buChar char="▪"/>
              <a:tabLst>
                <a:tab pos="570865" algn="l"/>
              </a:tabLst>
            </a:pPr>
            <a:r>
              <a:rPr dirty="0" sz="2400" spc="-5">
                <a:latin typeface="Calibri"/>
                <a:cs typeface="Calibri"/>
              </a:rPr>
              <a:t>Get </a:t>
            </a:r>
            <a:r>
              <a:rPr dirty="0" sz="2400" spc="-5">
                <a:solidFill>
                  <a:srgbClr val="D60093"/>
                </a:solidFill>
                <a:latin typeface="Cambria Math"/>
                <a:cs typeface="Cambria Math"/>
              </a:rPr>
              <a:t>𝑲</a:t>
            </a:r>
            <a:r>
              <a:rPr dirty="0" sz="2400" spc="-5" b="1">
                <a:solidFill>
                  <a:srgbClr val="D60093"/>
                </a:solidFill>
                <a:latin typeface="Calibri"/>
                <a:cs typeface="Calibri"/>
              </a:rPr>
              <a:t>-hop neighborhood</a:t>
            </a:r>
            <a:r>
              <a:rPr dirty="0" sz="2400" spc="-5">
                <a:latin typeface="Calibri"/>
                <a:cs typeface="Calibri"/>
              </a:rPr>
              <a:t>, </a:t>
            </a:r>
            <a:r>
              <a:rPr dirty="0" sz="2400">
                <a:latin typeface="Calibri"/>
                <a:cs typeface="Calibri"/>
              </a:rPr>
              <a:t>and </a:t>
            </a:r>
            <a:r>
              <a:rPr dirty="0" sz="2400" spc="-10">
                <a:latin typeface="Calibri"/>
                <a:cs typeface="Calibri"/>
              </a:rPr>
              <a:t>construct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the</a:t>
            </a:r>
            <a:endParaRPr sz="2400">
              <a:latin typeface="Calibri"/>
              <a:cs typeface="Calibri"/>
            </a:endParaRPr>
          </a:p>
          <a:p>
            <a:pPr marL="570230">
              <a:lnSpc>
                <a:spcPts val="2845"/>
              </a:lnSpc>
            </a:pPr>
            <a:r>
              <a:rPr dirty="0" sz="2400" spc="-10" b="1">
                <a:solidFill>
                  <a:srgbClr val="0000FF"/>
                </a:solidFill>
                <a:latin typeface="Calibri"/>
                <a:cs typeface="Calibri"/>
              </a:rPr>
              <a:t>computation</a:t>
            </a:r>
            <a:r>
              <a:rPr dirty="0" sz="2400" spc="-65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2400" spc="-15" b="1">
                <a:solidFill>
                  <a:srgbClr val="0000FF"/>
                </a:solidFill>
                <a:latin typeface="Calibri"/>
                <a:cs typeface="Calibri"/>
              </a:rPr>
              <a:t>graph</a:t>
            </a:r>
            <a:r>
              <a:rPr dirty="0" sz="2400" spc="-15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lvl="1" marL="570865" indent="-228600">
              <a:lnSpc>
                <a:spcPct val="100000"/>
              </a:lnSpc>
              <a:spcBef>
                <a:spcPts val="600"/>
              </a:spcBef>
              <a:buClr>
                <a:srgbClr val="E66C7D"/>
              </a:buClr>
              <a:buFont typeface="Malgun Gothic"/>
              <a:buChar char="▪"/>
              <a:tabLst>
                <a:tab pos="570865" algn="l"/>
              </a:tabLst>
            </a:pPr>
            <a:r>
              <a:rPr dirty="0" sz="2400" spc="-5">
                <a:latin typeface="Calibri"/>
                <a:cs typeface="Calibri"/>
              </a:rPr>
              <a:t>Use the </a:t>
            </a:r>
            <a:r>
              <a:rPr dirty="0" sz="2400" spc="-10">
                <a:latin typeface="Calibri"/>
                <a:cs typeface="Calibri"/>
              </a:rPr>
              <a:t>above </a:t>
            </a:r>
            <a:r>
              <a:rPr dirty="0" sz="2400" spc="-15">
                <a:latin typeface="Calibri"/>
                <a:cs typeface="Calibri"/>
              </a:rPr>
              <a:t>to </a:t>
            </a:r>
            <a:r>
              <a:rPr dirty="0" sz="2400" spc="-20">
                <a:latin typeface="Calibri"/>
                <a:cs typeface="Calibri"/>
              </a:rPr>
              <a:t>generate </a:t>
            </a:r>
            <a:r>
              <a:rPr dirty="0" sz="2400" spc="-30">
                <a:latin typeface="Cambria Math"/>
                <a:cs typeface="Cambria Math"/>
              </a:rPr>
              <a:t>𝑣</a:t>
            </a:r>
            <a:r>
              <a:rPr dirty="0" sz="2400" spc="-30">
                <a:latin typeface="Calibri"/>
                <a:cs typeface="Calibri"/>
              </a:rPr>
              <a:t>’s</a:t>
            </a:r>
            <a:r>
              <a:rPr dirty="0" sz="2400" spc="35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embedding.</a:t>
            </a:r>
            <a:endParaRPr sz="2400">
              <a:latin typeface="Calibri"/>
              <a:cs typeface="Calibri"/>
            </a:endParaRPr>
          </a:p>
          <a:p>
            <a:pPr marL="305435" marR="5080" indent="-274320">
              <a:lnSpc>
                <a:spcPct val="101400"/>
              </a:lnSpc>
              <a:spcBef>
                <a:spcPts val="580"/>
              </a:spcBef>
              <a:buClr>
                <a:srgbClr val="60B5CC"/>
              </a:buClr>
              <a:buFont typeface="Malgun Gothic"/>
              <a:buChar char="▪"/>
              <a:tabLst>
                <a:tab pos="305435" algn="l"/>
              </a:tabLst>
            </a:pPr>
            <a:r>
              <a:rPr dirty="0" sz="2800" spc="-10">
                <a:latin typeface="Calibri"/>
                <a:cs typeface="Calibri"/>
              </a:rPr>
              <a:t>Compute </a:t>
            </a:r>
            <a:r>
              <a:rPr dirty="0" sz="2800">
                <a:latin typeface="Calibri"/>
                <a:cs typeface="Calibri"/>
              </a:rPr>
              <a:t>the </a:t>
            </a:r>
            <a:r>
              <a:rPr dirty="0" sz="2800" spc="-5">
                <a:latin typeface="Calibri"/>
                <a:cs typeface="Calibri"/>
              </a:rPr>
              <a:t>loss </a:t>
            </a:r>
            <a:r>
              <a:rPr dirty="0" sz="2800" spc="75">
                <a:latin typeface="Cambria Math"/>
                <a:cs typeface="Cambria Math"/>
              </a:rPr>
              <a:t>ℓ</a:t>
            </a:r>
            <a:r>
              <a:rPr dirty="0" baseline="-16666" sz="3000" spc="112">
                <a:latin typeface="Cambria Math"/>
                <a:cs typeface="Cambria Math"/>
              </a:rPr>
              <a:t>"#$</a:t>
            </a:r>
            <a:r>
              <a:rPr dirty="0" sz="2800" spc="75">
                <a:latin typeface="Cambria Math"/>
                <a:cs typeface="Cambria Math"/>
              </a:rPr>
              <a:t>(𝜽) </a:t>
            </a:r>
            <a:r>
              <a:rPr dirty="0" sz="2800" spc="-30">
                <a:latin typeface="Calibri"/>
                <a:cs typeface="Calibri"/>
              </a:rPr>
              <a:t>averaged </a:t>
            </a:r>
            <a:r>
              <a:rPr dirty="0" sz="2800" spc="-155">
                <a:latin typeface="Calibri"/>
                <a:cs typeface="Calibri"/>
              </a:rPr>
              <a:t>over  </a:t>
            </a: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>
                <a:latin typeface="Cambria Math"/>
                <a:cs typeface="Cambria Math"/>
              </a:rPr>
              <a:t>𝑀</a:t>
            </a:r>
            <a:r>
              <a:rPr dirty="0" sz="2800" spc="15">
                <a:latin typeface="Cambria Math"/>
                <a:cs typeface="Cambria Math"/>
              </a:rPr>
              <a:t> </a:t>
            </a:r>
            <a:r>
              <a:rPr dirty="0" sz="2800" spc="-5">
                <a:latin typeface="Calibri"/>
                <a:cs typeface="Calibri"/>
              </a:rPr>
              <a:t>nodes.</a:t>
            </a:r>
            <a:endParaRPr sz="2800">
              <a:latin typeface="Calibri"/>
              <a:cs typeface="Calibri"/>
            </a:endParaRPr>
          </a:p>
          <a:p>
            <a:pPr marL="305435" indent="-274320">
              <a:lnSpc>
                <a:spcPct val="100000"/>
              </a:lnSpc>
              <a:spcBef>
                <a:spcPts val="620"/>
              </a:spcBef>
              <a:buClr>
                <a:srgbClr val="60B5CC"/>
              </a:buClr>
              <a:buFont typeface="Malgun Gothic"/>
              <a:buChar char="▪"/>
              <a:tabLst>
                <a:tab pos="305435" algn="l"/>
                <a:tab pos="3439160" algn="l"/>
              </a:tabLst>
            </a:pPr>
            <a:r>
              <a:rPr dirty="0" sz="2800" spc="-20">
                <a:latin typeface="Calibri"/>
                <a:cs typeface="Calibri"/>
              </a:rPr>
              <a:t>Perform </a:t>
            </a:r>
            <a:r>
              <a:rPr dirty="0" sz="2800" spc="-5">
                <a:latin typeface="Calibri"/>
                <a:cs typeface="Calibri"/>
              </a:rPr>
              <a:t>SGD: </a:t>
            </a:r>
            <a:r>
              <a:rPr dirty="0" sz="2800">
                <a:latin typeface="Cambria Math"/>
                <a:cs typeface="Cambria Math"/>
              </a:rPr>
              <a:t>𝜽</a:t>
            </a:r>
            <a:r>
              <a:rPr dirty="0" sz="2800" spc="19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←</a:t>
            </a:r>
            <a:r>
              <a:rPr dirty="0" sz="2800" spc="16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𝜽	−</a:t>
            </a:r>
            <a:r>
              <a:rPr dirty="0" sz="2800" spc="-70">
                <a:latin typeface="Cambria Math"/>
                <a:cs typeface="Cambria Math"/>
              </a:rPr>
              <a:t> </a:t>
            </a:r>
            <a:r>
              <a:rPr dirty="0" sz="2800" spc="65">
                <a:latin typeface="Cambria Math"/>
                <a:cs typeface="Cambria Math"/>
              </a:rPr>
              <a:t>∇ℓ</a:t>
            </a:r>
            <a:r>
              <a:rPr dirty="0" baseline="-16666" sz="3000" spc="97">
                <a:latin typeface="Cambria Math"/>
                <a:cs typeface="Cambria Math"/>
              </a:rPr>
              <a:t>"#$</a:t>
            </a:r>
            <a:r>
              <a:rPr dirty="0" sz="2800" spc="65">
                <a:latin typeface="Cambria Math"/>
                <a:cs typeface="Cambria Math"/>
              </a:rPr>
              <a:t>(𝜽)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497774" y="2810711"/>
            <a:ext cx="1357850" cy="11715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064828" y="4934577"/>
            <a:ext cx="1874962" cy="147048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437260" y="2163572"/>
            <a:ext cx="1562735" cy="568325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12700" marR="5080">
              <a:lnSpc>
                <a:spcPts val="2110"/>
              </a:lnSpc>
              <a:spcBef>
                <a:spcPts val="210"/>
              </a:spcBef>
            </a:pPr>
            <a:r>
              <a:rPr dirty="0" sz="1800" spc="-5">
                <a:solidFill>
                  <a:srgbClr val="D60093"/>
                </a:solidFill>
                <a:latin typeface="Cambria Math"/>
                <a:cs typeface="Cambria Math"/>
              </a:rPr>
              <a:t>𝑲</a:t>
            </a:r>
            <a:r>
              <a:rPr dirty="0" sz="1800" spc="-5" b="1">
                <a:solidFill>
                  <a:srgbClr val="D60093"/>
                </a:solidFill>
                <a:latin typeface="Arial"/>
                <a:cs typeface="Arial"/>
              </a:rPr>
              <a:t>-hop  </a:t>
            </a:r>
            <a:r>
              <a:rPr dirty="0" sz="1800" b="1">
                <a:solidFill>
                  <a:srgbClr val="D60093"/>
                </a:solidFill>
                <a:latin typeface="Arial"/>
                <a:cs typeface="Arial"/>
              </a:rPr>
              <a:t>n</a:t>
            </a:r>
            <a:r>
              <a:rPr dirty="0" sz="1800" spc="-5" b="1">
                <a:solidFill>
                  <a:srgbClr val="D60093"/>
                </a:solidFill>
                <a:latin typeface="Arial"/>
                <a:cs typeface="Arial"/>
              </a:rPr>
              <a:t>e</a:t>
            </a:r>
            <a:r>
              <a:rPr dirty="0" sz="1800" b="1">
                <a:solidFill>
                  <a:srgbClr val="D60093"/>
                </a:solidFill>
                <a:latin typeface="Arial"/>
                <a:cs typeface="Arial"/>
              </a:rPr>
              <a:t>ighborhood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3/13/21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16</a:t>
            </a:fld>
          </a:p>
        </p:txBody>
      </p:sp>
      <p:sp>
        <p:nvSpPr>
          <p:cNvPr id="8" name="object 8"/>
          <p:cNvSpPr txBox="1"/>
          <p:nvPr/>
        </p:nvSpPr>
        <p:spPr>
          <a:xfrm>
            <a:off x="7216244" y="4233164"/>
            <a:ext cx="1625600" cy="568325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495300" marR="5080" indent="-482600">
              <a:lnSpc>
                <a:spcPts val="2110"/>
              </a:lnSpc>
              <a:spcBef>
                <a:spcPts val="210"/>
              </a:spcBef>
            </a:pPr>
            <a:r>
              <a:rPr dirty="0" sz="1800" b="1">
                <a:solidFill>
                  <a:srgbClr val="0000FF"/>
                </a:solidFill>
                <a:latin typeface="Arial"/>
                <a:cs typeface="Arial"/>
              </a:rPr>
              <a:t>Comput</a:t>
            </a:r>
            <a:r>
              <a:rPr dirty="0" sz="1800" spc="-5" b="1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dirty="0" sz="1800" b="1">
                <a:solidFill>
                  <a:srgbClr val="0000FF"/>
                </a:solidFill>
                <a:latin typeface="Arial"/>
                <a:cs typeface="Arial"/>
              </a:rPr>
              <a:t>tion</a:t>
            </a:r>
            <a:r>
              <a:rPr dirty="0" sz="1800" spc="-5" b="1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dirty="0" sz="1800" b="1">
                <a:solidFill>
                  <a:srgbClr val="0000FF"/>
                </a:solidFill>
                <a:latin typeface="Arial"/>
                <a:cs typeface="Arial"/>
              </a:rPr>
              <a:t>l  </a:t>
            </a:r>
            <a:r>
              <a:rPr dirty="0" sz="1800" spc="-5" b="1">
                <a:solidFill>
                  <a:srgbClr val="0000FF"/>
                </a:solidFill>
                <a:latin typeface="Arial"/>
                <a:cs typeface="Arial"/>
              </a:rPr>
              <a:t>graph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187183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18108" y="1196340"/>
            <a:ext cx="7182484" cy="2951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 b="1">
                <a:solidFill>
                  <a:srgbClr val="0000FF"/>
                </a:solidFill>
                <a:latin typeface="Calibri"/>
                <a:cs typeface="Calibri"/>
              </a:rPr>
              <a:t>For </a:t>
            </a:r>
            <a:r>
              <a:rPr dirty="0" sz="3200" spc="-5" b="1">
                <a:solidFill>
                  <a:srgbClr val="0000FF"/>
                </a:solidFill>
                <a:latin typeface="Calibri"/>
                <a:cs typeface="Calibri"/>
              </a:rPr>
              <a:t>each node</a:t>
            </a:r>
            <a:r>
              <a:rPr dirty="0" sz="3200" spc="-5">
                <a:latin typeface="Calibri"/>
                <a:cs typeface="Calibri"/>
              </a:rPr>
              <a:t>, </a:t>
            </a:r>
            <a:r>
              <a:rPr dirty="0" sz="3200" spc="-15">
                <a:latin typeface="Calibri"/>
                <a:cs typeface="Calibri"/>
              </a:rPr>
              <a:t>we </a:t>
            </a:r>
            <a:r>
              <a:rPr dirty="0" sz="3200" spc="-5">
                <a:latin typeface="Calibri"/>
                <a:cs typeface="Calibri"/>
              </a:rPr>
              <a:t>need </a:t>
            </a:r>
            <a:r>
              <a:rPr dirty="0" sz="3200" spc="-15">
                <a:latin typeface="Calibri"/>
                <a:cs typeface="Calibri"/>
              </a:rPr>
              <a:t>to </a:t>
            </a:r>
            <a:r>
              <a:rPr dirty="0" sz="3200" spc="-20">
                <a:latin typeface="Calibri"/>
                <a:cs typeface="Calibri"/>
              </a:rPr>
              <a:t>get </a:t>
            </a:r>
            <a:r>
              <a:rPr dirty="0" sz="3200" spc="-5" b="1">
                <a:solidFill>
                  <a:srgbClr val="008000"/>
                </a:solidFill>
                <a:latin typeface="Calibri"/>
                <a:cs typeface="Calibri"/>
              </a:rPr>
              <a:t>the</a:t>
            </a:r>
            <a:r>
              <a:rPr dirty="0" sz="3200" spc="40" b="1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3200" spc="-15" b="1">
                <a:solidFill>
                  <a:srgbClr val="008000"/>
                </a:solidFill>
                <a:latin typeface="Calibri"/>
                <a:cs typeface="Calibri"/>
              </a:rPr>
              <a:t>entire</a:t>
            </a:r>
            <a:endParaRPr sz="3200">
              <a:latin typeface="Calibri"/>
              <a:cs typeface="Calibri"/>
            </a:endParaRPr>
          </a:p>
          <a:p>
            <a:pPr marL="332740" marR="5080">
              <a:lnSpc>
                <a:spcPts val="3910"/>
              </a:lnSpc>
              <a:spcBef>
                <a:spcPts val="45"/>
              </a:spcBef>
            </a:pPr>
            <a:r>
              <a:rPr dirty="0" sz="3200" spc="-5">
                <a:solidFill>
                  <a:srgbClr val="008000"/>
                </a:solidFill>
                <a:latin typeface="Cambria Math"/>
                <a:cs typeface="Cambria Math"/>
              </a:rPr>
              <a:t>𝑲</a:t>
            </a:r>
            <a:r>
              <a:rPr dirty="0" sz="3200" spc="-5" b="1">
                <a:solidFill>
                  <a:srgbClr val="008000"/>
                </a:solidFill>
                <a:latin typeface="Calibri"/>
                <a:cs typeface="Calibri"/>
              </a:rPr>
              <a:t>-hop neighborhood </a:t>
            </a:r>
            <a:r>
              <a:rPr dirty="0" sz="3200">
                <a:latin typeface="Calibri"/>
                <a:cs typeface="Calibri"/>
              </a:rPr>
              <a:t>and </a:t>
            </a:r>
            <a:r>
              <a:rPr dirty="0" sz="3200" spc="-5">
                <a:latin typeface="Calibri"/>
                <a:cs typeface="Calibri"/>
              </a:rPr>
              <a:t>pass </a:t>
            </a:r>
            <a:r>
              <a:rPr dirty="0" sz="3200">
                <a:latin typeface="Calibri"/>
                <a:cs typeface="Calibri"/>
              </a:rPr>
              <a:t>it </a:t>
            </a:r>
            <a:r>
              <a:rPr dirty="0" sz="3200" spc="-10">
                <a:latin typeface="Calibri"/>
                <a:cs typeface="Calibri"/>
              </a:rPr>
              <a:t>through 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10">
                <a:latin typeface="Calibri"/>
                <a:cs typeface="Calibri"/>
              </a:rPr>
              <a:t>computation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graph.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365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60">
                <a:latin typeface="Calibri"/>
                <a:cs typeface="Calibri"/>
              </a:rPr>
              <a:t>We </a:t>
            </a:r>
            <a:r>
              <a:rPr dirty="0" sz="3200" spc="-5">
                <a:latin typeface="Calibri"/>
                <a:cs typeface="Calibri"/>
              </a:rPr>
              <a:t>need </a:t>
            </a:r>
            <a:r>
              <a:rPr dirty="0" sz="3200" spc="-15">
                <a:latin typeface="Calibri"/>
                <a:cs typeface="Calibri"/>
              </a:rPr>
              <a:t>to </a:t>
            </a:r>
            <a:r>
              <a:rPr dirty="0" sz="3200" spc="-20">
                <a:latin typeface="Calibri"/>
                <a:cs typeface="Calibri"/>
              </a:rPr>
              <a:t>aggregate </a:t>
            </a:r>
            <a:r>
              <a:rPr dirty="0" sz="3200" spc="-5">
                <a:latin typeface="Calibri"/>
                <a:cs typeface="Calibri"/>
              </a:rPr>
              <a:t>lot of</a:t>
            </a:r>
            <a:r>
              <a:rPr dirty="0" sz="3200" spc="12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information</a:t>
            </a:r>
            <a:endParaRPr sz="3200">
              <a:latin typeface="Calibri"/>
              <a:cs typeface="Calibri"/>
            </a:endParaRPr>
          </a:p>
          <a:p>
            <a:pPr marL="332740">
              <a:lnSpc>
                <a:spcPts val="3815"/>
              </a:lnSpc>
              <a:spcBef>
                <a:spcPts val="75"/>
              </a:spcBef>
            </a:pPr>
            <a:r>
              <a:rPr dirty="0" sz="3200" spc="-15">
                <a:latin typeface="Calibri"/>
                <a:cs typeface="Calibri"/>
              </a:rPr>
              <a:t>just to compute </a:t>
            </a:r>
            <a:r>
              <a:rPr dirty="0" sz="3200" spc="-5">
                <a:latin typeface="Calibri"/>
                <a:cs typeface="Calibri"/>
              </a:rPr>
              <a:t>one node</a:t>
            </a:r>
            <a:r>
              <a:rPr dirty="0" sz="3200" spc="11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embedding.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Computationally</a:t>
            </a:r>
            <a:r>
              <a:rPr dirty="0" sz="3200" spc="1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15" b="1">
                <a:solidFill>
                  <a:srgbClr val="C00000"/>
                </a:solidFill>
                <a:latin typeface="Calibri"/>
                <a:cs typeface="Calibri"/>
              </a:rPr>
              <a:t>expensive.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794789" y="4295390"/>
            <a:ext cx="3249620" cy="20954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3/13/21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16</a:t>
            </a:fld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187183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258762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 b="1">
                <a:solidFill>
                  <a:srgbClr val="D60093"/>
                </a:solidFill>
                <a:latin typeface="Calibri"/>
                <a:cs typeface="Calibri"/>
              </a:rPr>
              <a:t>More</a:t>
            </a:r>
            <a:r>
              <a:rPr dirty="0" spc="-100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pc="-10" b="1">
                <a:solidFill>
                  <a:srgbClr val="D60093"/>
                </a:solidFill>
                <a:latin typeface="Calibri"/>
                <a:cs typeface="Calibri"/>
              </a:rPr>
              <a:t>details: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8108" y="1920747"/>
            <a:ext cx="4188460" cy="450088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625475" marR="5080" indent="-274320">
              <a:lnSpc>
                <a:spcPct val="100200"/>
              </a:lnSpc>
              <a:spcBef>
                <a:spcPts val="9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>
                <a:latin typeface="Calibri"/>
                <a:cs typeface="Calibri"/>
              </a:rPr>
              <a:t>Computation </a:t>
            </a:r>
            <a:r>
              <a:rPr dirty="0" sz="2800" spc="-15">
                <a:latin typeface="Calibri"/>
                <a:cs typeface="Calibri"/>
              </a:rPr>
              <a:t>graph  </a:t>
            </a:r>
            <a:r>
              <a:rPr dirty="0" sz="2800" spc="-10">
                <a:latin typeface="Calibri"/>
                <a:cs typeface="Calibri"/>
              </a:rPr>
              <a:t>becomes </a:t>
            </a:r>
            <a:r>
              <a:rPr dirty="0" sz="2800" spc="-10" b="1">
                <a:solidFill>
                  <a:srgbClr val="0000FF"/>
                </a:solidFill>
                <a:latin typeface="Calibri"/>
                <a:cs typeface="Calibri"/>
              </a:rPr>
              <a:t>exponentially  </a:t>
            </a:r>
            <a:r>
              <a:rPr dirty="0" sz="2800" spc="-15" b="1">
                <a:solidFill>
                  <a:srgbClr val="0000FF"/>
                </a:solidFill>
                <a:latin typeface="Calibri"/>
                <a:cs typeface="Calibri"/>
              </a:rPr>
              <a:t>large </a:t>
            </a:r>
            <a:r>
              <a:rPr dirty="0" sz="2800" spc="-5">
                <a:latin typeface="Calibri"/>
                <a:cs typeface="Calibri"/>
              </a:rPr>
              <a:t>with </a:t>
            </a:r>
            <a:r>
              <a:rPr dirty="0" sz="2800" spc="-10">
                <a:latin typeface="Calibri"/>
                <a:cs typeface="Calibri"/>
              </a:rPr>
              <a:t>respect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5">
                <a:latin typeface="Calibri"/>
                <a:cs typeface="Calibri"/>
              </a:rPr>
              <a:t>the  </a:t>
            </a:r>
            <a:r>
              <a:rPr dirty="0" sz="2800" spc="-25">
                <a:latin typeface="Calibri"/>
                <a:cs typeface="Calibri"/>
              </a:rPr>
              <a:t>layer </a:t>
            </a:r>
            <a:r>
              <a:rPr dirty="0" sz="2800" spc="-20">
                <a:latin typeface="Calibri"/>
                <a:cs typeface="Calibri"/>
              </a:rPr>
              <a:t>size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30">
                <a:latin typeface="Cambria Math"/>
                <a:cs typeface="Cambria Math"/>
              </a:rPr>
              <a:t>𝐾.</a:t>
            </a:r>
            <a:endParaRPr sz="2800">
              <a:latin typeface="Cambria Math"/>
              <a:cs typeface="Cambria Math"/>
            </a:endParaRPr>
          </a:p>
          <a:p>
            <a:pPr marL="625475" marR="228600" indent="-274320">
              <a:lnSpc>
                <a:spcPct val="100200"/>
              </a:lnSpc>
              <a:spcBef>
                <a:spcPts val="61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>
                <a:latin typeface="Calibri"/>
                <a:cs typeface="Calibri"/>
              </a:rPr>
              <a:t>Computation </a:t>
            </a:r>
            <a:r>
              <a:rPr dirty="0" sz="2800" spc="-15">
                <a:latin typeface="Calibri"/>
                <a:cs typeface="Calibri"/>
              </a:rPr>
              <a:t>graph  </a:t>
            </a:r>
            <a:r>
              <a:rPr dirty="0" sz="2800" spc="-10">
                <a:latin typeface="Calibri"/>
                <a:cs typeface="Calibri"/>
              </a:rPr>
              <a:t>explodes </a:t>
            </a:r>
            <a:r>
              <a:rPr dirty="0" sz="2800" spc="-5">
                <a:latin typeface="Calibri"/>
                <a:cs typeface="Calibri"/>
              </a:rPr>
              <a:t>when it hits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2800" spc="-5" b="1">
                <a:solidFill>
                  <a:srgbClr val="0000FF"/>
                </a:solidFill>
                <a:latin typeface="Calibri"/>
                <a:cs typeface="Calibri"/>
              </a:rPr>
              <a:t>hub node </a:t>
            </a:r>
            <a:r>
              <a:rPr dirty="0" sz="2800" spc="-10">
                <a:latin typeface="Calibri"/>
                <a:cs typeface="Calibri"/>
              </a:rPr>
              <a:t>(high-degree  </a:t>
            </a:r>
            <a:r>
              <a:rPr dirty="0" sz="2800" spc="-5">
                <a:latin typeface="Calibri"/>
                <a:cs typeface="Calibri"/>
              </a:rPr>
              <a:t>node).</a:t>
            </a:r>
            <a:endParaRPr sz="2800">
              <a:latin typeface="Calibri"/>
              <a:cs typeface="Calibri"/>
            </a:endParaRPr>
          </a:p>
          <a:p>
            <a:pPr marL="332740" marR="170815" indent="-320040">
              <a:lnSpc>
                <a:spcPts val="3820"/>
              </a:lnSpc>
              <a:spcBef>
                <a:spcPts val="17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solidFill>
                  <a:srgbClr val="D60093"/>
                </a:solidFill>
                <a:latin typeface="Calibri"/>
                <a:cs typeface="Calibri"/>
              </a:rPr>
              <a:t>Next: </a:t>
            </a:r>
            <a:r>
              <a:rPr dirty="0" sz="3200" spc="-30">
                <a:latin typeface="Calibri"/>
                <a:cs typeface="Calibri"/>
              </a:rPr>
              <a:t>Make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10">
                <a:latin typeface="Calibri"/>
                <a:cs typeface="Calibri"/>
              </a:rPr>
              <a:t>comp.  </a:t>
            </a:r>
            <a:r>
              <a:rPr dirty="0" sz="3200" spc="-15">
                <a:latin typeface="Calibri"/>
                <a:cs typeface="Calibri"/>
              </a:rPr>
              <a:t>graph more</a:t>
            </a:r>
            <a:r>
              <a:rPr dirty="0" sz="3200" spc="-3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compact!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024649" y="1750283"/>
            <a:ext cx="2550694" cy="182692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221649" y="3512658"/>
            <a:ext cx="79375" cy="86995"/>
          </a:xfrm>
          <a:custGeom>
            <a:avLst/>
            <a:gdLst/>
            <a:ahLst/>
            <a:cxnLst/>
            <a:rect l="l" t="t" r="r" b="b"/>
            <a:pathLst>
              <a:path w="79375" h="86995">
                <a:moveTo>
                  <a:pt x="47852" y="0"/>
                </a:moveTo>
                <a:lnTo>
                  <a:pt x="6688" y="23925"/>
                </a:lnTo>
                <a:lnTo>
                  <a:pt x="0" y="57045"/>
                </a:lnTo>
                <a:lnTo>
                  <a:pt x="5463" y="71522"/>
                </a:lnTo>
                <a:lnTo>
                  <a:pt x="16383" y="82115"/>
                </a:lnTo>
                <a:lnTo>
                  <a:pt x="30918" y="86609"/>
                </a:lnTo>
                <a:lnTo>
                  <a:pt x="46241" y="84451"/>
                </a:lnTo>
                <a:lnTo>
                  <a:pt x="60559" y="76267"/>
                </a:lnTo>
                <a:lnTo>
                  <a:pt x="72082" y="62683"/>
                </a:lnTo>
                <a:lnTo>
                  <a:pt x="78467" y="46053"/>
                </a:lnTo>
                <a:lnTo>
                  <a:pt x="78771" y="29564"/>
                </a:lnTo>
                <a:lnTo>
                  <a:pt x="73307" y="15086"/>
                </a:lnTo>
                <a:lnTo>
                  <a:pt x="62387" y="4493"/>
                </a:lnTo>
                <a:lnTo>
                  <a:pt x="4785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127977" y="3680029"/>
            <a:ext cx="79375" cy="86995"/>
          </a:xfrm>
          <a:custGeom>
            <a:avLst/>
            <a:gdLst/>
            <a:ahLst/>
            <a:cxnLst/>
            <a:rect l="l" t="t" r="r" b="b"/>
            <a:pathLst>
              <a:path w="79375" h="86995">
                <a:moveTo>
                  <a:pt x="47853" y="0"/>
                </a:moveTo>
                <a:lnTo>
                  <a:pt x="6688" y="23925"/>
                </a:lnTo>
                <a:lnTo>
                  <a:pt x="0" y="57044"/>
                </a:lnTo>
                <a:lnTo>
                  <a:pt x="5463" y="71522"/>
                </a:lnTo>
                <a:lnTo>
                  <a:pt x="16383" y="82115"/>
                </a:lnTo>
                <a:lnTo>
                  <a:pt x="30918" y="86608"/>
                </a:lnTo>
                <a:lnTo>
                  <a:pt x="46241" y="84450"/>
                </a:lnTo>
                <a:lnTo>
                  <a:pt x="60560" y="76267"/>
                </a:lnTo>
                <a:lnTo>
                  <a:pt x="72083" y="62683"/>
                </a:lnTo>
                <a:lnTo>
                  <a:pt x="78467" y="46053"/>
                </a:lnTo>
                <a:lnTo>
                  <a:pt x="78771" y="29563"/>
                </a:lnTo>
                <a:lnTo>
                  <a:pt x="73307" y="15086"/>
                </a:lnTo>
                <a:lnTo>
                  <a:pt x="62388" y="4493"/>
                </a:lnTo>
                <a:lnTo>
                  <a:pt x="478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262659" y="3662008"/>
            <a:ext cx="90170" cy="99695"/>
          </a:xfrm>
          <a:custGeom>
            <a:avLst/>
            <a:gdLst/>
            <a:ahLst/>
            <a:cxnLst/>
            <a:rect l="l" t="t" r="r" b="b"/>
            <a:pathLst>
              <a:path w="90170" h="99695">
                <a:moveTo>
                  <a:pt x="44912" y="0"/>
                </a:moveTo>
                <a:lnTo>
                  <a:pt x="27430" y="3909"/>
                </a:lnTo>
                <a:lnTo>
                  <a:pt x="13154" y="14569"/>
                </a:lnTo>
                <a:lnTo>
                  <a:pt x="3529" y="30380"/>
                </a:lnTo>
                <a:lnTo>
                  <a:pt x="0" y="49743"/>
                </a:lnTo>
                <a:lnTo>
                  <a:pt x="3529" y="69105"/>
                </a:lnTo>
                <a:lnTo>
                  <a:pt x="13154" y="84917"/>
                </a:lnTo>
                <a:lnTo>
                  <a:pt x="27430" y="95577"/>
                </a:lnTo>
                <a:lnTo>
                  <a:pt x="44912" y="99486"/>
                </a:lnTo>
                <a:lnTo>
                  <a:pt x="62393" y="95577"/>
                </a:lnTo>
                <a:lnTo>
                  <a:pt x="76668" y="84917"/>
                </a:lnTo>
                <a:lnTo>
                  <a:pt x="86293" y="69105"/>
                </a:lnTo>
                <a:lnTo>
                  <a:pt x="89823" y="49743"/>
                </a:lnTo>
                <a:lnTo>
                  <a:pt x="86293" y="30380"/>
                </a:lnTo>
                <a:lnTo>
                  <a:pt x="76668" y="14569"/>
                </a:lnTo>
                <a:lnTo>
                  <a:pt x="62393" y="3909"/>
                </a:lnTo>
                <a:lnTo>
                  <a:pt x="449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268275" y="3873417"/>
            <a:ext cx="90170" cy="99695"/>
          </a:xfrm>
          <a:custGeom>
            <a:avLst/>
            <a:gdLst/>
            <a:ahLst/>
            <a:cxnLst/>
            <a:rect l="l" t="t" r="r" b="b"/>
            <a:pathLst>
              <a:path w="90170" h="99695">
                <a:moveTo>
                  <a:pt x="44911" y="0"/>
                </a:moveTo>
                <a:lnTo>
                  <a:pt x="27429" y="3909"/>
                </a:lnTo>
                <a:lnTo>
                  <a:pt x="13153" y="14569"/>
                </a:lnTo>
                <a:lnTo>
                  <a:pt x="3529" y="30380"/>
                </a:lnTo>
                <a:lnTo>
                  <a:pt x="0" y="49743"/>
                </a:lnTo>
                <a:lnTo>
                  <a:pt x="3529" y="69105"/>
                </a:lnTo>
                <a:lnTo>
                  <a:pt x="13153" y="84917"/>
                </a:lnTo>
                <a:lnTo>
                  <a:pt x="27429" y="95578"/>
                </a:lnTo>
                <a:lnTo>
                  <a:pt x="44911" y="99487"/>
                </a:lnTo>
                <a:lnTo>
                  <a:pt x="62392" y="95578"/>
                </a:lnTo>
                <a:lnTo>
                  <a:pt x="76668" y="84917"/>
                </a:lnTo>
                <a:lnTo>
                  <a:pt x="86292" y="69105"/>
                </a:lnTo>
                <a:lnTo>
                  <a:pt x="89822" y="49743"/>
                </a:lnTo>
                <a:lnTo>
                  <a:pt x="86292" y="30380"/>
                </a:lnTo>
                <a:lnTo>
                  <a:pt x="76668" y="14569"/>
                </a:lnTo>
                <a:lnTo>
                  <a:pt x="62392" y="3909"/>
                </a:lnTo>
                <a:lnTo>
                  <a:pt x="449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548692" y="3648815"/>
            <a:ext cx="93345" cy="94615"/>
          </a:xfrm>
          <a:custGeom>
            <a:avLst/>
            <a:gdLst/>
            <a:ahLst/>
            <a:cxnLst/>
            <a:rect l="l" t="t" r="r" b="b"/>
            <a:pathLst>
              <a:path w="93345" h="94614">
                <a:moveTo>
                  <a:pt x="50875" y="0"/>
                </a:moveTo>
                <a:lnTo>
                  <a:pt x="33058" y="6"/>
                </a:lnTo>
                <a:lnTo>
                  <a:pt x="16716" y="7340"/>
                </a:lnTo>
                <a:lnTo>
                  <a:pt x="5053" y="20937"/>
                </a:lnTo>
                <a:lnTo>
                  <a:pt x="0" y="38022"/>
                </a:lnTo>
                <a:lnTo>
                  <a:pt x="1755" y="56449"/>
                </a:lnTo>
                <a:lnTo>
                  <a:pt x="10519" y="74071"/>
                </a:lnTo>
                <a:lnTo>
                  <a:pt x="24938" y="87468"/>
                </a:lnTo>
                <a:lnTo>
                  <a:pt x="42113" y="94371"/>
                </a:lnTo>
                <a:lnTo>
                  <a:pt x="59930" y="94364"/>
                </a:lnTo>
                <a:lnTo>
                  <a:pt x="76273" y="87030"/>
                </a:lnTo>
                <a:lnTo>
                  <a:pt x="87936" y="73434"/>
                </a:lnTo>
                <a:lnTo>
                  <a:pt x="92989" y="56349"/>
                </a:lnTo>
                <a:lnTo>
                  <a:pt x="91233" y="37922"/>
                </a:lnTo>
                <a:lnTo>
                  <a:pt x="82469" y="20299"/>
                </a:lnTo>
                <a:lnTo>
                  <a:pt x="68050" y="6903"/>
                </a:lnTo>
                <a:lnTo>
                  <a:pt x="508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151440" y="4164812"/>
            <a:ext cx="3157170" cy="233180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409371" y="6360233"/>
            <a:ext cx="97790" cy="99695"/>
          </a:xfrm>
          <a:custGeom>
            <a:avLst/>
            <a:gdLst/>
            <a:ahLst/>
            <a:cxnLst/>
            <a:rect l="l" t="t" r="r" b="b"/>
            <a:pathLst>
              <a:path w="97790" h="99695">
                <a:moveTo>
                  <a:pt x="48581" y="0"/>
                </a:moveTo>
                <a:lnTo>
                  <a:pt x="29671" y="3909"/>
                </a:lnTo>
                <a:lnTo>
                  <a:pt x="14229" y="14569"/>
                </a:lnTo>
                <a:lnTo>
                  <a:pt x="3817" y="30381"/>
                </a:lnTo>
                <a:lnTo>
                  <a:pt x="0" y="49743"/>
                </a:lnTo>
                <a:lnTo>
                  <a:pt x="3817" y="69105"/>
                </a:lnTo>
                <a:lnTo>
                  <a:pt x="14229" y="84917"/>
                </a:lnTo>
                <a:lnTo>
                  <a:pt x="29671" y="95577"/>
                </a:lnTo>
                <a:lnTo>
                  <a:pt x="48581" y="99486"/>
                </a:lnTo>
                <a:lnTo>
                  <a:pt x="67491" y="95577"/>
                </a:lnTo>
                <a:lnTo>
                  <a:pt x="82934" y="84917"/>
                </a:lnTo>
                <a:lnTo>
                  <a:pt x="93346" y="69105"/>
                </a:lnTo>
                <a:lnTo>
                  <a:pt x="97163" y="49743"/>
                </a:lnTo>
                <a:lnTo>
                  <a:pt x="93346" y="30381"/>
                </a:lnTo>
                <a:lnTo>
                  <a:pt x="82934" y="14569"/>
                </a:lnTo>
                <a:lnTo>
                  <a:pt x="67491" y="3909"/>
                </a:lnTo>
                <a:lnTo>
                  <a:pt x="485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977441" y="6564542"/>
            <a:ext cx="97155" cy="97790"/>
          </a:xfrm>
          <a:custGeom>
            <a:avLst/>
            <a:gdLst/>
            <a:ahLst/>
            <a:cxnLst/>
            <a:rect l="l" t="t" r="r" b="b"/>
            <a:pathLst>
              <a:path w="97154" h="97790">
                <a:moveTo>
                  <a:pt x="55032" y="0"/>
                </a:moveTo>
                <a:lnTo>
                  <a:pt x="36281" y="705"/>
                </a:lnTo>
                <a:lnTo>
                  <a:pt x="18794" y="8894"/>
                </a:lnTo>
                <a:lnTo>
                  <a:pt x="5987" y="23345"/>
                </a:lnTo>
                <a:lnTo>
                  <a:pt x="0" y="41129"/>
                </a:lnTo>
                <a:lnTo>
                  <a:pt x="1125" y="60027"/>
                </a:lnTo>
                <a:lnTo>
                  <a:pt x="9658" y="77822"/>
                </a:lnTo>
                <a:lnTo>
                  <a:pt x="24307" y="91046"/>
                </a:lnTo>
                <a:lnTo>
                  <a:pt x="42113" y="97478"/>
                </a:lnTo>
                <a:lnTo>
                  <a:pt x="60864" y="96773"/>
                </a:lnTo>
                <a:lnTo>
                  <a:pt x="78351" y="88584"/>
                </a:lnTo>
                <a:lnTo>
                  <a:pt x="91158" y="74133"/>
                </a:lnTo>
                <a:lnTo>
                  <a:pt x="97145" y="56349"/>
                </a:lnTo>
                <a:lnTo>
                  <a:pt x="96019" y="37451"/>
                </a:lnTo>
                <a:lnTo>
                  <a:pt x="87486" y="19656"/>
                </a:lnTo>
                <a:lnTo>
                  <a:pt x="72837" y="6432"/>
                </a:lnTo>
                <a:lnTo>
                  <a:pt x="550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767783" y="1605000"/>
            <a:ext cx="152400" cy="2041525"/>
          </a:xfrm>
          <a:custGeom>
            <a:avLst/>
            <a:gdLst/>
            <a:ahLst/>
            <a:cxnLst/>
            <a:rect l="l" t="t" r="r" b="b"/>
            <a:pathLst>
              <a:path w="152400" h="2041525">
                <a:moveTo>
                  <a:pt x="50799" y="1889180"/>
                </a:moveTo>
                <a:lnTo>
                  <a:pt x="0" y="1889347"/>
                </a:lnTo>
                <a:lnTo>
                  <a:pt x="76697" y="2041497"/>
                </a:lnTo>
                <a:lnTo>
                  <a:pt x="127082" y="1939898"/>
                </a:lnTo>
                <a:lnTo>
                  <a:pt x="76366" y="1939898"/>
                </a:lnTo>
                <a:lnTo>
                  <a:pt x="66472" y="1937934"/>
                </a:lnTo>
                <a:lnTo>
                  <a:pt x="58380" y="1932517"/>
                </a:lnTo>
                <a:lnTo>
                  <a:pt x="52910" y="1924461"/>
                </a:lnTo>
                <a:lnTo>
                  <a:pt x="50882" y="1914580"/>
                </a:lnTo>
                <a:lnTo>
                  <a:pt x="50799" y="1889180"/>
                </a:lnTo>
                <a:close/>
              </a:path>
              <a:path w="152400" h="2041525">
                <a:moveTo>
                  <a:pt x="101599" y="1889014"/>
                </a:moveTo>
                <a:lnTo>
                  <a:pt x="50799" y="1889180"/>
                </a:lnTo>
                <a:lnTo>
                  <a:pt x="50882" y="1914580"/>
                </a:lnTo>
                <a:lnTo>
                  <a:pt x="52910" y="1924461"/>
                </a:lnTo>
                <a:lnTo>
                  <a:pt x="58380" y="1932517"/>
                </a:lnTo>
                <a:lnTo>
                  <a:pt x="66472" y="1937934"/>
                </a:lnTo>
                <a:lnTo>
                  <a:pt x="76366" y="1939898"/>
                </a:lnTo>
                <a:lnTo>
                  <a:pt x="86246" y="1937869"/>
                </a:lnTo>
                <a:lnTo>
                  <a:pt x="94301" y="1932399"/>
                </a:lnTo>
                <a:lnTo>
                  <a:pt x="99718" y="1924308"/>
                </a:lnTo>
                <a:lnTo>
                  <a:pt x="101649" y="1914580"/>
                </a:lnTo>
                <a:lnTo>
                  <a:pt x="101599" y="1889014"/>
                </a:lnTo>
                <a:close/>
              </a:path>
              <a:path w="152400" h="2041525">
                <a:moveTo>
                  <a:pt x="152398" y="1888848"/>
                </a:moveTo>
                <a:lnTo>
                  <a:pt x="101599" y="1889014"/>
                </a:lnTo>
                <a:lnTo>
                  <a:pt x="101649" y="1914580"/>
                </a:lnTo>
                <a:lnTo>
                  <a:pt x="99718" y="1924308"/>
                </a:lnTo>
                <a:lnTo>
                  <a:pt x="94301" y="1932399"/>
                </a:lnTo>
                <a:lnTo>
                  <a:pt x="86246" y="1937869"/>
                </a:lnTo>
                <a:lnTo>
                  <a:pt x="76366" y="1939898"/>
                </a:lnTo>
                <a:lnTo>
                  <a:pt x="127082" y="1939898"/>
                </a:lnTo>
                <a:lnTo>
                  <a:pt x="152398" y="1888848"/>
                </a:lnTo>
                <a:close/>
              </a:path>
              <a:path w="152400" h="2041525">
                <a:moveTo>
                  <a:pt x="70015" y="0"/>
                </a:moveTo>
                <a:lnTo>
                  <a:pt x="60134" y="2028"/>
                </a:lnTo>
                <a:lnTo>
                  <a:pt x="52079" y="7498"/>
                </a:lnTo>
                <a:lnTo>
                  <a:pt x="46662" y="15590"/>
                </a:lnTo>
                <a:lnTo>
                  <a:pt x="44698" y="25483"/>
                </a:lnTo>
                <a:lnTo>
                  <a:pt x="50799" y="1889180"/>
                </a:lnTo>
                <a:lnTo>
                  <a:pt x="101599" y="1889014"/>
                </a:lnTo>
                <a:lnTo>
                  <a:pt x="95497" y="25317"/>
                </a:lnTo>
                <a:lnTo>
                  <a:pt x="93469" y="15436"/>
                </a:lnTo>
                <a:lnTo>
                  <a:pt x="87999" y="7380"/>
                </a:lnTo>
                <a:lnTo>
                  <a:pt x="79908" y="1963"/>
                </a:lnTo>
                <a:lnTo>
                  <a:pt x="70015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7925623" y="2286508"/>
            <a:ext cx="1176020" cy="51054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1900"/>
              </a:lnSpc>
              <a:spcBef>
                <a:spcPts val="180"/>
              </a:spcBef>
            </a:pPr>
            <a:r>
              <a:rPr dirty="0" sz="1600" spc="-5" b="1">
                <a:solidFill>
                  <a:srgbClr val="0000FF"/>
                </a:solidFill>
                <a:latin typeface="Arial"/>
                <a:cs typeface="Arial"/>
              </a:rPr>
              <a:t>Exponen</a:t>
            </a:r>
            <a:r>
              <a:rPr dirty="0" sz="1600" b="1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dirty="0" sz="1600" spc="0" b="1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dirty="0" sz="1600" spc="-5" b="1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dirty="0" sz="1600" b="1">
                <a:solidFill>
                  <a:srgbClr val="0000FF"/>
                </a:solidFill>
                <a:latin typeface="Arial"/>
                <a:cs typeface="Arial"/>
              </a:rPr>
              <a:t>l  </a:t>
            </a:r>
            <a:r>
              <a:rPr dirty="0" sz="1600" spc="-5" b="1">
                <a:solidFill>
                  <a:srgbClr val="0000FF"/>
                </a:solidFill>
                <a:latin typeface="Arial"/>
                <a:cs typeface="Arial"/>
              </a:rPr>
              <a:t>growth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515424" y="5943689"/>
            <a:ext cx="71755" cy="71755"/>
          </a:xfrm>
          <a:custGeom>
            <a:avLst/>
            <a:gdLst/>
            <a:ahLst/>
            <a:cxnLst/>
            <a:rect l="l" t="t" r="r" b="b"/>
            <a:pathLst>
              <a:path w="71754" h="71754">
                <a:moveTo>
                  <a:pt x="32174" y="0"/>
                </a:moveTo>
                <a:lnTo>
                  <a:pt x="18525" y="4251"/>
                </a:lnTo>
                <a:lnTo>
                  <a:pt x="7596" y="13466"/>
                </a:lnTo>
                <a:lnTo>
                  <a:pt x="1267" y="25730"/>
                </a:lnTo>
                <a:lnTo>
                  <a:pt x="0" y="39472"/>
                </a:lnTo>
                <a:lnTo>
                  <a:pt x="4252" y="53121"/>
                </a:lnTo>
                <a:lnTo>
                  <a:pt x="13466" y="64050"/>
                </a:lnTo>
                <a:lnTo>
                  <a:pt x="25730" y="70379"/>
                </a:lnTo>
                <a:lnTo>
                  <a:pt x="39472" y="71647"/>
                </a:lnTo>
                <a:lnTo>
                  <a:pt x="53120" y="67395"/>
                </a:lnTo>
                <a:lnTo>
                  <a:pt x="64050" y="58181"/>
                </a:lnTo>
                <a:lnTo>
                  <a:pt x="70379" y="45916"/>
                </a:lnTo>
                <a:lnTo>
                  <a:pt x="71647" y="32174"/>
                </a:lnTo>
                <a:lnTo>
                  <a:pt x="67395" y="18525"/>
                </a:lnTo>
                <a:lnTo>
                  <a:pt x="58181" y="7596"/>
                </a:lnTo>
                <a:lnTo>
                  <a:pt x="45917" y="1267"/>
                </a:lnTo>
                <a:lnTo>
                  <a:pt x="3217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690512" y="5851336"/>
            <a:ext cx="71755" cy="71755"/>
          </a:xfrm>
          <a:custGeom>
            <a:avLst/>
            <a:gdLst/>
            <a:ahLst/>
            <a:cxnLst/>
            <a:rect l="l" t="t" r="r" b="b"/>
            <a:pathLst>
              <a:path w="71754" h="71754">
                <a:moveTo>
                  <a:pt x="32174" y="0"/>
                </a:moveTo>
                <a:lnTo>
                  <a:pt x="18525" y="4252"/>
                </a:lnTo>
                <a:lnTo>
                  <a:pt x="7595" y="13466"/>
                </a:lnTo>
                <a:lnTo>
                  <a:pt x="1267" y="25730"/>
                </a:lnTo>
                <a:lnTo>
                  <a:pt x="0" y="39472"/>
                </a:lnTo>
                <a:lnTo>
                  <a:pt x="4251" y="53121"/>
                </a:lnTo>
                <a:lnTo>
                  <a:pt x="13465" y="64050"/>
                </a:lnTo>
                <a:lnTo>
                  <a:pt x="25730" y="70379"/>
                </a:lnTo>
                <a:lnTo>
                  <a:pt x="39472" y="71647"/>
                </a:lnTo>
                <a:lnTo>
                  <a:pt x="53121" y="67395"/>
                </a:lnTo>
                <a:lnTo>
                  <a:pt x="64050" y="58181"/>
                </a:lnTo>
                <a:lnTo>
                  <a:pt x="70378" y="45916"/>
                </a:lnTo>
                <a:lnTo>
                  <a:pt x="71646" y="32174"/>
                </a:lnTo>
                <a:lnTo>
                  <a:pt x="67394" y="18525"/>
                </a:lnTo>
                <a:lnTo>
                  <a:pt x="58181" y="7596"/>
                </a:lnTo>
                <a:lnTo>
                  <a:pt x="45916" y="1267"/>
                </a:lnTo>
                <a:lnTo>
                  <a:pt x="3217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872698" y="5744387"/>
            <a:ext cx="71755" cy="71755"/>
          </a:xfrm>
          <a:custGeom>
            <a:avLst/>
            <a:gdLst/>
            <a:ahLst/>
            <a:cxnLst/>
            <a:rect l="l" t="t" r="r" b="b"/>
            <a:pathLst>
              <a:path w="71754" h="71754">
                <a:moveTo>
                  <a:pt x="32175" y="0"/>
                </a:moveTo>
                <a:lnTo>
                  <a:pt x="18526" y="4252"/>
                </a:lnTo>
                <a:lnTo>
                  <a:pt x="7596" y="13466"/>
                </a:lnTo>
                <a:lnTo>
                  <a:pt x="1267" y="25730"/>
                </a:lnTo>
                <a:lnTo>
                  <a:pt x="0" y="39472"/>
                </a:lnTo>
                <a:lnTo>
                  <a:pt x="4251" y="53121"/>
                </a:lnTo>
                <a:lnTo>
                  <a:pt x="13465" y="64050"/>
                </a:lnTo>
                <a:lnTo>
                  <a:pt x="25730" y="70379"/>
                </a:lnTo>
                <a:lnTo>
                  <a:pt x="39472" y="71647"/>
                </a:lnTo>
                <a:lnTo>
                  <a:pt x="53121" y="67395"/>
                </a:lnTo>
                <a:lnTo>
                  <a:pt x="64051" y="58180"/>
                </a:lnTo>
                <a:lnTo>
                  <a:pt x="70380" y="45916"/>
                </a:lnTo>
                <a:lnTo>
                  <a:pt x="71648" y="32174"/>
                </a:lnTo>
                <a:lnTo>
                  <a:pt x="67396" y="18525"/>
                </a:lnTo>
                <a:lnTo>
                  <a:pt x="58182" y="7596"/>
                </a:lnTo>
                <a:lnTo>
                  <a:pt x="45917" y="1267"/>
                </a:lnTo>
                <a:lnTo>
                  <a:pt x="321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7020525" y="4489196"/>
            <a:ext cx="10801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0000FF"/>
                </a:solidFill>
                <a:latin typeface="Arial"/>
                <a:cs typeface="Arial"/>
              </a:rPr>
              <a:t>Hub</a:t>
            </a:r>
            <a:r>
              <a:rPr dirty="0" sz="1800" spc="-95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FF"/>
                </a:solidFill>
                <a:latin typeface="Arial"/>
                <a:cs typeface="Arial"/>
              </a:rPr>
              <a:t>node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3/13/21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16</a:t>
            </a:fld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4700016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8192134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12700" marR="5080">
              <a:lnSpc>
                <a:spcPts val="3790"/>
              </a:lnSpc>
              <a:spcBef>
                <a:spcPts val="265"/>
              </a:spcBef>
            </a:pPr>
            <a:r>
              <a:rPr dirty="0" spc="-30" b="1">
                <a:solidFill>
                  <a:srgbClr val="D60093"/>
                </a:solidFill>
                <a:latin typeface="Calibri"/>
                <a:cs typeface="Calibri"/>
              </a:rPr>
              <a:t>Key </a:t>
            </a:r>
            <a:r>
              <a:rPr dirty="0" spc="-5" b="1">
                <a:solidFill>
                  <a:srgbClr val="D60093"/>
                </a:solidFill>
                <a:latin typeface="Calibri"/>
                <a:cs typeface="Calibri"/>
              </a:rPr>
              <a:t>idea</a:t>
            </a:r>
            <a:r>
              <a:rPr dirty="0" spc="-5"/>
              <a:t>: </a:t>
            </a:r>
            <a:r>
              <a:rPr dirty="0" spc="-10" b="1">
                <a:latin typeface="Calibri"/>
                <a:cs typeface="Calibri"/>
              </a:rPr>
              <a:t>Construct </a:t>
            </a:r>
            <a:r>
              <a:rPr dirty="0" spc="-5" b="1">
                <a:latin typeface="Calibri"/>
                <a:cs typeface="Calibri"/>
              </a:rPr>
              <a:t>the </a:t>
            </a:r>
            <a:r>
              <a:rPr dirty="0" spc="-10" b="1">
                <a:latin typeface="Calibri"/>
                <a:cs typeface="Calibri"/>
              </a:rPr>
              <a:t>computational </a:t>
            </a:r>
            <a:r>
              <a:rPr dirty="0" spc="-20" b="1">
                <a:latin typeface="Calibri"/>
                <a:cs typeface="Calibri"/>
              </a:rPr>
              <a:t>graph </a:t>
            </a:r>
            <a:r>
              <a:rPr dirty="0" spc="-10"/>
              <a:t>by  (randomly) </a:t>
            </a:r>
            <a:r>
              <a:rPr dirty="0" spc="-5"/>
              <a:t>sampling </a:t>
            </a:r>
            <a:r>
              <a:rPr dirty="0" spc="-15"/>
              <a:t>at </a:t>
            </a:r>
            <a:r>
              <a:rPr dirty="0" spc="-10"/>
              <a:t>most </a:t>
            </a:r>
            <a:r>
              <a:rPr dirty="0">
                <a:latin typeface="Cambria Math"/>
                <a:cs typeface="Cambria Math"/>
              </a:rPr>
              <a:t>𝐻 </a:t>
            </a:r>
            <a:r>
              <a:rPr dirty="0" spc="-10"/>
              <a:t>neighbors </a:t>
            </a:r>
            <a:r>
              <a:rPr dirty="0" spc="-15"/>
              <a:t>at</a:t>
            </a:r>
            <a:r>
              <a:rPr dirty="0" spc="204"/>
              <a:t> </a:t>
            </a:r>
            <a:r>
              <a:rPr dirty="0" spc="-5"/>
              <a:t>each</a:t>
            </a:r>
          </a:p>
        </p:txBody>
      </p:sp>
      <p:sp>
        <p:nvSpPr>
          <p:cNvPr id="4" name="object 4"/>
          <p:cNvSpPr/>
          <p:nvPr/>
        </p:nvSpPr>
        <p:spPr>
          <a:xfrm>
            <a:off x="3454453" y="2647950"/>
            <a:ext cx="4333005" cy="353861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560857" y="2693923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67252" y="4199635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BFBFBF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51460" y="4364228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08525" y="4144771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61937" y="5162803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BFBFB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99998" y="5431028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BFBFBF"/>
                </a:solidFill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98914" y="5616955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BFBFBF"/>
                </a:solidFill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97830" y="5735828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BFBFBF"/>
                </a:solidFill>
                <a:latin typeface="Arial"/>
                <a:cs typeface="Arial"/>
              </a:rPr>
              <a:t>6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31588" y="5778500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30517" y="5842508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BFBFBF"/>
                </a:solidFill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054783" y="5778500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8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704380" y="5690108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BFBFB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154223" y="5537708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8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527574" y="5214620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9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43519" y="4361179"/>
            <a:ext cx="18942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"/>
                <a:cs typeface="Arial"/>
              </a:rPr>
              <a:t>ne</a:t>
            </a:r>
            <a:r>
              <a:rPr dirty="0" sz="2400" spc="0">
                <a:latin typeface="Arial"/>
                <a:cs typeface="Arial"/>
              </a:rPr>
              <a:t>i</a:t>
            </a:r>
            <a:r>
              <a:rPr dirty="0" sz="2400">
                <a:latin typeface="Arial"/>
                <a:cs typeface="Arial"/>
              </a:rPr>
              <a:t>ghborhood</a:t>
            </a:r>
            <a:endParaRPr sz="2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39193" y="5040884"/>
            <a:ext cx="1894205" cy="76009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75"/>
              </a:spcBef>
            </a:pPr>
            <a:r>
              <a:rPr dirty="0" sz="2400" spc="-5">
                <a:latin typeface="Arial"/>
                <a:cs typeface="Arial"/>
              </a:rPr>
              <a:t>2</a:t>
            </a:r>
            <a:r>
              <a:rPr dirty="0" baseline="24305" sz="2400" spc="-7">
                <a:latin typeface="Arial"/>
                <a:cs typeface="Arial"/>
              </a:rPr>
              <a:t>nd</a:t>
            </a:r>
            <a:r>
              <a:rPr dirty="0" sz="2400" spc="-5">
                <a:latin typeface="Arial"/>
                <a:cs typeface="Arial"/>
              </a:rPr>
              <a:t>-hop  </a:t>
            </a:r>
            <a:r>
              <a:rPr dirty="0" sz="2400">
                <a:latin typeface="Arial"/>
                <a:cs typeface="Arial"/>
              </a:rPr>
              <a:t>ne</a:t>
            </a:r>
            <a:r>
              <a:rPr dirty="0" sz="2400" spc="0">
                <a:latin typeface="Arial"/>
                <a:cs typeface="Arial"/>
              </a:rPr>
              <a:t>i</a:t>
            </a:r>
            <a:r>
              <a:rPr dirty="0" sz="2400">
                <a:latin typeface="Arial"/>
                <a:cs typeface="Arial"/>
              </a:rPr>
              <a:t>ghborhood</a:t>
            </a:r>
            <a:endParaRPr sz="2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18108" y="2327148"/>
            <a:ext cx="4225290" cy="205676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815"/>
              </a:lnSpc>
              <a:spcBef>
                <a:spcPts val="100"/>
              </a:spcBef>
            </a:pPr>
            <a:r>
              <a:rPr dirty="0" sz="3200" spc="-5">
                <a:latin typeface="Calibri"/>
                <a:cs typeface="Calibri"/>
              </a:rPr>
              <a:t>hop.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latin typeface="Calibri"/>
                <a:cs typeface="Calibri"/>
              </a:rPr>
              <a:t>Example </a:t>
            </a:r>
            <a:r>
              <a:rPr dirty="0" sz="3200" spc="-5" b="1">
                <a:latin typeface="Calibri"/>
                <a:cs typeface="Calibri"/>
              </a:rPr>
              <a:t>(</a:t>
            </a:r>
            <a:r>
              <a:rPr dirty="0" sz="3200" spc="-5">
                <a:latin typeface="Cambria Math"/>
                <a:cs typeface="Cambria Math"/>
              </a:rPr>
              <a:t>𝑯 </a:t>
            </a:r>
            <a:r>
              <a:rPr dirty="0" sz="3200">
                <a:latin typeface="Cambria Math"/>
                <a:cs typeface="Cambria Math"/>
              </a:rPr>
              <a:t>=</a:t>
            </a:r>
            <a:r>
              <a:rPr dirty="0" sz="3200" spc="305">
                <a:latin typeface="Cambria Math"/>
                <a:cs typeface="Cambria Math"/>
              </a:rPr>
              <a:t> </a:t>
            </a:r>
            <a:r>
              <a:rPr dirty="0" sz="3200" spc="-5">
                <a:latin typeface="Cambria Math"/>
                <a:cs typeface="Cambria Math"/>
              </a:rPr>
              <a:t>𝟐</a:t>
            </a:r>
            <a:r>
              <a:rPr dirty="0" sz="3200" spc="-5" b="1">
                <a:latin typeface="Calibri"/>
                <a:cs typeface="Calibri"/>
              </a:rPr>
              <a:t>):</a:t>
            </a:r>
            <a:endParaRPr sz="3200">
              <a:latin typeface="Calibri"/>
              <a:cs typeface="Calibri"/>
            </a:endParaRPr>
          </a:p>
          <a:p>
            <a:pPr marL="2077720">
              <a:lnSpc>
                <a:spcPts val="2125"/>
              </a:lnSpc>
              <a:spcBef>
                <a:spcPts val="1614"/>
              </a:spcBef>
            </a:pPr>
            <a:r>
              <a:rPr dirty="0" sz="1800" spc="-5">
                <a:solidFill>
                  <a:srgbClr val="C00000"/>
                </a:solidFill>
                <a:latin typeface="Arial"/>
                <a:cs typeface="Arial"/>
              </a:rPr>
              <a:t>First, sample </a:t>
            </a:r>
            <a:r>
              <a:rPr dirty="0" sz="1800">
                <a:solidFill>
                  <a:srgbClr val="C00000"/>
                </a:solidFill>
                <a:latin typeface="Arial"/>
                <a:cs typeface="Arial"/>
              </a:rPr>
              <a:t>2 </a:t>
            </a:r>
            <a:r>
              <a:rPr dirty="0" sz="1800" spc="-5">
                <a:solidFill>
                  <a:srgbClr val="C00000"/>
                </a:solidFill>
                <a:latin typeface="Arial"/>
                <a:cs typeface="Arial"/>
              </a:rPr>
              <a:t>and</a:t>
            </a:r>
            <a:r>
              <a:rPr dirty="0" sz="1800" spc="-6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  <a:p>
            <a:pPr marL="2077720">
              <a:lnSpc>
                <a:spcPts val="1930"/>
              </a:lnSpc>
            </a:pPr>
            <a:r>
              <a:rPr dirty="0" sz="1800" spc="-5">
                <a:solidFill>
                  <a:srgbClr val="C00000"/>
                </a:solidFill>
                <a:latin typeface="Arial"/>
                <a:cs typeface="Arial"/>
              </a:rPr>
              <a:t>(drop node</a:t>
            </a:r>
            <a:r>
              <a:rPr dirty="0" sz="1800" spc="-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C00000"/>
                </a:solidFill>
                <a:latin typeface="Arial"/>
                <a:cs typeface="Arial"/>
              </a:rPr>
              <a:t>1)</a:t>
            </a:r>
            <a:endParaRPr sz="1800">
              <a:latin typeface="Arial"/>
              <a:cs typeface="Arial"/>
            </a:endParaRPr>
          </a:p>
          <a:p>
            <a:pPr marL="237490">
              <a:lnSpc>
                <a:spcPts val="2690"/>
              </a:lnSpc>
            </a:pPr>
            <a:r>
              <a:rPr dirty="0" sz="2400">
                <a:latin typeface="Arial"/>
                <a:cs typeface="Arial"/>
              </a:rPr>
              <a:t>1</a:t>
            </a:r>
            <a:r>
              <a:rPr dirty="0" baseline="24305" sz="2400">
                <a:latin typeface="Arial"/>
                <a:cs typeface="Arial"/>
              </a:rPr>
              <a:t>st</a:t>
            </a:r>
            <a:r>
              <a:rPr dirty="0" sz="2400">
                <a:latin typeface="Arial"/>
                <a:cs typeface="Arial"/>
              </a:rPr>
              <a:t>-hop</a:t>
            </a:r>
            <a:endParaRPr sz="24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013338" y="3232650"/>
            <a:ext cx="152400" cy="2785110"/>
          </a:xfrm>
          <a:custGeom>
            <a:avLst/>
            <a:gdLst/>
            <a:ahLst/>
            <a:cxnLst/>
            <a:rect l="l" t="t" r="r" b="b"/>
            <a:pathLst>
              <a:path w="152400" h="2785110">
                <a:moveTo>
                  <a:pt x="50799" y="2632204"/>
                </a:moveTo>
                <a:lnTo>
                  <a:pt x="0" y="2632204"/>
                </a:lnTo>
                <a:lnTo>
                  <a:pt x="76200" y="2784604"/>
                </a:lnTo>
                <a:lnTo>
                  <a:pt x="127000" y="2683004"/>
                </a:lnTo>
                <a:lnTo>
                  <a:pt x="76200" y="2683004"/>
                </a:lnTo>
                <a:lnTo>
                  <a:pt x="66313" y="2681007"/>
                </a:lnTo>
                <a:lnTo>
                  <a:pt x="58239" y="2675564"/>
                </a:lnTo>
                <a:lnTo>
                  <a:pt x="52796" y="2667490"/>
                </a:lnTo>
                <a:lnTo>
                  <a:pt x="50800" y="2657604"/>
                </a:lnTo>
                <a:lnTo>
                  <a:pt x="50799" y="2632204"/>
                </a:lnTo>
                <a:close/>
              </a:path>
              <a:path w="152400" h="2785110">
                <a:moveTo>
                  <a:pt x="76198" y="0"/>
                </a:moveTo>
                <a:lnTo>
                  <a:pt x="66311" y="1996"/>
                </a:lnTo>
                <a:lnTo>
                  <a:pt x="58238" y="7439"/>
                </a:lnTo>
                <a:lnTo>
                  <a:pt x="52794" y="15513"/>
                </a:lnTo>
                <a:lnTo>
                  <a:pt x="50798" y="25400"/>
                </a:lnTo>
                <a:lnTo>
                  <a:pt x="50800" y="2657604"/>
                </a:lnTo>
                <a:lnTo>
                  <a:pt x="52796" y="2667490"/>
                </a:lnTo>
                <a:lnTo>
                  <a:pt x="58239" y="2675564"/>
                </a:lnTo>
                <a:lnTo>
                  <a:pt x="66313" y="2681007"/>
                </a:lnTo>
                <a:lnTo>
                  <a:pt x="76200" y="2683004"/>
                </a:lnTo>
                <a:lnTo>
                  <a:pt x="86086" y="2681007"/>
                </a:lnTo>
                <a:lnTo>
                  <a:pt x="94160" y="2675564"/>
                </a:lnTo>
                <a:lnTo>
                  <a:pt x="99603" y="2667490"/>
                </a:lnTo>
                <a:lnTo>
                  <a:pt x="101600" y="2657604"/>
                </a:lnTo>
                <a:lnTo>
                  <a:pt x="101598" y="25400"/>
                </a:lnTo>
                <a:lnTo>
                  <a:pt x="99602" y="15513"/>
                </a:lnTo>
                <a:lnTo>
                  <a:pt x="94159" y="7439"/>
                </a:lnTo>
                <a:lnTo>
                  <a:pt x="86085" y="1996"/>
                </a:lnTo>
                <a:lnTo>
                  <a:pt x="76198" y="0"/>
                </a:lnTo>
                <a:close/>
              </a:path>
              <a:path w="152400" h="2785110">
                <a:moveTo>
                  <a:pt x="152400" y="2632204"/>
                </a:moveTo>
                <a:lnTo>
                  <a:pt x="101599" y="2632204"/>
                </a:lnTo>
                <a:lnTo>
                  <a:pt x="101600" y="2657604"/>
                </a:lnTo>
                <a:lnTo>
                  <a:pt x="99603" y="2667490"/>
                </a:lnTo>
                <a:lnTo>
                  <a:pt x="94160" y="2675564"/>
                </a:lnTo>
                <a:lnTo>
                  <a:pt x="86086" y="2681007"/>
                </a:lnTo>
                <a:lnTo>
                  <a:pt x="76200" y="2683004"/>
                </a:lnTo>
                <a:lnTo>
                  <a:pt x="127000" y="2683004"/>
                </a:lnTo>
                <a:lnTo>
                  <a:pt x="152400" y="2632204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6530901" y="2367788"/>
            <a:ext cx="1943100" cy="84581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99400"/>
              </a:lnSpc>
              <a:spcBef>
                <a:spcPts val="110"/>
              </a:spcBef>
            </a:pPr>
            <a:r>
              <a:rPr dirty="0" sz="1800" spc="-5">
                <a:solidFill>
                  <a:srgbClr val="0000FF"/>
                </a:solidFill>
                <a:latin typeface="Arial"/>
                <a:cs typeface="Arial"/>
              </a:rPr>
              <a:t>Sample  neighborhood</a:t>
            </a:r>
            <a:r>
              <a:rPr dirty="0" sz="1800" spc="-8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0000FF"/>
                </a:solidFill>
                <a:latin typeface="Arial"/>
                <a:cs typeface="Arial"/>
              </a:rPr>
              <a:t>from  the root to</a:t>
            </a:r>
            <a:r>
              <a:rPr dirty="0" sz="1800" spc="-7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0000FF"/>
                </a:solidFill>
                <a:latin typeface="Arial"/>
                <a:cs typeface="Arial"/>
              </a:rPr>
              <a:t>leaves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3/13/21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20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296107" y="6156452"/>
            <a:ext cx="1626235" cy="565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125"/>
              </a:lnSpc>
              <a:spcBef>
                <a:spcPts val="100"/>
              </a:spcBef>
            </a:pPr>
            <a:r>
              <a:rPr dirty="0" sz="1800" spc="-5">
                <a:solidFill>
                  <a:srgbClr val="C00000"/>
                </a:solidFill>
                <a:latin typeface="Arial"/>
                <a:cs typeface="Arial"/>
              </a:rPr>
              <a:t>Sample </a:t>
            </a:r>
            <a:r>
              <a:rPr dirty="0" sz="1800">
                <a:solidFill>
                  <a:srgbClr val="C00000"/>
                </a:solidFill>
                <a:latin typeface="Arial"/>
                <a:cs typeface="Arial"/>
              </a:rPr>
              <a:t>0 </a:t>
            </a:r>
            <a:r>
              <a:rPr dirty="0" sz="1800" spc="-5">
                <a:solidFill>
                  <a:srgbClr val="C00000"/>
                </a:solidFill>
                <a:latin typeface="Arial"/>
                <a:cs typeface="Arial"/>
              </a:rPr>
              <a:t>and</a:t>
            </a:r>
            <a:r>
              <a:rPr dirty="0" sz="1800" spc="-9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C00000"/>
                </a:solidFill>
                <a:latin typeface="Arial"/>
                <a:cs typeface="Arial"/>
              </a:rPr>
              <a:t>8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125"/>
              </a:lnSpc>
            </a:pPr>
            <a:r>
              <a:rPr dirty="0" sz="1800" spc="-5">
                <a:solidFill>
                  <a:srgbClr val="C00000"/>
                </a:solidFill>
                <a:latin typeface="Arial"/>
                <a:cs typeface="Arial"/>
              </a:rPr>
              <a:t>(drop</a:t>
            </a:r>
            <a:r>
              <a:rPr dirty="0" sz="1800" spc="-8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C00000"/>
                </a:solidFill>
                <a:latin typeface="Arial"/>
                <a:cs typeface="Arial"/>
              </a:rPr>
              <a:t>7)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633989" y="6107684"/>
            <a:ext cx="1626235" cy="565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125"/>
              </a:lnSpc>
              <a:spcBef>
                <a:spcPts val="100"/>
              </a:spcBef>
            </a:pPr>
            <a:r>
              <a:rPr dirty="0" sz="1800" spc="-5">
                <a:solidFill>
                  <a:srgbClr val="C00000"/>
                </a:solidFill>
                <a:latin typeface="Arial"/>
                <a:cs typeface="Arial"/>
              </a:rPr>
              <a:t>Sample </a:t>
            </a:r>
            <a:r>
              <a:rPr dirty="0" sz="1800">
                <a:solidFill>
                  <a:srgbClr val="C00000"/>
                </a:solidFill>
                <a:latin typeface="Arial"/>
                <a:cs typeface="Arial"/>
              </a:rPr>
              <a:t>8 </a:t>
            </a:r>
            <a:r>
              <a:rPr dirty="0" sz="1800" spc="-5">
                <a:solidFill>
                  <a:srgbClr val="C00000"/>
                </a:solidFill>
                <a:latin typeface="Arial"/>
                <a:cs typeface="Arial"/>
              </a:rPr>
              <a:t>and</a:t>
            </a:r>
            <a:r>
              <a:rPr dirty="0" sz="1800" spc="-9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C00000"/>
                </a:solidFill>
                <a:latin typeface="Arial"/>
                <a:cs typeface="Arial"/>
              </a:rPr>
              <a:t>9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125"/>
              </a:lnSpc>
            </a:pPr>
            <a:r>
              <a:rPr dirty="0" sz="1800" spc="-5">
                <a:solidFill>
                  <a:srgbClr val="C00000"/>
                </a:solidFill>
                <a:latin typeface="Arial"/>
                <a:cs typeface="Arial"/>
              </a:rPr>
              <a:t>(drop</a:t>
            </a:r>
            <a:r>
              <a:rPr dirty="0" sz="1800" spc="-8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C00000"/>
                </a:solidFill>
                <a:latin typeface="Arial"/>
                <a:cs typeface="Arial"/>
              </a:rPr>
              <a:t>0)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4700016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966075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12700" marR="5080">
              <a:lnSpc>
                <a:spcPts val="3790"/>
              </a:lnSpc>
              <a:spcBef>
                <a:spcPts val="265"/>
              </a:spcBef>
            </a:pPr>
            <a:r>
              <a:rPr dirty="0" spc="-60" b="1">
                <a:solidFill>
                  <a:srgbClr val="D60093"/>
                </a:solidFill>
                <a:latin typeface="Calibri"/>
                <a:cs typeface="Calibri"/>
              </a:rPr>
              <a:t>We </a:t>
            </a:r>
            <a:r>
              <a:rPr dirty="0" spc="-10" b="1">
                <a:solidFill>
                  <a:srgbClr val="D60093"/>
                </a:solidFill>
                <a:latin typeface="Calibri"/>
                <a:cs typeface="Calibri"/>
              </a:rPr>
              <a:t>can </a:t>
            </a:r>
            <a:r>
              <a:rPr dirty="0" spc="-5" b="1">
                <a:solidFill>
                  <a:srgbClr val="D60093"/>
                </a:solidFill>
                <a:latin typeface="Calibri"/>
                <a:cs typeface="Calibri"/>
              </a:rPr>
              <a:t>use the pruned </a:t>
            </a:r>
            <a:r>
              <a:rPr dirty="0" spc="-10" b="1">
                <a:solidFill>
                  <a:srgbClr val="D60093"/>
                </a:solidFill>
                <a:latin typeface="Calibri"/>
                <a:cs typeface="Calibri"/>
              </a:rPr>
              <a:t>computational </a:t>
            </a:r>
            <a:r>
              <a:rPr dirty="0" spc="-20" b="1">
                <a:solidFill>
                  <a:srgbClr val="D60093"/>
                </a:solidFill>
                <a:latin typeface="Calibri"/>
                <a:cs typeface="Calibri"/>
              </a:rPr>
              <a:t>graph </a:t>
            </a:r>
            <a:r>
              <a:rPr dirty="0" spc="-15" b="1">
                <a:solidFill>
                  <a:srgbClr val="D60093"/>
                </a:solidFill>
                <a:latin typeface="Calibri"/>
                <a:cs typeface="Calibri"/>
              </a:rPr>
              <a:t>to  more </a:t>
            </a:r>
            <a:r>
              <a:rPr dirty="0" spc="-10" b="1">
                <a:solidFill>
                  <a:srgbClr val="D60093"/>
                </a:solidFill>
                <a:latin typeface="Calibri"/>
                <a:cs typeface="Calibri"/>
              </a:rPr>
              <a:t>efficiently </a:t>
            </a:r>
            <a:r>
              <a:rPr dirty="0" spc="-15" b="1">
                <a:solidFill>
                  <a:srgbClr val="D60093"/>
                </a:solidFill>
                <a:latin typeface="Calibri"/>
                <a:cs typeface="Calibri"/>
              </a:rPr>
              <a:t>compute </a:t>
            </a:r>
            <a:r>
              <a:rPr dirty="0" spc="-5" b="1">
                <a:solidFill>
                  <a:srgbClr val="D60093"/>
                </a:solidFill>
                <a:latin typeface="Calibri"/>
                <a:cs typeface="Calibri"/>
              </a:rPr>
              <a:t>node</a:t>
            </a:r>
            <a:r>
              <a:rPr dirty="0" spc="35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pc="-5" b="1">
                <a:solidFill>
                  <a:srgbClr val="D60093"/>
                </a:solidFill>
                <a:latin typeface="Calibri"/>
                <a:cs typeface="Calibri"/>
              </a:rPr>
              <a:t>embeddings.</a:t>
            </a:r>
          </a:p>
        </p:txBody>
      </p:sp>
      <p:sp>
        <p:nvSpPr>
          <p:cNvPr id="4" name="object 4"/>
          <p:cNvSpPr/>
          <p:nvPr/>
        </p:nvSpPr>
        <p:spPr>
          <a:xfrm>
            <a:off x="2266950" y="2876550"/>
            <a:ext cx="4333005" cy="353861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373354" y="2922523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3/13/21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24</a:t>
            </a:fld>
          </a:p>
        </p:txBody>
      </p:sp>
      <p:sp>
        <p:nvSpPr>
          <p:cNvPr id="6" name="object 6"/>
          <p:cNvSpPr txBox="1"/>
          <p:nvPr/>
        </p:nvSpPr>
        <p:spPr>
          <a:xfrm>
            <a:off x="3579750" y="4428235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BFBFBF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63957" y="4592828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21022" y="4373371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74433" y="5391403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BFBFB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12496" y="5659628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BFBFBF"/>
                </a:solidFill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11411" y="5845555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BFBFBF"/>
                </a:solidFill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10326" y="5964428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BFBFBF"/>
                </a:solidFill>
                <a:latin typeface="Arial"/>
                <a:cs typeface="Arial"/>
              </a:rPr>
              <a:t>6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44086" y="6007100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443013" y="6071108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BFBFBF"/>
                </a:solidFill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867280" y="6007100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8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516877" y="5918708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BFBFB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966720" y="5766308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8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340071" y="5443220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9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309104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6021705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815"/>
              </a:lnSpc>
              <a:spcBef>
                <a:spcPts val="100"/>
              </a:spcBef>
            </a:pPr>
            <a:r>
              <a:rPr dirty="0" spc="-5" b="1">
                <a:solidFill>
                  <a:srgbClr val="0000FF"/>
                </a:solidFill>
                <a:latin typeface="Calibri"/>
                <a:cs typeface="Calibri"/>
              </a:rPr>
              <a:t>Neighbor sampling </a:t>
            </a:r>
            <a:r>
              <a:rPr dirty="0" spc="-20" b="1">
                <a:solidFill>
                  <a:srgbClr val="0000FF"/>
                </a:solidFill>
                <a:latin typeface="Calibri"/>
                <a:cs typeface="Calibri"/>
              </a:rPr>
              <a:t>for </a:t>
            </a:r>
            <a:r>
              <a:rPr dirty="0" spc="-20">
                <a:solidFill>
                  <a:srgbClr val="0000FF"/>
                </a:solidFill>
                <a:latin typeface="Cambria Math"/>
                <a:cs typeface="Cambria Math"/>
              </a:rPr>
              <a:t>𝑲</a:t>
            </a:r>
            <a:r>
              <a:rPr dirty="0" spc="-20" b="1">
                <a:solidFill>
                  <a:srgbClr val="0000FF"/>
                </a:solidFill>
                <a:latin typeface="Calibri"/>
                <a:cs typeface="Calibri"/>
              </a:rPr>
              <a:t>-layer</a:t>
            </a:r>
            <a:r>
              <a:rPr dirty="0" spc="0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pc="-5" b="1">
                <a:solidFill>
                  <a:srgbClr val="0000FF"/>
                </a:solidFill>
                <a:latin typeface="Calibri"/>
                <a:cs typeface="Calibri"/>
              </a:rPr>
              <a:t>GNN</a:t>
            </a: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  <a:tab pos="1399540" algn="l"/>
                <a:tab pos="1904364" algn="l"/>
              </a:tabLst>
            </a:pPr>
            <a:r>
              <a:rPr dirty="0" spc="-15"/>
              <a:t>For</a:t>
            </a:r>
            <a:r>
              <a:rPr dirty="0" spc="-5"/>
              <a:t> </a:t>
            </a:r>
            <a:r>
              <a:rPr dirty="0">
                <a:latin typeface="Cambria Math"/>
                <a:cs typeface="Cambria Math"/>
              </a:rPr>
              <a:t>𝑘	=	1,</a:t>
            </a:r>
            <a:r>
              <a:rPr dirty="0" spc="-190">
                <a:latin typeface="Cambria Math"/>
                <a:cs typeface="Cambria Math"/>
              </a:rPr>
              <a:t> </a:t>
            </a:r>
            <a:r>
              <a:rPr dirty="0">
                <a:latin typeface="Cambria Math"/>
                <a:cs typeface="Cambria Math"/>
              </a:rPr>
              <a:t>2,</a:t>
            </a:r>
            <a:r>
              <a:rPr dirty="0" spc="-190">
                <a:latin typeface="Cambria Math"/>
                <a:cs typeface="Cambria Math"/>
              </a:rPr>
              <a:t> </a:t>
            </a:r>
            <a:r>
              <a:rPr dirty="0">
                <a:latin typeface="Cambria Math"/>
                <a:cs typeface="Cambria Math"/>
              </a:rPr>
              <a:t>…</a:t>
            </a:r>
            <a:r>
              <a:rPr dirty="0" spc="-190">
                <a:latin typeface="Cambria Math"/>
                <a:cs typeface="Cambria Math"/>
              </a:rPr>
              <a:t> </a:t>
            </a:r>
            <a:r>
              <a:rPr dirty="0">
                <a:latin typeface="Cambria Math"/>
                <a:cs typeface="Cambria Math"/>
              </a:rPr>
              <a:t>,</a:t>
            </a:r>
            <a:r>
              <a:rPr dirty="0" spc="-190">
                <a:latin typeface="Cambria Math"/>
                <a:cs typeface="Cambria Math"/>
              </a:rPr>
              <a:t> </a:t>
            </a:r>
            <a:r>
              <a:rPr dirty="0" spc="50">
                <a:latin typeface="Cambria Math"/>
                <a:cs typeface="Cambria Math"/>
              </a:rPr>
              <a:t>𝐾</a:t>
            </a:r>
            <a:r>
              <a:rPr dirty="0" spc="50"/>
              <a:t>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8108" y="5298948"/>
            <a:ext cx="571055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>
                <a:latin typeface="Cambria Math"/>
                <a:cs typeface="Cambria Math"/>
              </a:rPr>
              <a:t>𝐾</a:t>
            </a:r>
            <a:r>
              <a:rPr dirty="0" sz="3200" spc="-5">
                <a:latin typeface="Calibri"/>
                <a:cs typeface="Calibri"/>
              </a:rPr>
              <a:t>-layer GNN will </a:t>
            </a:r>
            <a:r>
              <a:rPr dirty="0" sz="3200" spc="-15">
                <a:latin typeface="Calibri"/>
                <a:cs typeface="Calibri"/>
              </a:rPr>
              <a:t>at </a:t>
            </a:r>
            <a:r>
              <a:rPr dirty="0" sz="3200" spc="-10">
                <a:latin typeface="Calibri"/>
                <a:cs typeface="Calibri"/>
              </a:rPr>
              <a:t>most</a:t>
            </a:r>
            <a:r>
              <a:rPr dirty="0" sz="3200" spc="10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involve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24343" y="6016752"/>
            <a:ext cx="426084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925">
                <a:latin typeface="Cambria Math"/>
                <a:cs typeface="Cambria Math"/>
              </a:rPr>
              <a:t>'</a:t>
            </a:r>
            <a:r>
              <a:rPr dirty="0" sz="2300" spc="760">
                <a:latin typeface="Cambria Math"/>
                <a:cs typeface="Cambria Math"/>
              </a:rPr>
              <a:t>"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4333" y="5804916"/>
            <a:ext cx="593598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46125" algn="l"/>
              </a:tabLst>
            </a:pPr>
            <a:r>
              <a:rPr dirty="0" baseline="1736" sz="4800" spc="525">
                <a:latin typeface="Cambria Math"/>
                <a:cs typeface="Cambria Math"/>
              </a:rPr>
              <a:t>∏</a:t>
            </a:r>
            <a:r>
              <a:rPr dirty="0" baseline="30193" sz="3450" spc="525">
                <a:latin typeface="Cambria Math"/>
                <a:cs typeface="Cambria Math"/>
              </a:rPr>
              <a:t>(	</a:t>
            </a:r>
            <a:r>
              <a:rPr dirty="0" baseline="-18115" sz="3450" spc="-382">
                <a:latin typeface="Cambria Math"/>
                <a:cs typeface="Cambria Math"/>
              </a:rPr>
              <a:t>&amp;  </a:t>
            </a:r>
            <a:r>
              <a:rPr dirty="0" sz="3200" spc="325">
                <a:latin typeface="Cambria Math"/>
                <a:cs typeface="Cambria Math"/>
              </a:rPr>
              <a:t>𝐻</a:t>
            </a:r>
            <a:r>
              <a:rPr dirty="0" baseline="-15700" sz="3450" spc="487">
                <a:latin typeface="Cambria Math"/>
                <a:cs typeface="Cambria Math"/>
              </a:rPr>
              <a:t>' </a:t>
            </a:r>
            <a:r>
              <a:rPr dirty="0" sz="3200" spc="-10">
                <a:latin typeface="Calibri"/>
                <a:cs typeface="Calibri"/>
              </a:rPr>
              <a:t>leaf </a:t>
            </a:r>
            <a:r>
              <a:rPr dirty="0" sz="3200" spc="-5">
                <a:latin typeface="Calibri"/>
                <a:cs typeface="Calibri"/>
              </a:rPr>
              <a:t>nodes </a:t>
            </a:r>
            <a:r>
              <a:rPr dirty="0" sz="3200">
                <a:latin typeface="Calibri"/>
                <a:cs typeface="Calibri"/>
              </a:rPr>
              <a:t>in </a:t>
            </a:r>
            <a:r>
              <a:rPr dirty="0" sz="3200" spc="-10">
                <a:latin typeface="Calibri"/>
                <a:cs typeface="Calibri"/>
              </a:rPr>
              <a:t>comp.</a:t>
            </a:r>
            <a:r>
              <a:rPr dirty="0" sz="3200" spc="-24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graph.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843382" y="3409950"/>
            <a:ext cx="2663151" cy="20252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956563" y="2332227"/>
            <a:ext cx="6365240" cy="1347470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4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5">
                <a:latin typeface="Calibri"/>
                <a:cs typeface="Calibri"/>
              </a:rPr>
              <a:t>For </a:t>
            </a:r>
            <a:r>
              <a:rPr dirty="0" sz="2800" spc="-5">
                <a:latin typeface="Calibri"/>
                <a:cs typeface="Calibri"/>
              </a:rPr>
              <a:t>each node in </a:t>
            </a:r>
            <a:r>
              <a:rPr dirty="0" sz="2800" spc="10">
                <a:latin typeface="Cambria Math"/>
                <a:cs typeface="Cambria Math"/>
              </a:rPr>
              <a:t>𝑘</a:t>
            </a:r>
            <a:r>
              <a:rPr dirty="0" sz="2800" spc="10">
                <a:latin typeface="Calibri"/>
                <a:cs typeface="Calibri"/>
              </a:rPr>
              <a:t>-hop</a:t>
            </a:r>
            <a:r>
              <a:rPr dirty="0" sz="2800" spc="-5">
                <a:latin typeface="Calibri"/>
                <a:cs typeface="Calibri"/>
              </a:rPr>
              <a:t> neighborhood: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>
                <a:latin typeface="Calibri"/>
                <a:cs typeface="Calibri"/>
              </a:rPr>
              <a:t>(Randomly) sample </a:t>
            </a:r>
            <a:r>
              <a:rPr dirty="0" sz="2800" spc="-15">
                <a:latin typeface="Calibri"/>
                <a:cs typeface="Calibri"/>
              </a:rPr>
              <a:t>at </a:t>
            </a:r>
            <a:r>
              <a:rPr dirty="0" sz="2800" spc="-10">
                <a:latin typeface="Calibri"/>
                <a:cs typeface="Calibri"/>
              </a:rPr>
              <a:t>most </a:t>
            </a:r>
            <a:r>
              <a:rPr dirty="0" sz="2800" spc="-370">
                <a:latin typeface="Cambria Math"/>
                <a:cs typeface="Cambria Math"/>
              </a:rPr>
              <a:t>𝐻</a:t>
            </a:r>
            <a:r>
              <a:rPr dirty="0" baseline="-16666" sz="3000" spc="-555">
                <a:latin typeface="Cambria Math"/>
                <a:cs typeface="Cambria Math"/>
              </a:rPr>
              <a:t>%       </a:t>
            </a:r>
            <a:r>
              <a:rPr dirty="0" baseline="-16666" sz="3000" spc="-480">
                <a:latin typeface="Cambria Math"/>
                <a:cs typeface="Cambria Math"/>
              </a:rPr>
              <a:t> </a:t>
            </a:r>
            <a:r>
              <a:rPr dirty="0" sz="2800" spc="-35">
                <a:latin typeface="Calibri"/>
                <a:cs typeface="Calibri"/>
              </a:rPr>
              <a:t>neighbors:</a:t>
            </a:r>
            <a:endParaRPr sz="2800">
              <a:latin typeface="Calibri"/>
              <a:cs typeface="Calibri"/>
            </a:endParaRPr>
          </a:p>
          <a:p>
            <a:pPr algn="r" marR="1065530">
              <a:lnSpc>
                <a:spcPct val="100000"/>
              </a:lnSpc>
              <a:spcBef>
                <a:spcPts val="229"/>
              </a:spcBef>
            </a:pPr>
            <a:r>
              <a:rPr dirty="0" sz="180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3/13/21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24</a:t>
            </a:fld>
          </a:p>
        </p:txBody>
      </p:sp>
      <p:sp>
        <p:nvSpPr>
          <p:cNvPr id="9" name="object 9"/>
          <p:cNvSpPr txBox="1"/>
          <p:nvPr/>
        </p:nvSpPr>
        <p:spPr>
          <a:xfrm>
            <a:off x="5623547" y="4233164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BFBFBF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02855" y="4327652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26694" y="4202684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86857" y="4781803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BFBFB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093480" y="4934203"/>
            <a:ext cx="6407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BFBFBF"/>
                </a:solidFill>
                <a:latin typeface="Arial"/>
                <a:cs typeface="Arial"/>
              </a:rPr>
              <a:t>4  </a:t>
            </a:r>
            <a:r>
              <a:rPr dirty="0" baseline="-24691" sz="2700">
                <a:solidFill>
                  <a:srgbClr val="BFBFBF"/>
                </a:solidFill>
                <a:latin typeface="Arial"/>
                <a:cs typeface="Arial"/>
              </a:rPr>
              <a:t>5</a:t>
            </a:r>
            <a:r>
              <a:rPr dirty="0" baseline="-24691" sz="2700" spc="337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dirty="0" baseline="-41666" sz="2700">
                <a:solidFill>
                  <a:srgbClr val="BFBFBF"/>
                </a:solidFill>
                <a:latin typeface="Arial"/>
                <a:cs typeface="Arial"/>
              </a:rPr>
              <a:t>6</a:t>
            </a:r>
            <a:endParaRPr baseline="-41666" sz="27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07350" y="5129276"/>
            <a:ext cx="6559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5620" algn="l"/>
              </a:tabLst>
            </a:pPr>
            <a:r>
              <a:rPr dirty="0" sz="1800">
                <a:latin typeface="Arial"/>
                <a:cs typeface="Arial"/>
              </a:rPr>
              <a:t>0 </a:t>
            </a:r>
            <a:r>
              <a:rPr dirty="0" sz="1800" spc="-85">
                <a:latin typeface="Arial"/>
                <a:cs typeface="Arial"/>
              </a:rPr>
              <a:t> </a:t>
            </a:r>
            <a:r>
              <a:rPr dirty="0" baseline="-9259" sz="2700">
                <a:solidFill>
                  <a:srgbClr val="BFBFBF"/>
                </a:solidFill>
                <a:latin typeface="Arial"/>
                <a:cs typeface="Arial"/>
              </a:rPr>
              <a:t>7	</a:t>
            </a:r>
            <a:r>
              <a:rPr dirty="0" sz="1800">
                <a:latin typeface="Arial"/>
                <a:cs typeface="Arial"/>
              </a:rPr>
              <a:t>8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807522" y="4995164"/>
            <a:ext cx="4279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7020" algn="l"/>
              </a:tabLst>
            </a:pPr>
            <a:r>
              <a:rPr dirty="0" baseline="-20061" sz="2700">
                <a:solidFill>
                  <a:srgbClr val="BFBFBF"/>
                </a:solidFill>
                <a:latin typeface="Arial"/>
                <a:cs typeface="Arial"/>
              </a:rPr>
              <a:t>0	</a:t>
            </a:r>
            <a:r>
              <a:rPr dirty="0" sz="1800">
                <a:latin typeface="Arial"/>
                <a:cs typeface="Arial"/>
              </a:rPr>
              <a:t>8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310658" y="4809235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9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21297" y="4013708"/>
            <a:ext cx="1589405" cy="1275080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12700" marR="31750">
              <a:lnSpc>
                <a:spcPts val="2110"/>
              </a:lnSpc>
              <a:spcBef>
                <a:spcPts val="210"/>
              </a:spcBef>
            </a:pPr>
            <a:r>
              <a:rPr dirty="0" sz="1800" spc="-5" b="1">
                <a:latin typeface="Arial"/>
                <a:cs typeface="Arial"/>
              </a:rPr>
              <a:t>1</a:t>
            </a:r>
            <a:r>
              <a:rPr dirty="0" baseline="23148" sz="1800" spc="-7" b="1">
                <a:latin typeface="Arial"/>
                <a:cs typeface="Arial"/>
              </a:rPr>
              <a:t>st</a:t>
            </a:r>
            <a:r>
              <a:rPr dirty="0" sz="1800" spc="-5" b="1">
                <a:latin typeface="Arial"/>
                <a:cs typeface="Arial"/>
              </a:rPr>
              <a:t>-hop  </a:t>
            </a:r>
            <a:r>
              <a:rPr dirty="0" sz="1800" b="1">
                <a:latin typeface="Arial"/>
                <a:cs typeface="Arial"/>
              </a:rPr>
              <a:t>n</a:t>
            </a:r>
            <a:r>
              <a:rPr dirty="0" sz="1800" spc="-5" b="1">
                <a:latin typeface="Arial"/>
                <a:cs typeface="Arial"/>
              </a:rPr>
              <a:t>e</a:t>
            </a:r>
            <a:r>
              <a:rPr dirty="0" sz="1800" b="1">
                <a:latin typeface="Arial"/>
                <a:cs typeface="Arial"/>
              </a:rPr>
              <a:t>ighborhood</a:t>
            </a:r>
            <a:endParaRPr sz="1800">
              <a:latin typeface="Arial"/>
              <a:cs typeface="Arial"/>
            </a:endParaRPr>
          </a:p>
          <a:p>
            <a:pPr marL="38735" marR="5080">
              <a:lnSpc>
                <a:spcPts val="2090"/>
              </a:lnSpc>
              <a:spcBef>
                <a:spcPts val="1385"/>
              </a:spcBef>
            </a:pPr>
            <a:r>
              <a:rPr dirty="0" sz="1800" spc="-5" b="1">
                <a:latin typeface="Arial"/>
                <a:cs typeface="Arial"/>
              </a:rPr>
              <a:t>2</a:t>
            </a:r>
            <a:r>
              <a:rPr dirty="0" baseline="23148" sz="1800" spc="-7" b="1">
                <a:latin typeface="Arial"/>
                <a:cs typeface="Arial"/>
              </a:rPr>
              <a:t>nd</a:t>
            </a:r>
            <a:r>
              <a:rPr dirty="0" sz="1800" spc="-5" b="1">
                <a:latin typeface="Arial"/>
                <a:cs typeface="Arial"/>
              </a:rPr>
              <a:t>-hop  </a:t>
            </a:r>
            <a:r>
              <a:rPr dirty="0" sz="1800" b="1">
                <a:latin typeface="Arial"/>
                <a:cs typeface="Arial"/>
              </a:rPr>
              <a:t>n</a:t>
            </a:r>
            <a:r>
              <a:rPr dirty="0" sz="1800" spc="-5" b="1">
                <a:latin typeface="Arial"/>
                <a:cs typeface="Arial"/>
              </a:rPr>
              <a:t>e</a:t>
            </a:r>
            <a:r>
              <a:rPr dirty="0" sz="1800" b="1">
                <a:latin typeface="Arial"/>
                <a:cs typeface="Arial"/>
              </a:rPr>
              <a:t>ighborhood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953183" y="4047235"/>
            <a:ext cx="1502410" cy="1250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Corbel"/>
                <a:cs typeface="Corbel"/>
              </a:rPr>
              <a:t>Sample </a:t>
            </a:r>
            <a:r>
              <a:rPr dirty="0" sz="1800" spc="110">
                <a:latin typeface="Cambria Math"/>
                <a:cs typeface="Cambria Math"/>
              </a:rPr>
              <a:t>𝐻</a:t>
            </a:r>
            <a:r>
              <a:rPr dirty="0" baseline="-14957" sz="1950" spc="165">
                <a:latin typeface="Cambria Math"/>
                <a:cs typeface="Cambria Math"/>
              </a:rPr>
              <a:t>! </a:t>
            </a:r>
            <a:r>
              <a:rPr dirty="0" sz="1800">
                <a:latin typeface="Cambria Math"/>
                <a:cs typeface="Cambria Math"/>
              </a:rPr>
              <a:t>=</a:t>
            </a:r>
            <a:r>
              <a:rPr dirty="0" sz="1800" spc="35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2</a:t>
            </a:r>
            <a:endParaRPr sz="1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1800" spc="-5">
                <a:latin typeface="Arial"/>
                <a:cs typeface="Arial"/>
              </a:rPr>
              <a:t>neighbors</a:t>
            </a:r>
            <a:endParaRPr sz="1800">
              <a:latin typeface="Arial"/>
              <a:cs typeface="Arial"/>
            </a:endParaRPr>
          </a:p>
          <a:p>
            <a:pPr marL="44450">
              <a:lnSpc>
                <a:spcPts val="2135"/>
              </a:lnSpc>
              <a:spcBef>
                <a:spcPts val="1005"/>
              </a:spcBef>
            </a:pPr>
            <a:r>
              <a:rPr dirty="0" sz="1800" spc="-5">
                <a:latin typeface="Corbel"/>
                <a:cs typeface="Corbel"/>
              </a:rPr>
              <a:t>Sample </a:t>
            </a:r>
            <a:r>
              <a:rPr dirty="0" sz="1800" spc="60">
                <a:latin typeface="Cambria Math"/>
                <a:cs typeface="Cambria Math"/>
              </a:rPr>
              <a:t>𝐻</a:t>
            </a:r>
            <a:r>
              <a:rPr dirty="0" baseline="-14957" sz="1950" spc="89">
                <a:latin typeface="Cambria Math"/>
                <a:cs typeface="Cambria Math"/>
              </a:rPr>
              <a:t>" </a:t>
            </a:r>
            <a:r>
              <a:rPr dirty="0" sz="1800">
                <a:latin typeface="Cambria Math"/>
                <a:cs typeface="Cambria Math"/>
              </a:rPr>
              <a:t>=</a:t>
            </a:r>
            <a:r>
              <a:rPr dirty="0" sz="1800" spc="85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2</a:t>
            </a:r>
            <a:endParaRPr sz="1800">
              <a:latin typeface="Cambria Math"/>
              <a:cs typeface="Cambria Math"/>
            </a:endParaRPr>
          </a:p>
          <a:p>
            <a:pPr marL="44450">
              <a:lnSpc>
                <a:spcPts val="2135"/>
              </a:lnSpc>
            </a:pPr>
            <a:r>
              <a:rPr dirty="0" sz="1800" spc="-5">
                <a:latin typeface="Arial"/>
                <a:cs typeface="Arial"/>
              </a:rPr>
              <a:t>neighbors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1000" y="359663"/>
            <a:ext cx="8485632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54253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5" b="1">
                <a:solidFill>
                  <a:srgbClr val="D60093"/>
                </a:solidFill>
                <a:latin typeface="Calibri"/>
                <a:cs typeface="Calibri"/>
              </a:rPr>
              <a:t>Remark </a:t>
            </a:r>
            <a:r>
              <a:rPr dirty="0" b="1">
                <a:solidFill>
                  <a:srgbClr val="D60093"/>
                </a:solidFill>
                <a:latin typeface="Calibri"/>
                <a:cs typeface="Calibri"/>
              </a:rPr>
              <a:t>1: </a:t>
            </a:r>
            <a:r>
              <a:rPr dirty="0" spc="-30" b="1">
                <a:solidFill>
                  <a:srgbClr val="D60093"/>
                </a:solidFill>
                <a:latin typeface="Calibri"/>
                <a:cs typeface="Calibri"/>
              </a:rPr>
              <a:t>Trade-off </a:t>
            </a:r>
            <a:r>
              <a:rPr dirty="0" b="1">
                <a:solidFill>
                  <a:srgbClr val="D60093"/>
                </a:solidFill>
                <a:latin typeface="Calibri"/>
                <a:cs typeface="Calibri"/>
              </a:rPr>
              <a:t>in </a:t>
            </a:r>
            <a:r>
              <a:rPr dirty="0" spc="-5" b="1">
                <a:solidFill>
                  <a:srgbClr val="D60093"/>
                </a:solidFill>
                <a:latin typeface="Calibri"/>
                <a:cs typeface="Calibri"/>
              </a:rPr>
              <a:t>sampling number</a:t>
            </a:r>
            <a:r>
              <a:rPr dirty="0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D60093"/>
                </a:solidFill>
                <a:latin typeface="Cambria Math"/>
                <a:cs typeface="Cambria Math"/>
              </a:rPr>
              <a:t>𝑯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3/13/21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24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618108" y="1920747"/>
            <a:ext cx="8034020" cy="4097654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625475" marR="5080" indent="-274320">
              <a:lnSpc>
                <a:spcPct val="101099"/>
              </a:lnSpc>
              <a:spcBef>
                <a:spcPts val="60"/>
              </a:spcBef>
              <a:buClr>
                <a:srgbClr val="60B5CC"/>
              </a:buClr>
              <a:buFont typeface="Malgun Gothic"/>
              <a:buChar char="▪"/>
              <a:tabLst>
                <a:tab pos="706120" algn="l"/>
                <a:tab pos="706755" algn="l"/>
              </a:tabLst>
            </a:pPr>
            <a:r>
              <a:rPr dirty="0" sz="2800" spc="-5">
                <a:latin typeface="Calibri"/>
                <a:cs typeface="Calibri"/>
              </a:rPr>
              <a:t>Smaller </a:t>
            </a:r>
            <a:r>
              <a:rPr dirty="0" sz="2800">
                <a:latin typeface="Cambria Math"/>
                <a:cs typeface="Cambria Math"/>
              </a:rPr>
              <a:t>𝐻 </a:t>
            </a:r>
            <a:r>
              <a:rPr dirty="0" sz="2800" spc="-5">
                <a:latin typeface="Calibri"/>
                <a:cs typeface="Calibri"/>
              </a:rPr>
              <a:t>leads </a:t>
            </a:r>
            <a:r>
              <a:rPr dirty="0" sz="2800" spc="-15">
                <a:latin typeface="Calibri"/>
                <a:cs typeface="Calibri"/>
              </a:rPr>
              <a:t>to more efficient </a:t>
            </a:r>
            <a:r>
              <a:rPr dirty="0" sz="2800" spc="-5">
                <a:latin typeface="Calibri"/>
                <a:cs typeface="Calibri"/>
              </a:rPr>
              <a:t>neighbor  </a:t>
            </a:r>
            <a:r>
              <a:rPr dirty="0" sz="2800" spc="-15">
                <a:latin typeface="Calibri"/>
                <a:cs typeface="Calibri"/>
              </a:rPr>
              <a:t>aggregation, </a:t>
            </a:r>
            <a:r>
              <a:rPr dirty="0" sz="2800">
                <a:latin typeface="Calibri"/>
                <a:cs typeface="Calibri"/>
              </a:rPr>
              <a:t>but </a:t>
            </a:r>
            <a:r>
              <a:rPr dirty="0" sz="2800" spc="-10">
                <a:latin typeface="Calibri"/>
                <a:cs typeface="Calibri"/>
              </a:rPr>
              <a:t>results </a:t>
            </a:r>
            <a:r>
              <a:rPr dirty="0" sz="2800" spc="-5">
                <a:latin typeface="Calibri"/>
                <a:cs typeface="Calibri"/>
              </a:rPr>
              <a:t>in </a:t>
            </a:r>
            <a:r>
              <a:rPr dirty="0" sz="2800" spc="-15">
                <a:latin typeface="Calibri"/>
                <a:cs typeface="Calibri"/>
              </a:rPr>
              <a:t>more </a:t>
            </a:r>
            <a:r>
              <a:rPr dirty="0" sz="2800" spc="-10">
                <a:latin typeface="Calibri"/>
                <a:cs typeface="Calibri"/>
              </a:rPr>
              <a:t>unstable </a:t>
            </a:r>
            <a:r>
              <a:rPr dirty="0" sz="2800" spc="-15">
                <a:latin typeface="Calibri"/>
                <a:cs typeface="Calibri"/>
              </a:rPr>
              <a:t>training </a:t>
            </a:r>
            <a:r>
              <a:rPr dirty="0" sz="2800" spc="-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due </a:t>
            </a: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to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the </a:t>
            </a: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larger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variance </a:t>
            </a:r>
            <a:r>
              <a:rPr dirty="0" sz="2800" spc="-5">
                <a:latin typeface="Calibri"/>
                <a:cs typeface="Calibri"/>
              </a:rPr>
              <a:t>in neighbor</a:t>
            </a:r>
            <a:r>
              <a:rPr dirty="0" sz="2800" spc="9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aggregation.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ts val="377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 b="1">
                <a:solidFill>
                  <a:srgbClr val="0000FF"/>
                </a:solidFill>
                <a:latin typeface="Calibri"/>
                <a:cs typeface="Calibri"/>
              </a:rPr>
              <a:t>Remark </a:t>
            </a:r>
            <a:r>
              <a:rPr dirty="0" sz="3200" b="1">
                <a:solidFill>
                  <a:srgbClr val="0000FF"/>
                </a:solidFill>
                <a:latin typeface="Calibri"/>
                <a:cs typeface="Calibri"/>
              </a:rPr>
              <a:t>2: </a:t>
            </a:r>
            <a:r>
              <a:rPr dirty="0" sz="3200" spc="-10" b="1">
                <a:solidFill>
                  <a:srgbClr val="0000FF"/>
                </a:solidFill>
                <a:latin typeface="Calibri"/>
                <a:cs typeface="Calibri"/>
              </a:rPr>
              <a:t>Computational</a:t>
            </a:r>
            <a:r>
              <a:rPr dirty="0" sz="3200" spc="-20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0000FF"/>
                </a:solidFill>
                <a:latin typeface="Calibri"/>
                <a:cs typeface="Calibri"/>
              </a:rPr>
              <a:t>time</a:t>
            </a:r>
            <a:endParaRPr sz="3200">
              <a:latin typeface="Calibri"/>
              <a:cs typeface="Calibri"/>
            </a:endParaRPr>
          </a:p>
          <a:p>
            <a:pPr lvl="1" marL="625475" marR="824230" indent="-274320">
              <a:lnSpc>
                <a:spcPct val="101099"/>
              </a:lnSpc>
              <a:spcBef>
                <a:spcPts val="63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30">
                <a:latin typeface="Calibri"/>
                <a:cs typeface="Calibri"/>
              </a:rPr>
              <a:t>Even </a:t>
            </a:r>
            <a:r>
              <a:rPr dirty="0" sz="2800" spc="-5">
                <a:latin typeface="Calibri"/>
                <a:cs typeface="Calibri"/>
              </a:rPr>
              <a:t>with neighbor </a:t>
            </a:r>
            <a:r>
              <a:rPr dirty="0" sz="2800">
                <a:latin typeface="Calibri"/>
                <a:cs typeface="Calibri"/>
              </a:rPr>
              <a:t>sampling,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the </a:t>
            </a:r>
            <a:r>
              <a:rPr dirty="0" sz="2800" spc="-20" b="1">
                <a:solidFill>
                  <a:srgbClr val="C00000"/>
                </a:solidFill>
                <a:latin typeface="Calibri"/>
                <a:cs typeface="Calibri"/>
              </a:rPr>
              <a:t>size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of the 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computational </a:t>
            </a: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graph </a:t>
            </a: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is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still exponential </a:t>
            </a: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with 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respect </a:t>
            </a: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to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number of </a:t>
            </a: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GNN </a:t>
            </a:r>
            <a:r>
              <a:rPr dirty="0" sz="2800" spc="-20" b="1">
                <a:solidFill>
                  <a:srgbClr val="C00000"/>
                </a:solidFill>
                <a:latin typeface="Calibri"/>
                <a:cs typeface="Calibri"/>
              </a:rPr>
              <a:t>layers</a:t>
            </a: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𝑲</a:t>
            </a: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lvl="1" marL="625475" marR="1870710" indent="-274320">
              <a:lnSpc>
                <a:spcPts val="3310"/>
              </a:lnSpc>
              <a:spcBef>
                <a:spcPts val="80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>
                <a:latin typeface="Calibri"/>
                <a:cs typeface="Calibri"/>
              </a:rPr>
              <a:t>Increasing </a:t>
            </a:r>
            <a:r>
              <a:rPr dirty="0" sz="2800" spc="-5">
                <a:latin typeface="Calibri"/>
                <a:cs typeface="Calibri"/>
              </a:rPr>
              <a:t>one GNN </a:t>
            </a:r>
            <a:r>
              <a:rPr dirty="0" sz="2800" spc="-25">
                <a:latin typeface="Calibri"/>
                <a:cs typeface="Calibri"/>
              </a:rPr>
              <a:t>layer </a:t>
            </a:r>
            <a:r>
              <a:rPr dirty="0" sz="2800" spc="-10">
                <a:latin typeface="Calibri"/>
                <a:cs typeface="Calibri"/>
              </a:rPr>
              <a:t>would </a:t>
            </a:r>
            <a:r>
              <a:rPr dirty="0" sz="2800" spc="-90">
                <a:latin typeface="Calibri"/>
                <a:cs typeface="Calibri"/>
              </a:rPr>
              <a:t>make  </a:t>
            </a:r>
            <a:r>
              <a:rPr dirty="0" sz="2800" spc="-10">
                <a:latin typeface="Calibri"/>
                <a:cs typeface="Calibri"/>
              </a:rPr>
              <a:t>computation </a:t>
            </a:r>
            <a:r>
              <a:rPr dirty="0" sz="2800">
                <a:latin typeface="Cambria Math"/>
                <a:cs typeface="Cambria Math"/>
              </a:rPr>
              <a:t>𝐻 </a:t>
            </a:r>
            <a:r>
              <a:rPr dirty="0" sz="2800" spc="-5">
                <a:latin typeface="Calibri"/>
                <a:cs typeface="Calibri"/>
              </a:rPr>
              <a:t>times </a:t>
            </a:r>
            <a:r>
              <a:rPr dirty="0" sz="2800" spc="-15">
                <a:latin typeface="Calibri"/>
                <a:cs typeface="Calibri"/>
              </a:rPr>
              <a:t>more</a:t>
            </a:r>
            <a:r>
              <a:rPr dirty="0" sz="2800" spc="7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expensive.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60248" y="368808"/>
            <a:ext cx="8491728" cy="5547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644842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5" b="1">
                <a:solidFill>
                  <a:srgbClr val="0000FF"/>
                </a:solidFill>
                <a:latin typeface="Calibri"/>
                <a:cs typeface="Calibri"/>
              </a:rPr>
              <a:t>Remark </a:t>
            </a:r>
            <a:r>
              <a:rPr dirty="0" b="1">
                <a:solidFill>
                  <a:srgbClr val="0000FF"/>
                </a:solidFill>
                <a:latin typeface="Calibri"/>
                <a:cs typeface="Calibri"/>
              </a:rPr>
              <a:t>3: </a:t>
            </a:r>
            <a:r>
              <a:rPr dirty="0" spc="-5" b="1">
                <a:solidFill>
                  <a:srgbClr val="0000FF"/>
                </a:solidFill>
                <a:latin typeface="Calibri"/>
                <a:cs typeface="Calibri"/>
              </a:rPr>
              <a:t>How </a:t>
            </a:r>
            <a:r>
              <a:rPr dirty="0" spc="-15" b="1">
                <a:solidFill>
                  <a:srgbClr val="0000FF"/>
                </a:solidFill>
                <a:latin typeface="Calibri"/>
                <a:cs typeface="Calibri"/>
              </a:rPr>
              <a:t>to </a:t>
            </a:r>
            <a:r>
              <a:rPr dirty="0" spc="-5" b="1">
                <a:solidFill>
                  <a:srgbClr val="0000FF"/>
                </a:solidFill>
                <a:latin typeface="Calibri"/>
                <a:cs typeface="Calibri"/>
              </a:rPr>
              <a:t>sample the</a:t>
            </a:r>
            <a:r>
              <a:rPr dirty="0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pc="-5" b="1">
                <a:solidFill>
                  <a:srgbClr val="0000FF"/>
                </a:solidFill>
                <a:latin typeface="Calibri"/>
                <a:cs typeface="Calibri"/>
              </a:rPr>
              <a:t>nodes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6563" y="1920747"/>
            <a:ext cx="7484745" cy="478536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287020" marR="5080" indent="-274320">
              <a:lnSpc>
                <a:spcPct val="100699"/>
              </a:lnSpc>
              <a:spcBef>
                <a:spcPts val="7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 b="1">
                <a:latin typeface="Calibri"/>
                <a:cs typeface="Calibri"/>
              </a:rPr>
              <a:t>Random sampling: </a:t>
            </a:r>
            <a:r>
              <a:rPr dirty="0" sz="2800" spc="-25">
                <a:latin typeface="Calibri"/>
                <a:cs typeface="Calibri"/>
              </a:rPr>
              <a:t>fast </a:t>
            </a:r>
            <a:r>
              <a:rPr dirty="0" sz="2800">
                <a:latin typeface="Calibri"/>
                <a:cs typeface="Calibri"/>
              </a:rPr>
              <a:t>but </a:t>
            </a:r>
            <a:r>
              <a:rPr dirty="0" sz="2800" spc="-15">
                <a:latin typeface="Calibri"/>
                <a:cs typeface="Calibri"/>
              </a:rPr>
              <a:t>many </a:t>
            </a:r>
            <a:r>
              <a:rPr dirty="0" sz="2800" spc="-5">
                <a:latin typeface="Calibri"/>
                <a:cs typeface="Calibri"/>
              </a:rPr>
              <a:t>times not  optimal </a:t>
            </a:r>
            <a:r>
              <a:rPr dirty="0" sz="2800" spc="-20">
                <a:latin typeface="Calibri"/>
                <a:cs typeface="Calibri"/>
              </a:rPr>
              <a:t>(may </a:t>
            </a:r>
            <a:r>
              <a:rPr dirty="0" sz="2800" spc="-5">
                <a:latin typeface="Calibri"/>
                <a:cs typeface="Calibri"/>
              </a:rPr>
              <a:t>sample </a:t>
            </a:r>
            <a:r>
              <a:rPr dirty="0" sz="2800" spc="-15">
                <a:latin typeface="Calibri"/>
                <a:cs typeface="Calibri"/>
              </a:rPr>
              <a:t>many </a:t>
            </a:r>
            <a:r>
              <a:rPr dirty="0" sz="2800">
                <a:latin typeface="Calibri"/>
                <a:cs typeface="Calibri"/>
              </a:rPr>
              <a:t>“unimportant”</a:t>
            </a:r>
            <a:r>
              <a:rPr dirty="0" sz="2800" spc="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nodes)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 b="1">
                <a:latin typeface="Calibri"/>
                <a:cs typeface="Calibri"/>
              </a:rPr>
              <a:t>Random </a:t>
            </a:r>
            <a:r>
              <a:rPr dirty="0" sz="2800" spc="-30" b="1">
                <a:latin typeface="Calibri"/>
                <a:cs typeface="Calibri"/>
              </a:rPr>
              <a:t>Walk </a:t>
            </a:r>
            <a:r>
              <a:rPr dirty="0" sz="2800" spc="-5" b="1">
                <a:latin typeface="Calibri"/>
                <a:cs typeface="Calibri"/>
              </a:rPr>
              <a:t>with</a:t>
            </a:r>
            <a:r>
              <a:rPr dirty="0" sz="2800" spc="15" b="1">
                <a:latin typeface="Calibri"/>
                <a:cs typeface="Calibri"/>
              </a:rPr>
              <a:t> </a:t>
            </a:r>
            <a:r>
              <a:rPr dirty="0" sz="2800" spc="-15" b="1">
                <a:latin typeface="Calibri"/>
                <a:cs typeface="Calibri"/>
              </a:rPr>
              <a:t>Restarts:</a:t>
            </a:r>
            <a:endParaRPr sz="2800">
              <a:latin typeface="Calibri"/>
              <a:cs typeface="Calibri"/>
            </a:endParaRPr>
          </a:p>
          <a:p>
            <a:pPr lvl="1" marL="552450" marR="651510" indent="-228600">
              <a:lnSpc>
                <a:spcPct val="100800"/>
              </a:lnSpc>
              <a:spcBef>
                <a:spcPts val="615"/>
              </a:spcBef>
              <a:buClr>
                <a:srgbClr val="E66C7D"/>
              </a:buClr>
              <a:buFont typeface="Malgun Gothic"/>
              <a:buChar char="▪"/>
              <a:tabLst>
                <a:tab pos="552450" algn="l"/>
              </a:tabLst>
            </a:pPr>
            <a:r>
              <a:rPr dirty="0" sz="2400" spc="-15">
                <a:latin typeface="Calibri"/>
                <a:cs typeface="Calibri"/>
              </a:rPr>
              <a:t>Natural </a:t>
            </a:r>
            <a:r>
              <a:rPr dirty="0" sz="2400" spc="-10">
                <a:latin typeface="Calibri"/>
                <a:cs typeface="Calibri"/>
              </a:rPr>
              <a:t>graphs </a:t>
            </a:r>
            <a:r>
              <a:rPr dirty="0" sz="2400" spc="-15">
                <a:latin typeface="Calibri"/>
                <a:cs typeface="Calibri"/>
              </a:rPr>
              <a:t>are </a:t>
            </a:r>
            <a:r>
              <a:rPr dirty="0" sz="2400" spc="-20">
                <a:latin typeface="Calibri"/>
                <a:cs typeface="Calibri"/>
              </a:rPr>
              <a:t>“scale </a:t>
            </a:r>
            <a:r>
              <a:rPr dirty="0" sz="2400" spc="-50">
                <a:latin typeface="Calibri"/>
                <a:cs typeface="Calibri"/>
              </a:rPr>
              <a:t>free”, </a:t>
            </a:r>
            <a:r>
              <a:rPr dirty="0" sz="2400" spc="-5">
                <a:latin typeface="Calibri"/>
                <a:cs typeface="Calibri"/>
              </a:rPr>
              <a:t>sampling </a:t>
            </a:r>
            <a:r>
              <a:rPr dirty="0" sz="2400" spc="-10">
                <a:latin typeface="Calibri"/>
                <a:cs typeface="Calibri"/>
              </a:rPr>
              <a:t>random  neighbors, </a:t>
            </a:r>
            <a:r>
              <a:rPr dirty="0" sz="2400" spc="-5">
                <a:latin typeface="Calibri"/>
                <a:cs typeface="Calibri"/>
              </a:rPr>
              <a:t>samples </a:t>
            </a:r>
            <a:r>
              <a:rPr dirty="0" sz="2400" spc="-15">
                <a:latin typeface="Calibri"/>
                <a:cs typeface="Calibri"/>
              </a:rPr>
              <a:t>many </a:t>
            </a:r>
            <a:r>
              <a:rPr dirty="0" sz="2400" spc="-10">
                <a:latin typeface="Calibri"/>
                <a:cs typeface="Calibri"/>
              </a:rPr>
              <a:t>low degree </a:t>
            </a:r>
            <a:r>
              <a:rPr dirty="0" sz="2400" spc="10">
                <a:latin typeface="Calibri"/>
                <a:cs typeface="Calibri"/>
              </a:rPr>
              <a:t>“leaf”</a:t>
            </a:r>
            <a:r>
              <a:rPr dirty="0" sz="2400" spc="65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nodes.</a:t>
            </a:r>
            <a:endParaRPr sz="2400">
              <a:latin typeface="Calibri"/>
              <a:cs typeface="Calibri"/>
            </a:endParaRPr>
          </a:p>
          <a:p>
            <a:pPr lvl="1" marL="552450" indent="-228600">
              <a:lnSpc>
                <a:spcPct val="100000"/>
              </a:lnSpc>
              <a:spcBef>
                <a:spcPts val="525"/>
              </a:spcBef>
              <a:buClr>
                <a:srgbClr val="E66C7D"/>
              </a:buClr>
              <a:buFont typeface="Malgun Gothic"/>
              <a:buChar char="▪"/>
              <a:tabLst>
                <a:tab pos="552450" algn="l"/>
              </a:tabLst>
            </a:pPr>
            <a:r>
              <a:rPr dirty="0" sz="2400" spc="-15">
                <a:latin typeface="Calibri"/>
                <a:cs typeface="Calibri"/>
              </a:rPr>
              <a:t>Strategy to </a:t>
            </a:r>
            <a:r>
              <a:rPr dirty="0" sz="2400" spc="-5">
                <a:latin typeface="Calibri"/>
                <a:cs typeface="Calibri"/>
              </a:rPr>
              <a:t>sample </a:t>
            </a:r>
            <a:r>
              <a:rPr dirty="0" sz="2400" spc="-10">
                <a:latin typeface="Calibri"/>
                <a:cs typeface="Calibri"/>
              </a:rPr>
              <a:t>important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nodes:</a:t>
            </a:r>
            <a:endParaRPr sz="2400">
              <a:latin typeface="Calibri"/>
              <a:cs typeface="Calibri"/>
            </a:endParaRPr>
          </a:p>
          <a:p>
            <a:pPr lvl="2" marL="771525" indent="-182880">
              <a:lnSpc>
                <a:spcPct val="100000"/>
              </a:lnSpc>
              <a:spcBef>
                <a:spcPts val="515"/>
              </a:spcBef>
              <a:buClr>
                <a:srgbClr val="6BB76D"/>
              </a:buClr>
              <a:buFont typeface="Arial"/>
              <a:buChar char="▪"/>
              <a:tabLst>
                <a:tab pos="771525" algn="l"/>
              </a:tabLst>
            </a:pPr>
            <a:r>
              <a:rPr dirty="0" sz="2000" spc="-10">
                <a:latin typeface="Calibri"/>
                <a:cs typeface="Calibri"/>
              </a:rPr>
              <a:t>Compute </a:t>
            </a:r>
            <a:r>
              <a:rPr dirty="0" sz="2000" spc="-5">
                <a:latin typeface="Calibri"/>
                <a:cs typeface="Calibri"/>
              </a:rPr>
              <a:t>Random </a:t>
            </a:r>
            <a:r>
              <a:rPr dirty="0" sz="2000" spc="-20">
                <a:latin typeface="Calibri"/>
                <a:cs typeface="Calibri"/>
              </a:rPr>
              <a:t>Walk </a:t>
            </a:r>
            <a:r>
              <a:rPr dirty="0" sz="2000" spc="-5">
                <a:latin typeface="Calibri"/>
                <a:cs typeface="Calibri"/>
              </a:rPr>
              <a:t>with </a:t>
            </a:r>
            <a:r>
              <a:rPr dirty="0" sz="2000" spc="-10">
                <a:latin typeface="Calibri"/>
                <a:cs typeface="Calibri"/>
              </a:rPr>
              <a:t>Restarts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score</a:t>
            </a:r>
            <a:endParaRPr sz="2000">
              <a:latin typeface="Calibri"/>
              <a:cs typeface="Calibri"/>
            </a:endParaRPr>
          </a:p>
          <a:p>
            <a:pPr algn="ctr" marR="2940685">
              <a:lnSpc>
                <a:spcPct val="100000"/>
              </a:lnSpc>
            </a:pPr>
            <a:r>
              <a:rPr dirty="0" sz="2000" spc="25">
                <a:latin typeface="Cambria Math"/>
                <a:cs typeface="Cambria Math"/>
              </a:rPr>
              <a:t>𝑅</a:t>
            </a:r>
            <a:r>
              <a:rPr dirty="0" baseline="-14814" sz="2250" spc="37">
                <a:latin typeface="Cambria Math"/>
                <a:cs typeface="Cambria Math"/>
              </a:rPr>
              <a:t>! </a:t>
            </a:r>
            <a:r>
              <a:rPr dirty="0" sz="2000" spc="-10">
                <a:latin typeface="Calibri"/>
                <a:cs typeface="Calibri"/>
              </a:rPr>
              <a:t>starting at </a:t>
            </a:r>
            <a:r>
              <a:rPr dirty="0" sz="2000" spc="-5">
                <a:latin typeface="Calibri"/>
                <a:cs typeface="Calibri"/>
              </a:rPr>
              <a:t>the </a:t>
            </a:r>
            <a:r>
              <a:rPr dirty="0" sz="2000" spc="-5" b="1">
                <a:solidFill>
                  <a:srgbClr val="008000"/>
                </a:solidFill>
                <a:latin typeface="Calibri"/>
                <a:cs typeface="Calibri"/>
              </a:rPr>
              <a:t>green</a:t>
            </a:r>
            <a:r>
              <a:rPr dirty="0" sz="2000" spc="40" b="1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2000" spc="-5">
                <a:latin typeface="Calibri"/>
                <a:cs typeface="Calibri"/>
              </a:rPr>
              <a:t>node</a:t>
            </a:r>
            <a:endParaRPr sz="2000">
              <a:latin typeface="Calibri"/>
              <a:cs typeface="Calibri"/>
            </a:endParaRPr>
          </a:p>
          <a:p>
            <a:pPr lvl="2" marL="771525" marR="2598420" indent="-182880">
              <a:lnSpc>
                <a:spcPct val="100000"/>
              </a:lnSpc>
              <a:spcBef>
                <a:spcPts val="480"/>
              </a:spcBef>
              <a:buClr>
                <a:srgbClr val="6BB76D"/>
              </a:buClr>
              <a:buFont typeface="Arial"/>
              <a:buChar char="▪"/>
              <a:tabLst>
                <a:tab pos="771525" algn="l"/>
              </a:tabLst>
            </a:pPr>
            <a:r>
              <a:rPr dirty="0" sz="2000" spc="-25">
                <a:latin typeface="Calibri"/>
                <a:cs typeface="Calibri"/>
              </a:rPr>
              <a:t>At </a:t>
            </a:r>
            <a:r>
              <a:rPr dirty="0" sz="2000">
                <a:latin typeface="Calibri"/>
                <a:cs typeface="Calibri"/>
              </a:rPr>
              <a:t>each </a:t>
            </a:r>
            <a:r>
              <a:rPr dirty="0" sz="2000" spc="-10">
                <a:latin typeface="Calibri"/>
                <a:cs typeface="Calibri"/>
              </a:rPr>
              <a:t>level </a:t>
            </a:r>
            <a:r>
              <a:rPr dirty="0" sz="2000" spc="-5">
                <a:latin typeface="Calibri"/>
                <a:cs typeface="Calibri"/>
              </a:rPr>
              <a:t>sample </a:t>
            </a:r>
            <a:r>
              <a:rPr dirty="0" sz="2000">
                <a:latin typeface="Cambria Math"/>
                <a:cs typeface="Cambria Math"/>
              </a:rPr>
              <a:t>𝐻 </a:t>
            </a:r>
            <a:r>
              <a:rPr dirty="0" sz="2000" spc="-10">
                <a:latin typeface="Calibri"/>
                <a:cs typeface="Calibri"/>
              </a:rPr>
              <a:t>neighbors </a:t>
            </a:r>
            <a:r>
              <a:rPr dirty="0" sz="2000">
                <a:latin typeface="Cambria Math"/>
                <a:cs typeface="Cambria Math"/>
              </a:rPr>
              <a:t>𝑖 </a:t>
            </a:r>
            <a:r>
              <a:rPr dirty="0" sz="2000" spc="-5">
                <a:latin typeface="Calibri"/>
                <a:cs typeface="Calibri"/>
              </a:rPr>
              <a:t>with  the highest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25">
                <a:latin typeface="Cambria Math"/>
                <a:cs typeface="Cambria Math"/>
              </a:rPr>
              <a:t>𝑅</a:t>
            </a:r>
            <a:r>
              <a:rPr dirty="0" baseline="-14814" sz="2250" spc="37">
                <a:latin typeface="Cambria Math"/>
                <a:cs typeface="Cambria Math"/>
              </a:rPr>
              <a:t>!</a:t>
            </a:r>
            <a:endParaRPr baseline="-14814" sz="2250">
              <a:latin typeface="Cambria Math"/>
              <a:cs typeface="Cambria Math"/>
            </a:endParaRPr>
          </a:p>
          <a:p>
            <a:pPr lvl="1" marL="552450" marR="2668905" indent="-228600">
              <a:lnSpc>
                <a:spcPct val="100800"/>
              </a:lnSpc>
              <a:spcBef>
                <a:spcPts val="484"/>
              </a:spcBef>
              <a:buClr>
                <a:srgbClr val="E66C7D"/>
              </a:buClr>
              <a:buFont typeface="Malgun Gothic"/>
              <a:buChar char="▪"/>
              <a:tabLst>
                <a:tab pos="552450" algn="l"/>
              </a:tabLst>
            </a:pPr>
            <a:r>
              <a:rPr dirty="0" sz="2400" spc="-5">
                <a:latin typeface="Calibri"/>
                <a:cs typeface="Calibri"/>
              </a:rPr>
              <a:t>This </a:t>
            </a:r>
            <a:r>
              <a:rPr dirty="0" sz="2400" spc="-20">
                <a:latin typeface="Calibri"/>
                <a:cs typeface="Calibri"/>
              </a:rPr>
              <a:t>strategy </a:t>
            </a:r>
            <a:r>
              <a:rPr dirty="0" sz="2400" spc="-15">
                <a:latin typeface="Calibri"/>
                <a:cs typeface="Calibri"/>
              </a:rPr>
              <a:t>works </a:t>
            </a:r>
            <a:r>
              <a:rPr dirty="0" sz="2400" spc="-5">
                <a:latin typeface="Calibri"/>
                <a:cs typeface="Calibri"/>
              </a:rPr>
              <a:t>much </a:t>
            </a:r>
            <a:r>
              <a:rPr dirty="0" sz="2400" spc="-15">
                <a:latin typeface="Calibri"/>
                <a:cs typeface="Calibri"/>
              </a:rPr>
              <a:t>better </a:t>
            </a:r>
            <a:r>
              <a:rPr dirty="0" sz="2400" spc="-280">
                <a:latin typeface="Calibri"/>
                <a:cs typeface="Calibri"/>
              </a:rPr>
              <a:t>in  </a:t>
            </a:r>
            <a:r>
              <a:rPr dirty="0" sz="2400" spc="-10">
                <a:latin typeface="Calibri"/>
                <a:cs typeface="Calibri"/>
              </a:rPr>
              <a:t>practice.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182359" y="4221479"/>
            <a:ext cx="2755899" cy="23621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33010" y="4181707"/>
            <a:ext cx="925830" cy="1165860"/>
          </a:xfrm>
          <a:custGeom>
            <a:avLst/>
            <a:gdLst/>
            <a:ahLst/>
            <a:cxnLst/>
            <a:rect l="l" t="t" r="r" b="b"/>
            <a:pathLst>
              <a:path w="925829" h="1165860">
                <a:moveTo>
                  <a:pt x="172843" y="0"/>
                </a:moveTo>
                <a:lnTo>
                  <a:pt x="0" y="1148575"/>
                </a:lnTo>
                <a:lnTo>
                  <a:pt x="94785" y="1165302"/>
                </a:lnTo>
                <a:lnTo>
                  <a:pt x="245327" y="189570"/>
                </a:lnTo>
                <a:lnTo>
                  <a:pt x="919467" y="189570"/>
                </a:lnTo>
                <a:lnTo>
                  <a:pt x="908823" y="33453"/>
                </a:lnTo>
                <a:lnTo>
                  <a:pt x="172843" y="0"/>
                </a:lnTo>
                <a:close/>
              </a:path>
              <a:path w="925829" h="1165860">
                <a:moveTo>
                  <a:pt x="919467" y="189570"/>
                </a:moveTo>
                <a:lnTo>
                  <a:pt x="245327" y="189570"/>
                </a:lnTo>
                <a:lnTo>
                  <a:pt x="250901" y="306659"/>
                </a:lnTo>
                <a:lnTo>
                  <a:pt x="925550" y="278780"/>
                </a:lnTo>
                <a:lnTo>
                  <a:pt x="919467" y="18957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33010" y="4181707"/>
            <a:ext cx="925830" cy="1165860"/>
          </a:xfrm>
          <a:custGeom>
            <a:avLst/>
            <a:gdLst/>
            <a:ahLst/>
            <a:cxnLst/>
            <a:rect l="l" t="t" r="r" b="b"/>
            <a:pathLst>
              <a:path w="925829" h="1165860">
                <a:moveTo>
                  <a:pt x="0" y="1148576"/>
                </a:moveTo>
                <a:lnTo>
                  <a:pt x="94785" y="1165303"/>
                </a:lnTo>
                <a:lnTo>
                  <a:pt x="245327" y="189571"/>
                </a:lnTo>
                <a:lnTo>
                  <a:pt x="250902" y="306659"/>
                </a:lnTo>
                <a:lnTo>
                  <a:pt x="925551" y="278781"/>
                </a:lnTo>
                <a:lnTo>
                  <a:pt x="908824" y="33454"/>
                </a:lnTo>
                <a:lnTo>
                  <a:pt x="172844" y="0"/>
                </a:lnTo>
                <a:lnTo>
                  <a:pt x="0" y="1148576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162800" y="5105400"/>
            <a:ext cx="228600" cy="241935"/>
          </a:xfrm>
          <a:custGeom>
            <a:avLst/>
            <a:gdLst/>
            <a:ahLst/>
            <a:cxnLst/>
            <a:rect l="l" t="t" r="r" b="b"/>
            <a:pathLst>
              <a:path w="228600" h="241935">
                <a:moveTo>
                  <a:pt x="114300" y="0"/>
                </a:moveTo>
                <a:lnTo>
                  <a:pt x="69809" y="9493"/>
                </a:lnTo>
                <a:lnTo>
                  <a:pt x="33477" y="35382"/>
                </a:lnTo>
                <a:lnTo>
                  <a:pt x="8982" y="73781"/>
                </a:lnTo>
                <a:lnTo>
                  <a:pt x="0" y="120804"/>
                </a:lnTo>
                <a:lnTo>
                  <a:pt x="8982" y="167827"/>
                </a:lnTo>
                <a:lnTo>
                  <a:pt x="33477" y="206226"/>
                </a:lnTo>
                <a:lnTo>
                  <a:pt x="69809" y="232116"/>
                </a:lnTo>
                <a:lnTo>
                  <a:pt x="114300" y="241609"/>
                </a:lnTo>
                <a:lnTo>
                  <a:pt x="158790" y="232116"/>
                </a:lnTo>
                <a:lnTo>
                  <a:pt x="195122" y="206226"/>
                </a:lnTo>
                <a:lnTo>
                  <a:pt x="219617" y="167827"/>
                </a:lnTo>
                <a:lnTo>
                  <a:pt x="228600" y="120804"/>
                </a:lnTo>
                <a:lnTo>
                  <a:pt x="219617" y="73781"/>
                </a:lnTo>
                <a:lnTo>
                  <a:pt x="195122" y="35382"/>
                </a:lnTo>
                <a:lnTo>
                  <a:pt x="158790" y="9493"/>
                </a:lnTo>
                <a:lnTo>
                  <a:pt x="114300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162800" y="5105400"/>
            <a:ext cx="228600" cy="241935"/>
          </a:xfrm>
          <a:custGeom>
            <a:avLst/>
            <a:gdLst/>
            <a:ahLst/>
            <a:cxnLst/>
            <a:rect l="l" t="t" r="r" b="b"/>
            <a:pathLst>
              <a:path w="228600" h="241935">
                <a:moveTo>
                  <a:pt x="0" y="120805"/>
                </a:moveTo>
                <a:lnTo>
                  <a:pt x="8982" y="73782"/>
                </a:lnTo>
                <a:lnTo>
                  <a:pt x="33477" y="35382"/>
                </a:lnTo>
                <a:lnTo>
                  <a:pt x="69809" y="9493"/>
                </a:lnTo>
                <a:lnTo>
                  <a:pt x="114300" y="0"/>
                </a:lnTo>
                <a:lnTo>
                  <a:pt x="158790" y="9493"/>
                </a:lnTo>
                <a:lnTo>
                  <a:pt x="195122" y="35382"/>
                </a:lnTo>
                <a:lnTo>
                  <a:pt x="219617" y="73782"/>
                </a:lnTo>
                <a:lnTo>
                  <a:pt x="228600" y="120805"/>
                </a:lnTo>
                <a:lnTo>
                  <a:pt x="219617" y="167827"/>
                </a:lnTo>
                <a:lnTo>
                  <a:pt x="195122" y="206227"/>
                </a:lnTo>
                <a:lnTo>
                  <a:pt x="158790" y="232116"/>
                </a:lnTo>
                <a:lnTo>
                  <a:pt x="114300" y="241610"/>
                </a:lnTo>
                <a:lnTo>
                  <a:pt x="69809" y="232116"/>
                </a:lnTo>
                <a:lnTo>
                  <a:pt x="33477" y="206227"/>
                </a:lnTo>
                <a:lnTo>
                  <a:pt x="8982" y="167827"/>
                </a:lnTo>
                <a:lnTo>
                  <a:pt x="0" y="120805"/>
                </a:lnTo>
                <a:close/>
              </a:path>
            </a:pathLst>
          </a:custGeom>
          <a:ln w="38100">
            <a:solidFill>
              <a:srgbClr val="92D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3/13/21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24</a:t>
            </a:fld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47472"/>
            <a:ext cx="7400544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18108" y="1348740"/>
            <a:ext cx="8104505" cy="521335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b="1">
                <a:solidFill>
                  <a:srgbClr val="008000"/>
                </a:solidFill>
                <a:latin typeface="Calibri"/>
                <a:cs typeface="Calibri"/>
              </a:rPr>
              <a:t>A </a:t>
            </a:r>
            <a:r>
              <a:rPr dirty="0" sz="3200" spc="-10" b="1">
                <a:solidFill>
                  <a:srgbClr val="008000"/>
                </a:solidFill>
                <a:latin typeface="Calibri"/>
                <a:cs typeface="Calibri"/>
              </a:rPr>
              <a:t>computational </a:t>
            </a:r>
            <a:r>
              <a:rPr dirty="0" sz="3200" spc="-20" b="1">
                <a:solidFill>
                  <a:srgbClr val="008000"/>
                </a:solidFill>
                <a:latin typeface="Calibri"/>
                <a:cs typeface="Calibri"/>
              </a:rPr>
              <a:t>graph </a:t>
            </a:r>
            <a:r>
              <a:rPr dirty="0" sz="3200" b="1">
                <a:solidFill>
                  <a:srgbClr val="008000"/>
                </a:solidFill>
                <a:latin typeface="Calibri"/>
                <a:cs typeface="Calibri"/>
              </a:rPr>
              <a:t>is </a:t>
            </a:r>
            <a:r>
              <a:rPr dirty="0" sz="3200" spc="-15" b="1">
                <a:solidFill>
                  <a:srgbClr val="008000"/>
                </a:solidFill>
                <a:latin typeface="Calibri"/>
                <a:cs typeface="Calibri"/>
              </a:rPr>
              <a:t>constructed </a:t>
            </a:r>
            <a:r>
              <a:rPr dirty="0" sz="3200" spc="-20" b="1">
                <a:solidFill>
                  <a:srgbClr val="008000"/>
                </a:solidFill>
                <a:latin typeface="Calibri"/>
                <a:cs typeface="Calibri"/>
              </a:rPr>
              <a:t>for </a:t>
            </a:r>
            <a:r>
              <a:rPr dirty="0" sz="3200" spc="-5" b="1">
                <a:solidFill>
                  <a:srgbClr val="008000"/>
                </a:solidFill>
                <a:latin typeface="Calibri"/>
                <a:cs typeface="Calibri"/>
              </a:rPr>
              <a:t>each  node </a:t>
            </a:r>
            <a:r>
              <a:rPr dirty="0" sz="3200" b="1">
                <a:solidFill>
                  <a:srgbClr val="008000"/>
                </a:solidFill>
                <a:latin typeface="Calibri"/>
                <a:cs typeface="Calibri"/>
              </a:rPr>
              <a:t>in a</a:t>
            </a:r>
            <a:r>
              <a:rPr dirty="0" sz="3200" spc="-35" b="1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3200" spc="-15" b="1">
                <a:solidFill>
                  <a:srgbClr val="008000"/>
                </a:solidFill>
                <a:latin typeface="Calibri"/>
                <a:cs typeface="Calibri"/>
              </a:rPr>
              <a:t>mini-batch.</a:t>
            </a:r>
            <a:endParaRPr sz="3200">
              <a:latin typeface="Calibri"/>
              <a:cs typeface="Calibri"/>
            </a:endParaRPr>
          </a:p>
          <a:p>
            <a:pPr marL="332740" marR="906780" indent="-320040">
              <a:lnSpc>
                <a:spcPts val="3790"/>
              </a:lnSpc>
              <a:spcBef>
                <a:spcPts val="114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0070C0"/>
                </a:solidFill>
                <a:latin typeface="Calibri"/>
                <a:cs typeface="Calibri"/>
              </a:rPr>
              <a:t>In neighbor </a:t>
            </a:r>
            <a:r>
              <a:rPr dirty="0" sz="3200" b="1">
                <a:solidFill>
                  <a:srgbClr val="0070C0"/>
                </a:solidFill>
                <a:latin typeface="Calibri"/>
                <a:cs typeface="Calibri"/>
              </a:rPr>
              <a:t>sampling, </a:t>
            </a:r>
            <a:r>
              <a:rPr dirty="0" sz="3200" spc="-5" b="1">
                <a:solidFill>
                  <a:srgbClr val="0070C0"/>
                </a:solidFill>
                <a:latin typeface="Calibri"/>
                <a:cs typeface="Calibri"/>
              </a:rPr>
              <a:t>the </a:t>
            </a:r>
            <a:r>
              <a:rPr dirty="0" sz="3200" spc="-10" b="1">
                <a:solidFill>
                  <a:srgbClr val="0070C0"/>
                </a:solidFill>
                <a:latin typeface="Calibri"/>
                <a:cs typeface="Calibri"/>
              </a:rPr>
              <a:t>comp. </a:t>
            </a:r>
            <a:r>
              <a:rPr dirty="0" sz="3200" spc="-20" b="1">
                <a:solidFill>
                  <a:srgbClr val="0070C0"/>
                </a:solidFill>
                <a:latin typeface="Calibri"/>
                <a:cs typeface="Calibri"/>
              </a:rPr>
              <a:t>graph </a:t>
            </a:r>
            <a:r>
              <a:rPr dirty="0" sz="3200" b="1">
                <a:solidFill>
                  <a:srgbClr val="0070C0"/>
                </a:solidFill>
                <a:latin typeface="Calibri"/>
                <a:cs typeface="Calibri"/>
              </a:rPr>
              <a:t>is  </a:t>
            </a:r>
            <a:r>
              <a:rPr dirty="0" sz="3200" spc="-10" b="1">
                <a:solidFill>
                  <a:srgbClr val="0070C0"/>
                </a:solidFill>
                <a:latin typeface="Calibri"/>
                <a:cs typeface="Calibri"/>
              </a:rPr>
              <a:t>pruned/sub-sampled </a:t>
            </a:r>
            <a:r>
              <a:rPr dirty="0" sz="3200" spc="-15" b="1">
                <a:solidFill>
                  <a:srgbClr val="0070C0"/>
                </a:solidFill>
                <a:latin typeface="Calibri"/>
                <a:cs typeface="Calibri"/>
              </a:rPr>
              <a:t>to</a:t>
            </a:r>
            <a:r>
              <a:rPr dirty="0" sz="3200" spc="-40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3200" spc="-10" b="1">
                <a:solidFill>
                  <a:srgbClr val="0070C0"/>
                </a:solidFill>
                <a:latin typeface="Calibri"/>
                <a:cs typeface="Calibri"/>
              </a:rPr>
              <a:t>increase</a:t>
            </a:r>
            <a:endParaRPr sz="3200">
              <a:latin typeface="Calibri"/>
              <a:cs typeface="Calibri"/>
            </a:endParaRPr>
          </a:p>
          <a:p>
            <a:pPr marL="332740">
              <a:lnSpc>
                <a:spcPts val="3770"/>
              </a:lnSpc>
            </a:pPr>
            <a:r>
              <a:rPr dirty="0" sz="3200" spc="-10" b="1">
                <a:solidFill>
                  <a:srgbClr val="0070C0"/>
                </a:solidFill>
                <a:latin typeface="Calibri"/>
                <a:cs typeface="Calibri"/>
              </a:rPr>
              <a:t>computational</a:t>
            </a:r>
            <a:r>
              <a:rPr dirty="0" sz="3200" spc="-65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3200" spc="-25" b="1">
                <a:solidFill>
                  <a:srgbClr val="0070C0"/>
                </a:solidFill>
                <a:latin typeface="Calibri"/>
                <a:cs typeface="Calibri"/>
              </a:rPr>
              <a:t>efficiency.</a:t>
            </a:r>
            <a:endParaRPr sz="3200">
              <a:latin typeface="Calibri"/>
              <a:cs typeface="Calibri"/>
            </a:endParaRPr>
          </a:p>
          <a:p>
            <a:pPr marL="332740" marR="73660" indent="-320040">
              <a:lnSpc>
                <a:spcPts val="3790"/>
              </a:lnSpc>
              <a:spcBef>
                <a:spcPts val="14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latin typeface="Calibri"/>
                <a:cs typeface="Calibri"/>
              </a:rPr>
              <a:t>The pruned </a:t>
            </a:r>
            <a:r>
              <a:rPr dirty="0" sz="3200" spc="-10" b="1">
                <a:latin typeface="Calibri"/>
                <a:cs typeface="Calibri"/>
              </a:rPr>
              <a:t>comp. </a:t>
            </a:r>
            <a:r>
              <a:rPr dirty="0" sz="3200" spc="-20" b="1">
                <a:latin typeface="Calibri"/>
                <a:cs typeface="Calibri"/>
              </a:rPr>
              <a:t>graph </a:t>
            </a:r>
            <a:r>
              <a:rPr dirty="0" sz="3200" b="1">
                <a:latin typeface="Calibri"/>
                <a:cs typeface="Calibri"/>
              </a:rPr>
              <a:t>is </a:t>
            </a:r>
            <a:r>
              <a:rPr dirty="0" sz="3200" spc="-5" b="1">
                <a:latin typeface="Calibri"/>
                <a:cs typeface="Calibri"/>
              </a:rPr>
              <a:t>used </a:t>
            </a:r>
            <a:r>
              <a:rPr dirty="0" sz="3200" spc="-15" b="1">
                <a:latin typeface="Calibri"/>
                <a:cs typeface="Calibri"/>
              </a:rPr>
              <a:t>to </a:t>
            </a:r>
            <a:r>
              <a:rPr dirty="0" sz="3200" spc="-25" b="1">
                <a:latin typeface="Calibri"/>
                <a:cs typeface="Calibri"/>
              </a:rPr>
              <a:t>generate </a:t>
            </a:r>
            <a:r>
              <a:rPr dirty="0" sz="3200" b="1">
                <a:latin typeface="Calibri"/>
                <a:cs typeface="Calibri"/>
              </a:rPr>
              <a:t>a  </a:t>
            </a:r>
            <a:r>
              <a:rPr dirty="0" sz="3200" spc="-5" b="1">
                <a:latin typeface="Calibri"/>
                <a:cs typeface="Calibri"/>
              </a:rPr>
              <a:t>node</a:t>
            </a:r>
            <a:r>
              <a:rPr dirty="0" sz="3200" spc="-55" b="1">
                <a:latin typeface="Calibri"/>
                <a:cs typeface="Calibri"/>
              </a:rPr>
              <a:t> </a:t>
            </a:r>
            <a:r>
              <a:rPr dirty="0" sz="3200" spc="-5" b="1">
                <a:latin typeface="Calibri"/>
                <a:cs typeface="Calibri"/>
              </a:rPr>
              <a:t>embedding.</a:t>
            </a:r>
            <a:endParaRPr sz="3200">
              <a:latin typeface="Calibri"/>
              <a:cs typeface="Calibri"/>
            </a:endParaRPr>
          </a:p>
          <a:p>
            <a:pPr marL="332740" marR="140970" indent="-320040">
              <a:lnSpc>
                <a:spcPct val="100299"/>
              </a:lnSpc>
              <a:spcBef>
                <a:spcPts val="234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0">
                <a:latin typeface="Calibri"/>
                <a:cs typeface="Calibri"/>
              </a:rPr>
              <a:t>However, </a:t>
            </a: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computational </a:t>
            </a:r>
            <a:r>
              <a:rPr dirty="0" sz="3200" spc="-20" b="1">
                <a:solidFill>
                  <a:srgbClr val="C00000"/>
                </a:solidFill>
                <a:latin typeface="Calibri"/>
                <a:cs typeface="Calibri"/>
              </a:rPr>
              <a:t>graphs </a:t>
            </a: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can still 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become </a:t>
            </a:r>
            <a:r>
              <a:rPr dirty="0" sz="3200" spc="-15" b="1">
                <a:solidFill>
                  <a:srgbClr val="C00000"/>
                </a:solidFill>
                <a:latin typeface="Calibri"/>
                <a:cs typeface="Calibri"/>
              </a:rPr>
              <a:t>large,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especially </a:t>
            </a:r>
            <a:r>
              <a:rPr dirty="0" sz="3200" spc="-20" b="1">
                <a:solidFill>
                  <a:srgbClr val="C00000"/>
                </a:solidFill>
                <a:latin typeface="Calibri"/>
                <a:cs typeface="Calibri"/>
              </a:rPr>
              <a:t>for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GNNs </a:t>
            </a:r>
            <a:r>
              <a:rPr dirty="0" sz="3200" b="1">
                <a:solidFill>
                  <a:srgbClr val="C00000"/>
                </a:solidFill>
                <a:latin typeface="Calibri"/>
                <a:cs typeface="Calibri"/>
              </a:rPr>
              <a:t>with </a:t>
            </a:r>
            <a:r>
              <a:rPr dirty="0" sz="3200" spc="-20" b="1">
                <a:solidFill>
                  <a:srgbClr val="C00000"/>
                </a:solidFill>
                <a:latin typeface="Calibri"/>
                <a:cs typeface="Calibri"/>
              </a:rPr>
              <a:t>many  </a:t>
            </a: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message-passing</a:t>
            </a:r>
            <a:r>
              <a:rPr dirty="0" sz="3200" spc="-25" b="1">
                <a:solidFill>
                  <a:srgbClr val="C00000"/>
                </a:solidFill>
                <a:latin typeface="Calibri"/>
                <a:cs typeface="Calibri"/>
              </a:rPr>
              <a:t> layers.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3/13/21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24</a:t>
            </a:fld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5135880"/>
          </a:xfrm>
          <a:custGeom>
            <a:avLst/>
            <a:gdLst/>
            <a:ahLst/>
            <a:cxnLst/>
            <a:rect l="l" t="t" r="r" b="b"/>
            <a:pathLst>
              <a:path w="9144000" h="5135880">
                <a:moveTo>
                  <a:pt x="0" y="0"/>
                </a:moveTo>
                <a:lnTo>
                  <a:pt x="9143998" y="0"/>
                </a:lnTo>
                <a:lnTo>
                  <a:pt x="9143998" y="5135430"/>
                </a:lnTo>
                <a:lnTo>
                  <a:pt x="0" y="51354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5105400"/>
            <a:ext cx="9144000" cy="112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515119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571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01623" y="3538728"/>
            <a:ext cx="4864608" cy="14752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40739" y="5266435"/>
            <a:ext cx="5060950" cy="1249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solidFill>
                  <a:srgbClr val="FFFFFF"/>
                </a:solidFill>
                <a:latin typeface="Corbel"/>
                <a:cs typeface="Corbel"/>
              </a:rPr>
              <a:t>CS224W: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Machine Learning </a:t>
            </a: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with</a:t>
            </a:r>
            <a:r>
              <a:rPr dirty="0" sz="2400" spc="-114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Graphs  Jure </a:t>
            </a:r>
            <a:r>
              <a:rPr dirty="0" sz="2400" spc="-10">
                <a:solidFill>
                  <a:srgbClr val="FFFFFF"/>
                </a:solidFill>
                <a:latin typeface="Corbel"/>
                <a:cs typeface="Corbel"/>
              </a:rPr>
              <a:t>Leskovec,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Stanford</a:t>
            </a:r>
            <a:r>
              <a:rPr dirty="0" sz="20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University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3200" spc="-15">
                <a:solidFill>
                  <a:srgbClr val="FFFFFF"/>
                </a:solidFill>
                <a:latin typeface="Corbel"/>
                <a:cs typeface="Corbel"/>
                <a:hlinkClick r:id="rId5"/>
              </a:rPr>
              <a:t>http://cs224w.stanford.edu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52359" y="5166359"/>
            <a:ext cx="1691640" cy="16916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531608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734934" cy="1973580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30861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 b="1">
                <a:solidFill>
                  <a:srgbClr val="D60093"/>
                </a:solidFill>
                <a:latin typeface="Calibri"/>
                <a:cs typeface="Calibri"/>
              </a:rPr>
              <a:t>The </a:t>
            </a:r>
            <a:r>
              <a:rPr dirty="0" spc="-20" b="1">
                <a:solidFill>
                  <a:srgbClr val="D60093"/>
                </a:solidFill>
                <a:latin typeface="Calibri"/>
                <a:cs typeface="Calibri"/>
              </a:rPr>
              <a:t>size </a:t>
            </a:r>
            <a:r>
              <a:rPr dirty="0" b="1">
                <a:solidFill>
                  <a:srgbClr val="D60093"/>
                </a:solidFill>
                <a:latin typeface="Calibri"/>
                <a:cs typeface="Calibri"/>
              </a:rPr>
              <a:t>of </a:t>
            </a:r>
            <a:r>
              <a:rPr dirty="0" spc="-10" b="1">
                <a:solidFill>
                  <a:srgbClr val="D60093"/>
                </a:solidFill>
                <a:latin typeface="Calibri"/>
                <a:cs typeface="Calibri"/>
              </a:rPr>
              <a:t>computational </a:t>
            </a:r>
            <a:r>
              <a:rPr dirty="0" spc="-20" b="1">
                <a:solidFill>
                  <a:srgbClr val="D60093"/>
                </a:solidFill>
                <a:latin typeface="Calibri"/>
                <a:cs typeface="Calibri"/>
              </a:rPr>
              <a:t>graph </a:t>
            </a:r>
            <a:r>
              <a:rPr dirty="0" spc="-5" b="1">
                <a:solidFill>
                  <a:srgbClr val="D60093"/>
                </a:solidFill>
                <a:latin typeface="Calibri"/>
                <a:cs typeface="Calibri"/>
              </a:rPr>
              <a:t>becomes  </a:t>
            </a:r>
            <a:r>
              <a:rPr dirty="0" spc="-10" b="1">
                <a:solidFill>
                  <a:srgbClr val="D60093"/>
                </a:solidFill>
                <a:latin typeface="Calibri"/>
                <a:cs typeface="Calibri"/>
              </a:rPr>
              <a:t>exponentially </a:t>
            </a:r>
            <a:r>
              <a:rPr dirty="0" spc="-20" b="1">
                <a:solidFill>
                  <a:srgbClr val="D60093"/>
                </a:solidFill>
                <a:latin typeface="Calibri"/>
                <a:cs typeface="Calibri"/>
              </a:rPr>
              <a:t>large </a:t>
            </a:r>
            <a:r>
              <a:rPr dirty="0" spc="-95" b="1">
                <a:solidFill>
                  <a:srgbClr val="D60093"/>
                </a:solidFill>
                <a:latin typeface="Calibri"/>
                <a:cs typeface="Calibri"/>
              </a:rPr>
              <a:t>w.r.t. </a:t>
            </a:r>
            <a:r>
              <a:rPr dirty="0" spc="-5" b="1">
                <a:solidFill>
                  <a:srgbClr val="D60093"/>
                </a:solidFill>
                <a:latin typeface="Calibri"/>
                <a:cs typeface="Calibri"/>
              </a:rPr>
              <a:t>the #GNN</a:t>
            </a:r>
            <a:r>
              <a:rPr dirty="0" spc="135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pc="-25" b="1">
                <a:solidFill>
                  <a:srgbClr val="D60093"/>
                </a:solidFill>
                <a:latin typeface="Calibri"/>
                <a:cs typeface="Calibri"/>
              </a:rPr>
              <a:t>layers.</a:t>
            </a:r>
          </a:p>
          <a:p>
            <a:pPr marL="332740" marR="5080" indent="-320040">
              <a:lnSpc>
                <a:spcPts val="3790"/>
              </a:lnSpc>
              <a:spcBef>
                <a:spcPts val="114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 b="1">
                <a:solidFill>
                  <a:srgbClr val="C00000"/>
                </a:solidFill>
                <a:latin typeface="Calibri"/>
                <a:cs typeface="Calibri"/>
              </a:rPr>
              <a:t>Computation </a:t>
            </a:r>
            <a:r>
              <a:rPr dirty="0" b="1">
                <a:solidFill>
                  <a:srgbClr val="C00000"/>
                </a:solidFill>
                <a:latin typeface="Calibri"/>
                <a:cs typeface="Calibri"/>
              </a:rPr>
              <a:t>is </a:t>
            </a:r>
            <a:r>
              <a:rPr dirty="0" spc="-10" b="1">
                <a:solidFill>
                  <a:srgbClr val="C00000"/>
                </a:solidFill>
                <a:latin typeface="Calibri"/>
                <a:cs typeface="Calibri"/>
              </a:rPr>
              <a:t>redundant</a:t>
            </a:r>
            <a:r>
              <a:rPr dirty="0" spc="-10"/>
              <a:t>, </a:t>
            </a:r>
            <a:r>
              <a:rPr dirty="0" spc="-5"/>
              <a:t>especially when  nodes </a:t>
            </a:r>
            <a:r>
              <a:rPr dirty="0"/>
              <a:t>in a </a:t>
            </a:r>
            <a:r>
              <a:rPr dirty="0" spc="-10"/>
              <a:t>mini-batch </a:t>
            </a:r>
            <a:r>
              <a:rPr dirty="0" spc="-15"/>
              <a:t>share many</a:t>
            </a:r>
            <a:r>
              <a:rPr dirty="0" spc="60"/>
              <a:t> </a:t>
            </a:r>
            <a:r>
              <a:rPr dirty="0" spc="-10"/>
              <a:t>neighbors.</a:t>
            </a:r>
          </a:p>
        </p:txBody>
      </p:sp>
      <p:sp>
        <p:nvSpPr>
          <p:cNvPr id="4" name="object 4"/>
          <p:cNvSpPr/>
          <p:nvPr/>
        </p:nvSpPr>
        <p:spPr>
          <a:xfrm>
            <a:off x="1031878" y="4238589"/>
            <a:ext cx="304800" cy="593725"/>
          </a:xfrm>
          <a:custGeom>
            <a:avLst/>
            <a:gdLst/>
            <a:ahLst/>
            <a:cxnLst/>
            <a:rect l="l" t="t" r="r" b="b"/>
            <a:pathLst>
              <a:path w="304800" h="593725">
                <a:moveTo>
                  <a:pt x="304800" y="0"/>
                </a:moveTo>
                <a:lnTo>
                  <a:pt x="0" y="593187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336678" y="4238589"/>
            <a:ext cx="563245" cy="605155"/>
          </a:xfrm>
          <a:custGeom>
            <a:avLst/>
            <a:gdLst/>
            <a:ahLst/>
            <a:cxnLst/>
            <a:rect l="l" t="t" r="r" b="b"/>
            <a:pathLst>
              <a:path w="563244" h="605154">
                <a:moveTo>
                  <a:pt x="0" y="0"/>
                </a:moveTo>
                <a:lnTo>
                  <a:pt x="562708" y="60491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139642" y="4193952"/>
            <a:ext cx="1097915" cy="682625"/>
          </a:xfrm>
          <a:custGeom>
            <a:avLst/>
            <a:gdLst/>
            <a:ahLst/>
            <a:cxnLst/>
            <a:rect l="l" t="t" r="r" b="b"/>
            <a:pathLst>
              <a:path w="1097914" h="682625">
                <a:moveTo>
                  <a:pt x="1097459" y="0"/>
                </a:moveTo>
                <a:lnTo>
                  <a:pt x="0" y="68246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899387" y="4238589"/>
            <a:ext cx="445770" cy="605155"/>
          </a:xfrm>
          <a:custGeom>
            <a:avLst/>
            <a:gdLst/>
            <a:ahLst/>
            <a:cxnLst/>
            <a:rect l="l" t="t" r="r" b="b"/>
            <a:pathLst>
              <a:path w="445769" h="605154">
                <a:moveTo>
                  <a:pt x="445477" y="0"/>
                </a:moveTo>
                <a:lnTo>
                  <a:pt x="0" y="60491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344864" y="4238589"/>
            <a:ext cx="363855" cy="605155"/>
          </a:xfrm>
          <a:custGeom>
            <a:avLst/>
            <a:gdLst/>
            <a:ahLst/>
            <a:cxnLst/>
            <a:rect l="l" t="t" r="r" b="b"/>
            <a:pathLst>
              <a:path w="363855" h="605154">
                <a:moveTo>
                  <a:pt x="0" y="0"/>
                </a:moveTo>
                <a:lnTo>
                  <a:pt x="363415" y="60491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816042" y="5103662"/>
            <a:ext cx="363855" cy="276860"/>
          </a:xfrm>
          <a:custGeom>
            <a:avLst/>
            <a:gdLst/>
            <a:ahLst/>
            <a:cxnLst/>
            <a:rect l="l" t="t" r="r" b="b"/>
            <a:pathLst>
              <a:path w="363855" h="276860">
                <a:moveTo>
                  <a:pt x="0" y="0"/>
                </a:moveTo>
                <a:lnTo>
                  <a:pt x="363415" y="276285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899386" y="5148299"/>
            <a:ext cx="107950" cy="462280"/>
          </a:xfrm>
          <a:custGeom>
            <a:avLst/>
            <a:gdLst/>
            <a:ahLst/>
            <a:cxnLst/>
            <a:rect l="l" t="t" r="r" b="b"/>
            <a:pathLst>
              <a:path w="107950" h="462279">
                <a:moveTo>
                  <a:pt x="0" y="0"/>
                </a:moveTo>
                <a:lnTo>
                  <a:pt x="107763" y="46189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007149" y="5103662"/>
            <a:ext cx="455295" cy="377825"/>
          </a:xfrm>
          <a:custGeom>
            <a:avLst/>
            <a:gdLst/>
            <a:ahLst/>
            <a:cxnLst/>
            <a:rect l="l" t="t" r="r" b="b"/>
            <a:pathLst>
              <a:path w="455294" h="377825">
                <a:moveTo>
                  <a:pt x="0" y="0"/>
                </a:moveTo>
                <a:lnTo>
                  <a:pt x="454945" y="37766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27079" y="5091939"/>
            <a:ext cx="197485" cy="518795"/>
          </a:xfrm>
          <a:custGeom>
            <a:avLst/>
            <a:gdLst/>
            <a:ahLst/>
            <a:cxnLst/>
            <a:rect l="l" t="t" r="r" b="b"/>
            <a:pathLst>
              <a:path w="197484" h="518795">
                <a:moveTo>
                  <a:pt x="197036" y="0"/>
                </a:moveTo>
                <a:lnTo>
                  <a:pt x="0" y="51825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031878" y="5136577"/>
            <a:ext cx="175895" cy="593725"/>
          </a:xfrm>
          <a:custGeom>
            <a:avLst/>
            <a:gdLst/>
            <a:ahLst/>
            <a:cxnLst/>
            <a:rect l="l" t="t" r="r" b="b"/>
            <a:pathLst>
              <a:path w="175894" h="593725">
                <a:moveTo>
                  <a:pt x="0" y="0"/>
                </a:moveTo>
                <a:lnTo>
                  <a:pt x="175846" y="593187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524438" y="5925451"/>
            <a:ext cx="524510" cy="337185"/>
          </a:xfrm>
          <a:custGeom>
            <a:avLst/>
            <a:gdLst/>
            <a:ahLst/>
            <a:cxnLst/>
            <a:rect l="l" t="t" r="r" b="b"/>
            <a:pathLst>
              <a:path w="524510" h="337185">
                <a:moveTo>
                  <a:pt x="443903" y="33689"/>
                </a:moveTo>
                <a:lnTo>
                  <a:pt x="1992" y="312736"/>
                </a:lnTo>
                <a:lnTo>
                  <a:pt x="0" y="321560"/>
                </a:lnTo>
                <a:lnTo>
                  <a:pt x="8425" y="334904"/>
                </a:lnTo>
                <a:lnTo>
                  <a:pt x="17250" y="336897"/>
                </a:lnTo>
                <a:lnTo>
                  <a:pt x="459160" y="57850"/>
                </a:lnTo>
                <a:lnTo>
                  <a:pt x="443903" y="33689"/>
                </a:lnTo>
                <a:close/>
              </a:path>
              <a:path w="524510" h="337185">
                <a:moveTo>
                  <a:pt x="510802" y="21848"/>
                </a:moveTo>
                <a:lnTo>
                  <a:pt x="462655" y="21848"/>
                </a:lnTo>
                <a:lnTo>
                  <a:pt x="471479" y="23841"/>
                </a:lnTo>
                <a:lnTo>
                  <a:pt x="479906" y="37185"/>
                </a:lnTo>
                <a:lnTo>
                  <a:pt x="477912" y="46009"/>
                </a:lnTo>
                <a:lnTo>
                  <a:pt x="459160" y="57850"/>
                </a:lnTo>
                <a:lnTo>
                  <a:pt x="474417" y="82011"/>
                </a:lnTo>
                <a:lnTo>
                  <a:pt x="510802" y="21848"/>
                </a:lnTo>
                <a:close/>
              </a:path>
              <a:path w="524510" h="337185">
                <a:moveTo>
                  <a:pt x="462655" y="21848"/>
                </a:moveTo>
                <a:lnTo>
                  <a:pt x="443903" y="33689"/>
                </a:lnTo>
                <a:lnTo>
                  <a:pt x="459160" y="57850"/>
                </a:lnTo>
                <a:lnTo>
                  <a:pt x="477912" y="46009"/>
                </a:lnTo>
                <a:lnTo>
                  <a:pt x="479906" y="37185"/>
                </a:lnTo>
                <a:lnTo>
                  <a:pt x="471479" y="23841"/>
                </a:lnTo>
                <a:lnTo>
                  <a:pt x="462655" y="21848"/>
                </a:lnTo>
                <a:close/>
              </a:path>
              <a:path w="524510" h="337185">
                <a:moveTo>
                  <a:pt x="524015" y="0"/>
                </a:moveTo>
                <a:lnTo>
                  <a:pt x="428646" y="9528"/>
                </a:lnTo>
                <a:lnTo>
                  <a:pt x="443903" y="33689"/>
                </a:lnTo>
                <a:lnTo>
                  <a:pt x="462655" y="21848"/>
                </a:lnTo>
                <a:lnTo>
                  <a:pt x="510802" y="21848"/>
                </a:lnTo>
                <a:lnTo>
                  <a:pt x="524015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209051" y="3429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04229" y="7769"/>
                </a:lnTo>
                <a:lnTo>
                  <a:pt x="62394" y="29404"/>
                </a:lnTo>
                <a:lnTo>
                  <a:pt x="29404" y="62394"/>
                </a:lnTo>
                <a:lnTo>
                  <a:pt x="7769" y="104229"/>
                </a:lnTo>
                <a:lnTo>
                  <a:pt x="0" y="152400"/>
                </a:lnTo>
                <a:lnTo>
                  <a:pt x="7769" y="200570"/>
                </a:lnTo>
                <a:lnTo>
                  <a:pt x="29404" y="242405"/>
                </a:lnTo>
                <a:lnTo>
                  <a:pt x="62394" y="275395"/>
                </a:lnTo>
                <a:lnTo>
                  <a:pt x="104229" y="297030"/>
                </a:lnTo>
                <a:lnTo>
                  <a:pt x="152400" y="304800"/>
                </a:lnTo>
                <a:lnTo>
                  <a:pt x="200570" y="297030"/>
                </a:lnTo>
                <a:lnTo>
                  <a:pt x="242405" y="275395"/>
                </a:lnTo>
                <a:lnTo>
                  <a:pt x="275395" y="242405"/>
                </a:lnTo>
                <a:lnTo>
                  <a:pt x="297030" y="200570"/>
                </a:lnTo>
                <a:lnTo>
                  <a:pt x="304800" y="152400"/>
                </a:lnTo>
                <a:lnTo>
                  <a:pt x="297030" y="104229"/>
                </a:lnTo>
                <a:lnTo>
                  <a:pt x="275395" y="62394"/>
                </a:lnTo>
                <a:lnTo>
                  <a:pt x="242405" y="29404"/>
                </a:lnTo>
                <a:lnTo>
                  <a:pt x="200570" y="7769"/>
                </a:lnTo>
                <a:lnTo>
                  <a:pt x="1524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209051" y="3429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152400"/>
                </a:moveTo>
                <a:lnTo>
                  <a:pt x="7769" y="104229"/>
                </a:lnTo>
                <a:lnTo>
                  <a:pt x="29404" y="62394"/>
                </a:lnTo>
                <a:lnTo>
                  <a:pt x="62394" y="29404"/>
                </a:lnTo>
                <a:lnTo>
                  <a:pt x="104229" y="7769"/>
                </a:lnTo>
                <a:lnTo>
                  <a:pt x="152400" y="0"/>
                </a:lnTo>
                <a:lnTo>
                  <a:pt x="200570" y="7769"/>
                </a:lnTo>
                <a:lnTo>
                  <a:pt x="242405" y="29404"/>
                </a:lnTo>
                <a:lnTo>
                  <a:pt x="275395" y="62394"/>
                </a:lnTo>
                <a:lnTo>
                  <a:pt x="297030" y="104229"/>
                </a:lnTo>
                <a:lnTo>
                  <a:pt x="304800" y="152400"/>
                </a:lnTo>
                <a:lnTo>
                  <a:pt x="297030" y="200570"/>
                </a:lnTo>
                <a:lnTo>
                  <a:pt x="275395" y="242405"/>
                </a:lnTo>
                <a:lnTo>
                  <a:pt x="242405" y="275395"/>
                </a:lnTo>
                <a:lnTo>
                  <a:pt x="200570" y="297030"/>
                </a:lnTo>
                <a:lnTo>
                  <a:pt x="152400" y="304800"/>
                </a:lnTo>
                <a:lnTo>
                  <a:pt x="104229" y="297030"/>
                </a:lnTo>
                <a:lnTo>
                  <a:pt x="62394" y="275395"/>
                </a:lnTo>
                <a:lnTo>
                  <a:pt x="29404" y="242405"/>
                </a:lnTo>
                <a:lnTo>
                  <a:pt x="7769" y="200570"/>
                </a:lnTo>
                <a:lnTo>
                  <a:pt x="0" y="152400"/>
                </a:lnTo>
                <a:close/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181465" y="4126522"/>
            <a:ext cx="363855" cy="198120"/>
          </a:xfrm>
          <a:custGeom>
            <a:avLst/>
            <a:gdLst/>
            <a:ahLst/>
            <a:cxnLst/>
            <a:rect l="l" t="t" r="r" b="b"/>
            <a:pathLst>
              <a:path w="363854" h="198120">
                <a:moveTo>
                  <a:pt x="330412" y="0"/>
                </a:moveTo>
                <a:lnTo>
                  <a:pt x="33003" y="0"/>
                </a:lnTo>
                <a:lnTo>
                  <a:pt x="20157" y="2593"/>
                </a:lnTo>
                <a:lnTo>
                  <a:pt x="9666" y="9666"/>
                </a:lnTo>
                <a:lnTo>
                  <a:pt x="2593" y="20157"/>
                </a:lnTo>
                <a:lnTo>
                  <a:pt x="0" y="33003"/>
                </a:lnTo>
                <a:lnTo>
                  <a:pt x="0" y="165013"/>
                </a:lnTo>
                <a:lnTo>
                  <a:pt x="2593" y="177859"/>
                </a:lnTo>
                <a:lnTo>
                  <a:pt x="9666" y="188350"/>
                </a:lnTo>
                <a:lnTo>
                  <a:pt x="20157" y="195423"/>
                </a:lnTo>
                <a:lnTo>
                  <a:pt x="33003" y="198017"/>
                </a:lnTo>
                <a:lnTo>
                  <a:pt x="330412" y="198017"/>
                </a:lnTo>
                <a:lnTo>
                  <a:pt x="343258" y="195423"/>
                </a:lnTo>
                <a:lnTo>
                  <a:pt x="353748" y="188350"/>
                </a:lnTo>
                <a:lnTo>
                  <a:pt x="360821" y="177859"/>
                </a:lnTo>
                <a:lnTo>
                  <a:pt x="363415" y="165013"/>
                </a:lnTo>
                <a:lnTo>
                  <a:pt x="363415" y="33003"/>
                </a:lnTo>
                <a:lnTo>
                  <a:pt x="360821" y="20157"/>
                </a:lnTo>
                <a:lnTo>
                  <a:pt x="353748" y="9666"/>
                </a:lnTo>
                <a:lnTo>
                  <a:pt x="343258" y="2593"/>
                </a:lnTo>
                <a:lnTo>
                  <a:pt x="330412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181465" y="4126522"/>
            <a:ext cx="363855" cy="198120"/>
          </a:xfrm>
          <a:custGeom>
            <a:avLst/>
            <a:gdLst/>
            <a:ahLst/>
            <a:cxnLst/>
            <a:rect l="l" t="t" r="r" b="b"/>
            <a:pathLst>
              <a:path w="363854" h="198120">
                <a:moveTo>
                  <a:pt x="0" y="33003"/>
                </a:moveTo>
                <a:lnTo>
                  <a:pt x="2593" y="20157"/>
                </a:lnTo>
                <a:lnTo>
                  <a:pt x="9666" y="9666"/>
                </a:lnTo>
                <a:lnTo>
                  <a:pt x="20157" y="2593"/>
                </a:lnTo>
                <a:lnTo>
                  <a:pt x="33003" y="0"/>
                </a:lnTo>
                <a:lnTo>
                  <a:pt x="330411" y="0"/>
                </a:lnTo>
                <a:lnTo>
                  <a:pt x="343258" y="2593"/>
                </a:lnTo>
                <a:lnTo>
                  <a:pt x="353748" y="9666"/>
                </a:lnTo>
                <a:lnTo>
                  <a:pt x="360821" y="20157"/>
                </a:lnTo>
                <a:lnTo>
                  <a:pt x="363415" y="33003"/>
                </a:lnTo>
                <a:lnTo>
                  <a:pt x="363415" y="165013"/>
                </a:lnTo>
                <a:lnTo>
                  <a:pt x="360821" y="177859"/>
                </a:lnTo>
                <a:lnTo>
                  <a:pt x="353748" y="188350"/>
                </a:lnTo>
                <a:lnTo>
                  <a:pt x="343258" y="195423"/>
                </a:lnTo>
                <a:lnTo>
                  <a:pt x="330411" y="198017"/>
                </a:lnTo>
                <a:lnTo>
                  <a:pt x="33003" y="198017"/>
                </a:lnTo>
                <a:lnTo>
                  <a:pt x="20157" y="195423"/>
                </a:lnTo>
                <a:lnTo>
                  <a:pt x="9666" y="188350"/>
                </a:lnTo>
                <a:lnTo>
                  <a:pt x="2593" y="177859"/>
                </a:lnTo>
                <a:lnTo>
                  <a:pt x="0" y="165013"/>
                </a:lnTo>
                <a:lnTo>
                  <a:pt x="0" y="33003"/>
                </a:lnTo>
                <a:close/>
              </a:path>
            </a:pathLst>
          </a:custGeom>
          <a:ln w="38100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297480" y="3429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04229" y="7769"/>
                </a:lnTo>
                <a:lnTo>
                  <a:pt x="62394" y="29404"/>
                </a:lnTo>
                <a:lnTo>
                  <a:pt x="29404" y="62394"/>
                </a:lnTo>
                <a:lnTo>
                  <a:pt x="7769" y="104229"/>
                </a:lnTo>
                <a:lnTo>
                  <a:pt x="0" y="152400"/>
                </a:lnTo>
                <a:lnTo>
                  <a:pt x="7769" y="200570"/>
                </a:lnTo>
                <a:lnTo>
                  <a:pt x="29404" y="242405"/>
                </a:lnTo>
                <a:lnTo>
                  <a:pt x="62394" y="275395"/>
                </a:lnTo>
                <a:lnTo>
                  <a:pt x="104229" y="297030"/>
                </a:lnTo>
                <a:lnTo>
                  <a:pt x="152400" y="304800"/>
                </a:lnTo>
                <a:lnTo>
                  <a:pt x="200570" y="297030"/>
                </a:lnTo>
                <a:lnTo>
                  <a:pt x="242405" y="275395"/>
                </a:lnTo>
                <a:lnTo>
                  <a:pt x="275395" y="242405"/>
                </a:lnTo>
                <a:lnTo>
                  <a:pt x="297030" y="200570"/>
                </a:lnTo>
                <a:lnTo>
                  <a:pt x="304800" y="152400"/>
                </a:lnTo>
                <a:lnTo>
                  <a:pt x="297030" y="104229"/>
                </a:lnTo>
                <a:lnTo>
                  <a:pt x="275395" y="62394"/>
                </a:lnTo>
                <a:lnTo>
                  <a:pt x="242405" y="29404"/>
                </a:lnTo>
                <a:lnTo>
                  <a:pt x="200570" y="7769"/>
                </a:lnTo>
                <a:lnTo>
                  <a:pt x="15240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297480" y="3429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152400"/>
                </a:moveTo>
                <a:lnTo>
                  <a:pt x="7769" y="104229"/>
                </a:lnTo>
                <a:lnTo>
                  <a:pt x="29404" y="62394"/>
                </a:lnTo>
                <a:lnTo>
                  <a:pt x="62394" y="29404"/>
                </a:lnTo>
                <a:lnTo>
                  <a:pt x="104229" y="7769"/>
                </a:lnTo>
                <a:lnTo>
                  <a:pt x="152400" y="0"/>
                </a:lnTo>
                <a:lnTo>
                  <a:pt x="200570" y="7769"/>
                </a:lnTo>
                <a:lnTo>
                  <a:pt x="242405" y="29404"/>
                </a:lnTo>
                <a:lnTo>
                  <a:pt x="275395" y="62394"/>
                </a:lnTo>
                <a:lnTo>
                  <a:pt x="297030" y="104229"/>
                </a:lnTo>
                <a:lnTo>
                  <a:pt x="304800" y="152400"/>
                </a:lnTo>
                <a:lnTo>
                  <a:pt x="297030" y="200570"/>
                </a:lnTo>
                <a:lnTo>
                  <a:pt x="275395" y="242405"/>
                </a:lnTo>
                <a:lnTo>
                  <a:pt x="242405" y="275395"/>
                </a:lnTo>
                <a:lnTo>
                  <a:pt x="200570" y="297030"/>
                </a:lnTo>
                <a:lnTo>
                  <a:pt x="152400" y="304800"/>
                </a:lnTo>
                <a:lnTo>
                  <a:pt x="104229" y="297030"/>
                </a:lnTo>
                <a:lnTo>
                  <a:pt x="62394" y="275395"/>
                </a:lnTo>
                <a:lnTo>
                  <a:pt x="29404" y="242405"/>
                </a:lnTo>
                <a:lnTo>
                  <a:pt x="7769" y="200570"/>
                </a:lnTo>
                <a:lnTo>
                  <a:pt x="0" y="152400"/>
                </a:lnTo>
                <a:close/>
              </a:path>
            </a:pathLst>
          </a:custGeom>
          <a:ln w="381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268173" y="4126522"/>
            <a:ext cx="363855" cy="198120"/>
          </a:xfrm>
          <a:custGeom>
            <a:avLst/>
            <a:gdLst/>
            <a:ahLst/>
            <a:cxnLst/>
            <a:rect l="l" t="t" r="r" b="b"/>
            <a:pathLst>
              <a:path w="363854" h="198120">
                <a:moveTo>
                  <a:pt x="330412" y="0"/>
                </a:moveTo>
                <a:lnTo>
                  <a:pt x="33003" y="0"/>
                </a:lnTo>
                <a:lnTo>
                  <a:pt x="20157" y="2593"/>
                </a:lnTo>
                <a:lnTo>
                  <a:pt x="9666" y="9666"/>
                </a:lnTo>
                <a:lnTo>
                  <a:pt x="2593" y="20157"/>
                </a:lnTo>
                <a:lnTo>
                  <a:pt x="0" y="33003"/>
                </a:lnTo>
                <a:lnTo>
                  <a:pt x="0" y="165013"/>
                </a:lnTo>
                <a:lnTo>
                  <a:pt x="2593" y="177859"/>
                </a:lnTo>
                <a:lnTo>
                  <a:pt x="9666" y="188350"/>
                </a:lnTo>
                <a:lnTo>
                  <a:pt x="20157" y="195423"/>
                </a:lnTo>
                <a:lnTo>
                  <a:pt x="33003" y="198017"/>
                </a:lnTo>
                <a:lnTo>
                  <a:pt x="330412" y="198017"/>
                </a:lnTo>
                <a:lnTo>
                  <a:pt x="343258" y="195423"/>
                </a:lnTo>
                <a:lnTo>
                  <a:pt x="353748" y="188350"/>
                </a:lnTo>
                <a:lnTo>
                  <a:pt x="360821" y="177859"/>
                </a:lnTo>
                <a:lnTo>
                  <a:pt x="363415" y="165013"/>
                </a:lnTo>
                <a:lnTo>
                  <a:pt x="363415" y="33003"/>
                </a:lnTo>
                <a:lnTo>
                  <a:pt x="360821" y="20157"/>
                </a:lnTo>
                <a:lnTo>
                  <a:pt x="353748" y="9666"/>
                </a:lnTo>
                <a:lnTo>
                  <a:pt x="343258" y="2593"/>
                </a:lnTo>
                <a:lnTo>
                  <a:pt x="330412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268173" y="4126522"/>
            <a:ext cx="363855" cy="198120"/>
          </a:xfrm>
          <a:custGeom>
            <a:avLst/>
            <a:gdLst/>
            <a:ahLst/>
            <a:cxnLst/>
            <a:rect l="l" t="t" r="r" b="b"/>
            <a:pathLst>
              <a:path w="363854" h="198120">
                <a:moveTo>
                  <a:pt x="0" y="33003"/>
                </a:moveTo>
                <a:lnTo>
                  <a:pt x="2593" y="20157"/>
                </a:lnTo>
                <a:lnTo>
                  <a:pt x="9666" y="9666"/>
                </a:lnTo>
                <a:lnTo>
                  <a:pt x="20157" y="2593"/>
                </a:lnTo>
                <a:lnTo>
                  <a:pt x="33003" y="0"/>
                </a:lnTo>
                <a:lnTo>
                  <a:pt x="330411" y="0"/>
                </a:lnTo>
                <a:lnTo>
                  <a:pt x="343258" y="2593"/>
                </a:lnTo>
                <a:lnTo>
                  <a:pt x="353748" y="9666"/>
                </a:lnTo>
                <a:lnTo>
                  <a:pt x="360821" y="20157"/>
                </a:lnTo>
                <a:lnTo>
                  <a:pt x="363415" y="33003"/>
                </a:lnTo>
                <a:lnTo>
                  <a:pt x="363415" y="165013"/>
                </a:lnTo>
                <a:lnTo>
                  <a:pt x="360821" y="177859"/>
                </a:lnTo>
                <a:lnTo>
                  <a:pt x="353748" y="188350"/>
                </a:lnTo>
                <a:lnTo>
                  <a:pt x="343258" y="195423"/>
                </a:lnTo>
                <a:lnTo>
                  <a:pt x="330411" y="198017"/>
                </a:lnTo>
                <a:lnTo>
                  <a:pt x="33003" y="198017"/>
                </a:lnTo>
                <a:lnTo>
                  <a:pt x="20157" y="195423"/>
                </a:lnTo>
                <a:lnTo>
                  <a:pt x="9666" y="188350"/>
                </a:lnTo>
                <a:lnTo>
                  <a:pt x="2593" y="177859"/>
                </a:lnTo>
                <a:lnTo>
                  <a:pt x="0" y="165013"/>
                </a:lnTo>
                <a:lnTo>
                  <a:pt x="0" y="33003"/>
                </a:lnTo>
                <a:close/>
              </a:path>
            </a:pathLst>
          </a:custGeom>
          <a:ln w="38100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407018" y="3733800"/>
            <a:ext cx="85725" cy="407034"/>
          </a:xfrm>
          <a:custGeom>
            <a:avLst/>
            <a:gdLst/>
            <a:ahLst/>
            <a:cxnLst/>
            <a:rect l="l" t="t" r="r" b="b"/>
            <a:pathLst>
              <a:path w="85725" h="407035">
                <a:moveTo>
                  <a:pt x="50753" y="57150"/>
                </a:moveTo>
                <a:lnTo>
                  <a:pt x="34971" y="57150"/>
                </a:lnTo>
                <a:lnTo>
                  <a:pt x="28575" y="63546"/>
                </a:lnTo>
                <a:lnTo>
                  <a:pt x="28576" y="400612"/>
                </a:lnTo>
                <a:lnTo>
                  <a:pt x="34973" y="407009"/>
                </a:lnTo>
                <a:lnTo>
                  <a:pt x="50754" y="407009"/>
                </a:lnTo>
                <a:lnTo>
                  <a:pt x="57151" y="400612"/>
                </a:lnTo>
                <a:lnTo>
                  <a:pt x="57150" y="63546"/>
                </a:lnTo>
                <a:lnTo>
                  <a:pt x="50753" y="57150"/>
                </a:lnTo>
                <a:close/>
              </a:path>
              <a:path w="85725" h="407035">
                <a:moveTo>
                  <a:pt x="42862" y="0"/>
                </a:moveTo>
                <a:lnTo>
                  <a:pt x="0" y="85725"/>
                </a:lnTo>
                <a:lnTo>
                  <a:pt x="28575" y="85725"/>
                </a:lnTo>
                <a:lnTo>
                  <a:pt x="28575" y="63546"/>
                </a:lnTo>
                <a:lnTo>
                  <a:pt x="34971" y="57150"/>
                </a:lnTo>
                <a:lnTo>
                  <a:pt x="71437" y="57150"/>
                </a:lnTo>
                <a:lnTo>
                  <a:pt x="42862" y="0"/>
                </a:lnTo>
                <a:close/>
              </a:path>
              <a:path w="85725" h="407035">
                <a:moveTo>
                  <a:pt x="71437" y="57150"/>
                </a:moveTo>
                <a:lnTo>
                  <a:pt x="50753" y="57150"/>
                </a:lnTo>
                <a:lnTo>
                  <a:pt x="57150" y="63546"/>
                </a:lnTo>
                <a:lnTo>
                  <a:pt x="57150" y="85725"/>
                </a:lnTo>
                <a:lnTo>
                  <a:pt x="85725" y="85725"/>
                </a:lnTo>
                <a:lnTo>
                  <a:pt x="71437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318964" y="3733800"/>
            <a:ext cx="85725" cy="407670"/>
          </a:xfrm>
          <a:custGeom>
            <a:avLst/>
            <a:gdLst/>
            <a:ahLst/>
            <a:cxnLst/>
            <a:rect l="l" t="t" r="r" b="b"/>
            <a:pathLst>
              <a:path w="85725" h="407670">
                <a:moveTo>
                  <a:pt x="57150" y="85661"/>
                </a:moveTo>
                <a:lnTo>
                  <a:pt x="28574" y="85786"/>
                </a:lnTo>
                <a:lnTo>
                  <a:pt x="29956" y="400674"/>
                </a:lnTo>
                <a:lnTo>
                  <a:pt x="36381" y="407043"/>
                </a:lnTo>
                <a:lnTo>
                  <a:pt x="52162" y="406974"/>
                </a:lnTo>
                <a:lnTo>
                  <a:pt x="58531" y="400550"/>
                </a:lnTo>
                <a:lnTo>
                  <a:pt x="57150" y="85661"/>
                </a:lnTo>
                <a:close/>
              </a:path>
              <a:path w="85725" h="407670">
                <a:moveTo>
                  <a:pt x="42486" y="0"/>
                </a:moveTo>
                <a:lnTo>
                  <a:pt x="0" y="85911"/>
                </a:lnTo>
                <a:lnTo>
                  <a:pt x="28574" y="85786"/>
                </a:lnTo>
                <a:lnTo>
                  <a:pt x="28601" y="63483"/>
                </a:lnTo>
                <a:lnTo>
                  <a:pt x="34846" y="57184"/>
                </a:lnTo>
                <a:lnTo>
                  <a:pt x="71357" y="57114"/>
                </a:lnTo>
                <a:lnTo>
                  <a:pt x="42486" y="0"/>
                </a:lnTo>
                <a:close/>
              </a:path>
              <a:path w="85725" h="407670">
                <a:moveTo>
                  <a:pt x="50627" y="57114"/>
                </a:moveTo>
                <a:lnTo>
                  <a:pt x="34846" y="57184"/>
                </a:lnTo>
                <a:lnTo>
                  <a:pt x="28601" y="63483"/>
                </a:lnTo>
                <a:lnTo>
                  <a:pt x="28574" y="85786"/>
                </a:lnTo>
                <a:lnTo>
                  <a:pt x="57150" y="85661"/>
                </a:lnTo>
                <a:lnTo>
                  <a:pt x="57052" y="63483"/>
                </a:lnTo>
                <a:lnTo>
                  <a:pt x="50627" y="57114"/>
                </a:lnTo>
                <a:close/>
              </a:path>
              <a:path w="85725" h="407670">
                <a:moveTo>
                  <a:pt x="71357" y="57114"/>
                </a:moveTo>
                <a:lnTo>
                  <a:pt x="50627" y="57114"/>
                </a:lnTo>
                <a:lnTo>
                  <a:pt x="57052" y="63483"/>
                </a:lnTo>
                <a:lnTo>
                  <a:pt x="57150" y="85661"/>
                </a:lnTo>
                <a:lnTo>
                  <a:pt x="85725" y="85535"/>
                </a:lnTo>
                <a:lnTo>
                  <a:pt x="71357" y="571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042195" y="4324539"/>
            <a:ext cx="321310" cy="427990"/>
          </a:xfrm>
          <a:custGeom>
            <a:avLst/>
            <a:gdLst/>
            <a:ahLst/>
            <a:cxnLst/>
            <a:rect l="l" t="t" r="r" b="b"/>
            <a:pathLst>
              <a:path w="321310" h="427989">
                <a:moveTo>
                  <a:pt x="258479" y="60387"/>
                </a:moveTo>
                <a:lnTo>
                  <a:pt x="0" y="409422"/>
                </a:lnTo>
                <a:lnTo>
                  <a:pt x="1333" y="418369"/>
                </a:lnTo>
                <a:lnTo>
                  <a:pt x="14015" y="427761"/>
                </a:lnTo>
                <a:lnTo>
                  <a:pt x="22964" y="426427"/>
                </a:lnTo>
                <a:lnTo>
                  <a:pt x="281442" y="77393"/>
                </a:lnTo>
                <a:lnTo>
                  <a:pt x="258479" y="60387"/>
                </a:lnTo>
                <a:close/>
              </a:path>
              <a:path w="321310" h="427989">
                <a:moveTo>
                  <a:pt x="313740" y="41230"/>
                </a:moveTo>
                <a:lnTo>
                  <a:pt x="280625" y="41230"/>
                </a:lnTo>
                <a:lnTo>
                  <a:pt x="293307" y="50623"/>
                </a:lnTo>
                <a:lnTo>
                  <a:pt x="294641" y="59570"/>
                </a:lnTo>
                <a:lnTo>
                  <a:pt x="281442" y="77393"/>
                </a:lnTo>
                <a:lnTo>
                  <a:pt x="304406" y="94399"/>
                </a:lnTo>
                <a:lnTo>
                  <a:pt x="313740" y="41230"/>
                </a:lnTo>
                <a:close/>
              </a:path>
              <a:path w="321310" h="427989">
                <a:moveTo>
                  <a:pt x="280625" y="41230"/>
                </a:moveTo>
                <a:lnTo>
                  <a:pt x="271677" y="42565"/>
                </a:lnTo>
                <a:lnTo>
                  <a:pt x="258479" y="60387"/>
                </a:lnTo>
                <a:lnTo>
                  <a:pt x="281442" y="77393"/>
                </a:lnTo>
                <a:lnTo>
                  <a:pt x="294641" y="59570"/>
                </a:lnTo>
                <a:lnTo>
                  <a:pt x="293307" y="50623"/>
                </a:lnTo>
                <a:lnTo>
                  <a:pt x="280625" y="41230"/>
                </a:lnTo>
                <a:close/>
              </a:path>
              <a:path w="321310" h="427989">
                <a:moveTo>
                  <a:pt x="320978" y="0"/>
                </a:moveTo>
                <a:lnTo>
                  <a:pt x="235515" y="43381"/>
                </a:lnTo>
                <a:lnTo>
                  <a:pt x="258479" y="60387"/>
                </a:lnTo>
                <a:lnTo>
                  <a:pt x="271677" y="42565"/>
                </a:lnTo>
                <a:lnTo>
                  <a:pt x="280625" y="41230"/>
                </a:lnTo>
                <a:lnTo>
                  <a:pt x="313740" y="41230"/>
                </a:lnTo>
                <a:lnTo>
                  <a:pt x="3209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363174" y="4324539"/>
            <a:ext cx="240665" cy="423545"/>
          </a:xfrm>
          <a:custGeom>
            <a:avLst/>
            <a:gdLst/>
            <a:ahLst/>
            <a:cxnLst/>
            <a:rect l="l" t="t" r="r" b="b"/>
            <a:pathLst>
              <a:path w="240664" h="423545">
                <a:moveTo>
                  <a:pt x="53875" y="68192"/>
                </a:moveTo>
                <a:lnTo>
                  <a:pt x="28846" y="81979"/>
                </a:lnTo>
                <a:lnTo>
                  <a:pt x="215428" y="420698"/>
                </a:lnTo>
                <a:lnTo>
                  <a:pt x="224118" y="423214"/>
                </a:lnTo>
                <a:lnTo>
                  <a:pt x="237942" y="415601"/>
                </a:lnTo>
                <a:lnTo>
                  <a:pt x="240457" y="406911"/>
                </a:lnTo>
                <a:lnTo>
                  <a:pt x="53875" y="68192"/>
                </a:lnTo>
                <a:close/>
              </a:path>
              <a:path w="240664" h="423545">
                <a:moveTo>
                  <a:pt x="0" y="0"/>
                </a:moveTo>
                <a:lnTo>
                  <a:pt x="3817" y="95766"/>
                </a:lnTo>
                <a:lnTo>
                  <a:pt x="28846" y="81979"/>
                </a:lnTo>
                <a:lnTo>
                  <a:pt x="18145" y="62553"/>
                </a:lnTo>
                <a:lnTo>
                  <a:pt x="20661" y="53864"/>
                </a:lnTo>
                <a:lnTo>
                  <a:pt x="34485" y="46250"/>
                </a:lnTo>
                <a:lnTo>
                  <a:pt x="67077" y="46250"/>
                </a:lnTo>
                <a:lnTo>
                  <a:pt x="0" y="0"/>
                </a:lnTo>
                <a:close/>
              </a:path>
              <a:path w="240664" h="423545">
                <a:moveTo>
                  <a:pt x="34485" y="46250"/>
                </a:moveTo>
                <a:lnTo>
                  <a:pt x="20661" y="53864"/>
                </a:lnTo>
                <a:lnTo>
                  <a:pt x="18145" y="62553"/>
                </a:lnTo>
                <a:lnTo>
                  <a:pt x="28846" y="81979"/>
                </a:lnTo>
                <a:lnTo>
                  <a:pt x="53875" y="68192"/>
                </a:lnTo>
                <a:lnTo>
                  <a:pt x="43174" y="48766"/>
                </a:lnTo>
                <a:lnTo>
                  <a:pt x="34485" y="46250"/>
                </a:lnTo>
                <a:close/>
              </a:path>
              <a:path w="240664" h="423545">
                <a:moveTo>
                  <a:pt x="67077" y="46250"/>
                </a:moveTo>
                <a:lnTo>
                  <a:pt x="34485" y="46250"/>
                </a:lnTo>
                <a:lnTo>
                  <a:pt x="43174" y="48766"/>
                </a:lnTo>
                <a:lnTo>
                  <a:pt x="53875" y="68192"/>
                </a:lnTo>
                <a:lnTo>
                  <a:pt x="78903" y="54405"/>
                </a:lnTo>
                <a:lnTo>
                  <a:pt x="67077" y="46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994280" y="4324539"/>
            <a:ext cx="455930" cy="392430"/>
          </a:xfrm>
          <a:custGeom>
            <a:avLst/>
            <a:gdLst/>
            <a:ahLst/>
            <a:cxnLst/>
            <a:rect l="l" t="t" r="r" b="b"/>
            <a:pathLst>
              <a:path w="455929" h="392429">
                <a:moveTo>
                  <a:pt x="381170" y="44865"/>
                </a:moveTo>
                <a:lnTo>
                  <a:pt x="702" y="370316"/>
                </a:lnTo>
                <a:lnTo>
                  <a:pt x="0" y="379335"/>
                </a:lnTo>
                <a:lnTo>
                  <a:pt x="10257" y="391327"/>
                </a:lnTo>
                <a:lnTo>
                  <a:pt x="19277" y="392031"/>
                </a:lnTo>
                <a:lnTo>
                  <a:pt x="399744" y="66580"/>
                </a:lnTo>
                <a:lnTo>
                  <a:pt x="381170" y="44865"/>
                </a:lnTo>
                <a:close/>
              </a:path>
              <a:path w="455929" h="392429">
                <a:moveTo>
                  <a:pt x="442743" y="30449"/>
                </a:moveTo>
                <a:lnTo>
                  <a:pt x="398024" y="30449"/>
                </a:lnTo>
                <a:lnTo>
                  <a:pt x="407042" y="31151"/>
                </a:lnTo>
                <a:lnTo>
                  <a:pt x="417301" y="43144"/>
                </a:lnTo>
                <a:lnTo>
                  <a:pt x="416598" y="52163"/>
                </a:lnTo>
                <a:lnTo>
                  <a:pt x="399744" y="66580"/>
                </a:lnTo>
                <a:lnTo>
                  <a:pt x="418318" y="88295"/>
                </a:lnTo>
                <a:lnTo>
                  <a:pt x="442743" y="30449"/>
                </a:lnTo>
                <a:close/>
              </a:path>
              <a:path w="455929" h="392429">
                <a:moveTo>
                  <a:pt x="398024" y="30449"/>
                </a:moveTo>
                <a:lnTo>
                  <a:pt x="381170" y="44865"/>
                </a:lnTo>
                <a:lnTo>
                  <a:pt x="399744" y="66580"/>
                </a:lnTo>
                <a:lnTo>
                  <a:pt x="416598" y="52163"/>
                </a:lnTo>
                <a:lnTo>
                  <a:pt x="417301" y="43144"/>
                </a:lnTo>
                <a:lnTo>
                  <a:pt x="407042" y="31151"/>
                </a:lnTo>
                <a:lnTo>
                  <a:pt x="398024" y="30449"/>
                </a:lnTo>
                <a:close/>
              </a:path>
              <a:path w="455929" h="392429">
                <a:moveTo>
                  <a:pt x="455601" y="0"/>
                </a:moveTo>
                <a:lnTo>
                  <a:pt x="362596" y="23150"/>
                </a:lnTo>
                <a:lnTo>
                  <a:pt x="381170" y="44865"/>
                </a:lnTo>
                <a:lnTo>
                  <a:pt x="398024" y="30449"/>
                </a:lnTo>
                <a:lnTo>
                  <a:pt x="442743" y="30449"/>
                </a:lnTo>
                <a:lnTo>
                  <a:pt x="4556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403863" y="4324539"/>
            <a:ext cx="85725" cy="391160"/>
          </a:xfrm>
          <a:custGeom>
            <a:avLst/>
            <a:gdLst/>
            <a:ahLst/>
            <a:cxnLst/>
            <a:rect l="l" t="t" r="r" b="b"/>
            <a:pathLst>
              <a:path w="85725" h="391160">
                <a:moveTo>
                  <a:pt x="28554" y="85135"/>
                </a:moveTo>
                <a:lnTo>
                  <a:pt x="17468" y="383399"/>
                </a:lnTo>
                <a:lnTo>
                  <a:pt x="23623" y="390029"/>
                </a:lnTo>
                <a:lnTo>
                  <a:pt x="39394" y="390615"/>
                </a:lnTo>
                <a:lnTo>
                  <a:pt x="46023" y="384460"/>
                </a:lnTo>
                <a:lnTo>
                  <a:pt x="57110" y="86196"/>
                </a:lnTo>
                <a:lnTo>
                  <a:pt x="28554" y="85135"/>
                </a:lnTo>
                <a:close/>
              </a:path>
              <a:path w="85725" h="391160">
                <a:moveTo>
                  <a:pt x="71834" y="56817"/>
                </a:moveTo>
                <a:lnTo>
                  <a:pt x="36009" y="56817"/>
                </a:lnTo>
                <a:lnTo>
                  <a:pt x="51779" y="57403"/>
                </a:lnTo>
                <a:lnTo>
                  <a:pt x="57934" y="64033"/>
                </a:lnTo>
                <a:lnTo>
                  <a:pt x="57110" y="86196"/>
                </a:lnTo>
                <a:lnTo>
                  <a:pt x="85666" y="87257"/>
                </a:lnTo>
                <a:lnTo>
                  <a:pt x="71834" y="56817"/>
                </a:lnTo>
                <a:close/>
              </a:path>
              <a:path w="85725" h="391160">
                <a:moveTo>
                  <a:pt x="36009" y="56817"/>
                </a:moveTo>
                <a:lnTo>
                  <a:pt x="29378" y="62971"/>
                </a:lnTo>
                <a:lnTo>
                  <a:pt x="28554" y="85135"/>
                </a:lnTo>
                <a:lnTo>
                  <a:pt x="57110" y="86196"/>
                </a:lnTo>
                <a:lnTo>
                  <a:pt x="57934" y="64033"/>
                </a:lnTo>
                <a:lnTo>
                  <a:pt x="51779" y="57403"/>
                </a:lnTo>
                <a:lnTo>
                  <a:pt x="36009" y="56817"/>
                </a:lnTo>
                <a:close/>
              </a:path>
              <a:path w="85725" h="391160">
                <a:moveTo>
                  <a:pt x="46017" y="0"/>
                </a:moveTo>
                <a:lnTo>
                  <a:pt x="0" y="84073"/>
                </a:lnTo>
                <a:lnTo>
                  <a:pt x="28554" y="85135"/>
                </a:lnTo>
                <a:lnTo>
                  <a:pt x="29378" y="62971"/>
                </a:lnTo>
                <a:lnTo>
                  <a:pt x="36009" y="56817"/>
                </a:lnTo>
                <a:lnTo>
                  <a:pt x="71834" y="56817"/>
                </a:lnTo>
                <a:lnTo>
                  <a:pt x="4601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449880" y="4324539"/>
            <a:ext cx="417195" cy="392430"/>
          </a:xfrm>
          <a:custGeom>
            <a:avLst/>
            <a:gdLst/>
            <a:ahLst/>
            <a:cxnLst/>
            <a:rect l="l" t="t" r="r" b="b"/>
            <a:pathLst>
              <a:path w="417195" h="392429">
                <a:moveTo>
                  <a:pt x="72311" y="48207"/>
                </a:moveTo>
                <a:lnTo>
                  <a:pt x="52767" y="69054"/>
                </a:lnTo>
                <a:lnTo>
                  <a:pt x="397097" y="391864"/>
                </a:lnTo>
                <a:lnTo>
                  <a:pt x="406138" y="391572"/>
                </a:lnTo>
                <a:lnTo>
                  <a:pt x="416932" y="380060"/>
                </a:lnTo>
                <a:lnTo>
                  <a:pt x="416640" y="371017"/>
                </a:lnTo>
                <a:lnTo>
                  <a:pt x="72311" y="48207"/>
                </a:lnTo>
                <a:close/>
              </a:path>
              <a:path w="417195" h="392429">
                <a:moveTo>
                  <a:pt x="0" y="0"/>
                </a:moveTo>
                <a:lnTo>
                  <a:pt x="33224" y="89900"/>
                </a:lnTo>
                <a:lnTo>
                  <a:pt x="52767" y="69054"/>
                </a:lnTo>
                <a:lnTo>
                  <a:pt x="36587" y="53886"/>
                </a:lnTo>
                <a:lnTo>
                  <a:pt x="36296" y="44843"/>
                </a:lnTo>
                <a:lnTo>
                  <a:pt x="47090" y="33331"/>
                </a:lnTo>
                <a:lnTo>
                  <a:pt x="56131" y="33039"/>
                </a:lnTo>
                <a:lnTo>
                  <a:pt x="86532" y="33039"/>
                </a:lnTo>
                <a:lnTo>
                  <a:pt x="91855" y="27360"/>
                </a:lnTo>
                <a:lnTo>
                  <a:pt x="0" y="0"/>
                </a:lnTo>
                <a:close/>
              </a:path>
              <a:path w="417195" h="392429">
                <a:moveTo>
                  <a:pt x="56131" y="33039"/>
                </a:moveTo>
                <a:lnTo>
                  <a:pt x="47090" y="33331"/>
                </a:lnTo>
                <a:lnTo>
                  <a:pt x="36296" y="44843"/>
                </a:lnTo>
                <a:lnTo>
                  <a:pt x="36587" y="53886"/>
                </a:lnTo>
                <a:lnTo>
                  <a:pt x="52767" y="69054"/>
                </a:lnTo>
                <a:lnTo>
                  <a:pt x="72311" y="48207"/>
                </a:lnTo>
                <a:lnTo>
                  <a:pt x="56131" y="33039"/>
                </a:lnTo>
                <a:close/>
              </a:path>
              <a:path w="417195" h="392429">
                <a:moveTo>
                  <a:pt x="86532" y="33039"/>
                </a:moveTo>
                <a:lnTo>
                  <a:pt x="56131" y="33039"/>
                </a:lnTo>
                <a:lnTo>
                  <a:pt x="72311" y="48207"/>
                </a:lnTo>
                <a:lnTo>
                  <a:pt x="86532" y="330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881400" y="5056725"/>
            <a:ext cx="334645" cy="869315"/>
          </a:xfrm>
          <a:custGeom>
            <a:avLst/>
            <a:gdLst/>
            <a:ahLst/>
            <a:cxnLst/>
            <a:rect l="l" t="t" r="r" b="b"/>
            <a:pathLst>
              <a:path w="334645" h="869314">
                <a:moveTo>
                  <a:pt x="167053" y="0"/>
                </a:moveTo>
                <a:lnTo>
                  <a:pt x="0" y="868725"/>
                </a:lnTo>
                <a:lnTo>
                  <a:pt x="334107" y="868725"/>
                </a:lnTo>
                <a:lnTo>
                  <a:pt x="167053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881400" y="5056725"/>
            <a:ext cx="334645" cy="869315"/>
          </a:xfrm>
          <a:custGeom>
            <a:avLst/>
            <a:gdLst/>
            <a:ahLst/>
            <a:cxnLst/>
            <a:rect l="l" t="t" r="r" b="b"/>
            <a:pathLst>
              <a:path w="334645" h="869314">
                <a:moveTo>
                  <a:pt x="0" y="868726"/>
                </a:moveTo>
                <a:lnTo>
                  <a:pt x="167054" y="0"/>
                </a:lnTo>
                <a:lnTo>
                  <a:pt x="334108" y="868726"/>
                </a:lnTo>
                <a:lnTo>
                  <a:pt x="0" y="868726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5420257" y="5066712"/>
            <a:ext cx="334645" cy="869315"/>
          </a:xfrm>
          <a:custGeom>
            <a:avLst/>
            <a:gdLst/>
            <a:ahLst/>
            <a:cxnLst/>
            <a:rect l="l" t="t" r="r" b="b"/>
            <a:pathLst>
              <a:path w="334645" h="869314">
                <a:moveTo>
                  <a:pt x="167053" y="0"/>
                </a:moveTo>
                <a:lnTo>
                  <a:pt x="0" y="868725"/>
                </a:lnTo>
                <a:lnTo>
                  <a:pt x="334107" y="868725"/>
                </a:lnTo>
                <a:lnTo>
                  <a:pt x="167053" y="0"/>
                </a:lnTo>
                <a:close/>
              </a:path>
            </a:pathLst>
          </a:custGeom>
          <a:solidFill>
            <a:srgbClr val="B482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5420257" y="5066712"/>
            <a:ext cx="334645" cy="869315"/>
          </a:xfrm>
          <a:custGeom>
            <a:avLst/>
            <a:gdLst/>
            <a:ahLst/>
            <a:cxnLst/>
            <a:rect l="l" t="t" r="r" b="b"/>
            <a:pathLst>
              <a:path w="334645" h="869314">
                <a:moveTo>
                  <a:pt x="0" y="868726"/>
                </a:moveTo>
                <a:lnTo>
                  <a:pt x="167054" y="0"/>
                </a:lnTo>
                <a:lnTo>
                  <a:pt x="334108" y="868726"/>
                </a:lnTo>
                <a:lnTo>
                  <a:pt x="0" y="868726"/>
                </a:lnTo>
                <a:close/>
              </a:path>
            </a:pathLst>
          </a:custGeom>
          <a:ln w="38100">
            <a:solidFill>
              <a:srgbClr val="B482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839105" y="5040922"/>
            <a:ext cx="334645" cy="869315"/>
          </a:xfrm>
          <a:custGeom>
            <a:avLst/>
            <a:gdLst/>
            <a:ahLst/>
            <a:cxnLst/>
            <a:rect l="l" t="t" r="r" b="b"/>
            <a:pathLst>
              <a:path w="334645" h="869314">
                <a:moveTo>
                  <a:pt x="167053" y="0"/>
                </a:moveTo>
                <a:lnTo>
                  <a:pt x="0" y="868726"/>
                </a:lnTo>
                <a:lnTo>
                  <a:pt x="334107" y="868726"/>
                </a:lnTo>
                <a:lnTo>
                  <a:pt x="167053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6839105" y="5040922"/>
            <a:ext cx="334645" cy="869315"/>
          </a:xfrm>
          <a:custGeom>
            <a:avLst/>
            <a:gdLst/>
            <a:ahLst/>
            <a:cxnLst/>
            <a:rect l="l" t="t" r="r" b="b"/>
            <a:pathLst>
              <a:path w="334645" h="869314">
                <a:moveTo>
                  <a:pt x="0" y="868726"/>
                </a:moveTo>
                <a:lnTo>
                  <a:pt x="167054" y="0"/>
                </a:lnTo>
                <a:lnTo>
                  <a:pt x="334108" y="868726"/>
                </a:lnTo>
                <a:lnTo>
                  <a:pt x="0" y="868726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7696065" y="5027462"/>
            <a:ext cx="334645" cy="869315"/>
          </a:xfrm>
          <a:custGeom>
            <a:avLst/>
            <a:gdLst/>
            <a:ahLst/>
            <a:cxnLst/>
            <a:rect l="l" t="t" r="r" b="b"/>
            <a:pathLst>
              <a:path w="334645" h="869314">
                <a:moveTo>
                  <a:pt x="167054" y="0"/>
                </a:moveTo>
                <a:lnTo>
                  <a:pt x="0" y="868726"/>
                </a:lnTo>
                <a:lnTo>
                  <a:pt x="334109" y="868726"/>
                </a:lnTo>
                <a:lnTo>
                  <a:pt x="167054" y="0"/>
                </a:lnTo>
                <a:close/>
              </a:path>
            </a:pathLst>
          </a:custGeom>
          <a:solidFill>
            <a:srgbClr val="CF5B1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696065" y="5027462"/>
            <a:ext cx="334645" cy="869315"/>
          </a:xfrm>
          <a:custGeom>
            <a:avLst/>
            <a:gdLst/>
            <a:ahLst/>
            <a:cxnLst/>
            <a:rect l="l" t="t" r="r" b="b"/>
            <a:pathLst>
              <a:path w="334645" h="869314">
                <a:moveTo>
                  <a:pt x="0" y="868726"/>
                </a:moveTo>
                <a:lnTo>
                  <a:pt x="167054" y="0"/>
                </a:lnTo>
                <a:lnTo>
                  <a:pt x="334108" y="868726"/>
                </a:lnTo>
                <a:lnTo>
                  <a:pt x="0" y="868726"/>
                </a:lnTo>
                <a:close/>
              </a:path>
            </a:pathLst>
          </a:custGeom>
          <a:ln w="38100">
            <a:solidFill>
              <a:srgbClr val="CF5B1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7275837" y="5035862"/>
            <a:ext cx="334645" cy="869315"/>
          </a:xfrm>
          <a:custGeom>
            <a:avLst/>
            <a:gdLst/>
            <a:ahLst/>
            <a:cxnLst/>
            <a:rect l="l" t="t" r="r" b="b"/>
            <a:pathLst>
              <a:path w="334645" h="869314">
                <a:moveTo>
                  <a:pt x="167054" y="0"/>
                </a:moveTo>
                <a:lnTo>
                  <a:pt x="0" y="868726"/>
                </a:lnTo>
                <a:lnTo>
                  <a:pt x="334107" y="868726"/>
                </a:lnTo>
                <a:lnTo>
                  <a:pt x="167054" y="0"/>
                </a:lnTo>
                <a:close/>
              </a:path>
            </a:pathLst>
          </a:custGeom>
          <a:solidFill>
            <a:srgbClr val="B482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7275837" y="5035862"/>
            <a:ext cx="334645" cy="869315"/>
          </a:xfrm>
          <a:custGeom>
            <a:avLst/>
            <a:gdLst/>
            <a:ahLst/>
            <a:cxnLst/>
            <a:rect l="l" t="t" r="r" b="b"/>
            <a:pathLst>
              <a:path w="334645" h="869314">
                <a:moveTo>
                  <a:pt x="0" y="868726"/>
                </a:moveTo>
                <a:lnTo>
                  <a:pt x="167054" y="0"/>
                </a:lnTo>
                <a:lnTo>
                  <a:pt x="334108" y="868726"/>
                </a:lnTo>
                <a:lnTo>
                  <a:pt x="0" y="868726"/>
                </a:lnTo>
                <a:close/>
              </a:path>
            </a:pathLst>
          </a:custGeom>
          <a:ln w="38100">
            <a:solidFill>
              <a:srgbClr val="B482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4521652" y="5731798"/>
            <a:ext cx="2317750" cy="532130"/>
          </a:xfrm>
          <a:custGeom>
            <a:avLst/>
            <a:gdLst/>
            <a:ahLst/>
            <a:cxnLst/>
            <a:rect l="l" t="t" r="r" b="b"/>
            <a:pathLst>
              <a:path w="2317750" h="532129">
                <a:moveTo>
                  <a:pt x="2230634" y="27943"/>
                </a:moveTo>
                <a:lnTo>
                  <a:pt x="4918" y="503715"/>
                </a:lnTo>
                <a:lnTo>
                  <a:pt x="0" y="511307"/>
                </a:lnTo>
                <a:lnTo>
                  <a:pt x="3299" y="526740"/>
                </a:lnTo>
                <a:lnTo>
                  <a:pt x="10891" y="531659"/>
                </a:lnTo>
                <a:lnTo>
                  <a:pt x="2236608" y="55887"/>
                </a:lnTo>
                <a:lnTo>
                  <a:pt x="2230634" y="27943"/>
                </a:lnTo>
                <a:close/>
              </a:path>
              <a:path w="2317750" h="532129">
                <a:moveTo>
                  <a:pt x="2314792" y="23307"/>
                </a:moveTo>
                <a:lnTo>
                  <a:pt x="2252322" y="23307"/>
                </a:lnTo>
                <a:lnTo>
                  <a:pt x="2259915" y="28226"/>
                </a:lnTo>
                <a:lnTo>
                  <a:pt x="2263213" y="43658"/>
                </a:lnTo>
                <a:lnTo>
                  <a:pt x="2258296" y="51251"/>
                </a:lnTo>
                <a:lnTo>
                  <a:pt x="2236608" y="55887"/>
                </a:lnTo>
                <a:lnTo>
                  <a:pt x="2242581" y="83831"/>
                </a:lnTo>
                <a:lnTo>
                  <a:pt x="2317452" y="23995"/>
                </a:lnTo>
                <a:lnTo>
                  <a:pt x="2314792" y="23307"/>
                </a:lnTo>
                <a:close/>
              </a:path>
              <a:path w="2317750" h="532129">
                <a:moveTo>
                  <a:pt x="2252322" y="23307"/>
                </a:moveTo>
                <a:lnTo>
                  <a:pt x="2230634" y="27943"/>
                </a:lnTo>
                <a:lnTo>
                  <a:pt x="2236608" y="55887"/>
                </a:lnTo>
                <a:lnTo>
                  <a:pt x="2258296" y="51251"/>
                </a:lnTo>
                <a:lnTo>
                  <a:pt x="2263213" y="43658"/>
                </a:lnTo>
                <a:lnTo>
                  <a:pt x="2259915" y="28226"/>
                </a:lnTo>
                <a:lnTo>
                  <a:pt x="2252322" y="23307"/>
                </a:lnTo>
                <a:close/>
              </a:path>
              <a:path w="2317750" h="532129">
                <a:moveTo>
                  <a:pt x="2224661" y="0"/>
                </a:moveTo>
                <a:lnTo>
                  <a:pt x="2230634" y="27943"/>
                </a:lnTo>
                <a:lnTo>
                  <a:pt x="2252322" y="23307"/>
                </a:lnTo>
                <a:lnTo>
                  <a:pt x="2314792" y="23307"/>
                </a:lnTo>
                <a:lnTo>
                  <a:pt x="2224661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5754365" y="5739091"/>
            <a:ext cx="1424940" cy="523240"/>
          </a:xfrm>
          <a:custGeom>
            <a:avLst/>
            <a:gdLst/>
            <a:ahLst/>
            <a:cxnLst/>
            <a:rect l="l" t="t" r="r" b="b"/>
            <a:pathLst>
              <a:path w="1424940" h="523239">
                <a:moveTo>
                  <a:pt x="85612" y="26958"/>
                </a:moveTo>
                <a:lnTo>
                  <a:pt x="76138" y="53916"/>
                </a:lnTo>
                <a:lnTo>
                  <a:pt x="1411008" y="523058"/>
                </a:lnTo>
                <a:lnTo>
                  <a:pt x="1419164" y="519144"/>
                </a:lnTo>
                <a:lnTo>
                  <a:pt x="1424396" y="504255"/>
                </a:lnTo>
                <a:lnTo>
                  <a:pt x="1420482" y="496100"/>
                </a:lnTo>
                <a:lnTo>
                  <a:pt x="85612" y="26958"/>
                </a:lnTo>
                <a:close/>
              </a:path>
              <a:path w="1424940" h="523239">
                <a:moveTo>
                  <a:pt x="95087" y="0"/>
                </a:moveTo>
                <a:lnTo>
                  <a:pt x="0" y="12014"/>
                </a:lnTo>
                <a:lnTo>
                  <a:pt x="66663" y="80875"/>
                </a:lnTo>
                <a:lnTo>
                  <a:pt x="76138" y="53916"/>
                </a:lnTo>
                <a:lnTo>
                  <a:pt x="55214" y="46563"/>
                </a:lnTo>
                <a:lnTo>
                  <a:pt x="51300" y="38407"/>
                </a:lnTo>
                <a:lnTo>
                  <a:pt x="56532" y="23518"/>
                </a:lnTo>
                <a:lnTo>
                  <a:pt x="64688" y="19604"/>
                </a:lnTo>
                <a:lnTo>
                  <a:pt x="88197" y="19604"/>
                </a:lnTo>
                <a:lnTo>
                  <a:pt x="95087" y="0"/>
                </a:lnTo>
                <a:close/>
              </a:path>
              <a:path w="1424940" h="523239">
                <a:moveTo>
                  <a:pt x="64688" y="19604"/>
                </a:moveTo>
                <a:lnTo>
                  <a:pt x="56532" y="23518"/>
                </a:lnTo>
                <a:lnTo>
                  <a:pt x="51300" y="38407"/>
                </a:lnTo>
                <a:lnTo>
                  <a:pt x="55214" y="46563"/>
                </a:lnTo>
                <a:lnTo>
                  <a:pt x="76138" y="53916"/>
                </a:lnTo>
                <a:lnTo>
                  <a:pt x="85612" y="26958"/>
                </a:lnTo>
                <a:lnTo>
                  <a:pt x="64688" y="19604"/>
                </a:lnTo>
                <a:close/>
              </a:path>
              <a:path w="1424940" h="523239">
                <a:moveTo>
                  <a:pt x="88197" y="19604"/>
                </a:moveTo>
                <a:lnTo>
                  <a:pt x="64688" y="19604"/>
                </a:lnTo>
                <a:lnTo>
                  <a:pt x="85612" y="26958"/>
                </a:lnTo>
                <a:lnTo>
                  <a:pt x="88197" y="19604"/>
                </a:lnTo>
                <a:close/>
              </a:path>
            </a:pathLst>
          </a:custGeom>
          <a:solidFill>
            <a:srgbClr val="B482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7173535" y="5904588"/>
            <a:ext cx="269875" cy="360045"/>
          </a:xfrm>
          <a:custGeom>
            <a:avLst/>
            <a:gdLst/>
            <a:ahLst/>
            <a:cxnLst/>
            <a:rect l="l" t="t" r="r" b="b"/>
            <a:pathLst>
              <a:path w="269875" h="360045">
                <a:moveTo>
                  <a:pt x="206973" y="60507"/>
                </a:moveTo>
                <a:lnTo>
                  <a:pt x="0" y="341117"/>
                </a:lnTo>
                <a:lnTo>
                  <a:pt x="1351" y="350062"/>
                </a:lnTo>
                <a:lnTo>
                  <a:pt x="14051" y="359430"/>
                </a:lnTo>
                <a:lnTo>
                  <a:pt x="22997" y="358079"/>
                </a:lnTo>
                <a:lnTo>
                  <a:pt x="229969" y="77469"/>
                </a:lnTo>
                <a:lnTo>
                  <a:pt x="206973" y="60507"/>
                </a:lnTo>
                <a:close/>
              </a:path>
              <a:path w="269875" h="360045">
                <a:moveTo>
                  <a:pt x="262186" y="41308"/>
                </a:moveTo>
                <a:lnTo>
                  <a:pt x="229082" y="41308"/>
                </a:lnTo>
                <a:lnTo>
                  <a:pt x="241783" y="50676"/>
                </a:lnTo>
                <a:lnTo>
                  <a:pt x="243133" y="59621"/>
                </a:lnTo>
                <a:lnTo>
                  <a:pt x="229969" y="77469"/>
                </a:lnTo>
                <a:lnTo>
                  <a:pt x="252966" y="94431"/>
                </a:lnTo>
                <a:lnTo>
                  <a:pt x="262186" y="41308"/>
                </a:lnTo>
                <a:close/>
              </a:path>
              <a:path w="269875" h="360045">
                <a:moveTo>
                  <a:pt x="229082" y="41308"/>
                </a:moveTo>
                <a:lnTo>
                  <a:pt x="220137" y="42659"/>
                </a:lnTo>
                <a:lnTo>
                  <a:pt x="206973" y="60507"/>
                </a:lnTo>
                <a:lnTo>
                  <a:pt x="229969" y="77469"/>
                </a:lnTo>
                <a:lnTo>
                  <a:pt x="243133" y="59621"/>
                </a:lnTo>
                <a:lnTo>
                  <a:pt x="241783" y="50676"/>
                </a:lnTo>
                <a:lnTo>
                  <a:pt x="229082" y="41308"/>
                </a:lnTo>
                <a:close/>
              </a:path>
              <a:path w="269875" h="360045">
                <a:moveTo>
                  <a:pt x="269356" y="0"/>
                </a:moveTo>
                <a:lnTo>
                  <a:pt x="183977" y="43546"/>
                </a:lnTo>
                <a:lnTo>
                  <a:pt x="206973" y="60507"/>
                </a:lnTo>
                <a:lnTo>
                  <a:pt x="220137" y="42659"/>
                </a:lnTo>
                <a:lnTo>
                  <a:pt x="229082" y="41308"/>
                </a:lnTo>
                <a:lnTo>
                  <a:pt x="262186" y="41308"/>
                </a:lnTo>
                <a:lnTo>
                  <a:pt x="269356" y="0"/>
                </a:lnTo>
                <a:close/>
              </a:path>
            </a:pathLst>
          </a:custGeom>
          <a:solidFill>
            <a:srgbClr val="B482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2413212" y="6034532"/>
            <a:ext cx="2336800" cy="568325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12700" marR="5080">
              <a:lnSpc>
                <a:spcPts val="2110"/>
              </a:lnSpc>
              <a:spcBef>
                <a:spcPts val="210"/>
              </a:spcBef>
            </a:pPr>
            <a:r>
              <a:rPr dirty="0" sz="1800" spc="-5" b="1">
                <a:solidFill>
                  <a:srgbClr val="008000"/>
                </a:solidFill>
                <a:latin typeface="Arial"/>
                <a:cs typeface="Arial"/>
              </a:rPr>
              <a:t>Same comp. graph  (except </a:t>
            </a: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for</a:t>
            </a:r>
            <a:r>
              <a:rPr dirty="0" sz="1800" spc="-60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008000"/>
                </a:solidFill>
                <a:latin typeface="Arial"/>
                <a:cs typeface="Arial"/>
              </a:rPr>
              <a:t>sampling)</a:t>
            </a:r>
            <a:endParaRPr sz="18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254647" y="6205220"/>
            <a:ext cx="2336800" cy="56515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 marR="5080">
              <a:lnSpc>
                <a:spcPts val="2090"/>
              </a:lnSpc>
              <a:spcBef>
                <a:spcPts val="225"/>
              </a:spcBef>
            </a:pPr>
            <a:r>
              <a:rPr dirty="0" sz="1800" spc="-5" b="1">
                <a:solidFill>
                  <a:srgbClr val="B48200"/>
                </a:solidFill>
                <a:latin typeface="Arial"/>
                <a:cs typeface="Arial"/>
              </a:rPr>
              <a:t>Same comp. graph  (except </a:t>
            </a:r>
            <a:r>
              <a:rPr dirty="0" sz="1800" b="1">
                <a:solidFill>
                  <a:srgbClr val="B48200"/>
                </a:solidFill>
                <a:latin typeface="Arial"/>
                <a:cs typeface="Arial"/>
              </a:rPr>
              <a:t>for</a:t>
            </a:r>
            <a:r>
              <a:rPr dirty="0" sz="1800" spc="-60" b="1">
                <a:solidFill>
                  <a:srgbClr val="B48200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B48200"/>
                </a:solidFill>
                <a:latin typeface="Arial"/>
                <a:cs typeface="Arial"/>
              </a:rPr>
              <a:t>sampling)</a:t>
            </a:r>
            <a:endParaRPr sz="1800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4905974" y="473612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152400"/>
                </a:moveTo>
                <a:lnTo>
                  <a:pt x="7769" y="104229"/>
                </a:lnTo>
                <a:lnTo>
                  <a:pt x="29404" y="62394"/>
                </a:lnTo>
                <a:lnTo>
                  <a:pt x="62394" y="29404"/>
                </a:lnTo>
                <a:lnTo>
                  <a:pt x="104229" y="7769"/>
                </a:lnTo>
                <a:lnTo>
                  <a:pt x="152400" y="0"/>
                </a:lnTo>
                <a:lnTo>
                  <a:pt x="200570" y="7769"/>
                </a:lnTo>
                <a:lnTo>
                  <a:pt x="242405" y="29404"/>
                </a:lnTo>
                <a:lnTo>
                  <a:pt x="275395" y="62394"/>
                </a:lnTo>
                <a:lnTo>
                  <a:pt x="297030" y="104229"/>
                </a:lnTo>
                <a:lnTo>
                  <a:pt x="304800" y="152400"/>
                </a:lnTo>
                <a:lnTo>
                  <a:pt x="297030" y="200570"/>
                </a:lnTo>
                <a:lnTo>
                  <a:pt x="275395" y="242405"/>
                </a:lnTo>
                <a:lnTo>
                  <a:pt x="242405" y="275395"/>
                </a:lnTo>
                <a:lnTo>
                  <a:pt x="200570" y="297030"/>
                </a:lnTo>
                <a:lnTo>
                  <a:pt x="152400" y="304800"/>
                </a:lnTo>
                <a:lnTo>
                  <a:pt x="104229" y="297030"/>
                </a:lnTo>
                <a:lnTo>
                  <a:pt x="62394" y="275395"/>
                </a:lnTo>
                <a:lnTo>
                  <a:pt x="29404" y="242405"/>
                </a:lnTo>
                <a:lnTo>
                  <a:pt x="7769" y="200570"/>
                </a:lnTo>
                <a:lnTo>
                  <a:pt x="0" y="15240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4978204" y="4726940"/>
            <a:ext cx="1606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rbel"/>
                <a:cs typeface="Corbel"/>
              </a:rPr>
              <a:t>C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5434910" y="473143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152400"/>
                </a:moveTo>
                <a:lnTo>
                  <a:pt x="7769" y="104229"/>
                </a:lnTo>
                <a:lnTo>
                  <a:pt x="29404" y="62394"/>
                </a:lnTo>
                <a:lnTo>
                  <a:pt x="62394" y="29404"/>
                </a:lnTo>
                <a:lnTo>
                  <a:pt x="104229" y="7769"/>
                </a:lnTo>
                <a:lnTo>
                  <a:pt x="152400" y="0"/>
                </a:lnTo>
                <a:lnTo>
                  <a:pt x="200570" y="7769"/>
                </a:lnTo>
                <a:lnTo>
                  <a:pt x="242405" y="29404"/>
                </a:lnTo>
                <a:lnTo>
                  <a:pt x="275395" y="62394"/>
                </a:lnTo>
                <a:lnTo>
                  <a:pt x="297030" y="104229"/>
                </a:lnTo>
                <a:lnTo>
                  <a:pt x="304800" y="152400"/>
                </a:lnTo>
                <a:lnTo>
                  <a:pt x="297030" y="200570"/>
                </a:lnTo>
                <a:lnTo>
                  <a:pt x="275395" y="242405"/>
                </a:lnTo>
                <a:lnTo>
                  <a:pt x="242405" y="275395"/>
                </a:lnTo>
                <a:lnTo>
                  <a:pt x="200570" y="297030"/>
                </a:lnTo>
                <a:lnTo>
                  <a:pt x="152400" y="304800"/>
                </a:lnTo>
                <a:lnTo>
                  <a:pt x="104229" y="297030"/>
                </a:lnTo>
                <a:lnTo>
                  <a:pt x="62394" y="275395"/>
                </a:lnTo>
                <a:lnTo>
                  <a:pt x="29404" y="242405"/>
                </a:lnTo>
                <a:lnTo>
                  <a:pt x="7769" y="200570"/>
                </a:lnTo>
                <a:lnTo>
                  <a:pt x="0" y="152400"/>
                </a:lnTo>
                <a:close/>
              </a:path>
            </a:pathLst>
          </a:custGeom>
          <a:ln w="38100">
            <a:solidFill>
              <a:srgbClr val="B482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5497616" y="4720844"/>
            <a:ext cx="1790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rbel"/>
                <a:cs typeface="Corbel"/>
              </a:rPr>
              <a:t>D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6857865" y="470058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152400"/>
                </a:moveTo>
                <a:lnTo>
                  <a:pt x="7769" y="104229"/>
                </a:lnTo>
                <a:lnTo>
                  <a:pt x="29404" y="62394"/>
                </a:lnTo>
                <a:lnTo>
                  <a:pt x="62394" y="29404"/>
                </a:lnTo>
                <a:lnTo>
                  <a:pt x="104229" y="7769"/>
                </a:lnTo>
                <a:lnTo>
                  <a:pt x="152400" y="0"/>
                </a:lnTo>
                <a:lnTo>
                  <a:pt x="200570" y="7769"/>
                </a:lnTo>
                <a:lnTo>
                  <a:pt x="242405" y="29404"/>
                </a:lnTo>
                <a:lnTo>
                  <a:pt x="275395" y="62394"/>
                </a:lnTo>
                <a:lnTo>
                  <a:pt x="297030" y="104229"/>
                </a:lnTo>
                <a:lnTo>
                  <a:pt x="304800" y="152400"/>
                </a:lnTo>
                <a:lnTo>
                  <a:pt x="297030" y="200570"/>
                </a:lnTo>
                <a:lnTo>
                  <a:pt x="275395" y="242405"/>
                </a:lnTo>
                <a:lnTo>
                  <a:pt x="242405" y="275395"/>
                </a:lnTo>
                <a:lnTo>
                  <a:pt x="200570" y="297030"/>
                </a:lnTo>
                <a:lnTo>
                  <a:pt x="152400" y="304800"/>
                </a:lnTo>
                <a:lnTo>
                  <a:pt x="104229" y="297030"/>
                </a:lnTo>
                <a:lnTo>
                  <a:pt x="62394" y="275395"/>
                </a:lnTo>
                <a:lnTo>
                  <a:pt x="29404" y="242405"/>
                </a:lnTo>
                <a:lnTo>
                  <a:pt x="7769" y="200570"/>
                </a:lnTo>
                <a:lnTo>
                  <a:pt x="0" y="15240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7283503" y="470058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152400"/>
                </a:moveTo>
                <a:lnTo>
                  <a:pt x="7769" y="104229"/>
                </a:lnTo>
                <a:lnTo>
                  <a:pt x="29404" y="62394"/>
                </a:lnTo>
                <a:lnTo>
                  <a:pt x="62394" y="29404"/>
                </a:lnTo>
                <a:lnTo>
                  <a:pt x="104229" y="7769"/>
                </a:lnTo>
                <a:lnTo>
                  <a:pt x="152400" y="0"/>
                </a:lnTo>
                <a:lnTo>
                  <a:pt x="200570" y="7769"/>
                </a:lnTo>
                <a:lnTo>
                  <a:pt x="242405" y="29404"/>
                </a:lnTo>
                <a:lnTo>
                  <a:pt x="275395" y="62394"/>
                </a:lnTo>
                <a:lnTo>
                  <a:pt x="297030" y="104229"/>
                </a:lnTo>
                <a:lnTo>
                  <a:pt x="304800" y="152400"/>
                </a:lnTo>
                <a:lnTo>
                  <a:pt x="297030" y="200570"/>
                </a:lnTo>
                <a:lnTo>
                  <a:pt x="275395" y="242405"/>
                </a:lnTo>
                <a:lnTo>
                  <a:pt x="242405" y="275395"/>
                </a:lnTo>
                <a:lnTo>
                  <a:pt x="200570" y="297030"/>
                </a:lnTo>
                <a:lnTo>
                  <a:pt x="152400" y="304800"/>
                </a:lnTo>
                <a:lnTo>
                  <a:pt x="104229" y="297030"/>
                </a:lnTo>
                <a:lnTo>
                  <a:pt x="62394" y="275395"/>
                </a:lnTo>
                <a:lnTo>
                  <a:pt x="29404" y="242405"/>
                </a:lnTo>
                <a:lnTo>
                  <a:pt x="7769" y="200570"/>
                </a:lnTo>
                <a:lnTo>
                  <a:pt x="0" y="152400"/>
                </a:lnTo>
                <a:close/>
              </a:path>
            </a:pathLst>
          </a:custGeom>
          <a:ln w="38100">
            <a:solidFill>
              <a:srgbClr val="B482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6930096" y="4690364"/>
            <a:ext cx="5949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8625" algn="l"/>
              </a:tabLst>
            </a:pPr>
            <a:r>
              <a:rPr dirty="0" sz="1800">
                <a:latin typeface="Corbel"/>
                <a:cs typeface="Corbel"/>
              </a:rPr>
              <a:t>C	D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7698592" y="470058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152400"/>
                </a:moveTo>
                <a:lnTo>
                  <a:pt x="7769" y="104229"/>
                </a:lnTo>
                <a:lnTo>
                  <a:pt x="29404" y="62394"/>
                </a:lnTo>
                <a:lnTo>
                  <a:pt x="62394" y="29404"/>
                </a:lnTo>
                <a:lnTo>
                  <a:pt x="104229" y="7769"/>
                </a:lnTo>
                <a:lnTo>
                  <a:pt x="152400" y="0"/>
                </a:lnTo>
                <a:lnTo>
                  <a:pt x="200570" y="7769"/>
                </a:lnTo>
                <a:lnTo>
                  <a:pt x="242405" y="29404"/>
                </a:lnTo>
                <a:lnTo>
                  <a:pt x="275395" y="62394"/>
                </a:lnTo>
                <a:lnTo>
                  <a:pt x="297030" y="104229"/>
                </a:lnTo>
                <a:lnTo>
                  <a:pt x="304800" y="152400"/>
                </a:lnTo>
                <a:lnTo>
                  <a:pt x="297030" y="200570"/>
                </a:lnTo>
                <a:lnTo>
                  <a:pt x="275395" y="242405"/>
                </a:lnTo>
                <a:lnTo>
                  <a:pt x="242405" y="275395"/>
                </a:lnTo>
                <a:lnTo>
                  <a:pt x="200570" y="297030"/>
                </a:lnTo>
                <a:lnTo>
                  <a:pt x="152400" y="304800"/>
                </a:lnTo>
                <a:lnTo>
                  <a:pt x="104229" y="297030"/>
                </a:lnTo>
                <a:lnTo>
                  <a:pt x="62394" y="275395"/>
                </a:lnTo>
                <a:lnTo>
                  <a:pt x="29404" y="242405"/>
                </a:lnTo>
                <a:lnTo>
                  <a:pt x="7769" y="200570"/>
                </a:lnTo>
                <a:lnTo>
                  <a:pt x="0" y="152400"/>
                </a:lnTo>
                <a:close/>
              </a:path>
            </a:pathLst>
          </a:custGeom>
          <a:ln w="38100">
            <a:solidFill>
              <a:srgbClr val="CF5B1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/>
          <p:nvPr/>
        </p:nvSpPr>
        <p:spPr>
          <a:xfrm>
            <a:off x="7762092" y="4702555"/>
            <a:ext cx="17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275957" y="3371595"/>
            <a:ext cx="725487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13050" algn="l"/>
                <a:tab pos="5012690" algn="l"/>
                <a:tab pos="7106284" algn="l"/>
              </a:tabLst>
            </a:pPr>
            <a:r>
              <a:rPr dirty="0" sz="2200" b="1">
                <a:latin typeface="Arial"/>
                <a:cs typeface="Arial"/>
              </a:rPr>
              <a:t>I</a:t>
            </a:r>
            <a:r>
              <a:rPr dirty="0" sz="2200" spc="0" b="1">
                <a:latin typeface="Arial"/>
                <a:cs typeface="Arial"/>
              </a:rPr>
              <a:t>npu</a:t>
            </a:r>
            <a:r>
              <a:rPr dirty="0" sz="2200" b="1">
                <a:latin typeface="Arial"/>
                <a:cs typeface="Arial"/>
              </a:rPr>
              <a:t>t</a:t>
            </a:r>
            <a:r>
              <a:rPr dirty="0" sz="2200" spc="0" b="1">
                <a:latin typeface="Arial"/>
                <a:cs typeface="Arial"/>
              </a:rPr>
              <a:t> g</a:t>
            </a:r>
            <a:r>
              <a:rPr dirty="0" sz="2200" spc="-10" b="1">
                <a:latin typeface="Arial"/>
                <a:cs typeface="Arial"/>
              </a:rPr>
              <a:t>r</a:t>
            </a:r>
            <a:r>
              <a:rPr dirty="0" sz="2200" b="1">
                <a:latin typeface="Arial"/>
                <a:cs typeface="Arial"/>
              </a:rPr>
              <a:t>aph	</a:t>
            </a:r>
            <a:r>
              <a:rPr dirty="0" sz="2200" spc="-5" b="1">
                <a:latin typeface="Arial"/>
                <a:cs typeface="Arial"/>
              </a:rPr>
              <a:t>C</a:t>
            </a:r>
            <a:r>
              <a:rPr dirty="0" sz="2200" spc="0" b="1">
                <a:latin typeface="Arial"/>
                <a:cs typeface="Arial"/>
              </a:rPr>
              <a:t>o</a:t>
            </a:r>
            <a:r>
              <a:rPr dirty="0" sz="2200" spc="-10" b="1">
                <a:latin typeface="Arial"/>
                <a:cs typeface="Arial"/>
              </a:rPr>
              <a:t>m</a:t>
            </a:r>
            <a:r>
              <a:rPr dirty="0" sz="2200" spc="0" b="1">
                <a:latin typeface="Arial"/>
                <a:cs typeface="Arial"/>
              </a:rPr>
              <a:t>put</a:t>
            </a:r>
            <a:r>
              <a:rPr dirty="0" sz="2200" b="1">
                <a:latin typeface="Arial"/>
                <a:cs typeface="Arial"/>
              </a:rPr>
              <a:t>a</a:t>
            </a:r>
            <a:r>
              <a:rPr dirty="0" sz="2200" spc="0" b="1">
                <a:latin typeface="Arial"/>
                <a:cs typeface="Arial"/>
              </a:rPr>
              <a:t>t</a:t>
            </a:r>
            <a:r>
              <a:rPr dirty="0" sz="2200" b="1">
                <a:latin typeface="Arial"/>
                <a:cs typeface="Arial"/>
              </a:rPr>
              <a:t>i</a:t>
            </a:r>
            <a:r>
              <a:rPr dirty="0" sz="2200" spc="0" b="1">
                <a:latin typeface="Arial"/>
                <a:cs typeface="Arial"/>
              </a:rPr>
              <a:t>on</a:t>
            </a:r>
            <a:r>
              <a:rPr dirty="0" sz="2200" b="1">
                <a:latin typeface="Arial"/>
                <a:cs typeface="Arial"/>
              </a:rPr>
              <a:t>al	</a:t>
            </a:r>
            <a:r>
              <a:rPr dirty="0" sz="1800">
                <a:solidFill>
                  <a:srgbClr val="FFFFFF"/>
                </a:solidFill>
                <a:latin typeface="Corbel"/>
                <a:cs typeface="Corbel"/>
              </a:rPr>
              <a:t>A	B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076488" y="3712972"/>
            <a:ext cx="80391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5" b="1">
                <a:latin typeface="Arial"/>
                <a:cs typeface="Arial"/>
              </a:rPr>
              <a:t>graph</a:t>
            </a:r>
            <a:endParaRPr sz="2200">
              <a:latin typeface="Arial"/>
              <a:cs typeface="Arial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1184278" y="393378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99" y="0"/>
                </a:moveTo>
                <a:lnTo>
                  <a:pt x="104229" y="7769"/>
                </a:lnTo>
                <a:lnTo>
                  <a:pt x="62394" y="29404"/>
                </a:lnTo>
                <a:lnTo>
                  <a:pt x="29404" y="62394"/>
                </a:lnTo>
                <a:lnTo>
                  <a:pt x="7769" y="104229"/>
                </a:lnTo>
                <a:lnTo>
                  <a:pt x="0" y="152399"/>
                </a:lnTo>
                <a:lnTo>
                  <a:pt x="7769" y="200570"/>
                </a:lnTo>
                <a:lnTo>
                  <a:pt x="29404" y="242405"/>
                </a:lnTo>
                <a:lnTo>
                  <a:pt x="62394" y="275395"/>
                </a:lnTo>
                <a:lnTo>
                  <a:pt x="104229" y="297030"/>
                </a:lnTo>
                <a:lnTo>
                  <a:pt x="152399" y="304799"/>
                </a:lnTo>
                <a:lnTo>
                  <a:pt x="200569" y="297030"/>
                </a:lnTo>
                <a:lnTo>
                  <a:pt x="242405" y="275395"/>
                </a:lnTo>
                <a:lnTo>
                  <a:pt x="275395" y="242405"/>
                </a:lnTo>
                <a:lnTo>
                  <a:pt x="297030" y="200570"/>
                </a:lnTo>
                <a:lnTo>
                  <a:pt x="304799" y="152399"/>
                </a:lnTo>
                <a:lnTo>
                  <a:pt x="297030" y="104229"/>
                </a:lnTo>
                <a:lnTo>
                  <a:pt x="275395" y="62394"/>
                </a:lnTo>
                <a:lnTo>
                  <a:pt x="242405" y="29404"/>
                </a:lnTo>
                <a:lnTo>
                  <a:pt x="200569" y="7769"/>
                </a:lnTo>
                <a:lnTo>
                  <a:pt x="152399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1184278" y="393378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152400"/>
                </a:moveTo>
                <a:lnTo>
                  <a:pt x="7769" y="104229"/>
                </a:lnTo>
                <a:lnTo>
                  <a:pt x="29404" y="62394"/>
                </a:lnTo>
                <a:lnTo>
                  <a:pt x="62394" y="29404"/>
                </a:lnTo>
                <a:lnTo>
                  <a:pt x="104229" y="7769"/>
                </a:lnTo>
                <a:lnTo>
                  <a:pt x="152400" y="0"/>
                </a:lnTo>
                <a:lnTo>
                  <a:pt x="200570" y="7769"/>
                </a:lnTo>
                <a:lnTo>
                  <a:pt x="242405" y="29404"/>
                </a:lnTo>
                <a:lnTo>
                  <a:pt x="275395" y="62394"/>
                </a:lnTo>
                <a:lnTo>
                  <a:pt x="297030" y="104229"/>
                </a:lnTo>
                <a:lnTo>
                  <a:pt x="304800" y="152400"/>
                </a:lnTo>
                <a:lnTo>
                  <a:pt x="297030" y="200570"/>
                </a:lnTo>
                <a:lnTo>
                  <a:pt x="275395" y="242405"/>
                </a:lnTo>
                <a:lnTo>
                  <a:pt x="242405" y="275395"/>
                </a:lnTo>
                <a:lnTo>
                  <a:pt x="200570" y="297030"/>
                </a:lnTo>
                <a:lnTo>
                  <a:pt x="152400" y="304800"/>
                </a:lnTo>
                <a:lnTo>
                  <a:pt x="104229" y="297030"/>
                </a:lnTo>
                <a:lnTo>
                  <a:pt x="62394" y="275395"/>
                </a:lnTo>
                <a:lnTo>
                  <a:pt x="29404" y="242405"/>
                </a:lnTo>
                <a:lnTo>
                  <a:pt x="7769" y="200570"/>
                </a:lnTo>
                <a:lnTo>
                  <a:pt x="0" y="152400"/>
                </a:lnTo>
                <a:close/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2192464" y="393378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04229" y="7769"/>
                </a:lnTo>
                <a:lnTo>
                  <a:pt x="62394" y="29404"/>
                </a:lnTo>
                <a:lnTo>
                  <a:pt x="29404" y="62394"/>
                </a:lnTo>
                <a:lnTo>
                  <a:pt x="7769" y="104229"/>
                </a:lnTo>
                <a:lnTo>
                  <a:pt x="0" y="152399"/>
                </a:lnTo>
                <a:lnTo>
                  <a:pt x="7769" y="200570"/>
                </a:lnTo>
                <a:lnTo>
                  <a:pt x="29404" y="242405"/>
                </a:lnTo>
                <a:lnTo>
                  <a:pt x="62394" y="275395"/>
                </a:lnTo>
                <a:lnTo>
                  <a:pt x="104229" y="297030"/>
                </a:lnTo>
                <a:lnTo>
                  <a:pt x="152400" y="304799"/>
                </a:lnTo>
                <a:lnTo>
                  <a:pt x="200570" y="297030"/>
                </a:lnTo>
                <a:lnTo>
                  <a:pt x="242405" y="275395"/>
                </a:lnTo>
                <a:lnTo>
                  <a:pt x="275395" y="242405"/>
                </a:lnTo>
                <a:lnTo>
                  <a:pt x="297030" y="200570"/>
                </a:lnTo>
                <a:lnTo>
                  <a:pt x="304800" y="152399"/>
                </a:lnTo>
                <a:lnTo>
                  <a:pt x="297030" y="104229"/>
                </a:lnTo>
                <a:lnTo>
                  <a:pt x="275395" y="62394"/>
                </a:lnTo>
                <a:lnTo>
                  <a:pt x="242405" y="29404"/>
                </a:lnTo>
                <a:lnTo>
                  <a:pt x="200570" y="7769"/>
                </a:lnTo>
                <a:lnTo>
                  <a:pt x="15240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2192464" y="393378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152400"/>
                </a:moveTo>
                <a:lnTo>
                  <a:pt x="7769" y="104229"/>
                </a:lnTo>
                <a:lnTo>
                  <a:pt x="29404" y="62394"/>
                </a:lnTo>
                <a:lnTo>
                  <a:pt x="62394" y="29404"/>
                </a:lnTo>
                <a:lnTo>
                  <a:pt x="104229" y="7769"/>
                </a:lnTo>
                <a:lnTo>
                  <a:pt x="152400" y="0"/>
                </a:lnTo>
                <a:lnTo>
                  <a:pt x="200570" y="7769"/>
                </a:lnTo>
                <a:lnTo>
                  <a:pt x="242405" y="29404"/>
                </a:lnTo>
                <a:lnTo>
                  <a:pt x="275395" y="62394"/>
                </a:lnTo>
                <a:lnTo>
                  <a:pt x="297030" y="104229"/>
                </a:lnTo>
                <a:lnTo>
                  <a:pt x="304800" y="152400"/>
                </a:lnTo>
                <a:lnTo>
                  <a:pt x="297030" y="200570"/>
                </a:lnTo>
                <a:lnTo>
                  <a:pt x="275395" y="242405"/>
                </a:lnTo>
                <a:lnTo>
                  <a:pt x="242405" y="275395"/>
                </a:lnTo>
                <a:lnTo>
                  <a:pt x="200570" y="297030"/>
                </a:lnTo>
                <a:lnTo>
                  <a:pt x="152400" y="304800"/>
                </a:lnTo>
                <a:lnTo>
                  <a:pt x="104229" y="297030"/>
                </a:lnTo>
                <a:lnTo>
                  <a:pt x="62394" y="275395"/>
                </a:lnTo>
                <a:lnTo>
                  <a:pt x="29404" y="242405"/>
                </a:lnTo>
                <a:lnTo>
                  <a:pt x="7769" y="200570"/>
                </a:lnTo>
                <a:lnTo>
                  <a:pt x="0" y="152400"/>
                </a:lnTo>
                <a:close/>
              </a:path>
            </a:pathLst>
          </a:custGeom>
          <a:ln w="381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 txBox="1"/>
          <p:nvPr/>
        </p:nvSpPr>
        <p:spPr>
          <a:xfrm>
            <a:off x="1251747" y="3922267"/>
            <a:ext cx="11741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25525" algn="l"/>
              </a:tabLst>
            </a:pPr>
            <a:r>
              <a:rPr dirty="0" sz="1800">
                <a:solidFill>
                  <a:srgbClr val="FFFFFF"/>
                </a:solidFill>
                <a:latin typeface="Corbel"/>
                <a:cs typeface="Corbel"/>
              </a:rPr>
              <a:t>A	B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879478" y="483177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152400"/>
                </a:moveTo>
                <a:lnTo>
                  <a:pt x="7769" y="104229"/>
                </a:lnTo>
                <a:lnTo>
                  <a:pt x="29404" y="62394"/>
                </a:lnTo>
                <a:lnTo>
                  <a:pt x="62394" y="29404"/>
                </a:lnTo>
                <a:lnTo>
                  <a:pt x="104229" y="7769"/>
                </a:lnTo>
                <a:lnTo>
                  <a:pt x="152400" y="0"/>
                </a:lnTo>
                <a:lnTo>
                  <a:pt x="200570" y="7769"/>
                </a:lnTo>
                <a:lnTo>
                  <a:pt x="242405" y="29404"/>
                </a:lnTo>
                <a:lnTo>
                  <a:pt x="275395" y="62394"/>
                </a:lnTo>
                <a:lnTo>
                  <a:pt x="297030" y="104229"/>
                </a:lnTo>
                <a:lnTo>
                  <a:pt x="304800" y="152400"/>
                </a:lnTo>
                <a:lnTo>
                  <a:pt x="297030" y="200570"/>
                </a:lnTo>
                <a:lnTo>
                  <a:pt x="275395" y="242405"/>
                </a:lnTo>
                <a:lnTo>
                  <a:pt x="242405" y="275395"/>
                </a:lnTo>
                <a:lnTo>
                  <a:pt x="200570" y="297030"/>
                </a:lnTo>
                <a:lnTo>
                  <a:pt x="152400" y="304800"/>
                </a:lnTo>
                <a:lnTo>
                  <a:pt x="104229" y="297030"/>
                </a:lnTo>
                <a:lnTo>
                  <a:pt x="62394" y="275395"/>
                </a:lnTo>
                <a:lnTo>
                  <a:pt x="29404" y="242405"/>
                </a:lnTo>
                <a:lnTo>
                  <a:pt x="7769" y="200570"/>
                </a:lnTo>
                <a:lnTo>
                  <a:pt x="0" y="152400"/>
                </a:lnTo>
                <a:close/>
              </a:path>
            </a:pathLst>
          </a:custGeom>
          <a:ln w="38100">
            <a:solidFill>
              <a:srgbClr val="47924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 txBox="1"/>
          <p:nvPr/>
        </p:nvSpPr>
        <p:spPr>
          <a:xfrm>
            <a:off x="951709" y="4821428"/>
            <a:ext cx="1606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rbel"/>
                <a:cs typeface="Corbel"/>
              </a:rPr>
              <a:t>C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1746986" y="4843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152400"/>
                </a:moveTo>
                <a:lnTo>
                  <a:pt x="7769" y="104229"/>
                </a:lnTo>
                <a:lnTo>
                  <a:pt x="29404" y="62394"/>
                </a:lnTo>
                <a:lnTo>
                  <a:pt x="62394" y="29404"/>
                </a:lnTo>
                <a:lnTo>
                  <a:pt x="104229" y="7769"/>
                </a:lnTo>
                <a:lnTo>
                  <a:pt x="152400" y="0"/>
                </a:lnTo>
                <a:lnTo>
                  <a:pt x="200570" y="7769"/>
                </a:lnTo>
                <a:lnTo>
                  <a:pt x="242405" y="29404"/>
                </a:lnTo>
                <a:lnTo>
                  <a:pt x="275395" y="62394"/>
                </a:lnTo>
                <a:lnTo>
                  <a:pt x="297030" y="104229"/>
                </a:lnTo>
                <a:lnTo>
                  <a:pt x="304800" y="152400"/>
                </a:lnTo>
                <a:lnTo>
                  <a:pt x="297030" y="200570"/>
                </a:lnTo>
                <a:lnTo>
                  <a:pt x="275395" y="242405"/>
                </a:lnTo>
                <a:lnTo>
                  <a:pt x="242405" y="275395"/>
                </a:lnTo>
                <a:lnTo>
                  <a:pt x="200570" y="297030"/>
                </a:lnTo>
                <a:lnTo>
                  <a:pt x="152400" y="304800"/>
                </a:lnTo>
                <a:lnTo>
                  <a:pt x="104229" y="297030"/>
                </a:lnTo>
                <a:lnTo>
                  <a:pt x="62394" y="275395"/>
                </a:lnTo>
                <a:lnTo>
                  <a:pt x="29404" y="242405"/>
                </a:lnTo>
                <a:lnTo>
                  <a:pt x="7769" y="200570"/>
                </a:lnTo>
                <a:lnTo>
                  <a:pt x="0" y="152400"/>
                </a:lnTo>
                <a:close/>
              </a:path>
            </a:pathLst>
          </a:custGeom>
          <a:ln w="38100">
            <a:solidFill>
              <a:srgbClr val="B482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 txBox="1"/>
          <p:nvPr/>
        </p:nvSpPr>
        <p:spPr>
          <a:xfrm>
            <a:off x="1809692" y="4833620"/>
            <a:ext cx="1790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rbel"/>
                <a:cs typeface="Corbel"/>
              </a:rPr>
              <a:t>D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2555878" y="4843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152400"/>
                </a:moveTo>
                <a:lnTo>
                  <a:pt x="7769" y="104229"/>
                </a:lnTo>
                <a:lnTo>
                  <a:pt x="29404" y="62394"/>
                </a:lnTo>
                <a:lnTo>
                  <a:pt x="62394" y="29404"/>
                </a:lnTo>
                <a:lnTo>
                  <a:pt x="104229" y="7769"/>
                </a:lnTo>
                <a:lnTo>
                  <a:pt x="152400" y="0"/>
                </a:lnTo>
                <a:lnTo>
                  <a:pt x="200570" y="7769"/>
                </a:lnTo>
                <a:lnTo>
                  <a:pt x="242405" y="29404"/>
                </a:lnTo>
                <a:lnTo>
                  <a:pt x="275395" y="62394"/>
                </a:lnTo>
                <a:lnTo>
                  <a:pt x="297030" y="104229"/>
                </a:lnTo>
                <a:lnTo>
                  <a:pt x="304800" y="152400"/>
                </a:lnTo>
                <a:lnTo>
                  <a:pt x="297030" y="200570"/>
                </a:lnTo>
                <a:lnTo>
                  <a:pt x="275395" y="242405"/>
                </a:lnTo>
                <a:lnTo>
                  <a:pt x="242405" y="275395"/>
                </a:lnTo>
                <a:lnTo>
                  <a:pt x="200570" y="297030"/>
                </a:lnTo>
                <a:lnTo>
                  <a:pt x="152400" y="304800"/>
                </a:lnTo>
                <a:lnTo>
                  <a:pt x="104229" y="297030"/>
                </a:lnTo>
                <a:lnTo>
                  <a:pt x="62394" y="275395"/>
                </a:lnTo>
                <a:lnTo>
                  <a:pt x="29404" y="242405"/>
                </a:lnTo>
                <a:lnTo>
                  <a:pt x="7769" y="200570"/>
                </a:lnTo>
                <a:lnTo>
                  <a:pt x="0" y="152400"/>
                </a:lnTo>
                <a:close/>
              </a:path>
            </a:pathLst>
          </a:custGeom>
          <a:ln w="38100">
            <a:solidFill>
              <a:srgbClr val="CF5B1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 txBox="1"/>
          <p:nvPr/>
        </p:nvSpPr>
        <p:spPr>
          <a:xfrm>
            <a:off x="2632872" y="4833620"/>
            <a:ext cx="151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rbel"/>
                <a:cs typeface="Corbel"/>
              </a:rPr>
              <a:t>E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67" name="object 6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3/13/21</a:t>
            </a:r>
          </a:p>
        </p:txBody>
      </p:sp>
      <p:sp>
        <p:nvSpPr>
          <p:cNvPr id="68" name="object 6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69" name="object 6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27</a:t>
            </a:fld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5452872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190105" cy="1491615"/>
          </a:xfrm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332740" marR="5080" indent="-320040">
              <a:lnSpc>
                <a:spcPct val="100299"/>
              </a:lnSpc>
              <a:spcBef>
                <a:spcPts val="8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/>
              <a:t>In </a:t>
            </a:r>
            <a:r>
              <a:rPr dirty="0" spc="-10"/>
              <a:t>full-batch </a:t>
            </a:r>
            <a:r>
              <a:rPr dirty="0" spc="-5"/>
              <a:t>GNN </a:t>
            </a:r>
            <a:r>
              <a:rPr dirty="0" spc="-10"/>
              <a:t>implementation, </a:t>
            </a:r>
            <a:r>
              <a:rPr dirty="0" spc="-5" b="1">
                <a:solidFill>
                  <a:srgbClr val="D60093"/>
                </a:solidFill>
                <a:latin typeface="Calibri"/>
                <a:cs typeface="Calibri"/>
              </a:rPr>
              <a:t>all the  node embeddings </a:t>
            </a:r>
            <a:r>
              <a:rPr dirty="0" spc="-15" b="1">
                <a:solidFill>
                  <a:srgbClr val="D60093"/>
                </a:solidFill>
                <a:latin typeface="Calibri"/>
                <a:cs typeface="Calibri"/>
              </a:rPr>
              <a:t>are updated together  </a:t>
            </a:r>
            <a:r>
              <a:rPr dirty="0" spc="-5" b="1">
                <a:solidFill>
                  <a:srgbClr val="D60093"/>
                </a:solidFill>
                <a:latin typeface="Calibri"/>
                <a:cs typeface="Calibri"/>
              </a:rPr>
              <a:t>using embeddings </a:t>
            </a:r>
            <a:r>
              <a:rPr dirty="0" b="1">
                <a:solidFill>
                  <a:srgbClr val="D60093"/>
                </a:solidFill>
                <a:latin typeface="Calibri"/>
                <a:cs typeface="Calibri"/>
              </a:rPr>
              <a:t>of </a:t>
            </a:r>
            <a:r>
              <a:rPr dirty="0" spc="-5" b="1">
                <a:solidFill>
                  <a:srgbClr val="D60093"/>
                </a:solidFill>
                <a:latin typeface="Calibri"/>
                <a:cs typeface="Calibri"/>
              </a:rPr>
              <a:t>the </a:t>
            </a:r>
            <a:r>
              <a:rPr dirty="0" spc="-10" b="1">
                <a:solidFill>
                  <a:srgbClr val="D60093"/>
                </a:solidFill>
                <a:latin typeface="Calibri"/>
                <a:cs typeface="Calibri"/>
              </a:rPr>
              <a:t>previous</a:t>
            </a:r>
            <a:r>
              <a:rPr dirty="0" spc="-25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pc="-65" b="1">
                <a:solidFill>
                  <a:srgbClr val="D60093"/>
                </a:solidFill>
                <a:latin typeface="Calibri"/>
                <a:cs typeface="Calibri"/>
              </a:rPr>
              <a:t>layer.</a:t>
            </a:r>
          </a:p>
        </p:txBody>
      </p:sp>
      <p:sp>
        <p:nvSpPr>
          <p:cNvPr id="4" name="object 4"/>
          <p:cNvSpPr/>
          <p:nvPr/>
        </p:nvSpPr>
        <p:spPr>
          <a:xfrm>
            <a:off x="3663971" y="3201335"/>
            <a:ext cx="4868545" cy="906780"/>
          </a:xfrm>
          <a:custGeom>
            <a:avLst/>
            <a:gdLst/>
            <a:ahLst/>
            <a:cxnLst/>
            <a:rect l="l" t="t" r="r" b="b"/>
            <a:pathLst>
              <a:path w="4868545" h="906779">
                <a:moveTo>
                  <a:pt x="4713130" y="0"/>
                </a:moveTo>
                <a:lnTo>
                  <a:pt x="4704969" y="13022"/>
                </a:lnTo>
                <a:lnTo>
                  <a:pt x="4733878" y="47738"/>
                </a:lnTo>
                <a:lnTo>
                  <a:pt x="4759315" y="89204"/>
                </a:lnTo>
                <a:lnTo>
                  <a:pt x="4781280" y="137420"/>
                </a:lnTo>
                <a:lnTo>
                  <a:pt x="4799773" y="192385"/>
                </a:lnTo>
                <a:lnTo>
                  <a:pt x="4811837" y="240148"/>
                </a:lnTo>
                <a:lnTo>
                  <a:pt x="4821220" y="290092"/>
                </a:lnTo>
                <a:lnTo>
                  <a:pt x="4827922" y="342216"/>
                </a:lnTo>
                <a:lnTo>
                  <a:pt x="4831943" y="396522"/>
                </a:lnTo>
                <a:lnTo>
                  <a:pt x="4833283" y="453007"/>
                </a:lnTo>
                <a:lnTo>
                  <a:pt x="4831950" y="508390"/>
                </a:lnTo>
                <a:lnTo>
                  <a:pt x="4827949" y="562021"/>
                </a:lnTo>
                <a:lnTo>
                  <a:pt x="4821282" y="613903"/>
                </a:lnTo>
                <a:lnTo>
                  <a:pt x="4811947" y="664034"/>
                </a:lnTo>
                <a:lnTo>
                  <a:pt x="4799946" y="712415"/>
                </a:lnTo>
                <a:lnTo>
                  <a:pt x="4781508" y="768292"/>
                </a:lnTo>
                <a:lnTo>
                  <a:pt x="4759533" y="817159"/>
                </a:lnTo>
                <a:lnTo>
                  <a:pt x="4734020" y="859016"/>
                </a:lnTo>
                <a:lnTo>
                  <a:pt x="4704969" y="893861"/>
                </a:lnTo>
                <a:lnTo>
                  <a:pt x="4713130" y="906711"/>
                </a:lnTo>
                <a:lnTo>
                  <a:pt x="4746972" y="872434"/>
                </a:lnTo>
                <a:lnTo>
                  <a:pt x="4777135" y="830377"/>
                </a:lnTo>
                <a:lnTo>
                  <a:pt x="4803619" y="780539"/>
                </a:lnTo>
                <a:lnTo>
                  <a:pt x="4826425" y="722920"/>
                </a:lnTo>
                <a:lnTo>
                  <a:pt x="4841521" y="672751"/>
                </a:lnTo>
                <a:lnTo>
                  <a:pt x="4853262" y="620657"/>
                </a:lnTo>
                <a:lnTo>
                  <a:pt x="4861649" y="566640"/>
                </a:lnTo>
                <a:lnTo>
                  <a:pt x="4866681" y="510699"/>
                </a:lnTo>
                <a:lnTo>
                  <a:pt x="4868358" y="452835"/>
                </a:lnTo>
                <a:lnTo>
                  <a:pt x="4866681" y="394230"/>
                </a:lnTo>
                <a:lnTo>
                  <a:pt x="4861649" y="337875"/>
                </a:lnTo>
                <a:lnTo>
                  <a:pt x="4853262" y="283771"/>
                </a:lnTo>
                <a:lnTo>
                  <a:pt x="4841521" y="231918"/>
                </a:lnTo>
                <a:lnTo>
                  <a:pt x="4826425" y="182314"/>
                </a:lnTo>
                <a:lnTo>
                  <a:pt x="4803619" y="125471"/>
                </a:lnTo>
                <a:lnTo>
                  <a:pt x="4777135" y="76138"/>
                </a:lnTo>
                <a:lnTo>
                  <a:pt x="4746972" y="34314"/>
                </a:lnTo>
                <a:lnTo>
                  <a:pt x="4713130" y="0"/>
                </a:lnTo>
                <a:close/>
              </a:path>
              <a:path w="4868545" h="906779">
                <a:moveTo>
                  <a:pt x="155222" y="0"/>
                </a:moveTo>
                <a:lnTo>
                  <a:pt x="121379" y="34314"/>
                </a:lnTo>
                <a:lnTo>
                  <a:pt x="91216" y="76138"/>
                </a:lnTo>
                <a:lnTo>
                  <a:pt x="64732" y="125471"/>
                </a:lnTo>
                <a:lnTo>
                  <a:pt x="41926" y="182314"/>
                </a:lnTo>
                <a:lnTo>
                  <a:pt x="26831" y="231918"/>
                </a:lnTo>
                <a:lnTo>
                  <a:pt x="15090" y="283771"/>
                </a:lnTo>
                <a:lnTo>
                  <a:pt x="6704" y="337875"/>
                </a:lnTo>
                <a:lnTo>
                  <a:pt x="1672" y="394230"/>
                </a:lnTo>
                <a:lnTo>
                  <a:pt x="0" y="453007"/>
                </a:lnTo>
                <a:lnTo>
                  <a:pt x="1672" y="510699"/>
                </a:lnTo>
                <a:lnTo>
                  <a:pt x="6704" y="566640"/>
                </a:lnTo>
                <a:lnTo>
                  <a:pt x="15090" y="620657"/>
                </a:lnTo>
                <a:lnTo>
                  <a:pt x="26831" y="672751"/>
                </a:lnTo>
                <a:lnTo>
                  <a:pt x="41926" y="722920"/>
                </a:lnTo>
                <a:lnTo>
                  <a:pt x="64732" y="780539"/>
                </a:lnTo>
                <a:lnTo>
                  <a:pt x="91216" y="830377"/>
                </a:lnTo>
                <a:lnTo>
                  <a:pt x="121379" y="872434"/>
                </a:lnTo>
                <a:lnTo>
                  <a:pt x="155222" y="906711"/>
                </a:lnTo>
                <a:lnTo>
                  <a:pt x="163383" y="893861"/>
                </a:lnTo>
                <a:lnTo>
                  <a:pt x="134332" y="859016"/>
                </a:lnTo>
                <a:lnTo>
                  <a:pt x="108818" y="817159"/>
                </a:lnTo>
                <a:lnTo>
                  <a:pt x="86843" y="768292"/>
                </a:lnTo>
                <a:lnTo>
                  <a:pt x="68406" y="712415"/>
                </a:lnTo>
                <a:lnTo>
                  <a:pt x="56404" y="664034"/>
                </a:lnTo>
                <a:lnTo>
                  <a:pt x="47070" y="613903"/>
                </a:lnTo>
                <a:lnTo>
                  <a:pt x="40402" y="562021"/>
                </a:lnTo>
                <a:lnTo>
                  <a:pt x="36402" y="508390"/>
                </a:lnTo>
                <a:lnTo>
                  <a:pt x="35072" y="452835"/>
                </a:lnTo>
                <a:lnTo>
                  <a:pt x="36405" y="396522"/>
                </a:lnTo>
                <a:lnTo>
                  <a:pt x="40416" y="342216"/>
                </a:lnTo>
                <a:lnTo>
                  <a:pt x="47101" y="290092"/>
                </a:lnTo>
                <a:lnTo>
                  <a:pt x="56460" y="240148"/>
                </a:lnTo>
                <a:lnTo>
                  <a:pt x="68492" y="192385"/>
                </a:lnTo>
                <a:lnTo>
                  <a:pt x="86957" y="137420"/>
                </a:lnTo>
                <a:lnTo>
                  <a:pt x="108927" y="89204"/>
                </a:lnTo>
                <a:lnTo>
                  <a:pt x="134402" y="47738"/>
                </a:lnTo>
                <a:lnTo>
                  <a:pt x="163383" y="13022"/>
                </a:lnTo>
                <a:lnTo>
                  <a:pt x="1552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064091" y="3386853"/>
            <a:ext cx="643255" cy="235585"/>
          </a:xfrm>
          <a:custGeom>
            <a:avLst/>
            <a:gdLst/>
            <a:ahLst/>
            <a:cxnLst/>
            <a:rect l="l" t="t" r="r" b="b"/>
            <a:pathLst>
              <a:path w="643254" h="235585">
                <a:moveTo>
                  <a:pt x="568158" y="0"/>
                </a:moveTo>
                <a:lnTo>
                  <a:pt x="564810" y="9549"/>
                </a:lnTo>
                <a:lnTo>
                  <a:pt x="578429" y="15459"/>
                </a:lnTo>
                <a:lnTo>
                  <a:pt x="590142" y="23641"/>
                </a:lnTo>
                <a:lnTo>
                  <a:pt x="613923" y="61565"/>
                </a:lnTo>
                <a:lnTo>
                  <a:pt x="621737" y="116457"/>
                </a:lnTo>
                <a:lnTo>
                  <a:pt x="620865" y="137208"/>
                </a:lnTo>
                <a:lnTo>
                  <a:pt x="607785" y="188019"/>
                </a:lnTo>
                <a:lnTo>
                  <a:pt x="578589" y="219784"/>
                </a:lnTo>
                <a:lnTo>
                  <a:pt x="565183" y="225722"/>
                </a:lnTo>
                <a:lnTo>
                  <a:pt x="568158" y="235272"/>
                </a:lnTo>
                <a:lnTo>
                  <a:pt x="613109" y="208564"/>
                </a:lnTo>
                <a:lnTo>
                  <a:pt x="638355" y="159261"/>
                </a:lnTo>
                <a:lnTo>
                  <a:pt x="643192" y="117698"/>
                </a:lnTo>
                <a:lnTo>
                  <a:pt x="641979" y="96129"/>
                </a:lnTo>
                <a:lnTo>
                  <a:pt x="632275" y="57899"/>
                </a:lnTo>
                <a:lnTo>
                  <a:pt x="600172" y="15083"/>
                </a:lnTo>
                <a:lnTo>
                  <a:pt x="585216" y="6158"/>
                </a:lnTo>
                <a:lnTo>
                  <a:pt x="568158" y="0"/>
                </a:lnTo>
                <a:close/>
              </a:path>
              <a:path w="643254" h="235585">
                <a:moveTo>
                  <a:pt x="75034" y="0"/>
                </a:moveTo>
                <a:lnTo>
                  <a:pt x="30164" y="26776"/>
                </a:lnTo>
                <a:lnTo>
                  <a:pt x="4852" y="76196"/>
                </a:lnTo>
                <a:lnTo>
                  <a:pt x="0" y="117698"/>
                </a:lnTo>
                <a:lnTo>
                  <a:pt x="1209" y="139313"/>
                </a:lnTo>
                <a:lnTo>
                  <a:pt x="10882" y="177543"/>
                </a:lnTo>
                <a:lnTo>
                  <a:pt x="42942" y="220219"/>
                </a:lnTo>
                <a:lnTo>
                  <a:pt x="75034" y="235272"/>
                </a:lnTo>
                <a:lnTo>
                  <a:pt x="78011" y="225722"/>
                </a:lnTo>
                <a:lnTo>
                  <a:pt x="64604" y="219784"/>
                </a:lnTo>
                <a:lnTo>
                  <a:pt x="53035" y="211521"/>
                </a:lnTo>
                <a:lnTo>
                  <a:pt x="29304" y="172989"/>
                </a:lnTo>
                <a:lnTo>
                  <a:pt x="21456" y="116457"/>
                </a:lnTo>
                <a:lnTo>
                  <a:pt x="22328" y="96385"/>
                </a:lnTo>
                <a:lnTo>
                  <a:pt x="35408" y="46818"/>
                </a:lnTo>
                <a:lnTo>
                  <a:pt x="64813" y="15459"/>
                </a:lnTo>
                <a:lnTo>
                  <a:pt x="78383" y="9549"/>
                </a:lnTo>
                <a:lnTo>
                  <a:pt x="750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878245" y="3303416"/>
            <a:ext cx="2449830" cy="702945"/>
          </a:xfrm>
          <a:custGeom>
            <a:avLst/>
            <a:gdLst/>
            <a:ahLst/>
            <a:cxnLst/>
            <a:rect l="l" t="t" r="r" b="b"/>
            <a:pathLst>
              <a:path w="2449829" h="702945">
                <a:moveTo>
                  <a:pt x="2324887" y="0"/>
                </a:moveTo>
                <a:lnTo>
                  <a:pt x="2314816" y="11633"/>
                </a:lnTo>
                <a:lnTo>
                  <a:pt x="2335826" y="34769"/>
                </a:lnTo>
                <a:lnTo>
                  <a:pt x="2354925" y="63549"/>
                </a:lnTo>
                <a:lnTo>
                  <a:pt x="2372115" y="97971"/>
                </a:lnTo>
                <a:lnTo>
                  <a:pt x="2387395" y="138037"/>
                </a:lnTo>
                <a:lnTo>
                  <a:pt x="2399929" y="183529"/>
                </a:lnTo>
                <a:lnTo>
                  <a:pt x="2408882" y="234230"/>
                </a:lnTo>
                <a:lnTo>
                  <a:pt x="2414253" y="290140"/>
                </a:lnTo>
                <a:lnTo>
                  <a:pt x="2416044" y="351259"/>
                </a:lnTo>
                <a:lnTo>
                  <a:pt x="2414253" y="412377"/>
                </a:lnTo>
                <a:lnTo>
                  <a:pt x="2408882" y="468287"/>
                </a:lnTo>
                <a:lnTo>
                  <a:pt x="2399929" y="518987"/>
                </a:lnTo>
                <a:lnTo>
                  <a:pt x="2387395" y="564479"/>
                </a:lnTo>
                <a:lnTo>
                  <a:pt x="2372115" y="604545"/>
                </a:lnTo>
                <a:lnTo>
                  <a:pt x="2354925" y="638967"/>
                </a:lnTo>
                <a:lnTo>
                  <a:pt x="2314816" y="690883"/>
                </a:lnTo>
                <a:lnTo>
                  <a:pt x="2324887" y="702518"/>
                </a:lnTo>
                <a:lnTo>
                  <a:pt x="2371855" y="650796"/>
                </a:lnTo>
                <a:lnTo>
                  <a:pt x="2392929" y="615576"/>
                </a:lnTo>
                <a:lnTo>
                  <a:pt x="2412398" y="574116"/>
                </a:lnTo>
                <a:lnTo>
                  <a:pt x="2425837" y="536663"/>
                </a:lnTo>
                <a:lnTo>
                  <a:pt x="2436290" y="495634"/>
                </a:lnTo>
                <a:lnTo>
                  <a:pt x="2443756" y="451027"/>
                </a:lnTo>
                <a:lnTo>
                  <a:pt x="2448236" y="402844"/>
                </a:lnTo>
                <a:lnTo>
                  <a:pt x="2449729" y="351085"/>
                </a:lnTo>
                <a:lnTo>
                  <a:pt x="2448236" y="299450"/>
                </a:lnTo>
                <a:lnTo>
                  <a:pt x="2443756" y="251364"/>
                </a:lnTo>
                <a:lnTo>
                  <a:pt x="2436290" y="206827"/>
                </a:lnTo>
                <a:lnTo>
                  <a:pt x="2425837" y="165839"/>
                </a:lnTo>
                <a:lnTo>
                  <a:pt x="2412398" y="128400"/>
                </a:lnTo>
                <a:lnTo>
                  <a:pt x="2392929" y="86940"/>
                </a:lnTo>
                <a:lnTo>
                  <a:pt x="2371855" y="51720"/>
                </a:lnTo>
                <a:lnTo>
                  <a:pt x="2349174" y="22740"/>
                </a:lnTo>
                <a:lnTo>
                  <a:pt x="2324887" y="0"/>
                </a:lnTo>
                <a:close/>
              </a:path>
              <a:path w="2449829" h="702945">
                <a:moveTo>
                  <a:pt x="124837" y="0"/>
                </a:moveTo>
                <a:lnTo>
                  <a:pt x="77869" y="51720"/>
                </a:lnTo>
                <a:lnTo>
                  <a:pt x="56794" y="86940"/>
                </a:lnTo>
                <a:lnTo>
                  <a:pt x="37326" y="128400"/>
                </a:lnTo>
                <a:lnTo>
                  <a:pt x="23887" y="165839"/>
                </a:lnTo>
                <a:lnTo>
                  <a:pt x="13434" y="206827"/>
                </a:lnTo>
                <a:lnTo>
                  <a:pt x="5967" y="251364"/>
                </a:lnTo>
                <a:lnTo>
                  <a:pt x="1488" y="299450"/>
                </a:lnTo>
                <a:lnTo>
                  <a:pt x="0" y="351259"/>
                </a:lnTo>
                <a:lnTo>
                  <a:pt x="1488" y="402844"/>
                </a:lnTo>
                <a:lnTo>
                  <a:pt x="5967" y="451027"/>
                </a:lnTo>
                <a:lnTo>
                  <a:pt x="13434" y="495634"/>
                </a:lnTo>
                <a:lnTo>
                  <a:pt x="23887" y="536663"/>
                </a:lnTo>
                <a:lnTo>
                  <a:pt x="37326" y="574116"/>
                </a:lnTo>
                <a:lnTo>
                  <a:pt x="56794" y="615576"/>
                </a:lnTo>
                <a:lnTo>
                  <a:pt x="77869" y="650796"/>
                </a:lnTo>
                <a:lnTo>
                  <a:pt x="124837" y="702518"/>
                </a:lnTo>
                <a:lnTo>
                  <a:pt x="134907" y="690883"/>
                </a:lnTo>
                <a:lnTo>
                  <a:pt x="113897" y="667747"/>
                </a:lnTo>
                <a:lnTo>
                  <a:pt x="94798" y="638967"/>
                </a:lnTo>
                <a:lnTo>
                  <a:pt x="77608" y="604545"/>
                </a:lnTo>
                <a:lnTo>
                  <a:pt x="62329" y="564479"/>
                </a:lnTo>
                <a:lnTo>
                  <a:pt x="49794" y="518987"/>
                </a:lnTo>
                <a:lnTo>
                  <a:pt x="40841" y="468287"/>
                </a:lnTo>
                <a:lnTo>
                  <a:pt x="35469" y="412377"/>
                </a:lnTo>
                <a:lnTo>
                  <a:pt x="33684" y="351085"/>
                </a:lnTo>
                <a:lnTo>
                  <a:pt x="35469" y="290140"/>
                </a:lnTo>
                <a:lnTo>
                  <a:pt x="40841" y="234230"/>
                </a:lnTo>
                <a:lnTo>
                  <a:pt x="49794" y="183529"/>
                </a:lnTo>
                <a:lnTo>
                  <a:pt x="62329" y="138037"/>
                </a:lnTo>
                <a:lnTo>
                  <a:pt x="77608" y="97971"/>
                </a:lnTo>
                <a:lnTo>
                  <a:pt x="94798" y="63549"/>
                </a:lnTo>
                <a:lnTo>
                  <a:pt x="134907" y="11633"/>
                </a:lnTo>
                <a:lnTo>
                  <a:pt x="1248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041269" y="3363319"/>
            <a:ext cx="1203325" cy="582930"/>
          </a:xfrm>
          <a:custGeom>
            <a:avLst/>
            <a:gdLst/>
            <a:ahLst/>
            <a:cxnLst/>
            <a:rect l="l" t="t" r="r" b="b"/>
            <a:pathLst>
              <a:path w="1203325" h="582929">
                <a:moveTo>
                  <a:pt x="1079709" y="0"/>
                </a:moveTo>
                <a:lnTo>
                  <a:pt x="1079709" y="13889"/>
                </a:lnTo>
                <a:lnTo>
                  <a:pt x="1086823" y="14731"/>
                </a:lnTo>
                <a:lnTo>
                  <a:pt x="1093578" y="16212"/>
                </a:lnTo>
                <a:lnTo>
                  <a:pt x="1126069" y="39761"/>
                </a:lnTo>
                <a:lnTo>
                  <a:pt x="1140768" y="82068"/>
                </a:lnTo>
                <a:lnTo>
                  <a:pt x="1143259" y="118938"/>
                </a:lnTo>
                <a:lnTo>
                  <a:pt x="1142966" y="129524"/>
                </a:lnTo>
                <a:lnTo>
                  <a:pt x="1142087" y="142009"/>
                </a:lnTo>
                <a:lnTo>
                  <a:pt x="1140622" y="156393"/>
                </a:lnTo>
                <a:lnTo>
                  <a:pt x="1138571" y="172676"/>
                </a:lnTo>
                <a:lnTo>
                  <a:pt x="1136520" y="188580"/>
                </a:lnTo>
                <a:lnTo>
                  <a:pt x="1135055" y="201826"/>
                </a:lnTo>
                <a:lnTo>
                  <a:pt x="1134175" y="212412"/>
                </a:lnTo>
                <a:lnTo>
                  <a:pt x="1133882" y="220339"/>
                </a:lnTo>
                <a:lnTo>
                  <a:pt x="1134674" y="234442"/>
                </a:lnTo>
                <a:lnTo>
                  <a:pt x="1152766" y="275853"/>
                </a:lnTo>
                <a:lnTo>
                  <a:pt x="1169824" y="289445"/>
                </a:lnTo>
                <a:lnTo>
                  <a:pt x="1169824" y="292917"/>
                </a:lnTo>
                <a:lnTo>
                  <a:pt x="1141012" y="323911"/>
                </a:lnTo>
                <a:lnTo>
                  <a:pt x="1133882" y="361676"/>
                </a:lnTo>
                <a:lnTo>
                  <a:pt x="1134175" y="367965"/>
                </a:lnTo>
                <a:lnTo>
                  <a:pt x="1135055" y="378150"/>
                </a:lnTo>
                <a:lnTo>
                  <a:pt x="1136520" y="392230"/>
                </a:lnTo>
                <a:lnTo>
                  <a:pt x="1138571" y="410207"/>
                </a:lnTo>
                <a:lnTo>
                  <a:pt x="1140622" y="428411"/>
                </a:lnTo>
                <a:lnTo>
                  <a:pt x="1142087" y="443175"/>
                </a:lnTo>
                <a:lnTo>
                  <a:pt x="1142966" y="454499"/>
                </a:lnTo>
                <a:lnTo>
                  <a:pt x="1143259" y="462384"/>
                </a:lnTo>
                <a:lnTo>
                  <a:pt x="1143009" y="475775"/>
                </a:lnTo>
                <a:lnTo>
                  <a:pt x="1136986" y="519399"/>
                </a:lnTo>
                <a:lnTo>
                  <a:pt x="1117474" y="553475"/>
                </a:lnTo>
                <a:lnTo>
                  <a:pt x="1079709" y="568820"/>
                </a:lnTo>
                <a:lnTo>
                  <a:pt x="1079709" y="582711"/>
                </a:lnTo>
                <a:lnTo>
                  <a:pt x="1121772" y="573551"/>
                </a:lnTo>
                <a:lnTo>
                  <a:pt x="1151073" y="548852"/>
                </a:lnTo>
                <a:lnTo>
                  <a:pt x="1168262" y="509350"/>
                </a:lnTo>
                <a:lnTo>
                  <a:pt x="1173991" y="455785"/>
                </a:lnTo>
                <a:lnTo>
                  <a:pt x="1173661" y="444683"/>
                </a:lnTo>
                <a:lnTo>
                  <a:pt x="1172668" y="431346"/>
                </a:lnTo>
                <a:lnTo>
                  <a:pt x="1171013" y="415774"/>
                </a:lnTo>
                <a:lnTo>
                  <a:pt x="1168697" y="397965"/>
                </a:lnTo>
                <a:lnTo>
                  <a:pt x="1166380" y="380808"/>
                </a:lnTo>
                <a:lnTo>
                  <a:pt x="1164725" y="367189"/>
                </a:lnTo>
                <a:lnTo>
                  <a:pt x="1163732" y="357108"/>
                </a:lnTo>
                <a:lnTo>
                  <a:pt x="1163401" y="350564"/>
                </a:lnTo>
                <a:lnTo>
                  <a:pt x="1164025" y="339294"/>
                </a:lnTo>
                <a:lnTo>
                  <a:pt x="1185734" y="302489"/>
                </a:lnTo>
                <a:lnTo>
                  <a:pt x="1202815" y="298648"/>
                </a:lnTo>
                <a:lnTo>
                  <a:pt x="1202815" y="283715"/>
                </a:lnTo>
                <a:lnTo>
                  <a:pt x="1169065" y="262130"/>
                </a:lnTo>
                <a:lnTo>
                  <a:pt x="1163401" y="231625"/>
                </a:lnTo>
                <a:lnTo>
                  <a:pt x="1163732" y="224908"/>
                </a:lnTo>
                <a:lnTo>
                  <a:pt x="1164725" y="215173"/>
                </a:lnTo>
                <a:lnTo>
                  <a:pt x="1166467" y="201826"/>
                </a:lnTo>
                <a:lnTo>
                  <a:pt x="1168697" y="186654"/>
                </a:lnTo>
                <a:lnTo>
                  <a:pt x="1171013" y="170083"/>
                </a:lnTo>
                <a:lnTo>
                  <a:pt x="1172668" y="154923"/>
                </a:lnTo>
                <a:lnTo>
                  <a:pt x="1173661" y="141173"/>
                </a:lnTo>
                <a:lnTo>
                  <a:pt x="1173991" y="128835"/>
                </a:lnTo>
                <a:lnTo>
                  <a:pt x="1172478" y="98568"/>
                </a:lnTo>
                <a:lnTo>
                  <a:pt x="1160367" y="50732"/>
                </a:lnTo>
                <a:lnTo>
                  <a:pt x="1136308" y="19500"/>
                </a:lnTo>
                <a:lnTo>
                  <a:pt x="1101278" y="2918"/>
                </a:lnTo>
                <a:lnTo>
                  <a:pt x="1079709" y="0"/>
                </a:lnTo>
                <a:close/>
              </a:path>
              <a:path w="1203325" h="582929">
                <a:moveTo>
                  <a:pt x="123106" y="0"/>
                </a:moveTo>
                <a:lnTo>
                  <a:pt x="82562" y="9418"/>
                </a:lnTo>
                <a:lnTo>
                  <a:pt x="42399" y="50732"/>
                </a:lnTo>
                <a:lnTo>
                  <a:pt x="30332" y="98568"/>
                </a:lnTo>
                <a:lnTo>
                  <a:pt x="28823" y="128835"/>
                </a:lnTo>
                <a:lnTo>
                  <a:pt x="29154" y="141173"/>
                </a:lnTo>
                <a:lnTo>
                  <a:pt x="30147" y="154923"/>
                </a:lnTo>
                <a:lnTo>
                  <a:pt x="31802" y="170083"/>
                </a:lnTo>
                <a:lnTo>
                  <a:pt x="34119" y="186654"/>
                </a:lnTo>
                <a:lnTo>
                  <a:pt x="36436" y="202422"/>
                </a:lnTo>
                <a:lnTo>
                  <a:pt x="38091" y="215173"/>
                </a:lnTo>
                <a:lnTo>
                  <a:pt x="39084" y="224908"/>
                </a:lnTo>
                <a:lnTo>
                  <a:pt x="39415" y="231625"/>
                </a:lnTo>
                <a:lnTo>
                  <a:pt x="38786" y="243117"/>
                </a:lnTo>
                <a:lnTo>
                  <a:pt x="16973" y="280025"/>
                </a:lnTo>
                <a:lnTo>
                  <a:pt x="0" y="283715"/>
                </a:lnTo>
                <a:lnTo>
                  <a:pt x="0" y="298648"/>
                </a:lnTo>
                <a:lnTo>
                  <a:pt x="33799" y="320498"/>
                </a:lnTo>
                <a:lnTo>
                  <a:pt x="39415" y="350564"/>
                </a:lnTo>
                <a:lnTo>
                  <a:pt x="39084" y="357108"/>
                </a:lnTo>
                <a:lnTo>
                  <a:pt x="38091" y="367189"/>
                </a:lnTo>
                <a:lnTo>
                  <a:pt x="36436" y="380808"/>
                </a:lnTo>
                <a:lnTo>
                  <a:pt x="34119" y="397965"/>
                </a:lnTo>
                <a:lnTo>
                  <a:pt x="31802" y="415774"/>
                </a:lnTo>
                <a:lnTo>
                  <a:pt x="30147" y="431346"/>
                </a:lnTo>
                <a:lnTo>
                  <a:pt x="29154" y="444683"/>
                </a:lnTo>
                <a:lnTo>
                  <a:pt x="28823" y="455785"/>
                </a:lnTo>
                <a:lnTo>
                  <a:pt x="30250" y="484326"/>
                </a:lnTo>
                <a:lnTo>
                  <a:pt x="41666" y="530859"/>
                </a:lnTo>
                <a:lnTo>
                  <a:pt x="64684" y="563144"/>
                </a:lnTo>
                <a:lnTo>
                  <a:pt x="100409" y="580074"/>
                </a:lnTo>
                <a:lnTo>
                  <a:pt x="123106" y="582711"/>
                </a:lnTo>
                <a:lnTo>
                  <a:pt x="123106" y="568820"/>
                </a:lnTo>
                <a:lnTo>
                  <a:pt x="115694" y="567968"/>
                </a:lnTo>
                <a:lnTo>
                  <a:pt x="108738" y="566454"/>
                </a:lnTo>
                <a:lnTo>
                  <a:pt x="75878" y="542254"/>
                </a:lnTo>
                <a:lnTo>
                  <a:pt x="61803" y="499562"/>
                </a:lnTo>
                <a:lnTo>
                  <a:pt x="59556" y="462384"/>
                </a:lnTo>
                <a:lnTo>
                  <a:pt x="59849" y="454499"/>
                </a:lnTo>
                <a:lnTo>
                  <a:pt x="60728" y="443175"/>
                </a:lnTo>
                <a:lnTo>
                  <a:pt x="62193" y="428411"/>
                </a:lnTo>
                <a:lnTo>
                  <a:pt x="64244" y="410207"/>
                </a:lnTo>
                <a:lnTo>
                  <a:pt x="66295" y="392230"/>
                </a:lnTo>
                <a:lnTo>
                  <a:pt x="67760" y="378150"/>
                </a:lnTo>
                <a:lnTo>
                  <a:pt x="68639" y="367965"/>
                </a:lnTo>
                <a:lnTo>
                  <a:pt x="68933" y="361676"/>
                </a:lnTo>
                <a:lnTo>
                  <a:pt x="68135" y="347525"/>
                </a:lnTo>
                <a:lnTo>
                  <a:pt x="49936" y="306591"/>
                </a:lnTo>
                <a:lnTo>
                  <a:pt x="32990" y="292917"/>
                </a:lnTo>
                <a:lnTo>
                  <a:pt x="32990" y="289445"/>
                </a:lnTo>
                <a:lnTo>
                  <a:pt x="61754" y="258186"/>
                </a:lnTo>
                <a:lnTo>
                  <a:pt x="68933" y="220339"/>
                </a:lnTo>
                <a:lnTo>
                  <a:pt x="68639" y="212412"/>
                </a:lnTo>
                <a:lnTo>
                  <a:pt x="67760" y="201826"/>
                </a:lnTo>
                <a:lnTo>
                  <a:pt x="66295" y="188580"/>
                </a:lnTo>
                <a:lnTo>
                  <a:pt x="64244" y="172676"/>
                </a:lnTo>
                <a:lnTo>
                  <a:pt x="62193" y="156393"/>
                </a:lnTo>
                <a:lnTo>
                  <a:pt x="60728" y="142009"/>
                </a:lnTo>
                <a:lnTo>
                  <a:pt x="59849" y="129524"/>
                </a:lnTo>
                <a:lnTo>
                  <a:pt x="59556" y="118938"/>
                </a:lnTo>
                <a:lnTo>
                  <a:pt x="59833" y="105638"/>
                </a:lnTo>
                <a:lnTo>
                  <a:pt x="66436" y="62469"/>
                </a:lnTo>
                <a:lnTo>
                  <a:pt x="85796" y="28844"/>
                </a:lnTo>
                <a:lnTo>
                  <a:pt x="123106" y="13889"/>
                </a:lnTo>
                <a:lnTo>
                  <a:pt x="12310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387838" y="3573779"/>
            <a:ext cx="18986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C00000"/>
                </a:solidFill>
                <a:latin typeface="Cambria Math"/>
                <a:cs typeface="Cambria Math"/>
              </a:rPr>
              <a:t>𝒖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422862" y="3386853"/>
            <a:ext cx="648335" cy="235585"/>
          </a:xfrm>
          <a:custGeom>
            <a:avLst/>
            <a:gdLst/>
            <a:ahLst/>
            <a:cxnLst/>
            <a:rect l="l" t="t" r="r" b="b"/>
            <a:pathLst>
              <a:path w="648334" h="235585">
                <a:moveTo>
                  <a:pt x="572921" y="0"/>
                </a:moveTo>
                <a:lnTo>
                  <a:pt x="569573" y="9549"/>
                </a:lnTo>
                <a:lnTo>
                  <a:pt x="583192" y="15459"/>
                </a:lnTo>
                <a:lnTo>
                  <a:pt x="594904" y="23641"/>
                </a:lnTo>
                <a:lnTo>
                  <a:pt x="618686" y="61565"/>
                </a:lnTo>
                <a:lnTo>
                  <a:pt x="626499" y="116457"/>
                </a:lnTo>
                <a:lnTo>
                  <a:pt x="625627" y="137208"/>
                </a:lnTo>
                <a:lnTo>
                  <a:pt x="612547" y="188019"/>
                </a:lnTo>
                <a:lnTo>
                  <a:pt x="583351" y="219784"/>
                </a:lnTo>
                <a:lnTo>
                  <a:pt x="569945" y="225722"/>
                </a:lnTo>
                <a:lnTo>
                  <a:pt x="572921" y="235272"/>
                </a:lnTo>
                <a:lnTo>
                  <a:pt x="617872" y="208564"/>
                </a:lnTo>
                <a:lnTo>
                  <a:pt x="643118" y="159261"/>
                </a:lnTo>
                <a:lnTo>
                  <a:pt x="647955" y="117698"/>
                </a:lnTo>
                <a:lnTo>
                  <a:pt x="646742" y="96129"/>
                </a:lnTo>
                <a:lnTo>
                  <a:pt x="637037" y="57899"/>
                </a:lnTo>
                <a:lnTo>
                  <a:pt x="604934" y="15083"/>
                </a:lnTo>
                <a:lnTo>
                  <a:pt x="589978" y="6158"/>
                </a:lnTo>
                <a:lnTo>
                  <a:pt x="572921" y="0"/>
                </a:lnTo>
                <a:close/>
              </a:path>
              <a:path w="648334" h="235585">
                <a:moveTo>
                  <a:pt x="75034" y="0"/>
                </a:moveTo>
                <a:lnTo>
                  <a:pt x="30164" y="26776"/>
                </a:lnTo>
                <a:lnTo>
                  <a:pt x="4852" y="76196"/>
                </a:lnTo>
                <a:lnTo>
                  <a:pt x="0" y="117698"/>
                </a:lnTo>
                <a:lnTo>
                  <a:pt x="1209" y="139313"/>
                </a:lnTo>
                <a:lnTo>
                  <a:pt x="10882" y="177543"/>
                </a:lnTo>
                <a:lnTo>
                  <a:pt x="42942" y="220219"/>
                </a:lnTo>
                <a:lnTo>
                  <a:pt x="75034" y="235272"/>
                </a:lnTo>
                <a:lnTo>
                  <a:pt x="78011" y="225722"/>
                </a:lnTo>
                <a:lnTo>
                  <a:pt x="64604" y="219784"/>
                </a:lnTo>
                <a:lnTo>
                  <a:pt x="53035" y="211521"/>
                </a:lnTo>
                <a:lnTo>
                  <a:pt x="29304" y="172989"/>
                </a:lnTo>
                <a:lnTo>
                  <a:pt x="21455" y="116457"/>
                </a:lnTo>
                <a:lnTo>
                  <a:pt x="22327" y="96385"/>
                </a:lnTo>
                <a:lnTo>
                  <a:pt x="35408" y="46818"/>
                </a:lnTo>
                <a:lnTo>
                  <a:pt x="64813" y="15459"/>
                </a:lnTo>
                <a:lnTo>
                  <a:pt x="78381" y="9549"/>
                </a:lnTo>
                <a:lnTo>
                  <a:pt x="7503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162413" y="3210052"/>
            <a:ext cx="83439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7777" sz="4200">
                <a:solidFill>
                  <a:srgbClr val="C00000"/>
                </a:solidFill>
                <a:latin typeface="Cambria Math"/>
                <a:cs typeface="Cambria Math"/>
              </a:rPr>
              <a:t>𝒉</a:t>
            </a:r>
            <a:r>
              <a:rPr dirty="0" baseline="-27777" sz="4200" spc="202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000" spc="275">
                <a:solidFill>
                  <a:srgbClr val="C00000"/>
                </a:solidFill>
                <a:latin typeface="Cambria Math"/>
                <a:cs typeface="Cambria Math"/>
              </a:rPr>
              <a:t>ℓ-𝟏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248200" y="3735323"/>
            <a:ext cx="92964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60">
                <a:latin typeface="Cambria Math"/>
                <a:cs typeface="Cambria Math"/>
              </a:rPr>
              <a:t>#∈2())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970086" y="4716262"/>
            <a:ext cx="1438275" cy="253365"/>
          </a:xfrm>
          <a:custGeom>
            <a:avLst/>
            <a:gdLst/>
            <a:ahLst/>
            <a:cxnLst/>
            <a:rect l="l" t="t" r="r" b="b"/>
            <a:pathLst>
              <a:path w="1438275" h="253364">
                <a:moveTo>
                  <a:pt x="0" y="253114"/>
                </a:moveTo>
                <a:lnTo>
                  <a:pt x="1437728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970086" y="4969376"/>
            <a:ext cx="1314450" cy="627380"/>
          </a:xfrm>
          <a:custGeom>
            <a:avLst/>
            <a:gdLst/>
            <a:ahLst/>
            <a:cxnLst/>
            <a:rect l="l" t="t" r="r" b="b"/>
            <a:pathLst>
              <a:path w="1314450" h="627379">
                <a:moveTo>
                  <a:pt x="0" y="0"/>
                </a:moveTo>
                <a:lnTo>
                  <a:pt x="1314242" y="627313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048515" y="5715954"/>
            <a:ext cx="1283970" cy="116839"/>
          </a:xfrm>
          <a:custGeom>
            <a:avLst/>
            <a:gdLst/>
            <a:ahLst/>
            <a:cxnLst/>
            <a:rect l="l" t="t" r="r" b="b"/>
            <a:pathLst>
              <a:path w="1283970" h="116839">
                <a:moveTo>
                  <a:pt x="0" y="116635"/>
                </a:moveTo>
                <a:lnTo>
                  <a:pt x="1283962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913499" y="5715954"/>
            <a:ext cx="419100" cy="678180"/>
          </a:xfrm>
          <a:custGeom>
            <a:avLst/>
            <a:gdLst/>
            <a:ahLst/>
            <a:cxnLst/>
            <a:rect l="l" t="t" r="r" b="b"/>
            <a:pathLst>
              <a:path w="419100" h="678179">
                <a:moveTo>
                  <a:pt x="0" y="677968"/>
                </a:moveTo>
                <a:lnTo>
                  <a:pt x="418977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8284328" y="5428024"/>
            <a:ext cx="328930" cy="337820"/>
          </a:xfrm>
          <a:custGeom>
            <a:avLst/>
            <a:gdLst/>
            <a:ahLst/>
            <a:cxnLst/>
            <a:rect l="l" t="t" r="r" b="b"/>
            <a:pathLst>
              <a:path w="328929" h="337820">
                <a:moveTo>
                  <a:pt x="164390" y="0"/>
                </a:moveTo>
                <a:lnTo>
                  <a:pt x="120688" y="6024"/>
                </a:lnTo>
                <a:lnTo>
                  <a:pt x="81418" y="23027"/>
                </a:lnTo>
                <a:lnTo>
                  <a:pt x="48148" y="49400"/>
                </a:lnTo>
                <a:lnTo>
                  <a:pt x="22443" y="83536"/>
                </a:lnTo>
                <a:lnTo>
                  <a:pt x="5872" y="123827"/>
                </a:lnTo>
                <a:lnTo>
                  <a:pt x="0" y="168665"/>
                </a:lnTo>
                <a:lnTo>
                  <a:pt x="5872" y="213503"/>
                </a:lnTo>
                <a:lnTo>
                  <a:pt x="22443" y="253794"/>
                </a:lnTo>
                <a:lnTo>
                  <a:pt x="48148" y="287930"/>
                </a:lnTo>
                <a:lnTo>
                  <a:pt x="81418" y="314303"/>
                </a:lnTo>
                <a:lnTo>
                  <a:pt x="120688" y="331306"/>
                </a:lnTo>
                <a:lnTo>
                  <a:pt x="164390" y="337331"/>
                </a:lnTo>
                <a:lnTo>
                  <a:pt x="208091" y="331306"/>
                </a:lnTo>
                <a:lnTo>
                  <a:pt x="247360" y="314303"/>
                </a:lnTo>
                <a:lnTo>
                  <a:pt x="280631" y="287930"/>
                </a:lnTo>
                <a:lnTo>
                  <a:pt x="306335" y="253794"/>
                </a:lnTo>
                <a:lnTo>
                  <a:pt x="322907" y="213503"/>
                </a:lnTo>
                <a:lnTo>
                  <a:pt x="328780" y="168665"/>
                </a:lnTo>
                <a:lnTo>
                  <a:pt x="322907" y="123827"/>
                </a:lnTo>
                <a:lnTo>
                  <a:pt x="306335" y="83536"/>
                </a:lnTo>
                <a:lnTo>
                  <a:pt x="280631" y="49400"/>
                </a:lnTo>
                <a:lnTo>
                  <a:pt x="247360" y="23027"/>
                </a:lnTo>
                <a:lnTo>
                  <a:pt x="208091" y="6024"/>
                </a:lnTo>
                <a:lnTo>
                  <a:pt x="164390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8284328" y="5428024"/>
            <a:ext cx="328930" cy="337820"/>
          </a:xfrm>
          <a:custGeom>
            <a:avLst/>
            <a:gdLst/>
            <a:ahLst/>
            <a:cxnLst/>
            <a:rect l="l" t="t" r="r" b="b"/>
            <a:pathLst>
              <a:path w="328929" h="337820">
                <a:moveTo>
                  <a:pt x="0" y="168666"/>
                </a:moveTo>
                <a:lnTo>
                  <a:pt x="5872" y="123827"/>
                </a:lnTo>
                <a:lnTo>
                  <a:pt x="22444" y="83537"/>
                </a:lnTo>
                <a:lnTo>
                  <a:pt x="48148" y="49401"/>
                </a:lnTo>
                <a:lnTo>
                  <a:pt x="81419" y="23027"/>
                </a:lnTo>
                <a:lnTo>
                  <a:pt x="120688" y="6024"/>
                </a:lnTo>
                <a:lnTo>
                  <a:pt x="164390" y="0"/>
                </a:lnTo>
                <a:lnTo>
                  <a:pt x="208092" y="6024"/>
                </a:lnTo>
                <a:lnTo>
                  <a:pt x="247361" y="23027"/>
                </a:lnTo>
                <a:lnTo>
                  <a:pt x="280632" y="49401"/>
                </a:lnTo>
                <a:lnTo>
                  <a:pt x="306336" y="83537"/>
                </a:lnTo>
                <a:lnTo>
                  <a:pt x="322908" y="123827"/>
                </a:lnTo>
                <a:lnTo>
                  <a:pt x="328781" y="168666"/>
                </a:lnTo>
                <a:lnTo>
                  <a:pt x="322908" y="213504"/>
                </a:lnTo>
                <a:lnTo>
                  <a:pt x="306336" y="253794"/>
                </a:lnTo>
                <a:lnTo>
                  <a:pt x="280632" y="287930"/>
                </a:lnTo>
                <a:lnTo>
                  <a:pt x="247361" y="314304"/>
                </a:lnTo>
                <a:lnTo>
                  <a:pt x="208092" y="331307"/>
                </a:lnTo>
                <a:lnTo>
                  <a:pt x="164390" y="337332"/>
                </a:lnTo>
                <a:lnTo>
                  <a:pt x="120688" y="331307"/>
                </a:lnTo>
                <a:lnTo>
                  <a:pt x="81419" y="314304"/>
                </a:lnTo>
                <a:lnTo>
                  <a:pt x="48148" y="287930"/>
                </a:lnTo>
                <a:lnTo>
                  <a:pt x="22444" y="253794"/>
                </a:lnTo>
                <a:lnTo>
                  <a:pt x="5872" y="213504"/>
                </a:lnTo>
                <a:lnTo>
                  <a:pt x="0" y="168666"/>
                </a:lnTo>
                <a:close/>
              </a:path>
            </a:pathLst>
          </a:custGeom>
          <a:ln w="38100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8407813" y="4547596"/>
            <a:ext cx="328930" cy="337820"/>
          </a:xfrm>
          <a:custGeom>
            <a:avLst/>
            <a:gdLst/>
            <a:ahLst/>
            <a:cxnLst/>
            <a:rect l="l" t="t" r="r" b="b"/>
            <a:pathLst>
              <a:path w="328929" h="337820">
                <a:moveTo>
                  <a:pt x="164390" y="0"/>
                </a:moveTo>
                <a:lnTo>
                  <a:pt x="120688" y="6024"/>
                </a:lnTo>
                <a:lnTo>
                  <a:pt x="81419" y="23027"/>
                </a:lnTo>
                <a:lnTo>
                  <a:pt x="48148" y="49401"/>
                </a:lnTo>
                <a:lnTo>
                  <a:pt x="22444" y="83537"/>
                </a:lnTo>
                <a:lnTo>
                  <a:pt x="5872" y="123827"/>
                </a:lnTo>
                <a:lnTo>
                  <a:pt x="0" y="168666"/>
                </a:lnTo>
                <a:lnTo>
                  <a:pt x="5872" y="213504"/>
                </a:lnTo>
                <a:lnTo>
                  <a:pt x="22444" y="253795"/>
                </a:lnTo>
                <a:lnTo>
                  <a:pt x="48148" y="287931"/>
                </a:lnTo>
                <a:lnTo>
                  <a:pt x="81419" y="314304"/>
                </a:lnTo>
                <a:lnTo>
                  <a:pt x="120688" y="331307"/>
                </a:lnTo>
                <a:lnTo>
                  <a:pt x="164390" y="337332"/>
                </a:lnTo>
                <a:lnTo>
                  <a:pt x="208091" y="331307"/>
                </a:lnTo>
                <a:lnTo>
                  <a:pt x="247361" y="314304"/>
                </a:lnTo>
                <a:lnTo>
                  <a:pt x="280632" y="287931"/>
                </a:lnTo>
                <a:lnTo>
                  <a:pt x="306337" y="253795"/>
                </a:lnTo>
                <a:lnTo>
                  <a:pt x="322909" y="213504"/>
                </a:lnTo>
                <a:lnTo>
                  <a:pt x="328781" y="168666"/>
                </a:lnTo>
                <a:lnTo>
                  <a:pt x="322909" y="123827"/>
                </a:lnTo>
                <a:lnTo>
                  <a:pt x="306337" y="83537"/>
                </a:lnTo>
                <a:lnTo>
                  <a:pt x="280632" y="49401"/>
                </a:lnTo>
                <a:lnTo>
                  <a:pt x="247361" y="23027"/>
                </a:lnTo>
                <a:lnTo>
                  <a:pt x="208091" y="6024"/>
                </a:lnTo>
                <a:lnTo>
                  <a:pt x="164390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8407813" y="4547596"/>
            <a:ext cx="328930" cy="337820"/>
          </a:xfrm>
          <a:custGeom>
            <a:avLst/>
            <a:gdLst/>
            <a:ahLst/>
            <a:cxnLst/>
            <a:rect l="l" t="t" r="r" b="b"/>
            <a:pathLst>
              <a:path w="328929" h="337820">
                <a:moveTo>
                  <a:pt x="0" y="168666"/>
                </a:moveTo>
                <a:lnTo>
                  <a:pt x="5872" y="123827"/>
                </a:lnTo>
                <a:lnTo>
                  <a:pt x="22444" y="83537"/>
                </a:lnTo>
                <a:lnTo>
                  <a:pt x="48148" y="49401"/>
                </a:lnTo>
                <a:lnTo>
                  <a:pt x="81419" y="23027"/>
                </a:lnTo>
                <a:lnTo>
                  <a:pt x="120688" y="6024"/>
                </a:lnTo>
                <a:lnTo>
                  <a:pt x="164390" y="0"/>
                </a:lnTo>
                <a:lnTo>
                  <a:pt x="208092" y="6024"/>
                </a:lnTo>
                <a:lnTo>
                  <a:pt x="247361" y="23027"/>
                </a:lnTo>
                <a:lnTo>
                  <a:pt x="280632" y="49401"/>
                </a:lnTo>
                <a:lnTo>
                  <a:pt x="306336" y="83537"/>
                </a:lnTo>
                <a:lnTo>
                  <a:pt x="322908" y="123827"/>
                </a:lnTo>
                <a:lnTo>
                  <a:pt x="328781" y="168666"/>
                </a:lnTo>
                <a:lnTo>
                  <a:pt x="322908" y="213504"/>
                </a:lnTo>
                <a:lnTo>
                  <a:pt x="306336" y="253794"/>
                </a:lnTo>
                <a:lnTo>
                  <a:pt x="280632" y="287930"/>
                </a:lnTo>
                <a:lnTo>
                  <a:pt x="247361" y="314304"/>
                </a:lnTo>
                <a:lnTo>
                  <a:pt x="208092" y="331307"/>
                </a:lnTo>
                <a:lnTo>
                  <a:pt x="164390" y="337332"/>
                </a:lnTo>
                <a:lnTo>
                  <a:pt x="120688" y="331307"/>
                </a:lnTo>
                <a:lnTo>
                  <a:pt x="81419" y="314304"/>
                </a:lnTo>
                <a:lnTo>
                  <a:pt x="48148" y="287930"/>
                </a:lnTo>
                <a:lnTo>
                  <a:pt x="22444" y="253794"/>
                </a:lnTo>
                <a:lnTo>
                  <a:pt x="5872" y="213504"/>
                </a:lnTo>
                <a:lnTo>
                  <a:pt x="0" y="168666"/>
                </a:lnTo>
                <a:close/>
              </a:path>
            </a:pathLst>
          </a:custGeom>
          <a:ln w="38100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000366" y="5951854"/>
            <a:ext cx="680720" cy="442595"/>
          </a:xfrm>
          <a:custGeom>
            <a:avLst/>
            <a:gdLst/>
            <a:ahLst/>
            <a:cxnLst/>
            <a:rect l="l" t="t" r="r" b="b"/>
            <a:pathLst>
              <a:path w="680720" h="442595">
                <a:moveTo>
                  <a:pt x="680651" y="442068"/>
                </a:moveTo>
                <a:lnTo>
                  <a:pt x="0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805696" y="5138042"/>
            <a:ext cx="78740" cy="526415"/>
          </a:xfrm>
          <a:custGeom>
            <a:avLst/>
            <a:gdLst/>
            <a:ahLst/>
            <a:cxnLst/>
            <a:rect l="l" t="t" r="r" b="b"/>
            <a:pathLst>
              <a:path w="78740" h="526414">
                <a:moveTo>
                  <a:pt x="78429" y="525881"/>
                </a:moveTo>
                <a:lnTo>
                  <a:pt x="0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641304" y="4800710"/>
            <a:ext cx="328930" cy="337820"/>
          </a:xfrm>
          <a:custGeom>
            <a:avLst/>
            <a:gdLst/>
            <a:ahLst/>
            <a:cxnLst/>
            <a:rect l="l" t="t" r="r" b="b"/>
            <a:pathLst>
              <a:path w="328929" h="337820">
                <a:moveTo>
                  <a:pt x="164390" y="0"/>
                </a:moveTo>
                <a:lnTo>
                  <a:pt x="120688" y="6024"/>
                </a:lnTo>
                <a:lnTo>
                  <a:pt x="81419" y="23027"/>
                </a:lnTo>
                <a:lnTo>
                  <a:pt x="48148" y="49401"/>
                </a:lnTo>
                <a:lnTo>
                  <a:pt x="22444" y="83537"/>
                </a:lnTo>
                <a:lnTo>
                  <a:pt x="5872" y="123827"/>
                </a:lnTo>
                <a:lnTo>
                  <a:pt x="0" y="168666"/>
                </a:lnTo>
                <a:lnTo>
                  <a:pt x="5872" y="213504"/>
                </a:lnTo>
                <a:lnTo>
                  <a:pt x="22444" y="253795"/>
                </a:lnTo>
                <a:lnTo>
                  <a:pt x="48148" y="287931"/>
                </a:lnTo>
                <a:lnTo>
                  <a:pt x="81419" y="314304"/>
                </a:lnTo>
                <a:lnTo>
                  <a:pt x="120688" y="331307"/>
                </a:lnTo>
                <a:lnTo>
                  <a:pt x="164390" y="337332"/>
                </a:lnTo>
                <a:lnTo>
                  <a:pt x="208091" y="331307"/>
                </a:lnTo>
                <a:lnTo>
                  <a:pt x="247361" y="314304"/>
                </a:lnTo>
                <a:lnTo>
                  <a:pt x="280631" y="287931"/>
                </a:lnTo>
                <a:lnTo>
                  <a:pt x="306336" y="253795"/>
                </a:lnTo>
                <a:lnTo>
                  <a:pt x="322908" y="213504"/>
                </a:lnTo>
                <a:lnTo>
                  <a:pt x="328780" y="168666"/>
                </a:lnTo>
                <a:lnTo>
                  <a:pt x="322908" y="123827"/>
                </a:lnTo>
                <a:lnTo>
                  <a:pt x="306336" y="83537"/>
                </a:lnTo>
                <a:lnTo>
                  <a:pt x="280631" y="49401"/>
                </a:lnTo>
                <a:lnTo>
                  <a:pt x="247361" y="23027"/>
                </a:lnTo>
                <a:lnTo>
                  <a:pt x="208091" y="6024"/>
                </a:lnTo>
                <a:lnTo>
                  <a:pt x="164390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641304" y="4800710"/>
            <a:ext cx="328930" cy="337820"/>
          </a:xfrm>
          <a:custGeom>
            <a:avLst/>
            <a:gdLst/>
            <a:ahLst/>
            <a:cxnLst/>
            <a:rect l="l" t="t" r="r" b="b"/>
            <a:pathLst>
              <a:path w="328929" h="337820">
                <a:moveTo>
                  <a:pt x="0" y="168666"/>
                </a:moveTo>
                <a:lnTo>
                  <a:pt x="5872" y="123827"/>
                </a:lnTo>
                <a:lnTo>
                  <a:pt x="22444" y="83537"/>
                </a:lnTo>
                <a:lnTo>
                  <a:pt x="48148" y="49401"/>
                </a:lnTo>
                <a:lnTo>
                  <a:pt x="81419" y="23027"/>
                </a:lnTo>
                <a:lnTo>
                  <a:pt x="120688" y="6024"/>
                </a:lnTo>
                <a:lnTo>
                  <a:pt x="164390" y="0"/>
                </a:lnTo>
                <a:lnTo>
                  <a:pt x="208092" y="6024"/>
                </a:lnTo>
                <a:lnTo>
                  <a:pt x="247361" y="23027"/>
                </a:lnTo>
                <a:lnTo>
                  <a:pt x="280632" y="49401"/>
                </a:lnTo>
                <a:lnTo>
                  <a:pt x="306336" y="83537"/>
                </a:lnTo>
                <a:lnTo>
                  <a:pt x="322908" y="123827"/>
                </a:lnTo>
                <a:lnTo>
                  <a:pt x="328781" y="168666"/>
                </a:lnTo>
                <a:lnTo>
                  <a:pt x="322908" y="213504"/>
                </a:lnTo>
                <a:lnTo>
                  <a:pt x="306336" y="253794"/>
                </a:lnTo>
                <a:lnTo>
                  <a:pt x="280632" y="287930"/>
                </a:lnTo>
                <a:lnTo>
                  <a:pt x="247361" y="314304"/>
                </a:lnTo>
                <a:lnTo>
                  <a:pt x="208092" y="331307"/>
                </a:lnTo>
                <a:lnTo>
                  <a:pt x="164390" y="337332"/>
                </a:lnTo>
                <a:lnTo>
                  <a:pt x="120688" y="331307"/>
                </a:lnTo>
                <a:lnTo>
                  <a:pt x="81419" y="314304"/>
                </a:lnTo>
                <a:lnTo>
                  <a:pt x="48148" y="287930"/>
                </a:lnTo>
                <a:lnTo>
                  <a:pt x="22444" y="253794"/>
                </a:lnTo>
                <a:lnTo>
                  <a:pt x="5872" y="213504"/>
                </a:lnTo>
                <a:lnTo>
                  <a:pt x="0" y="168666"/>
                </a:lnTo>
                <a:close/>
              </a:path>
            </a:pathLst>
          </a:custGeom>
          <a:ln w="38100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719734" y="5663924"/>
            <a:ext cx="328930" cy="337820"/>
          </a:xfrm>
          <a:custGeom>
            <a:avLst/>
            <a:gdLst/>
            <a:ahLst/>
            <a:cxnLst/>
            <a:rect l="l" t="t" r="r" b="b"/>
            <a:pathLst>
              <a:path w="328929" h="337820">
                <a:moveTo>
                  <a:pt x="164391" y="0"/>
                </a:moveTo>
                <a:lnTo>
                  <a:pt x="120689" y="6024"/>
                </a:lnTo>
                <a:lnTo>
                  <a:pt x="81419" y="23027"/>
                </a:lnTo>
                <a:lnTo>
                  <a:pt x="48149" y="49401"/>
                </a:lnTo>
                <a:lnTo>
                  <a:pt x="22444" y="83537"/>
                </a:lnTo>
                <a:lnTo>
                  <a:pt x="5872" y="123827"/>
                </a:lnTo>
                <a:lnTo>
                  <a:pt x="0" y="168666"/>
                </a:lnTo>
                <a:lnTo>
                  <a:pt x="5872" y="213504"/>
                </a:lnTo>
                <a:lnTo>
                  <a:pt x="22444" y="253794"/>
                </a:lnTo>
                <a:lnTo>
                  <a:pt x="48149" y="287930"/>
                </a:lnTo>
                <a:lnTo>
                  <a:pt x="81419" y="314304"/>
                </a:lnTo>
                <a:lnTo>
                  <a:pt x="120689" y="331307"/>
                </a:lnTo>
                <a:lnTo>
                  <a:pt x="164391" y="337332"/>
                </a:lnTo>
                <a:lnTo>
                  <a:pt x="208092" y="331307"/>
                </a:lnTo>
                <a:lnTo>
                  <a:pt x="247361" y="314304"/>
                </a:lnTo>
                <a:lnTo>
                  <a:pt x="280632" y="287930"/>
                </a:lnTo>
                <a:lnTo>
                  <a:pt x="306337" y="253794"/>
                </a:lnTo>
                <a:lnTo>
                  <a:pt x="322909" y="213504"/>
                </a:lnTo>
                <a:lnTo>
                  <a:pt x="328781" y="168666"/>
                </a:lnTo>
                <a:lnTo>
                  <a:pt x="322909" y="123827"/>
                </a:lnTo>
                <a:lnTo>
                  <a:pt x="306337" y="83537"/>
                </a:lnTo>
                <a:lnTo>
                  <a:pt x="280632" y="49401"/>
                </a:lnTo>
                <a:lnTo>
                  <a:pt x="247361" y="23027"/>
                </a:lnTo>
                <a:lnTo>
                  <a:pt x="208092" y="6024"/>
                </a:lnTo>
                <a:lnTo>
                  <a:pt x="164391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719734" y="5663924"/>
            <a:ext cx="328930" cy="337820"/>
          </a:xfrm>
          <a:custGeom>
            <a:avLst/>
            <a:gdLst/>
            <a:ahLst/>
            <a:cxnLst/>
            <a:rect l="l" t="t" r="r" b="b"/>
            <a:pathLst>
              <a:path w="328929" h="337820">
                <a:moveTo>
                  <a:pt x="0" y="168666"/>
                </a:moveTo>
                <a:lnTo>
                  <a:pt x="5872" y="123827"/>
                </a:lnTo>
                <a:lnTo>
                  <a:pt x="22444" y="83537"/>
                </a:lnTo>
                <a:lnTo>
                  <a:pt x="48148" y="49401"/>
                </a:lnTo>
                <a:lnTo>
                  <a:pt x="81419" y="23027"/>
                </a:lnTo>
                <a:lnTo>
                  <a:pt x="120688" y="6024"/>
                </a:lnTo>
                <a:lnTo>
                  <a:pt x="164390" y="0"/>
                </a:lnTo>
                <a:lnTo>
                  <a:pt x="208092" y="6024"/>
                </a:lnTo>
                <a:lnTo>
                  <a:pt x="247361" y="23027"/>
                </a:lnTo>
                <a:lnTo>
                  <a:pt x="280632" y="49401"/>
                </a:lnTo>
                <a:lnTo>
                  <a:pt x="306336" y="83537"/>
                </a:lnTo>
                <a:lnTo>
                  <a:pt x="322908" y="123827"/>
                </a:lnTo>
                <a:lnTo>
                  <a:pt x="328781" y="168666"/>
                </a:lnTo>
                <a:lnTo>
                  <a:pt x="322908" y="213504"/>
                </a:lnTo>
                <a:lnTo>
                  <a:pt x="306336" y="253794"/>
                </a:lnTo>
                <a:lnTo>
                  <a:pt x="280632" y="287930"/>
                </a:lnTo>
                <a:lnTo>
                  <a:pt x="247361" y="314304"/>
                </a:lnTo>
                <a:lnTo>
                  <a:pt x="208092" y="331307"/>
                </a:lnTo>
                <a:lnTo>
                  <a:pt x="164390" y="337332"/>
                </a:lnTo>
                <a:lnTo>
                  <a:pt x="120688" y="331307"/>
                </a:lnTo>
                <a:lnTo>
                  <a:pt x="81419" y="314304"/>
                </a:lnTo>
                <a:lnTo>
                  <a:pt x="48148" y="287930"/>
                </a:lnTo>
                <a:lnTo>
                  <a:pt x="22444" y="253794"/>
                </a:lnTo>
                <a:lnTo>
                  <a:pt x="5872" y="213504"/>
                </a:lnTo>
                <a:lnTo>
                  <a:pt x="0" y="168666"/>
                </a:lnTo>
                <a:close/>
              </a:path>
            </a:pathLst>
          </a:custGeom>
          <a:ln w="38100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632867" y="6344522"/>
            <a:ext cx="328930" cy="337820"/>
          </a:xfrm>
          <a:custGeom>
            <a:avLst/>
            <a:gdLst/>
            <a:ahLst/>
            <a:cxnLst/>
            <a:rect l="l" t="t" r="r" b="b"/>
            <a:pathLst>
              <a:path w="328929" h="337820">
                <a:moveTo>
                  <a:pt x="164390" y="0"/>
                </a:moveTo>
                <a:lnTo>
                  <a:pt x="120688" y="6024"/>
                </a:lnTo>
                <a:lnTo>
                  <a:pt x="81419" y="23027"/>
                </a:lnTo>
                <a:lnTo>
                  <a:pt x="48148" y="49401"/>
                </a:lnTo>
                <a:lnTo>
                  <a:pt x="22444" y="83537"/>
                </a:lnTo>
                <a:lnTo>
                  <a:pt x="5872" y="123827"/>
                </a:lnTo>
                <a:lnTo>
                  <a:pt x="0" y="168666"/>
                </a:lnTo>
                <a:lnTo>
                  <a:pt x="5872" y="213504"/>
                </a:lnTo>
                <a:lnTo>
                  <a:pt x="22444" y="253794"/>
                </a:lnTo>
                <a:lnTo>
                  <a:pt x="48148" y="287930"/>
                </a:lnTo>
                <a:lnTo>
                  <a:pt x="81419" y="314304"/>
                </a:lnTo>
                <a:lnTo>
                  <a:pt x="120688" y="331307"/>
                </a:lnTo>
                <a:lnTo>
                  <a:pt x="164390" y="337331"/>
                </a:lnTo>
                <a:lnTo>
                  <a:pt x="208091" y="331307"/>
                </a:lnTo>
                <a:lnTo>
                  <a:pt x="247361" y="314304"/>
                </a:lnTo>
                <a:lnTo>
                  <a:pt x="280632" y="287930"/>
                </a:lnTo>
                <a:lnTo>
                  <a:pt x="306337" y="253794"/>
                </a:lnTo>
                <a:lnTo>
                  <a:pt x="322909" y="213504"/>
                </a:lnTo>
                <a:lnTo>
                  <a:pt x="328781" y="168666"/>
                </a:lnTo>
                <a:lnTo>
                  <a:pt x="322909" y="123827"/>
                </a:lnTo>
                <a:lnTo>
                  <a:pt x="306337" y="83537"/>
                </a:lnTo>
                <a:lnTo>
                  <a:pt x="280632" y="49401"/>
                </a:lnTo>
                <a:lnTo>
                  <a:pt x="247361" y="23027"/>
                </a:lnTo>
                <a:lnTo>
                  <a:pt x="208091" y="6024"/>
                </a:lnTo>
                <a:lnTo>
                  <a:pt x="164390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632867" y="6344522"/>
            <a:ext cx="328930" cy="337820"/>
          </a:xfrm>
          <a:custGeom>
            <a:avLst/>
            <a:gdLst/>
            <a:ahLst/>
            <a:cxnLst/>
            <a:rect l="l" t="t" r="r" b="b"/>
            <a:pathLst>
              <a:path w="328929" h="337820">
                <a:moveTo>
                  <a:pt x="0" y="168666"/>
                </a:moveTo>
                <a:lnTo>
                  <a:pt x="5872" y="123827"/>
                </a:lnTo>
                <a:lnTo>
                  <a:pt x="22444" y="83537"/>
                </a:lnTo>
                <a:lnTo>
                  <a:pt x="48148" y="49401"/>
                </a:lnTo>
                <a:lnTo>
                  <a:pt x="81419" y="23027"/>
                </a:lnTo>
                <a:lnTo>
                  <a:pt x="120688" y="6024"/>
                </a:lnTo>
                <a:lnTo>
                  <a:pt x="164390" y="0"/>
                </a:lnTo>
                <a:lnTo>
                  <a:pt x="208092" y="6024"/>
                </a:lnTo>
                <a:lnTo>
                  <a:pt x="247361" y="23027"/>
                </a:lnTo>
                <a:lnTo>
                  <a:pt x="280632" y="49401"/>
                </a:lnTo>
                <a:lnTo>
                  <a:pt x="306336" y="83537"/>
                </a:lnTo>
                <a:lnTo>
                  <a:pt x="322908" y="123827"/>
                </a:lnTo>
                <a:lnTo>
                  <a:pt x="328781" y="168666"/>
                </a:lnTo>
                <a:lnTo>
                  <a:pt x="322908" y="213504"/>
                </a:lnTo>
                <a:lnTo>
                  <a:pt x="306336" y="253794"/>
                </a:lnTo>
                <a:lnTo>
                  <a:pt x="280632" y="287930"/>
                </a:lnTo>
                <a:lnTo>
                  <a:pt x="247361" y="314304"/>
                </a:lnTo>
                <a:lnTo>
                  <a:pt x="208092" y="331307"/>
                </a:lnTo>
                <a:lnTo>
                  <a:pt x="164390" y="337332"/>
                </a:lnTo>
                <a:lnTo>
                  <a:pt x="120688" y="331307"/>
                </a:lnTo>
                <a:lnTo>
                  <a:pt x="81419" y="314304"/>
                </a:lnTo>
                <a:lnTo>
                  <a:pt x="48148" y="287930"/>
                </a:lnTo>
                <a:lnTo>
                  <a:pt x="22444" y="253794"/>
                </a:lnTo>
                <a:lnTo>
                  <a:pt x="5872" y="213504"/>
                </a:lnTo>
                <a:lnTo>
                  <a:pt x="0" y="168666"/>
                </a:lnTo>
                <a:close/>
              </a:path>
            </a:pathLst>
          </a:custGeom>
          <a:ln w="38100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041071" y="4464034"/>
            <a:ext cx="1166495" cy="269240"/>
          </a:xfrm>
          <a:custGeom>
            <a:avLst/>
            <a:gdLst/>
            <a:ahLst/>
            <a:cxnLst/>
            <a:rect l="l" t="t" r="r" b="b"/>
            <a:pathLst>
              <a:path w="1166495" h="269239">
                <a:moveTo>
                  <a:pt x="1060252" y="34302"/>
                </a:moveTo>
                <a:lnTo>
                  <a:pt x="13869" y="234499"/>
                </a:lnTo>
                <a:lnTo>
                  <a:pt x="0" y="254932"/>
                </a:lnTo>
                <a:lnTo>
                  <a:pt x="2625" y="261350"/>
                </a:lnTo>
                <a:lnTo>
                  <a:pt x="7343" y="266098"/>
                </a:lnTo>
                <a:lnTo>
                  <a:pt x="13498" y="268731"/>
                </a:lnTo>
                <a:lnTo>
                  <a:pt x="20433" y="268801"/>
                </a:lnTo>
                <a:lnTo>
                  <a:pt x="1066814" y="68605"/>
                </a:lnTo>
                <a:lnTo>
                  <a:pt x="1060252" y="34302"/>
                </a:lnTo>
                <a:close/>
              </a:path>
              <a:path w="1166495" h="269239">
                <a:moveTo>
                  <a:pt x="1163800" y="31021"/>
                </a:moveTo>
                <a:lnTo>
                  <a:pt x="1077403" y="31021"/>
                </a:lnTo>
                <a:lnTo>
                  <a:pt x="1084336" y="31091"/>
                </a:lnTo>
                <a:lnTo>
                  <a:pt x="1090492" y="33724"/>
                </a:lnTo>
                <a:lnTo>
                  <a:pt x="1095210" y="38472"/>
                </a:lnTo>
                <a:lnTo>
                  <a:pt x="1097836" y="44890"/>
                </a:lnTo>
                <a:lnTo>
                  <a:pt x="1097765" y="51824"/>
                </a:lnTo>
                <a:lnTo>
                  <a:pt x="1095132" y="57979"/>
                </a:lnTo>
                <a:lnTo>
                  <a:pt x="1090384" y="62698"/>
                </a:lnTo>
                <a:lnTo>
                  <a:pt x="1083966" y="65323"/>
                </a:lnTo>
                <a:lnTo>
                  <a:pt x="1066814" y="68605"/>
                </a:lnTo>
                <a:lnTo>
                  <a:pt x="1073377" y="102908"/>
                </a:lnTo>
                <a:lnTo>
                  <a:pt x="1166441" y="31765"/>
                </a:lnTo>
                <a:lnTo>
                  <a:pt x="1163800" y="31021"/>
                </a:lnTo>
                <a:close/>
              </a:path>
              <a:path w="1166495" h="269239">
                <a:moveTo>
                  <a:pt x="1077403" y="31021"/>
                </a:moveTo>
                <a:lnTo>
                  <a:pt x="1060252" y="34302"/>
                </a:lnTo>
                <a:lnTo>
                  <a:pt x="1066814" y="68605"/>
                </a:lnTo>
                <a:lnTo>
                  <a:pt x="1083966" y="65323"/>
                </a:lnTo>
                <a:lnTo>
                  <a:pt x="1090384" y="62698"/>
                </a:lnTo>
                <a:lnTo>
                  <a:pt x="1095132" y="57979"/>
                </a:lnTo>
                <a:lnTo>
                  <a:pt x="1097765" y="51824"/>
                </a:lnTo>
                <a:lnTo>
                  <a:pt x="1097836" y="44890"/>
                </a:lnTo>
                <a:lnTo>
                  <a:pt x="1095210" y="38472"/>
                </a:lnTo>
                <a:lnTo>
                  <a:pt x="1090492" y="33724"/>
                </a:lnTo>
                <a:lnTo>
                  <a:pt x="1084336" y="31091"/>
                </a:lnTo>
                <a:lnTo>
                  <a:pt x="1077403" y="31021"/>
                </a:lnTo>
                <a:close/>
              </a:path>
              <a:path w="1166495" h="269239">
                <a:moveTo>
                  <a:pt x="1053689" y="0"/>
                </a:moveTo>
                <a:lnTo>
                  <a:pt x="1060252" y="34302"/>
                </a:lnTo>
                <a:lnTo>
                  <a:pt x="1077403" y="31021"/>
                </a:lnTo>
                <a:lnTo>
                  <a:pt x="1163800" y="31021"/>
                </a:lnTo>
                <a:lnTo>
                  <a:pt x="1053689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070070" y="4602131"/>
            <a:ext cx="1162685" cy="283210"/>
          </a:xfrm>
          <a:custGeom>
            <a:avLst/>
            <a:gdLst/>
            <a:ahLst/>
            <a:cxnLst/>
            <a:rect l="l" t="t" r="r" b="b"/>
            <a:pathLst>
              <a:path w="1162684" h="283210">
                <a:moveTo>
                  <a:pt x="92067" y="180405"/>
                </a:moveTo>
                <a:lnTo>
                  <a:pt x="0" y="252834"/>
                </a:lnTo>
                <a:lnTo>
                  <a:pt x="113183" y="283030"/>
                </a:lnTo>
                <a:lnTo>
                  <a:pt x="106874" y="252367"/>
                </a:lnTo>
                <a:lnTo>
                  <a:pt x="82106" y="252367"/>
                </a:lnTo>
                <a:lnTo>
                  <a:pt x="75915" y="249820"/>
                </a:lnTo>
                <a:lnTo>
                  <a:pt x="71131" y="245138"/>
                </a:lnTo>
                <a:lnTo>
                  <a:pt x="68417" y="238756"/>
                </a:lnTo>
                <a:lnTo>
                  <a:pt x="68392" y="231822"/>
                </a:lnTo>
                <a:lnTo>
                  <a:pt x="70939" y="225631"/>
                </a:lnTo>
                <a:lnTo>
                  <a:pt x="75621" y="220847"/>
                </a:lnTo>
                <a:lnTo>
                  <a:pt x="82002" y="218133"/>
                </a:lnTo>
                <a:lnTo>
                  <a:pt x="99106" y="214614"/>
                </a:lnTo>
                <a:lnTo>
                  <a:pt x="92067" y="180405"/>
                </a:lnTo>
                <a:close/>
              </a:path>
              <a:path w="1162684" h="283210">
                <a:moveTo>
                  <a:pt x="99106" y="214614"/>
                </a:moveTo>
                <a:lnTo>
                  <a:pt x="82002" y="218133"/>
                </a:lnTo>
                <a:lnTo>
                  <a:pt x="75621" y="220847"/>
                </a:lnTo>
                <a:lnTo>
                  <a:pt x="70939" y="225631"/>
                </a:lnTo>
                <a:lnTo>
                  <a:pt x="68392" y="231822"/>
                </a:lnTo>
                <a:lnTo>
                  <a:pt x="68417" y="238756"/>
                </a:lnTo>
                <a:lnTo>
                  <a:pt x="71131" y="245138"/>
                </a:lnTo>
                <a:lnTo>
                  <a:pt x="75915" y="249820"/>
                </a:lnTo>
                <a:lnTo>
                  <a:pt x="82106" y="252367"/>
                </a:lnTo>
                <a:lnTo>
                  <a:pt x="89040" y="252342"/>
                </a:lnTo>
                <a:lnTo>
                  <a:pt x="106145" y="248822"/>
                </a:lnTo>
                <a:lnTo>
                  <a:pt x="99106" y="214614"/>
                </a:lnTo>
                <a:close/>
              </a:path>
              <a:path w="1162684" h="283210">
                <a:moveTo>
                  <a:pt x="106145" y="248822"/>
                </a:moveTo>
                <a:lnTo>
                  <a:pt x="89040" y="252342"/>
                </a:lnTo>
                <a:lnTo>
                  <a:pt x="82106" y="252367"/>
                </a:lnTo>
                <a:lnTo>
                  <a:pt x="106874" y="252367"/>
                </a:lnTo>
                <a:lnTo>
                  <a:pt x="106145" y="248822"/>
                </a:lnTo>
                <a:close/>
              </a:path>
              <a:path w="1162684" h="283210">
                <a:moveTo>
                  <a:pt x="1148920" y="0"/>
                </a:moveTo>
                <a:lnTo>
                  <a:pt x="1141985" y="26"/>
                </a:lnTo>
                <a:lnTo>
                  <a:pt x="99106" y="214614"/>
                </a:lnTo>
                <a:lnTo>
                  <a:pt x="106145" y="248822"/>
                </a:lnTo>
                <a:lnTo>
                  <a:pt x="1149024" y="34233"/>
                </a:lnTo>
                <a:lnTo>
                  <a:pt x="1155405" y="31519"/>
                </a:lnTo>
                <a:lnTo>
                  <a:pt x="1160088" y="26735"/>
                </a:lnTo>
                <a:lnTo>
                  <a:pt x="1162635" y="20544"/>
                </a:lnTo>
                <a:lnTo>
                  <a:pt x="1162610" y="13610"/>
                </a:lnTo>
                <a:lnTo>
                  <a:pt x="1159895" y="7229"/>
                </a:lnTo>
                <a:lnTo>
                  <a:pt x="1155111" y="2546"/>
                </a:lnTo>
                <a:lnTo>
                  <a:pt x="114892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6504186" y="5151168"/>
            <a:ext cx="130810" cy="610870"/>
          </a:xfrm>
          <a:custGeom>
            <a:avLst/>
            <a:gdLst/>
            <a:ahLst/>
            <a:cxnLst/>
            <a:rect l="l" t="t" r="r" b="b"/>
            <a:pathLst>
              <a:path w="130809" h="610870">
                <a:moveTo>
                  <a:pt x="61241" y="508530"/>
                </a:moveTo>
                <a:lnTo>
                  <a:pt x="26587" y="512870"/>
                </a:lnTo>
                <a:lnTo>
                  <a:pt x="91587" y="610323"/>
                </a:lnTo>
                <a:lnTo>
                  <a:pt x="116031" y="541014"/>
                </a:lnTo>
                <a:lnTo>
                  <a:pt x="82908" y="541014"/>
                </a:lnTo>
                <a:lnTo>
                  <a:pt x="75993" y="540497"/>
                </a:lnTo>
                <a:lnTo>
                  <a:pt x="70020" y="537474"/>
                </a:lnTo>
                <a:lnTo>
                  <a:pt x="65617" y="532431"/>
                </a:lnTo>
                <a:lnTo>
                  <a:pt x="63411" y="525857"/>
                </a:lnTo>
                <a:lnTo>
                  <a:pt x="61241" y="508530"/>
                </a:lnTo>
                <a:close/>
              </a:path>
              <a:path w="130809" h="610870">
                <a:moveTo>
                  <a:pt x="95895" y="504190"/>
                </a:moveTo>
                <a:lnTo>
                  <a:pt x="61241" y="508530"/>
                </a:lnTo>
                <a:lnTo>
                  <a:pt x="63411" y="525857"/>
                </a:lnTo>
                <a:lnTo>
                  <a:pt x="65617" y="532431"/>
                </a:lnTo>
                <a:lnTo>
                  <a:pt x="70020" y="537474"/>
                </a:lnTo>
                <a:lnTo>
                  <a:pt x="75993" y="540497"/>
                </a:lnTo>
                <a:lnTo>
                  <a:pt x="82908" y="541014"/>
                </a:lnTo>
                <a:lnTo>
                  <a:pt x="89482" y="538808"/>
                </a:lnTo>
                <a:lnTo>
                  <a:pt x="94524" y="534405"/>
                </a:lnTo>
                <a:lnTo>
                  <a:pt x="97548" y="528432"/>
                </a:lnTo>
                <a:lnTo>
                  <a:pt x="98065" y="521517"/>
                </a:lnTo>
                <a:lnTo>
                  <a:pt x="95895" y="504190"/>
                </a:lnTo>
                <a:close/>
              </a:path>
              <a:path w="130809" h="610870">
                <a:moveTo>
                  <a:pt x="130549" y="499850"/>
                </a:moveTo>
                <a:lnTo>
                  <a:pt x="95895" y="504190"/>
                </a:lnTo>
                <a:lnTo>
                  <a:pt x="98065" y="521517"/>
                </a:lnTo>
                <a:lnTo>
                  <a:pt x="97548" y="528432"/>
                </a:lnTo>
                <a:lnTo>
                  <a:pt x="94524" y="534405"/>
                </a:lnTo>
                <a:lnTo>
                  <a:pt x="89482" y="538808"/>
                </a:lnTo>
                <a:lnTo>
                  <a:pt x="82908" y="541014"/>
                </a:lnTo>
                <a:lnTo>
                  <a:pt x="116031" y="541014"/>
                </a:lnTo>
                <a:lnTo>
                  <a:pt x="130549" y="499850"/>
                </a:lnTo>
                <a:close/>
              </a:path>
              <a:path w="130809" h="610870">
                <a:moveTo>
                  <a:pt x="15157" y="0"/>
                </a:moveTo>
                <a:lnTo>
                  <a:pt x="8582" y="2205"/>
                </a:lnTo>
                <a:lnTo>
                  <a:pt x="3540" y="6609"/>
                </a:lnTo>
                <a:lnTo>
                  <a:pt x="516" y="12581"/>
                </a:lnTo>
                <a:lnTo>
                  <a:pt x="0" y="19497"/>
                </a:lnTo>
                <a:lnTo>
                  <a:pt x="61241" y="508530"/>
                </a:lnTo>
                <a:lnTo>
                  <a:pt x="95895" y="504190"/>
                </a:lnTo>
                <a:lnTo>
                  <a:pt x="34654" y="15157"/>
                </a:lnTo>
                <a:lnTo>
                  <a:pt x="32448" y="8583"/>
                </a:lnTo>
                <a:lnTo>
                  <a:pt x="28044" y="3540"/>
                </a:lnTo>
                <a:lnTo>
                  <a:pt x="22072" y="516"/>
                </a:lnTo>
                <a:lnTo>
                  <a:pt x="15157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6361152" y="5147534"/>
            <a:ext cx="142240" cy="611505"/>
          </a:xfrm>
          <a:custGeom>
            <a:avLst/>
            <a:gdLst/>
            <a:ahLst/>
            <a:cxnLst/>
            <a:rect l="l" t="t" r="r" b="b"/>
            <a:pathLst>
              <a:path w="142240" h="611504">
                <a:moveTo>
                  <a:pt x="69086" y="101054"/>
                </a:moveTo>
                <a:lnTo>
                  <a:pt x="107690" y="596782"/>
                </a:lnTo>
                <a:lnTo>
                  <a:pt x="127537" y="611478"/>
                </a:lnTo>
                <a:lnTo>
                  <a:pt x="134057" y="609118"/>
                </a:lnTo>
                <a:lnTo>
                  <a:pt x="138995" y="604598"/>
                </a:lnTo>
                <a:lnTo>
                  <a:pt x="141878" y="598556"/>
                </a:lnTo>
                <a:lnTo>
                  <a:pt x="142233" y="591631"/>
                </a:lnTo>
                <a:lnTo>
                  <a:pt x="69086" y="101054"/>
                </a:lnTo>
                <a:close/>
              </a:path>
              <a:path w="142240" h="611504">
                <a:moveTo>
                  <a:pt x="36363" y="0"/>
                </a:moveTo>
                <a:lnTo>
                  <a:pt x="0" y="111356"/>
                </a:lnTo>
                <a:lnTo>
                  <a:pt x="34543" y="106205"/>
                </a:lnTo>
                <a:lnTo>
                  <a:pt x="31968" y="88934"/>
                </a:lnTo>
                <a:lnTo>
                  <a:pt x="32323" y="82008"/>
                </a:lnTo>
                <a:lnTo>
                  <a:pt x="35206" y="75966"/>
                </a:lnTo>
                <a:lnTo>
                  <a:pt x="40144" y="71446"/>
                </a:lnTo>
                <a:lnTo>
                  <a:pt x="46664" y="69086"/>
                </a:lnTo>
                <a:lnTo>
                  <a:pt x="84820" y="69086"/>
                </a:lnTo>
                <a:lnTo>
                  <a:pt x="36363" y="0"/>
                </a:lnTo>
                <a:close/>
              </a:path>
              <a:path w="142240" h="611504">
                <a:moveTo>
                  <a:pt x="46664" y="69086"/>
                </a:moveTo>
                <a:lnTo>
                  <a:pt x="40144" y="71446"/>
                </a:lnTo>
                <a:lnTo>
                  <a:pt x="35206" y="75966"/>
                </a:lnTo>
                <a:lnTo>
                  <a:pt x="32323" y="82008"/>
                </a:lnTo>
                <a:lnTo>
                  <a:pt x="31968" y="88934"/>
                </a:lnTo>
                <a:lnTo>
                  <a:pt x="34543" y="106205"/>
                </a:lnTo>
                <a:lnTo>
                  <a:pt x="69086" y="101054"/>
                </a:lnTo>
                <a:lnTo>
                  <a:pt x="66511" y="83783"/>
                </a:lnTo>
                <a:lnTo>
                  <a:pt x="64151" y="77262"/>
                </a:lnTo>
                <a:lnTo>
                  <a:pt x="59631" y="72324"/>
                </a:lnTo>
                <a:lnTo>
                  <a:pt x="53590" y="69441"/>
                </a:lnTo>
                <a:lnTo>
                  <a:pt x="46664" y="69086"/>
                </a:lnTo>
                <a:close/>
              </a:path>
              <a:path w="142240" h="611504">
                <a:moveTo>
                  <a:pt x="84820" y="69086"/>
                </a:moveTo>
                <a:lnTo>
                  <a:pt x="46664" y="69086"/>
                </a:lnTo>
                <a:lnTo>
                  <a:pt x="53590" y="69441"/>
                </a:lnTo>
                <a:lnTo>
                  <a:pt x="59631" y="72324"/>
                </a:lnTo>
                <a:lnTo>
                  <a:pt x="64151" y="77262"/>
                </a:lnTo>
                <a:lnTo>
                  <a:pt x="66511" y="83783"/>
                </a:lnTo>
                <a:lnTo>
                  <a:pt x="69086" y="101054"/>
                </a:lnTo>
                <a:lnTo>
                  <a:pt x="103629" y="95904"/>
                </a:lnTo>
                <a:lnTo>
                  <a:pt x="84820" y="69086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086784" y="5660418"/>
            <a:ext cx="1014730" cy="144145"/>
          </a:xfrm>
          <a:custGeom>
            <a:avLst/>
            <a:gdLst/>
            <a:ahLst/>
            <a:cxnLst/>
            <a:rect l="l" t="t" r="r" b="b"/>
            <a:pathLst>
              <a:path w="1014729" h="144145">
                <a:moveTo>
                  <a:pt x="100087" y="39223"/>
                </a:moveTo>
                <a:lnTo>
                  <a:pt x="0" y="100090"/>
                </a:lnTo>
                <a:lnTo>
                  <a:pt x="108746" y="143640"/>
                </a:lnTo>
                <a:lnTo>
                  <a:pt x="105979" y="110278"/>
                </a:lnTo>
                <a:lnTo>
                  <a:pt x="88456" y="110278"/>
                </a:lnTo>
                <a:lnTo>
                  <a:pt x="81569" y="109472"/>
                </a:lnTo>
                <a:lnTo>
                  <a:pt x="75728" y="106201"/>
                </a:lnTo>
                <a:lnTo>
                  <a:pt x="71540" y="100978"/>
                </a:lnTo>
                <a:lnTo>
                  <a:pt x="69611" y="94318"/>
                </a:lnTo>
                <a:lnTo>
                  <a:pt x="70416" y="87431"/>
                </a:lnTo>
                <a:lnTo>
                  <a:pt x="73687" y="81590"/>
                </a:lnTo>
                <a:lnTo>
                  <a:pt x="78910" y="77401"/>
                </a:lnTo>
                <a:lnTo>
                  <a:pt x="85571" y="75472"/>
                </a:lnTo>
                <a:lnTo>
                  <a:pt x="102973" y="74029"/>
                </a:lnTo>
                <a:lnTo>
                  <a:pt x="100087" y="39223"/>
                </a:lnTo>
                <a:close/>
              </a:path>
              <a:path w="1014729" h="144145">
                <a:moveTo>
                  <a:pt x="102973" y="74029"/>
                </a:moveTo>
                <a:lnTo>
                  <a:pt x="69611" y="94318"/>
                </a:lnTo>
                <a:lnTo>
                  <a:pt x="71540" y="100978"/>
                </a:lnTo>
                <a:lnTo>
                  <a:pt x="75728" y="106201"/>
                </a:lnTo>
                <a:lnTo>
                  <a:pt x="81569" y="109472"/>
                </a:lnTo>
                <a:lnTo>
                  <a:pt x="88456" y="110278"/>
                </a:lnTo>
                <a:lnTo>
                  <a:pt x="105859" y="108834"/>
                </a:lnTo>
                <a:lnTo>
                  <a:pt x="102973" y="74029"/>
                </a:lnTo>
                <a:close/>
              </a:path>
              <a:path w="1014729" h="144145">
                <a:moveTo>
                  <a:pt x="105859" y="108834"/>
                </a:moveTo>
                <a:lnTo>
                  <a:pt x="88456" y="110278"/>
                </a:lnTo>
                <a:lnTo>
                  <a:pt x="105979" y="110278"/>
                </a:lnTo>
                <a:lnTo>
                  <a:pt x="105859" y="108834"/>
                </a:lnTo>
                <a:close/>
              </a:path>
              <a:path w="1014729" h="144145">
                <a:moveTo>
                  <a:pt x="995681" y="0"/>
                </a:moveTo>
                <a:lnTo>
                  <a:pt x="102973" y="74029"/>
                </a:lnTo>
                <a:lnTo>
                  <a:pt x="105859" y="108834"/>
                </a:lnTo>
                <a:lnTo>
                  <a:pt x="998567" y="34805"/>
                </a:lnTo>
                <a:lnTo>
                  <a:pt x="1005228" y="32876"/>
                </a:lnTo>
                <a:lnTo>
                  <a:pt x="1010450" y="28687"/>
                </a:lnTo>
                <a:lnTo>
                  <a:pt x="1013721" y="22846"/>
                </a:lnTo>
                <a:lnTo>
                  <a:pt x="1014528" y="15959"/>
                </a:lnTo>
                <a:lnTo>
                  <a:pt x="1012598" y="9299"/>
                </a:lnTo>
                <a:lnTo>
                  <a:pt x="1008409" y="4076"/>
                </a:lnTo>
                <a:lnTo>
                  <a:pt x="1002568" y="805"/>
                </a:lnTo>
                <a:lnTo>
                  <a:pt x="995681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075544" y="5517579"/>
            <a:ext cx="1013460" cy="156845"/>
          </a:xfrm>
          <a:custGeom>
            <a:avLst/>
            <a:gdLst/>
            <a:ahLst/>
            <a:cxnLst/>
            <a:rect l="l" t="t" r="r" b="b"/>
            <a:pathLst>
              <a:path w="1013459" h="156845">
                <a:moveTo>
                  <a:pt x="906983" y="34759"/>
                </a:moveTo>
                <a:lnTo>
                  <a:pt x="15683" y="121808"/>
                </a:lnTo>
                <a:lnTo>
                  <a:pt x="0" y="140885"/>
                </a:lnTo>
                <a:lnTo>
                  <a:pt x="2027" y="147517"/>
                </a:lnTo>
                <a:lnTo>
                  <a:pt x="6291" y="152677"/>
                </a:lnTo>
                <a:lnTo>
                  <a:pt x="12179" y="155862"/>
                </a:lnTo>
                <a:lnTo>
                  <a:pt x="19077" y="156567"/>
                </a:lnTo>
                <a:lnTo>
                  <a:pt x="910377" y="69519"/>
                </a:lnTo>
                <a:lnTo>
                  <a:pt x="906983" y="34759"/>
                </a:lnTo>
                <a:close/>
              </a:path>
              <a:path w="1013459" h="156845">
                <a:moveTo>
                  <a:pt x="989777" y="33061"/>
                </a:moveTo>
                <a:lnTo>
                  <a:pt x="924363" y="33061"/>
                </a:lnTo>
                <a:lnTo>
                  <a:pt x="931261" y="33766"/>
                </a:lnTo>
                <a:lnTo>
                  <a:pt x="937149" y="36951"/>
                </a:lnTo>
                <a:lnTo>
                  <a:pt x="941414" y="42112"/>
                </a:lnTo>
                <a:lnTo>
                  <a:pt x="943441" y="48743"/>
                </a:lnTo>
                <a:lnTo>
                  <a:pt x="942735" y="55642"/>
                </a:lnTo>
                <a:lnTo>
                  <a:pt x="939550" y="61530"/>
                </a:lnTo>
                <a:lnTo>
                  <a:pt x="934389" y="65795"/>
                </a:lnTo>
                <a:lnTo>
                  <a:pt x="927757" y="67821"/>
                </a:lnTo>
                <a:lnTo>
                  <a:pt x="910377" y="69519"/>
                </a:lnTo>
                <a:lnTo>
                  <a:pt x="913772" y="104278"/>
                </a:lnTo>
                <a:lnTo>
                  <a:pt x="1012959" y="41954"/>
                </a:lnTo>
                <a:lnTo>
                  <a:pt x="989777" y="33061"/>
                </a:lnTo>
                <a:close/>
              </a:path>
              <a:path w="1013459" h="156845">
                <a:moveTo>
                  <a:pt x="924363" y="33061"/>
                </a:moveTo>
                <a:lnTo>
                  <a:pt x="906983" y="34759"/>
                </a:lnTo>
                <a:lnTo>
                  <a:pt x="910377" y="69519"/>
                </a:lnTo>
                <a:lnTo>
                  <a:pt x="927757" y="67821"/>
                </a:lnTo>
                <a:lnTo>
                  <a:pt x="934389" y="65795"/>
                </a:lnTo>
                <a:lnTo>
                  <a:pt x="939550" y="61530"/>
                </a:lnTo>
                <a:lnTo>
                  <a:pt x="942735" y="55642"/>
                </a:lnTo>
                <a:lnTo>
                  <a:pt x="943441" y="48743"/>
                </a:lnTo>
                <a:lnTo>
                  <a:pt x="941414" y="42112"/>
                </a:lnTo>
                <a:lnTo>
                  <a:pt x="937149" y="36951"/>
                </a:lnTo>
                <a:lnTo>
                  <a:pt x="931261" y="33766"/>
                </a:lnTo>
                <a:lnTo>
                  <a:pt x="924363" y="33061"/>
                </a:lnTo>
                <a:close/>
              </a:path>
              <a:path w="1013459" h="156845">
                <a:moveTo>
                  <a:pt x="903588" y="0"/>
                </a:moveTo>
                <a:lnTo>
                  <a:pt x="906983" y="34759"/>
                </a:lnTo>
                <a:lnTo>
                  <a:pt x="924363" y="33061"/>
                </a:lnTo>
                <a:lnTo>
                  <a:pt x="989777" y="33061"/>
                </a:lnTo>
                <a:lnTo>
                  <a:pt x="903588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339346" y="5055218"/>
            <a:ext cx="927735" cy="437515"/>
          </a:xfrm>
          <a:custGeom>
            <a:avLst/>
            <a:gdLst/>
            <a:ahLst/>
            <a:cxnLst/>
            <a:rect l="l" t="t" r="r" b="b"/>
            <a:pathLst>
              <a:path w="927734" h="437514">
                <a:moveTo>
                  <a:pt x="102561" y="31769"/>
                </a:moveTo>
                <a:lnTo>
                  <a:pt x="88054" y="63539"/>
                </a:lnTo>
                <a:lnTo>
                  <a:pt x="902889" y="435630"/>
                </a:lnTo>
                <a:lnTo>
                  <a:pt x="909643" y="437205"/>
                </a:lnTo>
                <a:lnTo>
                  <a:pt x="916247" y="436107"/>
                </a:lnTo>
                <a:lnTo>
                  <a:pt x="921957" y="432612"/>
                </a:lnTo>
                <a:lnTo>
                  <a:pt x="926029" y="426999"/>
                </a:lnTo>
                <a:lnTo>
                  <a:pt x="927604" y="420246"/>
                </a:lnTo>
                <a:lnTo>
                  <a:pt x="926505" y="413642"/>
                </a:lnTo>
                <a:lnTo>
                  <a:pt x="923010" y="407932"/>
                </a:lnTo>
                <a:lnTo>
                  <a:pt x="917398" y="403861"/>
                </a:lnTo>
                <a:lnTo>
                  <a:pt x="102561" y="31769"/>
                </a:lnTo>
                <a:close/>
              </a:path>
              <a:path w="927734" h="437514">
                <a:moveTo>
                  <a:pt x="117068" y="0"/>
                </a:moveTo>
                <a:lnTo>
                  <a:pt x="0" y="4132"/>
                </a:lnTo>
                <a:lnTo>
                  <a:pt x="73546" y="95308"/>
                </a:lnTo>
                <a:lnTo>
                  <a:pt x="88054" y="63539"/>
                </a:lnTo>
                <a:lnTo>
                  <a:pt x="72169" y="56285"/>
                </a:lnTo>
                <a:lnTo>
                  <a:pt x="66555" y="52213"/>
                </a:lnTo>
                <a:lnTo>
                  <a:pt x="63061" y="46503"/>
                </a:lnTo>
                <a:lnTo>
                  <a:pt x="61963" y="39900"/>
                </a:lnTo>
                <a:lnTo>
                  <a:pt x="63538" y="33147"/>
                </a:lnTo>
                <a:lnTo>
                  <a:pt x="67609" y="27533"/>
                </a:lnTo>
                <a:lnTo>
                  <a:pt x="73319" y="24039"/>
                </a:lnTo>
                <a:lnTo>
                  <a:pt x="79923" y="22940"/>
                </a:lnTo>
                <a:lnTo>
                  <a:pt x="106593" y="22940"/>
                </a:lnTo>
                <a:lnTo>
                  <a:pt x="117068" y="0"/>
                </a:lnTo>
                <a:close/>
              </a:path>
              <a:path w="927734" h="437514">
                <a:moveTo>
                  <a:pt x="79923" y="22940"/>
                </a:moveTo>
                <a:lnTo>
                  <a:pt x="73319" y="24039"/>
                </a:lnTo>
                <a:lnTo>
                  <a:pt x="67609" y="27533"/>
                </a:lnTo>
                <a:lnTo>
                  <a:pt x="63538" y="33147"/>
                </a:lnTo>
                <a:lnTo>
                  <a:pt x="61963" y="39900"/>
                </a:lnTo>
                <a:lnTo>
                  <a:pt x="63061" y="46503"/>
                </a:lnTo>
                <a:lnTo>
                  <a:pt x="66555" y="52213"/>
                </a:lnTo>
                <a:lnTo>
                  <a:pt x="72169" y="56285"/>
                </a:lnTo>
                <a:lnTo>
                  <a:pt x="88054" y="63539"/>
                </a:lnTo>
                <a:lnTo>
                  <a:pt x="102561" y="31769"/>
                </a:lnTo>
                <a:lnTo>
                  <a:pt x="86676" y="24516"/>
                </a:lnTo>
                <a:lnTo>
                  <a:pt x="79923" y="22940"/>
                </a:lnTo>
                <a:close/>
              </a:path>
              <a:path w="927734" h="437514">
                <a:moveTo>
                  <a:pt x="106593" y="22940"/>
                </a:moveTo>
                <a:lnTo>
                  <a:pt x="79923" y="22940"/>
                </a:lnTo>
                <a:lnTo>
                  <a:pt x="86676" y="24516"/>
                </a:lnTo>
                <a:lnTo>
                  <a:pt x="102561" y="31769"/>
                </a:lnTo>
                <a:lnTo>
                  <a:pt x="106593" y="2294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7381723" y="4947735"/>
            <a:ext cx="933450" cy="426084"/>
          </a:xfrm>
          <a:custGeom>
            <a:avLst/>
            <a:gdLst/>
            <a:ahLst/>
            <a:cxnLst/>
            <a:rect l="l" t="t" r="r" b="b"/>
            <a:pathLst>
              <a:path w="933450" h="426085">
                <a:moveTo>
                  <a:pt x="830420" y="393500"/>
                </a:moveTo>
                <a:lnTo>
                  <a:pt x="816379" y="425478"/>
                </a:lnTo>
                <a:lnTo>
                  <a:pt x="933375" y="419635"/>
                </a:lnTo>
                <a:lnTo>
                  <a:pt x="918717" y="401997"/>
                </a:lnTo>
                <a:lnTo>
                  <a:pt x="853185" y="401997"/>
                </a:lnTo>
                <a:lnTo>
                  <a:pt x="846409" y="400521"/>
                </a:lnTo>
                <a:lnTo>
                  <a:pt x="830420" y="393500"/>
                </a:lnTo>
                <a:close/>
              </a:path>
              <a:path w="933450" h="426085">
                <a:moveTo>
                  <a:pt x="844462" y="361522"/>
                </a:moveTo>
                <a:lnTo>
                  <a:pt x="830420" y="393500"/>
                </a:lnTo>
                <a:lnTo>
                  <a:pt x="846409" y="400521"/>
                </a:lnTo>
                <a:lnTo>
                  <a:pt x="853185" y="401997"/>
                </a:lnTo>
                <a:lnTo>
                  <a:pt x="859771" y="400802"/>
                </a:lnTo>
                <a:lnTo>
                  <a:pt x="865430" y="397224"/>
                </a:lnTo>
                <a:lnTo>
                  <a:pt x="869419" y="391552"/>
                </a:lnTo>
                <a:lnTo>
                  <a:pt x="870895" y="384777"/>
                </a:lnTo>
                <a:lnTo>
                  <a:pt x="869700" y="378190"/>
                </a:lnTo>
                <a:lnTo>
                  <a:pt x="866122" y="372532"/>
                </a:lnTo>
                <a:lnTo>
                  <a:pt x="860450" y="368542"/>
                </a:lnTo>
                <a:lnTo>
                  <a:pt x="844462" y="361522"/>
                </a:lnTo>
                <a:close/>
              </a:path>
              <a:path w="933450" h="426085">
                <a:moveTo>
                  <a:pt x="858503" y="329543"/>
                </a:moveTo>
                <a:lnTo>
                  <a:pt x="844462" y="361522"/>
                </a:lnTo>
                <a:lnTo>
                  <a:pt x="860450" y="368542"/>
                </a:lnTo>
                <a:lnTo>
                  <a:pt x="866122" y="372532"/>
                </a:lnTo>
                <a:lnTo>
                  <a:pt x="869700" y="378190"/>
                </a:lnTo>
                <a:lnTo>
                  <a:pt x="870895" y="384777"/>
                </a:lnTo>
                <a:lnTo>
                  <a:pt x="869419" y="391552"/>
                </a:lnTo>
                <a:lnTo>
                  <a:pt x="865430" y="397224"/>
                </a:lnTo>
                <a:lnTo>
                  <a:pt x="859771" y="400802"/>
                </a:lnTo>
                <a:lnTo>
                  <a:pt x="853185" y="401997"/>
                </a:lnTo>
                <a:lnTo>
                  <a:pt x="918717" y="401997"/>
                </a:lnTo>
                <a:lnTo>
                  <a:pt x="858503" y="329543"/>
                </a:lnTo>
                <a:close/>
              </a:path>
              <a:path w="933450" h="426085">
                <a:moveTo>
                  <a:pt x="17710" y="0"/>
                </a:moveTo>
                <a:lnTo>
                  <a:pt x="11123" y="1195"/>
                </a:lnTo>
                <a:lnTo>
                  <a:pt x="5465" y="4772"/>
                </a:lnTo>
                <a:lnTo>
                  <a:pt x="1476" y="10444"/>
                </a:lnTo>
                <a:lnTo>
                  <a:pt x="0" y="17220"/>
                </a:lnTo>
                <a:lnTo>
                  <a:pt x="1195" y="23807"/>
                </a:lnTo>
                <a:lnTo>
                  <a:pt x="4772" y="29465"/>
                </a:lnTo>
                <a:lnTo>
                  <a:pt x="10444" y="33454"/>
                </a:lnTo>
                <a:lnTo>
                  <a:pt x="830420" y="393500"/>
                </a:lnTo>
                <a:lnTo>
                  <a:pt x="844462" y="361522"/>
                </a:lnTo>
                <a:lnTo>
                  <a:pt x="24485" y="1476"/>
                </a:lnTo>
                <a:lnTo>
                  <a:pt x="1771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7015064" y="6139296"/>
            <a:ext cx="499745" cy="370840"/>
          </a:xfrm>
          <a:custGeom>
            <a:avLst/>
            <a:gdLst/>
            <a:ahLst/>
            <a:cxnLst/>
            <a:rect l="l" t="t" r="r" b="b"/>
            <a:pathLst>
              <a:path w="499745" h="370840">
                <a:moveTo>
                  <a:pt x="404478" y="322660"/>
                </a:moveTo>
                <a:lnTo>
                  <a:pt x="383835" y="350830"/>
                </a:lnTo>
                <a:lnTo>
                  <a:pt x="499312" y="370505"/>
                </a:lnTo>
                <a:lnTo>
                  <a:pt x="481658" y="336154"/>
                </a:lnTo>
                <a:lnTo>
                  <a:pt x="431547" y="336154"/>
                </a:lnTo>
                <a:lnTo>
                  <a:pt x="424858" y="335892"/>
                </a:lnTo>
                <a:lnTo>
                  <a:pt x="418563" y="332981"/>
                </a:lnTo>
                <a:lnTo>
                  <a:pt x="404478" y="322660"/>
                </a:lnTo>
                <a:close/>
              </a:path>
              <a:path w="499745" h="370840">
                <a:moveTo>
                  <a:pt x="425122" y="294489"/>
                </a:moveTo>
                <a:lnTo>
                  <a:pt x="404478" y="322660"/>
                </a:lnTo>
                <a:lnTo>
                  <a:pt x="418563" y="332981"/>
                </a:lnTo>
                <a:lnTo>
                  <a:pt x="424858" y="335892"/>
                </a:lnTo>
                <a:lnTo>
                  <a:pt x="431547" y="336154"/>
                </a:lnTo>
                <a:lnTo>
                  <a:pt x="437847" y="333889"/>
                </a:lnTo>
                <a:lnTo>
                  <a:pt x="442971" y="329217"/>
                </a:lnTo>
                <a:lnTo>
                  <a:pt x="445882" y="322924"/>
                </a:lnTo>
                <a:lnTo>
                  <a:pt x="446144" y="316234"/>
                </a:lnTo>
                <a:lnTo>
                  <a:pt x="443878" y="309935"/>
                </a:lnTo>
                <a:lnTo>
                  <a:pt x="439207" y="304810"/>
                </a:lnTo>
                <a:lnTo>
                  <a:pt x="425122" y="294489"/>
                </a:lnTo>
                <a:close/>
              </a:path>
              <a:path w="499745" h="370840">
                <a:moveTo>
                  <a:pt x="445765" y="266318"/>
                </a:moveTo>
                <a:lnTo>
                  <a:pt x="425122" y="294489"/>
                </a:lnTo>
                <a:lnTo>
                  <a:pt x="439207" y="304810"/>
                </a:lnTo>
                <a:lnTo>
                  <a:pt x="443878" y="309935"/>
                </a:lnTo>
                <a:lnTo>
                  <a:pt x="446144" y="316234"/>
                </a:lnTo>
                <a:lnTo>
                  <a:pt x="445882" y="322924"/>
                </a:lnTo>
                <a:lnTo>
                  <a:pt x="442971" y="329217"/>
                </a:lnTo>
                <a:lnTo>
                  <a:pt x="437847" y="333889"/>
                </a:lnTo>
                <a:lnTo>
                  <a:pt x="431547" y="336154"/>
                </a:lnTo>
                <a:lnTo>
                  <a:pt x="481658" y="336154"/>
                </a:lnTo>
                <a:lnTo>
                  <a:pt x="445765" y="266318"/>
                </a:lnTo>
                <a:close/>
              </a:path>
              <a:path w="499745" h="370840">
                <a:moveTo>
                  <a:pt x="14597" y="0"/>
                </a:moveTo>
                <a:lnTo>
                  <a:pt x="8297" y="2265"/>
                </a:lnTo>
                <a:lnTo>
                  <a:pt x="3173" y="6936"/>
                </a:lnTo>
                <a:lnTo>
                  <a:pt x="262" y="13230"/>
                </a:lnTo>
                <a:lnTo>
                  <a:pt x="0" y="19919"/>
                </a:lnTo>
                <a:lnTo>
                  <a:pt x="2265" y="26219"/>
                </a:lnTo>
                <a:lnTo>
                  <a:pt x="6936" y="31344"/>
                </a:lnTo>
                <a:lnTo>
                  <a:pt x="404478" y="322660"/>
                </a:lnTo>
                <a:lnTo>
                  <a:pt x="425122" y="294489"/>
                </a:lnTo>
                <a:lnTo>
                  <a:pt x="27580" y="3173"/>
                </a:lnTo>
                <a:lnTo>
                  <a:pt x="21286" y="262"/>
                </a:lnTo>
                <a:lnTo>
                  <a:pt x="14597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6931935" y="6232295"/>
            <a:ext cx="510540" cy="361315"/>
          </a:xfrm>
          <a:custGeom>
            <a:avLst/>
            <a:gdLst/>
            <a:ahLst/>
            <a:cxnLst/>
            <a:rect l="l" t="t" r="r" b="b"/>
            <a:pathLst>
              <a:path w="510540" h="361315">
                <a:moveTo>
                  <a:pt x="95928" y="45610"/>
                </a:moveTo>
                <a:lnTo>
                  <a:pt x="75951" y="74256"/>
                </a:lnTo>
                <a:lnTo>
                  <a:pt x="482790" y="357978"/>
                </a:lnTo>
                <a:lnTo>
                  <a:pt x="489150" y="360741"/>
                </a:lnTo>
                <a:lnTo>
                  <a:pt x="495844" y="360846"/>
                </a:lnTo>
                <a:lnTo>
                  <a:pt x="502089" y="358434"/>
                </a:lnTo>
                <a:lnTo>
                  <a:pt x="507103" y="353644"/>
                </a:lnTo>
                <a:lnTo>
                  <a:pt x="509865" y="347283"/>
                </a:lnTo>
                <a:lnTo>
                  <a:pt x="509970" y="340590"/>
                </a:lnTo>
                <a:lnTo>
                  <a:pt x="507558" y="334345"/>
                </a:lnTo>
                <a:lnTo>
                  <a:pt x="502768" y="329331"/>
                </a:lnTo>
                <a:lnTo>
                  <a:pt x="95928" y="45610"/>
                </a:lnTo>
                <a:close/>
              </a:path>
              <a:path w="510540" h="361315">
                <a:moveTo>
                  <a:pt x="0" y="0"/>
                </a:moveTo>
                <a:lnTo>
                  <a:pt x="55973" y="102903"/>
                </a:lnTo>
                <a:lnTo>
                  <a:pt x="75951" y="74256"/>
                </a:lnTo>
                <a:lnTo>
                  <a:pt x="61628" y="64268"/>
                </a:lnTo>
                <a:lnTo>
                  <a:pt x="56837" y="59254"/>
                </a:lnTo>
                <a:lnTo>
                  <a:pt x="54425" y="53009"/>
                </a:lnTo>
                <a:lnTo>
                  <a:pt x="54530" y="46316"/>
                </a:lnTo>
                <a:lnTo>
                  <a:pt x="57293" y="39955"/>
                </a:lnTo>
                <a:lnTo>
                  <a:pt x="62307" y="35165"/>
                </a:lnTo>
                <a:lnTo>
                  <a:pt x="68552" y="32753"/>
                </a:lnTo>
                <a:lnTo>
                  <a:pt x="104895" y="32753"/>
                </a:lnTo>
                <a:lnTo>
                  <a:pt x="115906" y="16963"/>
                </a:lnTo>
                <a:lnTo>
                  <a:pt x="0" y="0"/>
                </a:lnTo>
                <a:close/>
              </a:path>
              <a:path w="510540" h="361315">
                <a:moveTo>
                  <a:pt x="68552" y="32753"/>
                </a:moveTo>
                <a:lnTo>
                  <a:pt x="62307" y="35165"/>
                </a:lnTo>
                <a:lnTo>
                  <a:pt x="57293" y="39955"/>
                </a:lnTo>
                <a:lnTo>
                  <a:pt x="54530" y="46316"/>
                </a:lnTo>
                <a:lnTo>
                  <a:pt x="54425" y="53009"/>
                </a:lnTo>
                <a:lnTo>
                  <a:pt x="56837" y="59254"/>
                </a:lnTo>
                <a:lnTo>
                  <a:pt x="61628" y="64268"/>
                </a:lnTo>
                <a:lnTo>
                  <a:pt x="75951" y="74256"/>
                </a:lnTo>
                <a:lnTo>
                  <a:pt x="95928" y="45610"/>
                </a:lnTo>
                <a:lnTo>
                  <a:pt x="81605" y="35621"/>
                </a:lnTo>
                <a:lnTo>
                  <a:pt x="75245" y="32858"/>
                </a:lnTo>
                <a:lnTo>
                  <a:pt x="68552" y="32753"/>
                </a:lnTo>
                <a:close/>
              </a:path>
              <a:path w="510540" h="361315">
                <a:moveTo>
                  <a:pt x="104895" y="32753"/>
                </a:moveTo>
                <a:lnTo>
                  <a:pt x="68552" y="32753"/>
                </a:lnTo>
                <a:lnTo>
                  <a:pt x="75245" y="32858"/>
                </a:lnTo>
                <a:lnTo>
                  <a:pt x="81605" y="35621"/>
                </a:lnTo>
                <a:lnTo>
                  <a:pt x="95928" y="45610"/>
                </a:lnTo>
                <a:lnTo>
                  <a:pt x="104895" y="32753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8144660" y="5958781"/>
            <a:ext cx="357505" cy="509270"/>
          </a:xfrm>
          <a:custGeom>
            <a:avLst/>
            <a:gdLst/>
            <a:ahLst/>
            <a:cxnLst/>
            <a:rect l="l" t="t" r="r" b="b"/>
            <a:pathLst>
              <a:path w="357504" h="509270">
                <a:moveTo>
                  <a:pt x="16530" y="392709"/>
                </a:moveTo>
                <a:lnTo>
                  <a:pt x="0" y="508679"/>
                </a:lnTo>
                <a:lnTo>
                  <a:pt x="99534" y="454056"/>
                </a:lnTo>
                <a:lnTo>
                  <a:pt x="52805" y="454056"/>
                </a:lnTo>
                <a:lnTo>
                  <a:pt x="46111" y="453976"/>
                </a:lnTo>
                <a:lnTo>
                  <a:pt x="39740" y="451237"/>
                </a:lnTo>
                <a:lnTo>
                  <a:pt x="34931" y="446241"/>
                </a:lnTo>
                <a:lnTo>
                  <a:pt x="32496" y="440005"/>
                </a:lnTo>
                <a:lnTo>
                  <a:pt x="32577" y="433311"/>
                </a:lnTo>
                <a:lnTo>
                  <a:pt x="35316" y="426941"/>
                </a:lnTo>
                <a:lnTo>
                  <a:pt x="45251" y="412580"/>
                </a:lnTo>
                <a:lnTo>
                  <a:pt x="16530" y="392709"/>
                </a:lnTo>
                <a:close/>
              </a:path>
              <a:path w="357504" h="509270">
                <a:moveTo>
                  <a:pt x="45251" y="412580"/>
                </a:moveTo>
                <a:lnTo>
                  <a:pt x="35316" y="426941"/>
                </a:lnTo>
                <a:lnTo>
                  <a:pt x="32577" y="433311"/>
                </a:lnTo>
                <a:lnTo>
                  <a:pt x="32496" y="440005"/>
                </a:lnTo>
                <a:lnTo>
                  <a:pt x="34931" y="446241"/>
                </a:lnTo>
                <a:lnTo>
                  <a:pt x="39740" y="451237"/>
                </a:lnTo>
                <a:lnTo>
                  <a:pt x="46111" y="453976"/>
                </a:lnTo>
                <a:lnTo>
                  <a:pt x="52805" y="454056"/>
                </a:lnTo>
                <a:lnTo>
                  <a:pt x="59041" y="451621"/>
                </a:lnTo>
                <a:lnTo>
                  <a:pt x="64037" y="446812"/>
                </a:lnTo>
                <a:lnTo>
                  <a:pt x="73972" y="432451"/>
                </a:lnTo>
                <a:lnTo>
                  <a:pt x="45251" y="412580"/>
                </a:lnTo>
                <a:close/>
              </a:path>
              <a:path w="357504" h="509270">
                <a:moveTo>
                  <a:pt x="73972" y="432451"/>
                </a:moveTo>
                <a:lnTo>
                  <a:pt x="64037" y="446812"/>
                </a:lnTo>
                <a:lnTo>
                  <a:pt x="59041" y="451621"/>
                </a:lnTo>
                <a:lnTo>
                  <a:pt x="52805" y="454056"/>
                </a:lnTo>
                <a:lnTo>
                  <a:pt x="99534" y="454056"/>
                </a:lnTo>
                <a:lnTo>
                  <a:pt x="102694" y="452322"/>
                </a:lnTo>
                <a:lnTo>
                  <a:pt x="73972" y="432451"/>
                </a:lnTo>
                <a:close/>
              </a:path>
              <a:path w="357504" h="509270">
                <a:moveTo>
                  <a:pt x="336914" y="0"/>
                </a:moveTo>
                <a:lnTo>
                  <a:pt x="330678" y="2435"/>
                </a:lnTo>
                <a:lnTo>
                  <a:pt x="325682" y="7244"/>
                </a:lnTo>
                <a:lnTo>
                  <a:pt x="45251" y="412580"/>
                </a:lnTo>
                <a:lnTo>
                  <a:pt x="73972" y="432451"/>
                </a:lnTo>
                <a:lnTo>
                  <a:pt x="354403" y="27115"/>
                </a:lnTo>
                <a:lnTo>
                  <a:pt x="357142" y="20744"/>
                </a:lnTo>
                <a:lnTo>
                  <a:pt x="357223" y="14050"/>
                </a:lnTo>
                <a:lnTo>
                  <a:pt x="354787" y="7815"/>
                </a:lnTo>
                <a:lnTo>
                  <a:pt x="349978" y="2819"/>
                </a:lnTo>
                <a:lnTo>
                  <a:pt x="343608" y="80"/>
                </a:lnTo>
                <a:lnTo>
                  <a:pt x="33691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8058922" y="5877676"/>
            <a:ext cx="347345" cy="519430"/>
          </a:xfrm>
          <a:custGeom>
            <a:avLst/>
            <a:gdLst/>
            <a:ahLst/>
            <a:cxnLst/>
            <a:rect l="l" t="t" r="r" b="b"/>
            <a:pathLst>
              <a:path w="347345" h="519429">
                <a:moveTo>
                  <a:pt x="275176" y="77940"/>
                </a:moveTo>
                <a:lnTo>
                  <a:pt x="2588" y="492363"/>
                </a:lnTo>
                <a:lnTo>
                  <a:pt x="0" y="498796"/>
                </a:lnTo>
                <a:lnTo>
                  <a:pt x="76" y="505490"/>
                </a:lnTo>
                <a:lnTo>
                  <a:pt x="2657" y="511667"/>
                </a:lnTo>
                <a:lnTo>
                  <a:pt x="7582" y="516549"/>
                </a:lnTo>
                <a:lnTo>
                  <a:pt x="14014" y="519137"/>
                </a:lnTo>
                <a:lnTo>
                  <a:pt x="20708" y="519061"/>
                </a:lnTo>
                <a:lnTo>
                  <a:pt x="26885" y="516480"/>
                </a:lnTo>
                <a:lnTo>
                  <a:pt x="31768" y="511555"/>
                </a:lnTo>
                <a:lnTo>
                  <a:pt x="304354" y="97132"/>
                </a:lnTo>
                <a:lnTo>
                  <a:pt x="275176" y="77940"/>
                </a:lnTo>
                <a:close/>
              </a:path>
              <a:path w="347345" h="519429">
                <a:moveTo>
                  <a:pt x="340722" y="55769"/>
                </a:moveTo>
                <a:lnTo>
                  <a:pt x="302524" y="55769"/>
                </a:lnTo>
                <a:lnTo>
                  <a:pt x="308957" y="58357"/>
                </a:lnTo>
                <a:lnTo>
                  <a:pt x="313882" y="63239"/>
                </a:lnTo>
                <a:lnTo>
                  <a:pt x="316463" y="69416"/>
                </a:lnTo>
                <a:lnTo>
                  <a:pt x="316539" y="76110"/>
                </a:lnTo>
                <a:lnTo>
                  <a:pt x="313950" y="82543"/>
                </a:lnTo>
                <a:lnTo>
                  <a:pt x="304354" y="97132"/>
                </a:lnTo>
                <a:lnTo>
                  <a:pt x="333534" y="116325"/>
                </a:lnTo>
                <a:lnTo>
                  <a:pt x="340722" y="55769"/>
                </a:lnTo>
                <a:close/>
              </a:path>
              <a:path w="347345" h="519429">
                <a:moveTo>
                  <a:pt x="302524" y="55769"/>
                </a:moveTo>
                <a:lnTo>
                  <a:pt x="295830" y="55845"/>
                </a:lnTo>
                <a:lnTo>
                  <a:pt x="289654" y="58426"/>
                </a:lnTo>
                <a:lnTo>
                  <a:pt x="284772" y="63351"/>
                </a:lnTo>
                <a:lnTo>
                  <a:pt x="275176" y="77940"/>
                </a:lnTo>
                <a:lnTo>
                  <a:pt x="304354" y="97132"/>
                </a:lnTo>
                <a:lnTo>
                  <a:pt x="313950" y="82543"/>
                </a:lnTo>
                <a:lnTo>
                  <a:pt x="316539" y="76110"/>
                </a:lnTo>
                <a:lnTo>
                  <a:pt x="316463" y="69416"/>
                </a:lnTo>
                <a:lnTo>
                  <a:pt x="313882" y="63239"/>
                </a:lnTo>
                <a:lnTo>
                  <a:pt x="308957" y="58357"/>
                </a:lnTo>
                <a:lnTo>
                  <a:pt x="302524" y="55769"/>
                </a:lnTo>
                <a:close/>
              </a:path>
              <a:path w="347345" h="519429">
                <a:moveTo>
                  <a:pt x="347342" y="0"/>
                </a:moveTo>
                <a:lnTo>
                  <a:pt x="245996" y="58747"/>
                </a:lnTo>
                <a:lnTo>
                  <a:pt x="275176" y="77940"/>
                </a:lnTo>
                <a:lnTo>
                  <a:pt x="284772" y="63351"/>
                </a:lnTo>
                <a:lnTo>
                  <a:pt x="289654" y="58426"/>
                </a:lnTo>
                <a:lnTo>
                  <a:pt x="295830" y="55845"/>
                </a:lnTo>
                <a:lnTo>
                  <a:pt x="302524" y="55769"/>
                </a:lnTo>
                <a:lnTo>
                  <a:pt x="340722" y="55769"/>
                </a:lnTo>
                <a:lnTo>
                  <a:pt x="347342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6592379" y="4236211"/>
            <a:ext cx="19177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Message</a:t>
            </a:r>
            <a:r>
              <a:rPr dirty="0" sz="1800" spc="-7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passing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3/13/21</a:t>
            </a:r>
          </a:p>
        </p:txBody>
      </p:sp>
      <p:sp>
        <p:nvSpPr>
          <p:cNvPr id="45" name="object 4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46" name="object 4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27</a:t>
            </a:fld>
          </a:p>
        </p:txBody>
      </p:sp>
      <p:sp>
        <p:nvSpPr>
          <p:cNvPr id="41" name="object 41"/>
          <p:cNvSpPr txBox="1"/>
          <p:nvPr/>
        </p:nvSpPr>
        <p:spPr>
          <a:xfrm>
            <a:off x="5988771" y="2906267"/>
            <a:ext cx="109855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 b="1">
                <a:solidFill>
                  <a:srgbClr val="C00000"/>
                </a:solidFill>
                <a:latin typeface="Arial"/>
                <a:cs typeface="Arial"/>
              </a:rPr>
              <a:t>Message</a:t>
            </a:r>
            <a:endParaRPr sz="20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20180" y="3386835"/>
            <a:ext cx="5166360" cy="3078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97790">
              <a:lnSpc>
                <a:spcPts val="2440"/>
              </a:lnSpc>
              <a:spcBef>
                <a:spcPts val="100"/>
              </a:spcBef>
              <a:tabLst>
                <a:tab pos="2915920" algn="l"/>
              </a:tabLst>
            </a:pPr>
            <a:r>
              <a:rPr dirty="0" sz="2800" spc="10">
                <a:latin typeface="Cambria Math"/>
                <a:cs typeface="Cambria Math"/>
              </a:rPr>
              <a:t>ℎ</a:t>
            </a:r>
            <a:r>
              <a:rPr dirty="0" baseline="41666" sz="3000" spc="15">
                <a:latin typeface="Cambria Math"/>
                <a:cs typeface="Cambria Math"/>
              </a:rPr>
              <a:t>(ℓ)</a:t>
            </a:r>
            <a:r>
              <a:rPr dirty="0" baseline="41666" sz="3000" spc="322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=</a:t>
            </a:r>
            <a:r>
              <a:rPr dirty="0" sz="2800" spc="160">
                <a:latin typeface="Cambria Math"/>
                <a:cs typeface="Cambria Math"/>
              </a:rPr>
              <a:t> </a:t>
            </a:r>
            <a:r>
              <a:rPr dirty="0" sz="2800" spc="-5">
                <a:latin typeface="Cambria Math"/>
                <a:cs typeface="Cambria Math"/>
              </a:rPr>
              <a:t>𝐶𝑂𝑀𝐵𝐼𝑁𝐸	</a:t>
            </a:r>
            <a:r>
              <a:rPr dirty="0" sz="2800">
                <a:latin typeface="Cambria Math"/>
                <a:cs typeface="Cambria Math"/>
              </a:rPr>
              <a:t>ℎ </a:t>
            </a:r>
            <a:r>
              <a:rPr dirty="0" baseline="38888" sz="3000" spc="787">
                <a:latin typeface="Cambria Math"/>
                <a:cs typeface="Cambria Math"/>
              </a:rPr>
              <a:t>ℓ-. 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-204">
                <a:latin typeface="Cambria Math"/>
                <a:cs typeface="Cambria Math"/>
              </a:rPr>
              <a:t> </a:t>
            </a:r>
            <a:r>
              <a:rPr dirty="0" sz="2800" spc="-5">
                <a:latin typeface="Cambria Math"/>
                <a:cs typeface="Cambria Math"/>
              </a:rPr>
              <a:t>𝐴𝐺𝐺𝑅</a:t>
            </a:r>
            <a:endParaRPr sz="2800">
              <a:latin typeface="Cambria Math"/>
              <a:cs typeface="Cambria Math"/>
            </a:endParaRPr>
          </a:p>
          <a:p>
            <a:pPr marL="298450">
              <a:lnSpc>
                <a:spcPts val="1480"/>
              </a:lnSpc>
              <a:tabLst>
                <a:tab pos="3215005" algn="l"/>
              </a:tabLst>
            </a:pPr>
            <a:r>
              <a:rPr dirty="0" sz="2000" spc="300">
                <a:latin typeface="Cambria Math"/>
                <a:cs typeface="Cambria Math"/>
              </a:rPr>
              <a:t>)	</a:t>
            </a:r>
            <a:r>
              <a:rPr dirty="0" baseline="1388" sz="3000" spc="450">
                <a:latin typeface="Cambria Math"/>
                <a:cs typeface="Cambria Math"/>
              </a:rPr>
              <a:t>)</a:t>
            </a:r>
            <a:endParaRPr baseline="1388" sz="3000">
              <a:latin typeface="Cambria Math"/>
              <a:cs typeface="Cambria Math"/>
            </a:endParaRPr>
          </a:p>
          <a:p>
            <a:pPr marL="287020" marR="873125" indent="-274320">
              <a:lnSpc>
                <a:spcPct val="100000"/>
              </a:lnSpc>
              <a:spcBef>
                <a:spcPts val="164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400" spc="-5">
                <a:latin typeface="Calibri"/>
                <a:cs typeface="Calibri"/>
              </a:rPr>
              <a:t>In each </a:t>
            </a:r>
            <a:r>
              <a:rPr dirty="0" sz="2400" spc="-50">
                <a:latin typeface="Calibri"/>
                <a:cs typeface="Calibri"/>
              </a:rPr>
              <a:t>layer, </a:t>
            </a:r>
            <a:r>
              <a:rPr dirty="0" sz="2400" spc="-5">
                <a:latin typeface="Calibri"/>
                <a:cs typeface="Calibri"/>
              </a:rPr>
              <a:t>only </a:t>
            </a:r>
            <a:r>
              <a:rPr dirty="0" sz="2400" spc="-5">
                <a:solidFill>
                  <a:srgbClr val="C00000"/>
                </a:solidFill>
                <a:latin typeface="Calibri"/>
                <a:cs typeface="Calibri"/>
              </a:rPr>
              <a:t>2*#(edges)  </a:t>
            </a:r>
            <a:r>
              <a:rPr dirty="0" sz="2400" spc="-10">
                <a:solidFill>
                  <a:srgbClr val="C00000"/>
                </a:solidFill>
                <a:latin typeface="Calibri"/>
                <a:cs typeface="Calibri"/>
              </a:rPr>
              <a:t>messages </a:t>
            </a:r>
            <a:r>
              <a:rPr dirty="0" sz="2400">
                <a:latin typeface="Calibri"/>
                <a:cs typeface="Calibri"/>
              </a:rPr>
              <a:t>need </a:t>
            </a:r>
            <a:r>
              <a:rPr dirty="0" sz="2400" spc="-15">
                <a:latin typeface="Calibri"/>
                <a:cs typeface="Calibri"/>
              </a:rPr>
              <a:t>to </a:t>
            </a:r>
            <a:r>
              <a:rPr dirty="0" sz="2400">
                <a:latin typeface="Calibri"/>
                <a:cs typeface="Calibri"/>
              </a:rPr>
              <a:t>be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computed.</a:t>
            </a:r>
            <a:endParaRPr sz="2400">
              <a:latin typeface="Calibri"/>
              <a:cs typeface="Calibri"/>
            </a:endParaRPr>
          </a:p>
          <a:p>
            <a:pPr marL="287020" marR="481965" indent="-274320">
              <a:lnSpc>
                <a:spcPct val="100800"/>
              </a:lnSpc>
              <a:spcBef>
                <a:spcPts val="6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400" spc="-15">
                <a:latin typeface="Calibri"/>
                <a:cs typeface="Calibri"/>
              </a:rPr>
              <a:t>For </a:t>
            </a:r>
            <a:r>
              <a:rPr dirty="0" sz="2400" spc="-5">
                <a:latin typeface="Cambria Math"/>
                <a:cs typeface="Cambria Math"/>
              </a:rPr>
              <a:t>𝐾</a:t>
            </a:r>
            <a:r>
              <a:rPr dirty="0" sz="2400" spc="-5">
                <a:latin typeface="Calibri"/>
                <a:cs typeface="Calibri"/>
              </a:rPr>
              <a:t>-layer GNN, only </a:t>
            </a:r>
            <a:r>
              <a:rPr dirty="0" sz="2400" spc="-35">
                <a:latin typeface="Cambria Math"/>
                <a:cs typeface="Cambria Math"/>
              </a:rPr>
              <a:t>2𝐾</a:t>
            </a:r>
            <a:r>
              <a:rPr dirty="0" sz="2400" spc="-35">
                <a:latin typeface="Calibri"/>
                <a:cs typeface="Calibri"/>
              </a:rPr>
              <a:t>*#(edges)  </a:t>
            </a:r>
            <a:r>
              <a:rPr dirty="0" sz="2400" spc="-10">
                <a:latin typeface="Calibri"/>
                <a:cs typeface="Calibri"/>
              </a:rPr>
              <a:t>messages </a:t>
            </a:r>
            <a:r>
              <a:rPr dirty="0" sz="2400">
                <a:latin typeface="Calibri"/>
                <a:cs typeface="Calibri"/>
              </a:rPr>
              <a:t>need </a:t>
            </a:r>
            <a:r>
              <a:rPr dirty="0" sz="2400" spc="-15">
                <a:latin typeface="Calibri"/>
                <a:cs typeface="Calibri"/>
              </a:rPr>
              <a:t>to </a:t>
            </a:r>
            <a:r>
              <a:rPr dirty="0" sz="2400">
                <a:latin typeface="Calibri"/>
                <a:cs typeface="Calibri"/>
              </a:rPr>
              <a:t>be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computed.</a:t>
            </a:r>
            <a:endParaRPr sz="24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52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400" spc="-30">
                <a:latin typeface="Calibri"/>
                <a:cs typeface="Calibri"/>
              </a:rPr>
              <a:t>GNN’s </a:t>
            </a:r>
            <a:r>
              <a:rPr dirty="0" sz="2400" spc="-15">
                <a:latin typeface="Calibri"/>
                <a:cs typeface="Calibri"/>
              </a:rPr>
              <a:t>entire computation </a:t>
            </a:r>
            <a:r>
              <a:rPr dirty="0" sz="2400" spc="-5">
                <a:latin typeface="Calibri"/>
                <a:cs typeface="Calibri"/>
              </a:rPr>
              <a:t>is only</a:t>
            </a:r>
            <a:r>
              <a:rPr dirty="0" sz="2400" spc="35">
                <a:latin typeface="Calibri"/>
                <a:cs typeface="Calibri"/>
              </a:rPr>
              <a:t> </a:t>
            </a:r>
            <a:r>
              <a:rPr dirty="0" sz="2400" spc="-40" b="1">
                <a:solidFill>
                  <a:srgbClr val="C00000"/>
                </a:solidFill>
                <a:latin typeface="Calibri"/>
                <a:cs typeface="Calibri"/>
              </a:rPr>
              <a:t>linear</a:t>
            </a:r>
            <a:endParaRPr sz="2400">
              <a:latin typeface="Calibri"/>
              <a:cs typeface="Calibri"/>
            </a:endParaRPr>
          </a:p>
          <a:p>
            <a:pPr marL="286385">
              <a:lnSpc>
                <a:spcPct val="100000"/>
              </a:lnSpc>
              <a:spcBef>
                <a:spcPts val="20"/>
              </a:spcBef>
            </a:pPr>
            <a:r>
              <a:rPr dirty="0" sz="2400" spc="-5">
                <a:latin typeface="Calibri"/>
                <a:cs typeface="Calibri"/>
              </a:rPr>
              <a:t>in #(edges) </a:t>
            </a:r>
            <a:r>
              <a:rPr dirty="0" sz="2400">
                <a:latin typeface="Calibri"/>
                <a:cs typeface="Calibri"/>
              </a:rPr>
              <a:t>and </a:t>
            </a:r>
            <a:r>
              <a:rPr dirty="0" sz="2400" spc="-5">
                <a:latin typeface="Calibri"/>
                <a:cs typeface="Calibri"/>
              </a:rPr>
              <a:t>#(GNN </a:t>
            </a:r>
            <a:r>
              <a:rPr dirty="0" sz="2400" spc="-20">
                <a:latin typeface="Calibri"/>
                <a:cs typeface="Calibri"/>
              </a:rPr>
              <a:t>layers).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20" b="1">
                <a:solidFill>
                  <a:srgbClr val="D60093"/>
                </a:solidFill>
                <a:latin typeface="Calibri"/>
                <a:cs typeface="Calibri"/>
              </a:rPr>
              <a:t>Fast!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08436" y="2901188"/>
            <a:ext cx="27965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latin typeface="Arial"/>
                <a:cs typeface="Arial"/>
              </a:rPr>
              <a:t>Update for all </a:t>
            </a:r>
            <a:r>
              <a:rPr dirty="0" sz="2400">
                <a:latin typeface="Cambria Math"/>
                <a:cs typeface="Cambria Math"/>
              </a:rPr>
              <a:t>𝒗 ∈</a:t>
            </a:r>
            <a:r>
              <a:rPr dirty="0" sz="2400" spc="20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𝑽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6864096" cy="563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0374" y="1406652"/>
            <a:ext cx="7387590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 b="1">
                <a:latin typeface="Calibri"/>
                <a:cs typeface="Calibri"/>
              </a:rPr>
              <a:t>The </a:t>
            </a:r>
            <a:r>
              <a:rPr dirty="0" spc="-20" b="1">
                <a:solidFill>
                  <a:srgbClr val="C00000"/>
                </a:solidFill>
                <a:latin typeface="Calibri"/>
                <a:cs typeface="Calibri"/>
              </a:rPr>
              <a:t>layer-wise </a:t>
            </a:r>
            <a:r>
              <a:rPr dirty="0" spc="-5" b="1">
                <a:latin typeface="Calibri"/>
                <a:cs typeface="Calibri"/>
              </a:rPr>
              <a:t>node embedding </a:t>
            </a:r>
            <a:r>
              <a:rPr dirty="0" spc="-15" b="1">
                <a:latin typeface="Calibri"/>
                <a:cs typeface="Calibri"/>
              </a:rPr>
              <a:t>update  </a:t>
            </a:r>
            <a:r>
              <a:rPr dirty="0" spc="-5" b="1">
                <a:latin typeface="Calibri"/>
                <a:cs typeface="Calibri"/>
              </a:rPr>
              <a:t>allows the </a:t>
            </a:r>
            <a:r>
              <a:rPr dirty="0" spc="-10" b="1">
                <a:latin typeface="Calibri"/>
                <a:cs typeface="Calibri"/>
              </a:rPr>
              <a:t>re-use </a:t>
            </a:r>
            <a:r>
              <a:rPr dirty="0" b="1">
                <a:latin typeface="Calibri"/>
                <a:cs typeface="Calibri"/>
              </a:rPr>
              <a:t>of </a:t>
            </a:r>
            <a:r>
              <a:rPr dirty="0" spc="-5" b="1">
                <a:latin typeface="Calibri"/>
                <a:cs typeface="Calibri"/>
              </a:rPr>
              <a:t>embeddings </a:t>
            </a:r>
            <a:r>
              <a:rPr dirty="0" spc="-15" b="1">
                <a:latin typeface="Calibri"/>
                <a:cs typeface="Calibri"/>
              </a:rPr>
              <a:t>from</a:t>
            </a:r>
            <a:r>
              <a:rPr dirty="0" spc="-25" b="1">
                <a:latin typeface="Calibri"/>
                <a:cs typeface="Calibri"/>
              </a:rPr>
              <a:t> </a:t>
            </a:r>
            <a:r>
              <a:rPr dirty="0" spc="-5" b="1">
                <a:latin typeface="Calibri"/>
                <a:cs typeface="Calibri"/>
              </a:rPr>
              <a:t>the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0374" y="2385060"/>
            <a:ext cx="5356860" cy="33470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105">
              <a:lnSpc>
                <a:spcPts val="3815"/>
              </a:lnSpc>
              <a:spcBef>
                <a:spcPts val="100"/>
              </a:spcBef>
            </a:pPr>
            <a:r>
              <a:rPr dirty="0" sz="3200" spc="-10" b="1">
                <a:latin typeface="Calibri"/>
                <a:cs typeface="Calibri"/>
              </a:rPr>
              <a:t>previous</a:t>
            </a:r>
            <a:r>
              <a:rPr dirty="0" sz="3200" spc="-80" b="1">
                <a:latin typeface="Calibri"/>
                <a:cs typeface="Calibri"/>
              </a:rPr>
              <a:t> </a:t>
            </a:r>
            <a:r>
              <a:rPr dirty="0" sz="3200" spc="-65" b="1">
                <a:latin typeface="Calibri"/>
                <a:cs typeface="Calibri"/>
              </a:rPr>
              <a:t>layer.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latin typeface="Calibri"/>
                <a:cs typeface="Calibri"/>
              </a:rPr>
              <a:t>This </a:t>
            </a:r>
            <a:r>
              <a:rPr dirty="0" sz="3200" spc="-10" b="1">
                <a:latin typeface="Calibri"/>
                <a:cs typeface="Calibri"/>
              </a:rPr>
              <a:t>significantly </a:t>
            </a:r>
            <a:r>
              <a:rPr dirty="0" sz="3200" spc="-10" b="1">
                <a:solidFill>
                  <a:srgbClr val="D60093"/>
                </a:solidFill>
                <a:latin typeface="Calibri"/>
                <a:cs typeface="Calibri"/>
              </a:rPr>
              <a:t>reduces </a:t>
            </a: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the</a:t>
            </a:r>
            <a:endParaRPr sz="3200">
              <a:latin typeface="Calibri"/>
              <a:cs typeface="Calibri"/>
            </a:endParaRPr>
          </a:p>
          <a:p>
            <a:pPr marL="332105" marR="466090">
              <a:lnSpc>
                <a:spcPts val="3790"/>
              </a:lnSpc>
              <a:spcBef>
                <a:spcPts val="240"/>
              </a:spcBef>
            </a:pPr>
            <a:r>
              <a:rPr dirty="0" sz="3200" spc="-10" b="1">
                <a:solidFill>
                  <a:srgbClr val="D60093"/>
                </a:solidFill>
                <a:latin typeface="Calibri"/>
                <a:cs typeface="Calibri"/>
              </a:rPr>
              <a:t>computational</a:t>
            </a:r>
            <a:r>
              <a:rPr dirty="0" sz="3200" spc="-60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200" spc="-10" b="1">
                <a:solidFill>
                  <a:srgbClr val="D60093"/>
                </a:solidFill>
                <a:latin typeface="Calibri"/>
                <a:cs typeface="Calibri"/>
              </a:rPr>
              <a:t>redundancy  </a:t>
            </a:r>
            <a:r>
              <a:rPr dirty="0" sz="3200" b="1">
                <a:solidFill>
                  <a:srgbClr val="D60093"/>
                </a:solidFill>
                <a:latin typeface="Calibri"/>
                <a:cs typeface="Calibri"/>
              </a:rPr>
              <a:t>of </a:t>
            </a: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neighbor</a:t>
            </a:r>
            <a:r>
              <a:rPr dirty="0" sz="3200" spc="-70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sampling.</a:t>
            </a:r>
            <a:endParaRPr sz="3200">
              <a:latin typeface="Calibri"/>
              <a:cs typeface="Calibri"/>
            </a:endParaRPr>
          </a:p>
          <a:p>
            <a:pPr lvl="1" marL="625475" marR="5080" indent="-274320">
              <a:lnSpc>
                <a:spcPct val="101099"/>
              </a:lnSpc>
              <a:spcBef>
                <a:spcPts val="509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Of </a:t>
            </a:r>
            <a:r>
              <a:rPr dirty="0" sz="2800" spc="-15">
                <a:latin typeface="Calibri"/>
                <a:cs typeface="Calibri"/>
              </a:rPr>
              <a:t>course, </a:t>
            </a: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layer-wise </a:t>
            </a:r>
            <a:r>
              <a:rPr dirty="0" sz="2800" spc="-120">
                <a:latin typeface="Calibri"/>
                <a:cs typeface="Calibri"/>
              </a:rPr>
              <a:t>update  </a:t>
            </a:r>
            <a:r>
              <a:rPr dirty="0" sz="2800" spc="-5">
                <a:latin typeface="Calibri"/>
                <a:cs typeface="Calibri"/>
              </a:rPr>
              <a:t>is </a:t>
            </a:r>
            <a:r>
              <a:rPr dirty="0" sz="2800" spc="-5" b="1">
                <a:solidFill>
                  <a:srgbClr val="0000FF"/>
                </a:solidFill>
                <a:latin typeface="Calibri"/>
                <a:cs typeface="Calibri"/>
              </a:rPr>
              <a:t>not </a:t>
            </a:r>
            <a:r>
              <a:rPr dirty="0" sz="2800" spc="-10" b="1">
                <a:solidFill>
                  <a:srgbClr val="0000FF"/>
                </a:solidFill>
                <a:latin typeface="Calibri"/>
                <a:cs typeface="Calibri"/>
              </a:rPr>
              <a:t>feasible </a:t>
            </a:r>
            <a:r>
              <a:rPr dirty="0" sz="2800" spc="-25">
                <a:latin typeface="Calibri"/>
                <a:cs typeface="Calibri"/>
              </a:rPr>
              <a:t>for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20">
                <a:latin typeface="Calibri"/>
                <a:cs typeface="Calibri"/>
              </a:rPr>
              <a:t>large </a:t>
            </a:r>
            <a:r>
              <a:rPr dirty="0" sz="2800" spc="-15">
                <a:latin typeface="Calibri"/>
                <a:cs typeface="Calibri"/>
              </a:rPr>
              <a:t>graph  </a:t>
            </a:r>
            <a:r>
              <a:rPr dirty="0" sz="2800">
                <a:latin typeface="Calibri"/>
                <a:cs typeface="Calibri"/>
              </a:rPr>
              <a:t>due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10" b="1">
                <a:solidFill>
                  <a:srgbClr val="0000FF"/>
                </a:solidFill>
                <a:latin typeface="Calibri"/>
                <a:cs typeface="Calibri"/>
              </a:rPr>
              <a:t>limited </a:t>
            </a:r>
            <a:r>
              <a:rPr dirty="0" sz="2800" spc="-5" b="1">
                <a:solidFill>
                  <a:srgbClr val="0000FF"/>
                </a:solidFill>
                <a:latin typeface="Calibri"/>
                <a:cs typeface="Calibri"/>
              </a:rPr>
              <a:t>GPU</a:t>
            </a:r>
            <a:r>
              <a:rPr dirty="0" sz="2800" spc="-25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2800" spc="-5" b="1">
                <a:solidFill>
                  <a:srgbClr val="0000FF"/>
                </a:solidFill>
                <a:latin typeface="Calibri"/>
                <a:cs typeface="Calibri"/>
              </a:rPr>
              <a:t>memory</a:t>
            </a:r>
            <a:r>
              <a:rPr dirty="0" sz="2800" spc="-5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208012" y="2953327"/>
            <a:ext cx="2788818" cy="25813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704127" y="2559811"/>
            <a:ext cx="20199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Layer-wise</a:t>
            </a:r>
            <a:r>
              <a:rPr dirty="0" sz="1800" spc="-5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update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3/13/21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27</a:t>
            </a:fld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47472"/>
            <a:ext cx="4794504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863205" cy="197358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32740" marR="5080" indent="-320040">
              <a:lnSpc>
                <a:spcPct val="99800"/>
              </a:lnSpc>
              <a:spcBef>
                <a:spcPts val="10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30" b="1">
                <a:solidFill>
                  <a:srgbClr val="D60093"/>
                </a:solidFill>
                <a:latin typeface="Calibri"/>
                <a:cs typeface="Calibri"/>
              </a:rPr>
              <a:t>Key </a:t>
            </a:r>
            <a:r>
              <a:rPr dirty="0" spc="-5" b="1">
                <a:solidFill>
                  <a:srgbClr val="D60093"/>
                </a:solidFill>
                <a:latin typeface="Calibri"/>
                <a:cs typeface="Calibri"/>
              </a:rPr>
              <a:t>idea</a:t>
            </a:r>
            <a:r>
              <a:rPr dirty="0" spc="-5"/>
              <a:t>: </a:t>
            </a:r>
            <a:r>
              <a:rPr dirty="0" spc="-60"/>
              <a:t>We </a:t>
            </a:r>
            <a:r>
              <a:rPr dirty="0" spc="-10"/>
              <a:t>can </a:t>
            </a:r>
            <a:r>
              <a:rPr dirty="0" spc="-5" b="1">
                <a:solidFill>
                  <a:srgbClr val="C00000"/>
                </a:solidFill>
                <a:latin typeface="Calibri"/>
                <a:cs typeface="Calibri"/>
              </a:rPr>
              <a:t>sample </a:t>
            </a:r>
            <a:r>
              <a:rPr dirty="0" b="1">
                <a:solidFill>
                  <a:srgbClr val="C00000"/>
                </a:solidFill>
                <a:latin typeface="Calibri"/>
                <a:cs typeface="Calibri"/>
              </a:rPr>
              <a:t>a </a:t>
            </a:r>
            <a:r>
              <a:rPr dirty="0" spc="-5" b="1">
                <a:solidFill>
                  <a:srgbClr val="C00000"/>
                </a:solidFill>
                <a:latin typeface="Calibri"/>
                <a:cs typeface="Calibri"/>
              </a:rPr>
              <a:t>small </a:t>
            </a:r>
            <a:r>
              <a:rPr dirty="0" spc="-15" b="1">
                <a:solidFill>
                  <a:srgbClr val="C00000"/>
                </a:solidFill>
                <a:latin typeface="Calibri"/>
                <a:cs typeface="Calibri"/>
              </a:rPr>
              <a:t>subgraph </a:t>
            </a:r>
            <a:r>
              <a:rPr dirty="0" b="1">
                <a:solidFill>
                  <a:srgbClr val="C00000"/>
                </a:solidFill>
                <a:latin typeface="Calibri"/>
                <a:cs typeface="Calibri"/>
              </a:rPr>
              <a:t>of  </a:t>
            </a:r>
            <a:r>
              <a:rPr dirty="0" spc="-5" b="1">
                <a:solidFill>
                  <a:srgbClr val="C00000"/>
                </a:solidFill>
                <a:latin typeface="Calibri"/>
                <a:cs typeface="Calibri"/>
              </a:rPr>
              <a:t>the </a:t>
            </a:r>
            <a:r>
              <a:rPr dirty="0" spc="-20" b="1">
                <a:solidFill>
                  <a:srgbClr val="C00000"/>
                </a:solidFill>
                <a:latin typeface="Calibri"/>
                <a:cs typeface="Calibri"/>
              </a:rPr>
              <a:t>large graph </a:t>
            </a:r>
            <a:r>
              <a:rPr dirty="0"/>
              <a:t>and </a:t>
            </a:r>
            <a:r>
              <a:rPr dirty="0" spc="-5"/>
              <a:t>then </a:t>
            </a:r>
            <a:r>
              <a:rPr dirty="0" spc="-15"/>
              <a:t>perform </a:t>
            </a:r>
            <a:r>
              <a:rPr dirty="0"/>
              <a:t>the  </a:t>
            </a:r>
            <a:r>
              <a:rPr dirty="0" spc="-15"/>
              <a:t>efficient </a:t>
            </a:r>
            <a:r>
              <a:rPr dirty="0" spc="-20" b="1">
                <a:solidFill>
                  <a:srgbClr val="C00000"/>
                </a:solidFill>
                <a:latin typeface="Calibri"/>
                <a:cs typeface="Calibri"/>
              </a:rPr>
              <a:t>layer-wise </a:t>
            </a:r>
            <a:r>
              <a:rPr dirty="0" spc="-5"/>
              <a:t>node embeddings </a:t>
            </a:r>
            <a:r>
              <a:rPr dirty="0" spc="-15"/>
              <a:t>update  over </a:t>
            </a:r>
            <a:r>
              <a:rPr dirty="0"/>
              <a:t>the</a:t>
            </a:r>
            <a:r>
              <a:rPr dirty="0" spc="-30"/>
              <a:t> </a:t>
            </a:r>
            <a:r>
              <a:rPr dirty="0" spc="-10"/>
              <a:t>subgraph.</a:t>
            </a:r>
          </a:p>
        </p:txBody>
      </p:sp>
      <p:sp>
        <p:nvSpPr>
          <p:cNvPr id="4" name="object 4"/>
          <p:cNvSpPr/>
          <p:nvPr/>
        </p:nvSpPr>
        <p:spPr>
          <a:xfrm>
            <a:off x="4041695" y="5235197"/>
            <a:ext cx="177165" cy="118110"/>
          </a:xfrm>
          <a:custGeom>
            <a:avLst/>
            <a:gdLst/>
            <a:ahLst/>
            <a:cxnLst/>
            <a:rect l="l" t="t" r="r" b="b"/>
            <a:pathLst>
              <a:path w="177164" h="118110">
                <a:moveTo>
                  <a:pt x="0" y="0"/>
                </a:moveTo>
                <a:lnTo>
                  <a:pt x="176695" y="11802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351777" y="5212415"/>
            <a:ext cx="160655" cy="86360"/>
          </a:xfrm>
          <a:custGeom>
            <a:avLst/>
            <a:gdLst/>
            <a:ahLst/>
            <a:cxnLst/>
            <a:rect l="l" t="t" r="r" b="b"/>
            <a:pathLst>
              <a:path w="160654" h="86360">
                <a:moveTo>
                  <a:pt x="160370" y="0"/>
                </a:moveTo>
                <a:lnTo>
                  <a:pt x="0" y="85807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296525" y="5431011"/>
            <a:ext cx="109855" cy="152400"/>
          </a:xfrm>
          <a:custGeom>
            <a:avLst/>
            <a:gdLst/>
            <a:ahLst/>
            <a:cxnLst/>
            <a:rect l="l" t="t" r="r" b="b"/>
            <a:pathLst>
              <a:path w="109854" h="152400">
                <a:moveTo>
                  <a:pt x="0" y="0"/>
                </a:moveTo>
                <a:lnTo>
                  <a:pt x="109389" y="152115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963558" y="4840216"/>
            <a:ext cx="225425" cy="317500"/>
          </a:xfrm>
          <a:custGeom>
            <a:avLst/>
            <a:gdLst/>
            <a:ahLst/>
            <a:cxnLst/>
            <a:rect l="l" t="t" r="r" b="b"/>
            <a:pathLst>
              <a:path w="225425" h="317500">
                <a:moveTo>
                  <a:pt x="225416" y="0"/>
                </a:moveTo>
                <a:lnTo>
                  <a:pt x="0" y="317195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622647" y="4966195"/>
            <a:ext cx="224154" cy="136525"/>
          </a:xfrm>
          <a:custGeom>
            <a:avLst/>
            <a:gdLst/>
            <a:ahLst/>
            <a:cxnLst/>
            <a:rect l="l" t="t" r="r" b="b"/>
            <a:pathLst>
              <a:path w="224154" h="136525">
                <a:moveTo>
                  <a:pt x="223585" y="0"/>
                </a:moveTo>
                <a:lnTo>
                  <a:pt x="0" y="13621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901483" y="4988977"/>
            <a:ext cx="14604" cy="442595"/>
          </a:xfrm>
          <a:custGeom>
            <a:avLst/>
            <a:gdLst/>
            <a:ahLst/>
            <a:cxnLst/>
            <a:rect l="l" t="t" r="r" b="b"/>
            <a:pathLst>
              <a:path w="14604" h="442595">
                <a:moveTo>
                  <a:pt x="0" y="0"/>
                </a:moveTo>
                <a:lnTo>
                  <a:pt x="14303" y="442033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613641" y="5235197"/>
            <a:ext cx="272415" cy="0"/>
          </a:xfrm>
          <a:custGeom>
            <a:avLst/>
            <a:gdLst/>
            <a:ahLst/>
            <a:cxnLst/>
            <a:rect l="l" t="t" r="r" b="b"/>
            <a:pathLst>
              <a:path w="272414" h="0">
                <a:moveTo>
                  <a:pt x="0" y="0"/>
                </a:moveTo>
                <a:lnTo>
                  <a:pt x="271783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814028" y="5312983"/>
            <a:ext cx="149860" cy="389255"/>
          </a:xfrm>
          <a:custGeom>
            <a:avLst/>
            <a:gdLst/>
            <a:ahLst/>
            <a:cxnLst/>
            <a:rect l="l" t="t" r="r" b="b"/>
            <a:pathLst>
              <a:path w="149860" h="389254">
                <a:moveTo>
                  <a:pt x="0" y="388931"/>
                </a:moveTo>
                <a:lnTo>
                  <a:pt x="149532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622647" y="5212415"/>
            <a:ext cx="215265" cy="296545"/>
          </a:xfrm>
          <a:custGeom>
            <a:avLst/>
            <a:gdLst/>
            <a:ahLst/>
            <a:cxnLst/>
            <a:rect l="l" t="t" r="r" b="b"/>
            <a:pathLst>
              <a:path w="215264" h="296545">
                <a:moveTo>
                  <a:pt x="0" y="0"/>
                </a:moveTo>
                <a:lnTo>
                  <a:pt x="215003" y="296383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018809" y="5290201"/>
            <a:ext cx="340360" cy="683895"/>
          </a:xfrm>
          <a:custGeom>
            <a:avLst/>
            <a:gdLst/>
            <a:ahLst/>
            <a:cxnLst/>
            <a:rect l="l" t="t" r="r" b="b"/>
            <a:pathLst>
              <a:path w="340360" h="683895">
                <a:moveTo>
                  <a:pt x="0" y="0"/>
                </a:moveTo>
                <a:lnTo>
                  <a:pt x="340333" y="68341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405917" y="5738700"/>
            <a:ext cx="8890" cy="212725"/>
          </a:xfrm>
          <a:custGeom>
            <a:avLst/>
            <a:gdLst/>
            <a:ahLst/>
            <a:cxnLst/>
            <a:rect l="l" t="t" r="r" b="b"/>
            <a:pathLst>
              <a:path w="8889" h="212725">
                <a:moveTo>
                  <a:pt x="0" y="0"/>
                </a:moveTo>
                <a:lnTo>
                  <a:pt x="8476" y="21213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484052" y="5563801"/>
            <a:ext cx="376555" cy="97155"/>
          </a:xfrm>
          <a:custGeom>
            <a:avLst/>
            <a:gdLst/>
            <a:ahLst/>
            <a:cxnLst/>
            <a:rect l="l" t="t" r="r" b="b"/>
            <a:pathLst>
              <a:path w="376554" h="97154">
                <a:moveTo>
                  <a:pt x="0" y="97112"/>
                </a:moveTo>
                <a:lnTo>
                  <a:pt x="376483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218391" y="5275438"/>
            <a:ext cx="156845" cy="155575"/>
          </a:xfrm>
          <a:custGeom>
            <a:avLst/>
            <a:gdLst/>
            <a:ahLst/>
            <a:cxnLst/>
            <a:rect l="l" t="t" r="r" b="b"/>
            <a:pathLst>
              <a:path w="156845" h="155575">
                <a:moveTo>
                  <a:pt x="78135" y="0"/>
                </a:moveTo>
                <a:lnTo>
                  <a:pt x="47721" y="6112"/>
                </a:lnTo>
                <a:lnTo>
                  <a:pt x="22885" y="22783"/>
                </a:lnTo>
                <a:lnTo>
                  <a:pt x="6140" y="47508"/>
                </a:lnTo>
                <a:lnTo>
                  <a:pt x="0" y="77786"/>
                </a:lnTo>
                <a:lnTo>
                  <a:pt x="6140" y="108064"/>
                </a:lnTo>
                <a:lnTo>
                  <a:pt x="22885" y="132789"/>
                </a:lnTo>
                <a:lnTo>
                  <a:pt x="47721" y="149459"/>
                </a:lnTo>
                <a:lnTo>
                  <a:pt x="78135" y="155572"/>
                </a:lnTo>
                <a:lnTo>
                  <a:pt x="108549" y="149459"/>
                </a:lnTo>
                <a:lnTo>
                  <a:pt x="133386" y="132789"/>
                </a:lnTo>
                <a:lnTo>
                  <a:pt x="150131" y="108064"/>
                </a:lnTo>
                <a:lnTo>
                  <a:pt x="156272" y="77786"/>
                </a:lnTo>
                <a:lnTo>
                  <a:pt x="150131" y="47508"/>
                </a:lnTo>
                <a:lnTo>
                  <a:pt x="133386" y="22783"/>
                </a:lnTo>
                <a:lnTo>
                  <a:pt x="108549" y="6112"/>
                </a:lnTo>
                <a:lnTo>
                  <a:pt x="7813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218391" y="5275438"/>
            <a:ext cx="156845" cy="155575"/>
          </a:xfrm>
          <a:custGeom>
            <a:avLst/>
            <a:gdLst/>
            <a:ahLst/>
            <a:cxnLst/>
            <a:rect l="l" t="t" r="r" b="b"/>
            <a:pathLst>
              <a:path w="156845" h="155575">
                <a:moveTo>
                  <a:pt x="0" y="77786"/>
                </a:moveTo>
                <a:lnTo>
                  <a:pt x="6140" y="47508"/>
                </a:lnTo>
                <a:lnTo>
                  <a:pt x="22885" y="22783"/>
                </a:lnTo>
                <a:lnTo>
                  <a:pt x="47721" y="6112"/>
                </a:lnTo>
                <a:lnTo>
                  <a:pt x="78136" y="0"/>
                </a:lnTo>
                <a:lnTo>
                  <a:pt x="108550" y="6112"/>
                </a:lnTo>
                <a:lnTo>
                  <a:pt x="133386" y="22783"/>
                </a:lnTo>
                <a:lnTo>
                  <a:pt x="150131" y="47508"/>
                </a:lnTo>
                <a:lnTo>
                  <a:pt x="156272" y="77786"/>
                </a:lnTo>
                <a:lnTo>
                  <a:pt x="150131" y="108064"/>
                </a:lnTo>
                <a:lnTo>
                  <a:pt x="133386" y="132789"/>
                </a:lnTo>
                <a:lnTo>
                  <a:pt x="108550" y="149460"/>
                </a:lnTo>
                <a:lnTo>
                  <a:pt x="78136" y="155573"/>
                </a:lnTo>
                <a:lnTo>
                  <a:pt x="47721" y="149460"/>
                </a:lnTo>
                <a:lnTo>
                  <a:pt x="22885" y="132789"/>
                </a:lnTo>
                <a:lnTo>
                  <a:pt x="6140" y="108064"/>
                </a:lnTo>
                <a:lnTo>
                  <a:pt x="0" y="77786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885425" y="5157411"/>
            <a:ext cx="156845" cy="155575"/>
          </a:xfrm>
          <a:custGeom>
            <a:avLst/>
            <a:gdLst/>
            <a:ahLst/>
            <a:cxnLst/>
            <a:rect l="l" t="t" r="r" b="b"/>
            <a:pathLst>
              <a:path w="156845" h="155575">
                <a:moveTo>
                  <a:pt x="78135" y="0"/>
                </a:moveTo>
                <a:lnTo>
                  <a:pt x="47721" y="6113"/>
                </a:lnTo>
                <a:lnTo>
                  <a:pt x="22885" y="22783"/>
                </a:lnTo>
                <a:lnTo>
                  <a:pt x="6140" y="47509"/>
                </a:lnTo>
                <a:lnTo>
                  <a:pt x="0" y="77787"/>
                </a:lnTo>
                <a:lnTo>
                  <a:pt x="6140" y="108065"/>
                </a:lnTo>
                <a:lnTo>
                  <a:pt x="22885" y="132790"/>
                </a:lnTo>
                <a:lnTo>
                  <a:pt x="47721" y="149460"/>
                </a:lnTo>
                <a:lnTo>
                  <a:pt x="78135" y="155573"/>
                </a:lnTo>
                <a:lnTo>
                  <a:pt x="108549" y="149460"/>
                </a:lnTo>
                <a:lnTo>
                  <a:pt x="133385" y="132790"/>
                </a:lnTo>
                <a:lnTo>
                  <a:pt x="150130" y="108065"/>
                </a:lnTo>
                <a:lnTo>
                  <a:pt x="156270" y="77787"/>
                </a:lnTo>
                <a:lnTo>
                  <a:pt x="150130" y="47509"/>
                </a:lnTo>
                <a:lnTo>
                  <a:pt x="133385" y="22783"/>
                </a:lnTo>
                <a:lnTo>
                  <a:pt x="108549" y="6113"/>
                </a:lnTo>
                <a:lnTo>
                  <a:pt x="7813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885425" y="5157411"/>
            <a:ext cx="156845" cy="155575"/>
          </a:xfrm>
          <a:custGeom>
            <a:avLst/>
            <a:gdLst/>
            <a:ahLst/>
            <a:cxnLst/>
            <a:rect l="l" t="t" r="r" b="b"/>
            <a:pathLst>
              <a:path w="156845" h="155575">
                <a:moveTo>
                  <a:pt x="0" y="77786"/>
                </a:moveTo>
                <a:lnTo>
                  <a:pt x="6140" y="47508"/>
                </a:lnTo>
                <a:lnTo>
                  <a:pt x="22885" y="22783"/>
                </a:lnTo>
                <a:lnTo>
                  <a:pt x="47721" y="6112"/>
                </a:lnTo>
                <a:lnTo>
                  <a:pt x="78136" y="0"/>
                </a:lnTo>
                <a:lnTo>
                  <a:pt x="108550" y="6112"/>
                </a:lnTo>
                <a:lnTo>
                  <a:pt x="133386" y="22783"/>
                </a:lnTo>
                <a:lnTo>
                  <a:pt x="150131" y="47508"/>
                </a:lnTo>
                <a:lnTo>
                  <a:pt x="156272" y="77786"/>
                </a:lnTo>
                <a:lnTo>
                  <a:pt x="150131" y="108064"/>
                </a:lnTo>
                <a:lnTo>
                  <a:pt x="133386" y="132789"/>
                </a:lnTo>
                <a:lnTo>
                  <a:pt x="108550" y="149460"/>
                </a:lnTo>
                <a:lnTo>
                  <a:pt x="78136" y="155573"/>
                </a:lnTo>
                <a:lnTo>
                  <a:pt x="47721" y="149460"/>
                </a:lnTo>
                <a:lnTo>
                  <a:pt x="22885" y="132789"/>
                </a:lnTo>
                <a:lnTo>
                  <a:pt x="6140" y="108064"/>
                </a:lnTo>
                <a:lnTo>
                  <a:pt x="0" y="77786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336257" y="5950830"/>
            <a:ext cx="156845" cy="155575"/>
          </a:xfrm>
          <a:custGeom>
            <a:avLst/>
            <a:gdLst/>
            <a:ahLst/>
            <a:cxnLst/>
            <a:rect l="l" t="t" r="r" b="b"/>
            <a:pathLst>
              <a:path w="156845" h="155575">
                <a:moveTo>
                  <a:pt x="78135" y="0"/>
                </a:moveTo>
                <a:lnTo>
                  <a:pt x="47721" y="6112"/>
                </a:lnTo>
                <a:lnTo>
                  <a:pt x="22885" y="22783"/>
                </a:lnTo>
                <a:lnTo>
                  <a:pt x="6140" y="47508"/>
                </a:lnTo>
                <a:lnTo>
                  <a:pt x="0" y="77786"/>
                </a:lnTo>
                <a:lnTo>
                  <a:pt x="6140" y="108064"/>
                </a:lnTo>
                <a:lnTo>
                  <a:pt x="22885" y="132789"/>
                </a:lnTo>
                <a:lnTo>
                  <a:pt x="47721" y="149460"/>
                </a:lnTo>
                <a:lnTo>
                  <a:pt x="78135" y="155573"/>
                </a:lnTo>
                <a:lnTo>
                  <a:pt x="108549" y="149460"/>
                </a:lnTo>
                <a:lnTo>
                  <a:pt x="133385" y="132789"/>
                </a:lnTo>
                <a:lnTo>
                  <a:pt x="150130" y="108064"/>
                </a:lnTo>
                <a:lnTo>
                  <a:pt x="156270" y="77786"/>
                </a:lnTo>
                <a:lnTo>
                  <a:pt x="150130" y="47508"/>
                </a:lnTo>
                <a:lnTo>
                  <a:pt x="133385" y="22783"/>
                </a:lnTo>
                <a:lnTo>
                  <a:pt x="108549" y="6112"/>
                </a:lnTo>
                <a:lnTo>
                  <a:pt x="7813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336257" y="5950830"/>
            <a:ext cx="156845" cy="155575"/>
          </a:xfrm>
          <a:custGeom>
            <a:avLst/>
            <a:gdLst/>
            <a:ahLst/>
            <a:cxnLst/>
            <a:rect l="l" t="t" r="r" b="b"/>
            <a:pathLst>
              <a:path w="156845" h="155575">
                <a:moveTo>
                  <a:pt x="0" y="77786"/>
                </a:moveTo>
                <a:lnTo>
                  <a:pt x="6140" y="47508"/>
                </a:lnTo>
                <a:lnTo>
                  <a:pt x="22885" y="22783"/>
                </a:lnTo>
                <a:lnTo>
                  <a:pt x="47721" y="6112"/>
                </a:lnTo>
                <a:lnTo>
                  <a:pt x="78136" y="0"/>
                </a:lnTo>
                <a:lnTo>
                  <a:pt x="108550" y="6112"/>
                </a:lnTo>
                <a:lnTo>
                  <a:pt x="133386" y="22783"/>
                </a:lnTo>
                <a:lnTo>
                  <a:pt x="150131" y="47508"/>
                </a:lnTo>
                <a:lnTo>
                  <a:pt x="156272" y="77786"/>
                </a:lnTo>
                <a:lnTo>
                  <a:pt x="150131" y="108064"/>
                </a:lnTo>
                <a:lnTo>
                  <a:pt x="133386" y="132789"/>
                </a:lnTo>
                <a:lnTo>
                  <a:pt x="108550" y="149460"/>
                </a:lnTo>
                <a:lnTo>
                  <a:pt x="78136" y="155573"/>
                </a:lnTo>
                <a:lnTo>
                  <a:pt x="47721" y="149460"/>
                </a:lnTo>
                <a:lnTo>
                  <a:pt x="22885" y="132789"/>
                </a:lnTo>
                <a:lnTo>
                  <a:pt x="6140" y="108064"/>
                </a:lnTo>
                <a:lnTo>
                  <a:pt x="0" y="77786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735892" y="5701914"/>
            <a:ext cx="156845" cy="155575"/>
          </a:xfrm>
          <a:custGeom>
            <a:avLst/>
            <a:gdLst/>
            <a:ahLst/>
            <a:cxnLst/>
            <a:rect l="l" t="t" r="r" b="b"/>
            <a:pathLst>
              <a:path w="156845" h="155575">
                <a:moveTo>
                  <a:pt x="78135" y="0"/>
                </a:moveTo>
                <a:lnTo>
                  <a:pt x="47721" y="6112"/>
                </a:lnTo>
                <a:lnTo>
                  <a:pt x="22885" y="22783"/>
                </a:lnTo>
                <a:lnTo>
                  <a:pt x="6140" y="47508"/>
                </a:lnTo>
                <a:lnTo>
                  <a:pt x="0" y="77786"/>
                </a:lnTo>
                <a:lnTo>
                  <a:pt x="6140" y="108064"/>
                </a:lnTo>
                <a:lnTo>
                  <a:pt x="22885" y="132789"/>
                </a:lnTo>
                <a:lnTo>
                  <a:pt x="47721" y="149460"/>
                </a:lnTo>
                <a:lnTo>
                  <a:pt x="78135" y="155572"/>
                </a:lnTo>
                <a:lnTo>
                  <a:pt x="108549" y="149460"/>
                </a:lnTo>
                <a:lnTo>
                  <a:pt x="133386" y="132789"/>
                </a:lnTo>
                <a:lnTo>
                  <a:pt x="150131" y="108064"/>
                </a:lnTo>
                <a:lnTo>
                  <a:pt x="156272" y="77786"/>
                </a:lnTo>
                <a:lnTo>
                  <a:pt x="150131" y="47508"/>
                </a:lnTo>
                <a:lnTo>
                  <a:pt x="133386" y="22783"/>
                </a:lnTo>
                <a:lnTo>
                  <a:pt x="108549" y="6112"/>
                </a:lnTo>
                <a:lnTo>
                  <a:pt x="7813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735892" y="5701914"/>
            <a:ext cx="156845" cy="155575"/>
          </a:xfrm>
          <a:custGeom>
            <a:avLst/>
            <a:gdLst/>
            <a:ahLst/>
            <a:cxnLst/>
            <a:rect l="l" t="t" r="r" b="b"/>
            <a:pathLst>
              <a:path w="156845" h="155575">
                <a:moveTo>
                  <a:pt x="0" y="77786"/>
                </a:moveTo>
                <a:lnTo>
                  <a:pt x="6140" y="47508"/>
                </a:lnTo>
                <a:lnTo>
                  <a:pt x="22885" y="22783"/>
                </a:lnTo>
                <a:lnTo>
                  <a:pt x="47721" y="6112"/>
                </a:lnTo>
                <a:lnTo>
                  <a:pt x="78136" y="0"/>
                </a:lnTo>
                <a:lnTo>
                  <a:pt x="108550" y="6112"/>
                </a:lnTo>
                <a:lnTo>
                  <a:pt x="133386" y="22783"/>
                </a:lnTo>
                <a:lnTo>
                  <a:pt x="150131" y="47508"/>
                </a:lnTo>
                <a:lnTo>
                  <a:pt x="156272" y="77786"/>
                </a:lnTo>
                <a:lnTo>
                  <a:pt x="150131" y="108064"/>
                </a:lnTo>
                <a:lnTo>
                  <a:pt x="133386" y="132789"/>
                </a:lnTo>
                <a:lnTo>
                  <a:pt x="108550" y="149460"/>
                </a:lnTo>
                <a:lnTo>
                  <a:pt x="78136" y="155573"/>
                </a:lnTo>
                <a:lnTo>
                  <a:pt x="47721" y="149460"/>
                </a:lnTo>
                <a:lnTo>
                  <a:pt x="22885" y="132789"/>
                </a:lnTo>
                <a:lnTo>
                  <a:pt x="6140" y="108064"/>
                </a:lnTo>
                <a:lnTo>
                  <a:pt x="0" y="77786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327780" y="5583127"/>
            <a:ext cx="156845" cy="155575"/>
          </a:xfrm>
          <a:custGeom>
            <a:avLst/>
            <a:gdLst/>
            <a:ahLst/>
            <a:cxnLst/>
            <a:rect l="l" t="t" r="r" b="b"/>
            <a:pathLst>
              <a:path w="156845" h="155575">
                <a:moveTo>
                  <a:pt x="78136" y="0"/>
                </a:moveTo>
                <a:lnTo>
                  <a:pt x="47722" y="6112"/>
                </a:lnTo>
                <a:lnTo>
                  <a:pt x="22885" y="22783"/>
                </a:lnTo>
                <a:lnTo>
                  <a:pt x="6140" y="47508"/>
                </a:lnTo>
                <a:lnTo>
                  <a:pt x="0" y="77786"/>
                </a:lnTo>
                <a:lnTo>
                  <a:pt x="6140" y="108064"/>
                </a:lnTo>
                <a:lnTo>
                  <a:pt x="22885" y="132789"/>
                </a:lnTo>
                <a:lnTo>
                  <a:pt x="47722" y="149460"/>
                </a:lnTo>
                <a:lnTo>
                  <a:pt x="78136" y="155572"/>
                </a:lnTo>
                <a:lnTo>
                  <a:pt x="108550" y="149460"/>
                </a:lnTo>
                <a:lnTo>
                  <a:pt x="133386" y="132789"/>
                </a:lnTo>
                <a:lnTo>
                  <a:pt x="150131" y="108064"/>
                </a:lnTo>
                <a:lnTo>
                  <a:pt x="156272" y="77786"/>
                </a:lnTo>
                <a:lnTo>
                  <a:pt x="150131" y="47508"/>
                </a:lnTo>
                <a:lnTo>
                  <a:pt x="133386" y="22783"/>
                </a:lnTo>
                <a:lnTo>
                  <a:pt x="108550" y="6112"/>
                </a:lnTo>
                <a:lnTo>
                  <a:pt x="781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327780" y="5583127"/>
            <a:ext cx="156845" cy="155575"/>
          </a:xfrm>
          <a:custGeom>
            <a:avLst/>
            <a:gdLst/>
            <a:ahLst/>
            <a:cxnLst/>
            <a:rect l="l" t="t" r="r" b="b"/>
            <a:pathLst>
              <a:path w="156845" h="155575">
                <a:moveTo>
                  <a:pt x="0" y="77786"/>
                </a:moveTo>
                <a:lnTo>
                  <a:pt x="6140" y="47508"/>
                </a:lnTo>
                <a:lnTo>
                  <a:pt x="22885" y="22783"/>
                </a:lnTo>
                <a:lnTo>
                  <a:pt x="47721" y="6112"/>
                </a:lnTo>
                <a:lnTo>
                  <a:pt x="78136" y="0"/>
                </a:lnTo>
                <a:lnTo>
                  <a:pt x="108550" y="6112"/>
                </a:lnTo>
                <a:lnTo>
                  <a:pt x="133386" y="22783"/>
                </a:lnTo>
                <a:lnTo>
                  <a:pt x="150131" y="47508"/>
                </a:lnTo>
                <a:lnTo>
                  <a:pt x="156272" y="77786"/>
                </a:lnTo>
                <a:lnTo>
                  <a:pt x="150131" y="108064"/>
                </a:lnTo>
                <a:lnTo>
                  <a:pt x="133386" y="132789"/>
                </a:lnTo>
                <a:lnTo>
                  <a:pt x="108550" y="149460"/>
                </a:lnTo>
                <a:lnTo>
                  <a:pt x="78136" y="155573"/>
                </a:lnTo>
                <a:lnTo>
                  <a:pt x="47721" y="149460"/>
                </a:lnTo>
                <a:lnTo>
                  <a:pt x="22885" y="132789"/>
                </a:lnTo>
                <a:lnTo>
                  <a:pt x="6140" y="108064"/>
                </a:lnTo>
                <a:lnTo>
                  <a:pt x="0" y="77786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489260" y="5079625"/>
            <a:ext cx="156845" cy="155575"/>
          </a:xfrm>
          <a:custGeom>
            <a:avLst/>
            <a:gdLst/>
            <a:ahLst/>
            <a:cxnLst/>
            <a:rect l="l" t="t" r="r" b="b"/>
            <a:pathLst>
              <a:path w="156845" h="155575">
                <a:moveTo>
                  <a:pt x="78135" y="0"/>
                </a:moveTo>
                <a:lnTo>
                  <a:pt x="47721" y="6112"/>
                </a:lnTo>
                <a:lnTo>
                  <a:pt x="22885" y="22783"/>
                </a:lnTo>
                <a:lnTo>
                  <a:pt x="6140" y="47508"/>
                </a:lnTo>
                <a:lnTo>
                  <a:pt x="0" y="77786"/>
                </a:lnTo>
                <a:lnTo>
                  <a:pt x="6140" y="108064"/>
                </a:lnTo>
                <a:lnTo>
                  <a:pt x="22885" y="132789"/>
                </a:lnTo>
                <a:lnTo>
                  <a:pt x="47721" y="149459"/>
                </a:lnTo>
                <a:lnTo>
                  <a:pt x="78135" y="155572"/>
                </a:lnTo>
                <a:lnTo>
                  <a:pt x="108549" y="149459"/>
                </a:lnTo>
                <a:lnTo>
                  <a:pt x="133386" y="132789"/>
                </a:lnTo>
                <a:lnTo>
                  <a:pt x="150131" y="108064"/>
                </a:lnTo>
                <a:lnTo>
                  <a:pt x="156272" y="77786"/>
                </a:lnTo>
                <a:lnTo>
                  <a:pt x="150131" y="47508"/>
                </a:lnTo>
                <a:lnTo>
                  <a:pt x="133386" y="22783"/>
                </a:lnTo>
                <a:lnTo>
                  <a:pt x="108549" y="6112"/>
                </a:lnTo>
                <a:lnTo>
                  <a:pt x="7813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489260" y="5079625"/>
            <a:ext cx="156845" cy="155575"/>
          </a:xfrm>
          <a:custGeom>
            <a:avLst/>
            <a:gdLst/>
            <a:ahLst/>
            <a:cxnLst/>
            <a:rect l="l" t="t" r="r" b="b"/>
            <a:pathLst>
              <a:path w="156845" h="155575">
                <a:moveTo>
                  <a:pt x="0" y="77786"/>
                </a:moveTo>
                <a:lnTo>
                  <a:pt x="6140" y="47508"/>
                </a:lnTo>
                <a:lnTo>
                  <a:pt x="22885" y="22783"/>
                </a:lnTo>
                <a:lnTo>
                  <a:pt x="47721" y="6112"/>
                </a:lnTo>
                <a:lnTo>
                  <a:pt x="78136" y="0"/>
                </a:lnTo>
                <a:lnTo>
                  <a:pt x="108550" y="6112"/>
                </a:lnTo>
                <a:lnTo>
                  <a:pt x="133386" y="22783"/>
                </a:lnTo>
                <a:lnTo>
                  <a:pt x="150131" y="47508"/>
                </a:lnTo>
                <a:lnTo>
                  <a:pt x="156272" y="77786"/>
                </a:lnTo>
                <a:lnTo>
                  <a:pt x="150131" y="108064"/>
                </a:lnTo>
                <a:lnTo>
                  <a:pt x="133386" y="132789"/>
                </a:lnTo>
                <a:lnTo>
                  <a:pt x="108550" y="149460"/>
                </a:lnTo>
                <a:lnTo>
                  <a:pt x="78136" y="155573"/>
                </a:lnTo>
                <a:lnTo>
                  <a:pt x="47721" y="149460"/>
                </a:lnTo>
                <a:lnTo>
                  <a:pt x="22885" y="132789"/>
                </a:lnTo>
                <a:lnTo>
                  <a:pt x="6140" y="108064"/>
                </a:lnTo>
                <a:lnTo>
                  <a:pt x="0" y="77786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110841" y="4684643"/>
            <a:ext cx="156845" cy="155575"/>
          </a:xfrm>
          <a:custGeom>
            <a:avLst/>
            <a:gdLst/>
            <a:ahLst/>
            <a:cxnLst/>
            <a:rect l="l" t="t" r="r" b="b"/>
            <a:pathLst>
              <a:path w="156845" h="155575">
                <a:moveTo>
                  <a:pt x="78135" y="0"/>
                </a:moveTo>
                <a:lnTo>
                  <a:pt x="47721" y="6112"/>
                </a:lnTo>
                <a:lnTo>
                  <a:pt x="22885" y="22783"/>
                </a:lnTo>
                <a:lnTo>
                  <a:pt x="6140" y="47508"/>
                </a:lnTo>
                <a:lnTo>
                  <a:pt x="0" y="77786"/>
                </a:lnTo>
                <a:lnTo>
                  <a:pt x="6140" y="108064"/>
                </a:lnTo>
                <a:lnTo>
                  <a:pt x="22885" y="132789"/>
                </a:lnTo>
                <a:lnTo>
                  <a:pt x="47721" y="149459"/>
                </a:lnTo>
                <a:lnTo>
                  <a:pt x="78135" y="155572"/>
                </a:lnTo>
                <a:lnTo>
                  <a:pt x="108549" y="149459"/>
                </a:lnTo>
                <a:lnTo>
                  <a:pt x="133386" y="132789"/>
                </a:lnTo>
                <a:lnTo>
                  <a:pt x="150131" y="108064"/>
                </a:lnTo>
                <a:lnTo>
                  <a:pt x="156272" y="77786"/>
                </a:lnTo>
                <a:lnTo>
                  <a:pt x="150131" y="47508"/>
                </a:lnTo>
                <a:lnTo>
                  <a:pt x="133386" y="22783"/>
                </a:lnTo>
                <a:lnTo>
                  <a:pt x="108549" y="6112"/>
                </a:lnTo>
                <a:lnTo>
                  <a:pt x="7813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110841" y="4684643"/>
            <a:ext cx="156845" cy="155575"/>
          </a:xfrm>
          <a:custGeom>
            <a:avLst/>
            <a:gdLst/>
            <a:ahLst/>
            <a:cxnLst/>
            <a:rect l="l" t="t" r="r" b="b"/>
            <a:pathLst>
              <a:path w="156845" h="155575">
                <a:moveTo>
                  <a:pt x="0" y="77786"/>
                </a:moveTo>
                <a:lnTo>
                  <a:pt x="6140" y="47508"/>
                </a:lnTo>
                <a:lnTo>
                  <a:pt x="22885" y="22783"/>
                </a:lnTo>
                <a:lnTo>
                  <a:pt x="47721" y="6112"/>
                </a:lnTo>
                <a:lnTo>
                  <a:pt x="78136" y="0"/>
                </a:lnTo>
                <a:lnTo>
                  <a:pt x="108550" y="6112"/>
                </a:lnTo>
                <a:lnTo>
                  <a:pt x="133386" y="22783"/>
                </a:lnTo>
                <a:lnTo>
                  <a:pt x="150131" y="47508"/>
                </a:lnTo>
                <a:lnTo>
                  <a:pt x="156272" y="77786"/>
                </a:lnTo>
                <a:lnTo>
                  <a:pt x="150131" y="108064"/>
                </a:lnTo>
                <a:lnTo>
                  <a:pt x="133386" y="132789"/>
                </a:lnTo>
                <a:lnTo>
                  <a:pt x="108550" y="149460"/>
                </a:lnTo>
                <a:lnTo>
                  <a:pt x="78136" y="155573"/>
                </a:lnTo>
                <a:lnTo>
                  <a:pt x="47721" y="149460"/>
                </a:lnTo>
                <a:lnTo>
                  <a:pt x="22885" y="132789"/>
                </a:lnTo>
                <a:lnTo>
                  <a:pt x="6140" y="108064"/>
                </a:lnTo>
                <a:lnTo>
                  <a:pt x="0" y="77786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837648" y="5431011"/>
            <a:ext cx="156845" cy="155575"/>
          </a:xfrm>
          <a:custGeom>
            <a:avLst/>
            <a:gdLst/>
            <a:ahLst/>
            <a:cxnLst/>
            <a:rect l="l" t="t" r="r" b="b"/>
            <a:pathLst>
              <a:path w="156845" h="155575">
                <a:moveTo>
                  <a:pt x="78136" y="0"/>
                </a:moveTo>
                <a:lnTo>
                  <a:pt x="47722" y="6113"/>
                </a:lnTo>
                <a:lnTo>
                  <a:pt x="22885" y="22783"/>
                </a:lnTo>
                <a:lnTo>
                  <a:pt x="6140" y="47509"/>
                </a:lnTo>
                <a:lnTo>
                  <a:pt x="0" y="77787"/>
                </a:lnTo>
                <a:lnTo>
                  <a:pt x="6140" y="108065"/>
                </a:lnTo>
                <a:lnTo>
                  <a:pt x="22885" y="132790"/>
                </a:lnTo>
                <a:lnTo>
                  <a:pt x="47722" y="149460"/>
                </a:lnTo>
                <a:lnTo>
                  <a:pt x="78136" y="155573"/>
                </a:lnTo>
                <a:lnTo>
                  <a:pt x="108550" y="149460"/>
                </a:lnTo>
                <a:lnTo>
                  <a:pt x="133386" y="132790"/>
                </a:lnTo>
                <a:lnTo>
                  <a:pt x="150131" y="108065"/>
                </a:lnTo>
                <a:lnTo>
                  <a:pt x="156272" y="77787"/>
                </a:lnTo>
                <a:lnTo>
                  <a:pt x="150131" y="47509"/>
                </a:lnTo>
                <a:lnTo>
                  <a:pt x="133386" y="22783"/>
                </a:lnTo>
                <a:lnTo>
                  <a:pt x="108550" y="6113"/>
                </a:lnTo>
                <a:lnTo>
                  <a:pt x="781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837648" y="5431011"/>
            <a:ext cx="156845" cy="155575"/>
          </a:xfrm>
          <a:custGeom>
            <a:avLst/>
            <a:gdLst/>
            <a:ahLst/>
            <a:cxnLst/>
            <a:rect l="l" t="t" r="r" b="b"/>
            <a:pathLst>
              <a:path w="156845" h="155575">
                <a:moveTo>
                  <a:pt x="0" y="77786"/>
                </a:moveTo>
                <a:lnTo>
                  <a:pt x="6140" y="47508"/>
                </a:lnTo>
                <a:lnTo>
                  <a:pt x="22885" y="22783"/>
                </a:lnTo>
                <a:lnTo>
                  <a:pt x="47721" y="6112"/>
                </a:lnTo>
                <a:lnTo>
                  <a:pt x="78136" y="0"/>
                </a:lnTo>
                <a:lnTo>
                  <a:pt x="108550" y="6112"/>
                </a:lnTo>
                <a:lnTo>
                  <a:pt x="133386" y="22783"/>
                </a:lnTo>
                <a:lnTo>
                  <a:pt x="150131" y="47508"/>
                </a:lnTo>
                <a:lnTo>
                  <a:pt x="156272" y="77786"/>
                </a:lnTo>
                <a:lnTo>
                  <a:pt x="150131" y="108064"/>
                </a:lnTo>
                <a:lnTo>
                  <a:pt x="133386" y="132789"/>
                </a:lnTo>
                <a:lnTo>
                  <a:pt x="108550" y="149460"/>
                </a:lnTo>
                <a:lnTo>
                  <a:pt x="78136" y="155573"/>
                </a:lnTo>
                <a:lnTo>
                  <a:pt x="47721" y="149460"/>
                </a:lnTo>
                <a:lnTo>
                  <a:pt x="22885" y="132789"/>
                </a:lnTo>
                <a:lnTo>
                  <a:pt x="6140" y="108064"/>
                </a:lnTo>
                <a:lnTo>
                  <a:pt x="0" y="77786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457370" y="5157411"/>
            <a:ext cx="156845" cy="155575"/>
          </a:xfrm>
          <a:custGeom>
            <a:avLst/>
            <a:gdLst/>
            <a:ahLst/>
            <a:cxnLst/>
            <a:rect l="l" t="t" r="r" b="b"/>
            <a:pathLst>
              <a:path w="156845" h="155575">
                <a:moveTo>
                  <a:pt x="0" y="77786"/>
                </a:moveTo>
                <a:lnTo>
                  <a:pt x="6140" y="47508"/>
                </a:lnTo>
                <a:lnTo>
                  <a:pt x="22885" y="22783"/>
                </a:lnTo>
                <a:lnTo>
                  <a:pt x="47721" y="6112"/>
                </a:lnTo>
                <a:lnTo>
                  <a:pt x="78136" y="0"/>
                </a:lnTo>
                <a:lnTo>
                  <a:pt x="108550" y="6112"/>
                </a:lnTo>
                <a:lnTo>
                  <a:pt x="133386" y="22783"/>
                </a:lnTo>
                <a:lnTo>
                  <a:pt x="150131" y="47508"/>
                </a:lnTo>
                <a:lnTo>
                  <a:pt x="156272" y="77786"/>
                </a:lnTo>
                <a:lnTo>
                  <a:pt x="150131" y="108064"/>
                </a:lnTo>
                <a:lnTo>
                  <a:pt x="133386" y="132789"/>
                </a:lnTo>
                <a:lnTo>
                  <a:pt x="108550" y="149460"/>
                </a:lnTo>
                <a:lnTo>
                  <a:pt x="78136" y="155573"/>
                </a:lnTo>
                <a:lnTo>
                  <a:pt x="47721" y="149460"/>
                </a:lnTo>
                <a:lnTo>
                  <a:pt x="22885" y="132789"/>
                </a:lnTo>
                <a:lnTo>
                  <a:pt x="6140" y="108064"/>
                </a:lnTo>
                <a:lnTo>
                  <a:pt x="0" y="77786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4823348" y="4833406"/>
            <a:ext cx="156845" cy="155575"/>
          </a:xfrm>
          <a:custGeom>
            <a:avLst/>
            <a:gdLst/>
            <a:ahLst/>
            <a:cxnLst/>
            <a:rect l="l" t="t" r="r" b="b"/>
            <a:pathLst>
              <a:path w="156845" h="155575">
                <a:moveTo>
                  <a:pt x="78135" y="0"/>
                </a:moveTo>
                <a:lnTo>
                  <a:pt x="47721" y="6112"/>
                </a:lnTo>
                <a:lnTo>
                  <a:pt x="22885" y="22783"/>
                </a:lnTo>
                <a:lnTo>
                  <a:pt x="6140" y="47508"/>
                </a:lnTo>
                <a:lnTo>
                  <a:pt x="0" y="77786"/>
                </a:lnTo>
                <a:lnTo>
                  <a:pt x="6140" y="108064"/>
                </a:lnTo>
                <a:lnTo>
                  <a:pt x="22885" y="132789"/>
                </a:lnTo>
                <a:lnTo>
                  <a:pt x="47721" y="149459"/>
                </a:lnTo>
                <a:lnTo>
                  <a:pt x="78135" y="155572"/>
                </a:lnTo>
                <a:lnTo>
                  <a:pt x="108549" y="149459"/>
                </a:lnTo>
                <a:lnTo>
                  <a:pt x="133386" y="132789"/>
                </a:lnTo>
                <a:lnTo>
                  <a:pt x="150131" y="108064"/>
                </a:lnTo>
                <a:lnTo>
                  <a:pt x="156272" y="77786"/>
                </a:lnTo>
                <a:lnTo>
                  <a:pt x="150131" y="47508"/>
                </a:lnTo>
                <a:lnTo>
                  <a:pt x="133386" y="22783"/>
                </a:lnTo>
                <a:lnTo>
                  <a:pt x="108549" y="6112"/>
                </a:lnTo>
                <a:lnTo>
                  <a:pt x="7813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823348" y="4833406"/>
            <a:ext cx="156845" cy="155575"/>
          </a:xfrm>
          <a:custGeom>
            <a:avLst/>
            <a:gdLst/>
            <a:ahLst/>
            <a:cxnLst/>
            <a:rect l="l" t="t" r="r" b="b"/>
            <a:pathLst>
              <a:path w="156845" h="155575">
                <a:moveTo>
                  <a:pt x="0" y="77786"/>
                </a:moveTo>
                <a:lnTo>
                  <a:pt x="6140" y="47508"/>
                </a:lnTo>
                <a:lnTo>
                  <a:pt x="22885" y="22783"/>
                </a:lnTo>
                <a:lnTo>
                  <a:pt x="47721" y="6112"/>
                </a:lnTo>
                <a:lnTo>
                  <a:pt x="78136" y="0"/>
                </a:lnTo>
                <a:lnTo>
                  <a:pt x="108550" y="6112"/>
                </a:lnTo>
                <a:lnTo>
                  <a:pt x="133386" y="22783"/>
                </a:lnTo>
                <a:lnTo>
                  <a:pt x="150131" y="47508"/>
                </a:lnTo>
                <a:lnTo>
                  <a:pt x="156272" y="77786"/>
                </a:lnTo>
                <a:lnTo>
                  <a:pt x="150131" y="108064"/>
                </a:lnTo>
                <a:lnTo>
                  <a:pt x="133386" y="132789"/>
                </a:lnTo>
                <a:lnTo>
                  <a:pt x="108550" y="149460"/>
                </a:lnTo>
                <a:lnTo>
                  <a:pt x="78136" y="155573"/>
                </a:lnTo>
                <a:lnTo>
                  <a:pt x="47721" y="149460"/>
                </a:lnTo>
                <a:lnTo>
                  <a:pt x="22885" y="132789"/>
                </a:lnTo>
                <a:lnTo>
                  <a:pt x="6140" y="108064"/>
                </a:lnTo>
                <a:lnTo>
                  <a:pt x="0" y="77786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572552" y="4501218"/>
            <a:ext cx="2059939" cy="1677670"/>
          </a:xfrm>
          <a:custGeom>
            <a:avLst/>
            <a:gdLst/>
            <a:ahLst/>
            <a:cxnLst/>
            <a:rect l="l" t="t" r="r" b="b"/>
            <a:pathLst>
              <a:path w="2059939" h="1677670">
                <a:moveTo>
                  <a:pt x="187043" y="552217"/>
                </a:moveTo>
                <a:lnTo>
                  <a:pt x="184070" y="503828"/>
                </a:lnTo>
                <a:lnTo>
                  <a:pt x="186903" y="456560"/>
                </a:lnTo>
                <a:lnTo>
                  <a:pt x="195214" y="410892"/>
                </a:lnTo>
                <a:lnTo>
                  <a:pt x="208674" y="367302"/>
                </a:lnTo>
                <a:lnTo>
                  <a:pt x="226955" y="326268"/>
                </a:lnTo>
                <a:lnTo>
                  <a:pt x="249730" y="288269"/>
                </a:lnTo>
                <a:lnTo>
                  <a:pt x="276670" y="253782"/>
                </a:lnTo>
                <a:lnTo>
                  <a:pt x="307448" y="223286"/>
                </a:lnTo>
                <a:lnTo>
                  <a:pt x="341735" y="197260"/>
                </a:lnTo>
                <a:lnTo>
                  <a:pt x="379204" y="176182"/>
                </a:lnTo>
                <a:lnTo>
                  <a:pt x="419525" y="160529"/>
                </a:lnTo>
                <a:lnTo>
                  <a:pt x="462372" y="150781"/>
                </a:lnTo>
                <a:lnTo>
                  <a:pt x="515903" y="147705"/>
                </a:lnTo>
                <a:lnTo>
                  <a:pt x="568793" y="154452"/>
                </a:lnTo>
                <a:lnTo>
                  <a:pt x="619954" y="170780"/>
                </a:lnTo>
                <a:lnTo>
                  <a:pt x="668300" y="196449"/>
                </a:lnTo>
                <a:lnTo>
                  <a:pt x="693331" y="153814"/>
                </a:lnTo>
                <a:lnTo>
                  <a:pt x="723907" y="117826"/>
                </a:lnTo>
                <a:lnTo>
                  <a:pt x="759060" y="88813"/>
                </a:lnTo>
                <a:lnTo>
                  <a:pt x="797818" y="67105"/>
                </a:lnTo>
                <a:lnTo>
                  <a:pt x="839212" y="53033"/>
                </a:lnTo>
                <a:lnTo>
                  <a:pt x="882273" y="46926"/>
                </a:lnTo>
                <a:lnTo>
                  <a:pt x="926029" y="49114"/>
                </a:lnTo>
                <a:lnTo>
                  <a:pt x="969511" y="59926"/>
                </a:lnTo>
                <a:lnTo>
                  <a:pt x="1011750" y="79693"/>
                </a:lnTo>
                <a:lnTo>
                  <a:pt x="1057222" y="113990"/>
                </a:lnTo>
                <a:lnTo>
                  <a:pt x="1070773" y="127765"/>
                </a:lnTo>
                <a:lnTo>
                  <a:pt x="1096963" y="83150"/>
                </a:lnTo>
                <a:lnTo>
                  <a:pt x="1130489" y="47445"/>
                </a:lnTo>
                <a:lnTo>
                  <a:pt x="1169678" y="21271"/>
                </a:lnTo>
                <a:lnTo>
                  <a:pt x="1212857" y="5249"/>
                </a:lnTo>
                <a:lnTo>
                  <a:pt x="1258351" y="0"/>
                </a:lnTo>
                <a:lnTo>
                  <a:pt x="1304487" y="6144"/>
                </a:lnTo>
                <a:lnTo>
                  <a:pt x="1349591" y="24304"/>
                </a:lnTo>
                <a:lnTo>
                  <a:pt x="1389283" y="52966"/>
                </a:lnTo>
                <a:lnTo>
                  <a:pt x="1422100" y="90853"/>
                </a:lnTo>
                <a:lnTo>
                  <a:pt x="1455828" y="54870"/>
                </a:lnTo>
                <a:lnTo>
                  <a:pt x="1494184" y="27866"/>
                </a:lnTo>
                <a:lnTo>
                  <a:pt x="1535859" y="9961"/>
                </a:lnTo>
                <a:lnTo>
                  <a:pt x="1579542" y="1274"/>
                </a:lnTo>
                <a:lnTo>
                  <a:pt x="1623920" y="1926"/>
                </a:lnTo>
                <a:lnTo>
                  <a:pt x="1667683" y="12035"/>
                </a:lnTo>
                <a:lnTo>
                  <a:pt x="1709520" y="31721"/>
                </a:lnTo>
                <a:lnTo>
                  <a:pt x="1748121" y="61105"/>
                </a:lnTo>
                <a:lnTo>
                  <a:pt x="1776262" y="92503"/>
                </a:lnTo>
                <a:lnTo>
                  <a:pt x="1798953" y="128513"/>
                </a:lnTo>
                <a:lnTo>
                  <a:pt x="1815748" y="168283"/>
                </a:lnTo>
                <a:lnTo>
                  <a:pt x="1826205" y="210961"/>
                </a:lnTo>
                <a:lnTo>
                  <a:pt x="1869180" y="228676"/>
                </a:lnTo>
                <a:lnTo>
                  <a:pt x="1907540" y="253871"/>
                </a:lnTo>
                <a:lnTo>
                  <a:pt x="1940782" y="285565"/>
                </a:lnTo>
                <a:lnTo>
                  <a:pt x="1968402" y="322780"/>
                </a:lnTo>
                <a:lnTo>
                  <a:pt x="1989895" y="364538"/>
                </a:lnTo>
                <a:lnTo>
                  <a:pt x="2004760" y="409860"/>
                </a:lnTo>
                <a:lnTo>
                  <a:pt x="2012491" y="457769"/>
                </a:lnTo>
                <a:lnTo>
                  <a:pt x="2012585" y="507284"/>
                </a:lnTo>
                <a:lnTo>
                  <a:pt x="2004539" y="557428"/>
                </a:lnTo>
                <a:lnTo>
                  <a:pt x="2002068" y="566862"/>
                </a:lnTo>
                <a:lnTo>
                  <a:pt x="1999304" y="576191"/>
                </a:lnTo>
                <a:lnTo>
                  <a:pt x="1996249" y="585408"/>
                </a:lnTo>
                <a:lnTo>
                  <a:pt x="1992907" y="594504"/>
                </a:lnTo>
                <a:lnTo>
                  <a:pt x="2017240" y="634997"/>
                </a:lnTo>
                <a:lnTo>
                  <a:pt x="2036014" y="677721"/>
                </a:lnTo>
                <a:lnTo>
                  <a:pt x="2049300" y="722080"/>
                </a:lnTo>
                <a:lnTo>
                  <a:pt x="2057168" y="767474"/>
                </a:lnTo>
                <a:lnTo>
                  <a:pt x="2059688" y="813306"/>
                </a:lnTo>
                <a:lnTo>
                  <a:pt x="2056933" y="858979"/>
                </a:lnTo>
                <a:lnTo>
                  <a:pt x="2048972" y="903895"/>
                </a:lnTo>
                <a:lnTo>
                  <a:pt x="2035875" y="947456"/>
                </a:lnTo>
                <a:lnTo>
                  <a:pt x="2017715" y="989064"/>
                </a:lnTo>
                <a:lnTo>
                  <a:pt x="1994561" y="1028121"/>
                </a:lnTo>
                <a:lnTo>
                  <a:pt x="1966484" y="1064031"/>
                </a:lnTo>
                <a:lnTo>
                  <a:pt x="1933555" y="1096194"/>
                </a:lnTo>
                <a:lnTo>
                  <a:pt x="1899144" y="1121781"/>
                </a:lnTo>
                <a:lnTo>
                  <a:pt x="1862216" y="1142196"/>
                </a:lnTo>
                <a:lnTo>
                  <a:pt x="1823241" y="1157217"/>
                </a:lnTo>
                <a:lnTo>
                  <a:pt x="1782688" y="1166627"/>
                </a:lnTo>
                <a:lnTo>
                  <a:pt x="1778723" y="1216112"/>
                </a:lnTo>
                <a:lnTo>
                  <a:pt x="1767944" y="1262992"/>
                </a:lnTo>
                <a:lnTo>
                  <a:pt x="1750921" y="1306644"/>
                </a:lnTo>
                <a:lnTo>
                  <a:pt x="1728226" y="1346445"/>
                </a:lnTo>
                <a:lnTo>
                  <a:pt x="1700432" y="1381771"/>
                </a:lnTo>
                <a:lnTo>
                  <a:pt x="1668110" y="1411998"/>
                </a:lnTo>
                <a:lnTo>
                  <a:pt x="1631831" y="1436503"/>
                </a:lnTo>
                <a:lnTo>
                  <a:pt x="1592168" y="1454663"/>
                </a:lnTo>
                <a:lnTo>
                  <a:pt x="1549692" y="1465853"/>
                </a:lnTo>
                <a:lnTo>
                  <a:pt x="1504976" y="1469452"/>
                </a:lnTo>
                <a:lnTo>
                  <a:pt x="1467143" y="1466220"/>
                </a:lnTo>
                <a:lnTo>
                  <a:pt x="1430239" y="1457314"/>
                </a:lnTo>
                <a:lnTo>
                  <a:pt x="1394782" y="1442898"/>
                </a:lnTo>
                <a:lnTo>
                  <a:pt x="1361286" y="1423141"/>
                </a:lnTo>
                <a:lnTo>
                  <a:pt x="1344179" y="1472592"/>
                </a:lnTo>
                <a:lnTo>
                  <a:pt x="1321343" y="1517600"/>
                </a:lnTo>
                <a:lnTo>
                  <a:pt x="1293397" y="1557793"/>
                </a:lnTo>
                <a:lnTo>
                  <a:pt x="1260963" y="1592805"/>
                </a:lnTo>
                <a:lnTo>
                  <a:pt x="1224660" y="1622264"/>
                </a:lnTo>
                <a:lnTo>
                  <a:pt x="1185109" y="1645803"/>
                </a:lnTo>
                <a:lnTo>
                  <a:pt x="1142930" y="1663052"/>
                </a:lnTo>
                <a:lnTo>
                  <a:pt x="1098742" y="1673641"/>
                </a:lnTo>
                <a:lnTo>
                  <a:pt x="1053167" y="1677203"/>
                </a:lnTo>
                <a:lnTo>
                  <a:pt x="1006825" y="1673367"/>
                </a:lnTo>
                <a:lnTo>
                  <a:pt x="960335" y="1661765"/>
                </a:lnTo>
                <a:lnTo>
                  <a:pt x="918840" y="1644235"/>
                </a:lnTo>
                <a:lnTo>
                  <a:pt x="880175" y="1620703"/>
                </a:lnTo>
                <a:lnTo>
                  <a:pt x="844841" y="1591584"/>
                </a:lnTo>
                <a:lnTo>
                  <a:pt x="813345" y="1557295"/>
                </a:lnTo>
                <a:lnTo>
                  <a:pt x="786188" y="1518249"/>
                </a:lnTo>
                <a:lnTo>
                  <a:pt x="745185" y="1541957"/>
                </a:lnTo>
                <a:lnTo>
                  <a:pt x="702814" y="1559440"/>
                </a:lnTo>
                <a:lnTo>
                  <a:pt x="659547" y="1570829"/>
                </a:lnTo>
                <a:lnTo>
                  <a:pt x="615858" y="1576255"/>
                </a:lnTo>
                <a:lnTo>
                  <a:pt x="572219" y="1575849"/>
                </a:lnTo>
                <a:lnTo>
                  <a:pt x="529103" y="1569742"/>
                </a:lnTo>
                <a:lnTo>
                  <a:pt x="486982" y="1558066"/>
                </a:lnTo>
                <a:lnTo>
                  <a:pt x="446331" y="1540951"/>
                </a:lnTo>
                <a:lnTo>
                  <a:pt x="407621" y="1518528"/>
                </a:lnTo>
                <a:lnTo>
                  <a:pt x="371325" y="1490928"/>
                </a:lnTo>
                <a:lnTo>
                  <a:pt x="337917" y="1458284"/>
                </a:lnTo>
                <a:lnTo>
                  <a:pt x="307868" y="1420724"/>
                </a:lnTo>
                <a:lnTo>
                  <a:pt x="281652" y="1378382"/>
                </a:lnTo>
                <a:lnTo>
                  <a:pt x="277766" y="1371015"/>
                </a:lnTo>
                <a:lnTo>
                  <a:pt x="229840" y="1371129"/>
                </a:lnTo>
                <a:lnTo>
                  <a:pt x="184611" y="1359605"/>
                </a:lnTo>
                <a:lnTo>
                  <a:pt x="143463" y="1337651"/>
                </a:lnTo>
                <a:lnTo>
                  <a:pt x="107777" y="1306474"/>
                </a:lnTo>
                <a:lnTo>
                  <a:pt x="78938" y="1267285"/>
                </a:lnTo>
                <a:lnTo>
                  <a:pt x="58328" y="1221290"/>
                </a:lnTo>
                <a:lnTo>
                  <a:pt x="47332" y="1169699"/>
                </a:lnTo>
                <a:lnTo>
                  <a:pt x="46988" y="1119610"/>
                </a:lnTo>
                <a:lnTo>
                  <a:pt x="56311" y="1071177"/>
                </a:lnTo>
                <a:lnTo>
                  <a:pt x="74803" y="1026079"/>
                </a:lnTo>
                <a:lnTo>
                  <a:pt x="101963" y="985995"/>
                </a:lnTo>
                <a:lnTo>
                  <a:pt x="68101" y="958455"/>
                </a:lnTo>
                <a:lnTo>
                  <a:pt x="40676" y="924971"/>
                </a:lnTo>
                <a:lnTo>
                  <a:pt x="19985" y="886814"/>
                </a:lnTo>
                <a:lnTo>
                  <a:pt x="6328" y="845251"/>
                </a:lnTo>
                <a:lnTo>
                  <a:pt x="0" y="801553"/>
                </a:lnTo>
                <a:lnTo>
                  <a:pt x="1299" y="756988"/>
                </a:lnTo>
                <a:lnTo>
                  <a:pt x="10523" y="712827"/>
                </a:lnTo>
                <a:lnTo>
                  <a:pt x="27970" y="670338"/>
                </a:lnTo>
                <a:lnTo>
                  <a:pt x="57388" y="626998"/>
                </a:lnTo>
                <a:lnTo>
                  <a:pt x="94541" y="592929"/>
                </a:lnTo>
                <a:lnTo>
                  <a:pt x="137743" y="569339"/>
                </a:lnTo>
                <a:lnTo>
                  <a:pt x="185310" y="557438"/>
                </a:lnTo>
                <a:lnTo>
                  <a:pt x="187043" y="552217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676723" y="5480684"/>
            <a:ext cx="120650" cy="31115"/>
          </a:xfrm>
          <a:custGeom>
            <a:avLst/>
            <a:gdLst/>
            <a:ahLst/>
            <a:cxnLst/>
            <a:rect l="l" t="t" r="r" b="b"/>
            <a:pathLst>
              <a:path w="120650" h="31114">
                <a:moveTo>
                  <a:pt x="120639" y="30928"/>
                </a:moveTo>
                <a:lnTo>
                  <a:pt x="89152" y="30983"/>
                </a:lnTo>
                <a:lnTo>
                  <a:pt x="58196" y="25756"/>
                </a:lnTo>
                <a:lnTo>
                  <a:pt x="28302" y="15383"/>
                </a:lnTo>
                <a:lnTo>
                  <a:pt x="0" y="0"/>
                </a:lnTo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851022" y="5850075"/>
            <a:ext cx="53340" cy="15240"/>
          </a:xfrm>
          <a:custGeom>
            <a:avLst/>
            <a:gdLst/>
            <a:ahLst/>
            <a:cxnLst/>
            <a:rect l="l" t="t" r="r" b="b"/>
            <a:pathLst>
              <a:path w="53340" h="15239">
                <a:moveTo>
                  <a:pt x="52782" y="0"/>
                </a:moveTo>
                <a:lnTo>
                  <a:pt x="39938" y="5135"/>
                </a:lnTo>
                <a:lnTo>
                  <a:pt x="26831" y="9322"/>
                </a:lnTo>
                <a:lnTo>
                  <a:pt x="13504" y="12548"/>
                </a:lnTo>
                <a:lnTo>
                  <a:pt x="0" y="14802"/>
                </a:lnTo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326820" y="5945187"/>
            <a:ext cx="32384" cy="67945"/>
          </a:xfrm>
          <a:custGeom>
            <a:avLst/>
            <a:gdLst/>
            <a:ahLst/>
            <a:cxnLst/>
            <a:rect l="l" t="t" r="r" b="b"/>
            <a:pathLst>
              <a:path w="32384" h="67945">
                <a:moveTo>
                  <a:pt x="31803" y="67522"/>
                </a:moveTo>
                <a:lnTo>
                  <a:pt x="22644" y="51368"/>
                </a:lnTo>
                <a:lnTo>
                  <a:pt x="14279" y="34706"/>
                </a:lnTo>
                <a:lnTo>
                  <a:pt x="6725" y="17571"/>
                </a:lnTo>
                <a:lnTo>
                  <a:pt x="0" y="0"/>
                </a:lnTo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934046" y="5844332"/>
            <a:ext cx="12700" cy="74295"/>
          </a:xfrm>
          <a:custGeom>
            <a:avLst/>
            <a:gdLst/>
            <a:ahLst/>
            <a:cxnLst/>
            <a:rect l="l" t="t" r="r" b="b"/>
            <a:pathLst>
              <a:path w="12700" h="74295">
                <a:moveTo>
                  <a:pt x="12699" y="0"/>
                </a:moveTo>
                <a:lnTo>
                  <a:pt x="10848" y="18782"/>
                </a:lnTo>
                <a:lnTo>
                  <a:pt x="8110" y="37418"/>
                </a:lnTo>
                <a:lnTo>
                  <a:pt x="4492" y="55866"/>
                </a:lnTo>
                <a:lnTo>
                  <a:pt x="0" y="74090"/>
                </a:lnTo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199252" y="5386542"/>
            <a:ext cx="154940" cy="277495"/>
          </a:xfrm>
          <a:custGeom>
            <a:avLst/>
            <a:gdLst/>
            <a:ahLst/>
            <a:cxnLst/>
            <a:rect l="l" t="t" r="r" b="b"/>
            <a:pathLst>
              <a:path w="154939" h="277495">
                <a:moveTo>
                  <a:pt x="0" y="0"/>
                </a:moveTo>
                <a:lnTo>
                  <a:pt x="38679" y="25387"/>
                </a:lnTo>
                <a:lnTo>
                  <a:pt x="72593" y="56848"/>
                </a:lnTo>
                <a:lnTo>
                  <a:pt x="101290" y="93571"/>
                </a:lnTo>
                <a:lnTo>
                  <a:pt x="124316" y="134747"/>
                </a:lnTo>
                <a:lnTo>
                  <a:pt x="141220" y="179567"/>
                </a:lnTo>
                <a:lnTo>
                  <a:pt x="151548" y="227222"/>
                </a:lnTo>
                <a:lnTo>
                  <a:pt x="154848" y="276902"/>
                </a:lnTo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2495537" y="5091620"/>
            <a:ext cx="69215" cy="104139"/>
          </a:xfrm>
          <a:custGeom>
            <a:avLst/>
            <a:gdLst/>
            <a:ahLst/>
            <a:cxnLst/>
            <a:rect l="l" t="t" r="r" b="b"/>
            <a:pathLst>
              <a:path w="69214" h="104139">
                <a:moveTo>
                  <a:pt x="68951" y="0"/>
                </a:moveTo>
                <a:lnTo>
                  <a:pt x="55858" y="29155"/>
                </a:lnTo>
                <a:lnTo>
                  <a:pt x="39887" y="56353"/>
                </a:lnTo>
                <a:lnTo>
                  <a:pt x="21209" y="81332"/>
                </a:lnTo>
                <a:lnTo>
                  <a:pt x="0" y="103831"/>
                </a:lnTo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2399039" y="4706358"/>
            <a:ext cx="3810" cy="49530"/>
          </a:xfrm>
          <a:custGeom>
            <a:avLst/>
            <a:gdLst/>
            <a:ahLst/>
            <a:cxnLst/>
            <a:rect l="l" t="t" r="r" b="b"/>
            <a:pathLst>
              <a:path w="3810" h="49529">
                <a:moveTo>
                  <a:pt x="0" y="0"/>
                </a:moveTo>
                <a:lnTo>
                  <a:pt x="1710" y="12175"/>
                </a:lnTo>
                <a:lnTo>
                  <a:pt x="2888" y="24421"/>
                </a:lnTo>
                <a:lnTo>
                  <a:pt x="3532" y="36715"/>
                </a:lnTo>
                <a:lnTo>
                  <a:pt x="3641" y="49036"/>
                </a:lnTo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958699" y="4586622"/>
            <a:ext cx="35560" cy="62865"/>
          </a:xfrm>
          <a:custGeom>
            <a:avLst/>
            <a:gdLst/>
            <a:ahLst/>
            <a:cxnLst/>
            <a:rect l="l" t="t" r="r" b="b"/>
            <a:pathLst>
              <a:path w="35560" h="62864">
                <a:moveTo>
                  <a:pt x="0" y="62537"/>
                </a:moveTo>
                <a:lnTo>
                  <a:pt x="7278" y="45872"/>
                </a:lnTo>
                <a:lnTo>
                  <a:pt x="15614" y="29853"/>
                </a:lnTo>
                <a:lnTo>
                  <a:pt x="24973" y="14542"/>
                </a:lnTo>
                <a:lnTo>
                  <a:pt x="35322" y="0"/>
                </a:lnTo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628324" y="4625028"/>
            <a:ext cx="17145" cy="53975"/>
          </a:xfrm>
          <a:custGeom>
            <a:avLst/>
            <a:gdLst/>
            <a:ahLst/>
            <a:cxnLst/>
            <a:rect l="l" t="t" r="r" b="b"/>
            <a:pathLst>
              <a:path w="17144" h="53975">
                <a:moveTo>
                  <a:pt x="0" y="53933"/>
                </a:moveTo>
                <a:lnTo>
                  <a:pt x="3137" y="40026"/>
                </a:lnTo>
                <a:lnTo>
                  <a:pt x="7042" y="26376"/>
                </a:lnTo>
                <a:lnTo>
                  <a:pt x="11703" y="13020"/>
                </a:lnTo>
                <a:lnTo>
                  <a:pt x="17108" y="0"/>
                </a:lnTo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240609" y="4697278"/>
            <a:ext cx="62230" cy="52705"/>
          </a:xfrm>
          <a:custGeom>
            <a:avLst/>
            <a:gdLst/>
            <a:ahLst/>
            <a:cxnLst/>
            <a:rect l="l" t="t" r="r" b="b"/>
            <a:pathLst>
              <a:path w="62230" h="52704">
                <a:moveTo>
                  <a:pt x="0" y="0"/>
                </a:moveTo>
                <a:lnTo>
                  <a:pt x="16529" y="11499"/>
                </a:lnTo>
                <a:lnTo>
                  <a:pt x="32386" y="24077"/>
                </a:lnTo>
                <a:lnTo>
                  <a:pt x="47525" y="37698"/>
                </a:lnTo>
                <a:lnTo>
                  <a:pt x="61906" y="52324"/>
                </a:lnTo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759603" y="5053449"/>
            <a:ext cx="11430" cy="55244"/>
          </a:xfrm>
          <a:custGeom>
            <a:avLst/>
            <a:gdLst/>
            <a:ahLst/>
            <a:cxnLst/>
            <a:rect l="l" t="t" r="r" b="b"/>
            <a:pathLst>
              <a:path w="11429" h="55245">
                <a:moveTo>
                  <a:pt x="10803" y="55051"/>
                </a:moveTo>
                <a:lnTo>
                  <a:pt x="7367" y="41474"/>
                </a:lnTo>
                <a:lnTo>
                  <a:pt x="4419" y="27762"/>
                </a:lnTo>
                <a:lnTo>
                  <a:pt x="1962" y="13932"/>
                </a:lnTo>
                <a:lnTo>
                  <a:pt x="0" y="0"/>
                </a:lnTo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435294" y="5206787"/>
            <a:ext cx="116205" cy="82550"/>
          </a:xfrm>
          <a:custGeom>
            <a:avLst/>
            <a:gdLst/>
            <a:ahLst/>
            <a:cxnLst/>
            <a:rect l="l" t="t" r="r" b="b"/>
            <a:pathLst>
              <a:path w="116205" h="82550">
                <a:moveTo>
                  <a:pt x="0" y="0"/>
                </a:moveTo>
                <a:lnTo>
                  <a:pt x="116199" y="8193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639210" y="5190971"/>
            <a:ext cx="106045" cy="59690"/>
          </a:xfrm>
          <a:custGeom>
            <a:avLst/>
            <a:gdLst/>
            <a:ahLst/>
            <a:cxnLst/>
            <a:rect l="l" t="t" r="r" b="b"/>
            <a:pathLst>
              <a:path w="106044" h="59689">
                <a:moveTo>
                  <a:pt x="105463" y="0"/>
                </a:moveTo>
                <a:lnTo>
                  <a:pt x="0" y="5956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602877" y="5342723"/>
            <a:ext cx="72390" cy="106045"/>
          </a:xfrm>
          <a:custGeom>
            <a:avLst/>
            <a:gdLst/>
            <a:ahLst/>
            <a:cxnLst/>
            <a:rect l="l" t="t" r="r" b="b"/>
            <a:pathLst>
              <a:path w="72389" h="106045">
                <a:moveTo>
                  <a:pt x="0" y="0"/>
                </a:moveTo>
                <a:lnTo>
                  <a:pt x="71937" y="1056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1383910" y="4932587"/>
            <a:ext cx="148590" cy="220345"/>
          </a:xfrm>
          <a:custGeom>
            <a:avLst/>
            <a:gdLst/>
            <a:ahLst/>
            <a:cxnLst/>
            <a:rect l="l" t="t" r="r" b="b"/>
            <a:pathLst>
              <a:path w="148590" h="220345">
                <a:moveTo>
                  <a:pt x="148239" y="0"/>
                </a:moveTo>
                <a:lnTo>
                  <a:pt x="0" y="2202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1817342" y="5020044"/>
            <a:ext cx="147320" cy="94615"/>
          </a:xfrm>
          <a:custGeom>
            <a:avLst/>
            <a:gdLst/>
            <a:ahLst/>
            <a:cxnLst/>
            <a:rect l="l" t="t" r="r" b="b"/>
            <a:pathLst>
              <a:path w="147319" h="94614">
                <a:moveTo>
                  <a:pt x="147035" y="0"/>
                </a:moveTo>
                <a:lnTo>
                  <a:pt x="0" y="9456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2000711" y="5035860"/>
            <a:ext cx="9525" cy="307340"/>
          </a:xfrm>
          <a:custGeom>
            <a:avLst/>
            <a:gdLst/>
            <a:ahLst/>
            <a:cxnLst/>
            <a:rect l="l" t="t" r="r" b="b"/>
            <a:pathLst>
              <a:path w="9525" h="307339">
                <a:moveTo>
                  <a:pt x="0" y="0"/>
                </a:moveTo>
                <a:lnTo>
                  <a:pt x="9406" y="30686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1153796" y="5206787"/>
            <a:ext cx="179070" cy="0"/>
          </a:xfrm>
          <a:custGeom>
            <a:avLst/>
            <a:gdLst/>
            <a:ahLst/>
            <a:cxnLst/>
            <a:rect l="l" t="t" r="r" b="b"/>
            <a:pathLst>
              <a:path w="179069" h="0">
                <a:moveTo>
                  <a:pt x="0" y="0"/>
                </a:moveTo>
                <a:lnTo>
                  <a:pt x="178731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1285575" y="5260787"/>
            <a:ext cx="98425" cy="270510"/>
          </a:xfrm>
          <a:custGeom>
            <a:avLst/>
            <a:gdLst/>
            <a:ahLst/>
            <a:cxnLst/>
            <a:rect l="l" t="t" r="r" b="b"/>
            <a:pathLst>
              <a:path w="98425" h="270510">
                <a:moveTo>
                  <a:pt x="0" y="270000"/>
                </a:moveTo>
                <a:lnTo>
                  <a:pt x="98336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1817341" y="5190971"/>
            <a:ext cx="141605" cy="206375"/>
          </a:xfrm>
          <a:custGeom>
            <a:avLst/>
            <a:gdLst/>
            <a:ahLst/>
            <a:cxnLst/>
            <a:rect l="l" t="t" r="r" b="b"/>
            <a:pathLst>
              <a:path w="141605" h="206375">
                <a:moveTo>
                  <a:pt x="0" y="0"/>
                </a:moveTo>
                <a:lnTo>
                  <a:pt x="141391" y="20575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1420243" y="5244971"/>
            <a:ext cx="224154" cy="474980"/>
          </a:xfrm>
          <a:custGeom>
            <a:avLst/>
            <a:gdLst/>
            <a:ahLst/>
            <a:cxnLst/>
            <a:rect l="l" t="t" r="r" b="b"/>
            <a:pathLst>
              <a:path w="224155" h="474979">
                <a:moveTo>
                  <a:pt x="0" y="0"/>
                </a:moveTo>
                <a:lnTo>
                  <a:pt x="223811" y="474433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1674815" y="5556323"/>
            <a:ext cx="5715" cy="147320"/>
          </a:xfrm>
          <a:custGeom>
            <a:avLst/>
            <a:gdLst/>
            <a:ahLst/>
            <a:cxnLst/>
            <a:rect l="l" t="t" r="r" b="b"/>
            <a:pathLst>
              <a:path w="5714" h="147320">
                <a:moveTo>
                  <a:pt x="0" y="0"/>
                </a:moveTo>
                <a:lnTo>
                  <a:pt x="5574" y="14726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1726199" y="5434907"/>
            <a:ext cx="247650" cy="67945"/>
          </a:xfrm>
          <a:custGeom>
            <a:avLst/>
            <a:gdLst/>
            <a:ahLst/>
            <a:cxnLst/>
            <a:rect l="l" t="t" r="r" b="b"/>
            <a:pathLst>
              <a:path w="247650" h="67945">
                <a:moveTo>
                  <a:pt x="0" y="67416"/>
                </a:moveTo>
                <a:lnTo>
                  <a:pt x="247584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1568483" y="4722347"/>
            <a:ext cx="229870" cy="118110"/>
          </a:xfrm>
          <a:custGeom>
            <a:avLst/>
            <a:gdLst/>
            <a:ahLst/>
            <a:cxnLst/>
            <a:rect l="l" t="t" r="r" b="b"/>
            <a:pathLst>
              <a:path w="229869" h="118110">
                <a:moveTo>
                  <a:pt x="229819" y="0"/>
                </a:moveTo>
                <a:lnTo>
                  <a:pt x="0" y="11805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1234190" y="4827882"/>
            <a:ext cx="247015" cy="50800"/>
          </a:xfrm>
          <a:custGeom>
            <a:avLst/>
            <a:gdLst/>
            <a:ahLst/>
            <a:cxnLst/>
            <a:rect l="l" t="t" r="r" b="b"/>
            <a:pathLst>
              <a:path w="247015" h="50800">
                <a:moveTo>
                  <a:pt x="246575" y="50706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931959" y="5062636"/>
            <a:ext cx="134620" cy="106045"/>
          </a:xfrm>
          <a:custGeom>
            <a:avLst/>
            <a:gdLst/>
            <a:ahLst/>
            <a:cxnLst/>
            <a:rect l="l" t="t" r="r" b="b"/>
            <a:pathLst>
              <a:path w="134619" h="106045">
                <a:moveTo>
                  <a:pt x="134118" y="105969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976069" y="5260787"/>
            <a:ext cx="123825" cy="135255"/>
          </a:xfrm>
          <a:custGeom>
            <a:avLst/>
            <a:gdLst/>
            <a:ahLst/>
            <a:cxnLst/>
            <a:rect l="l" t="t" r="r" b="b"/>
            <a:pathLst>
              <a:path w="123825" h="135254">
                <a:moveTo>
                  <a:pt x="0" y="134736"/>
                </a:moveTo>
                <a:lnTo>
                  <a:pt x="123759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911179" y="5206788"/>
            <a:ext cx="140335" cy="54610"/>
          </a:xfrm>
          <a:custGeom>
            <a:avLst/>
            <a:gdLst/>
            <a:ahLst/>
            <a:cxnLst/>
            <a:rect l="l" t="t" r="r" b="b"/>
            <a:pathLst>
              <a:path w="140334" h="54610">
                <a:moveTo>
                  <a:pt x="0" y="54000"/>
                </a:moveTo>
                <a:lnTo>
                  <a:pt x="139849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2037044" y="4822199"/>
            <a:ext cx="160655" cy="121920"/>
          </a:xfrm>
          <a:custGeom>
            <a:avLst/>
            <a:gdLst/>
            <a:ahLst/>
            <a:cxnLst/>
            <a:rect l="l" t="t" r="r" b="b"/>
            <a:pathLst>
              <a:path w="160655" h="121920">
                <a:moveTo>
                  <a:pt x="0" y="121476"/>
                </a:moveTo>
                <a:lnTo>
                  <a:pt x="160466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959980" y="5584787"/>
            <a:ext cx="274320" cy="80010"/>
          </a:xfrm>
          <a:custGeom>
            <a:avLst/>
            <a:gdLst/>
            <a:ahLst/>
            <a:cxnLst/>
            <a:rect l="l" t="t" r="r" b="b"/>
            <a:pathLst>
              <a:path w="274319" h="80010">
                <a:moveTo>
                  <a:pt x="0" y="79740"/>
                </a:moveTo>
                <a:lnTo>
                  <a:pt x="274211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1017086" y="5622971"/>
            <a:ext cx="232410" cy="161290"/>
          </a:xfrm>
          <a:custGeom>
            <a:avLst/>
            <a:gdLst/>
            <a:ahLst/>
            <a:cxnLst/>
            <a:rect l="l" t="t" r="r" b="b"/>
            <a:pathLst>
              <a:path w="232409" h="161289">
                <a:moveTo>
                  <a:pt x="0" y="161118"/>
                </a:moveTo>
                <a:lnTo>
                  <a:pt x="232153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1223984" y="5638787"/>
            <a:ext cx="61594" cy="226695"/>
          </a:xfrm>
          <a:custGeom>
            <a:avLst/>
            <a:gdLst/>
            <a:ahLst/>
            <a:cxnLst/>
            <a:rect l="l" t="t" r="r" b="b"/>
            <a:pathLst>
              <a:path w="61594" h="226695">
                <a:moveTo>
                  <a:pt x="0" y="226560"/>
                </a:moveTo>
                <a:lnTo>
                  <a:pt x="6159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1731773" y="5757587"/>
            <a:ext cx="303530" cy="69215"/>
          </a:xfrm>
          <a:custGeom>
            <a:avLst/>
            <a:gdLst/>
            <a:ahLst/>
            <a:cxnLst/>
            <a:rect l="l" t="t" r="r" b="b"/>
            <a:pathLst>
              <a:path w="303530" h="69214">
                <a:moveTo>
                  <a:pt x="302932" y="68724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2046449" y="5434907"/>
            <a:ext cx="190500" cy="188595"/>
          </a:xfrm>
          <a:custGeom>
            <a:avLst/>
            <a:gdLst/>
            <a:ahLst/>
            <a:cxnLst/>
            <a:rect l="l" t="t" r="r" b="b"/>
            <a:pathLst>
              <a:path w="190500" h="188595">
                <a:moveTo>
                  <a:pt x="190432" y="188064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1551492" y="5234724"/>
            <a:ext cx="102870" cy="108585"/>
          </a:xfrm>
          <a:custGeom>
            <a:avLst/>
            <a:gdLst/>
            <a:ahLst/>
            <a:cxnLst/>
            <a:rect l="l" t="t" r="r" b="b"/>
            <a:pathLst>
              <a:path w="102869" h="108585">
                <a:moveTo>
                  <a:pt x="51384" y="0"/>
                </a:moveTo>
                <a:lnTo>
                  <a:pt x="31383" y="4243"/>
                </a:lnTo>
                <a:lnTo>
                  <a:pt x="15050" y="15815"/>
                </a:lnTo>
                <a:lnTo>
                  <a:pt x="4038" y="32980"/>
                </a:lnTo>
                <a:lnTo>
                  <a:pt x="0" y="53999"/>
                </a:lnTo>
                <a:lnTo>
                  <a:pt x="4038" y="75018"/>
                </a:lnTo>
                <a:lnTo>
                  <a:pt x="15050" y="92183"/>
                </a:lnTo>
                <a:lnTo>
                  <a:pt x="31383" y="103755"/>
                </a:lnTo>
                <a:lnTo>
                  <a:pt x="51384" y="107999"/>
                </a:lnTo>
                <a:lnTo>
                  <a:pt x="71385" y="103755"/>
                </a:lnTo>
                <a:lnTo>
                  <a:pt x="87718" y="92183"/>
                </a:lnTo>
                <a:lnTo>
                  <a:pt x="98730" y="75018"/>
                </a:lnTo>
                <a:lnTo>
                  <a:pt x="102768" y="53999"/>
                </a:lnTo>
                <a:lnTo>
                  <a:pt x="98730" y="32980"/>
                </a:lnTo>
                <a:lnTo>
                  <a:pt x="87718" y="15815"/>
                </a:lnTo>
                <a:lnTo>
                  <a:pt x="71385" y="4243"/>
                </a:lnTo>
                <a:lnTo>
                  <a:pt x="513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1551492" y="5234724"/>
            <a:ext cx="102870" cy="108585"/>
          </a:xfrm>
          <a:custGeom>
            <a:avLst/>
            <a:gdLst/>
            <a:ahLst/>
            <a:cxnLst/>
            <a:rect l="l" t="t" r="r" b="b"/>
            <a:pathLst>
              <a:path w="102869" h="108585">
                <a:moveTo>
                  <a:pt x="0" y="54000"/>
                </a:moveTo>
                <a:lnTo>
                  <a:pt x="4038" y="32980"/>
                </a:lnTo>
                <a:lnTo>
                  <a:pt x="15050" y="15816"/>
                </a:lnTo>
                <a:lnTo>
                  <a:pt x="31383" y="4243"/>
                </a:lnTo>
                <a:lnTo>
                  <a:pt x="51384" y="0"/>
                </a:lnTo>
                <a:lnTo>
                  <a:pt x="71384" y="4243"/>
                </a:lnTo>
                <a:lnTo>
                  <a:pt x="87717" y="15816"/>
                </a:lnTo>
                <a:lnTo>
                  <a:pt x="98729" y="32980"/>
                </a:lnTo>
                <a:lnTo>
                  <a:pt x="102768" y="54000"/>
                </a:lnTo>
                <a:lnTo>
                  <a:pt x="98729" y="75019"/>
                </a:lnTo>
                <a:lnTo>
                  <a:pt x="87717" y="92183"/>
                </a:lnTo>
                <a:lnTo>
                  <a:pt x="71384" y="103756"/>
                </a:lnTo>
                <a:lnTo>
                  <a:pt x="51384" y="108000"/>
                </a:lnTo>
                <a:lnTo>
                  <a:pt x="31383" y="103756"/>
                </a:lnTo>
                <a:lnTo>
                  <a:pt x="15050" y="92183"/>
                </a:lnTo>
                <a:lnTo>
                  <a:pt x="4038" y="75019"/>
                </a:lnTo>
                <a:lnTo>
                  <a:pt x="0" y="5400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1332527" y="5152787"/>
            <a:ext cx="102870" cy="108585"/>
          </a:xfrm>
          <a:custGeom>
            <a:avLst/>
            <a:gdLst/>
            <a:ahLst/>
            <a:cxnLst/>
            <a:rect l="l" t="t" r="r" b="b"/>
            <a:pathLst>
              <a:path w="102869" h="108585">
                <a:moveTo>
                  <a:pt x="51384" y="0"/>
                </a:moveTo>
                <a:lnTo>
                  <a:pt x="31382" y="4243"/>
                </a:lnTo>
                <a:lnTo>
                  <a:pt x="15049" y="15816"/>
                </a:lnTo>
                <a:lnTo>
                  <a:pt x="4037" y="32981"/>
                </a:lnTo>
                <a:lnTo>
                  <a:pt x="0" y="54000"/>
                </a:lnTo>
                <a:lnTo>
                  <a:pt x="4037" y="75019"/>
                </a:lnTo>
                <a:lnTo>
                  <a:pt x="15049" y="92184"/>
                </a:lnTo>
                <a:lnTo>
                  <a:pt x="31382" y="103757"/>
                </a:lnTo>
                <a:lnTo>
                  <a:pt x="51384" y="108000"/>
                </a:lnTo>
                <a:lnTo>
                  <a:pt x="71385" y="103757"/>
                </a:lnTo>
                <a:lnTo>
                  <a:pt x="87718" y="92184"/>
                </a:lnTo>
                <a:lnTo>
                  <a:pt x="98730" y="75019"/>
                </a:lnTo>
                <a:lnTo>
                  <a:pt x="102768" y="54000"/>
                </a:lnTo>
                <a:lnTo>
                  <a:pt x="98730" y="32981"/>
                </a:lnTo>
                <a:lnTo>
                  <a:pt x="87718" y="15816"/>
                </a:lnTo>
                <a:lnTo>
                  <a:pt x="71385" y="4243"/>
                </a:lnTo>
                <a:lnTo>
                  <a:pt x="513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1332527" y="5152787"/>
            <a:ext cx="102870" cy="108585"/>
          </a:xfrm>
          <a:custGeom>
            <a:avLst/>
            <a:gdLst/>
            <a:ahLst/>
            <a:cxnLst/>
            <a:rect l="l" t="t" r="r" b="b"/>
            <a:pathLst>
              <a:path w="102869" h="108585">
                <a:moveTo>
                  <a:pt x="0" y="54000"/>
                </a:moveTo>
                <a:lnTo>
                  <a:pt x="4038" y="32980"/>
                </a:lnTo>
                <a:lnTo>
                  <a:pt x="15050" y="15816"/>
                </a:lnTo>
                <a:lnTo>
                  <a:pt x="31383" y="4243"/>
                </a:lnTo>
                <a:lnTo>
                  <a:pt x="51384" y="0"/>
                </a:lnTo>
                <a:lnTo>
                  <a:pt x="71384" y="4243"/>
                </a:lnTo>
                <a:lnTo>
                  <a:pt x="87717" y="15816"/>
                </a:lnTo>
                <a:lnTo>
                  <a:pt x="98729" y="32980"/>
                </a:lnTo>
                <a:lnTo>
                  <a:pt x="102768" y="54000"/>
                </a:lnTo>
                <a:lnTo>
                  <a:pt x="98729" y="75019"/>
                </a:lnTo>
                <a:lnTo>
                  <a:pt x="87717" y="92183"/>
                </a:lnTo>
                <a:lnTo>
                  <a:pt x="71384" y="103756"/>
                </a:lnTo>
                <a:lnTo>
                  <a:pt x="51384" y="108000"/>
                </a:lnTo>
                <a:lnTo>
                  <a:pt x="31383" y="103756"/>
                </a:lnTo>
                <a:lnTo>
                  <a:pt x="15050" y="92183"/>
                </a:lnTo>
                <a:lnTo>
                  <a:pt x="4038" y="75019"/>
                </a:lnTo>
                <a:lnTo>
                  <a:pt x="0" y="5400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1629004" y="5703587"/>
            <a:ext cx="102870" cy="108585"/>
          </a:xfrm>
          <a:custGeom>
            <a:avLst/>
            <a:gdLst/>
            <a:ahLst/>
            <a:cxnLst/>
            <a:rect l="l" t="t" r="r" b="b"/>
            <a:pathLst>
              <a:path w="102869" h="108585">
                <a:moveTo>
                  <a:pt x="51384" y="0"/>
                </a:moveTo>
                <a:lnTo>
                  <a:pt x="31383" y="4243"/>
                </a:lnTo>
                <a:lnTo>
                  <a:pt x="15050" y="15816"/>
                </a:lnTo>
                <a:lnTo>
                  <a:pt x="4038" y="32980"/>
                </a:lnTo>
                <a:lnTo>
                  <a:pt x="0" y="53999"/>
                </a:lnTo>
                <a:lnTo>
                  <a:pt x="4038" y="75019"/>
                </a:lnTo>
                <a:lnTo>
                  <a:pt x="15050" y="92183"/>
                </a:lnTo>
                <a:lnTo>
                  <a:pt x="31383" y="103756"/>
                </a:lnTo>
                <a:lnTo>
                  <a:pt x="51384" y="107999"/>
                </a:lnTo>
                <a:lnTo>
                  <a:pt x="71385" y="103756"/>
                </a:lnTo>
                <a:lnTo>
                  <a:pt x="87718" y="92183"/>
                </a:lnTo>
                <a:lnTo>
                  <a:pt x="98730" y="75019"/>
                </a:lnTo>
                <a:lnTo>
                  <a:pt x="102768" y="53999"/>
                </a:lnTo>
                <a:lnTo>
                  <a:pt x="98730" y="32980"/>
                </a:lnTo>
                <a:lnTo>
                  <a:pt x="87718" y="15816"/>
                </a:lnTo>
                <a:lnTo>
                  <a:pt x="71385" y="4243"/>
                </a:lnTo>
                <a:lnTo>
                  <a:pt x="513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1629004" y="5703587"/>
            <a:ext cx="102870" cy="108585"/>
          </a:xfrm>
          <a:custGeom>
            <a:avLst/>
            <a:gdLst/>
            <a:ahLst/>
            <a:cxnLst/>
            <a:rect l="l" t="t" r="r" b="b"/>
            <a:pathLst>
              <a:path w="102869" h="108585">
                <a:moveTo>
                  <a:pt x="0" y="54000"/>
                </a:moveTo>
                <a:lnTo>
                  <a:pt x="4038" y="32980"/>
                </a:lnTo>
                <a:lnTo>
                  <a:pt x="15050" y="15816"/>
                </a:lnTo>
                <a:lnTo>
                  <a:pt x="31383" y="4243"/>
                </a:lnTo>
                <a:lnTo>
                  <a:pt x="51384" y="0"/>
                </a:lnTo>
                <a:lnTo>
                  <a:pt x="71384" y="4243"/>
                </a:lnTo>
                <a:lnTo>
                  <a:pt x="87717" y="15816"/>
                </a:lnTo>
                <a:lnTo>
                  <a:pt x="98729" y="32980"/>
                </a:lnTo>
                <a:lnTo>
                  <a:pt x="102768" y="54000"/>
                </a:lnTo>
                <a:lnTo>
                  <a:pt x="98729" y="75019"/>
                </a:lnTo>
                <a:lnTo>
                  <a:pt x="87717" y="92183"/>
                </a:lnTo>
                <a:lnTo>
                  <a:pt x="71384" y="103756"/>
                </a:lnTo>
                <a:lnTo>
                  <a:pt x="51384" y="108000"/>
                </a:lnTo>
                <a:lnTo>
                  <a:pt x="31383" y="103756"/>
                </a:lnTo>
                <a:lnTo>
                  <a:pt x="15050" y="92183"/>
                </a:lnTo>
                <a:lnTo>
                  <a:pt x="4038" y="75019"/>
                </a:lnTo>
                <a:lnTo>
                  <a:pt x="0" y="5400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1234190" y="5530787"/>
            <a:ext cx="102870" cy="108585"/>
          </a:xfrm>
          <a:custGeom>
            <a:avLst/>
            <a:gdLst/>
            <a:ahLst/>
            <a:cxnLst/>
            <a:rect l="l" t="t" r="r" b="b"/>
            <a:pathLst>
              <a:path w="102869" h="108585">
                <a:moveTo>
                  <a:pt x="51384" y="0"/>
                </a:moveTo>
                <a:lnTo>
                  <a:pt x="31383" y="4243"/>
                </a:lnTo>
                <a:lnTo>
                  <a:pt x="15050" y="15816"/>
                </a:lnTo>
                <a:lnTo>
                  <a:pt x="4038" y="32981"/>
                </a:lnTo>
                <a:lnTo>
                  <a:pt x="0" y="54000"/>
                </a:lnTo>
                <a:lnTo>
                  <a:pt x="4038" y="75019"/>
                </a:lnTo>
                <a:lnTo>
                  <a:pt x="15050" y="92183"/>
                </a:lnTo>
                <a:lnTo>
                  <a:pt x="31383" y="103756"/>
                </a:lnTo>
                <a:lnTo>
                  <a:pt x="51384" y="108000"/>
                </a:lnTo>
                <a:lnTo>
                  <a:pt x="71385" y="103756"/>
                </a:lnTo>
                <a:lnTo>
                  <a:pt x="87718" y="92183"/>
                </a:lnTo>
                <a:lnTo>
                  <a:pt x="98730" y="75019"/>
                </a:lnTo>
                <a:lnTo>
                  <a:pt x="102768" y="54000"/>
                </a:lnTo>
                <a:lnTo>
                  <a:pt x="98730" y="32981"/>
                </a:lnTo>
                <a:lnTo>
                  <a:pt x="87718" y="15816"/>
                </a:lnTo>
                <a:lnTo>
                  <a:pt x="71385" y="4243"/>
                </a:lnTo>
                <a:lnTo>
                  <a:pt x="513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1234190" y="5530787"/>
            <a:ext cx="102870" cy="108585"/>
          </a:xfrm>
          <a:custGeom>
            <a:avLst/>
            <a:gdLst/>
            <a:ahLst/>
            <a:cxnLst/>
            <a:rect l="l" t="t" r="r" b="b"/>
            <a:pathLst>
              <a:path w="102869" h="108585">
                <a:moveTo>
                  <a:pt x="0" y="54000"/>
                </a:moveTo>
                <a:lnTo>
                  <a:pt x="4038" y="32980"/>
                </a:lnTo>
                <a:lnTo>
                  <a:pt x="15050" y="15816"/>
                </a:lnTo>
                <a:lnTo>
                  <a:pt x="31383" y="4243"/>
                </a:lnTo>
                <a:lnTo>
                  <a:pt x="51384" y="0"/>
                </a:lnTo>
                <a:lnTo>
                  <a:pt x="71384" y="4243"/>
                </a:lnTo>
                <a:lnTo>
                  <a:pt x="87717" y="15816"/>
                </a:lnTo>
                <a:lnTo>
                  <a:pt x="98729" y="32980"/>
                </a:lnTo>
                <a:lnTo>
                  <a:pt x="102768" y="54000"/>
                </a:lnTo>
                <a:lnTo>
                  <a:pt x="98729" y="75019"/>
                </a:lnTo>
                <a:lnTo>
                  <a:pt x="87717" y="92183"/>
                </a:lnTo>
                <a:lnTo>
                  <a:pt x="71384" y="103756"/>
                </a:lnTo>
                <a:lnTo>
                  <a:pt x="51384" y="108000"/>
                </a:lnTo>
                <a:lnTo>
                  <a:pt x="31383" y="103756"/>
                </a:lnTo>
                <a:lnTo>
                  <a:pt x="15050" y="92183"/>
                </a:lnTo>
                <a:lnTo>
                  <a:pt x="4038" y="75019"/>
                </a:lnTo>
                <a:lnTo>
                  <a:pt x="0" y="5400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1623430" y="5448324"/>
            <a:ext cx="102870" cy="108585"/>
          </a:xfrm>
          <a:custGeom>
            <a:avLst/>
            <a:gdLst/>
            <a:ahLst/>
            <a:cxnLst/>
            <a:rect l="l" t="t" r="r" b="b"/>
            <a:pathLst>
              <a:path w="102869" h="108585">
                <a:moveTo>
                  <a:pt x="51384" y="0"/>
                </a:moveTo>
                <a:lnTo>
                  <a:pt x="31383" y="4243"/>
                </a:lnTo>
                <a:lnTo>
                  <a:pt x="15050" y="15816"/>
                </a:lnTo>
                <a:lnTo>
                  <a:pt x="4038" y="32981"/>
                </a:lnTo>
                <a:lnTo>
                  <a:pt x="0" y="54000"/>
                </a:lnTo>
                <a:lnTo>
                  <a:pt x="4038" y="75019"/>
                </a:lnTo>
                <a:lnTo>
                  <a:pt x="15050" y="92183"/>
                </a:lnTo>
                <a:lnTo>
                  <a:pt x="31383" y="103756"/>
                </a:lnTo>
                <a:lnTo>
                  <a:pt x="51384" y="107999"/>
                </a:lnTo>
                <a:lnTo>
                  <a:pt x="71385" y="103756"/>
                </a:lnTo>
                <a:lnTo>
                  <a:pt x="87718" y="92183"/>
                </a:lnTo>
                <a:lnTo>
                  <a:pt x="98730" y="75019"/>
                </a:lnTo>
                <a:lnTo>
                  <a:pt x="102768" y="54000"/>
                </a:lnTo>
                <a:lnTo>
                  <a:pt x="98730" y="32981"/>
                </a:lnTo>
                <a:lnTo>
                  <a:pt x="87718" y="15816"/>
                </a:lnTo>
                <a:lnTo>
                  <a:pt x="71385" y="4243"/>
                </a:lnTo>
                <a:lnTo>
                  <a:pt x="513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1623430" y="5448324"/>
            <a:ext cx="102870" cy="108585"/>
          </a:xfrm>
          <a:custGeom>
            <a:avLst/>
            <a:gdLst/>
            <a:ahLst/>
            <a:cxnLst/>
            <a:rect l="l" t="t" r="r" b="b"/>
            <a:pathLst>
              <a:path w="102869" h="108585">
                <a:moveTo>
                  <a:pt x="0" y="54000"/>
                </a:moveTo>
                <a:lnTo>
                  <a:pt x="4038" y="32980"/>
                </a:lnTo>
                <a:lnTo>
                  <a:pt x="15050" y="15816"/>
                </a:lnTo>
                <a:lnTo>
                  <a:pt x="31383" y="4243"/>
                </a:lnTo>
                <a:lnTo>
                  <a:pt x="51384" y="0"/>
                </a:lnTo>
                <a:lnTo>
                  <a:pt x="71384" y="4243"/>
                </a:lnTo>
                <a:lnTo>
                  <a:pt x="87717" y="15816"/>
                </a:lnTo>
                <a:lnTo>
                  <a:pt x="98729" y="32980"/>
                </a:lnTo>
                <a:lnTo>
                  <a:pt x="102768" y="54000"/>
                </a:lnTo>
                <a:lnTo>
                  <a:pt x="98729" y="75019"/>
                </a:lnTo>
                <a:lnTo>
                  <a:pt x="87717" y="92183"/>
                </a:lnTo>
                <a:lnTo>
                  <a:pt x="71384" y="103756"/>
                </a:lnTo>
                <a:lnTo>
                  <a:pt x="51384" y="108000"/>
                </a:lnTo>
                <a:lnTo>
                  <a:pt x="31383" y="103756"/>
                </a:lnTo>
                <a:lnTo>
                  <a:pt x="15050" y="92183"/>
                </a:lnTo>
                <a:lnTo>
                  <a:pt x="4038" y="75019"/>
                </a:lnTo>
                <a:lnTo>
                  <a:pt x="0" y="5400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1729624" y="5098788"/>
            <a:ext cx="102870" cy="108585"/>
          </a:xfrm>
          <a:custGeom>
            <a:avLst/>
            <a:gdLst/>
            <a:ahLst/>
            <a:cxnLst/>
            <a:rect l="l" t="t" r="r" b="b"/>
            <a:pathLst>
              <a:path w="102869" h="108585">
                <a:moveTo>
                  <a:pt x="51382" y="0"/>
                </a:moveTo>
                <a:lnTo>
                  <a:pt x="31382" y="4243"/>
                </a:lnTo>
                <a:lnTo>
                  <a:pt x="15049" y="15815"/>
                </a:lnTo>
                <a:lnTo>
                  <a:pt x="4037" y="32980"/>
                </a:lnTo>
                <a:lnTo>
                  <a:pt x="0" y="53999"/>
                </a:lnTo>
                <a:lnTo>
                  <a:pt x="4037" y="75018"/>
                </a:lnTo>
                <a:lnTo>
                  <a:pt x="15049" y="92183"/>
                </a:lnTo>
                <a:lnTo>
                  <a:pt x="31382" y="103755"/>
                </a:lnTo>
                <a:lnTo>
                  <a:pt x="51382" y="107999"/>
                </a:lnTo>
                <a:lnTo>
                  <a:pt x="71384" y="103755"/>
                </a:lnTo>
                <a:lnTo>
                  <a:pt x="87717" y="92183"/>
                </a:lnTo>
                <a:lnTo>
                  <a:pt x="98729" y="75018"/>
                </a:lnTo>
                <a:lnTo>
                  <a:pt x="102767" y="53999"/>
                </a:lnTo>
                <a:lnTo>
                  <a:pt x="98729" y="32980"/>
                </a:lnTo>
                <a:lnTo>
                  <a:pt x="87717" y="15815"/>
                </a:lnTo>
                <a:lnTo>
                  <a:pt x="71384" y="4243"/>
                </a:lnTo>
                <a:lnTo>
                  <a:pt x="5138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1729624" y="5098788"/>
            <a:ext cx="102870" cy="108585"/>
          </a:xfrm>
          <a:custGeom>
            <a:avLst/>
            <a:gdLst/>
            <a:ahLst/>
            <a:cxnLst/>
            <a:rect l="l" t="t" r="r" b="b"/>
            <a:pathLst>
              <a:path w="102869" h="108585">
                <a:moveTo>
                  <a:pt x="0" y="54000"/>
                </a:moveTo>
                <a:lnTo>
                  <a:pt x="4038" y="32980"/>
                </a:lnTo>
                <a:lnTo>
                  <a:pt x="15050" y="15816"/>
                </a:lnTo>
                <a:lnTo>
                  <a:pt x="31383" y="4243"/>
                </a:lnTo>
                <a:lnTo>
                  <a:pt x="51384" y="0"/>
                </a:lnTo>
                <a:lnTo>
                  <a:pt x="71384" y="4243"/>
                </a:lnTo>
                <a:lnTo>
                  <a:pt x="87717" y="15816"/>
                </a:lnTo>
                <a:lnTo>
                  <a:pt x="98729" y="32980"/>
                </a:lnTo>
                <a:lnTo>
                  <a:pt x="102768" y="54000"/>
                </a:lnTo>
                <a:lnTo>
                  <a:pt x="98729" y="75019"/>
                </a:lnTo>
                <a:lnTo>
                  <a:pt x="87717" y="92183"/>
                </a:lnTo>
                <a:lnTo>
                  <a:pt x="71384" y="103756"/>
                </a:lnTo>
                <a:lnTo>
                  <a:pt x="51384" y="108000"/>
                </a:lnTo>
                <a:lnTo>
                  <a:pt x="31383" y="103756"/>
                </a:lnTo>
                <a:lnTo>
                  <a:pt x="15050" y="92183"/>
                </a:lnTo>
                <a:lnTo>
                  <a:pt x="4038" y="75019"/>
                </a:lnTo>
                <a:lnTo>
                  <a:pt x="0" y="5400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1480765" y="4824587"/>
            <a:ext cx="102870" cy="108585"/>
          </a:xfrm>
          <a:custGeom>
            <a:avLst/>
            <a:gdLst/>
            <a:ahLst/>
            <a:cxnLst/>
            <a:rect l="l" t="t" r="r" b="b"/>
            <a:pathLst>
              <a:path w="102869" h="108585">
                <a:moveTo>
                  <a:pt x="51384" y="0"/>
                </a:moveTo>
                <a:lnTo>
                  <a:pt x="31383" y="4243"/>
                </a:lnTo>
                <a:lnTo>
                  <a:pt x="15050" y="15816"/>
                </a:lnTo>
                <a:lnTo>
                  <a:pt x="4038" y="32981"/>
                </a:lnTo>
                <a:lnTo>
                  <a:pt x="0" y="54000"/>
                </a:lnTo>
                <a:lnTo>
                  <a:pt x="4038" y="75019"/>
                </a:lnTo>
                <a:lnTo>
                  <a:pt x="15050" y="92184"/>
                </a:lnTo>
                <a:lnTo>
                  <a:pt x="31383" y="103757"/>
                </a:lnTo>
                <a:lnTo>
                  <a:pt x="51384" y="108000"/>
                </a:lnTo>
                <a:lnTo>
                  <a:pt x="71385" y="103757"/>
                </a:lnTo>
                <a:lnTo>
                  <a:pt x="87718" y="92184"/>
                </a:lnTo>
                <a:lnTo>
                  <a:pt x="98730" y="75019"/>
                </a:lnTo>
                <a:lnTo>
                  <a:pt x="102768" y="54000"/>
                </a:lnTo>
                <a:lnTo>
                  <a:pt x="98730" y="32981"/>
                </a:lnTo>
                <a:lnTo>
                  <a:pt x="87718" y="15816"/>
                </a:lnTo>
                <a:lnTo>
                  <a:pt x="71385" y="4243"/>
                </a:lnTo>
                <a:lnTo>
                  <a:pt x="513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1480765" y="4824587"/>
            <a:ext cx="102870" cy="108585"/>
          </a:xfrm>
          <a:custGeom>
            <a:avLst/>
            <a:gdLst/>
            <a:ahLst/>
            <a:cxnLst/>
            <a:rect l="l" t="t" r="r" b="b"/>
            <a:pathLst>
              <a:path w="102869" h="108585">
                <a:moveTo>
                  <a:pt x="0" y="54000"/>
                </a:moveTo>
                <a:lnTo>
                  <a:pt x="4038" y="32980"/>
                </a:lnTo>
                <a:lnTo>
                  <a:pt x="15050" y="15816"/>
                </a:lnTo>
                <a:lnTo>
                  <a:pt x="31383" y="4243"/>
                </a:lnTo>
                <a:lnTo>
                  <a:pt x="51384" y="0"/>
                </a:lnTo>
                <a:lnTo>
                  <a:pt x="71384" y="4243"/>
                </a:lnTo>
                <a:lnTo>
                  <a:pt x="87717" y="15816"/>
                </a:lnTo>
                <a:lnTo>
                  <a:pt x="98729" y="32980"/>
                </a:lnTo>
                <a:lnTo>
                  <a:pt x="102768" y="54000"/>
                </a:lnTo>
                <a:lnTo>
                  <a:pt x="98729" y="75019"/>
                </a:lnTo>
                <a:lnTo>
                  <a:pt x="87717" y="92183"/>
                </a:lnTo>
                <a:lnTo>
                  <a:pt x="71384" y="103756"/>
                </a:lnTo>
                <a:lnTo>
                  <a:pt x="51384" y="108000"/>
                </a:lnTo>
                <a:lnTo>
                  <a:pt x="31383" y="103756"/>
                </a:lnTo>
                <a:lnTo>
                  <a:pt x="15050" y="92183"/>
                </a:lnTo>
                <a:lnTo>
                  <a:pt x="4038" y="75019"/>
                </a:lnTo>
                <a:lnTo>
                  <a:pt x="0" y="5400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1958732" y="5342723"/>
            <a:ext cx="102870" cy="108585"/>
          </a:xfrm>
          <a:custGeom>
            <a:avLst/>
            <a:gdLst/>
            <a:ahLst/>
            <a:cxnLst/>
            <a:rect l="l" t="t" r="r" b="b"/>
            <a:pathLst>
              <a:path w="102869" h="108585">
                <a:moveTo>
                  <a:pt x="51382" y="0"/>
                </a:moveTo>
                <a:lnTo>
                  <a:pt x="31382" y="4243"/>
                </a:lnTo>
                <a:lnTo>
                  <a:pt x="15049" y="15816"/>
                </a:lnTo>
                <a:lnTo>
                  <a:pt x="4037" y="32981"/>
                </a:lnTo>
                <a:lnTo>
                  <a:pt x="0" y="54000"/>
                </a:lnTo>
                <a:lnTo>
                  <a:pt x="4037" y="75019"/>
                </a:lnTo>
                <a:lnTo>
                  <a:pt x="15049" y="92184"/>
                </a:lnTo>
                <a:lnTo>
                  <a:pt x="31382" y="103757"/>
                </a:lnTo>
                <a:lnTo>
                  <a:pt x="51382" y="108000"/>
                </a:lnTo>
                <a:lnTo>
                  <a:pt x="71384" y="103757"/>
                </a:lnTo>
                <a:lnTo>
                  <a:pt x="87717" y="92184"/>
                </a:lnTo>
                <a:lnTo>
                  <a:pt x="98729" y="75019"/>
                </a:lnTo>
                <a:lnTo>
                  <a:pt x="102767" y="54000"/>
                </a:lnTo>
                <a:lnTo>
                  <a:pt x="98729" y="32981"/>
                </a:lnTo>
                <a:lnTo>
                  <a:pt x="87717" y="15816"/>
                </a:lnTo>
                <a:lnTo>
                  <a:pt x="71384" y="4243"/>
                </a:lnTo>
                <a:lnTo>
                  <a:pt x="5138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1958732" y="5342723"/>
            <a:ext cx="102870" cy="108585"/>
          </a:xfrm>
          <a:custGeom>
            <a:avLst/>
            <a:gdLst/>
            <a:ahLst/>
            <a:cxnLst/>
            <a:rect l="l" t="t" r="r" b="b"/>
            <a:pathLst>
              <a:path w="102869" h="108585">
                <a:moveTo>
                  <a:pt x="0" y="54000"/>
                </a:moveTo>
                <a:lnTo>
                  <a:pt x="4038" y="32980"/>
                </a:lnTo>
                <a:lnTo>
                  <a:pt x="15050" y="15816"/>
                </a:lnTo>
                <a:lnTo>
                  <a:pt x="31383" y="4243"/>
                </a:lnTo>
                <a:lnTo>
                  <a:pt x="51384" y="0"/>
                </a:lnTo>
                <a:lnTo>
                  <a:pt x="71384" y="4243"/>
                </a:lnTo>
                <a:lnTo>
                  <a:pt x="87717" y="15816"/>
                </a:lnTo>
                <a:lnTo>
                  <a:pt x="98729" y="32980"/>
                </a:lnTo>
                <a:lnTo>
                  <a:pt x="102768" y="54000"/>
                </a:lnTo>
                <a:lnTo>
                  <a:pt x="98729" y="75019"/>
                </a:lnTo>
                <a:lnTo>
                  <a:pt x="87717" y="92183"/>
                </a:lnTo>
                <a:lnTo>
                  <a:pt x="71384" y="103756"/>
                </a:lnTo>
                <a:lnTo>
                  <a:pt x="51384" y="108000"/>
                </a:lnTo>
                <a:lnTo>
                  <a:pt x="31383" y="103756"/>
                </a:lnTo>
                <a:lnTo>
                  <a:pt x="15050" y="92183"/>
                </a:lnTo>
                <a:lnTo>
                  <a:pt x="4038" y="75019"/>
                </a:lnTo>
                <a:lnTo>
                  <a:pt x="0" y="5400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1051027" y="5152787"/>
            <a:ext cx="102870" cy="108585"/>
          </a:xfrm>
          <a:custGeom>
            <a:avLst/>
            <a:gdLst/>
            <a:ahLst/>
            <a:cxnLst/>
            <a:rect l="l" t="t" r="r" b="b"/>
            <a:pathLst>
              <a:path w="102869" h="108585">
                <a:moveTo>
                  <a:pt x="51384" y="0"/>
                </a:moveTo>
                <a:lnTo>
                  <a:pt x="31383" y="4243"/>
                </a:lnTo>
                <a:lnTo>
                  <a:pt x="15050" y="15816"/>
                </a:lnTo>
                <a:lnTo>
                  <a:pt x="4038" y="32981"/>
                </a:lnTo>
                <a:lnTo>
                  <a:pt x="0" y="54000"/>
                </a:lnTo>
                <a:lnTo>
                  <a:pt x="4038" y="75019"/>
                </a:lnTo>
                <a:lnTo>
                  <a:pt x="15050" y="92184"/>
                </a:lnTo>
                <a:lnTo>
                  <a:pt x="31383" y="103757"/>
                </a:lnTo>
                <a:lnTo>
                  <a:pt x="51384" y="108000"/>
                </a:lnTo>
                <a:lnTo>
                  <a:pt x="71385" y="103757"/>
                </a:lnTo>
                <a:lnTo>
                  <a:pt x="87717" y="92184"/>
                </a:lnTo>
                <a:lnTo>
                  <a:pt x="98730" y="75019"/>
                </a:lnTo>
                <a:lnTo>
                  <a:pt x="102768" y="54000"/>
                </a:lnTo>
                <a:lnTo>
                  <a:pt x="98730" y="32981"/>
                </a:lnTo>
                <a:lnTo>
                  <a:pt x="87717" y="15816"/>
                </a:lnTo>
                <a:lnTo>
                  <a:pt x="71385" y="4243"/>
                </a:lnTo>
                <a:lnTo>
                  <a:pt x="513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1051027" y="5152787"/>
            <a:ext cx="102870" cy="108585"/>
          </a:xfrm>
          <a:custGeom>
            <a:avLst/>
            <a:gdLst/>
            <a:ahLst/>
            <a:cxnLst/>
            <a:rect l="l" t="t" r="r" b="b"/>
            <a:pathLst>
              <a:path w="102869" h="108585">
                <a:moveTo>
                  <a:pt x="0" y="54000"/>
                </a:moveTo>
                <a:lnTo>
                  <a:pt x="4038" y="32980"/>
                </a:lnTo>
                <a:lnTo>
                  <a:pt x="15050" y="15816"/>
                </a:lnTo>
                <a:lnTo>
                  <a:pt x="31383" y="4243"/>
                </a:lnTo>
                <a:lnTo>
                  <a:pt x="51384" y="0"/>
                </a:lnTo>
                <a:lnTo>
                  <a:pt x="71384" y="4243"/>
                </a:lnTo>
                <a:lnTo>
                  <a:pt x="87717" y="15816"/>
                </a:lnTo>
                <a:lnTo>
                  <a:pt x="98729" y="32980"/>
                </a:lnTo>
                <a:lnTo>
                  <a:pt x="102768" y="54000"/>
                </a:lnTo>
                <a:lnTo>
                  <a:pt x="98729" y="75019"/>
                </a:lnTo>
                <a:lnTo>
                  <a:pt x="87717" y="92183"/>
                </a:lnTo>
                <a:lnTo>
                  <a:pt x="71384" y="103756"/>
                </a:lnTo>
                <a:lnTo>
                  <a:pt x="51384" y="108000"/>
                </a:lnTo>
                <a:lnTo>
                  <a:pt x="31383" y="103756"/>
                </a:lnTo>
                <a:lnTo>
                  <a:pt x="15050" y="92183"/>
                </a:lnTo>
                <a:lnTo>
                  <a:pt x="4038" y="75019"/>
                </a:lnTo>
                <a:lnTo>
                  <a:pt x="0" y="5400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1949326" y="4927860"/>
            <a:ext cx="102870" cy="108585"/>
          </a:xfrm>
          <a:custGeom>
            <a:avLst/>
            <a:gdLst/>
            <a:ahLst/>
            <a:cxnLst/>
            <a:rect l="l" t="t" r="r" b="b"/>
            <a:pathLst>
              <a:path w="102869" h="108585">
                <a:moveTo>
                  <a:pt x="51384" y="0"/>
                </a:moveTo>
                <a:lnTo>
                  <a:pt x="31383" y="4243"/>
                </a:lnTo>
                <a:lnTo>
                  <a:pt x="15050" y="15815"/>
                </a:lnTo>
                <a:lnTo>
                  <a:pt x="4038" y="32980"/>
                </a:lnTo>
                <a:lnTo>
                  <a:pt x="0" y="53999"/>
                </a:lnTo>
                <a:lnTo>
                  <a:pt x="4038" y="75018"/>
                </a:lnTo>
                <a:lnTo>
                  <a:pt x="15050" y="92183"/>
                </a:lnTo>
                <a:lnTo>
                  <a:pt x="31383" y="103755"/>
                </a:lnTo>
                <a:lnTo>
                  <a:pt x="51384" y="107999"/>
                </a:lnTo>
                <a:lnTo>
                  <a:pt x="71385" y="103755"/>
                </a:lnTo>
                <a:lnTo>
                  <a:pt x="87718" y="92183"/>
                </a:lnTo>
                <a:lnTo>
                  <a:pt x="98730" y="75018"/>
                </a:lnTo>
                <a:lnTo>
                  <a:pt x="102768" y="53999"/>
                </a:lnTo>
                <a:lnTo>
                  <a:pt x="98730" y="32980"/>
                </a:lnTo>
                <a:lnTo>
                  <a:pt x="87718" y="15815"/>
                </a:lnTo>
                <a:lnTo>
                  <a:pt x="71385" y="4243"/>
                </a:lnTo>
                <a:lnTo>
                  <a:pt x="513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1949326" y="4927860"/>
            <a:ext cx="102870" cy="108585"/>
          </a:xfrm>
          <a:custGeom>
            <a:avLst/>
            <a:gdLst/>
            <a:ahLst/>
            <a:cxnLst/>
            <a:rect l="l" t="t" r="r" b="b"/>
            <a:pathLst>
              <a:path w="102869" h="108585">
                <a:moveTo>
                  <a:pt x="0" y="54000"/>
                </a:moveTo>
                <a:lnTo>
                  <a:pt x="4038" y="32980"/>
                </a:lnTo>
                <a:lnTo>
                  <a:pt x="15050" y="15816"/>
                </a:lnTo>
                <a:lnTo>
                  <a:pt x="31383" y="4243"/>
                </a:lnTo>
                <a:lnTo>
                  <a:pt x="51384" y="0"/>
                </a:lnTo>
                <a:lnTo>
                  <a:pt x="71384" y="4243"/>
                </a:lnTo>
                <a:lnTo>
                  <a:pt x="87717" y="15816"/>
                </a:lnTo>
                <a:lnTo>
                  <a:pt x="98729" y="32980"/>
                </a:lnTo>
                <a:lnTo>
                  <a:pt x="102768" y="54000"/>
                </a:lnTo>
                <a:lnTo>
                  <a:pt x="98729" y="75019"/>
                </a:lnTo>
                <a:lnTo>
                  <a:pt x="87717" y="92183"/>
                </a:lnTo>
                <a:lnTo>
                  <a:pt x="71384" y="103756"/>
                </a:lnTo>
                <a:lnTo>
                  <a:pt x="51384" y="108000"/>
                </a:lnTo>
                <a:lnTo>
                  <a:pt x="31383" y="103756"/>
                </a:lnTo>
                <a:lnTo>
                  <a:pt x="15050" y="92183"/>
                </a:lnTo>
                <a:lnTo>
                  <a:pt x="4038" y="75019"/>
                </a:lnTo>
                <a:lnTo>
                  <a:pt x="0" y="5400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 txBox="1"/>
          <p:nvPr/>
        </p:nvSpPr>
        <p:spPr>
          <a:xfrm>
            <a:off x="847576" y="3506723"/>
            <a:ext cx="149415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 b="1">
                <a:latin typeface="Arial"/>
                <a:cs typeface="Arial"/>
              </a:rPr>
              <a:t>Large</a:t>
            </a:r>
            <a:r>
              <a:rPr dirty="0" sz="2000" spc="-70" b="1">
                <a:latin typeface="Arial"/>
                <a:cs typeface="Arial"/>
              </a:rPr>
              <a:t> </a:t>
            </a:r>
            <a:r>
              <a:rPr dirty="0" sz="2000" spc="-5" b="1">
                <a:latin typeface="Arial"/>
                <a:cs typeface="Arial"/>
              </a:rPr>
              <a:t>graph</a:t>
            </a:r>
            <a:endParaRPr sz="2000">
              <a:latin typeface="Arial"/>
              <a:cs typeface="Arial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3263404" y="3503676"/>
            <a:ext cx="2313305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 b="1">
                <a:latin typeface="Arial"/>
                <a:cs typeface="Arial"/>
              </a:rPr>
              <a:t>Sampled</a:t>
            </a:r>
            <a:r>
              <a:rPr dirty="0" sz="2000" spc="-70" b="1">
                <a:latin typeface="Arial"/>
                <a:cs typeface="Arial"/>
              </a:rPr>
              <a:t> </a:t>
            </a:r>
            <a:r>
              <a:rPr dirty="0" sz="2000" spc="-5" b="1">
                <a:latin typeface="Arial"/>
                <a:cs typeface="Arial"/>
              </a:rPr>
              <a:t>subgraph</a:t>
            </a:r>
            <a:endParaRPr sz="2000">
              <a:latin typeface="Arial"/>
              <a:cs typeface="Arial"/>
            </a:endParaRPr>
          </a:p>
          <a:p>
            <a:pPr marL="12700" marR="318770">
              <a:lnSpc>
                <a:spcPct val="100000"/>
              </a:lnSpc>
            </a:pPr>
            <a:r>
              <a:rPr dirty="0" sz="2000" spc="-5">
                <a:latin typeface="Arial"/>
                <a:cs typeface="Arial"/>
              </a:rPr>
              <a:t>(small </a:t>
            </a:r>
            <a:r>
              <a:rPr dirty="0" sz="2000">
                <a:latin typeface="Arial"/>
                <a:cs typeface="Arial"/>
              </a:rPr>
              <a:t>enough </a:t>
            </a:r>
            <a:r>
              <a:rPr dirty="0" sz="2000" spc="-5">
                <a:latin typeface="Arial"/>
                <a:cs typeface="Arial"/>
              </a:rPr>
              <a:t>to  </a:t>
            </a:r>
            <a:r>
              <a:rPr dirty="0" sz="2000">
                <a:latin typeface="Arial"/>
                <a:cs typeface="Arial"/>
              </a:rPr>
              <a:t>be put on a</a:t>
            </a:r>
            <a:r>
              <a:rPr dirty="0" sz="2000" spc="-130">
                <a:latin typeface="Arial"/>
                <a:cs typeface="Arial"/>
              </a:rPr>
              <a:t> </a:t>
            </a:r>
            <a:r>
              <a:rPr dirty="0" sz="2000" spc="-5">
                <a:latin typeface="Arial"/>
                <a:cs typeface="Arial"/>
              </a:rPr>
              <a:t>GPU)</a:t>
            </a:r>
            <a:endParaRPr sz="2000">
              <a:latin typeface="Arial"/>
              <a:cs typeface="Arial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6351840" y="3485388"/>
            <a:ext cx="2311400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 b="1">
                <a:latin typeface="Arial"/>
                <a:cs typeface="Arial"/>
              </a:rPr>
              <a:t>Layer-wise</a:t>
            </a:r>
            <a:endParaRPr sz="20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dirty="0" sz="2000" b="1">
                <a:latin typeface="Arial"/>
                <a:cs typeface="Arial"/>
              </a:rPr>
              <a:t>node </a:t>
            </a:r>
            <a:r>
              <a:rPr dirty="0" sz="2000" spc="-5" b="1">
                <a:latin typeface="Arial"/>
                <a:cs typeface="Arial"/>
              </a:rPr>
              <a:t>embeddings  update </a:t>
            </a:r>
            <a:r>
              <a:rPr dirty="0" sz="2000" b="1">
                <a:latin typeface="Arial"/>
                <a:cs typeface="Arial"/>
              </a:rPr>
              <a:t>on </a:t>
            </a:r>
            <a:r>
              <a:rPr dirty="0" sz="2000" spc="-5" b="1">
                <a:latin typeface="Arial"/>
                <a:cs typeface="Arial"/>
              </a:rPr>
              <a:t>the</a:t>
            </a:r>
            <a:r>
              <a:rPr dirty="0" sz="2000" spc="-80" b="1">
                <a:latin typeface="Arial"/>
                <a:cs typeface="Arial"/>
              </a:rPr>
              <a:t> </a:t>
            </a:r>
            <a:r>
              <a:rPr dirty="0" sz="2000" spc="-5" b="1">
                <a:latin typeface="Arial"/>
                <a:cs typeface="Arial"/>
              </a:rPr>
              <a:t>GPU</a:t>
            </a:r>
            <a:endParaRPr sz="2000">
              <a:latin typeface="Arial"/>
              <a:cs typeface="Arial"/>
            </a:endParaRPr>
          </a:p>
        </p:txBody>
      </p:sp>
      <p:sp>
        <p:nvSpPr>
          <p:cNvPr id="93" name="object 93"/>
          <p:cNvSpPr/>
          <p:nvPr/>
        </p:nvSpPr>
        <p:spPr>
          <a:xfrm>
            <a:off x="6437245" y="4688475"/>
            <a:ext cx="1704850" cy="145985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3/13/21</a:t>
            </a:r>
          </a:p>
        </p:txBody>
      </p:sp>
      <p:sp>
        <p:nvSpPr>
          <p:cNvPr id="95" name="object 9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96" name="object 96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30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47472"/>
            <a:ext cx="4794504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609205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30" b="1">
                <a:solidFill>
                  <a:srgbClr val="D60093"/>
                </a:solidFill>
                <a:latin typeface="Calibri"/>
                <a:cs typeface="Calibri"/>
              </a:rPr>
              <a:t>Key </a:t>
            </a:r>
            <a:r>
              <a:rPr dirty="0" spc="-10" b="1">
                <a:solidFill>
                  <a:srgbClr val="D60093"/>
                </a:solidFill>
                <a:latin typeface="Calibri"/>
                <a:cs typeface="Calibri"/>
              </a:rPr>
              <a:t>question</a:t>
            </a:r>
            <a:r>
              <a:rPr dirty="0" spc="-10"/>
              <a:t>: </a:t>
            </a:r>
            <a:r>
              <a:rPr dirty="0" spc="-15" b="1">
                <a:solidFill>
                  <a:srgbClr val="0000FF"/>
                </a:solidFill>
                <a:latin typeface="Calibri"/>
                <a:cs typeface="Calibri"/>
              </a:rPr>
              <a:t>What subgraphs are </a:t>
            </a:r>
            <a:r>
              <a:rPr dirty="0" spc="-10" b="1">
                <a:solidFill>
                  <a:srgbClr val="0000FF"/>
                </a:solidFill>
                <a:latin typeface="Calibri"/>
                <a:cs typeface="Calibri"/>
              </a:rPr>
              <a:t>good </a:t>
            </a:r>
            <a:r>
              <a:rPr dirty="0" spc="-20" b="1">
                <a:solidFill>
                  <a:srgbClr val="0000FF"/>
                </a:solidFill>
                <a:latin typeface="Calibri"/>
                <a:cs typeface="Calibri"/>
              </a:rPr>
              <a:t>for  </a:t>
            </a:r>
            <a:r>
              <a:rPr dirty="0" spc="-15" b="1">
                <a:solidFill>
                  <a:srgbClr val="0000FF"/>
                </a:solidFill>
                <a:latin typeface="Calibri"/>
                <a:cs typeface="Calibri"/>
              </a:rPr>
              <a:t>training</a:t>
            </a:r>
            <a:r>
              <a:rPr dirty="0" spc="-60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pc="-5" b="1">
                <a:solidFill>
                  <a:srgbClr val="0000FF"/>
                </a:solidFill>
                <a:latin typeface="Calibri"/>
                <a:cs typeface="Calibri"/>
              </a:rPr>
              <a:t>GNNs?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40636" y="6699893"/>
            <a:ext cx="400685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3/13/21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31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956563" y="2414523"/>
            <a:ext cx="7541895" cy="3013710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287020" marR="1045844" indent="-274320">
              <a:lnSpc>
                <a:spcPts val="3310"/>
              </a:lnSpc>
              <a:spcBef>
                <a:spcPts val="25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0" b="1">
                <a:latin typeface="Calibri"/>
                <a:cs typeface="Calibri"/>
              </a:rPr>
              <a:t>Recall: </a:t>
            </a:r>
            <a:r>
              <a:rPr dirty="0" sz="2800" b="1">
                <a:latin typeface="Calibri"/>
                <a:cs typeface="Calibri"/>
              </a:rPr>
              <a:t>GNN </a:t>
            </a:r>
            <a:r>
              <a:rPr dirty="0" sz="2800" spc="-10" b="1">
                <a:latin typeface="Calibri"/>
                <a:cs typeface="Calibri"/>
              </a:rPr>
              <a:t>performs </a:t>
            </a:r>
            <a:r>
              <a:rPr dirty="0" sz="2800" spc="-5" b="1">
                <a:latin typeface="Calibri"/>
                <a:cs typeface="Calibri"/>
              </a:rPr>
              <a:t>node embedding </a:t>
            </a:r>
            <a:r>
              <a:rPr dirty="0" sz="2800" spc="-310" b="1">
                <a:latin typeface="Calibri"/>
                <a:cs typeface="Calibri"/>
              </a:rPr>
              <a:t>by  </a:t>
            </a:r>
            <a:r>
              <a:rPr dirty="0" sz="2800" spc="-5" b="1">
                <a:latin typeface="Calibri"/>
                <a:cs typeface="Calibri"/>
              </a:rPr>
              <a:t>passing </a:t>
            </a:r>
            <a:r>
              <a:rPr dirty="0" sz="2800" spc="-10" b="1">
                <a:latin typeface="Calibri"/>
                <a:cs typeface="Calibri"/>
              </a:rPr>
              <a:t>messages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via the</a:t>
            </a:r>
            <a:r>
              <a:rPr dirty="0" sz="2800" spc="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edges</a:t>
            </a:r>
            <a:r>
              <a:rPr dirty="0" sz="2800" spc="-10" b="1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lvl="1" marL="552450" marR="5080" indent="-228600">
              <a:lnSpc>
                <a:spcPct val="102299"/>
              </a:lnSpc>
              <a:spcBef>
                <a:spcPts val="455"/>
              </a:spcBef>
              <a:buClr>
                <a:srgbClr val="E66C7D"/>
              </a:buClr>
              <a:buFont typeface="Malgun Gothic"/>
              <a:buChar char="▪"/>
              <a:tabLst>
                <a:tab pos="552450" algn="l"/>
              </a:tabLst>
            </a:pPr>
            <a:r>
              <a:rPr dirty="0" sz="2600" spc="-10">
                <a:latin typeface="Calibri"/>
                <a:cs typeface="Calibri"/>
              </a:rPr>
              <a:t>Subgraphs </a:t>
            </a:r>
            <a:r>
              <a:rPr dirty="0" sz="2600" spc="-5" b="1">
                <a:latin typeface="Calibri"/>
                <a:cs typeface="Calibri"/>
              </a:rPr>
              <a:t>should </a:t>
            </a:r>
            <a:r>
              <a:rPr dirty="0" sz="2600" spc="-15" b="1">
                <a:latin typeface="Calibri"/>
                <a:cs typeface="Calibri"/>
              </a:rPr>
              <a:t>retain </a:t>
            </a:r>
            <a:r>
              <a:rPr dirty="0" sz="2600" spc="-10" b="1">
                <a:latin typeface="Calibri"/>
                <a:cs typeface="Calibri"/>
              </a:rPr>
              <a:t>edge </a:t>
            </a:r>
            <a:r>
              <a:rPr dirty="0" sz="2600" spc="-5" b="1">
                <a:latin typeface="Calibri"/>
                <a:cs typeface="Calibri"/>
              </a:rPr>
              <a:t>connectivity  </a:t>
            </a:r>
            <a:r>
              <a:rPr dirty="0" sz="2600" spc="-10" b="1">
                <a:latin typeface="Calibri"/>
                <a:cs typeface="Calibri"/>
              </a:rPr>
              <a:t>structure </a:t>
            </a:r>
            <a:r>
              <a:rPr dirty="0" sz="2600" b="1">
                <a:latin typeface="Calibri"/>
                <a:cs typeface="Calibri"/>
              </a:rPr>
              <a:t>of </a:t>
            </a:r>
            <a:r>
              <a:rPr dirty="0" sz="2600" spc="-5" b="1">
                <a:latin typeface="Calibri"/>
                <a:cs typeface="Calibri"/>
              </a:rPr>
              <a:t>the original </a:t>
            </a:r>
            <a:r>
              <a:rPr dirty="0" sz="2600" spc="-15" b="1">
                <a:latin typeface="Calibri"/>
                <a:cs typeface="Calibri"/>
              </a:rPr>
              <a:t>graph </a:t>
            </a:r>
            <a:r>
              <a:rPr dirty="0" sz="2600" b="1">
                <a:latin typeface="Calibri"/>
                <a:cs typeface="Calibri"/>
              </a:rPr>
              <a:t>as </a:t>
            </a:r>
            <a:r>
              <a:rPr dirty="0" sz="2600" spc="-5" b="1">
                <a:latin typeface="Calibri"/>
                <a:cs typeface="Calibri"/>
              </a:rPr>
              <a:t>much </a:t>
            </a:r>
            <a:r>
              <a:rPr dirty="0" sz="2600" b="1">
                <a:latin typeface="Calibri"/>
                <a:cs typeface="Calibri"/>
              </a:rPr>
              <a:t>as</a:t>
            </a:r>
            <a:r>
              <a:rPr dirty="0" sz="2600" spc="50" b="1">
                <a:latin typeface="Calibri"/>
                <a:cs typeface="Calibri"/>
              </a:rPr>
              <a:t> </a:t>
            </a:r>
            <a:r>
              <a:rPr dirty="0" sz="2600" spc="-5" b="1">
                <a:latin typeface="Calibri"/>
                <a:cs typeface="Calibri"/>
              </a:rPr>
              <a:t>possible.</a:t>
            </a:r>
            <a:endParaRPr sz="2600">
              <a:latin typeface="Calibri"/>
              <a:cs typeface="Calibri"/>
            </a:endParaRPr>
          </a:p>
          <a:p>
            <a:pPr algn="just" lvl="1" marL="552450" marR="601345" indent="-228600">
              <a:lnSpc>
                <a:spcPts val="3100"/>
              </a:lnSpc>
              <a:spcBef>
                <a:spcPts val="715"/>
              </a:spcBef>
              <a:buClr>
                <a:srgbClr val="E66C7D"/>
              </a:buClr>
              <a:buFont typeface="Malgun Gothic"/>
              <a:buChar char="▪"/>
              <a:tabLst>
                <a:tab pos="552450" algn="l"/>
              </a:tabLst>
            </a:pPr>
            <a:r>
              <a:rPr dirty="0" sz="2600" spc="-5">
                <a:latin typeface="Calibri"/>
                <a:cs typeface="Calibri"/>
              </a:rPr>
              <a:t>This </a:t>
            </a:r>
            <a:r>
              <a:rPr dirty="0" sz="2600" spc="-70">
                <a:latin typeface="Calibri"/>
                <a:cs typeface="Calibri"/>
              </a:rPr>
              <a:t>way, </a:t>
            </a:r>
            <a:r>
              <a:rPr dirty="0" sz="2600" spc="-5">
                <a:latin typeface="Calibri"/>
                <a:cs typeface="Calibri"/>
              </a:rPr>
              <a:t>the GNN </a:t>
            </a:r>
            <a:r>
              <a:rPr dirty="0" sz="2600" spc="-15">
                <a:latin typeface="Calibri"/>
                <a:cs typeface="Calibri"/>
              </a:rPr>
              <a:t>over </a:t>
            </a:r>
            <a:r>
              <a:rPr dirty="0" sz="2600" spc="-5">
                <a:latin typeface="Calibri"/>
                <a:cs typeface="Calibri"/>
              </a:rPr>
              <a:t>the </a:t>
            </a:r>
            <a:r>
              <a:rPr dirty="0" sz="2600" spc="-10">
                <a:latin typeface="Calibri"/>
                <a:cs typeface="Calibri"/>
              </a:rPr>
              <a:t>subgraph </a:t>
            </a:r>
            <a:r>
              <a:rPr dirty="0" sz="2600" spc="-55">
                <a:latin typeface="Calibri"/>
                <a:cs typeface="Calibri"/>
              </a:rPr>
              <a:t>generates  </a:t>
            </a:r>
            <a:r>
              <a:rPr dirty="0" sz="2600" spc="-5">
                <a:latin typeface="Calibri"/>
                <a:cs typeface="Calibri"/>
              </a:rPr>
              <a:t>embeddings closer </a:t>
            </a:r>
            <a:r>
              <a:rPr dirty="0" sz="2600" spc="-15">
                <a:latin typeface="Calibri"/>
                <a:cs typeface="Calibri"/>
              </a:rPr>
              <a:t>to </a:t>
            </a:r>
            <a:r>
              <a:rPr dirty="0" sz="2600" spc="-5">
                <a:latin typeface="Calibri"/>
                <a:cs typeface="Calibri"/>
              </a:rPr>
              <a:t>the GNN </a:t>
            </a:r>
            <a:r>
              <a:rPr dirty="0" sz="2600" spc="-15">
                <a:latin typeface="Calibri"/>
                <a:cs typeface="Calibri"/>
              </a:rPr>
              <a:t>over </a:t>
            </a:r>
            <a:r>
              <a:rPr dirty="0" sz="2600" spc="-5">
                <a:latin typeface="Calibri"/>
                <a:cs typeface="Calibri"/>
              </a:rPr>
              <a:t>the original  </a:t>
            </a:r>
            <a:r>
              <a:rPr dirty="0" sz="2600" spc="-10">
                <a:latin typeface="Calibri"/>
                <a:cs typeface="Calibri"/>
              </a:rPr>
              <a:t>graph.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47472"/>
            <a:ext cx="7830311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5677" y="1363980"/>
            <a:ext cx="740981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 b="1">
                <a:solidFill>
                  <a:srgbClr val="D60093"/>
                </a:solidFill>
                <a:latin typeface="Calibri"/>
                <a:cs typeface="Calibri"/>
              </a:rPr>
              <a:t>Which </a:t>
            </a:r>
            <a:r>
              <a:rPr dirty="0" spc="-15" b="1">
                <a:solidFill>
                  <a:srgbClr val="D60093"/>
                </a:solidFill>
                <a:latin typeface="Calibri"/>
                <a:cs typeface="Calibri"/>
              </a:rPr>
              <a:t>subgraph </a:t>
            </a:r>
            <a:r>
              <a:rPr dirty="0" b="1">
                <a:solidFill>
                  <a:srgbClr val="D60093"/>
                </a:solidFill>
                <a:latin typeface="Calibri"/>
                <a:cs typeface="Calibri"/>
              </a:rPr>
              <a:t>is </a:t>
            </a:r>
            <a:r>
              <a:rPr dirty="0" spc="-10" b="1">
                <a:solidFill>
                  <a:srgbClr val="D60093"/>
                </a:solidFill>
                <a:latin typeface="Calibri"/>
                <a:cs typeface="Calibri"/>
              </a:rPr>
              <a:t>good </a:t>
            </a:r>
            <a:r>
              <a:rPr dirty="0" spc="-20" b="1">
                <a:solidFill>
                  <a:srgbClr val="D60093"/>
                </a:solidFill>
                <a:latin typeface="Calibri"/>
                <a:cs typeface="Calibri"/>
              </a:rPr>
              <a:t>for </a:t>
            </a:r>
            <a:r>
              <a:rPr dirty="0" spc="-15" b="1">
                <a:solidFill>
                  <a:srgbClr val="D60093"/>
                </a:solidFill>
                <a:latin typeface="Calibri"/>
                <a:cs typeface="Calibri"/>
              </a:rPr>
              <a:t>training</a:t>
            </a:r>
            <a:r>
              <a:rPr dirty="0" spc="0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pc="-5" b="1">
                <a:solidFill>
                  <a:srgbClr val="D60093"/>
                </a:solidFill>
                <a:latin typeface="Calibri"/>
                <a:cs typeface="Calibri"/>
              </a:rPr>
              <a:t>GNN?</a:t>
            </a:r>
          </a:p>
        </p:txBody>
      </p:sp>
      <p:sp>
        <p:nvSpPr>
          <p:cNvPr id="4" name="object 4"/>
          <p:cNvSpPr/>
          <p:nvPr/>
        </p:nvSpPr>
        <p:spPr>
          <a:xfrm>
            <a:off x="2024156" y="3007056"/>
            <a:ext cx="139065" cy="480059"/>
          </a:xfrm>
          <a:custGeom>
            <a:avLst/>
            <a:gdLst/>
            <a:ahLst/>
            <a:cxnLst/>
            <a:rect l="l" t="t" r="r" b="b"/>
            <a:pathLst>
              <a:path w="139064" h="480060">
                <a:moveTo>
                  <a:pt x="0" y="0"/>
                </a:moveTo>
                <a:lnTo>
                  <a:pt x="138540" y="47989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212463" y="2978844"/>
            <a:ext cx="347345" cy="527050"/>
          </a:xfrm>
          <a:custGeom>
            <a:avLst/>
            <a:gdLst/>
            <a:ahLst/>
            <a:cxnLst/>
            <a:rect l="l" t="t" r="r" b="b"/>
            <a:pathLst>
              <a:path w="347344" h="527050">
                <a:moveTo>
                  <a:pt x="346833" y="0"/>
                </a:moveTo>
                <a:lnTo>
                  <a:pt x="0" y="526867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144299" y="2933543"/>
            <a:ext cx="394970" cy="28575"/>
          </a:xfrm>
          <a:custGeom>
            <a:avLst/>
            <a:gdLst/>
            <a:ahLst/>
            <a:cxnLst/>
            <a:rect l="l" t="t" r="r" b="b"/>
            <a:pathLst>
              <a:path w="394969" h="28575">
                <a:moveTo>
                  <a:pt x="394383" y="0"/>
                </a:moveTo>
                <a:lnTo>
                  <a:pt x="0" y="2821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609061" y="2997606"/>
            <a:ext cx="13335" cy="364490"/>
          </a:xfrm>
          <a:custGeom>
            <a:avLst/>
            <a:gdLst/>
            <a:ahLst/>
            <a:cxnLst/>
            <a:rect l="l" t="t" r="r" b="b"/>
            <a:pathLst>
              <a:path w="13335" h="364489">
                <a:moveTo>
                  <a:pt x="0" y="0"/>
                </a:moveTo>
                <a:lnTo>
                  <a:pt x="12883" y="36405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89265" y="3127800"/>
            <a:ext cx="245110" cy="0"/>
          </a:xfrm>
          <a:custGeom>
            <a:avLst/>
            <a:gdLst/>
            <a:ahLst/>
            <a:cxnLst/>
            <a:rect l="l" t="t" r="r" b="b"/>
            <a:pathLst>
              <a:path w="245109" h="0">
                <a:moveTo>
                  <a:pt x="0" y="0"/>
                </a:moveTo>
                <a:lnTo>
                  <a:pt x="244798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69756" y="3191865"/>
            <a:ext cx="135255" cy="320675"/>
          </a:xfrm>
          <a:custGeom>
            <a:avLst/>
            <a:gdLst/>
            <a:ahLst/>
            <a:cxnLst/>
            <a:rect l="l" t="t" r="r" b="b"/>
            <a:pathLst>
              <a:path w="135255" h="320675">
                <a:moveTo>
                  <a:pt x="0" y="320323"/>
                </a:moveTo>
                <a:lnTo>
                  <a:pt x="134685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123686" y="3007056"/>
            <a:ext cx="427990" cy="419100"/>
          </a:xfrm>
          <a:custGeom>
            <a:avLst/>
            <a:gdLst/>
            <a:ahLst/>
            <a:cxnLst/>
            <a:rect l="l" t="t" r="r" b="b"/>
            <a:pathLst>
              <a:path w="427989" h="419100">
                <a:moveTo>
                  <a:pt x="0" y="0"/>
                </a:moveTo>
                <a:lnTo>
                  <a:pt x="427878" y="418675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054205" y="3173101"/>
            <a:ext cx="306705" cy="563245"/>
          </a:xfrm>
          <a:custGeom>
            <a:avLst/>
            <a:gdLst/>
            <a:ahLst/>
            <a:cxnLst/>
            <a:rect l="l" t="t" r="r" b="b"/>
            <a:pathLst>
              <a:path w="306705" h="563245">
                <a:moveTo>
                  <a:pt x="0" y="0"/>
                </a:moveTo>
                <a:lnTo>
                  <a:pt x="306542" y="56285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074820" y="3127801"/>
            <a:ext cx="1038225" cy="378460"/>
          </a:xfrm>
          <a:custGeom>
            <a:avLst/>
            <a:gdLst/>
            <a:ahLst/>
            <a:cxnLst/>
            <a:rect l="l" t="t" r="r" b="b"/>
            <a:pathLst>
              <a:path w="1038225" h="378460">
                <a:moveTo>
                  <a:pt x="1038113" y="377910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233075" y="3471031"/>
            <a:ext cx="339725" cy="80010"/>
          </a:xfrm>
          <a:custGeom>
            <a:avLst/>
            <a:gdLst/>
            <a:ahLst/>
            <a:cxnLst/>
            <a:rect l="l" t="t" r="r" b="b"/>
            <a:pathLst>
              <a:path w="339725" h="80010">
                <a:moveTo>
                  <a:pt x="0" y="79981"/>
                </a:moveTo>
                <a:lnTo>
                  <a:pt x="339103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004441" y="2850451"/>
            <a:ext cx="120650" cy="213360"/>
          </a:xfrm>
          <a:custGeom>
            <a:avLst/>
            <a:gdLst/>
            <a:ahLst/>
            <a:cxnLst/>
            <a:rect l="l" t="t" r="r" b="b"/>
            <a:pathLst>
              <a:path w="120650" h="213360">
                <a:moveTo>
                  <a:pt x="0" y="213285"/>
                </a:moveTo>
                <a:lnTo>
                  <a:pt x="120345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934064" y="3063736"/>
            <a:ext cx="140970" cy="128270"/>
          </a:xfrm>
          <a:custGeom>
            <a:avLst/>
            <a:gdLst/>
            <a:ahLst/>
            <a:cxnLst/>
            <a:rect l="l" t="t" r="r" b="b"/>
            <a:pathLst>
              <a:path w="140969" h="128269">
                <a:moveTo>
                  <a:pt x="70377" y="0"/>
                </a:moveTo>
                <a:lnTo>
                  <a:pt x="42983" y="5034"/>
                </a:lnTo>
                <a:lnTo>
                  <a:pt x="20613" y="18764"/>
                </a:lnTo>
                <a:lnTo>
                  <a:pt x="5530" y="39128"/>
                </a:lnTo>
                <a:lnTo>
                  <a:pt x="0" y="64065"/>
                </a:lnTo>
                <a:lnTo>
                  <a:pt x="5530" y="89002"/>
                </a:lnTo>
                <a:lnTo>
                  <a:pt x="20613" y="109366"/>
                </a:lnTo>
                <a:lnTo>
                  <a:pt x="42983" y="123095"/>
                </a:lnTo>
                <a:lnTo>
                  <a:pt x="70377" y="128130"/>
                </a:lnTo>
                <a:lnTo>
                  <a:pt x="97772" y="123095"/>
                </a:lnTo>
                <a:lnTo>
                  <a:pt x="120142" y="109366"/>
                </a:lnTo>
                <a:lnTo>
                  <a:pt x="135225" y="89002"/>
                </a:lnTo>
                <a:lnTo>
                  <a:pt x="140755" y="64065"/>
                </a:lnTo>
                <a:lnTo>
                  <a:pt x="135225" y="39128"/>
                </a:lnTo>
                <a:lnTo>
                  <a:pt x="120142" y="18764"/>
                </a:lnTo>
                <a:lnTo>
                  <a:pt x="97772" y="5034"/>
                </a:lnTo>
                <a:lnTo>
                  <a:pt x="7037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934064" y="3063736"/>
            <a:ext cx="140970" cy="128270"/>
          </a:xfrm>
          <a:custGeom>
            <a:avLst/>
            <a:gdLst/>
            <a:ahLst/>
            <a:cxnLst/>
            <a:rect l="l" t="t" r="r" b="b"/>
            <a:pathLst>
              <a:path w="140969" h="128269">
                <a:moveTo>
                  <a:pt x="0" y="64065"/>
                </a:moveTo>
                <a:lnTo>
                  <a:pt x="5530" y="39128"/>
                </a:lnTo>
                <a:lnTo>
                  <a:pt x="20613" y="18764"/>
                </a:lnTo>
                <a:lnTo>
                  <a:pt x="42983" y="5034"/>
                </a:lnTo>
                <a:lnTo>
                  <a:pt x="70378" y="0"/>
                </a:lnTo>
                <a:lnTo>
                  <a:pt x="97772" y="5034"/>
                </a:lnTo>
                <a:lnTo>
                  <a:pt x="120142" y="18764"/>
                </a:lnTo>
                <a:lnTo>
                  <a:pt x="135225" y="39128"/>
                </a:lnTo>
                <a:lnTo>
                  <a:pt x="140756" y="64065"/>
                </a:lnTo>
                <a:lnTo>
                  <a:pt x="135225" y="89001"/>
                </a:lnTo>
                <a:lnTo>
                  <a:pt x="120142" y="109365"/>
                </a:lnTo>
                <a:lnTo>
                  <a:pt x="97772" y="123095"/>
                </a:lnTo>
                <a:lnTo>
                  <a:pt x="70378" y="128130"/>
                </a:lnTo>
                <a:lnTo>
                  <a:pt x="42983" y="123095"/>
                </a:lnTo>
                <a:lnTo>
                  <a:pt x="20613" y="109365"/>
                </a:lnTo>
                <a:lnTo>
                  <a:pt x="5530" y="89001"/>
                </a:lnTo>
                <a:lnTo>
                  <a:pt x="0" y="64065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340134" y="3717194"/>
            <a:ext cx="140970" cy="128270"/>
          </a:xfrm>
          <a:custGeom>
            <a:avLst/>
            <a:gdLst/>
            <a:ahLst/>
            <a:cxnLst/>
            <a:rect l="l" t="t" r="r" b="b"/>
            <a:pathLst>
              <a:path w="140969" h="128270">
                <a:moveTo>
                  <a:pt x="70377" y="0"/>
                </a:moveTo>
                <a:lnTo>
                  <a:pt x="42983" y="5034"/>
                </a:lnTo>
                <a:lnTo>
                  <a:pt x="20612" y="18764"/>
                </a:lnTo>
                <a:lnTo>
                  <a:pt x="5530" y="39128"/>
                </a:lnTo>
                <a:lnTo>
                  <a:pt x="0" y="64065"/>
                </a:lnTo>
                <a:lnTo>
                  <a:pt x="5530" y="89002"/>
                </a:lnTo>
                <a:lnTo>
                  <a:pt x="20612" y="109366"/>
                </a:lnTo>
                <a:lnTo>
                  <a:pt x="42983" y="123095"/>
                </a:lnTo>
                <a:lnTo>
                  <a:pt x="70377" y="128130"/>
                </a:lnTo>
                <a:lnTo>
                  <a:pt x="97771" y="123095"/>
                </a:lnTo>
                <a:lnTo>
                  <a:pt x="120142" y="109366"/>
                </a:lnTo>
                <a:lnTo>
                  <a:pt x="135224" y="89002"/>
                </a:lnTo>
                <a:lnTo>
                  <a:pt x="140755" y="64065"/>
                </a:lnTo>
                <a:lnTo>
                  <a:pt x="135224" y="39128"/>
                </a:lnTo>
                <a:lnTo>
                  <a:pt x="120142" y="18764"/>
                </a:lnTo>
                <a:lnTo>
                  <a:pt x="97771" y="5034"/>
                </a:lnTo>
                <a:lnTo>
                  <a:pt x="7037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340134" y="3717194"/>
            <a:ext cx="140970" cy="128270"/>
          </a:xfrm>
          <a:custGeom>
            <a:avLst/>
            <a:gdLst/>
            <a:ahLst/>
            <a:cxnLst/>
            <a:rect l="l" t="t" r="r" b="b"/>
            <a:pathLst>
              <a:path w="140969" h="128270">
                <a:moveTo>
                  <a:pt x="0" y="64065"/>
                </a:moveTo>
                <a:lnTo>
                  <a:pt x="5530" y="39128"/>
                </a:lnTo>
                <a:lnTo>
                  <a:pt x="20613" y="18764"/>
                </a:lnTo>
                <a:lnTo>
                  <a:pt x="42983" y="5034"/>
                </a:lnTo>
                <a:lnTo>
                  <a:pt x="70378" y="0"/>
                </a:lnTo>
                <a:lnTo>
                  <a:pt x="97772" y="5034"/>
                </a:lnTo>
                <a:lnTo>
                  <a:pt x="120142" y="18764"/>
                </a:lnTo>
                <a:lnTo>
                  <a:pt x="135225" y="39128"/>
                </a:lnTo>
                <a:lnTo>
                  <a:pt x="140756" y="64065"/>
                </a:lnTo>
                <a:lnTo>
                  <a:pt x="135225" y="89001"/>
                </a:lnTo>
                <a:lnTo>
                  <a:pt x="120142" y="109365"/>
                </a:lnTo>
                <a:lnTo>
                  <a:pt x="97772" y="123095"/>
                </a:lnTo>
                <a:lnTo>
                  <a:pt x="70378" y="128130"/>
                </a:lnTo>
                <a:lnTo>
                  <a:pt x="42983" y="123095"/>
                </a:lnTo>
                <a:lnTo>
                  <a:pt x="20613" y="109365"/>
                </a:lnTo>
                <a:lnTo>
                  <a:pt x="5530" y="89001"/>
                </a:lnTo>
                <a:lnTo>
                  <a:pt x="0" y="64065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99379" y="3512188"/>
            <a:ext cx="140970" cy="128270"/>
          </a:xfrm>
          <a:custGeom>
            <a:avLst/>
            <a:gdLst/>
            <a:ahLst/>
            <a:cxnLst/>
            <a:rect l="l" t="t" r="r" b="b"/>
            <a:pathLst>
              <a:path w="140969" h="128270">
                <a:moveTo>
                  <a:pt x="70377" y="0"/>
                </a:moveTo>
                <a:lnTo>
                  <a:pt x="42983" y="5034"/>
                </a:lnTo>
                <a:lnTo>
                  <a:pt x="20613" y="18764"/>
                </a:lnTo>
                <a:lnTo>
                  <a:pt x="5530" y="39128"/>
                </a:lnTo>
                <a:lnTo>
                  <a:pt x="0" y="64065"/>
                </a:lnTo>
                <a:lnTo>
                  <a:pt x="5530" y="89002"/>
                </a:lnTo>
                <a:lnTo>
                  <a:pt x="20613" y="109366"/>
                </a:lnTo>
                <a:lnTo>
                  <a:pt x="42983" y="123095"/>
                </a:lnTo>
                <a:lnTo>
                  <a:pt x="70377" y="128130"/>
                </a:lnTo>
                <a:lnTo>
                  <a:pt x="97772" y="123095"/>
                </a:lnTo>
                <a:lnTo>
                  <a:pt x="120142" y="109366"/>
                </a:lnTo>
                <a:lnTo>
                  <a:pt x="135225" y="89002"/>
                </a:lnTo>
                <a:lnTo>
                  <a:pt x="140756" y="64065"/>
                </a:lnTo>
                <a:lnTo>
                  <a:pt x="135225" y="39128"/>
                </a:lnTo>
                <a:lnTo>
                  <a:pt x="120142" y="18764"/>
                </a:lnTo>
                <a:lnTo>
                  <a:pt x="97772" y="5034"/>
                </a:lnTo>
                <a:lnTo>
                  <a:pt x="7037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99379" y="3512188"/>
            <a:ext cx="140970" cy="128270"/>
          </a:xfrm>
          <a:custGeom>
            <a:avLst/>
            <a:gdLst/>
            <a:ahLst/>
            <a:cxnLst/>
            <a:rect l="l" t="t" r="r" b="b"/>
            <a:pathLst>
              <a:path w="140969" h="128270">
                <a:moveTo>
                  <a:pt x="0" y="64065"/>
                </a:moveTo>
                <a:lnTo>
                  <a:pt x="5530" y="39128"/>
                </a:lnTo>
                <a:lnTo>
                  <a:pt x="20613" y="18764"/>
                </a:lnTo>
                <a:lnTo>
                  <a:pt x="42983" y="5034"/>
                </a:lnTo>
                <a:lnTo>
                  <a:pt x="70378" y="0"/>
                </a:lnTo>
                <a:lnTo>
                  <a:pt x="97772" y="5034"/>
                </a:lnTo>
                <a:lnTo>
                  <a:pt x="120142" y="18764"/>
                </a:lnTo>
                <a:lnTo>
                  <a:pt x="135225" y="39128"/>
                </a:lnTo>
                <a:lnTo>
                  <a:pt x="140756" y="64065"/>
                </a:lnTo>
                <a:lnTo>
                  <a:pt x="135225" y="89001"/>
                </a:lnTo>
                <a:lnTo>
                  <a:pt x="120142" y="109365"/>
                </a:lnTo>
                <a:lnTo>
                  <a:pt x="97772" y="123095"/>
                </a:lnTo>
                <a:lnTo>
                  <a:pt x="70378" y="128130"/>
                </a:lnTo>
                <a:lnTo>
                  <a:pt x="42983" y="123095"/>
                </a:lnTo>
                <a:lnTo>
                  <a:pt x="20613" y="109365"/>
                </a:lnTo>
                <a:lnTo>
                  <a:pt x="5530" y="89001"/>
                </a:lnTo>
                <a:lnTo>
                  <a:pt x="0" y="64065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092319" y="3486947"/>
            <a:ext cx="140970" cy="128270"/>
          </a:xfrm>
          <a:custGeom>
            <a:avLst/>
            <a:gdLst/>
            <a:ahLst/>
            <a:cxnLst/>
            <a:rect l="l" t="t" r="r" b="b"/>
            <a:pathLst>
              <a:path w="140969" h="128270">
                <a:moveTo>
                  <a:pt x="70378" y="0"/>
                </a:moveTo>
                <a:lnTo>
                  <a:pt x="42983" y="5034"/>
                </a:lnTo>
                <a:lnTo>
                  <a:pt x="20613" y="18764"/>
                </a:lnTo>
                <a:lnTo>
                  <a:pt x="5530" y="39128"/>
                </a:lnTo>
                <a:lnTo>
                  <a:pt x="0" y="64065"/>
                </a:lnTo>
                <a:lnTo>
                  <a:pt x="5530" y="89002"/>
                </a:lnTo>
                <a:lnTo>
                  <a:pt x="20613" y="109366"/>
                </a:lnTo>
                <a:lnTo>
                  <a:pt x="42983" y="123095"/>
                </a:lnTo>
                <a:lnTo>
                  <a:pt x="70378" y="128130"/>
                </a:lnTo>
                <a:lnTo>
                  <a:pt x="97772" y="123095"/>
                </a:lnTo>
                <a:lnTo>
                  <a:pt x="120142" y="109366"/>
                </a:lnTo>
                <a:lnTo>
                  <a:pt x="135224" y="89002"/>
                </a:lnTo>
                <a:lnTo>
                  <a:pt x="140755" y="64065"/>
                </a:lnTo>
                <a:lnTo>
                  <a:pt x="135224" y="39128"/>
                </a:lnTo>
                <a:lnTo>
                  <a:pt x="120142" y="18764"/>
                </a:lnTo>
                <a:lnTo>
                  <a:pt x="97772" y="5034"/>
                </a:lnTo>
                <a:lnTo>
                  <a:pt x="7037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092319" y="3486947"/>
            <a:ext cx="140970" cy="128270"/>
          </a:xfrm>
          <a:custGeom>
            <a:avLst/>
            <a:gdLst/>
            <a:ahLst/>
            <a:cxnLst/>
            <a:rect l="l" t="t" r="r" b="b"/>
            <a:pathLst>
              <a:path w="140969" h="128270">
                <a:moveTo>
                  <a:pt x="0" y="64065"/>
                </a:moveTo>
                <a:lnTo>
                  <a:pt x="5530" y="39128"/>
                </a:lnTo>
                <a:lnTo>
                  <a:pt x="20613" y="18764"/>
                </a:lnTo>
                <a:lnTo>
                  <a:pt x="42983" y="5034"/>
                </a:lnTo>
                <a:lnTo>
                  <a:pt x="70378" y="0"/>
                </a:lnTo>
                <a:lnTo>
                  <a:pt x="97772" y="5034"/>
                </a:lnTo>
                <a:lnTo>
                  <a:pt x="120142" y="18764"/>
                </a:lnTo>
                <a:lnTo>
                  <a:pt x="135225" y="39128"/>
                </a:lnTo>
                <a:lnTo>
                  <a:pt x="140756" y="64065"/>
                </a:lnTo>
                <a:lnTo>
                  <a:pt x="135225" y="89001"/>
                </a:lnTo>
                <a:lnTo>
                  <a:pt x="120142" y="109365"/>
                </a:lnTo>
                <a:lnTo>
                  <a:pt x="97772" y="123095"/>
                </a:lnTo>
                <a:lnTo>
                  <a:pt x="70378" y="128130"/>
                </a:lnTo>
                <a:lnTo>
                  <a:pt x="42983" y="123095"/>
                </a:lnTo>
                <a:lnTo>
                  <a:pt x="20613" y="109365"/>
                </a:lnTo>
                <a:lnTo>
                  <a:pt x="5530" y="89001"/>
                </a:lnTo>
                <a:lnTo>
                  <a:pt x="0" y="64065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003544" y="2897690"/>
            <a:ext cx="140970" cy="128270"/>
          </a:xfrm>
          <a:custGeom>
            <a:avLst/>
            <a:gdLst/>
            <a:ahLst/>
            <a:cxnLst/>
            <a:rect l="l" t="t" r="r" b="b"/>
            <a:pathLst>
              <a:path w="140969" h="128269">
                <a:moveTo>
                  <a:pt x="70377" y="0"/>
                </a:moveTo>
                <a:lnTo>
                  <a:pt x="42983" y="5034"/>
                </a:lnTo>
                <a:lnTo>
                  <a:pt x="20612" y="18764"/>
                </a:lnTo>
                <a:lnTo>
                  <a:pt x="5530" y="39128"/>
                </a:lnTo>
                <a:lnTo>
                  <a:pt x="0" y="64065"/>
                </a:lnTo>
                <a:lnTo>
                  <a:pt x="5530" y="89002"/>
                </a:lnTo>
                <a:lnTo>
                  <a:pt x="20612" y="109366"/>
                </a:lnTo>
                <a:lnTo>
                  <a:pt x="42983" y="123095"/>
                </a:lnTo>
                <a:lnTo>
                  <a:pt x="70377" y="128130"/>
                </a:lnTo>
                <a:lnTo>
                  <a:pt x="97771" y="123095"/>
                </a:lnTo>
                <a:lnTo>
                  <a:pt x="120142" y="109366"/>
                </a:lnTo>
                <a:lnTo>
                  <a:pt x="135224" y="89002"/>
                </a:lnTo>
                <a:lnTo>
                  <a:pt x="140755" y="64065"/>
                </a:lnTo>
                <a:lnTo>
                  <a:pt x="135224" y="39128"/>
                </a:lnTo>
                <a:lnTo>
                  <a:pt x="120142" y="18764"/>
                </a:lnTo>
                <a:lnTo>
                  <a:pt x="97771" y="5034"/>
                </a:lnTo>
                <a:lnTo>
                  <a:pt x="7037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003544" y="2897690"/>
            <a:ext cx="140970" cy="128270"/>
          </a:xfrm>
          <a:custGeom>
            <a:avLst/>
            <a:gdLst/>
            <a:ahLst/>
            <a:cxnLst/>
            <a:rect l="l" t="t" r="r" b="b"/>
            <a:pathLst>
              <a:path w="140969" h="128269">
                <a:moveTo>
                  <a:pt x="0" y="64065"/>
                </a:moveTo>
                <a:lnTo>
                  <a:pt x="5530" y="39128"/>
                </a:lnTo>
                <a:lnTo>
                  <a:pt x="20613" y="18764"/>
                </a:lnTo>
                <a:lnTo>
                  <a:pt x="42983" y="5034"/>
                </a:lnTo>
                <a:lnTo>
                  <a:pt x="70378" y="0"/>
                </a:lnTo>
                <a:lnTo>
                  <a:pt x="97772" y="5034"/>
                </a:lnTo>
                <a:lnTo>
                  <a:pt x="120142" y="18764"/>
                </a:lnTo>
                <a:lnTo>
                  <a:pt x="135225" y="39128"/>
                </a:lnTo>
                <a:lnTo>
                  <a:pt x="140756" y="64065"/>
                </a:lnTo>
                <a:lnTo>
                  <a:pt x="135225" y="89001"/>
                </a:lnTo>
                <a:lnTo>
                  <a:pt x="120142" y="109365"/>
                </a:lnTo>
                <a:lnTo>
                  <a:pt x="97772" y="123095"/>
                </a:lnTo>
                <a:lnTo>
                  <a:pt x="70378" y="128130"/>
                </a:lnTo>
                <a:lnTo>
                  <a:pt x="42983" y="123095"/>
                </a:lnTo>
                <a:lnTo>
                  <a:pt x="20613" y="109365"/>
                </a:lnTo>
                <a:lnTo>
                  <a:pt x="5530" y="89001"/>
                </a:lnTo>
                <a:lnTo>
                  <a:pt x="0" y="64065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104173" y="2741085"/>
            <a:ext cx="140970" cy="128270"/>
          </a:xfrm>
          <a:custGeom>
            <a:avLst/>
            <a:gdLst/>
            <a:ahLst/>
            <a:cxnLst/>
            <a:rect l="l" t="t" r="r" b="b"/>
            <a:pathLst>
              <a:path w="140969" h="128269">
                <a:moveTo>
                  <a:pt x="70378" y="0"/>
                </a:moveTo>
                <a:lnTo>
                  <a:pt x="42983" y="5034"/>
                </a:lnTo>
                <a:lnTo>
                  <a:pt x="20613" y="18764"/>
                </a:lnTo>
                <a:lnTo>
                  <a:pt x="5530" y="39128"/>
                </a:lnTo>
                <a:lnTo>
                  <a:pt x="0" y="64065"/>
                </a:lnTo>
                <a:lnTo>
                  <a:pt x="5530" y="89002"/>
                </a:lnTo>
                <a:lnTo>
                  <a:pt x="20613" y="109366"/>
                </a:lnTo>
                <a:lnTo>
                  <a:pt x="42983" y="123095"/>
                </a:lnTo>
                <a:lnTo>
                  <a:pt x="70378" y="128130"/>
                </a:lnTo>
                <a:lnTo>
                  <a:pt x="97772" y="123095"/>
                </a:lnTo>
                <a:lnTo>
                  <a:pt x="120142" y="109366"/>
                </a:lnTo>
                <a:lnTo>
                  <a:pt x="135225" y="89002"/>
                </a:lnTo>
                <a:lnTo>
                  <a:pt x="140756" y="64065"/>
                </a:lnTo>
                <a:lnTo>
                  <a:pt x="135225" y="39128"/>
                </a:lnTo>
                <a:lnTo>
                  <a:pt x="120142" y="18764"/>
                </a:lnTo>
                <a:lnTo>
                  <a:pt x="97772" y="5034"/>
                </a:lnTo>
                <a:lnTo>
                  <a:pt x="7037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104173" y="2741085"/>
            <a:ext cx="140970" cy="128270"/>
          </a:xfrm>
          <a:custGeom>
            <a:avLst/>
            <a:gdLst/>
            <a:ahLst/>
            <a:cxnLst/>
            <a:rect l="l" t="t" r="r" b="b"/>
            <a:pathLst>
              <a:path w="140969" h="128269">
                <a:moveTo>
                  <a:pt x="0" y="64065"/>
                </a:moveTo>
                <a:lnTo>
                  <a:pt x="5530" y="39128"/>
                </a:lnTo>
                <a:lnTo>
                  <a:pt x="20613" y="18764"/>
                </a:lnTo>
                <a:lnTo>
                  <a:pt x="42983" y="5034"/>
                </a:lnTo>
                <a:lnTo>
                  <a:pt x="70378" y="0"/>
                </a:lnTo>
                <a:lnTo>
                  <a:pt x="97772" y="5034"/>
                </a:lnTo>
                <a:lnTo>
                  <a:pt x="120142" y="18764"/>
                </a:lnTo>
                <a:lnTo>
                  <a:pt x="135225" y="39128"/>
                </a:lnTo>
                <a:lnTo>
                  <a:pt x="140756" y="64065"/>
                </a:lnTo>
                <a:lnTo>
                  <a:pt x="135225" y="89001"/>
                </a:lnTo>
                <a:lnTo>
                  <a:pt x="120142" y="109365"/>
                </a:lnTo>
                <a:lnTo>
                  <a:pt x="97772" y="123095"/>
                </a:lnTo>
                <a:lnTo>
                  <a:pt x="70378" y="128130"/>
                </a:lnTo>
                <a:lnTo>
                  <a:pt x="42983" y="123095"/>
                </a:lnTo>
                <a:lnTo>
                  <a:pt x="20613" y="109365"/>
                </a:lnTo>
                <a:lnTo>
                  <a:pt x="5530" y="89001"/>
                </a:lnTo>
                <a:lnTo>
                  <a:pt x="0" y="64065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551564" y="3361665"/>
            <a:ext cx="140970" cy="128270"/>
          </a:xfrm>
          <a:custGeom>
            <a:avLst/>
            <a:gdLst/>
            <a:ahLst/>
            <a:cxnLst/>
            <a:rect l="l" t="t" r="r" b="b"/>
            <a:pathLst>
              <a:path w="140969" h="128270">
                <a:moveTo>
                  <a:pt x="70377" y="0"/>
                </a:moveTo>
                <a:lnTo>
                  <a:pt x="42983" y="5034"/>
                </a:lnTo>
                <a:lnTo>
                  <a:pt x="20612" y="18764"/>
                </a:lnTo>
                <a:lnTo>
                  <a:pt x="5530" y="39128"/>
                </a:lnTo>
                <a:lnTo>
                  <a:pt x="0" y="64065"/>
                </a:lnTo>
                <a:lnTo>
                  <a:pt x="5530" y="89002"/>
                </a:lnTo>
                <a:lnTo>
                  <a:pt x="20612" y="109366"/>
                </a:lnTo>
                <a:lnTo>
                  <a:pt x="42983" y="123095"/>
                </a:lnTo>
                <a:lnTo>
                  <a:pt x="70377" y="128130"/>
                </a:lnTo>
                <a:lnTo>
                  <a:pt x="97771" y="123095"/>
                </a:lnTo>
                <a:lnTo>
                  <a:pt x="120142" y="109366"/>
                </a:lnTo>
                <a:lnTo>
                  <a:pt x="135224" y="89002"/>
                </a:lnTo>
                <a:lnTo>
                  <a:pt x="140755" y="64065"/>
                </a:lnTo>
                <a:lnTo>
                  <a:pt x="135224" y="39128"/>
                </a:lnTo>
                <a:lnTo>
                  <a:pt x="120142" y="18764"/>
                </a:lnTo>
                <a:lnTo>
                  <a:pt x="97771" y="5034"/>
                </a:lnTo>
                <a:lnTo>
                  <a:pt x="7037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551564" y="3361665"/>
            <a:ext cx="140970" cy="128270"/>
          </a:xfrm>
          <a:custGeom>
            <a:avLst/>
            <a:gdLst/>
            <a:ahLst/>
            <a:cxnLst/>
            <a:rect l="l" t="t" r="r" b="b"/>
            <a:pathLst>
              <a:path w="140969" h="128270">
                <a:moveTo>
                  <a:pt x="0" y="64065"/>
                </a:moveTo>
                <a:lnTo>
                  <a:pt x="5530" y="39128"/>
                </a:lnTo>
                <a:lnTo>
                  <a:pt x="20613" y="18764"/>
                </a:lnTo>
                <a:lnTo>
                  <a:pt x="42983" y="5034"/>
                </a:lnTo>
                <a:lnTo>
                  <a:pt x="70378" y="0"/>
                </a:lnTo>
                <a:lnTo>
                  <a:pt x="97772" y="5034"/>
                </a:lnTo>
                <a:lnTo>
                  <a:pt x="120142" y="18764"/>
                </a:lnTo>
                <a:lnTo>
                  <a:pt x="135225" y="39128"/>
                </a:lnTo>
                <a:lnTo>
                  <a:pt x="140756" y="64065"/>
                </a:lnTo>
                <a:lnTo>
                  <a:pt x="135225" y="89001"/>
                </a:lnTo>
                <a:lnTo>
                  <a:pt x="120142" y="109365"/>
                </a:lnTo>
                <a:lnTo>
                  <a:pt x="97772" y="123095"/>
                </a:lnTo>
                <a:lnTo>
                  <a:pt x="70378" y="128130"/>
                </a:lnTo>
                <a:lnTo>
                  <a:pt x="42983" y="123095"/>
                </a:lnTo>
                <a:lnTo>
                  <a:pt x="20613" y="109365"/>
                </a:lnTo>
                <a:lnTo>
                  <a:pt x="5530" y="89001"/>
                </a:lnTo>
                <a:lnTo>
                  <a:pt x="0" y="64065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48509" y="3063736"/>
            <a:ext cx="140970" cy="128270"/>
          </a:xfrm>
          <a:custGeom>
            <a:avLst/>
            <a:gdLst/>
            <a:ahLst/>
            <a:cxnLst/>
            <a:rect l="l" t="t" r="r" b="b"/>
            <a:pathLst>
              <a:path w="140970" h="128269">
                <a:moveTo>
                  <a:pt x="0" y="64065"/>
                </a:moveTo>
                <a:lnTo>
                  <a:pt x="5530" y="39128"/>
                </a:lnTo>
                <a:lnTo>
                  <a:pt x="20613" y="18764"/>
                </a:lnTo>
                <a:lnTo>
                  <a:pt x="42983" y="5034"/>
                </a:lnTo>
                <a:lnTo>
                  <a:pt x="70378" y="0"/>
                </a:lnTo>
                <a:lnTo>
                  <a:pt x="97772" y="5034"/>
                </a:lnTo>
                <a:lnTo>
                  <a:pt x="120142" y="18764"/>
                </a:lnTo>
                <a:lnTo>
                  <a:pt x="135225" y="39128"/>
                </a:lnTo>
                <a:lnTo>
                  <a:pt x="140756" y="64065"/>
                </a:lnTo>
                <a:lnTo>
                  <a:pt x="135225" y="89001"/>
                </a:lnTo>
                <a:lnTo>
                  <a:pt x="120142" y="109365"/>
                </a:lnTo>
                <a:lnTo>
                  <a:pt x="97772" y="123095"/>
                </a:lnTo>
                <a:lnTo>
                  <a:pt x="70378" y="128130"/>
                </a:lnTo>
                <a:lnTo>
                  <a:pt x="42983" y="123095"/>
                </a:lnTo>
                <a:lnTo>
                  <a:pt x="20613" y="109365"/>
                </a:lnTo>
                <a:lnTo>
                  <a:pt x="5530" y="89001"/>
                </a:lnTo>
                <a:lnTo>
                  <a:pt x="0" y="64065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538683" y="2869478"/>
            <a:ext cx="140970" cy="128270"/>
          </a:xfrm>
          <a:custGeom>
            <a:avLst/>
            <a:gdLst/>
            <a:ahLst/>
            <a:cxnLst/>
            <a:rect l="l" t="t" r="r" b="b"/>
            <a:pathLst>
              <a:path w="140969" h="128269">
                <a:moveTo>
                  <a:pt x="70378" y="0"/>
                </a:moveTo>
                <a:lnTo>
                  <a:pt x="42983" y="5034"/>
                </a:lnTo>
                <a:lnTo>
                  <a:pt x="20613" y="18764"/>
                </a:lnTo>
                <a:lnTo>
                  <a:pt x="5530" y="39128"/>
                </a:lnTo>
                <a:lnTo>
                  <a:pt x="0" y="64065"/>
                </a:lnTo>
                <a:lnTo>
                  <a:pt x="5530" y="89002"/>
                </a:lnTo>
                <a:lnTo>
                  <a:pt x="20613" y="109366"/>
                </a:lnTo>
                <a:lnTo>
                  <a:pt x="42983" y="123095"/>
                </a:lnTo>
                <a:lnTo>
                  <a:pt x="70378" y="128130"/>
                </a:lnTo>
                <a:lnTo>
                  <a:pt x="97772" y="123095"/>
                </a:lnTo>
                <a:lnTo>
                  <a:pt x="120142" y="109366"/>
                </a:lnTo>
                <a:lnTo>
                  <a:pt x="135224" y="89002"/>
                </a:lnTo>
                <a:lnTo>
                  <a:pt x="140755" y="64065"/>
                </a:lnTo>
                <a:lnTo>
                  <a:pt x="135224" y="39128"/>
                </a:lnTo>
                <a:lnTo>
                  <a:pt x="120142" y="18764"/>
                </a:lnTo>
                <a:lnTo>
                  <a:pt x="97772" y="5034"/>
                </a:lnTo>
                <a:lnTo>
                  <a:pt x="7037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538683" y="2869478"/>
            <a:ext cx="140970" cy="128270"/>
          </a:xfrm>
          <a:custGeom>
            <a:avLst/>
            <a:gdLst/>
            <a:ahLst/>
            <a:cxnLst/>
            <a:rect l="l" t="t" r="r" b="b"/>
            <a:pathLst>
              <a:path w="140969" h="128269">
                <a:moveTo>
                  <a:pt x="0" y="64065"/>
                </a:moveTo>
                <a:lnTo>
                  <a:pt x="5530" y="39128"/>
                </a:lnTo>
                <a:lnTo>
                  <a:pt x="20613" y="18764"/>
                </a:lnTo>
                <a:lnTo>
                  <a:pt x="42983" y="5034"/>
                </a:lnTo>
                <a:lnTo>
                  <a:pt x="70378" y="0"/>
                </a:lnTo>
                <a:lnTo>
                  <a:pt x="97772" y="5034"/>
                </a:lnTo>
                <a:lnTo>
                  <a:pt x="120142" y="18764"/>
                </a:lnTo>
                <a:lnTo>
                  <a:pt x="135225" y="39128"/>
                </a:lnTo>
                <a:lnTo>
                  <a:pt x="140756" y="64065"/>
                </a:lnTo>
                <a:lnTo>
                  <a:pt x="135225" y="89001"/>
                </a:lnTo>
                <a:lnTo>
                  <a:pt x="120142" y="109365"/>
                </a:lnTo>
                <a:lnTo>
                  <a:pt x="97772" y="123095"/>
                </a:lnTo>
                <a:lnTo>
                  <a:pt x="70378" y="128130"/>
                </a:lnTo>
                <a:lnTo>
                  <a:pt x="42983" y="123095"/>
                </a:lnTo>
                <a:lnTo>
                  <a:pt x="20613" y="109365"/>
                </a:lnTo>
                <a:lnTo>
                  <a:pt x="5530" y="89001"/>
                </a:lnTo>
                <a:lnTo>
                  <a:pt x="0" y="64065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589910" y="2125979"/>
            <a:ext cx="175958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 b="1">
                <a:latin typeface="Arial"/>
                <a:cs typeface="Arial"/>
              </a:rPr>
              <a:t>Original</a:t>
            </a:r>
            <a:r>
              <a:rPr dirty="0" sz="2000" spc="-100" b="1">
                <a:latin typeface="Arial"/>
                <a:cs typeface="Arial"/>
              </a:rPr>
              <a:t> </a:t>
            </a:r>
            <a:r>
              <a:rPr dirty="0" sz="2000" spc="-5" b="1">
                <a:latin typeface="Arial"/>
                <a:cs typeface="Arial"/>
              </a:rPr>
              <a:t>graph</a:t>
            </a:r>
            <a:endParaRPr sz="20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844011" y="3199165"/>
            <a:ext cx="139065" cy="480059"/>
          </a:xfrm>
          <a:custGeom>
            <a:avLst/>
            <a:gdLst/>
            <a:ahLst/>
            <a:cxnLst/>
            <a:rect l="l" t="t" r="r" b="b"/>
            <a:pathLst>
              <a:path w="139064" h="480060">
                <a:moveTo>
                  <a:pt x="0" y="0"/>
                </a:moveTo>
                <a:lnTo>
                  <a:pt x="138540" y="47989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5032316" y="3170952"/>
            <a:ext cx="347345" cy="527050"/>
          </a:xfrm>
          <a:custGeom>
            <a:avLst/>
            <a:gdLst/>
            <a:ahLst/>
            <a:cxnLst/>
            <a:rect l="l" t="t" r="r" b="b"/>
            <a:pathLst>
              <a:path w="347345" h="527050">
                <a:moveTo>
                  <a:pt x="346835" y="0"/>
                </a:moveTo>
                <a:lnTo>
                  <a:pt x="0" y="52686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964153" y="3125652"/>
            <a:ext cx="394970" cy="28575"/>
          </a:xfrm>
          <a:custGeom>
            <a:avLst/>
            <a:gdLst/>
            <a:ahLst/>
            <a:cxnLst/>
            <a:rect l="l" t="t" r="r" b="b"/>
            <a:pathLst>
              <a:path w="394970" h="28575">
                <a:moveTo>
                  <a:pt x="394383" y="0"/>
                </a:moveTo>
                <a:lnTo>
                  <a:pt x="0" y="2821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5428914" y="3189715"/>
            <a:ext cx="13335" cy="364490"/>
          </a:xfrm>
          <a:custGeom>
            <a:avLst/>
            <a:gdLst/>
            <a:ahLst/>
            <a:cxnLst/>
            <a:rect l="l" t="t" r="r" b="b"/>
            <a:pathLst>
              <a:path w="13335" h="364489">
                <a:moveTo>
                  <a:pt x="0" y="0"/>
                </a:moveTo>
                <a:lnTo>
                  <a:pt x="12883" y="36405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509120" y="3319909"/>
            <a:ext cx="245110" cy="0"/>
          </a:xfrm>
          <a:custGeom>
            <a:avLst/>
            <a:gdLst/>
            <a:ahLst/>
            <a:cxnLst/>
            <a:rect l="l" t="t" r="r" b="b"/>
            <a:pathLst>
              <a:path w="245110" h="0">
                <a:moveTo>
                  <a:pt x="0" y="0"/>
                </a:moveTo>
                <a:lnTo>
                  <a:pt x="244798" y="1"/>
                </a:lnTo>
              </a:path>
            </a:pathLst>
          </a:custGeom>
          <a:ln w="2857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689610" y="3383974"/>
            <a:ext cx="135255" cy="320675"/>
          </a:xfrm>
          <a:custGeom>
            <a:avLst/>
            <a:gdLst/>
            <a:ahLst/>
            <a:cxnLst/>
            <a:rect l="l" t="t" r="r" b="b"/>
            <a:pathLst>
              <a:path w="135254" h="320675">
                <a:moveTo>
                  <a:pt x="0" y="320323"/>
                </a:moveTo>
                <a:lnTo>
                  <a:pt x="134685" y="0"/>
                </a:lnTo>
              </a:path>
            </a:pathLst>
          </a:custGeom>
          <a:ln w="2857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4943539" y="3199165"/>
            <a:ext cx="427990" cy="419100"/>
          </a:xfrm>
          <a:custGeom>
            <a:avLst/>
            <a:gdLst/>
            <a:ahLst/>
            <a:cxnLst/>
            <a:rect l="l" t="t" r="r" b="b"/>
            <a:pathLst>
              <a:path w="427989" h="419100">
                <a:moveTo>
                  <a:pt x="0" y="0"/>
                </a:moveTo>
                <a:lnTo>
                  <a:pt x="427878" y="418675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874060" y="3365210"/>
            <a:ext cx="306705" cy="563245"/>
          </a:xfrm>
          <a:custGeom>
            <a:avLst/>
            <a:gdLst/>
            <a:ahLst/>
            <a:cxnLst/>
            <a:rect l="l" t="t" r="r" b="b"/>
            <a:pathLst>
              <a:path w="306704" h="563245">
                <a:moveTo>
                  <a:pt x="0" y="0"/>
                </a:moveTo>
                <a:lnTo>
                  <a:pt x="306542" y="562859"/>
                </a:lnTo>
              </a:path>
            </a:pathLst>
          </a:custGeom>
          <a:ln w="2857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3894673" y="3319910"/>
            <a:ext cx="1038225" cy="378460"/>
          </a:xfrm>
          <a:custGeom>
            <a:avLst/>
            <a:gdLst/>
            <a:ahLst/>
            <a:cxnLst/>
            <a:rect l="l" t="t" r="r" b="b"/>
            <a:pathLst>
              <a:path w="1038225" h="378460">
                <a:moveTo>
                  <a:pt x="1038113" y="377910"/>
                </a:moveTo>
                <a:lnTo>
                  <a:pt x="0" y="0"/>
                </a:lnTo>
              </a:path>
            </a:pathLst>
          </a:custGeom>
          <a:ln w="2857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5052929" y="3663140"/>
            <a:ext cx="339725" cy="80010"/>
          </a:xfrm>
          <a:custGeom>
            <a:avLst/>
            <a:gdLst/>
            <a:ahLst/>
            <a:cxnLst/>
            <a:rect l="l" t="t" r="r" b="b"/>
            <a:pathLst>
              <a:path w="339725" h="80010">
                <a:moveTo>
                  <a:pt x="0" y="79981"/>
                </a:moveTo>
                <a:lnTo>
                  <a:pt x="339103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3824296" y="3042560"/>
            <a:ext cx="120650" cy="213360"/>
          </a:xfrm>
          <a:custGeom>
            <a:avLst/>
            <a:gdLst/>
            <a:ahLst/>
            <a:cxnLst/>
            <a:rect l="l" t="t" r="r" b="b"/>
            <a:pathLst>
              <a:path w="120650" h="213360">
                <a:moveTo>
                  <a:pt x="0" y="213285"/>
                </a:moveTo>
                <a:lnTo>
                  <a:pt x="120345" y="0"/>
                </a:lnTo>
              </a:path>
            </a:pathLst>
          </a:custGeom>
          <a:ln w="2857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753918" y="3255845"/>
            <a:ext cx="140970" cy="128270"/>
          </a:xfrm>
          <a:custGeom>
            <a:avLst/>
            <a:gdLst/>
            <a:ahLst/>
            <a:cxnLst/>
            <a:rect l="l" t="t" r="r" b="b"/>
            <a:pathLst>
              <a:path w="140970" h="128270">
                <a:moveTo>
                  <a:pt x="70377" y="0"/>
                </a:moveTo>
                <a:lnTo>
                  <a:pt x="42983" y="5034"/>
                </a:lnTo>
                <a:lnTo>
                  <a:pt x="20612" y="18764"/>
                </a:lnTo>
                <a:lnTo>
                  <a:pt x="5530" y="39128"/>
                </a:lnTo>
                <a:lnTo>
                  <a:pt x="0" y="64065"/>
                </a:lnTo>
                <a:lnTo>
                  <a:pt x="5530" y="89002"/>
                </a:lnTo>
                <a:lnTo>
                  <a:pt x="20612" y="109366"/>
                </a:lnTo>
                <a:lnTo>
                  <a:pt x="42983" y="123095"/>
                </a:lnTo>
                <a:lnTo>
                  <a:pt x="70377" y="128130"/>
                </a:lnTo>
                <a:lnTo>
                  <a:pt x="97771" y="123095"/>
                </a:lnTo>
                <a:lnTo>
                  <a:pt x="120142" y="109366"/>
                </a:lnTo>
                <a:lnTo>
                  <a:pt x="135224" y="89002"/>
                </a:lnTo>
                <a:lnTo>
                  <a:pt x="140755" y="64065"/>
                </a:lnTo>
                <a:lnTo>
                  <a:pt x="135224" y="39128"/>
                </a:lnTo>
                <a:lnTo>
                  <a:pt x="120142" y="18764"/>
                </a:lnTo>
                <a:lnTo>
                  <a:pt x="97771" y="5034"/>
                </a:lnTo>
                <a:lnTo>
                  <a:pt x="7037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3753918" y="3255845"/>
            <a:ext cx="140970" cy="128270"/>
          </a:xfrm>
          <a:custGeom>
            <a:avLst/>
            <a:gdLst/>
            <a:ahLst/>
            <a:cxnLst/>
            <a:rect l="l" t="t" r="r" b="b"/>
            <a:pathLst>
              <a:path w="140970" h="128270">
                <a:moveTo>
                  <a:pt x="0" y="64065"/>
                </a:moveTo>
                <a:lnTo>
                  <a:pt x="5530" y="39128"/>
                </a:lnTo>
                <a:lnTo>
                  <a:pt x="20613" y="18764"/>
                </a:lnTo>
                <a:lnTo>
                  <a:pt x="42983" y="5034"/>
                </a:lnTo>
                <a:lnTo>
                  <a:pt x="70378" y="0"/>
                </a:lnTo>
                <a:lnTo>
                  <a:pt x="97772" y="5034"/>
                </a:lnTo>
                <a:lnTo>
                  <a:pt x="120142" y="18764"/>
                </a:lnTo>
                <a:lnTo>
                  <a:pt x="135225" y="39128"/>
                </a:lnTo>
                <a:lnTo>
                  <a:pt x="140756" y="64065"/>
                </a:lnTo>
                <a:lnTo>
                  <a:pt x="135225" y="89001"/>
                </a:lnTo>
                <a:lnTo>
                  <a:pt x="120142" y="109365"/>
                </a:lnTo>
                <a:lnTo>
                  <a:pt x="97772" y="123095"/>
                </a:lnTo>
                <a:lnTo>
                  <a:pt x="70378" y="128130"/>
                </a:lnTo>
                <a:lnTo>
                  <a:pt x="42983" y="123095"/>
                </a:lnTo>
                <a:lnTo>
                  <a:pt x="20613" y="109365"/>
                </a:lnTo>
                <a:lnTo>
                  <a:pt x="5530" y="89001"/>
                </a:lnTo>
                <a:lnTo>
                  <a:pt x="0" y="64065"/>
                </a:lnTo>
                <a:close/>
              </a:path>
            </a:pathLst>
          </a:custGeom>
          <a:ln w="38100">
            <a:solidFill>
              <a:srgbClr val="E1F1E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4159987" y="3909304"/>
            <a:ext cx="140970" cy="128270"/>
          </a:xfrm>
          <a:custGeom>
            <a:avLst/>
            <a:gdLst/>
            <a:ahLst/>
            <a:cxnLst/>
            <a:rect l="l" t="t" r="r" b="b"/>
            <a:pathLst>
              <a:path w="140970" h="128270">
                <a:moveTo>
                  <a:pt x="70378" y="0"/>
                </a:moveTo>
                <a:lnTo>
                  <a:pt x="42983" y="5034"/>
                </a:lnTo>
                <a:lnTo>
                  <a:pt x="20613" y="18764"/>
                </a:lnTo>
                <a:lnTo>
                  <a:pt x="5530" y="39128"/>
                </a:lnTo>
                <a:lnTo>
                  <a:pt x="0" y="64065"/>
                </a:lnTo>
                <a:lnTo>
                  <a:pt x="5530" y="89002"/>
                </a:lnTo>
                <a:lnTo>
                  <a:pt x="20613" y="109366"/>
                </a:lnTo>
                <a:lnTo>
                  <a:pt x="42983" y="123095"/>
                </a:lnTo>
                <a:lnTo>
                  <a:pt x="70378" y="128130"/>
                </a:lnTo>
                <a:lnTo>
                  <a:pt x="97772" y="123095"/>
                </a:lnTo>
                <a:lnTo>
                  <a:pt x="120142" y="109366"/>
                </a:lnTo>
                <a:lnTo>
                  <a:pt x="135224" y="89002"/>
                </a:lnTo>
                <a:lnTo>
                  <a:pt x="140755" y="64065"/>
                </a:lnTo>
                <a:lnTo>
                  <a:pt x="135224" y="39128"/>
                </a:lnTo>
                <a:lnTo>
                  <a:pt x="120142" y="18764"/>
                </a:lnTo>
                <a:lnTo>
                  <a:pt x="97772" y="5034"/>
                </a:lnTo>
                <a:lnTo>
                  <a:pt x="7037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4159987" y="3909304"/>
            <a:ext cx="140970" cy="128270"/>
          </a:xfrm>
          <a:custGeom>
            <a:avLst/>
            <a:gdLst/>
            <a:ahLst/>
            <a:cxnLst/>
            <a:rect l="l" t="t" r="r" b="b"/>
            <a:pathLst>
              <a:path w="140970" h="128270">
                <a:moveTo>
                  <a:pt x="0" y="64065"/>
                </a:moveTo>
                <a:lnTo>
                  <a:pt x="5530" y="39128"/>
                </a:lnTo>
                <a:lnTo>
                  <a:pt x="20613" y="18764"/>
                </a:lnTo>
                <a:lnTo>
                  <a:pt x="42983" y="5034"/>
                </a:lnTo>
                <a:lnTo>
                  <a:pt x="70378" y="0"/>
                </a:lnTo>
                <a:lnTo>
                  <a:pt x="97772" y="5034"/>
                </a:lnTo>
                <a:lnTo>
                  <a:pt x="120142" y="18764"/>
                </a:lnTo>
                <a:lnTo>
                  <a:pt x="135225" y="39128"/>
                </a:lnTo>
                <a:lnTo>
                  <a:pt x="140756" y="64065"/>
                </a:lnTo>
                <a:lnTo>
                  <a:pt x="135225" y="89001"/>
                </a:lnTo>
                <a:lnTo>
                  <a:pt x="120142" y="109365"/>
                </a:lnTo>
                <a:lnTo>
                  <a:pt x="97772" y="123095"/>
                </a:lnTo>
                <a:lnTo>
                  <a:pt x="70378" y="128130"/>
                </a:lnTo>
                <a:lnTo>
                  <a:pt x="42983" y="123095"/>
                </a:lnTo>
                <a:lnTo>
                  <a:pt x="20613" y="109365"/>
                </a:lnTo>
                <a:lnTo>
                  <a:pt x="5530" y="89001"/>
                </a:lnTo>
                <a:lnTo>
                  <a:pt x="0" y="64065"/>
                </a:lnTo>
                <a:close/>
              </a:path>
            </a:pathLst>
          </a:custGeom>
          <a:ln w="38100">
            <a:solidFill>
              <a:srgbClr val="E1F1E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3619233" y="3704297"/>
            <a:ext cx="140970" cy="128270"/>
          </a:xfrm>
          <a:custGeom>
            <a:avLst/>
            <a:gdLst/>
            <a:ahLst/>
            <a:cxnLst/>
            <a:rect l="l" t="t" r="r" b="b"/>
            <a:pathLst>
              <a:path w="140970" h="128270">
                <a:moveTo>
                  <a:pt x="70377" y="0"/>
                </a:moveTo>
                <a:lnTo>
                  <a:pt x="42983" y="5034"/>
                </a:lnTo>
                <a:lnTo>
                  <a:pt x="20612" y="18764"/>
                </a:lnTo>
                <a:lnTo>
                  <a:pt x="5530" y="39128"/>
                </a:lnTo>
                <a:lnTo>
                  <a:pt x="0" y="64065"/>
                </a:lnTo>
                <a:lnTo>
                  <a:pt x="5530" y="89002"/>
                </a:lnTo>
                <a:lnTo>
                  <a:pt x="20612" y="109366"/>
                </a:lnTo>
                <a:lnTo>
                  <a:pt x="42983" y="123095"/>
                </a:lnTo>
                <a:lnTo>
                  <a:pt x="70377" y="128130"/>
                </a:lnTo>
                <a:lnTo>
                  <a:pt x="97771" y="123095"/>
                </a:lnTo>
                <a:lnTo>
                  <a:pt x="120142" y="109366"/>
                </a:lnTo>
                <a:lnTo>
                  <a:pt x="135224" y="89002"/>
                </a:lnTo>
                <a:lnTo>
                  <a:pt x="140755" y="64065"/>
                </a:lnTo>
                <a:lnTo>
                  <a:pt x="135224" y="39128"/>
                </a:lnTo>
                <a:lnTo>
                  <a:pt x="120142" y="18764"/>
                </a:lnTo>
                <a:lnTo>
                  <a:pt x="97771" y="5034"/>
                </a:lnTo>
                <a:lnTo>
                  <a:pt x="7037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3619233" y="3704297"/>
            <a:ext cx="140970" cy="128270"/>
          </a:xfrm>
          <a:custGeom>
            <a:avLst/>
            <a:gdLst/>
            <a:ahLst/>
            <a:cxnLst/>
            <a:rect l="l" t="t" r="r" b="b"/>
            <a:pathLst>
              <a:path w="140970" h="128270">
                <a:moveTo>
                  <a:pt x="0" y="64065"/>
                </a:moveTo>
                <a:lnTo>
                  <a:pt x="5530" y="39128"/>
                </a:lnTo>
                <a:lnTo>
                  <a:pt x="20613" y="18764"/>
                </a:lnTo>
                <a:lnTo>
                  <a:pt x="42983" y="5034"/>
                </a:lnTo>
                <a:lnTo>
                  <a:pt x="70378" y="0"/>
                </a:lnTo>
                <a:lnTo>
                  <a:pt x="97772" y="5034"/>
                </a:lnTo>
                <a:lnTo>
                  <a:pt x="120142" y="18764"/>
                </a:lnTo>
                <a:lnTo>
                  <a:pt x="135225" y="39128"/>
                </a:lnTo>
                <a:lnTo>
                  <a:pt x="140756" y="64065"/>
                </a:lnTo>
                <a:lnTo>
                  <a:pt x="135225" y="89001"/>
                </a:lnTo>
                <a:lnTo>
                  <a:pt x="120142" y="109365"/>
                </a:lnTo>
                <a:lnTo>
                  <a:pt x="97772" y="123095"/>
                </a:lnTo>
                <a:lnTo>
                  <a:pt x="70378" y="128130"/>
                </a:lnTo>
                <a:lnTo>
                  <a:pt x="42983" y="123095"/>
                </a:lnTo>
                <a:lnTo>
                  <a:pt x="20613" y="109365"/>
                </a:lnTo>
                <a:lnTo>
                  <a:pt x="5530" y="89001"/>
                </a:lnTo>
                <a:lnTo>
                  <a:pt x="0" y="64065"/>
                </a:lnTo>
                <a:close/>
              </a:path>
            </a:pathLst>
          </a:custGeom>
          <a:ln w="38100">
            <a:solidFill>
              <a:srgbClr val="E1F1E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4912173" y="3679056"/>
            <a:ext cx="140970" cy="128270"/>
          </a:xfrm>
          <a:custGeom>
            <a:avLst/>
            <a:gdLst/>
            <a:ahLst/>
            <a:cxnLst/>
            <a:rect l="l" t="t" r="r" b="b"/>
            <a:pathLst>
              <a:path w="140970" h="128270">
                <a:moveTo>
                  <a:pt x="70378" y="0"/>
                </a:moveTo>
                <a:lnTo>
                  <a:pt x="42984" y="5034"/>
                </a:lnTo>
                <a:lnTo>
                  <a:pt x="20613" y="18764"/>
                </a:lnTo>
                <a:lnTo>
                  <a:pt x="5530" y="39128"/>
                </a:lnTo>
                <a:lnTo>
                  <a:pt x="0" y="64065"/>
                </a:lnTo>
                <a:lnTo>
                  <a:pt x="5530" y="89002"/>
                </a:lnTo>
                <a:lnTo>
                  <a:pt x="20613" y="109366"/>
                </a:lnTo>
                <a:lnTo>
                  <a:pt x="42984" y="123095"/>
                </a:lnTo>
                <a:lnTo>
                  <a:pt x="70378" y="128130"/>
                </a:lnTo>
                <a:lnTo>
                  <a:pt x="97772" y="123095"/>
                </a:lnTo>
                <a:lnTo>
                  <a:pt x="120143" y="109366"/>
                </a:lnTo>
                <a:lnTo>
                  <a:pt x="135225" y="89002"/>
                </a:lnTo>
                <a:lnTo>
                  <a:pt x="140756" y="64065"/>
                </a:lnTo>
                <a:lnTo>
                  <a:pt x="135225" y="39128"/>
                </a:lnTo>
                <a:lnTo>
                  <a:pt x="120143" y="18764"/>
                </a:lnTo>
                <a:lnTo>
                  <a:pt x="97772" y="5034"/>
                </a:lnTo>
                <a:lnTo>
                  <a:pt x="70378" y="0"/>
                </a:lnTo>
                <a:close/>
              </a:path>
            </a:pathLst>
          </a:custGeom>
          <a:solidFill>
            <a:srgbClr val="A6D4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4912173" y="3679056"/>
            <a:ext cx="140970" cy="128270"/>
          </a:xfrm>
          <a:custGeom>
            <a:avLst/>
            <a:gdLst/>
            <a:ahLst/>
            <a:cxnLst/>
            <a:rect l="l" t="t" r="r" b="b"/>
            <a:pathLst>
              <a:path w="140970" h="128270">
                <a:moveTo>
                  <a:pt x="0" y="64065"/>
                </a:moveTo>
                <a:lnTo>
                  <a:pt x="5530" y="39128"/>
                </a:lnTo>
                <a:lnTo>
                  <a:pt x="20613" y="18764"/>
                </a:lnTo>
                <a:lnTo>
                  <a:pt x="42983" y="5034"/>
                </a:lnTo>
                <a:lnTo>
                  <a:pt x="70378" y="0"/>
                </a:lnTo>
                <a:lnTo>
                  <a:pt x="97772" y="5034"/>
                </a:lnTo>
                <a:lnTo>
                  <a:pt x="120142" y="18764"/>
                </a:lnTo>
                <a:lnTo>
                  <a:pt x="135225" y="39128"/>
                </a:lnTo>
                <a:lnTo>
                  <a:pt x="140756" y="64065"/>
                </a:lnTo>
                <a:lnTo>
                  <a:pt x="135225" y="89001"/>
                </a:lnTo>
                <a:lnTo>
                  <a:pt x="120142" y="109365"/>
                </a:lnTo>
                <a:lnTo>
                  <a:pt x="97772" y="123095"/>
                </a:lnTo>
                <a:lnTo>
                  <a:pt x="70378" y="128130"/>
                </a:lnTo>
                <a:lnTo>
                  <a:pt x="42983" y="123095"/>
                </a:lnTo>
                <a:lnTo>
                  <a:pt x="20613" y="109365"/>
                </a:lnTo>
                <a:lnTo>
                  <a:pt x="5530" y="89001"/>
                </a:lnTo>
                <a:lnTo>
                  <a:pt x="0" y="64065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4823396" y="3089799"/>
            <a:ext cx="140970" cy="128270"/>
          </a:xfrm>
          <a:custGeom>
            <a:avLst/>
            <a:gdLst/>
            <a:ahLst/>
            <a:cxnLst/>
            <a:rect l="l" t="t" r="r" b="b"/>
            <a:pathLst>
              <a:path w="140970" h="128269">
                <a:moveTo>
                  <a:pt x="70378" y="0"/>
                </a:moveTo>
                <a:lnTo>
                  <a:pt x="42984" y="5034"/>
                </a:lnTo>
                <a:lnTo>
                  <a:pt x="20613" y="18764"/>
                </a:lnTo>
                <a:lnTo>
                  <a:pt x="5530" y="39128"/>
                </a:lnTo>
                <a:lnTo>
                  <a:pt x="0" y="64065"/>
                </a:lnTo>
                <a:lnTo>
                  <a:pt x="5530" y="89002"/>
                </a:lnTo>
                <a:lnTo>
                  <a:pt x="20613" y="109366"/>
                </a:lnTo>
                <a:lnTo>
                  <a:pt x="42984" y="123095"/>
                </a:lnTo>
                <a:lnTo>
                  <a:pt x="70378" y="128130"/>
                </a:lnTo>
                <a:lnTo>
                  <a:pt x="97772" y="123095"/>
                </a:lnTo>
                <a:lnTo>
                  <a:pt x="120143" y="109366"/>
                </a:lnTo>
                <a:lnTo>
                  <a:pt x="135225" y="89002"/>
                </a:lnTo>
                <a:lnTo>
                  <a:pt x="140756" y="64065"/>
                </a:lnTo>
                <a:lnTo>
                  <a:pt x="135225" y="39128"/>
                </a:lnTo>
                <a:lnTo>
                  <a:pt x="120143" y="18764"/>
                </a:lnTo>
                <a:lnTo>
                  <a:pt x="97772" y="5034"/>
                </a:lnTo>
                <a:lnTo>
                  <a:pt x="70378" y="0"/>
                </a:lnTo>
                <a:close/>
              </a:path>
            </a:pathLst>
          </a:custGeom>
          <a:solidFill>
            <a:srgbClr val="A6D4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4823396" y="3089799"/>
            <a:ext cx="140970" cy="128270"/>
          </a:xfrm>
          <a:custGeom>
            <a:avLst/>
            <a:gdLst/>
            <a:ahLst/>
            <a:cxnLst/>
            <a:rect l="l" t="t" r="r" b="b"/>
            <a:pathLst>
              <a:path w="140970" h="128269">
                <a:moveTo>
                  <a:pt x="0" y="64065"/>
                </a:moveTo>
                <a:lnTo>
                  <a:pt x="5530" y="39128"/>
                </a:lnTo>
                <a:lnTo>
                  <a:pt x="20613" y="18764"/>
                </a:lnTo>
                <a:lnTo>
                  <a:pt x="42983" y="5034"/>
                </a:lnTo>
                <a:lnTo>
                  <a:pt x="70378" y="0"/>
                </a:lnTo>
                <a:lnTo>
                  <a:pt x="97772" y="5034"/>
                </a:lnTo>
                <a:lnTo>
                  <a:pt x="120142" y="18764"/>
                </a:lnTo>
                <a:lnTo>
                  <a:pt x="135225" y="39128"/>
                </a:lnTo>
                <a:lnTo>
                  <a:pt x="140756" y="64065"/>
                </a:lnTo>
                <a:lnTo>
                  <a:pt x="135225" y="89001"/>
                </a:lnTo>
                <a:lnTo>
                  <a:pt x="120142" y="109365"/>
                </a:lnTo>
                <a:lnTo>
                  <a:pt x="97772" y="123095"/>
                </a:lnTo>
                <a:lnTo>
                  <a:pt x="70378" y="128130"/>
                </a:lnTo>
                <a:lnTo>
                  <a:pt x="42983" y="123095"/>
                </a:lnTo>
                <a:lnTo>
                  <a:pt x="20613" y="109365"/>
                </a:lnTo>
                <a:lnTo>
                  <a:pt x="5530" y="89001"/>
                </a:lnTo>
                <a:lnTo>
                  <a:pt x="0" y="64065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3924028" y="2933194"/>
            <a:ext cx="140970" cy="128270"/>
          </a:xfrm>
          <a:custGeom>
            <a:avLst/>
            <a:gdLst/>
            <a:ahLst/>
            <a:cxnLst/>
            <a:rect l="l" t="t" r="r" b="b"/>
            <a:pathLst>
              <a:path w="140970" h="128269">
                <a:moveTo>
                  <a:pt x="70378" y="0"/>
                </a:moveTo>
                <a:lnTo>
                  <a:pt x="42983" y="5034"/>
                </a:lnTo>
                <a:lnTo>
                  <a:pt x="20613" y="18764"/>
                </a:lnTo>
                <a:lnTo>
                  <a:pt x="5530" y="39128"/>
                </a:lnTo>
                <a:lnTo>
                  <a:pt x="0" y="64065"/>
                </a:lnTo>
                <a:lnTo>
                  <a:pt x="5530" y="89002"/>
                </a:lnTo>
                <a:lnTo>
                  <a:pt x="20613" y="109366"/>
                </a:lnTo>
                <a:lnTo>
                  <a:pt x="42983" y="123095"/>
                </a:lnTo>
                <a:lnTo>
                  <a:pt x="70378" y="128130"/>
                </a:lnTo>
                <a:lnTo>
                  <a:pt x="97772" y="123095"/>
                </a:lnTo>
                <a:lnTo>
                  <a:pt x="120142" y="109366"/>
                </a:lnTo>
                <a:lnTo>
                  <a:pt x="135224" y="89002"/>
                </a:lnTo>
                <a:lnTo>
                  <a:pt x="140755" y="64065"/>
                </a:lnTo>
                <a:lnTo>
                  <a:pt x="135224" y="39128"/>
                </a:lnTo>
                <a:lnTo>
                  <a:pt x="120142" y="18764"/>
                </a:lnTo>
                <a:lnTo>
                  <a:pt x="97772" y="5034"/>
                </a:lnTo>
                <a:lnTo>
                  <a:pt x="7037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3924028" y="2933194"/>
            <a:ext cx="140970" cy="128270"/>
          </a:xfrm>
          <a:custGeom>
            <a:avLst/>
            <a:gdLst/>
            <a:ahLst/>
            <a:cxnLst/>
            <a:rect l="l" t="t" r="r" b="b"/>
            <a:pathLst>
              <a:path w="140970" h="128269">
                <a:moveTo>
                  <a:pt x="0" y="64065"/>
                </a:moveTo>
                <a:lnTo>
                  <a:pt x="5530" y="39128"/>
                </a:lnTo>
                <a:lnTo>
                  <a:pt x="20613" y="18764"/>
                </a:lnTo>
                <a:lnTo>
                  <a:pt x="42983" y="5034"/>
                </a:lnTo>
                <a:lnTo>
                  <a:pt x="70378" y="0"/>
                </a:lnTo>
                <a:lnTo>
                  <a:pt x="97772" y="5034"/>
                </a:lnTo>
                <a:lnTo>
                  <a:pt x="120142" y="18764"/>
                </a:lnTo>
                <a:lnTo>
                  <a:pt x="135225" y="39128"/>
                </a:lnTo>
                <a:lnTo>
                  <a:pt x="140756" y="64065"/>
                </a:lnTo>
                <a:lnTo>
                  <a:pt x="135225" y="89001"/>
                </a:lnTo>
                <a:lnTo>
                  <a:pt x="120142" y="109365"/>
                </a:lnTo>
                <a:lnTo>
                  <a:pt x="97772" y="123095"/>
                </a:lnTo>
                <a:lnTo>
                  <a:pt x="70378" y="128130"/>
                </a:lnTo>
                <a:lnTo>
                  <a:pt x="42983" y="123095"/>
                </a:lnTo>
                <a:lnTo>
                  <a:pt x="20613" y="109365"/>
                </a:lnTo>
                <a:lnTo>
                  <a:pt x="5530" y="89001"/>
                </a:lnTo>
                <a:lnTo>
                  <a:pt x="0" y="64065"/>
                </a:lnTo>
                <a:close/>
              </a:path>
            </a:pathLst>
          </a:custGeom>
          <a:ln w="38100">
            <a:solidFill>
              <a:srgbClr val="E1F1E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5371417" y="3553774"/>
            <a:ext cx="140970" cy="128270"/>
          </a:xfrm>
          <a:custGeom>
            <a:avLst/>
            <a:gdLst/>
            <a:ahLst/>
            <a:cxnLst/>
            <a:rect l="l" t="t" r="r" b="b"/>
            <a:pathLst>
              <a:path w="140970" h="128270">
                <a:moveTo>
                  <a:pt x="70378" y="0"/>
                </a:moveTo>
                <a:lnTo>
                  <a:pt x="42983" y="5034"/>
                </a:lnTo>
                <a:lnTo>
                  <a:pt x="20613" y="18764"/>
                </a:lnTo>
                <a:lnTo>
                  <a:pt x="5530" y="39128"/>
                </a:lnTo>
                <a:lnTo>
                  <a:pt x="0" y="64065"/>
                </a:lnTo>
                <a:lnTo>
                  <a:pt x="5530" y="89002"/>
                </a:lnTo>
                <a:lnTo>
                  <a:pt x="20613" y="109366"/>
                </a:lnTo>
                <a:lnTo>
                  <a:pt x="42983" y="123095"/>
                </a:lnTo>
                <a:lnTo>
                  <a:pt x="70378" y="128130"/>
                </a:lnTo>
                <a:lnTo>
                  <a:pt x="97772" y="123095"/>
                </a:lnTo>
                <a:lnTo>
                  <a:pt x="120142" y="109366"/>
                </a:lnTo>
                <a:lnTo>
                  <a:pt x="135224" y="89002"/>
                </a:lnTo>
                <a:lnTo>
                  <a:pt x="140755" y="64065"/>
                </a:lnTo>
                <a:lnTo>
                  <a:pt x="135224" y="39128"/>
                </a:lnTo>
                <a:lnTo>
                  <a:pt x="120142" y="18764"/>
                </a:lnTo>
                <a:lnTo>
                  <a:pt x="97772" y="5034"/>
                </a:lnTo>
                <a:lnTo>
                  <a:pt x="70378" y="0"/>
                </a:lnTo>
                <a:close/>
              </a:path>
            </a:pathLst>
          </a:custGeom>
          <a:solidFill>
            <a:srgbClr val="A6D4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5371417" y="3553774"/>
            <a:ext cx="140970" cy="128270"/>
          </a:xfrm>
          <a:custGeom>
            <a:avLst/>
            <a:gdLst/>
            <a:ahLst/>
            <a:cxnLst/>
            <a:rect l="l" t="t" r="r" b="b"/>
            <a:pathLst>
              <a:path w="140970" h="128270">
                <a:moveTo>
                  <a:pt x="0" y="64065"/>
                </a:moveTo>
                <a:lnTo>
                  <a:pt x="5530" y="39128"/>
                </a:lnTo>
                <a:lnTo>
                  <a:pt x="20613" y="18764"/>
                </a:lnTo>
                <a:lnTo>
                  <a:pt x="42983" y="5034"/>
                </a:lnTo>
                <a:lnTo>
                  <a:pt x="70378" y="0"/>
                </a:lnTo>
                <a:lnTo>
                  <a:pt x="97772" y="5034"/>
                </a:lnTo>
                <a:lnTo>
                  <a:pt x="120142" y="18764"/>
                </a:lnTo>
                <a:lnTo>
                  <a:pt x="135225" y="39128"/>
                </a:lnTo>
                <a:lnTo>
                  <a:pt x="140756" y="64065"/>
                </a:lnTo>
                <a:lnTo>
                  <a:pt x="135225" y="89001"/>
                </a:lnTo>
                <a:lnTo>
                  <a:pt x="120142" y="109365"/>
                </a:lnTo>
                <a:lnTo>
                  <a:pt x="97772" y="123095"/>
                </a:lnTo>
                <a:lnTo>
                  <a:pt x="70378" y="128130"/>
                </a:lnTo>
                <a:lnTo>
                  <a:pt x="42983" y="123095"/>
                </a:lnTo>
                <a:lnTo>
                  <a:pt x="20613" y="109365"/>
                </a:lnTo>
                <a:lnTo>
                  <a:pt x="5530" y="89001"/>
                </a:lnTo>
                <a:lnTo>
                  <a:pt x="0" y="64065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3368362" y="3255845"/>
            <a:ext cx="140970" cy="128270"/>
          </a:xfrm>
          <a:custGeom>
            <a:avLst/>
            <a:gdLst/>
            <a:ahLst/>
            <a:cxnLst/>
            <a:rect l="l" t="t" r="r" b="b"/>
            <a:pathLst>
              <a:path w="140970" h="128270">
                <a:moveTo>
                  <a:pt x="0" y="64065"/>
                </a:moveTo>
                <a:lnTo>
                  <a:pt x="5530" y="39128"/>
                </a:lnTo>
                <a:lnTo>
                  <a:pt x="20613" y="18764"/>
                </a:lnTo>
                <a:lnTo>
                  <a:pt x="42983" y="5034"/>
                </a:lnTo>
                <a:lnTo>
                  <a:pt x="70378" y="0"/>
                </a:lnTo>
                <a:lnTo>
                  <a:pt x="97772" y="5034"/>
                </a:lnTo>
                <a:lnTo>
                  <a:pt x="120142" y="18764"/>
                </a:lnTo>
                <a:lnTo>
                  <a:pt x="135225" y="39128"/>
                </a:lnTo>
                <a:lnTo>
                  <a:pt x="140756" y="64065"/>
                </a:lnTo>
                <a:lnTo>
                  <a:pt x="135225" y="89001"/>
                </a:lnTo>
                <a:lnTo>
                  <a:pt x="120142" y="109365"/>
                </a:lnTo>
                <a:lnTo>
                  <a:pt x="97772" y="123095"/>
                </a:lnTo>
                <a:lnTo>
                  <a:pt x="70378" y="128130"/>
                </a:lnTo>
                <a:lnTo>
                  <a:pt x="42983" y="123095"/>
                </a:lnTo>
                <a:lnTo>
                  <a:pt x="20613" y="109365"/>
                </a:lnTo>
                <a:lnTo>
                  <a:pt x="5530" y="89001"/>
                </a:lnTo>
                <a:lnTo>
                  <a:pt x="0" y="64065"/>
                </a:lnTo>
                <a:close/>
              </a:path>
            </a:pathLst>
          </a:custGeom>
          <a:ln w="38100">
            <a:solidFill>
              <a:srgbClr val="E1F1E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5358536" y="3061587"/>
            <a:ext cx="140970" cy="128270"/>
          </a:xfrm>
          <a:custGeom>
            <a:avLst/>
            <a:gdLst/>
            <a:ahLst/>
            <a:cxnLst/>
            <a:rect l="l" t="t" r="r" b="b"/>
            <a:pathLst>
              <a:path w="140970" h="128269">
                <a:moveTo>
                  <a:pt x="70378" y="0"/>
                </a:moveTo>
                <a:lnTo>
                  <a:pt x="42984" y="5034"/>
                </a:lnTo>
                <a:lnTo>
                  <a:pt x="20613" y="18764"/>
                </a:lnTo>
                <a:lnTo>
                  <a:pt x="5530" y="39128"/>
                </a:lnTo>
                <a:lnTo>
                  <a:pt x="0" y="64065"/>
                </a:lnTo>
                <a:lnTo>
                  <a:pt x="5530" y="89002"/>
                </a:lnTo>
                <a:lnTo>
                  <a:pt x="20613" y="109366"/>
                </a:lnTo>
                <a:lnTo>
                  <a:pt x="42984" y="123095"/>
                </a:lnTo>
                <a:lnTo>
                  <a:pt x="70378" y="128130"/>
                </a:lnTo>
                <a:lnTo>
                  <a:pt x="97772" y="123095"/>
                </a:lnTo>
                <a:lnTo>
                  <a:pt x="120143" y="109366"/>
                </a:lnTo>
                <a:lnTo>
                  <a:pt x="135225" y="89002"/>
                </a:lnTo>
                <a:lnTo>
                  <a:pt x="140756" y="64065"/>
                </a:lnTo>
                <a:lnTo>
                  <a:pt x="135225" y="39128"/>
                </a:lnTo>
                <a:lnTo>
                  <a:pt x="120143" y="18764"/>
                </a:lnTo>
                <a:lnTo>
                  <a:pt x="97772" y="5034"/>
                </a:lnTo>
                <a:lnTo>
                  <a:pt x="70378" y="0"/>
                </a:lnTo>
                <a:close/>
              </a:path>
            </a:pathLst>
          </a:custGeom>
          <a:solidFill>
            <a:srgbClr val="A6D4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5358536" y="3061587"/>
            <a:ext cx="140970" cy="128270"/>
          </a:xfrm>
          <a:custGeom>
            <a:avLst/>
            <a:gdLst/>
            <a:ahLst/>
            <a:cxnLst/>
            <a:rect l="l" t="t" r="r" b="b"/>
            <a:pathLst>
              <a:path w="140970" h="128269">
                <a:moveTo>
                  <a:pt x="0" y="64065"/>
                </a:moveTo>
                <a:lnTo>
                  <a:pt x="5530" y="39128"/>
                </a:lnTo>
                <a:lnTo>
                  <a:pt x="20613" y="18764"/>
                </a:lnTo>
                <a:lnTo>
                  <a:pt x="42983" y="5034"/>
                </a:lnTo>
                <a:lnTo>
                  <a:pt x="70378" y="0"/>
                </a:lnTo>
                <a:lnTo>
                  <a:pt x="97772" y="5034"/>
                </a:lnTo>
                <a:lnTo>
                  <a:pt x="120142" y="18764"/>
                </a:lnTo>
                <a:lnTo>
                  <a:pt x="135225" y="39128"/>
                </a:lnTo>
                <a:lnTo>
                  <a:pt x="140756" y="64065"/>
                </a:lnTo>
                <a:lnTo>
                  <a:pt x="135225" y="89001"/>
                </a:lnTo>
                <a:lnTo>
                  <a:pt x="120142" y="109365"/>
                </a:lnTo>
                <a:lnTo>
                  <a:pt x="97772" y="123095"/>
                </a:lnTo>
                <a:lnTo>
                  <a:pt x="70378" y="128130"/>
                </a:lnTo>
                <a:lnTo>
                  <a:pt x="42983" y="123095"/>
                </a:lnTo>
                <a:lnTo>
                  <a:pt x="20613" y="109365"/>
                </a:lnTo>
                <a:lnTo>
                  <a:pt x="5530" y="89001"/>
                </a:lnTo>
                <a:lnTo>
                  <a:pt x="0" y="64065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8247236" y="3199165"/>
            <a:ext cx="139065" cy="480059"/>
          </a:xfrm>
          <a:custGeom>
            <a:avLst/>
            <a:gdLst/>
            <a:ahLst/>
            <a:cxnLst/>
            <a:rect l="l" t="t" r="r" b="b"/>
            <a:pathLst>
              <a:path w="139065" h="480060">
                <a:moveTo>
                  <a:pt x="0" y="0"/>
                </a:moveTo>
                <a:lnTo>
                  <a:pt x="138540" y="479891"/>
                </a:lnTo>
              </a:path>
            </a:pathLst>
          </a:custGeom>
          <a:ln w="2857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8435540" y="3170952"/>
            <a:ext cx="347345" cy="527050"/>
          </a:xfrm>
          <a:custGeom>
            <a:avLst/>
            <a:gdLst/>
            <a:ahLst/>
            <a:cxnLst/>
            <a:rect l="l" t="t" r="r" b="b"/>
            <a:pathLst>
              <a:path w="347345" h="527050">
                <a:moveTo>
                  <a:pt x="346835" y="0"/>
                </a:moveTo>
                <a:lnTo>
                  <a:pt x="0" y="526868"/>
                </a:lnTo>
              </a:path>
            </a:pathLst>
          </a:custGeom>
          <a:ln w="2857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8367378" y="3125652"/>
            <a:ext cx="394970" cy="28575"/>
          </a:xfrm>
          <a:custGeom>
            <a:avLst/>
            <a:gdLst/>
            <a:ahLst/>
            <a:cxnLst/>
            <a:rect l="l" t="t" r="r" b="b"/>
            <a:pathLst>
              <a:path w="394970" h="28575">
                <a:moveTo>
                  <a:pt x="394383" y="0"/>
                </a:moveTo>
                <a:lnTo>
                  <a:pt x="0" y="2821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8832141" y="3189715"/>
            <a:ext cx="13335" cy="364490"/>
          </a:xfrm>
          <a:custGeom>
            <a:avLst/>
            <a:gdLst/>
            <a:ahLst/>
            <a:cxnLst/>
            <a:rect l="l" t="t" r="r" b="b"/>
            <a:pathLst>
              <a:path w="13334" h="364489">
                <a:moveTo>
                  <a:pt x="0" y="0"/>
                </a:moveTo>
                <a:lnTo>
                  <a:pt x="12883" y="364058"/>
                </a:lnTo>
              </a:path>
            </a:pathLst>
          </a:custGeom>
          <a:ln w="2857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6912344" y="3319909"/>
            <a:ext cx="245110" cy="0"/>
          </a:xfrm>
          <a:custGeom>
            <a:avLst/>
            <a:gdLst/>
            <a:ahLst/>
            <a:cxnLst/>
            <a:rect l="l" t="t" r="r" b="b"/>
            <a:pathLst>
              <a:path w="245109" h="0">
                <a:moveTo>
                  <a:pt x="0" y="0"/>
                </a:moveTo>
                <a:lnTo>
                  <a:pt x="244798" y="1"/>
                </a:lnTo>
              </a:path>
            </a:pathLst>
          </a:custGeom>
          <a:ln w="2857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7092834" y="3383973"/>
            <a:ext cx="135255" cy="320675"/>
          </a:xfrm>
          <a:custGeom>
            <a:avLst/>
            <a:gdLst/>
            <a:ahLst/>
            <a:cxnLst/>
            <a:rect l="l" t="t" r="r" b="b"/>
            <a:pathLst>
              <a:path w="135254" h="320675">
                <a:moveTo>
                  <a:pt x="0" y="320323"/>
                </a:moveTo>
                <a:lnTo>
                  <a:pt x="134685" y="0"/>
                </a:lnTo>
              </a:path>
            </a:pathLst>
          </a:custGeom>
          <a:ln w="2857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8346764" y="3199165"/>
            <a:ext cx="427990" cy="419100"/>
          </a:xfrm>
          <a:custGeom>
            <a:avLst/>
            <a:gdLst/>
            <a:ahLst/>
            <a:cxnLst/>
            <a:rect l="l" t="t" r="r" b="b"/>
            <a:pathLst>
              <a:path w="427990" h="419100">
                <a:moveTo>
                  <a:pt x="0" y="0"/>
                </a:moveTo>
                <a:lnTo>
                  <a:pt x="427878" y="418675"/>
                </a:lnTo>
              </a:path>
            </a:pathLst>
          </a:custGeom>
          <a:ln w="2857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7277285" y="3365210"/>
            <a:ext cx="306705" cy="563245"/>
          </a:xfrm>
          <a:custGeom>
            <a:avLst/>
            <a:gdLst/>
            <a:ahLst/>
            <a:cxnLst/>
            <a:rect l="l" t="t" r="r" b="b"/>
            <a:pathLst>
              <a:path w="306704" h="563245">
                <a:moveTo>
                  <a:pt x="0" y="0"/>
                </a:moveTo>
                <a:lnTo>
                  <a:pt x="306542" y="562859"/>
                </a:lnTo>
              </a:path>
            </a:pathLst>
          </a:custGeom>
          <a:ln w="2857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7297900" y="3319910"/>
            <a:ext cx="1038225" cy="378460"/>
          </a:xfrm>
          <a:custGeom>
            <a:avLst/>
            <a:gdLst/>
            <a:ahLst/>
            <a:cxnLst/>
            <a:rect l="l" t="t" r="r" b="b"/>
            <a:pathLst>
              <a:path w="1038225" h="378460">
                <a:moveTo>
                  <a:pt x="1038113" y="377910"/>
                </a:moveTo>
                <a:lnTo>
                  <a:pt x="0" y="0"/>
                </a:lnTo>
              </a:path>
            </a:pathLst>
          </a:custGeom>
          <a:ln w="2857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8456155" y="3663140"/>
            <a:ext cx="339725" cy="80010"/>
          </a:xfrm>
          <a:custGeom>
            <a:avLst/>
            <a:gdLst/>
            <a:ahLst/>
            <a:cxnLst/>
            <a:rect l="l" t="t" r="r" b="b"/>
            <a:pathLst>
              <a:path w="339725" h="80010">
                <a:moveTo>
                  <a:pt x="0" y="79981"/>
                </a:moveTo>
                <a:lnTo>
                  <a:pt x="339103" y="0"/>
                </a:lnTo>
              </a:path>
            </a:pathLst>
          </a:custGeom>
          <a:ln w="2857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7227521" y="3042560"/>
            <a:ext cx="120650" cy="213360"/>
          </a:xfrm>
          <a:custGeom>
            <a:avLst/>
            <a:gdLst/>
            <a:ahLst/>
            <a:cxnLst/>
            <a:rect l="l" t="t" r="r" b="b"/>
            <a:pathLst>
              <a:path w="120650" h="213360">
                <a:moveTo>
                  <a:pt x="0" y="213285"/>
                </a:moveTo>
                <a:lnTo>
                  <a:pt x="120345" y="0"/>
                </a:lnTo>
              </a:path>
            </a:pathLst>
          </a:custGeom>
          <a:ln w="2857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7157143" y="3255845"/>
            <a:ext cx="140970" cy="128270"/>
          </a:xfrm>
          <a:custGeom>
            <a:avLst/>
            <a:gdLst/>
            <a:ahLst/>
            <a:cxnLst/>
            <a:rect l="l" t="t" r="r" b="b"/>
            <a:pathLst>
              <a:path w="140970" h="128270">
                <a:moveTo>
                  <a:pt x="70377" y="0"/>
                </a:moveTo>
                <a:lnTo>
                  <a:pt x="42983" y="5034"/>
                </a:lnTo>
                <a:lnTo>
                  <a:pt x="20612" y="18764"/>
                </a:lnTo>
                <a:lnTo>
                  <a:pt x="5530" y="39128"/>
                </a:lnTo>
                <a:lnTo>
                  <a:pt x="0" y="64065"/>
                </a:lnTo>
                <a:lnTo>
                  <a:pt x="5530" y="89002"/>
                </a:lnTo>
                <a:lnTo>
                  <a:pt x="20612" y="109366"/>
                </a:lnTo>
                <a:lnTo>
                  <a:pt x="42983" y="123095"/>
                </a:lnTo>
                <a:lnTo>
                  <a:pt x="70377" y="128130"/>
                </a:lnTo>
                <a:lnTo>
                  <a:pt x="97771" y="123095"/>
                </a:lnTo>
                <a:lnTo>
                  <a:pt x="120142" y="109366"/>
                </a:lnTo>
                <a:lnTo>
                  <a:pt x="135224" y="89002"/>
                </a:lnTo>
                <a:lnTo>
                  <a:pt x="140755" y="64065"/>
                </a:lnTo>
                <a:lnTo>
                  <a:pt x="135224" y="39128"/>
                </a:lnTo>
                <a:lnTo>
                  <a:pt x="120142" y="18764"/>
                </a:lnTo>
                <a:lnTo>
                  <a:pt x="97771" y="5034"/>
                </a:lnTo>
                <a:lnTo>
                  <a:pt x="7037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7157143" y="3255845"/>
            <a:ext cx="140970" cy="128270"/>
          </a:xfrm>
          <a:custGeom>
            <a:avLst/>
            <a:gdLst/>
            <a:ahLst/>
            <a:cxnLst/>
            <a:rect l="l" t="t" r="r" b="b"/>
            <a:pathLst>
              <a:path w="140970" h="128270">
                <a:moveTo>
                  <a:pt x="0" y="64065"/>
                </a:moveTo>
                <a:lnTo>
                  <a:pt x="5530" y="39128"/>
                </a:lnTo>
                <a:lnTo>
                  <a:pt x="20613" y="18764"/>
                </a:lnTo>
                <a:lnTo>
                  <a:pt x="42983" y="5034"/>
                </a:lnTo>
                <a:lnTo>
                  <a:pt x="70378" y="0"/>
                </a:lnTo>
                <a:lnTo>
                  <a:pt x="97772" y="5034"/>
                </a:lnTo>
                <a:lnTo>
                  <a:pt x="120142" y="18764"/>
                </a:lnTo>
                <a:lnTo>
                  <a:pt x="135225" y="39128"/>
                </a:lnTo>
                <a:lnTo>
                  <a:pt x="140756" y="64065"/>
                </a:lnTo>
                <a:lnTo>
                  <a:pt x="135225" y="89001"/>
                </a:lnTo>
                <a:lnTo>
                  <a:pt x="120142" y="109365"/>
                </a:lnTo>
                <a:lnTo>
                  <a:pt x="97772" y="123095"/>
                </a:lnTo>
                <a:lnTo>
                  <a:pt x="70378" y="128130"/>
                </a:lnTo>
                <a:lnTo>
                  <a:pt x="42983" y="123095"/>
                </a:lnTo>
                <a:lnTo>
                  <a:pt x="20613" y="109365"/>
                </a:lnTo>
                <a:lnTo>
                  <a:pt x="5530" y="89001"/>
                </a:lnTo>
                <a:lnTo>
                  <a:pt x="0" y="64065"/>
                </a:lnTo>
                <a:close/>
              </a:path>
            </a:pathLst>
          </a:custGeom>
          <a:ln w="38100">
            <a:solidFill>
              <a:srgbClr val="E1F1E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7563213" y="3909304"/>
            <a:ext cx="140970" cy="128270"/>
          </a:xfrm>
          <a:custGeom>
            <a:avLst/>
            <a:gdLst/>
            <a:ahLst/>
            <a:cxnLst/>
            <a:rect l="l" t="t" r="r" b="b"/>
            <a:pathLst>
              <a:path w="140970" h="128270">
                <a:moveTo>
                  <a:pt x="70378" y="0"/>
                </a:moveTo>
                <a:lnTo>
                  <a:pt x="42984" y="5034"/>
                </a:lnTo>
                <a:lnTo>
                  <a:pt x="20613" y="18764"/>
                </a:lnTo>
                <a:lnTo>
                  <a:pt x="5530" y="39128"/>
                </a:lnTo>
                <a:lnTo>
                  <a:pt x="0" y="64065"/>
                </a:lnTo>
                <a:lnTo>
                  <a:pt x="5530" y="89002"/>
                </a:lnTo>
                <a:lnTo>
                  <a:pt x="20613" y="109366"/>
                </a:lnTo>
                <a:lnTo>
                  <a:pt x="42984" y="123095"/>
                </a:lnTo>
                <a:lnTo>
                  <a:pt x="70378" y="128130"/>
                </a:lnTo>
                <a:lnTo>
                  <a:pt x="97772" y="123095"/>
                </a:lnTo>
                <a:lnTo>
                  <a:pt x="120143" y="109366"/>
                </a:lnTo>
                <a:lnTo>
                  <a:pt x="135225" y="89002"/>
                </a:lnTo>
                <a:lnTo>
                  <a:pt x="140756" y="64065"/>
                </a:lnTo>
                <a:lnTo>
                  <a:pt x="135225" y="39128"/>
                </a:lnTo>
                <a:lnTo>
                  <a:pt x="120143" y="18764"/>
                </a:lnTo>
                <a:lnTo>
                  <a:pt x="97772" y="5034"/>
                </a:lnTo>
                <a:lnTo>
                  <a:pt x="70378" y="0"/>
                </a:lnTo>
                <a:close/>
              </a:path>
            </a:pathLst>
          </a:custGeom>
          <a:solidFill>
            <a:srgbClr val="A6D4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7563213" y="3909304"/>
            <a:ext cx="140970" cy="128270"/>
          </a:xfrm>
          <a:custGeom>
            <a:avLst/>
            <a:gdLst/>
            <a:ahLst/>
            <a:cxnLst/>
            <a:rect l="l" t="t" r="r" b="b"/>
            <a:pathLst>
              <a:path w="140970" h="128270">
                <a:moveTo>
                  <a:pt x="0" y="64065"/>
                </a:moveTo>
                <a:lnTo>
                  <a:pt x="5530" y="39128"/>
                </a:lnTo>
                <a:lnTo>
                  <a:pt x="20613" y="18764"/>
                </a:lnTo>
                <a:lnTo>
                  <a:pt x="42983" y="5034"/>
                </a:lnTo>
                <a:lnTo>
                  <a:pt x="70378" y="0"/>
                </a:lnTo>
                <a:lnTo>
                  <a:pt x="97772" y="5034"/>
                </a:lnTo>
                <a:lnTo>
                  <a:pt x="120142" y="18764"/>
                </a:lnTo>
                <a:lnTo>
                  <a:pt x="135225" y="39128"/>
                </a:lnTo>
                <a:lnTo>
                  <a:pt x="140756" y="64065"/>
                </a:lnTo>
                <a:lnTo>
                  <a:pt x="135225" y="89001"/>
                </a:lnTo>
                <a:lnTo>
                  <a:pt x="120142" y="109365"/>
                </a:lnTo>
                <a:lnTo>
                  <a:pt x="97772" y="123095"/>
                </a:lnTo>
                <a:lnTo>
                  <a:pt x="70378" y="128130"/>
                </a:lnTo>
                <a:lnTo>
                  <a:pt x="42983" y="123095"/>
                </a:lnTo>
                <a:lnTo>
                  <a:pt x="20613" y="109365"/>
                </a:lnTo>
                <a:lnTo>
                  <a:pt x="5530" y="89001"/>
                </a:lnTo>
                <a:lnTo>
                  <a:pt x="0" y="64065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7022457" y="3704296"/>
            <a:ext cx="140970" cy="128270"/>
          </a:xfrm>
          <a:custGeom>
            <a:avLst/>
            <a:gdLst/>
            <a:ahLst/>
            <a:cxnLst/>
            <a:rect l="l" t="t" r="r" b="b"/>
            <a:pathLst>
              <a:path w="140970" h="128270">
                <a:moveTo>
                  <a:pt x="70378" y="0"/>
                </a:moveTo>
                <a:lnTo>
                  <a:pt x="42984" y="5034"/>
                </a:lnTo>
                <a:lnTo>
                  <a:pt x="20613" y="18764"/>
                </a:lnTo>
                <a:lnTo>
                  <a:pt x="5530" y="39128"/>
                </a:lnTo>
                <a:lnTo>
                  <a:pt x="0" y="64065"/>
                </a:lnTo>
                <a:lnTo>
                  <a:pt x="5530" y="89002"/>
                </a:lnTo>
                <a:lnTo>
                  <a:pt x="20613" y="109366"/>
                </a:lnTo>
                <a:lnTo>
                  <a:pt x="42984" y="123095"/>
                </a:lnTo>
                <a:lnTo>
                  <a:pt x="70378" y="128130"/>
                </a:lnTo>
                <a:lnTo>
                  <a:pt x="97772" y="123095"/>
                </a:lnTo>
                <a:lnTo>
                  <a:pt x="120143" y="109366"/>
                </a:lnTo>
                <a:lnTo>
                  <a:pt x="135225" y="89002"/>
                </a:lnTo>
                <a:lnTo>
                  <a:pt x="140756" y="64065"/>
                </a:lnTo>
                <a:lnTo>
                  <a:pt x="135225" y="39128"/>
                </a:lnTo>
                <a:lnTo>
                  <a:pt x="120143" y="18764"/>
                </a:lnTo>
                <a:lnTo>
                  <a:pt x="97772" y="5034"/>
                </a:lnTo>
                <a:lnTo>
                  <a:pt x="7037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7022457" y="3704296"/>
            <a:ext cx="140970" cy="128270"/>
          </a:xfrm>
          <a:custGeom>
            <a:avLst/>
            <a:gdLst/>
            <a:ahLst/>
            <a:cxnLst/>
            <a:rect l="l" t="t" r="r" b="b"/>
            <a:pathLst>
              <a:path w="140970" h="128270">
                <a:moveTo>
                  <a:pt x="0" y="64065"/>
                </a:moveTo>
                <a:lnTo>
                  <a:pt x="5530" y="39128"/>
                </a:lnTo>
                <a:lnTo>
                  <a:pt x="20613" y="18764"/>
                </a:lnTo>
                <a:lnTo>
                  <a:pt x="42983" y="5034"/>
                </a:lnTo>
                <a:lnTo>
                  <a:pt x="70378" y="0"/>
                </a:lnTo>
                <a:lnTo>
                  <a:pt x="97772" y="5034"/>
                </a:lnTo>
                <a:lnTo>
                  <a:pt x="120142" y="18764"/>
                </a:lnTo>
                <a:lnTo>
                  <a:pt x="135225" y="39128"/>
                </a:lnTo>
                <a:lnTo>
                  <a:pt x="140756" y="64065"/>
                </a:lnTo>
                <a:lnTo>
                  <a:pt x="135225" y="89001"/>
                </a:lnTo>
                <a:lnTo>
                  <a:pt x="120142" y="109365"/>
                </a:lnTo>
                <a:lnTo>
                  <a:pt x="97772" y="123095"/>
                </a:lnTo>
                <a:lnTo>
                  <a:pt x="70378" y="128130"/>
                </a:lnTo>
                <a:lnTo>
                  <a:pt x="42983" y="123095"/>
                </a:lnTo>
                <a:lnTo>
                  <a:pt x="20613" y="109365"/>
                </a:lnTo>
                <a:lnTo>
                  <a:pt x="5530" y="89001"/>
                </a:lnTo>
                <a:lnTo>
                  <a:pt x="0" y="64065"/>
                </a:lnTo>
                <a:close/>
              </a:path>
            </a:pathLst>
          </a:custGeom>
          <a:ln w="38100">
            <a:solidFill>
              <a:srgbClr val="E1F1E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8315398" y="3679056"/>
            <a:ext cx="140970" cy="128270"/>
          </a:xfrm>
          <a:custGeom>
            <a:avLst/>
            <a:gdLst/>
            <a:ahLst/>
            <a:cxnLst/>
            <a:rect l="l" t="t" r="r" b="b"/>
            <a:pathLst>
              <a:path w="140970" h="128270">
                <a:moveTo>
                  <a:pt x="70378" y="0"/>
                </a:moveTo>
                <a:lnTo>
                  <a:pt x="42983" y="5034"/>
                </a:lnTo>
                <a:lnTo>
                  <a:pt x="20613" y="18764"/>
                </a:lnTo>
                <a:lnTo>
                  <a:pt x="5530" y="39128"/>
                </a:lnTo>
                <a:lnTo>
                  <a:pt x="0" y="64065"/>
                </a:lnTo>
                <a:lnTo>
                  <a:pt x="5530" y="89002"/>
                </a:lnTo>
                <a:lnTo>
                  <a:pt x="20613" y="109366"/>
                </a:lnTo>
                <a:lnTo>
                  <a:pt x="42983" y="123095"/>
                </a:lnTo>
                <a:lnTo>
                  <a:pt x="70378" y="128130"/>
                </a:lnTo>
                <a:lnTo>
                  <a:pt x="97772" y="123095"/>
                </a:lnTo>
                <a:lnTo>
                  <a:pt x="120142" y="109366"/>
                </a:lnTo>
                <a:lnTo>
                  <a:pt x="135224" y="89002"/>
                </a:lnTo>
                <a:lnTo>
                  <a:pt x="140755" y="64065"/>
                </a:lnTo>
                <a:lnTo>
                  <a:pt x="135224" y="39128"/>
                </a:lnTo>
                <a:lnTo>
                  <a:pt x="120142" y="18764"/>
                </a:lnTo>
                <a:lnTo>
                  <a:pt x="97772" y="5034"/>
                </a:lnTo>
                <a:lnTo>
                  <a:pt x="7037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8315398" y="3679056"/>
            <a:ext cx="140970" cy="128270"/>
          </a:xfrm>
          <a:custGeom>
            <a:avLst/>
            <a:gdLst/>
            <a:ahLst/>
            <a:cxnLst/>
            <a:rect l="l" t="t" r="r" b="b"/>
            <a:pathLst>
              <a:path w="140970" h="128270">
                <a:moveTo>
                  <a:pt x="0" y="64065"/>
                </a:moveTo>
                <a:lnTo>
                  <a:pt x="5530" y="39128"/>
                </a:lnTo>
                <a:lnTo>
                  <a:pt x="20613" y="18764"/>
                </a:lnTo>
                <a:lnTo>
                  <a:pt x="42983" y="5034"/>
                </a:lnTo>
                <a:lnTo>
                  <a:pt x="70378" y="0"/>
                </a:lnTo>
                <a:lnTo>
                  <a:pt x="97772" y="5034"/>
                </a:lnTo>
                <a:lnTo>
                  <a:pt x="120142" y="18764"/>
                </a:lnTo>
                <a:lnTo>
                  <a:pt x="135225" y="39128"/>
                </a:lnTo>
                <a:lnTo>
                  <a:pt x="140756" y="64065"/>
                </a:lnTo>
                <a:lnTo>
                  <a:pt x="135225" y="89001"/>
                </a:lnTo>
                <a:lnTo>
                  <a:pt x="120142" y="109365"/>
                </a:lnTo>
                <a:lnTo>
                  <a:pt x="97772" y="123095"/>
                </a:lnTo>
                <a:lnTo>
                  <a:pt x="70378" y="128130"/>
                </a:lnTo>
                <a:lnTo>
                  <a:pt x="42983" y="123095"/>
                </a:lnTo>
                <a:lnTo>
                  <a:pt x="20613" y="109365"/>
                </a:lnTo>
                <a:lnTo>
                  <a:pt x="5530" y="89001"/>
                </a:lnTo>
                <a:lnTo>
                  <a:pt x="0" y="64065"/>
                </a:lnTo>
                <a:close/>
              </a:path>
            </a:pathLst>
          </a:custGeom>
          <a:ln w="38100">
            <a:solidFill>
              <a:srgbClr val="E1F1E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8226623" y="3089799"/>
            <a:ext cx="140970" cy="128270"/>
          </a:xfrm>
          <a:custGeom>
            <a:avLst/>
            <a:gdLst/>
            <a:ahLst/>
            <a:cxnLst/>
            <a:rect l="l" t="t" r="r" b="b"/>
            <a:pathLst>
              <a:path w="140970" h="128269">
                <a:moveTo>
                  <a:pt x="70377" y="0"/>
                </a:moveTo>
                <a:lnTo>
                  <a:pt x="42983" y="5034"/>
                </a:lnTo>
                <a:lnTo>
                  <a:pt x="20612" y="18764"/>
                </a:lnTo>
                <a:lnTo>
                  <a:pt x="5530" y="39128"/>
                </a:lnTo>
                <a:lnTo>
                  <a:pt x="0" y="64065"/>
                </a:lnTo>
                <a:lnTo>
                  <a:pt x="5530" y="89002"/>
                </a:lnTo>
                <a:lnTo>
                  <a:pt x="20612" y="109366"/>
                </a:lnTo>
                <a:lnTo>
                  <a:pt x="42983" y="123095"/>
                </a:lnTo>
                <a:lnTo>
                  <a:pt x="70377" y="128130"/>
                </a:lnTo>
                <a:lnTo>
                  <a:pt x="97771" y="123095"/>
                </a:lnTo>
                <a:lnTo>
                  <a:pt x="120142" y="109366"/>
                </a:lnTo>
                <a:lnTo>
                  <a:pt x="135224" y="89002"/>
                </a:lnTo>
                <a:lnTo>
                  <a:pt x="140755" y="64065"/>
                </a:lnTo>
                <a:lnTo>
                  <a:pt x="135224" y="39128"/>
                </a:lnTo>
                <a:lnTo>
                  <a:pt x="120142" y="18764"/>
                </a:lnTo>
                <a:lnTo>
                  <a:pt x="97771" y="5034"/>
                </a:lnTo>
                <a:lnTo>
                  <a:pt x="70377" y="0"/>
                </a:lnTo>
                <a:close/>
              </a:path>
            </a:pathLst>
          </a:custGeom>
          <a:solidFill>
            <a:srgbClr val="A6D4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8226623" y="3089799"/>
            <a:ext cx="140970" cy="128270"/>
          </a:xfrm>
          <a:custGeom>
            <a:avLst/>
            <a:gdLst/>
            <a:ahLst/>
            <a:cxnLst/>
            <a:rect l="l" t="t" r="r" b="b"/>
            <a:pathLst>
              <a:path w="140970" h="128269">
                <a:moveTo>
                  <a:pt x="0" y="64065"/>
                </a:moveTo>
                <a:lnTo>
                  <a:pt x="5530" y="39128"/>
                </a:lnTo>
                <a:lnTo>
                  <a:pt x="20613" y="18764"/>
                </a:lnTo>
                <a:lnTo>
                  <a:pt x="42983" y="5034"/>
                </a:lnTo>
                <a:lnTo>
                  <a:pt x="70378" y="0"/>
                </a:lnTo>
                <a:lnTo>
                  <a:pt x="97772" y="5034"/>
                </a:lnTo>
                <a:lnTo>
                  <a:pt x="120142" y="18764"/>
                </a:lnTo>
                <a:lnTo>
                  <a:pt x="135225" y="39128"/>
                </a:lnTo>
                <a:lnTo>
                  <a:pt x="140756" y="64065"/>
                </a:lnTo>
                <a:lnTo>
                  <a:pt x="135225" y="89001"/>
                </a:lnTo>
                <a:lnTo>
                  <a:pt x="120142" y="109365"/>
                </a:lnTo>
                <a:lnTo>
                  <a:pt x="97772" y="123095"/>
                </a:lnTo>
                <a:lnTo>
                  <a:pt x="70378" y="128130"/>
                </a:lnTo>
                <a:lnTo>
                  <a:pt x="42983" y="123095"/>
                </a:lnTo>
                <a:lnTo>
                  <a:pt x="20613" y="109365"/>
                </a:lnTo>
                <a:lnTo>
                  <a:pt x="5530" y="89001"/>
                </a:lnTo>
                <a:lnTo>
                  <a:pt x="0" y="64065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7327251" y="2933194"/>
            <a:ext cx="140970" cy="128270"/>
          </a:xfrm>
          <a:custGeom>
            <a:avLst/>
            <a:gdLst/>
            <a:ahLst/>
            <a:cxnLst/>
            <a:rect l="l" t="t" r="r" b="b"/>
            <a:pathLst>
              <a:path w="140970" h="128269">
                <a:moveTo>
                  <a:pt x="70378" y="0"/>
                </a:moveTo>
                <a:lnTo>
                  <a:pt x="42984" y="5034"/>
                </a:lnTo>
                <a:lnTo>
                  <a:pt x="20613" y="18764"/>
                </a:lnTo>
                <a:lnTo>
                  <a:pt x="5530" y="39128"/>
                </a:lnTo>
                <a:lnTo>
                  <a:pt x="0" y="64065"/>
                </a:lnTo>
                <a:lnTo>
                  <a:pt x="5530" y="89002"/>
                </a:lnTo>
                <a:lnTo>
                  <a:pt x="20613" y="109366"/>
                </a:lnTo>
                <a:lnTo>
                  <a:pt x="42984" y="123095"/>
                </a:lnTo>
                <a:lnTo>
                  <a:pt x="70378" y="128130"/>
                </a:lnTo>
                <a:lnTo>
                  <a:pt x="97772" y="123095"/>
                </a:lnTo>
                <a:lnTo>
                  <a:pt x="120143" y="109366"/>
                </a:lnTo>
                <a:lnTo>
                  <a:pt x="135225" y="89002"/>
                </a:lnTo>
                <a:lnTo>
                  <a:pt x="140756" y="64065"/>
                </a:lnTo>
                <a:lnTo>
                  <a:pt x="135225" y="39128"/>
                </a:lnTo>
                <a:lnTo>
                  <a:pt x="120143" y="18764"/>
                </a:lnTo>
                <a:lnTo>
                  <a:pt x="97772" y="5034"/>
                </a:lnTo>
                <a:lnTo>
                  <a:pt x="7037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7327251" y="2933194"/>
            <a:ext cx="140970" cy="128270"/>
          </a:xfrm>
          <a:custGeom>
            <a:avLst/>
            <a:gdLst/>
            <a:ahLst/>
            <a:cxnLst/>
            <a:rect l="l" t="t" r="r" b="b"/>
            <a:pathLst>
              <a:path w="140970" h="128269">
                <a:moveTo>
                  <a:pt x="0" y="64065"/>
                </a:moveTo>
                <a:lnTo>
                  <a:pt x="5530" y="39128"/>
                </a:lnTo>
                <a:lnTo>
                  <a:pt x="20613" y="18764"/>
                </a:lnTo>
                <a:lnTo>
                  <a:pt x="42983" y="5034"/>
                </a:lnTo>
                <a:lnTo>
                  <a:pt x="70378" y="0"/>
                </a:lnTo>
                <a:lnTo>
                  <a:pt x="97772" y="5034"/>
                </a:lnTo>
                <a:lnTo>
                  <a:pt x="120142" y="18764"/>
                </a:lnTo>
                <a:lnTo>
                  <a:pt x="135225" y="39128"/>
                </a:lnTo>
                <a:lnTo>
                  <a:pt x="140756" y="64065"/>
                </a:lnTo>
                <a:lnTo>
                  <a:pt x="135225" y="89001"/>
                </a:lnTo>
                <a:lnTo>
                  <a:pt x="120142" y="109365"/>
                </a:lnTo>
                <a:lnTo>
                  <a:pt x="97772" y="123095"/>
                </a:lnTo>
                <a:lnTo>
                  <a:pt x="70378" y="128130"/>
                </a:lnTo>
                <a:lnTo>
                  <a:pt x="42983" y="123095"/>
                </a:lnTo>
                <a:lnTo>
                  <a:pt x="20613" y="109365"/>
                </a:lnTo>
                <a:lnTo>
                  <a:pt x="5530" y="89001"/>
                </a:lnTo>
                <a:lnTo>
                  <a:pt x="0" y="64065"/>
                </a:lnTo>
                <a:close/>
              </a:path>
            </a:pathLst>
          </a:custGeom>
          <a:ln w="38100">
            <a:solidFill>
              <a:srgbClr val="E1F1E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8774644" y="3553774"/>
            <a:ext cx="140970" cy="128270"/>
          </a:xfrm>
          <a:custGeom>
            <a:avLst/>
            <a:gdLst/>
            <a:ahLst/>
            <a:cxnLst/>
            <a:rect l="l" t="t" r="r" b="b"/>
            <a:pathLst>
              <a:path w="140970" h="128270">
                <a:moveTo>
                  <a:pt x="70377" y="0"/>
                </a:moveTo>
                <a:lnTo>
                  <a:pt x="42983" y="5034"/>
                </a:lnTo>
                <a:lnTo>
                  <a:pt x="20612" y="18764"/>
                </a:lnTo>
                <a:lnTo>
                  <a:pt x="5530" y="39128"/>
                </a:lnTo>
                <a:lnTo>
                  <a:pt x="0" y="64065"/>
                </a:lnTo>
                <a:lnTo>
                  <a:pt x="5530" y="89002"/>
                </a:lnTo>
                <a:lnTo>
                  <a:pt x="20612" y="109366"/>
                </a:lnTo>
                <a:lnTo>
                  <a:pt x="42983" y="123095"/>
                </a:lnTo>
                <a:lnTo>
                  <a:pt x="70377" y="128130"/>
                </a:lnTo>
                <a:lnTo>
                  <a:pt x="97771" y="123095"/>
                </a:lnTo>
                <a:lnTo>
                  <a:pt x="120142" y="109366"/>
                </a:lnTo>
                <a:lnTo>
                  <a:pt x="135224" y="89002"/>
                </a:lnTo>
                <a:lnTo>
                  <a:pt x="140755" y="64065"/>
                </a:lnTo>
                <a:lnTo>
                  <a:pt x="135224" y="39128"/>
                </a:lnTo>
                <a:lnTo>
                  <a:pt x="120142" y="18764"/>
                </a:lnTo>
                <a:lnTo>
                  <a:pt x="97771" y="5034"/>
                </a:lnTo>
                <a:lnTo>
                  <a:pt x="7037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8774644" y="3553774"/>
            <a:ext cx="140970" cy="128270"/>
          </a:xfrm>
          <a:custGeom>
            <a:avLst/>
            <a:gdLst/>
            <a:ahLst/>
            <a:cxnLst/>
            <a:rect l="l" t="t" r="r" b="b"/>
            <a:pathLst>
              <a:path w="140970" h="128270">
                <a:moveTo>
                  <a:pt x="0" y="64065"/>
                </a:moveTo>
                <a:lnTo>
                  <a:pt x="5530" y="39128"/>
                </a:lnTo>
                <a:lnTo>
                  <a:pt x="20613" y="18764"/>
                </a:lnTo>
                <a:lnTo>
                  <a:pt x="42983" y="5034"/>
                </a:lnTo>
                <a:lnTo>
                  <a:pt x="70378" y="0"/>
                </a:lnTo>
                <a:lnTo>
                  <a:pt x="97772" y="5034"/>
                </a:lnTo>
                <a:lnTo>
                  <a:pt x="120142" y="18764"/>
                </a:lnTo>
                <a:lnTo>
                  <a:pt x="135225" y="39128"/>
                </a:lnTo>
                <a:lnTo>
                  <a:pt x="140756" y="64065"/>
                </a:lnTo>
                <a:lnTo>
                  <a:pt x="135225" y="89001"/>
                </a:lnTo>
                <a:lnTo>
                  <a:pt x="120142" y="109365"/>
                </a:lnTo>
                <a:lnTo>
                  <a:pt x="97772" y="123095"/>
                </a:lnTo>
                <a:lnTo>
                  <a:pt x="70378" y="128130"/>
                </a:lnTo>
                <a:lnTo>
                  <a:pt x="42983" y="123095"/>
                </a:lnTo>
                <a:lnTo>
                  <a:pt x="20613" y="109365"/>
                </a:lnTo>
                <a:lnTo>
                  <a:pt x="5530" y="89001"/>
                </a:lnTo>
                <a:lnTo>
                  <a:pt x="0" y="64065"/>
                </a:lnTo>
                <a:close/>
              </a:path>
            </a:pathLst>
          </a:custGeom>
          <a:ln w="38100">
            <a:solidFill>
              <a:srgbClr val="E1F1E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6771588" y="3255845"/>
            <a:ext cx="140970" cy="128270"/>
          </a:xfrm>
          <a:custGeom>
            <a:avLst/>
            <a:gdLst/>
            <a:ahLst/>
            <a:cxnLst/>
            <a:rect l="l" t="t" r="r" b="b"/>
            <a:pathLst>
              <a:path w="140970" h="128270">
                <a:moveTo>
                  <a:pt x="70377" y="0"/>
                </a:moveTo>
                <a:lnTo>
                  <a:pt x="42983" y="5034"/>
                </a:lnTo>
                <a:lnTo>
                  <a:pt x="20612" y="18764"/>
                </a:lnTo>
                <a:lnTo>
                  <a:pt x="5530" y="39128"/>
                </a:lnTo>
                <a:lnTo>
                  <a:pt x="0" y="64065"/>
                </a:lnTo>
                <a:lnTo>
                  <a:pt x="5530" y="89002"/>
                </a:lnTo>
                <a:lnTo>
                  <a:pt x="20612" y="109366"/>
                </a:lnTo>
                <a:lnTo>
                  <a:pt x="42983" y="123095"/>
                </a:lnTo>
                <a:lnTo>
                  <a:pt x="70377" y="128130"/>
                </a:lnTo>
                <a:lnTo>
                  <a:pt x="97771" y="123095"/>
                </a:lnTo>
                <a:lnTo>
                  <a:pt x="120142" y="109366"/>
                </a:lnTo>
                <a:lnTo>
                  <a:pt x="135224" y="89002"/>
                </a:lnTo>
                <a:lnTo>
                  <a:pt x="140755" y="64065"/>
                </a:lnTo>
                <a:lnTo>
                  <a:pt x="135224" y="39128"/>
                </a:lnTo>
                <a:lnTo>
                  <a:pt x="120142" y="18764"/>
                </a:lnTo>
                <a:lnTo>
                  <a:pt x="97771" y="5034"/>
                </a:lnTo>
                <a:lnTo>
                  <a:pt x="70377" y="0"/>
                </a:lnTo>
                <a:close/>
              </a:path>
            </a:pathLst>
          </a:custGeom>
          <a:solidFill>
            <a:srgbClr val="A6D4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6771588" y="3255845"/>
            <a:ext cx="140970" cy="128270"/>
          </a:xfrm>
          <a:custGeom>
            <a:avLst/>
            <a:gdLst/>
            <a:ahLst/>
            <a:cxnLst/>
            <a:rect l="l" t="t" r="r" b="b"/>
            <a:pathLst>
              <a:path w="140970" h="128270">
                <a:moveTo>
                  <a:pt x="0" y="64065"/>
                </a:moveTo>
                <a:lnTo>
                  <a:pt x="5530" y="39128"/>
                </a:lnTo>
                <a:lnTo>
                  <a:pt x="20613" y="18764"/>
                </a:lnTo>
                <a:lnTo>
                  <a:pt x="42983" y="5034"/>
                </a:lnTo>
                <a:lnTo>
                  <a:pt x="70378" y="0"/>
                </a:lnTo>
                <a:lnTo>
                  <a:pt x="97772" y="5034"/>
                </a:lnTo>
                <a:lnTo>
                  <a:pt x="120142" y="18764"/>
                </a:lnTo>
                <a:lnTo>
                  <a:pt x="135225" y="39128"/>
                </a:lnTo>
                <a:lnTo>
                  <a:pt x="140756" y="64065"/>
                </a:lnTo>
                <a:lnTo>
                  <a:pt x="135225" y="89001"/>
                </a:lnTo>
                <a:lnTo>
                  <a:pt x="120142" y="109365"/>
                </a:lnTo>
                <a:lnTo>
                  <a:pt x="97772" y="123095"/>
                </a:lnTo>
                <a:lnTo>
                  <a:pt x="70378" y="128130"/>
                </a:lnTo>
                <a:lnTo>
                  <a:pt x="42983" y="123095"/>
                </a:lnTo>
                <a:lnTo>
                  <a:pt x="20613" y="109365"/>
                </a:lnTo>
                <a:lnTo>
                  <a:pt x="5530" y="89001"/>
                </a:lnTo>
                <a:lnTo>
                  <a:pt x="0" y="64065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8761762" y="3061586"/>
            <a:ext cx="140970" cy="128270"/>
          </a:xfrm>
          <a:custGeom>
            <a:avLst/>
            <a:gdLst/>
            <a:ahLst/>
            <a:cxnLst/>
            <a:rect l="l" t="t" r="r" b="b"/>
            <a:pathLst>
              <a:path w="140970" h="128269">
                <a:moveTo>
                  <a:pt x="70378" y="0"/>
                </a:moveTo>
                <a:lnTo>
                  <a:pt x="42983" y="5034"/>
                </a:lnTo>
                <a:lnTo>
                  <a:pt x="20613" y="18764"/>
                </a:lnTo>
                <a:lnTo>
                  <a:pt x="5530" y="39128"/>
                </a:lnTo>
                <a:lnTo>
                  <a:pt x="0" y="64065"/>
                </a:lnTo>
                <a:lnTo>
                  <a:pt x="5530" y="89002"/>
                </a:lnTo>
                <a:lnTo>
                  <a:pt x="20613" y="109366"/>
                </a:lnTo>
                <a:lnTo>
                  <a:pt x="42983" y="123095"/>
                </a:lnTo>
                <a:lnTo>
                  <a:pt x="70378" y="128130"/>
                </a:lnTo>
                <a:lnTo>
                  <a:pt x="97772" y="123095"/>
                </a:lnTo>
                <a:lnTo>
                  <a:pt x="120143" y="109366"/>
                </a:lnTo>
                <a:lnTo>
                  <a:pt x="135225" y="89002"/>
                </a:lnTo>
                <a:lnTo>
                  <a:pt x="140756" y="64065"/>
                </a:lnTo>
                <a:lnTo>
                  <a:pt x="135225" y="39128"/>
                </a:lnTo>
                <a:lnTo>
                  <a:pt x="120143" y="18764"/>
                </a:lnTo>
                <a:lnTo>
                  <a:pt x="97772" y="5034"/>
                </a:lnTo>
                <a:lnTo>
                  <a:pt x="70378" y="0"/>
                </a:lnTo>
                <a:close/>
              </a:path>
            </a:pathLst>
          </a:custGeom>
          <a:solidFill>
            <a:srgbClr val="A6D4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8761762" y="3061586"/>
            <a:ext cx="140970" cy="128270"/>
          </a:xfrm>
          <a:custGeom>
            <a:avLst/>
            <a:gdLst/>
            <a:ahLst/>
            <a:cxnLst/>
            <a:rect l="l" t="t" r="r" b="b"/>
            <a:pathLst>
              <a:path w="140970" h="128269">
                <a:moveTo>
                  <a:pt x="0" y="64065"/>
                </a:moveTo>
                <a:lnTo>
                  <a:pt x="5530" y="39128"/>
                </a:lnTo>
                <a:lnTo>
                  <a:pt x="20613" y="18764"/>
                </a:lnTo>
                <a:lnTo>
                  <a:pt x="42983" y="5034"/>
                </a:lnTo>
                <a:lnTo>
                  <a:pt x="70378" y="0"/>
                </a:lnTo>
                <a:lnTo>
                  <a:pt x="97772" y="5034"/>
                </a:lnTo>
                <a:lnTo>
                  <a:pt x="120142" y="18764"/>
                </a:lnTo>
                <a:lnTo>
                  <a:pt x="135225" y="39128"/>
                </a:lnTo>
                <a:lnTo>
                  <a:pt x="140756" y="64065"/>
                </a:lnTo>
                <a:lnTo>
                  <a:pt x="135225" y="89001"/>
                </a:lnTo>
                <a:lnTo>
                  <a:pt x="120142" y="109365"/>
                </a:lnTo>
                <a:lnTo>
                  <a:pt x="97772" y="123095"/>
                </a:lnTo>
                <a:lnTo>
                  <a:pt x="70378" y="128130"/>
                </a:lnTo>
                <a:lnTo>
                  <a:pt x="42983" y="123095"/>
                </a:lnTo>
                <a:lnTo>
                  <a:pt x="20613" y="109365"/>
                </a:lnTo>
                <a:lnTo>
                  <a:pt x="5530" y="89001"/>
                </a:lnTo>
                <a:lnTo>
                  <a:pt x="0" y="64065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 txBox="1"/>
          <p:nvPr/>
        </p:nvSpPr>
        <p:spPr>
          <a:xfrm>
            <a:off x="485677" y="3123692"/>
            <a:ext cx="8172450" cy="31489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434330">
              <a:lnSpc>
                <a:spcPct val="100000"/>
              </a:lnSpc>
              <a:spcBef>
                <a:spcPts val="100"/>
              </a:spcBef>
            </a:pPr>
            <a:r>
              <a:rPr dirty="0" sz="2400" spc="-50" b="1">
                <a:latin typeface="Arial"/>
                <a:cs typeface="Arial"/>
              </a:rPr>
              <a:t>v.s.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650">
              <a:latin typeface="Times New Roman"/>
              <a:cs typeface="Times New Roman"/>
            </a:endParaRPr>
          </a:p>
          <a:p>
            <a:pPr marL="332740" marR="161290" indent="-320040">
              <a:lnSpc>
                <a:spcPct val="101899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Left </a:t>
            </a:r>
            <a:r>
              <a:rPr dirty="0" sz="3200" spc="-20" b="1">
                <a:solidFill>
                  <a:srgbClr val="C00000"/>
                </a:solidFill>
                <a:latin typeface="Calibri"/>
                <a:cs typeface="Calibri"/>
              </a:rPr>
              <a:t>subgraph </a:t>
            </a:r>
            <a:r>
              <a:rPr dirty="0" sz="3200" spc="-20">
                <a:latin typeface="Calibri"/>
                <a:cs typeface="Calibri"/>
              </a:rPr>
              <a:t>retains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5">
                <a:latin typeface="Calibri"/>
                <a:cs typeface="Calibri"/>
              </a:rPr>
              <a:t>essential community  </a:t>
            </a:r>
            <a:r>
              <a:rPr dirty="0" sz="3200" spc="-15">
                <a:latin typeface="Calibri"/>
                <a:cs typeface="Calibri"/>
              </a:rPr>
              <a:t>structure </a:t>
            </a:r>
            <a:r>
              <a:rPr dirty="0" sz="3200">
                <a:latin typeface="Calibri"/>
                <a:cs typeface="Calibri"/>
              </a:rPr>
              <a:t>among the 4 </a:t>
            </a:r>
            <a:r>
              <a:rPr dirty="0" sz="3200" spc="-5">
                <a:latin typeface="Calibri"/>
                <a:cs typeface="Calibri"/>
              </a:rPr>
              <a:t>nodes </a:t>
            </a:r>
            <a:r>
              <a:rPr dirty="0" sz="3200" spc="1350">
                <a:latin typeface="Arial"/>
                <a:cs typeface="Arial"/>
              </a:rPr>
              <a:t>à</a:t>
            </a:r>
            <a:r>
              <a:rPr dirty="0" sz="3200" spc="-150">
                <a:latin typeface="Arial"/>
                <a:cs typeface="Arial"/>
              </a:rPr>
              <a:t>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Good</a:t>
            </a:r>
            <a:endParaRPr sz="3200">
              <a:latin typeface="Calibri"/>
              <a:cs typeface="Calibri"/>
            </a:endParaRPr>
          </a:p>
          <a:p>
            <a:pPr marL="332740" marR="5080" indent="-320040">
              <a:lnSpc>
                <a:spcPts val="3910"/>
              </a:lnSpc>
              <a:spcBef>
                <a:spcPts val="2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 b="1">
                <a:solidFill>
                  <a:srgbClr val="0000FF"/>
                </a:solidFill>
                <a:latin typeface="Calibri"/>
                <a:cs typeface="Calibri"/>
              </a:rPr>
              <a:t>Right subgraph </a:t>
            </a:r>
            <a:r>
              <a:rPr dirty="0" sz="3200" spc="-15">
                <a:latin typeface="Calibri"/>
                <a:cs typeface="Calibri"/>
              </a:rPr>
              <a:t>drops many </a:t>
            </a:r>
            <a:r>
              <a:rPr dirty="0" sz="3200" spc="-5">
                <a:latin typeface="Calibri"/>
                <a:cs typeface="Calibri"/>
              </a:rPr>
              <a:t>connectivity  </a:t>
            </a:r>
            <a:r>
              <a:rPr dirty="0" sz="3200" spc="-15">
                <a:latin typeface="Calibri"/>
                <a:cs typeface="Calibri"/>
              </a:rPr>
              <a:t>patterns, even </a:t>
            </a:r>
            <a:r>
              <a:rPr dirty="0" sz="3200" spc="-5">
                <a:latin typeface="Calibri"/>
                <a:cs typeface="Calibri"/>
              </a:rPr>
              <a:t>leading </a:t>
            </a:r>
            <a:r>
              <a:rPr dirty="0" sz="3200" spc="-15">
                <a:latin typeface="Calibri"/>
                <a:cs typeface="Calibri"/>
              </a:rPr>
              <a:t>to </a:t>
            </a:r>
            <a:r>
              <a:rPr dirty="0" sz="3200" spc="-10">
                <a:latin typeface="Calibri"/>
                <a:cs typeface="Calibri"/>
              </a:rPr>
              <a:t>isolated </a:t>
            </a:r>
            <a:r>
              <a:rPr dirty="0" sz="3200" spc="-5">
                <a:latin typeface="Calibri"/>
                <a:cs typeface="Calibri"/>
              </a:rPr>
              <a:t>nodes </a:t>
            </a:r>
            <a:r>
              <a:rPr dirty="0" sz="3200" spc="1350">
                <a:latin typeface="Arial"/>
                <a:cs typeface="Arial"/>
              </a:rPr>
              <a:t>à</a:t>
            </a:r>
            <a:r>
              <a:rPr dirty="0" sz="3200" spc="-80">
                <a:latin typeface="Arial"/>
                <a:cs typeface="Arial"/>
              </a:rPr>
              <a:t> </a:t>
            </a:r>
            <a:r>
              <a:rPr dirty="0" sz="3200" spc="-5" b="1">
                <a:solidFill>
                  <a:srgbClr val="0000FF"/>
                </a:solidFill>
                <a:latin typeface="Calibri"/>
                <a:cs typeface="Calibri"/>
              </a:rPr>
              <a:t>Bad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3191767" y="2508267"/>
            <a:ext cx="5838190" cy="1606550"/>
          </a:xfrm>
          <a:custGeom>
            <a:avLst/>
            <a:gdLst/>
            <a:ahLst/>
            <a:cxnLst/>
            <a:rect l="l" t="t" r="r" b="b"/>
            <a:pathLst>
              <a:path w="5838190" h="1606550">
                <a:moveTo>
                  <a:pt x="0" y="0"/>
                </a:moveTo>
                <a:lnTo>
                  <a:pt x="5837703" y="0"/>
                </a:lnTo>
                <a:lnTo>
                  <a:pt x="5837703" y="1606532"/>
                </a:lnTo>
                <a:lnTo>
                  <a:pt x="0" y="1606532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CF5B1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 txBox="1"/>
          <p:nvPr/>
        </p:nvSpPr>
        <p:spPr>
          <a:xfrm>
            <a:off x="3336573" y="1940729"/>
            <a:ext cx="4856480" cy="982980"/>
          </a:xfrm>
          <a:prstGeom prst="rect">
            <a:avLst/>
          </a:prstGeom>
        </p:spPr>
        <p:txBody>
          <a:bodyPr wrap="square" lIns="0" tIns="142875" rIns="0" bIns="0" rtlCol="0" vert="horz">
            <a:spAutoFit/>
          </a:bodyPr>
          <a:lstStyle/>
          <a:p>
            <a:pPr marL="193040">
              <a:lnSpc>
                <a:spcPct val="100000"/>
              </a:lnSpc>
              <a:spcBef>
                <a:spcPts val="1125"/>
              </a:spcBef>
            </a:pPr>
            <a:r>
              <a:rPr dirty="0" sz="2000" spc="-5" b="1">
                <a:solidFill>
                  <a:srgbClr val="CF5B1B"/>
                </a:solidFill>
                <a:latin typeface="Arial"/>
                <a:cs typeface="Arial"/>
              </a:rPr>
              <a:t>Subgraphs </a:t>
            </a:r>
            <a:r>
              <a:rPr dirty="0" sz="1800" spc="-5">
                <a:latin typeface="Arial"/>
                <a:cs typeface="Arial"/>
              </a:rPr>
              <a:t>(both 4-node induced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subgraph)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30"/>
              </a:spcBef>
              <a:tabLst>
                <a:tab pos="3231515" algn="l"/>
              </a:tabLst>
            </a:pPr>
            <a:r>
              <a:rPr dirty="0" sz="2400" spc="-5" b="1">
                <a:solidFill>
                  <a:srgbClr val="C00000"/>
                </a:solidFill>
                <a:latin typeface="Arial"/>
                <a:cs typeface="Arial"/>
              </a:rPr>
              <a:t>Left	</a:t>
            </a:r>
            <a:r>
              <a:rPr dirty="0" sz="2400" spc="-5" b="1">
                <a:solidFill>
                  <a:srgbClr val="0000FF"/>
                </a:solidFill>
                <a:latin typeface="Arial"/>
                <a:cs typeface="Arial"/>
              </a:rPr>
              <a:t>Right</a:t>
            </a:r>
            <a:endParaRPr sz="2400">
              <a:latin typeface="Arial"/>
              <a:cs typeface="Arial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540636" y="6699893"/>
            <a:ext cx="400685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3/13/21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4" name="object 9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95" name="object 9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31</a:t>
            </a:fld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912608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78827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5"/>
              <a:t>Real-world graph </a:t>
            </a:r>
            <a:r>
              <a:rPr dirty="0" spc="-10"/>
              <a:t>exhibits </a:t>
            </a:r>
            <a:r>
              <a:rPr dirty="0" spc="-5"/>
              <a:t>community</a:t>
            </a:r>
            <a:r>
              <a:rPr dirty="0" spc="125"/>
              <a:t> </a:t>
            </a:r>
            <a:r>
              <a:rPr dirty="0" spc="-15"/>
              <a:t>structure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8108" y="1920747"/>
            <a:ext cx="7874634" cy="344868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625475" marR="5080" indent="-274320">
              <a:lnSpc>
                <a:spcPct val="100699"/>
              </a:lnSpc>
              <a:spcBef>
                <a:spcPts val="7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20">
                <a:latin typeface="Calibri"/>
                <a:cs typeface="Calibri"/>
              </a:rPr>
              <a:t>large </a:t>
            </a:r>
            <a:r>
              <a:rPr dirty="0" sz="2800" spc="-15">
                <a:latin typeface="Calibri"/>
                <a:cs typeface="Calibri"/>
              </a:rPr>
              <a:t>graph </a:t>
            </a:r>
            <a:r>
              <a:rPr dirty="0" sz="2800" spc="-10">
                <a:latin typeface="Calibri"/>
                <a:cs typeface="Calibri"/>
              </a:rPr>
              <a:t>can </a:t>
            </a:r>
            <a:r>
              <a:rPr dirty="0" sz="2800">
                <a:latin typeface="Calibri"/>
                <a:cs typeface="Calibri"/>
              </a:rPr>
              <a:t>be </a:t>
            </a:r>
            <a:r>
              <a:rPr dirty="0" sz="2800" spc="-10">
                <a:latin typeface="Calibri"/>
                <a:cs typeface="Calibri"/>
              </a:rPr>
              <a:t>decomposed </a:t>
            </a:r>
            <a:r>
              <a:rPr dirty="0" sz="2800" spc="-20">
                <a:latin typeface="Calibri"/>
                <a:cs typeface="Calibri"/>
              </a:rPr>
              <a:t>into </a:t>
            </a:r>
            <a:r>
              <a:rPr dirty="0" sz="2800" spc="-15">
                <a:latin typeface="Calibri"/>
                <a:cs typeface="Calibri"/>
              </a:rPr>
              <a:t>many </a:t>
            </a:r>
            <a:r>
              <a:rPr dirty="0" sz="2800" spc="-130">
                <a:latin typeface="Calibri"/>
                <a:cs typeface="Calibri"/>
              </a:rPr>
              <a:t>small  </a:t>
            </a:r>
            <a:r>
              <a:rPr dirty="0" sz="2800" spc="-5">
                <a:latin typeface="Calibri"/>
                <a:cs typeface="Calibri"/>
              </a:rPr>
              <a:t>communities.</a:t>
            </a:r>
            <a:endParaRPr sz="2800">
              <a:latin typeface="Calibri"/>
              <a:cs typeface="Calibri"/>
            </a:endParaRPr>
          </a:p>
          <a:p>
            <a:pPr marL="336550" marR="2228215" indent="-323850">
              <a:lnSpc>
                <a:spcPct val="100600"/>
              </a:lnSpc>
              <a:spcBef>
                <a:spcPts val="281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30" b="1">
                <a:solidFill>
                  <a:srgbClr val="D60093"/>
                </a:solidFill>
                <a:latin typeface="Calibri"/>
                <a:cs typeface="Calibri"/>
              </a:rPr>
              <a:t>Key </a:t>
            </a:r>
            <a:r>
              <a:rPr dirty="0" sz="3200" spc="-10" b="1">
                <a:solidFill>
                  <a:srgbClr val="D60093"/>
                </a:solidFill>
                <a:latin typeface="Calibri"/>
                <a:cs typeface="Calibri"/>
              </a:rPr>
              <a:t>insight </a:t>
            </a:r>
            <a:r>
              <a:rPr dirty="0" sz="1800" spc="-5" b="1">
                <a:solidFill>
                  <a:srgbClr val="D60093"/>
                </a:solidFill>
                <a:latin typeface="Calibri"/>
                <a:cs typeface="Calibri"/>
              </a:rPr>
              <a:t>[Chiang </a:t>
            </a:r>
            <a:r>
              <a:rPr dirty="0" sz="1800" spc="-10" b="1">
                <a:solidFill>
                  <a:srgbClr val="D60093"/>
                </a:solidFill>
                <a:latin typeface="Calibri"/>
                <a:cs typeface="Calibri"/>
              </a:rPr>
              <a:t>et </a:t>
            </a:r>
            <a:r>
              <a:rPr dirty="0" sz="1800" spc="-5" b="1">
                <a:solidFill>
                  <a:srgbClr val="D60093"/>
                </a:solidFill>
                <a:latin typeface="Calibri"/>
                <a:cs typeface="Calibri"/>
              </a:rPr>
              <a:t>al. </a:t>
            </a:r>
            <a:r>
              <a:rPr dirty="0" sz="1800" b="1">
                <a:solidFill>
                  <a:srgbClr val="D60093"/>
                </a:solidFill>
                <a:latin typeface="Calibri"/>
                <a:cs typeface="Calibri"/>
              </a:rPr>
              <a:t>KDD </a:t>
            </a:r>
            <a:r>
              <a:rPr dirty="0" sz="1800" spc="-5" b="1">
                <a:solidFill>
                  <a:srgbClr val="D60093"/>
                </a:solidFill>
                <a:latin typeface="Calibri"/>
                <a:cs typeface="Calibri"/>
              </a:rPr>
              <a:t>2019]</a:t>
            </a: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: </a:t>
            </a:r>
            <a:r>
              <a:rPr dirty="0" sz="3200" spc="-5" b="1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2800" spc="-5" b="1">
                <a:solidFill>
                  <a:srgbClr val="008000"/>
                </a:solidFill>
                <a:latin typeface="Calibri"/>
                <a:cs typeface="Calibri"/>
              </a:rPr>
              <a:t>Sample </a:t>
            </a:r>
            <a:r>
              <a:rPr dirty="0" sz="2800" b="1">
                <a:solidFill>
                  <a:srgbClr val="008000"/>
                </a:solidFill>
                <a:latin typeface="Calibri"/>
                <a:cs typeface="Calibri"/>
              </a:rPr>
              <a:t>a </a:t>
            </a:r>
            <a:r>
              <a:rPr dirty="0" sz="2800" spc="-5" b="1">
                <a:solidFill>
                  <a:srgbClr val="008000"/>
                </a:solidFill>
                <a:latin typeface="Calibri"/>
                <a:cs typeface="Calibri"/>
              </a:rPr>
              <a:t>community </a:t>
            </a:r>
            <a:r>
              <a:rPr dirty="0" sz="2800" b="1">
                <a:solidFill>
                  <a:srgbClr val="008000"/>
                </a:solidFill>
                <a:latin typeface="Calibri"/>
                <a:cs typeface="Calibri"/>
              </a:rPr>
              <a:t>as a </a:t>
            </a:r>
            <a:r>
              <a:rPr dirty="0" sz="2800" spc="-10" b="1">
                <a:solidFill>
                  <a:srgbClr val="008000"/>
                </a:solidFill>
                <a:latin typeface="Calibri"/>
                <a:cs typeface="Calibri"/>
              </a:rPr>
              <a:t>subgraph.  </a:t>
            </a:r>
            <a:r>
              <a:rPr dirty="0" sz="2800" spc="-15" b="1">
                <a:solidFill>
                  <a:srgbClr val="008000"/>
                </a:solidFill>
                <a:latin typeface="Calibri"/>
                <a:cs typeface="Calibri"/>
              </a:rPr>
              <a:t>Each subgraph retains </a:t>
            </a:r>
            <a:r>
              <a:rPr dirty="0" sz="2800" spc="-5" b="1">
                <a:solidFill>
                  <a:srgbClr val="008000"/>
                </a:solidFill>
                <a:latin typeface="Calibri"/>
                <a:cs typeface="Calibri"/>
              </a:rPr>
              <a:t>essential  </a:t>
            </a:r>
            <a:r>
              <a:rPr dirty="0" sz="2800" spc="-10" b="1">
                <a:solidFill>
                  <a:srgbClr val="008000"/>
                </a:solidFill>
                <a:latin typeface="Calibri"/>
                <a:cs typeface="Calibri"/>
              </a:rPr>
              <a:t>local </a:t>
            </a:r>
            <a:r>
              <a:rPr dirty="0" sz="2800" spc="-5" b="1">
                <a:solidFill>
                  <a:srgbClr val="008000"/>
                </a:solidFill>
                <a:latin typeface="Calibri"/>
                <a:cs typeface="Calibri"/>
              </a:rPr>
              <a:t>connectivity </a:t>
            </a:r>
            <a:r>
              <a:rPr dirty="0" sz="2800" spc="-15" b="1">
                <a:solidFill>
                  <a:srgbClr val="008000"/>
                </a:solidFill>
                <a:latin typeface="Calibri"/>
                <a:cs typeface="Calibri"/>
              </a:rPr>
              <a:t>pattern </a:t>
            </a:r>
            <a:r>
              <a:rPr dirty="0" sz="2800" spc="-5" b="1">
                <a:solidFill>
                  <a:srgbClr val="008000"/>
                </a:solidFill>
                <a:latin typeface="Calibri"/>
                <a:cs typeface="Calibri"/>
              </a:rPr>
              <a:t>of the  original</a:t>
            </a:r>
            <a:r>
              <a:rPr dirty="0" sz="2800" spc="-50" b="1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2800" spc="-15" b="1">
                <a:solidFill>
                  <a:srgbClr val="008000"/>
                </a:solidFill>
                <a:latin typeface="Calibri"/>
                <a:cs typeface="Calibri"/>
              </a:rPr>
              <a:t>graph.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295038" y="4038600"/>
            <a:ext cx="2463858" cy="24391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164244" y="4019555"/>
            <a:ext cx="2737257" cy="251414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40636" y="6699893"/>
            <a:ext cx="400685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3/13/21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31</a:t>
            </a:fld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5620512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196340"/>
            <a:ext cx="7162800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60" b="1">
                <a:latin typeface="Calibri"/>
                <a:cs typeface="Calibri"/>
              </a:rPr>
              <a:t>We </a:t>
            </a:r>
            <a:r>
              <a:rPr dirty="0" spc="-20" b="1">
                <a:latin typeface="Calibri"/>
                <a:cs typeface="Calibri"/>
              </a:rPr>
              <a:t>first </a:t>
            </a:r>
            <a:r>
              <a:rPr dirty="0" spc="-10" b="1">
                <a:latin typeface="Calibri"/>
                <a:cs typeface="Calibri"/>
              </a:rPr>
              <a:t>introduce “vanilla”</a:t>
            </a:r>
            <a:r>
              <a:rPr dirty="0" spc="55" b="1">
                <a:latin typeface="Calibri"/>
                <a:cs typeface="Calibri"/>
              </a:rPr>
              <a:t> </a:t>
            </a:r>
            <a:r>
              <a:rPr dirty="0" spc="-15" b="1">
                <a:latin typeface="Calibri"/>
                <a:cs typeface="Calibri"/>
              </a:rPr>
              <a:t>Cluster-GCN.</a:t>
            </a: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5" b="1">
                <a:latin typeface="Calibri"/>
                <a:cs typeface="Calibri"/>
              </a:rPr>
              <a:t>Cluster-GCN </a:t>
            </a:r>
            <a:r>
              <a:rPr dirty="0" spc="-10"/>
              <a:t>consists </a:t>
            </a:r>
            <a:r>
              <a:rPr dirty="0"/>
              <a:t>of </a:t>
            </a:r>
            <a:r>
              <a:rPr dirty="0" spc="-10"/>
              <a:t>two</a:t>
            </a:r>
            <a:r>
              <a:rPr dirty="0" spc="-60"/>
              <a:t> </a:t>
            </a:r>
            <a:r>
              <a:rPr dirty="0" spc="-15"/>
              <a:t>steps: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6563" y="2262123"/>
            <a:ext cx="7769225" cy="2244725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287020" marR="5080" indent="-274320">
              <a:lnSpc>
                <a:spcPts val="3310"/>
              </a:lnSpc>
              <a:spcBef>
                <a:spcPts val="25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0" b="1">
                <a:solidFill>
                  <a:srgbClr val="D60093"/>
                </a:solidFill>
                <a:latin typeface="Calibri"/>
                <a:cs typeface="Calibri"/>
              </a:rPr>
              <a:t>Pre-processing</a:t>
            </a:r>
            <a:r>
              <a:rPr dirty="0" sz="2800" spc="-10">
                <a:latin typeface="Calibri"/>
                <a:cs typeface="Calibri"/>
              </a:rPr>
              <a:t>: </a:t>
            </a:r>
            <a:r>
              <a:rPr dirty="0" sz="2800" spc="-15">
                <a:latin typeface="Calibri"/>
                <a:cs typeface="Calibri"/>
              </a:rPr>
              <a:t>Given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20">
                <a:latin typeface="Calibri"/>
                <a:cs typeface="Calibri"/>
              </a:rPr>
              <a:t>large </a:t>
            </a:r>
            <a:r>
              <a:rPr dirty="0" sz="2800" spc="-15">
                <a:latin typeface="Calibri"/>
                <a:cs typeface="Calibri"/>
              </a:rPr>
              <a:t>graph, </a:t>
            </a:r>
            <a:r>
              <a:rPr dirty="0" sz="2800" spc="-5">
                <a:latin typeface="Calibri"/>
                <a:cs typeface="Calibri"/>
              </a:rPr>
              <a:t>partition it </a:t>
            </a:r>
            <a:r>
              <a:rPr dirty="0" sz="2800" spc="-160">
                <a:latin typeface="Calibri"/>
                <a:cs typeface="Calibri"/>
              </a:rPr>
              <a:t>into  </a:t>
            </a:r>
            <a:r>
              <a:rPr dirty="0" sz="2800" spc="-15">
                <a:latin typeface="Calibri"/>
                <a:cs typeface="Calibri"/>
              </a:rPr>
              <a:t>groups </a:t>
            </a:r>
            <a:r>
              <a:rPr dirty="0" sz="2800" spc="-5">
                <a:latin typeface="Calibri"/>
                <a:cs typeface="Calibri"/>
              </a:rPr>
              <a:t>of nodes (i.e.,</a:t>
            </a:r>
            <a:r>
              <a:rPr dirty="0" sz="2800" spc="3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subgraphs).</a:t>
            </a:r>
            <a:endParaRPr sz="2800">
              <a:latin typeface="Calibri"/>
              <a:cs typeface="Calibri"/>
            </a:endParaRPr>
          </a:p>
          <a:p>
            <a:pPr marL="287020" marR="405765" indent="-274320">
              <a:lnSpc>
                <a:spcPct val="99600"/>
              </a:lnSpc>
              <a:spcBef>
                <a:spcPts val="65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0" b="1">
                <a:solidFill>
                  <a:srgbClr val="D60093"/>
                </a:solidFill>
                <a:latin typeface="Calibri"/>
                <a:cs typeface="Calibri"/>
              </a:rPr>
              <a:t>Mini-batch training</a:t>
            </a:r>
            <a:r>
              <a:rPr dirty="0" sz="2800" spc="-10">
                <a:latin typeface="Calibri"/>
                <a:cs typeface="Calibri"/>
              </a:rPr>
              <a:t>: </a:t>
            </a:r>
            <a:r>
              <a:rPr dirty="0" sz="2800" spc="-5">
                <a:latin typeface="Calibri"/>
                <a:cs typeface="Calibri"/>
              </a:rPr>
              <a:t>Sample one node </a:t>
            </a:r>
            <a:r>
              <a:rPr dirty="0" sz="2800" spc="-15">
                <a:latin typeface="Calibri"/>
                <a:cs typeface="Calibri"/>
              </a:rPr>
              <a:t>group </a:t>
            </a:r>
            <a:r>
              <a:rPr dirty="0" sz="2800" spc="-20">
                <a:latin typeface="Calibri"/>
                <a:cs typeface="Calibri"/>
              </a:rPr>
              <a:t>at </a:t>
            </a:r>
            <a:r>
              <a:rPr dirty="0" sz="2800" spc="-600">
                <a:latin typeface="Calibri"/>
                <a:cs typeface="Calibri"/>
              </a:rPr>
              <a:t>a  </a:t>
            </a:r>
            <a:r>
              <a:rPr dirty="0" sz="2800" spc="-5">
                <a:latin typeface="Calibri"/>
                <a:cs typeface="Calibri"/>
              </a:rPr>
              <a:t>time. Apply </a:t>
            </a:r>
            <a:r>
              <a:rPr dirty="0" sz="2800" spc="-35">
                <a:latin typeface="Calibri"/>
                <a:cs typeface="Calibri"/>
              </a:rPr>
              <a:t>GNN’s </a:t>
            </a:r>
            <a:r>
              <a:rPr dirty="0" sz="2800" spc="-10">
                <a:latin typeface="Calibri"/>
                <a:cs typeface="Calibri"/>
              </a:rPr>
              <a:t>message </a:t>
            </a:r>
            <a:r>
              <a:rPr dirty="0" sz="2800" spc="-5">
                <a:latin typeface="Calibri"/>
                <a:cs typeface="Calibri"/>
              </a:rPr>
              <a:t>passing </a:t>
            </a:r>
            <a:r>
              <a:rPr dirty="0" sz="2800" spc="-15">
                <a:latin typeface="Calibri"/>
                <a:cs typeface="Calibri"/>
              </a:rPr>
              <a:t>over </a:t>
            </a: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5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2800" spc="-5" b="1">
                <a:solidFill>
                  <a:srgbClr val="008000"/>
                </a:solidFill>
                <a:latin typeface="Calibri"/>
                <a:cs typeface="Calibri"/>
              </a:rPr>
              <a:t>induced</a:t>
            </a:r>
            <a:r>
              <a:rPr dirty="0" sz="2800" spc="-75" b="1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008000"/>
                </a:solidFill>
                <a:latin typeface="Calibri"/>
                <a:cs typeface="Calibri"/>
              </a:rPr>
              <a:t>subgraph</a:t>
            </a:r>
            <a:r>
              <a:rPr dirty="0" sz="2800" spc="-1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63983" y="4629403"/>
            <a:ext cx="18929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D60093"/>
                </a:solidFill>
                <a:latin typeface="Arial"/>
                <a:cs typeface="Arial"/>
              </a:rPr>
              <a:t>Input </a:t>
            </a:r>
            <a:r>
              <a:rPr dirty="0" sz="1800" b="1">
                <a:solidFill>
                  <a:srgbClr val="D60093"/>
                </a:solidFill>
                <a:latin typeface="Arial"/>
                <a:cs typeface="Arial"/>
              </a:rPr>
              <a:t>large</a:t>
            </a:r>
            <a:r>
              <a:rPr dirty="0" sz="1800" spc="-90" b="1">
                <a:solidFill>
                  <a:srgbClr val="D60093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D60093"/>
                </a:solidFill>
                <a:latin typeface="Arial"/>
                <a:cs typeface="Arial"/>
              </a:rPr>
              <a:t>graph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65982" y="4611115"/>
            <a:ext cx="12954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D60093"/>
                </a:solidFill>
                <a:latin typeface="Arial"/>
                <a:cs typeface="Arial"/>
              </a:rPr>
              <a:t>Partitioning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415839" y="5374586"/>
            <a:ext cx="81280" cy="383540"/>
          </a:xfrm>
          <a:custGeom>
            <a:avLst/>
            <a:gdLst/>
            <a:ahLst/>
            <a:cxnLst/>
            <a:rect l="l" t="t" r="r" b="b"/>
            <a:pathLst>
              <a:path w="81280" h="383539">
                <a:moveTo>
                  <a:pt x="0" y="0"/>
                </a:moveTo>
                <a:lnTo>
                  <a:pt x="81081" y="38303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542370" y="5335564"/>
            <a:ext cx="316865" cy="438150"/>
          </a:xfrm>
          <a:custGeom>
            <a:avLst/>
            <a:gdLst/>
            <a:ahLst/>
            <a:cxnLst/>
            <a:rect l="l" t="t" r="r" b="b"/>
            <a:pathLst>
              <a:path w="316864" h="438150">
                <a:moveTo>
                  <a:pt x="316773" y="0"/>
                </a:moveTo>
                <a:lnTo>
                  <a:pt x="0" y="43764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904595" y="5351150"/>
            <a:ext cx="12065" cy="302895"/>
          </a:xfrm>
          <a:custGeom>
            <a:avLst/>
            <a:gdLst/>
            <a:ahLst/>
            <a:cxnLst/>
            <a:rect l="l" t="t" r="r" b="b"/>
            <a:pathLst>
              <a:path w="12064" h="302895">
                <a:moveTo>
                  <a:pt x="0" y="0"/>
                </a:moveTo>
                <a:lnTo>
                  <a:pt x="11766" y="30240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151201" y="5459294"/>
            <a:ext cx="224154" cy="0"/>
          </a:xfrm>
          <a:custGeom>
            <a:avLst/>
            <a:gdLst/>
            <a:ahLst/>
            <a:cxnLst/>
            <a:rect l="l" t="t" r="r" b="b"/>
            <a:pathLst>
              <a:path w="224155" h="0">
                <a:moveTo>
                  <a:pt x="0" y="0"/>
                </a:moveTo>
                <a:lnTo>
                  <a:pt x="223580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316046" y="5512510"/>
            <a:ext cx="123189" cy="266700"/>
          </a:xfrm>
          <a:custGeom>
            <a:avLst/>
            <a:gdLst/>
            <a:ahLst/>
            <a:cxnLst/>
            <a:rect l="l" t="t" r="r" b="b"/>
            <a:pathLst>
              <a:path w="123190" h="266700">
                <a:moveTo>
                  <a:pt x="0" y="266076"/>
                </a:moveTo>
                <a:lnTo>
                  <a:pt x="123011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461290" y="5335564"/>
            <a:ext cx="398145" cy="23495"/>
          </a:xfrm>
          <a:custGeom>
            <a:avLst/>
            <a:gdLst/>
            <a:ahLst/>
            <a:cxnLst/>
            <a:rect l="l" t="t" r="r" b="b"/>
            <a:pathLst>
              <a:path w="398144" h="23495">
                <a:moveTo>
                  <a:pt x="0" y="23434"/>
                </a:moveTo>
                <a:lnTo>
                  <a:pt x="397852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484510" y="5496924"/>
            <a:ext cx="528320" cy="628650"/>
          </a:xfrm>
          <a:custGeom>
            <a:avLst/>
            <a:gdLst/>
            <a:ahLst/>
            <a:cxnLst/>
            <a:rect l="l" t="t" r="r" b="b"/>
            <a:pathLst>
              <a:path w="528319" h="628650">
                <a:moveTo>
                  <a:pt x="0" y="0"/>
                </a:moveTo>
                <a:lnTo>
                  <a:pt x="527773" y="62843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03335" y="5459295"/>
            <a:ext cx="948690" cy="314325"/>
          </a:xfrm>
          <a:custGeom>
            <a:avLst/>
            <a:gdLst/>
            <a:ahLst/>
            <a:cxnLst/>
            <a:rect l="l" t="t" r="r" b="b"/>
            <a:pathLst>
              <a:path w="948689" h="314325">
                <a:moveTo>
                  <a:pt x="948133" y="313910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561198" y="5744398"/>
            <a:ext cx="309880" cy="66675"/>
          </a:xfrm>
          <a:custGeom>
            <a:avLst/>
            <a:gdLst/>
            <a:ahLst/>
            <a:cxnLst/>
            <a:rect l="l" t="t" r="r" b="b"/>
            <a:pathLst>
              <a:path w="309880" h="66675">
                <a:moveTo>
                  <a:pt x="0" y="66436"/>
                </a:moveTo>
                <a:lnTo>
                  <a:pt x="309711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439058" y="5228916"/>
            <a:ext cx="110489" cy="177165"/>
          </a:xfrm>
          <a:custGeom>
            <a:avLst/>
            <a:gdLst/>
            <a:ahLst/>
            <a:cxnLst/>
            <a:rect l="l" t="t" r="r" b="b"/>
            <a:pathLst>
              <a:path w="110490" h="177164">
                <a:moveTo>
                  <a:pt x="0" y="177165"/>
                </a:moveTo>
                <a:lnTo>
                  <a:pt x="109914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132373" y="5496924"/>
            <a:ext cx="184150" cy="281940"/>
          </a:xfrm>
          <a:custGeom>
            <a:avLst/>
            <a:gdLst/>
            <a:ahLst/>
            <a:cxnLst/>
            <a:rect l="l" t="t" r="r" b="b"/>
            <a:pathLst>
              <a:path w="184150" h="281939">
                <a:moveTo>
                  <a:pt x="183673" y="281661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132373" y="5191286"/>
            <a:ext cx="398145" cy="230504"/>
          </a:xfrm>
          <a:custGeom>
            <a:avLst/>
            <a:gdLst/>
            <a:ahLst/>
            <a:cxnLst/>
            <a:rect l="l" t="t" r="r" b="b"/>
            <a:pathLst>
              <a:path w="398144" h="230504">
                <a:moveTo>
                  <a:pt x="397772" y="0"/>
                </a:moveTo>
                <a:lnTo>
                  <a:pt x="0" y="23038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902285" y="6414059"/>
            <a:ext cx="343535" cy="16510"/>
          </a:xfrm>
          <a:custGeom>
            <a:avLst/>
            <a:gdLst/>
            <a:ahLst/>
            <a:cxnLst/>
            <a:rect l="l" t="t" r="r" b="b"/>
            <a:pathLst>
              <a:path w="343535" h="16510">
                <a:moveTo>
                  <a:pt x="342903" y="0"/>
                </a:moveTo>
                <a:lnTo>
                  <a:pt x="0" y="1645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883460" y="6200614"/>
            <a:ext cx="128905" cy="192405"/>
          </a:xfrm>
          <a:custGeom>
            <a:avLst/>
            <a:gdLst/>
            <a:ahLst/>
            <a:cxnLst/>
            <a:rect l="l" t="t" r="r" b="b"/>
            <a:pathLst>
              <a:path w="128905" h="192404">
                <a:moveTo>
                  <a:pt x="128823" y="0"/>
                </a:moveTo>
                <a:lnTo>
                  <a:pt x="0" y="192267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103185" y="6200614"/>
            <a:ext cx="161290" cy="175895"/>
          </a:xfrm>
          <a:custGeom>
            <a:avLst/>
            <a:gdLst/>
            <a:ahLst/>
            <a:cxnLst/>
            <a:rect l="l" t="t" r="r" b="b"/>
            <a:pathLst>
              <a:path w="161289" h="175895">
                <a:moveTo>
                  <a:pt x="0" y="0"/>
                </a:moveTo>
                <a:lnTo>
                  <a:pt x="160829" y="175815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670448" y="6241518"/>
            <a:ext cx="122555" cy="151765"/>
          </a:xfrm>
          <a:custGeom>
            <a:avLst/>
            <a:gdLst/>
            <a:ahLst/>
            <a:cxnLst/>
            <a:rect l="l" t="t" r="r" b="b"/>
            <a:pathLst>
              <a:path w="122555" h="151764">
                <a:moveTo>
                  <a:pt x="0" y="0"/>
                </a:moveTo>
                <a:lnTo>
                  <a:pt x="122108" y="151363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354918" y="5759985"/>
            <a:ext cx="561975" cy="616585"/>
          </a:xfrm>
          <a:custGeom>
            <a:avLst/>
            <a:gdLst/>
            <a:ahLst/>
            <a:cxnLst/>
            <a:rect l="l" t="t" r="r" b="b"/>
            <a:pathLst>
              <a:path w="561975" h="616585">
                <a:moveTo>
                  <a:pt x="561441" y="0"/>
                </a:moveTo>
                <a:lnTo>
                  <a:pt x="0" y="616445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374781" y="5406080"/>
            <a:ext cx="128905" cy="106680"/>
          </a:xfrm>
          <a:custGeom>
            <a:avLst/>
            <a:gdLst/>
            <a:ahLst/>
            <a:cxnLst/>
            <a:rect l="l" t="t" r="r" b="b"/>
            <a:pathLst>
              <a:path w="128905" h="106679">
                <a:moveTo>
                  <a:pt x="64277" y="0"/>
                </a:moveTo>
                <a:lnTo>
                  <a:pt x="39257" y="4181"/>
                </a:lnTo>
                <a:lnTo>
                  <a:pt x="18826" y="15586"/>
                </a:lnTo>
                <a:lnTo>
                  <a:pt x="5051" y="32501"/>
                </a:lnTo>
                <a:lnTo>
                  <a:pt x="0" y="53215"/>
                </a:lnTo>
                <a:lnTo>
                  <a:pt x="5051" y="73929"/>
                </a:lnTo>
                <a:lnTo>
                  <a:pt x="18826" y="90844"/>
                </a:lnTo>
                <a:lnTo>
                  <a:pt x="39257" y="102249"/>
                </a:lnTo>
                <a:lnTo>
                  <a:pt x="64277" y="106431"/>
                </a:lnTo>
                <a:lnTo>
                  <a:pt x="89297" y="102249"/>
                </a:lnTo>
                <a:lnTo>
                  <a:pt x="109729" y="90844"/>
                </a:lnTo>
                <a:lnTo>
                  <a:pt x="123504" y="73929"/>
                </a:lnTo>
                <a:lnTo>
                  <a:pt x="128555" y="53215"/>
                </a:lnTo>
                <a:lnTo>
                  <a:pt x="123504" y="32501"/>
                </a:lnTo>
                <a:lnTo>
                  <a:pt x="109729" y="15586"/>
                </a:lnTo>
                <a:lnTo>
                  <a:pt x="89297" y="4181"/>
                </a:lnTo>
                <a:lnTo>
                  <a:pt x="6427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374781" y="5406080"/>
            <a:ext cx="128905" cy="106680"/>
          </a:xfrm>
          <a:custGeom>
            <a:avLst/>
            <a:gdLst/>
            <a:ahLst/>
            <a:cxnLst/>
            <a:rect l="l" t="t" r="r" b="b"/>
            <a:pathLst>
              <a:path w="128905" h="106679">
                <a:moveTo>
                  <a:pt x="0" y="53215"/>
                </a:moveTo>
                <a:lnTo>
                  <a:pt x="5051" y="32501"/>
                </a:lnTo>
                <a:lnTo>
                  <a:pt x="18826" y="15586"/>
                </a:lnTo>
                <a:lnTo>
                  <a:pt x="39258" y="4181"/>
                </a:lnTo>
                <a:lnTo>
                  <a:pt x="64278" y="0"/>
                </a:lnTo>
                <a:lnTo>
                  <a:pt x="89297" y="4181"/>
                </a:lnTo>
                <a:lnTo>
                  <a:pt x="109729" y="15586"/>
                </a:lnTo>
                <a:lnTo>
                  <a:pt x="123504" y="32501"/>
                </a:lnTo>
                <a:lnTo>
                  <a:pt x="128556" y="53215"/>
                </a:lnTo>
                <a:lnTo>
                  <a:pt x="123504" y="73929"/>
                </a:lnTo>
                <a:lnTo>
                  <a:pt x="109729" y="90844"/>
                </a:lnTo>
                <a:lnTo>
                  <a:pt x="89297" y="102249"/>
                </a:lnTo>
                <a:lnTo>
                  <a:pt x="64278" y="106431"/>
                </a:lnTo>
                <a:lnTo>
                  <a:pt x="39258" y="102249"/>
                </a:lnTo>
                <a:lnTo>
                  <a:pt x="18826" y="90844"/>
                </a:lnTo>
                <a:lnTo>
                  <a:pt x="5051" y="73929"/>
                </a:lnTo>
                <a:lnTo>
                  <a:pt x="0" y="53215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773730" y="6377296"/>
            <a:ext cx="128905" cy="106680"/>
          </a:xfrm>
          <a:custGeom>
            <a:avLst/>
            <a:gdLst/>
            <a:ahLst/>
            <a:cxnLst/>
            <a:rect l="l" t="t" r="r" b="b"/>
            <a:pathLst>
              <a:path w="128905" h="106679">
                <a:moveTo>
                  <a:pt x="64277" y="0"/>
                </a:moveTo>
                <a:lnTo>
                  <a:pt x="39257" y="4181"/>
                </a:lnTo>
                <a:lnTo>
                  <a:pt x="18826" y="15586"/>
                </a:lnTo>
                <a:lnTo>
                  <a:pt x="5051" y="32501"/>
                </a:lnTo>
                <a:lnTo>
                  <a:pt x="0" y="53215"/>
                </a:lnTo>
                <a:lnTo>
                  <a:pt x="5051" y="73929"/>
                </a:lnTo>
                <a:lnTo>
                  <a:pt x="18826" y="90844"/>
                </a:lnTo>
                <a:lnTo>
                  <a:pt x="39257" y="102249"/>
                </a:lnTo>
                <a:lnTo>
                  <a:pt x="64277" y="106430"/>
                </a:lnTo>
                <a:lnTo>
                  <a:pt x="89297" y="102249"/>
                </a:lnTo>
                <a:lnTo>
                  <a:pt x="109729" y="90844"/>
                </a:lnTo>
                <a:lnTo>
                  <a:pt x="123504" y="73929"/>
                </a:lnTo>
                <a:lnTo>
                  <a:pt x="128555" y="53215"/>
                </a:lnTo>
                <a:lnTo>
                  <a:pt x="123504" y="32501"/>
                </a:lnTo>
                <a:lnTo>
                  <a:pt x="109729" y="15586"/>
                </a:lnTo>
                <a:lnTo>
                  <a:pt x="89297" y="4181"/>
                </a:lnTo>
                <a:lnTo>
                  <a:pt x="6427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773730" y="6377296"/>
            <a:ext cx="128905" cy="106680"/>
          </a:xfrm>
          <a:custGeom>
            <a:avLst/>
            <a:gdLst/>
            <a:ahLst/>
            <a:cxnLst/>
            <a:rect l="l" t="t" r="r" b="b"/>
            <a:pathLst>
              <a:path w="128905" h="106679">
                <a:moveTo>
                  <a:pt x="0" y="53215"/>
                </a:moveTo>
                <a:lnTo>
                  <a:pt x="5051" y="32501"/>
                </a:lnTo>
                <a:lnTo>
                  <a:pt x="18826" y="15586"/>
                </a:lnTo>
                <a:lnTo>
                  <a:pt x="39258" y="4181"/>
                </a:lnTo>
                <a:lnTo>
                  <a:pt x="64278" y="0"/>
                </a:lnTo>
                <a:lnTo>
                  <a:pt x="89297" y="4181"/>
                </a:lnTo>
                <a:lnTo>
                  <a:pt x="109729" y="15586"/>
                </a:lnTo>
                <a:lnTo>
                  <a:pt x="123504" y="32501"/>
                </a:lnTo>
                <a:lnTo>
                  <a:pt x="128556" y="53215"/>
                </a:lnTo>
                <a:lnTo>
                  <a:pt x="123504" y="73929"/>
                </a:lnTo>
                <a:lnTo>
                  <a:pt x="109729" y="90844"/>
                </a:lnTo>
                <a:lnTo>
                  <a:pt x="89297" y="102249"/>
                </a:lnTo>
                <a:lnTo>
                  <a:pt x="64278" y="106431"/>
                </a:lnTo>
                <a:lnTo>
                  <a:pt x="39258" y="102249"/>
                </a:lnTo>
                <a:lnTo>
                  <a:pt x="18826" y="90844"/>
                </a:lnTo>
                <a:lnTo>
                  <a:pt x="5051" y="73929"/>
                </a:lnTo>
                <a:lnTo>
                  <a:pt x="0" y="53215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251770" y="5778586"/>
            <a:ext cx="128905" cy="106680"/>
          </a:xfrm>
          <a:custGeom>
            <a:avLst/>
            <a:gdLst/>
            <a:ahLst/>
            <a:cxnLst/>
            <a:rect l="l" t="t" r="r" b="b"/>
            <a:pathLst>
              <a:path w="128905" h="106679">
                <a:moveTo>
                  <a:pt x="64277" y="0"/>
                </a:moveTo>
                <a:lnTo>
                  <a:pt x="39258" y="4181"/>
                </a:lnTo>
                <a:lnTo>
                  <a:pt x="18826" y="15586"/>
                </a:lnTo>
                <a:lnTo>
                  <a:pt x="5051" y="32501"/>
                </a:lnTo>
                <a:lnTo>
                  <a:pt x="0" y="53215"/>
                </a:lnTo>
                <a:lnTo>
                  <a:pt x="5051" y="73929"/>
                </a:lnTo>
                <a:lnTo>
                  <a:pt x="18826" y="90844"/>
                </a:lnTo>
                <a:lnTo>
                  <a:pt x="39258" y="102249"/>
                </a:lnTo>
                <a:lnTo>
                  <a:pt x="64277" y="106430"/>
                </a:lnTo>
                <a:lnTo>
                  <a:pt x="89297" y="102249"/>
                </a:lnTo>
                <a:lnTo>
                  <a:pt x="109729" y="90844"/>
                </a:lnTo>
                <a:lnTo>
                  <a:pt x="123504" y="73929"/>
                </a:lnTo>
                <a:lnTo>
                  <a:pt x="128556" y="53215"/>
                </a:lnTo>
                <a:lnTo>
                  <a:pt x="123504" y="32501"/>
                </a:lnTo>
                <a:lnTo>
                  <a:pt x="109729" y="15586"/>
                </a:lnTo>
                <a:lnTo>
                  <a:pt x="89297" y="4181"/>
                </a:lnTo>
                <a:lnTo>
                  <a:pt x="6427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251770" y="5778586"/>
            <a:ext cx="128905" cy="106680"/>
          </a:xfrm>
          <a:custGeom>
            <a:avLst/>
            <a:gdLst/>
            <a:ahLst/>
            <a:cxnLst/>
            <a:rect l="l" t="t" r="r" b="b"/>
            <a:pathLst>
              <a:path w="128905" h="106679">
                <a:moveTo>
                  <a:pt x="0" y="53215"/>
                </a:moveTo>
                <a:lnTo>
                  <a:pt x="5051" y="32501"/>
                </a:lnTo>
                <a:lnTo>
                  <a:pt x="18826" y="15586"/>
                </a:lnTo>
                <a:lnTo>
                  <a:pt x="39258" y="4181"/>
                </a:lnTo>
                <a:lnTo>
                  <a:pt x="64278" y="0"/>
                </a:lnTo>
                <a:lnTo>
                  <a:pt x="89297" y="4181"/>
                </a:lnTo>
                <a:lnTo>
                  <a:pt x="109729" y="15586"/>
                </a:lnTo>
                <a:lnTo>
                  <a:pt x="123504" y="32501"/>
                </a:lnTo>
                <a:lnTo>
                  <a:pt x="128556" y="53215"/>
                </a:lnTo>
                <a:lnTo>
                  <a:pt x="123504" y="73929"/>
                </a:lnTo>
                <a:lnTo>
                  <a:pt x="109729" y="90844"/>
                </a:lnTo>
                <a:lnTo>
                  <a:pt x="89297" y="102249"/>
                </a:lnTo>
                <a:lnTo>
                  <a:pt x="64278" y="106431"/>
                </a:lnTo>
                <a:lnTo>
                  <a:pt x="39258" y="102249"/>
                </a:lnTo>
                <a:lnTo>
                  <a:pt x="18826" y="90844"/>
                </a:lnTo>
                <a:lnTo>
                  <a:pt x="5051" y="73929"/>
                </a:lnTo>
                <a:lnTo>
                  <a:pt x="0" y="53215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432643" y="5757619"/>
            <a:ext cx="128905" cy="106680"/>
          </a:xfrm>
          <a:custGeom>
            <a:avLst/>
            <a:gdLst/>
            <a:ahLst/>
            <a:cxnLst/>
            <a:rect l="l" t="t" r="r" b="b"/>
            <a:pathLst>
              <a:path w="128905" h="106679">
                <a:moveTo>
                  <a:pt x="64277" y="0"/>
                </a:moveTo>
                <a:lnTo>
                  <a:pt x="39257" y="4181"/>
                </a:lnTo>
                <a:lnTo>
                  <a:pt x="18826" y="15586"/>
                </a:lnTo>
                <a:lnTo>
                  <a:pt x="5051" y="32501"/>
                </a:lnTo>
                <a:lnTo>
                  <a:pt x="0" y="53215"/>
                </a:lnTo>
                <a:lnTo>
                  <a:pt x="5051" y="73929"/>
                </a:lnTo>
                <a:lnTo>
                  <a:pt x="18826" y="90844"/>
                </a:lnTo>
                <a:lnTo>
                  <a:pt x="39257" y="102249"/>
                </a:lnTo>
                <a:lnTo>
                  <a:pt x="64277" y="106430"/>
                </a:lnTo>
                <a:lnTo>
                  <a:pt x="89297" y="102249"/>
                </a:lnTo>
                <a:lnTo>
                  <a:pt x="109729" y="90844"/>
                </a:lnTo>
                <a:lnTo>
                  <a:pt x="123504" y="73929"/>
                </a:lnTo>
                <a:lnTo>
                  <a:pt x="128555" y="53215"/>
                </a:lnTo>
                <a:lnTo>
                  <a:pt x="123504" y="32501"/>
                </a:lnTo>
                <a:lnTo>
                  <a:pt x="109729" y="15586"/>
                </a:lnTo>
                <a:lnTo>
                  <a:pt x="89297" y="4181"/>
                </a:lnTo>
                <a:lnTo>
                  <a:pt x="6427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432643" y="5757619"/>
            <a:ext cx="128905" cy="106680"/>
          </a:xfrm>
          <a:custGeom>
            <a:avLst/>
            <a:gdLst/>
            <a:ahLst/>
            <a:cxnLst/>
            <a:rect l="l" t="t" r="r" b="b"/>
            <a:pathLst>
              <a:path w="128905" h="106679">
                <a:moveTo>
                  <a:pt x="0" y="53215"/>
                </a:moveTo>
                <a:lnTo>
                  <a:pt x="5051" y="32501"/>
                </a:lnTo>
                <a:lnTo>
                  <a:pt x="18826" y="15586"/>
                </a:lnTo>
                <a:lnTo>
                  <a:pt x="39258" y="4181"/>
                </a:lnTo>
                <a:lnTo>
                  <a:pt x="64278" y="0"/>
                </a:lnTo>
                <a:lnTo>
                  <a:pt x="89297" y="4181"/>
                </a:lnTo>
                <a:lnTo>
                  <a:pt x="109729" y="15586"/>
                </a:lnTo>
                <a:lnTo>
                  <a:pt x="123504" y="32501"/>
                </a:lnTo>
                <a:lnTo>
                  <a:pt x="128556" y="53215"/>
                </a:lnTo>
                <a:lnTo>
                  <a:pt x="123504" y="73929"/>
                </a:lnTo>
                <a:lnTo>
                  <a:pt x="109729" y="90844"/>
                </a:lnTo>
                <a:lnTo>
                  <a:pt x="89297" y="102249"/>
                </a:lnTo>
                <a:lnTo>
                  <a:pt x="64278" y="106431"/>
                </a:lnTo>
                <a:lnTo>
                  <a:pt x="39258" y="102249"/>
                </a:lnTo>
                <a:lnTo>
                  <a:pt x="18826" y="90844"/>
                </a:lnTo>
                <a:lnTo>
                  <a:pt x="5051" y="73929"/>
                </a:lnTo>
                <a:lnTo>
                  <a:pt x="0" y="53215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351562" y="5268155"/>
            <a:ext cx="128905" cy="106680"/>
          </a:xfrm>
          <a:custGeom>
            <a:avLst/>
            <a:gdLst/>
            <a:ahLst/>
            <a:cxnLst/>
            <a:rect l="l" t="t" r="r" b="b"/>
            <a:pathLst>
              <a:path w="128905" h="106679">
                <a:moveTo>
                  <a:pt x="64277" y="0"/>
                </a:moveTo>
                <a:lnTo>
                  <a:pt x="39257" y="4181"/>
                </a:lnTo>
                <a:lnTo>
                  <a:pt x="18826" y="15586"/>
                </a:lnTo>
                <a:lnTo>
                  <a:pt x="5051" y="32501"/>
                </a:lnTo>
                <a:lnTo>
                  <a:pt x="0" y="53214"/>
                </a:lnTo>
                <a:lnTo>
                  <a:pt x="5051" y="73928"/>
                </a:lnTo>
                <a:lnTo>
                  <a:pt x="18826" y="90843"/>
                </a:lnTo>
                <a:lnTo>
                  <a:pt x="39257" y="102247"/>
                </a:lnTo>
                <a:lnTo>
                  <a:pt x="64277" y="106429"/>
                </a:lnTo>
                <a:lnTo>
                  <a:pt x="89297" y="102247"/>
                </a:lnTo>
                <a:lnTo>
                  <a:pt x="109729" y="90843"/>
                </a:lnTo>
                <a:lnTo>
                  <a:pt x="123504" y="73928"/>
                </a:lnTo>
                <a:lnTo>
                  <a:pt x="128555" y="53214"/>
                </a:lnTo>
                <a:lnTo>
                  <a:pt x="123504" y="32501"/>
                </a:lnTo>
                <a:lnTo>
                  <a:pt x="109729" y="15586"/>
                </a:lnTo>
                <a:lnTo>
                  <a:pt x="89297" y="4181"/>
                </a:lnTo>
                <a:lnTo>
                  <a:pt x="6427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2351562" y="5268155"/>
            <a:ext cx="128905" cy="106680"/>
          </a:xfrm>
          <a:custGeom>
            <a:avLst/>
            <a:gdLst/>
            <a:ahLst/>
            <a:cxnLst/>
            <a:rect l="l" t="t" r="r" b="b"/>
            <a:pathLst>
              <a:path w="128905" h="106679">
                <a:moveTo>
                  <a:pt x="0" y="53215"/>
                </a:moveTo>
                <a:lnTo>
                  <a:pt x="5051" y="32501"/>
                </a:lnTo>
                <a:lnTo>
                  <a:pt x="18826" y="15586"/>
                </a:lnTo>
                <a:lnTo>
                  <a:pt x="39258" y="4181"/>
                </a:lnTo>
                <a:lnTo>
                  <a:pt x="64278" y="0"/>
                </a:lnTo>
                <a:lnTo>
                  <a:pt x="89297" y="4181"/>
                </a:lnTo>
                <a:lnTo>
                  <a:pt x="109729" y="15586"/>
                </a:lnTo>
                <a:lnTo>
                  <a:pt x="123504" y="32501"/>
                </a:lnTo>
                <a:lnTo>
                  <a:pt x="128556" y="53215"/>
                </a:lnTo>
                <a:lnTo>
                  <a:pt x="123504" y="73929"/>
                </a:lnTo>
                <a:lnTo>
                  <a:pt x="109729" y="90844"/>
                </a:lnTo>
                <a:lnTo>
                  <a:pt x="89297" y="102249"/>
                </a:lnTo>
                <a:lnTo>
                  <a:pt x="64278" y="106431"/>
                </a:lnTo>
                <a:lnTo>
                  <a:pt x="39258" y="102249"/>
                </a:lnTo>
                <a:lnTo>
                  <a:pt x="18826" y="90844"/>
                </a:lnTo>
                <a:lnTo>
                  <a:pt x="5051" y="73929"/>
                </a:lnTo>
                <a:lnTo>
                  <a:pt x="0" y="53215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530145" y="5138070"/>
            <a:ext cx="128905" cy="106680"/>
          </a:xfrm>
          <a:custGeom>
            <a:avLst/>
            <a:gdLst/>
            <a:ahLst/>
            <a:cxnLst/>
            <a:rect l="l" t="t" r="r" b="b"/>
            <a:pathLst>
              <a:path w="128905" h="106679">
                <a:moveTo>
                  <a:pt x="64278" y="0"/>
                </a:moveTo>
                <a:lnTo>
                  <a:pt x="39258" y="4181"/>
                </a:lnTo>
                <a:lnTo>
                  <a:pt x="18826" y="15586"/>
                </a:lnTo>
                <a:lnTo>
                  <a:pt x="5051" y="32501"/>
                </a:lnTo>
                <a:lnTo>
                  <a:pt x="0" y="53215"/>
                </a:lnTo>
                <a:lnTo>
                  <a:pt x="5051" y="73929"/>
                </a:lnTo>
                <a:lnTo>
                  <a:pt x="18826" y="90844"/>
                </a:lnTo>
                <a:lnTo>
                  <a:pt x="39258" y="102249"/>
                </a:lnTo>
                <a:lnTo>
                  <a:pt x="64278" y="106431"/>
                </a:lnTo>
                <a:lnTo>
                  <a:pt x="89298" y="102249"/>
                </a:lnTo>
                <a:lnTo>
                  <a:pt x="109730" y="90844"/>
                </a:lnTo>
                <a:lnTo>
                  <a:pt x="123505" y="73929"/>
                </a:lnTo>
                <a:lnTo>
                  <a:pt x="128557" y="53215"/>
                </a:lnTo>
                <a:lnTo>
                  <a:pt x="123505" y="32501"/>
                </a:lnTo>
                <a:lnTo>
                  <a:pt x="109730" y="15586"/>
                </a:lnTo>
                <a:lnTo>
                  <a:pt x="89298" y="4181"/>
                </a:lnTo>
                <a:lnTo>
                  <a:pt x="6427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530145" y="5138070"/>
            <a:ext cx="128905" cy="106680"/>
          </a:xfrm>
          <a:custGeom>
            <a:avLst/>
            <a:gdLst/>
            <a:ahLst/>
            <a:cxnLst/>
            <a:rect l="l" t="t" r="r" b="b"/>
            <a:pathLst>
              <a:path w="128905" h="106679">
                <a:moveTo>
                  <a:pt x="0" y="53215"/>
                </a:moveTo>
                <a:lnTo>
                  <a:pt x="5051" y="32501"/>
                </a:lnTo>
                <a:lnTo>
                  <a:pt x="18826" y="15586"/>
                </a:lnTo>
                <a:lnTo>
                  <a:pt x="39258" y="4181"/>
                </a:lnTo>
                <a:lnTo>
                  <a:pt x="64278" y="0"/>
                </a:lnTo>
                <a:lnTo>
                  <a:pt x="89297" y="4181"/>
                </a:lnTo>
                <a:lnTo>
                  <a:pt x="109729" y="15586"/>
                </a:lnTo>
                <a:lnTo>
                  <a:pt x="123504" y="32501"/>
                </a:lnTo>
                <a:lnTo>
                  <a:pt x="128556" y="53215"/>
                </a:lnTo>
                <a:lnTo>
                  <a:pt x="123504" y="73929"/>
                </a:lnTo>
                <a:lnTo>
                  <a:pt x="109729" y="90844"/>
                </a:lnTo>
                <a:lnTo>
                  <a:pt x="89297" y="102249"/>
                </a:lnTo>
                <a:lnTo>
                  <a:pt x="64278" y="106431"/>
                </a:lnTo>
                <a:lnTo>
                  <a:pt x="39258" y="102249"/>
                </a:lnTo>
                <a:lnTo>
                  <a:pt x="18826" y="90844"/>
                </a:lnTo>
                <a:lnTo>
                  <a:pt x="5051" y="73929"/>
                </a:lnTo>
                <a:lnTo>
                  <a:pt x="0" y="53215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2852080" y="5653554"/>
            <a:ext cx="128905" cy="106680"/>
          </a:xfrm>
          <a:custGeom>
            <a:avLst/>
            <a:gdLst/>
            <a:ahLst/>
            <a:cxnLst/>
            <a:rect l="l" t="t" r="r" b="b"/>
            <a:pathLst>
              <a:path w="128905" h="106679">
                <a:moveTo>
                  <a:pt x="64278" y="0"/>
                </a:moveTo>
                <a:lnTo>
                  <a:pt x="39258" y="4181"/>
                </a:lnTo>
                <a:lnTo>
                  <a:pt x="18826" y="15586"/>
                </a:lnTo>
                <a:lnTo>
                  <a:pt x="5051" y="32501"/>
                </a:lnTo>
                <a:lnTo>
                  <a:pt x="0" y="53215"/>
                </a:lnTo>
                <a:lnTo>
                  <a:pt x="5051" y="73929"/>
                </a:lnTo>
                <a:lnTo>
                  <a:pt x="18826" y="90844"/>
                </a:lnTo>
                <a:lnTo>
                  <a:pt x="39258" y="102249"/>
                </a:lnTo>
                <a:lnTo>
                  <a:pt x="64278" y="106430"/>
                </a:lnTo>
                <a:lnTo>
                  <a:pt x="89297" y="102249"/>
                </a:lnTo>
                <a:lnTo>
                  <a:pt x="109729" y="90844"/>
                </a:lnTo>
                <a:lnTo>
                  <a:pt x="123504" y="73929"/>
                </a:lnTo>
                <a:lnTo>
                  <a:pt x="128555" y="53215"/>
                </a:lnTo>
                <a:lnTo>
                  <a:pt x="123504" y="32501"/>
                </a:lnTo>
                <a:lnTo>
                  <a:pt x="109729" y="15586"/>
                </a:lnTo>
                <a:lnTo>
                  <a:pt x="89297" y="4181"/>
                </a:lnTo>
                <a:lnTo>
                  <a:pt x="6427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2852080" y="5653554"/>
            <a:ext cx="128905" cy="106680"/>
          </a:xfrm>
          <a:custGeom>
            <a:avLst/>
            <a:gdLst/>
            <a:ahLst/>
            <a:cxnLst/>
            <a:rect l="l" t="t" r="r" b="b"/>
            <a:pathLst>
              <a:path w="128905" h="106679">
                <a:moveTo>
                  <a:pt x="0" y="53215"/>
                </a:moveTo>
                <a:lnTo>
                  <a:pt x="5051" y="32501"/>
                </a:lnTo>
                <a:lnTo>
                  <a:pt x="18826" y="15586"/>
                </a:lnTo>
                <a:lnTo>
                  <a:pt x="39258" y="4181"/>
                </a:lnTo>
                <a:lnTo>
                  <a:pt x="64278" y="0"/>
                </a:lnTo>
                <a:lnTo>
                  <a:pt x="89297" y="4181"/>
                </a:lnTo>
                <a:lnTo>
                  <a:pt x="109729" y="15586"/>
                </a:lnTo>
                <a:lnTo>
                  <a:pt x="123504" y="32501"/>
                </a:lnTo>
                <a:lnTo>
                  <a:pt x="128556" y="53215"/>
                </a:lnTo>
                <a:lnTo>
                  <a:pt x="123504" y="73929"/>
                </a:lnTo>
                <a:lnTo>
                  <a:pt x="109729" y="90844"/>
                </a:lnTo>
                <a:lnTo>
                  <a:pt x="89297" y="102249"/>
                </a:lnTo>
                <a:lnTo>
                  <a:pt x="64278" y="106431"/>
                </a:lnTo>
                <a:lnTo>
                  <a:pt x="39258" y="102249"/>
                </a:lnTo>
                <a:lnTo>
                  <a:pt x="18826" y="90844"/>
                </a:lnTo>
                <a:lnTo>
                  <a:pt x="5051" y="73929"/>
                </a:lnTo>
                <a:lnTo>
                  <a:pt x="0" y="53215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022645" y="5406080"/>
            <a:ext cx="128905" cy="106680"/>
          </a:xfrm>
          <a:custGeom>
            <a:avLst/>
            <a:gdLst/>
            <a:ahLst/>
            <a:cxnLst/>
            <a:rect l="l" t="t" r="r" b="b"/>
            <a:pathLst>
              <a:path w="128905" h="106679">
                <a:moveTo>
                  <a:pt x="64278" y="0"/>
                </a:moveTo>
                <a:lnTo>
                  <a:pt x="39258" y="4181"/>
                </a:lnTo>
                <a:lnTo>
                  <a:pt x="18826" y="15586"/>
                </a:lnTo>
                <a:lnTo>
                  <a:pt x="5051" y="32501"/>
                </a:lnTo>
                <a:lnTo>
                  <a:pt x="0" y="53215"/>
                </a:lnTo>
                <a:lnTo>
                  <a:pt x="5051" y="73929"/>
                </a:lnTo>
                <a:lnTo>
                  <a:pt x="18826" y="90844"/>
                </a:lnTo>
                <a:lnTo>
                  <a:pt x="39258" y="102249"/>
                </a:lnTo>
                <a:lnTo>
                  <a:pt x="64278" y="106431"/>
                </a:lnTo>
                <a:lnTo>
                  <a:pt x="89297" y="102249"/>
                </a:lnTo>
                <a:lnTo>
                  <a:pt x="109729" y="90844"/>
                </a:lnTo>
                <a:lnTo>
                  <a:pt x="123504" y="73929"/>
                </a:lnTo>
                <a:lnTo>
                  <a:pt x="128556" y="53215"/>
                </a:lnTo>
                <a:lnTo>
                  <a:pt x="123504" y="32501"/>
                </a:lnTo>
                <a:lnTo>
                  <a:pt x="109729" y="15586"/>
                </a:lnTo>
                <a:lnTo>
                  <a:pt x="89297" y="4181"/>
                </a:lnTo>
                <a:lnTo>
                  <a:pt x="6427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022645" y="5406080"/>
            <a:ext cx="128905" cy="106680"/>
          </a:xfrm>
          <a:custGeom>
            <a:avLst/>
            <a:gdLst/>
            <a:ahLst/>
            <a:cxnLst/>
            <a:rect l="l" t="t" r="r" b="b"/>
            <a:pathLst>
              <a:path w="128905" h="106679">
                <a:moveTo>
                  <a:pt x="0" y="53215"/>
                </a:moveTo>
                <a:lnTo>
                  <a:pt x="5051" y="32501"/>
                </a:lnTo>
                <a:lnTo>
                  <a:pt x="18826" y="15586"/>
                </a:lnTo>
                <a:lnTo>
                  <a:pt x="39258" y="4181"/>
                </a:lnTo>
                <a:lnTo>
                  <a:pt x="64278" y="0"/>
                </a:lnTo>
                <a:lnTo>
                  <a:pt x="89297" y="4181"/>
                </a:lnTo>
                <a:lnTo>
                  <a:pt x="109729" y="15586"/>
                </a:lnTo>
                <a:lnTo>
                  <a:pt x="123504" y="32501"/>
                </a:lnTo>
                <a:lnTo>
                  <a:pt x="128556" y="53215"/>
                </a:lnTo>
                <a:lnTo>
                  <a:pt x="123504" y="73929"/>
                </a:lnTo>
                <a:lnTo>
                  <a:pt x="109729" y="90844"/>
                </a:lnTo>
                <a:lnTo>
                  <a:pt x="89297" y="102249"/>
                </a:lnTo>
                <a:lnTo>
                  <a:pt x="64278" y="106431"/>
                </a:lnTo>
                <a:lnTo>
                  <a:pt x="39258" y="102249"/>
                </a:lnTo>
                <a:lnTo>
                  <a:pt x="18826" y="90844"/>
                </a:lnTo>
                <a:lnTo>
                  <a:pt x="5051" y="73929"/>
                </a:lnTo>
                <a:lnTo>
                  <a:pt x="0" y="53215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840316" y="5244720"/>
            <a:ext cx="128905" cy="106680"/>
          </a:xfrm>
          <a:custGeom>
            <a:avLst/>
            <a:gdLst/>
            <a:ahLst/>
            <a:cxnLst/>
            <a:rect l="l" t="t" r="r" b="b"/>
            <a:pathLst>
              <a:path w="128905" h="106679">
                <a:moveTo>
                  <a:pt x="64278" y="0"/>
                </a:moveTo>
                <a:lnTo>
                  <a:pt x="39258" y="4181"/>
                </a:lnTo>
                <a:lnTo>
                  <a:pt x="18826" y="15586"/>
                </a:lnTo>
                <a:lnTo>
                  <a:pt x="5051" y="32501"/>
                </a:lnTo>
                <a:lnTo>
                  <a:pt x="0" y="53215"/>
                </a:lnTo>
                <a:lnTo>
                  <a:pt x="5051" y="73928"/>
                </a:lnTo>
                <a:lnTo>
                  <a:pt x="18826" y="90844"/>
                </a:lnTo>
                <a:lnTo>
                  <a:pt x="39258" y="102248"/>
                </a:lnTo>
                <a:lnTo>
                  <a:pt x="64278" y="106431"/>
                </a:lnTo>
                <a:lnTo>
                  <a:pt x="89297" y="102248"/>
                </a:lnTo>
                <a:lnTo>
                  <a:pt x="109729" y="90844"/>
                </a:lnTo>
                <a:lnTo>
                  <a:pt x="123504" y="73928"/>
                </a:lnTo>
                <a:lnTo>
                  <a:pt x="128555" y="53215"/>
                </a:lnTo>
                <a:lnTo>
                  <a:pt x="123504" y="32501"/>
                </a:lnTo>
                <a:lnTo>
                  <a:pt x="109729" y="15586"/>
                </a:lnTo>
                <a:lnTo>
                  <a:pt x="89297" y="4181"/>
                </a:lnTo>
                <a:lnTo>
                  <a:pt x="6427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2840316" y="5244720"/>
            <a:ext cx="128905" cy="106680"/>
          </a:xfrm>
          <a:custGeom>
            <a:avLst/>
            <a:gdLst/>
            <a:ahLst/>
            <a:cxnLst/>
            <a:rect l="l" t="t" r="r" b="b"/>
            <a:pathLst>
              <a:path w="128905" h="106679">
                <a:moveTo>
                  <a:pt x="0" y="53215"/>
                </a:moveTo>
                <a:lnTo>
                  <a:pt x="5051" y="32501"/>
                </a:lnTo>
                <a:lnTo>
                  <a:pt x="18826" y="15586"/>
                </a:lnTo>
                <a:lnTo>
                  <a:pt x="39258" y="4181"/>
                </a:lnTo>
                <a:lnTo>
                  <a:pt x="64278" y="0"/>
                </a:lnTo>
                <a:lnTo>
                  <a:pt x="89297" y="4181"/>
                </a:lnTo>
                <a:lnTo>
                  <a:pt x="109729" y="15586"/>
                </a:lnTo>
                <a:lnTo>
                  <a:pt x="123504" y="32501"/>
                </a:lnTo>
                <a:lnTo>
                  <a:pt x="128556" y="53215"/>
                </a:lnTo>
                <a:lnTo>
                  <a:pt x="123504" y="73929"/>
                </a:lnTo>
                <a:lnTo>
                  <a:pt x="109729" y="90844"/>
                </a:lnTo>
                <a:lnTo>
                  <a:pt x="89297" y="102249"/>
                </a:lnTo>
                <a:lnTo>
                  <a:pt x="64278" y="106431"/>
                </a:lnTo>
                <a:lnTo>
                  <a:pt x="39258" y="102249"/>
                </a:lnTo>
                <a:lnTo>
                  <a:pt x="18826" y="90844"/>
                </a:lnTo>
                <a:lnTo>
                  <a:pt x="5051" y="73929"/>
                </a:lnTo>
                <a:lnTo>
                  <a:pt x="0" y="53215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2245188" y="6360843"/>
            <a:ext cx="128905" cy="106680"/>
          </a:xfrm>
          <a:custGeom>
            <a:avLst/>
            <a:gdLst/>
            <a:ahLst/>
            <a:cxnLst/>
            <a:rect l="l" t="t" r="r" b="b"/>
            <a:pathLst>
              <a:path w="128905" h="106679">
                <a:moveTo>
                  <a:pt x="64278" y="0"/>
                </a:moveTo>
                <a:lnTo>
                  <a:pt x="39258" y="4181"/>
                </a:lnTo>
                <a:lnTo>
                  <a:pt x="18826" y="15586"/>
                </a:lnTo>
                <a:lnTo>
                  <a:pt x="5051" y="32501"/>
                </a:lnTo>
                <a:lnTo>
                  <a:pt x="0" y="53215"/>
                </a:lnTo>
                <a:lnTo>
                  <a:pt x="5051" y="73929"/>
                </a:lnTo>
                <a:lnTo>
                  <a:pt x="18826" y="90844"/>
                </a:lnTo>
                <a:lnTo>
                  <a:pt x="39258" y="102249"/>
                </a:lnTo>
                <a:lnTo>
                  <a:pt x="64278" y="106430"/>
                </a:lnTo>
                <a:lnTo>
                  <a:pt x="89297" y="102249"/>
                </a:lnTo>
                <a:lnTo>
                  <a:pt x="109729" y="90844"/>
                </a:lnTo>
                <a:lnTo>
                  <a:pt x="123504" y="73929"/>
                </a:lnTo>
                <a:lnTo>
                  <a:pt x="128555" y="53215"/>
                </a:lnTo>
                <a:lnTo>
                  <a:pt x="123504" y="32501"/>
                </a:lnTo>
                <a:lnTo>
                  <a:pt x="109729" y="15586"/>
                </a:lnTo>
                <a:lnTo>
                  <a:pt x="89297" y="4181"/>
                </a:lnTo>
                <a:lnTo>
                  <a:pt x="6427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2245188" y="6360843"/>
            <a:ext cx="128905" cy="106680"/>
          </a:xfrm>
          <a:custGeom>
            <a:avLst/>
            <a:gdLst/>
            <a:ahLst/>
            <a:cxnLst/>
            <a:rect l="l" t="t" r="r" b="b"/>
            <a:pathLst>
              <a:path w="128905" h="106679">
                <a:moveTo>
                  <a:pt x="0" y="53215"/>
                </a:moveTo>
                <a:lnTo>
                  <a:pt x="5051" y="32501"/>
                </a:lnTo>
                <a:lnTo>
                  <a:pt x="18826" y="15586"/>
                </a:lnTo>
                <a:lnTo>
                  <a:pt x="39258" y="4181"/>
                </a:lnTo>
                <a:lnTo>
                  <a:pt x="64278" y="0"/>
                </a:lnTo>
                <a:lnTo>
                  <a:pt x="89297" y="4181"/>
                </a:lnTo>
                <a:lnTo>
                  <a:pt x="109729" y="15586"/>
                </a:lnTo>
                <a:lnTo>
                  <a:pt x="123504" y="32501"/>
                </a:lnTo>
                <a:lnTo>
                  <a:pt x="128556" y="53215"/>
                </a:lnTo>
                <a:lnTo>
                  <a:pt x="123504" y="73929"/>
                </a:lnTo>
                <a:lnTo>
                  <a:pt x="109729" y="90844"/>
                </a:lnTo>
                <a:lnTo>
                  <a:pt x="89297" y="102249"/>
                </a:lnTo>
                <a:lnTo>
                  <a:pt x="64278" y="106431"/>
                </a:lnTo>
                <a:lnTo>
                  <a:pt x="39258" y="102249"/>
                </a:lnTo>
                <a:lnTo>
                  <a:pt x="18826" y="90844"/>
                </a:lnTo>
                <a:lnTo>
                  <a:pt x="5051" y="73929"/>
                </a:lnTo>
                <a:lnTo>
                  <a:pt x="0" y="53215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993456" y="6109770"/>
            <a:ext cx="128905" cy="106680"/>
          </a:xfrm>
          <a:custGeom>
            <a:avLst/>
            <a:gdLst/>
            <a:ahLst/>
            <a:cxnLst/>
            <a:rect l="l" t="t" r="r" b="b"/>
            <a:pathLst>
              <a:path w="128905" h="106679">
                <a:moveTo>
                  <a:pt x="64278" y="0"/>
                </a:moveTo>
                <a:lnTo>
                  <a:pt x="39258" y="4181"/>
                </a:lnTo>
                <a:lnTo>
                  <a:pt x="18826" y="15586"/>
                </a:lnTo>
                <a:lnTo>
                  <a:pt x="5051" y="32501"/>
                </a:lnTo>
                <a:lnTo>
                  <a:pt x="0" y="53215"/>
                </a:lnTo>
                <a:lnTo>
                  <a:pt x="5051" y="73929"/>
                </a:lnTo>
                <a:lnTo>
                  <a:pt x="18826" y="90844"/>
                </a:lnTo>
                <a:lnTo>
                  <a:pt x="39258" y="102249"/>
                </a:lnTo>
                <a:lnTo>
                  <a:pt x="64278" y="106430"/>
                </a:lnTo>
                <a:lnTo>
                  <a:pt x="89297" y="102249"/>
                </a:lnTo>
                <a:lnTo>
                  <a:pt x="109729" y="90844"/>
                </a:lnTo>
                <a:lnTo>
                  <a:pt x="123504" y="73929"/>
                </a:lnTo>
                <a:lnTo>
                  <a:pt x="128555" y="53215"/>
                </a:lnTo>
                <a:lnTo>
                  <a:pt x="123504" y="32501"/>
                </a:lnTo>
                <a:lnTo>
                  <a:pt x="109729" y="15586"/>
                </a:lnTo>
                <a:lnTo>
                  <a:pt x="89297" y="4181"/>
                </a:lnTo>
                <a:lnTo>
                  <a:pt x="6427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993456" y="6109770"/>
            <a:ext cx="128905" cy="106680"/>
          </a:xfrm>
          <a:custGeom>
            <a:avLst/>
            <a:gdLst/>
            <a:ahLst/>
            <a:cxnLst/>
            <a:rect l="l" t="t" r="r" b="b"/>
            <a:pathLst>
              <a:path w="128905" h="106679">
                <a:moveTo>
                  <a:pt x="0" y="53215"/>
                </a:moveTo>
                <a:lnTo>
                  <a:pt x="5051" y="32501"/>
                </a:lnTo>
                <a:lnTo>
                  <a:pt x="18826" y="15586"/>
                </a:lnTo>
                <a:lnTo>
                  <a:pt x="39258" y="4181"/>
                </a:lnTo>
                <a:lnTo>
                  <a:pt x="64278" y="0"/>
                </a:lnTo>
                <a:lnTo>
                  <a:pt x="89297" y="4181"/>
                </a:lnTo>
                <a:lnTo>
                  <a:pt x="109729" y="15586"/>
                </a:lnTo>
                <a:lnTo>
                  <a:pt x="123504" y="32501"/>
                </a:lnTo>
                <a:lnTo>
                  <a:pt x="128556" y="53215"/>
                </a:lnTo>
                <a:lnTo>
                  <a:pt x="123504" y="73929"/>
                </a:lnTo>
                <a:lnTo>
                  <a:pt x="109729" y="90844"/>
                </a:lnTo>
                <a:lnTo>
                  <a:pt x="89297" y="102249"/>
                </a:lnTo>
                <a:lnTo>
                  <a:pt x="64278" y="106431"/>
                </a:lnTo>
                <a:lnTo>
                  <a:pt x="39258" y="102249"/>
                </a:lnTo>
                <a:lnTo>
                  <a:pt x="18826" y="90844"/>
                </a:lnTo>
                <a:lnTo>
                  <a:pt x="5051" y="73929"/>
                </a:lnTo>
                <a:lnTo>
                  <a:pt x="0" y="53215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560719" y="6150673"/>
            <a:ext cx="128905" cy="106680"/>
          </a:xfrm>
          <a:custGeom>
            <a:avLst/>
            <a:gdLst/>
            <a:ahLst/>
            <a:cxnLst/>
            <a:rect l="l" t="t" r="r" b="b"/>
            <a:pathLst>
              <a:path w="128905" h="106679">
                <a:moveTo>
                  <a:pt x="64277" y="0"/>
                </a:moveTo>
                <a:lnTo>
                  <a:pt x="39257" y="4181"/>
                </a:lnTo>
                <a:lnTo>
                  <a:pt x="18826" y="15586"/>
                </a:lnTo>
                <a:lnTo>
                  <a:pt x="5051" y="32501"/>
                </a:lnTo>
                <a:lnTo>
                  <a:pt x="0" y="53215"/>
                </a:lnTo>
                <a:lnTo>
                  <a:pt x="5051" y="73929"/>
                </a:lnTo>
                <a:lnTo>
                  <a:pt x="18826" y="90844"/>
                </a:lnTo>
                <a:lnTo>
                  <a:pt x="39257" y="102249"/>
                </a:lnTo>
                <a:lnTo>
                  <a:pt x="64277" y="106430"/>
                </a:lnTo>
                <a:lnTo>
                  <a:pt x="89297" y="102249"/>
                </a:lnTo>
                <a:lnTo>
                  <a:pt x="109729" y="90844"/>
                </a:lnTo>
                <a:lnTo>
                  <a:pt x="123504" y="73929"/>
                </a:lnTo>
                <a:lnTo>
                  <a:pt x="128555" y="53215"/>
                </a:lnTo>
                <a:lnTo>
                  <a:pt x="123504" y="32501"/>
                </a:lnTo>
                <a:lnTo>
                  <a:pt x="109729" y="15586"/>
                </a:lnTo>
                <a:lnTo>
                  <a:pt x="89297" y="4181"/>
                </a:lnTo>
                <a:lnTo>
                  <a:pt x="6427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560719" y="6150673"/>
            <a:ext cx="128905" cy="106680"/>
          </a:xfrm>
          <a:custGeom>
            <a:avLst/>
            <a:gdLst/>
            <a:ahLst/>
            <a:cxnLst/>
            <a:rect l="l" t="t" r="r" b="b"/>
            <a:pathLst>
              <a:path w="128905" h="106679">
                <a:moveTo>
                  <a:pt x="0" y="53215"/>
                </a:moveTo>
                <a:lnTo>
                  <a:pt x="5051" y="32501"/>
                </a:lnTo>
                <a:lnTo>
                  <a:pt x="18826" y="15586"/>
                </a:lnTo>
                <a:lnTo>
                  <a:pt x="39258" y="4181"/>
                </a:lnTo>
                <a:lnTo>
                  <a:pt x="64278" y="0"/>
                </a:lnTo>
                <a:lnTo>
                  <a:pt x="89297" y="4181"/>
                </a:lnTo>
                <a:lnTo>
                  <a:pt x="109729" y="15586"/>
                </a:lnTo>
                <a:lnTo>
                  <a:pt x="123504" y="32501"/>
                </a:lnTo>
                <a:lnTo>
                  <a:pt x="128556" y="53215"/>
                </a:lnTo>
                <a:lnTo>
                  <a:pt x="123504" y="73929"/>
                </a:lnTo>
                <a:lnTo>
                  <a:pt x="109729" y="90844"/>
                </a:lnTo>
                <a:lnTo>
                  <a:pt x="89297" y="102249"/>
                </a:lnTo>
                <a:lnTo>
                  <a:pt x="64278" y="106431"/>
                </a:lnTo>
                <a:lnTo>
                  <a:pt x="39258" y="102249"/>
                </a:lnTo>
                <a:lnTo>
                  <a:pt x="18826" y="90844"/>
                </a:lnTo>
                <a:lnTo>
                  <a:pt x="5051" y="73929"/>
                </a:lnTo>
                <a:lnTo>
                  <a:pt x="0" y="53215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3442454" y="4983553"/>
            <a:ext cx="3013278" cy="16735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7134938" y="5884656"/>
            <a:ext cx="126364" cy="581660"/>
          </a:xfrm>
          <a:custGeom>
            <a:avLst/>
            <a:gdLst/>
            <a:ahLst/>
            <a:cxnLst/>
            <a:rect l="l" t="t" r="r" b="b"/>
            <a:pathLst>
              <a:path w="126365" h="581660">
                <a:moveTo>
                  <a:pt x="0" y="0"/>
                </a:moveTo>
                <a:lnTo>
                  <a:pt x="126020" y="581617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7331599" y="5825404"/>
            <a:ext cx="492759" cy="664845"/>
          </a:xfrm>
          <a:custGeom>
            <a:avLst/>
            <a:gdLst/>
            <a:ahLst/>
            <a:cxnLst/>
            <a:rect l="l" t="t" r="r" b="b"/>
            <a:pathLst>
              <a:path w="492759" h="664845">
                <a:moveTo>
                  <a:pt x="492341" y="0"/>
                </a:moveTo>
                <a:lnTo>
                  <a:pt x="0" y="664537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7894583" y="5849069"/>
            <a:ext cx="18415" cy="459740"/>
          </a:xfrm>
          <a:custGeom>
            <a:avLst/>
            <a:gdLst/>
            <a:ahLst/>
            <a:cxnLst/>
            <a:rect l="l" t="t" r="r" b="b"/>
            <a:pathLst>
              <a:path w="18415" h="459739">
                <a:moveTo>
                  <a:pt x="0" y="0"/>
                </a:moveTo>
                <a:lnTo>
                  <a:pt x="18288" y="459185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7234843" y="5768267"/>
            <a:ext cx="560070" cy="36195"/>
          </a:xfrm>
          <a:custGeom>
            <a:avLst/>
            <a:gdLst/>
            <a:ahLst/>
            <a:cxnLst/>
            <a:rect l="l" t="t" r="r" b="b"/>
            <a:pathLst>
              <a:path w="560070" h="36195">
                <a:moveTo>
                  <a:pt x="0" y="35584"/>
                </a:moveTo>
                <a:lnTo>
                  <a:pt x="559837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7360861" y="6446199"/>
            <a:ext cx="481965" cy="100965"/>
          </a:xfrm>
          <a:custGeom>
            <a:avLst/>
            <a:gdLst/>
            <a:ahLst/>
            <a:cxnLst/>
            <a:rect l="l" t="t" r="r" b="b"/>
            <a:pathLst>
              <a:path w="481965" h="100965">
                <a:moveTo>
                  <a:pt x="0" y="100880"/>
                </a:moveTo>
                <a:lnTo>
                  <a:pt x="481365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7161055" y="6466274"/>
            <a:ext cx="200025" cy="161925"/>
          </a:xfrm>
          <a:custGeom>
            <a:avLst/>
            <a:gdLst/>
            <a:ahLst/>
            <a:cxnLst/>
            <a:rect l="l" t="t" r="r" b="b"/>
            <a:pathLst>
              <a:path w="200025" h="161925">
                <a:moveTo>
                  <a:pt x="99904" y="0"/>
                </a:moveTo>
                <a:lnTo>
                  <a:pt x="61017" y="6350"/>
                </a:lnTo>
                <a:lnTo>
                  <a:pt x="29261" y="23667"/>
                </a:lnTo>
                <a:lnTo>
                  <a:pt x="7851" y="49352"/>
                </a:lnTo>
                <a:lnTo>
                  <a:pt x="0" y="80805"/>
                </a:lnTo>
                <a:lnTo>
                  <a:pt x="7851" y="112257"/>
                </a:lnTo>
                <a:lnTo>
                  <a:pt x="29261" y="137942"/>
                </a:lnTo>
                <a:lnTo>
                  <a:pt x="61017" y="155259"/>
                </a:lnTo>
                <a:lnTo>
                  <a:pt x="99904" y="161609"/>
                </a:lnTo>
                <a:lnTo>
                  <a:pt x="138791" y="155259"/>
                </a:lnTo>
                <a:lnTo>
                  <a:pt x="170546" y="137942"/>
                </a:lnTo>
                <a:lnTo>
                  <a:pt x="191956" y="112257"/>
                </a:lnTo>
                <a:lnTo>
                  <a:pt x="199807" y="80805"/>
                </a:lnTo>
                <a:lnTo>
                  <a:pt x="191956" y="49352"/>
                </a:lnTo>
                <a:lnTo>
                  <a:pt x="170546" y="23667"/>
                </a:lnTo>
                <a:lnTo>
                  <a:pt x="138791" y="6350"/>
                </a:lnTo>
                <a:lnTo>
                  <a:pt x="9990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7161055" y="6466274"/>
            <a:ext cx="200025" cy="161925"/>
          </a:xfrm>
          <a:custGeom>
            <a:avLst/>
            <a:gdLst/>
            <a:ahLst/>
            <a:cxnLst/>
            <a:rect l="l" t="t" r="r" b="b"/>
            <a:pathLst>
              <a:path w="200025" h="161925">
                <a:moveTo>
                  <a:pt x="0" y="80805"/>
                </a:moveTo>
                <a:lnTo>
                  <a:pt x="7850" y="49352"/>
                </a:lnTo>
                <a:lnTo>
                  <a:pt x="29261" y="23667"/>
                </a:lnTo>
                <a:lnTo>
                  <a:pt x="61016" y="6350"/>
                </a:lnTo>
                <a:lnTo>
                  <a:pt x="99903" y="0"/>
                </a:lnTo>
                <a:lnTo>
                  <a:pt x="138790" y="6350"/>
                </a:lnTo>
                <a:lnTo>
                  <a:pt x="170545" y="23667"/>
                </a:lnTo>
                <a:lnTo>
                  <a:pt x="191956" y="49352"/>
                </a:lnTo>
                <a:lnTo>
                  <a:pt x="199807" y="80805"/>
                </a:lnTo>
                <a:lnTo>
                  <a:pt x="191956" y="112257"/>
                </a:lnTo>
                <a:lnTo>
                  <a:pt x="170545" y="137942"/>
                </a:lnTo>
                <a:lnTo>
                  <a:pt x="138790" y="155259"/>
                </a:lnTo>
                <a:lnTo>
                  <a:pt x="99903" y="161610"/>
                </a:lnTo>
                <a:lnTo>
                  <a:pt x="61016" y="155259"/>
                </a:lnTo>
                <a:lnTo>
                  <a:pt x="29261" y="137942"/>
                </a:lnTo>
                <a:lnTo>
                  <a:pt x="7850" y="112257"/>
                </a:lnTo>
                <a:lnTo>
                  <a:pt x="0" y="80805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7035036" y="5723046"/>
            <a:ext cx="200025" cy="161925"/>
          </a:xfrm>
          <a:custGeom>
            <a:avLst/>
            <a:gdLst/>
            <a:ahLst/>
            <a:cxnLst/>
            <a:rect l="l" t="t" r="r" b="b"/>
            <a:pathLst>
              <a:path w="200025" h="161925">
                <a:moveTo>
                  <a:pt x="99903" y="0"/>
                </a:moveTo>
                <a:lnTo>
                  <a:pt x="61016" y="6350"/>
                </a:lnTo>
                <a:lnTo>
                  <a:pt x="29260" y="23667"/>
                </a:lnTo>
                <a:lnTo>
                  <a:pt x="7850" y="49352"/>
                </a:lnTo>
                <a:lnTo>
                  <a:pt x="0" y="80805"/>
                </a:lnTo>
                <a:lnTo>
                  <a:pt x="7850" y="112257"/>
                </a:lnTo>
                <a:lnTo>
                  <a:pt x="29260" y="137942"/>
                </a:lnTo>
                <a:lnTo>
                  <a:pt x="61016" y="155259"/>
                </a:lnTo>
                <a:lnTo>
                  <a:pt x="99903" y="161610"/>
                </a:lnTo>
                <a:lnTo>
                  <a:pt x="138790" y="155259"/>
                </a:lnTo>
                <a:lnTo>
                  <a:pt x="170545" y="137942"/>
                </a:lnTo>
                <a:lnTo>
                  <a:pt x="191955" y="112257"/>
                </a:lnTo>
                <a:lnTo>
                  <a:pt x="199806" y="80805"/>
                </a:lnTo>
                <a:lnTo>
                  <a:pt x="191955" y="49352"/>
                </a:lnTo>
                <a:lnTo>
                  <a:pt x="170545" y="23667"/>
                </a:lnTo>
                <a:lnTo>
                  <a:pt x="138790" y="6350"/>
                </a:lnTo>
                <a:lnTo>
                  <a:pt x="9990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7035036" y="5723046"/>
            <a:ext cx="200025" cy="161925"/>
          </a:xfrm>
          <a:custGeom>
            <a:avLst/>
            <a:gdLst/>
            <a:ahLst/>
            <a:cxnLst/>
            <a:rect l="l" t="t" r="r" b="b"/>
            <a:pathLst>
              <a:path w="200025" h="161925">
                <a:moveTo>
                  <a:pt x="0" y="80805"/>
                </a:moveTo>
                <a:lnTo>
                  <a:pt x="7850" y="49352"/>
                </a:lnTo>
                <a:lnTo>
                  <a:pt x="29261" y="23667"/>
                </a:lnTo>
                <a:lnTo>
                  <a:pt x="61016" y="6350"/>
                </a:lnTo>
                <a:lnTo>
                  <a:pt x="99903" y="0"/>
                </a:lnTo>
                <a:lnTo>
                  <a:pt x="138790" y="6350"/>
                </a:lnTo>
                <a:lnTo>
                  <a:pt x="170545" y="23667"/>
                </a:lnTo>
                <a:lnTo>
                  <a:pt x="191956" y="49352"/>
                </a:lnTo>
                <a:lnTo>
                  <a:pt x="199807" y="80805"/>
                </a:lnTo>
                <a:lnTo>
                  <a:pt x="191956" y="112257"/>
                </a:lnTo>
                <a:lnTo>
                  <a:pt x="170545" y="137942"/>
                </a:lnTo>
                <a:lnTo>
                  <a:pt x="138790" y="155259"/>
                </a:lnTo>
                <a:lnTo>
                  <a:pt x="99903" y="161610"/>
                </a:lnTo>
                <a:lnTo>
                  <a:pt x="61016" y="155259"/>
                </a:lnTo>
                <a:lnTo>
                  <a:pt x="29261" y="137942"/>
                </a:lnTo>
                <a:lnTo>
                  <a:pt x="7850" y="112257"/>
                </a:lnTo>
                <a:lnTo>
                  <a:pt x="0" y="80805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7812963" y="6308256"/>
            <a:ext cx="200025" cy="161925"/>
          </a:xfrm>
          <a:custGeom>
            <a:avLst/>
            <a:gdLst/>
            <a:ahLst/>
            <a:cxnLst/>
            <a:rect l="l" t="t" r="r" b="b"/>
            <a:pathLst>
              <a:path w="200025" h="161925">
                <a:moveTo>
                  <a:pt x="99903" y="0"/>
                </a:moveTo>
                <a:lnTo>
                  <a:pt x="61016" y="6350"/>
                </a:lnTo>
                <a:lnTo>
                  <a:pt x="29260" y="23667"/>
                </a:lnTo>
                <a:lnTo>
                  <a:pt x="7850" y="49352"/>
                </a:lnTo>
                <a:lnTo>
                  <a:pt x="0" y="80805"/>
                </a:lnTo>
                <a:lnTo>
                  <a:pt x="7850" y="112257"/>
                </a:lnTo>
                <a:lnTo>
                  <a:pt x="29260" y="137942"/>
                </a:lnTo>
                <a:lnTo>
                  <a:pt x="61016" y="155259"/>
                </a:lnTo>
                <a:lnTo>
                  <a:pt x="99903" y="161610"/>
                </a:lnTo>
                <a:lnTo>
                  <a:pt x="138790" y="155259"/>
                </a:lnTo>
                <a:lnTo>
                  <a:pt x="170545" y="137942"/>
                </a:lnTo>
                <a:lnTo>
                  <a:pt x="191955" y="112257"/>
                </a:lnTo>
                <a:lnTo>
                  <a:pt x="199806" y="80805"/>
                </a:lnTo>
                <a:lnTo>
                  <a:pt x="191955" y="49352"/>
                </a:lnTo>
                <a:lnTo>
                  <a:pt x="170545" y="23667"/>
                </a:lnTo>
                <a:lnTo>
                  <a:pt x="138790" y="6350"/>
                </a:lnTo>
                <a:lnTo>
                  <a:pt x="9990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7812963" y="6308256"/>
            <a:ext cx="200025" cy="161925"/>
          </a:xfrm>
          <a:custGeom>
            <a:avLst/>
            <a:gdLst/>
            <a:ahLst/>
            <a:cxnLst/>
            <a:rect l="l" t="t" r="r" b="b"/>
            <a:pathLst>
              <a:path w="200025" h="161925">
                <a:moveTo>
                  <a:pt x="0" y="80805"/>
                </a:moveTo>
                <a:lnTo>
                  <a:pt x="7850" y="49352"/>
                </a:lnTo>
                <a:lnTo>
                  <a:pt x="29261" y="23667"/>
                </a:lnTo>
                <a:lnTo>
                  <a:pt x="61016" y="6350"/>
                </a:lnTo>
                <a:lnTo>
                  <a:pt x="99903" y="0"/>
                </a:lnTo>
                <a:lnTo>
                  <a:pt x="138790" y="6350"/>
                </a:lnTo>
                <a:lnTo>
                  <a:pt x="170545" y="23667"/>
                </a:lnTo>
                <a:lnTo>
                  <a:pt x="191956" y="49352"/>
                </a:lnTo>
                <a:lnTo>
                  <a:pt x="199807" y="80805"/>
                </a:lnTo>
                <a:lnTo>
                  <a:pt x="191956" y="112257"/>
                </a:lnTo>
                <a:lnTo>
                  <a:pt x="170545" y="137942"/>
                </a:lnTo>
                <a:lnTo>
                  <a:pt x="138790" y="155259"/>
                </a:lnTo>
                <a:lnTo>
                  <a:pt x="99903" y="161610"/>
                </a:lnTo>
                <a:lnTo>
                  <a:pt x="61016" y="155259"/>
                </a:lnTo>
                <a:lnTo>
                  <a:pt x="29261" y="137942"/>
                </a:lnTo>
                <a:lnTo>
                  <a:pt x="7850" y="112257"/>
                </a:lnTo>
                <a:lnTo>
                  <a:pt x="0" y="80805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7794678" y="5687462"/>
            <a:ext cx="200025" cy="161925"/>
          </a:xfrm>
          <a:custGeom>
            <a:avLst/>
            <a:gdLst/>
            <a:ahLst/>
            <a:cxnLst/>
            <a:rect l="l" t="t" r="r" b="b"/>
            <a:pathLst>
              <a:path w="200025" h="161925">
                <a:moveTo>
                  <a:pt x="99903" y="0"/>
                </a:moveTo>
                <a:lnTo>
                  <a:pt x="61016" y="6350"/>
                </a:lnTo>
                <a:lnTo>
                  <a:pt x="29260" y="23667"/>
                </a:lnTo>
                <a:lnTo>
                  <a:pt x="7850" y="49352"/>
                </a:lnTo>
                <a:lnTo>
                  <a:pt x="0" y="80805"/>
                </a:lnTo>
                <a:lnTo>
                  <a:pt x="7850" y="112257"/>
                </a:lnTo>
                <a:lnTo>
                  <a:pt x="29260" y="137942"/>
                </a:lnTo>
                <a:lnTo>
                  <a:pt x="61016" y="155259"/>
                </a:lnTo>
                <a:lnTo>
                  <a:pt x="99903" y="161609"/>
                </a:lnTo>
                <a:lnTo>
                  <a:pt x="138790" y="155259"/>
                </a:lnTo>
                <a:lnTo>
                  <a:pt x="170546" y="137942"/>
                </a:lnTo>
                <a:lnTo>
                  <a:pt x="191956" y="112257"/>
                </a:lnTo>
                <a:lnTo>
                  <a:pt x="199807" y="80805"/>
                </a:lnTo>
                <a:lnTo>
                  <a:pt x="191956" y="49352"/>
                </a:lnTo>
                <a:lnTo>
                  <a:pt x="170546" y="23667"/>
                </a:lnTo>
                <a:lnTo>
                  <a:pt x="138790" y="6350"/>
                </a:lnTo>
                <a:lnTo>
                  <a:pt x="9990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7794678" y="5687462"/>
            <a:ext cx="200025" cy="161925"/>
          </a:xfrm>
          <a:custGeom>
            <a:avLst/>
            <a:gdLst/>
            <a:ahLst/>
            <a:cxnLst/>
            <a:rect l="l" t="t" r="r" b="b"/>
            <a:pathLst>
              <a:path w="200025" h="161925">
                <a:moveTo>
                  <a:pt x="0" y="80805"/>
                </a:moveTo>
                <a:lnTo>
                  <a:pt x="7850" y="49352"/>
                </a:lnTo>
                <a:lnTo>
                  <a:pt x="29261" y="23667"/>
                </a:lnTo>
                <a:lnTo>
                  <a:pt x="61016" y="6350"/>
                </a:lnTo>
                <a:lnTo>
                  <a:pt x="99903" y="0"/>
                </a:lnTo>
                <a:lnTo>
                  <a:pt x="138790" y="6350"/>
                </a:lnTo>
                <a:lnTo>
                  <a:pt x="170545" y="23667"/>
                </a:lnTo>
                <a:lnTo>
                  <a:pt x="191956" y="49352"/>
                </a:lnTo>
                <a:lnTo>
                  <a:pt x="199807" y="80805"/>
                </a:lnTo>
                <a:lnTo>
                  <a:pt x="191956" y="112257"/>
                </a:lnTo>
                <a:lnTo>
                  <a:pt x="170545" y="137942"/>
                </a:lnTo>
                <a:lnTo>
                  <a:pt x="138790" y="155259"/>
                </a:lnTo>
                <a:lnTo>
                  <a:pt x="99903" y="161610"/>
                </a:lnTo>
                <a:lnTo>
                  <a:pt x="61016" y="155259"/>
                </a:lnTo>
                <a:lnTo>
                  <a:pt x="29261" y="137942"/>
                </a:lnTo>
                <a:lnTo>
                  <a:pt x="7850" y="112257"/>
                </a:lnTo>
                <a:lnTo>
                  <a:pt x="0" y="80805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6900675" y="5869302"/>
            <a:ext cx="172720" cy="676275"/>
          </a:xfrm>
          <a:custGeom>
            <a:avLst/>
            <a:gdLst/>
            <a:ahLst/>
            <a:cxnLst/>
            <a:rect l="l" t="t" r="r" b="b"/>
            <a:pathLst>
              <a:path w="172720" h="676275">
                <a:moveTo>
                  <a:pt x="68663" y="99789"/>
                </a:moveTo>
                <a:lnTo>
                  <a:pt x="138060" y="661746"/>
                </a:lnTo>
                <a:lnTo>
                  <a:pt x="158431" y="675707"/>
                </a:lnTo>
                <a:lnTo>
                  <a:pt x="164861" y="673110"/>
                </a:lnTo>
                <a:lnTo>
                  <a:pt x="169630" y="668413"/>
                </a:lnTo>
                <a:lnTo>
                  <a:pt x="172290" y="662270"/>
                </a:lnTo>
                <a:lnTo>
                  <a:pt x="172392" y="655336"/>
                </a:lnTo>
                <a:lnTo>
                  <a:pt x="68663" y="99789"/>
                </a:lnTo>
                <a:close/>
              </a:path>
              <a:path w="172720" h="676275">
                <a:moveTo>
                  <a:pt x="32266" y="0"/>
                </a:moveTo>
                <a:lnTo>
                  <a:pt x="0" y="112610"/>
                </a:lnTo>
                <a:lnTo>
                  <a:pt x="34331" y="106200"/>
                </a:lnTo>
                <a:lnTo>
                  <a:pt x="31126" y="89034"/>
                </a:lnTo>
                <a:lnTo>
                  <a:pt x="31227" y="82100"/>
                </a:lnTo>
                <a:lnTo>
                  <a:pt x="33887" y="75957"/>
                </a:lnTo>
                <a:lnTo>
                  <a:pt x="38657" y="71259"/>
                </a:lnTo>
                <a:lnTo>
                  <a:pt x="45087" y="68663"/>
                </a:lnTo>
                <a:lnTo>
                  <a:pt x="84273" y="68663"/>
                </a:lnTo>
                <a:lnTo>
                  <a:pt x="32266" y="0"/>
                </a:lnTo>
                <a:close/>
              </a:path>
              <a:path w="172720" h="676275">
                <a:moveTo>
                  <a:pt x="45087" y="68663"/>
                </a:moveTo>
                <a:lnTo>
                  <a:pt x="38657" y="71259"/>
                </a:lnTo>
                <a:lnTo>
                  <a:pt x="33887" y="75957"/>
                </a:lnTo>
                <a:lnTo>
                  <a:pt x="31227" y="82100"/>
                </a:lnTo>
                <a:lnTo>
                  <a:pt x="31126" y="89034"/>
                </a:lnTo>
                <a:lnTo>
                  <a:pt x="34331" y="106200"/>
                </a:lnTo>
                <a:lnTo>
                  <a:pt x="68663" y="99789"/>
                </a:lnTo>
                <a:lnTo>
                  <a:pt x="65458" y="82624"/>
                </a:lnTo>
                <a:lnTo>
                  <a:pt x="62861" y="76194"/>
                </a:lnTo>
                <a:lnTo>
                  <a:pt x="58164" y="71424"/>
                </a:lnTo>
                <a:lnTo>
                  <a:pt x="52021" y="68764"/>
                </a:lnTo>
                <a:lnTo>
                  <a:pt x="45087" y="68663"/>
                </a:lnTo>
                <a:close/>
              </a:path>
              <a:path w="172720" h="676275">
                <a:moveTo>
                  <a:pt x="84273" y="68663"/>
                </a:moveTo>
                <a:lnTo>
                  <a:pt x="45087" y="68663"/>
                </a:lnTo>
                <a:lnTo>
                  <a:pt x="52021" y="68764"/>
                </a:lnTo>
                <a:lnTo>
                  <a:pt x="58164" y="71424"/>
                </a:lnTo>
                <a:lnTo>
                  <a:pt x="62861" y="76194"/>
                </a:lnTo>
                <a:lnTo>
                  <a:pt x="65458" y="82624"/>
                </a:lnTo>
                <a:lnTo>
                  <a:pt x="68663" y="99789"/>
                </a:lnTo>
                <a:lnTo>
                  <a:pt x="102994" y="93379"/>
                </a:lnTo>
                <a:lnTo>
                  <a:pt x="84273" y="68663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6976598" y="5850273"/>
            <a:ext cx="181610" cy="674370"/>
          </a:xfrm>
          <a:custGeom>
            <a:avLst/>
            <a:gdLst/>
            <a:ahLst/>
            <a:cxnLst/>
            <a:rect l="l" t="t" r="r" b="b"/>
            <a:pathLst>
              <a:path w="181609" h="674370">
                <a:moveTo>
                  <a:pt x="113027" y="574825"/>
                </a:moveTo>
                <a:lnTo>
                  <a:pt x="78807" y="581804"/>
                </a:lnTo>
                <a:lnTo>
                  <a:pt x="151075" y="673997"/>
                </a:lnTo>
                <a:lnTo>
                  <a:pt x="169459" y="605570"/>
                </a:lnTo>
                <a:lnTo>
                  <a:pt x="130183" y="605570"/>
                </a:lnTo>
                <a:lnTo>
                  <a:pt x="123996" y="603012"/>
                </a:lnTo>
                <a:lnTo>
                  <a:pt x="119220" y="598321"/>
                </a:lnTo>
                <a:lnTo>
                  <a:pt x="116508" y="591891"/>
                </a:lnTo>
                <a:lnTo>
                  <a:pt x="113027" y="574825"/>
                </a:lnTo>
                <a:close/>
              </a:path>
              <a:path w="181609" h="674370">
                <a:moveTo>
                  <a:pt x="147249" y="567846"/>
                </a:moveTo>
                <a:lnTo>
                  <a:pt x="113027" y="574825"/>
                </a:lnTo>
                <a:lnTo>
                  <a:pt x="116517" y="591935"/>
                </a:lnTo>
                <a:lnTo>
                  <a:pt x="119220" y="598321"/>
                </a:lnTo>
                <a:lnTo>
                  <a:pt x="123996" y="603012"/>
                </a:lnTo>
                <a:lnTo>
                  <a:pt x="130183" y="605570"/>
                </a:lnTo>
                <a:lnTo>
                  <a:pt x="137118" y="605556"/>
                </a:lnTo>
                <a:lnTo>
                  <a:pt x="143504" y="602853"/>
                </a:lnTo>
                <a:lnTo>
                  <a:pt x="148194" y="598077"/>
                </a:lnTo>
                <a:lnTo>
                  <a:pt x="150733" y="591935"/>
                </a:lnTo>
                <a:lnTo>
                  <a:pt x="150738" y="584956"/>
                </a:lnTo>
                <a:lnTo>
                  <a:pt x="147249" y="567846"/>
                </a:lnTo>
                <a:close/>
              </a:path>
              <a:path w="181609" h="674370">
                <a:moveTo>
                  <a:pt x="181469" y="560867"/>
                </a:moveTo>
                <a:lnTo>
                  <a:pt x="147249" y="567846"/>
                </a:lnTo>
                <a:lnTo>
                  <a:pt x="150738" y="584956"/>
                </a:lnTo>
                <a:lnTo>
                  <a:pt x="150733" y="591935"/>
                </a:lnTo>
                <a:lnTo>
                  <a:pt x="148194" y="598077"/>
                </a:lnTo>
                <a:lnTo>
                  <a:pt x="143504" y="602853"/>
                </a:lnTo>
                <a:lnTo>
                  <a:pt x="137118" y="605556"/>
                </a:lnTo>
                <a:lnTo>
                  <a:pt x="130183" y="605570"/>
                </a:lnTo>
                <a:lnTo>
                  <a:pt x="169459" y="605570"/>
                </a:lnTo>
                <a:lnTo>
                  <a:pt x="181469" y="560867"/>
                </a:lnTo>
                <a:close/>
              </a:path>
              <a:path w="181609" h="674370">
                <a:moveTo>
                  <a:pt x="20555" y="0"/>
                </a:moveTo>
                <a:lnTo>
                  <a:pt x="0" y="20613"/>
                </a:lnTo>
                <a:lnTo>
                  <a:pt x="113027" y="574825"/>
                </a:lnTo>
                <a:lnTo>
                  <a:pt x="147249" y="567846"/>
                </a:lnTo>
                <a:lnTo>
                  <a:pt x="34221" y="13634"/>
                </a:lnTo>
                <a:lnTo>
                  <a:pt x="31518" y="7248"/>
                </a:lnTo>
                <a:lnTo>
                  <a:pt x="26741" y="2557"/>
                </a:lnTo>
                <a:lnTo>
                  <a:pt x="2055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7962082" y="5832699"/>
            <a:ext cx="104775" cy="525145"/>
          </a:xfrm>
          <a:custGeom>
            <a:avLst/>
            <a:gdLst/>
            <a:ahLst/>
            <a:cxnLst/>
            <a:rect l="l" t="t" r="r" b="b"/>
            <a:pathLst>
              <a:path w="104775" h="525145">
                <a:moveTo>
                  <a:pt x="69706" y="103442"/>
                </a:moveTo>
                <a:lnTo>
                  <a:pt x="34852" y="105678"/>
                </a:lnTo>
                <a:lnTo>
                  <a:pt x="60686" y="508374"/>
                </a:lnTo>
                <a:lnTo>
                  <a:pt x="62491" y="515070"/>
                </a:lnTo>
                <a:lnTo>
                  <a:pt x="66581" y="520369"/>
                </a:lnTo>
                <a:lnTo>
                  <a:pt x="72360" y="523749"/>
                </a:lnTo>
                <a:lnTo>
                  <a:pt x="79231" y="524683"/>
                </a:lnTo>
                <a:lnTo>
                  <a:pt x="85926" y="522878"/>
                </a:lnTo>
                <a:lnTo>
                  <a:pt x="91226" y="518788"/>
                </a:lnTo>
                <a:lnTo>
                  <a:pt x="94605" y="513009"/>
                </a:lnTo>
                <a:lnTo>
                  <a:pt x="95539" y="506138"/>
                </a:lnTo>
                <a:lnTo>
                  <a:pt x="69706" y="103442"/>
                </a:lnTo>
                <a:close/>
              </a:path>
              <a:path w="104775" h="525145">
                <a:moveTo>
                  <a:pt x="45571" y="0"/>
                </a:moveTo>
                <a:lnTo>
                  <a:pt x="0" y="107913"/>
                </a:lnTo>
                <a:lnTo>
                  <a:pt x="34852" y="105678"/>
                </a:lnTo>
                <a:lnTo>
                  <a:pt x="33735" y="88251"/>
                </a:lnTo>
                <a:lnTo>
                  <a:pt x="34669" y="81380"/>
                </a:lnTo>
                <a:lnTo>
                  <a:pt x="38048" y="75601"/>
                </a:lnTo>
                <a:lnTo>
                  <a:pt x="43348" y="71511"/>
                </a:lnTo>
                <a:lnTo>
                  <a:pt x="50044" y="69706"/>
                </a:lnTo>
                <a:lnTo>
                  <a:pt x="86199" y="69706"/>
                </a:lnTo>
                <a:lnTo>
                  <a:pt x="45571" y="0"/>
                </a:lnTo>
                <a:close/>
              </a:path>
              <a:path w="104775" h="525145">
                <a:moveTo>
                  <a:pt x="50044" y="69706"/>
                </a:moveTo>
                <a:lnTo>
                  <a:pt x="43348" y="71511"/>
                </a:lnTo>
                <a:lnTo>
                  <a:pt x="38048" y="75601"/>
                </a:lnTo>
                <a:lnTo>
                  <a:pt x="34669" y="81380"/>
                </a:lnTo>
                <a:lnTo>
                  <a:pt x="33735" y="88251"/>
                </a:lnTo>
                <a:lnTo>
                  <a:pt x="34852" y="105678"/>
                </a:lnTo>
                <a:lnTo>
                  <a:pt x="69706" y="103442"/>
                </a:lnTo>
                <a:lnTo>
                  <a:pt x="68588" y="86015"/>
                </a:lnTo>
                <a:lnTo>
                  <a:pt x="66783" y="79320"/>
                </a:lnTo>
                <a:lnTo>
                  <a:pt x="62693" y="74020"/>
                </a:lnTo>
                <a:lnTo>
                  <a:pt x="56915" y="70641"/>
                </a:lnTo>
                <a:lnTo>
                  <a:pt x="50044" y="69706"/>
                </a:lnTo>
                <a:close/>
              </a:path>
              <a:path w="104775" h="525145">
                <a:moveTo>
                  <a:pt x="86199" y="69706"/>
                </a:moveTo>
                <a:lnTo>
                  <a:pt x="50044" y="69706"/>
                </a:lnTo>
                <a:lnTo>
                  <a:pt x="56915" y="70641"/>
                </a:lnTo>
                <a:lnTo>
                  <a:pt x="62693" y="74020"/>
                </a:lnTo>
                <a:lnTo>
                  <a:pt x="66783" y="79320"/>
                </a:lnTo>
                <a:lnTo>
                  <a:pt x="68588" y="86015"/>
                </a:lnTo>
                <a:lnTo>
                  <a:pt x="69706" y="103442"/>
                </a:lnTo>
                <a:lnTo>
                  <a:pt x="104559" y="101206"/>
                </a:lnTo>
                <a:lnTo>
                  <a:pt x="86199" y="69706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8043246" y="5823185"/>
            <a:ext cx="104775" cy="525145"/>
          </a:xfrm>
          <a:custGeom>
            <a:avLst/>
            <a:gdLst/>
            <a:ahLst/>
            <a:cxnLst/>
            <a:rect l="l" t="t" r="r" b="b"/>
            <a:pathLst>
              <a:path w="104775" h="525145">
                <a:moveTo>
                  <a:pt x="34803" y="422152"/>
                </a:moveTo>
                <a:lnTo>
                  <a:pt x="0" y="425064"/>
                </a:lnTo>
                <a:lnTo>
                  <a:pt x="60940" y="525106"/>
                </a:lnTo>
                <a:lnTo>
                  <a:pt x="88756" y="455499"/>
                </a:lnTo>
                <a:lnTo>
                  <a:pt x="55116" y="455499"/>
                </a:lnTo>
                <a:lnTo>
                  <a:pt x="48229" y="454699"/>
                </a:lnTo>
                <a:lnTo>
                  <a:pt x="42385" y="451432"/>
                </a:lnTo>
                <a:lnTo>
                  <a:pt x="38193" y="446213"/>
                </a:lnTo>
                <a:lnTo>
                  <a:pt x="36259" y="439554"/>
                </a:lnTo>
                <a:lnTo>
                  <a:pt x="34803" y="422152"/>
                </a:lnTo>
                <a:close/>
              </a:path>
              <a:path w="104775" h="525145">
                <a:moveTo>
                  <a:pt x="69606" y="419240"/>
                </a:moveTo>
                <a:lnTo>
                  <a:pt x="34803" y="422152"/>
                </a:lnTo>
                <a:lnTo>
                  <a:pt x="36259" y="439554"/>
                </a:lnTo>
                <a:lnTo>
                  <a:pt x="38193" y="446213"/>
                </a:lnTo>
                <a:lnTo>
                  <a:pt x="42385" y="451432"/>
                </a:lnTo>
                <a:lnTo>
                  <a:pt x="48229" y="454699"/>
                </a:lnTo>
                <a:lnTo>
                  <a:pt x="55116" y="455499"/>
                </a:lnTo>
                <a:lnTo>
                  <a:pt x="61776" y="453565"/>
                </a:lnTo>
                <a:lnTo>
                  <a:pt x="66995" y="449373"/>
                </a:lnTo>
                <a:lnTo>
                  <a:pt x="70262" y="443529"/>
                </a:lnTo>
                <a:lnTo>
                  <a:pt x="71062" y="436642"/>
                </a:lnTo>
                <a:lnTo>
                  <a:pt x="69606" y="419240"/>
                </a:lnTo>
                <a:close/>
              </a:path>
              <a:path w="104775" h="525145">
                <a:moveTo>
                  <a:pt x="104409" y="416327"/>
                </a:moveTo>
                <a:lnTo>
                  <a:pt x="69606" y="419240"/>
                </a:lnTo>
                <a:lnTo>
                  <a:pt x="71062" y="436642"/>
                </a:lnTo>
                <a:lnTo>
                  <a:pt x="70262" y="443529"/>
                </a:lnTo>
                <a:lnTo>
                  <a:pt x="66995" y="449373"/>
                </a:lnTo>
                <a:lnTo>
                  <a:pt x="61776" y="453565"/>
                </a:lnTo>
                <a:lnTo>
                  <a:pt x="55116" y="455499"/>
                </a:lnTo>
                <a:lnTo>
                  <a:pt x="88756" y="455499"/>
                </a:lnTo>
                <a:lnTo>
                  <a:pt x="104409" y="416327"/>
                </a:lnTo>
                <a:close/>
              </a:path>
              <a:path w="104775" h="525145">
                <a:moveTo>
                  <a:pt x="17001" y="0"/>
                </a:moveTo>
                <a:lnTo>
                  <a:pt x="10342" y="1934"/>
                </a:lnTo>
                <a:lnTo>
                  <a:pt x="5123" y="6126"/>
                </a:lnTo>
                <a:lnTo>
                  <a:pt x="1857" y="11969"/>
                </a:lnTo>
                <a:lnTo>
                  <a:pt x="1056" y="18857"/>
                </a:lnTo>
                <a:lnTo>
                  <a:pt x="34803" y="422152"/>
                </a:lnTo>
                <a:lnTo>
                  <a:pt x="69606" y="419240"/>
                </a:lnTo>
                <a:lnTo>
                  <a:pt x="35859" y="15945"/>
                </a:lnTo>
                <a:lnTo>
                  <a:pt x="33925" y="9286"/>
                </a:lnTo>
                <a:lnTo>
                  <a:pt x="29733" y="4067"/>
                </a:lnTo>
                <a:lnTo>
                  <a:pt x="23889" y="800"/>
                </a:lnTo>
                <a:lnTo>
                  <a:pt x="17001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7371034" y="6539687"/>
            <a:ext cx="557530" cy="146685"/>
          </a:xfrm>
          <a:custGeom>
            <a:avLst/>
            <a:gdLst/>
            <a:ahLst/>
            <a:cxnLst/>
            <a:rect l="l" t="t" r="r" b="b"/>
            <a:pathLst>
              <a:path w="557529" h="146684">
                <a:moveTo>
                  <a:pt x="94006" y="43170"/>
                </a:moveTo>
                <a:lnTo>
                  <a:pt x="0" y="113062"/>
                </a:lnTo>
                <a:lnTo>
                  <a:pt x="112317" y="146333"/>
                </a:lnTo>
                <a:lnTo>
                  <a:pt x="106755" y="114997"/>
                </a:lnTo>
                <a:lnTo>
                  <a:pt x="89019" y="114997"/>
                </a:lnTo>
                <a:lnTo>
                  <a:pt x="82087" y="114834"/>
                </a:lnTo>
                <a:lnTo>
                  <a:pt x="75967" y="112119"/>
                </a:lnTo>
                <a:lnTo>
                  <a:pt x="71313" y="107308"/>
                </a:lnTo>
                <a:lnTo>
                  <a:pt x="68774" y="100855"/>
                </a:lnTo>
                <a:lnTo>
                  <a:pt x="68937" y="93922"/>
                </a:lnTo>
                <a:lnTo>
                  <a:pt x="71652" y="87803"/>
                </a:lnTo>
                <a:lnTo>
                  <a:pt x="76464" y="83148"/>
                </a:lnTo>
                <a:lnTo>
                  <a:pt x="82917" y="80609"/>
                </a:lnTo>
                <a:lnTo>
                  <a:pt x="100110" y="77558"/>
                </a:lnTo>
                <a:lnTo>
                  <a:pt x="94006" y="43170"/>
                </a:lnTo>
                <a:close/>
              </a:path>
              <a:path w="557529" h="146684">
                <a:moveTo>
                  <a:pt x="100110" y="77558"/>
                </a:moveTo>
                <a:lnTo>
                  <a:pt x="68774" y="100855"/>
                </a:lnTo>
                <a:lnTo>
                  <a:pt x="71313" y="107308"/>
                </a:lnTo>
                <a:lnTo>
                  <a:pt x="75967" y="112119"/>
                </a:lnTo>
                <a:lnTo>
                  <a:pt x="82087" y="114834"/>
                </a:lnTo>
                <a:lnTo>
                  <a:pt x="89019" y="114997"/>
                </a:lnTo>
                <a:lnTo>
                  <a:pt x="106213" y="111945"/>
                </a:lnTo>
                <a:lnTo>
                  <a:pt x="100110" y="77558"/>
                </a:lnTo>
                <a:close/>
              </a:path>
              <a:path w="557529" h="146684">
                <a:moveTo>
                  <a:pt x="106213" y="111945"/>
                </a:moveTo>
                <a:lnTo>
                  <a:pt x="89019" y="114997"/>
                </a:lnTo>
                <a:lnTo>
                  <a:pt x="106755" y="114997"/>
                </a:lnTo>
                <a:lnTo>
                  <a:pt x="106213" y="111945"/>
                </a:lnTo>
                <a:close/>
              </a:path>
              <a:path w="557529" h="146684">
                <a:moveTo>
                  <a:pt x="537084" y="0"/>
                </a:moveTo>
                <a:lnTo>
                  <a:pt x="100110" y="77558"/>
                </a:lnTo>
                <a:lnTo>
                  <a:pt x="106213" y="111945"/>
                </a:lnTo>
                <a:lnTo>
                  <a:pt x="543187" y="34387"/>
                </a:lnTo>
                <a:lnTo>
                  <a:pt x="549640" y="31848"/>
                </a:lnTo>
                <a:lnTo>
                  <a:pt x="554451" y="27193"/>
                </a:lnTo>
                <a:lnTo>
                  <a:pt x="557166" y="21074"/>
                </a:lnTo>
                <a:lnTo>
                  <a:pt x="557329" y="14142"/>
                </a:lnTo>
                <a:lnTo>
                  <a:pt x="554790" y="7689"/>
                </a:lnTo>
                <a:lnTo>
                  <a:pt x="550135" y="2878"/>
                </a:lnTo>
                <a:lnTo>
                  <a:pt x="544016" y="163"/>
                </a:lnTo>
                <a:lnTo>
                  <a:pt x="53708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7352872" y="6466301"/>
            <a:ext cx="556260" cy="153670"/>
          </a:xfrm>
          <a:custGeom>
            <a:avLst/>
            <a:gdLst/>
            <a:ahLst/>
            <a:cxnLst/>
            <a:rect l="l" t="t" r="r" b="b"/>
            <a:pathLst>
              <a:path w="556259" h="153670">
                <a:moveTo>
                  <a:pt x="449828" y="34280"/>
                </a:moveTo>
                <a:lnTo>
                  <a:pt x="13801" y="119204"/>
                </a:lnTo>
                <a:lnTo>
                  <a:pt x="0" y="139683"/>
                </a:lnTo>
                <a:lnTo>
                  <a:pt x="2645" y="146092"/>
                </a:lnTo>
                <a:lnTo>
                  <a:pt x="7380" y="150825"/>
                </a:lnTo>
                <a:lnTo>
                  <a:pt x="13544" y="153437"/>
                </a:lnTo>
                <a:lnTo>
                  <a:pt x="20478" y="153485"/>
                </a:lnTo>
                <a:lnTo>
                  <a:pt x="456504" y="68561"/>
                </a:lnTo>
                <a:lnTo>
                  <a:pt x="449828" y="34280"/>
                </a:lnTo>
                <a:close/>
              </a:path>
              <a:path w="556259" h="153670">
                <a:moveTo>
                  <a:pt x="554397" y="30942"/>
                </a:moveTo>
                <a:lnTo>
                  <a:pt x="466968" y="30942"/>
                </a:lnTo>
                <a:lnTo>
                  <a:pt x="473903" y="30989"/>
                </a:lnTo>
                <a:lnTo>
                  <a:pt x="480066" y="33602"/>
                </a:lnTo>
                <a:lnTo>
                  <a:pt x="484801" y="38335"/>
                </a:lnTo>
                <a:lnTo>
                  <a:pt x="487447" y="44744"/>
                </a:lnTo>
                <a:lnTo>
                  <a:pt x="487400" y="51678"/>
                </a:lnTo>
                <a:lnTo>
                  <a:pt x="484787" y="57842"/>
                </a:lnTo>
                <a:lnTo>
                  <a:pt x="480054" y="62576"/>
                </a:lnTo>
                <a:lnTo>
                  <a:pt x="473645" y="65223"/>
                </a:lnTo>
                <a:lnTo>
                  <a:pt x="456504" y="68561"/>
                </a:lnTo>
                <a:lnTo>
                  <a:pt x="463181" y="102842"/>
                </a:lnTo>
                <a:lnTo>
                  <a:pt x="556009" y="31390"/>
                </a:lnTo>
                <a:lnTo>
                  <a:pt x="554397" y="30942"/>
                </a:lnTo>
                <a:close/>
              </a:path>
              <a:path w="556259" h="153670">
                <a:moveTo>
                  <a:pt x="466968" y="30942"/>
                </a:moveTo>
                <a:lnTo>
                  <a:pt x="449828" y="34280"/>
                </a:lnTo>
                <a:lnTo>
                  <a:pt x="456504" y="68561"/>
                </a:lnTo>
                <a:lnTo>
                  <a:pt x="473645" y="65223"/>
                </a:lnTo>
                <a:lnTo>
                  <a:pt x="480054" y="62576"/>
                </a:lnTo>
                <a:lnTo>
                  <a:pt x="484787" y="57842"/>
                </a:lnTo>
                <a:lnTo>
                  <a:pt x="487400" y="51678"/>
                </a:lnTo>
                <a:lnTo>
                  <a:pt x="487447" y="44744"/>
                </a:lnTo>
                <a:lnTo>
                  <a:pt x="484801" y="38335"/>
                </a:lnTo>
                <a:lnTo>
                  <a:pt x="480066" y="33602"/>
                </a:lnTo>
                <a:lnTo>
                  <a:pt x="473903" y="30989"/>
                </a:lnTo>
                <a:lnTo>
                  <a:pt x="466968" y="30942"/>
                </a:lnTo>
                <a:close/>
              </a:path>
              <a:path w="556259" h="153670">
                <a:moveTo>
                  <a:pt x="443151" y="0"/>
                </a:moveTo>
                <a:lnTo>
                  <a:pt x="449828" y="34280"/>
                </a:lnTo>
                <a:lnTo>
                  <a:pt x="466968" y="30942"/>
                </a:lnTo>
                <a:lnTo>
                  <a:pt x="554397" y="30942"/>
                </a:lnTo>
                <a:lnTo>
                  <a:pt x="443151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7131632" y="5571699"/>
            <a:ext cx="742950" cy="104775"/>
          </a:xfrm>
          <a:custGeom>
            <a:avLst/>
            <a:gdLst/>
            <a:ahLst/>
            <a:cxnLst/>
            <a:rect l="l" t="t" r="r" b="b"/>
            <a:pathLst>
              <a:path w="742950" h="104775">
                <a:moveTo>
                  <a:pt x="710122" y="34052"/>
                </a:moveTo>
                <a:lnTo>
                  <a:pt x="664472" y="34052"/>
                </a:lnTo>
                <a:lnTo>
                  <a:pt x="672534" y="41619"/>
                </a:lnTo>
                <a:lnTo>
                  <a:pt x="673143" y="60898"/>
                </a:lnTo>
                <a:lnTo>
                  <a:pt x="665576" y="68959"/>
                </a:lnTo>
                <a:lnTo>
                  <a:pt x="638483" y="69815"/>
                </a:lnTo>
                <a:lnTo>
                  <a:pt x="639585" y="104723"/>
                </a:lnTo>
                <a:lnTo>
                  <a:pt x="742654" y="49053"/>
                </a:lnTo>
                <a:lnTo>
                  <a:pt x="710122" y="34052"/>
                </a:lnTo>
                <a:close/>
              </a:path>
              <a:path w="742950" h="104775">
                <a:moveTo>
                  <a:pt x="637380" y="34908"/>
                </a:moveTo>
                <a:lnTo>
                  <a:pt x="7567" y="54803"/>
                </a:lnTo>
                <a:lnTo>
                  <a:pt x="0" y="62865"/>
                </a:lnTo>
                <a:lnTo>
                  <a:pt x="608" y="82144"/>
                </a:lnTo>
                <a:lnTo>
                  <a:pt x="8670" y="89711"/>
                </a:lnTo>
                <a:lnTo>
                  <a:pt x="638483" y="69815"/>
                </a:lnTo>
                <a:lnTo>
                  <a:pt x="637380" y="34908"/>
                </a:lnTo>
                <a:close/>
              </a:path>
              <a:path w="742950" h="104775">
                <a:moveTo>
                  <a:pt x="664472" y="34052"/>
                </a:moveTo>
                <a:lnTo>
                  <a:pt x="637380" y="34908"/>
                </a:lnTo>
                <a:lnTo>
                  <a:pt x="638483" y="69815"/>
                </a:lnTo>
                <a:lnTo>
                  <a:pt x="665576" y="68959"/>
                </a:lnTo>
                <a:lnTo>
                  <a:pt x="673143" y="60898"/>
                </a:lnTo>
                <a:lnTo>
                  <a:pt x="672534" y="41619"/>
                </a:lnTo>
                <a:lnTo>
                  <a:pt x="664472" y="34052"/>
                </a:lnTo>
                <a:close/>
              </a:path>
              <a:path w="742950" h="104775">
                <a:moveTo>
                  <a:pt x="636277" y="0"/>
                </a:moveTo>
                <a:lnTo>
                  <a:pt x="637380" y="34908"/>
                </a:lnTo>
                <a:lnTo>
                  <a:pt x="664472" y="34052"/>
                </a:lnTo>
                <a:lnTo>
                  <a:pt x="710122" y="34052"/>
                </a:lnTo>
                <a:lnTo>
                  <a:pt x="636277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7146087" y="5652442"/>
            <a:ext cx="742315" cy="104775"/>
          </a:xfrm>
          <a:custGeom>
            <a:avLst/>
            <a:gdLst/>
            <a:ahLst/>
            <a:cxnLst/>
            <a:rect l="l" t="t" r="r" b="b"/>
            <a:pathLst>
              <a:path w="742315" h="104775">
                <a:moveTo>
                  <a:pt x="102269" y="0"/>
                </a:moveTo>
                <a:lnTo>
                  <a:pt x="0" y="57124"/>
                </a:lnTo>
                <a:lnTo>
                  <a:pt x="107061" y="104665"/>
                </a:lnTo>
                <a:lnTo>
                  <a:pt x="105520" y="71016"/>
                </a:lnTo>
                <a:lnTo>
                  <a:pt x="78385" y="71016"/>
                </a:lnTo>
                <a:lnTo>
                  <a:pt x="70218" y="63564"/>
                </a:lnTo>
                <a:lnTo>
                  <a:pt x="69335" y="44295"/>
                </a:lnTo>
                <a:lnTo>
                  <a:pt x="76788" y="36128"/>
                </a:lnTo>
                <a:lnTo>
                  <a:pt x="103866" y="34888"/>
                </a:lnTo>
                <a:lnTo>
                  <a:pt x="102269" y="0"/>
                </a:lnTo>
                <a:close/>
              </a:path>
              <a:path w="742315" h="104775">
                <a:moveTo>
                  <a:pt x="103866" y="34888"/>
                </a:moveTo>
                <a:lnTo>
                  <a:pt x="76788" y="36128"/>
                </a:lnTo>
                <a:lnTo>
                  <a:pt x="69335" y="44295"/>
                </a:lnTo>
                <a:lnTo>
                  <a:pt x="70218" y="63564"/>
                </a:lnTo>
                <a:lnTo>
                  <a:pt x="78385" y="71016"/>
                </a:lnTo>
                <a:lnTo>
                  <a:pt x="105463" y="69776"/>
                </a:lnTo>
                <a:lnTo>
                  <a:pt x="103866" y="34888"/>
                </a:lnTo>
                <a:close/>
              </a:path>
              <a:path w="742315" h="104775">
                <a:moveTo>
                  <a:pt x="105463" y="69776"/>
                </a:moveTo>
                <a:lnTo>
                  <a:pt x="78385" y="71016"/>
                </a:lnTo>
                <a:lnTo>
                  <a:pt x="105520" y="71016"/>
                </a:lnTo>
                <a:lnTo>
                  <a:pt x="105463" y="69776"/>
                </a:lnTo>
                <a:close/>
              </a:path>
              <a:path w="742315" h="104775">
                <a:moveTo>
                  <a:pt x="733024" y="6081"/>
                </a:moveTo>
                <a:lnTo>
                  <a:pt x="103866" y="34888"/>
                </a:lnTo>
                <a:lnTo>
                  <a:pt x="105463" y="69776"/>
                </a:lnTo>
                <a:lnTo>
                  <a:pt x="734622" y="40969"/>
                </a:lnTo>
                <a:lnTo>
                  <a:pt x="742074" y="32801"/>
                </a:lnTo>
                <a:lnTo>
                  <a:pt x="741193" y="13533"/>
                </a:lnTo>
                <a:lnTo>
                  <a:pt x="733024" y="6081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7275108" y="5810846"/>
            <a:ext cx="369570" cy="587375"/>
          </a:xfrm>
          <a:custGeom>
            <a:avLst/>
            <a:gdLst/>
            <a:ahLst/>
            <a:cxnLst/>
            <a:rect l="l" t="t" r="r" b="b"/>
            <a:pathLst>
              <a:path w="369570" h="587375">
                <a:moveTo>
                  <a:pt x="299616" y="79932"/>
                </a:moveTo>
                <a:lnTo>
                  <a:pt x="2407" y="560617"/>
                </a:lnTo>
                <a:lnTo>
                  <a:pt x="0" y="567120"/>
                </a:lnTo>
                <a:lnTo>
                  <a:pt x="264" y="573810"/>
                </a:lnTo>
                <a:lnTo>
                  <a:pt x="3017" y="579912"/>
                </a:lnTo>
                <a:lnTo>
                  <a:pt x="8076" y="584654"/>
                </a:lnTo>
                <a:lnTo>
                  <a:pt x="14579" y="587061"/>
                </a:lnTo>
                <a:lnTo>
                  <a:pt x="21268" y="586797"/>
                </a:lnTo>
                <a:lnTo>
                  <a:pt x="27370" y="584044"/>
                </a:lnTo>
                <a:lnTo>
                  <a:pt x="32112" y="578984"/>
                </a:lnTo>
                <a:lnTo>
                  <a:pt x="329322" y="98299"/>
                </a:lnTo>
                <a:lnTo>
                  <a:pt x="299616" y="79932"/>
                </a:lnTo>
                <a:close/>
              </a:path>
              <a:path w="369570" h="587375">
                <a:moveTo>
                  <a:pt x="364418" y="57003"/>
                </a:moveTo>
                <a:lnTo>
                  <a:pt x="326333" y="57003"/>
                </a:lnTo>
                <a:lnTo>
                  <a:pt x="332836" y="59410"/>
                </a:lnTo>
                <a:lnTo>
                  <a:pt x="337895" y="64152"/>
                </a:lnTo>
                <a:lnTo>
                  <a:pt x="340649" y="70254"/>
                </a:lnTo>
                <a:lnTo>
                  <a:pt x="340913" y="76943"/>
                </a:lnTo>
                <a:lnTo>
                  <a:pt x="338505" y="83446"/>
                </a:lnTo>
                <a:lnTo>
                  <a:pt x="329322" y="98299"/>
                </a:lnTo>
                <a:lnTo>
                  <a:pt x="359027" y="116666"/>
                </a:lnTo>
                <a:lnTo>
                  <a:pt x="364418" y="57003"/>
                </a:lnTo>
                <a:close/>
              </a:path>
              <a:path w="369570" h="587375">
                <a:moveTo>
                  <a:pt x="326333" y="57003"/>
                </a:moveTo>
                <a:lnTo>
                  <a:pt x="319644" y="57267"/>
                </a:lnTo>
                <a:lnTo>
                  <a:pt x="313542" y="60020"/>
                </a:lnTo>
                <a:lnTo>
                  <a:pt x="308800" y="65080"/>
                </a:lnTo>
                <a:lnTo>
                  <a:pt x="299616" y="79932"/>
                </a:lnTo>
                <a:lnTo>
                  <a:pt x="329322" y="98299"/>
                </a:lnTo>
                <a:lnTo>
                  <a:pt x="338505" y="83446"/>
                </a:lnTo>
                <a:lnTo>
                  <a:pt x="340913" y="76943"/>
                </a:lnTo>
                <a:lnTo>
                  <a:pt x="340649" y="70254"/>
                </a:lnTo>
                <a:lnTo>
                  <a:pt x="337895" y="64152"/>
                </a:lnTo>
                <a:lnTo>
                  <a:pt x="332836" y="59410"/>
                </a:lnTo>
                <a:lnTo>
                  <a:pt x="326333" y="57003"/>
                </a:lnTo>
                <a:close/>
              </a:path>
              <a:path w="369570" h="587375">
                <a:moveTo>
                  <a:pt x="369569" y="0"/>
                </a:moveTo>
                <a:lnTo>
                  <a:pt x="269911" y="61565"/>
                </a:lnTo>
                <a:lnTo>
                  <a:pt x="299616" y="79932"/>
                </a:lnTo>
                <a:lnTo>
                  <a:pt x="308800" y="65080"/>
                </a:lnTo>
                <a:lnTo>
                  <a:pt x="313542" y="60020"/>
                </a:lnTo>
                <a:lnTo>
                  <a:pt x="319644" y="57267"/>
                </a:lnTo>
                <a:lnTo>
                  <a:pt x="326333" y="57003"/>
                </a:lnTo>
                <a:lnTo>
                  <a:pt x="364418" y="57003"/>
                </a:lnTo>
                <a:lnTo>
                  <a:pt x="369569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7347856" y="5833035"/>
            <a:ext cx="360680" cy="593725"/>
          </a:xfrm>
          <a:custGeom>
            <a:avLst/>
            <a:gdLst/>
            <a:ahLst/>
            <a:cxnLst/>
            <a:rect l="l" t="t" r="r" b="b"/>
            <a:pathLst>
              <a:path w="360679" h="593725">
                <a:moveTo>
                  <a:pt x="8605" y="476452"/>
                </a:moveTo>
                <a:lnTo>
                  <a:pt x="0" y="593278"/>
                </a:lnTo>
                <a:lnTo>
                  <a:pt x="90045" y="535564"/>
                </a:lnTo>
                <a:lnTo>
                  <a:pt x="42284" y="535564"/>
                </a:lnTo>
                <a:lnTo>
                  <a:pt x="35742" y="533265"/>
                </a:lnTo>
                <a:lnTo>
                  <a:pt x="30604" y="528608"/>
                </a:lnTo>
                <a:lnTo>
                  <a:pt x="27751" y="522553"/>
                </a:lnTo>
                <a:lnTo>
                  <a:pt x="27376" y="515869"/>
                </a:lnTo>
                <a:lnTo>
                  <a:pt x="29674" y="509327"/>
                </a:lnTo>
                <a:lnTo>
                  <a:pt x="38610" y="494323"/>
                </a:lnTo>
                <a:lnTo>
                  <a:pt x="8605" y="476452"/>
                </a:lnTo>
                <a:close/>
              </a:path>
              <a:path w="360679" h="593725">
                <a:moveTo>
                  <a:pt x="38610" y="494323"/>
                </a:moveTo>
                <a:lnTo>
                  <a:pt x="29674" y="509327"/>
                </a:lnTo>
                <a:lnTo>
                  <a:pt x="27376" y="515869"/>
                </a:lnTo>
                <a:lnTo>
                  <a:pt x="27751" y="522553"/>
                </a:lnTo>
                <a:lnTo>
                  <a:pt x="30604" y="528608"/>
                </a:lnTo>
                <a:lnTo>
                  <a:pt x="35742" y="533265"/>
                </a:lnTo>
                <a:lnTo>
                  <a:pt x="42284" y="535564"/>
                </a:lnTo>
                <a:lnTo>
                  <a:pt x="48968" y="535190"/>
                </a:lnTo>
                <a:lnTo>
                  <a:pt x="55023" y="532336"/>
                </a:lnTo>
                <a:lnTo>
                  <a:pt x="59681" y="527198"/>
                </a:lnTo>
                <a:lnTo>
                  <a:pt x="68616" y="512195"/>
                </a:lnTo>
                <a:lnTo>
                  <a:pt x="38610" y="494323"/>
                </a:lnTo>
                <a:close/>
              </a:path>
              <a:path w="360679" h="593725">
                <a:moveTo>
                  <a:pt x="68616" y="512195"/>
                </a:moveTo>
                <a:lnTo>
                  <a:pt x="59681" y="527198"/>
                </a:lnTo>
                <a:lnTo>
                  <a:pt x="55023" y="532336"/>
                </a:lnTo>
                <a:lnTo>
                  <a:pt x="48968" y="535190"/>
                </a:lnTo>
                <a:lnTo>
                  <a:pt x="42284" y="535564"/>
                </a:lnTo>
                <a:lnTo>
                  <a:pt x="90045" y="535564"/>
                </a:lnTo>
                <a:lnTo>
                  <a:pt x="98623" y="530067"/>
                </a:lnTo>
                <a:lnTo>
                  <a:pt x="68616" y="512195"/>
                </a:lnTo>
                <a:close/>
              </a:path>
              <a:path w="360679" h="593725">
                <a:moveTo>
                  <a:pt x="345441" y="0"/>
                </a:moveTo>
                <a:lnTo>
                  <a:pt x="338757" y="374"/>
                </a:lnTo>
                <a:lnTo>
                  <a:pt x="332702" y="3228"/>
                </a:lnTo>
                <a:lnTo>
                  <a:pt x="328044" y="8366"/>
                </a:lnTo>
                <a:lnTo>
                  <a:pt x="38610" y="494323"/>
                </a:lnTo>
                <a:lnTo>
                  <a:pt x="68616" y="512195"/>
                </a:lnTo>
                <a:lnTo>
                  <a:pt x="358051" y="26237"/>
                </a:lnTo>
                <a:lnTo>
                  <a:pt x="360350" y="19695"/>
                </a:lnTo>
                <a:lnTo>
                  <a:pt x="359975" y="13012"/>
                </a:lnTo>
                <a:lnTo>
                  <a:pt x="357121" y="6956"/>
                </a:lnTo>
                <a:lnTo>
                  <a:pt x="351983" y="2299"/>
                </a:lnTo>
                <a:lnTo>
                  <a:pt x="345441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 txBox="1"/>
          <p:nvPr/>
        </p:nvSpPr>
        <p:spPr>
          <a:xfrm>
            <a:off x="5739042" y="4403852"/>
            <a:ext cx="3319145" cy="1562100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778510" marR="512445" indent="-25400">
              <a:lnSpc>
                <a:spcPts val="2110"/>
              </a:lnSpc>
              <a:spcBef>
                <a:spcPts val="210"/>
              </a:spcBef>
            </a:pPr>
            <a:r>
              <a:rPr dirty="0" sz="1800" spc="-5" b="1">
                <a:solidFill>
                  <a:srgbClr val="D60093"/>
                </a:solidFill>
                <a:latin typeface="Arial"/>
                <a:cs typeface="Arial"/>
              </a:rPr>
              <a:t>Mini-batch training  </a:t>
            </a: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Message-passing</a:t>
            </a:r>
            <a:endParaRPr sz="1800">
              <a:latin typeface="Arial"/>
              <a:cs typeface="Arial"/>
            </a:endParaRPr>
          </a:p>
          <a:p>
            <a:pPr marL="778510">
              <a:lnSpc>
                <a:spcPts val="2050"/>
              </a:lnSpc>
            </a:pP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over induced</a:t>
            </a:r>
            <a:r>
              <a:rPr dirty="0" sz="1800" spc="-3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subgraph</a:t>
            </a:r>
            <a:endParaRPr sz="1800">
              <a:latin typeface="Arial"/>
              <a:cs typeface="Arial"/>
            </a:endParaRPr>
          </a:p>
          <a:p>
            <a:pPr marL="778510">
              <a:lnSpc>
                <a:spcPct val="100000"/>
              </a:lnSpc>
              <a:spcBef>
                <a:spcPts val="25"/>
              </a:spcBef>
            </a:pP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to </a:t>
            </a: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compute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the</a:t>
            </a:r>
            <a:r>
              <a:rPr dirty="0" sz="1800" spc="-7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loss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65"/>
              </a:spcBef>
            </a:pPr>
            <a:r>
              <a:rPr dirty="0" sz="1800" spc="-5">
                <a:latin typeface="Arial"/>
                <a:cs typeface="Arial"/>
              </a:rPr>
              <a:t>Sample</a:t>
            </a:r>
            <a:endParaRPr sz="180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540636" y="6699893"/>
            <a:ext cx="400685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3/13/21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4" name="object 7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75" name="object 7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31</a:t>
            </a:fld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693420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619365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/>
              <a:t>Given </a:t>
            </a:r>
            <a:r>
              <a:rPr dirty="0"/>
              <a:t>a </a:t>
            </a:r>
            <a:r>
              <a:rPr dirty="0" spc="-15"/>
              <a:t>large graph </a:t>
            </a:r>
            <a:r>
              <a:rPr dirty="0">
                <a:latin typeface="Cambria Math"/>
                <a:cs typeface="Cambria Math"/>
              </a:rPr>
              <a:t>𝐺 = </a:t>
            </a:r>
            <a:r>
              <a:rPr dirty="0" spc="25">
                <a:latin typeface="Cambria Math"/>
                <a:cs typeface="Cambria Math"/>
              </a:rPr>
              <a:t>(𝑉, </a:t>
            </a:r>
            <a:r>
              <a:rPr dirty="0" spc="35">
                <a:latin typeface="Cambria Math"/>
                <a:cs typeface="Cambria Math"/>
              </a:rPr>
              <a:t>𝐸)</a:t>
            </a:r>
            <a:r>
              <a:rPr dirty="0" spc="35"/>
              <a:t>, </a:t>
            </a:r>
            <a:r>
              <a:rPr dirty="0" spc="-5" b="1">
                <a:solidFill>
                  <a:srgbClr val="D60093"/>
                </a:solidFill>
                <a:latin typeface="Calibri"/>
                <a:cs typeface="Calibri"/>
              </a:rPr>
              <a:t>partition </a:t>
            </a:r>
            <a:r>
              <a:rPr dirty="0" b="1">
                <a:solidFill>
                  <a:srgbClr val="D60093"/>
                </a:solidFill>
                <a:latin typeface="Calibri"/>
                <a:cs typeface="Calibri"/>
              </a:rPr>
              <a:t>its  </a:t>
            </a:r>
            <a:r>
              <a:rPr dirty="0" spc="-5" b="1">
                <a:solidFill>
                  <a:srgbClr val="D60093"/>
                </a:solidFill>
                <a:latin typeface="Calibri"/>
                <a:cs typeface="Calibri"/>
              </a:rPr>
              <a:t>nodes </a:t>
            </a:r>
            <a:r>
              <a:rPr dirty="0">
                <a:solidFill>
                  <a:srgbClr val="D60093"/>
                </a:solidFill>
                <a:latin typeface="Cambria Math"/>
                <a:cs typeface="Cambria Math"/>
              </a:rPr>
              <a:t>𝑽 </a:t>
            </a:r>
            <a:r>
              <a:rPr dirty="0" spc="-20" b="1">
                <a:solidFill>
                  <a:srgbClr val="D60093"/>
                </a:solidFill>
                <a:latin typeface="Calibri"/>
                <a:cs typeface="Calibri"/>
              </a:rPr>
              <a:t>into </a:t>
            </a:r>
            <a:r>
              <a:rPr dirty="0">
                <a:solidFill>
                  <a:srgbClr val="D60093"/>
                </a:solidFill>
                <a:latin typeface="Cambria Math"/>
                <a:cs typeface="Cambria Math"/>
              </a:rPr>
              <a:t>𝑪 </a:t>
            </a:r>
            <a:r>
              <a:rPr dirty="0" spc="-15" b="1">
                <a:solidFill>
                  <a:srgbClr val="D60093"/>
                </a:solidFill>
                <a:latin typeface="Calibri"/>
                <a:cs typeface="Calibri"/>
              </a:rPr>
              <a:t>groups: </a:t>
            </a:r>
            <a:r>
              <a:rPr dirty="0" spc="25">
                <a:solidFill>
                  <a:srgbClr val="D60093"/>
                </a:solidFill>
                <a:latin typeface="Cambria Math"/>
                <a:cs typeface="Cambria Math"/>
              </a:rPr>
              <a:t>𝑽</a:t>
            </a:r>
            <a:r>
              <a:rPr dirty="0" baseline="-15700" sz="3450" spc="37">
                <a:solidFill>
                  <a:srgbClr val="D60093"/>
                </a:solidFill>
                <a:latin typeface="Cambria Math"/>
                <a:cs typeface="Cambria Math"/>
              </a:rPr>
              <a:t>𝟏</a:t>
            </a:r>
            <a:r>
              <a:rPr dirty="0" sz="3200" spc="25">
                <a:solidFill>
                  <a:srgbClr val="D60093"/>
                </a:solidFill>
                <a:latin typeface="Cambria Math"/>
                <a:cs typeface="Cambria Math"/>
              </a:rPr>
              <a:t>, </a:t>
            </a:r>
            <a:r>
              <a:rPr dirty="0" sz="3200">
                <a:solidFill>
                  <a:srgbClr val="D60093"/>
                </a:solidFill>
                <a:latin typeface="Cambria Math"/>
                <a:cs typeface="Cambria Math"/>
              </a:rPr>
              <a:t>… ,</a:t>
            </a:r>
            <a:r>
              <a:rPr dirty="0" sz="3200" spc="-459">
                <a:solidFill>
                  <a:srgbClr val="D60093"/>
                </a:solidFill>
                <a:latin typeface="Cambria Math"/>
                <a:cs typeface="Cambria Math"/>
              </a:rPr>
              <a:t> </a:t>
            </a:r>
            <a:r>
              <a:rPr dirty="0" sz="3200" spc="25">
                <a:solidFill>
                  <a:srgbClr val="D60093"/>
                </a:solidFill>
                <a:latin typeface="Cambria Math"/>
                <a:cs typeface="Cambria Math"/>
              </a:rPr>
              <a:t>𝑽</a:t>
            </a:r>
            <a:r>
              <a:rPr dirty="0" baseline="-15700" sz="3450" spc="37">
                <a:solidFill>
                  <a:srgbClr val="D60093"/>
                </a:solidFill>
                <a:latin typeface="Cambria Math"/>
                <a:cs typeface="Cambria Math"/>
              </a:rPr>
              <a:t>𝑪</a:t>
            </a:r>
            <a:r>
              <a:rPr dirty="0" sz="3200" spc="25"/>
              <a:t>.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2414523"/>
            <a:ext cx="7495540" cy="1875789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625475" marR="5080" indent="-274320">
              <a:lnSpc>
                <a:spcPts val="3310"/>
              </a:lnSpc>
              <a:spcBef>
                <a:spcPts val="25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5">
                <a:latin typeface="Calibri"/>
                <a:cs typeface="Calibri"/>
              </a:rPr>
              <a:t>We </a:t>
            </a:r>
            <a:r>
              <a:rPr dirty="0" sz="2800" spc="-10">
                <a:latin typeface="Calibri"/>
                <a:cs typeface="Calibri"/>
              </a:rPr>
              <a:t>can </a:t>
            </a:r>
            <a:r>
              <a:rPr dirty="0" sz="2800">
                <a:latin typeface="Calibri"/>
                <a:cs typeface="Calibri"/>
              </a:rPr>
              <a:t>use </a:t>
            </a:r>
            <a:r>
              <a:rPr dirty="0" sz="2800" spc="-20">
                <a:latin typeface="Calibri"/>
                <a:cs typeface="Calibri"/>
              </a:rPr>
              <a:t>any </a:t>
            </a:r>
            <a:r>
              <a:rPr dirty="0" sz="2800" spc="-5">
                <a:latin typeface="Calibri"/>
                <a:cs typeface="Calibri"/>
              </a:rPr>
              <a:t>scalable community </a:t>
            </a:r>
            <a:r>
              <a:rPr dirty="0" sz="2800" spc="-10">
                <a:latin typeface="Calibri"/>
                <a:cs typeface="Calibri"/>
              </a:rPr>
              <a:t>detection  </a:t>
            </a:r>
            <a:r>
              <a:rPr dirty="0" sz="2800" spc="-5">
                <a:latin typeface="Calibri"/>
                <a:cs typeface="Calibri"/>
              </a:rPr>
              <a:t>methods, </a:t>
            </a:r>
            <a:r>
              <a:rPr dirty="0" sz="2800">
                <a:latin typeface="Calibri"/>
                <a:cs typeface="Calibri"/>
              </a:rPr>
              <a:t>e.g., </a:t>
            </a:r>
            <a:r>
              <a:rPr dirty="0" sz="2800" spc="-10">
                <a:latin typeface="Calibri"/>
                <a:cs typeface="Calibri"/>
              </a:rPr>
              <a:t>Louvain, </a:t>
            </a:r>
            <a:r>
              <a:rPr dirty="0" sz="2800" spc="-5">
                <a:latin typeface="Calibri"/>
                <a:cs typeface="Calibri"/>
              </a:rPr>
              <a:t>METIS </a:t>
            </a:r>
            <a:r>
              <a:rPr dirty="0" sz="1800" spc="-10">
                <a:latin typeface="Calibri"/>
                <a:cs typeface="Calibri"/>
              </a:rPr>
              <a:t>[Karypis </a:t>
            </a:r>
            <a:r>
              <a:rPr dirty="0" sz="1800" spc="-5">
                <a:latin typeface="Calibri"/>
                <a:cs typeface="Calibri"/>
              </a:rPr>
              <a:t>et </a:t>
            </a:r>
            <a:r>
              <a:rPr dirty="0" sz="1800">
                <a:latin typeface="Calibri"/>
                <a:cs typeface="Calibri"/>
              </a:rPr>
              <a:t>al. </a:t>
            </a:r>
            <a:r>
              <a:rPr dirty="0" sz="1800" spc="-5">
                <a:latin typeface="Calibri"/>
                <a:cs typeface="Calibri"/>
              </a:rPr>
              <a:t>SIAM</a:t>
            </a:r>
            <a:r>
              <a:rPr dirty="0" sz="1800" spc="55">
                <a:latin typeface="Calibri"/>
                <a:cs typeface="Calibri"/>
              </a:rPr>
              <a:t> </a:t>
            </a:r>
            <a:r>
              <a:rPr dirty="0" sz="1800" spc="-5">
                <a:latin typeface="Calibri"/>
                <a:cs typeface="Calibri"/>
              </a:rPr>
              <a:t>1998].</a:t>
            </a:r>
            <a:endParaRPr sz="1800">
              <a:latin typeface="Calibri"/>
              <a:cs typeface="Calibri"/>
            </a:endParaRPr>
          </a:p>
          <a:p>
            <a:pPr marL="332740" indent="-320040">
              <a:lnSpc>
                <a:spcPts val="377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220">
                <a:solidFill>
                  <a:srgbClr val="D60093"/>
                </a:solidFill>
                <a:latin typeface="Cambria Math"/>
                <a:cs typeface="Cambria Math"/>
              </a:rPr>
              <a:t>𝑉</a:t>
            </a:r>
            <a:r>
              <a:rPr dirty="0" baseline="-15700" sz="3450" spc="-330">
                <a:solidFill>
                  <a:srgbClr val="D60093"/>
                </a:solidFill>
                <a:latin typeface="Cambria Math"/>
                <a:cs typeface="Cambria Math"/>
              </a:rPr>
              <a:t>&amp;</a:t>
            </a:r>
            <a:r>
              <a:rPr dirty="0" sz="3200" spc="-220">
                <a:solidFill>
                  <a:srgbClr val="D60093"/>
                </a:solidFill>
                <a:latin typeface="Cambria Math"/>
                <a:cs typeface="Cambria Math"/>
              </a:rPr>
              <a:t>, </a:t>
            </a:r>
            <a:r>
              <a:rPr dirty="0" sz="3200">
                <a:solidFill>
                  <a:srgbClr val="D60093"/>
                </a:solidFill>
                <a:latin typeface="Cambria Math"/>
                <a:cs typeface="Cambria Math"/>
              </a:rPr>
              <a:t>… , </a:t>
            </a:r>
            <a:r>
              <a:rPr dirty="0" sz="3200" spc="-380">
                <a:solidFill>
                  <a:srgbClr val="D60093"/>
                </a:solidFill>
                <a:latin typeface="Cambria Math"/>
                <a:cs typeface="Cambria Math"/>
              </a:rPr>
              <a:t>𝑉</a:t>
            </a:r>
            <a:r>
              <a:rPr dirty="0" baseline="-15700" sz="3450" spc="-569">
                <a:solidFill>
                  <a:srgbClr val="D60093"/>
                </a:solidFill>
                <a:latin typeface="Cambria Math"/>
                <a:cs typeface="Cambria Math"/>
              </a:rPr>
              <a:t>+     </a:t>
            </a:r>
            <a:r>
              <a:rPr dirty="0" sz="3200" spc="-5" b="1">
                <a:solidFill>
                  <a:srgbClr val="008000"/>
                </a:solidFill>
                <a:latin typeface="Calibri"/>
                <a:cs typeface="Calibri"/>
              </a:rPr>
              <a:t>induces </a:t>
            </a:r>
            <a:r>
              <a:rPr dirty="0" sz="3200">
                <a:solidFill>
                  <a:srgbClr val="008000"/>
                </a:solidFill>
                <a:latin typeface="Cambria Math"/>
                <a:cs typeface="Cambria Math"/>
              </a:rPr>
              <a:t>𝐶 </a:t>
            </a:r>
            <a:r>
              <a:rPr dirty="0" sz="3200" spc="-10">
                <a:solidFill>
                  <a:srgbClr val="008000"/>
                </a:solidFill>
                <a:latin typeface="Calibri"/>
                <a:cs typeface="Calibri"/>
              </a:rPr>
              <a:t>subgraphs, </a:t>
            </a:r>
            <a:r>
              <a:rPr dirty="0" sz="3200" spc="-110">
                <a:solidFill>
                  <a:srgbClr val="008000"/>
                </a:solidFill>
                <a:latin typeface="Cambria Math"/>
                <a:cs typeface="Cambria Math"/>
              </a:rPr>
              <a:t>𝐺</a:t>
            </a:r>
            <a:r>
              <a:rPr dirty="0" baseline="-15700" sz="3450" spc="-165">
                <a:solidFill>
                  <a:srgbClr val="008000"/>
                </a:solidFill>
                <a:latin typeface="Cambria Math"/>
                <a:cs typeface="Cambria Math"/>
              </a:rPr>
              <a:t>&amp;</a:t>
            </a:r>
            <a:r>
              <a:rPr dirty="0" sz="3200" spc="-110">
                <a:solidFill>
                  <a:srgbClr val="008000"/>
                </a:solidFill>
                <a:latin typeface="Cambria Math"/>
                <a:cs typeface="Cambria Math"/>
              </a:rPr>
              <a:t>, </a:t>
            </a:r>
            <a:r>
              <a:rPr dirty="0" sz="3200">
                <a:solidFill>
                  <a:srgbClr val="008000"/>
                </a:solidFill>
                <a:latin typeface="Cambria Math"/>
                <a:cs typeface="Cambria Math"/>
              </a:rPr>
              <a:t>… ,</a:t>
            </a:r>
            <a:r>
              <a:rPr dirty="0" sz="3200" spc="-425">
                <a:solidFill>
                  <a:srgbClr val="008000"/>
                </a:solidFill>
                <a:latin typeface="Cambria Math"/>
                <a:cs typeface="Cambria Math"/>
              </a:rPr>
              <a:t> </a:t>
            </a:r>
            <a:r>
              <a:rPr dirty="0" sz="3200" spc="-85">
                <a:solidFill>
                  <a:srgbClr val="008000"/>
                </a:solidFill>
                <a:latin typeface="Cambria Math"/>
                <a:cs typeface="Cambria Math"/>
              </a:rPr>
              <a:t>𝐺</a:t>
            </a:r>
            <a:r>
              <a:rPr dirty="0" baseline="-15700" sz="3450" spc="-127">
                <a:solidFill>
                  <a:srgbClr val="008000"/>
                </a:solidFill>
                <a:latin typeface="Cambria Math"/>
                <a:cs typeface="Cambria Math"/>
              </a:rPr>
              <a:t>+</a:t>
            </a:r>
            <a:r>
              <a:rPr dirty="0" sz="3200" spc="-85">
                <a:latin typeface="Calibri"/>
                <a:cs typeface="Calibri"/>
              </a:rPr>
              <a:t>,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6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5">
                <a:latin typeface="Calibri"/>
                <a:cs typeface="Calibri"/>
              </a:rPr>
              <a:t>Recall: </a:t>
            </a:r>
            <a:r>
              <a:rPr dirty="0" sz="2800" spc="-135">
                <a:latin typeface="Cambria Math"/>
                <a:cs typeface="Cambria Math"/>
              </a:rPr>
              <a:t>𝐺</a:t>
            </a:r>
            <a:r>
              <a:rPr dirty="0" baseline="-16666" sz="3000" spc="-202">
                <a:latin typeface="Cambria Math"/>
                <a:cs typeface="Cambria Math"/>
              </a:rPr>
              <a:t>3  </a:t>
            </a:r>
            <a:r>
              <a:rPr dirty="0" sz="2800">
                <a:latin typeface="Cambria Math"/>
                <a:cs typeface="Cambria Math"/>
              </a:rPr>
              <a:t>≡ </a:t>
            </a:r>
            <a:r>
              <a:rPr dirty="0" sz="2800" spc="-155">
                <a:latin typeface="Cambria Math"/>
                <a:cs typeface="Cambria Math"/>
              </a:rPr>
              <a:t>(𝑉</a:t>
            </a:r>
            <a:r>
              <a:rPr dirty="0" baseline="-16666" sz="3000" spc="-232">
                <a:latin typeface="Cambria Math"/>
                <a:cs typeface="Cambria Math"/>
              </a:rPr>
              <a:t>3</a:t>
            </a:r>
            <a:r>
              <a:rPr dirty="0" sz="2800" spc="-155">
                <a:latin typeface="Cambria Math"/>
                <a:cs typeface="Cambria Math"/>
              </a:rPr>
              <a:t>,</a:t>
            </a:r>
            <a:r>
              <a:rPr dirty="0" sz="2800" spc="50">
                <a:latin typeface="Cambria Math"/>
                <a:cs typeface="Cambria Math"/>
              </a:rPr>
              <a:t> </a:t>
            </a:r>
            <a:r>
              <a:rPr dirty="0" sz="2800" spc="-30">
                <a:latin typeface="Cambria Math"/>
                <a:cs typeface="Cambria Math"/>
              </a:rPr>
              <a:t>𝐸</a:t>
            </a:r>
            <a:r>
              <a:rPr dirty="0" baseline="-16666" sz="3000" spc="-44">
                <a:latin typeface="Cambria Math"/>
                <a:cs typeface="Cambria Math"/>
              </a:rPr>
              <a:t>3</a:t>
            </a:r>
            <a:r>
              <a:rPr dirty="0" sz="2800" spc="-30">
                <a:latin typeface="Cambria Math"/>
                <a:cs typeface="Cambria Math"/>
              </a:rPr>
              <a:t>)</a:t>
            </a:r>
            <a:r>
              <a:rPr dirty="0" sz="2800" spc="-30">
                <a:latin typeface="Calibri"/>
                <a:cs typeface="Calibri"/>
              </a:rPr>
              <a:t>,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227335" y="4447973"/>
            <a:ext cx="782955" cy="329565"/>
          </a:xfrm>
          <a:custGeom>
            <a:avLst/>
            <a:gdLst/>
            <a:ahLst/>
            <a:cxnLst/>
            <a:rect l="l" t="t" r="r" b="b"/>
            <a:pathLst>
              <a:path w="782954" h="329564">
                <a:moveTo>
                  <a:pt x="677771" y="0"/>
                </a:moveTo>
                <a:lnTo>
                  <a:pt x="673082" y="13370"/>
                </a:lnTo>
                <a:lnTo>
                  <a:pt x="692149" y="21644"/>
                </a:lnTo>
                <a:lnTo>
                  <a:pt x="708547" y="33099"/>
                </a:lnTo>
                <a:lnTo>
                  <a:pt x="733333" y="65547"/>
                </a:lnTo>
                <a:lnTo>
                  <a:pt x="747918" y="109324"/>
                </a:lnTo>
                <a:lnTo>
                  <a:pt x="752779" y="163041"/>
                </a:lnTo>
                <a:lnTo>
                  <a:pt x="751558" y="192092"/>
                </a:lnTo>
                <a:lnTo>
                  <a:pt x="741791" y="242185"/>
                </a:lnTo>
                <a:lnTo>
                  <a:pt x="722193" y="281307"/>
                </a:lnTo>
                <a:lnTo>
                  <a:pt x="692371" y="307699"/>
                </a:lnTo>
                <a:lnTo>
                  <a:pt x="673602" y="316011"/>
                </a:lnTo>
                <a:lnTo>
                  <a:pt x="677771" y="329382"/>
                </a:lnTo>
                <a:lnTo>
                  <a:pt x="722698" y="308306"/>
                </a:lnTo>
                <a:lnTo>
                  <a:pt x="755731" y="271821"/>
                </a:lnTo>
                <a:lnTo>
                  <a:pt x="776046" y="222966"/>
                </a:lnTo>
                <a:lnTo>
                  <a:pt x="782817" y="164777"/>
                </a:lnTo>
                <a:lnTo>
                  <a:pt x="781119" y="134581"/>
                </a:lnTo>
                <a:lnTo>
                  <a:pt x="767533" y="81059"/>
                </a:lnTo>
                <a:lnTo>
                  <a:pt x="740587" y="37488"/>
                </a:lnTo>
                <a:lnTo>
                  <a:pt x="701650" y="8621"/>
                </a:lnTo>
                <a:lnTo>
                  <a:pt x="677771" y="0"/>
                </a:lnTo>
                <a:close/>
              </a:path>
              <a:path w="782954" h="329564">
                <a:moveTo>
                  <a:pt x="105048" y="0"/>
                </a:moveTo>
                <a:lnTo>
                  <a:pt x="60229" y="21117"/>
                </a:lnTo>
                <a:lnTo>
                  <a:pt x="27174" y="57732"/>
                </a:lnTo>
                <a:lnTo>
                  <a:pt x="6793" y="106676"/>
                </a:lnTo>
                <a:lnTo>
                  <a:pt x="0" y="164777"/>
                </a:lnTo>
                <a:lnTo>
                  <a:pt x="1693" y="195038"/>
                </a:lnTo>
                <a:lnTo>
                  <a:pt x="15236" y="248560"/>
                </a:lnTo>
                <a:lnTo>
                  <a:pt x="42116" y="291990"/>
                </a:lnTo>
                <a:lnTo>
                  <a:pt x="81097" y="320770"/>
                </a:lnTo>
                <a:lnTo>
                  <a:pt x="105048" y="329382"/>
                </a:lnTo>
                <a:lnTo>
                  <a:pt x="109214" y="316011"/>
                </a:lnTo>
                <a:lnTo>
                  <a:pt x="90446" y="307699"/>
                </a:lnTo>
                <a:lnTo>
                  <a:pt x="74249" y="296130"/>
                </a:lnTo>
                <a:lnTo>
                  <a:pt x="49571" y="263227"/>
                </a:lnTo>
                <a:lnTo>
                  <a:pt x="34922" y="218473"/>
                </a:lnTo>
                <a:lnTo>
                  <a:pt x="30039" y="163041"/>
                </a:lnTo>
                <a:lnTo>
                  <a:pt x="31259" y="134940"/>
                </a:lnTo>
                <a:lnTo>
                  <a:pt x="41026" y="86193"/>
                </a:lnTo>
                <a:lnTo>
                  <a:pt x="60657" y="47733"/>
                </a:lnTo>
                <a:lnTo>
                  <a:pt x="90739" y="21644"/>
                </a:lnTo>
                <a:lnTo>
                  <a:pt x="109735" y="13370"/>
                </a:lnTo>
                <a:lnTo>
                  <a:pt x="1050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171284" y="4593874"/>
            <a:ext cx="2538402" cy="20088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088096" y="4345940"/>
            <a:ext cx="3340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30">
                <a:solidFill>
                  <a:srgbClr val="C00000"/>
                </a:solidFill>
                <a:latin typeface="Cambria Math"/>
                <a:cs typeface="Cambria Math"/>
              </a:rPr>
              <a:t>𝐺</a:t>
            </a:r>
            <a:r>
              <a:rPr dirty="0" baseline="-15432" sz="2700" spc="-300">
                <a:solidFill>
                  <a:srgbClr val="C00000"/>
                </a:solidFill>
                <a:latin typeface="Cambria Math"/>
                <a:cs typeface="Cambria Math"/>
              </a:rPr>
              <a:t>&amp;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0636" y="6699893"/>
            <a:ext cx="400685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3/13/21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31</a:t>
            </a:fld>
          </a:p>
        </p:txBody>
      </p:sp>
      <p:sp>
        <p:nvSpPr>
          <p:cNvPr id="8" name="object 8"/>
          <p:cNvSpPr txBox="1"/>
          <p:nvPr/>
        </p:nvSpPr>
        <p:spPr>
          <a:xfrm>
            <a:off x="8571453" y="4467859"/>
            <a:ext cx="3409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70">
                <a:solidFill>
                  <a:srgbClr val="C00000"/>
                </a:solidFill>
                <a:latin typeface="Cambria Math"/>
                <a:cs typeface="Cambria Math"/>
              </a:rPr>
              <a:t>𝐺</a:t>
            </a:r>
            <a:r>
              <a:rPr dirty="0" baseline="-15432" sz="2700" spc="914">
                <a:solidFill>
                  <a:srgbClr val="C00000"/>
                </a:solidFill>
                <a:latin typeface="Cambria Math"/>
                <a:cs typeface="Cambria Math"/>
              </a:rPr>
              <a:t>'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93866" y="6171691"/>
            <a:ext cx="3409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70">
                <a:solidFill>
                  <a:srgbClr val="C00000"/>
                </a:solidFill>
                <a:latin typeface="Cambria Math"/>
                <a:cs typeface="Cambria Math"/>
              </a:rPr>
              <a:t>𝐺</a:t>
            </a:r>
            <a:r>
              <a:rPr dirty="0" baseline="-15432" sz="2700" spc="427">
                <a:solidFill>
                  <a:srgbClr val="C00000"/>
                </a:solidFill>
                <a:latin typeface="Cambria Math"/>
                <a:cs typeface="Cambria Math"/>
              </a:rPr>
              <a:t>(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56563" y="4166785"/>
            <a:ext cx="4612005" cy="1887220"/>
          </a:xfrm>
          <a:prstGeom prst="rect">
            <a:avLst/>
          </a:prstGeom>
        </p:spPr>
        <p:txBody>
          <a:bodyPr wrap="square" lIns="0" tIns="192405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51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  <a:tab pos="2386965" algn="l"/>
                <a:tab pos="3084195" algn="l"/>
              </a:tabLst>
            </a:pPr>
            <a:r>
              <a:rPr dirty="0" sz="2800" spc="-15">
                <a:latin typeface="Calibri"/>
                <a:cs typeface="Calibri"/>
              </a:rPr>
              <a:t>where </a:t>
            </a:r>
            <a:r>
              <a:rPr dirty="0" sz="2800" spc="-125">
                <a:latin typeface="Cambria Math"/>
                <a:cs typeface="Cambria Math"/>
              </a:rPr>
              <a:t>𝐸</a:t>
            </a:r>
            <a:r>
              <a:rPr dirty="0" baseline="-15277" sz="3000" spc="-187">
                <a:latin typeface="Cambria Math"/>
                <a:cs typeface="Cambria Math"/>
              </a:rPr>
              <a:t>3 </a:t>
            </a:r>
            <a:r>
              <a:rPr dirty="0" baseline="-15277" sz="3000" spc="-52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=</a:t>
            </a:r>
            <a:r>
              <a:rPr dirty="0" sz="2800" spc="15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{	</a:t>
            </a:r>
            <a:r>
              <a:rPr dirty="0" sz="2800" spc="30">
                <a:latin typeface="Cambria Math"/>
                <a:cs typeface="Cambria Math"/>
              </a:rPr>
              <a:t>𝑢,</a:t>
            </a:r>
            <a:r>
              <a:rPr dirty="0" sz="2800" spc="-15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𝑣	</a:t>
            </a:r>
            <a:r>
              <a:rPr dirty="0" sz="2800" spc="25">
                <a:latin typeface="Cambria Math"/>
                <a:cs typeface="Cambria Math"/>
              </a:rPr>
              <a:t>|𝑢, </a:t>
            </a:r>
            <a:r>
              <a:rPr dirty="0" sz="2800">
                <a:latin typeface="Cambria Math"/>
                <a:cs typeface="Cambria Math"/>
              </a:rPr>
              <a:t>𝑣 ∈</a:t>
            </a:r>
            <a:r>
              <a:rPr dirty="0" sz="2800" spc="150">
                <a:latin typeface="Cambria Math"/>
                <a:cs typeface="Cambria Math"/>
              </a:rPr>
              <a:t> </a:t>
            </a:r>
            <a:r>
              <a:rPr dirty="0" sz="2800" spc="-210">
                <a:latin typeface="Cambria Math"/>
                <a:cs typeface="Cambria Math"/>
              </a:rPr>
              <a:t>𝑉</a:t>
            </a:r>
            <a:r>
              <a:rPr dirty="0" baseline="-15277" sz="3000" spc="-315">
                <a:latin typeface="Cambria Math"/>
                <a:cs typeface="Cambria Math"/>
              </a:rPr>
              <a:t>3</a:t>
            </a:r>
            <a:r>
              <a:rPr dirty="0" sz="2800" spc="-210">
                <a:latin typeface="Cambria Math"/>
                <a:cs typeface="Cambria Math"/>
              </a:rPr>
              <a:t>}</a:t>
            </a:r>
            <a:endParaRPr sz="2800">
              <a:latin typeface="Cambria Math"/>
              <a:cs typeface="Cambria Math"/>
            </a:endParaRPr>
          </a:p>
          <a:p>
            <a:pPr marL="270510" marR="662940">
              <a:lnSpc>
                <a:spcPct val="100000"/>
              </a:lnSpc>
              <a:spcBef>
                <a:spcPts val="1210"/>
              </a:spcBef>
            </a:pPr>
            <a:r>
              <a:rPr dirty="0" sz="2400" spc="-5" b="1">
                <a:solidFill>
                  <a:srgbClr val="C00000"/>
                </a:solidFill>
                <a:latin typeface="Arial"/>
                <a:cs typeface="Arial"/>
              </a:rPr>
              <a:t>Notice: Between-group  edges </a:t>
            </a:r>
            <a:r>
              <a:rPr dirty="0" sz="2400" b="1">
                <a:solidFill>
                  <a:srgbClr val="C00000"/>
                </a:solidFill>
                <a:latin typeface="Arial"/>
                <a:cs typeface="Arial"/>
              </a:rPr>
              <a:t>are </a:t>
            </a:r>
            <a:r>
              <a:rPr dirty="0" sz="2400" spc="-5" b="1" i="1">
                <a:solidFill>
                  <a:srgbClr val="C00000"/>
                </a:solidFill>
                <a:latin typeface="Arial"/>
                <a:cs typeface="Arial"/>
              </a:rPr>
              <a:t>not </a:t>
            </a:r>
            <a:r>
              <a:rPr dirty="0" sz="2400" spc="-5" b="1">
                <a:solidFill>
                  <a:srgbClr val="C00000"/>
                </a:solidFill>
                <a:latin typeface="Arial"/>
                <a:cs typeface="Arial"/>
              </a:rPr>
              <a:t>included</a:t>
            </a:r>
            <a:r>
              <a:rPr dirty="0" sz="2400" spc="-7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 spc="-5" b="1">
                <a:solidFill>
                  <a:srgbClr val="C00000"/>
                </a:solidFill>
                <a:latin typeface="Arial"/>
                <a:cs typeface="Arial"/>
              </a:rPr>
              <a:t>in</a:t>
            </a:r>
            <a:endParaRPr sz="2400">
              <a:latin typeface="Arial"/>
              <a:cs typeface="Arial"/>
            </a:endParaRPr>
          </a:p>
          <a:p>
            <a:pPr marL="270510">
              <a:lnSpc>
                <a:spcPct val="100000"/>
              </a:lnSpc>
              <a:spcBef>
                <a:spcPts val="20"/>
              </a:spcBef>
            </a:pPr>
            <a:r>
              <a:rPr dirty="0" sz="2400" spc="10">
                <a:solidFill>
                  <a:srgbClr val="C00000"/>
                </a:solidFill>
                <a:latin typeface="Cambria Math"/>
                <a:cs typeface="Cambria Math"/>
              </a:rPr>
              <a:t>𝑮</a:t>
            </a:r>
            <a:r>
              <a:rPr dirty="0" baseline="-15432" sz="2700" spc="15">
                <a:solidFill>
                  <a:srgbClr val="C00000"/>
                </a:solidFill>
                <a:latin typeface="Cambria Math"/>
                <a:cs typeface="Cambria Math"/>
              </a:rPr>
              <a:t>𝟏</a:t>
            </a:r>
            <a:r>
              <a:rPr dirty="0" sz="2400" spc="10">
                <a:solidFill>
                  <a:srgbClr val="C00000"/>
                </a:solidFill>
                <a:latin typeface="Cambria Math"/>
                <a:cs typeface="Cambria Math"/>
              </a:rPr>
              <a:t>,</a:t>
            </a:r>
            <a:r>
              <a:rPr dirty="0" sz="2400" spc="-16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…</a:t>
            </a:r>
            <a:r>
              <a:rPr dirty="0" sz="2400" spc="-16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,</a:t>
            </a:r>
            <a:r>
              <a:rPr dirty="0" sz="2400" spc="-16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 spc="10">
                <a:solidFill>
                  <a:srgbClr val="C00000"/>
                </a:solidFill>
                <a:latin typeface="Cambria Math"/>
                <a:cs typeface="Cambria Math"/>
              </a:rPr>
              <a:t>𝑮</a:t>
            </a:r>
            <a:r>
              <a:rPr dirty="0" baseline="-15432" sz="2700" spc="15">
                <a:solidFill>
                  <a:srgbClr val="C00000"/>
                </a:solidFill>
                <a:latin typeface="Cambria Math"/>
                <a:cs typeface="Cambria Math"/>
              </a:rPr>
              <a:t>𝑪</a:t>
            </a:r>
            <a:r>
              <a:rPr dirty="0" sz="2400" spc="10" b="1">
                <a:solidFill>
                  <a:srgbClr val="C00000"/>
                </a:solidFill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8028432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65708" y="1349247"/>
            <a:ext cx="7736840" cy="1449070"/>
          </a:xfrm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marL="332740" marR="5080" indent="-320040">
              <a:lnSpc>
                <a:spcPts val="3700"/>
              </a:lnSpc>
              <a:spcBef>
                <a:spcPts val="240"/>
              </a:spcBef>
              <a:buClr>
                <a:srgbClr val="F0AD00"/>
              </a:buClr>
              <a:buSzPct val="80645"/>
              <a:buFont typeface="Arial"/>
              <a:buChar char="▪"/>
              <a:tabLst>
                <a:tab pos="332740" algn="l"/>
              </a:tabLst>
            </a:pPr>
            <a:r>
              <a:rPr dirty="0" sz="3100" spc="-15"/>
              <a:t>For </a:t>
            </a:r>
            <a:r>
              <a:rPr dirty="0" sz="3100" spc="-5"/>
              <a:t>each </a:t>
            </a:r>
            <a:r>
              <a:rPr dirty="0" sz="3100" spc="-10"/>
              <a:t>mini-batch</a:t>
            </a:r>
            <a:r>
              <a:rPr dirty="0" sz="3100" spc="-10" b="1">
                <a:latin typeface="Calibri"/>
                <a:cs typeface="Calibri"/>
              </a:rPr>
              <a:t>, </a:t>
            </a:r>
            <a:r>
              <a:rPr dirty="0" sz="3100" spc="-15" b="1">
                <a:solidFill>
                  <a:srgbClr val="C00000"/>
                </a:solidFill>
                <a:latin typeface="Calibri"/>
                <a:cs typeface="Calibri"/>
              </a:rPr>
              <a:t>randomly </a:t>
            </a:r>
            <a:r>
              <a:rPr dirty="0" sz="3100" spc="-5" b="1">
                <a:solidFill>
                  <a:srgbClr val="C00000"/>
                </a:solidFill>
                <a:latin typeface="Calibri"/>
                <a:cs typeface="Calibri"/>
              </a:rPr>
              <a:t>sample </a:t>
            </a:r>
            <a:r>
              <a:rPr dirty="0" sz="3100" b="1">
                <a:solidFill>
                  <a:srgbClr val="C00000"/>
                </a:solidFill>
                <a:latin typeface="Calibri"/>
                <a:cs typeface="Calibri"/>
              </a:rPr>
              <a:t>a </a:t>
            </a:r>
            <a:r>
              <a:rPr dirty="0" sz="3100" spc="-5" b="1">
                <a:solidFill>
                  <a:srgbClr val="C00000"/>
                </a:solidFill>
                <a:latin typeface="Calibri"/>
                <a:cs typeface="Calibri"/>
              </a:rPr>
              <a:t>node  </a:t>
            </a:r>
            <a:r>
              <a:rPr dirty="0" sz="3100" spc="-15" b="1">
                <a:solidFill>
                  <a:srgbClr val="C00000"/>
                </a:solidFill>
                <a:latin typeface="Calibri"/>
                <a:cs typeface="Calibri"/>
              </a:rPr>
              <a:t>group</a:t>
            </a:r>
            <a:r>
              <a:rPr dirty="0" sz="3100" spc="-8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100" spc="25">
                <a:solidFill>
                  <a:srgbClr val="C00000"/>
                </a:solidFill>
                <a:latin typeface="Cambria Math"/>
                <a:cs typeface="Cambria Math"/>
              </a:rPr>
              <a:t>𝑽</a:t>
            </a:r>
            <a:r>
              <a:rPr dirty="0" baseline="-14492" sz="3450" spc="37">
                <a:solidFill>
                  <a:srgbClr val="C00000"/>
                </a:solidFill>
                <a:latin typeface="Cambria Math"/>
                <a:cs typeface="Cambria Math"/>
              </a:rPr>
              <a:t>𝒄</a:t>
            </a:r>
            <a:r>
              <a:rPr dirty="0" sz="3100" spc="25" b="1">
                <a:latin typeface="Calibri"/>
                <a:cs typeface="Calibri"/>
              </a:rPr>
              <a:t>.</a:t>
            </a:r>
            <a:endParaRPr sz="3100">
              <a:latin typeface="Calibri"/>
              <a:cs typeface="Calibri"/>
            </a:endParaRPr>
          </a:p>
          <a:p>
            <a:pPr marL="332740" indent="-320040">
              <a:lnSpc>
                <a:spcPts val="3670"/>
              </a:lnSpc>
              <a:buClr>
                <a:srgbClr val="F0AD00"/>
              </a:buClr>
              <a:buSzPct val="80645"/>
              <a:buFont typeface="Arial"/>
              <a:buChar char="▪"/>
              <a:tabLst>
                <a:tab pos="332740" algn="l"/>
              </a:tabLst>
            </a:pPr>
            <a:r>
              <a:rPr dirty="0" sz="3100" spc="-10"/>
              <a:t>Construct </a:t>
            </a:r>
            <a:r>
              <a:rPr dirty="0" sz="3100" spc="-5" b="1">
                <a:solidFill>
                  <a:srgbClr val="008000"/>
                </a:solidFill>
                <a:latin typeface="Calibri"/>
                <a:cs typeface="Calibri"/>
              </a:rPr>
              <a:t>induced </a:t>
            </a:r>
            <a:r>
              <a:rPr dirty="0" sz="3100" spc="-15" b="1">
                <a:solidFill>
                  <a:srgbClr val="008000"/>
                </a:solidFill>
                <a:latin typeface="Calibri"/>
                <a:cs typeface="Calibri"/>
              </a:rPr>
              <a:t>subgraph </a:t>
            </a:r>
            <a:r>
              <a:rPr dirty="0" sz="3100">
                <a:solidFill>
                  <a:srgbClr val="008000"/>
                </a:solidFill>
                <a:latin typeface="Cambria Math"/>
                <a:cs typeface="Cambria Math"/>
              </a:rPr>
              <a:t>𝑮</a:t>
            </a:r>
            <a:r>
              <a:rPr dirty="0" baseline="-15700" sz="3450">
                <a:solidFill>
                  <a:srgbClr val="008000"/>
                </a:solidFill>
                <a:latin typeface="Cambria Math"/>
                <a:cs typeface="Cambria Math"/>
              </a:rPr>
              <a:t>𝒄  </a:t>
            </a:r>
            <a:r>
              <a:rPr dirty="0" sz="3100">
                <a:solidFill>
                  <a:srgbClr val="008000"/>
                </a:solidFill>
                <a:latin typeface="Cambria Math"/>
                <a:cs typeface="Cambria Math"/>
              </a:rPr>
              <a:t>= </a:t>
            </a:r>
            <a:r>
              <a:rPr dirty="0" sz="3100" spc="10">
                <a:solidFill>
                  <a:srgbClr val="008000"/>
                </a:solidFill>
                <a:latin typeface="Cambria Math"/>
                <a:cs typeface="Cambria Math"/>
              </a:rPr>
              <a:t>(𝑽</a:t>
            </a:r>
            <a:r>
              <a:rPr dirty="0" baseline="-15700" sz="3450" spc="15">
                <a:solidFill>
                  <a:srgbClr val="008000"/>
                </a:solidFill>
                <a:latin typeface="Cambria Math"/>
                <a:cs typeface="Cambria Math"/>
              </a:rPr>
              <a:t>𝒄</a:t>
            </a:r>
            <a:r>
              <a:rPr dirty="0" sz="3100" spc="10">
                <a:solidFill>
                  <a:srgbClr val="008000"/>
                </a:solidFill>
                <a:latin typeface="Cambria Math"/>
                <a:cs typeface="Cambria Math"/>
              </a:rPr>
              <a:t>,</a:t>
            </a:r>
            <a:r>
              <a:rPr dirty="0" sz="3100" spc="-290">
                <a:solidFill>
                  <a:srgbClr val="008000"/>
                </a:solidFill>
                <a:latin typeface="Cambria Math"/>
                <a:cs typeface="Cambria Math"/>
              </a:rPr>
              <a:t> </a:t>
            </a:r>
            <a:r>
              <a:rPr dirty="0" sz="3100" spc="25">
                <a:solidFill>
                  <a:srgbClr val="008000"/>
                </a:solidFill>
                <a:latin typeface="Cambria Math"/>
                <a:cs typeface="Cambria Math"/>
              </a:rPr>
              <a:t>𝑬</a:t>
            </a:r>
            <a:r>
              <a:rPr dirty="0" baseline="-15700" sz="3450" spc="37">
                <a:solidFill>
                  <a:srgbClr val="008000"/>
                </a:solidFill>
                <a:latin typeface="Cambria Math"/>
                <a:cs typeface="Cambria Math"/>
              </a:rPr>
              <a:t>𝒄</a:t>
            </a:r>
            <a:r>
              <a:rPr dirty="0" sz="3100" spc="25">
                <a:solidFill>
                  <a:srgbClr val="008000"/>
                </a:solidFill>
                <a:latin typeface="Cambria Math"/>
                <a:cs typeface="Cambria Math"/>
              </a:rPr>
              <a:t>)</a:t>
            </a:r>
            <a:endParaRPr sz="3100">
              <a:latin typeface="Cambria Math"/>
              <a:cs typeface="Cambria Math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35292" y="4618490"/>
            <a:ext cx="204470" cy="1082040"/>
          </a:xfrm>
          <a:custGeom>
            <a:avLst/>
            <a:gdLst/>
            <a:ahLst/>
            <a:cxnLst/>
            <a:rect l="l" t="t" r="r" b="b"/>
            <a:pathLst>
              <a:path w="204470" h="1082039">
                <a:moveTo>
                  <a:pt x="0" y="0"/>
                </a:moveTo>
                <a:lnTo>
                  <a:pt x="204331" y="108188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954162" y="4508275"/>
            <a:ext cx="798830" cy="1236345"/>
          </a:xfrm>
          <a:custGeom>
            <a:avLst/>
            <a:gdLst/>
            <a:ahLst/>
            <a:cxnLst/>
            <a:rect l="l" t="t" r="r" b="b"/>
            <a:pathLst>
              <a:path w="798829" h="1236345">
                <a:moveTo>
                  <a:pt x="798292" y="0"/>
                </a:moveTo>
                <a:lnTo>
                  <a:pt x="0" y="1236123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866994" y="4552295"/>
            <a:ext cx="29845" cy="854710"/>
          </a:xfrm>
          <a:custGeom>
            <a:avLst/>
            <a:gdLst/>
            <a:ahLst/>
            <a:cxnLst/>
            <a:rect l="l" t="t" r="r" b="b"/>
            <a:pathLst>
              <a:path w="29845" h="854710">
                <a:moveTo>
                  <a:pt x="0" y="0"/>
                </a:moveTo>
                <a:lnTo>
                  <a:pt x="29652" y="854143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797278" y="4401993"/>
            <a:ext cx="908050" cy="66675"/>
          </a:xfrm>
          <a:custGeom>
            <a:avLst/>
            <a:gdLst/>
            <a:ahLst/>
            <a:cxnLst/>
            <a:rect l="l" t="t" r="r" b="b"/>
            <a:pathLst>
              <a:path w="908050" h="66675">
                <a:moveTo>
                  <a:pt x="0" y="66190"/>
                </a:moveTo>
                <a:lnTo>
                  <a:pt x="90773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001609" y="5663033"/>
            <a:ext cx="781050" cy="187960"/>
          </a:xfrm>
          <a:custGeom>
            <a:avLst/>
            <a:gdLst/>
            <a:ahLst/>
            <a:cxnLst/>
            <a:rect l="l" t="t" r="r" b="b"/>
            <a:pathLst>
              <a:path w="781050" h="187960">
                <a:moveTo>
                  <a:pt x="0" y="187649"/>
                </a:moveTo>
                <a:lnTo>
                  <a:pt x="780495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677639" y="5700374"/>
            <a:ext cx="324485" cy="300990"/>
          </a:xfrm>
          <a:custGeom>
            <a:avLst/>
            <a:gdLst/>
            <a:ahLst/>
            <a:cxnLst/>
            <a:rect l="l" t="t" r="r" b="b"/>
            <a:pathLst>
              <a:path w="324485" h="300989">
                <a:moveTo>
                  <a:pt x="161984" y="0"/>
                </a:moveTo>
                <a:lnTo>
                  <a:pt x="110785" y="7662"/>
                </a:lnTo>
                <a:lnTo>
                  <a:pt x="66318" y="29000"/>
                </a:lnTo>
                <a:lnTo>
                  <a:pt x="31253" y="61537"/>
                </a:lnTo>
                <a:lnTo>
                  <a:pt x="8258" y="102798"/>
                </a:lnTo>
                <a:lnTo>
                  <a:pt x="0" y="150307"/>
                </a:lnTo>
                <a:lnTo>
                  <a:pt x="8258" y="197816"/>
                </a:lnTo>
                <a:lnTo>
                  <a:pt x="31253" y="239077"/>
                </a:lnTo>
                <a:lnTo>
                  <a:pt x="66318" y="271614"/>
                </a:lnTo>
                <a:lnTo>
                  <a:pt x="110785" y="292952"/>
                </a:lnTo>
                <a:lnTo>
                  <a:pt x="161984" y="300614"/>
                </a:lnTo>
                <a:lnTo>
                  <a:pt x="213184" y="292952"/>
                </a:lnTo>
                <a:lnTo>
                  <a:pt x="257651" y="271614"/>
                </a:lnTo>
                <a:lnTo>
                  <a:pt x="292716" y="239077"/>
                </a:lnTo>
                <a:lnTo>
                  <a:pt x="315712" y="197816"/>
                </a:lnTo>
                <a:lnTo>
                  <a:pt x="323970" y="150307"/>
                </a:lnTo>
                <a:lnTo>
                  <a:pt x="315712" y="102798"/>
                </a:lnTo>
                <a:lnTo>
                  <a:pt x="292716" y="61537"/>
                </a:lnTo>
                <a:lnTo>
                  <a:pt x="257651" y="29000"/>
                </a:lnTo>
                <a:lnTo>
                  <a:pt x="213184" y="7662"/>
                </a:lnTo>
                <a:lnTo>
                  <a:pt x="1619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677639" y="5700374"/>
            <a:ext cx="324485" cy="300990"/>
          </a:xfrm>
          <a:custGeom>
            <a:avLst/>
            <a:gdLst/>
            <a:ahLst/>
            <a:cxnLst/>
            <a:rect l="l" t="t" r="r" b="b"/>
            <a:pathLst>
              <a:path w="324485" h="300989">
                <a:moveTo>
                  <a:pt x="0" y="150307"/>
                </a:moveTo>
                <a:lnTo>
                  <a:pt x="8258" y="102798"/>
                </a:lnTo>
                <a:lnTo>
                  <a:pt x="31253" y="61537"/>
                </a:lnTo>
                <a:lnTo>
                  <a:pt x="66318" y="29000"/>
                </a:lnTo>
                <a:lnTo>
                  <a:pt x="110785" y="7662"/>
                </a:lnTo>
                <a:lnTo>
                  <a:pt x="161985" y="0"/>
                </a:lnTo>
                <a:lnTo>
                  <a:pt x="213185" y="7662"/>
                </a:lnTo>
                <a:lnTo>
                  <a:pt x="257652" y="29000"/>
                </a:lnTo>
                <a:lnTo>
                  <a:pt x="292717" y="61537"/>
                </a:lnTo>
                <a:lnTo>
                  <a:pt x="315712" y="102798"/>
                </a:lnTo>
                <a:lnTo>
                  <a:pt x="323971" y="150307"/>
                </a:lnTo>
                <a:lnTo>
                  <a:pt x="315712" y="197816"/>
                </a:lnTo>
                <a:lnTo>
                  <a:pt x="292717" y="239077"/>
                </a:lnTo>
                <a:lnTo>
                  <a:pt x="257652" y="271614"/>
                </a:lnTo>
                <a:lnTo>
                  <a:pt x="213185" y="292952"/>
                </a:lnTo>
                <a:lnTo>
                  <a:pt x="161985" y="300615"/>
                </a:lnTo>
                <a:lnTo>
                  <a:pt x="110785" y="292952"/>
                </a:lnTo>
                <a:lnTo>
                  <a:pt x="66318" y="271614"/>
                </a:lnTo>
                <a:lnTo>
                  <a:pt x="31253" y="239077"/>
                </a:lnTo>
                <a:lnTo>
                  <a:pt x="8258" y="197816"/>
                </a:lnTo>
                <a:lnTo>
                  <a:pt x="0" y="150307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473307" y="4317875"/>
            <a:ext cx="324485" cy="300990"/>
          </a:xfrm>
          <a:custGeom>
            <a:avLst/>
            <a:gdLst/>
            <a:ahLst/>
            <a:cxnLst/>
            <a:rect l="l" t="t" r="r" b="b"/>
            <a:pathLst>
              <a:path w="324485" h="300989">
                <a:moveTo>
                  <a:pt x="161985" y="0"/>
                </a:moveTo>
                <a:lnTo>
                  <a:pt x="110785" y="7662"/>
                </a:lnTo>
                <a:lnTo>
                  <a:pt x="66319" y="29000"/>
                </a:lnTo>
                <a:lnTo>
                  <a:pt x="31253" y="61537"/>
                </a:lnTo>
                <a:lnTo>
                  <a:pt x="8258" y="102799"/>
                </a:lnTo>
                <a:lnTo>
                  <a:pt x="0" y="150308"/>
                </a:lnTo>
                <a:lnTo>
                  <a:pt x="8258" y="197816"/>
                </a:lnTo>
                <a:lnTo>
                  <a:pt x="31253" y="239077"/>
                </a:lnTo>
                <a:lnTo>
                  <a:pt x="66319" y="271614"/>
                </a:lnTo>
                <a:lnTo>
                  <a:pt x="110785" y="292952"/>
                </a:lnTo>
                <a:lnTo>
                  <a:pt x="161985" y="300615"/>
                </a:lnTo>
                <a:lnTo>
                  <a:pt x="213185" y="292952"/>
                </a:lnTo>
                <a:lnTo>
                  <a:pt x="257651" y="271614"/>
                </a:lnTo>
                <a:lnTo>
                  <a:pt x="292716" y="239077"/>
                </a:lnTo>
                <a:lnTo>
                  <a:pt x="315712" y="197816"/>
                </a:lnTo>
                <a:lnTo>
                  <a:pt x="323970" y="150308"/>
                </a:lnTo>
                <a:lnTo>
                  <a:pt x="315712" y="102799"/>
                </a:lnTo>
                <a:lnTo>
                  <a:pt x="292716" y="61537"/>
                </a:lnTo>
                <a:lnTo>
                  <a:pt x="257651" y="29000"/>
                </a:lnTo>
                <a:lnTo>
                  <a:pt x="213185" y="7662"/>
                </a:lnTo>
                <a:lnTo>
                  <a:pt x="16198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473307" y="4317875"/>
            <a:ext cx="324485" cy="300990"/>
          </a:xfrm>
          <a:custGeom>
            <a:avLst/>
            <a:gdLst/>
            <a:ahLst/>
            <a:cxnLst/>
            <a:rect l="l" t="t" r="r" b="b"/>
            <a:pathLst>
              <a:path w="324485" h="300989">
                <a:moveTo>
                  <a:pt x="0" y="150307"/>
                </a:moveTo>
                <a:lnTo>
                  <a:pt x="8258" y="102798"/>
                </a:lnTo>
                <a:lnTo>
                  <a:pt x="31253" y="61537"/>
                </a:lnTo>
                <a:lnTo>
                  <a:pt x="66318" y="29000"/>
                </a:lnTo>
                <a:lnTo>
                  <a:pt x="110785" y="7662"/>
                </a:lnTo>
                <a:lnTo>
                  <a:pt x="161985" y="0"/>
                </a:lnTo>
                <a:lnTo>
                  <a:pt x="213185" y="7662"/>
                </a:lnTo>
                <a:lnTo>
                  <a:pt x="257652" y="29000"/>
                </a:lnTo>
                <a:lnTo>
                  <a:pt x="292717" y="61537"/>
                </a:lnTo>
                <a:lnTo>
                  <a:pt x="315712" y="102798"/>
                </a:lnTo>
                <a:lnTo>
                  <a:pt x="323971" y="150307"/>
                </a:lnTo>
                <a:lnTo>
                  <a:pt x="315712" y="197816"/>
                </a:lnTo>
                <a:lnTo>
                  <a:pt x="292717" y="239077"/>
                </a:lnTo>
                <a:lnTo>
                  <a:pt x="257652" y="271614"/>
                </a:lnTo>
                <a:lnTo>
                  <a:pt x="213185" y="292952"/>
                </a:lnTo>
                <a:lnTo>
                  <a:pt x="161985" y="300615"/>
                </a:lnTo>
                <a:lnTo>
                  <a:pt x="110785" y="292952"/>
                </a:lnTo>
                <a:lnTo>
                  <a:pt x="66318" y="271614"/>
                </a:lnTo>
                <a:lnTo>
                  <a:pt x="31253" y="239077"/>
                </a:lnTo>
                <a:lnTo>
                  <a:pt x="8258" y="197816"/>
                </a:lnTo>
                <a:lnTo>
                  <a:pt x="0" y="150307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734654" y="5406442"/>
            <a:ext cx="324485" cy="300990"/>
          </a:xfrm>
          <a:custGeom>
            <a:avLst/>
            <a:gdLst/>
            <a:ahLst/>
            <a:cxnLst/>
            <a:rect l="l" t="t" r="r" b="b"/>
            <a:pathLst>
              <a:path w="324484" h="300989">
                <a:moveTo>
                  <a:pt x="161985" y="0"/>
                </a:moveTo>
                <a:lnTo>
                  <a:pt x="110785" y="7662"/>
                </a:lnTo>
                <a:lnTo>
                  <a:pt x="66319" y="29000"/>
                </a:lnTo>
                <a:lnTo>
                  <a:pt x="31253" y="61537"/>
                </a:lnTo>
                <a:lnTo>
                  <a:pt x="8258" y="102798"/>
                </a:lnTo>
                <a:lnTo>
                  <a:pt x="0" y="150307"/>
                </a:lnTo>
                <a:lnTo>
                  <a:pt x="8258" y="197816"/>
                </a:lnTo>
                <a:lnTo>
                  <a:pt x="31253" y="239076"/>
                </a:lnTo>
                <a:lnTo>
                  <a:pt x="66319" y="271614"/>
                </a:lnTo>
                <a:lnTo>
                  <a:pt x="110785" y="292952"/>
                </a:lnTo>
                <a:lnTo>
                  <a:pt x="161985" y="300614"/>
                </a:lnTo>
                <a:lnTo>
                  <a:pt x="213186" y="292952"/>
                </a:lnTo>
                <a:lnTo>
                  <a:pt x="257652" y="271614"/>
                </a:lnTo>
                <a:lnTo>
                  <a:pt x="292718" y="239076"/>
                </a:lnTo>
                <a:lnTo>
                  <a:pt x="315713" y="197816"/>
                </a:lnTo>
                <a:lnTo>
                  <a:pt x="323971" y="150307"/>
                </a:lnTo>
                <a:lnTo>
                  <a:pt x="315713" y="102798"/>
                </a:lnTo>
                <a:lnTo>
                  <a:pt x="292718" y="61537"/>
                </a:lnTo>
                <a:lnTo>
                  <a:pt x="257652" y="29000"/>
                </a:lnTo>
                <a:lnTo>
                  <a:pt x="213186" y="7662"/>
                </a:lnTo>
                <a:lnTo>
                  <a:pt x="16198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734654" y="5406442"/>
            <a:ext cx="324485" cy="300990"/>
          </a:xfrm>
          <a:custGeom>
            <a:avLst/>
            <a:gdLst/>
            <a:ahLst/>
            <a:cxnLst/>
            <a:rect l="l" t="t" r="r" b="b"/>
            <a:pathLst>
              <a:path w="324484" h="300989">
                <a:moveTo>
                  <a:pt x="0" y="150307"/>
                </a:moveTo>
                <a:lnTo>
                  <a:pt x="8258" y="102798"/>
                </a:lnTo>
                <a:lnTo>
                  <a:pt x="31253" y="61537"/>
                </a:lnTo>
                <a:lnTo>
                  <a:pt x="66318" y="29000"/>
                </a:lnTo>
                <a:lnTo>
                  <a:pt x="110785" y="7662"/>
                </a:lnTo>
                <a:lnTo>
                  <a:pt x="161985" y="0"/>
                </a:lnTo>
                <a:lnTo>
                  <a:pt x="213185" y="7662"/>
                </a:lnTo>
                <a:lnTo>
                  <a:pt x="257652" y="29000"/>
                </a:lnTo>
                <a:lnTo>
                  <a:pt x="292717" y="61537"/>
                </a:lnTo>
                <a:lnTo>
                  <a:pt x="315712" y="102798"/>
                </a:lnTo>
                <a:lnTo>
                  <a:pt x="323971" y="150307"/>
                </a:lnTo>
                <a:lnTo>
                  <a:pt x="315712" y="197816"/>
                </a:lnTo>
                <a:lnTo>
                  <a:pt x="292717" y="239077"/>
                </a:lnTo>
                <a:lnTo>
                  <a:pt x="257652" y="271614"/>
                </a:lnTo>
                <a:lnTo>
                  <a:pt x="213185" y="292952"/>
                </a:lnTo>
                <a:lnTo>
                  <a:pt x="161985" y="300615"/>
                </a:lnTo>
                <a:lnTo>
                  <a:pt x="110785" y="292952"/>
                </a:lnTo>
                <a:lnTo>
                  <a:pt x="66318" y="271614"/>
                </a:lnTo>
                <a:lnTo>
                  <a:pt x="31253" y="239077"/>
                </a:lnTo>
                <a:lnTo>
                  <a:pt x="8258" y="197816"/>
                </a:lnTo>
                <a:lnTo>
                  <a:pt x="0" y="150307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705009" y="4251685"/>
            <a:ext cx="324485" cy="300990"/>
          </a:xfrm>
          <a:custGeom>
            <a:avLst/>
            <a:gdLst/>
            <a:ahLst/>
            <a:cxnLst/>
            <a:rect l="l" t="t" r="r" b="b"/>
            <a:pathLst>
              <a:path w="324484" h="300989">
                <a:moveTo>
                  <a:pt x="161984" y="0"/>
                </a:moveTo>
                <a:lnTo>
                  <a:pt x="110785" y="7662"/>
                </a:lnTo>
                <a:lnTo>
                  <a:pt x="66318" y="29000"/>
                </a:lnTo>
                <a:lnTo>
                  <a:pt x="31253" y="61537"/>
                </a:lnTo>
                <a:lnTo>
                  <a:pt x="8258" y="102799"/>
                </a:lnTo>
                <a:lnTo>
                  <a:pt x="0" y="150308"/>
                </a:lnTo>
                <a:lnTo>
                  <a:pt x="8258" y="197816"/>
                </a:lnTo>
                <a:lnTo>
                  <a:pt x="31253" y="239077"/>
                </a:lnTo>
                <a:lnTo>
                  <a:pt x="66318" y="271614"/>
                </a:lnTo>
                <a:lnTo>
                  <a:pt x="110785" y="292952"/>
                </a:lnTo>
                <a:lnTo>
                  <a:pt x="161984" y="300615"/>
                </a:lnTo>
                <a:lnTo>
                  <a:pt x="213184" y="292952"/>
                </a:lnTo>
                <a:lnTo>
                  <a:pt x="257651" y="271614"/>
                </a:lnTo>
                <a:lnTo>
                  <a:pt x="292716" y="239077"/>
                </a:lnTo>
                <a:lnTo>
                  <a:pt x="315712" y="197816"/>
                </a:lnTo>
                <a:lnTo>
                  <a:pt x="323970" y="150308"/>
                </a:lnTo>
                <a:lnTo>
                  <a:pt x="315712" y="102799"/>
                </a:lnTo>
                <a:lnTo>
                  <a:pt x="292716" y="61537"/>
                </a:lnTo>
                <a:lnTo>
                  <a:pt x="257651" y="29000"/>
                </a:lnTo>
                <a:lnTo>
                  <a:pt x="213184" y="7662"/>
                </a:lnTo>
                <a:lnTo>
                  <a:pt x="1619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705009" y="4251685"/>
            <a:ext cx="324485" cy="300990"/>
          </a:xfrm>
          <a:custGeom>
            <a:avLst/>
            <a:gdLst/>
            <a:ahLst/>
            <a:cxnLst/>
            <a:rect l="l" t="t" r="r" b="b"/>
            <a:pathLst>
              <a:path w="324484" h="300989">
                <a:moveTo>
                  <a:pt x="0" y="150307"/>
                </a:moveTo>
                <a:lnTo>
                  <a:pt x="8258" y="102798"/>
                </a:lnTo>
                <a:lnTo>
                  <a:pt x="31253" y="61537"/>
                </a:lnTo>
                <a:lnTo>
                  <a:pt x="66318" y="29000"/>
                </a:lnTo>
                <a:lnTo>
                  <a:pt x="110785" y="7662"/>
                </a:lnTo>
                <a:lnTo>
                  <a:pt x="161985" y="0"/>
                </a:lnTo>
                <a:lnTo>
                  <a:pt x="213185" y="7662"/>
                </a:lnTo>
                <a:lnTo>
                  <a:pt x="257652" y="29000"/>
                </a:lnTo>
                <a:lnTo>
                  <a:pt x="292717" y="61537"/>
                </a:lnTo>
                <a:lnTo>
                  <a:pt x="315712" y="102798"/>
                </a:lnTo>
                <a:lnTo>
                  <a:pt x="323971" y="150307"/>
                </a:lnTo>
                <a:lnTo>
                  <a:pt x="315712" y="197816"/>
                </a:lnTo>
                <a:lnTo>
                  <a:pt x="292717" y="239077"/>
                </a:lnTo>
                <a:lnTo>
                  <a:pt x="257652" y="271614"/>
                </a:lnTo>
                <a:lnTo>
                  <a:pt x="213185" y="292952"/>
                </a:lnTo>
                <a:lnTo>
                  <a:pt x="161985" y="300615"/>
                </a:lnTo>
                <a:lnTo>
                  <a:pt x="110785" y="292952"/>
                </a:lnTo>
                <a:lnTo>
                  <a:pt x="66318" y="271614"/>
                </a:lnTo>
                <a:lnTo>
                  <a:pt x="31253" y="239077"/>
                </a:lnTo>
                <a:lnTo>
                  <a:pt x="8258" y="197816"/>
                </a:lnTo>
                <a:lnTo>
                  <a:pt x="0" y="150307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993139" y="3096260"/>
            <a:ext cx="2106930" cy="76009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75"/>
              </a:spcBef>
            </a:pPr>
            <a:r>
              <a:rPr dirty="0" sz="2400" spc="-5" b="1">
                <a:solidFill>
                  <a:srgbClr val="C00000"/>
                </a:solidFill>
                <a:latin typeface="Arial"/>
                <a:cs typeface="Arial"/>
              </a:rPr>
              <a:t>Sampled</a:t>
            </a:r>
            <a:r>
              <a:rPr dirty="0" sz="2400" spc="-9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 spc="-5" b="1">
                <a:solidFill>
                  <a:srgbClr val="C00000"/>
                </a:solidFill>
                <a:latin typeface="Arial"/>
                <a:cs typeface="Arial"/>
              </a:rPr>
              <a:t>node  group</a:t>
            </a:r>
            <a:r>
              <a:rPr dirty="0" sz="2400" spc="-9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𝑽</a:t>
            </a:r>
            <a:r>
              <a:rPr dirty="0" baseline="-15432" sz="2700">
                <a:solidFill>
                  <a:srgbClr val="C00000"/>
                </a:solidFill>
                <a:latin typeface="Cambria Math"/>
                <a:cs typeface="Cambria Math"/>
              </a:rPr>
              <a:t>𝒄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536246" y="5639688"/>
            <a:ext cx="324485" cy="300990"/>
          </a:xfrm>
          <a:custGeom>
            <a:avLst/>
            <a:gdLst/>
            <a:ahLst/>
            <a:cxnLst/>
            <a:rect l="l" t="t" r="r" b="b"/>
            <a:pathLst>
              <a:path w="324485" h="300989">
                <a:moveTo>
                  <a:pt x="0" y="150307"/>
                </a:moveTo>
                <a:lnTo>
                  <a:pt x="8258" y="102798"/>
                </a:lnTo>
                <a:lnTo>
                  <a:pt x="31253" y="61537"/>
                </a:lnTo>
                <a:lnTo>
                  <a:pt x="66318" y="29000"/>
                </a:lnTo>
                <a:lnTo>
                  <a:pt x="110785" y="7662"/>
                </a:lnTo>
                <a:lnTo>
                  <a:pt x="161985" y="0"/>
                </a:lnTo>
                <a:lnTo>
                  <a:pt x="213185" y="7662"/>
                </a:lnTo>
                <a:lnTo>
                  <a:pt x="257652" y="29000"/>
                </a:lnTo>
                <a:lnTo>
                  <a:pt x="292717" y="61537"/>
                </a:lnTo>
                <a:lnTo>
                  <a:pt x="315712" y="102798"/>
                </a:lnTo>
                <a:lnTo>
                  <a:pt x="323971" y="150307"/>
                </a:lnTo>
                <a:lnTo>
                  <a:pt x="315712" y="197816"/>
                </a:lnTo>
                <a:lnTo>
                  <a:pt x="292717" y="239077"/>
                </a:lnTo>
                <a:lnTo>
                  <a:pt x="257652" y="271614"/>
                </a:lnTo>
                <a:lnTo>
                  <a:pt x="213185" y="292952"/>
                </a:lnTo>
                <a:lnTo>
                  <a:pt x="161985" y="300615"/>
                </a:lnTo>
                <a:lnTo>
                  <a:pt x="110785" y="292952"/>
                </a:lnTo>
                <a:lnTo>
                  <a:pt x="66318" y="271614"/>
                </a:lnTo>
                <a:lnTo>
                  <a:pt x="31253" y="239077"/>
                </a:lnTo>
                <a:lnTo>
                  <a:pt x="8258" y="197816"/>
                </a:lnTo>
                <a:lnTo>
                  <a:pt x="0" y="150307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331916" y="4257189"/>
            <a:ext cx="324485" cy="300990"/>
          </a:xfrm>
          <a:custGeom>
            <a:avLst/>
            <a:gdLst/>
            <a:ahLst/>
            <a:cxnLst/>
            <a:rect l="l" t="t" r="r" b="b"/>
            <a:pathLst>
              <a:path w="324485" h="300989">
                <a:moveTo>
                  <a:pt x="0" y="150307"/>
                </a:moveTo>
                <a:lnTo>
                  <a:pt x="8258" y="102798"/>
                </a:lnTo>
                <a:lnTo>
                  <a:pt x="31253" y="61537"/>
                </a:lnTo>
                <a:lnTo>
                  <a:pt x="66318" y="29000"/>
                </a:lnTo>
                <a:lnTo>
                  <a:pt x="110785" y="7662"/>
                </a:lnTo>
                <a:lnTo>
                  <a:pt x="161985" y="0"/>
                </a:lnTo>
                <a:lnTo>
                  <a:pt x="213185" y="7662"/>
                </a:lnTo>
                <a:lnTo>
                  <a:pt x="257652" y="29000"/>
                </a:lnTo>
                <a:lnTo>
                  <a:pt x="292717" y="61537"/>
                </a:lnTo>
                <a:lnTo>
                  <a:pt x="315712" y="102798"/>
                </a:lnTo>
                <a:lnTo>
                  <a:pt x="323971" y="150307"/>
                </a:lnTo>
                <a:lnTo>
                  <a:pt x="315712" y="197816"/>
                </a:lnTo>
                <a:lnTo>
                  <a:pt x="292717" y="239077"/>
                </a:lnTo>
                <a:lnTo>
                  <a:pt x="257652" y="271614"/>
                </a:lnTo>
                <a:lnTo>
                  <a:pt x="213185" y="292952"/>
                </a:lnTo>
                <a:lnTo>
                  <a:pt x="161985" y="300615"/>
                </a:lnTo>
                <a:lnTo>
                  <a:pt x="110785" y="292952"/>
                </a:lnTo>
                <a:lnTo>
                  <a:pt x="66318" y="271614"/>
                </a:lnTo>
                <a:lnTo>
                  <a:pt x="31253" y="239077"/>
                </a:lnTo>
                <a:lnTo>
                  <a:pt x="8258" y="197816"/>
                </a:lnTo>
                <a:lnTo>
                  <a:pt x="0" y="150307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593263" y="5345756"/>
            <a:ext cx="324485" cy="300990"/>
          </a:xfrm>
          <a:custGeom>
            <a:avLst/>
            <a:gdLst/>
            <a:ahLst/>
            <a:cxnLst/>
            <a:rect l="l" t="t" r="r" b="b"/>
            <a:pathLst>
              <a:path w="324485" h="300989">
                <a:moveTo>
                  <a:pt x="0" y="150307"/>
                </a:moveTo>
                <a:lnTo>
                  <a:pt x="8258" y="102798"/>
                </a:lnTo>
                <a:lnTo>
                  <a:pt x="31253" y="61537"/>
                </a:lnTo>
                <a:lnTo>
                  <a:pt x="66318" y="29000"/>
                </a:lnTo>
                <a:lnTo>
                  <a:pt x="110785" y="7662"/>
                </a:lnTo>
                <a:lnTo>
                  <a:pt x="161985" y="0"/>
                </a:lnTo>
                <a:lnTo>
                  <a:pt x="213185" y="7662"/>
                </a:lnTo>
                <a:lnTo>
                  <a:pt x="257652" y="29000"/>
                </a:lnTo>
                <a:lnTo>
                  <a:pt x="292717" y="61537"/>
                </a:lnTo>
                <a:lnTo>
                  <a:pt x="315712" y="102798"/>
                </a:lnTo>
                <a:lnTo>
                  <a:pt x="323971" y="150307"/>
                </a:lnTo>
                <a:lnTo>
                  <a:pt x="315712" y="197816"/>
                </a:lnTo>
                <a:lnTo>
                  <a:pt x="292717" y="239077"/>
                </a:lnTo>
                <a:lnTo>
                  <a:pt x="257652" y="271614"/>
                </a:lnTo>
                <a:lnTo>
                  <a:pt x="213185" y="292952"/>
                </a:lnTo>
                <a:lnTo>
                  <a:pt x="161985" y="300615"/>
                </a:lnTo>
                <a:lnTo>
                  <a:pt x="110785" y="292952"/>
                </a:lnTo>
                <a:lnTo>
                  <a:pt x="66318" y="271614"/>
                </a:lnTo>
                <a:lnTo>
                  <a:pt x="31253" y="239077"/>
                </a:lnTo>
                <a:lnTo>
                  <a:pt x="8258" y="197816"/>
                </a:lnTo>
                <a:lnTo>
                  <a:pt x="0" y="150307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563616" y="4191000"/>
            <a:ext cx="324485" cy="300990"/>
          </a:xfrm>
          <a:custGeom>
            <a:avLst/>
            <a:gdLst/>
            <a:ahLst/>
            <a:cxnLst/>
            <a:rect l="l" t="t" r="r" b="b"/>
            <a:pathLst>
              <a:path w="324485" h="300989">
                <a:moveTo>
                  <a:pt x="0" y="150307"/>
                </a:moveTo>
                <a:lnTo>
                  <a:pt x="8258" y="102798"/>
                </a:lnTo>
                <a:lnTo>
                  <a:pt x="31253" y="61537"/>
                </a:lnTo>
                <a:lnTo>
                  <a:pt x="66318" y="29000"/>
                </a:lnTo>
                <a:lnTo>
                  <a:pt x="110785" y="7662"/>
                </a:lnTo>
                <a:lnTo>
                  <a:pt x="161985" y="0"/>
                </a:lnTo>
                <a:lnTo>
                  <a:pt x="213185" y="7662"/>
                </a:lnTo>
                <a:lnTo>
                  <a:pt x="257652" y="29000"/>
                </a:lnTo>
                <a:lnTo>
                  <a:pt x="292717" y="61537"/>
                </a:lnTo>
                <a:lnTo>
                  <a:pt x="315712" y="102798"/>
                </a:lnTo>
                <a:lnTo>
                  <a:pt x="323971" y="150307"/>
                </a:lnTo>
                <a:lnTo>
                  <a:pt x="315712" y="197816"/>
                </a:lnTo>
                <a:lnTo>
                  <a:pt x="292717" y="239077"/>
                </a:lnTo>
                <a:lnTo>
                  <a:pt x="257652" y="271614"/>
                </a:lnTo>
                <a:lnTo>
                  <a:pt x="213185" y="292952"/>
                </a:lnTo>
                <a:lnTo>
                  <a:pt x="161985" y="300615"/>
                </a:lnTo>
                <a:lnTo>
                  <a:pt x="110785" y="292952"/>
                </a:lnTo>
                <a:lnTo>
                  <a:pt x="66318" y="271614"/>
                </a:lnTo>
                <a:lnTo>
                  <a:pt x="31253" y="239077"/>
                </a:lnTo>
                <a:lnTo>
                  <a:pt x="8258" y="197816"/>
                </a:lnTo>
                <a:lnTo>
                  <a:pt x="0" y="150307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5099799" y="3096260"/>
            <a:ext cx="1817370" cy="76009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75"/>
              </a:spcBef>
            </a:pPr>
            <a:r>
              <a:rPr dirty="0" sz="2400" spc="-5" b="1">
                <a:solidFill>
                  <a:srgbClr val="008000"/>
                </a:solidFill>
                <a:latin typeface="Arial"/>
                <a:cs typeface="Arial"/>
              </a:rPr>
              <a:t>Induced  subgraph</a:t>
            </a:r>
            <a:r>
              <a:rPr dirty="0" sz="2400" spc="-85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008000"/>
                </a:solidFill>
                <a:latin typeface="Cambria Math"/>
                <a:cs typeface="Cambria Math"/>
              </a:rPr>
              <a:t>𝑮</a:t>
            </a:r>
            <a:r>
              <a:rPr dirty="0" baseline="-15432" sz="2700">
                <a:solidFill>
                  <a:srgbClr val="008000"/>
                </a:solidFill>
                <a:latin typeface="Cambria Math"/>
                <a:cs typeface="Cambria Math"/>
              </a:rPr>
              <a:t>𝒄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40636" y="6699893"/>
            <a:ext cx="400685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3/13/21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31</a:t>
            </a:fld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8028432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65708" y="1349247"/>
            <a:ext cx="7988300" cy="1449070"/>
          </a:xfrm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marL="332740" marR="16510" indent="-320040">
              <a:lnSpc>
                <a:spcPts val="3700"/>
              </a:lnSpc>
              <a:spcBef>
                <a:spcPts val="240"/>
              </a:spcBef>
              <a:buClr>
                <a:srgbClr val="F0AD00"/>
              </a:buClr>
              <a:buSzPct val="80645"/>
              <a:buFont typeface="Arial"/>
              <a:buChar char="▪"/>
              <a:tabLst>
                <a:tab pos="332740" algn="l"/>
                <a:tab pos="3954779" algn="l"/>
              </a:tabLst>
            </a:pPr>
            <a:r>
              <a:rPr dirty="0" sz="3100" spc="-5"/>
              <a:t>Apply </a:t>
            </a:r>
            <a:r>
              <a:rPr dirty="0" sz="3100" spc="-45"/>
              <a:t>GNN’s </a:t>
            </a:r>
            <a:r>
              <a:rPr dirty="0" sz="3100" spc="-20" b="1">
                <a:solidFill>
                  <a:srgbClr val="C00000"/>
                </a:solidFill>
                <a:latin typeface="Calibri"/>
                <a:cs typeface="Calibri"/>
              </a:rPr>
              <a:t>layer-wise </a:t>
            </a:r>
            <a:r>
              <a:rPr dirty="0" sz="3100" spc="-5" b="1">
                <a:solidFill>
                  <a:srgbClr val="C00000"/>
                </a:solidFill>
                <a:latin typeface="Calibri"/>
                <a:cs typeface="Calibri"/>
              </a:rPr>
              <a:t>node </a:t>
            </a:r>
            <a:r>
              <a:rPr dirty="0" sz="3100" spc="-15" b="1">
                <a:solidFill>
                  <a:srgbClr val="C00000"/>
                </a:solidFill>
                <a:latin typeface="Calibri"/>
                <a:cs typeface="Calibri"/>
              </a:rPr>
              <a:t>update </a:t>
            </a:r>
            <a:r>
              <a:rPr dirty="0" sz="3100" spc="-15"/>
              <a:t>over </a:t>
            </a:r>
            <a:r>
              <a:rPr dirty="0" sz="3100">
                <a:solidFill>
                  <a:srgbClr val="008000"/>
                </a:solidFill>
                <a:latin typeface="Cambria Math"/>
                <a:cs typeface="Cambria Math"/>
              </a:rPr>
              <a:t>𝑮</a:t>
            </a:r>
            <a:r>
              <a:rPr dirty="0" baseline="-14492" sz="3450">
                <a:solidFill>
                  <a:srgbClr val="008000"/>
                </a:solidFill>
                <a:latin typeface="Cambria Math"/>
                <a:cs typeface="Cambria Math"/>
              </a:rPr>
              <a:t>𝒄 </a:t>
            </a:r>
            <a:r>
              <a:rPr dirty="0" sz="3100" spc="-35"/>
              <a:t>to  </a:t>
            </a:r>
            <a:r>
              <a:rPr dirty="0" sz="3100" spc="-10"/>
              <a:t>obtain</a:t>
            </a:r>
            <a:r>
              <a:rPr dirty="0" sz="3100" spc="-5"/>
              <a:t> embedding</a:t>
            </a:r>
            <a:r>
              <a:rPr dirty="0" sz="3100" spc="-10"/>
              <a:t> </a:t>
            </a:r>
            <a:r>
              <a:rPr dirty="0" sz="3100" spc="260">
                <a:latin typeface="Cambria Math"/>
                <a:cs typeface="Cambria Math"/>
              </a:rPr>
              <a:t>𝒉</a:t>
            </a:r>
            <a:r>
              <a:rPr dirty="0" baseline="-14492" sz="3450" spc="390">
                <a:latin typeface="Cambria Math"/>
                <a:cs typeface="Cambria Math"/>
              </a:rPr>
              <a:t>-	</a:t>
            </a:r>
            <a:r>
              <a:rPr dirty="0" sz="3100" spc="-25"/>
              <a:t>for </a:t>
            </a:r>
            <a:r>
              <a:rPr dirty="0" sz="3100" spc="-5"/>
              <a:t>each node </a:t>
            </a:r>
            <a:r>
              <a:rPr dirty="0" sz="3100">
                <a:latin typeface="Cambria Math"/>
                <a:cs typeface="Cambria Math"/>
              </a:rPr>
              <a:t>𝑣  ∈</a:t>
            </a:r>
            <a:r>
              <a:rPr dirty="0" sz="3100" spc="-275">
                <a:latin typeface="Cambria Math"/>
                <a:cs typeface="Cambria Math"/>
              </a:rPr>
              <a:t> </a:t>
            </a:r>
            <a:r>
              <a:rPr dirty="0" sz="3100" spc="25">
                <a:latin typeface="Cambria Math"/>
                <a:cs typeface="Cambria Math"/>
              </a:rPr>
              <a:t>𝑉</a:t>
            </a:r>
            <a:r>
              <a:rPr dirty="0" baseline="-14492" sz="3450" spc="37">
                <a:latin typeface="Cambria Math"/>
                <a:cs typeface="Cambria Math"/>
              </a:rPr>
              <a:t>.</a:t>
            </a:r>
            <a:r>
              <a:rPr dirty="0" sz="3100" spc="25"/>
              <a:t>.</a:t>
            </a:r>
            <a:endParaRPr sz="3100">
              <a:latin typeface="Cambria Math"/>
              <a:cs typeface="Cambria Math"/>
            </a:endParaRPr>
          </a:p>
          <a:p>
            <a:pPr marL="332740" indent="-320040">
              <a:lnSpc>
                <a:spcPts val="3670"/>
              </a:lnSpc>
              <a:buClr>
                <a:srgbClr val="F0AD00"/>
              </a:buClr>
              <a:buSzPct val="80645"/>
              <a:buFont typeface="Arial"/>
              <a:buChar char="▪"/>
              <a:tabLst>
                <a:tab pos="332740" algn="l"/>
              </a:tabLst>
            </a:pPr>
            <a:r>
              <a:rPr dirty="0" sz="3100" spc="-10"/>
              <a:t>Compute </a:t>
            </a:r>
            <a:r>
              <a:rPr dirty="0" sz="3100" spc="-5"/>
              <a:t>the </a:t>
            </a:r>
            <a:r>
              <a:rPr dirty="0" sz="3100"/>
              <a:t>loss </a:t>
            </a:r>
            <a:r>
              <a:rPr dirty="0" sz="3100" spc="-25"/>
              <a:t>for </a:t>
            </a:r>
            <a:r>
              <a:rPr dirty="0" sz="3100" spc="-5"/>
              <a:t>each node </a:t>
            </a:r>
            <a:r>
              <a:rPr dirty="0" sz="3100">
                <a:latin typeface="Cambria Math"/>
                <a:cs typeface="Cambria Math"/>
              </a:rPr>
              <a:t>𝑣  ∈ </a:t>
            </a:r>
            <a:r>
              <a:rPr dirty="0" sz="3100" spc="-25">
                <a:latin typeface="Cambria Math"/>
                <a:cs typeface="Cambria Math"/>
              </a:rPr>
              <a:t>𝑉</a:t>
            </a:r>
            <a:r>
              <a:rPr dirty="0" baseline="-15700" sz="3450" spc="-37">
                <a:latin typeface="Cambria Math"/>
                <a:cs typeface="Cambria Math"/>
              </a:rPr>
              <a:t>. </a:t>
            </a:r>
            <a:r>
              <a:rPr dirty="0" sz="3100" spc="-5"/>
              <a:t>and</a:t>
            </a:r>
            <a:r>
              <a:rPr dirty="0" sz="3100" spc="-110"/>
              <a:t> </a:t>
            </a:r>
            <a:r>
              <a:rPr dirty="0" sz="3100" spc="-35"/>
              <a:t>take</a:t>
            </a:r>
            <a:endParaRPr sz="3100">
              <a:latin typeface="Cambria Math"/>
              <a:cs typeface="Cambria Math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176899" y="2946303"/>
            <a:ext cx="504190" cy="365125"/>
          </a:xfrm>
          <a:custGeom>
            <a:avLst/>
            <a:gdLst/>
            <a:ahLst/>
            <a:cxnLst/>
            <a:rect l="l" t="t" r="r" b="b"/>
            <a:pathLst>
              <a:path w="504189" h="365125">
                <a:moveTo>
                  <a:pt x="387341" y="0"/>
                </a:moveTo>
                <a:lnTo>
                  <a:pt x="382150" y="14803"/>
                </a:lnTo>
                <a:lnTo>
                  <a:pt x="403260" y="23964"/>
                </a:lnTo>
                <a:lnTo>
                  <a:pt x="421414" y="36645"/>
                </a:lnTo>
                <a:lnTo>
                  <a:pt x="448856" y="72570"/>
                </a:lnTo>
                <a:lnTo>
                  <a:pt x="465003" y="121037"/>
                </a:lnTo>
                <a:lnTo>
                  <a:pt x="470386" y="180510"/>
                </a:lnTo>
                <a:lnTo>
                  <a:pt x="469034" y="212673"/>
                </a:lnTo>
                <a:lnTo>
                  <a:pt x="458222" y="268133"/>
                </a:lnTo>
                <a:lnTo>
                  <a:pt x="436523" y="311447"/>
                </a:lnTo>
                <a:lnTo>
                  <a:pt x="403506" y="340667"/>
                </a:lnTo>
                <a:lnTo>
                  <a:pt x="382727" y="349871"/>
                </a:lnTo>
                <a:lnTo>
                  <a:pt x="387341" y="364672"/>
                </a:lnTo>
                <a:lnTo>
                  <a:pt x="437081" y="341340"/>
                </a:lnTo>
                <a:lnTo>
                  <a:pt x="473655" y="300946"/>
                </a:lnTo>
                <a:lnTo>
                  <a:pt x="496146" y="246856"/>
                </a:lnTo>
                <a:lnTo>
                  <a:pt x="503643" y="182432"/>
                </a:lnTo>
                <a:lnTo>
                  <a:pt x="501763" y="149001"/>
                </a:lnTo>
                <a:lnTo>
                  <a:pt x="486720" y="89744"/>
                </a:lnTo>
                <a:lnTo>
                  <a:pt x="456888" y="41505"/>
                </a:lnTo>
                <a:lnTo>
                  <a:pt x="413779" y="9546"/>
                </a:lnTo>
                <a:lnTo>
                  <a:pt x="387341" y="0"/>
                </a:lnTo>
                <a:close/>
              </a:path>
              <a:path w="504189" h="365125">
                <a:moveTo>
                  <a:pt x="116302" y="0"/>
                </a:moveTo>
                <a:lnTo>
                  <a:pt x="66682" y="23381"/>
                </a:lnTo>
                <a:lnTo>
                  <a:pt x="30085" y="63919"/>
                </a:lnTo>
                <a:lnTo>
                  <a:pt x="7521" y="118105"/>
                </a:lnTo>
                <a:lnTo>
                  <a:pt x="0" y="182432"/>
                </a:lnTo>
                <a:lnTo>
                  <a:pt x="1874" y="215936"/>
                </a:lnTo>
                <a:lnTo>
                  <a:pt x="16868" y="275193"/>
                </a:lnTo>
                <a:lnTo>
                  <a:pt x="46628" y="323276"/>
                </a:lnTo>
                <a:lnTo>
                  <a:pt x="89786" y="355139"/>
                </a:lnTo>
                <a:lnTo>
                  <a:pt x="116302" y="364672"/>
                </a:lnTo>
                <a:lnTo>
                  <a:pt x="120916" y="349871"/>
                </a:lnTo>
                <a:lnTo>
                  <a:pt x="100136" y="340667"/>
                </a:lnTo>
                <a:lnTo>
                  <a:pt x="82204" y="327859"/>
                </a:lnTo>
                <a:lnTo>
                  <a:pt x="54883" y="291430"/>
                </a:lnTo>
                <a:lnTo>
                  <a:pt x="38663" y="241881"/>
                </a:lnTo>
                <a:lnTo>
                  <a:pt x="33256" y="180510"/>
                </a:lnTo>
                <a:lnTo>
                  <a:pt x="34608" y="149397"/>
                </a:lnTo>
                <a:lnTo>
                  <a:pt x="45421" y="95427"/>
                </a:lnTo>
                <a:lnTo>
                  <a:pt x="67156" y="52847"/>
                </a:lnTo>
                <a:lnTo>
                  <a:pt x="100461" y="23964"/>
                </a:lnTo>
                <a:lnTo>
                  <a:pt x="121493" y="14803"/>
                </a:lnTo>
                <a:lnTo>
                  <a:pt x="1163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65708" y="2784855"/>
            <a:ext cx="7306945" cy="1068070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484"/>
              </a:spcBef>
              <a:tabLst>
                <a:tab pos="1950720" algn="l"/>
                <a:tab pos="2839720" algn="l"/>
                <a:tab pos="3358515" algn="l"/>
              </a:tabLst>
            </a:pPr>
            <a:r>
              <a:rPr dirty="0" sz="3100" spc="-25">
                <a:latin typeface="Calibri"/>
                <a:cs typeface="Calibri"/>
              </a:rPr>
              <a:t>average:	</a:t>
            </a:r>
            <a:r>
              <a:rPr dirty="0" sz="3100" spc="60">
                <a:latin typeface="Cambria Math"/>
                <a:cs typeface="Cambria Math"/>
              </a:rPr>
              <a:t>ℓ</a:t>
            </a:r>
            <a:r>
              <a:rPr dirty="0" baseline="-15700" sz="3450" spc="89">
                <a:latin typeface="Cambria Math"/>
                <a:cs typeface="Cambria Math"/>
              </a:rPr>
              <a:t>/01	</a:t>
            </a:r>
            <a:r>
              <a:rPr dirty="0" sz="3100">
                <a:latin typeface="Cambria Math"/>
                <a:cs typeface="Cambria Math"/>
              </a:rPr>
              <a:t>𝜽	= </a:t>
            </a:r>
            <a:r>
              <a:rPr dirty="0" sz="3100" spc="0">
                <a:latin typeface="Cambria Math"/>
                <a:cs typeface="Cambria Math"/>
              </a:rPr>
              <a:t>(1/|𝑉</a:t>
            </a:r>
            <a:r>
              <a:rPr dirty="0" baseline="-15700" sz="3450" spc="0">
                <a:latin typeface="Cambria Math"/>
                <a:cs typeface="Cambria Math"/>
              </a:rPr>
              <a:t>.</a:t>
            </a:r>
            <a:r>
              <a:rPr dirty="0" sz="3100" spc="0">
                <a:latin typeface="Cambria Math"/>
                <a:cs typeface="Cambria Math"/>
              </a:rPr>
              <a:t>|) </a:t>
            </a:r>
            <a:r>
              <a:rPr dirty="0" sz="3100">
                <a:latin typeface="Cambria Math"/>
                <a:cs typeface="Cambria Math"/>
              </a:rPr>
              <a:t>⋅ </a:t>
            </a:r>
            <a:r>
              <a:rPr dirty="0" baseline="1792" sz="4650" spc="247">
                <a:latin typeface="Cambria Math"/>
                <a:cs typeface="Cambria Math"/>
              </a:rPr>
              <a:t>∑</a:t>
            </a:r>
            <a:r>
              <a:rPr dirty="0" baseline="-16908" sz="3450" spc="247">
                <a:latin typeface="Cambria Math"/>
                <a:cs typeface="Cambria Math"/>
              </a:rPr>
              <a:t>-∈3</a:t>
            </a:r>
            <a:r>
              <a:rPr dirty="0" baseline="-33625" sz="2850" spc="247">
                <a:latin typeface="Cambria Math"/>
                <a:cs typeface="Cambria Math"/>
              </a:rPr>
              <a:t>!</a:t>
            </a:r>
            <a:r>
              <a:rPr dirty="0" baseline="-33625" sz="2850" spc="112">
                <a:latin typeface="Cambria Math"/>
                <a:cs typeface="Cambria Math"/>
              </a:rPr>
              <a:t> </a:t>
            </a:r>
            <a:r>
              <a:rPr dirty="0" sz="3100" spc="125">
                <a:latin typeface="Cambria Math"/>
                <a:cs typeface="Cambria Math"/>
              </a:rPr>
              <a:t>ℓ</a:t>
            </a:r>
            <a:r>
              <a:rPr dirty="0" baseline="-15700" sz="3450" spc="187">
                <a:latin typeface="Cambria Math"/>
                <a:cs typeface="Cambria Math"/>
              </a:rPr>
              <a:t>-</a:t>
            </a:r>
            <a:r>
              <a:rPr dirty="0" sz="3100" spc="125">
                <a:latin typeface="Cambria Math"/>
                <a:cs typeface="Cambria Math"/>
              </a:rPr>
              <a:t>(𝜽)</a:t>
            </a:r>
            <a:endParaRPr sz="3100">
              <a:latin typeface="Cambria Math"/>
              <a:cs typeface="Cambria Math"/>
            </a:endParaRPr>
          </a:p>
          <a:p>
            <a:pPr marL="332740" indent="-320040">
              <a:lnSpc>
                <a:spcPct val="100000"/>
              </a:lnSpc>
              <a:spcBef>
                <a:spcPts val="384"/>
              </a:spcBef>
              <a:buClr>
                <a:srgbClr val="F0AD00"/>
              </a:buClr>
              <a:buSzPct val="80645"/>
              <a:buFont typeface="Arial"/>
              <a:buChar char="▪"/>
              <a:tabLst>
                <a:tab pos="332740" algn="l"/>
              </a:tabLst>
            </a:pPr>
            <a:r>
              <a:rPr dirty="0" sz="3100" spc="-15">
                <a:latin typeface="Calibri"/>
                <a:cs typeface="Calibri"/>
              </a:rPr>
              <a:t>Update params: </a:t>
            </a:r>
            <a:r>
              <a:rPr dirty="0" sz="3100">
                <a:latin typeface="Cambria Math"/>
                <a:cs typeface="Cambria Math"/>
              </a:rPr>
              <a:t>𝜽 ← 𝜽 −</a:t>
            </a:r>
            <a:r>
              <a:rPr dirty="0" sz="3100" spc="325">
                <a:latin typeface="Cambria Math"/>
                <a:cs typeface="Cambria Math"/>
              </a:rPr>
              <a:t> </a:t>
            </a:r>
            <a:r>
              <a:rPr dirty="0" sz="3100" spc="40">
                <a:latin typeface="Cambria Math"/>
                <a:cs typeface="Cambria Math"/>
              </a:rPr>
              <a:t>∇ℓ</a:t>
            </a:r>
            <a:r>
              <a:rPr dirty="0" baseline="-15700" sz="3450" spc="60">
                <a:latin typeface="Cambria Math"/>
                <a:cs typeface="Cambria Math"/>
              </a:rPr>
              <a:t>/01</a:t>
            </a:r>
            <a:r>
              <a:rPr dirty="0" sz="3100" spc="40">
                <a:latin typeface="Cambria Math"/>
                <a:cs typeface="Cambria Math"/>
              </a:rPr>
              <a:t>(𝜽)</a:t>
            </a:r>
            <a:endParaRPr sz="310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505242" y="5364195"/>
            <a:ext cx="165735" cy="832485"/>
          </a:xfrm>
          <a:custGeom>
            <a:avLst/>
            <a:gdLst/>
            <a:ahLst/>
            <a:cxnLst/>
            <a:rect l="l" t="t" r="r" b="b"/>
            <a:pathLst>
              <a:path w="165735" h="832485">
                <a:moveTo>
                  <a:pt x="0" y="0"/>
                </a:moveTo>
                <a:lnTo>
                  <a:pt x="165257" y="832005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763134" y="5279435"/>
            <a:ext cx="645795" cy="951230"/>
          </a:xfrm>
          <a:custGeom>
            <a:avLst/>
            <a:gdLst/>
            <a:ahLst/>
            <a:cxnLst/>
            <a:rect l="l" t="t" r="r" b="b"/>
            <a:pathLst>
              <a:path w="645794" h="951229">
                <a:moveTo>
                  <a:pt x="645634" y="0"/>
                </a:moveTo>
                <a:lnTo>
                  <a:pt x="0" y="950623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501403" y="5313290"/>
            <a:ext cx="24130" cy="657225"/>
          </a:xfrm>
          <a:custGeom>
            <a:avLst/>
            <a:gdLst/>
            <a:ahLst/>
            <a:cxnLst/>
            <a:rect l="l" t="t" r="r" b="b"/>
            <a:pathLst>
              <a:path w="24130" h="657225">
                <a:moveTo>
                  <a:pt x="0" y="0"/>
                </a:moveTo>
                <a:lnTo>
                  <a:pt x="23982" y="65686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636250" y="5197702"/>
            <a:ext cx="734695" cy="51435"/>
          </a:xfrm>
          <a:custGeom>
            <a:avLst/>
            <a:gdLst/>
            <a:ahLst/>
            <a:cxnLst/>
            <a:rect l="l" t="t" r="r" b="b"/>
            <a:pathLst>
              <a:path w="734694" h="51435">
                <a:moveTo>
                  <a:pt x="0" y="50903"/>
                </a:moveTo>
                <a:lnTo>
                  <a:pt x="734144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801506" y="6167485"/>
            <a:ext cx="631825" cy="144780"/>
          </a:xfrm>
          <a:custGeom>
            <a:avLst/>
            <a:gdLst/>
            <a:ahLst/>
            <a:cxnLst/>
            <a:rect l="l" t="t" r="r" b="b"/>
            <a:pathLst>
              <a:path w="631825" h="144779">
                <a:moveTo>
                  <a:pt x="0" y="144309"/>
                </a:moveTo>
                <a:lnTo>
                  <a:pt x="63124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539490" y="6196202"/>
            <a:ext cx="262255" cy="231775"/>
          </a:xfrm>
          <a:custGeom>
            <a:avLst/>
            <a:gdLst/>
            <a:ahLst/>
            <a:cxnLst/>
            <a:rect l="l" t="t" r="r" b="b"/>
            <a:pathLst>
              <a:path w="262255" h="231775">
                <a:moveTo>
                  <a:pt x="131008" y="0"/>
                </a:moveTo>
                <a:lnTo>
                  <a:pt x="80013" y="9083"/>
                </a:lnTo>
                <a:lnTo>
                  <a:pt x="38371" y="33856"/>
                </a:lnTo>
                <a:lnTo>
                  <a:pt x="10295" y="70598"/>
                </a:lnTo>
                <a:lnTo>
                  <a:pt x="0" y="115591"/>
                </a:lnTo>
                <a:lnTo>
                  <a:pt x="10295" y="160585"/>
                </a:lnTo>
                <a:lnTo>
                  <a:pt x="38371" y="197327"/>
                </a:lnTo>
                <a:lnTo>
                  <a:pt x="80013" y="222100"/>
                </a:lnTo>
                <a:lnTo>
                  <a:pt x="131008" y="231183"/>
                </a:lnTo>
                <a:lnTo>
                  <a:pt x="182002" y="222100"/>
                </a:lnTo>
                <a:lnTo>
                  <a:pt x="223645" y="197327"/>
                </a:lnTo>
                <a:lnTo>
                  <a:pt x="251721" y="160585"/>
                </a:lnTo>
                <a:lnTo>
                  <a:pt x="262016" y="115591"/>
                </a:lnTo>
                <a:lnTo>
                  <a:pt x="251721" y="70598"/>
                </a:lnTo>
                <a:lnTo>
                  <a:pt x="223645" y="33856"/>
                </a:lnTo>
                <a:lnTo>
                  <a:pt x="182002" y="9083"/>
                </a:lnTo>
                <a:lnTo>
                  <a:pt x="1310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539490" y="6196202"/>
            <a:ext cx="262255" cy="231775"/>
          </a:xfrm>
          <a:custGeom>
            <a:avLst/>
            <a:gdLst/>
            <a:ahLst/>
            <a:cxnLst/>
            <a:rect l="l" t="t" r="r" b="b"/>
            <a:pathLst>
              <a:path w="262255" h="231775">
                <a:moveTo>
                  <a:pt x="0" y="115592"/>
                </a:moveTo>
                <a:lnTo>
                  <a:pt x="10295" y="70598"/>
                </a:lnTo>
                <a:lnTo>
                  <a:pt x="38371" y="33856"/>
                </a:lnTo>
                <a:lnTo>
                  <a:pt x="80014" y="9083"/>
                </a:lnTo>
                <a:lnTo>
                  <a:pt x="131008" y="0"/>
                </a:lnTo>
                <a:lnTo>
                  <a:pt x="182002" y="9083"/>
                </a:lnTo>
                <a:lnTo>
                  <a:pt x="223645" y="33856"/>
                </a:lnTo>
                <a:lnTo>
                  <a:pt x="251721" y="70598"/>
                </a:lnTo>
                <a:lnTo>
                  <a:pt x="262017" y="115592"/>
                </a:lnTo>
                <a:lnTo>
                  <a:pt x="251721" y="160585"/>
                </a:lnTo>
                <a:lnTo>
                  <a:pt x="223645" y="197327"/>
                </a:lnTo>
                <a:lnTo>
                  <a:pt x="182002" y="222100"/>
                </a:lnTo>
                <a:lnTo>
                  <a:pt x="131008" y="231184"/>
                </a:lnTo>
                <a:lnTo>
                  <a:pt x="80014" y="222100"/>
                </a:lnTo>
                <a:lnTo>
                  <a:pt x="38371" y="197327"/>
                </a:lnTo>
                <a:lnTo>
                  <a:pt x="10295" y="160585"/>
                </a:lnTo>
                <a:lnTo>
                  <a:pt x="0" y="115592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374232" y="5133012"/>
            <a:ext cx="262255" cy="231775"/>
          </a:xfrm>
          <a:custGeom>
            <a:avLst/>
            <a:gdLst/>
            <a:ahLst/>
            <a:cxnLst/>
            <a:rect l="l" t="t" r="r" b="b"/>
            <a:pathLst>
              <a:path w="262255" h="231775">
                <a:moveTo>
                  <a:pt x="131008" y="0"/>
                </a:moveTo>
                <a:lnTo>
                  <a:pt x="80014" y="9083"/>
                </a:lnTo>
                <a:lnTo>
                  <a:pt x="38371" y="33856"/>
                </a:lnTo>
                <a:lnTo>
                  <a:pt x="10295" y="70598"/>
                </a:lnTo>
                <a:lnTo>
                  <a:pt x="0" y="115592"/>
                </a:lnTo>
                <a:lnTo>
                  <a:pt x="10295" y="160586"/>
                </a:lnTo>
                <a:lnTo>
                  <a:pt x="38371" y="197328"/>
                </a:lnTo>
                <a:lnTo>
                  <a:pt x="80014" y="222100"/>
                </a:lnTo>
                <a:lnTo>
                  <a:pt x="131008" y="231184"/>
                </a:lnTo>
                <a:lnTo>
                  <a:pt x="182002" y="222100"/>
                </a:lnTo>
                <a:lnTo>
                  <a:pt x="223645" y="197328"/>
                </a:lnTo>
                <a:lnTo>
                  <a:pt x="251722" y="160586"/>
                </a:lnTo>
                <a:lnTo>
                  <a:pt x="262017" y="115592"/>
                </a:lnTo>
                <a:lnTo>
                  <a:pt x="251722" y="70598"/>
                </a:lnTo>
                <a:lnTo>
                  <a:pt x="223645" y="33856"/>
                </a:lnTo>
                <a:lnTo>
                  <a:pt x="182002" y="9083"/>
                </a:lnTo>
                <a:lnTo>
                  <a:pt x="1310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374232" y="5133012"/>
            <a:ext cx="262255" cy="231775"/>
          </a:xfrm>
          <a:custGeom>
            <a:avLst/>
            <a:gdLst/>
            <a:ahLst/>
            <a:cxnLst/>
            <a:rect l="l" t="t" r="r" b="b"/>
            <a:pathLst>
              <a:path w="262255" h="231775">
                <a:moveTo>
                  <a:pt x="0" y="115592"/>
                </a:moveTo>
                <a:lnTo>
                  <a:pt x="10295" y="70598"/>
                </a:lnTo>
                <a:lnTo>
                  <a:pt x="38371" y="33856"/>
                </a:lnTo>
                <a:lnTo>
                  <a:pt x="80014" y="9083"/>
                </a:lnTo>
                <a:lnTo>
                  <a:pt x="131008" y="0"/>
                </a:lnTo>
                <a:lnTo>
                  <a:pt x="182002" y="9083"/>
                </a:lnTo>
                <a:lnTo>
                  <a:pt x="223645" y="33856"/>
                </a:lnTo>
                <a:lnTo>
                  <a:pt x="251721" y="70598"/>
                </a:lnTo>
                <a:lnTo>
                  <a:pt x="262017" y="115592"/>
                </a:lnTo>
                <a:lnTo>
                  <a:pt x="251721" y="160585"/>
                </a:lnTo>
                <a:lnTo>
                  <a:pt x="223645" y="197327"/>
                </a:lnTo>
                <a:lnTo>
                  <a:pt x="182002" y="222100"/>
                </a:lnTo>
                <a:lnTo>
                  <a:pt x="131008" y="231184"/>
                </a:lnTo>
                <a:lnTo>
                  <a:pt x="80014" y="222100"/>
                </a:lnTo>
                <a:lnTo>
                  <a:pt x="38371" y="197327"/>
                </a:lnTo>
                <a:lnTo>
                  <a:pt x="10295" y="160585"/>
                </a:lnTo>
                <a:lnTo>
                  <a:pt x="0" y="115592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394372" y="5970157"/>
            <a:ext cx="262255" cy="231775"/>
          </a:xfrm>
          <a:custGeom>
            <a:avLst/>
            <a:gdLst/>
            <a:ahLst/>
            <a:cxnLst/>
            <a:rect l="l" t="t" r="r" b="b"/>
            <a:pathLst>
              <a:path w="262255" h="231775">
                <a:moveTo>
                  <a:pt x="131008" y="0"/>
                </a:moveTo>
                <a:lnTo>
                  <a:pt x="80014" y="9083"/>
                </a:lnTo>
                <a:lnTo>
                  <a:pt x="38371" y="33856"/>
                </a:lnTo>
                <a:lnTo>
                  <a:pt x="10295" y="70598"/>
                </a:lnTo>
                <a:lnTo>
                  <a:pt x="0" y="115591"/>
                </a:lnTo>
                <a:lnTo>
                  <a:pt x="10295" y="160585"/>
                </a:lnTo>
                <a:lnTo>
                  <a:pt x="38371" y="197327"/>
                </a:lnTo>
                <a:lnTo>
                  <a:pt x="80014" y="222100"/>
                </a:lnTo>
                <a:lnTo>
                  <a:pt x="131008" y="231183"/>
                </a:lnTo>
                <a:lnTo>
                  <a:pt x="182002" y="222100"/>
                </a:lnTo>
                <a:lnTo>
                  <a:pt x="223645" y="197327"/>
                </a:lnTo>
                <a:lnTo>
                  <a:pt x="251722" y="160585"/>
                </a:lnTo>
                <a:lnTo>
                  <a:pt x="262017" y="115591"/>
                </a:lnTo>
                <a:lnTo>
                  <a:pt x="251722" y="70598"/>
                </a:lnTo>
                <a:lnTo>
                  <a:pt x="223645" y="33856"/>
                </a:lnTo>
                <a:lnTo>
                  <a:pt x="182002" y="9083"/>
                </a:lnTo>
                <a:lnTo>
                  <a:pt x="1310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394372" y="5970157"/>
            <a:ext cx="262255" cy="231775"/>
          </a:xfrm>
          <a:custGeom>
            <a:avLst/>
            <a:gdLst/>
            <a:ahLst/>
            <a:cxnLst/>
            <a:rect l="l" t="t" r="r" b="b"/>
            <a:pathLst>
              <a:path w="262255" h="231775">
                <a:moveTo>
                  <a:pt x="0" y="115592"/>
                </a:moveTo>
                <a:lnTo>
                  <a:pt x="10295" y="70598"/>
                </a:lnTo>
                <a:lnTo>
                  <a:pt x="38371" y="33856"/>
                </a:lnTo>
                <a:lnTo>
                  <a:pt x="80014" y="9083"/>
                </a:lnTo>
                <a:lnTo>
                  <a:pt x="131008" y="0"/>
                </a:lnTo>
                <a:lnTo>
                  <a:pt x="182002" y="9083"/>
                </a:lnTo>
                <a:lnTo>
                  <a:pt x="223645" y="33856"/>
                </a:lnTo>
                <a:lnTo>
                  <a:pt x="251721" y="70598"/>
                </a:lnTo>
                <a:lnTo>
                  <a:pt x="262017" y="115592"/>
                </a:lnTo>
                <a:lnTo>
                  <a:pt x="251721" y="160585"/>
                </a:lnTo>
                <a:lnTo>
                  <a:pt x="223645" y="197327"/>
                </a:lnTo>
                <a:lnTo>
                  <a:pt x="182002" y="222100"/>
                </a:lnTo>
                <a:lnTo>
                  <a:pt x="131008" y="231184"/>
                </a:lnTo>
                <a:lnTo>
                  <a:pt x="80014" y="222100"/>
                </a:lnTo>
                <a:lnTo>
                  <a:pt x="38371" y="197327"/>
                </a:lnTo>
                <a:lnTo>
                  <a:pt x="10295" y="160585"/>
                </a:lnTo>
                <a:lnTo>
                  <a:pt x="0" y="115592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370395" y="5082109"/>
            <a:ext cx="262255" cy="231775"/>
          </a:xfrm>
          <a:custGeom>
            <a:avLst/>
            <a:gdLst/>
            <a:ahLst/>
            <a:cxnLst/>
            <a:rect l="l" t="t" r="r" b="b"/>
            <a:pathLst>
              <a:path w="262255" h="231775">
                <a:moveTo>
                  <a:pt x="131008" y="0"/>
                </a:moveTo>
                <a:lnTo>
                  <a:pt x="80013" y="9083"/>
                </a:lnTo>
                <a:lnTo>
                  <a:pt x="38371" y="33856"/>
                </a:lnTo>
                <a:lnTo>
                  <a:pt x="10295" y="70598"/>
                </a:lnTo>
                <a:lnTo>
                  <a:pt x="0" y="115592"/>
                </a:lnTo>
                <a:lnTo>
                  <a:pt x="10295" y="160586"/>
                </a:lnTo>
                <a:lnTo>
                  <a:pt x="38371" y="197328"/>
                </a:lnTo>
                <a:lnTo>
                  <a:pt x="80013" y="222100"/>
                </a:lnTo>
                <a:lnTo>
                  <a:pt x="131008" y="231184"/>
                </a:lnTo>
                <a:lnTo>
                  <a:pt x="182002" y="222100"/>
                </a:lnTo>
                <a:lnTo>
                  <a:pt x="223645" y="197328"/>
                </a:lnTo>
                <a:lnTo>
                  <a:pt x="251721" y="160586"/>
                </a:lnTo>
                <a:lnTo>
                  <a:pt x="262016" y="115592"/>
                </a:lnTo>
                <a:lnTo>
                  <a:pt x="251721" y="70598"/>
                </a:lnTo>
                <a:lnTo>
                  <a:pt x="223645" y="33856"/>
                </a:lnTo>
                <a:lnTo>
                  <a:pt x="182002" y="9083"/>
                </a:lnTo>
                <a:lnTo>
                  <a:pt x="1310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370395" y="5082109"/>
            <a:ext cx="262255" cy="231775"/>
          </a:xfrm>
          <a:custGeom>
            <a:avLst/>
            <a:gdLst/>
            <a:ahLst/>
            <a:cxnLst/>
            <a:rect l="l" t="t" r="r" b="b"/>
            <a:pathLst>
              <a:path w="262255" h="231775">
                <a:moveTo>
                  <a:pt x="0" y="115592"/>
                </a:moveTo>
                <a:lnTo>
                  <a:pt x="10295" y="70598"/>
                </a:lnTo>
                <a:lnTo>
                  <a:pt x="38371" y="33856"/>
                </a:lnTo>
                <a:lnTo>
                  <a:pt x="80014" y="9083"/>
                </a:lnTo>
                <a:lnTo>
                  <a:pt x="131008" y="0"/>
                </a:lnTo>
                <a:lnTo>
                  <a:pt x="182002" y="9083"/>
                </a:lnTo>
                <a:lnTo>
                  <a:pt x="223645" y="33856"/>
                </a:lnTo>
                <a:lnTo>
                  <a:pt x="251721" y="70598"/>
                </a:lnTo>
                <a:lnTo>
                  <a:pt x="262017" y="115592"/>
                </a:lnTo>
                <a:lnTo>
                  <a:pt x="251721" y="160585"/>
                </a:lnTo>
                <a:lnTo>
                  <a:pt x="223645" y="197327"/>
                </a:lnTo>
                <a:lnTo>
                  <a:pt x="182002" y="222100"/>
                </a:lnTo>
                <a:lnTo>
                  <a:pt x="131008" y="231184"/>
                </a:lnTo>
                <a:lnTo>
                  <a:pt x="80014" y="222100"/>
                </a:lnTo>
                <a:lnTo>
                  <a:pt x="38371" y="197327"/>
                </a:lnTo>
                <a:lnTo>
                  <a:pt x="10295" y="160585"/>
                </a:lnTo>
                <a:lnTo>
                  <a:pt x="0" y="115592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207709" y="5342816"/>
            <a:ext cx="209550" cy="958850"/>
          </a:xfrm>
          <a:custGeom>
            <a:avLst/>
            <a:gdLst/>
            <a:ahLst/>
            <a:cxnLst/>
            <a:rect l="l" t="t" r="r" b="b"/>
            <a:pathLst>
              <a:path w="209550" h="958850">
                <a:moveTo>
                  <a:pt x="68887" y="100445"/>
                </a:moveTo>
                <a:lnTo>
                  <a:pt x="174942" y="944138"/>
                </a:lnTo>
                <a:lnTo>
                  <a:pt x="195051" y="958473"/>
                </a:lnTo>
                <a:lnTo>
                  <a:pt x="201528" y="955995"/>
                </a:lnTo>
                <a:lnTo>
                  <a:pt x="206383" y="951386"/>
                </a:lnTo>
                <a:lnTo>
                  <a:pt x="209156" y="945293"/>
                </a:lnTo>
                <a:lnTo>
                  <a:pt x="209385" y="938363"/>
                </a:lnTo>
                <a:lnTo>
                  <a:pt x="68887" y="100445"/>
                </a:lnTo>
                <a:close/>
              </a:path>
              <a:path w="209550" h="958850">
                <a:moveTo>
                  <a:pt x="34340" y="0"/>
                </a:moveTo>
                <a:lnTo>
                  <a:pt x="0" y="111996"/>
                </a:lnTo>
                <a:lnTo>
                  <a:pt x="34444" y="106220"/>
                </a:lnTo>
                <a:lnTo>
                  <a:pt x="31556" y="88999"/>
                </a:lnTo>
                <a:lnTo>
                  <a:pt x="31785" y="82068"/>
                </a:lnTo>
                <a:lnTo>
                  <a:pt x="34558" y="75974"/>
                </a:lnTo>
                <a:lnTo>
                  <a:pt x="39414" y="71366"/>
                </a:lnTo>
                <a:lnTo>
                  <a:pt x="45890" y="68888"/>
                </a:lnTo>
                <a:lnTo>
                  <a:pt x="84543" y="68888"/>
                </a:lnTo>
                <a:lnTo>
                  <a:pt x="34340" y="0"/>
                </a:lnTo>
                <a:close/>
              </a:path>
              <a:path w="209550" h="958850">
                <a:moveTo>
                  <a:pt x="45890" y="68888"/>
                </a:moveTo>
                <a:lnTo>
                  <a:pt x="39414" y="71366"/>
                </a:lnTo>
                <a:lnTo>
                  <a:pt x="34558" y="75974"/>
                </a:lnTo>
                <a:lnTo>
                  <a:pt x="31785" y="82068"/>
                </a:lnTo>
                <a:lnTo>
                  <a:pt x="31556" y="88999"/>
                </a:lnTo>
                <a:lnTo>
                  <a:pt x="34444" y="106220"/>
                </a:lnTo>
                <a:lnTo>
                  <a:pt x="68887" y="100445"/>
                </a:lnTo>
                <a:lnTo>
                  <a:pt x="66000" y="83223"/>
                </a:lnTo>
                <a:lnTo>
                  <a:pt x="63523" y="76746"/>
                </a:lnTo>
                <a:lnTo>
                  <a:pt x="58914" y="71891"/>
                </a:lnTo>
                <a:lnTo>
                  <a:pt x="52821" y="69118"/>
                </a:lnTo>
                <a:lnTo>
                  <a:pt x="45890" y="68888"/>
                </a:lnTo>
                <a:close/>
              </a:path>
              <a:path w="209550" h="958850">
                <a:moveTo>
                  <a:pt x="84543" y="68888"/>
                </a:moveTo>
                <a:lnTo>
                  <a:pt x="45890" y="68888"/>
                </a:lnTo>
                <a:lnTo>
                  <a:pt x="52821" y="69118"/>
                </a:lnTo>
                <a:lnTo>
                  <a:pt x="58914" y="71891"/>
                </a:lnTo>
                <a:lnTo>
                  <a:pt x="63523" y="76746"/>
                </a:lnTo>
                <a:lnTo>
                  <a:pt x="66000" y="83223"/>
                </a:lnTo>
                <a:lnTo>
                  <a:pt x="68887" y="100445"/>
                </a:lnTo>
                <a:lnTo>
                  <a:pt x="103331" y="94669"/>
                </a:lnTo>
                <a:lnTo>
                  <a:pt x="84543" y="68888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304585" y="5322597"/>
            <a:ext cx="222250" cy="956310"/>
          </a:xfrm>
          <a:custGeom>
            <a:avLst/>
            <a:gdLst/>
            <a:ahLst/>
            <a:cxnLst/>
            <a:rect l="l" t="t" r="r" b="b"/>
            <a:pathLst>
              <a:path w="222250" h="956310">
                <a:moveTo>
                  <a:pt x="153358" y="856079"/>
                </a:moveTo>
                <a:lnTo>
                  <a:pt x="119006" y="862383"/>
                </a:lnTo>
                <a:lnTo>
                  <a:pt x="189443" y="955982"/>
                </a:lnTo>
                <a:lnTo>
                  <a:pt x="209360" y="887279"/>
                </a:lnTo>
                <a:lnTo>
                  <a:pt x="176836" y="887279"/>
                </a:lnTo>
                <a:lnTo>
                  <a:pt x="169903" y="887156"/>
                </a:lnTo>
                <a:lnTo>
                  <a:pt x="163768" y="884477"/>
                </a:lnTo>
                <a:lnTo>
                  <a:pt x="159085" y="879693"/>
                </a:lnTo>
                <a:lnTo>
                  <a:pt x="156509" y="873255"/>
                </a:lnTo>
                <a:lnTo>
                  <a:pt x="153358" y="856079"/>
                </a:lnTo>
                <a:close/>
              </a:path>
              <a:path w="222250" h="956310">
                <a:moveTo>
                  <a:pt x="187709" y="849776"/>
                </a:moveTo>
                <a:lnTo>
                  <a:pt x="153358" y="856079"/>
                </a:lnTo>
                <a:lnTo>
                  <a:pt x="156509" y="873255"/>
                </a:lnTo>
                <a:lnTo>
                  <a:pt x="159085" y="879693"/>
                </a:lnTo>
                <a:lnTo>
                  <a:pt x="163768" y="884477"/>
                </a:lnTo>
                <a:lnTo>
                  <a:pt x="169903" y="887156"/>
                </a:lnTo>
                <a:lnTo>
                  <a:pt x="176836" y="887279"/>
                </a:lnTo>
                <a:lnTo>
                  <a:pt x="183274" y="884703"/>
                </a:lnTo>
                <a:lnTo>
                  <a:pt x="188058" y="880020"/>
                </a:lnTo>
                <a:lnTo>
                  <a:pt x="190737" y="873885"/>
                </a:lnTo>
                <a:lnTo>
                  <a:pt x="190860" y="866952"/>
                </a:lnTo>
                <a:lnTo>
                  <a:pt x="187709" y="849776"/>
                </a:lnTo>
                <a:close/>
              </a:path>
              <a:path w="222250" h="956310">
                <a:moveTo>
                  <a:pt x="222060" y="843473"/>
                </a:moveTo>
                <a:lnTo>
                  <a:pt x="187709" y="849776"/>
                </a:lnTo>
                <a:lnTo>
                  <a:pt x="190860" y="866952"/>
                </a:lnTo>
                <a:lnTo>
                  <a:pt x="190737" y="873885"/>
                </a:lnTo>
                <a:lnTo>
                  <a:pt x="188058" y="880020"/>
                </a:lnTo>
                <a:lnTo>
                  <a:pt x="183274" y="884703"/>
                </a:lnTo>
                <a:lnTo>
                  <a:pt x="176836" y="887279"/>
                </a:lnTo>
                <a:lnTo>
                  <a:pt x="209360" y="887279"/>
                </a:lnTo>
                <a:lnTo>
                  <a:pt x="222060" y="843473"/>
                </a:lnTo>
                <a:close/>
              </a:path>
              <a:path w="222250" h="956310">
                <a:moveTo>
                  <a:pt x="14024" y="0"/>
                </a:moveTo>
                <a:lnTo>
                  <a:pt x="7586" y="2576"/>
                </a:lnTo>
                <a:lnTo>
                  <a:pt x="2801" y="7258"/>
                </a:lnTo>
                <a:lnTo>
                  <a:pt x="122" y="13393"/>
                </a:lnTo>
                <a:lnTo>
                  <a:pt x="0" y="20327"/>
                </a:lnTo>
                <a:lnTo>
                  <a:pt x="153358" y="856079"/>
                </a:lnTo>
                <a:lnTo>
                  <a:pt x="187709" y="849776"/>
                </a:lnTo>
                <a:lnTo>
                  <a:pt x="34350" y="14023"/>
                </a:lnTo>
                <a:lnTo>
                  <a:pt x="31774" y="7585"/>
                </a:lnTo>
                <a:lnTo>
                  <a:pt x="27092" y="2801"/>
                </a:lnTo>
                <a:lnTo>
                  <a:pt x="20957" y="122"/>
                </a:lnTo>
                <a:lnTo>
                  <a:pt x="140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607757" y="5292338"/>
            <a:ext cx="104775" cy="740410"/>
          </a:xfrm>
          <a:custGeom>
            <a:avLst/>
            <a:gdLst/>
            <a:ahLst/>
            <a:cxnLst/>
            <a:rect l="l" t="t" r="r" b="b"/>
            <a:pathLst>
              <a:path w="104775" h="740410">
                <a:moveTo>
                  <a:pt x="69787" y="103941"/>
                </a:moveTo>
                <a:lnTo>
                  <a:pt x="34893" y="105420"/>
                </a:lnTo>
                <a:lnTo>
                  <a:pt x="61498" y="732653"/>
                </a:lnTo>
                <a:lnTo>
                  <a:pt x="69640" y="740133"/>
                </a:lnTo>
                <a:lnTo>
                  <a:pt x="88912" y="739316"/>
                </a:lnTo>
                <a:lnTo>
                  <a:pt x="96391" y="731173"/>
                </a:lnTo>
                <a:lnTo>
                  <a:pt x="69787" y="103941"/>
                </a:lnTo>
                <a:close/>
              </a:path>
              <a:path w="104775" h="740410">
                <a:moveTo>
                  <a:pt x="47900" y="0"/>
                </a:moveTo>
                <a:lnTo>
                  <a:pt x="0" y="106900"/>
                </a:lnTo>
                <a:lnTo>
                  <a:pt x="34893" y="105420"/>
                </a:lnTo>
                <a:lnTo>
                  <a:pt x="33745" y="78338"/>
                </a:lnTo>
                <a:lnTo>
                  <a:pt x="41224" y="70196"/>
                </a:lnTo>
                <a:lnTo>
                  <a:pt x="60496" y="69378"/>
                </a:lnTo>
                <a:lnTo>
                  <a:pt x="86347" y="69378"/>
                </a:lnTo>
                <a:lnTo>
                  <a:pt x="47900" y="0"/>
                </a:lnTo>
                <a:close/>
              </a:path>
              <a:path w="104775" h="740410">
                <a:moveTo>
                  <a:pt x="60496" y="69378"/>
                </a:moveTo>
                <a:lnTo>
                  <a:pt x="41224" y="70196"/>
                </a:lnTo>
                <a:lnTo>
                  <a:pt x="33745" y="78338"/>
                </a:lnTo>
                <a:lnTo>
                  <a:pt x="34893" y="105420"/>
                </a:lnTo>
                <a:lnTo>
                  <a:pt x="69787" y="103941"/>
                </a:lnTo>
                <a:lnTo>
                  <a:pt x="68638" y="76859"/>
                </a:lnTo>
                <a:lnTo>
                  <a:pt x="60496" y="69378"/>
                </a:lnTo>
                <a:close/>
              </a:path>
              <a:path w="104775" h="740410">
                <a:moveTo>
                  <a:pt x="86347" y="69378"/>
                </a:moveTo>
                <a:lnTo>
                  <a:pt x="60496" y="69378"/>
                </a:lnTo>
                <a:lnTo>
                  <a:pt x="68638" y="76859"/>
                </a:lnTo>
                <a:lnTo>
                  <a:pt x="69787" y="103941"/>
                </a:lnTo>
                <a:lnTo>
                  <a:pt x="104681" y="102461"/>
                </a:lnTo>
                <a:lnTo>
                  <a:pt x="86347" y="69378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709189" y="5284853"/>
            <a:ext cx="107314" cy="740410"/>
          </a:xfrm>
          <a:custGeom>
            <a:avLst/>
            <a:gdLst/>
            <a:ahLst/>
            <a:cxnLst/>
            <a:rect l="l" t="t" r="r" b="b"/>
            <a:pathLst>
              <a:path w="107314" h="740410">
                <a:moveTo>
                  <a:pt x="37388" y="636577"/>
                </a:moveTo>
                <a:lnTo>
                  <a:pt x="2527" y="638685"/>
                </a:lnTo>
                <a:lnTo>
                  <a:pt x="61145" y="740106"/>
                </a:lnTo>
                <a:lnTo>
                  <a:pt x="90889" y="670384"/>
                </a:lnTo>
                <a:lnTo>
                  <a:pt x="56927" y="670384"/>
                </a:lnTo>
                <a:lnTo>
                  <a:pt x="50060" y="669424"/>
                </a:lnTo>
                <a:lnTo>
                  <a:pt x="44293" y="666024"/>
                </a:lnTo>
                <a:lnTo>
                  <a:pt x="40222" y="660709"/>
                </a:lnTo>
                <a:lnTo>
                  <a:pt x="38442" y="654007"/>
                </a:lnTo>
                <a:lnTo>
                  <a:pt x="37388" y="636577"/>
                </a:lnTo>
                <a:close/>
              </a:path>
              <a:path w="107314" h="740410">
                <a:moveTo>
                  <a:pt x="72250" y="634468"/>
                </a:moveTo>
                <a:lnTo>
                  <a:pt x="37388" y="636577"/>
                </a:lnTo>
                <a:lnTo>
                  <a:pt x="38442" y="654007"/>
                </a:lnTo>
                <a:lnTo>
                  <a:pt x="40222" y="660709"/>
                </a:lnTo>
                <a:lnTo>
                  <a:pt x="44293" y="666024"/>
                </a:lnTo>
                <a:lnTo>
                  <a:pt x="50060" y="669424"/>
                </a:lnTo>
                <a:lnTo>
                  <a:pt x="56927" y="670384"/>
                </a:lnTo>
                <a:lnTo>
                  <a:pt x="63629" y="668603"/>
                </a:lnTo>
                <a:lnTo>
                  <a:pt x="68944" y="664533"/>
                </a:lnTo>
                <a:lnTo>
                  <a:pt x="72344" y="658766"/>
                </a:lnTo>
                <a:lnTo>
                  <a:pt x="73304" y="651899"/>
                </a:lnTo>
                <a:lnTo>
                  <a:pt x="72250" y="634468"/>
                </a:lnTo>
                <a:close/>
              </a:path>
              <a:path w="107314" h="740410">
                <a:moveTo>
                  <a:pt x="107110" y="632359"/>
                </a:moveTo>
                <a:lnTo>
                  <a:pt x="72250" y="634468"/>
                </a:lnTo>
                <a:lnTo>
                  <a:pt x="73304" y="651899"/>
                </a:lnTo>
                <a:lnTo>
                  <a:pt x="72344" y="658766"/>
                </a:lnTo>
                <a:lnTo>
                  <a:pt x="68944" y="664533"/>
                </a:lnTo>
                <a:lnTo>
                  <a:pt x="63629" y="668603"/>
                </a:lnTo>
                <a:lnTo>
                  <a:pt x="56927" y="670384"/>
                </a:lnTo>
                <a:lnTo>
                  <a:pt x="90889" y="670384"/>
                </a:lnTo>
                <a:lnTo>
                  <a:pt x="107110" y="632359"/>
                </a:lnTo>
                <a:close/>
              </a:path>
              <a:path w="107314" h="740410">
                <a:moveTo>
                  <a:pt x="16376" y="0"/>
                </a:moveTo>
                <a:lnTo>
                  <a:pt x="9674" y="1779"/>
                </a:lnTo>
                <a:lnTo>
                  <a:pt x="4360" y="5850"/>
                </a:lnTo>
                <a:lnTo>
                  <a:pt x="959" y="11617"/>
                </a:lnTo>
                <a:lnTo>
                  <a:pt x="0" y="18484"/>
                </a:lnTo>
                <a:lnTo>
                  <a:pt x="37388" y="636577"/>
                </a:lnTo>
                <a:lnTo>
                  <a:pt x="72250" y="634468"/>
                </a:lnTo>
                <a:lnTo>
                  <a:pt x="34861" y="16375"/>
                </a:lnTo>
                <a:lnTo>
                  <a:pt x="33081" y="9673"/>
                </a:lnTo>
                <a:lnTo>
                  <a:pt x="29010" y="4359"/>
                </a:lnTo>
                <a:lnTo>
                  <a:pt x="23244" y="958"/>
                </a:lnTo>
                <a:lnTo>
                  <a:pt x="16376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814247" y="6306941"/>
            <a:ext cx="726440" cy="189230"/>
          </a:xfrm>
          <a:custGeom>
            <a:avLst/>
            <a:gdLst/>
            <a:ahLst/>
            <a:cxnLst/>
            <a:rect l="l" t="t" r="r" b="b"/>
            <a:pathLst>
              <a:path w="726439" h="189229">
                <a:moveTo>
                  <a:pt x="92585" y="85968"/>
                </a:moveTo>
                <a:lnTo>
                  <a:pt x="0" y="157733"/>
                </a:lnTo>
                <a:lnTo>
                  <a:pt x="112963" y="188742"/>
                </a:lnTo>
                <a:lnTo>
                  <a:pt x="106844" y="157880"/>
                </a:lnTo>
                <a:lnTo>
                  <a:pt x="89042" y="157880"/>
                </a:lnTo>
                <a:lnTo>
                  <a:pt x="82107" y="157856"/>
                </a:lnTo>
                <a:lnTo>
                  <a:pt x="75935" y="155265"/>
                </a:lnTo>
                <a:lnTo>
                  <a:pt x="71184" y="150548"/>
                </a:lnTo>
                <a:lnTo>
                  <a:pt x="68516" y="144148"/>
                </a:lnTo>
                <a:lnTo>
                  <a:pt x="68540" y="137213"/>
                </a:lnTo>
                <a:lnTo>
                  <a:pt x="71131" y="131041"/>
                </a:lnTo>
                <a:lnTo>
                  <a:pt x="75848" y="126290"/>
                </a:lnTo>
                <a:lnTo>
                  <a:pt x="82249" y="123622"/>
                </a:lnTo>
                <a:lnTo>
                  <a:pt x="99378" y="120226"/>
                </a:lnTo>
                <a:lnTo>
                  <a:pt x="92585" y="85968"/>
                </a:lnTo>
                <a:close/>
              </a:path>
              <a:path w="726439" h="189229">
                <a:moveTo>
                  <a:pt x="99378" y="120226"/>
                </a:moveTo>
                <a:lnTo>
                  <a:pt x="68516" y="144148"/>
                </a:lnTo>
                <a:lnTo>
                  <a:pt x="71184" y="150548"/>
                </a:lnTo>
                <a:lnTo>
                  <a:pt x="75935" y="155265"/>
                </a:lnTo>
                <a:lnTo>
                  <a:pt x="82107" y="157856"/>
                </a:lnTo>
                <a:lnTo>
                  <a:pt x="89042" y="157880"/>
                </a:lnTo>
                <a:lnTo>
                  <a:pt x="106171" y="154484"/>
                </a:lnTo>
                <a:lnTo>
                  <a:pt x="99378" y="120226"/>
                </a:lnTo>
                <a:close/>
              </a:path>
              <a:path w="726439" h="189229">
                <a:moveTo>
                  <a:pt x="106171" y="154484"/>
                </a:moveTo>
                <a:lnTo>
                  <a:pt x="89042" y="157880"/>
                </a:lnTo>
                <a:lnTo>
                  <a:pt x="106844" y="157880"/>
                </a:lnTo>
                <a:lnTo>
                  <a:pt x="106171" y="154484"/>
                </a:lnTo>
                <a:close/>
              </a:path>
              <a:path w="726439" h="189229">
                <a:moveTo>
                  <a:pt x="705726" y="0"/>
                </a:moveTo>
                <a:lnTo>
                  <a:pt x="99378" y="120226"/>
                </a:lnTo>
                <a:lnTo>
                  <a:pt x="106171" y="154484"/>
                </a:lnTo>
                <a:lnTo>
                  <a:pt x="712518" y="34257"/>
                </a:lnTo>
                <a:lnTo>
                  <a:pt x="718918" y="31589"/>
                </a:lnTo>
                <a:lnTo>
                  <a:pt x="723635" y="26839"/>
                </a:lnTo>
                <a:lnTo>
                  <a:pt x="726226" y="20666"/>
                </a:lnTo>
                <a:lnTo>
                  <a:pt x="726250" y="13732"/>
                </a:lnTo>
                <a:lnTo>
                  <a:pt x="723582" y="7332"/>
                </a:lnTo>
                <a:lnTo>
                  <a:pt x="718832" y="2615"/>
                </a:lnTo>
                <a:lnTo>
                  <a:pt x="712660" y="24"/>
                </a:lnTo>
                <a:lnTo>
                  <a:pt x="705726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796069" y="6210467"/>
            <a:ext cx="725170" cy="200025"/>
          </a:xfrm>
          <a:custGeom>
            <a:avLst/>
            <a:gdLst/>
            <a:ahLst/>
            <a:cxnLst/>
            <a:rect l="l" t="t" r="r" b="b"/>
            <a:pathLst>
              <a:path w="725169" h="200025">
                <a:moveTo>
                  <a:pt x="618589" y="34130"/>
                </a:moveTo>
                <a:lnTo>
                  <a:pt x="13461" y="165493"/>
                </a:lnTo>
                <a:lnTo>
                  <a:pt x="7110" y="168276"/>
                </a:lnTo>
                <a:lnTo>
                  <a:pt x="2479" y="173110"/>
                </a:lnTo>
                <a:lnTo>
                  <a:pt x="0" y="179328"/>
                </a:lnTo>
                <a:lnTo>
                  <a:pt x="100" y="186262"/>
                </a:lnTo>
                <a:lnTo>
                  <a:pt x="2883" y="192613"/>
                </a:lnTo>
                <a:lnTo>
                  <a:pt x="7718" y="197244"/>
                </a:lnTo>
                <a:lnTo>
                  <a:pt x="13936" y="199723"/>
                </a:lnTo>
                <a:lnTo>
                  <a:pt x="20870" y="199623"/>
                </a:lnTo>
                <a:lnTo>
                  <a:pt x="625997" y="68260"/>
                </a:lnTo>
                <a:lnTo>
                  <a:pt x="618589" y="34130"/>
                </a:lnTo>
                <a:close/>
              </a:path>
              <a:path w="725169" h="200025">
                <a:moveTo>
                  <a:pt x="722997" y="30324"/>
                </a:moveTo>
                <a:lnTo>
                  <a:pt x="642588" y="30324"/>
                </a:lnTo>
                <a:lnTo>
                  <a:pt x="648806" y="32804"/>
                </a:lnTo>
                <a:lnTo>
                  <a:pt x="653641" y="37434"/>
                </a:lnTo>
                <a:lnTo>
                  <a:pt x="656424" y="43786"/>
                </a:lnTo>
                <a:lnTo>
                  <a:pt x="656525" y="50719"/>
                </a:lnTo>
                <a:lnTo>
                  <a:pt x="654045" y="56937"/>
                </a:lnTo>
                <a:lnTo>
                  <a:pt x="649414" y="61772"/>
                </a:lnTo>
                <a:lnTo>
                  <a:pt x="643062" y="64555"/>
                </a:lnTo>
                <a:lnTo>
                  <a:pt x="625997" y="68260"/>
                </a:lnTo>
                <a:lnTo>
                  <a:pt x="633406" y="102390"/>
                </a:lnTo>
                <a:lnTo>
                  <a:pt x="722997" y="30324"/>
                </a:lnTo>
                <a:close/>
              </a:path>
              <a:path w="725169" h="200025">
                <a:moveTo>
                  <a:pt x="642588" y="30324"/>
                </a:moveTo>
                <a:lnTo>
                  <a:pt x="635654" y="30425"/>
                </a:lnTo>
                <a:lnTo>
                  <a:pt x="618589" y="34130"/>
                </a:lnTo>
                <a:lnTo>
                  <a:pt x="625997" y="68260"/>
                </a:lnTo>
                <a:lnTo>
                  <a:pt x="643062" y="64555"/>
                </a:lnTo>
                <a:lnTo>
                  <a:pt x="649414" y="61772"/>
                </a:lnTo>
                <a:lnTo>
                  <a:pt x="654045" y="56937"/>
                </a:lnTo>
                <a:lnTo>
                  <a:pt x="656525" y="50719"/>
                </a:lnTo>
                <a:lnTo>
                  <a:pt x="656424" y="43786"/>
                </a:lnTo>
                <a:lnTo>
                  <a:pt x="653641" y="37434"/>
                </a:lnTo>
                <a:lnTo>
                  <a:pt x="648806" y="32804"/>
                </a:lnTo>
                <a:lnTo>
                  <a:pt x="642588" y="30324"/>
                </a:lnTo>
                <a:close/>
              </a:path>
              <a:path w="725169" h="200025">
                <a:moveTo>
                  <a:pt x="611180" y="0"/>
                </a:moveTo>
                <a:lnTo>
                  <a:pt x="618589" y="34130"/>
                </a:lnTo>
                <a:lnTo>
                  <a:pt x="635654" y="30425"/>
                </a:lnTo>
                <a:lnTo>
                  <a:pt x="642588" y="30324"/>
                </a:lnTo>
                <a:lnTo>
                  <a:pt x="722997" y="30324"/>
                </a:lnTo>
                <a:lnTo>
                  <a:pt x="724684" y="28967"/>
                </a:lnTo>
                <a:lnTo>
                  <a:pt x="61118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505577" y="4932678"/>
            <a:ext cx="971550" cy="111760"/>
          </a:xfrm>
          <a:custGeom>
            <a:avLst/>
            <a:gdLst/>
            <a:ahLst/>
            <a:cxnLst/>
            <a:rect l="l" t="t" r="r" b="b"/>
            <a:pathLst>
              <a:path w="971550" h="111760">
                <a:moveTo>
                  <a:pt x="865673" y="34883"/>
                </a:moveTo>
                <a:lnTo>
                  <a:pt x="7429" y="76653"/>
                </a:lnTo>
                <a:lnTo>
                  <a:pt x="0" y="84842"/>
                </a:lnTo>
                <a:lnTo>
                  <a:pt x="938" y="104108"/>
                </a:lnTo>
                <a:lnTo>
                  <a:pt x="9127" y="111536"/>
                </a:lnTo>
                <a:lnTo>
                  <a:pt x="867371" y="69766"/>
                </a:lnTo>
                <a:lnTo>
                  <a:pt x="865673" y="34883"/>
                </a:lnTo>
                <a:close/>
              </a:path>
              <a:path w="971550" h="111760">
                <a:moveTo>
                  <a:pt x="940158" y="33566"/>
                </a:moveTo>
                <a:lnTo>
                  <a:pt x="892747" y="33566"/>
                </a:lnTo>
                <a:lnTo>
                  <a:pt x="900936" y="40994"/>
                </a:lnTo>
                <a:lnTo>
                  <a:pt x="901873" y="60260"/>
                </a:lnTo>
                <a:lnTo>
                  <a:pt x="894445" y="68449"/>
                </a:lnTo>
                <a:lnTo>
                  <a:pt x="867371" y="69766"/>
                </a:lnTo>
                <a:lnTo>
                  <a:pt x="869068" y="104650"/>
                </a:lnTo>
                <a:lnTo>
                  <a:pt x="971172" y="47231"/>
                </a:lnTo>
                <a:lnTo>
                  <a:pt x="940158" y="33566"/>
                </a:lnTo>
                <a:close/>
              </a:path>
              <a:path w="971550" h="111760">
                <a:moveTo>
                  <a:pt x="892747" y="33566"/>
                </a:moveTo>
                <a:lnTo>
                  <a:pt x="865673" y="34883"/>
                </a:lnTo>
                <a:lnTo>
                  <a:pt x="867371" y="69766"/>
                </a:lnTo>
                <a:lnTo>
                  <a:pt x="894445" y="68449"/>
                </a:lnTo>
                <a:lnTo>
                  <a:pt x="901873" y="60260"/>
                </a:lnTo>
                <a:lnTo>
                  <a:pt x="900936" y="40994"/>
                </a:lnTo>
                <a:lnTo>
                  <a:pt x="892747" y="33566"/>
                </a:lnTo>
                <a:close/>
              </a:path>
              <a:path w="971550" h="111760">
                <a:moveTo>
                  <a:pt x="863975" y="0"/>
                </a:moveTo>
                <a:lnTo>
                  <a:pt x="865673" y="34883"/>
                </a:lnTo>
                <a:lnTo>
                  <a:pt x="892747" y="33566"/>
                </a:lnTo>
                <a:lnTo>
                  <a:pt x="940158" y="33566"/>
                </a:lnTo>
                <a:lnTo>
                  <a:pt x="86397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517898" y="5042002"/>
            <a:ext cx="970280" cy="124460"/>
          </a:xfrm>
          <a:custGeom>
            <a:avLst/>
            <a:gdLst/>
            <a:ahLst/>
            <a:cxnLst/>
            <a:rect l="l" t="t" r="r" b="b"/>
            <a:pathLst>
              <a:path w="970280" h="124460">
                <a:moveTo>
                  <a:pt x="101211" y="19472"/>
                </a:moveTo>
                <a:lnTo>
                  <a:pt x="0" y="78451"/>
                </a:lnTo>
                <a:lnTo>
                  <a:pt x="107910" y="124033"/>
                </a:lnTo>
                <a:lnTo>
                  <a:pt x="105749" y="90295"/>
                </a:lnTo>
                <a:lnTo>
                  <a:pt x="88251" y="90295"/>
                </a:lnTo>
                <a:lnTo>
                  <a:pt x="81379" y="89361"/>
                </a:lnTo>
                <a:lnTo>
                  <a:pt x="75600" y="85981"/>
                </a:lnTo>
                <a:lnTo>
                  <a:pt x="71511" y="80681"/>
                </a:lnTo>
                <a:lnTo>
                  <a:pt x="69707" y="73985"/>
                </a:lnTo>
                <a:lnTo>
                  <a:pt x="70642" y="67114"/>
                </a:lnTo>
                <a:lnTo>
                  <a:pt x="74021" y="61335"/>
                </a:lnTo>
                <a:lnTo>
                  <a:pt x="79321" y="57246"/>
                </a:lnTo>
                <a:lnTo>
                  <a:pt x="86017" y="55441"/>
                </a:lnTo>
                <a:lnTo>
                  <a:pt x="103444" y="54325"/>
                </a:lnTo>
                <a:lnTo>
                  <a:pt x="101211" y="19472"/>
                </a:lnTo>
                <a:close/>
              </a:path>
              <a:path w="970280" h="124460">
                <a:moveTo>
                  <a:pt x="103444" y="54325"/>
                </a:moveTo>
                <a:lnTo>
                  <a:pt x="69707" y="73985"/>
                </a:lnTo>
                <a:lnTo>
                  <a:pt x="71511" y="80681"/>
                </a:lnTo>
                <a:lnTo>
                  <a:pt x="75600" y="85981"/>
                </a:lnTo>
                <a:lnTo>
                  <a:pt x="81379" y="89361"/>
                </a:lnTo>
                <a:lnTo>
                  <a:pt x="88251" y="90295"/>
                </a:lnTo>
                <a:lnTo>
                  <a:pt x="105677" y="89179"/>
                </a:lnTo>
                <a:lnTo>
                  <a:pt x="103444" y="54325"/>
                </a:lnTo>
                <a:close/>
              </a:path>
              <a:path w="970280" h="124460">
                <a:moveTo>
                  <a:pt x="105677" y="89179"/>
                </a:moveTo>
                <a:lnTo>
                  <a:pt x="88251" y="90295"/>
                </a:lnTo>
                <a:lnTo>
                  <a:pt x="105749" y="90295"/>
                </a:lnTo>
                <a:lnTo>
                  <a:pt x="105677" y="89179"/>
                </a:lnTo>
                <a:close/>
              </a:path>
              <a:path w="970280" h="124460">
                <a:moveTo>
                  <a:pt x="951412" y="0"/>
                </a:moveTo>
                <a:lnTo>
                  <a:pt x="103444" y="54325"/>
                </a:lnTo>
                <a:lnTo>
                  <a:pt x="105677" y="89179"/>
                </a:lnTo>
                <a:lnTo>
                  <a:pt x="953645" y="34853"/>
                </a:lnTo>
                <a:lnTo>
                  <a:pt x="960340" y="33049"/>
                </a:lnTo>
                <a:lnTo>
                  <a:pt x="965640" y="28959"/>
                </a:lnTo>
                <a:lnTo>
                  <a:pt x="969020" y="23181"/>
                </a:lnTo>
                <a:lnTo>
                  <a:pt x="969956" y="16310"/>
                </a:lnTo>
                <a:lnTo>
                  <a:pt x="968151" y="9615"/>
                </a:lnTo>
                <a:lnTo>
                  <a:pt x="964062" y="4315"/>
                </a:lnTo>
                <a:lnTo>
                  <a:pt x="958283" y="935"/>
                </a:lnTo>
                <a:lnTo>
                  <a:pt x="951412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666884" y="5267989"/>
            <a:ext cx="534035" cy="819785"/>
          </a:xfrm>
          <a:custGeom>
            <a:avLst/>
            <a:gdLst/>
            <a:ahLst/>
            <a:cxnLst/>
            <a:rect l="l" t="t" r="r" b="b"/>
            <a:pathLst>
              <a:path w="534035" h="819785">
                <a:moveTo>
                  <a:pt x="462600" y="78627"/>
                </a:moveTo>
                <a:lnTo>
                  <a:pt x="2526" y="792895"/>
                </a:lnTo>
                <a:lnTo>
                  <a:pt x="0" y="799352"/>
                </a:lnTo>
                <a:lnTo>
                  <a:pt x="140" y="806045"/>
                </a:lnTo>
                <a:lnTo>
                  <a:pt x="2780" y="812197"/>
                </a:lnTo>
                <a:lnTo>
                  <a:pt x="7751" y="817032"/>
                </a:lnTo>
                <a:lnTo>
                  <a:pt x="14209" y="819559"/>
                </a:lnTo>
                <a:lnTo>
                  <a:pt x="20901" y="819418"/>
                </a:lnTo>
                <a:lnTo>
                  <a:pt x="27053" y="816778"/>
                </a:lnTo>
                <a:lnTo>
                  <a:pt x="31888" y="811807"/>
                </a:lnTo>
                <a:lnTo>
                  <a:pt x="491960" y="97539"/>
                </a:lnTo>
                <a:lnTo>
                  <a:pt x="462600" y="78627"/>
                </a:lnTo>
                <a:close/>
              </a:path>
              <a:path w="534035" h="819785">
                <a:moveTo>
                  <a:pt x="527890" y="56195"/>
                </a:moveTo>
                <a:lnTo>
                  <a:pt x="489735" y="56195"/>
                </a:lnTo>
                <a:lnTo>
                  <a:pt x="496192" y="58722"/>
                </a:lnTo>
                <a:lnTo>
                  <a:pt x="501163" y="63556"/>
                </a:lnTo>
                <a:lnTo>
                  <a:pt x="503803" y="69708"/>
                </a:lnTo>
                <a:lnTo>
                  <a:pt x="503944" y="76401"/>
                </a:lnTo>
                <a:lnTo>
                  <a:pt x="501417" y="82858"/>
                </a:lnTo>
                <a:lnTo>
                  <a:pt x="491960" y="97539"/>
                </a:lnTo>
                <a:lnTo>
                  <a:pt x="521321" y="116451"/>
                </a:lnTo>
                <a:lnTo>
                  <a:pt x="527890" y="56195"/>
                </a:lnTo>
                <a:close/>
              </a:path>
              <a:path w="534035" h="819785">
                <a:moveTo>
                  <a:pt x="489735" y="56195"/>
                </a:moveTo>
                <a:lnTo>
                  <a:pt x="483042" y="56335"/>
                </a:lnTo>
                <a:lnTo>
                  <a:pt x="476890" y="58975"/>
                </a:lnTo>
                <a:lnTo>
                  <a:pt x="472056" y="63947"/>
                </a:lnTo>
                <a:lnTo>
                  <a:pt x="462600" y="78627"/>
                </a:lnTo>
                <a:lnTo>
                  <a:pt x="491960" y="97539"/>
                </a:lnTo>
                <a:lnTo>
                  <a:pt x="501417" y="82858"/>
                </a:lnTo>
                <a:lnTo>
                  <a:pt x="503944" y="76401"/>
                </a:lnTo>
                <a:lnTo>
                  <a:pt x="503803" y="69708"/>
                </a:lnTo>
                <a:lnTo>
                  <a:pt x="501163" y="63556"/>
                </a:lnTo>
                <a:lnTo>
                  <a:pt x="496192" y="58722"/>
                </a:lnTo>
                <a:lnTo>
                  <a:pt x="489735" y="56195"/>
                </a:lnTo>
                <a:close/>
              </a:path>
              <a:path w="534035" h="819785">
                <a:moveTo>
                  <a:pt x="534016" y="0"/>
                </a:moveTo>
                <a:lnTo>
                  <a:pt x="433238" y="59715"/>
                </a:lnTo>
                <a:lnTo>
                  <a:pt x="462600" y="78627"/>
                </a:lnTo>
                <a:lnTo>
                  <a:pt x="472056" y="63947"/>
                </a:lnTo>
                <a:lnTo>
                  <a:pt x="476890" y="58975"/>
                </a:lnTo>
                <a:lnTo>
                  <a:pt x="483042" y="56335"/>
                </a:lnTo>
                <a:lnTo>
                  <a:pt x="489735" y="56195"/>
                </a:lnTo>
                <a:lnTo>
                  <a:pt x="527890" y="56195"/>
                </a:lnTo>
                <a:lnTo>
                  <a:pt x="534016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757419" y="5302137"/>
            <a:ext cx="521970" cy="828040"/>
          </a:xfrm>
          <a:custGeom>
            <a:avLst/>
            <a:gdLst/>
            <a:ahLst/>
            <a:cxnLst/>
            <a:rect l="l" t="t" r="r" b="b"/>
            <a:pathLst>
              <a:path w="521969" h="828039">
                <a:moveTo>
                  <a:pt x="10905" y="710885"/>
                </a:moveTo>
                <a:lnTo>
                  <a:pt x="0" y="827518"/>
                </a:lnTo>
                <a:lnTo>
                  <a:pt x="92699" y="770650"/>
                </a:lnTo>
                <a:lnTo>
                  <a:pt x="43414" y="770650"/>
                </a:lnTo>
                <a:lnTo>
                  <a:pt x="36918" y="768222"/>
                </a:lnTo>
                <a:lnTo>
                  <a:pt x="31874" y="763464"/>
                </a:lnTo>
                <a:lnTo>
                  <a:pt x="29140" y="757354"/>
                </a:lnTo>
                <a:lnTo>
                  <a:pt x="28896" y="750664"/>
                </a:lnTo>
                <a:lnTo>
                  <a:pt x="31324" y="744168"/>
                </a:lnTo>
                <a:lnTo>
                  <a:pt x="40554" y="729345"/>
                </a:lnTo>
                <a:lnTo>
                  <a:pt x="10905" y="710885"/>
                </a:lnTo>
                <a:close/>
              </a:path>
              <a:path w="521969" h="828039">
                <a:moveTo>
                  <a:pt x="40554" y="729345"/>
                </a:moveTo>
                <a:lnTo>
                  <a:pt x="31324" y="744168"/>
                </a:lnTo>
                <a:lnTo>
                  <a:pt x="28896" y="750664"/>
                </a:lnTo>
                <a:lnTo>
                  <a:pt x="29140" y="757354"/>
                </a:lnTo>
                <a:lnTo>
                  <a:pt x="31874" y="763464"/>
                </a:lnTo>
                <a:lnTo>
                  <a:pt x="36918" y="768222"/>
                </a:lnTo>
                <a:lnTo>
                  <a:pt x="43414" y="770650"/>
                </a:lnTo>
                <a:lnTo>
                  <a:pt x="50104" y="770406"/>
                </a:lnTo>
                <a:lnTo>
                  <a:pt x="56215" y="767672"/>
                </a:lnTo>
                <a:lnTo>
                  <a:pt x="60972" y="762628"/>
                </a:lnTo>
                <a:lnTo>
                  <a:pt x="70202" y="747804"/>
                </a:lnTo>
                <a:lnTo>
                  <a:pt x="40554" y="729345"/>
                </a:lnTo>
                <a:close/>
              </a:path>
              <a:path w="521969" h="828039">
                <a:moveTo>
                  <a:pt x="70202" y="747804"/>
                </a:moveTo>
                <a:lnTo>
                  <a:pt x="60972" y="762628"/>
                </a:lnTo>
                <a:lnTo>
                  <a:pt x="56215" y="767672"/>
                </a:lnTo>
                <a:lnTo>
                  <a:pt x="50104" y="770406"/>
                </a:lnTo>
                <a:lnTo>
                  <a:pt x="43414" y="770650"/>
                </a:lnTo>
                <a:lnTo>
                  <a:pt x="92699" y="770650"/>
                </a:lnTo>
                <a:lnTo>
                  <a:pt x="99849" y="766263"/>
                </a:lnTo>
                <a:lnTo>
                  <a:pt x="70202" y="747804"/>
                </a:lnTo>
                <a:close/>
              </a:path>
              <a:path w="521969" h="828039">
                <a:moveTo>
                  <a:pt x="507217" y="0"/>
                </a:moveTo>
                <a:lnTo>
                  <a:pt x="500527" y="243"/>
                </a:lnTo>
                <a:lnTo>
                  <a:pt x="494417" y="2977"/>
                </a:lnTo>
                <a:lnTo>
                  <a:pt x="489659" y="8022"/>
                </a:lnTo>
                <a:lnTo>
                  <a:pt x="40554" y="729345"/>
                </a:lnTo>
                <a:lnTo>
                  <a:pt x="70202" y="747804"/>
                </a:lnTo>
                <a:lnTo>
                  <a:pt x="519306" y="26481"/>
                </a:lnTo>
                <a:lnTo>
                  <a:pt x="521734" y="19986"/>
                </a:lnTo>
                <a:lnTo>
                  <a:pt x="521491" y="13296"/>
                </a:lnTo>
                <a:lnTo>
                  <a:pt x="518757" y="7185"/>
                </a:lnTo>
                <a:lnTo>
                  <a:pt x="513712" y="2427"/>
                </a:lnTo>
                <a:lnTo>
                  <a:pt x="507217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3597861" y="5891276"/>
            <a:ext cx="2058670" cy="568325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12700" marR="5080">
              <a:lnSpc>
                <a:spcPts val="2110"/>
              </a:lnSpc>
              <a:spcBef>
                <a:spcPts val="210"/>
              </a:spcBef>
            </a:pP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Layer-wise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node  </a:t>
            </a: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embedding</a:t>
            </a:r>
            <a:r>
              <a:rPr dirty="0" sz="1800" spc="-5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update</a:t>
            </a:r>
            <a:endParaRPr sz="180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594208" y="5248605"/>
            <a:ext cx="1892300" cy="457200"/>
          </a:xfrm>
          <a:custGeom>
            <a:avLst/>
            <a:gdLst/>
            <a:ahLst/>
            <a:cxnLst/>
            <a:rect l="l" t="t" r="r" b="b"/>
            <a:pathLst>
              <a:path w="1892300" h="457200">
                <a:moveTo>
                  <a:pt x="1655843" y="0"/>
                </a:moveTo>
                <a:lnTo>
                  <a:pt x="1655843" y="153045"/>
                </a:lnTo>
                <a:lnTo>
                  <a:pt x="0" y="153045"/>
                </a:lnTo>
                <a:lnTo>
                  <a:pt x="0" y="304153"/>
                </a:lnTo>
                <a:lnTo>
                  <a:pt x="1655843" y="304153"/>
                </a:lnTo>
                <a:lnTo>
                  <a:pt x="1655843" y="457199"/>
                </a:lnTo>
                <a:lnTo>
                  <a:pt x="1892192" y="228601"/>
                </a:lnTo>
                <a:lnTo>
                  <a:pt x="165584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594208" y="5248605"/>
            <a:ext cx="1892300" cy="457200"/>
          </a:xfrm>
          <a:custGeom>
            <a:avLst/>
            <a:gdLst/>
            <a:ahLst/>
            <a:cxnLst/>
            <a:rect l="l" t="t" r="r" b="b"/>
            <a:pathLst>
              <a:path w="1892300" h="457200">
                <a:moveTo>
                  <a:pt x="1655843" y="0"/>
                </a:moveTo>
                <a:lnTo>
                  <a:pt x="1892192" y="228601"/>
                </a:lnTo>
                <a:lnTo>
                  <a:pt x="1655843" y="457200"/>
                </a:lnTo>
                <a:lnTo>
                  <a:pt x="1655843" y="304154"/>
                </a:lnTo>
                <a:lnTo>
                  <a:pt x="0" y="304154"/>
                </a:lnTo>
                <a:lnTo>
                  <a:pt x="0" y="153045"/>
                </a:lnTo>
                <a:lnTo>
                  <a:pt x="1655843" y="153045"/>
                </a:lnTo>
                <a:lnTo>
                  <a:pt x="1655843" y="0"/>
                </a:lnTo>
                <a:close/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698084" y="5405738"/>
            <a:ext cx="165735" cy="832485"/>
          </a:xfrm>
          <a:custGeom>
            <a:avLst/>
            <a:gdLst/>
            <a:ahLst/>
            <a:cxnLst/>
            <a:rect l="l" t="t" r="r" b="b"/>
            <a:pathLst>
              <a:path w="165734" h="832485">
                <a:moveTo>
                  <a:pt x="0" y="0"/>
                </a:moveTo>
                <a:lnTo>
                  <a:pt x="165257" y="832005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6955976" y="5320977"/>
            <a:ext cx="645795" cy="951230"/>
          </a:xfrm>
          <a:custGeom>
            <a:avLst/>
            <a:gdLst/>
            <a:ahLst/>
            <a:cxnLst/>
            <a:rect l="l" t="t" r="r" b="b"/>
            <a:pathLst>
              <a:path w="645795" h="951229">
                <a:moveTo>
                  <a:pt x="645634" y="0"/>
                </a:moveTo>
                <a:lnTo>
                  <a:pt x="0" y="950623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694245" y="5354831"/>
            <a:ext cx="24130" cy="657225"/>
          </a:xfrm>
          <a:custGeom>
            <a:avLst/>
            <a:gdLst/>
            <a:ahLst/>
            <a:cxnLst/>
            <a:rect l="l" t="t" r="r" b="b"/>
            <a:pathLst>
              <a:path w="24129" h="657225">
                <a:moveTo>
                  <a:pt x="0" y="0"/>
                </a:moveTo>
                <a:lnTo>
                  <a:pt x="23982" y="65686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6829092" y="5239243"/>
            <a:ext cx="734695" cy="51435"/>
          </a:xfrm>
          <a:custGeom>
            <a:avLst/>
            <a:gdLst/>
            <a:ahLst/>
            <a:cxnLst/>
            <a:rect l="l" t="t" r="r" b="b"/>
            <a:pathLst>
              <a:path w="734695" h="51435">
                <a:moveTo>
                  <a:pt x="0" y="50903"/>
                </a:moveTo>
                <a:lnTo>
                  <a:pt x="734144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6994348" y="6209027"/>
            <a:ext cx="631825" cy="144780"/>
          </a:xfrm>
          <a:custGeom>
            <a:avLst/>
            <a:gdLst/>
            <a:ahLst/>
            <a:cxnLst/>
            <a:rect l="l" t="t" r="r" b="b"/>
            <a:pathLst>
              <a:path w="631825" h="144779">
                <a:moveTo>
                  <a:pt x="0" y="144309"/>
                </a:moveTo>
                <a:lnTo>
                  <a:pt x="63124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6732332" y="6237744"/>
            <a:ext cx="262255" cy="231775"/>
          </a:xfrm>
          <a:custGeom>
            <a:avLst/>
            <a:gdLst/>
            <a:ahLst/>
            <a:cxnLst/>
            <a:rect l="l" t="t" r="r" b="b"/>
            <a:pathLst>
              <a:path w="262254" h="231775">
                <a:moveTo>
                  <a:pt x="131008" y="0"/>
                </a:moveTo>
                <a:lnTo>
                  <a:pt x="80013" y="9083"/>
                </a:lnTo>
                <a:lnTo>
                  <a:pt x="38371" y="33856"/>
                </a:lnTo>
                <a:lnTo>
                  <a:pt x="10295" y="70598"/>
                </a:lnTo>
                <a:lnTo>
                  <a:pt x="0" y="115592"/>
                </a:lnTo>
                <a:lnTo>
                  <a:pt x="10295" y="160585"/>
                </a:lnTo>
                <a:lnTo>
                  <a:pt x="38371" y="197327"/>
                </a:lnTo>
                <a:lnTo>
                  <a:pt x="80013" y="222100"/>
                </a:lnTo>
                <a:lnTo>
                  <a:pt x="131008" y="231184"/>
                </a:lnTo>
                <a:lnTo>
                  <a:pt x="182002" y="222100"/>
                </a:lnTo>
                <a:lnTo>
                  <a:pt x="223644" y="197327"/>
                </a:lnTo>
                <a:lnTo>
                  <a:pt x="251720" y="160585"/>
                </a:lnTo>
                <a:lnTo>
                  <a:pt x="262016" y="115592"/>
                </a:lnTo>
                <a:lnTo>
                  <a:pt x="251720" y="70598"/>
                </a:lnTo>
                <a:lnTo>
                  <a:pt x="223644" y="33856"/>
                </a:lnTo>
                <a:lnTo>
                  <a:pt x="182002" y="9083"/>
                </a:lnTo>
                <a:lnTo>
                  <a:pt x="1310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6732332" y="6237744"/>
            <a:ext cx="262255" cy="231775"/>
          </a:xfrm>
          <a:custGeom>
            <a:avLst/>
            <a:gdLst/>
            <a:ahLst/>
            <a:cxnLst/>
            <a:rect l="l" t="t" r="r" b="b"/>
            <a:pathLst>
              <a:path w="262254" h="231775">
                <a:moveTo>
                  <a:pt x="0" y="115592"/>
                </a:moveTo>
                <a:lnTo>
                  <a:pt x="10295" y="70598"/>
                </a:lnTo>
                <a:lnTo>
                  <a:pt x="38371" y="33856"/>
                </a:lnTo>
                <a:lnTo>
                  <a:pt x="80014" y="9083"/>
                </a:lnTo>
                <a:lnTo>
                  <a:pt x="131008" y="0"/>
                </a:lnTo>
                <a:lnTo>
                  <a:pt x="182002" y="9083"/>
                </a:lnTo>
                <a:lnTo>
                  <a:pt x="223645" y="33856"/>
                </a:lnTo>
                <a:lnTo>
                  <a:pt x="251721" y="70598"/>
                </a:lnTo>
                <a:lnTo>
                  <a:pt x="262017" y="115592"/>
                </a:lnTo>
                <a:lnTo>
                  <a:pt x="251721" y="160585"/>
                </a:lnTo>
                <a:lnTo>
                  <a:pt x="223645" y="197327"/>
                </a:lnTo>
                <a:lnTo>
                  <a:pt x="182002" y="222100"/>
                </a:lnTo>
                <a:lnTo>
                  <a:pt x="131008" y="231184"/>
                </a:lnTo>
                <a:lnTo>
                  <a:pt x="80014" y="222100"/>
                </a:lnTo>
                <a:lnTo>
                  <a:pt x="38371" y="197327"/>
                </a:lnTo>
                <a:lnTo>
                  <a:pt x="10295" y="160585"/>
                </a:lnTo>
                <a:lnTo>
                  <a:pt x="0" y="115592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6567075" y="5174555"/>
            <a:ext cx="262255" cy="231775"/>
          </a:xfrm>
          <a:custGeom>
            <a:avLst/>
            <a:gdLst/>
            <a:ahLst/>
            <a:cxnLst/>
            <a:rect l="l" t="t" r="r" b="b"/>
            <a:pathLst>
              <a:path w="262254" h="231775">
                <a:moveTo>
                  <a:pt x="131009" y="0"/>
                </a:moveTo>
                <a:lnTo>
                  <a:pt x="80014" y="9083"/>
                </a:lnTo>
                <a:lnTo>
                  <a:pt x="38371" y="33855"/>
                </a:lnTo>
                <a:lnTo>
                  <a:pt x="10295" y="70597"/>
                </a:lnTo>
                <a:lnTo>
                  <a:pt x="0" y="115591"/>
                </a:lnTo>
                <a:lnTo>
                  <a:pt x="10295" y="160584"/>
                </a:lnTo>
                <a:lnTo>
                  <a:pt x="38371" y="197327"/>
                </a:lnTo>
                <a:lnTo>
                  <a:pt x="80014" y="222099"/>
                </a:lnTo>
                <a:lnTo>
                  <a:pt x="131009" y="231183"/>
                </a:lnTo>
                <a:lnTo>
                  <a:pt x="182003" y="222099"/>
                </a:lnTo>
                <a:lnTo>
                  <a:pt x="223645" y="197327"/>
                </a:lnTo>
                <a:lnTo>
                  <a:pt x="251722" y="160584"/>
                </a:lnTo>
                <a:lnTo>
                  <a:pt x="262017" y="115591"/>
                </a:lnTo>
                <a:lnTo>
                  <a:pt x="251722" y="70597"/>
                </a:lnTo>
                <a:lnTo>
                  <a:pt x="223645" y="33855"/>
                </a:lnTo>
                <a:lnTo>
                  <a:pt x="182003" y="9083"/>
                </a:lnTo>
                <a:lnTo>
                  <a:pt x="13100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6567075" y="5174555"/>
            <a:ext cx="262255" cy="231775"/>
          </a:xfrm>
          <a:custGeom>
            <a:avLst/>
            <a:gdLst/>
            <a:ahLst/>
            <a:cxnLst/>
            <a:rect l="l" t="t" r="r" b="b"/>
            <a:pathLst>
              <a:path w="262254" h="231775">
                <a:moveTo>
                  <a:pt x="0" y="115592"/>
                </a:moveTo>
                <a:lnTo>
                  <a:pt x="10295" y="70598"/>
                </a:lnTo>
                <a:lnTo>
                  <a:pt x="38371" y="33856"/>
                </a:lnTo>
                <a:lnTo>
                  <a:pt x="80014" y="9083"/>
                </a:lnTo>
                <a:lnTo>
                  <a:pt x="131008" y="0"/>
                </a:lnTo>
                <a:lnTo>
                  <a:pt x="182002" y="9083"/>
                </a:lnTo>
                <a:lnTo>
                  <a:pt x="223645" y="33856"/>
                </a:lnTo>
                <a:lnTo>
                  <a:pt x="251721" y="70598"/>
                </a:lnTo>
                <a:lnTo>
                  <a:pt x="262017" y="115592"/>
                </a:lnTo>
                <a:lnTo>
                  <a:pt x="251721" y="160585"/>
                </a:lnTo>
                <a:lnTo>
                  <a:pt x="223645" y="197327"/>
                </a:lnTo>
                <a:lnTo>
                  <a:pt x="182002" y="222100"/>
                </a:lnTo>
                <a:lnTo>
                  <a:pt x="131008" y="231184"/>
                </a:lnTo>
                <a:lnTo>
                  <a:pt x="80014" y="222100"/>
                </a:lnTo>
                <a:lnTo>
                  <a:pt x="38371" y="197327"/>
                </a:lnTo>
                <a:lnTo>
                  <a:pt x="10295" y="160585"/>
                </a:lnTo>
                <a:lnTo>
                  <a:pt x="0" y="115592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7587215" y="6011700"/>
            <a:ext cx="262255" cy="231775"/>
          </a:xfrm>
          <a:custGeom>
            <a:avLst/>
            <a:gdLst/>
            <a:ahLst/>
            <a:cxnLst/>
            <a:rect l="l" t="t" r="r" b="b"/>
            <a:pathLst>
              <a:path w="262254" h="231775">
                <a:moveTo>
                  <a:pt x="131008" y="0"/>
                </a:moveTo>
                <a:lnTo>
                  <a:pt x="80013" y="9083"/>
                </a:lnTo>
                <a:lnTo>
                  <a:pt x="38371" y="33856"/>
                </a:lnTo>
                <a:lnTo>
                  <a:pt x="10295" y="70598"/>
                </a:lnTo>
                <a:lnTo>
                  <a:pt x="0" y="115591"/>
                </a:lnTo>
                <a:lnTo>
                  <a:pt x="10295" y="160585"/>
                </a:lnTo>
                <a:lnTo>
                  <a:pt x="38371" y="197327"/>
                </a:lnTo>
                <a:lnTo>
                  <a:pt x="80013" y="222100"/>
                </a:lnTo>
                <a:lnTo>
                  <a:pt x="131008" y="231183"/>
                </a:lnTo>
                <a:lnTo>
                  <a:pt x="182002" y="222100"/>
                </a:lnTo>
                <a:lnTo>
                  <a:pt x="223645" y="197327"/>
                </a:lnTo>
                <a:lnTo>
                  <a:pt x="251721" y="160585"/>
                </a:lnTo>
                <a:lnTo>
                  <a:pt x="262016" y="115591"/>
                </a:lnTo>
                <a:lnTo>
                  <a:pt x="251721" y="70598"/>
                </a:lnTo>
                <a:lnTo>
                  <a:pt x="223645" y="33856"/>
                </a:lnTo>
                <a:lnTo>
                  <a:pt x="182002" y="9083"/>
                </a:lnTo>
                <a:lnTo>
                  <a:pt x="1310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7587215" y="6011700"/>
            <a:ext cx="262255" cy="231775"/>
          </a:xfrm>
          <a:custGeom>
            <a:avLst/>
            <a:gdLst/>
            <a:ahLst/>
            <a:cxnLst/>
            <a:rect l="l" t="t" r="r" b="b"/>
            <a:pathLst>
              <a:path w="262254" h="231775">
                <a:moveTo>
                  <a:pt x="0" y="115592"/>
                </a:moveTo>
                <a:lnTo>
                  <a:pt x="10295" y="70598"/>
                </a:lnTo>
                <a:lnTo>
                  <a:pt x="38371" y="33856"/>
                </a:lnTo>
                <a:lnTo>
                  <a:pt x="80014" y="9083"/>
                </a:lnTo>
                <a:lnTo>
                  <a:pt x="131008" y="0"/>
                </a:lnTo>
                <a:lnTo>
                  <a:pt x="182002" y="9083"/>
                </a:lnTo>
                <a:lnTo>
                  <a:pt x="223645" y="33856"/>
                </a:lnTo>
                <a:lnTo>
                  <a:pt x="251721" y="70598"/>
                </a:lnTo>
                <a:lnTo>
                  <a:pt x="262017" y="115592"/>
                </a:lnTo>
                <a:lnTo>
                  <a:pt x="251721" y="160585"/>
                </a:lnTo>
                <a:lnTo>
                  <a:pt x="223645" y="197327"/>
                </a:lnTo>
                <a:lnTo>
                  <a:pt x="182002" y="222100"/>
                </a:lnTo>
                <a:lnTo>
                  <a:pt x="131008" y="231184"/>
                </a:lnTo>
                <a:lnTo>
                  <a:pt x="80014" y="222100"/>
                </a:lnTo>
                <a:lnTo>
                  <a:pt x="38371" y="197327"/>
                </a:lnTo>
                <a:lnTo>
                  <a:pt x="10295" y="160585"/>
                </a:lnTo>
                <a:lnTo>
                  <a:pt x="0" y="115592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7563237" y="5123651"/>
            <a:ext cx="262255" cy="231775"/>
          </a:xfrm>
          <a:custGeom>
            <a:avLst/>
            <a:gdLst/>
            <a:ahLst/>
            <a:cxnLst/>
            <a:rect l="l" t="t" r="r" b="b"/>
            <a:pathLst>
              <a:path w="262254" h="231775">
                <a:moveTo>
                  <a:pt x="131008" y="0"/>
                </a:moveTo>
                <a:lnTo>
                  <a:pt x="80013" y="9083"/>
                </a:lnTo>
                <a:lnTo>
                  <a:pt x="38371" y="33856"/>
                </a:lnTo>
                <a:lnTo>
                  <a:pt x="10295" y="70598"/>
                </a:lnTo>
                <a:lnTo>
                  <a:pt x="0" y="115592"/>
                </a:lnTo>
                <a:lnTo>
                  <a:pt x="10295" y="160586"/>
                </a:lnTo>
                <a:lnTo>
                  <a:pt x="38371" y="197328"/>
                </a:lnTo>
                <a:lnTo>
                  <a:pt x="80013" y="222100"/>
                </a:lnTo>
                <a:lnTo>
                  <a:pt x="131008" y="231184"/>
                </a:lnTo>
                <a:lnTo>
                  <a:pt x="182002" y="222100"/>
                </a:lnTo>
                <a:lnTo>
                  <a:pt x="223644" y="197328"/>
                </a:lnTo>
                <a:lnTo>
                  <a:pt x="251720" y="160586"/>
                </a:lnTo>
                <a:lnTo>
                  <a:pt x="262016" y="115592"/>
                </a:lnTo>
                <a:lnTo>
                  <a:pt x="251720" y="70598"/>
                </a:lnTo>
                <a:lnTo>
                  <a:pt x="223644" y="33856"/>
                </a:lnTo>
                <a:lnTo>
                  <a:pt x="182002" y="9083"/>
                </a:lnTo>
                <a:lnTo>
                  <a:pt x="1310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7563237" y="5123651"/>
            <a:ext cx="262255" cy="231775"/>
          </a:xfrm>
          <a:custGeom>
            <a:avLst/>
            <a:gdLst/>
            <a:ahLst/>
            <a:cxnLst/>
            <a:rect l="l" t="t" r="r" b="b"/>
            <a:pathLst>
              <a:path w="262254" h="231775">
                <a:moveTo>
                  <a:pt x="0" y="115592"/>
                </a:moveTo>
                <a:lnTo>
                  <a:pt x="10295" y="70598"/>
                </a:lnTo>
                <a:lnTo>
                  <a:pt x="38371" y="33856"/>
                </a:lnTo>
                <a:lnTo>
                  <a:pt x="80014" y="9083"/>
                </a:lnTo>
                <a:lnTo>
                  <a:pt x="131008" y="0"/>
                </a:lnTo>
                <a:lnTo>
                  <a:pt x="182002" y="9083"/>
                </a:lnTo>
                <a:lnTo>
                  <a:pt x="223645" y="33856"/>
                </a:lnTo>
                <a:lnTo>
                  <a:pt x="251721" y="70598"/>
                </a:lnTo>
                <a:lnTo>
                  <a:pt x="262017" y="115592"/>
                </a:lnTo>
                <a:lnTo>
                  <a:pt x="251721" y="160585"/>
                </a:lnTo>
                <a:lnTo>
                  <a:pt x="223645" y="197327"/>
                </a:lnTo>
                <a:lnTo>
                  <a:pt x="182002" y="222100"/>
                </a:lnTo>
                <a:lnTo>
                  <a:pt x="131008" y="231184"/>
                </a:lnTo>
                <a:lnTo>
                  <a:pt x="80014" y="222100"/>
                </a:lnTo>
                <a:lnTo>
                  <a:pt x="38371" y="197327"/>
                </a:lnTo>
                <a:lnTo>
                  <a:pt x="10295" y="160585"/>
                </a:lnTo>
                <a:lnTo>
                  <a:pt x="0" y="115592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6265590" y="5118998"/>
            <a:ext cx="153670" cy="444500"/>
          </a:xfrm>
          <a:custGeom>
            <a:avLst/>
            <a:gdLst/>
            <a:ahLst/>
            <a:cxnLst/>
            <a:rect l="l" t="t" r="r" b="b"/>
            <a:pathLst>
              <a:path w="153670" h="444500">
                <a:moveTo>
                  <a:pt x="0" y="0"/>
                </a:moveTo>
                <a:lnTo>
                  <a:pt x="153236" y="0"/>
                </a:lnTo>
                <a:lnTo>
                  <a:pt x="153236" y="444027"/>
                </a:lnTo>
                <a:lnTo>
                  <a:pt x="0" y="444027"/>
                </a:lnTo>
                <a:lnTo>
                  <a:pt x="0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6265590" y="5118998"/>
            <a:ext cx="153670" cy="444500"/>
          </a:xfrm>
          <a:custGeom>
            <a:avLst/>
            <a:gdLst/>
            <a:ahLst/>
            <a:cxnLst/>
            <a:rect l="l" t="t" r="r" b="b"/>
            <a:pathLst>
              <a:path w="153670" h="444500">
                <a:moveTo>
                  <a:pt x="0" y="0"/>
                </a:moveTo>
                <a:lnTo>
                  <a:pt x="153237" y="0"/>
                </a:lnTo>
                <a:lnTo>
                  <a:pt x="153237" y="444028"/>
                </a:lnTo>
                <a:lnTo>
                  <a:pt x="0" y="444028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7956960" y="5046724"/>
            <a:ext cx="153670" cy="444500"/>
          </a:xfrm>
          <a:custGeom>
            <a:avLst/>
            <a:gdLst/>
            <a:ahLst/>
            <a:cxnLst/>
            <a:rect l="l" t="t" r="r" b="b"/>
            <a:pathLst>
              <a:path w="153670" h="444500">
                <a:moveTo>
                  <a:pt x="0" y="0"/>
                </a:moveTo>
                <a:lnTo>
                  <a:pt x="153238" y="0"/>
                </a:lnTo>
                <a:lnTo>
                  <a:pt x="153238" y="444027"/>
                </a:lnTo>
                <a:lnTo>
                  <a:pt x="0" y="444027"/>
                </a:lnTo>
                <a:lnTo>
                  <a:pt x="0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7956960" y="5046724"/>
            <a:ext cx="153670" cy="444500"/>
          </a:xfrm>
          <a:custGeom>
            <a:avLst/>
            <a:gdLst/>
            <a:ahLst/>
            <a:cxnLst/>
            <a:rect l="l" t="t" r="r" b="b"/>
            <a:pathLst>
              <a:path w="153670" h="444500">
                <a:moveTo>
                  <a:pt x="0" y="0"/>
                </a:moveTo>
                <a:lnTo>
                  <a:pt x="153237" y="0"/>
                </a:lnTo>
                <a:lnTo>
                  <a:pt x="153237" y="444028"/>
                </a:lnTo>
                <a:lnTo>
                  <a:pt x="0" y="444028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6467273" y="5999574"/>
            <a:ext cx="153670" cy="444500"/>
          </a:xfrm>
          <a:custGeom>
            <a:avLst/>
            <a:gdLst/>
            <a:ahLst/>
            <a:cxnLst/>
            <a:rect l="l" t="t" r="r" b="b"/>
            <a:pathLst>
              <a:path w="153670" h="444500">
                <a:moveTo>
                  <a:pt x="0" y="0"/>
                </a:moveTo>
                <a:lnTo>
                  <a:pt x="153236" y="0"/>
                </a:lnTo>
                <a:lnTo>
                  <a:pt x="153236" y="444027"/>
                </a:lnTo>
                <a:lnTo>
                  <a:pt x="0" y="444027"/>
                </a:lnTo>
                <a:lnTo>
                  <a:pt x="0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6467273" y="5999574"/>
            <a:ext cx="153670" cy="444500"/>
          </a:xfrm>
          <a:custGeom>
            <a:avLst/>
            <a:gdLst/>
            <a:ahLst/>
            <a:cxnLst/>
            <a:rect l="l" t="t" r="r" b="b"/>
            <a:pathLst>
              <a:path w="153670" h="444500">
                <a:moveTo>
                  <a:pt x="0" y="0"/>
                </a:moveTo>
                <a:lnTo>
                  <a:pt x="153237" y="0"/>
                </a:lnTo>
                <a:lnTo>
                  <a:pt x="153237" y="444028"/>
                </a:lnTo>
                <a:lnTo>
                  <a:pt x="0" y="444028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7937075" y="5999574"/>
            <a:ext cx="153670" cy="444500"/>
          </a:xfrm>
          <a:custGeom>
            <a:avLst/>
            <a:gdLst/>
            <a:ahLst/>
            <a:cxnLst/>
            <a:rect l="l" t="t" r="r" b="b"/>
            <a:pathLst>
              <a:path w="153670" h="444500">
                <a:moveTo>
                  <a:pt x="0" y="0"/>
                </a:moveTo>
                <a:lnTo>
                  <a:pt x="153236" y="0"/>
                </a:lnTo>
                <a:lnTo>
                  <a:pt x="153236" y="444027"/>
                </a:lnTo>
                <a:lnTo>
                  <a:pt x="0" y="444027"/>
                </a:lnTo>
                <a:lnTo>
                  <a:pt x="0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7937075" y="5999574"/>
            <a:ext cx="153670" cy="444500"/>
          </a:xfrm>
          <a:custGeom>
            <a:avLst/>
            <a:gdLst/>
            <a:ahLst/>
            <a:cxnLst/>
            <a:rect l="l" t="t" r="r" b="b"/>
            <a:pathLst>
              <a:path w="153670" h="444500">
                <a:moveTo>
                  <a:pt x="0" y="0"/>
                </a:moveTo>
                <a:lnTo>
                  <a:pt x="153237" y="0"/>
                </a:lnTo>
                <a:lnTo>
                  <a:pt x="153237" y="444028"/>
                </a:lnTo>
                <a:lnTo>
                  <a:pt x="0" y="444028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/>
          <p:nvPr/>
        </p:nvSpPr>
        <p:spPr>
          <a:xfrm>
            <a:off x="6200531" y="4631435"/>
            <a:ext cx="141033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 b="1">
                <a:latin typeface="Arial"/>
                <a:cs typeface="Arial"/>
              </a:rPr>
              <a:t>Embedding</a:t>
            </a:r>
            <a:endParaRPr sz="200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40636" y="6699893"/>
            <a:ext cx="400685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3/13/21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6" name="object 5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57" name="object 5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31</a:t>
            </a:fld>
          </a:p>
        </p:txBody>
      </p:sp>
      <p:sp>
        <p:nvSpPr>
          <p:cNvPr id="54" name="object 54"/>
          <p:cNvSpPr txBox="1"/>
          <p:nvPr/>
        </p:nvSpPr>
        <p:spPr>
          <a:xfrm>
            <a:off x="703607" y="4430267"/>
            <a:ext cx="256476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 b="1">
                <a:solidFill>
                  <a:srgbClr val="008000"/>
                </a:solidFill>
                <a:latin typeface="Arial"/>
                <a:cs typeface="Arial"/>
              </a:rPr>
              <a:t>Induced subgraph</a:t>
            </a:r>
            <a:r>
              <a:rPr dirty="0" sz="2000" spc="-70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2000" spc="-5">
                <a:solidFill>
                  <a:srgbClr val="008000"/>
                </a:solidFill>
                <a:latin typeface="Cambria Math"/>
                <a:cs typeface="Cambria Math"/>
              </a:rPr>
              <a:t>𝑮</a:t>
            </a:r>
            <a:r>
              <a:rPr dirty="0" baseline="-14814" sz="2250" spc="-7">
                <a:solidFill>
                  <a:srgbClr val="008000"/>
                </a:solidFill>
                <a:latin typeface="Cambria Math"/>
                <a:cs typeface="Cambria Math"/>
              </a:rPr>
              <a:t>𝒄</a:t>
            </a:r>
            <a:endParaRPr baseline="-14814" sz="225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537959" cy="5151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728584" cy="1491615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431165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 b="1">
                <a:solidFill>
                  <a:srgbClr val="008000"/>
                </a:solidFill>
                <a:latin typeface="Calibri"/>
                <a:cs typeface="Calibri"/>
              </a:rPr>
              <a:t>The induced </a:t>
            </a:r>
            <a:r>
              <a:rPr dirty="0" spc="-15" b="1">
                <a:solidFill>
                  <a:srgbClr val="008000"/>
                </a:solidFill>
                <a:latin typeface="Calibri"/>
                <a:cs typeface="Calibri"/>
              </a:rPr>
              <a:t>subgraph </a:t>
            </a:r>
            <a:r>
              <a:rPr dirty="0" spc="-15" b="1">
                <a:latin typeface="Calibri"/>
                <a:cs typeface="Calibri"/>
              </a:rPr>
              <a:t>removes </a:t>
            </a:r>
            <a:r>
              <a:rPr dirty="0" spc="-10" b="1">
                <a:solidFill>
                  <a:srgbClr val="7F7F7F"/>
                </a:solidFill>
                <a:latin typeface="Calibri"/>
                <a:cs typeface="Calibri"/>
              </a:rPr>
              <a:t>between-  </a:t>
            </a:r>
            <a:r>
              <a:rPr dirty="0" spc="-15" b="1">
                <a:solidFill>
                  <a:srgbClr val="7F7F7F"/>
                </a:solidFill>
                <a:latin typeface="Calibri"/>
                <a:cs typeface="Calibri"/>
              </a:rPr>
              <a:t>group</a:t>
            </a:r>
            <a:r>
              <a:rPr dirty="0" spc="-70" b="1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dirty="0" spc="-10" b="1">
                <a:solidFill>
                  <a:srgbClr val="7F7F7F"/>
                </a:solidFill>
                <a:latin typeface="Calibri"/>
                <a:cs typeface="Calibri"/>
              </a:rPr>
              <a:t>links.</a:t>
            </a:r>
          </a:p>
          <a:p>
            <a:pPr marL="332740" indent="-320040">
              <a:lnSpc>
                <a:spcPts val="379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/>
              <a:t>As </a:t>
            </a:r>
            <a:r>
              <a:rPr dirty="0"/>
              <a:t>a </a:t>
            </a:r>
            <a:r>
              <a:rPr dirty="0" spc="-10"/>
              <a:t>result, </a:t>
            </a:r>
            <a:r>
              <a:rPr dirty="0" spc="-10" b="1">
                <a:solidFill>
                  <a:srgbClr val="D60093"/>
                </a:solidFill>
                <a:latin typeface="Calibri"/>
                <a:cs typeface="Calibri"/>
              </a:rPr>
              <a:t>messages from </a:t>
            </a:r>
            <a:r>
              <a:rPr dirty="0" spc="-5" b="1">
                <a:solidFill>
                  <a:srgbClr val="D60093"/>
                </a:solidFill>
                <a:latin typeface="Calibri"/>
                <a:cs typeface="Calibri"/>
              </a:rPr>
              <a:t>other </a:t>
            </a:r>
            <a:r>
              <a:rPr dirty="0" spc="-15" b="1">
                <a:solidFill>
                  <a:srgbClr val="D60093"/>
                </a:solidFill>
                <a:latin typeface="Calibri"/>
                <a:cs typeface="Calibri"/>
              </a:rPr>
              <a:t>groups</a:t>
            </a:r>
            <a:r>
              <a:rPr dirty="0" spc="25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b="1">
                <a:solidFill>
                  <a:srgbClr val="D60093"/>
                </a:solidFill>
                <a:latin typeface="Calibri"/>
                <a:cs typeface="Calibri"/>
              </a:rPr>
              <a:t>will</a:t>
            </a:r>
          </a:p>
        </p:txBody>
      </p:sp>
      <p:sp>
        <p:nvSpPr>
          <p:cNvPr id="4" name="object 4"/>
          <p:cNvSpPr/>
          <p:nvPr/>
        </p:nvSpPr>
        <p:spPr>
          <a:xfrm>
            <a:off x="1819706" y="3933232"/>
            <a:ext cx="5666480" cy="27496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95329" y="5698235"/>
            <a:ext cx="1534795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00" spc="-5" b="1">
                <a:solidFill>
                  <a:srgbClr val="7F7F7F"/>
                </a:solidFill>
                <a:latin typeface="Arial"/>
                <a:cs typeface="Arial"/>
              </a:rPr>
              <a:t>Between-  group links  are</a:t>
            </a:r>
            <a:r>
              <a:rPr dirty="0" sz="2000" spc="-75" b="1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2000" spc="-5" b="1">
                <a:solidFill>
                  <a:srgbClr val="7F7F7F"/>
                </a:solidFill>
                <a:latin typeface="Arial"/>
                <a:cs typeface="Arial"/>
              </a:rPr>
              <a:t>removed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0636" y="6699893"/>
            <a:ext cx="400685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3/13/21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31</a:t>
            </a:fld>
          </a:p>
        </p:txBody>
      </p:sp>
      <p:sp>
        <p:nvSpPr>
          <p:cNvPr id="6" name="object 6"/>
          <p:cNvSpPr txBox="1"/>
          <p:nvPr/>
        </p:nvSpPr>
        <p:spPr>
          <a:xfrm>
            <a:off x="5708989" y="6237732"/>
            <a:ext cx="186118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D60093"/>
                </a:solidFill>
                <a:latin typeface="Arial"/>
                <a:cs typeface="Arial"/>
              </a:rPr>
              <a:t>Lost</a:t>
            </a:r>
            <a:r>
              <a:rPr dirty="0" sz="2000" spc="-75" b="1">
                <a:solidFill>
                  <a:srgbClr val="D60093"/>
                </a:solidFill>
                <a:latin typeface="Arial"/>
                <a:cs typeface="Arial"/>
              </a:rPr>
              <a:t> </a:t>
            </a:r>
            <a:r>
              <a:rPr dirty="0" sz="2000" spc="-5" b="1">
                <a:solidFill>
                  <a:srgbClr val="D60093"/>
                </a:solidFill>
                <a:latin typeface="Arial"/>
                <a:cs typeface="Arial"/>
              </a:rPr>
              <a:t>messages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38149" y="2808732"/>
            <a:ext cx="7493000" cy="1351280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 marR="5080">
              <a:lnSpc>
                <a:spcPct val="101899"/>
              </a:lnSpc>
              <a:spcBef>
                <a:spcPts val="25"/>
              </a:spcBef>
            </a:pPr>
            <a:r>
              <a:rPr dirty="0" sz="3200" spc="-5" b="1" i="1">
                <a:solidFill>
                  <a:srgbClr val="D60093"/>
                </a:solidFill>
                <a:latin typeface="Calibri"/>
                <a:cs typeface="Calibri"/>
              </a:rPr>
              <a:t>be </a:t>
            </a:r>
            <a:r>
              <a:rPr dirty="0" sz="3200" spc="-15" b="1" i="1">
                <a:solidFill>
                  <a:srgbClr val="D60093"/>
                </a:solidFill>
                <a:latin typeface="Calibri"/>
                <a:cs typeface="Calibri"/>
              </a:rPr>
              <a:t>lost </a:t>
            </a:r>
            <a:r>
              <a:rPr dirty="0" sz="3200" spc="-5" b="1" i="1">
                <a:solidFill>
                  <a:srgbClr val="D60093"/>
                </a:solidFill>
                <a:latin typeface="Calibri"/>
                <a:cs typeface="Calibri"/>
              </a:rPr>
              <a:t>during message passing</a:t>
            </a: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, which could  hurt the </a:t>
            </a:r>
            <a:r>
              <a:rPr dirty="0" sz="3200" spc="-40" b="1">
                <a:solidFill>
                  <a:srgbClr val="D60093"/>
                </a:solidFill>
                <a:latin typeface="Calibri"/>
                <a:cs typeface="Calibri"/>
              </a:rPr>
              <a:t>GNN’s</a:t>
            </a:r>
            <a:r>
              <a:rPr dirty="0" sz="3200" spc="-10" b="1">
                <a:solidFill>
                  <a:srgbClr val="D60093"/>
                </a:solidFill>
                <a:latin typeface="Calibri"/>
                <a:cs typeface="Calibri"/>
              </a:rPr>
              <a:t> performance.</a:t>
            </a:r>
            <a:endParaRPr sz="3200">
              <a:latin typeface="Calibri"/>
              <a:cs typeface="Calibri"/>
            </a:endParaRPr>
          </a:p>
          <a:p>
            <a:pPr marL="4570095">
              <a:lnSpc>
                <a:spcPct val="100000"/>
              </a:lnSpc>
              <a:spcBef>
                <a:spcPts val="285"/>
              </a:spcBef>
            </a:pPr>
            <a:r>
              <a:rPr dirty="0" sz="2000" spc="-5" b="1">
                <a:solidFill>
                  <a:srgbClr val="008000"/>
                </a:solidFill>
                <a:latin typeface="Arial"/>
                <a:cs typeface="Arial"/>
              </a:rPr>
              <a:t>Induced</a:t>
            </a:r>
            <a:r>
              <a:rPr dirty="0" sz="2000" spc="-65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2000" spc="-5" b="1">
                <a:solidFill>
                  <a:srgbClr val="008000"/>
                </a:solidFill>
                <a:latin typeface="Arial"/>
                <a:cs typeface="Arial"/>
              </a:rPr>
              <a:t>subgraph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541008" cy="5151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963534" cy="1973580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443865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5"/>
              <a:t>Graph </a:t>
            </a:r>
            <a:r>
              <a:rPr dirty="0" spc="-5"/>
              <a:t>community </a:t>
            </a:r>
            <a:r>
              <a:rPr dirty="0" spc="-10"/>
              <a:t>detection </a:t>
            </a:r>
            <a:r>
              <a:rPr dirty="0" spc="-5"/>
              <a:t>algorithm </a:t>
            </a:r>
            <a:r>
              <a:rPr dirty="0" spc="-5" b="1">
                <a:solidFill>
                  <a:srgbClr val="C00000"/>
                </a:solidFill>
                <a:latin typeface="Calibri"/>
                <a:cs typeface="Calibri"/>
              </a:rPr>
              <a:t>puts  similar nodes </a:t>
            </a:r>
            <a:r>
              <a:rPr dirty="0" spc="-15" b="1">
                <a:solidFill>
                  <a:srgbClr val="C00000"/>
                </a:solidFill>
                <a:latin typeface="Calibri"/>
                <a:cs typeface="Calibri"/>
              </a:rPr>
              <a:t>together </a:t>
            </a:r>
            <a:r>
              <a:rPr dirty="0" b="1">
                <a:solidFill>
                  <a:srgbClr val="C00000"/>
                </a:solidFill>
                <a:latin typeface="Calibri"/>
                <a:cs typeface="Calibri"/>
              </a:rPr>
              <a:t>in </a:t>
            </a:r>
            <a:r>
              <a:rPr dirty="0" spc="-5" b="1">
                <a:solidFill>
                  <a:srgbClr val="C00000"/>
                </a:solidFill>
                <a:latin typeface="Calibri"/>
                <a:cs typeface="Calibri"/>
              </a:rPr>
              <a:t>the same</a:t>
            </a:r>
            <a:r>
              <a:rPr dirty="0" spc="1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pc="-15" b="1">
                <a:solidFill>
                  <a:srgbClr val="C00000"/>
                </a:solidFill>
                <a:latin typeface="Calibri"/>
                <a:cs typeface="Calibri"/>
              </a:rPr>
              <a:t>group</a:t>
            </a:r>
            <a:r>
              <a:rPr dirty="0" spc="-15"/>
              <a:t>.</a:t>
            </a:r>
          </a:p>
          <a:p>
            <a:pPr marL="332740" marR="5080" indent="-320040">
              <a:lnSpc>
                <a:spcPts val="3790"/>
              </a:lnSpc>
              <a:spcBef>
                <a:spcPts val="114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 b="1">
                <a:solidFill>
                  <a:srgbClr val="C00000"/>
                </a:solidFill>
                <a:latin typeface="Calibri"/>
                <a:cs typeface="Calibri"/>
              </a:rPr>
              <a:t>Sampled node </a:t>
            </a:r>
            <a:r>
              <a:rPr dirty="0" spc="-15" b="1">
                <a:solidFill>
                  <a:srgbClr val="C00000"/>
                </a:solidFill>
                <a:latin typeface="Calibri"/>
                <a:cs typeface="Calibri"/>
              </a:rPr>
              <a:t>group </a:t>
            </a:r>
            <a:r>
              <a:rPr dirty="0" spc="-10"/>
              <a:t>tends </a:t>
            </a:r>
            <a:r>
              <a:rPr dirty="0" spc="-15"/>
              <a:t>to </a:t>
            </a:r>
            <a:r>
              <a:rPr dirty="0" spc="-5"/>
              <a:t>only </a:t>
            </a:r>
            <a:r>
              <a:rPr dirty="0" spc="-20"/>
              <a:t>cover </a:t>
            </a:r>
            <a:r>
              <a:rPr dirty="0"/>
              <a:t>the  </a:t>
            </a:r>
            <a:r>
              <a:rPr dirty="0" spc="-15"/>
              <a:t>small-concentrated </a:t>
            </a:r>
            <a:r>
              <a:rPr dirty="0" spc="-5"/>
              <a:t>portion </a:t>
            </a:r>
            <a:r>
              <a:rPr dirty="0"/>
              <a:t>of the </a:t>
            </a:r>
            <a:r>
              <a:rPr dirty="0" spc="-15" b="1">
                <a:solidFill>
                  <a:srgbClr val="008000"/>
                </a:solidFill>
                <a:latin typeface="Calibri"/>
                <a:cs typeface="Calibri"/>
              </a:rPr>
              <a:t>entire</a:t>
            </a:r>
            <a:r>
              <a:rPr dirty="0" spc="25" b="1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pc="-15" b="1">
                <a:solidFill>
                  <a:srgbClr val="008000"/>
                </a:solidFill>
                <a:latin typeface="Calibri"/>
                <a:cs typeface="Calibri"/>
              </a:rPr>
              <a:t>data</a:t>
            </a:r>
            <a:r>
              <a:rPr dirty="0" spc="-15"/>
              <a:t>.</a:t>
            </a:r>
          </a:p>
        </p:txBody>
      </p:sp>
      <p:sp>
        <p:nvSpPr>
          <p:cNvPr id="4" name="object 4"/>
          <p:cNvSpPr/>
          <p:nvPr/>
        </p:nvSpPr>
        <p:spPr>
          <a:xfrm>
            <a:off x="1883169" y="3750017"/>
            <a:ext cx="5073423" cy="255352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819353" y="5351779"/>
            <a:ext cx="922655" cy="76009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75"/>
              </a:spcBef>
            </a:pPr>
            <a:r>
              <a:rPr dirty="0" sz="2400" spc="-5" b="1">
                <a:solidFill>
                  <a:srgbClr val="008000"/>
                </a:solidFill>
                <a:latin typeface="Arial"/>
                <a:cs typeface="Arial"/>
              </a:rPr>
              <a:t>Entire  nod</a:t>
            </a:r>
            <a:r>
              <a:rPr dirty="0" sz="2400" b="1">
                <a:solidFill>
                  <a:srgbClr val="008000"/>
                </a:solidFill>
                <a:latin typeface="Arial"/>
                <a:cs typeface="Arial"/>
              </a:rPr>
              <a:t>es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0636" y="6699893"/>
            <a:ext cx="400685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3/13/21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31</a:t>
            </a:fld>
          </a:p>
        </p:txBody>
      </p:sp>
      <p:sp>
        <p:nvSpPr>
          <p:cNvPr id="6" name="object 6"/>
          <p:cNvSpPr txBox="1"/>
          <p:nvPr/>
        </p:nvSpPr>
        <p:spPr>
          <a:xfrm>
            <a:off x="945970" y="3678428"/>
            <a:ext cx="1296670" cy="112585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85"/>
              </a:spcBef>
            </a:pPr>
            <a:r>
              <a:rPr dirty="0" sz="2400" spc="-5" b="1">
                <a:solidFill>
                  <a:srgbClr val="C00000"/>
                </a:solidFill>
                <a:latin typeface="Arial"/>
                <a:cs typeface="Arial"/>
              </a:rPr>
              <a:t>S</a:t>
            </a:r>
            <a:r>
              <a:rPr dirty="0" sz="2400" b="1">
                <a:solidFill>
                  <a:srgbClr val="C00000"/>
                </a:solidFill>
                <a:latin typeface="Arial"/>
                <a:cs typeface="Arial"/>
              </a:rPr>
              <a:t>am</a:t>
            </a:r>
            <a:r>
              <a:rPr dirty="0" sz="2400" spc="-5" b="1">
                <a:solidFill>
                  <a:srgbClr val="C00000"/>
                </a:solidFill>
                <a:latin typeface="Arial"/>
                <a:cs typeface="Arial"/>
              </a:rPr>
              <a:t>p</a:t>
            </a:r>
            <a:r>
              <a:rPr dirty="0" sz="2400" spc="-10" b="1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dirty="0" sz="2400" b="1">
                <a:solidFill>
                  <a:srgbClr val="C00000"/>
                </a:solidFill>
                <a:latin typeface="Arial"/>
                <a:cs typeface="Arial"/>
              </a:rPr>
              <a:t>ed  </a:t>
            </a:r>
            <a:r>
              <a:rPr dirty="0" sz="2400" spc="-5" b="1">
                <a:solidFill>
                  <a:srgbClr val="C00000"/>
                </a:solidFill>
                <a:latin typeface="Arial"/>
                <a:cs typeface="Arial"/>
              </a:rPr>
              <a:t>node  group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534911" cy="5364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536815" cy="1491615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12700" marR="5080">
              <a:lnSpc>
                <a:spcPts val="3790"/>
              </a:lnSpc>
              <a:spcBef>
                <a:spcPts val="265"/>
              </a:spcBef>
            </a:pPr>
            <a:r>
              <a:rPr dirty="0" spc="-5" b="1">
                <a:solidFill>
                  <a:srgbClr val="008000"/>
                </a:solidFill>
                <a:latin typeface="Calibri"/>
                <a:cs typeface="Calibri"/>
              </a:rPr>
              <a:t>Sampled nodes </a:t>
            </a:r>
            <a:r>
              <a:rPr dirty="0" spc="-20" b="1">
                <a:solidFill>
                  <a:srgbClr val="008000"/>
                </a:solidFill>
                <a:latin typeface="Calibri"/>
                <a:cs typeface="Calibri"/>
              </a:rPr>
              <a:t>are </a:t>
            </a:r>
            <a:r>
              <a:rPr dirty="0" spc="-5" b="1">
                <a:solidFill>
                  <a:srgbClr val="008000"/>
                </a:solidFill>
                <a:latin typeface="Calibri"/>
                <a:cs typeface="Calibri"/>
              </a:rPr>
              <a:t>not </a:t>
            </a:r>
            <a:r>
              <a:rPr dirty="0" spc="-15" b="1">
                <a:solidFill>
                  <a:srgbClr val="008000"/>
                </a:solidFill>
                <a:latin typeface="Calibri"/>
                <a:cs typeface="Calibri"/>
              </a:rPr>
              <a:t>diverse </a:t>
            </a:r>
            <a:r>
              <a:rPr dirty="0" spc="-5" b="1">
                <a:solidFill>
                  <a:srgbClr val="008000"/>
                </a:solidFill>
                <a:latin typeface="Calibri"/>
                <a:cs typeface="Calibri"/>
              </a:rPr>
              <a:t>enough </a:t>
            </a:r>
            <a:r>
              <a:rPr dirty="0" spc="-15" b="1">
                <a:solidFill>
                  <a:srgbClr val="008000"/>
                </a:solidFill>
                <a:latin typeface="Calibri"/>
                <a:cs typeface="Calibri"/>
              </a:rPr>
              <a:t>to </a:t>
            </a:r>
            <a:r>
              <a:rPr dirty="0" spc="-5" b="1">
                <a:solidFill>
                  <a:srgbClr val="008000"/>
                </a:solidFill>
                <a:latin typeface="Calibri"/>
                <a:cs typeface="Calibri"/>
              </a:rPr>
              <a:t>be  </a:t>
            </a:r>
            <a:r>
              <a:rPr dirty="0" spc="-15" b="1">
                <a:solidFill>
                  <a:srgbClr val="008000"/>
                </a:solidFill>
                <a:latin typeface="Calibri"/>
                <a:cs typeface="Calibri"/>
              </a:rPr>
              <a:t>represent </a:t>
            </a:r>
            <a:r>
              <a:rPr dirty="0" spc="-5" b="1">
                <a:solidFill>
                  <a:srgbClr val="008000"/>
                </a:solidFill>
                <a:latin typeface="Calibri"/>
                <a:cs typeface="Calibri"/>
              </a:rPr>
              <a:t>the </a:t>
            </a:r>
            <a:r>
              <a:rPr dirty="0" spc="-15" b="1">
                <a:solidFill>
                  <a:srgbClr val="008000"/>
                </a:solidFill>
                <a:latin typeface="Calibri"/>
                <a:cs typeface="Calibri"/>
              </a:rPr>
              <a:t>entire </a:t>
            </a:r>
            <a:r>
              <a:rPr dirty="0" spc="-20" b="1">
                <a:solidFill>
                  <a:srgbClr val="008000"/>
                </a:solidFill>
                <a:latin typeface="Calibri"/>
                <a:cs typeface="Calibri"/>
              </a:rPr>
              <a:t>graph </a:t>
            </a:r>
            <a:r>
              <a:rPr dirty="0" spc="-10" b="1">
                <a:solidFill>
                  <a:srgbClr val="008000"/>
                </a:solidFill>
                <a:latin typeface="Calibri"/>
                <a:cs typeface="Calibri"/>
              </a:rPr>
              <a:t>structure:</a:t>
            </a:r>
          </a:p>
          <a:p>
            <a:pPr marL="332740" indent="-320040">
              <a:lnSpc>
                <a:spcPts val="379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/>
              <a:t>As </a:t>
            </a:r>
            <a:r>
              <a:rPr dirty="0"/>
              <a:t>a </a:t>
            </a:r>
            <a:r>
              <a:rPr dirty="0" spc="-10"/>
              <a:t>result, </a:t>
            </a:r>
            <a:r>
              <a:rPr dirty="0"/>
              <a:t>the </a:t>
            </a:r>
            <a:r>
              <a:rPr dirty="0" spc="-15"/>
              <a:t>gradient </a:t>
            </a:r>
            <a:r>
              <a:rPr dirty="0" spc="-25"/>
              <a:t>averaged </a:t>
            </a:r>
            <a:r>
              <a:rPr dirty="0" spc="-15"/>
              <a:t>over</a:t>
            </a:r>
            <a:r>
              <a:rPr dirty="0" spc="35"/>
              <a:t> </a:t>
            </a:r>
            <a:r>
              <a:rPr dirty="0"/>
              <a:t>the</a:t>
            </a:r>
          </a:p>
        </p:txBody>
      </p:sp>
      <p:sp>
        <p:nvSpPr>
          <p:cNvPr id="4" name="object 4"/>
          <p:cNvSpPr/>
          <p:nvPr/>
        </p:nvSpPr>
        <p:spPr>
          <a:xfrm>
            <a:off x="3648964" y="3215639"/>
            <a:ext cx="482600" cy="0"/>
          </a:xfrm>
          <a:custGeom>
            <a:avLst/>
            <a:gdLst/>
            <a:ahLst/>
            <a:cxnLst/>
            <a:rect l="l" t="t" r="r" b="b"/>
            <a:pathLst>
              <a:path w="482600" h="0">
                <a:moveTo>
                  <a:pt x="0" y="0"/>
                </a:moveTo>
                <a:lnTo>
                  <a:pt x="482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783393" y="2785872"/>
            <a:ext cx="194945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-254">
                <a:latin typeface="Cambria Math"/>
                <a:cs typeface="Cambria Math"/>
              </a:rPr>
              <a:t>&amp;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3/13/21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40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30548" y="3230879"/>
            <a:ext cx="501650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100">
                <a:latin typeface="Cambria Math"/>
                <a:cs typeface="Cambria Math"/>
              </a:rPr>
              <a:t>|3</a:t>
            </a:r>
            <a:r>
              <a:rPr dirty="0" baseline="-13157" sz="2850" spc="150">
                <a:latin typeface="Cambria Math"/>
                <a:cs typeface="Cambria Math"/>
              </a:rPr>
              <a:t>!</a:t>
            </a:r>
            <a:r>
              <a:rPr dirty="0" sz="2300" spc="100">
                <a:latin typeface="Cambria Math"/>
                <a:cs typeface="Cambria Math"/>
              </a:rPr>
              <a:t>|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70653" y="3226816"/>
            <a:ext cx="154940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475">
                <a:latin typeface="Cambria Math"/>
                <a:cs typeface="Cambria Math"/>
              </a:rPr>
              <a:t>!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75442" y="2909315"/>
            <a:ext cx="394652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736" sz="4800" spc="307">
                <a:latin typeface="Cambria Math"/>
                <a:cs typeface="Cambria Math"/>
              </a:rPr>
              <a:t>∑</a:t>
            </a:r>
            <a:r>
              <a:rPr dirty="0" baseline="-16908" sz="3450" spc="307">
                <a:latin typeface="Cambria Math"/>
                <a:cs typeface="Cambria Math"/>
              </a:rPr>
              <a:t>-∈3 </a:t>
            </a:r>
            <a:r>
              <a:rPr dirty="0" sz="3200" spc="90">
                <a:latin typeface="Cambria Math"/>
                <a:cs typeface="Cambria Math"/>
              </a:rPr>
              <a:t>∇ℓ</a:t>
            </a:r>
            <a:r>
              <a:rPr dirty="0" baseline="-15700" sz="3450" spc="135">
                <a:latin typeface="Cambria Math"/>
                <a:cs typeface="Cambria Math"/>
              </a:rPr>
              <a:t>-</a:t>
            </a:r>
            <a:r>
              <a:rPr dirty="0" sz="3200" spc="90">
                <a:latin typeface="Cambria Math"/>
                <a:cs typeface="Cambria Math"/>
              </a:rPr>
              <a:t>(𝜽)</a:t>
            </a:r>
            <a:r>
              <a:rPr dirty="0" sz="3200" spc="90">
                <a:latin typeface="Calibri"/>
                <a:cs typeface="Calibri"/>
              </a:rPr>
              <a:t>,</a:t>
            </a:r>
            <a:r>
              <a:rPr dirty="0" sz="3200" spc="19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becomes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38149" y="2747771"/>
            <a:ext cx="2625725" cy="13239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3100"/>
              </a:lnSpc>
              <a:spcBef>
                <a:spcPts val="100"/>
              </a:spcBef>
            </a:pPr>
            <a:r>
              <a:rPr dirty="0" sz="3200" spc="-5">
                <a:latin typeface="Calibri"/>
                <a:cs typeface="Calibri"/>
              </a:rPr>
              <a:t>sampled</a:t>
            </a:r>
            <a:r>
              <a:rPr dirty="0" sz="3200" spc="-3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nodes,  </a:t>
            </a:r>
            <a:r>
              <a:rPr dirty="0" sz="3200" spc="-10">
                <a:latin typeface="Calibri"/>
                <a:cs typeface="Calibri"/>
              </a:rPr>
              <a:t>unreliable.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8108" y="4060444"/>
            <a:ext cx="7517130" cy="1523365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625475" indent="-274320">
              <a:lnSpc>
                <a:spcPct val="100000"/>
              </a:lnSpc>
              <a:spcBef>
                <a:spcPts val="74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Fluctuates </a:t>
            </a: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a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lot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from </a:t>
            </a: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a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node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group </a:t>
            </a: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to</a:t>
            </a:r>
            <a:r>
              <a:rPr dirty="0" sz="2800" spc="1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35" b="1">
                <a:solidFill>
                  <a:srgbClr val="C00000"/>
                </a:solidFill>
                <a:latin typeface="Calibri"/>
                <a:cs typeface="Calibri"/>
              </a:rPr>
              <a:t>another.</a:t>
            </a:r>
            <a:endParaRPr sz="2800">
              <a:latin typeface="Calibri"/>
              <a:cs typeface="Calibri"/>
            </a:endParaRPr>
          </a:p>
          <a:p>
            <a:pPr marL="625475" indent="-274320">
              <a:lnSpc>
                <a:spcPts val="3329"/>
              </a:lnSpc>
              <a:spcBef>
                <a:spcPts val="64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In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other </a:t>
            </a: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words,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the </a:t>
            </a: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gradient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has high</a:t>
            </a:r>
            <a:r>
              <a:rPr dirty="0" sz="2800" spc="7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50" b="1">
                <a:solidFill>
                  <a:srgbClr val="C00000"/>
                </a:solidFill>
                <a:latin typeface="Calibri"/>
                <a:cs typeface="Calibri"/>
              </a:rPr>
              <a:t>variance.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ts val="381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0000FF"/>
                </a:solidFill>
                <a:latin typeface="Calibri"/>
                <a:cs typeface="Calibri"/>
              </a:rPr>
              <a:t>Leads </a:t>
            </a:r>
            <a:r>
              <a:rPr dirty="0" sz="3200" spc="-15" b="1">
                <a:solidFill>
                  <a:srgbClr val="0000FF"/>
                </a:solidFill>
                <a:latin typeface="Calibri"/>
                <a:cs typeface="Calibri"/>
              </a:rPr>
              <a:t>to </a:t>
            </a:r>
            <a:r>
              <a:rPr dirty="0" sz="3200" spc="-5" b="1">
                <a:solidFill>
                  <a:srgbClr val="0000FF"/>
                </a:solidFill>
                <a:latin typeface="Calibri"/>
                <a:cs typeface="Calibri"/>
              </a:rPr>
              <a:t>slow </a:t>
            </a:r>
            <a:r>
              <a:rPr dirty="0" sz="3200" spc="-20" b="1">
                <a:solidFill>
                  <a:srgbClr val="0000FF"/>
                </a:solidFill>
                <a:latin typeface="Calibri"/>
                <a:cs typeface="Calibri"/>
              </a:rPr>
              <a:t>convergence </a:t>
            </a:r>
            <a:r>
              <a:rPr dirty="0" sz="3200" b="1">
                <a:solidFill>
                  <a:srgbClr val="0000FF"/>
                </a:solidFill>
                <a:latin typeface="Calibri"/>
                <a:cs typeface="Calibri"/>
              </a:rPr>
              <a:t>of </a:t>
            </a:r>
            <a:r>
              <a:rPr dirty="0" sz="3200" spc="-5" b="1">
                <a:solidFill>
                  <a:srgbClr val="0000FF"/>
                </a:solidFill>
                <a:latin typeface="Calibri"/>
                <a:cs typeface="Calibri"/>
              </a:rPr>
              <a:t>SGD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8189976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8107680" cy="1973580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106045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 b="1">
                <a:solidFill>
                  <a:srgbClr val="D60093"/>
                </a:solidFill>
                <a:latin typeface="Calibri"/>
                <a:cs typeface="Calibri"/>
              </a:rPr>
              <a:t>Solution: </a:t>
            </a:r>
            <a:r>
              <a:rPr dirty="0" spc="-20" b="1">
                <a:solidFill>
                  <a:srgbClr val="D60093"/>
                </a:solidFill>
                <a:latin typeface="Calibri"/>
                <a:cs typeface="Calibri"/>
              </a:rPr>
              <a:t>Aggregate </a:t>
            </a:r>
            <a:r>
              <a:rPr dirty="0" spc="-5" b="1">
                <a:solidFill>
                  <a:srgbClr val="D60093"/>
                </a:solidFill>
                <a:latin typeface="Calibri"/>
                <a:cs typeface="Calibri"/>
              </a:rPr>
              <a:t>multiple node </a:t>
            </a:r>
            <a:r>
              <a:rPr dirty="0" spc="-15" b="1">
                <a:solidFill>
                  <a:srgbClr val="D60093"/>
                </a:solidFill>
                <a:latin typeface="Calibri"/>
                <a:cs typeface="Calibri"/>
              </a:rPr>
              <a:t>groups </a:t>
            </a:r>
            <a:r>
              <a:rPr dirty="0" spc="-5" b="1">
                <a:solidFill>
                  <a:srgbClr val="D60093"/>
                </a:solidFill>
                <a:latin typeface="Calibri"/>
                <a:cs typeface="Calibri"/>
              </a:rPr>
              <a:t>per  </a:t>
            </a:r>
            <a:r>
              <a:rPr dirty="0" spc="-10" b="1">
                <a:solidFill>
                  <a:srgbClr val="D60093"/>
                </a:solidFill>
                <a:latin typeface="Calibri"/>
                <a:cs typeface="Calibri"/>
              </a:rPr>
              <a:t>mini-batch.</a:t>
            </a:r>
          </a:p>
          <a:p>
            <a:pPr marL="332740" marR="5080" indent="-320040">
              <a:lnSpc>
                <a:spcPts val="3790"/>
              </a:lnSpc>
              <a:spcBef>
                <a:spcPts val="114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/>
              <a:t>Partition </a:t>
            </a:r>
            <a:r>
              <a:rPr dirty="0"/>
              <a:t>the </a:t>
            </a:r>
            <a:r>
              <a:rPr dirty="0" spc="-15"/>
              <a:t>graph into </a:t>
            </a:r>
            <a:r>
              <a:rPr dirty="0" spc="-15" b="1">
                <a:latin typeface="Calibri"/>
                <a:cs typeface="Calibri"/>
              </a:rPr>
              <a:t>relatively-small groups  </a:t>
            </a:r>
            <a:r>
              <a:rPr dirty="0" b="1">
                <a:latin typeface="Calibri"/>
                <a:cs typeface="Calibri"/>
              </a:rPr>
              <a:t>of</a:t>
            </a:r>
            <a:r>
              <a:rPr dirty="0" spc="-85" b="1">
                <a:latin typeface="Calibri"/>
                <a:cs typeface="Calibri"/>
              </a:rPr>
              <a:t> </a:t>
            </a:r>
            <a:r>
              <a:rPr dirty="0" spc="-5" b="1">
                <a:latin typeface="Calibri"/>
                <a:cs typeface="Calibri"/>
              </a:rPr>
              <a:t>nodes.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3/13/21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48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618108" y="3212664"/>
            <a:ext cx="8225155" cy="2994660"/>
          </a:xfrm>
          <a:prstGeom prst="rect">
            <a:avLst/>
          </a:prstGeom>
        </p:spPr>
        <p:txBody>
          <a:bodyPr wrap="square" lIns="0" tIns="10541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83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 b="1">
                <a:latin typeface="Calibri"/>
                <a:cs typeface="Calibri"/>
              </a:rPr>
              <a:t>For </a:t>
            </a:r>
            <a:r>
              <a:rPr dirty="0" sz="3200" spc="-5" b="1">
                <a:latin typeface="Calibri"/>
                <a:cs typeface="Calibri"/>
              </a:rPr>
              <a:t>each</a:t>
            </a:r>
            <a:r>
              <a:rPr dirty="0" sz="3200" spc="-75" b="1">
                <a:latin typeface="Calibri"/>
                <a:cs typeface="Calibri"/>
              </a:rPr>
              <a:t> </a:t>
            </a:r>
            <a:r>
              <a:rPr dirty="0" sz="3200" spc="-10" b="1">
                <a:latin typeface="Calibri"/>
                <a:cs typeface="Calibri"/>
              </a:rPr>
              <a:t>mini-batch: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3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 b="1">
                <a:latin typeface="Calibri"/>
                <a:cs typeface="Calibri"/>
              </a:rPr>
              <a:t>Sample and </a:t>
            </a:r>
            <a:r>
              <a:rPr dirty="0" sz="2800" spc="-15" b="1">
                <a:latin typeface="Calibri"/>
                <a:cs typeface="Calibri"/>
              </a:rPr>
              <a:t>aggregate </a:t>
            </a:r>
            <a:r>
              <a:rPr dirty="0" sz="2800" spc="-5" b="1">
                <a:solidFill>
                  <a:srgbClr val="D60093"/>
                </a:solidFill>
                <a:latin typeface="Calibri"/>
                <a:cs typeface="Calibri"/>
              </a:rPr>
              <a:t>multiple node</a:t>
            </a:r>
            <a:r>
              <a:rPr dirty="0" sz="2800" spc="25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2800" spc="-15" b="1">
                <a:solidFill>
                  <a:srgbClr val="D60093"/>
                </a:solidFill>
                <a:latin typeface="Calibri"/>
                <a:cs typeface="Calibri"/>
              </a:rPr>
              <a:t>groups.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Construct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the induced </a:t>
            </a: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subgraph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of the</a:t>
            </a:r>
            <a:r>
              <a:rPr dirty="0" sz="2800" spc="12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10" b="1" i="1">
                <a:solidFill>
                  <a:srgbClr val="C00000"/>
                </a:solidFill>
                <a:latin typeface="Calibri"/>
                <a:cs typeface="Calibri"/>
              </a:rPr>
              <a:t>aggregated</a:t>
            </a:r>
            <a:endParaRPr sz="2800">
              <a:latin typeface="Calibri"/>
              <a:cs typeface="Calibri"/>
            </a:endParaRPr>
          </a:p>
          <a:p>
            <a:pPr marL="625475">
              <a:lnSpc>
                <a:spcPct val="100000"/>
              </a:lnSpc>
              <a:spcBef>
                <a:spcPts val="45"/>
              </a:spcBef>
            </a:pP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node</a:t>
            </a:r>
            <a:r>
              <a:rPr dirty="0" sz="2800" spc="-6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group.</a:t>
            </a:r>
            <a:endParaRPr sz="2800">
              <a:latin typeface="Calibri"/>
              <a:cs typeface="Calibri"/>
            </a:endParaRPr>
          </a:p>
          <a:p>
            <a:pPr lvl="1" marL="625475" marR="5080" indent="-274320">
              <a:lnSpc>
                <a:spcPct val="101400"/>
              </a:lnSpc>
              <a:spcBef>
                <a:spcPts val="57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20">
                <a:latin typeface="Calibri"/>
                <a:cs typeface="Calibri"/>
              </a:rPr>
              <a:t>rest </a:t>
            </a:r>
            <a:r>
              <a:rPr dirty="0" sz="2800" spc="-5">
                <a:latin typeface="Calibri"/>
                <a:cs typeface="Calibri"/>
              </a:rPr>
              <a:t>is the same as </a:t>
            </a:r>
            <a:r>
              <a:rPr dirty="0" sz="2800" spc="-15">
                <a:latin typeface="Calibri"/>
                <a:cs typeface="Calibri"/>
              </a:rPr>
              <a:t>vanilla </a:t>
            </a:r>
            <a:r>
              <a:rPr dirty="0" sz="2800" spc="-20">
                <a:latin typeface="Calibri"/>
                <a:cs typeface="Calibri"/>
              </a:rPr>
              <a:t>Cluster-GCN </a:t>
            </a:r>
            <a:r>
              <a:rPr dirty="0" sz="2800" spc="-85">
                <a:latin typeface="Calibri"/>
                <a:cs typeface="Calibri"/>
              </a:rPr>
              <a:t>(compute  </a:t>
            </a:r>
            <a:r>
              <a:rPr dirty="0" sz="2800" spc="-5">
                <a:latin typeface="Calibri"/>
                <a:cs typeface="Calibri"/>
              </a:rPr>
              <a:t>node embeddings and the loss, </a:t>
            </a:r>
            <a:r>
              <a:rPr dirty="0" sz="2800" spc="-15">
                <a:latin typeface="Calibri"/>
                <a:cs typeface="Calibri"/>
              </a:rPr>
              <a:t>update</a:t>
            </a:r>
            <a:r>
              <a:rPr dirty="0" sz="2800" spc="5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parameters)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8189976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527304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25" b="1">
                <a:solidFill>
                  <a:srgbClr val="00B050"/>
                </a:solidFill>
                <a:latin typeface="Calibri"/>
                <a:cs typeface="Calibri"/>
              </a:rPr>
              <a:t>Why </a:t>
            </a:r>
            <a:r>
              <a:rPr dirty="0" spc="-5" b="1">
                <a:solidFill>
                  <a:srgbClr val="00B050"/>
                </a:solidFill>
                <a:latin typeface="Calibri"/>
                <a:cs typeface="Calibri"/>
              </a:rPr>
              <a:t>does the solution</a:t>
            </a:r>
            <a:r>
              <a:rPr dirty="0" spc="0" b="1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dirty="0" spc="-10" b="1">
                <a:solidFill>
                  <a:srgbClr val="00B050"/>
                </a:solidFill>
                <a:latin typeface="Calibri"/>
                <a:cs typeface="Calibri"/>
              </a:rPr>
              <a:t>work?</a:t>
            </a:r>
          </a:p>
        </p:txBody>
      </p:sp>
      <p:sp>
        <p:nvSpPr>
          <p:cNvPr id="4" name="object 4"/>
          <p:cNvSpPr/>
          <p:nvPr/>
        </p:nvSpPr>
        <p:spPr>
          <a:xfrm>
            <a:off x="357043" y="3117424"/>
            <a:ext cx="5255324" cy="24925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05907" y="1925827"/>
            <a:ext cx="7764780" cy="1071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latin typeface="Arial"/>
                <a:cs typeface="Arial"/>
              </a:rPr>
              <a:t>Sampling </a:t>
            </a:r>
            <a:r>
              <a:rPr dirty="0" sz="2400" spc="-5" b="1">
                <a:solidFill>
                  <a:srgbClr val="D60093"/>
                </a:solidFill>
                <a:latin typeface="Arial"/>
                <a:cs typeface="Arial"/>
              </a:rPr>
              <a:t>multiple node</a:t>
            </a:r>
            <a:r>
              <a:rPr dirty="0" sz="2400" spc="-90" b="1">
                <a:solidFill>
                  <a:srgbClr val="D60093"/>
                </a:solidFill>
                <a:latin typeface="Arial"/>
                <a:cs typeface="Arial"/>
              </a:rPr>
              <a:t> </a:t>
            </a:r>
            <a:r>
              <a:rPr dirty="0" sz="2400" spc="-5" b="1">
                <a:solidFill>
                  <a:srgbClr val="D60093"/>
                </a:solidFill>
                <a:latin typeface="Arial"/>
                <a:cs typeface="Arial"/>
              </a:rPr>
              <a:t>groups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ts val="2710"/>
              </a:lnSpc>
              <a:spcBef>
                <a:spcPts val="40"/>
              </a:spcBef>
            </a:pPr>
            <a:r>
              <a:rPr dirty="0" sz="2200" spc="925">
                <a:latin typeface="Arial"/>
                <a:cs typeface="Arial"/>
              </a:rPr>
              <a:t>à</a:t>
            </a:r>
            <a:r>
              <a:rPr dirty="0" sz="2200" spc="2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Makes the </a:t>
            </a:r>
            <a:r>
              <a:rPr dirty="0" sz="2200" spc="-5">
                <a:latin typeface="Arial"/>
                <a:cs typeface="Arial"/>
              </a:rPr>
              <a:t>sampled </a:t>
            </a:r>
            <a:r>
              <a:rPr dirty="0" sz="2200">
                <a:latin typeface="Arial"/>
                <a:cs typeface="Arial"/>
              </a:rPr>
              <a:t>nodes more </a:t>
            </a:r>
            <a:r>
              <a:rPr dirty="0" sz="2200" spc="-5">
                <a:latin typeface="Arial"/>
                <a:cs typeface="Arial"/>
              </a:rPr>
              <a:t>representative </a:t>
            </a:r>
            <a:r>
              <a:rPr dirty="0" sz="2200">
                <a:latin typeface="Arial"/>
                <a:cs typeface="Arial"/>
              </a:rPr>
              <a:t>of the </a:t>
            </a:r>
            <a:r>
              <a:rPr dirty="0" sz="2200" spc="-5">
                <a:latin typeface="Arial"/>
                <a:cs typeface="Arial"/>
              </a:rPr>
              <a:t>entire  </a:t>
            </a:r>
            <a:r>
              <a:rPr dirty="0" sz="2200">
                <a:latin typeface="Arial"/>
                <a:cs typeface="Arial"/>
              </a:rPr>
              <a:t>nodes. Leads to </a:t>
            </a:r>
            <a:r>
              <a:rPr dirty="0" sz="2200" spc="-5">
                <a:latin typeface="Arial"/>
                <a:cs typeface="Arial"/>
              </a:rPr>
              <a:t>less variance in gradient</a:t>
            </a:r>
            <a:r>
              <a:rPr dirty="0" sz="2200" spc="50">
                <a:latin typeface="Arial"/>
                <a:cs typeface="Arial"/>
              </a:rPr>
              <a:t> </a:t>
            </a:r>
            <a:r>
              <a:rPr dirty="0" sz="2200" spc="-5">
                <a:latin typeface="Arial"/>
                <a:cs typeface="Arial"/>
              </a:rPr>
              <a:t>estimation.</a:t>
            </a:r>
            <a:endParaRPr sz="22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3/13/21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48</a:t>
            </a:fld>
          </a:p>
        </p:txBody>
      </p:sp>
      <p:sp>
        <p:nvSpPr>
          <p:cNvPr id="6" name="object 6"/>
          <p:cNvSpPr txBox="1"/>
          <p:nvPr/>
        </p:nvSpPr>
        <p:spPr>
          <a:xfrm>
            <a:off x="3984067" y="4922011"/>
            <a:ext cx="4110990" cy="137160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96520">
              <a:lnSpc>
                <a:spcPct val="100800"/>
              </a:lnSpc>
              <a:spcBef>
                <a:spcPts val="75"/>
              </a:spcBef>
            </a:pPr>
            <a:r>
              <a:rPr dirty="0" sz="2400" spc="-5" b="1">
                <a:latin typeface="Arial"/>
                <a:cs typeface="Arial"/>
              </a:rPr>
              <a:t>The induced subgraph over  aggregated node</a:t>
            </a:r>
            <a:r>
              <a:rPr dirty="0" sz="2400" spc="-60" b="1">
                <a:latin typeface="Arial"/>
                <a:cs typeface="Arial"/>
              </a:rPr>
              <a:t> </a:t>
            </a:r>
            <a:r>
              <a:rPr dirty="0" sz="2400" spc="-5" b="1">
                <a:latin typeface="Arial"/>
                <a:cs typeface="Arial"/>
              </a:rPr>
              <a:t>groups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2000" spc="840">
                <a:solidFill>
                  <a:srgbClr val="0000FF"/>
                </a:solidFill>
                <a:latin typeface="Arial"/>
                <a:cs typeface="Arial"/>
              </a:rPr>
              <a:t>à</a:t>
            </a:r>
            <a:r>
              <a:rPr dirty="0" sz="2000" spc="-35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2000" spc="-5">
                <a:solidFill>
                  <a:srgbClr val="0000FF"/>
                </a:solidFill>
                <a:latin typeface="Arial"/>
                <a:cs typeface="Arial"/>
              </a:rPr>
              <a:t>Includes between-group </a:t>
            </a:r>
            <a:r>
              <a:rPr dirty="0" sz="2000">
                <a:solidFill>
                  <a:srgbClr val="0000FF"/>
                </a:solidFill>
                <a:latin typeface="Arial"/>
                <a:cs typeface="Arial"/>
              </a:rPr>
              <a:t>edges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000" spc="840">
                <a:solidFill>
                  <a:srgbClr val="D60093"/>
                </a:solidFill>
                <a:latin typeface="Arial"/>
                <a:cs typeface="Arial"/>
              </a:rPr>
              <a:t>à</a:t>
            </a:r>
            <a:r>
              <a:rPr dirty="0" sz="2000" spc="-25">
                <a:solidFill>
                  <a:srgbClr val="D60093"/>
                </a:solidFill>
                <a:latin typeface="Arial"/>
                <a:cs typeface="Arial"/>
              </a:rPr>
              <a:t> </a:t>
            </a:r>
            <a:r>
              <a:rPr dirty="0" sz="2000" spc="-5">
                <a:solidFill>
                  <a:srgbClr val="D60093"/>
                </a:solidFill>
                <a:latin typeface="Arial"/>
                <a:cs typeface="Arial"/>
              </a:rPr>
              <a:t>Message </a:t>
            </a:r>
            <a:r>
              <a:rPr dirty="0" sz="2000">
                <a:solidFill>
                  <a:srgbClr val="D60093"/>
                </a:solidFill>
                <a:latin typeface="Arial"/>
                <a:cs typeface="Arial"/>
              </a:rPr>
              <a:t>can </a:t>
            </a:r>
            <a:r>
              <a:rPr dirty="0" sz="2000" spc="-5">
                <a:solidFill>
                  <a:srgbClr val="D60093"/>
                </a:solidFill>
                <a:latin typeface="Arial"/>
                <a:cs typeface="Arial"/>
              </a:rPr>
              <a:t>flow across groups.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5547360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562850" cy="2470150"/>
          </a:xfrm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 marR="132715">
              <a:lnSpc>
                <a:spcPct val="100299"/>
              </a:lnSpc>
              <a:spcBef>
                <a:spcPts val="85"/>
              </a:spcBef>
            </a:pPr>
            <a:r>
              <a:rPr dirty="0" spc="-5" b="1">
                <a:solidFill>
                  <a:srgbClr val="008000"/>
                </a:solidFill>
                <a:latin typeface="Calibri"/>
                <a:cs typeface="Calibri"/>
              </a:rPr>
              <a:t>Similar </a:t>
            </a:r>
            <a:r>
              <a:rPr dirty="0" spc="-15" b="1">
                <a:solidFill>
                  <a:srgbClr val="008000"/>
                </a:solidFill>
                <a:latin typeface="Calibri"/>
                <a:cs typeface="Calibri"/>
              </a:rPr>
              <a:t>to </a:t>
            </a:r>
            <a:r>
              <a:rPr dirty="0" spc="-10" b="1">
                <a:solidFill>
                  <a:srgbClr val="008000"/>
                </a:solidFill>
                <a:latin typeface="Calibri"/>
                <a:cs typeface="Calibri"/>
              </a:rPr>
              <a:t>vanilla </a:t>
            </a:r>
            <a:r>
              <a:rPr dirty="0" spc="-15" b="1">
                <a:solidFill>
                  <a:srgbClr val="008000"/>
                </a:solidFill>
                <a:latin typeface="Calibri"/>
                <a:cs typeface="Calibri"/>
              </a:rPr>
              <a:t>Cluster-GCN, </a:t>
            </a:r>
            <a:r>
              <a:rPr dirty="0" spc="-10" b="1">
                <a:solidFill>
                  <a:srgbClr val="008000"/>
                </a:solidFill>
                <a:latin typeface="Calibri"/>
                <a:cs typeface="Calibri"/>
              </a:rPr>
              <a:t>advanced  </a:t>
            </a:r>
            <a:r>
              <a:rPr dirty="0" spc="-15" b="1">
                <a:solidFill>
                  <a:srgbClr val="008000"/>
                </a:solidFill>
                <a:latin typeface="Calibri"/>
                <a:cs typeface="Calibri"/>
              </a:rPr>
              <a:t>Cluster-GCN </a:t>
            </a:r>
            <a:r>
              <a:rPr dirty="0" spc="-5" b="1">
                <a:solidFill>
                  <a:srgbClr val="008000"/>
                </a:solidFill>
                <a:latin typeface="Calibri"/>
                <a:cs typeface="Calibri"/>
              </a:rPr>
              <a:t>also </a:t>
            </a:r>
            <a:r>
              <a:rPr dirty="0" spc="-15" b="1">
                <a:solidFill>
                  <a:srgbClr val="008000"/>
                </a:solidFill>
                <a:latin typeface="Calibri"/>
                <a:cs typeface="Calibri"/>
              </a:rPr>
              <a:t>follows 2-step </a:t>
            </a:r>
            <a:r>
              <a:rPr dirty="0" spc="-10" b="1">
                <a:solidFill>
                  <a:srgbClr val="008000"/>
                </a:solidFill>
                <a:latin typeface="Calibri"/>
                <a:cs typeface="Calibri"/>
              </a:rPr>
              <a:t>approaches.  </a:t>
            </a:r>
            <a:r>
              <a:rPr dirty="0" spc="-10" b="1">
                <a:solidFill>
                  <a:srgbClr val="D60093"/>
                </a:solidFill>
                <a:latin typeface="Calibri"/>
                <a:cs typeface="Calibri"/>
              </a:rPr>
              <a:t>Pre-processing</a:t>
            </a:r>
            <a:r>
              <a:rPr dirty="0" spc="-65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pc="-20" b="1">
                <a:solidFill>
                  <a:srgbClr val="D60093"/>
                </a:solidFill>
                <a:latin typeface="Calibri"/>
                <a:cs typeface="Calibri"/>
              </a:rPr>
              <a:t>step:</a:t>
            </a:r>
          </a:p>
          <a:p>
            <a:pPr marL="332740" marR="5080" indent="-320040">
              <a:lnSpc>
                <a:spcPts val="3910"/>
              </a:lnSpc>
              <a:spcBef>
                <a:spcPts val="2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/>
              <a:t>Given </a:t>
            </a:r>
            <a:r>
              <a:rPr dirty="0"/>
              <a:t>a </a:t>
            </a:r>
            <a:r>
              <a:rPr dirty="0" spc="-15"/>
              <a:t>large graph </a:t>
            </a:r>
            <a:r>
              <a:rPr dirty="0">
                <a:latin typeface="Cambria Math"/>
                <a:cs typeface="Cambria Math"/>
              </a:rPr>
              <a:t>𝐺 = </a:t>
            </a:r>
            <a:r>
              <a:rPr dirty="0" spc="25">
                <a:latin typeface="Cambria Math"/>
                <a:cs typeface="Cambria Math"/>
              </a:rPr>
              <a:t>(𝑉, </a:t>
            </a:r>
            <a:r>
              <a:rPr dirty="0" spc="35">
                <a:latin typeface="Cambria Math"/>
                <a:cs typeface="Cambria Math"/>
              </a:rPr>
              <a:t>𝐸)</a:t>
            </a:r>
            <a:r>
              <a:rPr dirty="0" spc="35"/>
              <a:t>, </a:t>
            </a:r>
            <a:r>
              <a:rPr dirty="0" spc="-5"/>
              <a:t>partition </a:t>
            </a:r>
            <a:r>
              <a:rPr dirty="0"/>
              <a:t>its  </a:t>
            </a:r>
            <a:r>
              <a:rPr dirty="0" spc="-5"/>
              <a:t>nodes </a:t>
            </a:r>
            <a:r>
              <a:rPr dirty="0">
                <a:latin typeface="Cambria Math"/>
                <a:cs typeface="Cambria Math"/>
              </a:rPr>
              <a:t>𝑉 </a:t>
            </a:r>
            <a:r>
              <a:rPr dirty="0" spc="-15"/>
              <a:t>into </a:t>
            </a:r>
            <a:r>
              <a:rPr dirty="0">
                <a:latin typeface="Cambria Math"/>
                <a:cs typeface="Cambria Math"/>
              </a:rPr>
              <a:t>𝐶 </a:t>
            </a:r>
            <a:r>
              <a:rPr dirty="0" spc="-15" b="1">
                <a:solidFill>
                  <a:srgbClr val="D60093"/>
                </a:solidFill>
                <a:latin typeface="Calibri"/>
                <a:cs typeface="Calibri"/>
              </a:rPr>
              <a:t>relatively-small</a:t>
            </a:r>
            <a:r>
              <a:rPr dirty="0" spc="275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pc="-10"/>
              <a:t>groups: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3/13/21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48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938149" y="3690765"/>
            <a:ext cx="7617459" cy="1983105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 sz="3200" spc="-220">
                <a:latin typeface="Cambria Math"/>
                <a:cs typeface="Cambria Math"/>
              </a:rPr>
              <a:t>𝑉</a:t>
            </a:r>
            <a:r>
              <a:rPr dirty="0" baseline="-15700" sz="3450" spc="-330">
                <a:latin typeface="Cambria Math"/>
                <a:cs typeface="Cambria Math"/>
              </a:rPr>
              <a:t>&amp;</a:t>
            </a:r>
            <a:r>
              <a:rPr dirty="0" sz="3200" spc="-220">
                <a:latin typeface="Cambria Math"/>
                <a:cs typeface="Cambria Math"/>
              </a:rPr>
              <a:t>, </a:t>
            </a:r>
            <a:r>
              <a:rPr dirty="0" sz="3200">
                <a:latin typeface="Cambria Math"/>
                <a:cs typeface="Cambria Math"/>
              </a:rPr>
              <a:t>… ,</a:t>
            </a:r>
            <a:r>
              <a:rPr dirty="0" sz="3200" spc="-355">
                <a:latin typeface="Cambria Math"/>
                <a:cs typeface="Cambria Math"/>
              </a:rPr>
              <a:t> </a:t>
            </a:r>
            <a:r>
              <a:rPr dirty="0" sz="3200" spc="-195">
                <a:latin typeface="Cambria Math"/>
                <a:cs typeface="Cambria Math"/>
              </a:rPr>
              <a:t>𝑉</a:t>
            </a:r>
            <a:r>
              <a:rPr dirty="0" baseline="-15700" sz="3450" spc="-292">
                <a:latin typeface="Cambria Math"/>
                <a:cs typeface="Cambria Math"/>
              </a:rPr>
              <a:t>+</a:t>
            </a:r>
            <a:r>
              <a:rPr dirty="0" sz="3200" spc="-195">
                <a:latin typeface="Calibri"/>
                <a:cs typeface="Calibri"/>
              </a:rPr>
              <a:t>.</a:t>
            </a:r>
            <a:endParaRPr sz="3200">
              <a:latin typeface="Calibri"/>
              <a:cs typeface="Calibri"/>
            </a:endParaRPr>
          </a:p>
          <a:p>
            <a:pPr algn="just" marL="305435" marR="5080" indent="-274320">
              <a:lnSpc>
                <a:spcPct val="101099"/>
              </a:lnSpc>
              <a:spcBef>
                <a:spcPts val="620"/>
              </a:spcBef>
              <a:buClr>
                <a:srgbClr val="60B5CC"/>
              </a:buClr>
              <a:buFont typeface="Malgun Gothic"/>
              <a:buChar char="▪"/>
              <a:tabLst>
                <a:tab pos="305435" algn="l"/>
              </a:tabLst>
            </a:pPr>
            <a:r>
              <a:rPr dirty="0" sz="2800" spc="130">
                <a:latin typeface="Cambria Math"/>
                <a:cs typeface="Cambria Math"/>
              </a:rPr>
              <a:t>𝑉</a:t>
            </a:r>
            <a:r>
              <a:rPr dirty="0" baseline="-16666" sz="3000" spc="195">
                <a:latin typeface="Cambria Math"/>
                <a:cs typeface="Cambria Math"/>
              </a:rPr>
              <a:t>.</a:t>
            </a:r>
            <a:r>
              <a:rPr dirty="0" sz="2800" spc="130">
                <a:latin typeface="Cambria Math"/>
                <a:cs typeface="Cambria Math"/>
              </a:rPr>
              <a:t>, </a:t>
            </a:r>
            <a:r>
              <a:rPr dirty="0" sz="2800">
                <a:latin typeface="Cambria Math"/>
                <a:cs typeface="Cambria Math"/>
              </a:rPr>
              <a:t>… , </a:t>
            </a:r>
            <a:r>
              <a:rPr dirty="0" sz="2800" spc="-135">
                <a:latin typeface="Cambria Math"/>
                <a:cs typeface="Cambria Math"/>
              </a:rPr>
              <a:t>𝑉</a:t>
            </a:r>
            <a:r>
              <a:rPr dirty="0" baseline="-16666" sz="3000" spc="-202">
                <a:latin typeface="Cambria Math"/>
                <a:cs typeface="Cambria Math"/>
              </a:rPr>
              <a:t>5 </a:t>
            </a:r>
            <a:r>
              <a:rPr dirty="0" sz="2800" spc="-5">
                <a:latin typeface="Calibri"/>
                <a:cs typeface="Calibri"/>
              </a:rPr>
              <a:t>needs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>
                <a:latin typeface="Calibri"/>
                <a:cs typeface="Calibri"/>
              </a:rPr>
              <a:t>be </a:t>
            </a:r>
            <a:r>
              <a:rPr dirty="0" sz="2800" spc="-5">
                <a:latin typeface="Calibri"/>
                <a:cs typeface="Calibri"/>
              </a:rPr>
              <a:t>small </a:t>
            </a:r>
            <a:r>
              <a:rPr dirty="0" sz="2800">
                <a:latin typeface="Calibri"/>
                <a:cs typeface="Calibri"/>
              </a:rPr>
              <a:t>so </a:t>
            </a:r>
            <a:r>
              <a:rPr dirty="0" sz="2800" spc="-10">
                <a:latin typeface="Calibri"/>
                <a:cs typeface="Calibri"/>
              </a:rPr>
              <a:t>that </a:t>
            </a:r>
            <a:r>
              <a:rPr dirty="0" sz="2800" spc="-15">
                <a:latin typeface="Calibri"/>
                <a:cs typeface="Calibri"/>
              </a:rPr>
              <a:t>even </a:t>
            </a:r>
            <a:r>
              <a:rPr dirty="0" sz="2800" spc="-5">
                <a:latin typeface="Calibri"/>
                <a:cs typeface="Calibri"/>
              </a:rPr>
              <a:t>if </a:t>
            </a:r>
            <a:r>
              <a:rPr dirty="0" sz="2800" spc="-45">
                <a:latin typeface="Calibri"/>
                <a:cs typeface="Calibri"/>
              </a:rPr>
              <a:t>multiple  </a:t>
            </a:r>
            <a:r>
              <a:rPr dirty="0" sz="2800" spc="-5">
                <a:latin typeface="Calibri"/>
                <a:cs typeface="Calibri"/>
              </a:rPr>
              <a:t>of them </a:t>
            </a:r>
            <a:r>
              <a:rPr dirty="0" sz="2800" spc="-15">
                <a:latin typeface="Calibri"/>
                <a:cs typeface="Calibri"/>
              </a:rPr>
              <a:t>are </a:t>
            </a:r>
            <a:r>
              <a:rPr dirty="0" sz="2800" spc="-20">
                <a:latin typeface="Calibri"/>
                <a:cs typeface="Calibri"/>
              </a:rPr>
              <a:t>aggregated, </a:t>
            </a: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10">
                <a:latin typeface="Calibri"/>
                <a:cs typeface="Calibri"/>
              </a:rPr>
              <a:t>resulting </a:t>
            </a:r>
            <a:r>
              <a:rPr dirty="0" sz="2800" spc="-15">
                <a:latin typeface="Calibri"/>
                <a:cs typeface="Calibri"/>
              </a:rPr>
              <a:t>group </a:t>
            </a:r>
            <a:r>
              <a:rPr dirty="0" sz="2800" spc="-10">
                <a:latin typeface="Calibri"/>
                <a:cs typeface="Calibri"/>
              </a:rPr>
              <a:t>would  </a:t>
            </a:r>
            <a:r>
              <a:rPr dirty="0" sz="2800" spc="-5">
                <a:latin typeface="Calibri"/>
                <a:cs typeface="Calibri"/>
              </a:rPr>
              <a:t>not </a:t>
            </a:r>
            <a:r>
              <a:rPr dirty="0" sz="2800">
                <a:latin typeface="Calibri"/>
                <a:cs typeface="Calibri"/>
              </a:rPr>
              <a:t>be </a:t>
            </a:r>
            <a:r>
              <a:rPr dirty="0" sz="2800" spc="-15">
                <a:latin typeface="Calibri"/>
                <a:cs typeface="Calibri"/>
              </a:rPr>
              <a:t>too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large.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5547360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488152" y="4555950"/>
            <a:ext cx="2495550" cy="491490"/>
          </a:xfrm>
          <a:custGeom>
            <a:avLst/>
            <a:gdLst/>
            <a:ahLst/>
            <a:cxnLst/>
            <a:rect l="l" t="t" r="r" b="b"/>
            <a:pathLst>
              <a:path w="2495550" h="491489">
                <a:moveTo>
                  <a:pt x="2366501" y="0"/>
                </a:moveTo>
                <a:lnTo>
                  <a:pt x="2361540" y="16271"/>
                </a:lnTo>
                <a:lnTo>
                  <a:pt x="2384094" y="27966"/>
                </a:lnTo>
                <a:lnTo>
                  <a:pt x="2403733" y="44994"/>
                </a:lnTo>
                <a:lnTo>
                  <a:pt x="2434268" y="95050"/>
                </a:lnTo>
                <a:lnTo>
                  <a:pt x="2452797" y="163065"/>
                </a:lnTo>
                <a:lnTo>
                  <a:pt x="2457429" y="202542"/>
                </a:lnTo>
                <a:lnTo>
                  <a:pt x="2458974" y="245664"/>
                </a:lnTo>
                <a:lnTo>
                  <a:pt x="2457429" y="288694"/>
                </a:lnTo>
                <a:lnTo>
                  <a:pt x="2452797" y="328090"/>
                </a:lnTo>
                <a:lnTo>
                  <a:pt x="2434268" y="395980"/>
                </a:lnTo>
                <a:lnTo>
                  <a:pt x="2403733" y="445962"/>
                </a:lnTo>
                <a:lnTo>
                  <a:pt x="2361540" y="474662"/>
                </a:lnTo>
                <a:lnTo>
                  <a:pt x="2366501" y="490933"/>
                </a:lnTo>
                <a:lnTo>
                  <a:pt x="2421319" y="461713"/>
                </a:lnTo>
                <a:lnTo>
                  <a:pt x="2461950" y="406598"/>
                </a:lnTo>
                <a:lnTo>
                  <a:pt x="2476622" y="371003"/>
                </a:lnTo>
                <a:lnTo>
                  <a:pt x="2487102" y="332283"/>
                </a:lnTo>
                <a:lnTo>
                  <a:pt x="2493390" y="290437"/>
                </a:lnTo>
                <a:lnTo>
                  <a:pt x="2495486" y="245466"/>
                </a:lnTo>
                <a:lnTo>
                  <a:pt x="2493390" y="200496"/>
                </a:lnTo>
                <a:lnTo>
                  <a:pt x="2487102" y="158650"/>
                </a:lnTo>
                <a:lnTo>
                  <a:pt x="2476622" y="119930"/>
                </a:lnTo>
                <a:lnTo>
                  <a:pt x="2461950" y="84335"/>
                </a:lnTo>
                <a:lnTo>
                  <a:pt x="2421319" y="29219"/>
                </a:lnTo>
                <a:lnTo>
                  <a:pt x="2395684" y="11372"/>
                </a:lnTo>
                <a:lnTo>
                  <a:pt x="2366501" y="0"/>
                </a:lnTo>
                <a:close/>
              </a:path>
              <a:path w="2495550" h="491489">
                <a:moveTo>
                  <a:pt x="128983" y="0"/>
                </a:moveTo>
                <a:lnTo>
                  <a:pt x="74165" y="29219"/>
                </a:lnTo>
                <a:lnTo>
                  <a:pt x="33535" y="84335"/>
                </a:lnTo>
                <a:lnTo>
                  <a:pt x="18863" y="119930"/>
                </a:lnTo>
                <a:lnTo>
                  <a:pt x="8383" y="158650"/>
                </a:lnTo>
                <a:lnTo>
                  <a:pt x="2095" y="200496"/>
                </a:lnTo>
                <a:lnTo>
                  <a:pt x="0" y="245466"/>
                </a:lnTo>
                <a:lnTo>
                  <a:pt x="2095" y="290437"/>
                </a:lnTo>
                <a:lnTo>
                  <a:pt x="8383" y="332283"/>
                </a:lnTo>
                <a:lnTo>
                  <a:pt x="18863" y="371003"/>
                </a:lnTo>
                <a:lnTo>
                  <a:pt x="33535" y="406598"/>
                </a:lnTo>
                <a:lnTo>
                  <a:pt x="74165" y="461713"/>
                </a:lnTo>
                <a:lnTo>
                  <a:pt x="128983" y="490933"/>
                </a:lnTo>
                <a:lnTo>
                  <a:pt x="133945" y="474662"/>
                </a:lnTo>
                <a:lnTo>
                  <a:pt x="111391" y="462972"/>
                </a:lnTo>
                <a:lnTo>
                  <a:pt x="91752" y="445962"/>
                </a:lnTo>
                <a:lnTo>
                  <a:pt x="61217" y="395980"/>
                </a:lnTo>
                <a:lnTo>
                  <a:pt x="42688" y="328090"/>
                </a:lnTo>
                <a:lnTo>
                  <a:pt x="38056" y="288694"/>
                </a:lnTo>
                <a:lnTo>
                  <a:pt x="36512" y="245664"/>
                </a:lnTo>
                <a:lnTo>
                  <a:pt x="38056" y="202542"/>
                </a:lnTo>
                <a:lnTo>
                  <a:pt x="42688" y="163065"/>
                </a:lnTo>
                <a:lnTo>
                  <a:pt x="61217" y="95050"/>
                </a:lnTo>
                <a:lnTo>
                  <a:pt x="91752" y="44994"/>
                </a:lnTo>
                <a:lnTo>
                  <a:pt x="133945" y="16271"/>
                </a:lnTo>
                <a:lnTo>
                  <a:pt x="128983" y="0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648297" y="5146572"/>
            <a:ext cx="894715" cy="376555"/>
          </a:xfrm>
          <a:custGeom>
            <a:avLst/>
            <a:gdLst/>
            <a:ahLst/>
            <a:cxnLst/>
            <a:rect l="l" t="t" r="r" b="b"/>
            <a:pathLst>
              <a:path w="894714" h="376554">
                <a:moveTo>
                  <a:pt x="774040" y="0"/>
                </a:moveTo>
                <a:lnTo>
                  <a:pt x="768682" y="15279"/>
                </a:lnTo>
                <a:lnTo>
                  <a:pt x="790473" y="24736"/>
                </a:lnTo>
                <a:lnTo>
                  <a:pt x="809213" y="37826"/>
                </a:lnTo>
                <a:lnTo>
                  <a:pt x="837540" y="74909"/>
                </a:lnTo>
                <a:lnTo>
                  <a:pt x="854209" y="124940"/>
                </a:lnTo>
                <a:lnTo>
                  <a:pt x="859765" y="186331"/>
                </a:lnTo>
                <a:lnTo>
                  <a:pt x="858370" y="219533"/>
                </a:lnTo>
                <a:lnTo>
                  <a:pt x="847208" y="276782"/>
                </a:lnTo>
                <a:lnTo>
                  <a:pt x="824809" y="321493"/>
                </a:lnTo>
                <a:lnTo>
                  <a:pt x="790728" y="351655"/>
                </a:lnTo>
                <a:lnTo>
                  <a:pt x="769278" y="361156"/>
                </a:lnTo>
                <a:lnTo>
                  <a:pt x="774040" y="376435"/>
                </a:lnTo>
                <a:lnTo>
                  <a:pt x="825386" y="352350"/>
                </a:lnTo>
                <a:lnTo>
                  <a:pt x="863138" y="310653"/>
                </a:lnTo>
                <a:lnTo>
                  <a:pt x="886356" y="254818"/>
                </a:lnTo>
                <a:lnTo>
                  <a:pt x="894095" y="188316"/>
                </a:lnTo>
                <a:lnTo>
                  <a:pt x="892154" y="153807"/>
                </a:lnTo>
                <a:lnTo>
                  <a:pt x="876626" y="92638"/>
                </a:lnTo>
                <a:lnTo>
                  <a:pt x="845831" y="42843"/>
                </a:lnTo>
                <a:lnTo>
                  <a:pt x="801332" y="9853"/>
                </a:lnTo>
                <a:lnTo>
                  <a:pt x="774040" y="0"/>
                </a:lnTo>
                <a:close/>
              </a:path>
              <a:path w="894714" h="376554">
                <a:moveTo>
                  <a:pt x="120054" y="0"/>
                </a:moveTo>
                <a:lnTo>
                  <a:pt x="68832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3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6" y="351655"/>
                </a:lnTo>
                <a:lnTo>
                  <a:pt x="84856" y="338435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6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65708" y="1348740"/>
            <a:ext cx="8065770" cy="4832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815"/>
              </a:lnSpc>
              <a:spcBef>
                <a:spcPts val="100"/>
              </a:spcBef>
            </a:pPr>
            <a:r>
              <a:rPr dirty="0" sz="3200" spc="-15" b="1">
                <a:solidFill>
                  <a:srgbClr val="D60093"/>
                </a:solidFill>
                <a:latin typeface="Calibri"/>
                <a:cs typeface="Calibri"/>
              </a:rPr>
              <a:t>Mini-batch</a:t>
            </a:r>
            <a:r>
              <a:rPr dirty="0" sz="3200" spc="-25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200" spc="-15" b="1">
                <a:solidFill>
                  <a:srgbClr val="D60093"/>
                </a:solidFill>
                <a:latin typeface="Calibri"/>
                <a:cs typeface="Calibri"/>
              </a:rPr>
              <a:t>training: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>
                <a:latin typeface="Calibri"/>
                <a:cs typeface="Calibri"/>
              </a:rPr>
              <a:t>For </a:t>
            </a:r>
            <a:r>
              <a:rPr dirty="0" sz="3200" spc="-5">
                <a:latin typeface="Calibri"/>
                <a:cs typeface="Calibri"/>
              </a:rPr>
              <a:t>each </a:t>
            </a:r>
            <a:r>
              <a:rPr dirty="0" sz="3200" spc="-10">
                <a:latin typeface="Calibri"/>
                <a:cs typeface="Calibri"/>
              </a:rPr>
              <a:t>mini-batch, </a:t>
            </a:r>
            <a:r>
              <a:rPr dirty="0" sz="3200" spc="-15" b="1">
                <a:solidFill>
                  <a:srgbClr val="C00000"/>
                </a:solidFill>
                <a:latin typeface="Calibri"/>
                <a:cs typeface="Calibri"/>
              </a:rPr>
              <a:t>randomly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sample </a:t>
            </a:r>
            <a:r>
              <a:rPr dirty="0" sz="3200" b="1">
                <a:solidFill>
                  <a:srgbClr val="C00000"/>
                </a:solidFill>
                <a:latin typeface="Calibri"/>
                <a:cs typeface="Calibri"/>
              </a:rPr>
              <a:t>a </a:t>
            </a: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set</a:t>
            </a:r>
            <a:r>
              <a:rPr dirty="0" sz="3200" spc="5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b="1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endParaRPr sz="3200">
              <a:latin typeface="Calibri"/>
              <a:cs typeface="Calibri"/>
            </a:endParaRPr>
          </a:p>
          <a:p>
            <a:pPr marL="332105">
              <a:lnSpc>
                <a:spcPct val="100000"/>
              </a:lnSpc>
              <a:spcBef>
                <a:spcPts val="70"/>
              </a:spcBef>
            </a:pPr>
            <a:r>
              <a:rPr dirty="0" sz="3200">
                <a:solidFill>
                  <a:srgbClr val="C00000"/>
                </a:solidFill>
                <a:latin typeface="Cambria Math"/>
                <a:cs typeface="Cambria Math"/>
              </a:rPr>
              <a:t>𝒒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node </a:t>
            </a:r>
            <a:r>
              <a:rPr dirty="0" sz="3200" spc="-15" b="1">
                <a:solidFill>
                  <a:srgbClr val="C00000"/>
                </a:solidFill>
                <a:latin typeface="Calibri"/>
                <a:cs typeface="Calibri"/>
              </a:rPr>
              <a:t>groups: </a:t>
            </a:r>
            <a:r>
              <a:rPr dirty="0" sz="3200" spc="-35">
                <a:latin typeface="Cambria Math"/>
                <a:cs typeface="Cambria Math"/>
              </a:rPr>
              <a:t>{𝑉</a:t>
            </a:r>
            <a:r>
              <a:rPr dirty="0" baseline="-15700" sz="3450" spc="-52">
                <a:latin typeface="Cambria Math"/>
                <a:cs typeface="Cambria Math"/>
              </a:rPr>
              <a:t>5</a:t>
            </a:r>
            <a:r>
              <a:rPr dirty="0" baseline="-33625" sz="2850" spc="-52">
                <a:latin typeface="Cambria Math"/>
                <a:cs typeface="Cambria Math"/>
              </a:rPr>
              <a:t>"</a:t>
            </a:r>
            <a:r>
              <a:rPr dirty="0" sz="3200" spc="-35">
                <a:latin typeface="Cambria Math"/>
                <a:cs typeface="Cambria Math"/>
              </a:rPr>
              <a:t>, </a:t>
            </a:r>
            <a:r>
              <a:rPr dirty="0" sz="3200">
                <a:latin typeface="Cambria Math"/>
                <a:cs typeface="Cambria Math"/>
              </a:rPr>
              <a:t>… , </a:t>
            </a:r>
            <a:r>
              <a:rPr dirty="0" sz="3200" spc="-130">
                <a:latin typeface="Cambria Math"/>
                <a:cs typeface="Cambria Math"/>
              </a:rPr>
              <a:t>𝑉</a:t>
            </a:r>
            <a:r>
              <a:rPr dirty="0" baseline="-15700" sz="3450" spc="-195">
                <a:latin typeface="Cambria Math"/>
                <a:cs typeface="Cambria Math"/>
              </a:rPr>
              <a:t>5</a:t>
            </a:r>
            <a:r>
              <a:rPr dirty="0" baseline="-33625" sz="2850" spc="-195">
                <a:latin typeface="Cambria Math"/>
                <a:cs typeface="Cambria Math"/>
              </a:rPr>
              <a:t>#</a:t>
            </a:r>
            <a:r>
              <a:rPr dirty="0" sz="3200" spc="-130">
                <a:latin typeface="Cambria Math"/>
                <a:cs typeface="Cambria Math"/>
              </a:rPr>
              <a:t>} </a:t>
            </a:r>
            <a:r>
              <a:rPr dirty="0" sz="3200">
                <a:latin typeface="Cambria Math"/>
                <a:cs typeface="Cambria Math"/>
              </a:rPr>
              <a:t>⊂ </a:t>
            </a:r>
            <a:r>
              <a:rPr dirty="0" sz="3200" spc="-170">
                <a:latin typeface="Cambria Math"/>
                <a:cs typeface="Cambria Math"/>
              </a:rPr>
              <a:t>{𝑉</a:t>
            </a:r>
            <a:r>
              <a:rPr dirty="0" baseline="-15700" sz="3450" spc="-254">
                <a:latin typeface="Cambria Math"/>
                <a:cs typeface="Cambria Math"/>
              </a:rPr>
              <a:t>&amp;</a:t>
            </a:r>
            <a:r>
              <a:rPr dirty="0" sz="3200" spc="-170">
                <a:latin typeface="Cambria Math"/>
                <a:cs typeface="Cambria Math"/>
              </a:rPr>
              <a:t>, </a:t>
            </a:r>
            <a:r>
              <a:rPr dirty="0" sz="3200">
                <a:latin typeface="Cambria Math"/>
                <a:cs typeface="Cambria Math"/>
              </a:rPr>
              <a:t>… ,</a:t>
            </a:r>
            <a:r>
              <a:rPr dirty="0" sz="3200" spc="-220">
                <a:latin typeface="Cambria Math"/>
                <a:cs typeface="Cambria Math"/>
              </a:rPr>
              <a:t> </a:t>
            </a:r>
            <a:r>
              <a:rPr dirty="0" sz="3200" spc="-150">
                <a:latin typeface="Cambria Math"/>
                <a:cs typeface="Cambria Math"/>
              </a:rPr>
              <a:t>𝑉</a:t>
            </a:r>
            <a:r>
              <a:rPr dirty="0" baseline="-15700" sz="3450" spc="-225">
                <a:latin typeface="Cambria Math"/>
                <a:cs typeface="Cambria Math"/>
              </a:rPr>
              <a:t>+</a:t>
            </a:r>
            <a:r>
              <a:rPr dirty="0" sz="3200" spc="-150">
                <a:latin typeface="Cambria Math"/>
                <a:cs typeface="Cambria Math"/>
              </a:rPr>
              <a:t>}</a:t>
            </a:r>
            <a:r>
              <a:rPr dirty="0" sz="3200" spc="-150">
                <a:latin typeface="Calibri"/>
                <a:cs typeface="Calibri"/>
              </a:rPr>
              <a:t>.</a:t>
            </a:r>
            <a:endParaRPr sz="3200">
              <a:latin typeface="Calibri"/>
              <a:cs typeface="Calibri"/>
            </a:endParaRPr>
          </a:p>
          <a:p>
            <a:pPr marL="332740" marR="143510" indent="-320040">
              <a:lnSpc>
                <a:spcPct val="101899"/>
              </a:lnSpc>
              <a:spcBef>
                <a:spcPts val="57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20" b="1">
                <a:solidFill>
                  <a:srgbClr val="008000"/>
                </a:solidFill>
                <a:latin typeface="Calibri"/>
                <a:cs typeface="Calibri"/>
              </a:rPr>
              <a:t>Aggregate </a:t>
            </a:r>
            <a:r>
              <a:rPr dirty="0" sz="3200" spc="-5" b="1">
                <a:solidFill>
                  <a:srgbClr val="008000"/>
                </a:solidFill>
                <a:latin typeface="Calibri"/>
                <a:cs typeface="Calibri"/>
              </a:rPr>
              <a:t>all nodes </a:t>
            </a:r>
            <a:r>
              <a:rPr dirty="0" sz="3200" spc="-10" b="1">
                <a:solidFill>
                  <a:srgbClr val="008000"/>
                </a:solidFill>
                <a:latin typeface="Calibri"/>
                <a:cs typeface="Calibri"/>
              </a:rPr>
              <a:t>across </a:t>
            </a:r>
            <a:r>
              <a:rPr dirty="0" sz="3200" spc="-5" b="1">
                <a:solidFill>
                  <a:srgbClr val="008000"/>
                </a:solidFill>
                <a:latin typeface="Calibri"/>
                <a:cs typeface="Calibri"/>
              </a:rPr>
              <a:t>the sampled node  </a:t>
            </a:r>
            <a:r>
              <a:rPr dirty="0" sz="3200" spc="-15" b="1">
                <a:solidFill>
                  <a:srgbClr val="008000"/>
                </a:solidFill>
                <a:latin typeface="Calibri"/>
                <a:cs typeface="Calibri"/>
              </a:rPr>
              <a:t>groups</a:t>
            </a:r>
            <a:r>
              <a:rPr dirty="0" sz="3200" spc="-15">
                <a:latin typeface="Calibri"/>
                <a:cs typeface="Calibri"/>
              </a:rPr>
              <a:t>: </a:t>
            </a:r>
            <a:r>
              <a:rPr dirty="0" sz="3200" spc="-25">
                <a:solidFill>
                  <a:srgbClr val="008000"/>
                </a:solidFill>
                <a:latin typeface="Cambria Math"/>
                <a:cs typeface="Cambria Math"/>
              </a:rPr>
              <a:t>𝑉</a:t>
            </a:r>
            <a:r>
              <a:rPr dirty="0" baseline="-15700" sz="3450" spc="-37">
                <a:solidFill>
                  <a:srgbClr val="008000"/>
                </a:solidFill>
                <a:latin typeface="Cambria Math"/>
                <a:cs typeface="Cambria Math"/>
              </a:rPr>
              <a:t>6778  </a:t>
            </a:r>
            <a:r>
              <a:rPr dirty="0" sz="3200">
                <a:latin typeface="Cambria Math"/>
                <a:cs typeface="Cambria Math"/>
              </a:rPr>
              <a:t>= </a:t>
            </a:r>
            <a:r>
              <a:rPr dirty="0" sz="3200" spc="-105">
                <a:latin typeface="Cambria Math"/>
                <a:cs typeface="Cambria Math"/>
              </a:rPr>
              <a:t>𝑉</a:t>
            </a:r>
            <a:r>
              <a:rPr dirty="0" baseline="-15700" sz="3450" spc="-157">
                <a:latin typeface="Cambria Math"/>
                <a:cs typeface="Cambria Math"/>
              </a:rPr>
              <a:t>5</a:t>
            </a:r>
            <a:r>
              <a:rPr dirty="0" baseline="-33625" sz="2850" spc="-157">
                <a:latin typeface="Cambria Math"/>
                <a:cs typeface="Cambria Math"/>
              </a:rPr>
              <a:t>"  </a:t>
            </a:r>
            <a:r>
              <a:rPr dirty="0" sz="3200">
                <a:latin typeface="Cambria Math"/>
                <a:cs typeface="Cambria Math"/>
              </a:rPr>
              <a:t>∪ ⋯ ∪</a:t>
            </a:r>
            <a:r>
              <a:rPr dirty="0" sz="3200" spc="-210">
                <a:latin typeface="Cambria Math"/>
                <a:cs typeface="Cambria Math"/>
              </a:rPr>
              <a:t> </a:t>
            </a:r>
            <a:r>
              <a:rPr dirty="0" sz="3200" spc="-215">
                <a:latin typeface="Cambria Math"/>
                <a:cs typeface="Cambria Math"/>
              </a:rPr>
              <a:t>𝑉</a:t>
            </a:r>
            <a:r>
              <a:rPr dirty="0" baseline="-15700" sz="3450" spc="-322">
                <a:latin typeface="Cambria Math"/>
                <a:cs typeface="Cambria Math"/>
              </a:rPr>
              <a:t>5</a:t>
            </a:r>
            <a:r>
              <a:rPr dirty="0" baseline="-33625" sz="2850" spc="-322">
                <a:latin typeface="Cambria Math"/>
                <a:cs typeface="Cambria Math"/>
              </a:rPr>
              <a:t>#</a:t>
            </a:r>
            <a:endParaRPr baseline="-33625" sz="2850">
              <a:latin typeface="Cambria Math"/>
              <a:cs typeface="Cambria Math"/>
            </a:endParaRPr>
          </a:p>
          <a:p>
            <a:pPr marL="332740" indent="-320040">
              <a:lnSpc>
                <a:spcPct val="100000"/>
              </a:lnSpc>
              <a:spcBef>
                <a:spcPts val="74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>
                <a:latin typeface="Calibri"/>
                <a:cs typeface="Calibri"/>
              </a:rPr>
              <a:t>Extract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induced</a:t>
            </a:r>
            <a:r>
              <a:rPr dirty="0" sz="3200" spc="-25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200" spc="-15" b="1">
                <a:solidFill>
                  <a:srgbClr val="D60093"/>
                </a:solidFill>
                <a:latin typeface="Calibri"/>
                <a:cs typeface="Calibri"/>
              </a:rPr>
              <a:t>subgraph</a:t>
            </a:r>
            <a:endParaRPr sz="3200">
              <a:latin typeface="Calibri"/>
              <a:cs typeface="Calibri"/>
            </a:endParaRPr>
          </a:p>
          <a:p>
            <a:pPr marL="424815">
              <a:lnSpc>
                <a:spcPts val="3685"/>
              </a:lnSpc>
              <a:spcBef>
                <a:spcPts val="935"/>
              </a:spcBef>
              <a:tabLst>
                <a:tab pos="2169160" algn="l"/>
                <a:tab pos="4553585" algn="l"/>
              </a:tabLst>
            </a:pPr>
            <a:r>
              <a:rPr dirty="0" baseline="11284" sz="4800" spc="0">
                <a:solidFill>
                  <a:srgbClr val="D60093"/>
                </a:solidFill>
                <a:latin typeface="Cambria Math"/>
                <a:cs typeface="Cambria Math"/>
              </a:rPr>
              <a:t>𝑮</a:t>
            </a:r>
            <a:r>
              <a:rPr dirty="0" sz="2300" spc="0">
                <a:solidFill>
                  <a:srgbClr val="D60093"/>
                </a:solidFill>
                <a:latin typeface="Cambria Math"/>
                <a:cs typeface="Cambria Math"/>
              </a:rPr>
              <a:t>𝒂𝒈𝒈𝒓</a:t>
            </a:r>
            <a:r>
              <a:rPr dirty="0" sz="2300" spc="240">
                <a:solidFill>
                  <a:srgbClr val="D60093"/>
                </a:solidFill>
                <a:latin typeface="Cambria Math"/>
                <a:cs typeface="Cambria Math"/>
              </a:rPr>
              <a:t> </a:t>
            </a:r>
            <a:r>
              <a:rPr dirty="0" baseline="11284" sz="4800">
                <a:solidFill>
                  <a:srgbClr val="D60093"/>
                </a:solidFill>
                <a:latin typeface="Cambria Math"/>
                <a:cs typeface="Cambria Math"/>
              </a:rPr>
              <a:t>=	</a:t>
            </a:r>
            <a:r>
              <a:rPr dirty="0" baseline="11284" sz="4800" spc="22">
                <a:solidFill>
                  <a:srgbClr val="D60093"/>
                </a:solidFill>
                <a:latin typeface="Cambria Math"/>
                <a:cs typeface="Cambria Math"/>
              </a:rPr>
              <a:t>𝑽</a:t>
            </a:r>
            <a:r>
              <a:rPr dirty="0" sz="2300" spc="15">
                <a:solidFill>
                  <a:srgbClr val="D60093"/>
                </a:solidFill>
                <a:latin typeface="Cambria Math"/>
                <a:cs typeface="Cambria Math"/>
              </a:rPr>
              <a:t>𝒂𝒈𝒈𝒓</a:t>
            </a:r>
            <a:r>
              <a:rPr dirty="0" baseline="11284" sz="4800" spc="22">
                <a:solidFill>
                  <a:srgbClr val="D60093"/>
                </a:solidFill>
                <a:latin typeface="Cambria Math"/>
                <a:cs typeface="Cambria Math"/>
              </a:rPr>
              <a:t>,</a:t>
            </a:r>
            <a:r>
              <a:rPr dirty="0" baseline="11284" sz="4800" spc="-232">
                <a:solidFill>
                  <a:srgbClr val="D60093"/>
                </a:solidFill>
                <a:latin typeface="Cambria Math"/>
                <a:cs typeface="Cambria Math"/>
              </a:rPr>
              <a:t> </a:t>
            </a:r>
            <a:r>
              <a:rPr dirty="0" baseline="11284" sz="4800" spc="0">
                <a:solidFill>
                  <a:srgbClr val="D60093"/>
                </a:solidFill>
                <a:latin typeface="Cambria Math"/>
                <a:cs typeface="Cambria Math"/>
              </a:rPr>
              <a:t>𝑬</a:t>
            </a:r>
            <a:r>
              <a:rPr dirty="0" sz="2300" spc="0">
                <a:solidFill>
                  <a:srgbClr val="D60093"/>
                </a:solidFill>
                <a:latin typeface="Cambria Math"/>
                <a:cs typeface="Cambria Math"/>
              </a:rPr>
              <a:t>𝒂𝒈𝒈𝒓	</a:t>
            </a:r>
            <a:r>
              <a:rPr dirty="0" baseline="11284" sz="4800">
                <a:latin typeface="Calibri"/>
                <a:cs typeface="Calibri"/>
              </a:rPr>
              <a:t>,</a:t>
            </a:r>
            <a:endParaRPr baseline="11284" sz="4800">
              <a:latin typeface="Calibri"/>
              <a:cs typeface="Calibri"/>
            </a:endParaRPr>
          </a:p>
          <a:p>
            <a:pPr marL="332105">
              <a:lnSpc>
                <a:spcPts val="3685"/>
              </a:lnSpc>
              <a:tabLst>
                <a:tab pos="3315335" algn="l"/>
                <a:tab pos="4201160" algn="l"/>
              </a:tabLst>
            </a:pPr>
            <a:r>
              <a:rPr dirty="0" sz="3200" spc="-15">
                <a:latin typeface="Calibri"/>
                <a:cs typeface="Calibri"/>
              </a:rPr>
              <a:t>where </a:t>
            </a:r>
            <a:r>
              <a:rPr dirty="0" sz="3200" spc="90">
                <a:latin typeface="Cambria Math"/>
                <a:cs typeface="Cambria Math"/>
              </a:rPr>
              <a:t>𝐸</a:t>
            </a:r>
            <a:r>
              <a:rPr dirty="0" baseline="-15700" sz="3450" spc="135">
                <a:latin typeface="Cambria Math"/>
                <a:cs typeface="Cambria Math"/>
              </a:rPr>
              <a:t>6778</a:t>
            </a:r>
            <a:r>
              <a:rPr dirty="0" baseline="-15700" sz="3450" spc="450"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=</a:t>
            </a:r>
            <a:r>
              <a:rPr dirty="0" sz="3200" spc="180"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{	</a:t>
            </a:r>
            <a:r>
              <a:rPr dirty="0" sz="3200" spc="30">
                <a:latin typeface="Cambria Math"/>
                <a:cs typeface="Cambria Math"/>
              </a:rPr>
              <a:t>𝑢,</a:t>
            </a:r>
            <a:r>
              <a:rPr dirty="0" sz="3200" spc="-165"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𝑣	| </a:t>
            </a:r>
            <a:r>
              <a:rPr dirty="0" sz="3200" spc="30">
                <a:latin typeface="Cambria Math"/>
                <a:cs typeface="Cambria Math"/>
              </a:rPr>
              <a:t>𝑢, </a:t>
            </a:r>
            <a:r>
              <a:rPr dirty="0" sz="3200">
                <a:latin typeface="Cambria Math"/>
                <a:cs typeface="Cambria Math"/>
              </a:rPr>
              <a:t>𝑣 ∈</a:t>
            </a:r>
            <a:r>
              <a:rPr dirty="0" sz="3200" spc="200">
                <a:latin typeface="Cambria Math"/>
                <a:cs typeface="Cambria Math"/>
              </a:rPr>
              <a:t> </a:t>
            </a:r>
            <a:r>
              <a:rPr dirty="0" sz="3200" spc="0">
                <a:latin typeface="Cambria Math"/>
                <a:cs typeface="Cambria Math"/>
              </a:rPr>
              <a:t>𝑉</a:t>
            </a:r>
            <a:r>
              <a:rPr dirty="0" baseline="-15700" sz="3450" spc="0">
                <a:latin typeface="Cambria Math"/>
                <a:cs typeface="Cambria Math"/>
              </a:rPr>
              <a:t>6778</a:t>
            </a:r>
            <a:r>
              <a:rPr dirty="0" sz="3200" spc="0">
                <a:latin typeface="Cambria Math"/>
                <a:cs typeface="Cambria Math"/>
              </a:rPr>
              <a:t>}</a:t>
            </a:r>
            <a:endParaRPr sz="3200">
              <a:latin typeface="Cambria Math"/>
              <a:cs typeface="Cambria Math"/>
            </a:endParaRPr>
          </a:p>
          <a:p>
            <a:pPr lvl="1" marL="625475" indent="-274320">
              <a:lnSpc>
                <a:spcPct val="100000"/>
              </a:lnSpc>
              <a:spcBef>
                <a:spcPts val="1175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3200" spc="0">
                <a:solidFill>
                  <a:srgbClr val="C00000"/>
                </a:solidFill>
                <a:latin typeface="Cambria Math"/>
                <a:cs typeface="Cambria Math"/>
              </a:rPr>
              <a:t>𝑬</a:t>
            </a:r>
            <a:r>
              <a:rPr dirty="0" baseline="-15700" sz="3450" spc="0">
                <a:solidFill>
                  <a:srgbClr val="C00000"/>
                </a:solidFill>
                <a:latin typeface="Cambria Math"/>
                <a:cs typeface="Cambria Math"/>
              </a:rPr>
              <a:t>𝒂𝒈𝒈𝒓 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also includes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between-group</a:t>
            </a:r>
            <a:r>
              <a:rPr dirty="0" sz="2800" spc="-31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edges!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3/13/21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48</a:t>
            </a:fld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1375"/>
            <a:ext cx="7827264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25" b="1">
                <a:solidFill>
                  <a:srgbClr val="D60093"/>
                </a:solidFill>
                <a:latin typeface="Calibri"/>
                <a:cs typeface="Calibri"/>
              </a:rPr>
              <a:t>Generate </a:t>
            </a:r>
            <a:r>
              <a:rPr dirty="0">
                <a:solidFill>
                  <a:srgbClr val="D60093"/>
                </a:solidFill>
                <a:latin typeface="Cambria Math"/>
                <a:cs typeface="Cambria Math"/>
              </a:rPr>
              <a:t>𝑴 </a:t>
            </a:r>
            <a:r>
              <a:rPr dirty="0" spc="-5">
                <a:solidFill>
                  <a:srgbClr val="D60093"/>
                </a:solidFill>
                <a:latin typeface="Cambria Math"/>
                <a:cs typeface="Cambria Math"/>
              </a:rPr>
              <a:t>(&lt;&lt; </a:t>
            </a:r>
            <a:r>
              <a:rPr dirty="0">
                <a:solidFill>
                  <a:srgbClr val="D60093"/>
                </a:solidFill>
                <a:latin typeface="Cambria Math"/>
                <a:cs typeface="Cambria Math"/>
              </a:rPr>
              <a:t>𝑵) </a:t>
            </a:r>
            <a:r>
              <a:rPr dirty="0" spc="-5" b="1">
                <a:solidFill>
                  <a:srgbClr val="D60093"/>
                </a:solidFill>
                <a:latin typeface="Calibri"/>
                <a:cs typeface="Calibri"/>
              </a:rPr>
              <a:t>node embeddings</a:t>
            </a:r>
            <a:r>
              <a:rPr dirty="0" spc="200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pc="-5" b="1">
                <a:solidFill>
                  <a:srgbClr val="D60093"/>
                </a:solidFill>
                <a:latin typeface="Calibri"/>
                <a:cs typeface="Calibri"/>
              </a:rPr>
              <a:t>using</a:t>
            </a:r>
          </a:p>
          <a:p>
            <a:pPr marL="332105">
              <a:lnSpc>
                <a:spcPts val="3815"/>
              </a:lnSpc>
            </a:pPr>
            <a:r>
              <a:rPr dirty="0" spc="-20">
                <a:solidFill>
                  <a:srgbClr val="D60093"/>
                </a:solidFill>
                <a:latin typeface="Cambria Math"/>
                <a:cs typeface="Cambria Math"/>
              </a:rPr>
              <a:t>𝑲</a:t>
            </a:r>
            <a:r>
              <a:rPr dirty="0" spc="-20" b="1">
                <a:solidFill>
                  <a:srgbClr val="D60093"/>
                </a:solidFill>
                <a:latin typeface="Calibri"/>
                <a:cs typeface="Calibri"/>
              </a:rPr>
              <a:t>-layer </a:t>
            </a:r>
            <a:r>
              <a:rPr dirty="0" spc="-5" b="1">
                <a:solidFill>
                  <a:srgbClr val="D60093"/>
                </a:solidFill>
                <a:latin typeface="Calibri"/>
                <a:cs typeface="Calibri"/>
              </a:rPr>
              <a:t>GNN </a:t>
            </a:r>
            <a:r>
              <a:rPr dirty="0" b="1">
                <a:solidFill>
                  <a:srgbClr val="D60093"/>
                </a:solidFill>
                <a:latin typeface="Calibri"/>
                <a:cs typeface="Calibri"/>
              </a:rPr>
              <a:t>(</a:t>
            </a:r>
            <a:r>
              <a:rPr dirty="0">
                <a:solidFill>
                  <a:srgbClr val="D60093"/>
                </a:solidFill>
                <a:latin typeface="Cambria Math"/>
                <a:cs typeface="Cambria Math"/>
              </a:rPr>
              <a:t>𝑵 </a:t>
            </a:r>
            <a:r>
              <a:rPr dirty="0" b="1">
                <a:solidFill>
                  <a:srgbClr val="D60093"/>
                </a:solidFill>
                <a:latin typeface="Calibri"/>
                <a:cs typeface="Calibri"/>
              </a:rPr>
              <a:t>: </a:t>
            </a:r>
            <a:r>
              <a:rPr dirty="0" spc="-5" b="1">
                <a:solidFill>
                  <a:srgbClr val="D60093"/>
                </a:solidFill>
                <a:latin typeface="Calibri"/>
                <a:cs typeface="Calibri"/>
              </a:rPr>
              <a:t>#all</a:t>
            </a:r>
            <a:r>
              <a:rPr dirty="0" spc="5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pc="-5" b="1">
                <a:solidFill>
                  <a:srgbClr val="D60093"/>
                </a:solidFill>
                <a:latin typeface="Calibri"/>
                <a:cs typeface="Calibri"/>
              </a:rPr>
              <a:t>nodes).</a:t>
            </a:r>
          </a:p>
        </p:txBody>
      </p:sp>
      <p:sp>
        <p:nvSpPr>
          <p:cNvPr id="4" name="object 4"/>
          <p:cNvSpPr/>
          <p:nvPr/>
        </p:nvSpPr>
        <p:spPr>
          <a:xfrm>
            <a:off x="1317531" y="4377778"/>
            <a:ext cx="6975970" cy="237951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18108" y="2150654"/>
            <a:ext cx="7916545" cy="3969385"/>
          </a:xfrm>
          <a:prstGeom prst="rect">
            <a:avLst/>
          </a:prstGeom>
        </p:spPr>
        <p:txBody>
          <a:bodyPr wrap="square" lIns="0" tIns="18923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49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Neighbor-sampling </a:t>
            </a:r>
            <a:r>
              <a:rPr dirty="0" sz="2800" spc="-5">
                <a:latin typeface="Calibri"/>
                <a:cs typeface="Calibri"/>
              </a:rPr>
              <a:t>(sampling </a:t>
            </a:r>
            <a:r>
              <a:rPr dirty="0" sz="2800">
                <a:latin typeface="Cambria Math"/>
                <a:cs typeface="Cambria Math"/>
              </a:rPr>
              <a:t>𝐻 </a:t>
            </a:r>
            <a:r>
              <a:rPr dirty="0" sz="2800" spc="-5">
                <a:latin typeface="Calibri"/>
                <a:cs typeface="Calibri"/>
              </a:rPr>
              <a:t>nodes per</a:t>
            </a:r>
            <a:r>
              <a:rPr dirty="0" sz="2800" spc="12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layer)</a:t>
            </a:r>
            <a:r>
              <a:rPr dirty="0" sz="3200" spc="-20">
                <a:latin typeface="Calibri"/>
                <a:cs typeface="Calibri"/>
              </a:rPr>
              <a:t>:</a:t>
            </a:r>
            <a:endParaRPr sz="3200">
              <a:latin typeface="Calibri"/>
              <a:cs typeface="Calibri"/>
            </a:endParaRPr>
          </a:p>
          <a:p>
            <a:pPr lvl="1" marL="635635" marR="2430780" indent="-274320">
              <a:lnSpc>
                <a:spcPct val="101400"/>
              </a:lnSpc>
              <a:spcBef>
                <a:spcPts val="1170"/>
              </a:spcBef>
              <a:buClr>
                <a:srgbClr val="60B5CC"/>
              </a:buClr>
              <a:buFont typeface="Malgun Gothic"/>
              <a:buChar char="▪"/>
              <a:tabLst>
                <a:tab pos="636270" algn="l"/>
              </a:tabLst>
            </a:pPr>
            <a:r>
              <a:rPr dirty="0" sz="2800" spc="-15">
                <a:latin typeface="Calibri"/>
                <a:cs typeface="Calibri"/>
              </a:rPr>
              <a:t>For </a:t>
            </a:r>
            <a:r>
              <a:rPr dirty="0" sz="2800" spc="-5">
                <a:latin typeface="Calibri"/>
                <a:cs typeface="Calibri"/>
              </a:rPr>
              <a:t>each node, the </a:t>
            </a:r>
            <a:r>
              <a:rPr dirty="0" sz="2800" spc="-20">
                <a:latin typeface="Calibri"/>
                <a:cs typeface="Calibri"/>
              </a:rPr>
              <a:t>size </a:t>
            </a:r>
            <a:r>
              <a:rPr dirty="0" sz="2800" spc="-5">
                <a:latin typeface="Calibri"/>
                <a:cs typeface="Calibri"/>
              </a:rPr>
              <a:t>of </a:t>
            </a:r>
            <a:r>
              <a:rPr dirty="0" sz="2800" spc="-70">
                <a:latin typeface="Cambria Math"/>
                <a:cs typeface="Cambria Math"/>
              </a:rPr>
              <a:t>𝐾</a:t>
            </a:r>
            <a:r>
              <a:rPr dirty="0" sz="2800" spc="-70">
                <a:latin typeface="Calibri"/>
                <a:cs typeface="Calibri"/>
              </a:rPr>
              <a:t>-layer  </a:t>
            </a:r>
            <a:r>
              <a:rPr dirty="0" sz="2800" spc="-10">
                <a:latin typeface="Calibri"/>
                <a:cs typeface="Calibri"/>
              </a:rPr>
              <a:t>computational </a:t>
            </a:r>
            <a:r>
              <a:rPr dirty="0" sz="2800" spc="-15">
                <a:latin typeface="Calibri"/>
                <a:cs typeface="Calibri"/>
              </a:rPr>
              <a:t>graph </a:t>
            </a:r>
            <a:r>
              <a:rPr dirty="0" sz="2800" spc="-5">
                <a:latin typeface="Calibri"/>
                <a:cs typeface="Calibri"/>
              </a:rPr>
              <a:t>is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 spc="180">
                <a:latin typeface="Cambria Math"/>
                <a:cs typeface="Cambria Math"/>
              </a:rPr>
              <a:t>𝐻</a:t>
            </a:r>
            <a:r>
              <a:rPr dirty="0" baseline="29166" sz="3000" spc="270">
                <a:latin typeface="Cambria Math"/>
                <a:cs typeface="Cambria Math"/>
              </a:rPr>
              <a:t>6</a:t>
            </a:r>
            <a:r>
              <a:rPr dirty="0" sz="2800" spc="18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lvl="1" marL="635635" indent="-274320">
              <a:lnSpc>
                <a:spcPct val="100000"/>
              </a:lnSpc>
              <a:spcBef>
                <a:spcPts val="745"/>
              </a:spcBef>
              <a:buClr>
                <a:srgbClr val="60B5CC"/>
              </a:buClr>
              <a:buFont typeface="Malgun Gothic"/>
              <a:buChar char="▪"/>
              <a:tabLst>
                <a:tab pos="636270" algn="l"/>
              </a:tabLst>
            </a:pPr>
            <a:r>
              <a:rPr dirty="0" sz="2800" spc="-15">
                <a:latin typeface="Calibri"/>
                <a:cs typeface="Calibri"/>
              </a:rPr>
              <a:t>For </a:t>
            </a:r>
            <a:r>
              <a:rPr dirty="0" sz="2800">
                <a:latin typeface="Cambria Math"/>
                <a:cs typeface="Cambria Math"/>
              </a:rPr>
              <a:t>𝑀 </a:t>
            </a:r>
            <a:r>
              <a:rPr dirty="0" sz="2800" spc="-5">
                <a:latin typeface="Calibri"/>
                <a:cs typeface="Calibri"/>
              </a:rPr>
              <a:t>nodes, the </a:t>
            </a:r>
            <a:r>
              <a:rPr dirty="0" sz="2800" spc="-15">
                <a:latin typeface="Calibri"/>
                <a:cs typeface="Calibri"/>
              </a:rPr>
              <a:t>cost </a:t>
            </a:r>
            <a:r>
              <a:rPr dirty="0" sz="2800" spc="-5">
                <a:latin typeface="Calibri"/>
                <a:cs typeface="Calibri"/>
              </a:rPr>
              <a:t>is </a:t>
            </a: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𝑴 ⋅</a:t>
            </a:r>
            <a:r>
              <a:rPr dirty="0" sz="2800" spc="8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𝑯</a:t>
            </a:r>
            <a:r>
              <a:rPr dirty="0" baseline="29166" sz="3000">
                <a:solidFill>
                  <a:srgbClr val="C00000"/>
                </a:solidFill>
                <a:latin typeface="Cambria Math"/>
                <a:cs typeface="Cambria Math"/>
              </a:rPr>
              <a:t>𝑲</a:t>
            </a:r>
            <a:endParaRPr baseline="29166" sz="3000">
              <a:latin typeface="Cambria Math"/>
              <a:cs typeface="Cambria Math"/>
            </a:endParaRPr>
          </a:p>
          <a:p>
            <a:pPr marL="4876800">
              <a:lnSpc>
                <a:spcPct val="100000"/>
              </a:lnSpc>
              <a:spcBef>
                <a:spcPts val="680"/>
              </a:spcBef>
            </a:pPr>
            <a:r>
              <a:rPr dirty="0" sz="2000">
                <a:latin typeface="Cambria Math"/>
                <a:cs typeface="Cambria Math"/>
              </a:rPr>
              <a:t>𝑴 </a:t>
            </a:r>
            <a:r>
              <a:rPr dirty="0" sz="2000" spc="-5" b="1">
                <a:latin typeface="Arial"/>
                <a:cs typeface="Arial"/>
              </a:rPr>
              <a:t>computational</a:t>
            </a:r>
            <a:r>
              <a:rPr dirty="0" sz="2000" spc="50" b="1">
                <a:latin typeface="Arial"/>
                <a:cs typeface="Arial"/>
              </a:rPr>
              <a:t> </a:t>
            </a:r>
            <a:r>
              <a:rPr dirty="0" sz="2000" spc="-5" b="1">
                <a:latin typeface="Arial"/>
                <a:cs typeface="Arial"/>
              </a:rPr>
              <a:t>graphs</a:t>
            </a:r>
            <a:endParaRPr sz="2000">
              <a:latin typeface="Arial"/>
              <a:cs typeface="Arial"/>
            </a:endParaRPr>
          </a:p>
          <a:p>
            <a:pPr marL="873125">
              <a:lnSpc>
                <a:spcPct val="100000"/>
              </a:lnSpc>
              <a:spcBef>
                <a:spcPts val="940"/>
              </a:spcBef>
              <a:tabLst>
                <a:tab pos="2780030" algn="l"/>
                <a:tab pos="6134100" algn="l"/>
              </a:tabLst>
            </a:pPr>
            <a:r>
              <a:rPr dirty="0" baseline="-20833" sz="3600" spc="735">
                <a:latin typeface="Cambria Math"/>
                <a:cs typeface="Cambria Math"/>
              </a:rPr>
              <a:t>𝐻</a:t>
            </a:r>
            <a:r>
              <a:rPr dirty="0" sz="1800" spc="490">
                <a:latin typeface="Cambria Math"/>
                <a:cs typeface="Cambria Math"/>
              </a:rPr>
              <a:t>,	</a:t>
            </a:r>
            <a:r>
              <a:rPr dirty="0" baseline="-19675" sz="3600" spc="735">
                <a:latin typeface="Cambria Math"/>
                <a:cs typeface="Cambria Math"/>
              </a:rPr>
              <a:t>𝐻</a:t>
            </a:r>
            <a:r>
              <a:rPr dirty="0" sz="1800" spc="490">
                <a:latin typeface="Cambria Math"/>
                <a:cs typeface="Cambria Math"/>
              </a:rPr>
              <a:t>,	</a:t>
            </a:r>
            <a:r>
              <a:rPr dirty="0" baseline="-19675" sz="3600" spc="735">
                <a:latin typeface="Cambria Math"/>
                <a:cs typeface="Cambria Math"/>
              </a:rPr>
              <a:t>𝐻</a:t>
            </a:r>
            <a:r>
              <a:rPr dirty="0" sz="1800" spc="490">
                <a:latin typeface="Cambria Math"/>
                <a:cs typeface="Cambria Math"/>
              </a:rPr>
              <a:t>,</a:t>
            </a:r>
            <a:endParaRPr sz="18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550">
              <a:latin typeface="Times New Roman"/>
              <a:cs typeface="Times New Roman"/>
            </a:endParaRPr>
          </a:p>
          <a:p>
            <a:pPr marL="4963160">
              <a:lnSpc>
                <a:spcPct val="100000"/>
              </a:lnSpc>
            </a:pPr>
            <a:r>
              <a:rPr dirty="0" sz="3200" b="1">
                <a:latin typeface="Arial"/>
                <a:cs typeface="Arial"/>
              </a:rPr>
              <a:t>…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3/13/21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48</a:t>
            </a:fld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1375"/>
            <a:ext cx="7827264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25" b="1">
                <a:solidFill>
                  <a:srgbClr val="D60093"/>
                </a:solidFill>
                <a:latin typeface="Calibri"/>
                <a:cs typeface="Calibri"/>
              </a:rPr>
              <a:t>Generate </a:t>
            </a:r>
            <a:r>
              <a:rPr dirty="0">
                <a:solidFill>
                  <a:srgbClr val="D60093"/>
                </a:solidFill>
                <a:latin typeface="Cambria Math"/>
                <a:cs typeface="Cambria Math"/>
              </a:rPr>
              <a:t>𝑴 </a:t>
            </a:r>
            <a:r>
              <a:rPr dirty="0" spc="-5">
                <a:solidFill>
                  <a:srgbClr val="D60093"/>
                </a:solidFill>
                <a:latin typeface="Cambria Math"/>
                <a:cs typeface="Cambria Math"/>
              </a:rPr>
              <a:t>(&lt;&lt; </a:t>
            </a:r>
            <a:r>
              <a:rPr dirty="0">
                <a:solidFill>
                  <a:srgbClr val="D60093"/>
                </a:solidFill>
                <a:latin typeface="Cambria Math"/>
                <a:cs typeface="Cambria Math"/>
              </a:rPr>
              <a:t>𝑵) </a:t>
            </a:r>
            <a:r>
              <a:rPr dirty="0" spc="-5" b="1">
                <a:solidFill>
                  <a:srgbClr val="D60093"/>
                </a:solidFill>
                <a:latin typeface="Calibri"/>
                <a:cs typeface="Calibri"/>
              </a:rPr>
              <a:t>node embeddings</a:t>
            </a:r>
            <a:r>
              <a:rPr dirty="0" spc="200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pc="-5" b="1">
                <a:solidFill>
                  <a:srgbClr val="D60093"/>
                </a:solidFill>
                <a:latin typeface="Calibri"/>
                <a:cs typeface="Calibri"/>
              </a:rPr>
              <a:t>using</a:t>
            </a:r>
          </a:p>
          <a:p>
            <a:pPr marL="332740">
              <a:lnSpc>
                <a:spcPts val="3815"/>
              </a:lnSpc>
            </a:pPr>
            <a:r>
              <a:rPr dirty="0" spc="-20">
                <a:solidFill>
                  <a:srgbClr val="D60093"/>
                </a:solidFill>
                <a:latin typeface="Cambria Math"/>
                <a:cs typeface="Cambria Math"/>
              </a:rPr>
              <a:t>𝑲</a:t>
            </a:r>
            <a:r>
              <a:rPr dirty="0" spc="-20" b="1">
                <a:solidFill>
                  <a:srgbClr val="D60093"/>
                </a:solidFill>
                <a:latin typeface="Calibri"/>
                <a:cs typeface="Calibri"/>
              </a:rPr>
              <a:t>-layer </a:t>
            </a:r>
            <a:r>
              <a:rPr dirty="0" spc="-5" b="1">
                <a:solidFill>
                  <a:srgbClr val="D60093"/>
                </a:solidFill>
                <a:latin typeface="Calibri"/>
                <a:cs typeface="Calibri"/>
              </a:rPr>
              <a:t>GNN </a:t>
            </a:r>
            <a:r>
              <a:rPr dirty="0" b="1">
                <a:solidFill>
                  <a:srgbClr val="D60093"/>
                </a:solidFill>
                <a:latin typeface="Calibri"/>
                <a:cs typeface="Calibri"/>
              </a:rPr>
              <a:t>(</a:t>
            </a:r>
            <a:r>
              <a:rPr dirty="0">
                <a:solidFill>
                  <a:srgbClr val="D60093"/>
                </a:solidFill>
                <a:latin typeface="Cambria Math"/>
                <a:cs typeface="Cambria Math"/>
              </a:rPr>
              <a:t>𝑵 </a:t>
            </a:r>
            <a:r>
              <a:rPr dirty="0" b="1">
                <a:solidFill>
                  <a:srgbClr val="D60093"/>
                </a:solidFill>
                <a:latin typeface="Calibri"/>
                <a:cs typeface="Calibri"/>
              </a:rPr>
              <a:t>: </a:t>
            </a:r>
            <a:r>
              <a:rPr dirty="0" spc="-5" b="1">
                <a:solidFill>
                  <a:srgbClr val="D60093"/>
                </a:solidFill>
                <a:latin typeface="Calibri"/>
                <a:cs typeface="Calibri"/>
              </a:rPr>
              <a:t>#all</a:t>
            </a:r>
            <a:r>
              <a:rPr dirty="0" spc="5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pc="-5" b="1">
                <a:solidFill>
                  <a:srgbClr val="D60093"/>
                </a:solidFill>
                <a:latin typeface="Calibri"/>
                <a:cs typeface="Calibri"/>
              </a:rPr>
              <a:t>nodes).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3/13/21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48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618108" y="2230773"/>
            <a:ext cx="7931150" cy="2072005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85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 b="1">
                <a:solidFill>
                  <a:srgbClr val="008000"/>
                </a:solidFill>
                <a:latin typeface="Calibri"/>
                <a:cs typeface="Calibri"/>
              </a:rPr>
              <a:t>Cluster-GCN:</a:t>
            </a:r>
            <a:endParaRPr sz="3200">
              <a:latin typeface="Calibri"/>
              <a:cs typeface="Calibri"/>
            </a:endParaRPr>
          </a:p>
          <a:p>
            <a:pPr lvl="1" marL="625475" marR="5080" indent="-274320">
              <a:lnSpc>
                <a:spcPct val="100699"/>
              </a:lnSpc>
              <a:spcBef>
                <a:spcPts val="63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20">
                <a:latin typeface="Calibri"/>
                <a:cs typeface="Calibri"/>
              </a:rPr>
              <a:t>Perform </a:t>
            </a:r>
            <a:r>
              <a:rPr dirty="0" sz="2800" spc="-10">
                <a:latin typeface="Calibri"/>
                <a:cs typeface="Calibri"/>
              </a:rPr>
              <a:t>message </a:t>
            </a:r>
            <a:r>
              <a:rPr dirty="0" sz="2800" spc="-5">
                <a:latin typeface="Calibri"/>
                <a:cs typeface="Calibri"/>
              </a:rPr>
              <a:t>passing </a:t>
            </a:r>
            <a:r>
              <a:rPr dirty="0" sz="2800" spc="-15">
                <a:latin typeface="Calibri"/>
                <a:cs typeface="Calibri"/>
              </a:rPr>
              <a:t>over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10">
                <a:latin typeface="Calibri"/>
                <a:cs typeface="Calibri"/>
              </a:rPr>
              <a:t>subgraph </a:t>
            </a:r>
            <a:r>
              <a:rPr dirty="0" sz="2800" spc="-95">
                <a:latin typeface="Calibri"/>
                <a:cs typeface="Calibri"/>
              </a:rPr>
              <a:t>induced  </a:t>
            </a:r>
            <a:r>
              <a:rPr dirty="0" sz="2800" spc="-5">
                <a:latin typeface="Calibri"/>
                <a:cs typeface="Calibri"/>
              </a:rPr>
              <a:t>by </a:t>
            </a:r>
            <a:r>
              <a:rPr dirty="0" sz="2800">
                <a:latin typeface="Calibri"/>
                <a:cs typeface="Calibri"/>
              </a:rPr>
              <a:t>the </a:t>
            </a:r>
            <a:r>
              <a:rPr dirty="0" sz="2800">
                <a:latin typeface="Cambria Math"/>
                <a:cs typeface="Cambria Math"/>
              </a:rPr>
              <a:t>𝑀 </a:t>
            </a:r>
            <a:r>
              <a:rPr dirty="0" sz="2800" spc="-5">
                <a:latin typeface="Calibri"/>
                <a:cs typeface="Calibri"/>
              </a:rPr>
              <a:t>nodes.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74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10">
                <a:latin typeface="Calibri"/>
                <a:cs typeface="Calibri"/>
              </a:rPr>
              <a:t>subgraph </a:t>
            </a:r>
            <a:r>
              <a:rPr dirty="0" sz="2800" spc="-15">
                <a:latin typeface="Calibri"/>
                <a:cs typeface="Calibri"/>
              </a:rPr>
              <a:t>contains </a:t>
            </a:r>
            <a:r>
              <a:rPr dirty="0" sz="2800">
                <a:latin typeface="Cambria Math"/>
                <a:cs typeface="Cambria Math"/>
              </a:rPr>
              <a:t>𝑀 ⋅ </a:t>
            </a:r>
            <a:r>
              <a:rPr dirty="0" sz="2800" spc="275">
                <a:latin typeface="Cambria Math"/>
                <a:cs typeface="Cambria Math"/>
              </a:rPr>
              <a:t>𝐷</a:t>
            </a:r>
            <a:r>
              <a:rPr dirty="0" baseline="-16666" sz="3000" spc="412">
                <a:latin typeface="Cambria Math"/>
                <a:cs typeface="Cambria Math"/>
              </a:rPr>
              <a:t>9): </a:t>
            </a:r>
            <a:r>
              <a:rPr dirty="0" sz="2800" spc="-10">
                <a:latin typeface="Calibri"/>
                <a:cs typeface="Calibri"/>
              </a:rPr>
              <a:t>edges,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where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30883" y="4380483"/>
            <a:ext cx="72644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1904" sz="4200" spc="-254">
                <a:latin typeface="Cambria Math"/>
                <a:cs typeface="Cambria Math"/>
              </a:rPr>
              <a:t>𝐷</a:t>
            </a:r>
            <a:r>
              <a:rPr dirty="0" sz="2000" spc="275">
                <a:latin typeface="Cambria Math"/>
                <a:cs typeface="Cambria Math"/>
              </a:rPr>
              <a:t>9</a:t>
            </a:r>
            <a:r>
              <a:rPr dirty="0" sz="2000" spc="195">
                <a:latin typeface="Cambria Math"/>
                <a:cs typeface="Cambria Math"/>
              </a:rPr>
              <a:t>)</a:t>
            </a:r>
            <a:r>
              <a:rPr dirty="0" sz="2000" spc="785">
                <a:latin typeface="Cambria Math"/>
                <a:cs typeface="Cambria Math"/>
              </a:rPr>
              <a:t>: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16645" y="4307332"/>
            <a:ext cx="4005579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5">
                <a:latin typeface="Calibri"/>
                <a:cs typeface="Calibri"/>
              </a:rPr>
              <a:t>is the </a:t>
            </a:r>
            <a:r>
              <a:rPr dirty="0" sz="2800" spc="-30">
                <a:latin typeface="Calibri"/>
                <a:cs typeface="Calibri"/>
              </a:rPr>
              <a:t>average </a:t>
            </a:r>
            <a:r>
              <a:rPr dirty="0" sz="2800" spc="-5">
                <a:latin typeface="Calibri"/>
                <a:cs typeface="Calibri"/>
              </a:rPr>
              <a:t>node </a:t>
            </a:r>
            <a:r>
              <a:rPr dirty="0" sz="2800" spc="-15">
                <a:latin typeface="Calibri"/>
                <a:cs typeface="Calibri"/>
              </a:rPr>
              <a:t>degree.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56563" y="4852923"/>
            <a:ext cx="7371080" cy="88519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287020" marR="5080" indent="-274320">
              <a:lnSpc>
                <a:spcPct val="101400"/>
              </a:lnSpc>
              <a:spcBef>
                <a:spcPts val="5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  <a:tab pos="1541145" algn="l"/>
              </a:tabLst>
            </a:pPr>
            <a:r>
              <a:rPr dirty="0" sz="2800" spc="-10">
                <a:latin typeface="Cambria Math"/>
                <a:cs typeface="Cambria Math"/>
              </a:rPr>
              <a:t>𝐾</a:t>
            </a:r>
            <a:r>
              <a:rPr dirty="0" sz="2800" spc="-10">
                <a:latin typeface="Calibri"/>
                <a:cs typeface="Calibri"/>
              </a:rPr>
              <a:t>-layer message </a:t>
            </a:r>
            <a:r>
              <a:rPr dirty="0" sz="2800" spc="-5">
                <a:latin typeface="Calibri"/>
                <a:cs typeface="Calibri"/>
              </a:rPr>
              <a:t>passing </a:t>
            </a:r>
            <a:r>
              <a:rPr dirty="0" sz="2800" spc="-15">
                <a:latin typeface="Calibri"/>
                <a:cs typeface="Calibri"/>
              </a:rPr>
              <a:t>over </a:t>
            </a: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10">
                <a:latin typeface="Calibri"/>
                <a:cs typeface="Calibri"/>
              </a:rPr>
              <a:t>subgraph </a:t>
            </a:r>
            <a:r>
              <a:rPr dirty="0" sz="2800" spc="-125">
                <a:latin typeface="Calibri"/>
                <a:cs typeface="Calibri"/>
              </a:rPr>
              <a:t>costs  </a:t>
            </a:r>
            <a:r>
              <a:rPr dirty="0" sz="2800" spc="-15">
                <a:latin typeface="Calibri"/>
                <a:cs typeface="Calibri"/>
              </a:rPr>
              <a:t>at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most	</a:t>
            </a:r>
            <a:r>
              <a:rPr dirty="0" sz="2800">
                <a:solidFill>
                  <a:srgbClr val="008000"/>
                </a:solidFill>
                <a:latin typeface="Cambria Math"/>
                <a:cs typeface="Cambria Math"/>
              </a:rPr>
              <a:t>𝑲 ⋅ 𝑴 ⋅</a:t>
            </a:r>
            <a:r>
              <a:rPr dirty="0" sz="2800" spc="-70">
                <a:solidFill>
                  <a:srgbClr val="008000"/>
                </a:solidFill>
                <a:latin typeface="Cambria Math"/>
                <a:cs typeface="Cambria Math"/>
              </a:rPr>
              <a:t> </a:t>
            </a:r>
            <a:r>
              <a:rPr dirty="0" sz="2800" spc="15">
                <a:solidFill>
                  <a:srgbClr val="008000"/>
                </a:solidFill>
                <a:latin typeface="Cambria Math"/>
                <a:cs typeface="Cambria Math"/>
              </a:rPr>
              <a:t>𝑫</a:t>
            </a:r>
            <a:r>
              <a:rPr dirty="0" baseline="-16666" sz="3000" spc="22">
                <a:solidFill>
                  <a:srgbClr val="008000"/>
                </a:solidFill>
                <a:latin typeface="Cambria Math"/>
                <a:cs typeface="Cambria Math"/>
              </a:rPr>
              <a:t>𝒂𝒗𝒈</a:t>
            </a:r>
            <a:r>
              <a:rPr dirty="0" sz="2800" spc="15" b="1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1375"/>
            <a:ext cx="7827264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902575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/>
              <a:t>In </a:t>
            </a:r>
            <a:r>
              <a:rPr dirty="0" spc="-30"/>
              <a:t>summary, </a:t>
            </a:r>
            <a:r>
              <a:rPr dirty="0"/>
              <a:t>the </a:t>
            </a:r>
            <a:r>
              <a:rPr dirty="0" spc="-20"/>
              <a:t>cost </a:t>
            </a:r>
            <a:r>
              <a:rPr dirty="0" spc="-15"/>
              <a:t>to </a:t>
            </a:r>
            <a:r>
              <a:rPr dirty="0" spc="-25"/>
              <a:t>generate </a:t>
            </a:r>
            <a:r>
              <a:rPr dirty="0" spc="-5"/>
              <a:t>embeddings  </a:t>
            </a:r>
            <a:r>
              <a:rPr dirty="0" spc="-25"/>
              <a:t>for </a:t>
            </a:r>
            <a:r>
              <a:rPr dirty="0">
                <a:latin typeface="Cambria Math"/>
                <a:cs typeface="Cambria Math"/>
              </a:rPr>
              <a:t>𝑀 </a:t>
            </a:r>
            <a:r>
              <a:rPr dirty="0" spc="-5"/>
              <a:t>nodes using </a:t>
            </a:r>
            <a:r>
              <a:rPr dirty="0" spc="-5">
                <a:latin typeface="Cambria Math"/>
                <a:cs typeface="Cambria Math"/>
              </a:rPr>
              <a:t>𝐾</a:t>
            </a:r>
            <a:r>
              <a:rPr dirty="0" spc="-5"/>
              <a:t>-layer GNN</a:t>
            </a:r>
            <a:r>
              <a:rPr dirty="0" spc="130"/>
              <a:t> </a:t>
            </a:r>
            <a:r>
              <a:rPr dirty="0" spc="-5"/>
              <a:t>is: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3/13/21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48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618108" y="2414523"/>
            <a:ext cx="7959090" cy="3888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5475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Neighbor-sampling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(sample </a:t>
            </a: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𝑯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nodes per</a:t>
            </a:r>
            <a:r>
              <a:rPr dirty="0" sz="2800" spc="10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layer):</a:t>
            </a:r>
            <a:endParaRPr sz="2800">
              <a:latin typeface="Calibri"/>
              <a:cs typeface="Calibri"/>
            </a:endParaRPr>
          </a:p>
          <a:p>
            <a:pPr marL="625475">
              <a:lnSpc>
                <a:spcPct val="100000"/>
              </a:lnSpc>
              <a:spcBef>
                <a:spcPts val="45"/>
              </a:spcBef>
            </a:pP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𝑴 ⋅</a:t>
            </a:r>
            <a:r>
              <a:rPr dirty="0" sz="2800" spc="-9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𝑯</a:t>
            </a:r>
            <a:r>
              <a:rPr dirty="0" baseline="29166" sz="3000">
                <a:solidFill>
                  <a:srgbClr val="C00000"/>
                </a:solidFill>
                <a:latin typeface="Cambria Math"/>
                <a:cs typeface="Cambria Math"/>
              </a:rPr>
              <a:t>𝑲</a:t>
            </a:r>
            <a:endParaRPr baseline="29166" sz="3000">
              <a:latin typeface="Cambria Math"/>
              <a:cs typeface="Cambria Math"/>
            </a:endParaRPr>
          </a:p>
          <a:p>
            <a:pPr marL="625475" indent="-274320">
              <a:lnSpc>
                <a:spcPct val="100000"/>
              </a:lnSpc>
              <a:spcBef>
                <a:spcPts val="74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5" b="1">
                <a:solidFill>
                  <a:srgbClr val="008000"/>
                </a:solidFill>
                <a:latin typeface="Calibri"/>
                <a:cs typeface="Calibri"/>
              </a:rPr>
              <a:t>Cluster-GCN: </a:t>
            </a:r>
            <a:r>
              <a:rPr dirty="0" sz="2800">
                <a:solidFill>
                  <a:srgbClr val="008000"/>
                </a:solidFill>
                <a:latin typeface="Cambria Math"/>
                <a:cs typeface="Cambria Math"/>
              </a:rPr>
              <a:t>𝑲 </a:t>
            </a: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⋅ </a:t>
            </a:r>
            <a:r>
              <a:rPr dirty="0" sz="2800">
                <a:solidFill>
                  <a:srgbClr val="008000"/>
                </a:solidFill>
                <a:latin typeface="Cambria Math"/>
                <a:cs typeface="Cambria Math"/>
              </a:rPr>
              <a:t>𝑴 </a:t>
            </a: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⋅</a:t>
            </a:r>
            <a:r>
              <a:rPr dirty="0" sz="2800" spc="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solidFill>
                  <a:srgbClr val="008000"/>
                </a:solidFill>
                <a:latin typeface="Cambria Math"/>
                <a:cs typeface="Cambria Math"/>
              </a:rPr>
              <a:t>𝑫</a:t>
            </a:r>
            <a:r>
              <a:rPr dirty="0" baseline="-16666" sz="3000">
                <a:solidFill>
                  <a:srgbClr val="008000"/>
                </a:solidFill>
                <a:latin typeface="Cambria Math"/>
                <a:cs typeface="Cambria Math"/>
              </a:rPr>
              <a:t>𝒂𝒗𝒈</a:t>
            </a:r>
            <a:endParaRPr baseline="-16666" sz="3000">
              <a:latin typeface="Cambria Math"/>
              <a:cs typeface="Cambria Math"/>
            </a:endParaRPr>
          </a:p>
          <a:p>
            <a:pPr marL="332740" marR="5080" indent="-320040">
              <a:lnSpc>
                <a:spcPct val="1063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latin typeface="Calibri"/>
                <a:cs typeface="Calibri"/>
              </a:rPr>
              <a:t>Assume </a:t>
            </a:r>
            <a:r>
              <a:rPr dirty="0" sz="3200">
                <a:latin typeface="Cambria Math"/>
                <a:cs typeface="Cambria Math"/>
              </a:rPr>
              <a:t>𝑯 = </a:t>
            </a:r>
            <a:r>
              <a:rPr dirty="0" sz="3200" spc="10">
                <a:latin typeface="Cambria Math"/>
                <a:cs typeface="Cambria Math"/>
              </a:rPr>
              <a:t>𝑫</a:t>
            </a:r>
            <a:r>
              <a:rPr dirty="0" baseline="-15700" sz="3450" spc="15">
                <a:latin typeface="Cambria Math"/>
                <a:cs typeface="Cambria Math"/>
              </a:rPr>
              <a:t>𝒂𝒗𝒈</a:t>
            </a:r>
            <a:r>
              <a:rPr dirty="0" sz="3200" spc="10">
                <a:latin typeface="Cambria Math"/>
                <a:cs typeface="Cambria Math"/>
              </a:rPr>
              <a:t>/𝟐</a:t>
            </a:r>
            <a:r>
              <a:rPr dirty="0" sz="3200" spc="10" b="1">
                <a:latin typeface="Calibri"/>
                <a:cs typeface="Calibri"/>
              </a:rPr>
              <a:t>. </a:t>
            </a:r>
            <a:r>
              <a:rPr dirty="0" sz="3200" spc="-5" b="1">
                <a:latin typeface="Calibri"/>
                <a:cs typeface="Calibri"/>
              </a:rPr>
              <a:t>In other </a:t>
            </a:r>
            <a:r>
              <a:rPr dirty="0" sz="3200" spc="-15" b="1">
                <a:latin typeface="Calibri"/>
                <a:cs typeface="Calibri"/>
              </a:rPr>
              <a:t>words, </a:t>
            </a:r>
            <a:r>
              <a:rPr dirty="0" sz="3200" b="1">
                <a:latin typeface="Calibri"/>
                <a:cs typeface="Calibri"/>
              </a:rPr>
              <a:t>50% of  </a:t>
            </a:r>
            <a:r>
              <a:rPr dirty="0" sz="3200" spc="-10" b="1">
                <a:latin typeface="Calibri"/>
                <a:cs typeface="Calibri"/>
              </a:rPr>
              <a:t>neighbors </a:t>
            </a:r>
            <a:r>
              <a:rPr dirty="0" sz="3200" spc="-15" b="1">
                <a:latin typeface="Calibri"/>
                <a:cs typeface="Calibri"/>
              </a:rPr>
              <a:t>are</a:t>
            </a:r>
            <a:r>
              <a:rPr dirty="0" sz="3200" spc="-40" b="1">
                <a:latin typeface="Calibri"/>
                <a:cs typeface="Calibri"/>
              </a:rPr>
              <a:t> </a:t>
            </a:r>
            <a:r>
              <a:rPr dirty="0" sz="3200" spc="-5" b="1">
                <a:latin typeface="Calibri"/>
                <a:cs typeface="Calibri"/>
              </a:rPr>
              <a:t>sampled.</a:t>
            </a:r>
            <a:endParaRPr sz="3200">
              <a:latin typeface="Calibri"/>
              <a:cs typeface="Calibri"/>
            </a:endParaRPr>
          </a:p>
          <a:p>
            <a:pPr lvl="1" marL="625475" marR="386715" indent="-274320">
              <a:lnSpc>
                <a:spcPct val="101400"/>
              </a:lnSpc>
              <a:spcBef>
                <a:spcPts val="71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 b="1">
                <a:latin typeface="Calibri"/>
                <a:cs typeface="Calibri"/>
              </a:rPr>
              <a:t>Then, </a:t>
            </a:r>
            <a:r>
              <a:rPr dirty="0" sz="2800" spc="-15" b="1">
                <a:solidFill>
                  <a:srgbClr val="008000"/>
                </a:solidFill>
                <a:latin typeface="Calibri"/>
                <a:cs typeface="Calibri"/>
              </a:rPr>
              <a:t>Cluster-GCN (cost: </a:t>
            </a:r>
            <a:r>
              <a:rPr dirty="0" sz="2800">
                <a:solidFill>
                  <a:srgbClr val="008000"/>
                </a:solidFill>
                <a:latin typeface="Cambria Math"/>
                <a:cs typeface="Cambria Math"/>
              </a:rPr>
              <a:t>𝟐𝑴𝑯𝑲</a:t>
            </a:r>
            <a:r>
              <a:rPr dirty="0" sz="2800" b="1">
                <a:solidFill>
                  <a:srgbClr val="D60093"/>
                </a:solidFill>
                <a:latin typeface="Calibri"/>
                <a:cs typeface="Calibri"/>
              </a:rPr>
              <a:t>) </a:t>
            </a:r>
            <a:r>
              <a:rPr dirty="0" sz="2800" spc="-5" b="1">
                <a:solidFill>
                  <a:srgbClr val="D60093"/>
                </a:solidFill>
                <a:latin typeface="Calibri"/>
                <a:cs typeface="Calibri"/>
              </a:rPr>
              <a:t>is much </a:t>
            </a:r>
            <a:r>
              <a:rPr dirty="0" sz="2800" spc="-170" b="1">
                <a:solidFill>
                  <a:srgbClr val="D60093"/>
                </a:solidFill>
                <a:latin typeface="Calibri"/>
                <a:cs typeface="Calibri"/>
              </a:rPr>
              <a:t>more  </a:t>
            </a:r>
            <a:r>
              <a:rPr dirty="0" sz="2800" spc="-10" b="1">
                <a:solidFill>
                  <a:srgbClr val="D60093"/>
                </a:solidFill>
                <a:latin typeface="Calibri"/>
                <a:cs typeface="Calibri"/>
              </a:rPr>
              <a:t>efficient </a:t>
            </a:r>
            <a:r>
              <a:rPr dirty="0" sz="2800" spc="-5" b="1">
                <a:solidFill>
                  <a:srgbClr val="D60093"/>
                </a:solidFill>
                <a:latin typeface="Calibri"/>
                <a:cs typeface="Calibri"/>
              </a:rPr>
              <a:t>than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neighbor sampling </a:t>
            </a: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(cost:</a:t>
            </a:r>
            <a:r>
              <a:rPr dirty="0" sz="2800" spc="5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15">
                <a:solidFill>
                  <a:srgbClr val="C00000"/>
                </a:solidFill>
                <a:latin typeface="Cambria Math"/>
                <a:cs typeface="Cambria Math"/>
              </a:rPr>
              <a:t>𝑴𝑯</a:t>
            </a:r>
            <a:r>
              <a:rPr dirty="0" baseline="29166" sz="3000" spc="22">
                <a:solidFill>
                  <a:srgbClr val="C00000"/>
                </a:solidFill>
                <a:latin typeface="Cambria Math"/>
                <a:cs typeface="Cambria Math"/>
              </a:rPr>
              <a:t>𝑲</a:t>
            </a:r>
            <a:r>
              <a:rPr dirty="0" sz="2800" spc="15" b="1">
                <a:solidFill>
                  <a:srgbClr val="C00000"/>
                </a:solidFill>
                <a:latin typeface="Calibri"/>
                <a:cs typeface="Calibri"/>
              </a:rPr>
              <a:t>)</a:t>
            </a:r>
            <a:r>
              <a:rPr dirty="0" sz="2800" spc="15" b="1">
                <a:solidFill>
                  <a:srgbClr val="D60093"/>
                </a:solidFill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3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5" b="1">
                <a:solidFill>
                  <a:srgbClr val="D60093"/>
                </a:solidFill>
                <a:latin typeface="Calibri"/>
                <a:cs typeface="Calibri"/>
              </a:rPr>
              <a:t>Linear </a:t>
            </a:r>
            <a:r>
              <a:rPr dirty="0" sz="2600" spc="-10" b="1">
                <a:solidFill>
                  <a:srgbClr val="D60093"/>
                </a:solidFill>
                <a:latin typeface="Calibri"/>
                <a:cs typeface="Calibri"/>
              </a:rPr>
              <a:t>(instead </a:t>
            </a:r>
            <a:r>
              <a:rPr dirty="0" sz="2600" b="1">
                <a:solidFill>
                  <a:srgbClr val="D60093"/>
                </a:solidFill>
                <a:latin typeface="Calibri"/>
                <a:cs typeface="Calibri"/>
              </a:rPr>
              <a:t>of </a:t>
            </a:r>
            <a:r>
              <a:rPr dirty="0" sz="2600" spc="-10" b="1">
                <a:solidFill>
                  <a:srgbClr val="D60093"/>
                </a:solidFill>
                <a:latin typeface="Calibri"/>
                <a:cs typeface="Calibri"/>
              </a:rPr>
              <a:t>exponential) </a:t>
            </a:r>
            <a:r>
              <a:rPr dirty="0" sz="2600" spc="-5" b="1">
                <a:solidFill>
                  <a:srgbClr val="D60093"/>
                </a:solidFill>
                <a:latin typeface="Calibri"/>
                <a:cs typeface="Calibri"/>
              </a:rPr>
              <a:t>dependency </a:t>
            </a:r>
            <a:r>
              <a:rPr dirty="0" sz="2600" spc="-75" b="1">
                <a:solidFill>
                  <a:srgbClr val="D60093"/>
                </a:solidFill>
                <a:latin typeface="Calibri"/>
                <a:cs typeface="Calibri"/>
              </a:rPr>
              <a:t>w.r.t.</a:t>
            </a:r>
            <a:r>
              <a:rPr dirty="0" sz="2600" spc="65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D60093"/>
                </a:solidFill>
                <a:latin typeface="Cambria Math"/>
                <a:cs typeface="Cambria Math"/>
              </a:rPr>
              <a:t>𝑲</a:t>
            </a:r>
            <a:r>
              <a:rPr dirty="0" sz="2600" b="1">
                <a:solidFill>
                  <a:srgbClr val="D60093"/>
                </a:solidFill>
                <a:latin typeface="Calibri"/>
                <a:cs typeface="Calibri"/>
              </a:rPr>
              <a:t>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5693664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18108" y="1348740"/>
            <a:ext cx="8283575" cy="538988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332740" marR="6019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20">
                <a:latin typeface="Calibri"/>
                <a:cs typeface="Calibri"/>
              </a:rPr>
              <a:t>Cluster-GCN </a:t>
            </a:r>
            <a:r>
              <a:rPr dirty="0" sz="3200" spc="-25">
                <a:latin typeface="Calibri"/>
                <a:cs typeface="Calibri"/>
              </a:rPr>
              <a:t>first </a:t>
            </a:r>
            <a:r>
              <a:rPr dirty="0" sz="3200" spc="-5" b="1">
                <a:solidFill>
                  <a:srgbClr val="008000"/>
                </a:solidFill>
                <a:latin typeface="Calibri"/>
                <a:cs typeface="Calibri"/>
              </a:rPr>
              <a:t>partitions the </a:t>
            </a:r>
            <a:r>
              <a:rPr dirty="0" sz="3200" spc="-15" b="1">
                <a:solidFill>
                  <a:srgbClr val="008000"/>
                </a:solidFill>
                <a:latin typeface="Calibri"/>
                <a:cs typeface="Calibri"/>
              </a:rPr>
              <a:t>entire </a:t>
            </a:r>
            <a:r>
              <a:rPr dirty="0" sz="3200" spc="-5" b="1">
                <a:solidFill>
                  <a:srgbClr val="008000"/>
                </a:solidFill>
                <a:latin typeface="Calibri"/>
                <a:cs typeface="Calibri"/>
              </a:rPr>
              <a:t>nodes  </a:t>
            </a:r>
            <a:r>
              <a:rPr dirty="0" sz="3200" spc="-20" b="1">
                <a:solidFill>
                  <a:srgbClr val="008000"/>
                </a:solidFill>
                <a:latin typeface="Calibri"/>
                <a:cs typeface="Calibri"/>
              </a:rPr>
              <a:t>into </a:t>
            </a:r>
            <a:r>
              <a:rPr dirty="0" sz="3200" b="1">
                <a:solidFill>
                  <a:srgbClr val="008000"/>
                </a:solidFill>
                <a:latin typeface="Calibri"/>
                <a:cs typeface="Calibri"/>
              </a:rPr>
              <a:t>a </a:t>
            </a:r>
            <a:r>
              <a:rPr dirty="0" sz="3200" spc="-10" b="1">
                <a:solidFill>
                  <a:srgbClr val="008000"/>
                </a:solidFill>
                <a:latin typeface="Calibri"/>
                <a:cs typeface="Calibri"/>
              </a:rPr>
              <a:t>set </a:t>
            </a:r>
            <a:r>
              <a:rPr dirty="0" sz="3200" b="1">
                <a:solidFill>
                  <a:srgbClr val="008000"/>
                </a:solidFill>
                <a:latin typeface="Calibri"/>
                <a:cs typeface="Calibri"/>
              </a:rPr>
              <a:t>of </a:t>
            </a:r>
            <a:r>
              <a:rPr dirty="0" sz="3200" spc="-5" b="1">
                <a:solidFill>
                  <a:srgbClr val="008000"/>
                </a:solidFill>
                <a:latin typeface="Calibri"/>
                <a:cs typeface="Calibri"/>
              </a:rPr>
              <a:t>small node</a:t>
            </a:r>
            <a:r>
              <a:rPr dirty="0" sz="3200" spc="5" b="1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3200" spc="-15" b="1">
                <a:solidFill>
                  <a:srgbClr val="008000"/>
                </a:solidFill>
                <a:latin typeface="Calibri"/>
                <a:cs typeface="Calibri"/>
              </a:rPr>
              <a:t>groups.</a:t>
            </a:r>
            <a:endParaRPr sz="3200">
              <a:latin typeface="Calibri"/>
              <a:cs typeface="Calibri"/>
            </a:endParaRPr>
          </a:p>
          <a:p>
            <a:pPr marL="332740" marR="492759" indent="-320040">
              <a:lnSpc>
                <a:spcPts val="3790"/>
              </a:lnSpc>
              <a:spcBef>
                <a:spcPts val="114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45">
                <a:latin typeface="Calibri"/>
                <a:cs typeface="Calibri"/>
              </a:rPr>
              <a:t>At </a:t>
            </a:r>
            <a:r>
              <a:rPr dirty="0" sz="3200" spc="-5">
                <a:latin typeface="Calibri"/>
                <a:cs typeface="Calibri"/>
              </a:rPr>
              <a:t>each </a:t>
            </a:r>
            <a:r>
              <a:rPr dirty="0" sz="3200" spc="-10">
                <a:latin typeface="Calibri"/>
                <a:cs typeface="Calibri"/>
              </a:rPr>
              <a:t>mini-batch, </a:t>
            </a:r>
            <a:r>
              <a:rPr dirty="0" sz="3200">
                <a:latin typeface="Calibri"/>
                <a:cs typeface="Calibri"/>
              </a:rPr>
              <a:t>multiple </a:t>
            </a:r>
            <a:r>
              <a:rPr dirty="0" sz="3200" spc="-5">
                <a:latin typeface="Calibri"/>
                <a:cs typeface="Calibri"/>
              </a:rPr>
              <a:t>node </a:t>
            </a:r>
            <a:r>
              <a:rPr dirty="0" sz="3200" spc="-15">
                <a:latin typeface="Calibri"/>
                <a:cs typeface="Calibri"/>
              </a:rPr>
              <a:t>groups </a:t>
            </a:r>
            <a:r>
              <a:rPr dirty="0" sz="3200" spc="-20">
                <a:latin typeface="Calibri"/>
                <a:cs typeface="Calibri"/>
              </a:rPr>
              <a:t>are  </a:t>
            </a:r>
            <a:r>
              <a:rPr dirty="0" sz="3200" spc="-5">
                <a:latin typeface="Calibri"/>
                <a:cs typeface="Calibri"/>
              </a:rPr>
              <a:t>sampled, </a:t>
            </a:r>
            <a:r>
              <a:rPr dirty="0" sz="3200">
                <a:latin typeface="Calibri"/>
                <a:cs typeface="Calibri"/>
              </a:rPr>
              <a:t>and </a:t>
            </a:r>
            <a:r>
              <a:rPr dirty="0" sz="3200" spc="-5">
                <a:latin typeface="Calibri"/>
                <a:cs typeface="Calibri"/>
              </a:rPr>
              <a:t>their nodes </a:t>
            </a:r>
            <a:r>
              <a:rPr dirty="0" sz="3200" spc="-20">
                <a:latin typeface="Calibri"/>
                <a:cs typeface="Calibri"/>
              </a:rPr>
              <a:t>are</a:t>
            </a:r>
            <a:r>
              <a:rPr dirty="0" sz="3200" spc="5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aggregated.</a:t>
            </a:r>
            <a:endParaRPr sz="3200">
              <a:latin typeface="Calibri"/>
              <a:cs typeface="Calibri"/>
            </a:endParaRPr>
          </a:p>
          <a:p>
            <a:pPr marL="332740" marR="597535" indent="-320040">
              <a:lnSpc>
                <a:spcPts val="3790"/>
              </a:lnSpc>
              <a:spcBef>
                <a:spcPts val="114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GNN </a:t>
            </a: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performs </a:t>
            </a:r>
            <a:r>
              <a:rPr dirty="0" sz="3200" spc="-20" b="1">
                <a:solidFill>
                  <a:srgbClr val="C00000"/>
                </a:solidFill>
                <a:latin typeface="Calibri"/>
                <a:cs typeface="Calibri"/>
              </a:rPr>
              <a:t>layer-wise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node embeddings  </a:t>
            </a:r>
            <a:r>
              <a:rPr dirty="0" sz="3200" spc="-15" b="1">
                <a:solidFill>
                  <a:srgbClr val="C00000"/>
                </a:solidFill>
                <a:latin typeface="Calibri"/>
                <a:cs typeface="Calibri"/>
              </a:rPr>
              <a:t>update </a:t>
            </a: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over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the induced</a:t>
            </a:r>
            <a:r>
              <a:rPr dirty="0" sz="3200" spc="-3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15" b="1">
                <a:solidFill>
                  <a:srgbClr val="C00000"/>
                </a:solidFill>
                <a:latin typeface="Calibri"/>
                <a:cs typeface="Calibri"/>
              </a:rPr>
              <a:t>subgraph</a:t>
            </a:r>
            <a:r>
              <a:rPr dirty="0" sz="3200" spc="-15">
                <a:latin typeface="Calibri"/>
                <a:cs typeface="Calibri"/>
              </a:rPr>
              <a:t>.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367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20">
                <a:latin typeface="Calibri"/>
                <a:cs typeface="Calibri"/>
              </a:rPr>
              <a:t>Cluster-GCN </a:t>
            </a:r>
            <a:r>
              <a:rPr dirty="0" sz="3200">
                <a:latin typeface="Calibri"/>
                <a:cs typeface="Calibri"/>
              </a:rPr>
              <a:t>is </a:t>
            </a:r>
            <a:r>
              <a:rPr dirty="0" sz="3200" spc="-15">
                <a:latin typeface="Calibri"/>
                <a:cs typeface="Calibri"/>
              </a:rPr>
              <a:t>more </a:t>
            </a:r>
            <a:r>
              <a:rPr dirty="0" sz="3200" spc="-10">
                <a:latin typeface="Calibri"/>
                <a:cs typeface="Calibri"/>
              </a:rPr>
              <a:t>computationally</a:t>
            </a:r>
            <a:r>
              <a:rPr dirty="0" sz="3200" spc="6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efficient</a:t>
            </a:r>
            <a:endParaRPr sz="3200">
              <a:latin typeface="Calibri"/>
              <a:cs typeface="Calibri"/>
            </a:endParaRPr>
          </a:p>
          <a:p>
            <a:pPr marL="332740" marR="5080">
              <a:lnSpc>
                <a:spcPts val="3790"/>
              </a:lnSpc>
              <a:spcBef>
                <a:spcPts val="240"/>
              </a:spcBef>
            </a:pPr>
            <a:r>
              <a:rPr dirty="0" sz="3200">
                <a:latin typeface="Calibri"/>
                <a:cs typeface="Calibri"/>
              </a:rPr>
              <a:t>than </a:t>
            </a:r>
            <a:r>
              <a:rPr dirty="0" sz="3200" spc="-5">
                <a:latin typeface="Calibri"/>
                <a:cs typeface="Calibri"/>
              </a:rPr>
              <a:t>neighbor </a:t>
            </a:r>
            <a:r>
              <a:rPr dirty="0" sz="3200">
                <a:latin typeface="Calibri"/>
                <a:cs typeface="Calibri"/>
              </a:rPr>
              <a:t>sampling, </a:t>
            </a:r>
            <a:r>
              <a:rPr dirty="0" sz="3200" spc="-5">
                <a:latin typeface="Calibri"/>
                <a:cs typeface="Calibri"/>
              </a:rPr>
              <a:t>especially when #(GNN  </a:t>
            </a:r>
            <a:r>
              <a:rPr dirty="0" sz="3200" spc="-25">
                <a:latin typeface="Calibri"/>
                <a:cs typeface="Calibri"/>
              </a:rPr>
              <a:t>layers) </a:t>
            </a:r>
            <a:r>
              <a:rPr dirty="0" sz="3200">
                <a:latin typeface="Calibri"/>
                <a:cs typeface="Calibri"/>
              </a:rPr>
              <a:t>is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large.</a:t>
            </a:r>
            <a:endParaRPr sz="3200">
              <a:latin typeface="Calibri"/>
              <a:cs typeface="Calibri"/>
            </a:endParaRPr>
          </a:p>
          <a:p>
            <a:pPr marL="332740" marR="266700" indent="-320040">
              <a:lnSpc>
                <a:spcPts val="3790"/>
              </a:lnSpc>
              <a:spcBef>
                <a:spcPts val="114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>
                <a:latin typeface="Calibri"/>
                <a:cs typeface="Calibri"/>
              </a:rPr>
              <a:t>But </a:t>
            </a:r>
            <a:r>
              <a:rPr dirty="0" sz="3200" spc="-20">
                <a:latin typeface="Calibri"/>
                <a:cs typeface="Calibri"/>
              </a:rPr>
              <a:t>Cluster-GCN </a:t>
            </a:r>
            <a:r>
              <a:rPr dirty="0" sz="3200" spc="-5">
                <a:latin typeface="Calibri"/>
                <a:cs typeface="Calibri"/>
              </a:rPr>
              <a:t>leads </a:t>
            </a:r>
            <a:r>
              <a:rPr dirty="0" sz="3200" spc="-15">
                <a:latin typeface="Calibri"/>
                <a:cs typeface="Calibri"/>
              </a:rPr>
              <a:t>to </a:t>
            </a:r>
            <a:r>
              <a:rPr dirty="0" sz="3200" spc="-20">
                <a:latin typeface="Calibri"/>
                <a:cs typeface="Calibri"/>
              </a:rPr>
              <a:t>systematically </a:t>
            </a:r>
            <a:r>
              <a:rPr dirty="0" sz="3200" spc="-5">
                <a:latin typeface="Calibri"/>
                <a:cs typeface="Calibri"/>
              </a:rPr>
              <a:t>biased  </a:t>
            </a:r>
            <a:r>
              <a:rPr dirty="0" sz="3200" spc="-15">
                <a:latin typeface="Calibri"/>
                <a:cs typeface="Calibri"/>
              </a:rPr>
              <a:t>gradient estimates </a:t>
            </a:r>
            <a:r>
              <a:rPr dirty="0" sz="2200" spc="-5">
                <a:latin typeface="Calibri"/>
                <a:cs typeface="Calibri"/>
              </a:rPr>
              <a:t>(due </a:t>
            </a:r>
            <a:r>
              <a:rPr dirty="0" sz="2200" spc="-15">
                <a:latin typeface="Calibri"/>
                <a:cs typeface="Calibri"/>
              </a:rPr>
              <a:t>to </a:t>
            </a:r>
            <a:r>
              <a:rPr dirty="0" sz="2200" spc="-5">
                <a:latin typeface="Calibri"/>
                <a:cs typeface="Calibri"/>
              </a:rPr>
              <a:t>missing </a:t>
            </a:r>
            <a:r>
              <a:rPr dirty="0" sz="2200" spc="-10">
                <a:latin typeface="Calibri"/>
                <a:cs typeface="Calibri"/>
              </a:rPr>
              <a:t>cross-community</a:t>
            </a:r>
            <a:r>
              <a:rPr dirty="0" sz="2200" spc="-190">
                <a:latin typeface="Calibri"/>
                <a:cs typeface="Calibri"/>
              </a:rPr>
              <a:t> </a:t>
            </a:r>
            <a:r>
              <a:rPr dirty="0" sz="2200" spc="-5">
                <a:latin typeface="Calibri"/>
                <a:cs typeface="Calibri"/>
              </a:rPr>
              <a:t>edges)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3/13/21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48</a:t>
            </a:fld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5135880"/>
          </a:xfrm>
          <a:custGeom>
            <a:avLst/>
            <a:gdLst/>
            <a:ahLst/>
            <a:cxnLst/>
            <a:rect l="l" t="t" r="r" b="b"/>
            <a:pathLst>
              <a:path w="9144000" h="5135880">
                <a:moveTo>
                  <a:pt x="0" y="0"/>
                </a:moveTo>
                <a:lnTo>
                  <a:pt x="9143998" y="0"/>
                </a:lnTo>
                <a:lnTo>
                  <a:pt x="9143998" y="5135430"/>
                </a:lnTo>
                <a:lnTo>
                  <a:pt x="0" y="51354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5105400"/>
            <a:ext cx="9144000" cy="112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515119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571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07719" y="3538728"/>
            <a:ext cx="5190744" cy="14752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40739" y="5266435"/>
            <a:ext cx="5060950" cy="1249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solidFill>
                  <a:srgbClr val="FFFFFF"/>
                </a:solidFill>
                <a:latin typeface="Corbel"/>
                <a:cs typeface="Corbel"/>
              </a:rPr>
              <a:t>CS224W: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Machine Learning </a:t>
            </a: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with</a:t>
            </a:r>
            <a:r>
              <a:rPr dirty="0" sz="2400" spc="-114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Graphs  Jure </a:t>
            </a:r>
            <a:r>
              <a:rPr dirty="0" sz="2400" spc="-10">
                <a:solidFill>
                  <a:srgbClr val="FFFFFF"/>
                </a:solidFill>
                <a:latin typeface="Corbel"/>
                <a:cs typeface="Corbel"/>
              </a:rPr>
              <a:t>Leskovec,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Stanford</a:t>
            </a:r>
            <a:r>
              <a:rPr dirty="0" sz="20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University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3200" spc="-15">
                <a:solidFill>
                  <a:srgbClr val="FFFFFF"/>
                </a:solidFill>
                <a:latin typeface="Corbel"/>
                <a:cs typeface="Corbel"/>
                <a:hlinkClick r:id="rId5"/>
              </a:rPr>
              <a:t>http://cs224w.stanford.edu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52359" y="5166359"/>
            <a:ext cx="1691640" cy="16916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7065264" cy="563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814945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60" b="1">
                <a:latin typeface="Calibri"/>
                <a:cs typeface="Calibri"/>
              </a:rPr>
              <a:t>We </a:t>
            </a:r>
            <a:r>
              <a:rPr dirty="0" spc="-15" b="1">
                <a:latin typeface="Calibri"/>
                <a:cs typeface="Calibri"/>
              </a:rPr>
              <a:t>start </a:t>
            </a:r>
            <a:r>
              <a:rPr dirty="0" spc="-10" b="1">
                <a:latin typeface="Calibri"/>
                <a:cs typeface="Calibri"/>
              </a:rPr>
              <a:t>from </a:t>
            </a:r>
            <a:r>
              <a:rPr dirty="0" spc="-20" b="1">
                <a:latin typeface="Calibri"/>
                <a:cs typeface="Calibri"/>
              </a:rPr>
              <a:t>Graph </a:t>
            </a:r>
            <a:r>
              <a:rPr dirty="0" spc="-10" b="1">
                <a:latin typeface="Calibri"/>
                <a:cs typeface="Calibri"/>
              </a:rPr>
              <a:t>Convolutional</a:t>
            </a:r>
            <a:r>
              <a:rPr dirty="0" spc="90" b="1">
                <a:latin typeface="Calibri"/>
                <a:cs typeface="Calibri"/>
              </a:rPr>
              <a:t> </a:t>
            </a:r>
            <a:r>
              <a:rPr dirty="0" spc="-10" b="1">
                <a:latin typeface="Calibri"/>
                <a:cs typeface="Calibri"/>
              </a:rPr>
              <a:t>Network</a:t>
            </a:r>
          </a:p>
          <a:p>
            <a:pPr marL="332740">
              <a:lnSpc>
                <a:spcPts val="3815"/>
              </a:lnSpc>
            </a:pPr>
            <a:r>
              <a:rPr dirty="0" spc="-5"/>
              <a:t>(GCN) </a:t>
            </a:r>
            <a:r>
              <a:rPr dirty="0" sz="1800" spc="-5"/>
              <a:t>[Kipf </a:t>
            </a:r>
            <a:r>
              <a:rPr dirty="0" sz="1800"/>
              <a:t>&amp; </a:t>
            </a:r>
            <a:r>
              <a:rPr dirty="0" sz="1800" spc="-10"/>
              <a:t>Welling </a:t>
            </a:r>
            <a:r>
              <a:rPr dirty="0" sz="1800" spc="-5"/>
              <a:t>ICLR</a:t>
            </a:r>
            <a:r>
              <a:rPr dirty="0" sz="1800" spc="-15"/>
              <a:t> </a:t>
            </a:r>
            <a:r>
              <a:rPr dirty="0" sz="1800" spc="-5"/>
              <a:t>2017]</a:t>
            </a:r>
            <a:r>
              <a:rPr dirty="0" spc="-5"/>
              <a:t>.</a:t>
            </a:r>
            <a:endParaRPr sz="1800"/>
          </a:p>
        </p:txBody>
      </p:sp>
      <p:sp>
        <p:nvSpPr>
          <p:cNvPr id="4" name="object 4"/>
          <p:cNvSpPr txBox="1"/>
          <p:nvPr/>
        </p:nvSpPr>
        <p:spPr>
          <a:xfrm>
            <a:off x="618108" y="2327148"/>
            <a:ext cx="8025765" cy="291211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332740" marR="258445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60">
                <a:latin typeface="Calibri"/>
                <a:cs typeface="Calibri"/>
              </a:rPr>
              <a:t>We </a:t>
            </a:r>
            <a:r>
              <a:rPr dirty="0" sz="3200">
                <a:latin typeface="Calibri"/>
                <a:cs typeface="Calibri"/>
              </a:rPr>
              <a:t>simplify GCN </a:t>
            </a:r>
            <a:r>
              <a:rPr dirty="0" sz="3200" spc="-10">
                <a:latin typeface="Calibri"/>
                <a:cs typeface="Calibri"/>
              </a:rPr>
              <a:t>by </a:t>
            </a: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removing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the non-linear  </a:t>
            </a: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activation </a:t>
            </a:r>
            <a:r>
              <a:rPr dirty="0" sz="3200" spc="-20">
                <a:latin typeface="Calibri"/>
                <a:cs typeface="Calibri"/>
              </a:rPr>
              <a:t>from </a:t>
            </a:r>
            <a:r>
              <a:rPr dirty="0" sz="3200">
                <a:latin typeface="Calibri"/>
                <a:cs typeface="Calibri"/>
              </a:rPr>
              <a:t>the GCN </a:t>
            </a:r>
            <a:r>
              <a:rPr dirty="0" sz="1800" spc="-20">
                <a:latin typeface="Calibri"/>
                <a:cs typeface="Calibri"/>
              </a:rPr>
              <a:t>[Wu </a:t>
            </a:r>
            <a:r>
              <a:rPr dirty="0" sz="1800" spc="-5">
                <a:latin typeface="Calibri"/>
                <a:cs typeface="Calibri"/>
              </a:rPr>
              <a:t>et </a:t>
            </a:r>
            <a:r>
              <a:rPr dirty="0" sz="1800">
                <a:latin typeface="Calibri"/>
                <a:cs typeface="Calibri"/>
              </a:rPr>
              <a:t>al. </a:t>
            </a:r>
            <a:r>
              <a:rPr dirty="0" sz="1800" spc="-5">
                <a:latin typeface="Calibri"/>
                <a:cs typeface="Calibri"/>
              </a:rPr>
              <a:t>ICML</a:t>
            </a:r>
            <a:r>
              <a:rPr dirty="0" sz="1800" spc="10">
                <a:latin typeface="Calibri"/>
                <a:cs typeface="Calibri"/>
              </a:rPr>
              <a:t> </a:t>
            </a:r>
            <a:r>
              <a:rPr dirty="0" sz="1800" spc="-5">
                <a:latin typeface="Calibri"/>
                <a:cs typeface="Calibri"/>
              </a:rPr>
              <a:t>2019]</a:t>
            </a:r>
            <a:r>
              <a:rPr dirty="0" sz="3200" spc="-5">
                <a:latin typeface="Calibri"/>
                <a:cs typeface="Calibri"/>
              </a:rPr>
              <a:t>.</a:t>
            </a:r>
            <a:endParaRPr sz="3200">
              <a:latin typeface="Calibri"/>
              <a:cs typeface="Calibri"/>
            </a:endParaRPr>
          </a:p>
          <a:p>
            <a:pPr lvl="1" marL="625475" marR="5080" indent="-274320">
              <a:lnSpc>
                <a:spcPts val="3310"/>
              </a:lnSpc>
              <a:spcBef>
                <a:spcPts val="79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40" i="1">
                <a:latin typeface="Calibri"/>
                <a:cs typeface="Calibri"/>
              </a:rPr>
              <a:t>Wu </a:t>
            </a:r>
            <a:r>
              <a:rPr dirty="0" sz="2800" spc="-10" i="1">
                <a:latin typeface="Calibri"/>
                <a:cs typeface="Calibri"/>
              </a:rPr>
              <a:t>et </a:t>
            </a:r>
            <a:r>
              <a:rPr dirty="0" sz="2800" spc="-5" i="1">
                <a:latin typeface="Calibri"/>
                <a:cs typeface="Calibri"/>
              </a:rPr>
              <a:t>al. </a:t>
            </a:r>
            <a:r>
              <a:rPr dirty="0" sz="2800" spc="-20">
                <a:latin typeface="Calibri"/>
                <a:cs typeface="Calibri"/>
              </a:rPr>
              <a:t>demonstrated </a:t>
            </a:r>
            <a:r>
              <a:rPr dirty="0" sz="2800" spc="-10">
                <a:latin typeface="Calibri"/>
                <a:cs typeface="Calibri"/>
              </a:rPr>
              <a:t>that </a:t>
            </a: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10">
                <a:latin typeface="Calibri"/>
                <a:cs typeface="Calibri"/>
              </a:rPr>
              <a:t>performance </a:t>
            </a:r>
            <a:r>
              <a:rPr dirty="0" sz="2800" spc="-5">
                <a:latin typeface="Calibri"/>
                <a:cs typeface="Calibri"/>
              </a:rPr>
              <a:t>on  benchmark is not much </a:t>
            </a:r>
            <a:r>
              <a:rPr dirty="0" sz="2800" spc="-15">
                <a:latin typeface="Calibri"/>
                <a:cs typeface="Calibri"/>
              </a:rPr>
              <a:t>lower </a:t>
            </a:r>
            <a:r>
              <a:rPr dirty="0" sz="2800" spc="-10">
                <a:latin typeface="Calibri"/>
                <a:cs typeface="Calibri"/>
              </a:rPr>
              <a:t>by </a:t>
            </a:r>
            <a:r>
              <a:rPr dirty="0" sz="2800" spc="-5">
                <a:latin typeface="Calibri"/>
                <a:cs typeface="Calibri"/>
              </a:rPr>
              <a:t>the</a:t>
            </a:r>
            <a:r>
              <a:rPr dirty="0" sz="2800" spc="8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simplification.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ts val="367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>
                <a:latin typeface="Calibri"/>
                <a:cs typeface="Calibri"/>
              </a:rPr>
              <a:t>Simplified </a:t>
            </a:r>
            <a:r>
              <a:rPr dirty="0" sz="3200">
                <a:latin typeface="Calibri"/>
                <a:cs typeface="Calibri"/>
              </a:rPr>
              <a:t>GCN </a:t>
            </a:r>
            <a:r>
              <a:rPr dirty="0" sz="3200" spc="-5">
                <a:latin typeface="Calibri"/>
                <a:cs typeface="Calibri"/>
              </a:rPr>
              <a:t>turns out </a:t>
            </a:r>
            <a:r>
              <a:rPr dirty="0" sz="3200" spc="-15">
                <a:latin typeface="Calibri"/>
                <a:cs typeface="Calibri"/>
              </a:rPr>
              <a:t>to </a:t>
            </a:r>
            <a:r>
              <a:rPr dirty="0" sz="3200">
                <a:latin typeface="Calibri"/>
                <a:cs typeface="Calibri"/>
              </a:rPr>
              <a:t>be</a:t>
            </a:r>
            <a:r>
              <a:rPr dirty="0" sz="3200" spc="2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extremely</a:t>
            </a:r>
            <a:endParaRPr sz="3200">
              <a:latin typeface="Calibri"/>
              <a:cs typeface="Calibri"/>
            </a:endParaRPr>
          </a:p>
          <a:p>
            <a:pPr marL="332740">
              <a:lnSpc>
                <a:spcPct val="100000"/>
              </a:lnSpc>
              <a:spcBef>
                <a:spcPts val="50"/>
              </a:spcBef>
            </a:pPr>
            <a:r>
              <a:rPr dirty="0" sz="3200" spc="-5">
                <a:latin typeface="Calibri"/>
                <a:cs typeface="Calibri"/>
              </a:rPr>
              <a:t>scalable by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5">
                <a:latin typeface="Calibri"/>
                <a:cs typeface="Calibri"/>
              </a:rPr>
              <a:t>model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design.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4227" y="6694423"/>
            <a:ext cx="4006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3/13/21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73615" y="6694423"/>
            <a:ext cx="30022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</a:t>
            </a:r>
            <a:r>
              <a:rPr dirty="0" sz="900" spc="4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Graphs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19697" y="6694423"/>
            <a:ext cx="1397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50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8108" y="1349247"/>
            <a:ext cx="8350250" cy="4978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645"/>
              <a:buFont typeface="Arial"/>
              <a:buChar char="▪"/>
              <a:tabLst>
                <a:tab pos="332740" algn="l"/>
              </a:tabLst>
            </a:pPr>
            <a:r>
              <a:rPr dirty="0" sz="3100" spc="-10" b="1">
                <a:solidFill>
                  <a:srgbClr val="D60093"/>
                </a:solidFill>
                <a:latin typeface="Calibri"/>
                <a:cs typeface="Calibri"/>
              </a:rPr>
              <a:t>Given</a:t>
            </a:r>
            <a:r>
              <a:rPr dirty="0" sz="3100" spc="-10"/>
              <a:t>: </a:t>
            </a:r>
            <a:r>
              <a:rPr dirty="0" sz="3100" spc="-20"/>
              <a:t>Graph </a:t>
            </a:r>
            <a:r>
              <a:rPr dirty="0" sz="3100">
                <a:latin typeface="Cambria Math"/>
                <a:cs typeface="Cambria Math"/>
              </a:rPr>
              <a:t>𝐺  = </a:t>
            </a:r>
            <a:r>
              <a:rPr dirty="0" sz="3100" spc="25">
                <a:latin typeface="Cambria Math"/>
                <a:cs typeface="Cambria Math"/>
              </a:rPr>
              <a:t>(𝑉, </a:t>
            </a:r>
            <a:r>
              <a:rPr dirty="0" sz="3100" spc="50">
                <a:latin typeface="Cambria Math"/>
                <a:cs typeface="Cambria Math"/>
              </a:rPr>
              <a:t>𝐸) </a:t>
            </a:r>
            <a:r>
              <a:rPr dirty="0" sz="3100" spc="-5"/>
              <a:t>with input node</a:t>
            </a:r>
            <a:r>
              <a:rPr dirty="0" sz="3100" spc="-450"/>
              <a:t> </a:t>
            </a:r>
            <a:r>
              <a:rPr dirty="0" sz="3100" spc="-25"/>
              <a:t>features</a:t>
            </a:r>
            <a:endParaRPr sz="3100">
              <a:latin typeface="Cambria Math"/>
              <a:cs typeface="Cambria Math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38147" y="1818639"/>
            <a:ext cx="7263765" cy="497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100" spc="305">
                <a:latin typeface="Cambria Math"/>
                <a:cs typeface="Cambria Math"/>
              </a:rPr>
              <a:t>X</a:t>
            </a:r>
            <a:r>
              <a:rPr dirty="0" baseline="-14492" sz="3450" spc="457">
                <a:latin typeface="Cambria Math"/>
                <a:cs typeface="Cambria Math"/>
              </a:rPr>
              <a:t>- </a:t>
            </a:r>
            <a:r>
              <a:rPr dirty="0" sz="3100" spc="-25">
                <a:latin typeface="Calibri"/>
                <a:cs typeface="Calibri"/>
              </a:rPr>
              <a:t>for </a:t>
            </a:r>
            <a:r>
              <a:rPr dirty="0" sz="3100">
                <a:latin typeface="Cambria Math"/>
                <a:cs typeface="Cambria Math"/>
              </a:rPr>
              <a:t>𝑣  ∈ </a:t>
            </a:r>
            <a:r>
              <a:rPr dirty="0" sz="3100" spc="40">
                <a:latin typeface="Cambria Math"/>
                <a:cs typeface="Cambria Math"/>
              </a:rPr>
              <a:t>𝑉</a:t>
            </a:r>
            <a:r>
              <a:rPr dirty="0" sz="3100" spc="40">
                <a:latin typeface="Calibri"/>
                <a:cs typeface="Calibri"/>
              </a:rPr>
              <a:t>, </a:t>
            </a:r>
            <a:r>
              <a:rPr dirty="0" sz="3100" spc="-15">
                <a:latin typeface="Calibri"/>
                <a:cs typeface="Calibri"/>
              </a:rPr>
              <a:t>where </a:t>
            </a:r>
            <a:r>
              <a:rPr dirty="0" sz="3100">
                <a:solidFill>
                  <a:srgbClr val="C00000"/>
                </a:solidFill>
                <a:latin typeface="Cambria Math"/>
                <a:cs typeface="Cambria Math"/>
              </a:rPr>
              <a:t>𝑬 </a:t>
            </a:r>
            <a:r>
              <a:rPr dirty="0" sz="3100" spc="-5" b="1">
                <a:solidFill>
                  <a:srgbClr val="C00000"/>
                </a:solidFill>
                <a:latin typeface="Calibri"/>
                <a:cs typeface="Calibri"/>
              </a:rPr>
              <a:t>includes the</a:t>
            </a:r>
            <a:r>
              <a:rPr dirty="0" sz="3100" spc="-434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100" spc="-10" b="1">
                <a:solidFill>
                  <a:srgbClr val="C00000"/>
                </a:solidFill>
                <a:latin typeface="Calibri"/>
                <a:cs typeface="Calibri"/>
              </a:rPr>
              <a:t>self-loop</a:t>
            </a:r>
            <a:r>
              <a:rPr dirty="0" sz="3100" spc="-10" b="1">
                <a:latin typeface="Calibri"/>
                <a:cs typeface="Calibri"/>
              </a:rPr>
              <a:t>: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73721" y="2476305"/>
            <a:ext cx="764540" cy="318135"/>
          </a:xfrm>
          <a:custGeom>
            <a:avLst/>
            <a:gdLst/>
            <a:ahLst/>
            <a:cxnLst/>
            <a:rect l="l" t="t" r="r" b="b"/>
            <a:pathLst>
              <a:path w="764539" h="318135">
                <a:moveTo>
                  <a:pt x="662797" y="0"/>
                </a:moveTo>
                <a:lnTo>
                  <a:pt x="658277" y="12891"/>
                </a:lnTo>
                <a:lnTo>
                  <a:pt x="676663" y="20871"/>
                </a:lnTo>
                <a:lnTo>
                  <a:pt x="692475" y="31916"/>
                </a:lnTo>
                <a:lnTo>
                  <a:pt x="716376" y="63205"/>
                </a:lnTo>
                <a:lnTo>
                  <a:pt x="730441" y="105419"/>
                </a:lnTo>
                <a:lnTo>
                  <a:pt x="735129" y="157218"/>
                </a:lnTo>
                <a:lnTo>
                  <a:pt x="733952" y="185231"/>
                </a:lnTo>
                <a:lnTo>
                  <a:pt x="724533" y="233535"/>
                </a:lnTo>
                <a:lnTo>
                  <a:pt x="705634" y="271259"/>
                </a:lnTo>
                <a:lnTo>
                  <a:pt x="676877" y="296709"/>
                </a:lnTo>
                <a:lnTo>
                  <a:pt x="658779" y="304725"/>
                </a:lnTo>
                <a:lnTo>
                  <a:pt x="662797" y="317618"/>
                </a:lnTo>
                <a:lnTo>
                  <a:pt x="706121" y="297295"/>
                </a:lnTo>
                <a:lnTo>
                  <a:pt x="737975" y="262114"/>
                </a:lnTo>
                <a:lnTo>
                  <a:pt x="757564" y="215003"/>
                </a:lnTo>
                <a:lnTo>
                  <a:pt x="764094" y="158892"/>
                </a:lnTo>
                <a:lnTo>
                  <a:pt x="762456" y="129775"/>
                </a:lnTo>
                <a:lnTo>
                  <a:pt x="749355" y="78163"/>
                </a:lnTo>
                <a:lnTo>
                  <a:pt x="723372" y="36149"/>
                </a:lnTo>
                <a:lnTo>
                  <a:pt x="685825" y="8314"/>
                </a:lnTo>
                <a:lnTo>
                  <a:pt x="662797" y="0"/>
                </a:lnTo>
                <a:close/>
              </a:path>
              <a:path w="764539" h="318135">
                <a:moveTo>
                  <a:pt x="101295" y="0"/>
                </a:moveTo>
                <a:lnTo>
                  <a:pt x="58077" y="20363"/>
                </a:lnTo>
                <a:lnTo>
                  <a:pt x="26202" y="55670"/>
                </a:lnTo>
                <a:lnTo>
                  <a:pt x="6550" y="102865"/>
                </a:lnTo>
                <a:lnTo>
                  <a:pt x="0" y="158892"/>
                </a:lnTo>
                <a:lnTo>
                  <a:pt x="1632" y="188072"/>
                </a:lnTo>
                <a:lnTo>
                  <a:pt x="14691" y="239683"/>
                </a:lnTo>
                <a:lnTo>
                  <a:pt x="40612" y="281562"/>
                </a:lnTo>
                <a:lnTo>
                  <a:pt x="78200" y="309314"/>
                </a:lnTo>
                <a:lnTo>
                  <a:pt x="101295" y="317618"/>
                </a:lnTo>
                <a:lnTo>
                  <a:pt x="105313" y="304725"/>
                </a:lnTo>
                <a:lnTo>
                  <a:pt x="87215" y="296709"/>
                </a:lnTo>
                <a:lnTo>
                  <a:pt x="71597" y="285554"/>
                </a:lnTo>
                <a:lnTo>
                  <a:pt x="47801" y="253826"/>
                </a:lnTo>
                <a:lnTo>
                  <a:pt x="33674" y="210670"/>
                </a:lnTo>
                <a:lnTo>
                  <a:pt x="28964" y="157218"/>
                </a:lnTo>
                <a:lnTo>
                  <a:pt x="30142" y="130120"/>
                </a:lnTo>
                <a:lnTo>
                  <a:pt x="39560" y="83114"/>
                </a:lnTo>
                <a:lnTo>
                  <a:pt x="58490" y="46027"/>
                </a:lnTo>
                <a:lnTo>
                  <a:pt x="87498" y="20871"/>
                </a:lnTo>
                <a:lnTo>
                  <a:pt x="105816" y="12891"/>
                </a:lnTo>
                <a:lnTo>
                  <a:pt x="101295" y="0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56563" y="2378455"/>
            <a:ext cx="365506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29259" indent="-416559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429259" algn="l"/>
                <a:tab pos="429895" algn="l"/>
                <a:tab pos="1206500" algn="l"/>
              </a:tabLst>
            </a:pPr>
            <a:r>
              <a:rPr dirty="0" sz="2700">
                <a:solidFill>
                  <a:srgbClr val="D60093"/>
                </a:solidFill>
                <a:latin typeface="Cambria Math"/>
                <a:cs typeface="Cambria Math"/>
              </a:rPr>
              <a:t>𝒗,</a:t>
            </a:r>
            <a:r>
              <a:rPr dirty="0" sz="2700" spc="-150">
                <a:solidFill>
                  <a:srgbClr val="D60093"/>
                </a:solidFill>
                <a:latin typeface="Cambria Math"/>
                <a:cs typeface="Cambria Math"/>
              </a:rPr>
              <a:t> </a:t>
            </a:r>
            <a:r>
              <a:rPr dirty="0" sz="2700">
                <a:solidFill>
                  <a:srgbClr val="D60093"/>
                </a:solidFill>
                <a:latin typeface="Cambria Math"/>
                <a:cs typeface="Cambria Math"/>
              </a:rPr>
              <a:t>𝒗	∈ 𝑬 </a:t>
            </a:r>
            <a:r>
              <a:rPr dirty="0" sz="2700" spc="-20" b="1">
                <a:solidFill>
                  <a:srgbClr val="D60093"/>
                </a:solidFill>
                <a:latin typeface="Calibri"/>
                <a:cs typeface="Calibri"/>
              </a:rPr>
              <a:t>for </a:t>
            </a:r>
            <a:r>
              <a:rPr dirty="0" sz="2700" spc="-5" b="1">
                <a:solidFill>
                  <a:srgbClr val="D60093"/>
                </a:solidFill>
                <a:latin typeface="Calibri"/>
                <a:cs typeface="Calibri"/>
              </a:rPr>
              <a:t>all </a:t>
            </a:r>
            <a:r>
              <a:rPr dirty="0" sz="2700">
                <a:solidFill>
                  <a:srgbClr val="D60093"/>
                </a:solidFill>
                <a:latin typeface="Cambria Math"/>
                <a:cs typeface="Cambria Math"/>
              </a:rPr>
              <a:t>𝒗 ∈</a:t>
            </a:r>
            <a:r>
              <a:rPr dirty="0" sz="2700" spc="440">
                <a:solidFill>
                  <a:srgbClr val="D60093"/>
                </a:solidFill>
                <a:latin typeface="Cambria Math"/>
                <a:cs typeface="Cambria Math"/>
              </a:rPr>
              <a:t> </a:t>
            </a:r>
            <a:r>
              <a:rPr dirty="0" sz="2700" spc="-5">
                <a:solidFill>
                  <a:srgbClr val="D60093"/>
                </a:solidFill>
                <a:latin typeface="Cambria Math"/>
                <a:cs typeface="Cambria Math"/>
              </a:rPr>
              <a:t>𝑽</a:t>
            </a:r>
            <a:r>
              <a:rPr dirty="0" sz="2700" spc="-5">
                <a:latin typeface="Calibri"/>
                <a:cs typeface="Calibri"/>
              </a:rPr>
              <a:t>.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98513" y="3085083"/>
            <a:ext cx="18351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610">
                <a:latin typeface="Cambria Math"/>
                <a:cs typeface="Cambria Math"/>
              </a:rPr>
              <a:t>!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8108" y="2860548"/>
            <a:ext cx="8255634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>
                <a:latin typeface="Calibri"/>
                <a:cs typeface="Calibri"/>
              </a:rPr>
              <a:t>Set </a:t>
            </a:r>
            <a:r>
              <a:rPr dirty="0" sz="3200">
                <a:latin typeface="Calibri"/>
                <a:cs typeface="Calibri"/>
              </a:rPr>
              <a:t>input </a:t>
            </a:r>
            <a:r>
              <a:rPr dirty="0" sz="3200" spc="-5">
                <a:latin typeface="Calibri"/>
                <a:cs typeface="Calibri"/>
              </a:rPr>
              <a:t>node embeddings: </a:t>
            </a:r>
            <a:r>
              <a:rPr dirty="0" sz="3000" spc="-20">
                <a:latin typeface="Cambria Math"/>
                <a:cs typeface="Cambria Math"/>
              </a:rPr>
              <a:t>ℎ</a:t>
            </a:r>
            <a:r>
              <a:rPr dirty="0" baseline="40404" sz="3300" spc="-30">
                <a:latin typeface="Cambria Math"/>
                <a:cs typeface="Cambria Math"/>
              </a:rPr>
              <a:t>(#)  </a:t>
            </a:r>
            <a:r>
              <a:rPr dirty="0" sz="3000">
                <a:latin typeface="Cambria Math"/>
                <a:cs typeface="Cambria Math"/>
              </a:rPr>
              <a:t>= </a:t>
            </a:r>
            <a:r>
              <a:rPr dirty="0" sz="3000" spc="235">
                <a:latin typeface="Cambria Math"/>
                <a:cs typeface="Cambria Math"/>
              </a:rPr>
              <a:t>𝑋</a:t>
            </a:r>
            <a:r>
              <a:rPr dirty="0" baseline="-15151" sz="3300" spc="352">
                <a:latin typeface="Cambria Math"/>
                <a:cs typeface="Cambria Math"/>
              </a:rPr>
              <a:t>! </a:t>
            </a:r>
            <a:r>
              <a:rPr dirty="0" sz="3000" spc="-25">
                <a:latin typeface="Calibri"/>
                <a:cs typeface="Calibri"/>
              </a:rPr>
              <a:t>for </a:t>
            </a:r>
            <a:r>
              <a:rPr dirty="0" sz="3000">
                <a:latin typeface="Cambria Math"/>
                <a:cs typeface="Cambria Math"/>
              </a:rPr>
              <a:t>𝑣  ∈</a:t>
            </a:r>
            <a:r>
              <a:rPr dirty="0" sz="3000" spc="-325">
                <a:latin typeface="Cambria Math"/>
                <a:cs typeface="Cambria Math"/>
              </a:rPr>
              <a:t> </a:t>
            </a:r>
            <a:r>
              <a:rPr dirty="0" sz="3000" spc="35">
                <a:latin typeface="Cambria Math"/>
                <a:cs typeface="Cambria Math"/>
              </a:rPr>
              <a:t>𝑉</a:t>
            </a:r>
            <a:r>
              <a:rPr dirty="0" sz="3000" spc="35" i="1">
                <a:latin typeface="Calibri"/>
                <a:cs typeface="Calibri"/>
              </a:rPr>
              <a:t>.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293865" y="3456487"/>
            <a:ext cx="2186305" cy="378460"/>
          </a:xfrm>
          <a:custGeom>
            <a:avLst/>
            <a:gdLst/>
            <a:ahLst/>
            <a:cxnLst/>
            <a:rect l="l" t="t" r="r" b="b"/>
            <a:pathLst>
              <a:path w="2186304" h="378460">
                <a:moveTo>
                  <a:pt x="2064630" y="0"/>
                </a:moveTo>
                <a:lnTo>
                  <a:pt x="2059471" y="0"/>
                </a:lnTo>
                <a:lnTo>
                  <a:pt x="2059471" y="15081"/>
                </a:lnTo>
                <a:lnTo>
                  <a:pt x="2062448" y="15081"/>
                </a:lnTo>
                <a:lnTo>
                  <a:pt x="2076053" y="16017"/>
                </a:lnTo>
                <a:lnTo>
                  <a:pt x="2114611" y="38775"/>
                </a:lnTo>
                <a:lnTo>
                  <a:pt x="2123765" y="79573"/>
                </a:lnTo>
                <a:lnTo>
                  <a:pt x="2123517" y="86927"/>
                </a:lnTo>
                <a:lnTo>
                  <a:pt x="2122772" y="95100"/>
                </a:lnTo>
                <a:lnTo>
                  <a:pt x="2121532" y="104092"/>
                </a:lnTo>
                <a:lnTo>
                  <a:pt x="2119796" y="113902"/>
                </a:lnTo>
                <a:lnTo>
                  <a:pt x="2118060" y="123390"/>
                </a:lnTo>
                <a:lnTo>
                  <a:pt x="2116819" y="131414"/>
                </a:lnTo>
                <a:lnTo>
                  <a:pt x="2116075" y="137975"/>
                </a:lnTo>
                <a:lnTo>
                  <a:pt x="2115827" y="143073"/>
                </a:lnTo>
                <a:lnTo>
                  <a:pt x="2116447" y="151128"/>
                </a:lnTo>
                <a:lnTo>
                  <a:pt x="2142753" y="183795"/>
                </a:lnTo>
                <a:lnTo>
                  <a:pt x="2149363" y="186729"/>
                </a:lnTo>
                <a:lnTo>
                  <a:pt x="2149363" y="190300"/>
                </a:lnTo>
                <a:lnTo>
                  <a:pt x="2118307" y="218603"/>
                </a:lnTo>
                <a:lnTo>
                  <a:pt x="2115827" y="233956"/>
                </a:lnTo>
                <a:lnTo>
                  <a:pt x="2116075" y="239054"/>
                </a:lnTo>
                <a:lnTo>
                  <a:pt x="2116819" y="245615"/>
                </a:lnTo>
                <a:lnTo>
                  <a:pt x="2118060" y="253639"/>
                </a:lnTo>
                <a:lnTo>
                  <a:pt x="2119796" y="263127"/>
                </a:lnTo>
                <a:lnTo>
                  <a:pt x="2121532" y="272937"/>
                </a:lnTo>
                <a:lnTo>
                  <a:pt x="2122772" y="281929"/>
                </a:lnTo>
                <a:lnTo>
                  <a:pt x="2123517" y="290102"/>
                </a:lnTo>
                <a:lnTo>
                  <a:pt x="2123765" y="297456"/>
                </a:lnTo>
                <a:lnTo>
                  <a:pt x="2122748" y="314106"/>
                </a:lnTo>
                <a:lnTo>
                  <a:pt x="2098575" y="354910"/>
                </a:lnTo>
                <a:lnTo>
                  <a:pt x="2062448" y="363338"/>
                </a:lnTo>
                <a:lnTo>
                  <a:pt x="2059471" y="363338"/>
                </a:lnTo>
                <a:lnTo>
                  <a:pt x="2059471" y="378419"/>
                </a:lnTo>
                <a:lnTo>
                  <a:pt x="2064630" y="378419"/>
                </a:lnTo>
                <a:lnTo>
                  <a:pt x="2086477" y="376788"/>
                </a:lnTo>
                <a:lnTo>
                  <a:pt x="2134381" y="357087"/>
                </a:lnTo>
                <a:lnTo>
                  <a:pt x="2156054" y="313834"/>
                </a:lnTo>
                <a:lnTo>
                  <a:pt x="2157498" y="293885"/>
                </a:lnTo>
                <a:lnTo>
                  <a:pt x="2157207" y="285365"/>
                </a:lnTo>
                <a:lnTo>
                  <a:pt x="2156333" y="276274"/>
                </a:lnTo>
                <a:lnTo>
                  <a:pt x="2154876" y="266612"/>
                </a:lnTo>
                <a:lnTo>
                  <a:pt x="2152836" y="256381"/>
                </a:lnTo>
                <a:lnTo>
                  <a:pt x="2150796" y="246731"/>
                </a:lnTo>
                <a:lnTo>
                  <a:pt x="2149339" y="238819"/>
                </a:lnTo>
                <a:lnTo>
                  <a:pt x="2148464" y="232642"/>
                </a:lnTo>
                <a:lnTo>
                  <a:pt x="2148173" y="228202"/>
                </a:lnTo>
                <a:lnTo>
                  <a:pt x="2148173" y="219075"/>
                </a:lnTo>
                <a:lnTo>
                  <a:pt x="2186073" y="196650"/>
                </a:lnTo>
                <a:lnTo>
                  <a:pt x="2186073" y="180379"/>
                </a:lnTo>
                <a:lnTo>
                  <a:pt x="2148173" y="157956"/>
                </a:lnTo>
                <a:lnTo>
                  <a:pt x="2148173" y="148827"/>
                </a:lnTo>
                <a:lnTo>
                  <a:pt x="2148464" y="144387"/>
                </a:lnTo>
                <a:lnTo>
                  <a:pt x="2149382" y="137975"/>
                </a:lnTo>
                <a:lnTo>
                  <a:pt x="2150796" y="130298"/>
                </a:lnTo>
                <a:lnTo>
                  <a:pt x="2152836" y="120650"/>
                </a:lnTo>
                <a:lnTo>
                  <a:pt x="2154876" y="110417"/>
                </a:lnTo>
                <a:lnTo>
                  <a:pt x="2156333" y="100756"/>
                </a:lnTo>
                <a:lnTo>
                  <a:pt x="2157207" y="91664"/>
                </a:lnTo>
                <a:lnTo>
                  <a:pt x="2157498" y="83144"/>
                </a:lnTo>
                <a:lnTo>
                  <a:pt x="2156054" y="63803"/>
                </a:lnTo>
                <a:lnTo>
                  <a:pt x="2134381" y="21330"/>
                </a:lnTo>
                <a:lnTo>
                  <a:pt x="2086477" y="1630"/>
                </a:lnTo>
                <a:lnTo>
                  <a:pt x="2064630" y="0"/>
                </a:lnTo>
                <a:close/>
              </a:path>
              <a:path w="2186304" h="378460">
                <a:moveTo>
                  <a:pt x="126602" y="0"/>
                </a:moveTo>
                <a:lnTo>
                  <a:pt x="121443" y="0"/>
                </a:lnTo>
                <a:lnTo>
                  <a:pt x="99597" y="1630"/>
                </a:lnTo>
                <a:lnTo>
                  <a:pt x="51692" y="21330"/>
                </a:lnTo>
                <a:lnTo>
                  <a:pt x="30019" y="63691"/>
                </a:lnTo>
                <a:lnTo>
                  <a:pt x="28575" y="82946"/>
                </a:lnTo>
                <a:lnTo>
                  <a:pt x="28866" y="91466"/>
                </a:lnTo>
                <a:lnTo>
                  <a:pt x="29740" y="100557"/>
                </a:lnTo>
                <a:lnTo>
                  <a:pt x="31198" y="110219"/>
                </a:lnTo>
                <a:lnTo>
                  <a:pt x="33238" y="120450"/>
                </a:lnTo>
                <a:lnTo>
                  <a:pt x="35278" y="130099"/>
                </a:lnTo>
                <a:lnTo>
                  <a:pt x="36736" y="138012"/>
                </a:lnTo>
                <a:lnTo>
                  <a:pt x="37610" y="144189"/>
                </a:lnTo>
                <a:lnTo>
                  <a:pt x="37901" y="148629"/>
                </a:lnTo>
                <a:lnTo>
                  <a:pt x="37901" y="157756"/>
                </a:lnTo>
                <a:lnTo>
                  <a:pt x="0" y="180181"/>
                </a:lnTo>
                <a:lnTo>
                  <a:pt x="0" y="196452"/>
                </a:lnTo>
                <a:lnTo>
                  <a:pt x="37901" y="218875"/>
                </a:lnTo>
                <a:lnTo>
                  <a:pt x="37901" y="228004"/>
                </a:lnTo>
                <a:lnTo>
                  <a:pt x="37610" y="232444"/>
                </a:lnTo>
                <a:lnTo>
                  <a:pt x="36692" y="238856"/>
                </a:lnTo>
                <a:lnTo>
                  <a:pt x="35278" y="246533"/>
                </a:lnTo>
                <a:lnTo>
                  <a:pt x="33238" y="256181"/>
                </a:lnTo>
                <a:lnTo>
                  <a:pt x="31198" y="266414"/>
                </a:lnTo>
                <a:lnTo>
                  <a:pt x="29740" y="276075"/>
                </a:lnTo>
                <a:lnTo>
                  <a:pt x="28866" y="285166"/>
                </a:lnTo>
                <a:lnTo>
                  <a:pt x="28575" y="293687"/>
                </a:lnTo>
                <a:lnTo>
                  <a:pt x="30019" y="313723"/>
                </a:lnTo>
                <a:lnTo>
                  <a:pt x="51692" y="357087"/>
                </a:lnTo>
                <a:lnTo>
                  <a:pt x="99597" y="376788"/>
                </a:lnTo>
                <a:lnTo>
                  <a:pt x="121443" y="378419"/>
                </a:lnTo>
                <a:lnTo>
                  <a:pt x="126602" y="378419"/>
                </a:lnTo>
                <a:lnTo>
                  <a:pt x="126602" y="363338"/>
                </a:lnTo>
                <a:lnTo>
                  <a:pt x="123626" y="363338"/>
                </a:lnTo>
                <a:lnTo>
                  <a:pt x="110020" y="362401"/>
                </a:lnTo>
                <a:lnTo>
                  <a:pt x="71462" y="339544"/>
                </a:lnTo>
                <a:lnTo>
                  <a:pt x="62308" y="297258"/>
                </a:lnTo>
                <a:lnTo>
                  <a:pt x="62556" y="289903"/>
                </a:lnTo>
                <a:lnTo>
                  <a:pt x="63301" y="281730"/>
                </a:lnTo>
                <a:lnTo>
                  <a:pt x="64541" y="272739"/>
                </a:lnTo>
                <a:lnTo>
                  <a:pt x="66277" y="262929"/>
                </a:lnTo>
                <a:lnTo>
                  <a:pt x="68014" y="253441"/>
                </a:lnTo>
                <a:lnTo>
                  <a:pt x="69254" y="245417"/>
                </a:lnTo>
                <a:lnTo>
                  <a:pt x="69998" y="238856"/>
                </a:lnTo>
                <a:lnTo>
                  <a:pt x="70246" y="233758"/>
                </a:lnTo>
                <a:lnTo>
                  <a:pt x="69626" y="225703"/>
                </a:lnTo>
                <a:lnTo>
                  <a:pt x="43321" y="193035"/>
                </a:lnTo>
                <a:lnTo>
                  <a:pt x="36710" y="190102"/>
                </a:lnTo>
                <a:lnTo>
                  <a:pt x="36710" y="186531"/>
                </a:lnTo>
                <a:lnTo>
                  <a:pt x="67765" y="158228"/>
                </a:lnTo>
                <a:lnTo>
                  <a:pt x="70246" y="142875"/>
                </a:lnTo>
                <a:lnTo>
                  <a:pt x="69998" y="137777"/>
                </a:lnTo>
                <a:lnTo>
                  <a:pt x="69254" y="131216"/>
                </a:lnTo>
                <a:lnTo>
                  <a:pt x="68014" y="123192"/>
                </a:lnTo>
                <a:lnTo>
                  <a:pt x="66277" y="113704"/>
                </a:lnTo>
                <a:lnTo>
                  <a:pt x="64541" y="103894"/>
                </a:lnTo>
                <a:lnTo>
                  <a:pt x="63301" y="94902"/>
                </a:lnTo>
                <a:lnTo>
                  <a:pt x="62556" y="86729"/>
                </a:lnTo>
                <a:lnTo>
                  <a:pt x="62308" y="79375"/>
                </a:lnTo>
                <a:lnTo>
                  <a:pt x="63325" y="63419"/>
                </a:lnTo>
                <a:lnTo>
                  <a:pt x="87498" y="23508"/>
                </a:lnTo>
                <a:lnTo>
                  <a:pt x="123626" y="15081"/>
                </a:lnTo>
                <a:lnTo>
                  <a:pt x="126602" y="15081"/>
                </a:lnTo>
                <a:lnTo>
                  <a:pt x="1266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18108" y="3245757"/>
            <a:ext cx="8036559" cy="1120775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85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  <a:tab pos="1814195" algn="l"/>
                <a:tab pos="3880485" algn="l"/>
              </a:tabLst>
            </a:pPr>
            <a:r>
              <a:rPr dirty="0" sz="3200" spc="-15">
                <a:latin typeface="Calibri"/>
                <a:cs typeface="Calibri"/>
              </a:rPr>
              <a:t>For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>
                <a:latin typeface="Cambria Math"/>
                <a:cs typeface="Cambria Math"/>
              </a:rPr>
              <a:t>𝑘</a:t>
            </a:r>
            <a:r>
              <a:rPr dirty="0" sz="3200" spc="100"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∈	0, … , 𝐾</a:t>
            </a:r>
            <a:r>
              <a:rPr dirty="0" sz="3200" spc="-390"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− 1	</a:t>
            </a:r>
            <a:r>
              <a:rPr dirty="0" sz="3200">
                <a:latin typeface="Calibri"/>
                <a:cs typeface="Calibri"/>
              </a:rPr>
              <a:t>: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6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5">
                <a:latin typeface="Calibri"/>
                <a:cs typeface="Calibri"/>
              </a:rPr>
              <a:t>For </a:t>
            </a:r>
            <a:r>
              <a:rPr dirty="0" sz="2800" spc="-5">
                <a:latin typeface="Calibri"/>
                <a:cs typeface="Calibri"/>
              </a:rPr>
              <a:t>all </a:t>
            </a:r>
            <a:r>
              <a:rPr dirty="0" sz="2800">
                <a:latin typeface="Cambria Math"/>
                <a:cs typeface="Cambria Math"/>
              </a:rPr>
              <a:t>𝑣  ∈ </a:t>
            </a:r>
            <a:r>
              <a:rPr dirty="0" sz="2800" spc="35">
                <a:latin typeface="Cambria Math"/>
                <a:cs typeface="Cambria Math"/>
              </a:rPr>
              <a:t>𝑉</a:t>
            </a:r>
            <a:r>
              <a:rPr dirty="0" sz="2800" spc="35">
                <a:latin typeface="Calibri"/>
                <a:cs typeface="Calibri"/>
              </a:rPr>
              <a:t>, </a:t>
            </a:r>
            <a:r>
              <a:rPr dirty="0" sz="2800" spc="-20">
                <a:latin typeface="Calibri"/>
                <a:cs typeface="Calibri"/>
              </a:rPr>
              <a:t>aggregate </a:t>
            </a:r>
            <a:r>
              <a:rPr dirty="0" sz="2800" spc="-5">
                <a:latin typeface="Calibri"/>
                <a:cs typeface="Calibri"/>
              </a:rPr>
              <a:t>neighboring </a:t>
            </a:r>
            <a:r>
              <a:rPr dirty="0" sz="2800" spc="-15">
                <a:latin typeface="Calibri"/>
                <a:cs typeface="Calibri"/>
              </a:rPr>
              <a:t>information</a:t>
            </a:r>
            <a:r>
              <a:rPr dirty="0" sz="2800" spc="-254">
                <a:latin typeface="Calibri"/>
                <a:cs typeface="Calibri"/>
              </a:rPr>
              <a:t> </a:t>
            </a:r>
            <a:r>
              <a:rPr dirty="0" sz="2800" spc="-245">
                <a:latin typeface="Calibri"/>
                <a:cs typeface="Calibri"/>
              </a:rPr>
              <a:t>as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10612" y="4792979"/>
            <a:ext cx="16954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300">
                <a:latin typeface="Cambria Math"/>
                <a:cs typeface="Cambria Math"/>
              </a:rPr>
              <a:t>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13762" y="4599939"/>
            <a:ext cx="222504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50">
                <a:latin typeface="Cambria Math"/>
                <a:cs typeface="Cambria Math"/>
              </a:rPr>
              <a:t>ℎ</a:t>
            </a:r>
            <a:r>
              <a:rPr dirty="0" baseline="41666" sz="3000" spc="75">
                <a:latin typeface="Cambria Math"/>
                <a:cs typeface="Cambria Math"/>
              </a:rPr>
              <a:t>(%&gt;.) </a:t>
            </a:r>
            <a:r>
              <a:rPr dirty="0" sz="2800">
                <a:latin typeface="Cambria Math"/>
                <a:cs typeface="Cambria Math"/>
              </a:rPr>
              <a:t>=</a:t>
            </a:r>
            <a:r>
              <a:rPr dirty="0" sz="2800" spc="240">
                <a:latin typeface="Cambria Math"/>
                <a:cs typeface="Cambria Math"/>
              </a:rPr>
              <a:t> </a:t>
            </a:r>
            <a:r>
              <a:rPr dirty="0" sz="2800" spc="-35">
                <a:latin typeface="Cambria Math"/>
                <a:cs typeface="Cambria Math"/>
              </a:rPr>
              <a:t>ReLU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715589" y="4573416"/>
            <a:ext cx="3558540" cy="586740"/>
          </a:xfrm>
          <a:custGeom>
            <a:avLst/>
            <a:gdLst/>
            <a:ahLst/>
            <a:cxnLst/>
            <a:rect l="l" t="t" r="r" b="b"/>
            <a:pathLst>
              <a:path w="3558540" h="586739">
                <a:moveTo>
                  <a:pt x="3431331" y="0"/>
                </a:moveTo>
                <a:lnTo>
                  <a:pt x="3425775" y="13889"/>
                </a:lnTo>
                <a:lnTo>
                  <a:pt x="3447637" y="31660"/>
                </a:lnTo>
                <a:lnTo>
                  <a:pt x="3467035" y="54759"/>
                </a:lnTo>
                <a:lnTo>
                  <a:pt x="3498441" y="116941"/>
                </a:lnTo>
                <a:lnTo>
                  <a:pt x="3510025" y="155287"/>
                </a:lnTo>
                <a:lnTo>
                  <a:pt x="3518300" y="197485"/>
                </a:lnTo>
                <a:lnTo>
                  <a:pt x="3523264" y="243536"/>
                </a:lnTo>
                <a:lnTo>
                  <a:pt x="3524919" y="293439"/>
                </a:lnTo>
                <a:lnTo>
                  <a:pt x="3523275" y="342555"/>
                </a:lnTo>
                <a:lnTo>
                  <a:pt x="3518343" y="388156"/>
                </a:lnTo>
                <a:lnTo>
                  <a:pt x="3510122" y="430240"/>
                </a:lnTo>
                <a:lnTo>
                  <a:pt x="3498613" y="468807"/>
                </a:lnTo>
                <a:lnTo>
                  <a:pt x="3467251" y="531576"/>
                </a:lnTo>
                <a:lnTo>
                  <a:pt x="3425775" y="572640"/>
                </a:lnTo>
                <a:lnTo>
                  <a:pt x="3431331" y="586531"/>
                </a:lnTo>
                <a:lnTo>
                  <a:pt x="3483530" y="544772"/>
                </a:lnTo>
                <a:lnTo>
                  <a:pt x="3523791" y="477837"/>
                </a:lnTo>
                <a:lnTo>
                  <a:pt x="3538794" y="436469"/>
                </a:lnTo>
                <a:lnTo>
                  <a:pt x="3549510" y="391888"/>
                </a:lnTo>
                <a:lnTo>
                  <a:pt x="3555940" y="344096"/>
                </a:lnTo>
                <a:lnTo>
                  <a:pt x="3558084" y="293091"/>
                </a:lnTo>
                <a:lnTo>
                  <a:pt x="3555940" y="241826"/>
                </a:lnTo>
                <a:lnTo>
                  <a:pt x="3549510" y="193947"/>
                </a:lnTo>
                <a:lnTo>
                  <a:pt x="3538794" y="149454"/>
                </a:lnTo>
                <a:lnTo>
                  <a:pt x="3523791" y="108346"/>
                </a:lnTo>
                <a:lnTo>
                  <a:pt x="3505153" y="72013"/>
                </a:lnTo>
                <a:lnTo>
                  <a:pt x="3458923" y="17840"/>
                </a:lnTo>
                <a:lnTo>
                  <a:pt x="3431331" y="0"/>
                </a:lnTo>
                <a:close/>
              </a:path>
              <a:path w="3558540" h="586739">
                <a:moveTo>
                  <a:pt x="126578" y="0"/>
                </a:moveTo>
                <a:lnTo>
                  <a:pt x="74510" y="41845"/>
                </a:lnTo>
                <a:lnTo>
                  <a:pt x="34292" y="108346"/>
                </a:lnTo>
                <a:lnTo>
                  <a:pt x="19289" y="149454"/>
                </a:lnTo>
                <a:lnTo>
                  <a:pt x="8573" y="193947"/>
                </a:lnTo>
                <a:lnTo>
                  <a:pt x="2143" y="241826"/>
                </a:lnTo>
                <a:lnTo>
                  <a:pt x="0" y="293091"/>
                </a:lnTo>
                <a:lnTo>
                  <a:pt x="2143" y="344096"/>
                </a:lnTo>
                <a:lnTo>
                  <a:pt x="8573" y="391888"/>
                </a:lnTo>
                <a:lnTo>
                  <a:pt x="19289" y="436469"/>
                </a:lnTo>
                <a:lnTo>
                  <a:pt x="34292" y="477837"/>
                </a:lnTo>
                <a:lnTo>
                  <a:pt x="52920" y="514452"/>
                </a:lnTo>
                <a:lnTo>
                  <a:pt x="99063" y="568799"/>
                </a:lnTo>
                <a:lnTo>
                  <a:pt x="126578" y="586531"/>
                </a:lnTo>
                <a:lnTo>
                  <a:pt x="132308" y="572640"/>
                </a:lnTo>
                <a:lnTo>
                  <a:pt x="110235" y="554821"/>
                </a:lnTo>
                <a:lnTo>
                  <a:pt x="90723" y="531576"/>
                </a:lnTo>
                <a:lnTo>
                  <a:pt x="59382" y="468807"/>
                </a:lnTo>
                <a:lnTo>
                  <a:pt x="47912" y="430240"/>
                </a:lnTo>
                <a:lnTo>
                  <a:pt x="39719" y="388156"/>
                </a:lnTo>
                <a:lnTo>
                  <a:pt x="34803" y="342555"/>
                </a:lnTo>
                <a:lnTo>
                  <a:pt x="33164" y="293439"/>
                </a:lnTo>
                <a:lnTo>
                  <a:pt x="34819" y="243536"/>
                </a:lnTo>
                <a:lnTo>
                  <a:pt x="39784" y="197485"/>
                </a:lnTo>
                <a:lnTo>
                  <a:pt x="48058" y="155287"/>
                </a:lnTo>
                <a:lnTo>
                  <a:pt x="59643" y="116941"/>
                </a:lnTo>
                <a:lnTo>
                  <a:pt x="91048" y="54759"/>
                </a:lnTo>
                <a:lnTo>
                  <a:pt x="132308" y="13889"/>
                </a:lnTo>
                <a:lnTo>
                  <a:pt x="1265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3859338" y="4630350"/>
            <a:ext cx="504825" cy="4679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220"/>
              </a:lnSpc>
            </a:pPr>
            <a:r>
              <a:rPr dirty="0" sz="2800" spc="-5">
                <a:latin typeface="Cambria Math"/>
                <a:cs typeface="Cambria Math"/>
              </a:rPr>
              <a:t>𝑾</a:t>
            </a:r>
            <a:r>
              <a:rPr dirty="0" baseline="-16666" sz="3000">
                <a:latin typeface="Cambria Math"/>
                <a:cs typeface="Cambria Math"/>
              </a:rPr>
              <a:t>𝒌</a:t>
            </a:r>
            <a:endParaRPr baseline="-16666" sz="300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826923" y="4956793"/>
            <a:ext cx="321310" cy="235585"/>
          </a:xfrm>
          <a:custGeom>
            <a:avLst/>
            <a:gdLst/>
            <a:ahLst/>
            <a:cxnLst/>
            <a:rect l="l" t="t" r="r" b="b"/>
            <a:pathLst>
              <a:path w="321310" h="235585">
                <a:moveTo>
                  <a:pt x="246151" y="0"/>
                </a:moveTo>
                <a:lnTo>
                  <a:pt x="242802" y="9549"/>
                </a:lnTo>
                <a:lnTo>
                  <a:pt x="256421" y="15459"/>
                </a:lnTo>
                <a:lnTo>
                  <a:pt x="268133" y="23641"/>
                </a:lnTo>
                <a:lnTo>
                  <a:pt x="291915" y="61565"/>
                </a:lnTo>
                <a:lnTo>
                  <a:pt x="299728" y="116457"/>
                </a:lnTo>
                <a:lnTo>
                  <a:pt x="298856" y="137208"/>
                </a:lnTo>
                <a:lnTo>
                  <a:pt x="285776" y="188019"/>
                </a:lnTo>
                <a:lnTo>
                  <a:pt x="256580" y="219784"/>
                </a:lnTo>
                <a:lnTo>
                  <a:pt x="243174" y="225722"/>
                </a:lnTo>
                <a:lnTo>
                  <a:pt x="246151" y="235272"/>
                </a:lnTo>
                <a:lnTo>
                  <a:pt x="291101" y="208564"/>
                </a:lnTo>
                <a:lnTo>
                  <a:pt x="316348" y="159261"/>
                </a:lnTo>
                <a:lnTo>
                  <a:pt x="321185" y="117697"/>
                </a:lnTo>
                <a:lnTo>
                  <a:pt x="319972" y="96129"/>
                </a:lnTo>
                <a:lnTo>
                  <a:pt x="310266" y="57899"/>
                </a:lnTo>
                <a:lnTo>
                  <a:pt x="278164" y="15083"/>
                </a:lnTo>
                <a:lnTo>
                  <a:pt x="263208" y="6158"/>
                </a:lnTo>
                <a:lnTo>
                  <a:pt x="246151" y="0"/>
                </a:lnTo>
                <a:close/>
              </a:path>
              <a:path w="321310" h="235585">
                <a:moveTo>
                  <a:pt x="75034" y="0"/>
                </a:moveTo>
                <a:lnTo>
                  <a:pt x="30164" y="26776"/>
                </a:lnTo>
                <a:lnTo>
                  <a:pt x="4852" y="76196"/>
                </a:lnTo>
                <a:lnTo>
                  <a:pt x="0" y="117697"/>
                </a:lnTo>
                <a:lnTo>
                  <a:pt x="1209" y="139312"/>
                </a:lnTo>
                <a:lnTo>
                  <a:pt x="10882" y="177543"/>
                </a:lnTo>
                <a:lnTo>
                  <a:pt x="42942" y="220219"/>
                </a:lnTo>
                <a:lnTo>
                  <a:pt x="75034" y="235272"/>
                </a:lnTo>
                <a:lnTo>
                  <a:pt x="78011" y="225722"/>
                </a:lnTo>
                <a:lnTo>
                  <a:pt x="64604" y="219784"/>
                </a:lnTo>
                <a:lnTo>
                  <a:pt x="53035" y="211521"/>
                </a:lnTo>
                <a:lnTo>
                  <a:pt x="29304" y="172989"/>
                </a:lnTo>
                <a:lnTo>
                  <a:pt x="21456" y="116457"/>
                </a:lnTo>
                <a:lnTo>
                  <a:pt x="22328" y="96385"/>
                </a:lnTo>
                <a:lnTo>
                  <a:pt x="35408" y="46818"/>
                </a:lnTo>
                <a:lnTo>
                  <a:pt x="64813" y="15459"/>
                </a:lnTo>
                <a:lnTo>
                  <a:pt x="78383" y="9549"/>
                </a:lnTo>
                <a:lnTo>
                  <a:pt x="750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126450" y="4872275"/>
            <a:ext cx="321310" cy="235585"/>
          </a:xfrm>
          <a:custGeom>
            <a:avLst/>
            <a:gdLst/>
            <a:ahLst/>
            <a:cxnLst/>
            <a:rect l="l" t="t" r="r" b="b"/>
            <a:pathLst>
              <a:path w="321310" h="235585">
                <a:moveTo>
                  <a:pt x="246150" y="0"/>
                </a:moveTo>
                <a:lnTo>
                  <a:pt x="242802" y="9549"/>
                </a:lnTo>
                <a:lnTo>
                  <a:pt x="256421" y="15459"/>
                </a:lnTo>
                <a:lnTo>
                  <a:pt x="268133" y="23641"/>
                </a:lnTo>
                <a:lnTo>
                  <a:pt x="291915" y="61565"/>
                </a:lnTo>
                <a:lnTo>
                  <a:pt x="299728" y="116457"/>
                </a:lnTo>
                <a:lnTo>
                  <a:pt x="298856" y="137208"/>
                </a:lnTo>
                <a:lnTo>
                  <a:pt x="285776" y="188019"/>
                </a:lnTo>
                <a:lnTo>
                  <a:pt x="256580" y="219784"/>
                </a:lnTo>
                <a:lnTo>
                  <a:pt x="243174" y="225722"/>
                </a:lnTo>
                <a:lnTo>
                  <a:pt x="246150" y="235272"/>
                </a:lnTo>
                <a:lnTo>
                  <a:pt x="291101" y="208564"/>
                </a:lnTo>
                <a:lnTo>
                  <a:pt x="316347" y="159261"/>
                </a:lnTo>
                <a:lnTo>
                  <a:pt x="321184" y="117697"/>
                </a:lnTo>
                <a:lnTo>
                  <a:pt x="319971" y="96129"/>
                </a:lnTo>
                <a:lnTo>
                  <a:pt x="310266" y="57899"/>
                </a:lnTo>
                <a:lnTo>
                  <a:pt x="278164" y="15083"/>
                </a:lnTo>
                <a:lnTo>
                  <a:pt x="263207" y="6158"/>
                </a:lnTo>
                <a:lnTo>
                  <a:pt x="246150" y="0"/>
                </a:lnTo>
                <a:close/>
              </a:path>
              <a:path w="321310" h="235585">
                <a:moveTo>
                  <a:pt x="75034" y="0"/>
                </a:moveTo>
                <a:lnTo>
                  <a:pt x="30164" y="26776"/>
                </a:lnTo>
                <a:lnTo>
                  <a:pt x="4852" y="76196"/>
                </a:lnTo>
                <a:lnTo>
                  <a:pt x="0" y="117697"/>
                </a:lnTo>
                <a:lnTo>
                  <a:pt x="1209" y="139312"/>
                </a:lnTo>
                <a:lnTo>
                  <a:pt x="10882" y="177543"/>
                </a:lnTo>
                <a:lnTo>
                  <a:pt x="42942" y="220219"/>
                </a:lnTo>
                <a:lnTo>
                  <a:pt x="75034" y="235272"/>
                </a:lnTo>
                <a:lnTo>
                  <a:pt x="78011" y="225722"/>
                </a:lnTo>
                <a:lnTo>
                  <a:pt x="64604" y="219784"/>
                </a:lnTo>
                <a:lnTo>
                  <a:pt x="53035" y="211521"/>
                </a:lnTo>
                <a:lnTo>
                  <a:pt x="29304" y="172989"/>
                </a:lnTo>
                <a:lnTo>
                  <a:pt x="21455" y="116457"/>
                </a:lnTo>
                <a:lnTo>
                  <a:pt x="22327" y="96385"/>
                </a:lnTo>
                <a:lnTo>
                  <a:pt x="35408" y="46818"/>
                </a:lnTo>
                <a:lnTo>
                  <a:pt x="64813" y="15459"/>
                </a:lnTo>
                <a:lnTo>
                  <a:pt x="78383" y="9549"/>
                </a:lnTo>
                <a:lnTo>
                  <a:pt x="750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519103" y="4519626"/>
            <a:ext cx="2593975" cy="6851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92100">
              <a:lnSpc>
                <a:spcPts val="2440"/>
              </a:lnSpc>
              <a:tabLst>
                <a:tab pos="795020" algn="l"/>
                <a:tab pos="2012314" algn="l"/>
              </a:tabLst>
            </a:pPr>
            <a:r>
              <a:rPr dirty="0" baseline="4166" sz="3000" spc="1110">
                <a:latin typeface="Cambria Math"/>
                <a:cs typeface="Cambria Math"/>
              </a:rPr>
              <a:t>.</a:t>
            </a:r>
            <a:r>
              <a:rPr dirty="0" baseline="4166" sz="3000" spc="1110">
                <a:latin typeface="Cambria Math"/>
                <a:cs typeface="Cambria Math"/>
              </a:rPr>
              <a:t>	</a:t>
            </a:r>
            <a:r>
              <a:rPr dirty="0" baseline="-26785" sz="4200" spc="1110">
                <a:latin typeface="Cambria Math"/>
                <a:cs typeface="Cambria Math"/>
              </a:rPr>
              <a:t>∑	</a:t>
            </a:r>
            <a:r>
              <a:rPr dirty="0" baseline="-29761" sz="4200" spc="52">
                <a:latin typeface="Cambria Math"/>
                <a:cs typeface="Cambria Math"/>
              </a:rPr>
              <a:t>ℎ</a:t>
            </a:r>
            <a:r>
              <a:rPr dirty="0" sz="2000" spc="10">
                <a:latin typeface="Cambria Math"/>
                <a:cs typeface="Cambria Math"/>
              </a:rPr>
              <a:t>(</a:t>
            </a:r>
            <a:r>
              <a:rPr dirty="0" sz="2000" spc="-484">
                <a:latin typeface="Cambria Math"/>
                <a:cs typeface="Cambria Math"/>
              </a:rPr>
              <a:t>%</a:t>
            </a:r>
            <a:r>
              <a:rPr dirty="0" sz="2000">
                <a:latin typeface="Cambria Math"/>
                <a:cs typeface="Cambria Math"/>
              </a:rPr>
              <a:t>)</a:t>
            </a:r>
            <a:endParaRPr sz="2000">
              <a:latin typeface="Cambria Math"/>
              <a:cs typeface="Cambria Math"/>
            </a:endParaRPr>
          </a:p>
          <a:p>
            <a:pPr>
              <a:lnSpc>
                <a:spcPts val="2235"/>
              </a:lnSpc>
              <a:tabLst>
                <a:tab pos="1047115" algn="l"/>
                <a:tab pos="2209165" algn="l"/>
              </a:tabLst>
            </a:pPr>
            <a:r>
              <a:rPr dirty="0" baseline="-18055" sz="3000" spc="300">
                <a:latin typeface="Cambria Math"/>
                <a:cs typeface="Cambria Math"/>
              </a:rPr>
              <a:t>|2</a:t>
            </a:r>
            <a:r>
              <a:rPr dirty="0" baseline="-18055" sz="3000" spc="727">
                <a:latin typeface="Cambria Math"/>
                <a:cs typeface="Cambria Math"/>
              </a:rPr>
              <a:t> </a:t>
            </a:r>
            <a:r>
              <a:rPr dirty="0" baseline="-18055" sz="3000" spc="450">
                <a:latin typeface="Cambria Math"/>
                <a:cs typeface="Cambria Math"/>
              </a:rPr>
              <a:t>)</a:t>
            </a:r>
            <a:r>
              <a:rPr dirty="0" baseline="-18055" sz="3000" spc="712">
                <a:latin typeface="Cambria Math"/>
                <a:cs typeface="Cambria Math"/>
              </a:rPr>
              <a:t> </a:t>
            </a:r>
            <a:r>
              <a:rPr dirty="0" baseline="-18055" sz="3000">
                <a:latin typeface="Cambria Math"/>
                <a:cs typeface="Cambria Math"/>
              </a:rPr>
              <a:t>|	</a:t>
            </a:r>
            <a:r>
              <a:rPr dirty="0" sz="2000" spc="175">
                <a:latin typeface="Cambria Math"/>
                <a:cs typeface="Cambria Math"/>
              </a:rPr>
              <a:t>#∈2</a:t>
            </a:r>
            <a:r>
              <a:rPr dirty="0" sz="2000" spc="484">
                <a:latin typeface="Cambria Math"/>
                <a:cs typeface="Cambria Math"/>
              </a:rPr>
              <a:t> </a:t>
            </a:r>
            <a:r>
              <a:rPr dirty="0" sz="2000" spc="300">
                <a:latin typeface="Cambria Math"/>
                <a:cs typeface="Cambria Math"/>
              </a:rPr>
              <a:t>)	</a:t>
            </a:r>
            <a:r>
              <a:rPr dirty="0" sz="2000" spc="55">
                <a:latin typeface="Cambria Math"/>
                <a:cs typeface="Cambria Math"/>
              </a:rPr>
              <a:t>#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023545" y="6214871"/>
            <a:ext cx="191135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530">
                <a:latin typeface="Cambria Math"/>
                <a:cs typeface="Cambria Math"/>
              </a:rPr>
              <a:t>-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18108" y="5996940"/>
            <a:ext cx="590613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008000"/>
                </a:solidFill>
                <a:latin typeface="Calibri"/>
                <a:cs typeface="Calibri"/>
              </a:rPr>
              <a:t>Final node embedding</a:t>
            </a:r>
            <a:r>
              <a:rPr dirty="0" sz="3200" spc="-5">
                <a:latin typeface="Calibri"/>
                <a:cs typeface="Calibri"/>
              </a:rPr>
              <a:t>: </a:t>
            </a:r>
            <a:r>
              <a:rPr dirty="0" sz="3200" spc="225">
                <a:latin typeface="Cambria Math"/>
                <a:cs typeface="Cambria Math"/>
              </a:rPr>
              <a:t>𝑧</a:t>
            </a:r>
            <a:r>
              <a:rPr dirty="0" baseline="-15700" sz="3450" spc="337">
                <a:latin typeface="Cambria Math"/>
                <a:cs typeface="Cambria Math"/>
              </a:rPr>
              <a:t>- </a:t>
            </a:r>
            <a:r>
              <a:rPr dirty="0" sz="3200">
                <a:latin typeface="Cambria Math"/>
                <a:cs typeface="Cambria Math"/>
              </a:rPr>
              <a:t>=</a:t>
            </a:r>
            <a:r>
              <a:rPr dirty="0" sz="3200" spc="175">
                <a:latin typeface="Cambria Math"/>
                <a:cs typeface="Cambria Math"/>
              </a:rPr>
              <a:t> </a:t>
            </a:r>
            <a:r>
              <a:rPr dirty="0" sz="3200" spc="210">
                <a:latin typeface="Cambria Math"/>
                <a:cs typeface="Cambria Math"/>
              </a:rPr>
              <a:t>ℎ</a:t>
            </a:r>
            <a:r>
              <a:rPr dirty="0" baseline="41062" sz="3450" spc="315">
                <a:latin typeface="Cambria Math"/>
                <a:cs typeface="Cambria Math"/>
              </a:rPr>
              <a:t>(()</a:t>
            </a:r>
            <a:endParaRPr baseline="41062" sz="345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85216" y="347472"/>
            <a:ext cx="5949696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810000" y="4572000"/>
            <a:ext cx="609600" cy="513080"/>
          </a:xfrm>
          <a:custGeom>
            <a:avLst/>
            <a:gdLst/>
            <a:ahLst/>
            <a:cxnLst/>
            <a:rect l="l" t="t" r="r" b="b"/>
            <a:pathLst>
              <a:path w="609600" h="513079">
                <a:moveTo>
                  <a:pt x="0" y="0"/>
                </a:moveTo>
                <a:lnTo>
                  <a:pt x="609600" y="0"/>
                </a:lnTo>
                <a:lnTo>
                  <a:pt x="609600" y="512521"/>
                </a:lnTo>
                <a:lnTo>
                  <a:pt x="0" y="512521"/>
                </a:lnTo>
                <a:lnTo>
                  <a:pt x="0" y="0"/>
                </a:lnTo>
                <a:close/>
              </a:path>
            </a:pathLst>
          </a:custGeom>
          <a:solidFill>
            <a:srgbClr val="D60093">
              <a:alpha val="3685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798887" y="4560887"/>
            <a:ext cx="631825" cy="535305"/>
          </a:xfrm>
          <a:custGeom>
            <a:avLst/>
            <a:gdLst/>
            <a:ahLst/>
            <a:cxnLst/>
            <a:rect l="l" t="t" r="r" b="b"/>
            <a:pathLst>
              <a:path w="631825" h="535304">
                <a:moveTo>
                  <a:pt x="626849" y="0"/>
                </a:moveTo>
                <a:lnTo>
                  <a:pt x="4974" y="0"/>
                </a:lnTo>
                <a:lnTo>
                  <a:pt x="0" y="4974"/>
                </a:lnTo>
                <a:lnTo>
                  <a:pt x="0" y="529770"/>
                </a:lnTo>
                <a:lnTo>
                  <a:pt x="4974" y="534746"/>
                </a:lnTo>
                <a:lnTo>
                  <a:pt x="626849" y="534746"/>
                </a:lnTo>
                <a:lnTo>
                  <a:pt x="631825" y="529770"/>
                </a:lnTo>
                <a:lnTo>
                  <a:pt x="631825" y="521411"/>
                </a:lnTo>
                <a:lnTo>
                  <a:pt x="13335" y="521411"/>
                </a:lnTo>
                <a:lnTo>
                  <a:pt x="13335" y="13335"/>
                </a:lnTo>
                <a:lnTo>
                  <a:pt x="631825" y="13335"/>
                </a:lnTo>
                <a:lnTo>
                  <a:pt x="631825" y="4974"/>
                </a:lnTo>
                <a:lnTo>
                  <a:pt x="626849" y="0"/>
                </a:lnTo>
                <a:close/>
              </a:path>
              <a:path w="631825" h="535304">
                <a:moveTo>
                  <a:pt x="631825" y="13335"/>
                </a:moveTo>
                <a:lnTo>
                  <a:pt x="618489" y="13335"/>
                </a:lnTo>
                <a:lnTo>
                  <a:pt x="618489" y="521411"/>
                </a:lnTo>
                <a:lnTo>
                  <a:pt x="631825" y="521411"/>
                </a:lnTo>
                <a:lnTo>
                  <a:pt x="631825" y="13335"/>
                </a:lnTo>
                <a:close/>
              </a:path>
              <a:path w="631825" h="535304">
                <a:moveTo>
                  <a:pt x="614045" y="17780"/>
                </a:moveTo>
                <a:lnTo>
                  <a:pt x="17779" y="17780"/>
                </a:lnTo>
                <a:lnTo>
                  <a:pt x="17779" y="516966"/>
                </a:lnTo>
                <a:lnTo>
                  <a:pt x="614045" y="516966"/>
                </a:lnTo>
                <a:lnTo>
                  <a:pt x="614045" y="512521"/>
                </a:lnTo>
                <a:lnTo>
                  <a:pt x="22225" y="512521"/>
                </a:lnTo>
                <a:lnTo>
                  <a:pt x="22225" y="22225"/>
                </a:lnTo>
                <a:lnTo>
                  <a:pt x="614045" y="22225"/>
                </a:lnTo>
                <a:lnTo>
                  <a:pt x="614045" y="17780"/>
                </a:lnTo>
                <a:close/>
              </a:path>
              <a:path w="631825" h="535304">
                <a:moveTo>
                  <a:pt x="614045" y="22225"/>
                </a:moveTo>
                <a:lnTo>
                  <a:pt x="609600" y="22225"/>
                </a:lnTo>
                <a:lnTo>
                  <a:pt x="609600" y="512521"/>
                </a:lnTo>
                <a:lnTo>
                  <a:pt x="614045" y="512521"/>
                </a:lnTo>
                <a:lnTo>
                  <a:pt x="614045" y="22225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187800" y="5040884"/>
            <a:ext cx="32010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solidFill>
                  <a:srgbClr val="D60093"/>
                </a:solidFill>
                <a:latin typeface="Calibri"/>
                <a:cs typeface="Calibri"/>
              </a:rPr>
              <a:t>Trainable </a:t>
            </a:r>
            <a:r>
              <a:rPr dirty="0" sz="2400" spc="-10">
                <a:solidFill>
                  <a:srgbClr val="D60093"/>
                </a:solidFill>
                <a:latin typeface="Calibri"/>
                <a:cs typeface="Calibri"/>
              </a:rPr>
              <a:t>weight</a:t>
            </a:r>
            <a:r>
              <a:rPr dirty="0" sz="2400" spc="-55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2400" spc="-5">
                <a:solidFill>
                  <a:srgbClr val="D60093"/>
                </a:solidFill>
                <a:latin typeface="Calibri"/>
                <a:cs typeface="Calibri"/>
              </a:rPr>
              <a:t>matrices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542892" y="5409691"/>
            <a:ext cx="24911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D60093"/>
                </a:solidFill>
                <a:latin typeface="Calibri"/>
                <a:cs typeface="Calibri"/>
              </a:rPr>
              <a:t>(i.e., </a:t>
            </a:r>
            <a:r>
              <a:rPr dirty="0" sz="2400" spc="-10">
                <a:solidFill>
                  <a:srgbClr val="D60093"/>
                </a:solidFill>
                <a:latin typeface="Calibri"/>
                <a:cs typeface="Calibri"/>
              </a:rPr>
              <a:t>what </a:t>
            </a:r>
            <a:r>
              <a:rPr dirty="0" sz="2400" spc="-15">
                <a:solidFill>
                  <a:srgbClr val="D60093"/>
                </a:solidFill>
                <a:latin typeface="Calibri"/>
                <a:cs typeface="Calibri"/>
              </a:rPr>
              <a:t>we</a:t>
            </a:r>
            <a:r>
              <a:rPr dirty="0" sz="2400" spc="-50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2400" spc="-5">
                <a:solidFill>
                  <a:srgbClr val="D60093"/>
                </a:solidFill>
                <a:latin typeface="Calibri"/>
                <a:cs typeface="Calibri"/>
              </a:rPr>
              <a:t>learn)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453474" y="4421756"/>
            <a:ext cx="2709545" cy="868680"/>
          </a:xfrm>
          <a:custGeom>
            <a:avLst/>
            <a:gdLst/>
            <a:ahLst/>
            <a:cxnLst/>
            <a:rect l="l" t="t" r="r" b="b"/>
            <a:pathLst>
              <a:path w="2709545" h="868679">
                <a:moveTo>
                  <a:pt x="0" y="0"/>
                </a:moveTo>
                <a:lnTo>
                  <a:pt x="2709325" y="0"/>
                </a:lnTo>
                <a:lnTo>
                  <a:pt x="2709325" y="868679"/>
                </a:lnTo>
                <a:lnTo>
                  <a:pt x="0" y="868679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2705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442362" y="4410643"/>
            <a:ext cx="2731770" cy="890905"/>
          </a:xfrm>
          <a:custGeom>
            <a:avLst/>
            <a:gdLst/>
            <a:ahLst/>
            <a:cxnLst/>
            <a:rect l="l" t="t" r="r" b="b"/>
            <a:pathLst>
              <a:path w="2731770" h="890904">
                <a:moveTo>
                  <a:pt x="2726574" y="0"/>
                </a:moveTo>
                <a:lnTo>
                  <a:pt x="4975" y="0"/>
                </a:lnTo>
                <a:lnTo>
                  <a:pt x="0" y="4974"/>
                </a:lnTo>
                <a:lnTo>
                  <a:pt x="0" y="885929"/>
                </a:lnTo>
                <a:lnTo>
                  <a:pt x="4975" y="890904"/>
                </a:lnTo>
                <a:lnTo>
                  <a:pt x="2726574" y="890904"/>
                </a:lnTo>
                <a:lnTo>
                  <a:pt x="2731550" y="885929"/>
                </a:lnTo>
                <a:lnTo>
                  <a:pt x="2731550" y="877569"/>
                </a:lnTo>
                <a:lnTo>
                  <a:pt x="13335" y="877569"/>
                </a:lnTo>
                <a:lnTo>
                  <a:pt x="13335" y="13334"/>
                </a:lnTo>
                <a:lnTo>
                  <a:pt x="2731550" y="13334"/>
                </a:lnTo>
                <a:lnTo>
                  <a:pt x="2731550" y="4974"/>
                </a:lnTo>
                <a:lnTo>
                  <a:pt x="2726574" y="0"/>
                </a:lnTo>
                <a:close/>
              </a:path>
              <a:path w="2731770" h="890904">
                <a:moveTo>
                  <a:pt x="2731550" y="13334"/>
                </a:moveTo>
                <a:lnTo>
                  <a:pt x="2718215" y="13334"/>
                </a:lnTo>
                <a:lnTo>
                  <a:pt x="2718215" y="877569"/>
                </a:lnTo>
                <a:lnTo>
                  <a:pt x="2731550" y="877569"/>
                </a:lnTo>
                <a:lnTo>
                  <a:pt x="2731550" y="13334"/>
                </a:lnTo>
                <a:close/>
              </a:path>
              <a:path w="2731770" h="890904">
                <a:moveTo>
                  <a:pt x="2713770" y="17779"/>
                </a:moveTo>
                <a:lnTo>
                  <a:pt x="17779" y="17779"/>
                </a:lnTo>
                <a:lnTo>
                  <a:pt x="17779" y="873124"/>
                </a:lnTo>
                <a:lnTo>
                  <a:pt x="2713770" y="873124"/>
                </a:lnTo>
                <a:lnTo>
                  <a:pt x="2713770" y="868679"/>
                </a:lnTo>
                <a:lnTo>
                  <a:pt x="22225" y="868679"/>
                </a:lnTo>
                <a:lnTo>
                  <a:pt x="22225" y="22225"/>
                </a:lnTo>
                <a:lnTo>
                  <a:pt x="2713770" y="22225"/>
                </a:lnTo>
                <a:lnTo>
                  <a:pt x="2713770" y="17779"/>
                </a:lnTo>
                <a:close/>
              </a:path>
              <a:path w="2731770" h="890904">
                <a:moveTo>
                  <a:pt x="2713770" y="22225"/>
                </a:moveTo>
                <a:lnTo>
                  <a:pt x="2709325" y="22225"/>
                </a:lnTo>
                <a:lnTo>
                  <a:pt x="2709325" y="868679"/>
                </a:lnTo>
                <a:lnTo>
                  <a:pt x="2713770" y="868679"/>
                </a:lnTo>
                <a:lnTo>
                  <a:pt x="2713770" y="22225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5500060" y="5293867"/>
            <a:ext cx="17627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0000FF"/>
                </a:solidFill>
                <a:latin typeface="Calibri"/>
                <a:cs typeface="Calibri"/>
              </a:rPr>
              <a:t>Mean-pooling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152990" y="2383808"/>
            <a:ext cx="483234" cy="462280"/>
          </a:xfrm>
          <a:custGeom>
            <a:avLst/>
            <a:gdLst/>
            <a:ahLst/>
            <a:cxnLst/>
            <a:rect l="l" t="t" r="r" b="b"/>
            <a:pathLst>
              <a:path w="483235" h="462280">
                <a:moveTo>
                  <a:pt x="259894" y="0"/>
                </a:moveTo>
                <a:lnTo>
                  <a:pt x="308183" y="8575"/>
                </a:lnTo>
                <a:lnTo>
                  <a:pt x="352435" y="25644"/>
                </a:lnTo>
                <a:lnTo>
                  <a:pt x="391752" y="50201"/>
                </a:lnTo>
                <a:lnTo>
                  <a:pt x="425237" y="81241"/>
                </a:lnTo>
                <a:lnTo>
                  <a:pt x="451995" y="117758"/>
                </a:lnTo>
                <a:lnTo>
                  <a:pt x="471127" y="158746"/>
                </a:lnTo>
                <a:lnTo>
                  <a:pt x="481737" y="203199"/>
                </a:lnTo>
                <a:lnTo>
                  <a:pt x="482929" y="250112"/>
                </a:lnTo>
                <a:lnTo>
                  <a:pt x="474309" y="296241"/>
                </a:lnTo>
                <a:lnTo>
                  <a:pt x="456779" y="338447"/>
                </a:lnTo>
                <a:lnTo>
                  <a:pt x="431386" y="375880"/>
                </a:lnTo>
                <a:lnTo>
                  <a:pt x="399173" y="407688"/>
                </a:lnTo>
                <a:lnTo>
                  <a:pt x="361186" y="433022"/>
                </a:lnTo>
                <a:lnTo>
                  <a:pt x="318471" y="451030"/>
                </a:lnTo>
                <a:lnTo>
                  <a:pt x="272072" y="460861"/>
                </a:lnTo>
                <a:lnTo>
                  <a:pt x="223034" y="461665"/>
                </a:lnTo>
                <a:lnTo>
                  <a:pt x="174745" y="453090"/>
                </a:lnTo>
                <a:lnTo>
                  <a:pt x="130493" y="436021"/>
                </a:lnTo>
                <a:lnTo>
                  <a:pt x="91176" y="411463"/>
                </a:lnTo>
                <a:lnTo>
                  <a:pt x="57691" y="380423"/>
                </a:lnTo>
                <a:lnTo>
                  <a:pt x="30933" y="343907"/>
                </a:lnTo>
                <a:lnTo>
                  <a:pt x="11801" y="302919"/>
                </a:lnTo>
                <a:lnTo>
                  <a:pt x="1191" y="258466"/>
                </a:lnTo>
                <a:lnTo>
                  <a:pt x="0" y="211553"/>
                </a:lnTo>
                <a:lnTo>
                  <a:pt x="8620" y="165424"/>
                </a:lnTo>
                <a:lnTo>
                  <a:pt x="26149" y="123218"/>
                </a:lnTo>
                <a:lnTo>
                  <a:pt x="51542" y="85785"/>
                </a:lnTo>
                <a:lnTo>
                  <a:pt x="83755" y="53976"/>
                </a:lnTo>
                <a:lnTo>
                  <a:pt x="121742" y="28643"/>
                </a:lnTo>
                <a:lnTo>
                  <a:pt x="164457" y="10635"/>
                </a:lnTo>
                <a:lnTo>
                  <a:pt x="210856" y="804"/>
                </a:lnTo>
                <a:lnTo>
                  <a:pt x="259894" y="0"/>
                </a:lnTo>
                <a:close/>
              </a:path>
            </a:pathLst>
          </a:custGeom>
          <a:ln w="22224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551580" y="2450619"/>
            <a:ext cx="591820" cy="381635"/>
          </a:xfrm>
          <a:custGeom>
            <a:avLst/>
            <a:gdLst/>
            <a:ahLst/>
            <a:cxnLst/>
            <a:rect l="l" t="t" r="r" b="b"/>
            <a:pathLst>
              <a:path w="591820" h="381635">
                <a:moveTo>
                  <a:pt x="84413" y="295484"/>
                </a:moveTo>
                <a:lnTo>
                  <a:pt x="0" y="340875"/>
                </a:lnTo>
                <a:lnTo>
                  <a:pt x="86960" y="381171"/>
                </a:lnTo>
                <a:lnTo>
                  <a:pt x="86133" y="353362"/>
                </a:lnTo>
                <a:lnTo>
                  <a:pt x="64129" y="353362"/>
                </a:lnTo>
                <a:lnTo>
                  <a:pt x="57466" y="347243"/>
                </a:lnTo>
                <a:lnTo>
                  <a:pt x="56795" y="331476"/>
                </a:lnTo>
                <a:lnTo>
                  <a:pt x="62914" y="324813"/>
                </a:lnTo>
                <a:lnTo>
                  <a:pt x="85256" y="323862"/>
                </a:lnTo>
                <a:lnTo>
                  <a:pt x="84413" y="295484"/>
                </a:lnTo>
                <a:close/>
              </a:path>
              <a:path w="591820" h="381635">
                <a:moveTo>
                  <a:pt x="85256" y="323862"/>
                </a:moveTo>
                <a:lnTo>
                  <a:pt x="62914" y="324813"/>
                </a:lnTo>
                <a:lnTo>
                  <a:pt x="56795" y="331476"/>
                </a:lnTo>
                <a:lnTo>
                  <a:pt x="57466" y="347243"/>
                </a:lnTo>
                <a:lnTo>
                  <a:pt x="64129" y="353362"/>
                </a:lnTo>
                <a:lnTo>
                  <a:pt x="86106" y="352426"/>
                </a:lnTo>
                <a:lnTo>
                  <a:pt x="85256" y="323862"/>
                </a:lnTo>
                <a:close/>
              </a:path>
              <a:path w="591820" h="381635">
                <a:moveTo>
                  <a:pt x="86106" y="352426"/>
                </a:moveTo>
                <a:lnTo>
                  <a:pt x="64129" y="353362"/>
                </a:lnTo>
                <a:lnTo>
                  <a:pt x="86133" y="353362"/>
                </a:lnTo>
                <a:lnTo>
                  <a:pt x="86106" y="352426"/>
                </a:lnTo>
                <a:close/>
              </a:path>
              <a:path w="591820" h="381635">
                <a:moveTo>
                  <a:pt x="557602" y="192973"/>
                </a:moveTo>
                <a:lnTo>
                  <a:pt x="520452" y="225176"/>
                </a:lnTo>
                <a:lnTo>
                  <a:pt x="481050" y="245315"/>
                </a:lnTo>
                <a:lnTo>
                  <a:pt x="431396" y="264276"/>
                </a:lnTo>
                <a:lnTo>
                  <a:pt x="393180" y="276040"/>
                </a:lnTo>
                <a:lnTo>
                  <a:pt x="351516" y="286891"/>
                </a:lnTo>
                <a:lnTo>
                  <a:pt x="306852" y="296694"/>
                </a:lnTo>
                <a:lnTo>
                  <a:pt x="259626" y="305324"/>
                </a:lnTo>
                <a:lnTo>
                  <a:pt x="210272" y="312656"/>
                </a:lnTo>
                <a:lnTo>
                  <a:pt x="159227" y="318568"/>
                </a:lnTo>
                <a:lnTo>
                  <a:pt x="107040" y="322935"/>
                </a:lnTo>
                <a:lnTo>
                  <a:pt x="85256" y="323862"/>
                </a:lnTo>
                <a:lnTo>
                  <a:pt x="86106" y="352426"/>
                </a:lnTo>
                <a:lnTo>
                  <a:pt x="161603" y="347044"/>
                </a:lnTo>
                <a:lnTo>
                  <a:pt x="213556" y="341041"/>
                </a:lnTo>
                <a:lnTo>
                  <a:pt x="263820" y="333589"/>
                </a:lnTo>
                <a:lnTo>
                  <a:pt x="311984" y="324805"/>
                </a:lnTo>
                <a:lnTo>
                  <a:pt x="357637" y="314802"/>
                </a:lnTo>
                <a:lnTo>
                  <a:pt x="400375" y="303696"/>
                </a:lnTo>
                <a:lnTo>
                  <a:pt x="439794" y="291590"/>
                </a:lnTo>
                <a:lnTo>
                  <a:pt x="492065" y="271682"/>
                </a:lnTo>
                <a:lnTo>
                  <a:pt x="534615" y="249995"/>
                </a:lnTo>
                <a:lnTo>
                  <a:pt x="566496" y="226355"/>
                </a:lnTo>
                <a:lnTo>
                  <a:pt x="588554" y="193809"/>
                </a:lnTo>
                <a:lnTo>
                  <a:pt x="557156" y="193809"/>
                </a:lnTo>
                <a:lnTo>
                  <a:pt x="557602" y="192973"/>
                </a:lnTo>
                <a:close/>
              </a:path>
              <a:path w="591820" h="381635">
                <a:moveTo>
                  <a:pt x="558274" y="192040"/>
                </a:moveTo>
                <a:lnTo>
                  <a:pt x="557602" y="192973"/>
                </a:lnTo>
                <a:lnTo>
                  <a:pt x="557156" y="193809"/>
                </a:lnTo>
                <a:lnTo>
                  <a:pt x="558274" y="192040"/>
                </a:lnTo>
                <a:close/>
              </a:path>
              <a:path w="591820" h="381635">
                <a:moveTo>
                  <a:pt x="589128" y="192040"/>
                </a:moveTo>
                <a:lnTo>
                  <a:pt x="558274" y="192040"/>
                </a:lnTo>
                <a:lnTo>
                  <a:pt x="557156" y="193809"/>
                </a:lnTo>
                <a:lnTo>
                  <a:pt x="588554" y="193809"/>
                </a:lnTo>
                <a:lnTo>
                  <a:pt x="589128" y="192040"/>
                </a:lnTo>
                <a:close/>
              </a:path>
              <a:path w="591820" h="381635">
                <a:moveTo>
                  <a:pt x="560620" y="187319"/>
                </a:moveTo>
                <a:lnTo>
                  <a:pt x="557602" y="192973"/>
                </a:lnTo>
                <a:lnTo>
                  <a:pt x="558274" y="192040"/>
                </a:lnTo>
                <a:lnTo>
                  <a:pt x="589128" y="192040"/>
                </a:lnTo>
                <a:lnTo>
                  <a:pt x="590185" y="188779"/>
                </a:lnTo>
                <a:lnTo>
                  <a:pt x="590239" y="188528"/>
                </a:lnTo>
                <a:lnTo>
                  <a:pt x="560228" y="188528"/>
                </a:lnTo>
                <a:lnTo>
                  <a:pt x="560620" y="187319"/>
                </a:lnTo>
                <a:close/>
              </a:path>
              <a:path w="591820" h="381635">
                <a:moveTo>
                  <a:pt x="561215" y="186204"/>
                </a:moveTo>
                <a:lnTo>
                  <a:pt x="560620" y="187319"/>
                </a:lnTo>
                <a:lnTo>
                  <a:pt x="560228" y="188528"/>
                </a:lnTo>
                <a:lnTo>
                  <a:pt x="561215" y="186204"/>
                </a:lnTo>
                <a:close/>
              </a:path>
              <a:path w="591820" h="381635">
                <a:moveTo>
                  <a:pt x="590568" y="186204"/>
                </a:moveTo>
                <a:lnTo>
                  <a:pt x="561215" y="186204"/>
                </a:lnTo>
                <a:lnTo>
                  <a:pt x="560228" y="188528"/>
                </a:lnTo>
                <a:lnTo>
                  <a:pt x="590239" y="188528"/>
                </a:lnTo>
                <a:lnTo>
                  <a:pt x="590391" y="187822"/>
                </a:lnTo>
                <a:lnTo>
                  <a:pt x="590568" y="186204"/>
                </a:lnTo>
                <a:close/>
              </a:path>
              <a:path w="591820" h="381635">
                <a:moveTo>
                  <a:pt x="562251" y="182287"/>
                </a:moveTo>
                <a:lnTo>
                  <a:pt x="560620" y="187319"/>
                </a:lnTo>
                <a:lnTo>
                  <a:pt x="561215" y="186204"/>
                </a:lnTo>
                <a:lnTo>
                  <a:pt x="590568" y="186204"/>
                </a:lnTo>
                <a:lnTo>
                  <a:pt x="590837" y="183747"/>
                </a:lnTo>
                <a:lnTo>
                  <a:pt x="562091" y="183747"/>
                </a:lnTo>
                <a:lnTo>
                  <a:pt x="562251" y="182287"/>
                </a:lnTo>
                <a:close/>
              </a:path>
              <a:path w="591820" h="381635">
                <a:moveTo>
                  <a:pt x="562702" y="180894"/>
                </a:moveTo>
                <a:lnTo>
                  <a:pt x="562251" y="182287"/>
                </a:lnTo>
                <a:lnTo>
                  <a:pt x="562091" y="183747"/>
                </a:lnTo>
                <a:lnTo>
                  <a:pt x="562702" y="180894"/>
                </a:lnTo>
                <a:close/>
              </a:path>
              <a:path w="591820" h="381635">
                <a:moveTo>
                  <a:pt x="591149" y="180894"/>
                </a:moveTo>
                <a:lnTo>
                  <a:pt x="562702" y="180894"/>
                </a:lnTo>
                <a:lnTo>
                  <a:pt x="562091" y="183747"/>
                </a:lnTo>
                <a:lnTo>
                  <a:pt x="590837" y="183747"/>
                </a:lnTo>
                <a:lnTo>
                  <a:pt x="591149" y="180894"/>
                </a:lnTo>
                <a:close/>
              </a:path>
              <a:path w="591820" h="381635">
                <a:moveTo>
                  <a:pt x="562761" y="177614"/>
                </a:moveTo>
                <a:lnTo>
                  <a:pt x="562251" y="182287"/>
                </a:lnTo>
                <a:lnTo>
                  <a:pt x="562702" y="180894"/>
                </a:lnTo>
                <a:lnTo>
                  <a:pt x="591149" y="180894"/>
                </a:lnTo>
                <a:lnTo>
                  <a:pt x="591341" y="179133"/>
                </a:lnTo>
                <a:lnTo>
                  <a:pt x="562919" y="179133"/>
                </a:lnTo>
                <a:lnTo>
                  <a:pt x="562761" y="177614"/>
                </a:lnTo>
                <a:close/>
              </a:path>
              <a:path w="591820" h="381635">
                <a:moveTo>
                  <a:pt x="562927" y="176098"/>
                </a:moveTo>
                <a:lnTo>
                  <a:pt x="562822" y="178197"/>
                </a:lnTo>
                <a:lnTo>
                  <a:pt x="562919" y="179133"/>
                </a:lnTo>
                <a:lnTo>
                  <a:pt x="562927" y="176098"/>
                </a:lnTo>
                <a:close/>
              </a:path>
              <a:path w="591820" h="381635">
                <a:moveTo>
                  <a:pt x="591333" y="176098"/>
                </a:moveTo>
                <a:lnTo>
                  <a:pt x="562927" y="176098"/>
                </a:lnTo>
                <a:lnTo>
                  <a:pt x="562919" y="179133"/>
                </a:lnTo>
                <a:lnTo>
                  <a:pt x="591341" y="179133"/>
                </a:lnTo>
                <a:lnTo>
                  <a:pt x="591333" y="176098"/>
                </a:lnTo>
                <a:close/>
              </a:path>
              <a:path w="591820" h="381635">
                <a:moveTo>
                  <a:pt x="562268" y="172880"/>
                </a:moveTo>
                <a:lnTo>
                  <a:pt x="562761" y="177614"/>
                </a:lnTo>
                <a:lnTo>
                  <a:pt x="562927" y="176098"/>
                </a:lnTo>
                <a:lnTo>
                  <a:pt x="591333" y="176098"/>
                </a:lnTo>
                <a:lnTo>
                  <a:pt x="591137" y="174219"/>
                </a:lnTo>
                <a:lnTo>
                  <a:pt x="562682" y="174219"/>
                </a:lnTo>
                <a:lnTo>
                  <a:pt x="562268" y="172880"/>
                </a:lnTo>
                <a:close/>
              </a:path>
              <a:path w="591820" h="381635">
                <a:moveTo>
                  <a:pt x="562123" y="171484"/>
                </a:moveTo>
                <a:lnTo>
                  <a:pt x="562268" y="172880"/>
                </a:lnTo>
                <a:lnTo>
                  <a:pt x="562682" y="174219"/>
                </a:lnTo>
                <a:lnTo>
                  <a:pt x="562123" y="171484"/>
                </a:lnTo>
                <a:close/>
              </a:path>
              <a:path w="591820" h="381635">
                <a:moveTo>
                  <a:pt x="590852" y="171484"/>
                </a:moveTo>
                <a:lnTo>
                  <a:pt x="562123" y="171484"/>
                </a:lnTo>
                <a:lnTo>
                  <a:pt x="562682" y="174219"/>
                </a:lnTo>
                <a:lnTo>
                  <a:pt x="591137" y="174219"/>
                </a:lnTo>
                <a:lnTo>
                  <a:pt x="590852" y="171484"/>
                </a:lnTo>
                <a:close/>
              </a:path>
              <a:path w="591820" h="381635">
                <a:moveTo>
                  <a:pt x="560687" y="167760"/>
                </a:moveTo>
                <a:lnTo>
                  <a:pt x="562268" y="172880"/>
                </a:lnTo>
                <a:lnTo>
                  <a:pt x="562123" y="171484"/>
                </a:lnTo>
                <a:lnTo>
                  <a:pt x="590852" y="171484"/>
                </a:lnTo>
                <a:lnTo>
                  <a:pt x="590577" y="168847"/>
                </a:lnTo>
                <a:lnTo>
                  <a:pt x="561240" y="168847"/>
                </a:lnTo>
                <a:lnTo>
                  <a:pt x="560687" y="167760"/>
                </a:lnTo>
                <a:close/>
              </a:path>
              <a:path w="591820" h="381635">
                <a:moveTo>
                  <a:pt x="560325" y="166585"/>
                </a:moveTo>
                <a:lnTo>
                  <a:pt x="560687" y="167760"/>
                </a:lnTo>
                <a:lnTo>
                  <a:pt x="561240" y="168847"/>
                </a:lnTo>
                <a:lnTo>
                  <a:pt x="560325" y="166585"/>
                </a:lnTo>
                <a:close/>
              </a:path>
              <a:path w="591820" h="381635">
                <a:moveTo>
                  <a:pt x="590231" y="166585"/>
                </a:moveTo>
                <a:lnTo>
                  <a:pt x="560325" y="166585"/>
                </a:lnTo>
                <a:lnTo>
                  <a:pt x="561240" y="168847"/>
                </a:lnTo>
                <a:lnTo>
                  <a:pt x="590577" y="168847"/>
                </a:lnTo>
                <a:lnTo>
                  <a:pt x="590447" y="167594"/>
                </a:lnTo>
                <a:lnTo>
                  <a:pt x="590231" y="166585"/>
                </a:lnTo>
                <a:close/>
              </a:path>
              <a:path w="591820" h="381635">
                <a:moveTo>
                  <a:pt x="557840" y="162161"/>
                </a:moveTo>
                <a:lnTo>
                  <a:pt x="560687" y="167760"/>
                </a:lnTo>
                <a:lnTo>
                  <a:pt x="560325" y="166585"/>
                </a:lnTo>
                <a:lnTo>
                  <a:pt x="590231" y="166585"/>
                </a:lnTo>
                <a:lnTo>
                  <a:pt x="589123" y="162996"/>
                </a:lnTo>
                <a:lnTo>
                  <a:pt x="558429" y="162996"/>
                </a:lnTo>
                <a:lnTo>
                  <a:pt x="557840" y="162161"/>
                </a:lnTo>
                <a:close/>
              </a:path>
              <a:path w="591820" h="381635">
                <a:moveTo>
                  <a:pt x="557373" y="161244"/>
                </a:moveTo>
                <a:lnTo>
                  <a:pt x="557840" y="162161"/>
                </a:lnTo>
                <a:lnTo>
                  <a:pt x="558429" y="162996"/>
                </a:lnTo>
                <a:lnTo>
                  <a:pt x="557373" y="161244"/>
                </a:lnTo>
                <a:close/>
              </a:path>
              <a:path w="591820" h="381635">
                <a:moveTo>
                  <a:pt x="588581" y="161244"/>
                </a:moveTo>
                <a:lnTo>
                  <a:pt x="557373" y="161244"/>
                </a:lnTo>
                <a:lnTo>
                  <a:pt x="558429" y="162996"/>
                </a:lnTo>
                <a:lnTo>
                  <a:pt x="589123" y="162996"/>
                </a:lnTo>
                <a:lnTo>
                  <a:pt x="588581" y="161244"/>
                </a:lnTo>
                <a:close/>
              </a:path>
              <a:path w="591820" h="381635">
                <a:moveTo>
                  <a:pt x="19601" y="0"/>
                </a:moveTo>
                <a:lnTo>
                  <a:pt x="13088" y="6278"/>
                </a:lnTo>
                <a:lnTo>
                  <a:pt x="12801" y="22057"/>
                </a:lnTo>
                <a:lnTo>
                  <a:pt x="19081" y="28569"/>
                </a:lnTo>
                <a:lnTo>
                  <a:pt x="77953" y="29631"/>
                </a:lnTo>
                <a:lnTo>
                  <a:pt x="128553" y="32327"/>
                </a:lnTo>
                <a:lnTo>
                  <a:pt x="178356" y="36681"/>
                </a:lnTo>
                <a:lnTo>
                  <a:pt x="226947" y="42572"/>
                </a:lnTo>
                <a:lnTo>
                  <a:pt x="273917" y="49879"/>
                </a:lnTo>
                <a:lnTo>
                  <a:pt x="318846" y="58478"/>
                </a:lnTo>
                <a:lnTo>
                  <a:pt x="361314" y="68239"/>
                </a:lnTo>
                <a:lnTo>
                  <a:pt x="400899" y="79032"/>
                </a:lnTo>
                <a:lnTo>
                  <a:pt x="437165" y="90713"/>
                </a:lnTo>
                <a:lnTo>
                  <a:pt x="498226" y="116227"/>
                </a:lnTo>
                <a:lnTo>
                  <a:pt x="531752" y="136215"/>
                </a:lnTo>
                <a:lnTo>
                  <a:pt x="557840" y="162161"/>
                </a:lnTo>
                <a:lnTo>
                  <a:pt x="557373" y="161244"/>
                </a:lnTo>
                <a:lnTo>
                  <a:pt x="588581" y="161244"/>
                </a:lnTo>
                <a:lnTo>
                  <a:pt x="587386" y="157374"/>
                </a:lnTo>
                <a:lnTo>
                  <a:pt x="559600" y="121752"/>
                </a:lnTo>
                <a:lnTo>
                  <a:pt x="525341" y="98350"/>
                </a:lnTo>
                <a:lnTo>
                  <a:pt x="481604" y="77161"/>
                </a:lnTo>
                <a:lnTo>
                  <a:pt x="409674" y="51838"/>
                </a:lnTo>
                <a:lnTo>
                  <a:pt x="368841" y="40674"/>
                </a:lnTo>
                <a:lnTo>
                  <a:pt x="325254" y="30631"/>
                </a:lnTo>
                <a:lnTo>
                  <a:pt x="279294" y="21814"/>
                </a:lnTo>
                <a:lnTo>
                  <a:pt x="231345" y="14338"/>
                </a:lnTo>
                <a:lnTo>
                  <a:pt x="181799" y="8314"/>
                </a:lnTo>
                <a:lnTo>
                  <a:pt x="131046" y="3860"/>
                </a:lnTo>
                <a:lnTo>
                  <a:pt x="79479" y="1097"/>
                </a:lnTo>
                <a:lnTo>
                  <a:pt x="19601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5294446" y="2376932"/>
            <a:ext cx="1917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𝑣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54227" y="6699893"/>
            <a:ext cx="400685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12/6/18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673615" y="6699893"/>
            <a:ext cx="43434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 Graphs,</a:t>
            </a:r>
            <a:r>
              <a:rPr dirty="0" sz="900" spc="6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  <a:hlinkClick r:id="rId3"/>
              </a:rPr>
              <a:t>http://cs224w.stanford.edu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51</a:t>
            </a:fld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8317992" cy="432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82891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 b="1">
                <a:solidFill>
                  <a:srgbClr val="C00000"/>
                </a:solidFill>
                <a:latin typeface="Calibri"/>
                <a:cs typeface="Calibri"/>
              </a:rPr>
              <a:t>GCN </a:t>
            </a:r>
            <a:r>
              <a:rPr dirty="0" spc="-15" b="1">
                <a:solidFill>
                  <a:srgbClr val="C00000"/>
                </a:solidFill>
                <a:latin typeface="Calibri"/>
                <a:cs typeface="Calibri"/>
              </a:rPr>
              <a:t>aggregations can </a:t>
            </a:r>
            <a:r>
              <a:rPr dirty="0" spc="-5" b="1">
                <a:solidFill>
                  <a:srgbClr val="C00000"/>
                </a:solidFill>
                <a:latin typeface="Calibri"/>
                <a:cs typeface="Calibri"/>
              </a:rPr>
              <a:t>be </a:t>
            </a:r>
            <a:r>
              <a:rPr dirty="0" spc="-15" b="1">
                <a:solidFill>
                  <a:srgbClr val="C00000"/>
                </a:solidFill>
                <a:latin typeface="Calibri"/>
                <a:cs typeface="Calibri"/>
              </a:rPr>
              <a:t>formulated </a:t>
            </a:r>
            <a:r>
              <a:rPr dirty="0" spc="-5" b="1">
                <a:solidFill>
                  <a:srgbClr val="C00000"/>
                </a:solidFill>
                <a:latin typeface="Calibri"/>
                <a:cs typeface="Calibri"/>
              </a:rPr>
              <a:t>as</a:t>
            </a:r>
            <a:r>
              <a:rPr dirty="0" spc="2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pc="-10" b="1">
                <a:solidFill>
                  <a:srgbClr val="C00000"/>
                </a:solidFill>
                <a:latin typeface="Calibri"/>
                <a:cs typeface="Calibri"/>
              </a:rPr>
              <a:t>matrix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8108" y="1830324"/>
            <a:ext cx="261556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5" b="1">
                <a:solidFill>
                  <a:srgbClr val="C00000"/>
                </a:solidFill>
                <a:latin typeface="Calibri"/>
                <a:cs typeface="Calibri"/>
              </a:rPr>
              <a:t>vector</a:t>
            </a:r>
            <a:r>
              <a:rPr dirty="0" sz="3200" spc="-6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product: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30804" y="2590291"/>
            <a:ext cx="11569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50265" algn="l"/>
              </a:tabLst>
            </a:pPr>
            <a:r>
              <a:rPr dirty="0" baseline="1543" sz="2700" spc="-300">
                <a:latin typeface="Cambria Math"/>
                <a:cs typeface="Cambria Math"/>
              </a:rPr>
              <a:t>&amp;</a:t>
            </a:r>
            <a:r>
              <a:rPr dirty="0" baseline="1543" sz="2700" spc="-300">
                <a:latin typeface="Cambria Math"/>
                <a:cs typeface="Cambria Math"/>
              </a:rPr>
              <a:t>	</a:t>
            </a:r>
            <a:r>
              <a:rPr dirty="0" sz="1800" spc="-20">
                <a:latin typeface="Cambria Math"/>
                <a:cs typeface="Cambria Math"/>
              </a:rPr>
              <a:t>|</a:t>
            </a:r>
            <a:r>
              <a:rPr dirty="0" sz="1800" spc="185">
                <a:latin typeface="Cambria Math"/>
                <a:cs typeface="Cambria Math"/>
              </a:rPr>
              <a:t>1</a:t>
            </a:r>
            <a:r>
              <a:rPr dirty="0" sz="1800">
                <a:latin typeface="Cambria Math"/>
                <a:cs typeface="Cambria Math"/>
              </a:rPr>
              <a:t>|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8108" y="2416555"/>
            <a:ext cx="34740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9166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400" spc="-5">
                <a:latin typeface="Calibri"/>
                <a:cs typeface="Calibri"/>
              </a:rPr>
              <a:t>Let </a:t>
            </a:r>
            <a:r>
              <a:rPr dirty="0" sz="2400" spc="175">
                <a:latin typeface="Cambria Math"/>
                <a:cs typeface="Cambria Math"/>
              </a:rPr>
              <a:t>𝑯</a:t>
            </a:r>
            <a:r>
              <a:rPr dirty="0" baseline="27777" sz="2700" spc="262">
                <a:latin typeface="Cambria Math"/>
                <a:cs typeface="Cambria Math"/>
              </a:rPr>
              <a:t>(.) </a:t>
            </a:r>
            <a:r>
              <a:rPr dirty="0" sz="2400">
                <a:latin typeface="Cambria Math"/>
                <a:cs typeface="Cambria Math"/>
              </a:rPr>
              <a:t>= </a:t>
            </a:r>
            <a:r>
              <a:rPr dirty="0" sz="2400" spc="-45">
                <a:latin typeface="Cambria Math"/>
                <a:cs typeface="Cambria Math"/>
              </a:rPr>
              <a:t>[ℎ</a:t>
            </a:r>
            <a:r>
              <a:rPr dirty="0" baseline="40123" sz="2700" spc="-67">
                <a:latin typeface="Cambria Math"/>
                <a:cs typeface="Cambria Math"/>
              </a:rPr>
              <a:t>(&amp;) </a:t>
            </a:r>
            <a:r>
              <a:rPr dirty="0" sz="2400">
                <a:latin typeface="Cambria Math"/>
                <a:cs typeface="Cambria Math"/>
              </a:rPr>
              <a:t>…</a:t>
            </a:r>
            <a:r>
              <a:rPr dirty="0" sz="2400" spc="-60">
                <a:latin typeface="Cambria Math"/>
                <a:cs typeface="Cambria Math"/>
              </a:rPr>
              <a:t> </a:t>
            </a:r>
            <a:r>
              <a:rPr dirty="0" sz="2400" spc="155">
                <a:latin typeface="Cambria Math"/>
                <a:cs typeface="Cambria Math"/>
              </a:rPr>
              <a:t>ℎ</a:t>
            </a:r>
            <a:r>
              <a:rPr dirty="0" baseline="40123" sz="2700" spc="232">
                <a:latin typeface="Cambria Math"/>
                <a:cs typeface="Cambria Math"/>
              </a:rPr>
              <a:t>(.)</a:t>
            </a:r>
            <a:r>
              <a:rPr dirty="0" sz="2400" spc="155">
                <a:latin typeface="Cambria Math"/>
                <a:cs typeface="Cambria Math"/>
              </a:rPr>
              <a:t>]</a:t>
            </a:r>
            <a:r>
              <a:rPr dirty="0" baseline="27777" sz="2700" spc="232">
                <a:latin typeface="Cambria Math"/>
                <a:cs typeface="Cambria Math"/>
              </a:rPr>
              <a:t>2</a:t>
            </a:r>
            <a:endParaRPr baseline="27777" sz="27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8108" y="2846323"/>
            <a:ext cx="57531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9166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400" spc="-5">
                <a:latin typeface="Calibri"/>
                <a:cs typeface="Calibri"/>
              </a:rPr>
              <a:t>Let </a:t>
            </a:r>
            <a:r>
              <a:rPr dirty="0" sz="2400">
                <a:latin typeface="Cambria Math"/>
                <a:cs typeface="Cambria Math"/>
              </a:rPr>
              <a:t>𝑨 </a:t>
            </a:r>
            <a:r>
              <a:rPr dirty="0" sz="2400">
                <a:latin typeface="Calibri"/>
                <a:cs typeface="Calibri"/>
              </a:rPr>
              <a:t>be </a:t>
            </a:r>
            <a:r>
              <a:rPr dirty="0" sz="2400" spc="-5">
                <a:latin typeface="Calibri"/>
                <a:cs typeface="Calibri"/>
              </a:rPr>
              <a:t>the adjacency </a:t>
            </a:r>
            <a:r>
              <a:rPr dirty="0" sz="2400" spc="-10">
                <a:latin typeface="Calibri"/>
                <a:cs typeface="Calibri"/>
              </a:rPr>
              <a:t>matrix </a:t>
            </a:r>
            <a:r>
              <a:rPr dirty="0" sz="2400" spc="-5">
                <a:latin typeface="Calibri"/>
                <a:cs typeface="Calibri"/>
              </a:rPr>
              <a:t>(w/ </a:t>
            </a:r>
            <a:r>
              <a:rPr dirty="0" sz="2400" spc="-10">
                <a:latin typeface="Calibri"/>
                <a:cs typeface="Calibri"/>
              </a:rPr>
              <a:t>self-loop)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21380" y="3446779"/>
            <a:ext cx="1739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65">
                <a:solidFill>
                  <a:srgbClr val="D60093"/>
                </a:solidFill>
                <a:latin typeface="Cambria Math"/>
                <a:cs typeface="Cambria Math"/>
              </a:rPr>
              <a:t>3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8108" y="3291332"/>
            <a:ext cx="40792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9166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400">
                <a:latin typeface="Calibri"/>
                <a:cs typeface="Calibri"/>
              </a:rPr>
              <a:t>Then: </a:t>
            </a:r>
            <a:r>
              <a:rPr dirty="0" baseline="2314" sz="3600" spc="97">
                <a:solidFill>
                  <a:srgbClr val="D60093"/>
                </a:solidFill>
                <a:latin typeface="Cambria Math"/>
                <a:cs typeface="Cambria Math"/>
              </a:rPr>
              <a:t>∑</a:t>
            </a:r>
            <a:r>
              <a:rPr dirty="0" baseline="-18518" sz="2700" spc="97">
                <a:solidFill>
                  <a:srgbClr val="D60093"/>
                </a:solidFill>
                <a:latin typeface="Cambria Math"/>
                <a:cs typeface="Cambria Math"/>
              </a:rPr>
              <a:t>3∈5(6) </a:t>
            </a:r>
            <a:r>
              <a:rPr dirty="0" sz="2400" spc="180">
                <a:solidFill>
                  <a:srgbClr val="D60093"/>
                </a:solidFill>
                <a:latin typeface="Cambria Math"/>
                <a:cs typeface="Cambria Math"/>
              </a:rPr>
              <a:t>ℎ</a:t>
            </a:r>
            <a:r>
              <a:rPr dirty="0" baseline="38580" sz="2700" spc="270">
                <a:solidFill>
                  <a:srgbClr val="D60093"/>
                </a:solidFill>
                <a:latin typeface="Cambria Math"/>
                <a:cs typeface="Cambria Math"/>
              </a:rPr>
              <a:t>(.) </a:t>
            </a:r>
            <a:r>
              <a:rPr dirty="0" sz="2400">
                <a:solidFill>
                  <a:srgbClr val="D60093"/>
                </a:solidFill>
                <a:latin typeface="Cambria Math"/>
                <a:cs typeface="Cambria Math"/>
              </a:rPr>
              <a:t>=</a:t>
            </a:r>
            <a:r>
              <a:rPr dirty="0" sz="2400" spc="-100">
                <a:solidFill>
                  <a:srgbClr val="D60093"/>
                </a:solidFill>
                <a:latin typeface="Cambria Math"/>
                <a:cs typeface="Cambria Math"/>
              </a:rPr>
              <a:t> </a:t>
            </a:r>
            <a:r>
              <a:rPr dirty="0" sz="2400" spc="90">
                <a:solidFill>
                  <a:srgbClr val="D60093"/>
                </a:solidFill>
                <a:latin typeface="Cambria Math"/>
                <a:cs typeface="Cambria Math"/>
              </a:rPr>
              <a:t>𝐴</a:t>
            </a:r>
            <a:r>
              <a:rPr dirty="0" baseline="-15432" sz="2700" spc="135">
                <a:solidFill>
                  <a:srgbClr val="D60093"/>
                </a:solidFill>
                <a:latin typeface="Cambria Math"/>
                <a:cs typeface="Cambria Math"/>
              </a:rPr>
              <a:t>6,:</a:t>
            </a:r>
            <a:r>
              <a:rPr dirty="0" sz="2400" spc="90">
                <a:solidFill>
                  <a:srgbClr val="D60093"/>
                </a:solidFill>
                <a:latin typeface="Cambria Math"/>
                <a:cs typeface="Cambria Math"/>
              </a:rPr>
              <a:t>𝑯</a:t>
            </a:r>
            <a:r>
              <a:rPr dirty="0" baseline="26234" sz="2700" spc="135">
                <a:solidFill>
                  <a:srgbClr val="D60093"/>
                </a:solidFill>
                <a:latin typeface="Cambria Math"/>
                <a:cs typeface="Cambria Math"/>
              </a:rPr>
              <a:t>(.)</a:t>
            </a:r>
            <a:endParaRPr baseline="26234" sz="27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457950" y="4155838"/>
            <a:ext cx="374015" cy="282575"/>
          </a:xfrm>
          <a:custGeom>
            <a:avLst/>
            <a:gdLst/>
            <a:ahLst/>
            <a:cxnLst/>
            <a:rect l="l" t="t" r="r" b="b"/>
            <a:pathLst>
              <a:path w="374014" h="282575">
                <a:moveTo>
                  <a:pt x="283429" y="0"/>
                </a:moveTo>
                <a:lnTo>
                  <a:pt x="279411" y="11459"/>
                </a:lnTo>
                <a:lnTo>
                  <a:pt x="295754" y="18552"/>
                </a:lnTo>
                <a:lnTo>
                  <a:pt x="309809" y="28370"/>
                </a:lnTo>
                <a:lnTo>
                  <a:pt x="338347" y="73878"/>
                </a:lnTo>
                <a:lnTo>
                  <a:pt x="346681" y="115662"/>
                </a:lnTo>
                <a:lnTo>
                  <a:pt x="347723" y="139749"/>
                </a:lnTo>
                <a:lnTo>
                  <a:pt x="346676" y="164650"/>
                </a:lnTo>
                <a:lnTo>
                  <a:pt x="338304" y="207587"/>
                </a:lnTo>
                <a:lnTo>
                  <a:pt x="309827" y="253826"/>
                </a:lnTo>
                <a:lnTo>
                  <a:pt x="279858" y="270866"/>
                </a:lnTo>
                <a:lnTo>
                  <a:pt x="283429" y="282327"/>
                </a:lnTo>
                <a:lnTo>
                  <a:pt x="321939" y="264263"/>
                </a:lnTo>
                <a:lnTo>
                  <a:pt x="350253" y="232990"/>
                </a:lnTo>
                <a:lnTo>
                  <a:pt x="367666" y="191113"/>
                </a:lnTo>
                <a:lnTo>
                  <a:pt x="373470" y="141237"/>
                </a:lnTo>
                <a:lnTo>
                  <a:pt x="372014" y="115355"/>
                </a:lnTo>
                <a:lnTo>
                  <a:pt x="360369" y="69479"/>
                </a:lnTo>
                <a:lnTo>
                  <a:pt x="337273" y="32133"/>
                </a:lnTo>
                <a:lnTo>
                  <a:pt x="303898" y="7390"/>
                </a:lnTo>
                <a:lnTo>
                  <a:pt x="283429" y="0"/>
                </a:lnTo>
                <a:close/>
              </a:path>
              <a:path w="374014" h="282575">
                <a:moveTo>
                  <a:pt x="90040" y="0"/>
                </a:moveTo>
                <a:lnTo>
                  <a:pt x="51624" y="18101"/>
                </a:lnTo>
                <a:lnTo>
                  <a:pt x="23290" y="49485"/>
                </a:lnTo>
                <a:lnTo>
                  <a:pt x="5822" y="91436"/>
                </a:lnTo>
                <a:lnTo>
                  <a:pt x="0" y="141237"/>
                </a:lnTo>
                <a:lnTo>
                  <a:pt x="1450" y="167175"/>
                </a:lnTo>
                <a:lnTo>
                  <a:pt x="13059" y="213051"/>
                </a:lnTo>
                <a:lnTo>
                  <a:pt x="36099" y="250277"/>
                </a:lnTo>
                <a:lnTo>
                  <a:pt x="69511" y="274946"/>
                </a:lnTo>
                <a:lnTo>
                  <a:pt x="90040" y="282327"/>
                </a:lnTo>
                <a:lnTo>
                  <a:pt x="93612" y="270866"/>
                </a:lnTo>
                <a:lnTo>
                  <a:pt x="77525" y="263742"/>
                </a:lnTo>
                <a:lnTo>
                  <a:pt x="63642" y="253826"/>
                </a:lnTo>
                <a:lnTo>
                  <a:pt x="35165" y="207587"/>
                </a:lnTo>
                <a:lnTo>
                  <a:pt x="26793" y="164650"/>
                </a:lnTo>
                <a:lnTo>
                  <a:pt x="25746" y="139749"/>
                </a:lnTo>
                <a:lnTo>
                  <a:pt x="26793" y="115662"/>
                </a:lnTo>
                <a:lnTo>
                  <a:pt x="35165" y="73878"/>
                </a:lnTo>
                <a:lnTo>
                  <a:pt x="63753" y="28370"/>
                </a:lnTo>
                <a:lnTo>
                  <a:pt x="94058" y="11459"/>
                </a:lnTo>
                <a:lnTo>
                  <a:pt x="900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609395" y="4155838"/>
            <a:ext cx="374015" cy="282575"/>
          </a:xfrm>
          <a:custGeom>
            <a:avLst/>
            <a:gdLst/>
            <a:ahLst/>
            <a:cxnLst/>
            <a:rect l="l" t="t" r="r" b="b"/>
            <a:pathLst>
              <a:path w="374014" h="282575">
                <a:moveTo>
                  <a:pt x="283429" y="0"/>
                </a:moveTo>
                <a:lnTo>
                  <a:pt x="279411" y="11459"/>
                </a:lnTo>
                <a:lnTo>
                  <a:pt x="295754" y="18552"/>
                </a:lnTo>
                <a:lnTo>
                  <a:pt x="309809" y="28370"/>
                </a:lnTo>
                <a:lnTo>
                  <a:pt x="338347" y="73878"/>
                </a:lnTo>
                <a:lnTo>
                  <a:pt x="346681" y="115662"/>
                </a:lnTo>
                <a:lnTo>
                  <a:pt x="347723" y="139749"/>
                </a:lnTo>
                <a:lnTo>
                  <a:pt x="346677" y="164650"/>
                </a:lnTo>
                <a:lnTo>
                  <a:pt x="338305" y="207587"/>
                </a:lnTo>
                <a:lnTo>
                  <a:pt x="309827" y="253826"/>
                </a:lnTo>
                <a:lnTo>
                  <a:pt x="279858" y="270866"/>
                </a:lnTo>
                <a:lnTo>
                  <a:pt x="283429" y="282327"/>
                </a:lnTo>
                <a:lnTo>
                  <a:pt x="321939" y="264263"/>
                </a:lnTo>
                <a:lnTo>
                  <a:pt x="350253" y="232990"/>
                </a:lnTo>
                <a:lnTo>
                  <a:pt x="367666" y="191113"/>
                </a:lnTo>
                <a:lnTo>
                  <a:pt x="373470" y="141237"/>
                </a:lnTo>
                <a:lnTo>
                  <a:pt x="372014" y="115355"/>
                </a:lnTo>
                <a:lnTo>
                  <a:pt x="360369" y="69479"/>
                </a:lnTo>
                <a:lnTo>
                  <a:pt x="337273" y="32133"/>
                </a:lnTo>
                <a:lnTo>
                  <a:pt x="303898" y="7390"/>
                </a:lnTo>
                <a:lnTo>
                  <a:pt x="283429" y="0"/>
                </a:lnTo>
                <a:close/>
              </a:path>
              <a:path w="374014" h="282575">
                <a:moveTo>
                  <a:pt x="90040" y="0"/>
                </a:moveTo>
                <a:lnTo>
                  <a:pt x="51623" y="18101"/>
                </a:lnTo>
                <a:lnTo>
                  <a:pt x="23290" y="49485"/>
                </a:lnTo>
                <a:lnTo>
                  <a:pt x="5822" y="91436"/>
                </a:lnTo>
                <a:lnTo>
                  <a:pt x="0" y="141237"/>
                </a:lnTo>
                <a:lnTo>
                  <a:pt x="1450" y="167175"/>
                </a:lnTo>
                <a:lnTo>
                  <a:pt x="13059" y="213051"/>
                </a:lnTo>
                <a:lnTo>
                  <a:pt x="36099" y="250277"/>
                </a:lnTo>
                <a:lnTo>
                  <a:pt x="69511" y="274946"/>
                </a:lnTo>
                <a:lnTo>
                  <a:pt x="90040" y="282327"/>
                </a:lnTo>
                <a:lnTo>
                  <a:pt x="93611" y="270866"/>
                </a:lnTo>
                <a:lnTo>
                  <a:pt x="77524" y="263742"/>
                </a:lnTo>
                <a:lnTo>
                  <a:pt x="63642" y="253826"/>
                </a:lnTo>
                <a:lnTo>
                  <a:pt x="35164" y="207587"/>
                </a:lnTo>
                <a:lnTo>
                  <a:pt x="26793" y="164650"/>
                </a:lnTo>
                <a:lnTo>
                  <a:pt x="25746" y="139749"/>
                </a:lnTo>
                <a:lnTo>
                  <a:pt x="26793" y="115662"/>
                </a:lnTo>
                <a:lnTo>
                  <a:pt x="35164" y="73878"/>
                </a:lnTo>
                <a:lnTo>
                  <a:pt x="63753" y="28370"/>
                </a:lnTo>
                <a:lnTo>
                  <a:pt x="94058" y="11459"/>
                </a:lnTo>
                <a:lnTo>
                  <a:pt x="900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18108" y="3696715"/>
            <a:ext cx="4243070" cy="760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9166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400" spc="-5">
                <a:latin typeface="Calibri"/>
                <a:cs typeface="Calibri"/>
              </a:rPr>
              <a:t>Let </a:t>
            </a:r>
            <a:r>
              <a:rPr dirty="0" sz="2400">
                <a:latin typeface="Cambria Math"/>
                <a:cs typeface="Cambria Math"/>
              </a:rPr>
              <a:t>𝑫 </a:t>
            </a:r>
            <a:r>
              <a:rPr dirty="0" sz="2400">
                <a:latin typeface="Calibri"/>
                <a:cs typeface="Calibri"/>
              </a:rPr>
              <a:t>be </a:t>
            </a:r>
            <a:r>
              <a:rPr dirty="0" sz="2400" spc="-5">
                <a:latin typeface="Calibri"/>
                <a:cs typeface="Calibri"/>
              </a:rPr>
              <a:t>diagonal </a:t>
            </a:r>
            <a:r>
              <a:rPr dirty="0" sz="2400" spc="-10">
                <a:latin typeface="Calibri"/>
                <a:cs typeface="Calibri"/>
              </a:rPr>
              <a:t>matrix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where</a:t>
            </a:r>
            <a:endParaRPr sz="2400">
              <a:latin typeface="Calibri"/>
              <a:cs typeface="Calibri"/>
            </a:endParaRPr>
          </a:p>
          <a:p>
            <a:pPr marL="400685">
              <a:lnSpc>
                <a:spcPct val="100000"/>
              </a:lnSpc>
              <a:spcBef>
                <a:spcPts val="20"/>
              </a:spcBef>
              <a:tabLst>
                <a:tab pos="2324100" algn="l"/>
                <a:tab pos="3090545" algn="l"/>
                <a:tab pos="3390900" algn="l"/>
              </a:tabLst>
            </a:pPr>
            <a:r>
              <a:rPr dirty="0" sz="2400" spc="-30">
                <a:latin typeface="Cambria Math"/>
                <a:cs typeface="Cambria Math"/>
              </a:rPr>
              <a:t>𝐷</a:t>
            </a:r>
            <a:r>
              <a:rPr dirty="0" baseline="-15432" sz="2700" spc="-44">
                <a:latin typeface="Cambria Math"/>
                <a:cs typeface="Cambria Math"/>
              </a:rPr>
              <a:t>6,6 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-15">
                <a:latin typeface="Cambria Math"/>
                <a:cs typeface="Cambria Math"/>
              </a:rPr>
              <a:t> </a:t>
            </a:r>
            <a:r>
              <a:rPr dirty="0" sz="2400" spc="-5">
                <a:latin typeface="Cambria Math"/>
                <a:cs typeface="Cambria Math"/>
              </a:rPr>
              <a:t>Deg</a:t>
            </a:r>
            <a:r>
              <a:rPr dirty="0" sz="2400" spc="47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𝑣	=</a:t>
            </a:r>
            <a:r>
              <a:rPr dirty="0" sz="2400" spc="12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|𝑁	𝑣	|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228657" y="4481576"/>
            <a:ext cx="27114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125">
                <a:latin typeface="Cambria Math"/>
                <a:cs typeface="Cambria Math"/>
              </a:rPr>
              <a:t>#</a:t>
            </a:r>
            <a:r>
              <a:rPr dirty="0" sz="1500" spc="100">
                <a:latin typeface="Cambria Math"/>
                <a:cs typeface="Cambria Math"/>
              </a:rPr>
              <a:t>$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56563" y="4509515"/>
            <a:ext cx="424307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Arial"/>
              <a:buChar char="▪"/>
              <a:tabLst>
                <a:tab pos="286385" algn="l"/>
                <a:tab pos="287020" algn="l"/>
                <a:tab pos="2595245" algn="l"/>
              </a:tabLst>
            </a:pPr>
            <a:r>
              <a:rPr dirty="0" sz="2000" spc="-5">
                <a:latin typeface="Calibri"/>
                <a:cs typeface="Calibri"/>
              </a:rPr>
              <a:t>The </a:t>
            </a:r>
            <a:r>
              <a:rPr dirty="0" sz="2000" spc="-15">
                <a:latin typeface="Calibri"/>
                <a:cs typeface="Calibri"/>
              </a:rPr>
              <a:t>inverse </a:t>
            </a:r>
            <a:r>
              <a:rPr dirty="0" sz="2000" spc="-5">
                <a:latin typeface="Calibri"/>
                <a:cs typeface="Calibri"/>
              </a:rPr>
              <a:t>of</a:t>
            </a:r>
            <a:r>
              <a:rPr dirty="0" sz="2000" spc="30">
                <a:latin typeface="Calibri"/>
                <a:cs typeface="Calibri"/>
              </a:rPr>
              <a:t> </a:t>
            </a:r>
            <a:r>
              <a:rPr dirty="0" sz="2000" spc="25">
                <a:latin typeface="Cambria Math"/>
                <a:cs typeface="Cambria Math"/>
              </a:rPr>
              <a:t>𝐷</a:t>
            </a:r>
            <a:r>
              <a:rPr dirty="0" sz="2000" spc="25">
                <a:latin typeface="Calibri"/>
                <a:cs typeface="Calibri"/>
              </a:rPr>
              <a:t>:</a:t>
            </a:r>
            <a:r>
              <a:rPr dirty="0" sz="2000" spc="0">
                <a:latin typeface="Calibri"/>
                <a:cs typeface="Calibri"/>
              </a:rPr>
              <a:t> </a:t>
            </a:r>
            <a:r>
              <a:rPr dirty="0" sz="2000">
                <a:latin typeface="Cambria Math"/>
                <a:cs typeface="Cambria Math"/>
              </a:rPr>
              <a:t>𝐷	</a:t>
            </a:r>
            <a:r>
              <a:rPr dirty="0" sz="2000">
                <a:latin typeface="Calibri"/>
                <a:cs typeface="Calibri"/>
              </a:rPr>
              <a:t>is also</a:t>
            </a:r>
            <a:r>
              <a:rPr dirty="0" sz="2000" spc="-95">
                <a:latin typeface="Calibri"/>
                <a:cs typeface="Calibri"/>
              </a:rPr>
              <a:t> </a:t>
            </a:r>
            <a:r>
              <a:rPr dirty="0" sz="2000" spc="-5">
                <a:latin typeface="Calibri"/>
                <a:cs typeface="Calibri"/>
              </a:rPr>
              <a:t>diagonal: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629760" y="4905040"/>
            <a:ext cx="311785" cy="235585"/>
          </a:xfrm>
          <a:custGeom>
            <a:avLst/>
            <a:gdLst/>
            <a:ahLst/>
            <a:cxnLst/>
            <a:rect l="l" t="t" r="r" b="b"/>
            <a:pathLst>
              <a:path w="311785" h="235585">
                <a:moveTo>
                  <a:pt x="236689" y="0"/>
                </a:moveTo>
                <a:lnTo>
                  <a:pt x="233340" y="9549"/>
                </a:lnTo>
                <a:lnTo>
                  <a:pt x="246959" y="15459"/>
                </a:lnTo>
                <a:lnTo>
                  <a:pt x="258672" y="23641"/>
                </a:lnTo>
                <a:lnTo>
                  <a:pt x="282454" y="61565"/>
                </a:lnTo>
                <a:lnTo>
                  <a:pt x="290267" y="116457"/>
                </a:lnTo>
                <a:lnTo>
                  <a:pt x="289395" y="137208"/>
                </a:lnTo>
                <a:lnTo>
                  <a:pt x="276315" y="188019"/>
                </a:lnTo>
                <a:lnTo>
                  <a:pt x="247119" y="219784"/>
                </a:lnTo>
                <a:lnTo>
                  <a:pt x="233713" y="225722"/>
                </a:lnTo>
                <a:lnTo>
                  <a:pt x="236689" y="235272"/>
                </a:lnTo>
                <a:lnTo>
                  <a:pt x="281639" y="208564"/>
                </a:lnTo>
                <a:lnTo>
                  <a:pt x="306886" y="159261"/>
                </a:lnTo>
                <a:lnTo>
                  <a:pt x="311724" y="117697"/>
                </a:lnTo>
                <a:lnTo>
                  <a:pt x="310510" y="96129"/>
                </a:lnTo>
                <a:lnTo>
                  <a:pt x="300805" y="57899"/>
                </a:lnTo>
                <a:lnTo>
                  <a:pt x="268702" y="15083"/>
                </a:lnTo>
                <a:lnTo>
                  <a:pt x="253746" y="6158"/>
                </a:lnTo>
                <a:lnTo>
                  <a:pt x="236689" y="0"/>
                </a:lnTo>
                <a:close/>
              </a:path>
              <a:path w="311785" h="235585">
                <a:moveTo>
                  <a:pt x="75034" y="0"/>
                </a:moveTo>
                <a:lnTo>
                  <a:pt x="30164" y="26776"/>
                </a:lnTo>
                <a:lnTo>
                  <a:pt x="4852" y="76196"/>
                </a:lnTo>
                <a:lnTo>
                  <a:pt x="0" y="117697"/>
                </a:lnTo>
                <a:lnTo>
                  <a:pt x="1209" y="139312"/>
                </a:lnTo>
                <a:lnTo>
                  <a:pt x="10882" y="177543"/>
                </a:lnTo>
                <a:lnTo>
                  <a:pt x="42942" y="220219"/>
                </a:lnTo>
                <a:lnTo>
                  <a:pt x="75034" y="235272"/>
                </a:lnTo>
                <a:lnTo>
                  <a:pt x="78011" y="225722"/>
                </a:lnTo>
                <a:lnTo>
                  <a:pt x="64604" y="219784"/>
                </a:lnTo>
                <a:lnTo>
                  <a:pt x="53035" y="211521"/>
                </a:lnTo>
                <a:lnTo>
                  <a:pt x="29304" y="172989"/>
                </a:lnTo>
                <a:lnTo>
                  <a:pt x="21455" y="116457"/>
                </a:lnTo>
                <a:lnTo>
                  <a:pt x="22327" y="96385"/>
                </a:lnTo>
                <a:lnTo>
                  <a:pt x="35408" y="46818"/>
                </a:lnTo>
                <a:lnTo>
                  <a:pt x="64813" y="15459"/>
                </a:lnTo>
                <a:lnTo>
                  <a:pt x="78383" y="9549"/>
                </a:lnTo>
                <a:lnTo>
                  <a:pt x="750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288033" y="4829555"/>
            <a:ext cx="176911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90">
                <a:latin typeface="Cambria Math"/>
                <a:cs typeface="Cambria Math"/>
              </a:rPr>
              <a:t>𝐷</a:t>
            </a:r>
            <a:r>
              <a:rPr dirty="0" baseline="27777" sz="2250" spc="135">
                <a:latin typeface="Cambria Math"/>
                <a:cs typeface="Cambria Math"/>
              </a:rPr>
              <a:t>#$ </a:t>
            </a:r>
            <a:r>
              <a:rPr dirty="0" sz="2000">
                <a:latin typeface="Cambria Math"/>
                <a:cs typeface="Cambria Math"/>
              </a:rPr>
              <a:t>= </a:t>
            </a:r>
            <a:r>
              <a:rPr dirty="0" sz="2000" spc="-5">
                <a:latin typeface="Cambria Math"/>
                <a:cs typeface="Cambria Math"/>
              </a:rPr>
              <a:t>1/|𝑁  </a:t>
            </a:r>
            <a:r>
              <a:rPr dirty="0" sz="2000">
                <a:latin typeface="Cambria Math"/>
                <a:cs typeface="Cambria Math"/>
              </a:rPr>
              <a:t>𝑣 </a:t>
            </a:r>
            <a:r>
              <a:rPr dirty="0" sz="2000" spc="100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|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18108" y="4944871"/>
            <a:ext cx="1663064" cy="579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280035">
              <a:lnSpc>
                <a:spcPts val="1639"/>
              </a:lnSpc>
              <a:spcBef>
                <a:spcPts val="100"/>
              </a:spcBef>
            </a:pPr>
            <a:r>
              <a:rPr dirty="0" sz="1500" spc="-330">
                <a:latin typeface="Cambria Math"/>
                <a:cs typeface="Cambria Math"/>
              </a:rPr>
              <a:t>%,%</a:t>
            </a:r>
            <a:endParaRPr sz="1500">
              <a:latin typeface="Cambria Math"/>
              <a:cs typeface="Cambria Math"/>
            </a:endParaRPr>
          </a:p>
          <a:p>
            <a:pPr marL="332740" indent="-320040">
              <a:lnSpc>
                <a:spcPts val="2720"/>
              </a:lnSpc>
              <a:buClr>
                <a:srgbClr val="F0AD00"/>
              </a:buClr>
              <a:buSzPct val="79166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400" spc="-15" b="1">
                <a:latin typeface="Calibri"/>
                <a:cs typeface="Calibri"/>
              </a:rPr>
              <a:t>Therefore,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625885" y="5937861"/>
            <a:ext cx="762000" cy="228600"/>
          </a:xfrm>
          <a:custGeom>
            <a:avLst/>
            <a:gdLst/>
            <a:ahLst/>
            <a:cxnLst/>
            <a:rect l="l" t="t" r="r" b="b"/>
            <a:pathLst>
              <a:path w="762000" h="228600">
                <a:moveTo>
                  <a:pt x="647700" y="0"/>
                </a:moveTo>
                <a:lnTo>
                  <a:pt x="647700" y="57149"/>
                </a:lnTo>
                <a:lnTo>
                  <a:pt x="0" y="57149"/>
                </a:lnTo>
                <a:lnTo>
                  <a:pt x="0" y="171449"/>
                </a:lnTo>
                <a:lnTo>
                  <a:pt x="647700" y="171449"/>
                </a:lnTo>
                <a:lnTo>
                  <a:pt x="647700" y="228599"/>
                </a:lnTo>
                <a:lnTo>
                  <a:pt x="762000" y="114299"/>
                </a:lnTo>
                <a:lnTo>
                  <a:pt x="64770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601886" y="5879920"/>
            <a:ext cx="820419" cy="344805"/>
          </a:xfrm>
          <a:custGeom>
            <a:avLst/>
            <a:gdLst/>
            <a:ahLst/>
            <a:cxnLst/>
            <a:rect l="l" t="t" r="r" b="b"/>
            <a:pathLst>
              <a:path w="820420" h="344804">
                <a:moveTo>
                  <a:pt x="647700" y="0"/>
                </a:moveTo>
                <a:lnTo>
                  <a:pt x="647700" y="91091"/>
                </a:lnTo>
                <a:lnTo>
                  <a:pt x="0" y="91091"/>
                </a:lnTo>
                <a:lnTo>
                  <a:pt x="0" y="253391"/>
                </a:lnTo>
                <a:lnTo>
                  <a:pt x="647700" y="253391"/>
                </a:lnTo>
                <a:lnTo>
                  <a:pt x="647700" y="344482"/>
                </a:lnTo>
                <a:lnTo>
                  <a:pt x="717228" y="274952"/>
                </a:lnTo>
                <a:lnTo>
                  <a:pt x="676499" y="274952"/>
                </a:lnTo>
                <a:lnTo>
                  <a:pt x="676499" y="224591"/>
                </a:lnTo>
                <a:lnTo>
                  <a:pt x="28799" y="224591"/>
                </a:lnTo>
                <a:lnTo>
                  <a:pt x="28799" y="119891"/>
                </a:lnTo>
                <a:lnTo>
                  <a:pt x="676499" y="119891"/>
                </a:lnTo>
                <a:lnTo>
                  <a:pt x="676499" y="69529"/>
                </a:lnTo>
                <a:lnTo>
                  <a:pt x="717228" y="69529"/>
                </a:lnTo>
                <a:lnTo>
                  <a:pt x="647700" y="0"/>
                </a:lnTo>
                <a:close/>
              </a:path>
              <a:path w="820420" h="344804">
                <a:moveTo>
                  <a:pt x="717228" y="69529"/>
                </a:moveTo>
                <a:lnTo>
                  <a:pt x="676499" y="69529"/>
                </a:lnTo>
                <a:lnTo>
                  <a:pt x="779211" y="172241"/>
                </a:lnTo>
                <a:lnTo>
                  <a:pt x="676499" y="274952"/>
                </a:lnTo>
                <a:lnTo>
                  <a:pt x="717228" y="274952"/>
                </a:lnTo>
                <a:lnTo>
                  <a:pt x="819939" y="172241"/>
                </a:lnTo>
                <a:lnTo>
                  <a:pt x="717228" y="69529"/>
                </a:lnTo>
                <a:close/>
              </a:path>
              <a:path w="820420" h="344804">
                <a:moveTo>
                  <a:pt x="686099" y="92705"/>
                </a:moveTo>
                <a:lnTo>
                  <a:pt x="686099" y="129491"/>
                </a:lnTo>
                <a:lnTo>
                  <a:pt x="38399" y="129491"/>
                </a:lnTo>
                <a:lnTo>
                  <a:pt x="38399" y="214991"/>
                </a:lnTo>
                <a:lnTo>
                  <a:pt x="686099" y="214991"/>
                </a:lnTo>
                <a:lnTo>
                  <a:pt x="686099" y="251776"/>
                </a:lnTo>
                <a:lnTo>
                  <a:pt x="709276" y="228599"/>
                </a:lnTo>
                <a:lnTo>
                  <a:pt x="695699" y="228599"/>
                </a:lnTo>
                <a:lnTo>
                  <a:pt x="695699" y="205391"/>
                </a:lnTo>
                <a:lnTo>
                  <a:pt x="47999" y="205391"/>
                </a:lnTo>
                <a:lnTo>
                  <a:pt x="47999" y="139091"/>
                </a:lnTo>
                <a:lnTo>
                  <a:pt x="695699" y="139091"/>
                </a:lnTo>
                <a:lnTo>
                  <a:pt x="695699" y="115882"/>
                </a:lnTo>
                <a:lnTo>
                  <a:pt x="709276" y="115882"/>
                </a:lnTo>
                <a:lnTo>
                  <a:pt x="686099" y="92705"/>
                </a:lnTo>
                <a:close/>
              </a:path>
              <a:path w="820420" h="344804">
                <a:moveTo>
                  <a:pt x="709276" y="115882"/>
                </a:moveTo>
                <a:lnTo>
                  <a:pt x="695699" y="115882"/>
                </a:lnTo>
                <a:lnTo>
                  <a:pt x="752058" y="172241"/>
                </a:lnTo>
                <a:lnTo>
                  <a:pt x="695699" y="228599"/>
                </a:lnTo>
                <a:lnTo>
                  <a:pt x="709276" y="228599"/>
                </a:lnTo>
                <a:lnTo>
                  <a:pt x="765634" y="172241"/>
                </a:lnTo>
                <a:lnTo>
                  <a:pt x="709276" y="115882"/>
                </a:lnTo>
                <a:close/>
              </a:path>
            </a:pathLst>
          </a:custGeom>
          <a:solidFill>
            <a:srgbClr val="B07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713486" y="2764557"/>
            <a:ext cx="1447800" cy="942975"/>
          </a:xfrm>
          <a:custGeom>
            <a:avLst/>
            <a:gdLst/>
            <a:ahLst/>
            <a:cxnLst/>
            <a:rect l="l" t="t" r="r" b="b"/>
            <a:pathLst>
              <a:path w="1447800" h="942975">
                <a:moveTo>
                  <a:pt x="0" y="942587"/>
                </a:moveTo>
                <a:lnTo>
                  <a:pt x="1447800" y="942587"/>
                </a:lnTo>
                <a:lnTo>
                  <a:pt x="1447800" y="0"/>
                </a:lnTo>
                <a:lnTo>
                  <a:pt x="0" y="0"/>
                </a:lnTo>
                <a:lnTo>
                  <a:pt x="0" y="942587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713486" y="3940327"/>
            <a:ext cx="1447800" cy="882015"/>
          </a:xfrm>
          <a:custGeom>
            <a:avLst/>
            <a:gdLst/>
            <a:ahLst/>
            <a:cxnLst/>
            <a:rect l="l" t="t" r="r" b="b"/>
            <a:pathLst>
              <a:path w="1447800" h="882014">
                <a:moveTo>
                  <a:pt x="0" y="881628"/>
                </a:moveTo>
                <a:lnTo>
                  <a:pt x="1447800" y="881628"/>
                </a:lnTo>
                <a:lnTo>
                  <a:pt x="1447800" y="0"/>
                </a:lnTo>
                <a:lnTo>
                  <a:pt x="0" y="0"/>
                </a:lnTo>
                <a:lnTo>
                  <a:pt x="0" y="881628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689487" y="2740557"/>
            <a:ext cx="1496060" cy="2105660"/>
          </a:xfrm>
          <a:custGeom>
            <a:avLst/>
            <a:gdLst/>
            <a:ahLst/>
            <a:cxnLst/>
            <a:rect l="l" t="t" r="r" b="b"/>
            <a:pathLst>
              <a:path w="1496059" h="2105660">
                <a:moveTo>
                  <a:pt x="1471799" y="0"/>
                </a:moveTo>
                <a:lnTo>
                  <a:pt x="23999" y="0"/>
                </a:lnTo>
                <a:lnTo>
                  <a:pt x="14657" y="1886"/>
                </a:lnTo>
                <a:lnTo>
                  <a:pt x="7028" y="7029"/>
                </a:lnTo>
                <a:lnTo>
                  <a:pt x="1885" y="14658"/>
                </a:lnTo>
                <a:lnTo>
                  <a:pt x="0" y="24000"/>
                </a:lnTo>
                <a:lnTo>
                  <a:pt x="0" y="2081399"/>
                </a:lnTo>
                <a:lnTo>
                  <a:pt x="1885" y="2090741"/>
                </a:lnTo>
                <a:lnTo>
                  <a:pt x="7028" y="2098370"/>
                </a:lnTo>
                <a:lnTo>
                  <a:pt x="14657" y="2103513"/>
                </a:lnTo>
                <a:lnTo>
                  <a:pt x="23999" y="2105399"/>
                </a:lnTo>
                <a:lnTo>
                  <a:pt x="1471799" y="2105399"/>
                </a:lnTo>
                <a:lnTo>
                  <a:pt x="1481141" y="2103513"/>
                </a:lnTo>
                <a:lnTo>
                  <a:pt x="1488770" y="2098370"/>
                </a:lnTo>
                <a:lnTo>
                  <a:pt x="1493913" y="2090741"/>
                </a:lnTo>
                <a:lnTo>
                  <a:pt x="1495799" y="2081399"/>
                </a:lnTo>
                <a:lnTo>
                  <a:pt x="1495799" y="2076599"/>
                </a:lnTo>
                <a:lnTo>
                  <a:pt x="28799" y="2076599"/>
                </a:lnTo>
                <a:lnTo>
                  <a:pt x="28799" y="28799"/>
                </a:lnTo>
                <a:lnTo>
                  <a:pt x="1495799" y="28799"/>
                </a:lnTo>
                <a:lnTo>
                  <a:pt x="1495799" y="24000"/>
                </a:lnTo>
                <a:lnTo>
                  <a:pt x="1493913" y="14658"/>
                </a:lnTo>
                <a:lnTo>
                  <a:pt x="1488770" y="7029"/>
                </a:lnTo>
                <a:lnTo>
                  <a:pt x="1481141" y="1886"/>
                </a:lnTo>
                <a:lnTo>
                  <a:pt x="1471799" y="0"/>
                </a:lnTo>
                <a:close/>
              </a:path>
              <a:path w="1496059" h="2105660">
                <a:moveTo>
                  <a:pt x="1495799" y="28799"/>
                </a:moveTo>
                <a:lnTo>
                  <a:pt x="1466999" y="28799"/>
                </a:lnTo>
                <a:lnTo>
                  <a:pt x="1466999" y="2076599"/>
                </a:lnTo>
                <a:lnTo>
                  <a:pt x="1495799" y="2076599"/>
                </a:lnTo>
                <a:lnTo>
                  <a:pt x="1495799" y="28799"/>
                </a:lnTo>
                <a:close/>
              </a:path>
              <a:path w="1496059" h="2105660">
                <a:moveTo>
                  <a:pt x="1457399" y="38399"/>
                </a:moveTo>
                <a:lnTo>
                  <a:pt x="38399" y="38399"/>
                </a:lnTo>
                <a:lnTo>
                  <a:pt x="38399" y="2066999"/>
                </a:lnTo>
                <a:lnTo>
                  <a:pt x="1457399" y="2066999"/>
                </a:lnTo>
                <a:lnTo>
                  <a:pt x="1457399" y="2057400"/>
                </a:lnTo>
                <a:lnTo>
                  <a:pt x="47999" y="2057400"/>
                </a:lnTo>
                <a:lnTo>
                  <a:pt x="47999" y="47999"/>
                </a:lnTo>
                <a:lnTo>
                  <a:pt x="1457399" y="47999"/>
                </a:lnTo>
                <a:lnTo>
                  <a:pt x="1457399" y="38399"/>
                </a:lnTo>
                <a:close/>
              </a:path>
              <a:path w="1496059" h="2105660">
                <a:moveTo>
                  <a:pt x="1457399" y="47999"/>
                </a:moveTo>
                <a:lnTo>
                  <a:pt x="1447800" y="47999"/>
                </a:lnTo>
                <a:lnTo>
                  <a:pt x="1447800" y="2057400"/>
                </a:lnTo>
                <a:lnTo>
                  <a:pt x="1457399" y="2057400"/>
                </a:lnTo>
                <a:lnTo>
                  <a:pt x="1457399" y="47999"/>
                </a:lnTo>
                <a:close/>
              </a:path>
            </a:pathLst>
          </a:custGeom>
          <a:solidFill>
            <a:srgbClr val="B07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713486" y="3707145"/>
            <a:ext cx="1447800" cy="233679"/>
          </a:xfrm>
          <a:custGeom>
            <a:avLst/>
            <a:gdLst/>
            <a:ahLst/>
            <a:cxnLst/>
            <a:rect l="l" t="t" r="r" b="b"/>
            <a:pathLst>
              <a:path w="1447800" h="233679">
                <a:moveTo>
                  <a:pt x="1447800" y="0"/>
                </a:moveTo>
                <a:lnTo>
                  <a:pt x="1447800" y="233182"/>
                </a:lnTo>
                <a:lnTo>
                  <a:pt x="0" y="233182"/>
                </a:lnTo>
                <a:lnTo>
                  <a:pt x="0" y="0"/>
                </a:lnTo>
                <a:lnTo>
                  <a:pt x="1447800" y="0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689487" y="3683144"/>
            <a:ext cx="1496060" cy="281305"/>
          </a:xfrm>
          <a:custGeom>
            <a:avLst/>
            <a:gdLst/>
            <a:ahLst/>
            <a:cxnLst/>
            <a:rect l="l" t="t" r="r" b="b"/>
            <a:pathLst>
              <a:path w="1496059" h="281304">
                <a:moveTo>
                  <a:pt x="215999" y="0"/>
                </a:moveTo>
                <a:lnTo>
                  <a:pt x="23999" y="0"/>
                </a:lnTo>
                <a:lnTo>
                  <a:pt x="23999" y="28799"/>
                </a:lnTo>
                <a:lnTo>
                  <a:pt x="215999" y="28799"/>
                </a:lnTo>
                <a:lnTo>
                  <a:pt x="215999" y="25963"/>
                </a:lnTo>
                <a:lnTo>
                  <a:pt x="28799" y="25963"/>
                </a:lnTo>
                <a:lnTo>
                  <a:pt x="28799" y="24000"/>
                </a:lnTo>
                <a:lnTo>
                  <a:pt x="215999" y="24000"/>
                </a:lnTo>
                <a:lnTo>
                  <a:pt x="215999" y="0"/>
                </a:lnTo>
                <a:close/>
              </a:path>
              <a:path w="1496059" h="281304">
                <a:moveTo>
                  <a:pt x="23999" y="24000"/>
                </a:moveTo>
                <a:lnTo>
                  <a:pt x="0" y="24000"/>
                </a:lnTo>
                <a:lnTo>
                  <a:pt x="0" y="25963"/>
                </a:lnTo>
                <a:lnTo>
                  <a:pt x="23999" y="25963"/>
                </a:lnTo>
                <a:lnTo>
                  <a:pt x="23999" y="24000"/>
                </a:lnTo>
                <a:close/>
              </a:path>
              <a:path w="1496059" h="281304">
                <a:moveTo>
                  <a:pt x="38399" y="24000"/>
                </a:moveTo>
                <a:lnTo>
                  <a:pt x="28799" y="24000"/>
                </a:lnTo>
                <a:lnTo>
                  <a:pt x="28799" y="25963"/>
                </a:lnTo>
                <a:lnTo>
                  <a:pt x="38399" y="25963"/>
                </a:lnTo>
                <a:lnTo>
                  <a:pt x="38399" y="24000"/>
                </a:lnTo>
                <a:close/>
              </a:path>
              <a:path w="1496059" h="281304">
                <a:moveTo>
                  <a:pt x="47999" y="24000"/>
                </a:moveTo>
                <a:lnTo>
                  <a:pt x="38399" y="24000"/>
                </a:lnTo>
                <a:lnTo>
                  <a:pt x="38399" y="25963"/>
                </a:lnTo>
                <a:lnTo>
                  <a:pt x="47999" y="25963"/>
                </a:lnTo>
                <a:lnTo>
                  <a:pt x="47999" y="24000"/>
                </a:lnTo>
                <a:close/>
              </a:path>
              <a:path w="1496059" h="281304">
                <a:moveTo>
                  <a:pt x="215999" y="24000"/>
                </a:moveTo>
                <a:lnTo>
                  <a:pt x="47999" y="24000"/>
                </a:lnTo>
                <a:lnTo>
                  <a:pt x="47999" y="25963"/>
                </a:lnTo>
                <a:lnTo>
                  <a:pt x="215999" y="25963"/>
                </a:lnTo>
                <a:lnTo>
                  <a:pt x="215999" y="24000"/>
                </a:lnTo>
                <a:close/>
              </a:path>
              <a:path w="1496059" h="281304">
                <a:moveTo>
                  <a:pt x="215999" y="38399"/>
                </a:moveTo>
                <a:lnTo>
                  <a:pt x="23999" y="38399"/>
                </a:lnTo>
                <a:lnTo>
                  <a:pt x="23999" y="47999"/>
                </a:lnTo>
                <a:lnTo>
                  <a:pt x="215999" y="47999"/>
                </a:lnTo>
                <a:lnTo>
                  <a:pt x="215999" y="38399"/>
                </a:lnTo>
                <a:close/>
              </a:path>
              <a:path w="1496059" h="281304">
                <a:moveTo>
                  <a:pt x="551999" y="0"/>
                </a:moveTo>
                <a:lnTo>
                  <a:pt x="359999" y="0"/>
                </a:lnTo>
                <a:lnTo>
                  <a:pt x="359999" y="28799"/>
                </a:lnTo>
                <a:lnTo>
                  <a:pt x="551999" y="28799"/>
                </a:lnTo>
                <a:lnTo>
                  <a:pt x="551999" y="0"/>
                </a:lnTo>
                <a:close/>
              </a:path>
              <a:path w="1496059" h="281304">
                <a:moveTo>
                  <a:pt x="551999" y="38399"/>
                </a:moveTo>
                <a:lnTo>
                  <a:pt x="359999" y="38399"/>
                </a:lnTo>
                <a:lnTo>
                  <a:pt x="359999" y="47999"/>
                </a:lnTo>
                <a:lnTo>
                  <a:pt x="551999" y="47999"/>
                </a:lnTo>
                <a:lnTo>
                  <a:pt x="551999" y="38399"/>
                </a:lnTo>
                <a:close/>
              </a:path>
              <a:path w="1496059" h="281304">
                <a:moveTo>
                  <a:pt x="887999" y="0"/>
                </a:moveTo>
                <a:lnTo>
                  <a:pt x="695999" y="0"/>
                </a:lnTo>
                <a:lnTo>
                  <a:pt x="695999" y="28799"/>
                </a:lnTo>
                <a:lnTo>
                  <a:pt x="887999" y="28799"/>
                </a:lnTo>
                <a:lnTo>
                  <a:pt x="887999" y="0"/>
                </a:lnTo>
                <a:close/>
              </a:path>
              <a:path w="1496059" h="281304">
                <a:moveTo>
                  <a:pt x="887999" y="38399"/>
                </a:moveTo>
                <a:lnTo>
                  <a:pt x="695999" y="38399"/>
                </a:lnTo>
                <a:lnTo>
                  <a:pt x="695999" y="47999"/>
                </a:lnTo>
                <a:lnTo>
                  <a:pt x="887999" y="47999"/>
                </a:lnTo>
                <a:lnTo>
                  <a:pt x="887999" y="38399"/>
                </a:lnTo>
                <a:close/>
              </a:path>
              <a:path w="1496059" h="281304">
                <a:moveTo>
                  <a:pt x="1223999" y="0"/>
                </a:moveTo>
                <a:lnTo>
                  <a:pt x="1031999" y="0"/>
                </a:lnTo>
                <a:lnTo>
                  <a:pt x="1031999" y="28799"/>
                </a:lnTo>
                <a:lnTo>
                  <a:pt x="1223999" y="28799"/>
                </a:lnTo>
                <a:lnTo>
                  <a:pt x="1223999" y="0"/>
                </a:lnTo>
                <a:close/>
              </a:path>
              <a:path w="1496059" h="281304">
                <a:moveTo>
                  <a:pt x="1223999" y="38399"/>
                </a:moveTo>
                <a:lnTo>
                  <a:pt x="1031999" y="38399"/>
                </a:lnTo>
                <a:lnTo>
                  <a:pt x="1031999" y="47999"/>
                </a:lnTo>
                <a:lnTo>
                  <a:pt x="1223999" y="47999"/>
                </a:lnTo>
                <a:lnTo>
                  <a:pt x="1223999" y="38399"/>
                </a:lnTo>
                <a:close/>
              </a:path>
              <a:path w="1496059" h="281304">
                <a:moveTo>
                  <a:pt x="1457399" y="38399"/>
                </a:moveTo>
                <a:lnTo>
                  <a:pt x="1367999" y="38399"/>
                </a:lnTo>
                <a:lnTo>
                  <a:pt x="1367999" y="47999"/>
                </a:lnTo>
                <a:lnTo>
                  <a:pt x="1447800" y="47999"/>
                </a:lnTo>
                <a:lnTo>
                  <a:pt x="1447800" y="112199"/>
                </a:lnTo>
                <a:lnTo>
                  <a:pt x="1457399" y="112199"/>
                </a:lnTo>
                <a:lnTo>
                  <a:pt x="1457399" y="38399"/>
                </a:lnTo>
                <a:close/>
              </a:path>
              <a:path w="1496059" h="281304">
                <a:moveTo>
                  <a:pt x="1471799" y="0"/>
                </a:moveTo>
                <a:lnTo>
                  <a:pt x="1367999" y="0"/>
                </a:lnTo>
                <a:lnTo>
                  <a:pt x="1367999" y="28799"/>
                </a:lnTo>
                <a:lnTo>
                  <a:pt x="1466999" y="28799"/>
                </a:lnTo>
                <a:lnTo>
                  <a:pt x="1466999" y="112199"/>
                </a:lnTo>
                <a:lnTo>
                  <a:pt x="1495799" y="112199"/>
                </a:lnTo>
                <a:lnTo>
                  <a:pt x="1495799" y="24000"/>
                </a:lnTo>
                <a:lnTo>
                  <a:pt x="1493913" y="14658"/>
                </a:lnTo>
                <a:lnTo>
                  <a:pt x="1488770" y="7029"/>
                </a:lnTo>
                <a:lnTo>
                  <a:pt x="1481141" y="1886"/>
                </a:lnTo>
                <a:lnTo>
                  <a:pt x="1471799" y="0"/>
                </a:lnTo>
                <a:close/>
              </a:path>
              <a:path w="1496059" h="281304">
                <a:moveTo>
                  <a:pt x="1466999" y="252382"/>
                </a:moveTo>
                <a:lnTo>
                  <a:pt x="1280781" y="252382"/>
                </a:lnTo>
                <a:lnTo>
                  <a:pt x="1280781" y="281181"/>
                </a:lnTo>
                <a:lnTo>
                  <a:pt x="1471799" y="281181"/>
                </a:lnTo>
                <a:lnTo>
                  <a:pt x="1481141" y="279295"/>
                </a:lnTo>
                <a:lnTo>
                  <a:pt x="1488770" y="274152"/>
                </a:lnTo>
                <a:lnTo>
                  <a:pt x="1493913" y="266523"/>
                </a:lnTo>
                <a:lnTo>
                  <a:pt x="1495799" y="257182"/>
                </a:lnTo>
                <a:lnTo>
                  <a:pt x="1495799" y="256199"/>
                </a:lnTo>
                <a:lnTo>
                  <a:pt x="1466999" y="252382"/>
                </a:lnTo>
                <a:close/>
              </a:path>
              <a:path w="1496059" h="281304">
                <a:moveTo>
                  <a:pt x="1447800" y="233182"/>
                </a:moveTo>
                <a:lnTo>
                  <a:pt x="1280781" y="233182"/>
                </a:lnTo>
                <a:lnTo>
                  <a:pt x="1280781" y="242782"/>
                </a:lnTo>
                <a:lnTo>
                  <a:pt x="1457399" y="242782"/>
                </a:lnTo>
                <a:lnTo>
                  <a:pt x="1447800" y="233182"/>
                </a:lnTo>
                <a:close/>
              </a:path>
              <a:path w="1496059" h="281304">
                <a:moveTo>
                  <a:pt x="1136782" y="252382"/>
                </a:moveTo>
                <a:lnTo>
                  <a:pt x="944780" y="252382"/>
                </a:lnTo>
                <a:lnTo>
                  <a:pt x="944780" y="281181"/>
                </a:lnTo>
                <a:lnTo>
                  <a:pt x="1136782" y="281181"/>
                </a:lnTo>
                <a:lnTo>
                  <a:pt x="1136782" y="252382"/>
                </a:lnTo>
                <a:close/>
              </a:path>
              <a:path w="1496059" h="281304">
                <a:moveTo>
                  <a:pt x="1136782" y="233182"/>
                </a:moveTo>
                <a:lnTo>
                  <a:pt x="944780" y="233182"/>
                </a:lnTo>
                <a:lnTo>
                  <a:pt x="944780" y="242782"/>
                </a:lnTo>
                <a:lnTo>
                  <a:pt x="1136782" y="242782"/>
                </a:lnTo>
                <a:lnTo>
                  <a:pt x="1136782" y="233182"/>
                </a:lnTo>
                <a:close/>
              </a:path>
              <a:path w="1496059" h="281304">
                <a:moveTo>
                  <a:pt x="800781" y="252382"/>
                </a:moveTo>
                <a:lnTo>
                  <a:pt x="608780" y="252382"/>
                </a:lnTo>
                <a:lnTo>
                  <a:pt x="608780" y="281181"/>
                </a:lnTo>
                <a:lnTo>
                  <a:pt x="800781" y="281181"/>
                </a:lnTo>
                <a:lnTo>
                  <a:pt x="800781" y="252382"/>
                </a:lnTo>
                <a:close/>
              </a:path>
              <a:path w="1496059" h="281304">
                <a:moveTo>
                  <a:pt x="800781" y="233182"/>
                </a:moveTo>
                <a:lnTo>
                  <a:pt x="608780" y="233182"/>
                </a:lnTo>
                <a:lnTo>
                  <a:pt x="608780" y="242782"/>
                </a:lnTo>
                <a:lnTo>
                  <a:pt x="800781" y="242782"/>
                </a:lnTo>
                <a:lnTo>
                  <a:pt x="800781" y="233182"/>
                </a:lnTo>
                <a:close/>
              </a:path>
              <a:path w="1496059" h="281304">
                <a:moveTo>
                  <a:pt x="464781" y="252382"/>
                </a:moveTo>
                <a:lnTo>
                  <a:pt x="272782" y="252382"/>
                </a:lnTo>
                <a:lnTo>
                  <a:pt x="272782" y="281181"/>
                </a:lnTo>
                <a:lnTo>
                  <a:pt x="464781" y="281181"/>
                </a:lnTo>
                <a:lnTo>
                  <a:pt x="464781" y="252382"/>
                </a:lnTo>
                <a:close/>
              </a:path>
              <a:path w="1496059" h="281304">
                <a:moveTo>
                  <a:pt x="464781" y="233182"/>
                </a:moveTo>
                <a:lnTo>
                  <a:pt x="272782" y="233182"/>
                </a:lnTo>
                <a:lnTo>
                  <a:pt x="272782" y="242782"/>
                </a:lnTo>
                <a:lnTo>
                  <a:pt x="464781" y="242782"/>
                </a:lnTo>
                <a:lnTo>
                  <a:pt x="464781" y="233182"/>
                </a:lnTo>
                <a:close/>
              </a:path>
              <a:path w="1496059" h="281304">
                <a:moveTo>
                  <a:pt x="28799" y="169964"/>
                </a:moveTo>
                <a:lnTo>
                  <a:pt x="0" y="169964"/>
                </a:lnTo>
                <a:lnTo>
                  <a:pt x="0" y="257182"/>
                </a:lnTo>
                <a:lnTo>
                  <a:pt x="1885" y="266523"/>
                </a:lnTo>
                <a:lnTo>
                  <a:pt x="7028" y="274152"/>
                </a:lnTo>
                <a:lnTo>
                  <a:pt x="14657" y="279295"/>
                </a:lnTo>
                <a:lnTo>
                  <a:pt x="23999" y="281181"/>
                </a:lnTo>
                <a:lnTo>
                  <a:pt x="128781" y="281181"/>
                </a:lnTo>
                <a:lnTo>
                  <a:pt x="128781" y="252382"/>
                </a:lnTo>
                <a:lnTo>
                  <a:pt x="28799" y="252382"/>
                </a:lnTo>
                <a:lnTo>
                  <a:pt x="28799" y="169964"/>
                </a:lnTo>
                <a:close/>
              </a:path>
              <a:path w="1496059" h="281304">
                <a:moveTo>
                  <a:pt x="47999" y="169964"/>
                </a:moveTo>
                <a:lnTo>
                  <a:pt x="38399" y="169964"/>
                </a:lnTo>
                <a:lnTo>
                  <a:pt x="38399" y="242782"/>
                </a:lnTo>
                <a:lnTo>
                  <a:pt x="128781" y="242782"/>
                </a:lnTo>
                <a:lnTo>
                  <a:pt x="128781" y="233182"/>
                </a:lnTo>
                <a:lnTo>
                  <a:pt x="47999" y="233182"/>
                </a:lnTo>
                <a:lnTo>
                  <a:pt x="47999" y="169964"/>
                </a:lnTo>
                <a:close/>
              </a:path>
            </a:pathLst>
          </a:custGeom>
          <a:solidFill>
            <a:srgbClr val="91323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6605810" y="2025395"/>
            <a:ext cx="1953260" cy="65024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ts val="2520"/>
              </a:lnSpc>
              <a:spcBef>
                <a:spcPts val="85"/>
              </a:spcBef>
            </a:pPr>
            <a:r>
              <a:rPr dirty="0" sz="2000" spc="-5">
                <a:solidFill>
                  <a:srgbClr val="D60093"/>
                </a:solidFill>
                <a:latin typeface="Arial"/>
                <a:cs typeface="Arial"/>
              </a:rPr>
              <a:t>Matrix </a:t>
            </a:r>
            <a:r>
              <a:rPr dirty="0" sz="2000">
                <a:solidFill>
                  <a:srgbClr val="D60093"/>
                </a:solidFill>
                <a:latin typeface="Arial"/>
                <a:cs typeface="Arial"/>
              </a:rPr>
              <a:t>of hidden  </a:t>
            </a:r>
            <a:r>
              <a:rPr dirty="0" sz="2000" spc="-5">
                <a:solidFill>
                  <a:srgbClr val="D60093"/>
                </a:solidFill>
                <a:latin typeface="Arial"/>
                <a:cs typeface="Arial"/>
              </a:rPr>
              <a:t>embeddings</a:t>
            </a:r>
            <a:r>
              <a:rPr dirty="0" sz="2000" spc="-50">
                <a:solidFill>
                  <a:srgbClr val="D60093"/>
                </a:solidFill>
                <a:latin typeface="Arial"/>
                <a:cs typeface="Arial"/>
              </a:rPr>
              <a:t> </a:t>
            </a:r>
            <a:r>
              <a:rPr dirty="0" sz="2000" spc="60">
                <a:solidFill>
                  <a:srgbClr val="D60093"/>
                </a:solidFill>
                <a:latin typeface="Cambria Math"/>
                <a:cs typeface="Cambria Math"/>
              </a:rPr>
              <a:t>𝑯</a:t>
            </a:r>
            <a:r>
              <a:rPr dirty="0" baseline="27777" sz="2250" spc="89">
                <a:solidFill>
                  <a:srgbClr val="D60093"/>
                </a:solidFill>
                <a:latin typeface="Cambria Math"/>
                <a:cs typeface="Cambria Math"/>
              </a:rPr>
              <a:t>(()</a:t>
            </a:r>
            <a:endParaRPr baseline="27777" sz="225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670497" y="4570984"/>
            <a:ext cx="8382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350">
                <a:latin typeface="Cambria Math"/>
                <a:cs typeface="Cambria Math"/>
              </a:rPr>
              <a:t>#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543497" y="4309364"/>
            <a:ext cx="4013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9320" sz="2700" spc="37">
                <a:latin typeface="Cambria Math"/>
                <a:cs typeface="Cambria Math"/>
              </a:rPr>
              <a:t>ℎ</a:t>
            </a:r>
            <a:r>
              <a:rPr dirty="0" sz="1300" spc="5">
                <a:latin typeface="Cambria Math"/>
                <a:cs typeface="Cambria Math"/>
              </a:rPr>
              <a:t>(</a:t>
            </a:r>
            <a:r>
              <a:rPr dirty="0" sz="1300" spc="-325">
                <a:latin typeface="Cambria Math"/>
                <a:cs typeface="Cambria Math"/>
              </a:rPr>
              <a:t>%</a:t>
            </a:r>
            <a:r>
              <a:rPr dirty="0" sz="1300">
                <a:latin typeface="Cambria Math"/>
                <a:cs typeface="Cambria Math"/>
              </a:rPr>
              <a:t>)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437386" y="3978044"/>
            <a:ext cx="1095375" cy="428625"/>
          </a:xfrm>
          <a:custGeom>
            <a:avLst/>
            <a:gdLst/>
            <a:ahLst/>
            <a:cxnLst/>
            <a:rect l="l" t="t" r="r" b="b"/>
            <a:pathLst>
              <a:path w="1095375" h="428625">
                <a:moveTo>
                  <a:pt x="152047" y="47831"/>
                </a:moveTo>
                <a:lnTo>
                  <a:pt x="134935" y="95660"/>
                </a:lnTo>
                <a:lnTo>
                  <a:pt x="1061036" y="427012"/>
                </a:lnTo>
                <a:lnTo>
                  <a:pt x="1071018" y="428463"/>
                </a:lnTo>
                <a:lnTo>
                  <a:pt x="1080453" y="426058"/>
                </a:lnTo>
                <a:lnTo>
                  <a:pt x="1088299" y="420290"/>
                </a:lnTo>
                <a:lnTo>
                  <a:pt x="1093509" y="411653"/>
                </a:lnTo>
                <a:lnTo>
                  <a:pt x="1094960" y="401672"/>
                </a:lnTo>
                <a:lnTo>
                  <a:pt x="1092554" y="392236"/>
                </a:lnTo>
                <a:lnTo>
                  <a:pt x="1086786" y="384391"/>
                </a:lnTo>
                <a:lnTo>
                  <a:pt x="1078149" y="379181"/>
                </a:lnTo>
                <a:lnTo>
                  <a:pt x="152047" y="47831"/>
                </a:lnTo>
                <a:close/>
              </a:path>
              <a:path w="1095375" h="428625">
                <a:moveTo>
                  <a:pt x="169161" y="0"/>
                </a:moveTo>
                <a:lnTo>
                  <a:pt x="0" y="20406"/>
                </a:lnTo>
                <a:lnTo>
                  <a:pt x="117821" y="143492"/>
                </a:lnTo>
                <a:lnTo>
                  <a:pt x="134935" y="95660"/>
                </a:lnTo>
                <a:lnTo>
                  <a:pt x="111019" y="87104"/>
                </a:lnTo>
                <a:lnTo>
                  <a:pt x="102383" y="81894"/>
                </a:lnTo>
                <a:lnTo>
                  <a:pt x="96615" y="74049"/>
                </a:lnTo>
                <a:lnTo>
                  <a:pt x="94210" y="64614"/>
                </a:lnTo>
                <a:lnTo>
                  <a:pt x="95661" y="54632"/>
                </a:lnTo>
                <a:lnTo>
                  <a:pt x="100871" y="45996"/>
                </a:lnTo>
                <a:lnTo>
                  <a:pt x="108716" y="40228"/>
                </a:lnTo>
                <a:lnTo>
                  <a:pt x="118151" y="37822"/>
                </a:lnTo>
                <a:lnTo>
                  <a:pt x="155628" y="37822"/>
                </a:lnTo>
                <a:lnTo>
                  <a:pt x="169161" y="0"/>
                </a:lnTo>
                <a:close/>
              </a:path>
              <a:path w="1095375" h="428625">
                <a:moveTo>
                  <a:pt x="118151" y="37822"/>
                </a:moveTo>
                <a:lnTo>
                  <a:pt x="108716" y="40228"/>
                </a:lnTo>
                <a:lnTo>
                  <a:pt x="100871" y="45996"/>
                </a:lnTo>
                <a:lnTo>
                  <a:pt x="95661" y="54632"/>
                </a:lnTo>
                <a:lnTo>
                  <a:pt x="94210" y="64614"/>
                </a:lnTo>
                <a:lnTo>
                  <a:pt x="96615" y="74049"/>
                </a:lnTo>
                <a:lnTo>
                  <a:pt x="102383" y="81894"/>
                </a:lnTo>
                <a:lnTo>
                  <a:pt x="111019" y="87104"/>
                </a:lnTo>
                <a:lnTo>
                  <a:pt x="134935" y="95660"/>
                </a:lnTo>
                <a:lnTo>
                  <a:pt x="152047" y="47831"/>
                </a:lnTo>
                <a:lnTo>
                  <a:pt x="128132" y="39274"/>
                </a:lnTo>
                <a:lnTo>
                  <a:pt x="118151" y="37822"/>
                </a:lnTo>
                <a:close/>
              </a:path>
              <a:path w="1095375" h="428625">
                <a:moveTo>
                  <a:pt x="155628" y="37822"/>
                </a:moveTo>
                <a:lnTo>
                  <a:pt x="118151" y="37822"/>
                </a:lnTo>
                <a:lnTo>
                  <a:pt x="128132" y="39274"/>
                </a:lnTo>
                <a:lnTo>
                  <a:pt x="152047" y="47831"/>
                </a:lnTo>
                <a:lnTo>
                  <a:pt x="155628" y="37822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4615280" y="5685027"/>
            <a:ext cx="154114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0833" sz="4200" spc="209">
                <a:latin typeface="Cambria Math"/>
                <a:cs typeface="Cambria Math"/>
              </a:rPr>
              <a:t>𝑫</a:t>
            </a:r>
            <a:r>
              <a:rPr dirty="0" sz="2000" spc="140">
                <a:latin typeface="Cambria Math"/>
                <a:cs typeface="Cambria Math"/>
              </a:rPr>
              <a:t>-.</a:t>
            </a:r>
            <a:r>
              <a:rPr dirty="0" baseline="-20833" sz="4200" spc="209">
                <a:latin typeface="Cambria Math"/>
                <a:cs typeface="Cambria Math"/>
              </a:rPr>
              <a:t>𝑨𝑯</a:t>
            </a:r>
            <a:r>
              <a:rPr dirty="0" sz="2000" spc="140">
                <a:latin typeface="Cambria Math"/>
                <a:cs typeface="Cambria Math"/>
              </a:rPr>
              <a:t>(%)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544575" y="6198814"/>
            <a:ext cx="374015" cy="282575"/>
          </a:xfrm>
          <a:custGeom>
            <a:avLst/>
            <a:gdLst/>
            <a:ahLst/>
            <a:cxnLst/>
            <a:rect l="l" t="t" r="r" b="b"/>
            <a:pathLst>
              <a:path w="374014" h="282575">
                <a:moveTo>
                  <a:pt x="283430" y="0"/>
                </a:moveTo>
                <a:lnTo>
                  <a:pt x="279412" y="11459"/>
                </a:lnTo>
                <a:lnTo>
                  <a:pt x="295755" y="18552"/>
                </a:lnTo>
                <a:lnTo>
                  <a:pt x="309810" y="28370"/>
                </a:lnTo>
                <a:lnTo>
                  <a:pt x="338348" y="73879"/>
                </a:lnTo>
                <a:lnTo>
                  <a:pt x="346682" y="115662"/>
                </a:lnTo>
                <a:lnTo>
                  <a:pt x="347724" y="139749"/>
                </a:lnTo>
                <a:lnTo>
                  <a:pt x="346678" y="164650"/>
                </a:lnTo>
                <a:lnTo>
                  <a:pt x="338306" y="207587"/>
                </a:lnTo>
                <a:lnTo>
                  <a:pt x="309828" y="253826"/>
                </a:lnTo>
                <a:lnTo>
                  <a:pt x="279858" y="270867"/>
                </a:lnTo>
                <a:lnTo>
                  <a:pt x="283430" y="282326"/>
                </a:lnTo>
                <a:lnTo>
                  <a:pt x="321939" y="264262"/>
                </a:lnTo>
                <a:lnTo>
                  <a:pt x="350254" y="232990"/>
                </a:lnTo>
                <a:lnTo>
                  <a:pt x="367667" y="191113"/>
                </a:lnTo>
                <a:lnTo>
                  <a:pt x="373471" y="141237"/>
                </a:lnTo>
                <a:lnTo>
                  <a:pt x="372015" y="115355"/>
                </a:lnTo>
                <a:lnTo>
                  <a:pt x="360369" y="69479"/>
                </a:lnTo>
                <a:lnTo>
                  <a:pt x="337273" y="32132"/>
                </a:lnTo>
                <a:lnTo>
                  <a:pt x="303899" y="7390"/>
                </a:lnTo>
                <a:lnTo>
                  <a:pt x="283430" y="0"/>
                </a:lnTo>
                <a:close/>
              </a:path>
              <a:path w="374014" h="282575">
                <a:moveTo>
                  <a:pt x="90041" y="0"/>
                </a:moveTo>
                <a:lnTo>
                  <a:pt x="51625" y="18101"/>
                </a:lnTo>
                <a:lnTo>
                  <a:pt x="23291" y="49485"/>
                </a:lnTo>
                <a:lnTo>
                  <a:pt x="5822" y="91436"/>
                </a:lnTo>
                <a:lnTo>
                  <a:pt x="0" y="141237"/>
                </a:lnTo>
                <a:lnTo>
                  <a:pt x="1451" y="167175"/>
                </a:lnTo>
                <a:lnTo>
                  <a:pt x="13059" y="213052"/>
                </a:lnTo>
                <a:lnTo>
                  <a:pt x="36100" y="250277"/>
                </a:lnTo>
                <a:lnTo>
                  <a:pt x="69512" y="274945"/>
                </a:lnTo>
                <a:lnTo>
                  <a:pt x="90041" y="282326"/>
                </a:lnTo>
                <a:lnTo>
                  <a:pt x="93612" y="270867"/>
                </a:lnTo>
                <a:lnTo>
                  <a:pt x="77525" y="263741"/>
                </a:lnTo>
                <a:lnTo>
                  <a:pt x="63642" y="253826"/>
                </a:lnTo>
                <a:lnTo>
                  <a:pt x="35165" y="207587"/>
                </a:lnTo>
                <a:lnTo>
                  <a:pt x="26794" y="164650"/>
                </a:lnTo>
                <a:lnTo>
                  <a:pt x="25747" y="139749"/>
                </a:lnTo>
                <a:lnTo>
                  <a:pt x="26794" y="115662"/>
                </a:lnTo>
                <a:lnTo>
                  <a:pt x="35165" y="73879"/>
                </a:lnTo>
                <a:lnTo>
                  <a:pt x="63754" y="28370"/>
                </a:lnTo>
                <a:lnTo>
                  <a:pt x="94060" y="11459"/>
                </a:lnTo>
                <a:lnTo>
                  <a:pt x="900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572420" y="6442506"/>
            <a:ext cx="278130" cy="212090"/>
          </a:xfrm>
          <a:custGeom>
            <a:avLst/>
            <a:gdLst/>
            <a:ahLst/>
            <a:cxnLst/>
            <a:rect l="l" t="t" r="r" b="b"/>
            <a:pathLst>
              <a:path w="278130" h="212090">
                <a:moveTo>
                  <a:pt x="210555" y="0"/>
                </a:moveTo>
                <a:lnTo>
                  <a:pt x="207542" y="8594"/>
                </a:lnTo>
                <a:lnTo>
                  <a:pt x="219799" y="13914"/>
                </a:lnTo>
                <a:lnTo>
                  <a:pt x="230341" y="21277"/>
                </a:lnTo>
                <a:lnTo>
                  <a:pt x="251744" y="55409"/>
                </a:lnTo>
                <a:lnTo>
                  <a:pt x="258776" y="104812"/>
                </a:lnTo>
                <a:lnTo>
                  <a:pt x="257991" y="123487"/>
                </a:lnTo>
                <a:lnTo>
                  <a:pt x="246218" y="169217"/>
                </a:lnTo>
                <a:lnTo>
                  <a:pt x="219942" y="197806"/>
                </a:lnTo>
                <a:lnTo>
                  <a:pt x="207877" y="203150"/>
                </a:lnTo>
                <a:lnTo>
                  <a:pt x="210555" y="211745"/>
                </a:lnTo>
                <a:lnTo>
                  <a:pt x="251011" y="187708"/>
                </a:lnTo>
                <a:lnTo>
                  <a:pt x="273733" y="143335"/>
                </a:lnTo>
                <a:lnTo>
                  <a:pt x="278086" y="105928"/>
                </a:lnTo>
                <a:lnTo>
                  <a:pt x="276995" y="86516"/>
                </a:lnTo>
                <a:lnTo>
                  <a:pt x="260617" y="37113"/>
                </a:lnTo>
                <a:lnTo>
                  <a:pt x="225907" y="5542"/>
                </a:lnTo>
                <a:lnTo>
                  <a:pt x="210555" y="0"/>
                </a:lnTo>
                <a:close/>
              </a:path>
              <a:path w="278130" h="212090">
                <a:moveTo>
                  <a:pt x="67529" y="0"/>
                </a:moveTo>
                <a:lnTo>
                  <a:pt x="27147" y="24099"/>
                </a:lnTo>
                <a:lnTo>
                  <a:pt x="4367" y="68577"/>
                </a:lnTo>
                <a:lnTo>
                  <a:pt x="0" y="105928"/>
                </a:lnTo>
                <a:lnTo>
                  <a:pt x="1088" y="125381"/>
                </a:lnTo>
                <a:lnTo>
                  <a:pt x="17412" y="174742"/>
                </a:lnTo>
                <a:lnTo>
                  <a:pt x="52133" y="206209"/>
                </a:lnTo>
                <a:lnTo>
                  <a:pt x="67529" y="211745"/>
                </a:lnTo>
                <a:lnTo>
                  <a:pt x="70209" y="203150"/>
                </a:lnTo>
                <a:lnTo>
                  <a:pt x="58143" y="197806"/>
                </a:lnTo>
                <a:lnTo>
                  <a:pt x="47731" y="190369"/>
                </a:lnTo>
                <a:lnTo>
                  <a:pt x="26373" y="155690"/>
                </a:lnTo>
                <a:lnTo>
                  <a:pt x="19310" y="104812"/>
                </a:lnTo>
                <a:lnTo>
                  <a:pt x="20095" y="86747"/>
                </a:lnTo>
                <a:lnTo>
                  <a:pt x="31866" y="42136"/>
                </a:lnTo>
                <a:lnTo>
                  <a:pt x="58332" y="13914"/>
                </a:lnTo>
                <a:lnTo>
                  <a:pt x="70544" y="8594"/>
                </a:lnTo>
                <a:lnTo>
                  <a:pt x="6752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1189681" y="5702748"/>
            <a:ext cx="2233295" cy="962660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algn="ctr" marL="341630">
              <a:lnSpc>
                <a:spcPct val="100000"/>
              </a:lnSpc>
              <a:spcBef>
                <a:spcPts val="405"/>
              </a:spcBef>
              <a:tabLst>
                <a:tab pos="1903730" algn="l"/>
              </a:tabLst>
            </a:pPr>
            <a:r>
              <a:rPr dirty="0" baseline="12731" sz="3600">
                <a:latin typeface="Cambria Math"/>
                <a:cs typeface="Cambria Math"/>
              </a:rPr>
              <a:t>1	</a:t>
            </a:r>
            <a:r>
              <a:rPr dirty="0" sz="1800" spc="-25">
                <a:latin typeface="Cambria Math"/>
                <a:cs typeface="Cambria Math"/>
              </a:rPr>
              <a:t>(</a:t>
            </a:r>
            <a:r>
              <a:rPr dirty="0" sz="1800" spc="735">
                <a:latin typeface="Cambria Math"/>
                <a:cs typeface="Cambria Math"/>
              </a:rPr>
              <a:t>.</a:t>
            </a:r>
            <a:r>
              <a:rPr dirty="0" sz="1800"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  <a:p>
            <a:pPr>
              <a:lnSpc>
                <a:spcPts val="2470"/>
              </a:lnSpc>
              <a:spcBef>
                <a:spcPts val="20"/>
              </a:spcBef>
              <a:tabLst>
                <a:tab pos="454025" algn="l"/>
                <a:tab pos="755015" algn="l"/>
                <a:tab pos="1088390" algn="l"/>
                <a:tab pos="1729105" algn="l"/>
              </a:tabLst>
            </a:pPr>
            <a:r>
              <a:rPr dirty="0" sz="2400">
                <a:latin typeface="Cambria Math"/>
                <a:cs typeface="Cambria Math"/>
              </a:rPr>
              <a:t>|𝑁	𝑣	|	</a:t>
            </a:r>
            <a:r>
              <a:rPr dirty="0" baseline="37037" sz="3600" spc="2070">
                <a:latin typeface="Cambria Math"/>
                <a:cs typeface="Cambria Math"/>
              </a:rPr>
              <a:t>=	</a:t>
            </a:r>
            <a:r>
              <a:rPr dirty="0" baseline="37037" sz="3600" spc="120">
                <a:latin typeface="Cambria Math"/>
                <a:cs typeface="Cambria Math"/>
              </a:rPr>
              <a:t>ℎ</a:t>
            </a:r>
            <a:r>
              <a:rPr dirty="0" baseline="30864" sz="2700" spc="120">
                <a:latin typeface="Cambria Math"/>
                <a:cs typeface="Cambria Math"/>
              </a:rPr>
              <a:t>3</a:t>
            </a:r>
            <a:endParaRPr baseline="30864" sz="2700">
              <a:latin typeface="Cambria Math"/>
              <a:cs typeface="Cambria Math"/>
            </a:endParaRPr>
          </a:p>
          <a:p>
            <a:pPr algn="ctr" marL="254000">
              <a:lnSpc>
                <a:spcPts val="1750"/>
              </a:lnSpc>
            </a:pPr>
            <a:r>
              <a:rPr dirty="0" sz="1800" spc="160">
                <a:latin typeface="Cambria Math"/>
                <a:cs typeface="Cambria Math"/>
              </a:rPr>
              <a:t>3∈5</a:t>
            </a:r>
            <a:r>
              <a:rPr dirty="0" sz="1800" spc="225">
                <a:latin typeface="Cambria Math"/>
                <a:cs typeface="Cambria Math"/>
              </a:rPr>
              <a:t> </a:t>
            </a:r>
            <a:r>
              <a:rPr dirty="0" sz="1800" spc="15">
                <a:latin typeface="Cambria Math"/>
                <a:cs typeface="Cambria Math"/>
              </a:rPr>
              <a:t>6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148915" y="5562598"/>
            <a:ext cx="2325370" cy="1129030"/>
          </a:xfrm>
          <a:custGeom>
            <a:avLst/>
            <a:gdLst/>
            <a:ahLst/>
            <a:cxnLst/>
            <a:rect l="l" t="t" r="r" b="b"/>
            <a:pathLst>
              <a:path w="2325370" h="1129029">
                <a:moveTo>
                  <a:pt x="0" y="0"/>
                </a:moveTo>
                <a:lnTo>
                  <a:pt x="2325317" y="0"/>
                </a:lnTo>
                <a:lnTo>
                  <a:pt x="2325317" y="1128713"/>
                </a:lnTo>
                <a:lnTo>
                  <a:pt x="0" y="1128713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2705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137802" y="5551486"/>
            <a:ext cx="2347595" cy="1151255"/>
          </a:xfrm>
          <a:custGeom>
            <a:avLst/>
            <a:gdLst/>
            <a:ahLst/>
            <a:cxnLst/>
            <a:rect l="l" t="t" r="r" b="b"/>
            <a:pathLst>
              <a:path w="2347595" h="1151254">
                <a:moveTo>
                  <a:pt x="2342566" y="0"/>
                </a:moveTo>
                <a:lnTo>
                  <a:pt x="4975" y="0"/>
                </a:lnTo>
                <a:lnTo>
                  <a:pt x="0" y="4975"/>
                </a:lnTo>
                <a:lnTo>
                  <a:pt x="0" y="1145962"/>
                </a:lnTo>
                <a:lnTo>
                  <a:pt x="4975" y="1150938"/>
                </a:lnTo>
                <a:lnTo>
                  <a:pt x="2342566" y="1150938"/>
                </a:lnTo>
                <a:lnTo>
                  <a:pt x="2347542" y="1145962"/>
                </a:lnTo>
                <a:lnTo>
                  <a:pt x="2347542" y="1137603"/>
                </a:lnTo>
                <a:lnTo>
                  <a:pt x="13334" y="1137603"/>
                </a:lnTo>
                <a:lnTo>
                  <a:pt x="13334" y="13334"/>
                </a:lnTo>
                <a:lnTo>
                  <a:pt x="2347542" y="13334"/>
                </a:lnTo>
                <a:lnTo>
                  <a:pt x="2347542" y="4975"/>
                </a:lnTo>
                <a:lnTo>
                  <a:pt x="2342566" y="0"/>
                </a:lnTo>
                <a:close/>
              </a:path>
              <a:path w="2347595" h="1151254">
                <a:moveTo>
                  <a:pt x="2347542" y="13334"/>
                </a:moveTo>
                <a:lnTo>
                  <a:pt x="2334207" y="13334"/>
                </a:lnTo>
                <a:lnTo>
                  <a:pt x="2334207" y="1137603"/>
                </a:lnTo>
                <a:lnTo>
                  <a:pt x="2347542" y="1137603"/>
                </a:lnTo>
                <a:lnTo>
                  <a:pt x="2347542" y="13334"/>
                </a:lnTo>
                <a:close/>
              </a:path>
              <a:path w="2347595" h="1151254">
                <a:moveTo>
                  <a:pt x="2329762" y="17779"/>
                </a:moveTo>
                <a:lnTo>
                  <a:pt x="17780" y="17779"/>
                </a:lnTo>
                <a:lnTo>
                  <a:pt x="17780" y="1133158"/>
                </a:lnTo>
                <a:lnTo>
                  <a:pt x="2329762" y="1133158"/>
                </a:lnTo>
                <a:lnTo>
                  <a:pt x="2329762" y="1128713"/>
                </a:lnTo>
                <a:lnTo>
                  <a:pt x="22225" y="1128713"/>
                </a:lnTo>
                <a:lnTo>
                  <a:pt x="22225" y="22224"/>
                </a:lnTo>
                <a:lnTo>
                  <a:pt x="2329762" y="22224"/>
                </a:lnTo>
                <a:lnTo>
                  <a:pt x="2329762" y="17779"/>
                </a:lnTo>
                <a:close/>
              </a:path>
              <a:path w="2347595" h="1151254">
                <a:moveTo>
                  <a:pt x="2329762" y="22224"/>
                </a:moveTo>
                <a:lnTo>
                  <a:pt x="2325317" y="22224"/>
                </a:lnTo>
                <a:lnTo>
                  <a:pt x="2325317" y="1128713"/>
                </a:lnTo>
                <a:lnTo>
                  <a:pt x="2329762" y="1128713"/>
                </a:lnTo>
                <a:lnTo>
                  <a:pt x="2329762" y="22224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554227" y="6699893"/>
            <a:ext cx="400685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12/6/18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673615" y="6699893"/>
            <a:ext cx="43434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 Graphs,</a:t>
            </a:r>
            <a:r>
              <a:rPr dirty="0" sz="900" spc="6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  <a:hlinkClick r:id="rId3"/>
              </a:rPr>
              <a:t>http://cs224w.stanford.edu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51</a:t>
            </a:fld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2168" y="356615"/>
            <a:ext cx="7592568" cy="3962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513207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40" b="1">
                <a:latin typeface="Calibri"/>
                <a:cs typeface="Calibri"/>
              </a:rPr>
              <a:t>GCN’s </a:t>
            </a:r>
            <a:r>
              <a:rPr dirty="0" spc="-5" b="1">
                <a:latin typeface="Calibri"/>
                <a:cs typeface="Calibri"/>
              </a:rPr>
              <a:t>neighbor</a:t>
            </a:r>
            <a:r>
              <a:rPr dirty="0" spc="0" b="1">
                <a:latin typeface="Calibri"/>
                <a:cs typeface="Calibri"/>
              </a:rPr>
              <a:t> </a:t>
            </a:r>
            <a:r>
              <a:rPr dirty="0" spc="-15" b="1">
                <a:latin typeface="Calibri"/>
                <a:cs typeface="Calibri"/>
              </a:rPr>
              <a:t>aggregation:</a:t>
            </a:r>
          </a:p>
        </p:txBody>
      </p:sp>
      <p:sp>
        <p:nvSpPr>
          <p:cNvPr id="4" name="object 4"/>
          <p:cNvSpPr/>
          <p:nvPr/>
        </p:nvSpPr>
        <p:spPr>
          <a:xfrm>
            <a:off x="4044886" y="1938884"/>
            <a:ext cx="3977640" cy="670560"/>
          </a:xfrm>
          <a:custGeom>
            <a:avLst/>
            <a:gdLst/>
            <a:ahLst/>
            <a:cxnLst/>
            <a:rect l="l" t="t" r="r" b="b"/>
            <a:pathLst>
              <a:path w="3977640" h="670560">
                <a:moveTo>
                  <a:pt x="3832176" y="0"/>
                </a:moveTo>
                <a:lnTo>
                  <a:pt x="3825826" y="15875"/>
                </a:lnTo>
                <a:lnTo>
                  <a:pt x="3850811" y="36183"/>
                </a:lnTo>
                <a:lnTo>
                  <a:pt x="3872980" y="62582"/>
                </a:lnTo>
                <a:lnTo>
                  <a:pt x="3908873" y="133648"/>
                </a:lnTo>
                <a:lnTo>
                  <a:pt x="3922112" y="177471"/>
                </a:lnTo>
                <a:lnTo>
                  <a:pt x="3931569" y="225697"/>
                </a:lnTo>
                <a:lnTo>
                  <a:pt x="3937243" y="278327"/>
                </a:lnTo>
                <a:lnTo>
                  <a:pt x="3939134" y="335360"/>
                </a:lnTo>
                <a:lnTo>
                  <a:pt x="3937255" y="391492"/>
                </a:lnTo>
                <a:lnTo>
                  <a:pt x="3931618" y="443606"/>
                </a:lnTo>
                <a:lnTo>
                  <a:pt x="3922224" y="491703"/>
                </a:lnTo>
                <a:lnTo>
                  <a:pt x="3909071" y="535781"/>
                </a:lnTo>
                <a:lnTo>
                  <a:pt x="3892595" y="574749"/>
                </a:lnTo>
                <a:lnTo>
                  <a:pt x="3850972" y="634082"/>
                </a:lnTo>
                <a:lnTo>
                  <a:pt x="3825826" y="654447"/>
                </a:lnTo>
                <a:lnTo>
                  <a:pt x="3832176" y="670322"/>
                </a:lnTo>
                <a:lnTo>
                  <a:pt x="3891831" y="622597"/>
                </a:lnTo>
                <a:lnTo>
                  <a:pt x="3916543" y="587945"/>
                </a:lnTo>
                <a:lnTo>
                  <a:pt x="3937844" y="546100"/>
                </a:lnTo>
                <a:lnTo>
                  <a:pt x="3954990" y="498822"/>
                </a:lnTo>
                <a:lnTo>
                  <a:pt x="3967238" y="447873"/>
                </a:lnTo>
                <a:lnTo>
                  <a:pt x="3974587" y="393253"/>
                </a:lnTo>
                <a:lnTo>
                  <a:pt x="3977036" y="334962"/>
                </a:lnTo>
                <a:lnTo>
                  <a:pt x="3974587" y="276373"/>
                </a:lnTo>
                <a:lnTo>
                  <a:pt x="3967238" y="221654"/>
                </a:lnTo>
                <a:lnTo>
                  <a:pt x="3954990" y="170805"/>
                </a:lnTo>
                <a:lnTo>
                  <a:pt x="3937844" y="123825"/>
                </a:lnTo>
                <a:lnTo>
                  <a:pt x="3916543" y="82302"/>
                </a:lnTo>
                <a:lnTo>
                  <a:pt x="3891831" y="47824"/>
                </a:lnTo>
                <a:lnTo>
                  <a:pt x="3863709" y="20389"/>
                </a:lnTo>
                <a:lnTo>
                  <a:pt x="3832176" y="0"/>
                </a:lnTo>
                <a:close/>
              </a:path>
              <a:path w="3977640" h="670560">
                <a:moveTo>
                  <a:pt x="144660" y="0"/>
                </a:moveTo>
                <a:lnTo>
                  <a:pt x="85153" y="47824"/>
                </a:lnTo>
                <a:lnTo>
                  <a:pt x="60479" y="82302"/>
                </a:lnTo>
                <a:lnTo>
                  <a:pt x="39190" y="123825"/>
                </a:lnTo>
                <a:lnTo>
                  <a:pt x="22044" y="170805"/>
                </a:lnTo>
                <a:lnTo>
                  <a:pt x="9797" y="221654"/>
                </a:lnTo>
                <a:lnTo>
                  <a:pt x="2449" y="276373"/>
                </a:lnTo>
                <a:lnTo>
                  <a:pt x="0" y="334962"/>
                </a:lnTo>
                <a:lnTo>
                  <a:pt x="2449" y="393253"/>
                </a:lnTo>
                <a:lnTo>
                  <a:pt x="9797" y="447873"/>
                </a:lnTo>
                <a:lnTo>
                  <a:pt x="22044" y="498822"/>
                </a:lnTo>
                <a:lnTo>
                  <a:pt x="39190" y="546100"/>
                </a:lnTo>
                <a:lnTo>
                  <a:pt x="60479" y="587945"/>
                </a:lnTo>
                <a:lnTo>
                  <a:pt x="85153" y="622597"/>
                </a:lnTo>
                <a:lnTo>
                  <a:pt x="113214" y="650056"/>
                </a:lnTo>
                <a:lnTo>
                  <a:pt x="144660" y="670322"/>
                </a:lnTo>
                <a:lnTo>
                  <a:pt x="151208" y="654447"/>
                </a:lnTo>
                <a:lnTo>
                  <a:pt x="125982" y="634082"/>
                </a:lnTo>
                <a:lnTo>
                  <a:pt x="103683" y="607516"/>
                </a:lnTo>
                <a:lnTo>
                  <a:pt x="67864" y="535781"/>
                </a:lnTo>
                <a:lnTo>
                  <a:pt x="54755" y="491703"/>
                </a:lnTo>
                <a:lnTo>
                  <a:pt x="45391" y="443606"/>
                </a:lnTo>
                <a:lnTo>
                  <a:pt x="39773" y="391492"/>
                </a:lnTo>
                <a:lnTo>
                  <a:pt x="37900" y="335360"/>
                </a:lnTo>
                <a:lnTo>
                  <a:pt x="39792" y="278327"/>
                </a:lnTo>
                <a:lnTo>
                  <a:pt x="45466" y="225697"/>
                </a:lnTo>
                <a:lnTo>
                  <a:pt x="54923" y="177471"/>
                </a:lnTo>
                <a:lnTo>
                  <a:pt x="68163" y="133648"/>
                </a:lnTo>
                <a:lnTo>
                  <a:pt x="84701" y="95070"/>
                </a:lnTo>
                <a:lnTo>
                  <a:pt x="126224" y="36183"/>
                </a:lnTo>
                <a:lnTo>
                  <a:pt x="151208" y="15875"/>
                </a:lnTo>
                <a:lnTo>
                  <a:pt x="1446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413763" y="1970532"/>
            <a:ext cx="338709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95270" algn="l"/>
              </a:tabLst>
            </a:pPr>
            <a:r>
              <a:rPr dirty="0" sz="3200" spc="50">
                <a:latin typeface="Cambria Math"/>
                <a:cs typeface="Cambria Math"/>
              </a:rPr>
              <a:t>ℎ</a:t>
            </a:r>
            <a:r>
              <a:rPr dirty="0" baseline="41062" sz="3450" spc="22">
                <a:latin typeface="Cambria Math"/>
                <a:cs typeface="Cambria Math"/>
              </a:rPr>
              <a:t>(</a:t>
            </a:r>
            <a:r>
              <a:rPr dirty="0" baseline="41062" sz="3450" spc="1387">
                <a:latin typeface="Cambria Math"/>
                <a:cs typeface="Cambria Math"/>
              </a:rPr>
              <a:t>'</a:t>
            </a:r>
            <a:r>
              <a:rPr dirty="0" baseline="41062" sz="3450" spc="1087">
                <a:latin typeface="Cambria Math"/>
                <a:cs typeface="Cambria Math"/>
              </a:rPr>
              <a:t>?</a:t>
            </a:r>
            <a:r>
              <a:rPr dirty="0" baseline="41062" sz="3450" spc="-367">
                <a:latin typeface="Cambria Math"/>
                <a:cs typeface="Cambria Math"/>
              </a:rPr>
              <a:t>&amp;</a:t>
            </a:r>
            <a:r>
              <a:rPr dirty="0" baseline="41062" sz="3450">
                <a:latin typeface="Cambria Math"/>
                <a:cs typeface="Cambria Math"/>
              </a:rPr>
              <a:t>)</a:t>
            </a:r>
            <a:r>
              <a:rPr dirty="0" baseline="41062" sz="3450" spc="352"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=</a:t>
            </a:r>
            <a:r>
              <a:rPr dirty="0" sz="3200" spc="175">
                <a:latin typeface="Cambria Math"/>
                <a:cs typeface="Cambria Math"/>
              </a:rPr>
              <a:t> </a:t>
            </a:r>
            <a:r>
              <a:rPr dirty="0" sz="3200" spc="-65">
                <a:latin typeface="Cambria Math"/>
                <a:cs typeface="Cambria Math"/>
              </a:rPr>
              <a:t>R</a:t>
            </a:r>
            <a:r>
              <a:rPr dirty="0" sz="3200">
                <a:latin typeface="Cambria Math"/>
                <a:cs typeface="Cambria Math"/>
              </a:rPr>
              <a:t>e</a:t>
            </a:r>
            <a:r>
              <a:rPr dirty="0" sz="3200" spc="-85">
                <a:latin typeface="Cambria Math"/>
                <a:cs typeface="Cambria Math"/>
              </a:rPr>
              <a:t>L</a:t>
            </a:r>
            <a:r>
              <a:rPr dirty="0" sz="3200">
                <a:latin typeface="Cambria Math"/>
                <a:cs typeface="Cambria Math"/>
              </a:rPr>
              <a:t>U	𝑾</a:t>
            </a:r>
            <a:r>
              <a:rPr dirty="0" baseline="-15700" sz="3450">
                <a:latin typeface="Cambria Math"/>
                <a:cs typeface="Cambria Math"/>
              </a:rPr>
              <a:t>𝒌</a:t>
            </a:r>
            <a:endParaRPr baseline="-15700" sz="345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880864" y="2275839"/>
            <a:ext cx="838200" cy="0"/>
          </a:xfrm>
          <a:custGeom>
            <a:avLst/>
            <a:gdLst/>
            <a:ahLst/>
            <a:cxnLst/>
            <a:rect l="l" t="t" r="r" b="b"/>
            <a:pathLst>
              <a:path w="838200" h="0">
                <a:moveTo>
                  <a:pt x="0" y="0"/>
                </a:moveTo>
                <a:lnTo>
                  <a:pt x="8382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196522" y="1847088"/>
            <a:ext cx="194945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-254">
                <a:latin typeface="Cambria Math"/>
                <a:cs typeface="Cambria Math"/>
              </a:rPr>
              <a:t>&amp;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224988" y="2375623"/>
            <a:ext cx="368935" cy="271145"/>
          </a:xfrm>
          <a:custGeom>
            <a:avLst/>
            <a:gdLst/>
            <a:ahLst/>
            <a:cxnLst/>
            <a:rect l="l" t="t" r="r" b="b"/>
            <a:pathLst>
              <a:path w="368935" h="271144">
                <a:moveTo>
                  <a:pt x="282555" y="0"/>
                </a:moveTo>
                <a:lnTo>
                  <a:pt x="278705" y="10981"/>
                </a:lnTo>
                <a:lnTo>
                  <a:pt x="294367" y="17778"/>
                </a:lnTo>
                <a:lnTo>
                  <a:pt x="307837" y="27187"/>
                </a:lnTo>
                <a:lnTo>
                  <a:pt x="335185" y="70800"/>
                </a:lnTo>
                <a:lnTo>
                  <a:pt x="343172" y="110843"/>
                </a:lnTo>
                <a:lnTo>
                  <a:pt x="344171" y="133926"/>
                </a:lnTo>
                <a:lnTo>
                  <a:pt x="343168" y="157789"/>
                </a:lnTo>
                <a:lnTo>
                  <a:pt x="335146" y="198937"/>
                </a:lnTo>
                <a:lnTo>
                  <a:pt x="307854" y="243249"/>
                </a:lnTo>
                <a:lnTo>
                  <a:pt x="279133" y="259580"/>
                </a:lnTo>
                <a:lnTo>
                  <a:pt x="282555" y="270563"/>
                </a:lnTo>
                <a:lnTo>
                  <a:pt x="319461" y="253251"/>
                </a:lnTo>
                <a:lnTo>
                  <a:pt x="346595" y="223282"/>
                </a:lnTo>
                <a:lnTo>
                  <a:pt x="363283" y="183150"/>
                </a:lnTo>
                <a:lnTo>
                  <a:pt x="368846" y="135352"/>
                </a:lnTo>
                <a:lnTo>
                  <a:pt x="367450" y="110548"/>
                </a:lnTo>
                <a:lnTo>
                  <a:pt x="356290" y="66584"/>
                </a:lnTo>
                <a:lnTo>
                  <a:pt x="334156" y="30793"/>
                </a:lnTo>
                <a:lnTo>
                  <a:pt x="302171" y="7082"/>
                </a:lnTo>
                <a:lnTo>
                  <a:pt x="282555" y="0"/>
                </a:lnTo>
                <a:close/>
              </a:path>
              <a:path w="368935" h="271144">
                <a:moveTo>
                  <a:pt x="86290" y="0"/>
                </a:moveTo>
                <a:lnTo>
                  <a:pt x="49474" y="17346"/>
                </a:lnTo>
                <a:lnTo>
                  <a:pt x="22321" y="47423"/>
                </a:lnTo>
                <a:lnTo>
                  <a:pt x="5580" y="87626"/>
                </a:lnTo>
                <a:lnTo>
                  <a:pt x="0" y="135352"/>
                </a:lnTo>
                <a:lnTo>
                  <a:pt x="1390" y="160209"/>
                </a:lnTo>
                <a:lnTo>
                  <a:pt x="12515" y="204174"/>
                </a:lnTo>
                <a:lnTo>
                  <a:pt x="34596" y="239849"/>
                </a:lnTo>
                <a:lnTo>
                  <a:pt x="66616" y="263489"/>
                </a:lnTo>
                <a:lnTo>
                  <a:pt x="86290" y="270563"/>
                </a:lnTo>
                <a:lnTo>
                  <a:pt x="89712" y="259580"/>
                </a:lnTo>
                <a:lnTo>
                  <a:pt x="74295" y="252752"/>
                </a:lnTo>
                <a:lnTo>
                  <a:pt x="60991" y="243249"/>
                </a:lnTo>
                <a:lnTo>
                  <a:pt x="33700" y="198937"/>
                </a:lnTo>
                <a:lnTo>
                  <a:pt x="25677" y="157789"/>
                </a:lnTo>
                <a:lnTo>
                  <a:pt x="24674" y="133926"/>
                </a:lnTo>
                <a:lnTo>
                  <a:pt x="25677" y="110843"/>
                </a:lnTo>
                <a:lnTo>
                  <a:pt x="33700" y="70800"/>
                </a:lnTo>
                <a:lnTo>
                  <a:pt x="61097" y="27187"/>
                </a:lnTo>
                <a:lnTo>
                  <a:pt x="90140" y="10981"/>
                </a:lnTo>
                <a:lnTo>
                  <a:pt x="8629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862195" y="2289048"/>
            <a:ext cx="864869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9740" algn="l"/>
                <a:tab pos="758825" algn="l"/>
              </a:tabLst>
            </a:pPr>
            <a:r>
              <a:rPr dirty="0" sz="2300" spc="0">
                <a:latin typeface="Cambria Math"/>
                <a:cs typeface="Cambria Math"/>
              </a:rPr>
              <a:t>|</a:t>
            </a:r>
            <a:r>
              <a:rPr dirty="0" sz="2300" spc="565">
                <a:latin typeface="Cambria Math"/>
                <a:cs typeface="Cambria Math"/>
              </a:rPr>
              <a:t>$</a:t>
            </a:r>
            <a:r>
              <a:rPr dirty="0" sz="2300">
                <a:latin typeface="Cambria Math"/>
                <a:cs typeface="Cambria Math"/>
              </a:rPr>
              <a:t>	</a:t>
            </a:r>
            <a:r>
              <a:rPr dirty="0" sz="2300" spc="530">
                <a:latin typeface="Cambria Math"/>
                <a:cs typeface="Cambria Math"/>
              </a:rPr>
              <a:t>-</a:t>
            </a:r>
            <a:r>
              <a:rPr dirty="0" sz="2300">
                <a:latin typeface="Cambria Math"/>
                <a:cs typeface="Cambria Math"/>
              </a:rPr>
              <a:t>	|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70117" y="1955292"/>
            <a:ext cx="31369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latin typeface="Cambria Math"/>
                <a:cs typeface="Cambria Math"/>
              </a:rPr>
              <a:t>∑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708475" y="2279103"/>
            <a:ext cx="368935" cy="271145"/>
          </a:xfrm>
          <a:custGeom>
            <a:avLst/>
            <a:gdLst/>
            <a:ahLst/>
            <a:cxnLst/>
            <a:rect l="l" t="t" r="r" b="b"/>
            <a:pathLst>
              <a:path w="368934" h="271144">
                <a:moveTo>
                  <a:pt x="282555" y="0"/>
                </a:moveTo>
                <a:lnTo>
                  <a:pt x="278705" y="10981"/>
                </a:lnTo>
                <a:lnTo>
                  <a:pt x="294367" y="17778"/>
                </a:lnTo>
                <a:lnTo>
                  <a:pt x="307836" y="27187"/>
                </a:lnTo>
                <a:lnTo>
                  <a:pt x="335185" y="70800"/>
                </a:lnTo>
                <a:lnTo>
                  <a:pt x="343172" y="110843"/>
                </a:lnTo>
                <a:lnTo>
                  <a:pt x="344171" y="133926"/>
                </a:lnTo>
                <a:lnTo>
                  <a:pt x="343168" y="157789"/>
                </a:lnTo>
                <a:lnTo>
                  <a:pt x="335146" y="198937"/>
                </a:lnTo>
                <a:lnTo>
                  <a:pt x="307854" y="243249"/>
                </a:lnTo>
                <a:lnTo>
                  <a:pt x="279133" y="259580"/>
                </a:lnTo>
                <a:lnTo>
                  <a:pt x="282555" y="270563"/>
                </a:lnTo>
                <a:lnTo>
                  <a:pt x="319460" y="253251"/>
                </a:lnTo>
                <a:lnTo>
                  <a:pt x="346595" y="223282"/>
                </a:lnTo>
                <a:lnTo>
                  <a:pt x="363283" y="183150"/>
                </a:lnTo>
                <a:lnTo>
                  <a:pt x="368846" y="135352"/>
                </a:lnTo>
                <a:lnTo>
                  <a:pt x="367450" y="110548"/>
                </a:lnTo>
                <a:lnTo>
                  <a:pt x="356290" y="66584"/>
                </a:lnTo>
                <a:lnTo>
                  <a:pt x="334156" y="30793"/>
                </a:lnTo>
                <a:lnTo>
                  <a:pt x="302172" y="7082"/>
                </a:lnTo>
                <a:lnTo>
                  <a:pt x="282555" y="0"/>
                </a:lnTo>
                <a:close/>
              </a:path>
              <a:path w="368934" h="271144">
                <a:moveTo>
                  <a:pt x="86290" y="0"/>
                </a:moveTo>
                <a:lnTo>
                  <a:pt x="49474" y="17346"/>
                </a:lnTo>
                <a:lnTo>
                  <a:pt x="22321" y="47423"/>
                </a:lnTo>
                <a:lnTo>
                  <a:pt x="5580" y="87626"/>
                </a:lnTo>
                <a:lnTo>
                  <a:pt x="0" y="135352"/>
                </a:lnTo>
                <a:lnTo>
                  <a:pt x="1390" y="160209"/>
                </a:lnTo>
                <a:lnTo>
                  <a:pt x="12515" y="204174"/>
                </a:lnTo>
                <a:lnTo>
                  <a:pt x="34596" y="239849"/>
                </a:lnTo>
                <a:lnTo>
                  <a:pt x="66616" y="263489"/>
                </a:lnTo>
                <a:lnTo>
                  <a:pt x="86290" y="270563"/>
                </a:lnTo>
                <a:lnTo>
                  <a:pt x="89712" y="259580"/>
                </a:lnTo>
                <a:lnTo>
                  <a:pt x="74295" y="252752"/>
                </a:lnTo>
                <a:lnTo>
                  <a:pt x="60991" y="243249"/>
                </a:lnTo>
                <a:lnTo>
                  <a:pt x="33700" y="198937"/>
                </a:lnTo>
                <a:lnTo>
                  <a:pt x="25677" y="157789"/>
                </a:lnTo>
                <a:lnTo>
                  <a:pt x="24674" y="133926"/>
                </a:lnTo>
                <a:lnTo>
                  <a:pt x="25677" y="110843"/>
                </a:lnTo>
                <a:lnTo>
                  <a:pt x="33700" y="70800"/>
                </a:lnTo>
                <a:lnTo>
                  <a:pt x="61097" y="27187"/>
                </a:lnTo>
                <a:lnTo>
                  <a:pt x="90140" y="10981"/>
                </a:lnTo>
                <a:lnTo>
                  <a:pt x="8629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058027" y="2194559"/>
            <a:ext cx="1543050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47395" algn="l"/>
                <a:tab pos="1339850" algn="l"/>
              </a:tabLst>
            </a:pPr>
            <a:r>
              <a:rPr dirty="0" sz="2300" spc="270">
                <a:latin typeface="Cambria Math"/>
                <a:cs typeface="Cambria Math"/>
              </a:rPr>
              <a:t>0</a:t>
            </a:r>
            <a:r>
              <a:rPr dirty="0" sz="2300" spc="10">
                <a:latin typeface="Cambria Math"/>
                <a:cs typeface="Cambria Math"/>
              </a:rPr>
              <a:t>∈</a:t>
            </a:r>
            <a:r>
              <a:rPr dirty="0" sz="2300" spc="565">
                <a:latin typeface="Cambria Math"/>
                <a:cs typeface="Cambria Math"/>
              </a:rPr>
              <a:t>$</a:t>
            </a:r>
            <a:r>
              <a:rPr dirty="0" sz="2300">
                <a:latin typeface="Cambria Math"/>
                <a:cs typeface="Cambria Math"/>
              </a:rPr>
              <a:t>	</a:t>
            </a:r>
            <a:r>
              <a:rPr dirty="0" sz="2300" spc="530">
                <a:latin typeface="Cambria Math"/>
                <a:cs typeface="Cambria Math"/>
              </a:rPr>
              <a:t>-</a:t>
            </a:r>
            <a:r>
              <a:rPr dirty="0" sz="2300">
                <a:latin typeface="Cambria Math"/>
                <a:cs typeface="Cambria Math"/>
              </a:rPr>
              <a:t>	</a:t>
            </a:r>
            <a:r>
              <a:rPr dirty="0" baseline="1207" sz="3450" spc="322">
                <a:latin typeface="Cambria Math"/>
                <a:cs typeface="Cambria Math"/>
              </a:rPr>
              <a:t>0</a:t>
            </a:r>
            <a:endParaRPr baseline="1207" sz="345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159941" y="1754123"/>
            <a:ext cx="69151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9513" sz="4800" spc="75">
                <a:latin typeface="Cambria Math"/>
                <a:cs typeface="Cambria Math"/>
              </a:rPr>
              <a:t>ℎ</a:t>
            </a:r>
            <a:r>
              <a:rPr dirty="0" sz="2300" spc="15">
                <a:latin typeface="Cambria Math"/>
                <a:cs typeface="Cambria Math"/>
              </a:rPr>
              <a:t>(</a:t>
            </a:r>
            <a:r>
              <a:rPr dirty="0" sz="2300" spc="925">
                <a:latin typeface="Cambria Math"/>
                <a:cs typeface="Cambria Math"/>
              </a:rPr>
              <a:t>'</a:t>
            </a:r>
            <a:r>
              <a:rPr dirty="0" sz="2300">
                <a:latin typeface="Cambria Math"/>
                <a:cs typeface="Cambria Math"/>
              </a:rPr>
              <a:t>)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8108" y="2130409"/>
            <a:ext cx="2879725" cy="1002665"/>
          </a:xfrm>
          <a:prstGeom prst="rect">
            <a:avLst/>
          </a:prstGeom>
        </p:spPr>
        <p:txBody>
          <a:bodyPr wrap="square" lIns="0" tIns="70485" rIns="0" bIns="0" rtlCol="0" vert="horz">
            <a:spAutoFit/>
          </a:bodyPr>
          <a:lstStyle/>
          <a:p>
            <a:pPr algn="ctr" marR="638810">
              <a:lnSpc>
                <a:spcPct val="100000"/>
              </a:lnSpc>
              <a:spcBef>
                <a:spcPts val="555"/>
              </a:spcBef>
            </a:pPr>
            <a:r>
              <a:rPr dirty="0" sz="2300" spc="530">
                <a:latin typeface="Cambria Math"/>
                <a:cs typeface="Cambria Math"/>
              </a:rPr>
              <a:t>-</a:t>
            </a:r>
            <a:endParaRPr sz="2300">
              <a:latin typeface="Cambria Math"/>
              <a:cs typeface="Cambria Math"/>
            </a:endParaRPr>
          </a:p>
          <a:p>
            <a:pPr marL="332740" indent="-320040">
              <a:lnSpc>
                <a:spcPct val="100000"/>
              </a:lnSpc>
              <a:spcBef>
                <a:spcPts val="63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In </a:t>
            </a:r>
            <a:r>
              <a:rPr dirty="0" sz="3200" spc="-10" b="1">
                <a:solidFill>
                  <a:srgbClr val="D60093"/>
                </a:solidFill>
                <a:latin typeface="Calibri"/>
                <a:cs typeface="Calibri"/>
              </a:rPr>
              <a:t>matrix</a:t>
            </a:r>
            <a:r>
              <a:rPr dirty="0" sz="3200" spc="-60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200" spc="-15" b="1">
                <a:solidFill>
                  <a:srgbClr val="D60093"/>
                </a:solidFill>
                <a:latin typeface="Calibri"/>
                <a:cs typeface="Calibri"/>
              </a:rPr>
              <a:t>form</a:t>
            </a:r>
            <a:r>
              <a:rPr dirty="0" sz="3200" spc="-15">
                <a:latin typeface="Calibri"/>
                <a:cs typeface="Calibri"/>
              </a:rPr>
              <a:t>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841378" y="3191380"/>
            <a:ext cx="1701164" cy="429895"/>
          </a:xfrm>
          <a:custGeom>
            <a:avLst/>
            <a:gdLst/>
            <a:ahLst/>
            <a:cxnLst/>
            <a:rect l="l" t="t" r="r" b="b"/>
            <a:pathLst>
              <a:path w="1701165" h="429895">
                <a:moveTo>
                  <a:pt x="1587747" y="0"/>
                </a:moveTo>
                <a:lnTo>
                  <a:pt x="1583406" y="14237"/>
                </a:lnTo>
                <a:lnTo>
                  <a:pt x="1603141" y="24471"/>
                </a:lnTo>
                <a:lnTo>
                  <a:pt x="1620326" y="39371"/>
                </a:lnTo>
                <a:lnTo>
                  <a:pt x="1647043" y="83171"/>
                </a:lnTo>
                <a:lnTo>
                  <a:pt x="1663256" y="142683"/>
                </a:lnTo>
                <a:lnTo>
                  <a:pt x="1668660" y="214957"/>
                </a:lnTo>
                <a:lnTo>
                  <a:pt x="1667309" y="252609"/>
                </a:lnTo>
                <a:lnTo>
                  <a:pt x="1656501" y="318372"/>
                </a:lnTo>
                <a:lnTo>
                  <a:pt x="1634960" y="370679"/>
                </a:lnTo>
                <a:lnTo>
                  <a:pt x="1603141" y="405102"/>
                </a:lnTo>
                <a:lnTo>
                  <a:pt x="1583406" y="415330"/>
                </a:lnTo>
                <a:lnTo>
                  <a:pt x="1587747" y="429568"/>
                </a:lnTo>
                <a:lnTo>
                  <a:pt x="1635713" y="404000"/>
                </a:lnTo>
                <a:lnTo>
                  <a:pt x="1671265" y="355773"/>
                </a:lnTo>
                <a:lnTo>
                  <a:pt x="1693273" y="290748"/>
                </a:lnTo>
                <a:lnTo>
                  <a:pt x="1700610" y="214783"/>
                </a:lnTo>
                <a:lnTo>
                  <a:pt x="1698775" y="175434"/>
                </a:lnTo>
                <a:lnTo>
                  <a:pt x="1684103" y="104939"/>
                </a:lnTo>
                <a:lnTo>
                  <a:pt x="1655041" y="46848"/>
                </a:lnTo>
                <a:lnTo>
                  <a:pt x="1613282" y="9951"/>
                </a:lnTo>
                <a:lnTo>
                  <a:pt x="1587747" y="0"/>
                </a:lnTo>
                <a:close/>
              </a:path>
              <a:path w="1701165" h="429895">
                <a:moveTo>
                  <a:pt x="112861" y="0"/>
                </a:moveTo>
                <a:lnTo>
                  <a:pt x="64895" y="25567"/>
                </a:lnTo>
                <a:lnTo>
                  <a:pt x="29344" y="73794"/>
                </a:lnTo>
                <a:lnTo>
                  <a:pt x="7336" y="138819"/>
                </a:lnTo>
                <a:lnTo>
                  <a:pt x="0" y="214783"/>
                </a:lnTo>
                <a:lnTo>
                  <a:pt x="1834" y="254133"/>
                </a:lnTo>
                <a:lnTo>
                  <a:pt x="16506" y="324628"/>
                </a:lnTo>
                <a:lnTo>
                  <a:pt x="45568" y="382719"/>
                </a:lnTo>
                <a:lnTo>
                  <a:pt x="87326" y="419617"/>
                </a:lnTo>
                <a:lnTo>
                  <a:pt x="112861" y="429568"/>
                </a:lnTo>
                <a:lnTo>
                  <a:pt x="117201" y="415330"/>
                </a:lnTo>
                <a:lnTo>
                  <a:pt x="97467" y="405102"/>
                </a:lnTo>
                <a:lnTo>
                  <a:pt x="80283" y="390218"/>
                </a:lnTo>
                <a:lnTo>
                  <a:pt x="53566" y="346485"/>
                </a:lnTo>
                <a:lnTo>
                  <a:pt x="37352" y="287080"/>
                </a:lnTo>
                <a:lnTo>
                  <a:pt x="31954" y="214783"/>
                </a:lnTo>
                <a:lnTo>
                  <a:pt x="33299" y="177225"/>
                </a:lnTo>
                <a:lnTo>
                  <a:pt x="44108" y="111331"/>
                </a:lnTo>
                <a:lnTo>
                  <a:pt x="65649" y="58938"/>
                </a:lnTo>
                <a:lnTo>
                  <a:pt x="97467" y="24471"/>
                </a:lnTo>
                <a:lnTo>
                  <a:pt x="117201" y="14237"/>
                </a:lnTo>
                <a:lnTo>
                  <a:pt x="1128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6217792" y="3329940"/>
            <a:ext cx="18097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Cambria Math"/>
                <a:cs typeface="Cambria Math"/>
              </a:rPr>
              <a:t>𝒌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3/13/21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53</a:t>
            </a:fld>
          </a:p>
        </p:txBody>
      </p:sp>
      <p:sp>
        <p:nvSpPr>
          <p:cNvPr id="17" name="object 17"/>
          <p:cNvSpPr txBox="1"/>
          <p:nvPr/>
        </p:nvSpPr>
        <p:spPr>
          <a:xfrm>
            <a:off x="2520060" y="3139947"/>
            <a:ext cx="3888104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49195" algn="l"/>
              </a:tabLst>
            </a:pPr>
            <a:r>
              <a:rPr dirty="0" sz="2800" spc="40">
                <a:latin typeface="Cambria Math"/>
                <a:cs typeface="Cambria Math"/>
              </a:rPr>
              <a:t>𝑯</a:t>
            </a:r>
            <a:r>
              <a:rPr dirty="0" baseline="29166" sz="3000" spc="60">
                <a:latin typeface="Cambria Math"/>
                <a:cs typeface="Cambria Math"/>
              </a:rPr>
              <a:t>(%&gt;.)</a:t>
            </a:r>
            <a:r>
              <a:rPr dirty="0" baseline="29166" sz="3000" spc="31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=</a:t>
            </a:r>
            <a:r>
              <a:rPr dirty="0" sz="2800" spc="155">
                <a:latin typeface="Cambria Math"/>
                <a:cs typeface="Cambria Math"/>
              </a:rPr>
              <a:t> </a:t>
            </a:r>
            <a:r>
              <a:rPr dirty="0" sz="2800" spc="-35">
                <a:latin typeface="Cambria Math"/>
                <a:cs typeface="Cambria Math"/>
              </a:rPr>
              <a:t>ReLU	</a:t>
            </a:r>
            <a:r>
              <a:rPr dirty="0" sz="2800" spc="-235">
                <a:latin typeface="Cambria Math"/>
                <a:cs typeface="Cambria Math"/>
              </a:rPr>
              <a:t>𝑨</a:t>
            </a:r>
            <a:r>
              <a:rPr dirty="0" baseline="10912" sz="4200" spc="-352">
                <a:latin typeface="Cambria Math"/>
                <a:cs typeface="Cambria Math"/>
              </a:rPr>
              <a:t>S</a:t>
            </a:r>
            <a:r>
              <a:rPr dirty="0" sz="2800" spc="-235">
                <a:latin typeface="Cambria Math"/>
                <a:cs typeface="Cambria Math"/>
              </a:rPr>
              <a:t>𝑯</a:t>
            </a:r>
            <a:r>
              <a:rPr dirty="0" baseline="29166" sz="3000" spc="-352">
                <a:latin typeface="Cambria Math"/>
                <a:cs typeface="Cambria Math"/>
              </a:rPr>
              <a:t>(%)</a:t>
            </a:r>
            <a:r>
              <a:rPr dirty="0" sz="2800" spc="-235">
                <a:latin typeface="Cambria Math"/>
                <a:cs typeface="Cambria Math"/>
              </a:rPr>
              <a:t>𝑾</a:t>
            </a:r>
            <a:r>
              <a:rPr dirty="0" baseline="31944" sz="3000" spc="-352">
                <a:latin typeface="Cambria Math"/>
                <a:cs typeface="Cambria Math"/>
              </a:rPr>
              <a:t>H</a:t>
            </a:r>
            <a:endParaRPr baseline="31944" sz="30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18108" y="3685539"/>
            <a:ext cx="7375525" cy="2738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0520">
              <a:lnSpc>
                <a:spcPct val="100000"/>
              </a:lnSpc>
              <a:spcBef>
                <a:spcPts val="100"/>
              </a:spcBef>
            </a:pPr>
            <a:r>
              <a:rPr dirty="0" sz="2800" spc="-15">
                <a:latin typeface="Calibri"/>
                <a:cs typeface="Calibri"/>
              </a:rPr>
              <a:t>where </a:t>
            </a:r>
            <a:r>
              <a:rPr dirty="0" sz="2800" spc="-765">
                <a:latin typeface="Cambria Math"/>
                <a:cs typeface="Cambria Math"/>
              </a:rPr>
              <a:t>𝑨</a:t>
            </a:r>
            <a:r>
              <a:rPr dirty="0" baseline="10912" sz="4200" spc="-1147">
                <a:latin typeface="Cambria Math"/>
                <a:cs typeface="Cambria Math"/>
              </a:rPr>
              <a:t>S</a:t>
            </a:r>
            <a:r>
              <a:rPr dirty="0" baseline="10912" sz="4200" spc="382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=</a:t>
            </a:r>
            <a:r>
              <a:rPr dirty="0" sz="2800" spc="100">
                <a:latin typeface="Cambria Math"/>
                <a:cs typeface="Cambria Math"/>
              </a:rPr>
              <a:t> </a:t>
            </a:r>
            <a:r>
              <a:rPr dirty="0" sz="2800" spc="325">
                <a:latin typeface="Cambria Math"/>
                <a:cs typeface="Cambria Math"/>
              </a:rPr>
              <a:t>𝑫</a:t>
            </a:r>
            <a:r>
              <a:rPr dirty="0" baseline="29166" sz="3000" spc="487">
                <a:latin typeface="Cambria Math"/>
                <a:cs typeface="Cambria Math"/>
              </a:rPr>
              <a:t>-.</a:t>
            </a:r>
            <a:r>
              <a:rPr dirty="0" sz="2800" spc="325">
                <a:latin typeface="Cambria Math"/>
                <a:cs typeface="Cambria Math"/>
              </a:rPr>
              <a:t>𝑨</a:t>
            </a:r>
            <a:r>
              <a:rPr dirty="0" sz="2800" spc="325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332740" marR="5080" indent="-320040">
              <a:lnSpc>
                <a:spcPct val="106900"/>
              </a:lnSpc>
              <a:spcBef>
                <a:spcPts val="226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Note: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5">
                <a:latin typeface="Calibri"/>
                <a:cs typeface="Calibri"/>
              </a:rPr>
              <a:t>original </a:t>
            </a:r>
            <a:r>
              <a:rPr dirty="0" sz="3200">
                <a:latin typeface="Calibri"/>
                <a:cs typeface="Calibri"/>
              </a:rPr>
              <a:t>GCN </a:t>
            </a:r>
            <a:r>
              <a:rPr dirty="0" sz="3200" spc="-5">
                <a:latin typeface="Calibri"/>
                <a:cs typeface="Calibri"/>
              </a:rPr>
              <a:t>uses </a:t>
            </a:r>
            <a:r>
              <a:rPr dirty="0" sz="3200" spc="-15">
                <a:latin typeface="Calibri"/>
                <a:cs typeface="Calibri"/>
              </a:rPr>
              <a:t>re-normalized  version: </a:t>
            </a:r>
            <a:r>
              <a:rPr dirty="0" sz="3200" spc="-1045">
                <a:latin typeface="Cambria Math"/>
                <a:cs typeface="Cambria Math"/>
              </a:rPr>
              <a:t>𝑨</a:t>
            </a:r>
            <a:r>
              <a:rPr dirty="0" baseline="10416" sz="4800" spc="-1567">
                <a:latin typeface="Cambria Math"/>
                <a:cs typeface="Cambria Math"/>
              </a:rPr>
              <a:t>V</a:t>
            </a:r>
            <a:r>
              <a:rPr dirty="0" baseline="10416" sz="4800" spc="472"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=</a:t>
            </a:r>
            <a:r>
              <a:rPr dirty="0" sz="3200" spc="185">
                <a:latin typeface="Cambria Math"/>
                <a:cs typeface="Cambria Math"/>
              </a:rPr>
              <a:t> </a:t>
            </a:r>
            <a:r>
              <a:rPr dirty="0" sz="3200" spc="-95">
                <a:latin typeface="Cambria Math"/>
                <a:cs typeface="Cambria Math"/>
              </a:rPr>
              <a:t>𝑫</a:t>
            </a:r>
            <a:r>
              <a:rPr dirty="0" baseline="28985" sz="3450" spc="-142">
                <a:latin typeface="Cambria Math"/>
                <a:cs typeface="Cambria Math"/>
              </a:rPr>
              <a:t>%&amp;/B</a:t>
            </a:r>
            <a:r>
              <a:rPr dirty="0" sz="3200" spc="-95">
                <a:latin typeface="Cambria Math"/>
                <a:cs typeface="Cambria Math"/>
              </a:rPr>
              <a:t>𝑨𝑫</a:t>
            </a:r>
            <a:r>
              <a:rPr dirty="0" baseline="28985" sz="3450" spc="-142">
                <a:latin typeface="Cambria Math"/>
                <a:cs typeface="Cambria Math"/>
              </a:rPr>
              <a:t>%&amp;/B</a:t>
            </a:r>
            <a:r>
              <a:rPr dirty="0" sz="3200" spc="-95">
                <a:latin typeface="Cambria Math"/>
                <a:cs typeface="Cambria Math"/>
              </a:rPr>
              <a:t>.</a:t>
            </a:r>
            <a:endParaRPr sz="3200">
              <a:latin typeface="Cambria Math"/>
              <a:cs typeface="Cambria Math"/>
            </a:endParaRPr>
          </a:p>
          <a:p>
            <a:pPr lvl="1" marL="625475" marR="52069" indent="-274320">
              <a:lnSpc>
                <a:spcPct val="101400"/>
              </a:lnSpc>
              <a:spcBef>
                <a:spcPts val="71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25">
                <a:latin typeface="Calibri"/>
                <a:cs typeface="Calibri"/>
              </a:rPr>
              <a:t>Empirically, </a:t>
            </a:r>
            <a:r>
              <a:rPr dirty="0" sz="2800" spc="-5">
                <a:latin typeface="Calibri"/>
                <a:cs typeface="Calibri"/>
              </a:rPr>
              <a:t>this </a:t>
            </a:r>
            <a:r>
              <a:rPr dirty="0" sz="2800" spc="-15">
                <a:latin typeface="Calibri"/>
                <a:cs typeface="Calibri"/>
              </a:rPr>
              <a:t>version </a:t>
            </a:r>
            <a:r>
              <a:rPr dirty="0" sz="2800" spc="-5">
                <a:latin typeface="Calibri"/>
                <a:cs typeface="Calibri"/>
              </a:rPr>
              <a:t>of </a:t>
            </a:r>
            <a:r>
              <a:rPr dirty="0" sz="2800" spc="-765">
                <a:latin typeface="Cambria Math"/>
                <a:cs typeface="Cambria Math"/>
              </a:rPr>
              <a:t>𝑨</a:t>
            </a:r>
            <a:r>
              <a:rPr dirty="0" baseline="10912" sz="4200" spc="-1147">
                <a:latin typeface="Cambria Math"/>
                <a:cs typeface="Cambria Math"/>
              </a:rPr>
              <a:t>S</a:t>
            </a:r>
            <a:r>
              <a:rPr dirty="0" baseline="10912" sz="4200" spc="209">
                <a:latin typeface="Cambria Math"/>
                <a:cs typeface="Cambria Math"/>
              </a:rPr>
              <a:t> </a:t>
            </a:r>
            <a:r>
              <a:rPr dirty="0" sz="2800" spc="-10">
                <a:latin typeface="Calibri"/>
                <a:cs typeface="Calibri"/>
              </a:rPr>
              <a:t>often </a:t>
            </a:r>
            <a:r>
              <a:rPr dirty="0" sz="2800" spc="-15">
                <a:latin typeface="Calibri"/>
                <a:cs typeface="Calibri"/>
              </a:rPr>
              <a:t>gives </a:t>
            </a:r>
            <a:r>
              <a:rPr dirty="0" sz="2800" spc="-114">
                <a:latin typeface="Calibri"/>
                <a:cs typeface="Calibri"/>
              </a:rPr>
              <a:t>better  </a:t>
            </a:r>
            <a:r>
              <a:rPr dirty="0" sz="2800" spc="-10">
                <a:latin typeface="Calibri"/>
                <a:cs typeface="Calibri"/>
              </a:rPr>
              <a:t>performance </a:t>
            </a:r>
            <a:r>
              <a:rPr dirty="0" sz="2800" spc="-5">
                <a:latin typeface="Calibri"/>
                <a:cs typeface="Calibri"/>
              </a:rPr>
              <a:t>than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325">
                <a:latin typeface="Cambria Math"/>
                <a:cs typeface="Cambria Math"/>
              </a:rPr>
              <a:t>𝑫</a:t>
            </a:r>
            <a:r>
              <a:rPr dirty="0" baseline="29166" sz="3000" spc="487">
                <a:latin typeface="Cambria Math"/>
                <a:cs typeface="Cambria Math"/>
              </a:rPr>
              <a:t>-.</a:t>
            </a:r>
            <a:r>
              <a:rPr dirty="0" sz="2800" spc="325">
                <a:latin typeface="Cambria Math"/>
                <a:cs typeface="Cambria Math"/>
              </a:rPr>
              <a:t>𝑨</a:t>
            </a:r>
            <a:r>
              <a:rPr dirty="0" sz="2800" spc="325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41375"/>
            <a:ext cx="3980688" cy="563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96924"/>
            <a:ext cx="805751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b="1">
                <a:latin typeface="Calibri"/>
                <a:cs typeface="Calibri"/>
              </a:rPr>
              <a:t>Simplify </a:t>
            </a:r>
            <a:r>
              <a:rPr dirty="0" spc="-5" b="1">
                <a:latin typeface="Calibri"/>
                <a:cs typeface="Calibri"/>
              </a:rPr>
              <a:t>GCN </a:t>
            </a:r>
            <a:r>
              <a:rPr dirty="0" spc="-15" b="1">
                <a:latin typeface="Calibri"/>
                <a:cs typeface="Calibri"/>
              </a:rPr>
              <a:t>by </a:t>
            </a:r>
            <a:r>
              <a:rPr dirty="0" spc="-10" b="1">
                <a:solidFill>
                  <a:srgbClr val="D60093"/>
                </a:solidFill>
                <a:latin typeface="Calibri"/>
                <a:cs typeface="Calibri"/>
              </a:rPr>
              <a:t>removing </a:t>
            </a:r>
            <a:r>
              <a:rPr dirty="0" spc="-35" b="1">
                <a:solidFill>
                  <a:srgbClr val="D60093"/>
                </a:solidFill>
                <a:latin typeface="Calibri"/>
                <a:cs typeface="Calibri"/>
              </a:rPr>
              <a:t>ReLU</a:t>
            </a:r>
            <a:r>
              <a:rPr dirty="0" spc="-5" b="1">
                <a:solidFill>
                  <a:srgbClr val="D60093"/>
                </a:solidFill>
                <a:latin typeface="Calibri"/>
                <a:cs typeface="Calibri"/>
              </a:rPr>
              <a:t> non-linearity</a:t>
            </a:r>
            <a:r>
              <a:rPr dirty="0" spc="-5" b="1">
                <a:latin typeface="Calibri"/>
                <a:cs typeface="Calibri"/>
              </a:rPr>
              <a:t>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068314" y="2045207"/>
            <a:ext cx="204470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>
                <a:latin typeface="Cambria Math"/>
                <a:cs typeface="Cambria Math"/>
              </a:rPr>
              <a:t>𝒌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37001" y="1680972"/>
            <a:ext cx="334645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0833" sz="4800" spc="345">
                <a:latin typeface="Cambria Math"/>
                <a:cs typeface="Cambria Math"/>
              </a:rPr>
              <a:t>𝑯</a:t>
            </a:r>
            <a:r>
              <a:rPr dirty="0" sz="2300" spc="229">
                <a:latin typeface="Cambria Math"/>
                <a:cs typeface="Cambria Math"/>
              </a:rPr>
              <a:t>('?&amp;) </a:t>
            </a:r>
            <a:r>
              <a:rPr dirty="0" baseline="-20833" sz="4800">
                <a:latin typeface="Cambria Math"/>
                <a:cs typeface="Cambria Math"/>
              </a:rPr>
              <a:t>=</a:t>
            </a:r>
            <a:r>
              <a:rPr dirty="0" baseline="-20833" sz="4800" spc="225">
                <a:latin typeface="Cambria Math"/>
                <a:cs typeface="Cambria Math"/>
              </a:rPr>
              <a:t> </a:t>
            </a:r>
            <a:r>
              <a:rPr dirty="0" baseline="-20833" sz="4800" spc="-135">
                <a:latin typeface="Cambria Math"/>
                <a:cs typeface="Cambria Math"/>
              </a:rPr>
              <a:t>𝑨</a:t>
            </a:r>
            <a:r>
              <a:rPr dirty="0" baseline="-10416" sz="4800" spc="-135">
                <a:latin typeface="Cambria Math"/>
                <a:cs typeface="Cambria Math"/>
              </a:rPr>
              <a:t>V</a:t>
            </a:r>
            <a:r>
              <a:rPr dirty="0" baseline="-20833" sz="4800" spc="-135">
                <a:latin typeface="Cambria Math"/>
                <a:cs typeface="Cambria Math"/>
              </a:rPr>
              <a:t>𝑯</a:t>
            </a:r>
            <a:r>
              <a:rPr dirty="0" sz="2300" spc="-90">
                <a:latin typeface="Cambria Math"/>
                <a:cs typeface="Cambria Math"/>
              </a:rPr>
              <a:t>(')</a:t>
            </a:r>
            <a:r>
              <a:rPr dirty="0" baseline="-20833" sz="4800" spc="-135">
                <a:latin typeface="Cambria Math"/>
                <a:cs typeface="Cambria Math"/>
              </a:rPr>
              <a:t>𝑾</a:t>
            </a:r>
            <a:r>
              <a:rPr dirty="0" baseline="2415" sz="3450" spc="-135">
                <a:latin typeface="Cambria Math"/>
                <a:cs typeface="Cambria Math"/>
              </a:rPr>
              <a:t>C</a:t>
            </a:r>
            <a:endParaRPr baseline="2415" sz="345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29545" y="2970276"/>
            <a:ext cx="56515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25">
                <a:latin typeface="Cambria Math"/>
                <a:cs typeface="Cambria Math"/>
              </a:rPr>
              <a:t>𝑲</a:t>
            </a:r>
            <a:r>
              <a:rPr dirty="0" sz="2000" spc="815">
                <a:latin typeface="Cambria Math"/>
                <a:cs typeface="Cambria Math"/>
              </a:rPr>
              <a:t>-</a:t>
            </a:r>
            <a:r>
              <a:rPr dirty="0" sz="2000">
                <a:latin typeface="Cambria Math"/>
                <a:cs typeface="Cambria Math"/>
              </a:rPr>
              <a:t>𝟏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8108" y="2263140"/>
            <a:ext cx="7593965" cy="841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45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5">
                <a:latin typeface="Calibri"/>
                <a:cs typeface="Calibri"/>
              </a:rPr>
              <a:t>final node embedding </a:t>
            </a:r>
            <a:r>
              <a:rPr dirty="0" sz="3200" spc="-10">
                <a:latin typeface="Calibri"/>
                <a:cs typeface="Calibri"/>
              </a:rPr>
              <a:t>matrix </a:t>
            </a:r>
            <a:r>
              <a:rPr dirty="0" sz="3200">
                <a:latin typeface="Calibri"/>
                <a:cs typeface="Calibri"/>
              </a:rPr>
              <a:t>is </a:t>
            </a:r>
            <a:r>
              <a:rPr dirty="0" sz="3200" spc="-10">
                <a:latin typeface="Calibri"/>
                <a:cs typeface="Calibri"/>
              </a:rPr>
              <a:t>given</a:t>
            </a:r>
            <a:r>
              <a:rPr dirty="0" sz="3200" spc="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as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ts val="2970"/>
              </a:lnSpc>
              <a:tabLst>
                <a:tab pos="1572260" algn="l"/>
              </a:tabLst>
            </a:pPr>
            <a:r>
              <a:rPr dirty="0" baseline="-20833" sz="4200" spc="150">
                <a:latin typeface="Cambria Math"/>
                <a:cs typeface="Cambria Math"/>
              </a:rPr>
              <a:t>𝑯</a:t>
            </a:r>
            <a:r>
              <a:rPr dirty="0" sz="2000" spc="100">
                <a:latin typeface="Cambria Math"/>
                <a:cs typeface="Cambria Math"/>
              </a:rPr>
              <a:t>(6)</a:t>
            </a:r>
            <a:r>
              <a:rPr dirty="0" sz="2000" spc="210">
                <a:latin typeface="Cambria Math"/>
                <a:cs typeface="Cambria Math"/>
              </a:rPr>
              <a:t> </a:t>
            </a:r>
            <a:r>
              <a:rPr dirty="0" baseline="-20833" sz="4200">
                <a:latin typeface="Cambria Math"/>
                <a:cs typeface="Cambria Math"/>
              </a:rPr>
              <a:t>=</a:t>
            </a:r>
            <a:r>
              <a:rPr dirty="0" baseline="-20833" sz="4200" spc="232">
                <a:latin typeface="Cambria Math"/>
                <a:cs typeface="Cambria Math"/>
              </a:rPr>
              <a:t> </a:t>
            </a:r>
            <a:r>
              <a:rPr dirty="0" baseline="-20833" sz="4200" spc="-1147">
                <a:latin typeface="Cambria Math"/>
                <a:cs typeface="Cambria Math"/>
              </a:rPr>
              <a:t>𝑨</a:t>
            </a:r>
            <a:r>
              <a:rPr dirty="0" baseline="-9920" sz="4200" spc="-1147">
                <a:latin typeface="Cambria Math"/>
                <a:cs typeface="Cambria Math"/>
              </a:rPr>
              <a:t>S	</a:t>
            </a:r>
            <a:r>
              <a:rPr dirty="0" baseline="-20833" sz="4200" spc="494">
                <a:latin typeface="Cambria Math"/>
                <a:cs typeface="Cambria Math"/>
              </a:rPr>
              <a:t>𝑯</a:t>
            </a:r>
            <a:r>
              <a:rPr dirty="0" sz="2000" spc="330">
                <a:latin typeface="Cambria Math"/>
                <a:cs typeface="Cambria Math"/>
              </a:rPr>
              <a:t>(6-.)</a:t>
            </a:r>
            <a:r>
              <a:rPr dirty="0" sz="2000" spc="459">
                <a:latin typeface="Cambria Math"/>
                <a:cs typeface="Cambria Math"/>
              </a:rPr>
              <a:t> </a:t>
            </a:r>
            <a:r>
              <a:rPr dirty="0" baseline="-20833" sz="4200" spc="-60">
                <a:latin typeface="Cambria Math"/>
                <a:cs typeface="Cambria Math"/>
              </a:rPr>
              <a:t>𝑾</a:t>
            </a:r>
            <a:r>
              <a:rPr dirty="0" baseline="2777" sz="3000" spc="-60">
                <a:latin typeface="Cambria Math"/>
                <a:cs typeface="Cambria Math"/>
              </a:rPr>
              <a:t>H</a:t>
            </a:r>
            <a:endParaRPr baseline="2777" sz="30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056585" y="3673980"/>
            <a:ext cx="2446020" cy="429895"/>
          </a:xfrm>
          <a:custGeom>
            <a:avLst/>
            <a:gdLst/>
            <a:ahLst/>
            <a:cxnLst/>
            <a:rect l="l" t="t" r="r" b="b"/>
            <a:pathLst>
              <a:path w="2446020" h="429895">
                <a:moveTo>
                  <a:pt x="2332539" y="0"/>
                </a:moveTo>
                <a:lnTo>
                  <a:pt x="2328198" y="14237"/>
                </a:lnTo>
                <a:lnTo>
                  <a:pt x="2347933" y="24471"/>
                </a:lnTo>
                <a:lnTo>
                  <a:pt x="2365117" y="39371"/>
                </a:lnTo>
                <a:lnTo>
                  <a:pt x="2391835" y="83171"/>
                </a:lnTo>
                <a:lnTo>
                  <a:pt x="2408047" y="142683"/>
                </a:lnTo>
                <a:lnTo>
                  <a:pt x="2413452" y="214957"/>
                </a:lnTo>
                <a:lnTo>
                  <a:pt x="2412101" y="252609"/>
                </a:lnTo>
                <a:lnTo>
                  <a:pt x="2401292" y="318372"/>
                </a:lnTo>
                <a:lnTo>
                  <a:pt x="2379751" y="370679"/>
                </a:lnTo>
                <a:lnTo>
                  <a:pt x="2347933" y="405102"/>
                </a:lnTo>
                <a:lnTo>
                  <a:pt x="2328198" y="415330"/>
                </a:lnTo>
                <a:lnTo>
                  <a:pt x="2332539" y="429568"/>
                </a:lnTo>
                <a:lnTo>
                  <a:pt x="2380505" y="404000"/>
                </a:lnTo>
                <a:lnTo>
                  <a:pt x="2416056" y="355773"/>
                </a:lnTo>
                <a:lnTo>
                  <a:pt x="2438065" y="290748"/>
                </a:lnTo>
                <a:lnTo>
                  <a:pt x="2445401" y="214783"/>
                </a:lnTo>
                <a:lnTo>
                  <a:pt x="2443567" y="175434"/>
                </a:lnTo>
                <a:lnTo>
                  <a:pt x="2428895" y="104939"/>
                </a:lnTo>
                <a:lnTo>
                  <a:pt x="2399832" y="46848"/>
                </a:lnTo>
                <a:lnTo>
                  <a:pt x="2358074" y="9951"/>
                </a:lnTo>
                <a:lnTo>
                  <a:pt x="2332539" y="0"/>
                </a:lnTo>
                <a:close/>
              </a:path>
              <a:path w="2446020" h="429895">
                <a:moveTo>
                  <a:pt x="112861" y="0"/>
                </a:moveTo>
                <a:lnTo>
                  <a:pt x="64895" y="25567"/>
                </a:lnTo>
                <a:lnTo>
                  <a:pt x="29344" y="73794"/>
                </a:lnTo>
                <a:lnTo>
                  <a:pt x="7336" y="138819"/>
                </a:lnTo>
                <a:lnTo>
                  <a:pt x="0" y="214783"/>
                </a:lnTo>
                <a:lnTo>
                  <a:pt x="1834" y="254133"/>
                </a:lnTo>
                <a:lnTo>
                  <a:pt x="16506" y="324628"/>
                </a:lnTo>
                <a:lnTo>
                  <a:pt x="45568" y="382719"/>
                </a:lnTo>
                <a:lnTo>
                  <a:pt x="87326" y="419617"/>
                </a:lnTo>
                <a:lnTo>
                  <a:pt x="112861" y="429568"/>
                </a:lnTo>
                <a:lnTo>
                  <a:pt x="117201" y="415330"/>
                </a:lnTo>
                <a:lnTo>
                  <a:pt x="97467" y="405102"/>
                </a:lnTo>
                <a:lnTo>
                  <a:pt x="80283" y="390218"/>
                </a:lnTo>
                <a:lnTo>
                  <a:pt x="53566" y="346485"/>
                </a:lnTo>
                <a:lnTo>
                  <a:pt x="37353" y="287080"/>
                </a:lnTo>
                <a:lnTo>
                  <a:pt x="31955" y="214783"/>
                </a:lnTo>
                <a:lnTo>
                  <a:pt x="33300" y="177225"/>
                </a:lnTo>
                <a:lnTo>
                  <a:pt x="44108" y="111331"/>
                </a:lnTo>
                <a:lnTo>
                  <a:pt x="65649" y="58938"/>
                </a:lnTo>
                <a:lnTo>
                  <a:pt x="97467" y="24471"/>
                </a:lnTo>
                <a:lnTo>
                  <a:pt x="117201" y="14237"/>
                </a:lnTo>
                <a:lnTo>
                  <a:pt x="1128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413763" y="3490467"/>
            <a:ext cx="257111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0890" algn="l"/>
              </a:tabLst>
            </a:pPr>
            <a:r>
              <a:rPr dirty="0" baseline="-20833" sz="4200">
                <a:latin typeface="Cambria Math"/>
                <a:cs typeface="Cambria Math"/>
              </a:rPr>
              <a:t>=</a:t>
            </a:r>
            <a:r>
              <a:rPr dirty="0" baseline="-20833" sz="4200" spc="225">
                <a:latin typeface="Cambria Math"/>
                <a:cs typeface="Cambria Math"/>
              </a:rPr>
              <a:t> </a:t>
            </a:r>
            <a:r>
              <a:rPr dirty="0" baseline="-20833" sz="4200" spc="-1147">
                <a:latin typeface="Cambria Math"/>
                <a:cs typeface="Cambria Math"/>
              </a:rPr>
              <a:t>𝑨</a:t>
            </a:r>
            <a:r>
              <a:rPr dirty="0" baseline="-9920" sz="4200" spc="-1147">
                <a:latin typeface="Cambria Math"/>
                <a:cs typeface="Cambria Math"/>
              </a:rPr>
              <a:t>S	</a:t>
            </a:r>
            <a:r>
              <a:rPr dirty="0" baseline="-20833" sz="4200" spc="52">
                <a:solidFill>
                  <a:srgbClr val="D60093"/>
                </a:solidFill>
                <a:latin typeface="Cambria Math"/>
                <a:cs typeface="Cambria Math"/>
              </a:rPr>
              <a:t>𝑨</a:t>
            </a:r>
            <a:r>
              <a:rPr dirty="0" baseline="-9920" sz="4200" spc="52">
                <a:solidFill>
                  <a:srgbClr val="D60093"/>
                </a:solidFill>
                <a:latin typeface="Cambria Math"/>
                <a:cs typeface="Cambria Math"/>
              </a:rPr>
              <a:t>S</a:t>
            </a:r>
            <a:r>
              <a:rPr dirty="0" baseline="-20833" sz="4200" spc="52">
                <a:solidFill>
                  <a:srgbClr val="D60093"/>
                </a:solidFill>
                <a:latin typeface="Cambria Math"/>
                <a:cs typeface="Cambria Math"/>
              </a:rPr>
              <a:t>𝑯</a:t>
            </a:r>
            <a:r>
              <a:rPr dirty="0" sz="2000" spc="35">
                <a:solidFill>
                  <a:srgbClr val="D60093"/>
                </a:solidFill>
                <a:latin typeface="Cambria Math"/>
                <a:cs typeface="Cambria Math"/>
              </a:rPr>
              <a:t>(6-I)</a:t>
            </a:r>
            <a:r>
              <a:rPr dirty="0" baseline="-20833" sz="4200" spc="52">
                <a:solidFill>
                  <a:srgbClr val="D60093"/>
                </a:solidFill>
                <a:latin typeface="Cambria Math"/>
                <a:cs typeface="Cambria Math"/>
              </a:rPr>
              <a:t>𝑾</a:t>
            </a:r>
            <a:r>
              <a:rPr dirty="0" baseline="2777" sz="3000" spc="52">
                <a:solidFill>
                  <a:srgbClr val="D60093"/>
                </a:solidFill>
                <a:latin typeface="Cambria Math"/>
                <a:cs typeface="Cambria Math"/>
              </a:rPr>
              <a:t>K</a:t>
            </a:r>
            <a:endParaRPr baseline="2777" sz="30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03141" y="3808476"/>
            <a:ext cx="163195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78865" algn="l"/>
              </a:tabLst>
            </a:pPr>
            <a:r>
              <a:rPr dirty="0" sz="2000" spc="25">
                <a:solidFill>
                  <a:srgbClr val="D60093"/>
                </a:solidFill>
                <a:latin typeface="Cambria Math"/>
                <a:cs typeface="Cambria Math"/>
              </a:rPr>
              <a:t>𝑲</a:t>
            </a:r>
            <a:r>
              <a:rPr dirty="0" sz="2000" spc="815">
                <a:solidFill>
                  <a:srgbClr val="D60093"/>
                </a:solidFill>
                <a:latin typeface="Cambria Math"/>
                <a:cs typeface="Cambria Math"/>
              </a:rPr>
              <a:t>-</a:t>
            </a:r>
            <a:r>
              <a:rPr dirty="0" sz="2000">
                <a:solidFill>
                  <a:srgbClr val="D60093"/>
                </a:solidFill>
                <a:latin typeface="Cambria Math"/>
                <a:cs typeface="Cambria Math"/>
              </a:rPr>
              <a:t>𝟐	</a:t>
            </a:r>
            <a:r>
              <a:rPr dirty="0" sz="2000" spc="25">
                <a:latin typeface="Cambria Math"/>
                <a:cs typeface="Cambria Math"/>
              </a:rPr>
              <a:t>𝑲</a:t>
            </a:r>
            <a:r>
              <a:rPr dirty="0" sz="2000" spc="815">
                <a:latin typeface="Cambria Math"/>
                <a:cs typeface="Cambria Math"/>
              </a:rPr>
              <a:t>-</a:t>
            </a:r>
            <a:r>
              <a:rPr dirty="0" sz="2000">
                <a:latin typeface="Cambria Math"/>
                <a:cs typeface="Cambria Math"/>
              </a:rPr>
              <a:t>𝟏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20565" y="3478276"/>
            <a:ext cx="53975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2817" sz="4200" spc="-7">
                <a:latin typeface="Cambria Math"/>
                <a:cs typeface="Cambria Math"/>
              </a:rPr>
              <a:t>𝑾</a:t>
            </a:r>
            <a:r>
              <a:rPr dirty="0" sz="2000" spc="-75">
                <a:latin typeface="Cambria Math"/>
                <a:cs typeface="Cambria Math"/>
              </a:rPr>
              <a:t>H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442348" y="4499480"/>
            <a:ext cx="4601210" cy="429895"/>
          </a:xfrm>
          <a:custGeom>
            <a:avLst/>
            <a:gdLst/>
            <a:ahLst/>
            <a:cxnLst/>
            <a:rect l="l" t="t" r="r" b="b"/>
            <a:pathLst>
              <a:path w="4601209" h="429895">
                <a:moveTo>
                  <a:pt x="4488173" y="0"/>
                </a:moveTo>
                <a:lnTo>
                  <a:pt x="4483832" y="14237"/>
                </a:lnTo>
                <a:lnTo>
                  <a:pt x="4503567" y="24471"/>
                </a:lnTo>
                <a:lnTo>
                  <a:pt x="4520752" y="39371"/>
                </a:lnTo>
                <a:lnTo>
                  <a:pt x="4547469" y="83171"/>
                </a:lnTo>
                <a:lnTo>
                  <a:pt x="4563682" y="142683"/>
                </a:lnTo>
                <a:lnTo>
                  <a:pt x="4569086" y="214957"/>
                </a:lnTo>
                <a:lnTo>
                  <a:pt x="4567735" y="252608"/>
                </a:lnTo>
                <a:lnTo>
                  <a:pt x="4556927" y="318372"/>
                </a:lnTo>
                <a:lnTo>
                  <a:pt x="4535386" y="370679"/>
                </a:lnTo>
                <a:lnTo>
                  <a:pt x="4503567" y="405101"/>
                </a:lnTo>
                <a:lnTo>
                  <a:pt x="4483832" y="415329"/>
                </a:lnTo>
                <a:lnTo>
                  <a:pt x="4488173" y="429567"/>
                </a:lnTo>
                <a:lnTo>
                  <a:pt x="4536139" y="404000"/>
                </a:lnTo>
                <a:lnTo>
                  <a:pt x="4571691" y="355773"/>
                </a:lnTo>
                <a:lnTo>
                  <a:pt x="4593699" y="290748"/>
                </a:lnTo>
                <a:lnTo>
                  <a:pt x="4601034" y="214783"/>
                </a:lnTo>
                <a:lnTo>
                  <a:pt x="4599200" y="175434"/>
                </a:lnTo>
                <a:lnTo>
                  <a:pt x="4584529" y="104939"/>
                </a:lnTo>
                <a:lnTo>
                  <a:pt x="4555467" y="46848"/>
                </a:lnTo>
                <a:lnTo>
                  <a:pt x="4513708" y="9951"/>
                </a:lnTo>
                <a:lnTo>
                  <a:pt x="4488173" y="0"/>
                </a:lnTo>
                <a:close/>
              </a:path>
              <a:path w="4601209" h="429895">
                <a:moveTo>
                  <a:pt x="112861" y="0"/>
                </a:moveTo>
                <a:lnTo>
                  <a:pt x="64895" y="25567"/>
                </a:lnTo>
                <a:lnTo>
                  <a:pt x="29344" y="73794"/>
                </a:lnTo>
                <a:lnTo>
                  <a:pt x="7336" y="138819"/>
                </a:lnTo>
                <a:lnTo>
                  <a:pt x="0" y="214783"/>
                </a:lnTo>
                <a:lnTo>
                  <a:pt x="1834" y="254133"/>
                </a:lnTo>
                <a:lnTo>
                  <a:pt x="16506" y="324628"/>
                </a:lnTo>
                <a:lnTo>
                  <a:pt x="45568" y="382719"/>
                </a:lnTo>
                <a:lnTo>
                  <a:pt x="87326" y="419616"/>
                </a:lnTo>
                <a:lnTo>
                  <a:pt x="112861" y="429567"/>
                </a:lnTo>
                <a:lnTo>
                  <a:pt x="117201" y="415329"/>
                </a:lnTo>
                <a:lnTo>
                  <a:pt x="97467" y="405101"/>
                </a:lnTo>
                <a:lnTo>
                  <a:pt x="80283" y="390218"/>
                </a:lnTo>
                <a:lnTo>
                  <a:pt x="53566" y="346485"/>
                </a:lnTo>
                <a:lnTo>
                  <a:pt x="37353" y="287080"/>
                </a:lnTo>
                <a:lnTo>
                  <a:pt x="31955" y="214783"/>
                </a:lnTo>
                <a:lnTo>
                  <a:pt x="33300" y="177225"/>
                </a:lnTo>
                <a:lnTo>
                  <a:pt x="44108" y="111331"/>
                </a:lnTo>
                <a:lnTo>
                  <a:pt x="65649" y="58938"/>
                </a:lnTo>
                <a:lnTo>
                  <a:pt x="97467" y="24471"/>
                </a:lnTo>
                <a:lnTo>
                  <a:pt x="117201" y="14237"/>
                </a:lnTo>
                <a:lnTo>
                  <a:pt x="1128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837064" y="4499480"/>
            <a:ext cx="3140075" cy="429895"/>
          </a:xfrm>
          <a:custGeom>
            <a:avLst/>
            <a:gdLst/>
            <a:ahLst/>
            <a:cxnLst/>
            <a:rect l="l" t="t" r="r" b="b"/>
            <a:pathLst>
              <a:path w="3140075" h="429895">
                <a:moveTo>
                  <a:pt x="3026784" y="0"/>
                </a:moveTo>
                <a:lnTo>
                  <a:pt x="3022443" y="14237"/>
                </a:lnTo>
                <a:lnTo>
                  <a:pt x="3042178" y="24471"/>
                </a:lnTo>
                <a:lnTo>
                  <a:pt x="3059363" y="39371"/>
                </a:lnTo>
                <a:lnTo>
                  <a:pt x="3086080" y="83171"/>
                </a:lnTo>
                <a:lnTo>
                  <a:pt x="3102293" y="142683"/>
                </a:lnTo>
                <a:lnTo>
                  <a:pt x="3107697" y="214957"/>
                </a:lnTo>
                <a:lnTo>
                  <a:pt x="3106346" y="252608"/>
                </a:lnTo>
                <a:lnTo>
                  <a:pt x="3095538" y="318372"/>
                </a:lnTo>
                <a:lnTo>
                  <a:pt x="3073997" y="370679"/>
                </a:lnTo>
                <a:lnTo>
                  <a:pt x="3042178" y="405101"/>
                </a:lnTo>
                <a:lnTo>
                  <a:pt x="3022443" y="415329"/>
                </a:lnTo>
                <a:lnTo>
                  <a:pt x="3026784" y="429567"/>
                </a:lnTo>
                <a:lnTo>
                  <a:pt x="3074751" y="404000"/>
                </a:lnTo>
                <a:lnTo>
                  <a:pt x="3110302" y="355773"/>
                </a:lnTo>
                <a:lnTo>
                  <a:pt x="3132310" y="290748"/>
                </a:lnTo>
                <a:lnTo>
                  <a:pt x="3139645" y="214783"/>
                </a:lnTo>
                <a:lnTo>
                  <a:pt x="3137811" y="175434"/>
                </a:lnTo>
                <a:lnTo>
                  <a:pt x="3123140" y="104939"/>
                </a:lnTo>
                <a:lnTo>
                  <a:pt x="3094078" y="46848"/>
                </a:lnTo>
                <a:lnTo>
                  <a:pt x="3052319" y="9951"/>
                </a:lnTo>
                <a:lnTo>
                  <a:pt x="3026784" y="0"/>
                </a:lnTo>
                <a:close/>
              </a:path>
              <a:path w="3140075" h="429895">
                <a:moveTo>
                  <a:pt x="112861" y="0"/>
                </a:moveTo>
                <a:lnTo>
                  <a:pt x="64895" y="25567"/>
                </a:lnTo>
                <a:lnTo>
                  <a:pt x="29344" y="73794"/>
                </a:lnTo>
                <a:lnTo>
                  <a:pt x="7336" y="138819"/>
                </a:lnTo>
                <a:lnTo>
                  <a:pt x="0" y="214783"/>
                </a:lnTo>
                <a:lnTo>
                  <a:pt x="1834" y="254133"/>
                </a:lnTo>
                <a:lnTo>
                  <a:pt x="16506" y="324628"/>
                </a:lnTo>
                <a:lnTo>
                  <a:pt x="45568" y="382719"/>
                </a:lnTo>
                <a:lnTo>
                  <a:pt x="87326" y="419616"/>
                </a:lnTo>
                <a:lnTo>
                  <a:pt x="112861" y="429567"/>
                </a:lnTo>
                <a:lnTo>
                  <a:pt x="117201" y="415329"/>
                </a:lnTo>
                <a:lnTo>
                  <a:pt x="97467" y="405101"/>
                </a:lnTo>
                <a:lnTo>
                  <a:pt x="80283" y="390218"/>
                </a:lnTo>
                <a:lnTo>
                  <a:pt x="53566" y="346485"/>
                </a:lnTo>
                <a:lnTo>
                  <a:pt x="37353" y="287080"/>
                </a:lnTo>
                <a:lnTo>
                  <a:pt x="31955" y="214783"/>
                </a:lnTo>
                <a:lnTo>
                  <a:pt x="33300" y="177225"/>
                </a:lnTo>
                <a:lnTo>
                  <a:pt x="44108" y="111331"/>
                </a:lnTo>
                <a:lnTo>
                  <a:pt x="65649" y="58938"/>
                </a:lnTo>
                <a:lnTo>
                  <a:pt x="97467" y="24471"/>
                </a:lnTo>
                <a:lnTo>
                  <a:pt x="117201" y="14237"/>
                </a:lnTo>
                <a:lnTo>
                  <a:pt x="112861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413763" y="4447539"/>
            <a:ext cx="229489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56970" algn="l"/>
                <a:tab pos="1551305" algn="l"/>
              </a:tabLst>
            </a:pPr>
            <a:r>
              <a:rPr dirty="0" sz="2800">
                <a:latin typeface="Cambria Math"/>
                <a:cs typeface="Cambria Math"/>
              </a:rPr>
              <a:t>⋯</a:t>
            </a:r>
            <a:r>
              <a:rPr dirty="0" sz="2800" spc="15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=</a:t>
            </a:r>
            <a:r>
              <a:rPr dirty="0" sz="2800" spc="10">
                <a:latin typeface="Cambria Math"/>
                <a:cs typeface="Cambria Math"/>
              </a:rPr>
              <a:t> </a:t>
            </a:r>
            <a:r>
              <a:rPr dirty="0" sz="2800" spc="-765">
                <a:latin typeface="Cambria Math"/>
                <a:cs typeface="Cambria Math"/>
              </a:rPr>
              <a:t>𝑨</a:t>
            </a:r>
            <a:r>
              <a:rPr dirty="0" baseline="10912" sz="4200" spc="-1147">
                <a:latin typeface="Cambria Math"/>
                <a:cs typeface="Cambria Math"/>
              </a:rPr>
              <a:t>S	</a:t>
            </a:r>
            <a:r>
              <a:rPr dirty="0" sz="2800" spc="-765">
                <a:latin typeface="Cambria Math"/>
                <a:cs typeface="Cambria Math"/>
              </a:rPr>
              <a:t>𝑨</a:t>
            </a:r>
            <a:r>
              <a:rPr dirty="0" baseline="10912" sz="4200" spc="-1147">
                <a:latin typeface="Cambria Math"/>
                <a:cs typeface="Cambria Math"/>
              </a:rPr>
              <a:t>S	</a:t>
            </a:r>
            <a:r>
              <a:rPr dirty="0" sz="2800">
                <a:solidFill>
                  <a:srgbClr val="008000"/>
                </a:solidFill>
                <a:latin typeface="Cambria Math"/>
                <a:cs typeface="Cambria Math"/>
              </a:rPr>
              <a:t>⋯</a:t>
            </a:r>
            <a:r>
              <a:rPr dirty="0" sz="2800" spc="-250">
                <a:solidFill>
                  <a:srgbClr val="008000"/>
                </a:solidFill>
                <a:latin typeface="Cambria Math"/>
                <a:cs typeface="Cambria Math"/>
              </a:rPr>
              <a:t> </a:t>
            </a:r>
            <a:r>
              <a:rPr dirty="0" sz="2800" spc="-509">
                <a:solidFill>
                  <a:srgbClr val="008000"/>
                </a:solidFill>
                <a:latin typeface="Cambria Math"/>
                <a:cs typeface="Cambria Math"/>
              </a:rPr>
              <a:t>(𝑨</a:t>
            </a:r>
            <a:r>
              <a:rPr dirty="0" baseline="10912" sz="4200" spc="-765">
                <a:solidFill>
                  <a:srgbClr val="008000"/>
                </a:solidFill>
                <a:latin typeface="Cambria Math"/>
                <a:cs typeface="Cambria Math"/>
              </a:rPr>
              <a:t>S</a:t>
            </a:r>
            <a:endParaRPr baseline="10912" sz="42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081587" y="4634484"/>
            <a:ext cx="17780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008000"/>
                </a:solidFill>
                <a:latin typeface="Cambria Math"/>
                <a:cs typeface="Cambria Math"/>
              </a:rPr>
              <a:t>𝟎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344539" y="4634484"/>
            <a:ext cx="56515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25">
                <a:latin typeface="Cambria Math"/>
                <a:cs typeface="Cambria Math"/>
              </a:rPr>
              <a:t>𝑲</a:t>
            </a:r>
            <a:r>
              <a:rPr dirty="0" sz="2000" spc="815">
                <a:latin typeface="Cambria Math"/>
                <a:cs typeface="Cambria Math"/>
              </a:rPr>
              <a:t>-</a:t>
            </a:r>
            <a:r>
              <a:rPr dirty="0" sz="2000">
                <a:latin typeface="Cambria Math"/>
                <a:cs typeface="Cambria Math"/>
              </a:rPr>
              <a:t>𝟐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32872" y="4447539"/>
            <a:ext cx="260223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74545" algn="l"/>
              </a:tabLst>
            </a:pPr>
            <a:r>
              <a:rPr dirty="0" sz="2800" spc="0">
                <a:solidFill>
                  <a:srgbClr val="008000"/>
                </a:solidFill>
                <a:latin typeface="Cambria Math"/>
                <a:cs typeface="Cambria Math"/>
              </a:rPr>
              <a:t>𝑯</a:t>
            </a:r>
            <a:r>
              <a:rPr dirty="0" baseline="29166" sz="3000" spc="15">
                <a:solidFill>
                  <a:srgbClr val="008000"/>
                </a:solidFill>
                <a:latin typeface="Cambria Math"/>
                <a:cs typeface="Cambria Math"/>
              </a:rPr>
              <a:t>(</a:t>
            </a:r>
            <a:r>
              <a:rPr dirty="0" baseline="29166" sz="3000" spc="157">
                <a:solidFill>
                  <a:srgbClr val="008000"/>
                </a:solidFill>
                <a:latin typeface="Cambria Math"/>
                <a:cs typeface="Cambria Math"/>
              </a:rPr>
              <a:t>L</a:t>
            </a:r>
            <a:r>
              <a:rPr dirty="0" baseline="29166" sz="3000">
                <a:solidFill>
                  <a:srgbClr val="008000"/>
                </a:solidFill>
                <a:latin typeface="Cambria Math"/>
                <a:cs typeface="Cambria Math"/>
              </a:rPr>
              <a:t>) </a:t>
            </a:r>
            <a:r>
              <a:rPr dirty="0" baseline="29166" sz="3000" spc="-22">
                <a:solidFill>
                  <a:srgbClr val="008000"/>
                </a:solidFill>
                <a:latin typeface="Cambria Math"/>
                <a:cs typeface="Cambria Math"/>
              </a:rPr>
              <a:t> </a:t>
            </a:r>
            <a:r>
              <a:rPr dirty="0" sz="2800" spc="-5">
                <a:solidFill>
                  <a:srgbClr val="008000"/>
                </a:solidFill>
                <a:latin typeface="Cambria Math"/>
                <a:cs typeface="Cambria Math"/>
              </a:rPr>
              <a:t>𝑾</a:t>
            </a:r>
            <a:r>
              <a:rPr dirty="0" baseline="31944" sz="3000" spc="37">
                <a:solidFill>
                  <a:srgbClr val="008000"/>
                </a:solidFill>
                <a:latin typeface="Cambria Math"/>
                <a:cs typeface="Cambria Math"/>
              </a:rPr>
              <a:t>H</a:t>
            </a:r>
            <a:r>
              <a:rPr dirty="0" sz="2800">
                <a:solidFill>
                  <a:srgbClr val="008000"/>
                </a:solidFill>
                <a:latin typeface="Cambria Math"/>
                <a:cs typeface="Cambria Math"/>
              </a:rPr>
              <a:t>)</a:t>
            </a:r>
            <a:r>
              <a:rPr dirty="0" sz="2800" spc="-150">
                <a:solidFill>
                  <a:srgbClr val="008000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solidFill>
                  <a:srgbClr val="008000"/>
                </a:solidFill>
                <a:latin typeface="Cambria Math"/>
                <a:cs typeface="Cambria Math"/>
              </a:rPr>
              <a:t>⋯	</a:t>
            </a:r>
            <a:r>
              <a:rPr dirty="0" sz="2800" spc="-5">
                <a:latin typeface="Cambria Math"/>
                <a:cs typeface="Cambria Math"/>
              </a:rPr>
              <a:t>𝑾</a:t>
            </a:r>
            <a:r>
              <a:rPr dirty="0" baseline="31944" sz="3000" spc="-112">
                <a:latin typeface="Cambria Math"/>
                <a:cs typeface="Cambria Math"/>
              </a:rPr>
              <a:t>H</a:t>
            </a:r>
            <a:endParaRPr baseline="31944" sz="30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411210" y="4634484"/>
            <a:ext cx="56515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25">
                <a:latin typeface="Cambria Math"/>
                <a:cs typeface="Cambria Math"/>
              </a:rPr>
              <a:t>𝑲</a:t>
            </a:r>
            <a:r>
              <a:rPr dirty="0" sz="2000" spc="815">
                <a:latin typeface="Cambria Math"/>
                <a:cs typeface="Cambria Math"/>
              </a:rPr>
              <a:t>-</a:t>
            </a:r>
            <a:r>
              <a:rPr dirty="0" sz="2000">
                <a:latin typeface="Cambria Math"/>
                <a:cs typeface="Cambria Math"/>
              </a:rPr>
              <a:t>𝟏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061961" y="4304283"/>
            <a:ext cx="53975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2817" sz="4200" spc="-7">
                <a:latin typeface="Cambria Math"/>
                <a:cs typeface="Cambria Math"/>
              </a:rPr>
              <a:t>𝑾</a:t>
            </a:r>
            <a:r>
              <a:rPr dirty="0" sz="2000" spc="-75">
                <a:latin typeface="Cambria Math"/>
                <a:cs typeface="Cambria Math"/>
              </a:rPr>
              <a:t>H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413763" y="5261355"/>
            <a:ext cx="80772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Cambria Math"/>
                <a:cs typeface="Cambria Math"/>
              </a:rPr>
              <a:t>=</a:t>
            </a:r>
            <a:r>
              <a:rPr dirty="0" sz="2800" spc="65">
                <a:latin typeface="Cambria Math"/>
                <a:cs typeface="Cambria Math"/>
              </a:rPr>
              <a:t> </a:t>
            </a:r>
            <a:r>
              <a:rPr dirty="0" sz="2800" spc="-360">
                <a:solidFill>
                  <a:srgbClr val="C00000"/>
                </a:solidFill>
                <a:latin typeface="Cambria Math"/>
                <a:cs typeface="Cambria Math"/>
              </a:rPr>
              <a:t>𝑨</a:t>
            </a:r>
            <a:r>
              <a:rPr dirty="0" baseline="10912" sz="4200" spc="-540">
                <a:solidFill>
                  <a:srgbClr val="C00000"/>
                </a:solidFill>
                <a:latin typeface="Cambria Math"/>
                <a:cs typeface="Cambria Math"/>
              </a:rPr>
              <a:t>S</a:t>
            </a:r>
            <a:r>
              <a:rPr dirty="0" baseline="29166" sz="3000" spc="-540">
                <a:solidFill>
                  <a:srgbClr val="C00000"/>
                </a:solidFill>
                <a:latin typeface="Cambria Math"/>
                <a:cs typeface="Cambria Math"/>
              </a:rPr>
              <a:t>6</a:t>
            </a:r>
            <a:endParaRPr baseline="29166" sz="3000">
              <a:latin typeface="Cambria Math"/>
              <a:cs typeface="Cambria Math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823729" y="5312280"/>
            <a:ext cx="2119630" cy="429895"/>
          </a:xfrm>
          <a:custGeom>
            <a:avLst/>
            <a:gdLst/>
            <a:ahLst/>
            <a:cxnLst/>
            <a:rect l="l" t="t" r="r" b="b"/>
            <a:pathLst>
              <a:path w="2119629" h="429895">
                <a:moveTo>
                  <a:pt x="2006593" y="0"/>
                </a:moveTo>
                <a:lnTo>
                  <a:pt x="2002252" y="14237"/>
                </a:lnTo>
                <a:lnTo>
                  <a:pt x="2021987" y="24471"/>
                </a:lnTo>
                <a:lnTo>
                  <a:pt x="2039172" y="39371"/>
                </a:lnTo>
                <a:lnTo>
                  <a:pt x="2065889" y="83171"/>
                </a:lnTo>
                <a:lnTo>
                  <a:pt x="2082102" y="142683"/>
                </a:lnTo>
                <a:lnTo>
                  <a:pt x="2087506" y="214957"/>
                </a:lnTo>
                <a:lnTo>
                  <a:pt x="2086155" y="252608"/>
                </a:lnTo>
                <a:lnTo>
                  <a:pt x="2075347" y="318372"/>
                </a:lnTo>
                <a:lnTo>
                  <a:pt x="2053806" y="370679"/>
                </a:lnTo>
                <a:lnTo>
                  <a:pt x="2021987" y="405102"/>
                </a:lnTo>
                <a:lnTo>
                  <a:pt x="2002252" y="415330"/>
                </a:lnTo>
                <a:lnTo>
                  <a:pt x="2006593" y="429567"/>
                </a:lnTo>
                <a:lnTo>
                  <a:pt x="2054560" y="404000"/>
                </a:lnTo>
                <a:lnTo>
                  <a:pt x="2090111" y="355773"/>
                </a:lnTo>
                <a:lnTo>
                  <a:pt x="2112119" y="290748"/>
                </a:lnTo>
                <a:lnTo>
                  <a:pt x="2119454" y="214783"/>
                </a:lnTo>
                <a:lnTo>
                  <a:pt x="2117620" y="175434"/>
                </a:lnTo>
                <a:lnTo>
                  <a:pt x="2102949" y="104939"/>
                </a:lnTo>
                <a:lnTo>
                  <a:pt x="2073887" y="46848"/>
                </a:lnTo>
                <a:lnTo>
                  <a:pt x="2032128" y="9951"/>
                </a:lnTo>
                <a:lnTo>
                  <a:pt x="2006593" y="0"/>
                </a:lnTo>
                <a:close/>
              </a:path>
              <a:path w="2119629" h="429895">
                <a:moveTo>
                  <a:pt x="112861" y="0"/>
                </a:moveTo>
                <a:lnTo>
                  <a:pt x="64895" y="25567"/>
                </a:lnTo>
                <a:lnTo>
                  <a:pt x="29344" y="73794"/>
                </a:lnTo>
                <a:lnTo>
                  <a:pt x="7336" y="138819"/>
                </a:lnTo>
                <a:lnTo>
                  <a:pt x="0" y="214783"/>
                </a:lnTo>
                <a:lnTo>
                  <a:pt x="1834" y="254133"/>
                </a:lnTo>
                <a:lnTo>
                  <a:pt x="16506" y="324628"/>
                </a:lnTo>
                <a:lnTo>
                  <a:pt x="45568" y="382719"/>
                </a:lnTo>
                <a:lnTo>
                  <a:pt x="87326" y="419616"/>
                </a:lnTo>
                <a:lnTo>
                  <a:pt x="112861" y="429567"/>
                </a:lnTo>
                <a:lnTo>
                  <a:pt x="117201" y="415330"/>
                </a:lnTo>
                <a:lnTo>
                  <a:pt x="97467" y="405102"/>
                </a:lnTo>
                <a:lnTo>
                  <a:pt x="80283" y="390218"/>
                </a:lnTo>
                <a:lnTo>
                  <a:pt x="53566" y="346484"/>
                </a:lnTo>
                <a:lnTo>
                  <a:pt x="37352" y="287080"/>
                </a:lnTo>
                <a:lnTo>
                  <a:pt x="31954" y="214783"/>
                </a:lnTo>
                <a:lnTo>
                  <a:pt x="33299" y="177225"/>
                </a:lnTo>
                <a:lnTo>
                  <a:pt x="44108" y="111331"/>
                </a:lnTo>
                <a:lnTo>
                  <a:pt x="65649" y="58938"/>
                </a:lnTo>
                <a:lnTo>
                  <a:pt x="97467" y="24471"/>
                </a:lnTo>
                <a:lnTo>
                  <a:pt x="117201" y="14237"/>
                </a:lnTo>
                <a:lnTo>
                  <a:pt x="112861" y="0"/>
                </a:lnTo>
                <a:close/>
              </a:path>
            </a:pathLst>
          </a:custGeom>
          <a:solidFill>
            <a:srgbClr val="CF5B1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3288791" y="5445252"/>
            <a:ext cx="17780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CF5B1B"/>
                </a:solidFill>
                <a:latin typeface="Cambria Math"/>
                <a:cs typeface="Cambria Math"/>
              </a:rPr>
              <a:t>𝟎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244340" y="5445252"/>
            <a:ext cx="56515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25">
                <a:solidFill>
                  <a:srgbClr val="CF5B1B"/>
                </a:solidFill>
                <a:latin typeface="Cambria Math"/>
                <a:cs typeface="Cambria Math"/>
              </a:rPr>
              <a:t>𝑲</a:t>
            </a:r>
            <a:r>
              <a:rPr dirty="0" sz="2000" spc="815">
                <a:solidFill>
                  <a:srgbClr val="CF5B1B"/>
                </a:solidFill>
                <a:latin typeface="Cambria Math"/>
                <a:cs typeface="Cambria Math"/>
              </a:rPr>
              <a:t>-</a:t>
            </a:r>
            <a:r>
              <a:rPr dirty="0" sz="2000">
                <a:solidFill>
                  <a:srgbClr val="CF5B1B"/>
                </a:solidFill>
                <a:latin typeface="Cambria Math"/>
                <a:cs typeface="Cambria Math"/>
              </a:rPr>
              <a:t>𝟏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378138" y="5261355"/>
            <a:ext cx="2056764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4040" algn="l"/>
              </a:tabLst>
            </a:pPr>
            <a:r>
              <a:rPr dirty="0" sz="2800">
                <a:solidFill>
                  <a:srgbClr val="0000FF"/>
                </a:solidFill>
                <a:latin typeface="Cambria Math"/>
                <a:cs typeface="Cambria Math"/>
              </a:rPr>
              <a:t>𝑿	</a:t>
            </a:r>
            <a:r>
              <a:rPr dirty="0" sz="2800" spc="-40">
                <a:solidFill>
                  <a:srgbClr val="CF5B1B"/>
                </a:solidFill>
                <a:latin typeface="Cambria Math"/>
                <a:cs typeface="Cambria Math"/>
              </a:rPr>
              <a:t>𝑾</a:t>
            </a:r>
            <a:r>
              <a:rPr dirty="0" baseline="31944" sz="3000" spc="-60">
                <a:solidFill>
                  <a:srgbClr val="CF5B1B"/>
                </a:solidFill>
                <a:latin typeface="Cambria Math"/>
                <a:cs typeface="Cambria Math"/>
              </a:rPr>
              <a:t>H </a:t>
            </a:r>
            <a:r>
              <a:rPr dirty="0" sz="2800">
                <a:solidFill>
                  <a:srgbClr val="CF5B1B"/>
                </a:solidFill>
                <a:latin typeface="Cambria Math"/>
                <a:cs typeface="Cambria Math"/>
              </a:rPr>
              <a:t>⋯</a:t>
            </a:r>
            <a:r>
              <a:rPr dirty="0" sz="2800" spc="-220">
                <a:solidFill>
                  <a:srgbClr val="CF5B1B"/>
                </a:solidFill>
                <a:latin typeface="Cambria Math"/>
                <a:cs typeface="Cambria Math"/>
              </a:rPr>
              <a:t> </a:t>
            </a:r>
            <a:r>
              <a:rPr dirty="0" sz="2800" spc="-40">
                <a:solidFill>
                  <a:srgbClr val="CF5B1B"/>
                </a:solidFill>
                <a:latin typeface="Cambria Math"/>
                <a:cs typeface="Cambria Math"/>
              </a:rPr>
              <a:t>𝑾</a:t>
            </a:r>
            <a:r>
              <a:rPr dirty="0" baseline="31944" sz="3000" spc="-60">
                <a:solidFill>
                  <a:srgbClr val="CF5B1B"/>
                </a:solidFill>
                <a:latin typeface="Cambria Math"/>
                <a:cs typeface="Cambria Math"/>
              </a:rPr>
              <a:t>H</a:t>
            </a:r>
            <a:endParaRPr baseline="31944" sz="30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413763" y="6059932"/>
            <a:ext cx="175006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Cambria Math"/>
                <a:cs typeface="Cambria Math"/>
              </a:rPr>
              <a:t>= </a:t>
            </a:r>
            <a:r>
              <a:rPr dirty="0" sz="2800" spc="-360">
                <a:latin typeface="Cambria Math"/>
                <a:cs typeface="Cambria Math"/>
              </a:rPr>
              <a:t>𝑨</a:t>
            </a:r>
            <a:r>
              <a:rPr dirty="0" baseline="10912" sz="4200" spc="-540">
                <a:latin typeface="Cambria Math"/>
                <a:cs typeface="Cambria Math"/>
              </a:rPr>
              <a:t>S</a:t>
            </a:r>
            <a:r>
              <a:rPr dirty="0" baseline="29166" sz="3000" spc="-540">
                <a:latin typeface="Cambria Math"/>
                <a:cs typeface="Cambria Math"/>
              </a:rPr>
              <a:t>6     </a:t>
            </a:r>
            <a:r>
              <a:rPr dirty="0" baseline="29166" sz="3000" spc="-419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𝑿</a:t>
            </a:r>
            <a:r>
              <a:rPr dirty="0" sz="2800" spc="75">
                <a:latin typeface="Cambria Math"/>
                <a:cs typeface="Cambria Math"/>
              </a:rPr>
              <a:t> </a:t>
            </a:r>
            <a:r>
              <a:rPr dirty="0" sz="2800" spc="-40">
                <a:solidFill>
                  <a:srgbClr val="D60093"/>
                </a:solidFill>
                <a:latin typeface="Cambria Math"/>
                <a:cs typeface="Cambria Math"/>
              </a:rPr>
              <a:t>𝑾</a:t>
            </a:r>
            <a:r>
              <a:rPr dirty="0" baseline="29166" sz="3000" spc="-60">
                <a:solidFill>
                  <a:srgbClr val="D60093"/>
                </a:solidFill>
                <a:latin typeface="Cambria Math"/>
                <a:cs typeface="Cambria Math"/>
              </a:rPr>
              <a:t>H</a:t>
            </a:r>
            <a:endParaRPr baseline="29166" sz="3000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672909" y="3254688"/>
            <a:ext cx="451484" cy="327025"/>
          </a:xfrm>
          <a:custGeom>
            <a:avLst/>
            <a:gdLst/>
            <a:ahLst/>
            <a:cxnLst/>
            <a:rect l="l" t="t" r="r" b="b"/>
            <a:pathLst>
              <a:path w="451485" h="327025">
                <a:moveTo>
                  <a:pt x="329686" y="267646"/>
                </a:moveTo>
                <a:lnTo>
                  <a:pt x="303957" y="303892"/>
                </a:lnTo>
                <a:lnTo>
                  <a:pt x="451290" y="326713"/>
                </a:lnTo>
                <a:lnTo>
                  <a:pt x="428676" y="284299"/>
                </a:lnTo>
                <a:lnTo>
                  <a:pt x="364393" y="284299"/>
                </a:lnTo>
                <a:lnTo>
                  <a:pt x="355875" y="284094"/>
                </a:lnTo>
                <a:lnTo>
                  <a:pt x="347810" y="280511"/>
                </a:lnTo>
                <a:lnTo>
                  <a:pt x="329686" y="267646"/>
                </a:lnTo>
                <a:close/>
              </a:path>
              <a:path w="451485" h="327025">
                <a:moveTo>
                  <a:pt x="355416" y="231400"/>
                </a:moveTo>
                <a:lnTo>
                  <a:pt x="329686" y="267646"/>
                </a:lnTo>
                <a:lnTo>
                  <a:pt x="347810" y="280511"/>
                </a:lnTo>
                <a:lnTo>
                  <a:pt x="355875" y="284094"/>
                </a:lnTo>
                <a:lnTo>
                  <a:pt x="364393" y="284299"/>
                </a:lnTo>
                <a:lnTo>
                  <a:pt x="372366" y="281296"/>
                </a:lnTo>
                <a:lnTo>
                  <a:pt x="378798" y="275252"/>
                </a:lnTo>
                <a:lnTo>
                  <a:pt x="382381" y="267187"/>
                </a:lnTo>
                <a:lnTo>
                  <a:pt x="382586" y="258670"/>
                </a:lnTo>
                <a:lnTo>
                  <a:pt x="379582" y="250696"/>
                </a:lnTo>
                <a:lnTo>
                  <a:pt x="373539" y="244264"/>
                </a:lnTo>
                <a:lnTo>
                  <a:pt x="355416" y="231400"/>
                </a:lnTo>
                <a:close/>
              </a:path>
              <a:path w="451485" h="327025">
                <a:moveTo>
                  <a:pt x="381146" y="195153"/>
                </a:moveTo>
                <a:lnTo>
                  <a:pt x="355416" y="231400"/>
                </a:lnTo>
                <a:lnTo>
                  <a:pt x="373539" y="244264"/>
                </a:lnTo>
                <a:lnTo>
                  <a:pt x="379582" y="250696"/>
                </a:lnTo>
                <a:lnTo>
                  <a:pt x="382586" y="258670"/>
                </a:lnTo>
                <a:lnTo>
                  <a:pt x="382381" y="267187"/>
                </a:lnTo>
                <a:lnTo>
                  <a:pt x="378798" y="275252"/>
                </a:lnTo>
                <a:lnTo>
                  <a:pt x="372366" y="281296"/>
                </a:lnTo>
                <a:lnTo>
                  <a:pt x="364393" y="284299"/>
                </a:lnTo>
                <a:lnTo>
                  <a:pt x="428676" y="284299"/>
                </a:lnTo>
                <a:lnTo>
                  <a:pt x="381146" y="195153"/>
                </a:lnTo>
                <a:close/>
              </a:path>
              <a:path w="451485" h="327025">
                <a:moveTo>
                  <a:pt x="18193" y="0"/>
                </a:moveTo>
                <a:lnTo>
                  <a:pt x="10220" y="3003"/>
                </a:lnTo>
                <a:lnTo>
                  <a:pt x="3789" y="9046"/>
                </a:lnTo>
                <a:lnTo>
                  <a:pt x="205" y="17111"/>
                </a:lnTo>
                <a:lnTo>
                  <a:pt x="0" y="25629"/>
                </a:lnTo>
                <a:lnTo>
                  <a:pt x="3003" y="33602"/>
                </a:lnTo>
                <a:lnTo>
                  <a:pt x="9046" y="40034"/>
                </a:lnTo>
                <a:lnTo>
                  <a:pt x="329686" y="267646"/>
                </a:lnTo>
                <a:lnTo>
                  <a:pt x="355416" y="231400"/>
                </a:lnTo>
                <a:lnTo>
                  <a:pt x="34777" y="3789"/>
                </a:lnTo>
                <a:lnTo>
                  <a:pt x="26711" y="205"/>
                </a:lnTo>
                <a:lnTo>
                  <a:pt x="18193" y="0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113043" y="3121827"/>
            <a:ext cx="1163955" cy="154940"/>
          </a:xfrm>
          <a:custGeom>
            <a:avLst/>
            <a:gdLst/>
            <a:ahLst/>
            <a:cxnLst/>
            <a:rect l="l" t="t" r="r" b="b"/>
            <a:pathLst>
              <a:path w="1163954" h="154939">
                <a:moveTo>
                  <a:pt x="1163556" y="0"/>
                </a:moveTo>
                <a:lnTo>
                  <a:pt x="1162542" y="60244"/>
                </a:lnTo>
                <a:lnTo>
                  <a:pt x="1159778" y="109440"/>
                </a:lnTo>
                <a:lnTo>
                  <a:pt x="1155679" y="142609"/>
                </a:lnTo>
                <a:lnTo>
                  <a:pt x="1150659" y="154772"/>
                </a:lnTo>
                <a:lnTo>
                  <a:pt x="12897" y="154772"/>
                </a:lnTo>
                <a:lnTo>
                  <a:pt x="7876" y="142609"/>
                </a:lnTo>
                <a:lnTo>
                  <a:pt x="3777" y="109440"/>
                </a:lnTo>
                <a:lnTo>
                  <a:pt x="1013" y="60244"/>
                </a:lnTo>
                <a:lnTo>
                  <a:pt x="0" y="0"/>
                </a:lnTo>
              </a:path>
            </a:pathLst>
          </a:custGeom>
          <a:ln w="50800">
            <a:solidFill>
              <a:srgbClr val="D6009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438400" y="3962401"/>
            <a:ext cx="990600" cy="154940"/>
          </a:xfrm>
          <a:custGeom>
            <a:avLst/>
            <a:gdLst/>
            <a:ahLst/>
            <a:cxnLst/>
            <a:rect l="l" t="t" r="r" b="b"/>
            <a:pathLst>
              <a:path w="990600" h="154939">
                <a:moveTo>
                  <a:pt x="990600" y="0"/>
                </a:moveTo>
                <a:lnTo>
                  <a:pt x="989586" y="60244"/>
                </a:lnTo>
                <a:lnTo>
                  <a:pt x="986822" y="109440"/>
                </a:lnTo>
                <a:lnTo>
                  <a:pt x="982723" y="142609"/>
                </a:lnTo>
                <a:lnTo>
                  <a:pt x="977702" y="154772"/>
                </a:lnTo>
                <a:lnTo>
                  <a:pt x="12897" y="154772"/>
                </a:lnTo>
                <a:lnTo>
                  <a:pt x="7876" y="142609"/>
                </a:lnTo>
                <a:lnTo>
                  <a:pt x="3777" y="109440"/>
                </a:lnTo>
                <a:lnTo>
                  <a:pt x="1013" y="60244"/>
                </a:lnTo>
                <a:lnTo>
                  <a:pt x="0" y="0"/>
                </a:lnTo>
              </a:path>
            </a:pathLst>
          </a:custGeom>
          <a:ln w="508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911671" y="4095143"/>
            <a:ext cx="1279525" cy="393065"/>
          </a:xfrm>
          <a:custGeom>
            <a:avLst/>
            <a:gdLst/>
            <a:ahLst/>
            <a:cxnLst/>
            <a:rect l="l" t="t" r="r" b="b"/>
            <a:pathLst>
              <a:path w="1279525" h="393064">
                <a:moveTo>
                  <a:pt x="1144811" y="349682"/>
                </a:moveTo>
                <a:lnTo>
                  <a:pt x="1133172" y="392580"/>
                </a:lnTo>
                <a:lnTo>
                  <a:pt x="1279328" y="363149"/>
                </a:lnTo>
                <a:lnTo>
                  <a:pt x="1271407" y="356080"/>
                </a:lnTo>
                <a:lnTo>
                  <a:pt x="1175067" y="356080"/>
                </a:lnTo>
                <a:lnTo>
                  <a:pt x="1166260" y="355501"/>
                </a:lnTo>
                <a:lnTo>
                  <a:pt x="1144811" y="349682"/>
                </a:lnTo>
                <a:close/>
              </a:path>
              <a:path w="1279525" h="393064">
                <a:moveTo>
                  <a:pt x="1156450" y="306783"/>
                </a:moveTo>
                <a:lnTo>
                  <a:pt x="1144811" y="349682"/>
                </a:lnTo>
                <a:lnTo>
                  <a:pt x="1166260" y="355501"/>
                </a:lnTo>
                <a:lnTo>
                  <a:pt x="1175067" y="356080"/>
                </a:lnTo>
                <a:lnTo>
                  <a:pt x="1183132" y="353333"/>
                </a:lnTo>
                <a:lnTo>
                  <a:pt x="1189579" y="347762"/>
                </a:lnTo>
                <a:lnTo>
                  <a:pt x="1193530" y="339871"/>
                </a:lnTo>
                <a:lnTo>
                  <a:pt x="1194109" y="331065"/>
                </a:lnTo>
                <a:lnTo>
                  <a:pt x="1191361" y="322999"/>
                </a:lnTo>
                <a:lnTo>
                  <a:pt x="1185791" y="316553"/>
                </a:lnTo>
                <a:lnTo>
                  <a:pt x="1177899" y="312602"/>
                </a:lnTo>
                <a:lnTo>
                  <a:pt x="1156450" y="306783"/>
                </a:lnTo>
                <a:close/>
              </a:path>
              <a:path w="1279525" h="393064">
                <a:moveTo>
                  <a:pt x="1168089" y="263883"/>
                </a:moveTo>
                <a:lnTo>
                  <a:pt x="1156450" y="306783"/>
                </a:lnTo>
                <a:lnTo>
                  <a:pt x="1177899" y="312602"/>
                </a:lnTo>
                <a:lnTo>
                  <a:pt x="1185791" y="316553"/>
                </a:lnTo>
                <a:lnTo>
                  <a:pt x="1191361" y="322999"/>
                </a:lnTo>
                <a:lnTo>
                  <a:pt x="1194109" y="331065"/>
                </a:lnTo>
                <a:lnTo>
                  <a:pt x="1193530" y="339871"/>
                </a:lnTo>
                <a:lnTo>
                  <a:pt x="1189579" y="347762"/>
                </a:lnTo>
                <a:lnTo>
                  <a:pt x="1183132" y="353333"/>
                </a:lnTo>
                <a:lnTo>
                  <a:pt x="1175067" y="356080"/>
                </a:lnTo>
                <a:lnTo>
                  <a:pt x="1271407" y="356080"/>
                </a:lnTo>
                <a:lnTo>
                  <a:pt x="1168089" y="263883"/>
                </a:lnTo>
                <a:close/>
              </a:path>
              <a:path w="1279525" h="393064">
                <a:moveTo>
                  <a:pt x="19041" y="0"/>
                </a:moveTo>
                <a:lnTo>
                  <a:pt x="10976" y="2746"/>
                </a:lnTo>
                <a:lnTo>
                  <a:pt x="4530" y="8317"/>
                </a:lnTo>
                <a:lnTo>
                  <a:pt x="579" y="16209"/>
                </a:lnTo>
                <a:lnTo>
                  <a:pt x="0" y="25016"/>
                </a:lnTo>
                <a:lnTo>
                  <a:pt x="2746" y="33081"/>
                </a:lnTo>
                <a:lnTo>
                  <a:pt x="8317" y="39528"/>
                </a:lnTo>
                <a:lnTo>
                  <a:pt x="16209" y="43479"/>
                </a:lnTo>
                <a:lnTo>
                  <a:pt x="1144811" y="349682"/>
                </a:lnTo>
                <a:lnTo>
                  <a:pt x="1156450" y="306783"/>
                </a:lnTo>
                <a:lnTo>
                  <a:pt x="27847" y="579"/>
                </a:lnTo>
                <a:lnTo>
                  <a:pt x="19041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145295" y="4797041"/>
            <a:ext cx="1588770" cy="154940"/>
          </a:xfrm>
          <a:custGeom>
            <a:avLst/>
            <a:gdLst/>
            <a:ahLst/>
            <a:cxnLst/>
            <a:rect l="l" t="t" r="r" b="b"/>
            <a:pathLst>
              <a:path w="1588770" h="154939">
                <a:moveTo>
                  <a:pt x="1588504" y="0"/>
                </a:moveTo>
                <a:lnTo>
                  <a:pt x="1587490" y="60244"/>
                </a:lnTo>
                <a:lnTo>
                  <a:pt x="1584726" y="109440"/>
                </a:lnTo>
                <a:lnTo>
                  <a:pt x="1580627" y="142609"/>
                </a:lnTo>
                <a:lnTo>
                  <a:pt x="1575606" y="154772"/>
                </a:lnTo>
                <a:lnTo>
                  <a:pt x="12897" y="154772"/>
                </a:lnTo>
                <a:lnTo>
                  <a:pt x="7876" y="142609"/>
                </a:lnTo>
                <a:lnTo>
                  <a:pt x="3777" y="109440"/>
                </a:lnTo>
                <a:lnTo>
                  <a:pt x="1013" y="60244"/>
                </a:lnTo>
                <a:lnTo>
                  <a:pt x="0" y="0"/>
                </a:lnTo>
              </a:path>
            </a:pathLst>
          </a:custGeom>
          <a:ln w="508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981200" y="4929622"/>
            <a:ext cx="981075" cy="379730"/>
          </a:xfrm>
          <a:custGeom>
            <a:avLst/>
            <a:gdLst/>
            <a:ahLst/>
            <a:cxnLst/>
            <a:rect l="l" t="t" r="r" b="b"/>
            <a:pathLst>
              <a:path w="981075" h="379729">
                <a:moveTo>
                  <a:pt x="103506" y="253636"/>
                </a:moveTo>
                <a:lnTo>
                  <a:pt x="0" y="360939"/>
                </a:lnTo>
                <a:lnTo>
                  <a:pt x="147947" y="379362"/>
                </a:lnTo>
                <a:lnTo>
                  <a:pt x="136188" y="346096"/>
                </a:lnTo>
                <a:lnTo>
                  <a:pt x="103440" y="346096"/>
                </a:lnTo>
                <a:lnTo>
                  <a:pt x="95192" y="343960"/>
                </a:lnTo>
                <a:lnTo>
                  <a:pt x="88347" y="338887"/>
                </a:lnTo>
                <a:lnTo>
                  <a:pt x="83817" y="331313"/>
                </a:lnTo>
                <a:lnTo>
                  <a:pt x="82581" y="322574"/>
                </a:lnTo>
                <a:lnTo>
                  <a:pt x="84717" y="314326"/>
                </a:lnTo>
                <a:lnTo>
                  <a:pt x="89791" y="307481"/>
                </a:lnTo>
                <a:lnTo>
                  <a:pt x="97365" y="302951"/>
                </a:lnTo>
                <a:lnTo>
                  <a:pt x="118319" y="295544"/>
                </a:lnTo>
                <a:lnTo>
                  <a:pt x="103506" y="253636"/>
                </a:lnTo>
                <a:close/>
              </a:path>
              <a:path w="981075" h="379729">
                <a:moveTo>
                  <a:pt x="118319" y="295544"/>
                </a:moveTo>
                <a:lnTo>
                  <a:pt x="97365" y="302951"/>
                </a:lnTo>
                <a:lnTo>
                  <a:pt x="89791" y="307481"/>
                </a:lnTo>
                <a:lnTo>
                  <a:pt x="84717" y="314326"/>
                </a:lnTo>
                <a:lnTo>
                  <a:pt x="82581" y="322574"/>
                </a:lnTo>
                <a:lnTo>
                  <a:pt x="83817" y="331313"/>
                </a:lnTo>
                <a:lnTo>
                  <a:pt x="88347" y="338887"/>
                </a:lnTo>
                <a:lnTo>
                  <a:pt x="95192" y="343960"/>
                </a:lnTo>
                <a:lnTo>
                  <a:pt x="103440" y="346096"/>
                </a:lnTo>
                <a:lnTo>
                  <a:pt x="112179" y="344860"/>
                </a:lnTo>
                <a:lnTo>
                  <a:pt x="133133" y="337453"/>
                </a:lnTo>
                <a:lnTo>
                  <a:pt x="118319" y="295544"/>
                </a:lnTo>
                <a:close/>
              </a:path>
              <a:path w="981075" h="379729">
                <a:moveTo>
                  <a:pt x="133133" y="337453"/>
                </a:moveTo>
                <a:lnTo>
                  <a:pt x="112179" y="344860"/>
                </a:lnTo>
                <a:lnTo>
                  <a:pt x="103440" y="346096"/>
                </a:lnTo>
                <a:lnTo>
                  <a:pt x="136188" y="346096"/>
                </a:lnTo>
                <a:lnTo>
                  <a:pt x="133133" y="337453"/>
                </a:lnTo>
                <a:close/>
              </a:path>
              <a:path w="981075" h="379729">
                <a:moveTo>
                  <a:pt x="959679" y="0"/>
                </a:moveTo>
                <a:lnTo>
                  <a:pt x="950941" y="1236"/>
                </a:lnTo>
                <a:lnTo>
                  <a:pt x="118319" y="295544"/>
                </a:lnTo>
                <a:lnTo>
                  <a:pt x="133133" y="337453"/>
                </a:lnTo>
                <a:lnTo>
                  <a:pt x="965754" y="43146"/>
                </a:lnTo>
                <a:lnTo>
                  <a:pt x="973329" y="38616"/>
                </a:lnTo>
                <a:lnTo>
                  <a:pt x="978402" y="31771"/>
                </a:lnTo>
                <a:lnTo>
                  <a:pt x="980538" y="23522"/>
                </a:lnTo>
                <a:lnTo>
                  <a:pt x="979302" y="14784"/>
                </a:lnTo>
                <a:lnTo>
                  <a:pt x="974772" y="7209"/>
                </a:lnTo>
                <a:lnTo>
                  <a:pt x="967927" y="2136"/>
                </a:lnTo>
                <a:lnTo>
                  <a:pt x="959679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871540" y="4797041"/>
            <a:ext cx="701040" cy="154940"/>
          </a:xfrm>
          <a:custGeom>
            <a:avLst/>
            <a:gdLst/>
            <a:ahLst/>
            <a:cxnLst/>
            <a:rect l="l" t="t" r="r" b="b"/>
            <a:pathLst>
              <a:path w="701039" h="154939">
                <a:moveTo>
                  <a:pt x="700460" y="0"/>
                </a:moveTo>
                <a:lnTo>
                  <a:pt x="699446" y="60244"/>
                </a:lnTo>
                <a:lnTo>
                  <a:pt x="696682" y="109440"/>
                </a:lnTo>
                <a:lnTo>
                  <a:pt x="692583" y="142609"/>
                </a:lnTo>
                <a:lnTo>
                  <a:pt x="687563" y="154772"/>
                </a:lnTo>
                <a:lnTo>
                  <a:pt x="12896" y="154772"/>
                </a:lnTo>
                <a:lnTo>
                  <a:pt x="7876" y="142609"/>
                </a:lnTo>
                <a:lnTo>
                  <a:pt x="3777" y="109440"/>
                </a:lnTo>
                <a:lnTo>
                  <a:pt x="1013" y="60244"/>
                </a:lnTo>
                <a:lnTo>
                  <a:pt x="0" y="0"/>
                </a:lnTo>
              </a:path>
            </a:pathLst>
          </a:custGeom>
          <a:ln w="508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2590800" y="4930004"/>
            <a:ext cx="1652905" cy="398780"/>
          </a:xfrm>
          <a:custGeom>
            <a:avLst/>
            <a:gdLst/>
            <a:ahLst/>
            <a:cxnLst/>
            <a:rect l="l" t="t" r="r" b="b"/>
            <a:pathLst>
              <a:path w="1652904" h="398779">
                <a:moveTo>
                  <a:pt x="117005" y="268159"/>
                </a:moveTo>
                <a:lnTo>
                  <a:pt x="0" y="360558"/>
                </a:lnTo>
                <a:lnTo>
                  <a:pt x="144122" y="398722"/>
                </a:lnTo>
                <a:lnTo>
                  <a:pt x="136031" y="359770"/>
                </a:lnTo>
                <a:lnTo>
                  <a:pt x="104496" y="359770"/>
                </a:lnTo>
                <a:lnTo>
                  <a:pt x="96611" y="356543"/>
                </a:lnTo>
                <a:lnTo>
                  <a:pt x="90511" y="350594"/>
                </a:lnTo>
                <a:lnTo>
                  <a:pt x="87041" y="342479"/>
                </a:lnTo>
                <a:lnTo>
                  <a:pt x="86992" y="333654"/>
                </a:lnTo>
                <a:lnTo>
                  <a:pt x="90219" y="325769"/>
                </a:lnTo>
                <a:lnTo>
                  <a:pt x="96167" y="319669"/>
                </a:lnTo>
                <a:lnTo>
                  <a:pt x="104282" y="316199"/>
                </a:lnTo>
                <a:lnTo>
                  <a:pt x="126043" y="311679"/>
                </a:lnTo>
                <a:lnTo>
                  <a:pt x="117005" y="268159"/>
                </a:lnTo>
                <a:close/>
              </a:path>
              <a:path w="1652904" h="398779">
                <a:moveTo>
                  <a:pt x="126043" y="311679"/>
                </a:moveTo>
                <a:lnTo>
                  <a:pt x="104282" y="316199"/>
                </a:lnTo>
                <a:lnTo>
                  <a:pt x="96167" y="319669"/>
                </a:lnTo>
                <a:lnTo>
                  <a:pt x="90219" y="325769"/>
                </a:lnTo>
                <a:lnTo>
                  <a:pt x="86992" y="333654"/>
                </a:lnTo>
                <a:lnTo>
                  <a:pt x="87041" y="342479"/>
                </a:lnTo>
                <a:lnTo>
                  <a:pt x="90511" y="350594"/>
                </a:lnTo>
                <a:lnTo>
                  <a:pt x="96611" y="356543"/>
                </a:lnTo>
                <a:lnTo>
                  <a:pt x="104496" y="359770"/>
                </a:lnTo>
                <a:lnTo>
                  <a:pt x="113322" y="359721"/>
                </a:lnTo>
                <a:lnTo>
                  <a:pt x="135083" y="355201"/>
                </a:lnTo>
                <a:lnTo>
                  <a:pt x="126043" y="311679"/>
                </a:lnTo>
                <a:close/>
              </a:path>
              <a:path w="1652904" h="398779">
                <a:moveTo>
                  <a:pt x="135083" y="355201"/>
                </a:moveTo>
                <a:lnTo>
                  <a:pt x="113322" y="359721"/>
                </a:lnTo>
                <a:lnTo>
                  <a:pt x="104496" y="359770"/>
                </a:lnTo>
                <a:lnTo>
                  <a:pt x="136031" y="359770"/>
                </a:lnTo>
                <a:lnTo>
                  <a:pt x="135083" y="355201"/>
                </a:lnTo>
                <a:close/>
              </a:path>
              <a:path w="1652904" h="398779">
                <a:moveTo>
                  <a:pt x="1635275" y="0"/>
                </a:moveTo>
                <a:lnTo>
                  <a:pt x="1626449" y="49"/>
                </a:lnTo>
                <a:lnTo>
                  <a:pt x="126043" y="311679"/>
                </a:lnTo>
                <a:lnTo>
                  <a:pt x="135083" y="355201"/>
                </a:lnTo>
                <a:lnTo>
                  <a:pt x="1635489" y="43569"/>
                </a:lnTo>
                <a:lnTo>
                  <a:pt x="1643604" y="40100"/>
                </a:lnTo>
                <a:lnTo>
                  <a:pt x="1649552" y="34000"/>
                </a:lnTo>
                <a:lnTo>
                  <a:pt x="1652779" y="26115"/>
                </a:lnTo>
                <a:lnTo>
                  <a:pt x="1652729" y="17289"/>
                </a:lnTo>
                <a:lnTo>
                  <a:pt x="1649260" y="9174"/>
                </a:lnTo>
                <a:lnTo>
                  <a:pt x="1643160" y="3226"/>
                </a:lnTo>
                <a:lnTo>
                  <a:pt x="1635275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709740" y="4800600"/>
            <a:ext cx="3368040" cy="154940"/>
          </a:xfrm>
          <a:custGeom>
            <a:avLst/>
            <a:gdLst/>
            <a:ahLst/>
            <a:cxnLst/>
            <a:rect l="l" t="t" r="r" b="b"/>
            <a:pathLst>
              <a:path w="3368040" h="154939">
                <a:moveTo>
                  <a:pt x="3367460" y="0"/>
                </a:moveTo>
                <a:lnTo>
                  <a:pt x="3366446" y="60244"/>
                </a:lnTo>
                <a:lnTo>
                  <a:pt x="3363682" y="109440"/>
                </a:lnTo>
                <a:lnTo>
                  <a:pt x="3359583" y="142609"/>
                </a:lnTo>
                <a:lnTo>
                  <a:pt x="3354563" y="154772"/>
                </a:lnTo>
                <a:lnTo>
                  <a:pt x="12897" y="154772"/>
                </a:lnTo>
                <a:lnTo>
                  <a:pt x="7876" y="142609"/>
                </a:lnTo>
                <a:lnTo>
                  <a:pt x="3777" y="109440"/>
                </a:lnTo>
                <a:lnTo>
                  <a:pt x="1013" y="60244"/>
                </a:lnTo>
                <a:lnTo>
                  <a:pt x="0" y="0"/>
                </a:lnTo>
              </a:path>
            </a:pathLst>
          </a:custGeom>
          <a:ln w="50800">
            <a:solidFill>
              <a:srgbClr val="CF5B1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922231" y="4929632"/>
            <a:ext cx="1348740" cy="500380"/>
          </a:xfrm>
          <a:custGeom>
            <a:avLst/>
            <a:gdLst/>
            <a:ahLst/>
            <a:cxnLst/>
            <a:rect l="l" t="t" r="r" b="b"/>
            <a:pathLst>
              <a:path w="1348739" h="500379">
                <a:moveTo>
                  <a:pt x="104251" y="373987"/>
                </a:moveTo>
                <a:lnTo>
                  <a:pt x="0" y="480567"/>
                </a:lnTo>
                <a:lnTo>
                  <a:pt x="147815" y="500021"/>
                </a:lnTo>
                <a:lnTo>
                  <a:pt x="136209" y="466445"/>
                </a:lnTo>
                <a:lnTo>
                  <a:pt x="103541" y="466445"/>
                </a:lnTo>
                <a:lnTo>
                  <a:pt x="95308" y="464251"/>
                </a:lnTo>
                <a:lnTo>
                  <a:pt x="88499" y="459130"/>
                </a:lnTo>
                <a:lnTo>
                  <a:pt x="84021" y="451524"/>
                </a:lnTo>
                <a:lnTo>
                  <a:pt x="82846" y="442777"/>
                </a:lnTo>
                <a:lnTo>
                  <a:pt x="85040" y="434545"/>
                </a:lnTo>
                <a:lnTo>
                  <a:pt x="90161" y="427735"/>
                </a:lnTo>
                <a:lnTo>
                  <a:pt x="97767" y="423258"/>
                </a:lnTo>
                <a:lnTo>
                  <a:pt x="118772" y="415997"/>
                </a:lnTo>
                <a:lnTo>
                  <a:pt x="104251" y="373987"/>
                </a:lnTo>
                <a:close/>
              </a:path>
              <a:path w="1348739" h="500379">
                <a:moveTo>
                  <a:pt x="118772" y="415997"/>
                </a:moveTo>
                <a:lnTo>
                  <a:pt x="97767" y="423258"/>
                </a:lnTo>
                <a:lnTo>
                  <a:pt x="90161" y="427735"/>
                </a:lnTo>
                <a:lnTo>
                  <a:pt x="85040" y="434545"/>
                </a:lnTo>
                <a:lnTo>
                  <a:pt x="82846" y="442777"/>
                </a:lnTo>
                <a:lnTo>
                  <a:pt x="84021" y="451524"/>
                </a:lnTo>
                <a:lnTo>
                  <a:pt x="88499" y="459130"/>
                </a:lnTo>
                <a:lnTo>
                  <a:pt x="95308" y="464251"/>
                </a:lnTo>
                <a:lnTo>
                  <a:pt x="103541" y="466445"/>
                </a:lnTo>
                <a:lnTo>
                  <a:pt x="112288" y="465270"/>
                </a:lnTo>
                <a:lnTo>
                  <a:pt x="133293" y="458009"/>
                </a:lnTo>
                <a:lnTo>
                  <a:pt x="118772" y="415997"/>
                </a:lnTo>
                <a:close/>
              </a:path>
              <a:path w="1348739" h="500379">
                <a:moveTo>
                  <a:pt x="133293" y="458009"/>
                </a:moveTo>
                <a:lnTo>
                  <a:pt x="112288" y="465270"/>
                </a:lnTo>
                <a:lnTo>
                  <a:pt x="103541" y="466445"/>
                </a:lnTo>
                <a:lnTo>
                  <a:pt x="136209" y="466445"/>
                </a:lnTo>
                <a:lnTo>
                  <a:pt x="133293" y="458009"/>
                </a:lnTo>
                <a:close/>
              </a:path>
              <a:path w="1348739" h="500379">
                <a:moveTo>
                  <a:pt x="1327654" y="0"/>
                </a:moveTo>
                <a:lnTo>
                  <a:pt x="1318907" y="1175"/>
                </a:lnTo>
                <a:lnTo>
                  <a:pt x="118772" y="415997"/>
                </a:lnTo>
                <a:lnTo>
                  <a:pt x="133293" y="458009"/>
                </a:lnTo>
                <a:lnTo>
                  <a:pt x="1333428" y="43186"/>
                </a:lnTo>
                <a:lnTo>
                  <a:pt x="1341034" y="38709"/>
                </a:lnTo>
                <a:lnTo>
                  <a:pt x="1346155" y="31900"/>
                </a:lnTo>
                <a:lnTo>
                  <a:pt x="1348349" y="23667"/>
                </a:lnTo>
                <a:lnTo>
                  <a:pt x="1347174" y="14920"/>
                </a:lnTo>
                <a:lnTo>
                  <a:pt x="1342696" y="7314"/>
                </a:lnTo>
                <a:lnTo>
                  <a:pt x="1335887" y="2193"/>
                </a:lnTo>
                <a:lnTo>
                  <a:pt x="1327654" y="0"/>
                </a:lnTo>
                <a:close/>
              </a:path>
            </a:pathLst>
          </a:custGeom>
          <a:solidFill>
            <a:srgbClr val="CF5B1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2743200" y="5629311"/>
            <a:ext cx="2209800" cy="163195"/>
          </a:xfrm>
          <a:custGeom>
            <a:avLst/>
            <a:gdLst/>
            <a:ahLst/>
            <a:cxnLst/>
            <a:rect l="l" t="t" r="r" b="b"/>
            <a:pathLst>
              <a:path w="2209800" h="163195">
                <a:moveTo>
                  <a:pt x="2209800" y="0"/>
                </a:moveTo>
                <a:lnTo>
                  <a:pt x="2208732" y="63476"/>
                </a:lnTo>
                <a:lnTo>
                  <a:pt x="2205819" y="115311"/>
                </a:lnTo>
                <a:lnTo>
                  <a:pt x="2201500" y="150259"/>
                </a:lnTo>
                <a:lnTo>
                  <a:pt x="2196211" y="163075"/>
                </a:lnTo>
                <a:lnTo>
                  <a:pt x="13589" y="163075"/>
                </a:lnTo>
                <a:lnTo>
                  <a:pt x="8299" y="150259"/>
                </a:lnTo>
                <a:lnTo>
                  <a:pt x="3980" y="115311"/>
                </a:lnTo>
                <a:lnTo>
                  <a:pt x="1067" y="63476"/>
                </a:lnTo>
                <a:lnTo>
                  <a:pt x="0" y="0"/>
                </a:lnTo>
              </a:path>
            </a:pathLst>
          </a:custGeom>
          <a:ln w="50800">
            <a:solidFill>
              <a:srgbClr val="D6009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124200" y="5770436"/>
            <a:ext cx="746125" cy="474980"/>
          </a:xfrm>
          <a:custGeom>
            <a:avLst/>
            <a:gdLst/>
            <a:ahLst/>
            <a:cxnLst/>
            <a:rect l="l" t="t" r="r" b="b"/>
            <a:pathLst>
              <a:path w="746125" h="474979">
                <a:moveTo>
                  <a:pt x="77729" y="347270"/>
                </a:moveTo>
                <a:lnTo>
                  <a:pt x="0" y="474494"/>
                </a:lnTo>
                <a:lnTo>
                  <a:pt x="148417" y="460343"/>
                </a:lnTo>
                <a:lnTo>
                  <a:pt x="134160" y="437538"/>
                </a:lnTo>
                <a:lnTo>
                  <a:pt x="97747" y="437538"/>
                </a:lnTo>
                <a:lnTo>
                  <a:pt x="89232" y="437244"/>
                </a:lnTo>
                <a:lnTo>
                  <a:pt x="81448" y="433779"/>
                </a:lnTo>
                <a:lnTo>
                  <a:pt x="75382" y="427369"/>
                </a:lnTo>
                <a:lnTo>
                  <a:pt x="72277" y="419108"/>
                </a:lnTo>
                <a:lnTo>
                  <a:pt x="72571" y="410593"/>
                </a:lnTo>
                <a:lnTo>
                  <a:pt x="76036" y="402809"/>
                </a:lnTo>
                <a:lnTo>
                  <a:pt x="82445" y="396742"/>
                </a:lnTo>
                <a:lnTo>
                  <a:pt x="101291" y="384961"/>
                </a:lnTo>
                <a:lnTo>
                  <a:pt x="77729" y="347270"/>
                </a:lnTo>
                <a:close/>
              </a:path>
              <a:path w="746125" h="474979">
                <a:moveTo>
                  <a:pt x="101291" y="384961"/>
                </a:moveTo>
                <a:lnTo>
                  <a:pt x="82445" y="396742"/>
                </a:lnTo>
                <a:lnTo>
                  <a:pt x="76036" y="402809"/>
                </a:lnTo>
                <a:lnTo>
                  <a:pt x="72571" y="410593"/>
                </a:lnTo>
                <a:lnTo>
                  <a:pt x="72277" y="419108"/>
                </a:lnTo>
                <a:lnTo>
                  <a:pt x="75382" y="427369"/>
                </a:lnTo>
                <a:lnTo>
                  <a:pt x="81448" y="433779"/>
                </a:lnTo>
                <a:lnTo>
                  <a:pt x="89232" y="437244"/>
                </a:lnTo>
                <a:lnTo>
                  <a:pt x="97747" y="437538"/>
                </a:lnTo>
                <a:lnTo>
                  <a:pt x="106008" y="434433"/>
                </a:lnTo>
                <a:lnTo>
                  <a:pt x="124854" y="422652"/>
                </a:lnTo>
                <a:lnTo>
                  <a:pt x="101291" y="384961"/>
                </a:lnTo>
                <a:close/>
              </a:path>
              <a:path w="746125" h="474979">
                <a:moveTo>
                  <a:pt x="124854" y="422652"/>
                </a:moveTo>
                <a:lnTo>
                  <a:pt x="106008" y="434433"/>
                </a:lnTo>
                <a:lnTo>
                  <a:pt x="97747" y="437538"/>
                </a:lnTo>
                <a:lnTo>
                  <a:pt x="134160" y="437538"/>
                </a:lnTo>
                <a:lnTo>
                  <a:pt x="124854" y="422652"/>
                </a:lnTo>
                <a:close/>
              </a:path>
              <a:path w="746125" h="474979">
                <a:moveTo>
                  <a:pt x="720381" y="0"/>
                </a:moveTo>
                <a:lnTo>
                  <a:pt x="712119" y="3104"/>
                </a:lnTo>
                <a:lnTo>
                  <a:pt x="101291" y="384961"/>
                </a:lnTo>
                <a:lnTo>
                  <a:pt x="124854" y="422652"/>
                </a:lnTo>
                <a:lnTo>
                  <a:pt x="735681" y="40795"/>
                </a:lnTo>
                <a:lnTo>
                  <a:pt x="742091" y="34729"/>
                </a:lnTo>
                <a:lnTo>
                  <a:pt x="745557" y="26945"/>
                </a:lnTo>
                <a:lnTo>
                  <a:pt x="745851" y="18430"/>
                </a:lnTo>
                <a:lnTo>
                  <a:pt x="742746" y="10169"/>
                </a:lnTo>
                <a:lnTo>
                  <a:pt x="736680" y="3759"/>
                </a:lnTo>
                <a:lnTo>
                  <a:pt x="728896" y="293"/>
                </a:lnTo>
                <a:lnTo>
                  <a:pt x="720381" y="0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3563432" y="6101588"/>
            <a:ext cx="31953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Arial"/>
                <a:cs typeface="Arial"/>
              </a:rPr>
              <a:t>where </a:t>
            </a:r>
            <a:r>
              <a:rPr dirty="0" sz="2400">
                <a:solidFill>
                  <a:srgbClr val="D60093"/>
                </a:solidFill>
                <a:latin typeface="Cambria Math"/>
                <a:cs typeface="Cambria Math"/>
              </a:rPr>
              <a:t>𝑾 ≡ </a:t>
            </a:r>
            <a:r>
              <a:rPr dirty="0" sz="2400" spc="185">
                <a:solidFill>
                  <a:srgbClr val="D60093"/>
                </a:solidFill>
                <a:latin typeface="Cambria Math"/>
                <a:cs typeface="Cambria Math"/>
              </a:rPr>
              <a:t>𝑾</a:t>
            </a:r>
            <a:r>
              <a:rPr dirty="0" baseline="-15432" sz="2700" spc="277">
                <a:solidFill>
                  <a:srgbClr val="D60093"/>
                </a:solidFill>
                <a:latin typeface="Cambria Math"/>
                <a:cs typeface="Cambria Math"/>
              </a:rPr>
              <a:t>𝑲:𝟏 </a:t>
            </a:r>
            <a:r>
              <a:rPr dirty="0" sz="2400">
                <a:solidFill>
                  <a:srgbClr val="D60093"/>
                </a:solidFill>
                <a:latin typeface="Cambria Math"/>
                <a:cs typeface="Cambria Math"/>
              </a:rPr>
              <a:t>⋯</a:t>
            </a:r>
            <a:r>
              <a:rPr dirty="0" sz="2400" spc="-335">
                <a:solidFill>
                  <a:srgbClr val="D60093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D60093"/>
                </a:solidFill>
                <a:latin typeface="Cambria Math"/>
                <a:cs typeface="Cambria Math"/>
              </a:rPr>
              <a:t>𝑾</a:t>
            </a:r>
            <a:r>
              <a:rPr dirty="0" baseline="-15432" sz="2700">
                <a:solidFill>
                  <a:srgbClr val="D60093"/>
                </a:solidFill>
                <a:latin typeface="Cambria Math"/>
                <a:cs typeface="Cambria Math"/>
              </a:rPr>
              <a:t>𝟎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3/13/21</a:t>
            </a:r>
          </a:p>
        </p:txBody>
      </p:sp>
      <p:sp>
        <p:nvSpPr>
          <p:cNvPr id="41" name="object 4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42" name="object 4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53</a:t>
            </a:fld>
          </a:p>
        </p:txBody>
      </p:sp>
      <p:sp>
        <p:nvSpPr>
          <p:cNvPr id="39" name="object 39"/>
          <p:cNvSpPr txBox="1"/>
          <p:nvPr/>
        </p:nvSpPr>
        <p:spPr>
          <a:xfrm>
            <a:off x="5198958" y="5469635"/>
            <a:ext cx="3432810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00" spc="-5" b="1">
                <a:solidFill>
                  <a:srgbClr val="008000"/>
                </a:solidFill>
                <a:latin typeface="Arial"/>
                <a:cs typeface="Arial"/>
              </a:rPr>
              <a:t>Composition </a:t>
            </a:r>
            <a:r>
              <a:rPr dirty="0" sz="2000" b="1">
                <a:solidFill>
                  <a:srgbClr val="008000"/>
                </a:solidFill>
                <a:latin typeface="Arial"/>
                <a:cs typeface="Arial"/>
              </a:rPr>
              <a:t>of </a:t>
            </a:r>
            <a:r>
              <a:rPr dirty="0" sz="2000" spc="-5" b="1">
                <a:solidFill>
                  <a:srgbClr val="008000"/>
                </a:solidFill>
                <a:latin typeface="Arial"/>
                <a:cs typeface="Arial"/>
              </a:rPr>
              <a:t>linear  transformation is still</a:t>
            </a:r>
            <a:r>
              <a:rPr dirty="0" sz="2000" spc="-80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2000" spc="-5" b="1">
                <a:solidFill>
                  <a:srgbClr val="008000"/>
                </a:solidFill>
                <a:latin typeface="Arial"/>
                <a:cs typeface="Arial"/>
              </a:rPr>
              <a:t>linear!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41375"/>
            <a:ext cx="4745736" cy="563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574915" cy="87312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33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5"/>
              <a:t>Removing </a:t>
            </a:r>
            <a:r>
              <a:rPr dirty="0" spc="-35"/>
              <a:t>ReLU </a:t>
            </a:r>
            <a:r>
              <a:rPr dirty="0" spc="-5"/>
              <a:t>significantly simplifies</a:t>
            </a:r>
            <a:r>
              <a:rPr dirty="0" spc="80"/>
              <a:t> </a:t>
            </a:r>
            <a:r>
              <a:rPr dirty="0" spc="-5"/>
              <a:t>GCN!</a:t>
            </a:r>
          </a:p>
          <a:p>
            <a:pPr marL="2418080">
              <a:lnSpc>
                <a:spcPts val="3335"/>
              </a:lnSpc>
            </a:pPr>
            <a:r>
              <a:rPr dirty="0" baseline="-20833" sz="4800" spc="300">
                <a:latin typeface="Cambria Math"/>
                <a:cs typeface="Cambria Math"/>
              </a:rPr>
              <a:t>𝑯</a:t>
            </a:r>
            <a:r>
              <a:rPr dirty="0" sz="2300" spc="200">
                <a:latin typeface="Cambria Math"/>
                <a:cs typeface="Cambria Math"/>
              </a:rPr>
              <a:t>(() </a:t>
            </a:r>
            <a:r>
              <a:rPr dirty="0" baseline="-20833" sz="4800">
                <a:latin typeface="Cambria Math"/>
                <a:cs typeface="Cambria Math"/>
              </a:rPr>
              <a:t>= </a:t>
            </a:r>
            <a:r>
              <a:rPr dirty="0" baseline="-20833" sz="4800" spc="-630">
                <a:latin typeface="Cambria Math"/>
                <a:cs typeface="Cambria Math"/>
              </a:rPr>
              <a:t>𝑨</a:t>
            </a:r>
            <a:r>
              <a:rPr dirty="0" baseline="-9548" sz="4800" spc="-630">
                <a:latin typeface="Cambria Math"/>
                <a:cs typeface="Cambria Math"/>
              </a:rPr>
              <a:t>V</a:t>
            </a:r>
            <a:r>
              <a:rPr dirty="0" sz="2300" spc="-420">
                <a:latin typeface="Cambria Math"/>
                <a:cs typeface="Cambria Math"/>
              </a:rPr>
              <a:t>(        </a:t>
            </a:r>
            <a:r>
              <a:rPr dirty="0" baseline="-20833" sz="4800">
                <a:latin typeface="Cambria Math"/>
                <a:cs typeface="Cambria Math"/>
              </a:rPr>
              <a:t>𝑿</a:t>
            </a:r>
            <a:r>
              <a:rPr dirty="0" baseline="-20833" sz="4800" spc="202">
                <a:latin typeface="Cambria Math"/>
                <a:cs typeface="Cambria Math"/>
              </a:rPr>
              <a:t> </a:t>
            </a:r>
            <a:r>
              <a:rPr dirty="0" baseline="-20833" sz="4800" spc="135">
                <a:latin typeface="Cambria Math"/>
                <a:cs typeface="Cambria Math"/>
              </a:rPr>
              <a:t>𝑾</a:t>
            </a:r>
            <a:r>
              <a:rPr dirty="0" sz="2300" spc="90">
                <a:latin typeface="Cambria Math"/>
                <a:cs typeface="Cambria Math"/>
              </a:rPr>
              <a:t>C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3/13/21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53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618108" y="2363724"/>
            <a:ext cx="7652384" cy="2459990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332740" marR="5080" indent="-320040">
              <a:lnSpc>
                <a:spcPts val="3820"/>
              </a:lnSpc>
              <a:spcBef>
                <a:spcPts val="24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>
                <a:latin typeface="Calibri"/>
                <a:cs typeface="Calibri"/>
              </a:rPr>
              <a:t>Notice </a:t>
            </a:r>
            <a:r>
              <a:rPr dirty="0" sz="3200" spc="-420">
                <a:latin typeface="Cambria Math"/>
                <a:cs typeface="Cambria Math"/>
              </a:rPr>
              <a:t>𝑨</a:t>
            </a:r>
            <a:r>
              <a:rPr dirty="0" baseline="10416" sz="4800" spc="-630">
                <a:latin typeface="Cambria Math"/>
                <a:cs typeface="Cambria Math"/>
              </a:rPr>
              <a:t>V</a:t>
            </a:r>
            <a:r>
              <a:rPr dirty="0" baseline="28985" sz="3450" spc="-630">
                <a:latin typeface="Cambria Math"/>
                <a:cs typeface="Cambria Math"/>
              </a:rPr>
              <a:t>( </a:t>
            </a:r>
            <a:r>
              <a:rPr dirty="0" sz="3200">
                <a:latin typeface="Cambria Math"/>
                <a:cs typeface="Cambria Math"/>
              </a:rPr>
              <a:t>𝑿 </a:t>
            </a:r>
            <a:r>
              <a:rPr dirty="0" sz="3200" spc="-5">
                <a:latin typeface="Calibri"/>
                <a:cs typeface="Calibri"/>
              </a:rPr>
              <a:t>does not </a:t>
            </a:r>
            <a:r>
              <a:rPr dirty="0" sz="3200" spc="-15">
                <a:latin typeface="Calibri"/>
                <a:cs typeface="Calibri"/>
              </a:rPr>
              <a:t>contain </a:t>
            </a:r>
            <a:r>
              <a:rPr dirty="0" sz="3200" spc="-20">
                <a:latin typeface="Calibri"/>
                <a:cs typeface="Calibri"/>
              </a:rPr>
              <a:t>any </a:t>
            </a:r>
            <a:r>
              <a:rPr dirty="0" sz="3200" spc="-5">
                <a:latin typeface="Calibri"/>
                <a:cs typeface="Calibri"/>
              </a:rPr>
              <a:t>learnable  </a:t>
            </a:r>
            <a:r>
              <a:rPr dirty="0" sz="3200" spc="-20">
                <a:latin typeface="Calibri"/>
                <a:cs typeface="Calibri"/>
              </a:rPr>
              <a:t>parameters; </a:t>
            </a:r>
            <a:r>
              <a:rPr dirty="0" sz="3200" spc="-5">
                <a:latin typeface="Calibri"/>
                <a:cs typeface="Calibri"/>
              </a:rPr>
              <a:t>hence, </a:t>
            </a:r>
            <a:r>
              <a:rPr dirty="0" sz="3200">
                <a:latin typeface="Calibri"/>
                <a:cs typeface="Calibri"/>
              </a:rPr>
              <a:t>it </a:t>
            </a:r>
            <a:r>
              <a:rPr dirty="0" sz="3200" spc="-15" b="1">
                <a:solidFill>
                  <a:srgbClr val="D60093"/>
                </a:solidFill>
                <a:latin typeface="Calibri"/>
                <a:cs typeface="Calibri"/>
              </a:rPr>
              <a:t>can </a:t>
            </a: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be</a:t>
            </a:r>
            <a:r>
              <a:rPr dirty="0" sz="3200" spc="60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200" spc="-15" b="1">
                <a:solidFill>
                  <a:srgbClr val="D60093"/>
                </a:solidFill>
                <a:latin typeface="Calibri"/>
                <a:cs typeface="Calibri"/>
              </a:rPr>
              <a:t>pre-computed.</a:t>
            </a:r>
            <a:endParaRPr sz="3200">
              <a:latin typeface="Calibri"/>
              <a:cs typeface="Calibri"/>
            </a:endParaRPr>
          </a:p>
          <a:p>
            <a:pPr lvl="1" marL="625475" marR="206375" indent="-274320">
              <a:lnSpc>
                <a:spcPct val="101400"/>
              </a:lnSpc>
              <a:spcBef>
                <a:spcPts val="464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20">
                <a:latin typeface="Calibri"/>
                <a:cs typeface="Calibri"/>
              </a:rPr>
              <a:t>Efficiently </a:t>
            </a:r>
            <a:r>
              <a:rPr dirty="0" sz="2800" spc="-10">
                <a:latin typeface="Calibri"/>
                <a:cs typeface="Calibri"/>
              </a:rPr>
              <a:t>computable </a:t>
            </a:r>
            <a:r>
              <a:rPr dirty="0" sz="2800" spc="-5">
                <a:latin typeface="Calibri"/>
                <a:cs typeface="Calibri"/>
              </a:rPr>
              <a:t>as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5">
                <a:latin typeface="Calibri"/>
                <a:cs typeface="Calibri"/>
              </a:rPr>
              <a:t>sequence of </a:t>
            </a:r>
            <a:r>
              <a:rPr dirty="0" sz="2800" spc="-95">
                <a:latin typeface="Calibri"/>
                <a:cs typeface="Calibri"/>
              </a:rPr>
              <a:t>sparse-  </a:t>
            </a:r>
            <a:r>
              <a:rPr dirty="0" sz="2800" spc="-10">
                <a:latin typeface="Calibri"/>
                <a:cs typeface="Calibri"/>
              </a:rPr>
              <a:t>matrix </a:t>
            </a:r>
            <a:r>
              <a:rPr dirty="0" sz="2800" spc="-15">
                <a:latin typeface="Calibri"/>
                <a:cs typeface="Calibri"/>
              </a:rPr>
              <a:t>vector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products: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74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>
                <a:latin typeface="Calibri"/>
                <a:cs typeface="Calibri"/>
              </a:rPr>
              <a:t>Do </a:t>
            </a:r>
            <a:r>
              <a:rPr dirty="0" sz="2800">
                <a:latin typeface="Cambria Math"/>
                <a:cs typeface="Cambria Math"/>
              </a:rPr>
              <a:t>𝑿 ← </a:t>
            </a:r>
            <a:r>
              <a:rPr dirty="0" sz="2800" spc="-765">
                <a:latin typeface="Cambria Math"/>
                <a:cs typeface="Cambria Math"/>
              </a:rPr>
              <a:t>𝑨</a:t>
            </a:r>
            <a:r>
              <a:rPr dirty="0" baseline="10912" sz="4200" spc="-1147">
                <a:latin typeface="Cambria Math"/>
                <a:cs typeface="Cambria Math"/>
              </a:rPr>
              <a:t>S</a:t>
            </a:r>
            <a:r>
              <a:rPr dirty="0" baseline="10912" sz="4200" spc="157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𝑿 </a:t>
            </a:r>
            <a:r>
              <a:rPr dirty="0" sz="2800" spc="-25">
                <a:latin typeface="Calibri"/>
                <a:cs typeface="Calibri"/>
              </a:rPr>
              <a:t>for </a:t>
            </a:r>
            <a:r>
              <a:rPr dirty="0" sz="2800">
                <a:latin typeface="Cambria Math"/>
                <a:cs typeface="Cambria Math"/>
              </a:rPr>
              <a:t>𝐾</a:t>
            </a:r>
            <a:r>
              <a:rPr dirty="0" sz="2800" spc="385">
                <a:latin typeface="Cambria Math"/>
                <a:cs typeface="Cambria Math"/>
              </a:rPr>
              <a:t> </a:t>
            </a:r>
            <a:r>
              <a:rPr dirty="0" sz="2800" spc="-5">
                <a:latin typeface="Calibri"/>
                <a:cs typeface="Calibri"/>
              </a:rPr>
              <a:t>times.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41375"/>
            <a:ext cx="4748784" cy="563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60931"/>
            <a:ext cx="6854190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  <a:tab pos="1325880" algn="l"/>
              </a:tabLst>
            </a:pPr>
            <a:r>
              <a:rPr dirty="0" spc="-10"/>
              <a:t>Let</a:t>
            </a:r>
            <a:r>
              <a:rPr dirty="0" spc="0"/>
              <a:t> </a:t>
            </a:r>
            <a:r>
              <a:rPr dirty="0" spc="-1070">
                <a:latin typeface="Cambria Math"/>
                <a:cs typeface="Cambria Math"/>
              </a:rPr>
              <a:t>𝑿</a:t>
            </a:r>
            <a:r>
              <a:rPr dirty="0" baseline="10416" sz="4800" spc="-1604">
                <a:latin typeface="Cambria Math"/>
                <a:cs typeface="Cambria Math"/>
              </a:rPr>
              <a:t>V	</a:t>
            </a:r>
            <a:r>
              <a:rPr dirty="0" sz="3200">
                <a:latin typeface="Cambria Math"/>
                <a:cs typeface="Cambria Math"/>
              </a:rPr>
              <a:t>= </a:t>
            </a:r>
            <a:r>
              <a:rPr dirty="0" sz="3200" spc="-420">
                <a:latin typeface="Cambria Math"/>
                <a:cs typeface="Cambria Math"/>
              </a:rPr>
              <a:t>𝑨</a:t>
            </a:r>
            <a:r>
              <a:rPr dirty="0" baseline="10416" sz="4800" spc="-630">
                <a:latin typeface="Cambria Math"/>
                <a:cs typeface="Cambria Math"/>
              </a:rPr>
              <a:t>V</a:t>
            </a:r>
            <a:r>
              <a:rPr dirty="0" baseline="28985" sz="3450" spc="-630">
                <a:latin typeface="Cambria Math"/>
                <a:cs typeface="Cambria Math"/>
              </a:rPr>
              <a:t>(        </a:t>
            </a:r>
            <a:r>
              <a:rPr dirty="0" sz="3200">
                <a:latin typeface="Cambria Math"/>
                <a:cs typeface="Cambria Math"/>
              </a:rPr>
              <a:t>𝑿 </a:t>
            </a:r>
            <a:r>
              <a:rPr dirty="0" sz="3200"/>
              <a:t>be </a:t>
            </a:r>
            <a:r>
              <a:rPr dirty="0" sz="3200" spc="-10"/>
              <a:t>pre-computed</a:t>
            </a:r>
            <a:r>
              <a:rPr dirty="0" sz="3200" spc="114"/>
              <a:t> </a:t>
            </a:r>
            <a:r>
              <a:rPr dirty="0" sz="3200" spc="-5"/>
              <a:t>matrix.</a:t>
            </a:r>
            <a:endParaRPr sz="3200">
              <a:latin typeface="Cambria Math"/>
              <a:cs typeface="Cambria Math"/>
            </a:endParaRP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/>
              <a:t>Simplified </a:t>
            </a:r>
            <a:r>
              <a:rPr dirty="0" spc="-40"/>
              <a:t>GCN’s </a:t>
            </a:r>
            <a:r>
              <a:rPr dirty="0" spc="-5"/>
              <a:t>final embedding</a:t>
            </a:r>
            <a:r>
              <a:rPr dirty="0" spc="60"/>
              <a:t> </a:t>
            </a:r>
            <a:r>
              <a:rPr dirty="0"/>
              <a:t>is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3/13/21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53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618108" y="2068067"/>
            <a:ext cx="6729095" cy="2268855"/>
          </a:xfrm>
          <a:prstGeom prst="rect">
            <a:avLst/>
          </a:prstGeom>
        </p:spPr>
        <p:txBody>
          <a:bodyPr wrap="square" lIns="0" tIns="158750" rIns="0" bIns="0" rtlCol="0" vert="horz">
            <a:spAutoFit/>
          </a:bodyPr>
          <a:lstStyle/>
          <a:p>
            <a:pPr marL="2717165">
              <a:lnSpc>
                <a:spcPct val="100000"/>
              </a:lnSpc>
              <a:spcBef>
                <a:spcPts val="1250"/>
              </a:spcBef>
            </a:pPr>
            <a:r>
              <a:rPr dirty="0" baseline="-20833" sz="4800" spc="300">
                <a:latin typeface="Cambria Math"/>
                <a:cs typeface="Cambria Math"/>
              </a:rPr>
              <a:t>𝑯</a:t>
            </a:r>
            <a:r>
              <a:rPr dirty="0" sz="2300" spc="200">
                <a:latin typeface="Cambria Math"/>
                <a:cs typeface="Cambria Math"/>
              </a:rPr>
              <a:t>(() </a:t>
            </a:r>
            <a:r>
              <a:rPr dirty="0" baseline="-20833" sz="4800">
                <a:latin typeface="Cambria Math"/>
                <a:cs typeface="Cambria Math"/>
              </a:rPr>
              <a:t>= </a:t>
            </a:r>
            <a:r>
              <a:rPr dirty="0" baseline="-20833" sz="4800" spc="-1604">
                <a:latin typeface="Cambria Math"/>
                <a:cs typeface="Cambria Math"/>
              </a:rPr>
              <a:t>𝑿</a:t>
            </a:r>
            <a:r>
              <a:rPr dirty="0" baseline="-10416" sz="4800" spc="-1604">
                <a:latin typeface="Cambria Math"/>
                <a:cs typeface="Cambria Math"/>
              </a:rPr>
              <a:t>V</a:t>
            </a:r>
            <a:r>
              <a:rPr dirty="0" baseline="-10416" sz="4800" spc="502">
                <a:latin typeface="Cambria Math"/>
                <a:cs typeface="Cambria Math"/>
              </a:rPr>
              <a:t> </a:t>
            </a:r>
            <a:r>
              <a:rPr dirty="0" baseline="-20833" sz="4800" spc="135">
                <a:latin typeface="Cambria Math"/>
                <a:cs typeface="Cambria Math"/>
              </a:rPr>
              <a:t>𝑾</a:t>
            </a:r>
            <a:r>
              <a:rPr dirty="0" sz="2300" spc="90">
                <a:latin typeface="Cambria Math"/>
                <a:cs typeface="Cambria Math"/>
              </a:rPr>
              <a:t>C</a:t>
            </a:r>
            <a:endParaRPr sz="2300">
              <a:latin typeface="Cambria Math"/>
              <a:cs typeface="Cambria Math"/>
            </a:endParaRPr>
          </a:p>
          <a:p>
            <a:pPr marL="332740" marR="5080" indent="-320040">
              <a:lnSpc>
                <a:spcPts val="3790"/>
              </a:lnSpc>
              <a:spcBef>
                <a:spcPts val="131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25">
                <a:latin typeface="Calibri"/>
                <a:cs typeface="Calibri"/>
              </a:rPr>
              <a:t>It’s </a:t>
            </a:r>
            <a:r>
              <a:rPr dirty="0" sz="3200" spc="-15">
                <a:latin typeface="Calibri"/>
                <a:cs typeface="Calibri"/>
              </a:rPr>
              <a:t>just </a:t>
            </a:r>
            <a:r>
              <a:rPr dirty="0" sz="3200">
                <a:latin typeface="Calibri"/>
                <a:cs typeface="Calibri"/>
              </a:rPr>
              <a:t>a </a:t>
            </a: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linear </a:t>
            </a:r>
            <a:r>
              <a:rPr dirty="0" sz="3200" spc="-15" b="1">
                <a:solidFill>
                  <a:srgbClr val="D60093"/>
                </a:solidFill>
                <a:latin typeface="Calibri"/>
                <a:cs typeface="Calibri"/>
              </a:rPr>
              <a:t>transformation </a:t>
            </a:r>
            <a:r>
              <a:rPr dirty="0" sz="3200" b="1">
                <a:solidFill>
                  <a:srgbClr val="D60093"/>
                </a:solidFill>
                <a:latin typeface="Calibri"/>
                <a:cs typeface="Calibri"/>
              </a:rPr>
              <a:t>of </a:t>
            </a:r>
            <a:r>
              <a:rPr dirty="0" sz="3200" spc="-15" b="1">
                <a:solidFill>
                  <a:srgbClr val="D60093"/>
                </a:solidFill>
                <a:latin typeface="Calibri"/>
                <a:cs typeface="Calibri"/>
              </a:rPr>
              <a:t>pre-  </a:t>
            </a:r>
            <a:r>
              <a:rPr dirty="0" sz="3200" spc="-10" b="1">
                <a:solidFill>
                  <a:srgbClr val="D60093"/>
                </a:solidFill>
                <a:latin typeface="Calibri"/>
                <a:cs typeface="Calibri"/>
              </a:rPr>
              <a:t>computed</a:t>
            </a:r>
            <a:r>
              <a:rPr dirty="0" sz="3200" spc="-70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200" spc="-10" b="1">
                <a:solidFill>
                  <a:srgbClr val="D60093"/>
                </a:solidFill>
                <a:latin typeface="Calibri"/>
                <a:cs typeface="Calibri"/>
              </a:rPr>
              <a:t>matrix!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377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>
                <a:latin typeface="Calibri"/>
                <a:cs typeface="Calibri"/>
              </a:rPr>
              <a:t>Back </a:t>
            </a:r>
            <a:r>
              <a:rPr dirty="0" sz="3200" spc="-15">
                <a:latin typeface="Calibri"/>
                <a:cs typeface="Calibri"/>
              </a:rPr>
              <a:t>to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5">
                <a:latin typeface="Calibri"/>
                <a:cs typeface="Calibri"/>
              </a:rPr>
              <a:t>node embedding</a:t>
            </a:r>
            <a:r>
              <a:rPr dirty="0" sz="3200" spc="50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form: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99497" y="4626864"/>
            <a:ext cx="191135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530">
                <a:latin typeface="Cambria Math"/>
                <a:cs typeface="Cambria Math"/>
              </a:rPr>
              <a:t>-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74072" y="4192523"/>
            <a:ext cx="167449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9513" sz="4800" spc="315">
                <a:latin typeface="Cambria Math"/>
                <a:cs typeface="Cambria Math"/>
              </a:rPr>
              <a:t>ℎ</a:t>
            </a:r>
            <a:r>
              <a:rPr dirty="0" sz="2300" spc="210">
                <a:latin typeface="Cambria Math"/>
                <a:cs typeface="Cambria Math"/>
              </a:rPr>
              <a:t>(() </a:t>
            </a:r>
            <a:r>
              <a:rPr dirty="0" baseline="-29513" sz="4800">
                <a:latin typeface="Cambria Math"/>
                <a:cs typeface="Cambria Math"/>
              </a:rPr>
              <a:t>=</a:t>
            </a:r>
            <a:r>
              <a:rPr dirty="0" baseline="-29513" sz="4800" spc="165">
                <a:latin typeface="Cambria Math"/>
                <a:cs typeface="Cambria Math"/>
              </a:rPr>
              <a:t> </a:t>
            </a:r>
            <a:r>
              <a:rPr dirty="0" baseline="-29513" sz="4800">
                <a:latin typeface="Cambria Math"/>
                <a:cs typeface="Cambria Math"/>
              </a:rPr>
              <a:t>𝑾</a:t>
            </a:r>
            <a:endParaRPr baseline="-29513" sz="48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05400" y="4343400"/>
            <a:ext cx="533400" cy="609600"/>
          </a:xfrm>
          <a:prstGeom prst="rect">
            <a:avLst/>
          </a:prstGeom>
          <a:ln w="38100">
            <a:solidFill>
              <a:srgbClr val="008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704"/>
              </a:lnSpc>
            </a:pPr>
            <a:r>
              <a:rPr dirty="0" baseline="-10416" sz="4800" spc="-975">
                <a:latin typeface="Cambria Math"/>
                <a:cs typeface="Cambria Math"/>
              </a:rPr>
              <a:t>𝑿</a:t>
            </a:r>
            <a:r>
              <a:rPr dirty="0" sz="3200" spc="-650">
                <a:latin typeface="Cambria Math"/>
                <a:cs typeface="Cambria Math"/>
              </a:rPr>
              <a:t>V</a:t>
            </a:r>
            <a:r>
              <a:rPr dirty="0" baseline="-30193" sz="3450" spc="-975">
                <a:latin typeface="Cambria Math"/>
                <a:cs typeface="Cambria Math"/>
              </a:rPr>
              <a:t>𝒗</a:t>
            </a:r>
            <a:endParaRPr baseline="-30193" sz="345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8108" y="4938014"/>
            <a:ext cx="8461375" cy="1443990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3130550">
              <a:lnSpc>
                <a:spcPct val="100000"/>
              </a:lnSpc>
              <a:spcBef>
                <a:spcPts val="380"/>
              </a:spcBef>
            </a:pPr>
            <a:r>
              <a:rPr dirty="0" sz="2400" spc="-5">
                <a:solidFill>
                  <a:srgbClr val="008000"/>
                </a:solidFill>
                <a:latin typeface="Arial"/>
                <a:cs typeface="Arial"/>
              </a:rPr>
              <a:t>Pre-computed feature vector for </a:t>
            </a:r>
            <a:r>
              <a:rPr dirty="0" sz="2400">
                <a:solidFill>
                  <a:srgbClr val="008000"/>
                </a:solidFill>
                <a:latin typeface="Arial"/>
                <a:cs typeface="Arial"/>
              </a:rPr>
              <a:t>node</a:t>
            </a:r>
            <a:r>
              <a:rPr dirty="0" sz="2400" spc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008000"/>
                </a:solidFill>
                <a:latin typeface="Cambria Math"/>
                <a:cs typeface="Cambria Math"/>
              </a:rPr>
              <a:t>𝑣</a:t>
            </a:r>
            <a:endParaRPr sz="2400">
              <a:latin typeface="Cambria Math"/>
              <a:cs typeface="Cambria Math"/>
            </a:endParaRPr>
          </a:p>
          <a:p>
            <a:pPr marL="332740" marR="1170940" indent="-320040">
              <a:lnSpc>
                <a:spcPts val="3790"/>
              </a:lnSpc>
              <a:spcBef>
                <a:spcPts val="54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>
                <a:latin typeface="Calibri"/>
                <a:cs typeface="Calibri"/>
              </a:rPr>
              <a:t>Embedding of </a:t>
            </a:r>
            <a:r>
              <a:rPr dirty="0" sz="3200" spc="-10">
                <a:solidFill>
                  <a:srgbClr val="008000"/>
                </a:solidFill>
                <a:latin typeface="Arial"/>
                <a:cs typeface="Arial"/>
              </a:rPr>
              <a:t>node </a:t>
            </a:r>
            <a:r>
              <a:rPr dirty="0" sz="3200">
                <a:solidFill>
                  <a:srgbClr val="008000"/>
                </a:solidFill>
                <a:latin typeface="Cambria Math"/>
                <a:cs typeface="Cambria Math"/>
              </a:rPr>
              <a:t>𝑣 </a:t>
            </a:r>
            <a:r>
              <a:rPr dirty="0" sz="3200" spc="-5">
                <a:latin typeface="Calibri"/>
                <a:cs typeface="Calibri"/>
              </a:rPr>
              <a:t>only depends on </a:t>
            </a:r>
            <a:r>
              <a:rPr dirty="0" sz="3200">
                <a:latin typeface="Calibri"/>
                <a:cs typeface="Calibri"/>
              </a:rPr>
              <a:t>its  </a:t>
            </a:r>
            <a:r>
              <a:rPr dirty="0" sz="3200" spc="-10">
                <a:latin typeface="Calibri"/>
                <a:cs typeface="Calibri"/>
              </a:rPr>
              <a:t>own (pre-processed)</a:t>
            </a:r>
            <a:r>
              <a:rPr dirty="0" sz="3200" spc="-25">
                <a:latin typeface="Calibri"/>
                <a:cs typeface="Calibri"/>
              </a:rPr>
              <a:t> feature!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41375"/>
            <a:ext cx="4742688" cy="563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60932"/>
            <a:ext cx="7553959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  <a:tab pos="1743710" algn="l"/>
              </a:tabLst>
            </a:pPr>
            <a:r>
              <a:rPr dirty="0" spc="-5"/>
              <a:t>Once</a:t>
            </a:r>
            <a:r>
              <a:rPr dirty="0"/>
              <a:t> </a:t>
            </a:r>
            <a:r>
              <a:rPr dirty="0" spc="-1070">
                <a:latin typeface="Cambria Math"/>
                <a:cs typeface="Cambria Math"/>
              </a:rPr>
              <a:t>𝑿</a:t>
            </a:r>
            <a:r>
              <a:rPr dirty="0" baseline="10416" sz="4800" spc="-1604">
                <a:latin typeface="Cambria Math"/>
                <a:cs typeface="Cambria Math"/>
              </a:rPr>
              <a:t>V	</a:t>
            </a:r>
            <a:r>
              <a:rPr dirty="0" sz="3200"/>
              <a:t>is </a:t>
            </a:r>
            <a:r>
              <a:rPr dirty="0" sz="3200" spc="-15"/>
              <a:t>pre-computed, </a:t>
            </a:r>
            <a:r>
              <a:rPr dirty="0" sz="3200" spc="-5"/>
              <a:t>embeddings of</a:t>
            </a:r>
            <a:r>
              <a:rPr dirty="0" sz="3200" spc="65"/>
              <a:t> </a:t>
            </a:r>
            <a:r>
              <a:rPr dirty="0" sz="3200">
                <a:latin typeface="Cambria Math"/>
                <a:cs typeface="Cambria Math"/>
              </a:rPr>
              <a:t>𝑀</a:t>
            </a:r>
            <a:endParaRPr sz="3200">
              <a:latin typeface="Cambria Math"/>
              <a:cs typeface="Cambria Math"/>
            </a:endParaRPr>
          </a:p>
          <a:p>
            <a:pPr marL="332740">
              <a:lnSpc>
                <a:spcPts val="3815"/>
              </a:lnSpc>
            </a:pPr>
            <a:r>
              <a:rPr dirty="0" spc="-5"/>
              <a:t>nodes </a:t>
            </a:r>
            <a:r>
              <a:rPr dirty="0" spc="-15"/>
              <a:t>can </a:t>
            </a:r>
            <a:r>
              <a:rPr dirty="0"/>
              <a:t>be </a:t>
            </a:r>
            <a:r>
              <a:rPr dirty="0" spc="-20"/>
              <a:t>generated </a:t>
            </a:r>
            <a:r>
              <a:rPr dirty="0"/>
              <a:t>in time </a:t>
            </a:r>
            <a:r>
              <a:rPr dirty="0" spc="-5"/>
              <a:t>linear </a:t>
            </a:r>
            <a:r>
              <a:rPr dirty="0"/>
              <a:t>in</a:t>
            </a:r>
            <a:r>
              <a:rPr dirty="0" spc="35"/>
              <a:t> </a:t>
            </a:r>
            <a:r>
              <a:rPr dirty="0" spc="30">
                <a:latin typeface="Cambria Math"/>
                <a:cs typeface="Cambria Math"/>
              </a:rPr>
              <a:t>𝑀: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3/13/21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53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956563" y="2415540"/>
            <a:ext cx="7578725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600" spc="-25">
                <a:latin typeface="Cambria Math"/>
                <a:cs typeface="Cambria Math"/>
              </a:rPr>
              <a:t>Given </a:t>
            </a:r>
            <a:r>
              <a:rPr dirty="0" sz="2600">
                <a:latin typeface="Cambria Math"/>
                <a:cs typeface="Cambria Math"/>
              </a:rPr>
              <a:t>𝑀 </a:t>
            </a:r>
            <a:r>
              <a:rPr dirty="0" sz="2600" spc="-10">
                <a:latin typeface="Cambria Math"/>
                <a:cs typeface="Cambria Math"/>
              </a:rPr>
              <a:t>nodes </a:t>
            </a:r>
            <a:r>
              <a:rPr dirty="0" sz="2600" spc="25">
                <a:latin typeface="Cambria Math"/>
                <a:cs typeface="Cambria Math"/>
              </a:rPr>
              <a:t>{𝑣</a:t>
            </a:r>
            <a:r>
              <a:rPr dirty="0" baseline="-16081" sz="2850" spc="37">
                <a:latin typeface="Cambria Math"/>
                <a:cs typeface="Cambria Math"/>
              </a:rPr>
              <a:t>$</a:t>
            </a:r>
            <a:r>
              <a:rPr dirty="0" sz="2600" spc="25">
                <a:latin typeface="Cambria Math"/>
                <a:cs typeface="Cambria Math"/>
              </a:rPr>
              <a:t>, </a:t>
            </a:r>
            <a:r>
              <a:rPr dirty="0" sz="2600" spc="-185">
                <a:latin typeface="Cambria Math"/>
                <a:cs typeface="Cambria Math"/>
              </a:rPr>
              <a:t>𝑣</a:t>
            </a:r>
            <a:r>
              <a:rPr dirty="0" baseline="-16081" sz="2850" spc="-277">
                <a:latin typeface="Cambria Math"/>
                <a:cs typeface="Cambria Math"/>
              </a:rPr>
              <a:t>%</a:t>
            </a:r>
            <a:r>
              <a:rPr dirty="0" sz="2600" spc="-185">
                <a:latin typeface="Cambria Math"/>
                <a:cs typeface="Cambria Math"/>
              </a:rPr>
              <a:t>, </a:t>
            </a:r>
            <a:r>
              <a:rPr dirty="0" sz="2600">
                <a:latin typeface="Cambria Math"/>
                <a:cs typeface="Cambria Math"/>
              </a:rPr>
              <a:t>… , </a:t>
            </a:r>
            <a:r>
              <a:rPr dirty="0" sz="2600" spc="105">
                <a:latin typeface="Cambria Math"/>
                <a:cs typeface="Cambria Math"/>
              </a:rPr>
              <a:t>𝑣</a:t>
            </a:r>
            <a:r>
              <a:rPr dirty="0" baseline="-16081" sz="2850" spc="157">
                <a:latin typeface="Cambria Math"/>
                <a:cs typeface="Cambria Math"/>
              </a:rPr>
              <a:t>&amp;</a:t>
            </a:r>
            <a:r>
              <a:rPr dirty="0" sz="2600" spc="105">
                <a:latin typeface="Cambria Math"/>
                <a:cs typeface="Cambria Math"/>
              </a:rPr>
              <a:t>},</a:t>
            </a:r>
            <a:r>
              <a:rPr dirty="0" sz="2600" spc="-305">
                <a:latin typeface="Cambria Math"/>
                <a:cs typeface="Cambria Math"/>
              </a:rPr>
              <a:t> </a:t>
            </a:r>
            <a:r>
              <a:rPr dirty="0" sz="2600" spc="-5">
                <a:latin typeface="Cambria Math"/>
                <a:cs typeface="Cambria Math"/>
              </a:rPr>
              <a:t>their embeddings </a:t>
            </a:r>
            <a:r>
              <a:rPr dirty="0" sz="2600" spc="-135">
                <a:latin typeface="Cambria Math"/>
                <a:cs typeface="Cambria Math"/>
              </a:rPr>
              <a:t>are</a:t>
            </a:r>
            <a:endParaRPr sz="260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66176" y="3154172"/>
            <a:ext cx="2501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65">
                <a:latin typeface="Cambria Math"/>
                <a:cs typeface="Cambria Math"/>
              </a:rPr>
              <a:t>6</a:t>
            </a:r>
            <a:r>
              <a:rPr dirty="0" baseline="-13888" sz="2100" spc="637">
                <a:latin typeface="Cambria Math"/>
                <a:cs typeface="Cambria Math"/>
              </a:rPr>
              <a:t>!</a:t>
            </a:r>
            <a:endParaRPr baseline="-13888" sz="21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61207" y="3235451"/>
            <a:ext cx="13144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425">
                <a:latin typeface="Cambria Math"/>
                <a:cs typeface="Cambria Math"/>
              </a:rPr>
              <a:t>!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67713" y="2998723"/>
            <a:ext cx="20269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E66C7D"/>
              </a:buClr>
              <a:buFont typeface="Malgun Gothic"/>
              <a:buChar char="▪"/>
              <a:tabLst>
                <a:tab pos="241300" algn="l"/>
              </a:tabLst>
            </a:pPr>
            <a:r>
              <a:rPr dirty="0" sz="2400" spc="229">
                <a:latin typeface="Cambria Math"/>
                <a:cs typeface="Cambria Math"/>
              </a:rPr>
              <a:t>ℎ</a:t>
            </a:r>
            <a:r>
              <a:rPr dirty="0" baseline="38580" sz="2700" spc="345">
                <a:latin typeface="Cambria Math"/>
                <a:cs typeface="Cambria Math"/>
              </a:rPr>
              <a:t>(,) </a:t>
            </a:r>
            <a:r>
              <a:rPr dirty="0" sz="2400">
                <a:latin typeface="Cambria Math"/>
                <a:cs typeface="Cambria Math"/>
              </a:rPr>
              <a:t>= </a:t>
            </a:r>
            <a:r>
              <a:rPr dirty="0" sz="2400" spc="-370">
                <a:latin typeface="Cambria Math"/>
                <a:cs typeface="Cambria Math"/>
              </a:rPr>
              <a:t>𝑾𝑿</a:t>
            </a:r>
            <a:r>
              <a:rPr dirty="0" baseline="10416" sz="3600" spc="-555">
                <a:latin typeface="Cambria Math"/>
                <a:cs typeface="Cambria Math"/>
              </a:rPr>
              <a:t>A</a:t>
            </a:r>
            <a:r>
              <a:rPr dirty="0" baseline="-15432" sz="2700" spc="-555">
                <a:latin typeface="Cambria Math"/>
                <a:cs typeface="Cambria Math"/>
              </a:rPr>
              <a:t>6                          </a:t>
            </a:r>
            <a:r>
              <a:rPr dirty="0" sz="2400" spc="-60">
                <a:latin typeface="Calibri"/>
                <a:cs typeface="Calibri"/>
              </a:rPr>
              <a:t>,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61207" y="3817620"/>
            <a:ext cx="13144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275">
                <a:latin typeface="Cambria Math"/>
                <a:cs typeface="Cambria Math"/>
              </a:rPr>
              <a:t>"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67713" y="3583940"/>
            <a:ext cx="20269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E66C7D"/>
              </a:buClr>
              <a:buFont typeface="Malgun Gothic"/>
              <a:buChar char="▪"/>
              <a:tabLst>
                <a:tab pos="241300" algn="l"/>
              </a:tabLst>
            </a:pPr>
            <a:r>
              <a:rPr dirty="0" sz="2400" spc="229">
                <a:latin typeface="Cambria Math"/>
                <a:cs typeface="Cambria Math"/>
              </a:rPr>
              <a:t>ℎ</a:t>
            </a:r>
            <a:r>
              <a:rPr dirty="0" baseline="38580" sz="2700" spc="345">
                <a:latin typeface="Cambria Math"/>
                <a:cs typeface="Cambria Math"/>
              </a:rPr>
              <a:t>(,) </a:t>
            </a:r>
            <a:r>
              <a:rPr dirty="0" sz="2400">
                <a:latin typeface="Cambria Math"/>
                <a:cs typeface="Cambria Math"/>
              </a:rPr>
              <a:t>= </a:t>
            </a:r>
            <a:r>
              <a:rPr dirty="0" sz="2400" spc="-370">
                <a:latin typeface="Cambria Math"/>
                <a:cs typeface="Cambria Math"/>
              </a:rPr>
              <a:t>𝑾𝑿</a:t>
            </a:r>
            <a:r>
              <a:rPr dirty="0" baseline="10416" sz="3600" spc="-555">
                <a:latin typeface="Cambria Math"/>
                <a:cs typeface="Cambria Math"/>
              </a:rPr>
              <a:t>A</a:t>
            </a:r>
            <a:r>
              <a:rPr dirty="0" baseline="-15432" sz="2700" spc="-555">
                <a:latin typeface="Cambria Math"/>
                <a:cs typeface="Cambria Math"/>
              </a:rPr>
              <a:t>6                          </a:t>
            </a:r>
            <a:r>
              <a:rPr dirty="0" sz="2400" spc="-60">
                <a:latin typeface="Calibri"/>
                <a:cs typeface="Calibri"/>
              </a:rPr>
              <a:t>,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67713" y="3695191"/>
            <a:ext cx="648335" cy="76200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410845">
              <a:lnSpc>
                <a:spcPct val="100000"/>
              </a:lnSpc>
              <a:spcBef>
                <a:spcPts val="420"/>
              </a:spcBef>
            </a:pPr>
            <a:r>
              <a:rPr dirty="0" sz="1800" spc="-65">
                <a:latin typeface="Cambria Math"/>
                <a:cs typeface="Cambria Math"/>
              </a:rPr>
              <a:t>6</a:t>
            </a:r>
            <a:r>
              <a:rPr dirty="0" baseline="-13888" sz="2100" spc="412">
                <a:latin typeface="Cambria Math"/>
                <a:cs typeface="Cambria Math"/>
              </a:rPr>
              <a:t>"</a:t>
            </a:r>
            <a:endParaRPr baseline="-13888" sz="2100">
              <a:latin typeface="Cambria Math"/>
              <a:cs typeface="Cambria Math"/>
            </a:endParaRPr>
          </a:p>
          <a:p>
            <a:pPr marL="241300" indent="-228600">
              <a:lnSpc>
                <a:spcPct val="100000"/>
              </a:lnSpc>
              <a:spcBef>
                <a:spcPts val="425"/>
              </a:spcBef>
              <a:buClr>
                <a:srgbClr val="E66C7D"/>
              </a:buClr>
              <a:buFont typeface="Malgun Gothic"/>
              <a:buChar char="▪"/>
              <a:tabLst>
                <a:tab pos="241300" algn="l"/>
              </a:tabLst>
            </a:pPr>
            <a:r>
              <a:rPr dirty="0" sz="2400">
                <a:latin typeface="Calibri"/>
                <a:cs typeface="Calibri"/>
              </a:rPr>
              <a:t>…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66176" y="4754371"/>
            <a:ext cx="3244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5">
                <a:latin typeface="Cambria Math"/>
                <a:cs typeface="Cambria Math"/>
              </a:rPr>
              <a:t>6</a:t>
            </a:r>
            <a:r>
              <a:rPr dirty="0" baseline="-13888" sz="2100" spc="750">
                <a:latin typeface="Cambria Math"/>
                <a:cs typeface="Cambria Math"/>
              </a:rPr>
              <a:t>#</a:t>
            </a:r>
            <a:endParaRPr baseline="-13888" sz="21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68129" y="4835652"/>
            <a:ext cx="19939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500">
                <a:latin typeface="Cambria Math"/>
                <a:cs typeface="Cambria Math"/>
              </a:rPr>
              <a:t>#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67713" y="4598923"/>
            <a:ext cx="21043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E66C7D"/>
              </a:buClr>
              <a:buFont typeface="Malgun Gothic"/>
              <a:buChar char="▪"/>
              <a:tabLst>
                <a:tab pos="241300" algn="l"/>
                <a:tab pos="2014220" algn="l"/>
              </a:tabLst>
            </a:pPr>
            <a:r>
              <a:rPr dirty="0" sz="2400" spc="40">
                <a:latin typeface="Cambria Math"/>
                <a:cs typeface="Cambria Math"/>
              </a:rPr>
              <a:t>ℎ</a:t>
            </a:r>
            <a:r>
              <a:rPr dirty="0" baseline="38580" sz="2700" spc="-37">
                <a:latin typeface="Cambria Math"/>
                <a:cs typeface="Cambria Math"/>
              </a:rPr>
              <a:t>(</a:t>
            </a:r>
            <a:r>
              <a:rPr dirty="0" baseline="38580" sz="2700" spc="1402">
                <a:latin typeface="Cambria Math"/>
                <a:cs typeface="Cambria Math"/>
              </a:rPr>
              <a:t>,</a:t>
            </a:r>
            <a:r>
              <a:rPr dirty="0" baseline="38580" sz="2700">
                <a:latin typeface="Cambria Math"/>
                <a:cs typeface="Cambria Math"/>
              </a:rPr>
              <a:t>)</a:t>
            </a:r>
            <a:r>
              <a:rPr dirty="0" baseline="38580" sz="2700" spc="232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2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𝑾</a:t>
            </a:r>
            <a:r>
              <a:rPr dirty="0" sz="2400" spc="-1515">
                <a:latin typeface="Cambria Math"/>
                <a:cs typeface="Cambria Math"/>
              </a:rPr>
              <a:t>𝑿</a:t>
            </a:r>
            <a:r>
              <a:rPr dirty="0" baseline="10416" sz="3600" spc="15">
                <a:latin typeface="Cambria Math"/>
                <a:cs typeface="Cambria Math"/>
              </a:rPr>
              <a:t>A</a:t>
            </a:r>
            <a:r>
              <a:rPr dirty="0" baseline="-15432" sz="2700" spc="22">
                <a:latin typeface="Cambria Math"/>
                <a:cs typeface="Cambria Math"/>
              </a:rPr>
              <a:t>6</a:t>
            </a:r>
            <a:r>
              <a:rPr dirty="0" baseline="-15432" sz="2700">
                <a:latin typeface="Cambria Math"/>
                <a:cs typeface="Cambria Math"/>
              </a:rPr>
              <a:t>	</a:t>
            </a:r>
            <a:r>
              <a:rPr dirty="0" sz="240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41375"/>
            <a:ext cx="6382511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9755"/>
            <a:ext cx="825182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 </a:t>
            </a:r>
            <a:r>
              <a:rPr dirty="0" spc="-30"/>
              <a:t>summary, </a:t>
            </a:r>
            <a:r>
              <a:rPr dirty="0" spc="-5"/>
              <a:t>simplified </a:t>
            </a:r>
            <a:r>
              <a:rPr dirty="0"/>
              <a:t>GCN </a:t>
            </a:r>
            <a:r>
              <a:rPr dirty="0" spc="-10"/>
              <a:t>consists </a:t>
            </a:r>
            <a:r>
              <a:rPr dirty="0" spc="-5"/>
              <a:t>of </a:t>
            </a:r>
            <a:r>
              <a:rPr dirty="0" spc="-10" b="1">
                <a:solidFill>
                  <a:srgbClr val="C00000"/>
                </a:solidFill>
                <a:latin typeface="Calibri"/>
                <a:cs typeface="Calibri"/>
              </a:rPr>
              <a:t>two</a:t>
            </a:r>
            <a:r>
              <a:rPr dirty="0" spc="6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pc="-20" b="1">
                <a:solidFill>
                  <a:srgbClr val="C00000"/>
                </a:solidFill>
                <a:latin typeface="Calibri"/>
                <a:cs typeface="Calibri"/>
              </a:rPr>
              <a:t>steps</a:t>
            </a:r>
            <a:r>
              <a:rPr dirty="0" sz="3600" spc="-20"/>
              <a:t>: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3/13/21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53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618108" y="1766993"/>
            <a:ext cx="6546850" cy="2830195"/>
          </a:xfrm>
          <a:prstGeom prst="rect">
            <a:avLst/>
          </a:prstGeom>
        </p:spPr>
        <p:txBody>
          <a:bodyPr wrap="square" lIns="0" tIns="139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solidFill>
                  <a:srgbClr val="D60093"/>
                </a:solidFill>
                <a:latin typeface="Calibri"/>
                <a:cs typeface="Calibri"/>
              </a:rPr>
              <a:t>Pre-processing</a:t>
            </a:r>
            <a:r>
              <a:rPr dirty="0" sz="3200" spc="-70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200" spc="-20" b="1">
                <a:solidFill>
                  <a:srgbClr val="D60093"/>
                </a:solidFill>
                <a:latin typeface="Calibri"/>
                <a:cs typeface="Calibri"/>
              </a:rPr>
              <a:t>step</a:t>
            </a:r>
            <a:r>
              <a:rPr dirty="0" sz="3200" spc="-20">
                <a:latin typeface="Calibri"/>
                <a:cs typeface="Calibri"/>
              </a:rPr>
              <a:t>: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ts val="2840"/>
              </a:lnSpc>
              <a:spcBef>
                <a:spcPts val="75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400" spc="-10">
                <a:latin typeface="Calibri"/>
                <a:cs typeface="Calibri"/>
              </a:rPr>
              <a:t>Pre-compute </a:t>
            </a:r>
            <a:r>
              <a:rPr dirty="0" sz="2400" spc="-825">
                <a:latin typeface="Cambria Math"/>
                <a:cs typeface="Cambria Math"/>
              </a:rPr>
              <a:t>𝑿</a:t>
            </a:r>
            <a:r>
              <a:rPr dirty="0" baseline="10416" sz="3600" spc="-1237">
                <a:latin typeface="Cambria Math"/>
                <a:cs typeface="Cambria Math"/>
              </a:rPr>
              <a:t>A</a:t>
            </a:r>
            <a:r>
              <a:rPr dirty="0" baseline="10416" sz="3600" spc="412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 </a:t>
            </a:r>
            <a:r>
              <a:rPr dirty="0" sz="2400" spc="-195">
                <a:latin typeface="Cambria Math"/>
                <a:cs typeface="Cambria Math"/>
              </a:rPr>
              <a:t>𝑨</a:t>
            </a:r>
            <a:r>
              <a:rPr dirty="0" baseline="10416" sz="3600" spc="-292">
                <a:latin typeface="Cambria Math"/>
                <a:cs typeface="Cambria Math"/>
              </a:rPr>
              <a:t>A</a:t>
            </a:r>
            <a:r>
              <a:rPr dirty="0" baseline="26234" sz="2700" spc="-292">
                <a:latin typeface="Cambria Math"/>
                <a:cs typeface="Cambria Math"/>
              </a:rPr>
              <a:t>,   </a:t>
            </a:r>
            <a:r>
              <a:rPr dirty="0" sz="2400">
                <a:latin typeface="Cambria Math"/>
                <a:cs typeface="Cambria Math"/>
              </a:rPr>
              <a:t>𝑿. </a:t>
            </a:r>
            <a:r>
              <a:rPr dirty="0" sz="2400" spc="-5">
                <a:latin typeface="Calibri"/>
                <a:cs typeface="Calibri"/>
              </a:rPr>
              <a:t>Can </a:t>
            </a:r>
            <a:r>
              <a:rPr dirty="0" sz="2400">
                <a:latin typeface="Calibri"/>
                <a:cs typeface="Calibri"/>
              </a:rPr>
              <a:t>be </a:t>
            </a:r>
            <a:r>
              <a:rPr dirty="0" sz="2400" spc="-5">
                <a:latin typeface="Calibri"/>
                <a:cs typeface="Calibri"/>
              </a:rPr>
              <a:t>done on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5">
                <a:latin typeface="Calibri"/>
                <a:cs typeface="Calibri"/>
              </a:rPr>
              <a:t>CPU.</a:t>
            </a:r>
            <a:endParaRPr sz="2400">
              <a:latin typeface="Calibri"/>
              <a:cs typeface="Calibri"/>
            </a:endParaRPr>
          </a:p>
          <a:p>
            <a:pPr marL="332740" indent="-320040">
              <a:lnSpc>
                <a:spcPts val="380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 b="1">
                <a:solidFill>
                  <a:srgbClr val="D60093"/>
                </a:solidFill>
                <a:latin typeface="Calibri"/>
                <a:cs typeface="Calibri"/>
              </a:rPr>
              <a:t>Mini-batch training</a:t>
            </a:r>
            <a:r>
              <a:rPr dirty="0" sz="3200" spc="-10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200" spc="-20" b="1">
                <a:solidFill>
                  <a:srgbClr val="D60093"/>
                </a:solidFill>
                <a:latin typeface="Calibri"/>
                <a:cs typeface="Calibri"/>
              </a:rPr>
              <a:t>step</a:t>
            </a:r>
            <a:r>
              <a:rPr dirty="0" sz="3200" spc="-20">
                <a:latin typeface="Calibri"/>
                <a:cs typeface="Calibri"/>
              </a:rPr>
              <a:t>: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8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400" spc="-15">
                <a:latin typeface="Calibri"/>
                <a:cs typeface="Calibri"/>
              </a:rPr>
              <a:t>For </a:t>
            </a:r>
            <a:r>
              <a:rPr dirty="0" sz="2400" spc="-5">
                <a:latin typeface="Calibri"/>
                <a:cs typeface="Calibri"/>
              </a:rPr>
              <a:t>each </a:t>
            </a:r>
            <a:r>
              <a:rPr dirty="0" sz="2400" spc="-10">
                <a:latin typeface="Calibri"/>
                <a:cs typeface="Calibri"/>
              </a:rPr>
              <a:t>mini-batch, randomly-sample </a:t>
            </a:r>
            <a:r>
              <a:rPr dirty="0" sz="2400">
                <a:latin typeface="Cambria Math"/>
                <a:cs typeface="Cambria Math"/>
              </a:rPr>
              <a:t>𝑀</a:t>
            </a:r>
            <a:r>
              <a:rPr dirty="0" sz="2400" spc="60">
                <a:latin typeface="Cambria Math"/>
                <a:cs typeface="Cambria Math"/>
              </a:rPr>
              <a:t> </a:t>
            </a:r>
            <a:r>
              <a:rPr dirty="0" sz="2400" spc="-55">
                <a:latin typeface="Calibri"/>
                <a:cs typeface="Calibri"/>
              </a:rPr>
              <a:t>nodes</a:t>
            </a:r>
            <a:endParaRPr sz="2400">
              <a:latin typeface="Calibri"/>
              <a:cs typeface="Calibri"/>
            </a:endParaRPr>
          </a:p>
          <a:p>
            <a:pPr marL="625475">
              <a:lnSpc>
                <a:spcPct val="100000"/>
              </a:lnSpc>
            </a:pPr>
            <a:r>
              <a:rPr dirty="0" sz="2400" spc="-60">
                <a:latin typeface="Cambria Math"/>
                <a:cs typeface="Cambria Math"/>
              </a:rPr>
              <a:t>{𝑣</a:t>
            </a:r>
            <a:r>
              <a:rPr dirty="0" baseline="-15432" sz="2700" spc="-89">
                <a:latin typeface="Cambria Math"/>
                <a:cs typeface="Cambria Math"/>
              </a:rPr>
              <a:t>&amp;</a:t>
            </a:r>
            <a:r>
              <a:rPr dirty="0" sz="2400" spc="-60">
                <a:latin typeface="Cambria Math"/>
                <a:cs typeface="Cambria Math"/>
              </a:rPr>
              <a:t>,</a:t>
            </a:r>
            <a:r>
              <a:rPr dirty="0" sz="2400" spc="-160">
                <a:latin typeface="Cambria Math"/>
                <a:cs typeface="Cambria Math"/>
              </a:rPr>
              <a:t> </a:t>
            </a:r>
            <a:r>
              <a:rPr dirty="0" sz="2400" spc="204">
                <a:latin typeface="Cambria Math"/>
                <a:cs typeface="Cambria Math"/>
              </a:rPr>
              <a:t>𝑣</a:t>
            </a:r>
            <a:r>
              <a:rPr dirty="0" baseline="-15432" sz="2700" spc="307">
                <a:latin typeface="Cambria Math"/>
                <a:cs typeface="Cambria Math"/>
              </a:rPr>
              <a:t>'</a:t>
            </a:r>
            <a:r>
              <a:rPr dirty="0" sz="2400" spc="204">
                <a:latin typeface="Cambria Math"/>
                <a:cs typeface="Cambria Math"/>
              </a:rPr>
              <a:t>,</a:t>
            </a:r>
            <a:r>
              <a:rPr dirty="0" sz="2400" spc="-16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…</a:t>
            </a:r>
            <a:r>
              <a:rPr dirty="0" sz="2400" spc="-16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-160">
                <a:latin typeface="Cambria Math"/>
                <a:cs typeface="Cambria Math"/>
              </a:rPr>
              <a:t> </a:t>
            </a:r>
            <a:r>
              <a:rPr dirty="0" sz="2400" spc="60">
                <a:latin typeface="Cambria Math"/>
                <a:cs typeface="Cambria Math"/>
              </a:rPr>
              <a:t>𝑣</a:t>
            </a:r>
            <a:r>
              <a:rPr dirty="0" baseline="-15432" sz="2700" spc="89">
                <a:latin typeface="Cambria Math"/>
                <a:cs typeface="Cambria Math"/>
              </a:rPr>
              <a:t>&lt;</a:t>
            </a:r>
            <a:r>
              <a:rPr dirty="0" sz="2400" spc="60">
                <a:latin typeface="Cambria Math"/>
                <a:cs typeface="Cambria Math"/>
              </a:rPr>
              <a:t>}</a:t>
            </a:r>
            <a:r>
              <a:rPr dirty="0" sz="2400" spc="6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52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400" spc="-10">
                <a:latin typeface="Calibri"/>
                <a:cs typeface="Calibri"/>
              </a:rPr>
              <a:t>Compute </a:t>
            </a:r>
            <a:r>
              <a:rPr dirty="0" sz="2400" spc="-5">
                <a:latin typeface="Calibri"/>
                <a:cs typeface="Calibri"/>
              </a:rPr>
              <a:t>their embeddings </a:t>
            </a:r>
            <a:r>
              <a:rPr dirty="0" sz="2400" spc="-10">
                <a:latin typeface="Calibri"/>
                <a:cs typeface="Calibri"/>
              </a:rPr>
              <a:t>by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66176" y="4906771"/>
            <a:ext cx="20586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21180" algn="l"/>
              </a:tabLst>
            </a:pPr>
            <a:r>
              <a:rPr dirty="0" sz="1800" spc="-65">
                <a:latin typeface="Cambria Math"/>
                <a:cs typeface="Cambria Math"/>
              </a:rPr>
              <a:t>6</a:t>
            </a:r>
            <a:r>
              <a:rPr dirty="0" baseline="-13888" sz="2100" spc="637">
                <a:latin typeface="Cambria Math"/>
                <a:cs typeface="Cambria Math"/>
              </a:rPr>
              <a:t>!</a:t>
            </a:r>
            <a:r>
              <a:rPr dirty="0" baseline="-13888" sz="2100">
                <a:latin typeface="Cambria Math"/>
                <a:cs typeface="Cambria Math"/>
              </a:rPr>
              <a:t>	</a:t>
            </a:r>
            <a:r>
              <a:rPr dirty="0" sz="1800" spc="-65">
                <a:latin typeface="Cambria Math"/>
                <a:cs typeface="Cambria Math"/>
              </a:rPr>
              <a:t>6</a:t>
            </a:r>
            <a:r>
              <a:rPr dirty="0" baseline="-13888" sz="2100" spc="412">
                <a:latin typeface="Cambria Math"/>
                <a:cs typeface="Cambria Math"/>
              </a:rPr>
              <a:t>"</a:t>
            </a:r>
            <a:endParaRPr baseline="-13888" sz="21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03240" y="4906771"/>
            <a:ext cx="3244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5">
                <a:latin typeface="Cambria Math"/>
                <a:cs typeface="Cambria Math"/>
              </a:rPr>
              <a:t>6</a:t>
            </a:r>
            <a:r>
              <a:rPr dirty="0" baseline="-13888" sz="2100" spc="750">
                <a:latin typeface="Cambria Math"/>
                <a:cs typeface="Cambria Math"/>
              </a:rPr>
              <a:t>#</a:t>
            </a:r>
            <a:endParaRPr baseline="-13888" sz="21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67713" y="4751323"/>
            <a:ext cx="57670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E66C7D"/>
              </a:buClr>
              <a:buFont typeface="Malgun Gothic"/>
              <a:buChar char="▪"/>
              <a:tabLst>
                <a:tab pos="241300" algn="l"/>
              </a:tabLst>
            </a:pPr>
            <a:r>
              <a:rPr dirty="0" sz="2400" spc="229">
                <a:latin typeface="Cambria Math"/>
                <a:cs typeface="Cambria Math"/>
              </a:rPr>
              <a:t>ℎ</a:t>
            </a:r>
            <a:r>
              <a:rPr dirty="0" baseline="38580" sz="2700" spc="345">
                <a:latin typeface="Cambria Math"/>
                <a:cs typeface="Cambria Math"/>
              </a:rPr>
              <a:t>(,) </a:t>
            </a:r>
            <a:r>
              <a:rPr dirty="0" sz="2400">
                <a:latin typeface="Cambria Math"/>
                <a:cs typeface="Cambria Math"/>
              </a:rPr>
              <a:t>= </a:t>
            </a:r>
            <a:r>
              <a:rPr dirty="0" sz="2400" spc="-370">
                <a:latin typeface="Cambria Math"/>
                <a:cs typeface="Cambria Math"/>
              </a:rPr>
              <a:t>𝑾𝑿</a:t>
            </a:r>
            <a:r>
              <a:rPr dirty="0" baseline="10416" sz="3600" spc="-555">
                <a:latin typeface="Cambria Math"/>
                <a:cs typeface="Cambria Math"/>
              </a:rPr>
              <a:t>A</a:t>
            </a:r>
            <a:r>
              <a:rPr dirty="0" baseline="-15432" sz="2700" spc="-555">
                <a:latin typeface="Cambria Math"/>
                <a:cs typeface="Cambria Math"/>
              </a:rPr>
              <a:t>6                           </a:t>
            </a:r>
            <a:r>
              <a:rPr dirty="0" sz="2400">
                <a:latin typeface="Cambria Math"/>
                <a:cs typeface="Cambria Math"/>
              </a:rPr>
              <a:t>, </a:t>
            </a:r>
            <a:r>
              <a:rPr dirty="0" sz="2400" spc="229">
                <a:latin typeface="Cambria Math"/>
                <a:cs typeface="Cambria Math"/>
              </a:rPr>
              <a:t>ℎ</a:t>
            </a:r>
            <a:r>
              <a:rPr dirty="0" baseline="38580" sz="2700" spc="345">
                <a:latin typeface="Cambria Math"/>
                <a:cs typeface="Cambria Math"/>
              </a:rPr>
              <a:t>(,) </a:t>
            </a:r>
            <a:r>
              <a:rPr dirty="0" sz="2400">
                <a:latin typeface="Cambria Math"/>
                <a:cs typeface="Cambria Math"/>
              </a:rPr>
              <a:t>= </a:t>
            </a:r>
            <a:r>
              <a:rPr dirty="0" sz="2400" spc="-370">
                <a:latin typeface="Cambria Math"/>
                <a:cs typeface="Cambria Math"/>
              </a:rPr>
              <a:t>𝑾𝑿</a:t>
            </a:r>
            <a:r>
              <a:rPr dirty="0" baseline="10416" sz="3600" spc="-555">
                <a:latin typeface="Cambria Math"/>
                <a:cs typeface="Cambria Math"/>
              </a:rPr>
              <a:t>A</a:t>
            </a:r>
            <a:r>
              <a:rPr dirty="0" baseline="-15432" sz="2700" spc="-555">
                <a:latin typeface="Cambria Math"/>
                <a:cs typeface="Cambria Math"/>
              </a:rPr>
              <a:t>6                           </a:t>
            </a:r>
            <a:r>
              <a:rPr dirty="0" sz="2400">
                <a:latin typeface="Calibri"/>
                <a:cs typeface="Calibri"/>
              </a:rPr>
              <a:t>,…, </a:t>
            </a:r>
            <a:r>
              <a:rPr dirty="0" sz="2400" spc="229">
                <a:latin typeface="Cambria Math"/>
                <a:cs typeface="Cambria Math"/>
              </a:rPr>
              <a:t>ℎ</a:t>
            </a:r>
            <a:r>
              <a:rPr dirty="0" baseline="38580" sz="2700" spc="345">
                <a:latin typeface="Cambria Math"/>
                <a:cs typeface="Cambria Math"/>
              </a:rPr>
              <a:t>(,)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-15">
                <a:latin typeface="Cambria Math"/>
                <a:cs typeface="Cambria Math"/>
              </a:rPr>
              <a:t> </a:t>
            </a:r>
            <a:r>
              <a:rPr dirty="0" sz="2400" spc="-370">
                <a:latin typeface="Cambria Math"/>
                <a:cs typeface="Cambria Math"/>
              </a:rPr>
              <a:t>𝑾𝑿</a:t>
            </a:r>
            <a:r>
              <a:rPr dirty="0" baseline="10416" sz="3600" spc="-555">
                <a:latin typeface="Cambria Math"/>
                <a:cs typeface="Cambria Math"/>
              </a:rPr>
              <a:t>A</a:t>
            </a:r>
            <a:r>
              <a:rPr dirty="0" baseline="-15432" sz="2700" spc="-555">
                <a:latin typeface="Cambria Math"/>
                <a:cs typeface="Cambria Math"/>
              </a:rPr>
              <a:t>6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61207" y="4988052"/>
            <a:ext cx="414337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21180" algn="l"/>
                <a:tab pos="3956050" algn="l"/>
              </a:tabLst>
            </a:pPr>
            <a:r>
              <a:rPr dirty="0" sz="1400" spc="425">
                <a:latin typeface="Cambria Math"/>
                <a:cs typeface="Cambria Math"/>
              </a:rPr>
              <a:t>!</a:t>
            </a:r>
            <a:r>
              <a:rPr dirty="0" sz="1400" spc="425">
                <a:latin typeface="Cambria Math"/>
                <a:cs typeface="Cambria Math"/>
              </a:rPr>
              <a:t>	</a:t>
            </a:r>
            <a:r>
              <a:rPr dirty="0" sz="1400" spc="275">
                <a:latin typeface="Cambria Math"/>
                <a:cs typeface="Cambria Math"/>
              </a:rPr>
              <a:t>"</a:t>
            </a:r>
            <a:r>
              <a:rPr dirty="0" sz="1400" spc="275">
                <a:latin typeface="Cambria Math"/>
                <a:cs typeface="Cambria Math"/>
              </a:rPr>
              <a:t>	</a:t>
            </a:r>
            <a:r>
              <a:rPr dirty="0" sz="1400" spc="500">
                <a:latin typeface="Cambria Math"/>
                <a:cs typeface="Cambria Math"/>
              </a:rPr>
              <a:t>#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56563" y="5235955"/>
            <a:ext cx="7957820" cy="11899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marR="508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400" spc="-5">
                <a:latin typeface="Calibri"/>
                <a:cs typeface="Calibri"/>
              </a:rPr>
              <a:t>Use the embeddings </a:t>
            </a:r>
            <a:r>
              <a:rPr dirty="0" sz="2400" spc="-15">
                <a:latin typeface="Calibri"/>
                <a:cs typeface="Calibri"/>
              </a:rPr>
              <a:t>to </a:t>
            </a:r>
            <a:r>
              <a:rPr dirty="0" sz="2400" spc="-25">
                <a:latin typeface="Calibri"/>
                <a:cs typeface="Calibri"/>
              </a:rPr>
              <a:t>make </a:t>
            </a:r>
            <a:r>
              <a:rPr dirty="0" sz="2400" spc="-5">
                <a:latin typeface="Calibri"/>
                <a:cs typeface="Calibri"/>
              </a:rPr>
              <a:t>prediction </a:t>
            </a:r>
            <a:r>
              <a:rPr dirty="0" sz="2400">
                <a:latin typeface="Calibri"/>
                <a:cs typeface="Calibri"/>
              </a:rPr>
              <a:t>and </a:t>
            </a:r>
            <a:r>
              <a:rPr dirty="0" sz="2400" spc="-10">
                <a:latin typeface="Calibri"/>
                <a:cs typeface="Calibri"/>
              </a:rPr>
              <a:t>compute </a:t>
            </a:r>
            <a:r>
              <a:rPr dirty="0" sz="2400" spc="-5">
                <a:latin typeface="Calibri"/>
                <a:cs typeface="Calibri"/>
              </a:rPr>
              <a:t>the </a:t>
            </a:r>
            <a:r>
              <a:rPr dirty="0" sz="2400" spc="-130">
                <a:latin typeface="Calibri"/>
                <a:cs typeface="Calibri"/>
              </a:rPr>
              <a:t>loss  </a:t>
            </a:r>
            <a:r>
              <a:rPr dirty="0" sz="2400" spc="-20">
                <a:latin typeface="Calibri"/>
                <a:cs typeface="Calibri"/>
              </a:rPr>
              <a:t>averaged </a:t>
            </a:r>
            <a:r>
              <a:rPr dirty="0" sz="2400" spc="-10">
                <a:latin typeface="Calibri"/>
                <a:cs typeface="Calibri"/>
              </a:rPr>
              <a:t>over </a:t>
            </a:r>
            <a:r>
              <a:rPr dirty="0" sz="2400" spc="-5">
                <a:latin typeface="Calibri"/>
                <a:cs typeface="Calibri"/>
              </a:rPr>
              <a:t>the </a:t>
            </a:r>
            <a:r>
              <a:rPr dirty="0" sz="2400">
                <a:latin typeface="Cambria Math"/>
                <a:cs typeface="Cambria Math"/>
              </a:rPr>
              <a:t>𝑀 </a:t>
            </a:r>
            <a:r>
              <a:rPr dirty="0" sz="2400" spc="-15">
                <a:latin typeface="Calibri"/>
                <a:cs typeface="Calibri"/>
              </a:rPr>
              <a:t>data</a:t>
            </a:r>
            <a:r>
              <a:rPr dirty="0" sz="2400" spc="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points.</a:t>
            </a:r>
            <a:endParaRPr sz="24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52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400" spc="-15">
                <a:latin typeface="Calibri"/>
                <a:cs typeface="Calibri"/>
              </a:rPr>
              <a:t>Perform </a:t>
            </a:r>
            <a:r>
              <a:rPr dirty="0" sz="2400" spc="-5">
                <a:latin typeface="Calibri"/>
                <a:cs typeface="Calibri"/>
              </a:rPr>
              <a:t>SGD </a:t>
            </a:r>
            <a:r>
              <a:rPr dirty="0" sz="2400" spc="-15">
                <a:latin typeface="Calibri"/>
                <a:cs typeface="Calibri"/>
              </a:rPr>
              <a:t>parameter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update.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7991856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586676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 b="1">
                <a:solidFill>
                  <a:srgbClr val="D60093"/>
                </a:solidFill>
                <a:latin typeface="Calibri"/>
                <a:cs typeface="Calibri"/>
              </a:rPr>
              <a:t>Compared </a:t>
            </a:r>
            <a:r>
              <a:rPr dirty="0" spc="-15" b="1">
                <a:solidFill>
                  <a:srgbClr val="D60093"/>
                </a:solidFill>
                <a:latin typeface="Calibri"/>
                <a:cs typeface="Calibri"/>
              </a:rPr>
              <a:t>to </a:t>
            </a:r>
            <a:r>
              <a:rPr dirty="0" spc="-5" b="1">
                <a:solidFill>
                  <a:srgbClr val="D60093"/>
                </a:solidFill>
                <a:latin typeface="Calibri"/>
                <a:cs typeface="Calibri"/>
              </a:rPr>
              <a:t>neighbor</a:t>
            </a:r>
            <a:r>
              <a:rPr dirty="0" spc="-20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pc="-5" b="1">
                <a:solidFill>
                  <a:srgbClr val="D60093"/>
                </a:solidFill>
                <a:latin typeface="Calibri"/>
                <a:cs typeface="Calibri"/>
              </a:rPr>
              <a:t>sampling: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3/13/21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53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618108" y="1920747"/>
            <a:ext cx="7902575" cy="458978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625475" marR="51435" indent="-274320">
              <a:lnSpc>
                <a:spcPct val="101099"/>
              </a:lnSpc>
              <a:spcBef>
                <a:spcPts val="6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Simplified GCN </a:t>
            </a:r>
            <a:r>
              <a:rPr dirty="0" sz="2800" spc="-20">
                <a:latin typeface="Calibri"/>
                <a:cs typeface="Calibri"/>
              </a:rPr>
              <a:t>generates </a:t>
            </a:r>
            <a:r>
              <a:rPr dirty="0" sz="2800" spc="-5">
                <a:latin typeface="Calibri"/>
                <a:cs typeface="Calibri"/>
              </a:rPr>
              <a:t>node embeddings </a:t>
            </a:r>
            <a:r>
              <a:rPr dirty="0" sz="2800" spc="-80">
                <a:latin typeface="Calibri"/>
                <a:cs typeface="Calibri"/>
              </a:rPr>
              <a:t>much  </a:t>
            </a:r>
            <a:r>
              <a:rPr dirty="0" sz="2800" spc="-10">
                <a:latin typeface="Calibri"/>
                <a:cs typeface="Calibri"/>
              </a:rPr>
              <a:t>more </a:t>
            </a:r>
            <a:r>
              <a:rPr dirty="0" sz="2800" spc="-15">
                <a:latin typeface="Calibri"/>
                <a:cs typeface="Calibri"/>
              </a:rPr>
              <a:t>efficiently </a:t>
            </a:r>
            <a:r>
              <a:rPr dirty="0" sz="2800">
                <a:latin typeface="Calibri"/>
                <a:cs typeface="Calibri"/>
              </a:rPr>
              <a:t>(no </a:t>
            </a:r>
            <a:r>
              <a:rPr dirty="0" sz="2800" spc="-5">
                <a:latin typeface="Calibri"/>
                <a:cs typeface="Calibri"/>
              </a:rPr>
              <a:t>need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10">
                <a:latin typeface="Calibri"/>
                <a:cs typeface="Calibri"/>
              </a:rPr>
              <a:t>construct </a:t>
            </a:r>
            <a:r>
              <a:rPr dirty="0" sz="2800">
                <a:latin typeface="Calibri"/>
                <a:cs typeface="Calibri"/>
              </a:rPr>
              <a:t>the </a:t>
            </a:r>
            <a:r>
              <a:rPr dirty="0" sz="2800" spc="-10">
                <a:latin typeface="Calibri"/>
                <a:cs typeface="Calibri"/>
              </a:rPr>
              <a:t>giant  computational </a:t>
            </a:r>
            <a:r>
              <a:rPr dirty="0" sz="2800" spc="-15">
                <a:latin typeface="Calibri"/>
                <a:cs typeface="Calibri"/>
              </a:rPr>
              <a:t>graph </a:t>
            </a:r>
            <a:r>
              <a:rPr dirty="0" sz="2800" spc="-25">
                <a:latin typeface="Calibri"/>
                <a:cs typeface="Calibri"/>
              </a:rPr>
              <a:t>for </a:t>
            </a:r>
            <a:r>
              <a:rPr dirty="0" sz="2800" spc="-5">
                <a:latin typeface="Calibri"/>
                <a:cs typeface="Calibri"/>
              </a:rPr>
              <a:t>each</a:t>
            </a:r>
            <a:r>
              <a:rPr dirty="0" sz="2800" spc="1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node).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ts val="377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solidFill>
                  <a:srgbClr val="D60093"/>
                </a:solidFill>
                <a:latin typeface="Calibri"/>
                <a:cs typeface="Calibri"/>
              </a:rPr>
              <a:t>Compared </a:t>
            </a:r>
            <a:r>
              <a:rPr dirty="0" sz="3200" spc="-15" b="1">
                <a:solidFill>
                  <a:srgbClr val="D60093"/>
                </a:solidFill>
                <a:latin typeface="Calibri"/>
                <a:cs typeface="Calibri"/>
              </a:rPr>
              <a:t>to</a:t>
            </a:r>
            <a:r>
              <a:rPr dirty="0" sz="3200" spc="-25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200" spc="-15" b="1">
                <a:solidFill>
                  <a:srgbClr val="D60093"/>
                </a:solidFill>
                <a:latin typeface="Calibri"/>
                <a:cs typeface="Calibri"/>
              </a:rPr>
              <a:t>Cluster-GCN:</a:t>
            </a:r>
            <a:endParaRPr sz="3200">
              <a:latin typeface="Calibri"/>
              <a:cs typeface="Calibri"/>
            </a:endParaRPr>
          </a:p>
          <a:p>
            <a:pPr lvl="1" marL="625475" marR="5080" indent="-274320">
              <a:lnSpc>
                <a:spcPct val="100200"/>
              </a:lnSpc>
              <a:spcBef>
                <a:spcPts val="66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>
                <a:latin typeface="Calibri"/>
                <a:cs typeface="Calibri"/>
              </a:rPr>
              <a:t>Mini-batch </a:t>
            </a:r>
            <a:r>
              <a:rPr dirty="0" sz="2800" spc="-5">
                <a:latin typeface="Calibri"/>
                <a:cs typeface="Calibri"/>
              </a:rPr>
              <a:t>nodes of simplified GCN </a:t>
            </a:r>
            <a:r>
              <a:rPr dirty="0" sz="2800" spc="-10">
                <a:latin typeface="Calibri"/>
                <a:cs typeface="Calibri"/>
              </a:rPr>
              <a:t>can </a:t>
            </a:r>
            <a:r>
              <a:rPr dirty="0" sz="2800">
                <a:latin typeface="Calibri"/>
                <a:cs typeface="Calibri"/>
              </a:rPr>
              <a:t>be  </a:t>
            </a:r>
            <a:r>
              <a:rPr dirty="0" sz="2800" spc="-5">
                <a:latin typeface="Calibri"/>
                <a:cs typeface="Calibri"/>
              </a:rPr>
              <a:t>sampled </a:t>
            </a:r>
            <a:r>
              <a:rPr dirty="0" sz="2800" spc="-10">
                <a:latin typeface="Calibri"/>
                <a:cs typeface="Calibri"/>
              </a:rPr>
              <a:t>completely randomly </a:t>
            </a:r>
            <a:r>
              <a:rPr dirty="0" sz="2800" spc="-15">
                <a:latin typeface="Calibri"/>
                <a:cs typeface="Calibri"/>
              </a:rPr>
              <a:t>from </a:t>
            </a: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15">
                <a:latin typeface="Calibri"/>
                <a:cs typeface="Calibri"/>
              </a:rPr>
              <a:t>entire  </a:t>
            </a:r>
            <a:r>
              <a:rPr dirty="0" sz="2800" spc="-5">
                <a:latin typeface="Calibri"/>
                <a:cs typeface="Calibri"/>
              </a:rPr>
              <a:t>nodes </a:t>
            </a:r>
            <a:r>
              <a:rPr dirty="0" sz="2800">
                <a:latin typeface="Calibri"/>
                <a:cs typeface="Calibri"/>
              </a:rPr>
              <a:t>(no </a:t>
            </a:r>
            <a:r>
              <a:rPr dirty="0" sz="2800" spc="-5">
                <a:latin typeface="Calibri"/>
                <a:cs typeface="Calibri"/>
              </a:rPr>
              <a:t>need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5">
                <a:latin typeface="Calibri"/>
                <a:cs typeface="Calibri"/>
              </a:rPr>
              <a:t>sample </a:t>
            </a:r>
            <a:r>
              <a:rPr dirty="0" sz="2800" spc="-15">
                <a:latin typeface="Calibri"/>
                <a:cs typeface="Calibri"/>
              </a:rPr>
              <a:t>from </a:t>
            </a:r>
            <a:r>
              <a:rPr dirty="0" sz="2800" spc="-5">
                <a:latin typeface="Calibri"/>
                <a:cs typeface="Calibri"/>
              </a:rPr>
              <a:t>multiple </a:t>
            </a:r>
            <a:r>
              <a:rPr dirty="0" sz="2800" spc="-15">
                <a:latin typeface="Calibri"/>
                <a:cs typeface="Calibri"/>
              </a:rPr>
              <a:t>groups </a:t>
            </a:r>
            <a:r>
              <a:rPr dirty="0" sz="2800" spc="-5">
                <a:latin typeface="Calibri"/>
                <a:cs typeface="Calibri"/>
              </a:rPr>
              <a:t>as  </a:t>
            </a:r>
            <a:r>
              <a:rPr dirty="0" sz="2800" spc="-20">
                <a:latin typeface="Calibri"/>
                <a:cs typeface="Calibri"/>
              </a:rPr>
              <a:t>Cluster-GCN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does)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Leads </a:t>
            </a:r>
            <a:r>
              <a:rPr dirty="0" sz="2800" spc="-15">
                <a:latin typeface="Calibri"/>
                <a:cs typeface="Calibri"/>
              </a:rPr>
              <a:t>to lower </a:t>
            </a:r>
            <a:r>
              <a:rPr dirty="0" sz="2800" spc="-5">
                <a:latin typeface="Calibri"/>
                <a:cs typeface="Calibri"/>
              </a:rPr>
              <a:t>SGD </a:t>
            </a:r>
            <a:r>
              <a:rPr dirty="0" sz="2800" spc="-10">
                <a:latin typeface="Calibri"/>
                <a:cs typeface="Calibri"/>
              </a:rPr>
              <a:t>variance </a:t>
            </a:r>
            <a:r>
              <a:rPr dirty="0" sz="2800" spc="-5">
                <a:latin typeface="Calibri"/>
                <a:cs typeface="Calibri"/>
              </a:rPr>
              <a:t>during</a:t>
            </a:r>
            <a:r>
              <a:rPr dirty="0" sz="2800" spc="5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training.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spcBef>
                <a:spcPts val="3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>
                <a:latin typeface="Calibri"/>
                <a:cs typeface="Calibri"/>
              </a:rPr>
              <a:t>But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5">
                <a:latin typeface="Calibri"/>
                <a:cs typeface="Calibri"/>
              </a:rPr>
              <a:t>model </a:t>
            </a:r>
            <a:r>
              <a:rPr dirty="0" sz="3200">
                <a:latin typeface="Calibri"/>
                <a:cs typeface="Calibri"/>
              </a:rPr>
              <a:t>is </a:t>
            </a:r>
            <a:r>
              <a:rPr dirty="0" sz="3200" spc="-5">
                <a:latin typeface="Calibri"/>
                <a:cs typeface="Calibri"/>
              </a:rPr>
              <a:t>much </a:t>
            </a:r>
            <a:r>
              <a:rPr dirty="0" sz="3200" spc="-5" b="1">
                <a:latin typeface="Calibri"/>
                <a:cs typeface="Calibri"/>
              </a:rPr>
              <a:t>less </a:t>
            </a:r>
            <a:r>
              <a:rPr dirty="0" sz="3200" spc="-15">
                <a:latin typeface="Calibri"/>
                <a:cs typeface="Calibri"/>
              </a:rPr>
              <a:t>expressive</a:t>
            </a:r>
            <a:r>
              <a:rPr dirty="0" sz="3200" spc="3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(next).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8004048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856855" cy="197358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32740" marR="5080" indent="-320040">
              <a:lnSpc>
                <a:spcPct val="99800"/>
              </a:lnSpc>
              <a:spcBef>
                <a:spcPts val="10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/>
              <a:t>Compared </a:t>
            </a:r>
            <a:r>
              <a:rPr dirty="0" spc="-15"/>
              <a:t>to </a:t>
            </a:r>
            <a:r>
              <a:rPr dirty="0"/>
              <a:t>the </a:t>
            </a:r>
            <a:r>
              <a:rPr dirty="0" spc="-5"/>
              <a:t>original GNN models, </a:t>
            </a:r>
            <a:r>
              <a:rPr dirty="0" spc="-5">
                <a:solidFill>
                  <a:srgbClr val="0000FF"/>
                </a:solidFill>
              </a:rPr>
              <a:t> </a:t>
            </a:r>
            <a:r>
              <a:rPr dirty="0" spc="-5" b="1">
                <a:solidFill>
                  <a:srgbClr val="0000FF"/>
                </a:solidFill>
                <a:latin typeface="Calibri"/>
                <a:cs typeface="Calibri"/>
              </a:rPr>
              <a:t>simplified </a:t>
            </a:r>
            <a:r>
              <a:rPr dirty="0" spc="-40" b="1">
                <a:solidFill>
                  <a:srgbClr val="0000FF"/>
                </a:solidFill>
                <a:latin typeface="Calibri"/>
                <a:cs typeface="Calibri"/>
              </a:rPr>
              <a:t>GCN’s </a:t>
            </a:r>
            <a:r>
              <a:rPr dirty="0" spc="-15" b="1">
                <a:solidFill>
                  <a:srgbClr val="0000FF"/>
                </a:solidFill>
                <a:latin typeface="Calibri"/>
                <a:cs typeface="Calibri"/>
              </a:rPr>
              <a:t>expressive </a:t>
            </a:r>
            <a:r>
              <a:rPr dirty="0" spc="-10" b="1">
                <a:solidFill>
                  <a:srgbClr val="0000FF"/>
                </a:solidFill>
                <a:latin typeface="Calibri"/>
                <a:cs typeface="Calibri"/>
              </a:rPr>
              <a:t>power </a:t>
            </a:r>
            <a:r>
              <a:rPr dirty="0" b="1">
                <a:solidFill>
                  <a:srgbClr val="0000FF"/>
                </a:solidFill>
                <a:latin typeface="Calibri"/>
                <a:cs typeface="Calibri"/>
              </a:rPr>
              <a:t>is </a:t>
            </a:r>
            <a:r>
              <a:rPr dirty="0" spc="-10" b="1">
                <a:solidFill>
                  <a:srgbClr val="0000FF"/>
                </a:solidFill>
                <a:latin typeface="Calibri"/>
                <a:cs typeface="Calibri"/>
              </a:rPr>
              <a:t>limited  </a:t>
            </a:r>
            <a:r>
              <a:rPr dirty="0" spc="-5" b="1">
                <a:solidFill>
                  <a:srgbClr val="0000FF"/>
                </a:solidFill>
                <a:latin typeface="Calibri"/>
                <a:cs typeface="Calibri"/>
              </a:rPr>
              <a:t>due </a:t>
            </a:r>
            <a:r>
              <a:rPr dirty="0" spc="-15" b="1">
                <a:solidFill>
                  <a:srgbClr val="0000FF"/>
                </a:solidFill>
                <a:latin typeface="Calibri"/>
                <a:cs typeface="Calibri"/>
              </a:rPr>
              <a:t>to </a:t>
            </a:r>
            <a:r>
              <a:rPr dirty="0" spc="-5" b="1">
                <a:solidFill>
                  <a:srgbClr val="0000FF"/>
                </a:solidFill>
                <a:latin typeface="Calibri"/>
                <a:cs typeface="Calibri"/>
              </a:rPr>
              <a:t>the lack </a:t>
            </a:r>
            <a:r>
              <a:rPr dirty="0" b="1">
                <a:solidFill>
                  <a:srgbClr val="0000FF"/>
                </a:solidFill>
                <a:latin typeface="Calibri"/>
                <a:cs typeface="Calibri"/>
              </a:rPr>
              <a:t>of </a:t>
            </a:r>
            <a:r>
              <a:rPr dirty="0" spc="-5" b="1">
                <a:solidFill>
                  <a:srgbClr val="0000FF"/>
                </a:solidFill>
                <a:latin typeface="Calibri"/>
                <a:cs typeface="Calibri"/>
              </a:rPr>
              <a:t>non-linearity </a:t>
            </a:r>
            <a:r>
              <a:rPr dirty="0" b="1">
                <a:solidFill>
                  <a:srgbClr val="0000FF"/>
                </a:solidFill>
                <a:latin typeface="Calibri"/>
                <a:cs typeface="Calibri"/>
              </a:rPr>
              <a:t>in </a:t>
            </a:r>
            <a:r>
              <a:rPr dirty="0" spc="-20" b="1">
                <a:solidFill>
                  <a:srgbClr val="0000FF"/>
                </a:solidFill>
                <a:latin typeface="Calibri"/>
                <a:cs typeface="Calibri"/>
              </a:rPr>
              <a:t>generating  </a:t>
            </a:r>
            <a:r>
              <a:rPr dirty="0" spc="-5" b="1">
                <a:solidFill>
                  <a:srgbClr val="0000FF"/>
                </a:solidFill>
                <a:latin typeface="Calibri"/>
                <a:cs typeface="Calibri"/>
              </a:rPr>
              <a:t>node</a:t>
            </a:r>
            <a:r>
              <a:rPr dirty="0" spc="-55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pc="-5" b="1">
                <a:solidFill>
                  <a:srgbClr val="0000FF"/>
                </a:solidFill>
                <a:latin typeface="Calibri"/>
                <a:cs typeface="Calibri"/>
              </a:rPr>
              <a:t>embeddings.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3/13/21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60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4424"/>
            <a:ext cx="7370064" cy="5455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18108" y="1348740"/>
            <a:ext cx="7096125" cy="29514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32740" marR="5080" indent="-320040">
              <a:lnSpc>
                <a:spcPct val="99800"/>
              </a:lnSpc>
              <a:spcBef>
                <a:spcPts val="10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20">
                <a:latin typeface="Calibri"/>
                <a:cs typeface="Calibri"/>
              </a:rPr>
              <a:t>Surprisingly, </a:t>
            </a:r>
            <a:r>
              <a:rPr dirty="0" sz="3200">
                <a:latin typeface="Calibri"/>
                <a:cs typeface="Calibri"/>
              </a:rPr>
              <a:t>in </a:t>
            </a:r>
            <a:r>
              <a:rPr dirty="0" sz="3200" spc="-5">
                <a:latin typeface="Calibri"/>
                <a:cs typeface="Calibri"/>
              </a:rPr>
              <a:t>semi-supervised </a:t>
            </a:r>
            <a:r>
              <a:rPr dirty="0" sz="3200">
                <a:latin typeface="Calibri"/>
                <a:cs typeface="Calibri"/>
              </a:rPr>
              <a:t>node  </a:t>
            </a:r>
            <a:r>
              <a:rPr dirty="0" sz="3200" spc="-10">
                <a:latin typeface="Calibri"/>
                <a:cs typeface="Calibri"/>
              </a:rPr>
              <a:t>classification </a:t>
            </a:r>
            <a:r>
              <a:rPr dirty="0" sz="3200" spc="-5">
                <a:latin typeface="Calibri"/>
                <a:cs typeface="Calibri"/>
              </a:rPr>
              <a:t>benchmark, </a:t>
            </a:r>
            <a:r>
              <a:rPr dirty="0" sz="3200" spc="-5" b="1">
                <a:solidFill>
                  <a:srgbClr val="008000"/>
                </a:solidFill>
                <a:latin typeface="Calibri"/>
                <a:cs typeface="Calibri"/>
              </a:rPr>
              <a:t>simplified GCN  </a:t>
            </a:r>
            <a:r>
              <a:rPr dirty="0" sz="3200" spc="-15" b="1">
                <a:solidFill>
                  <a:srgbClr val="008000"/>
                </a:solidFill>
                <a:latin typeface="Calibri"/>
                <a:cs typeface="Calibri"/>
              </a:rPr>
              <a:t>works comparably to </a:t>
            </a:r>
            <a:r>
              <a:rPr dirty="0" sz="3200" spc="-5" b="1">
                <a:solidFill>
                  <a:srgbClr val="008000"/>
                </a:solidFill>
                <a:latin typeface="Calibri"/>
                <a:cs typeface="Calibri"/>
              </a:rPr>
              <a:t>the original GNNs  </a:t>
            </a:r>
            <a:r>
              <a:rPr dirty="0" sz="3200" spc="-10" b="1">
                <a:solidFill>
                  <a:srgbClr val="008000"/>
                </a:solidFill>
                <a:latin typeface="Calibri"/>
                <a:cs typeface="Calibri"/>
              </a:rPr>
              <a:t>despite </a:t>
            </a:r>
            <a:r>
              <a:rPr dirty="0" sz="3200" spc="-5" b="1">
                <a:solidFill>
                  <a:srgbClr val="008000"/>
                </a:solidFill>
                <a:latin typeface="Calibri"/>
                <a:cs typeface="Calibri"/>
              </a:rPr>
              <a:t>being less </a:t>
            </a:r>
            <a:r>
              <a:rPr dirty="0" sz="3200" spc="-15" b="1">
                <a:solidFill>
                  <a:srgbClr val="008000"/>
                </a:solidFill>
                <a:latin typeface="Calibri"/>
                <a:cs typeface="Calibri"/>
              </a:rPr>
              <a:t>expressive.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F0AD00"/>
              </a:buClr>
              <a:buFont typeface="Arial"/>
              <a:buChar char="▪"/>
            </a:pPr>
            <a:endParaRPr sz="3350">
              <a:latin typeface="Times New Roman"/>
              <a:cs typeface="Times New Roman"/>
            </a:endParaRPr>
          </a:p>
          <a:p>
            <a:pPr marL="332740" indent="-320040">
              <a:lnSpc>
                <a:spcPct val="100000"/>
              </a:lnSpc>
              <a:spcBef>
                <a:spcPts val="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20" b="1">
                <a:solidFill>
                  <a:srgbClr val="D60093"/>
                </a:solidFill>
                <a:latin typeface="Calibri"/>
                <a:cs typeface="Calibri"/>
              </a:rPr>
              <a:t>Why?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3/13/21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61</a:t>
            </a:fld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4343400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96924"/>
            <a:ext cx="7969250" cy="1836420"/>
          </a:xfrm>
          <a:prstGeom prst="rect"/>
        </p:spPr>
        <p:txBody>
          <a:bodyPr wrap="square" lIns="0" tIns="60960" rIns="0" bIns="0" rtlCol="0" vert="horz">
            <a:spAutoFit/>
          </a:bodyPr>
          <a:lstStyle/>
          <a:p>
            <a:pPr marL="332740" marR="5080" indent="-320040">
              <a:lnSpc>
                <a:spcPct val="90000"/>
              </a:lnSpc>
              <a:spcBef>
                <a:spcPts val="48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5"/>
              <a:t>Many </a:t>
            </a:r>
            <a:r>
              <a:rPr dirty="0"/>
              <a:t>node </a:t>
            </a:r>
            <a:r>
              <a:rPr dirty="0" spc="-10"/>
              <a:t>classification </a:t>
            </a:r>
            <a:r>
              <a:rPr dirty="0" spc="-20"/>
              <a:t>tasks </a:t>
            </a:r>
            <a:r>
              <a:rPr dirty="0" spc="-10"/>
              <a:t>exhibit  </a:t>
            </a:r>
            <a:r>
              <a:rPr dirty="0" spc="-5"/>
              <a:t>homophily </a:t>
            </a:r>
            <a:r>
              <a:rPr dirty="0" spc="-15"/>
              <a:t>structure, </a:t>
            </a:r>
            <a:r>
              <a:rPr dirty="0" spc="-5"/>
              <a:t>i.e., </a:t>
            </a:r>
            <a:r>
              <a:rPr dirty="0" spc="-5" b="1">
                <a:solidFill>
                  <a:srgbClr val="00B050"/>
                </a:solidFill>
                <a:latin typeface="Calibri"/>
                <a:cs typeface="Calibri"/>
              </a:rPr>
              <a:t>nodes </a:t>
            </a:r>
            <a:r>
              <a:rPr dirty="0" spc="-10" b="1">
                <a:solidFill>
                  <a:srgbClr val="00B050"/>
                </a:solidFill>
                <a:latin typeface="Calibri"/>
                <a:cs typeface="Calibri"/>
              </a:rPr>
              <a:t>connected </a:t>
            </a:r>
            <a:r>
              <a:rPr dirty="0" spc="-15" b="1">
                <a:solidFill>
                  <a:srgbClr val="00B050"/>
                </a:solidFill>
                <a:latin typeface="Calibri"/>
                <a:cs typeface="Calibri"/>
              </a:rPr>
              <a:t>by  </a:t>
            </a:r>
            <a:r>
              <a:rPr dirty="0" spc="-10" b="1">
                <a:solidFill>
                  <a:srgbClr val="00B050"/>
                </a:solidFill>
                <a:latin typeface="Calibri"/>
                <a:cs typeface="Calibri"/>
              </a:rPr>
              <a:t>edges </a:t>
            </a:r>
            <a:r>
              <a:rPr dirty="0" spc="-15" b="1">
                <a:solidFill>
                  <a:srgbClr val="00B050"/>
                </a:solidFill>
                <a:latin typeface="Calibri"/>
                <a:cs typeface="Calibri"/>
              </a:rPr>
              <a:t>tend to share </a:t>
            </a:r>
            <a:r>
              <a:rPr dirty="0" spc="-5" b="1">
                <a:solidFill>
                  <a:srgbClr val="00B050"/>
                </a:solidFill>
                <a:latin typeface="Calibri"/>
                <a:cs typeface="Calibri"/>
              </a:rPr>
              <a:t>the same </a:t>
            </a:r>
            <a:r>
              <a:rPr dirty="0" spc="-25" b="1">
                <a:solidFill>
                  <a:srgbClr val="00B050"/>
                </a:solidFill>
                <a:latin typeface="Calibri"/>
                <a:cs typeface="Calibri"/>
              </a:rPr>
              <a:t>target</a:t>
            </a:r>
            <a:r>
              <a:rPr dirty="0" spc="0" b="1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dirty="0" spc="-5" b="1">
                <a:solidFill>
                  <a:srgbClr val="00B050"/>
                </a:solidFill>
                <a:latin typeface="Calibri"/>
                <a:cs typeface="Calibri"/>
              </a:rPr>
              <a:t>labels.</a:t>
            </a:r>
          </a:p>
          <a:p>
            <a:pPr marL="332740" indent="-320040">
              <a:lnSpc>
                <a:spcPts val="3504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 b="1">
                <a:solidFill>
                  <a:srgbClr val="D60093"/>
                </a:solidFill>
                <a:latin typeface="Calibri"/>
                <a:cs typeface="Calibri"/>
              </a:rPr>
              <a:t>Examples</a:t>
            </a:r>
            <a:r>
              <a:rPr dirty="0" spc="-10"/>
              <a:t>: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3/13/21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61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956563" y="3152139"/>
            <a:ext cx="7545070" cy="3161030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287020" marR="708660" indent="-274320">
              <a:lnSpc>
                <a:spcPts val="3000"/>
              </a:lnSpc>
              <a:spcBef>
                <a:spcPts val="5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5">
                <a:latin typeface="Calibri"/>
                <a:cs typeface="Calibri"/>
              </a:rPr>
              <a:t>Paper category </a:t>
            </a:r>
            <a:r>
              <a:rPr dirty="0" sz="2800" spc="-10">
                <a:latin typeface="Calibri"/>
                <a:cs typeface="Calibri"/>
              </a:rPr>
              <a:t>classification </a:t>
            </a:r>
            <a:r>
              <a:rPr dirty="0" sz="2800" spc="-5">
                <a:latin typeface="Calibri"/>
                <a:cs typeface="Calibri"/>
              </a:rPr>
              <a:t>in </a:t>
            </a:r>
            <a:r>
              <a:rPr dirty="0" sz="2800" spc="-60">
                <a:latin typeface="Calibri"/>
                <a:cs typeface="Calibri"/>
              </a:rPr>
              <a:t>paper-citation  </a:t>
            </a:r>
            <a:r>
              <a:rPr dirty="0" sz="2800" spc="-10">
                <a:latin typeface="Calibri"/>
                <a:cs typeface="Calibri"/>
              </a:rPr>
              <a:t>network</a:t>
            </a:r>
            <a:endParaRPr sz="2800">
              <a:latin typeface="Calibri"/>
              <a:cs typeface="Calibri"/>
            </a:endParaRPr>
          </a:p>
          <a:p>
            <a:pPr lvl="1" marL="552450" marR="89535" indent="-228600">
              <a:lnSpc>
                <a:spcPts val="2620"/>
              </a:lnSpc>
              <a:spcBef>
                <a:spcPts val="590"/>
              </a:spcBef>
              <a:buClr>
                <a:srgbClr val="E66C7D"/>
              </a:buClr>
              <a:buFont typeface="Malgun Gothic"/>
              <a:buChar char="▪"/>
              <a:tabLst>
                <a:tab pos="552450" algn="l"/>
              </a:tabLst>
            </a:pPr>
            <a:r>
              <a:rPr dirty="0" sz="2400" spc="-45">
                <a:latin typeface="Calibri"/>
                <a:cs typeface="Calibri"/>
              </a:rPr>
              <a:t>Two </a:t>
            </a:r>
            <a:r>
              <a:rPr dirty="0" sz="2400" spc="-10">
                <a:latin typeface="Calibri"/>
                <a:cs typeface="Calibri"/>
              </a:rPr>
              <a:t>papers tend </a:t>
            </a:r>
            <a:r>
              <a:rPr dirty="0" sz="2400" spc="-15">
                <a:latin typeface="Calibri"/>
                <a:cs typeface="Calibri"/>
              </a:rPr>
              <a:t>to </a:t>
            </a:r>
            <a:r>
              <a:rPr dirty="0" sz="2400" spc="-10">
                <a:latin typeface="Calibri"/>
                <a:cs typeface="Calibri"/>
              </a:rPr>
              <a:t>share </a:t>
            </a:r>
            <a:r>
              <a:rPr dirty="0" sz="2400" spc="-5">
                <a:latin typeface="Calibri"/>
                <a:cs typeface="Calibri"/>
              </a:rPr>
              <a:t>the same </a:t>
            </a:r>
            <a:r>
              <a:rPr dirty="0" sz="2400" spc="-15">
                <a:latin typeface="Calibri"/>
                <a:cs typeface="Calibri"/>
              </a:rPr>
              <a:t>category </a:t>
            </a:r>
            <a:r>
              <a:rPr dirty="0" sz="2400">
                <a:latin typeface="Calibri"/>
                <a:cs typeface="Calibri"/>
              </a:rPr>
              <a:t>if </a:t>
            </a:r>
            <a:r>
              <a:rPr dirty="0" sz="2400" spc="-5">
                <a:latin typeface="Calibri"/>
                <a:cs typeface="Calibri"/>
              </a:rPr>
              <a:t>one </a:t>
            </a:r>
            <a:r>
              <a:rPr dirty="0" sz="2400" spc="-110">
                <a:latin typeface="Calibri"/>
                <a:cs typeface="Calibri"/>
              </a:rPr>
              <a:t>cites  </a:t>
            </a:r>
            <a:r>
              <a:rPr dirty="0" sz="2400" spc="-35">
                <a:latin typeface="Calibri"/>
                <a:cs typeface="Calibri"/>
              </a:rPr>
              <a:t>another.</a:t>
            </a:r>
            <a:endParaRPr sz="2400">
              <a:latin typeface="Calibri"/>
              <a:cs typeface="Calibri"/>
            </a:endParaRPr>
          </a:p>
          <a:p>
            <a:pPr marL="287020" marR="1193165" indent="-274320">
              <a:lnSpc>
                <a:spcPts val="3000"/>
              </a:lnSpc>
              <a:spcBef>
                <a:spcPts val="67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>
                <a:latin typeface="Calibri"/>
                <a:cs typeface="Calibri"/>
              </a:rPr>
              <a:t>Movie </a:t>
            </a:r>
            <a:r>
              <a:rPr dirty="0" sz="2800" spc="-10">
                <a:latin typeface="Calibri"/>
                <a:cs typeface="Calibri"/>
              </a:rPr>
              <a:t>recommendation </a:t>
            </a:r>
            <a:r>
              <a:rPr dirty="0" sz="2800" spc="-25">
                <a:latin typeface="Calibri"/>
                <a:cs typeface="Calibri"/>
              </a:rPr>
              <a:t>for </a:t>
            </a:r>
            <a:r>
              <a:rPr dirty="0" sz="2800" spc="-15">
                <a:latin typeface="Calibri"/>
                <a:cs typeface="Calibri"/>
              </a:rPr>
              <a:t>users </a:t>
            </a:r>
            <a:r>
              <a:rPr dirty="0" sz="2800" spc="-5">
                <a:latin typeface="Calibri"/>
                <a:cs typeface="Calibri"/>
              </a:rPr>
              <a:t>in </a:t>
            </a:r>
            <a:r>
              <a:rPr dirty="0" sz="2800" spc="-105">
                <a:latin typeface="Calibri"/>
                <a:cs typeface="Calibri"/>
              </a:rPr>
              <a:t>social  </a:t>
            </a:r>
            <a:r>
              <a:rPr dirty="0" sz="2800" spc="-15">
                <a:latin typeface="Calibri"/>
                <a:cs typeface="Calibri"/>
              </a:rPr>
              <a:t>networks</a:t>
            </a:r>
            <a:endParaRPr sz="2800">
              <a:latin typeface="Calibri"/>
              <a:cs typeface="Calibri"/>
            </a:endParaRPr>
          </a:p>
          <a:p>
            <a:pPr lvl="1" marL="552450" marR="5080" indent="-228600">
              <a:lnSpc>
                <a:spcPts val="2620"/>
              </a:lnSpc>
              <a:spcBef>
                <a:spcPts val="590"/>
              </a:spcBef>
              <a:buClr>
                <a:srgbClr val="E66C7D"/>
              </a:buClr>
              <a:buFont typeface="Malgun Gothic"/>
              <a:buChar char="▪"/>
              <a:tabLst>
                <a:tab pos="552450" algn="l"/>
              </a:tabLst>
            </a:pPr>
            <a:r>
              <a:rPr dirty="0" sz="2400" spc="-45">
                <a:latin typeface="Calibri"/>
                <a:cs typeface="Calibri"/>
              </a:rPr>
              <a:t>Two </a:t>
            </a:r>
            <a:r>
              <a:rPr dirty="0" sz="2400" spc="-10">
                <a:latin typeface="Calibri"/>
                <a:cs typeface="Calibri"/>
              </a:rPr>
              <a:t>users tend </a:t>
            </a:r>
            <a:r>
              <a:rPr dirty="0" sz="2400" spc="-15">
                <a:latin typeface="Calibri"/>
                <a:cs typeface="Calibri"/>
              </a:rPr>
              <a:t>to </a:t>
            </a:r>
            <a:r>
              <a:rPr dirty="0" sz="2400" spc="-25">
                <a:latin typeface="Calibri"/>
                <a:cs typeface="Calibri"/>
              </a:rPr>
              <a:t>like </a:t>
            </a:r>
            <a:r>
              <a:rPr dirty="0" sz="2400" spc="-5">
                <a:latin typeface="Calibri"/>
                <a:cs typeface="Calibri"/>
              </a:rPr>
              <a:t>the same movie if they </a:t>
            </a:r>
            <a:r>
              <a:rPr dirty="0" sz="2400" spc="-15">
                <a:latin typeface="Calibri"/>
                <a:cs typeface="Calibri"/>
              </a:rPr>
              <a:t>are </a:t>
            </a:r>
            <a:r>
              <a:rPr dirty="0" sz="2400" spc="-55">
                <a:latin typeface="Calibri"/>
                <a:cs typeface="Calibri"/>
              </a:rPr>
              <a:t>friends  </a:t>
            </a:r>
            <a:r>
              <a:rPr dirty="0" sz="2400" spc="-5">
                <a:latin typeface="Calibri"/>
                <a:cs typeface="Calibri"/>
              </a:rPr>
              <a:t>in </a:t>
            </a:r>
            <a:r>
              <a:rPr dirty="0" sz="2400">
                <a:latin typeface="Calibri"/>
                <a:cs typeface="Calibri"/>
              </a:rPr>
              <a:t>a </a:t>
            </a:r>
            <a:r>
              <a:rPr dirty="0" sz="2400" spc="-5">
                <a:latin typeface="Calibri"/>
                <a:cs typeface="Calibri"/>
              </a:rPr>
              <a:t>social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network.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5591" y="341375"/>
            <a:ext cx="8211311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332740" marR="5080" indent="-320040">
              <a:lnSpc>
                <a:spcPts val="4010"/>
              </a:lnSpc>
              <a:spcBef>
                <a:spcPts val="9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20"/>
              <a:t>Recall </a:t>
            </a:r>
            <a:r>
              <a:rPr dirty="0"/>
              <a:t>the </a:t>
            </a:r>
            <a:r>
              <a:rPr dirty="0" spc="-15"/>
              <a:t>preprocessing </a:t>
            </a:r>
            <a:r>
              <a:rPr dirty="0" spc="-20"/>
              <a:t>step </a:t>
            </a:r>
            <a:r>
              <a:rPr dirty="0" spc="-5"/>
              <a:t>of </a:t>
            </a:r>
            <a:r>
              <a:rPr dirty="0"/>
              <a:t>the </a:t>
            </a:r>
            <a:r>
              <a:rPr dirty="0" spc="-5"/>
              <a:t>simplified  GCN: </a:t>
            </a:r>
            <a:r>
              <a:rPr dirty="0" spc="-5" b="1">
                <a:solidFill>
                  <a:srgbClr val="D60093"/>
                </a:solidFill>
                <a:latin typeface="Calibri"/>
                <a:cs typeface="Calibri"/>
              </a:rPr>
              <a:t>Do </a:t>
            </a:r>
            <a:r>
              <a:rPr dirty="0">
                <a:solidFill>
                  <a:srgbClr val="D60093"/>
                </a:solidFill>
                <a:latin typeface="Cambria Math"/>
                <a:cs typeface="Cambria Math"/>
              </a:rPr>
              <a:t>𝑿 ← </a:t>
            </a:r>
            <a:r>
              <a:rPr dirty="0" spc="-1045">
                <a:solidFill>
                  <a:srgbClr val="D60093"/>
                </a:solidFill>
                <a:latin typeface="Cambria Math"/>
                <a:cs typeface="Cambria Math"/>
              </a:rPr>
              <a:t>𝑨</a:t>
            </a:r>
            <a:r>
              <a:rPr dirty="0" baseline="10416" sz="4800" spc="-1567">
                <a:solidFill>
                  <a:srgbClr val="D60093"/>
                </a:solidFill>
                <a:latin typeface="Cambria Math"/>
                <a:cs typeface="Cambria Math"/>
              </a:rPr>
              <a:t>V</a:t>
            </a:r>
            <a:r>
              <a:rPr dirty="0" baseline="10416" sz="4800" spc="187">
                <a:solidFill>
                  <a:srgbClr val="D60093"/>
                </a:solidFill>
                <a:latin typeface="Cambria Math"/>
                <a:cs typeface="Cambria Math"/>
              </a:rPr>
              <a:t> </a:t>
            </a:r>
            <a:r>
              <a:rPr dirty="0" sz="3200">
                <a:solidFill>
                  <a:srgbClr val="D60093"/>
                </a:solidFill>
                <a:latin typeface="Cambria Math"/>
                <a:cs typeface="Cambria Math"/>
              </a:rPr>
              <a:t>𝑿 </a:t>
            </a:r>
            <a:r>
              <a:rPr dirty="0" sz="3200" spc="-20" b="1">
                <a:solidFill>
                  <a:srgbClr val="D60093"/>
                </a:solidFill>
                <a:latin typeface="Calibri"/>
                <a:cs typeface="Calibri"/>
              </a:rPr>
              <a:t>for </a:t>
            </a:r>
            <a:r>
              <a:rPr dirty="0" sz="3200">
                <a:solidFill>
                  <a:srgbClr val="D60093"/>
                </a:solidFill>
                <a:latin typeface="Cambria Math"/>
                <a:cs typeface="Cambria Math"/>
              </a:rPr>
              <a:t>𝑲</a:t>
            </a:r>
            <a:r>
              <a:rPr dirty="0" sz="3200" spc="400">
                <a:solidFill>
                  <a:srgbClr val="D60093"/>
                </a:solidFill>
                <a:latin typeface="Cambria Math"/>
                <a:cs typeface="Cambria Math"/>
              </a:rPr>
              <a:t> </a:t>
            </a: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times.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2339340"/>
            <a:ext cx="7729220" cy="995044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>
                <a:latin typeface="Calibri"/>
                <a:cs typeface="Calibri"/>
              </a:rPr>
              <a:t>Pre-processed </a:t>
            </a:r>
            <a:r>
              <a:rPr dirty="0" sz="3200" spc="-25">
                <a:latin typeface="Calibri"/>
                <a:cs typeface="Calibri"/>
              </a:rPr>
              <a:t>features </a:t>
            </a:r>
            <a:r>
              <a:rPr dirty="0" sz="3200" spc="-20">
                <a:latin typeface="Calibri"/>
                <a:cs typeface="Calibri"/>
              </a:rPr>
              <a:t>are </a:t>
            </a:r>
            <a:r>
              <a:rPr dirty="0" sz="3200" spc="-10">
                <a:latin typeface="Calibri"/>
                <a:cs typeface="Calibri"/>
              </a:rPr>
              <a:t>obtained </a:t>
            </a:r>
            <a:r>
              <a:rPr dirty="0" sz="3200" spc="-25" b="1">
                <a:solidFill>
                  <a:srgbClr val="D60093"/>
                </a:solidFill>
                <a:latin typeface="Calibri"/>
                <a:cs typeface="Calibri"/>
              </a:rPr>
              <a:t>by  </a:t>
            </a:r>
            <a:r>
              <a:rPr dirty="0" sz="3200" spc="-20" b="1">
                <a:solidFill>
                  <a:srgbClr val="D60093"/>
                </a:solidFill>
                <a:latin typeface="Calibri"/>
                <a:cs typeface="Calibri"/>
              </a:rPr>
              <a:t>iteratively averaging </a:t>
            </a: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their neighboring</a:t>
            </a:r>
            <a:r>
              <a:rPr dirty="0" sz="3200" spc="30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node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845711" y="4070624"/>
            <a:ext cx="1691005" cy="212725"/>
          </a:xfrm>
          <a:custGeom>
            <a:avLst/>
            <a:gdLst/>
            <a:ahLst/>
            <a:cxnLst/>
            <a:rect l="l" t="t" r="r" b="b"/>
            <a:pathLst>
              <a:path w="1691004" h="212725">
                <a:moveTo>
                  <a:pt x="0" y="212225"/>
                </a:moveTo>
                <a:lnTo>
                  <a:pt x="1690992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805715" y="4423317"/>
            <a:ext cx="1586865" cy="642620"/>
          </a:xfrm>
          <a:custGeom>
            <a:avLst/>
            <a:gdLst/>
            <a:ahLst/>
            <a:cxnLst/>
            <a:rect l="l" t="t" r="r" b="b"/>
            <a:pathLst>
              <a:path w="1586865" h="642620">
                <a:moveTo>
                  <a:pt x="0" y="0"/>
                </a:moveTo>
                <a:lnTo>
                  <a:pt x="1586737" y="642321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948831" y="5200423"/>
            <a:ext cx="1499870" cy="132080"/>
          </a:xfrm>
          <a:custGeom>
            <a:avLst/>
            <a:gdLst/>
            <a:ahLst/>
            <a:cxnLst/>
            <a:rect l="l" t="t" r="r" b="b"/>
            <a:pathLst>
              <a:path w="1499870" h="132079">
                <a:moveTo>
                  <a:pt x="0" y="131815"/>
                </a:moveTo>
                <a:lnTo>
                  <a:pt x="1499866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959267" y="5200424"/>
            <a:ext cx="489584" cy="766445"/>
          </a:xfrm>
          <a:custGeom>
            <a:avLst/>
            <a:gdLst/>
            <a:ahLst/>
            <a:cxnLst/>
            <a:rect l="l" t="t" r="r" b="b"/>
            <a:pathLst>
              <a:path w="489584" h="766445">
                <a:moveTo>
                  <a:pt x="0" y="766204"/>
                </a:moveTo>
                <a:lnTo>
                  <a:pt x="489430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392453" y="4875019"/>
            <a:ext cx="384175" cy="381635"/>
          </a:xfrm>
          <a:custGeom>
            <a:avLst/>
            <a:gdLst/>
            <a:ahLst/>
            <a:cxnLst/>
            <a:rect l="l" t="t" r="r" b="b"/>
            <a:pathLst>
              <a:path w="384175" h="381635">
                <a:moveTo>
                  <a:pt x="192032" y="0"/>
                </a:moveTo>
                <a:lnTo>
                  <a:pt x="148001" y="5034"/>
                </a:lnTo>
                <a:lnTo>
                  <a:pt x="107581" y="19374"/>
                </a:lnTo>
                <a:lnTo>
                  <a:pt x="71926" y="41876"/>
                </a:lnTo>
                <a:lnTo>
                  <a:pt x="42187" y="71396"/>
                </a:lnTo>
                <a:lnTo>
                  <a:pt x="19518" y="106789"/>
                </a:lnTo>
                <a:lnTo>
                  <a:pt x="5071" y="146911"/>
                </a:lnTo>
                <a:lnTo>
                  <a:pt x="0" y="190618"/>
                </a:lnTo>
                <a:lnTo>
                  <a:pt x="5071" y="234324"/>
                </a:lnTo>
                <a:lnTo>
                  <a:pt x="19518" y="274446"/>
                </a:lnTo>
                <a:lnTo>
                  <a:pt x="42187" y="309839"/>
                </a:lnTo>
                <a:lnTo>
                  <a:pt x="71926" y="339358"/>
                </a:lnTo>
                <a:lnTo>
                  <a:pt x="107581" y="361860"/>
                </a:lnTo>
                <a:lnTo>
                  <a:pt x="148001" y="376200"/>
                </a:lnTo>
                <a:lnTo>
                  <a:pt x="192032" y="381234"/>
                </a:lnTo>
                <a:lnTo>
                  <a:pt x="236064" y="376200"/>
                </a:lnTo>
                <a:lnTo>
                  <a:pt x="276484" y="361860"/>
                </a:lnTo>
                <a:lnTo>
                  <a:pt x="312140" y="339358"/>
                </a:lnTo>
                <a:lnTo>
                  <a:pt x="341879" y="309839"/>
                </a:lnTo>
                <a:lnTo>
                  <a:pt x="364548" y="274446"/>
                </a:lnTo>
                <a:lnTo>
                  <a:pt x="378995" y="234324"/>
                </a:lnTo>
                <a:lnTo>
                  <a:pt x="384067" y="190618"/>
                </a:lnTo>
                <a:lnTo>
                  <a:pt x="378995" y="146911"/>
                </a:lnTo>
                <a:lnTo>
                  <a:pt x="364548" y="106789"/>
                </a:lnTo>
                <a:lnTo>
                  <a:pt x="341879" y="71396"/>
                </a:lnTo>
                <a:lnTo>
                  <a:pt x="312140" y="41876"/>
                </a:lnTo>
                <a:lnTo>
                  <a:pt x="276484" y="19374"/>
                </a:lnTo>
                <a:lnTo>
                  <a:pt x="236064" y="5034"/>
                </a:lnTo>
                <a:lnTo>
                  <a:pt x="192032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392453" y="4875019"/>
            <a:ext cx="384175" cy="381635"/>
          </a:xfrm>
          <a:custGeom>
            <a:avLst/>
            <a:gdLst/>
            <a:ahLst/>
            <a:cxnLst/>
            <a:rect l="l" t="t" r="r" b="b"/>
            <a:pathLst>
              <a:path w="384175" h="381635">
                <a:moveTo>
                  <a:pt x="0" y="190617"/>
                </a:moveTo>
                <a:lnTo>
                  <a:pt x="5071" y="146910"/>
                </a:lnTo>
                <a:lnTo>
                  <a:pt x="19518" y="106788"/>
                </a:lnTo>
                <a:lnTo>
                  <a:pt x="42187" y="71395"/>
                </a:lnTo>
                <a:lnTo>
                  <a:pt x="71926" y="41876"/>
                </a:lnTo>
                <a:lnTo>
                  <a:pt x="107582" y="19374"/>
                </a:lnTo>
                <a:lnTo>
                  <a:pt x="148002" y="5034"/>
                </a:lnTo>
                <a:lnTo>
                  <a:pt x="192034" y="0"/>
                </a:lnTo>
                <a:lnTo>
                  <a:pt x="236065" y="5034"/>
                </a:lnTo>
                <a:lnTo>
                  <a:pt x="276485" y="19374"/>
                </a:lnTo>
                <a:lnTo>
                  <a:pt x="312141" y="41876"/>
                </a:lnTo>
                <a:lnTo>
                  <a:pt x="341880" y="71395"/>
                </a:lnTo>
                <a:lnTo>
                  <a:pt x="364549" y="106788"/>
                </a:lnTo>
                <a:lnTo>
                  <a:pt x="378996" y="146910"/>
                </a:lnTo>
                <a:lnTo>
                  <a:pt x="384068" y="190617"/>
                </a:lnTo>
                <a:lnTo>
                  <a:pt x="378996" y="234324"/>
                </a:lnTo>
                <a:lnTo>
                  <a:pt x="364549" y="274446"/>
                </a:lnTo>
                <a:lnTo>
                  <a:pt x="341880" y="309839"/>
                </a:lnTo>
                <a:lnTo>
                  <a:pt x="312141" y="339358"/>
                </a:lnTo>
                <a:lnTo>
                  <a:pt x="276485" y="361860"/>
                </a:lnTo>
                <a:lnTo>
                  <a:pt x="236065" y="376200"/>
                </a:lnTo>
                <a:lnTo>
                  <a:pt x="192034" y="381235"/>
                </a:lnTo>
                <a:lnTo>
                  <a:pt x="148002" y="376200"/>
                </a:lnTo>
                <a:lnTo>
                  <a:pt x="107582" y="361860"/>
                </a:lnTo>
                <a:lnTo>
                  <a:pt x="71926" y="339358"/>
                </a:lnTo>
                <a:lnTo>
                  <a:pt x="42187" y="309839"/>
                </a:lnTo>
                <a:lnTo>
                  <a:pt x="19518" y="274446"/>
                </a:lnTo>
                <a:lnTo>
                  <a:pt x="5071" y="234324"/>
                </a:lnTo>
                <a:lnTo>
                  <a:pt x="0" y="190617"/>
                </a:lnTo>
                <a:close/>
              </a:path>
            </a:pathLst>
          </a:custGeom>
          <a:ln w="38100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536702" y="3880006"/>
            <a:ext cx="384175" cy="381635"/>
          </a:xfrm>
          <a:custGeom>
            <a:avLst/>
            <a:gdLst/>
            <a:ahLst/>
            <a:cxnLst/>
            <a:rect l="l" t="t" r="r" b="b"/>
            <a:pathLst>
              <a:path w="384175" h="381635">
                <a:moveTo>
                  <a:pt x="192034" y="0"/>
                </a:moveTo>
                <a:lnTo>
                  <a:pt x="148002" y="5034"/>
                </a:lnTo>
                <a:lnTo>
                  <a:pt x="107582" y="19374"/>
                </a:lnTo>
                <a:lnTo>
                  <a:pt x="71926" y="41876"/>
                </a:lnTo>
                <a:lnTo>
                  <a:pt x="42187" y="71396"/>
                </a:lnTo>
                <a:lnTo>
                  <a:pt x="19518" y="106788"/>
                </a:lnTo>
                <a:lnTo>
                  <a:pt x="5071" y="146910"/>
                </a:lnTo>
                <a:lnTo>
                  <a:pt x="0" y="190616"/>
                </a:lnTo>
                <a:lnTo>
                  <a:pt x="5071" y="234323"/>
                </a:lnTo>
                <a:lnTo>
                  <a:pt x="19518" y="274445"/>
                </a:lnTo>
                <a:lnTo>
                  <a:pt x="42187" y="309838"/>
                </a:lnTo>
                <a:lnTo>
                  <a:pt x="71926" y="339358"/>
                </a:lnTo>
                <a:lnTo>
                  <a:pt x="107582" y="361860"/>
                </a:lnTo>
                <a:lnTo>
                  <a:pt x="148002" y="376200"/>
                </a:lnTo>
                <a:lnTo>
                  <a:pt x="192034" y="381234"/>
                </a:lnTo>
                <a:lnTo>
                  <a:pt x="236065" y="376200"/>
                </a:lnTo>
                <a:lnTo>
                  <a:pt x="276485" y="361860"/>
                </a:lnTo>
                <a:lnTo>
                  <a:pt x="312141" y="339358"/>
                </a:lnTo>
                <a:lnTo>
                  <a:pt x="341880" y="309838"/>
                </a:lnTo>
                <a:lnTo>
                  <a:pt x="364549" y="274445"/>
                </a:lnTo>
                <a:lnTo>
                  <a:pt x="378996" y="234323"/>
                </a:lnTo>
                <a:lnTo>
                  <a:pt x="384068" y="190616"/>
                </a:lnTo>
                <a:lnTo>
                  <a:pt x="378996" y="146910"/>
                </a:lnTo>
                <a:lnTo>
                  <a:pt x="364549" y="106788"/>
                </a:lnTo>
                <a:lnTo>
                  <a:pt x="341880" y="71396"/>
                </a:lnTo>
                <a:lnTo>
                  <a:pt x="312141" y="41876"/>
                </a:lnTo>
                <a:lnTo>
                  <a:pt x="276485" y="19374"/>
                </a:lnTo>
                <a:lnTo>
                  <a:pt x="236065" y="5034"/>
                </a:lnTo>
                <a:lnTo>
                  <a:pt x="192034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536702" y="3880006"/>
            <a:ext cx="384175" cy="381635"/>
          </a:xfrm>
          <a:custGeom>
            <a:avLst/>
            <a:gdLst/>
            <a:ahLst/>
            <a:cxnLst/>
            <a:rect l="l" t="t" r="r" b="b"/>
            <a:pathLst>
              <a:path w="384175" h="381635">
                <a:moveTo>
                  <a:pt x="0" y="190617"/>
                </a:moveTo>
                <a:lnTo>
                  <a:pt x="5071" y="146910"/>
                </a:lnTo>
                <a:lnTo>
                  <a:pt x="19518" y="106788"/>
                </a:lnTo>
                <a:lnTo>
                  <a:pt x="42187" y="71395"/>
                </a:lnTo>
                <a:lnTo>
                  <a:pt x="71926" y="41876"/>
                </a:lnTo>
                <a:lnTo>
                  <a:pt x="107582" y="19374"/>
                </a:lnTo>
                <a:lnTo>
                  <a:pt x="148002" y="5034"/>
                </a:lnTo>
                <a:lnTo>
                  <a:pt x="192034" y="0"/>
                </a:lnTo>
                <a:lnTo>
                  <a:pt x="236065" y="5034"/>
                </a:lnTo>
                <a:lnTo>
                  <a:pt x="276485" y="19374"/>
                </a:lnTo>
                <a:lnTo>
                  <a:pt x="312141" y="41876"/>
                </a:lnTo>
                <a:lnTo>
                  <a:pt x="341880" y="71395"/>
                </a:lnTo>
                <a:lnTo>
                  <a:pt x="364549" y="106788"/>
                </a:lnTo>
                <a:lnTo>
                  <a:pt x="378996" y="146910"/>
                </a:lnTo>
                <a:lnTo>
                  <a:pt x="384068" y="190617"/>
                </a:lnTo>
                <a:lnTo>
                  <a:pt x="378996" y="234324"/>
                </a:lnTo>
                <a:lnTo>
                  <a:pt x="364549" y="274446"/>
                </a:lnTo>
                <a:lnTo>
                  <a:pt x="341880" y="309839"/>
                </a:lnTo>
                <a:lnTo>
                  <a:pt x="312141" y="339358"/>
                </a:lnTo>
                <a:lnTo>
                  <a:pt x="276485" y="361860"/>
                </a:lnTo>
                <a:lnTo>
                  <a:pt x="236065" y="376200"/>
                </a:lnTo>
                <a:lnTo>
                  <a:pt x="192034" y="381235"/>
                </a:lnTo>
                <a:lnTo>
                  <a:pt x="148002" y="376200"/>
                </a:lnTo>
                <a:lnTo>
                  <a:pt x="107582" y="361860"/>
                </a:lnTo>
                <a:lnTo>
                  <a:pt x="71926" y="339358"/>
                </a:lnTo>
                <a:lnTo>
                  <a:pt x="42187" y="309839"/>
                </a:lnTo>
                <a:lnTo>
                  <a:pt x="19518" y="274446"/>
                </a:lnTo>
                <a:lnTo>
                  <a:pt x="5071" y="234324"/>
                </a:lnTo>
                <a:lnTo>
                  <a:pt x="0" y="190617"/>
                </a:lnTo>
                <a:close/>
              </a:path>
            </a:pathLst>
          </a:custGeom>
          <a:ln w="38100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892586" y="5467025"/>
            <a:ext cx="795655" cy="499745"/>
          </a:xfrm>
          <a:custGeom>
            <a:avLst/>
            <a:gdLst/>
            <a:ahLst/>
            <a:cxnLst/>
            <a:rect l="l" t="t" r="r" b="b"/>
            <a:pathLst>
              <a:path w="795654" h="499745">
                <a:moveTo>
                  <a:pt x="795105" y="499603"/>
                </a:moveTo>
                <a:lnTo>
                  <a:pt x="0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677738" y="4493691"/>
            <a:ext cx="79375" cy="648335"/>
          </a:xfrm>
          <a:custGeom>
            <a:avLst/>
            <a:gdLst/>
            <a:ahLst/>
            <a:cxnLst/>
            <a:rect l="l" t="t" r="r" b="b"/>
            <a:pathLst>
              <a:path w="79375" h="648335">
                <a:moveTo>
                  <a:pt x="79060" y="647929"/>
                </a:moveTo>
                <a:lnTo>
                  <a:pt x="0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564763" y="5141620"/>
            <a:ext cx="384175" cy="381635"/>
          </a:xfrm>
          <a:custGeom>
            <a:avLst/>
            <a:gdLst/>
            <a:ahLst/>
            <a:cxnLst/>
            <a:rect l="l" t="t" r="r" b="b"/>
            <a:pathLst>
              <a:path w="384175" h="381635">
                <a:moveTo>
                  <a:pt x="192034" y="0"/>
                </a:moveTo>
                <a:lnTo>
                  <a:pt x="148002" y="5034"/>
                </a:lnTo>
                <a:lnTo>
                  <a:pt x="107582" y="19374"/>
                </a:lnTo>
                <a:lnTo>
                  <a:pt x="71926" y="41876"/>
                </a:lnTo>
                <a:lnTo>
                  <a:pt x="42187" y="71396"/>
                </a:lnTo>
                <a:lnTo>
                  <a:pt x="19518" y="106789"/>
                </a:lnTo>
                <a:lnTo>
                  <a:pt x="5071" y="146911"/>
                </a:lnTo>
                <a:lnTo>
                  <a:pt x="0" y="190618"/>
                </a:lnTo>
                <a:lnTo>
                  <a:pt x="5071" y="234324"/>
                </a:lnTo>
                <a:lnTo>
                  <a:pt x="19518" y="274446"/>
                </a:lnTo>
                <a:lnTo>
                  <a:pt x="42187" y="309839"/>
                </a:lnTo>
                <a:lnTo>
                  <a:pt x="71926" y="339358"/>
                </a:lnTo>
                <a:lnTo>
                  <a:pt x="107582" y="361860"/>
                </a:lnTo>
                <a:lnTo>
                  <a:pt x="148002" y="376200"/>
                </a:lnTo>
                <a:lnTo>
                  <a:pt x="192034" y="381234"/>
                </a:lnTo>
                <a:lnTo>
                  <a:pt x="236065" y="376200"/>
                </a:lnTo>
                <a:lnTo>
                  <a:pt x="276485" y="361860"/>
                </a:lnTo>
                <a:lnTo>
                  <a:pt x="312141" y="339358"/>
                </a:lnTo>
                <a:lnTo>
                  <a:pt x="341880" y="309839"/>
                </a:lnTo>
                <a:lnTo>
                  <a:pt x="364549" y="274446"/>
                </a:lnTo>
                <a:lnTo>
                  <a:pt x="378996" y="234324"/>
                </a:lnTo>
                <a:lnTo>
                  <a:pt x="384068" y="190618"/>
                </a:lnTo>
                <a:lnTo>
                  <a:pt x="378996" y="146911"/>
                </a:lnTo>
                <a:lnTo>
                  <a:pt x="364549" y="106789"/>
                </a:lnTo>
                <a:lnTo>
                  <a:pt x="341880" y="71396"/>
                </a:lnTo>
                <a:lnTo>
                  <a:pt x="312141" y="41876"/>
                </a:lnTo>
                <a:lnTo>
                  <a:pt x="276485" y="19374"/>
                </a:lnTo>
                <a:lnTo>
                  <a:pt x="236065" y="5034"/>
                </a:lnTo>
                <a:lnTo>
                  <a:pt x="192034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564763" y="5141620"/>
            <a:ext cx="384175" cy="381635"/>
          </a:xfrm>
          <a:custGeom>
            <a:avLst/>
            <a:gdLst/>
            <a:ahLst/>
            <a:cxnLst/>
            <a:rect l="l" t="t" r="r" b="b"/>
            <a:pathLst>
              <a:path w="384175" h="381635">
                <a:moveTo>
                  <a:pt x="0" y="190617"/>
                </a:moveTo>
                <a:lnTo>
                  <a:pt x="5071" y="146910"/>
                </a:lnTo>
                <a:lnTo>
                  <a:pt x="19518" y="106788"/>
                </a:lnTo>
                <a:lnTo>
                  <a:pt x="42187" y="71395"/>
                </a:lnTo>
                <a:lnTo>
                  <a:pt x="71926" y="41876"/>
                </a:lnTo>
                <a:lnTo>
                  <a:pt x="107582" y="19374"/>
                </a:lnTo>
                <a:lnTo>
                  <a:pt x="148002" y="5034"/>
                </a:lnTo>
                <a:lnTo>
                  <a:pt x="192034" y="0"/>
                </a:lnTo>
                <a:lnTo>
                  <a:pt x="236065" y="5034"/>
                </a:lnTo>
                <a:lnTo>
                  <a:pt x="276485" y="19374"/>
                </a:lnTo>
                <a:lnTo>
                  <a:pt x="312141" y="41876"/>
                </a:lnTo>
                <a:lnTo>
                  <a:pt x="341880" y="71395"/>
                </a:lnTo>
                <a:lnTo>
                  <a:pt x="364549" y="106788"/>
                </a:lnTo>
                <a:lnTo>
                  <a:pt x="378996" y="146910"/>
                </a:lnTo>
                <a:lnTo>
                  <a:pt x="384068" y="190617"/>
                </a:lnTo>
                <a:lnTo>
                  <a:pt x="378996" y="234324"/>
                </a:lnTo>
                <a:lnTo>
                  <a:pt x="364549" y="274446"/>
                </a:lnTo>
                <a:lnTo>
                  <a:pt x="341880" y="309839"/>
                </a:lnTo>
                <a:lnTo>
                  <a:pt x="312141" y="339358"/>
                </a:lnTo>
                <a:lnTo>
                  <a:pt x="276485" y="361860"/>
                </a:lnTo>
                <a:lnTo>
                  <a:pt x="236065" y="376200"/>
                </a:lnTo>
                <a:lnTo>
                  <a:pt x="192034" y="381235"/>
                </a:lnTo>
                <a:lnTo>
                  <a:pt x="148002" y="376200"/>
                </a:lnTo>
                <a:lnTo>
                  <a:pt x="107582" y="361860"/>
                </a:lnTo>
                <a:lnTo>
                  <a:pt x="71926" y="339358"/>
                </a:lnTo>
                <a:lnTo>
                  <a:pt x="42187" y="309839"/>
                </a:lnTo>
                <a:lnTo>
                  <a:pt x="19518" y="274446"/>
                </a:lnTo>
                <a:lnTo>
                  <a:pt x="5071" y="234324"/>
                </a:lnTo>
                <a:lnTo>
                  <a:pt x="0" y="190617"/>
                </a:lnTo>
                <a:close/>
              </a:path>
            </a:pathLst>
          </a:custGeom>
          <a:ln w="38100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631446" y="5910797"/>
            <a:ext cx="384175" cy="381635"/>
          </a:xfrm>
          <a:custGeom>
            <a:avLst/>
            <a:gdLst/>
            <a:ahLst/>
            <a:cxnLst/>
            <a:rect l="l" t="t" r="r" b="b"/>
            <a:pathLst>
              <a:path w="384175" h="381635">
                <a:moveTo>
                  <a:pt x="192034" y="0"/>
                </a:moveTo>
                <a:lnTo>
                  <a:pt x="148002" y="5034"/>
                </a:lnTo>
                <a:lnTo>
                  <a:pt x="107582" y="19374"/>
                </a:lnTo>
                <a:lnTo>
                  <a:pt x="71926" y="41876"/>
                </a:lnTo>
                <a:lnTo>
                  <a:pt x="42187" y="71395"/>
                </a:lnTo>
                <a:lnTo>
                  <a:pt x="19518" y="106788"/>
                </a:lnTo>
                <a:lnTo>
                  <a:pt x="5071" y="146910"/>
                </a:lnTo>
                <a:lnTo>
                  <a:pt x="0" y="190617"/>
                </a:lnTo>
                <a:lnTo>
                  <a:pt x="5071" y="234324"/>
                </a:lnTo>
                <a:lnTo>
                  <a:pt x="19518" y="274446"/>
                </a:lnTo>
                <a:lnTo>
                  <a:pt x="42187" y="309838"/>
                </a:lnTo>
                <a:lnTo>
                  <a:pt x="71926" y="339358"/>
                </a:lnTo>
                <a:lnTo>
                  <a:pt x="107582" y="361860"/>
                </a:lnTo>
                <a:lnTo>
                  <a:pt x="148002" y="376200"/>
                </a:lnTo>
                <a:lnTo>
                  <a:pt x="192034" y="381234"/>
                </a:lnTo>
                <a:lnTo>
                  <a:pt x="236065" y="376200"/>
                </a:lnTo>
                <a:lnTo>
                  <a:pt x="276485" y="361860"/>
                </a:lnTo>
                <a:lnTo>
                  <a:pt x="312140" y="339358"/>
                </a:lnTo>
                <a:lnTo>
                  <a:pt x="341879" y="309838"/>
                </a:lnTo>
                <a:lnTo>
                  <a:pt x="364548" y="274446"/>
                </a:lnTo>
                <a:lnTo>
                  <a:pt x="378995" y="234324"/>
                </a:lnTo>
                <a:lnTo>
                  <a:pt x="384067" y="190617"/>
                </a:lnTo>
                <a:lnTo>
                  <a:pt x="378995" y="146910"/>
                </a:lnTo>
                <a:lnTo>
                  <a:pt x="364548" y="106788"/>
                </a:lnTo>
                <a:lnTo>
                  <a:pt x="341879" y="71395"/>
                </a:lnTo>
                <a:lnTo>
                  <a:pt x="312140" y="41876"/>
                </a:lnTo>
                <a:lnTo>
                  <a:pt x="276485" y="19374"/>
                </a:lnTo>
                <a:lnTo>
                  <a:pt x="236065" y="5034"/>
                </a:lnTo>
                <a:lnTo>
                  <a:pt x="192034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631446" y="5910797"/>
            <a:ext cx="384175" cy="381635"/>
          </a:xfrm>
          <a:custGeom>
            <a:avLst/>
            <a:gdLst/>
            <a:ahLst/>
            <a:cxnLst/>
            <a:rect l="l" t="t" r="r" b="b"/>
            <a:pathLst>
              <a:path w="384175" h="381635">
                <a:moveTo>
                  <a:pt x="0" y="190617"/>
                </a:moveTo>
                <a:lnTo>
                  <a:pt x="5071" y="146910"/>
                </a:lnTo>
                <a:lnTo>
                  <a:pt x="19518" y="106788"/>
                </a:lnTo>
                <a:lnTo>
                  <a:pt x="42187" y="71395"/>
                </a:lnTo>
                <a:lnTo>
                  <a:pt x="71926" y="41876"/>
                </a:lnTo>
                <a:lnTo>
                  <a:pt x="107582" y="19374"/>
                </a:lnTo>
                <a:lnTo>
                  <a:pt x="148002" y="5034"/>
                </a:lnTo>
                <a:lnTo>
                  <a:pt x="192034" y="0"/>
                </a:lnTo>
                <a:lnTo>
                  <a:pt x="236065" y="5034"/>
                </a:lnTo>
                <a:lnTo>
                  <a:pt x="276485" y="19374"/>
                </a:lnTo>
                <a:lnTo>
                  <a:pt x="312141" y="41876"/>
                </a:lnTo>
                <a:lnTo>
                  <a:pt x="341880" y="71395"/>
                </a:lnTo>
                <a:lnTo>
                  <a:pt x="364549" y="106788"/>
                </a:lnTo>
                <a:lnTo>
                  <a:pt x="378996" y="146910"/>
                </a:lnTo>
                <a:lnTo>
                  <a:pt x="384068" y="190617"/>
                </a:lnTo>
                <a:lnTo>
                  <a:pt x="378996" y="234324"/>
                </a:lnTo>
                <a:lnTo>
                  <a:pt x="364549" y="274446"/>
                </a:lnTo>
                <a:lnTo>
                  <a:pt x="341880" y="309839"/>
                </a:lnTo>
                <a:lnTo>
                  <a:pt x="312141" y="339358"/>
                </a:lnTo>
                <a:lnTo>
                  <a:pt x="276485" y="361860"/>
                </a:lnTo>
                <a:lnTo>
                  <a:pt x="236065" y="376200"/>
                </a:lnTo>
                <a:lnTo>
                  <a:pt x="192034" y="381235"/>
                </a:lnTo>
                <a:lnTo>
                  <a:pt x="148002" y="376200"/>
                </a:lnTo>
                <a:lnTo>
                  <a:pt x="107582" y="361860"/>
                </a:lnTo>
                <a:lnTo>
                  <a:pt x="71926" y="339358"/>
                </a:lnTo>
                <a:lnTo>
                  <a:pt x="42187" y="309839"/>
                </a:lnTo>
                <a:lnTo>
                  <a:pt x="19518" y="274446"/>
                </a:lnTo>
                <a:lnTo>
                  <a:pt x="5071" y="234324"/>
                </a:lnTo>
                <a:lnTo>
                  <a:pt x="0" y="190617"/>
                </a:lnTo>
                <a:close/>
              </a:path>
            </a:pathLst>
          </a:custGeom>
          <a:ln w="38100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974010" y="3964043"/>
            <a:ext cx="1436370" cy="242570"/>
          </a:xfrm>
          <a:custGeom>
            <a:avLst/>
            <a:gdLst/>
            <a:ahLst/>
            <a:cxnLst/>
            <a:rect l="l" t="t" r="r" b="b"/>
            <a:pathLst>
              <a:path w="1436370" h="242570">
                <a:moveTo>
                  <a:pt x="97040" y="138445"/>
                </a:moveTo>
                <a:lnTo>
                  <a:pt x="0" y="204061"/>
                </a:lnTo>
                <a:lnTo>
                  <a:pt x="110717" y="242323"/>
                </a:lnTo>
                <a:lnTo>
                  <a:pt x="106458" y="209976"/>
                </a:lnTo>
                <a:lnTo>
                  <a:pt x="88844" y="209976"/>
                </a:lnTo>
                <a:lnTo>
                  <a:pt x="81925" y="209503"/>
                </a:lnTo>
                <a:lnTo>
                  <a:pt x="75934" y="206517"/>
                </a:lnTo>
                <a:lnTo>
                  <a:pt x="71499" y="201502"/>
                </a:lnTo>
                <a:lnTo>
                  <a:pt x="69251" y="194942"/>
                </a:lnTo>
                <a:lnTo>
                  <a:pt x="69725" y="188024"/>
                </a:lnTo>
                <a:lnTo>
                  <a:pt x="72711" y="182033"/>
                </a:lnTo>
                <a:lnTo>
                  <a:pt x="77726" y="177598"/>
                </a:lnTo>
                <a:lnTo>
                  <a:pt x="84286" y="175350"/>
                </a:lnTo>
                <a:lnTo>
                  <a:pt x="101599" y="173070"/>
                </a:lnTo>
                <a:lnTo>
                  <a:pt x="97040" y="138445"/>
                </a:lnTo>
                <a:close/>
              </a:path>
              <a:path w="1436370" h="242570">
                <a:moveTo>
                  <a:pt x="101599" y="173070"/>
                </a:moveTo>
                <a:lnTo>
                  <a:pt x="69251" y="194942"/>
                </a:lnTo>
                <a:lnTo>
                  <a:pt x="71499" y="201502"/>
                </a:lnTo>
                <a:lnTo>
                  <a:pt x="75934" y="206517"/>
                </a:lnTo>
                <a:lnTo>
                  <a:pt x="81925" y="209503"/>
                </a:lnTo>
                <a:lnTo>
                  <a:pt x="88844" y="209976"/>
                </a:lnTo>
                <a:lnTo>
                  <a:pt x="106158" y="207697"/>
                </a:lnTo>
                <a:lnTo>
                  <a:pt x="101599" y="173070"/>
                </a:lnTo>
                <a:close/>
              </a:path>
              <a:path w="1436370" h="242570">
                <a:moveTo>
                  <a:pt x="106158" y="207697"/>
                </a:moveTo>
                <a:lnTo>
                  <a:pt x="88844" y="209976"/>
                </a:lnTo>
                <a:lnTo>
                  <a:pt x="106458" y="209976"/>
                </a:lnTo>
                <a:lnTo>
                  <a:pt x="106158" y="207697"/>
                </a:lnTo>
                <a:close/>
              </a:path>
              <a:path w="1436370" h="242570">
                <a:moveTo>
                  <a:pt x="1416163" y="0"/>
                </a:moveTo>
                <a:lnTo>
                  <a:pt x="101599" y="173070"/>
                </a:lnTo>
                <a:lnTo>
                  <a:pt x="106158" y="207697"/>
                </a:lnTo>
                <a:lnTo>
                  <a:pt x="1420721" y="34626"/>
                </a:lnTo>
                <a:lnTo>
                  <a:pt x="1427281" y="32378"/>
                </a:lnTo>
                <a:lnTo>
                  <a:pt x="1432295" y="27944"/>
                </a:lnTo>
                <a:lnTo>
                  <a:pt x="1435281" y="21952"/>
                </a:lnTo>
                <a:lnTo>
                  <a:pt x="1435755" y="15034"/>
                </a:lnTo>
                <a:lnTo>
                  <a:pt x="1433507" y="8474"/>
                </a:lnTo>
                <a:lnTo>
                  <a:pt x="1429072" y="3459"/>
                </a:lnTo>
                <a:lnTo>
                  <a:pt x="1423081" y="473"/>
                </a:lnTo>
                <a:lnTo>
                  <a:pt x="1416163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446871" y="4467425"/>
            <a:ext cx="160655" cy="690880"/>
          </a:xfrm>
          <a:custGeom>
            <a:avLst/>
            <a:gdLst/>
            <a:ahLst/>
            <a:cxnLst/>
            <a:rect l="l" t="t" r="r" b="b"/>
            <a:pathLst>
              <a:path w="160654" h="690879">
                <a:moveTo>
                  <a:pt x="68967" y="100686"/>
                </a:moveTo>
                <a:lnTo>
                  <a:pt x="125910" y="676023"/>
                </a:lnTo>
                <a:lnTo>
                  <a:pt x="145919" y="690498"/>
                </a:lnTo>
                <a:lnTo>
                  <a:pt x="152413" y="688067"/>
                </a:lnTo>
                <a:lnTo>
                  <a:pt x="157300" y="683492"/>
                </a:lnTo>
                <a:lnTo>
                  <a:pt x="160116" y="677418"/>
                </a:lnTo>
                <a:lnTo>
                  <a:pt x="160394" y="670490"/>
                </a:lnTo>
                <a:lnTo>
                  <a:pt x="68967" y="100686"/>
                </a:lnTo>
                <a:close/>
              </a:path>
              <a:path w="160654" h="690879">
                <a:moveTo>
                  <a:pt x="35126" y="0"/>
                </a:moveTo>
                <a:lnTo>
                  <a:pt x="0" y="111752"/>
                </a:lnTo>
                <a:lnTo>
                  <a:pt x="34484" y="106219"/>
                </a:lnTo>
                <a:lnTo>
                  <a:pt x="31718" y="88977"/>
                </a:lnTo>
                <a:lnTo>
                  <a:pt x="31996" y="82048"/>
                </a:lnTo>
                <a:lnTo>
                  <a:pt x="34812" y="75975"/>
                </a:lnTo>
                <a:lnTo>
                  <a:pt x="39699" y="71400"/>
                </a:lnTo>
                <a:lnTo>
                  <a:pt x="46193" y="68968"/>
                </a:lnTo>
                <a:lnTo>
                  <a:pt x="84650" y="68968"/>
                </a:lnTo>
                <a:lnTo>
                  <a:pt x="35126" y="0"/>
                </a:lnTo>
                <a:close/>
              </a:path>
              <a:path w="160654" h="690879">
                <a:moveTo>
                  <a:pt x="46193" y="68968"/>
                </a:moveTo>
                <a:lnTo>
                  <a:pt x="39699" y="71400"/>
                </a:lnTo>
                <a:lnTo>
                  <a:pt x="34812" y="75975"/>
                </a:lnTo>
                <a:lnTo>
                  <a:pt x="31996" y="82048"/>
                </a:lnTo>
                <a:lnTo>
                  <a:pt x="31718" y="88977"/>
                </a:lnTo>
                <a:lnTo>
                  <a:pt x="34484" y="106219"/>
                </a:lnTo>
                <a:lnTo>
                  <a:pt x="68967" y="100686"/>
                </a:lnTo>
                <a:lnTo>
                  <a:pt x="66201" y="83444"/>
                </a:lnTo>
                <a:lnTo>
                  <a:pt x="63769" y="76950"/>
                </a:lnTo>
                <a:lnTo>
                  <a:pt x="59195" y="72062"/>
                </a:lnTo>
                <a:lnTo>
                  <a:pt x="53122" y="69246"/>
                </a:lnTo>
                <a:lnTo>
                  <a:pt x="46193" y="68968"/>
                </a:lnTo>
                <a:close/>
              </a:path>
              <a:path w="160654" h="690879">
                <a:moveTo>
                  <a:pt x="84650" y="68968"/>
                </a:moveTo>
                <a:lnTo>
                  <a:pt x="46193" y="68968"/>
                </a:lnTo>
                <a:lnTo>
                  <a:pt x="53122" y="69246"/>
                </a:lnTo>
                <a:lnTo>
                  <a:pt x="59195" y="72062"/>
                </a:lnTo>
                <a:lnTo>
                  <a:pt x="63769" y="76950"/>
                </a:lnTo>
                <a:lnTo>
                  <a:pt x="66201" y="83444"/>
                </a:lnTo>
                <a:lnTo>
                  <a:pt x="68967" y="100686"/>
                </a:lnTo>
                <a:lnTo>
                  <a:pt x="103452" y="95153"/>
                </a:lnTo>
                <a:lnTo>
                  <a:pt x="84650" y="68968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966719" y="4348189"/>
            <a:ext cx="1402080" cy="608965"/>
          </a:xfrm>
          <a:custGeom>
            <a:avLst/>
            <a:gdLst/>
            <a:ahLst/>
            <a:cxnLst/>
            <a:rect l="l" t="t" r="r" b="b"/>
            <a:pathLst>
              <a:path w="1402079" h="608964">
                <a:moveTo>
                  <a:pt x="103333" y="32184"/>
                </a:moveTo>
                <a:lnTo>
                  <a:pt x="89772" y="64367"/>
                </a:lnTo>
                <a:lnTo>
                  <a:pt x="1377450" y="606986"/>
                </a:lnTo>
                <a:lnTo>
                  <a:pt x="1384247" y="608361"/>
                </a:lnTo>
                <a:lnTo>
                  <a:pt x="1390816" y="607068"/>
                </a:lnTo>
                <a:lnTo>
                  <a:pt x="1396420" y="603406"/>
                </a:lnTo>
                <a:lnTo>
                  <a:pt x="1400324" y="597675"/>
                </a:lnTo>
                <a:lnTo>
                  <a:pt x="1401699" y="590879"/>
                </a:lnTo>
                <a:lnTo>
                  <a:pt x="1400406" y="584310"/>
                </a:lnTo>
                <a:lnTo>
                  <a:pt x="1396744" y="578706"/>
                </a:lnTo>
                <a:lnTo>
                  <a:pt x="1391013" y="574801"/>
                </a:lnTo>
                <a:lnTo>
                  <a:pt x="103333" y="32184"/>
                </a:lnTo>
                <a:close/>
              </a:path>
              <a:path w="1402079" h="608964">
                <a:moveTo>
                  <a:pt x="116895" y="0"/>
                </a:moveTo>
                <a:lnTo>
                  <a:pt x="0" y="7589"/>
                </a:lnTo>
                <a:lnTo>
                  <a:pt x="76210" y="96551"/>
                </a:lnTo>
                <a:lnTo>
                  <a:pt x="89772" y="64367"/>
                </a:lnTo>
                <a:lnTo>
                  <a:pt x="73680" y="57586"/>
                </a:lnTo>
                <a:lnTo>
                  <a:pt x="67949" y="53683"/>
                </a:lnTo>
                <a:lnTo>
                  <a:pt x="64287" y="48079"/>
                </a:lnTo>
                <a:lnTo>
                  <a:pt x="62994" y="41510"/>
                </a:lnTo>
                <a:lnTo>
                  <a:pt x="64369" y="34714"/>
                </a:lnTo>
                <a:lnTo>
                  <a:pt x="68274" y="28983"/>
                </a:lnTo>
                <a:lnTo>
                  <a:pt x="73877" y="25321"/>
                </a:lnTo>
                <a:lnTo>
                  <a:pt x="80446" y="24028"/>
                </a:lnTo>
                <a:lnTo>
                  <a:pt x="106770" y="24028"/>
                </a:lnTo>
                <a:lnTo>
                  <a:pt x="116895" y="0"/>
                </a:lnTo>
                <a:close/>
              </a:path>
              <a:path w="1402079" h="608964">
                <a:moveTo>
                  <a:pt x="80446" y="24028"/>
                </a:moveTo>
                <a:lnTo>
                  <a:pt x="73877" y="25321"/>
                </a:lnTo>
                <a:lnTo>
                  <a:pt x="68274" y="28983"/>
                </a:lnTo>
                <a:lnTo>
                  <a:pt x="64369" y="34714"/>
                </a:lnTo>
                <a:lnTo>
                  <a:pt x="62994" y="41510"/>
                </a:lnTo>
                <a:lnTo>
                  <a:pt x="64287" y="48079"/>
                </a:lnTo>
                <a:lnTo>
                  <a:pt x="67949" y="53683"/>
                </a:lnTo>
                <a:lnTo>
                  <a:pt x="73680" y="57586"/>
                </a:lnTo>
                <a:lnTo>
                  <a:pt x="89772" y="64367"/>
                </a:lnTo>
                <a:lnTo>
                  <a:pt x="103333" y="32184"/>
                </a:lnTo>
                <a:lnTo>
                  <a:pt x="87242" y="25403"/>
                </a:lnTo>
                <a:lnTo>
                  <a:pt x="80446" y="24028"/>
                </a:lnTo>
                <a:close/>
              </a:path>
              <a:path w="1402079" h="608964">
                <a:moveTo>
                  <a:pt x="106770" y="24028"/>
                </a:moveTo>
                <a:lnTo>
                  <a:pt x="80446" y="24028"/>
                </a:lnTo>
                <a:lnTo>
                  <a:pt x="87242" y="25403"/>
                </a:lnTo>
                <a:lnTo>
                  <a:pt x="103333" y="32184"/>
                </a:lnTo>
                <a:lnTo>
                  <a:pt x="106770" y="24028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464030" y="4112483"/>
            <a:ext cx="383540" cy="382905"/>
          </a:xfrm>
          <a:custGeom>
            <a:avLst/>
            <a:gdLst/>
            <a:ahLst/>
            <a:cxnLst/>
            <a:rect l="l" t="t" r="r" b="b"/>
            <a:pathLst>
              <a:path w="383540" h="382904">
                <a:moveTo>
                  <a:pt x="190229" y="0"/>
                </a:moveTo>
                <a:lnTo>
                  <a:pt x="148576" y="4557"/>
                </a:lnTo>
                <a:lnTo>
                  <a:pt x="108792" y="18114"/>
                </a:lnTo>
                <a:lnTo>
                  <a:pt x="72492" y="40492"/>
                </a:lnTo>
                <a:lnTo>
                  <a:pt x="41291" y="71517"/>
                </a:lnTo>
                <a:lnTo>
                  <a:pt x="18024" y="108862"/>
                </a:lnTo>
                <a:lnTo>
                  <a:pt x="4323" y="149245"/>
                </a:lnTo>
                <a:lnTo>
                  <a:pt x="0" y="191052"/>
                </a:lnTo>
                <a:lnTo>
                  <a:pt x="4865" y="232671"/>
                </a:lnTo>
                <a:lnTo>
                  <a:pt x="18732" y="272488"/>
                </a:lnTo>
                <a:lnTo>
                  <a:pt x="41410" y="308890"/>
                </a:lnTo>
                <a:lnTo>
                  <a:pt x="72712" y="340264"/>
                </a:lnTo>
                <a:lnTo>
                  <a:pt x="110288" y="363763"/>
                </a:lnTo>
                <a:lnTo>
                  <a:pt x="150837" y="377733"/>
                </a:lnTo>
                <a:lnTo>
                  <a:pt x="192746" y="382351"/>
                </a:lnTo>
                <a:lnTo>
                  <a:pt x="234400" y="377793"/>
                </a:lnTo>
                <a:lnTo>
                  <a:pt x="274184" y="364236"/>
                </a:lnTo>
                <a:lnTo>
                  <a:pt x="310484" y="341857"/>
                </a:lnTo>
                <a:lnTo>
                  <a:pt x="341684" y="310833"/>
                </a:lnTo>
                <a:lnTo>
                  <a:pt x="364952" y="273488"/>
                </a:lnTo>
                <a:lnTo>
                  <a:pt x="378653" y="233105"/>
                </a:lnTo>
                <a:lnTo>
                  <a:pt x="382976" y="191298"/>
                </a:lnTo>
                <a:lnTo>
                  <a:pt x="378110" y="149679"/>
                </a:lnTo>
                <a:lnTo>
                  <a:pt x="364243" y="109862"/>
                </a:lnTo>
                <a:lnTo>
                  <a:pt x="341565" y="73461"/>
                </a:lnTo>
                <a:lnTo>
                  <a:pt x="310263" y="42087"/>
                </a:lnTo>
                <a:lnTo>
                  <a:pt x="272687" y="18588"/>
                </a:lnTo>
                <a:lnTo>
                  <a:pt x="232138" y="4618"/>
                </a:lnTo>
                <a:lnTo>
                  <a:pt x="190229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464030" y="4112484"/>
            <a:ext cx="383540" cy="382905"/>
          </a:xfrm>
          <a:custGeom>
            <a:avLst/>
            <a:gdLst/>
            <a:ahLst/>
            <a:cxnLst/>
            <a:rect l="l" t="t" r="r" b="b"/>
            <a:pathLst>
              <a:path w="383540" h="382904">
                <a:moveTo>
                  <a:pt x="341684" y="310833"/>
                </a:moveTo>
                <a:lnTo>
                  <a:pt x="310483" y="341857"/>
                </a:lnTo>
                <a:lnTo>
                  <a:pt x="274184" y="364236"/>
                </a:lnTo>
                <a:lnTo>
                  <a:pt x="234400" y="377793"/>
                </a:lnTo>
                <a:lnTo>
                  <a:pt x="192746" y="382351"/>
                </a:lnTo>
                <a:lnTo>
                  <a:pt x="150837" y="377733"/>
                </a:lnTo>
                <a:lnTo>
                  <a:pt x="110288" y="363763"/>
                </a:lnTo>
                <a:lnTo>
                  <a:pt x="72712" y="340264"/>
                </a:lnTo>
                <a:lnTo>
                  <a:pt x="41410" y="308890"/>
                </a:lnTo>
                <a:lnTo>
                  <a:pt x="18732" y="272488"/>
                </a:lnTo>
                <a:lnTo>
                  <a:pt x="4865" y="232671"/>
                </a:lnTo>
                <a:lnTo>
                  <a:pt x="0" y="191052"/>
                </a:lnTo>
                <a:lnTo>
                  <a:pt x="4323" y="149245"/>
                </a:lnTo>
                <a:lnTo>
                  <a:pt x="18024" y="108862"/>
                </a:lnTo>
                <a:lnTo>
                  <a:pt x="41291" y="71517"/>
                </a:lnTo>
                <a:lnTo>
                  <a:pt x="72492" y="40493"/>
                </a:lnTo>
                <a:lnTo>
                  <a:pt x="108791" y="18114"/>
                </a:lnTo>
                <a:lnTo>
                  <a:pt x="148575" y="4557"/>
                </a:lnTo>
                <a:lnTo>
                  <a:pt x="190229" y="0"/>
                </a:lnTo>
                <a:lnTo>
                  <a:pt x="232138" y="4617"/>
                </a:lnTo>
                <a:lnTo>
                  <a:pt x="272687" y="18587"/>
                </a:lnTo>
                <a:lnTo>
                  <a:pt x="310263" y="42086"/>
                </a:lnTo>
                <a:lnTo>
                  <a:pt x="341565" y="73460"/>
                </a:lnTo>
                <a:lnTo>
                  <a:pt x="364243" y="109862"/>
                </a:lnTo>
                <a:lnTo>
                  <a:pt x="378110" y="149679"/>
                </a:lnTo>
                <a:lnTo>
                  <a:pt x="382976" y="191298"/>
                </a:lnTo>
                <a:lnTo>
                  <a:pt x="378652" y="233105"/>
                </a:lnTo>
                <a:lnTo>
                  <a:pt x="364951" y="273488"/>
                </a:lnTo>
                <a:lnTo>
                  <a:pt x="341684" y="310833"/>
                </a:lnTo>
                <a:close/>
              </a:path>
            </a:pathLst>
          </a:custGeom>
          <a:ln w="38100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216248" y="3943289"/>
            <a:ext cx="437515" cy="412115"/>
          </a:xfrm>
          <a:custGeom>
            <a:avLst/>
            <a:gdLst/>
            <a:ahLst/>
            <a:cxnLst/>
            <a:rect l="l" t="t" r="r" b="b"/>
            <a:pathLst>
              <a:path w="437515" h="412114">
                <a:moveTo>
                  <a:pt x="92174" y="0"/>
                </a:moveTo>
                <a:lnTo>
                  <a:pt x="49349" y="8366"/>
                </a:lnTo>
                <a:lnTo>
                  <a:pt x="17228" y="31165"/>
                </a:lnTo>
                <a:lnTo>
                  <a:pt x="1697" y="66842"/>
                </a:lnTo>
                <a:lnTo>
                  <a:pt x="0" y="85897"/>
                </a:lnTo>
                <a:lnTo>
                  <a:pt x="22" y="88146"/>
                </a:lnTo>
                <a:lnTo>
                  <a:pt x="5758" y="130652"/>
                </a:lnTo>
                <a:lnTo>
                  <a:pt x="22714" y="179655"/>
                </a:lnTo>
                <a:lnTo>
                  <a:pt x="49374" y="231259"/>
                </a:lnTo>
                <a:lnTo>
                  <a:pt x="84599" y="283770"/>
                </a:lnTo>
                <a:lnTo>
                  <a:pt x="127339" y="335306"/>
                </a:lnTo>
                <a:lnTo>
                  <a:pt x="176578" y="383893"/>
                </a:lnTo>
                <a:lnTo>
                  <a:pt x="209357" y="411532"/>
                </a:lnTo>
                <a:lnTo>
                  <a:pt x="218372" y="410761"/>
                </a:lnTo>
                <a:lnTo>
                  <a:pt x="228539" y="398691"/>
                </a:lnTo>
                <a:lnTo>
                  <a:pt x="227767" y="389677"/>
                </a:lnTo>
                <a:lnTo>
                  <a:pt x="196119" y="363042"/>
                </a:lnTo>
                <a:lnTo>
                  <a:pt x="171783" y="340262"/>
                </a:lnTo>
                <a:lnTo>
                  <a:pt x="127529" y="292084"/>
                </a:lnTo>
                <a:lnTo>
                  <a:pt x="90121" y="242223"/>
                </a:lnTo>
                <a:lnTo>
                  <a:pt x="60686" y="192904"/>
                </a:lnTo>
                <a:lnTo>
                  <a:pt x="40302" y="146486"/>
                </a:lnTo>
                <a:lnTo>
                  <a:pt x="29867" y="105600"/>
                </a:lnTo>
                <a:lnTo>
                  <a:pt x="28664" y="88146"/>
                </a:lnTo>
                <a:lnTo>
                  <a:pt x="28486" y="88146"/>
                </a:lnTo>
                <a:lnTo>
                  <a:pt x="28509" y="85897"/>
                </a:lnTo>
                <a:lnTo>
                  <a:pt x="28687" y="85897"/>
                </a:lnTo>
                <a:lnTo>
                  <a:pt x="29824" y="73143"/>
                </a:lnTo>
                <a:lnTo>
                  <a:pt x="29537" y="73143"/>
                </a:lnTo>
                <a:lnTo>
                  <a:pt x="30075" y="70331"/>
                </a:lnTo>
                <a:lnTo>
                  <a:pt x="30374" y="70331"/>
                </a:lnTo>
                <a:lnTo>
                  <a:pt x="33244" y="60697"/>
                </a:lnTo>
                <a:lnTo>
                  <a:pt x="32793" y="60697"/>
                </a:lnTo>
                <a:lnTo>
                  <a:pt x="34204" y="57475"/>
                </a:lnTo>
                <a:lnTo>
                  <a:pt x="34708" y="57475"/>
                </a:lnTo>
                <a:lnTo>
                  <a:pt x="39244" y="49843"/>
                </a:lnTo>
                <a:lnTo>
                  <a:pt x="38877" y="49843"/>
                </a:lnTo>
                <a:lnTo>
                  <a:pt x="40675" y="47437"/>
                </a:lnTo>
                <a:lnTo>
                  <a:pt x="41106" y="47437"/>
                </a:lnTo>
                <a:lnTo>
                  <a:pt x="42798" y="45609"/>
                </a:lnTo>
                <a:lnTo>
                  <a:pt x="42600" y="45609"/>
                </a:lnTo>
                <a:lnTo>
                  <a:pt x="44088" y="44216"/>
                </a:lnTo>
                <a:lnTo>
                  <a:pt x="44319" y="44216"/>
                </a:lnTo>
                <a:lnTo>
                  <a:pt x="46810" y="42198"/>
                </a:lnTo>
                <a:lnTo>
                  <a:pt x="46395" y="42198"/>
                </a:lnTo>
                <a:lnTo>
                  <a:pt x="48673" y="40688"/>
                </a:lnTo>
                <a:lnTo>
                  <a:pt x="49230" y="40688"/>
                </a:lnTo>
                <a:lnTo>
                  <a:pt x="58881" y="35548"/>
                </a:lnTo>
                <a:lnTo>
                  <a:pt x="58222" y="35548"/>
                </a:lnTo>
                <a:lnTo>
                  <a:pt x="60979" y="34430"/>
                </a:lnTo>
                <a:lnTo>
                  <a:pt x="62097" y="34430"/>
                </a:lnTo>
                <a:lnTo>
                  <a:pt x="74230" y="30932"/>
                </a:lnTo>
                <a:lnTo>
                  <a:pt x="73569" y="30932"/>
                </a:lnTo>
                <a:lnTo>
                  <a:pt x="75807" y="30477"/>
                </a:lnTo>
                <a:lnTo>
                  <a:pt x="77142" y="30477"/>
                </a:lnTo>
                <a:lnTo>
                  <a:pt x="92094" y="28575"/>
                </a:lnTo>
                <a:lnTo>
                  <a:pt x="238682" y="28567"/>
                </a:lnTo>
                <a:lnTo>
                  <a:pt x="228642" y="24771"/>
                </a:lnTo>
                <a:lnTo>
                  <a:pt x="198622" y="15215"/>
                </a:lnTo>
                <a:lnTo>
                  <a:pt x="169714" y="7860"/>
                </a:lnTo>
                <a:lnTo>
                  <a:pt x="142177" y="2799"/>
                </a:lnTo>
                <a:lnTo>
                  <a:pt x="116256" y="135"/>
                </a:lnTo>
                <a:lnTo>
                  <a:pt x="92174" y="0"/>
                </a:lnTo>
                <a:close/>
              </a:path>
              <a:path w="437515" h="412114">
                <a:moveTo>
                  <a:pt x="358552" y="120043"/>
                </a:moveTo>
                <a:lnTo>
                  <a:pt x="342452" y="142968"/>
                </a:lnTo>
                <a:lnTo>
                  <a:pt x="437238" y="157162"/>
                </a:lnTo>
                <a:lnTo>
                  <a:pt x="423868" y="132387"/>
                </a:lnTo>
                <a:lnTo>
                  <a:pt x="377650" y="132387"/>
                </a:lnTo>
                <a:lnTo>
                  <a:pt x="358552" y="120043"/>
                </a:lnTo>
                <a:close/>
              </a:path>
              <a:path w="437515" h="412114">
                <a:moveTo>
                  <a:pt x="374987" y="96642"/>
                </a:moveTo>
                <a:lnTo>
                  <a:pt x="358552" y="120043"/>
                </a:lnTo>
                <a:lnTo>
                  <a:pt x="377650" y="132387"/>
                </a:lnTo>
                <a:lnTo>
                  <a:pt x="386494" y="130487"/>
                </a:lnTo>
                <a:lnTo>
                  <a:pt x="395060" y="117233"/>
                </a:lnTo>
                <a:lnTo>
                  <a:pt x="393160" y="108389"/>
                </a:lnTo>
                <a:lnTo>
                  <a:pt x="374987" y="96642"/>
                </a:lnTo>
                <a:close/>
              </a:path>
              <a:path w="437515" h="412114">
                <a:moveTo>
                  <a:pt x="391720" y="72816"/>
                </a:moveTo>
                <a:lnTo>
                  <a:pt x="374987" y="96642"/>
                </a:lnTo>
                <a:lnTo>
                  <a:pt x="393160" y="108389"/>
                </a:lnTo>
                <a:lnTo>
                  <a:pt x="395060" y="117233"/>
                </a:lnTo>
                <a:lnTo>
                  <a:pt x="386494" y="130487"/>
                </a:lnTo>
                <a:lnTo>
                  <a:pt x="377650" y="132387"/>
                </a:lnTo>
                <a:lnTo>
                  <a:pt x="423868" y="132387"/>
                </a:lnTo>
                <a:lnTo>
                  <a:pt x="391720" y="72816"/>
                </a:lnTo>
                <a:close/>
              </a:path>
              <a:path w="437515" h="412114">
                <a:moveTo>
                  <a:pt x="238682" y="28567"/>
                </a:moveTo>
                <a:lnTo>
                  <a:pt x="113386" y="28567"/>
                </a:lnTo>
                <a:lnTo>
                  <a:pt x="137171" y="30932"/>
                </a:lnTo>
                <a:lnTo>
                  <a:pt x="162691" y="35558"/>
                </a:lnTo>
                <a:lnTo>
                  <a:pt x="218551" y="51504"/>
                </a:lnTo>
                <a:lnTo>
                  <a:pt x="278290" y="75765"/>
                </a:lnTo>
                <a:lnTo>
                  <a:pt x="339084" y="107461"/>
                </a:lnTo>
                <a:lnTo>
                  <a:pt x="358552" y="120043"/>
                </a:lnTo>
                <a:lnTo>
                  <a:pt x="374987" y="96642"/>
                </a:lnTo>
                <a:lnTo>
                  <a:pt x="354596" y="83461"/>
                </a:lnTo>
                <a:lnTo>
                  <a:pt x="322625" y="65777"/>
                </a:lnTo>
                <a:lnTo>
                  <a:pt x="290924" y="50135"/>
                </a:lnTo>
                <a:lnTo>
                  <a:pt x="259502" y="36438"/>
                </a:lnTo>
                <a:lnTo>
                  <a:pt x="238682" y="28567"/>
                </a:lnTo>
                <a:close/>
              </a:path>
              <a:path w="437515" h="412114">
                <a:moveTo>
                  <a:pt x="28587" y="87021"/>
                </a:moveTo>
                <a:lnTo>
                  <a:pt x="28486" y="88146"/>
                </a:lnTo>
                <a:lnTo>
                  <a:pt x="28664" y="88146"/>
                </a:lnTo>
                <a:lnTo>
                  <a:pt x="28587" y="87021"/>
                </a:lnTo>
                <a:close/>
              </a:path>
              <a:path w="437515" h="412114">
                <a:moveTo>
                  <a:pt x="28687" y="85897"/>
                </a:moveTo>
                <a:lnTo>
                  <a:pt x="28509" y="85897"/>
                </a:lnTo>
                <a:lnTo>
                  <a:pt x="28587" y="87021"/>
                </a:lnTo>
                <a:lnTo>
                  <a:pt x="28687" y="85897"/>
                </a:lnTo>
                <a:close/>
              </a:path>
              <a:path w="437515" h="412114">
                <a:moveTo>
                  <a:pt x="30075" y="70331"/>
                </a:moveTo>
                <a:lnTo>
                  <a:pt x="29537" y="73143"/>
                </a:lnTo>
                <a:lnTo>
                  <a:pt x="29947" y="71764"/>
                </a:lnTo>
                <a:lnTo>
                  <a:pt x="30075" y="70331"/>
                </a:lnTo>
                <a:close/>
              </a:path>
              <a:path w="437515" h="412114">
                <a:moveTo>
                  <a:pt x="29947" y="71764"/>
                </a:moveTo>
                <a:lnTo>
                  <a:pt x="29537" y="73143"/>
                </a:lnTo>
                <a:lnTo>
                  <a:pt x="29824" y="73143"/>
                </a:lnTo>
                <a:lnTo>
                  <a:pt x="29947" y="71764"/>
                </a:lnTo>
                <a:close/>
              </a:path>
              <a:path w="437515" h="412114">
                <a:moveTo>
                  <a:pt x="30374" y="70331"/>
                </a:moveTo>
                <a:lnTo>
                  <a:pt x="30075" y="70331"/>
                </a:lnTo>
                <a:lnTo>
                  <a:pt x="29947" y="71764"/>
                </a:lnTo>
                <a:lnTo>
                  <a:pt x="30374" y="70331"/>
                </a:lnTo>
                <a:close/>
              </a:path>
              <a:path w="437515" h="412114">
                <a:moveTo>
                  <a:pt x="34204" y="57475"/>
                </a:moveTo>
                <a:lnTo>
                  <a:pt x="32793" y="60697"/>
                </a:lnTo>
                <a:lnTo>
                  <a:pt x="33697" y="59175"/>
                </a:lnTo>
                <a:lnTo>
                  <a:pt x="34204" y="57475"/>
                </a:lnTo>
                <a:close/>
              </a:path>
              <a:path w="437515" h="412114">
                <a:moveTo>
                  <a:pt x="33697" y="59175"/>
                </a:moveTo>
                <a:lnTo>
                  <a:pt x="32793" y="60697"/>
                </a:lnTo>
                <a:lnTo>
                  <a:pt x="33244" y="60697"/>
                </a:lnTo>
                <a:lnTo>
                  <a:pt x="33697" y="59175"/>
                </a:lnTo>
                <a:close/>
              </a:path>
              <a:path w="437515" h="412114">
                <a:moveTo>
                  <a:pt x="34708" y="57475"/>
                </a:moveTo>
                <a:lnTo>
                  <a:pt x="34204" y="57475"/>
                </a:lnTo>
                <a:lnTo>
                  <a:pt x="33697" y="59175"/>
                </a:lnTo>
                <a:lnTo>
                  <a:pt x="34708" y="57475"/>
                </a:lnTo>
                <a:close/>
              </a:path>
              <a:path w="437515" h="412114">
                <a:moveTo>
                  <a:pt x="40675" y="47437"/>
                </a:moveTo>
                <a:lnTo>
                  <a:pt x="38877" y="49843"/>
                </a:lnTo>
                <a:lnTo>
                  <a:pt x="39901" y="48738"/>
                </a:lnTo>
                <a:lnTo>
                  <a:pt x="40675" y="47437"/>
                </a:lnTo>
                <a:close/>
              </a:path>
              <a:path w="437515" h="412114">
                <a:moveTo>
                  <a:pt x="39901" y="48738"/>
                </a:moveTo>
                <a:lnTo>
                  <a:pt x="38877" y="49843"/>
                </a:lnTo>
                <a:lnTo>
                  <a:pt x="39244" y="49843"/>
                </a:lnTo>
                <a:lnTo>
                  <a:pt x="39901" y="48738"/>
                </a:lnTo>
                <a:close/>
              </a:path>
              <a:path w="437515" h="412114">
                <a:moveTo>
                  <a:pt x="41106" y="47437"/>
                </a:moveTo>
                <a:lnTo>
                  <a:pt x="40675" y="47437"/>
                </a:lnTo>
                <a:lnTo>
                  <a:pt x="39901" y="48738"/>
                </a:lnTo>
                <a:lnTo>
                  <a:pt x="41106" y="47437"/>
                </a:lnTo>
                <a:close/>
              </a:path>
              <a:path w="437515" h="412114">
                <a:moveTo>
                  <a:pt x="44088" y="44216"/>
                </a:moveTo>
                <a:lnTo>
                  <a:pt x="42600" y="45609"/>
                </a:lnTo>
                <a:lnTo>
                  <a:pt x="43394" y="44965"/>
                </a:lnTo>
                <a:lnTo>
                  <a:pt x="44088" y="44216"/>
                </a:lnTo>
                <a:close/>
              </a:path>
              <a:path w="437515" h="412114">
                <a:moveTo>
                  <a:pt x="43394" y="44965"/>
                </a:moveTo>
                <a:lnTo>
                  <a:pt x="42600" y="45609"/>
                </a:lnTo>
                <a:lnTo>
                  <a:pt x="42798" y="45609"/>
                </a:lnTo>
                <a:lnTo>
                  <a:pt x="43394" y="44965"/>
                </a:lnTo>
                <a:close/>
              </a:path>
              <a:path w="437515" h="412114">
                <a:moveTo>
                  <a:pt x="44319" y="44216"/>
                </a:moveTo>
                <a:lnTo>
                  <a:pt x="44088" y="44216"/>
                </a:lnTo>
                <a:lnTo>
                  <a:pt x="43394" y="44965"/>
                </a:lnTo>
                <a:lnTo>
                  <a:pt x="44319" y="44216"/>
                </a:lnTo>
                <a:close/>
              </a:path>
              <a:path w="437515" h="412114">
                <a:moveTo>
                  <a:pt x="48673" y="40688"/>
                </a:moveTo>
                <a:lnTo>
                  <a:pt x="46395" y="42198"/>
                </a:lnTo>
                <a:lnTo>
                  <a:pt x="47605" y="41553"/>
                </a:lnTo>
                <a:lnTo>
                  <a:pt x="48673" y="40688"/>
                </a:lnTo>
                <a:close/>
              </a:path>
              <a:path w="437515" h="412114">
                <a:moveTo>
                  <a:pt x="47605" y="41553"/>
                </a:moveTo>
                <a:lnTo>
                  <a:pt x="46395" y="42198"/>
                </a:lnTo>
                <a:lnTo>
                  <a:pt x="46810" y="42198"/>
                </a:lnTo>
                <a:lnTo>
                  <a:pt x="47605" y="41553"/>
                </a:lnTo>
                <a:close/>
              </a:path>
              <a:path w="437515" h="412114">
                <a:moveTo>
                  <a:pt x="49230" y="40688"/>
                </a:moveTo>
                <a:lnTo>
                  <a:pt x="48673" y="40688"/>
                </a:lnTo>
                <a:lnTo>
                  <a:pt x="47605" y="41553"/>
                </a:lnTo>
                <a:lnTo>
                  <a:pt x="49230" y="40688"/>
                </a:lnTo>
                <a:close/>
              </a:path>
              <a:path w="437515" h="412114">
                <a:moveTo>
                  <a:pt x="60979" y="34430"/>
                </a:moveTo>
                <a:lnTo>
                  <a:pt x="58222" y="35548"/>
                </a:lnTo>
                <a:lnTo>
                  <a:pt x="59659" y="35134"/>
                </a:lnTo>
                <a:lnTo>
                  <a:pt x="60979" y="34430"/>
                </a:lnTo>
                <a:close/>
              </a:path>
              <a:path w="437515" h="412114">
                <a:moveTo>
                  <a:pt x="59659" y="35134"/>
                </a:moveTo>
                <a:lnTo>
                  <a:pt x="58222" y="35548"/>
                </a:lnTo>
                <a:lnTo>
                  <a:pt x="58881" y="35548"/>
                </a:lnTo>
                <a:lnTo>
                  <a:pt x="59659" y="35134"/>
                </a:lnTo>
                <a:close/>
              </a:path>
              <a:path w="437515" h="412114">
                <a:moveTo>
                  <a:pt x="62097" y="34430"/>
                </a:moveTo>
                <a:lnTo>
                  <a:pt x="60979" y="34430"/>
                </a:lnTo>
                <a:lnTo>
                  <a:pt x="59659" y="35134"/>
                </a:lnTo>
                <a:lnTo>
                  <a:pt x="62097" y="34430"/>
                </a:lnTo>
                <a:close/>
              </a:path>
              <a:path w="437515" h="412114">
                <a:moveTo>
                  <a:pt x="75807" y="30477"/>
                </a:moveTo>
                <a:lnTo>
                  <a:pt x="73569" y="30932"/>
                </a:lnTo>
                <a:lnTo>
                  <a:pt x="74752" y="30781"/>
                </a:lnTo>
                <a:lnTo>
                  <a:pt x="75807" y="30477"/>
                </a:lnTo>
                <a:close/>
              </a:path>
              <a:path w="437515" h="412114">
                <a:moveTo>
                  <a:pt x="74752" y="30781"/>
                </a:moveTo>
                <a:lnTo>
                  <a:pt x="73569" y="30932"/>
                </a:lnTo>
                <a:lnTo>
                  <a:pt x="74230" y="30932"/>
                </a:lnTo>
                <a:lnTo>
                  <a:pt x="74752" y="30781"/>
                </a:lnTo>
                <a:close/>
              </a:path>
              <a:path w="437515" h="412114">
                <a:moveTo>
                  <a:pt x="77142" y="30477"/>
                </a:moveTo>
                <a:lnTo>
                  <a:pt x="75807" y="30477"/>
                </a:lnTo>
                <a:lnTo>
                  <a:pt x="74752" y="30781"/>
                </a:lnTo>
                <a:lnTo>
                  <a:pt x="77142" y="30477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6526254" y="3449828"/>
            <a:ext cx="12185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85" b="1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dirty="0" sz="2400" b="1">
                <a:solidFill>
                  <a:srgbClr val="C00000"/>
                </a:solidFill>
                <a:latin typeface="Arial"/>
                <a:cs typeface="Arial"/>
              </a:rPr>
              <a:t>vera</a:t>
            </a:r>
            <a:r>
              <a:rPr dirty="0" sz="2400" spc="-5" b="1">
                <a:solidFill>
                  <a:srgbClr val="C00000"/>
                </a:solidFill>
                <a:latin typeface="Arial"/>
                <a:cs typeface="Arial"/>
              </a:rPr>
              <a:t>g</a:t>
            </a:r>
            <a:r>
              <a:rPr dirty="0" sz="2400" b="1">
                <a:solidFill>
                  <a:srgbClr val="C00000"/>
                </a:solidFill>
                <a:latin typeface="Arial"/>
                <a:cs typeface="Arial"/>
              </a:rPr>
              <a:t>e</a:t>
            </a:r>
            <a:endParaRPr sz="24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047273" y="4224943"/>
            <a:ext cx="152400" cy="537845"/>
          </a:xfrm>
          <a:custGeom>
            <a:avLst/>
            <a:gdLst/>
            <a:ahLst/>
            <a:cxnLst/>
            <a:rect l="l" t="t" r="r" b="b"/>
            <a:pathLst>
              <a:path w="152400" h="537845">
                <a:moveTo>
                  <a:pt x="0" y="0"/>
                </a:moveTo>
                <a:lnTo>
                  <a:pt x="152400" y="0"/>
                </a:lnTo>
                <a:lnTo>
                  <a:pt x="152400" y="537495"/>
                </a:lnTo>
                <a:lnTo>
                  <a:pt x="0" y="537495"/>
                </a:lnTo>
                <a:lnTo>
                  <a:pt x="0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361691" y="5456929"/>
            <a:ext cx="152400" cy="537845"/>
          </a:xfrm>
          <a:custGeom>
            <a:avLst/>
            <a:gdLst/>
            <a:ahLst/>
            <a:cxnLst/>
            <a:rect l="l" t="t" r="r" b="b"/>
            <a:pathLst>
              <a:path w="152400" h="537845">
                <a:moveTo>
                  <a:pt x="0" y="0"/>
                </a:moveTo>
                <a:lnTo>
                  <a:pt x="152400" y="0"/>
                </a:lnTo>
                <a:lnTo>
                  <a:pt x="152400" y="537495"/>
                </a:lnTo>
                <a:lnTo>
                  <a:pt x="0" y="537495"/>
                </a:lnTo>
                <a:lnTo>
                  <a:pt x="0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8844570" y="4563229"/>
            <a:ext cx="152400" cy="537845"/>
          </a:xfrm>
          <a:custGeom>
            <a:avLst/>
            <a:gdLst/>
            <a:ahLst/>
            <a:cxnLst/>
            <a:rect l="l" t="t" r="r" b="b"/>
            <a:pathLst>
              <a:path w="152400" h="537845">
                <a:moveTo>
                  <a:pt x="0" y="0"/>
                </a:moveTo>
                <a:lnTo>
                  <a:pt x="152400" y="0"/>
                </a:lnTo>
                <a:lnTo>
                  <a:pt x="152400" y="537495"/>
                </a:lnTo>
                <a:lnTo>
                  <a:pt x="0" y="537495"/>
                </a:lnTo>
                <a:lnTo>
                  <a:pt x="0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8495127" y="3318968"/>
            <a:ext cx="152400" cy="537845"/>
          </a:xfrm>
          <a:custGeom>
            <a:avLst/>
            <a:gdLst/>
            <a:ahLst/>
            <a:cxnLst/>
            <a:rect l="l" t="t" r="r" b="b"/>
            <a:pathLst>
              <a:path w="152400" h="537845">
                <a:moveTo>
                  <a:pt x="0" y="0"/>
                </a:moveTo>
                <a:lnTo>
                  <a:pt x="152400" y="0"/>
                </a:lnTo>
                <a:lnTo>
                  <a:pt x="152400" y="537494"/>
                </a:lnTo>
                <a:lnTo>
                  <a:pt x="0" y="537494"/>
                </a:lnTo>
                <a:lnTo>
                  <a:pt x="0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8079706" y="5997761"/>
            <a:ext cx="152400" cy="537845"/>
          </a:xfrm>
          <a:custGeom>
            <a:avLst/>
            <a:gdLst/>
            <a:ahLst/>
            <a:cxnLst/>
            <a:rect l="l" t="t" r="r" b="b"/>
            <a:pathLst>
              <a:path w="152400" h="537845">
                <a:moveTo>
                  <a:pt x="0" y="0"/>
                </a:moveTo>
                <a:lnTo>
                  <a:pt x="152400" y="0"/>
                </a:lnTo>
                <a:lnTo>
                  <a:pt x="152400" y="537494"/>
                </a:lnTo>
                <a:lnTo>
                  <a:pt x="0" y="537494"/>
                </a:lnTo>
                <a:lnTo>
                  <a:pt x="0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609061" y="3192780"/>
            <a:ext cx="4985385" cy="2710815"/>
          </a:xfrm>
          <a:prstGeom prst="rect">
            <a:avLst/>
          </a:prstGeom>
        </p:spPr>
        <p:txBody>
          <a:bodyPr wrap="square" lIns="0" tIns="137795" rIns="0" bIns="0" rtlCol="0" vert="horz">
            <a:spAutoFit/>
          </a:bodyPr>
          <a:lstStyle/>
          <a:p>
            <a:pPr marL="341630">
              <a:lnSpc>
                <a:spcPct val="100000"/>
              </a:lnSpc>
              <a:spcBef>
                <a:spcPts val="1085"/>
              </a:spcBef>
            </a:pPr>
            <a:r>
              <a:rPr dirty="0" sz="3200" spc="-20" b="1">
                <a:solidFill>
                  <a:srgbClr val="D60093"/>
                </a:solidFill>
                <a:latin typeface="Calibri"/>
                <a:cs typeface="Calibri"/>
              </a:rPr>
              <a:t>features.</a:t>
            </a:r>
            <a:endParaRPr sz="3200">
              <a:latin typeface="Calibri"/>
              <a:cs typeface="Calibri"/>
            </a:endParaRPr>
          </a:p>
          <a:p>
            <a:pPr marL="332740" marR="5080" indent="-320040">
              <a:lnSpc>
                <a:spcPct val="99800"/>
              </a:lnSpc>
              <a:spcBef>
                <a:spcPts val="99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latin typeface="Calibri"/>
                <a:cs typeface="Calibri"/>
              </a:rPr>
              <a:t>As </a:t>
            </a:r>
            <a:r>
              <a:rPr dirty="0" sz="3200" b="1">
                <a:latin typeface="Calibri"/>
                <a:cs typeface="Calibri"/>
              </a:rPr>
              <a:t>a </a:t>
            </a:r>
            <a:r>
              <a:rPr dirty="0" sz="3200" spc="-10" b="1">
                <a:latin typeface="Calibri"/>
                <a:cs typeface="Calibri"/>
              </a:rPr>
              <a:t>result, </a:t>
            </a:r>
            <a:r>
              <a:rPr dirty="0" sz="3200" spc="-5" b="1">
                <a:latin typeface="Calibri"/>
                <a:cs typeface="Calibri"/>
              </a:rPr>
              <a:t>nodes  </a:t>
            </a:r>
            <a:r>
              <a:rPr dirty="0" sz="3200" spc="-10" b="1">
                <a:latin typeface="Calibri"/>
                <a:cs typeface="Calibri"/>
              </a:rPr>
              <a:t>connected </a:t>
            </a:r>
            <a:r>
              <a:rPr dirty="0" sz="3200" spc="-15" b="1">
                <a:latin typeface="Calibri"/>
                <a:cs typeface="Calibri"/>
              </a:rPr>
              <a:t>by </a:t>
            </a:r>
            <a:r>
              <a:rPr dirty="0" sz="3200" spc="-10" b="1">
                <a:latin typeface="Calibri"/>
                <a:cs typeface="Calibri"/>
              </a:rPr>
              <a:t>edges </a:t>
            </a:r>
            <a:r>
              <a:rPr dirty="0" sz="3200" spc="-15" b="1">
                <a:latin typeface="Calibri"/>
                <a:cs typeface="Calibri"/>
              </a:rPr>
              <a:t>tend to  </a:t>
            </a:r>
            <a:r>
              <a:rPr dirty="0" sz="3200" spc="-25" b="1">
                <a:latin typeface="Calibri"/>
                <a:cs typeface="Calibri"/>
              </a:rPr>
              <a:t>have </a:t>
            </a:r>
            <a:r>
              <a:rPr dirty="0" sz="3200" spc="-5" b="1">
                <a:latin typeface="Calibri"/>
                <a:cs typeface="Calibri"/>
              </a:rPr>
              <a:t>similar </a:t>
            </a:r>
            <a:r>
              <a:rPr dirty="0" sz="3200" spc="-10" b="1">
                <a:latin typeface="Calibri"/>
                <a:cs typeface="Calibri"/>
              </a:rPr>
              <a:t>pre-processed  </a:t>
            </a:r>
            <a:r>
              <a:rPr dirty="0" sz="3200" spc="-20" b="1">
                <a:latin typeface="Calibri"/>
                <a:cs typeface="Calibri"/>
              </a:rPr>
              <a:t>features.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3/13/21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61</a:t>
            </a:fld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5591" y="341375"/>
            <a:ext cx="8211311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18108" y="1348740"/>
            <a:ext cx="7874634" cy="441198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332740" marR="57785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solidFill>
                  <a:srgbClr val="D60093"/>
                </a:solidFill>
                <a:latin typeface="Calibri"/>
                <a:cs typeface="Calibri"/>
              </a:rPr>
              <a:t>Premise</a:t>
            </a:r>
            <a:r>
              <a:rPr dirty="0" sz="3200" spc="-10">
                <a:latin typeface="Calibri"/>
                <a:cs typeface="Calibri"/>
              </a:rPr>
              <a:t>: </a:t>
            </a:r>
            <a:r>
              <a:rPr dirty="0" sz="3200" spc="-5">
                <a:latin typeface="Calibri"/>
                <a:cs typeface="Calibri"/>
              </a:rPr>
              <a:t>Model uses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15">
                <a:latin typeface="Calibri"/>
                <a:cs typeface="Calibri"/>
              </a:rPr>
              <a:t>pre-processed </a:t>
            </a:r>
            <a:r>
              <a:rPr dirty="0" sz="3200" spc="-5">
                <a:latin typeface="Calibri"/>
                <a:cs typeface="Calibri"/>
              </a:rPr>
              <a:t>node  </a:t>
            </a:r>
            <a:r>
              <a:rPr dirty="0" sz="3200" spc="-25">
                <a:latin typeface="Calibri"/>
                <a:cs typeface="Calibri"/>
              </a:rPr>
              <a:t>features </a:t>
            </a:r>
            <a:r>
              <a:rPr dirty="0" sz="3200" spc="-15">
                <a:latin typeface="Calibri"/>
                <a:cs typeface="Calibri"/>
              </a:rPr>
              <a:t>to </a:t>
            </a:r>
            <a:r>
              <a:rPr dirty="0" sz="3200" spc="-30">
                <a:latin typeface="Calibri"/>
                <a:cs typeface="Calibri"/>
              </a:rPr>
              <a:t>make</a:t>
            </a:r>
            <a:r>
              <a:rPr dirty="0" sz="3200" spc="4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prediction.</a:t>
            </a:r>
            <a:endParaRPr sz="3200">
              <a:latin typeface="Calibri"/>
              <a:cs typeface="Calibri"/>
            </a:endParaRPr>
          </a:p>
          <a:p>
            <a:pPr marL="332740" marR="5080" indent="-320040">
              <a:lnSpc>
                <a:spcPts val="3790"/>
              </a:lnSpc>
              <a:spcBef>
                <a:spcPts val="114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>
                <a:latin typeface="Calibri"/>
                <a:cs typeface="Calibri"/>
              </a:rPr>
              <a:t>Nodes </a:t>
            </a:r>
            <a:r>
              <a:rPr dirty="0" sz="3200" spc="-10">
                <a:latin typeface="Calibri"/>
                <a:cs typeface="Calibri"/>
              </a:rPr>
              <a:t>connected </a:t>
            </a:r>
            <a:r>
              <a:rPr dirty="0" sz="3200" spc="-5">
                <a:latin typeface="Calibri"/>
                <a:cs typeface="Calibri"/>
              </a:rPr>
              <a:t>by </a:t>
            </a:r>
            <a:r>
              <a:rPr dirty="0" sz="3200" spc="-10">
                <a:latin typeface="Calibri"/>
                <a:cs typeface="Calibri"/>
              </a:rPr>
              <a:t>edges tend </a:t>
            </a:r>
            <a:r>
              <a:rPr dirty="0" sz="3200" spc="-15">
                <a:latin typeface="Calibri"/>
                <a:cs typeface="Calibri"/>
              </a:rPr>
              <a:t>to get </a:t>
            </a:r>
            <a:r>
              <a:rPr dirty="0" sz="3200" spc="-5">
                <a:latin typeface="Calibri"/>
                <a:cs typeface="Calibri"/>
              </a:rPr>
              <a:t>similar  </a:t>
            </a:r>
            <a:r>
              <a:rPr dirty="0" sz="3200" spc="-15">
                <a:latin typeface="Calibri"/>
                <a:cs typeface="Calibri"/>
              </a:rPr>
              <a:t>pre-processed</a:t>
            </a:r>
            <a:r>
              <a:rPr dirty="0" sz="3200" spc="-30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features.</a:t>
            </a:r>
            <a:endParaRPr sz="3200">
              <a:latin typeface="Calibri"/>
              <a:cs typeface="Calibri"/>
            </a:endParaRPr>
          </a:p>
          <a:p>
            <a:pPr marL="473075" marR="745490" indent="-460375">
              <a:lnSpc>
                <a:spcPts val="3790"/>
              </a:lnSpc>
              <a:spcBef>
                <a:spcPts val="114"/>
              </a:spcBef>
            </a:pPr>
            <a:r>
              <a:rPr dirty="0" sz="3200" spc="1350">
                <a:latin typeface="Arial"/>
                <a:cs typeface="Arial"/>
              </a:rPr>
              <a:t>à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Nodes </a:t>
            </a: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connected </a:t>
            </a:r>
            <a:r>
              <a:rPr dirty="0" sz="3200" spc="-15" b="1">
                <a:solidFill>
                  <a:srgbClr val="C00000"/>
                </a:solidFill>
                <a:latin typeface="Calibri"/>
                <a:cs typeface="Calibri"/>
              </a:rPr>
              <a:t>by </a:t>
            </a: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edges </a:t>
            </a:r>
            <a:r>
              <a:rPr dirty="0" sz="3200" spc="-15" b="1">
                <a:solidFill>
                  <a:srgbClr val="C00000"/>
                </a:solidFill>
                <a:latin typeface="Calibri"/>
                <a:cs typeface="Calibri"/>
              </a:rPr>
              <a:t>tend to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be  </a:t>
            </a:r>
            <a:r>
              <a:rPr dirty="0" sz="3200" spc="-15" b="1">
                <a:solidFill>
                  <a:srgbClr val="C00000"/>
                </a:solidFill>
                <a:latin typeface="Calibri"/>
                <a:cs typeface="Calibri"/>
              </a:rPr>
              <a:t>predicted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the same labels </a:t>
            </a:r>
            <a:r>
              <a:rPr dirty="0" sz="3200" spc="-15" b="1">
                <a:solidFill>
                  <a:srgbClr val="C00000"/>
                </a:solidFill>
                <a:latin typeface="Calibri"/>
                <a:cs typeface="Calibri"/>
              </a:rPr>
              <a:t>by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dirty="0" sz="3200" spc="3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model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367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008000"/>
                </a:solidFill>
                <a:latin typeface="Calibri"/>
                <a:cs typeface="Calibri"/>
              </a:rPr>
              <a:t>Simplified </a:t>
            </a:r>
            <a:r>
              <a:rPr dirty="0" sz="3200" spc="-20" b="1">
                <a:solidFill>
                  <a:srgbClr val="008000"/>
                </a:solidFill>
                <a:latin typeface="Calibri"/>
                <a:cs typeface="Calibri"/>
              </a:rPr>
              <a:t>SGC’s </a:t>
            </a:r>
            <a:r>
              <a:rPr dirty="0" sz="3200" spc="-10" b="1">
                <a:solidFill>
                  <a:srgbClr val="008000"/>
                </a:solidFill>
                <a:latin typeface="Calibri"/>
                <a:cs typeface="Calibri"/>
              </a:rPr>
              <a:t>prediction </a:t>
            </a:r>
            <a:r>
              <a:rPr dirty="0" sz="3200" spc="-5" b="1">
                <a:solidFill>
                  <a:srgbClr val="008000"/>
                </a:solidFill>
                <a:latin typeface="Calibri"/>
                <a:cs typeface="Calibri"/>
              </a:rPr>
              <a:t>aligns </a:t>
            </a:r>
            <a:r>
              <a:rPr dirty="0" sz="3200" spc="-10" b="1">
                <a:solidFill>
                  <a:srgbClr val="008000"/>
                </a:solidFill>
                <a:latin typeface="Calibri"/>
                <a:cs typeface="Calibri"/>
              </a:rPr>
              <a:t>well</a:t>
            </a:r>
            <a:r>
              <a:rPr dirty="0" sz="3200" spc="50" b="1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3200" b="1">
                <a:solidFill>
                  <a:srgbClr val="008000"/>
                </a:solidFill>
                <a:latin typeface="Calibri"/>
                <a:cs typeface="Calibri"/>
              </a:rPr>
              <a:t>with</a:t>
            </a:r>
            <a:endParaRPr sz="3200">
              <a:latin typeface="Calibri"/>
              <a:cs typeface="Calibri"/>
            </a:endParaRPr>
          </a:p>
          <a:p>
            <a:pPr marL="332740" marR="1627505">
              <a:lnSpc>
                <a:spcPts val="3790"/>
              </a:lnSpc>
              <a:spcBef>
                <a:spcPts val="240"/>
              </a:spcBef>
            </a:pPr>
            <a:r>
              <a:rPr dirty="0" sz="3200" spc="-5" b="1">
                <a:solidFill>
                  <a:srgbClr val="008000"/>
                </a:solidFill>
                <a:latin typeface="Calibri"/>
                <a:cs typeface="Calibri"/>
              </a:rPr>
              <a:t>the </a:t>
            </a:r>
            <a:r>
              <a:rPr dirty="0" sz="3200" spc="-20" b="1">
                <a:solidFill>
                  <a:srgbClr val="008000"/>
                </a:solidFill>
                <a:latin typeface="Calibri"/>
                <a:cs typeface="Calibri"/>
              </a:rPr>
              <a:t>graph </a:t>
            </a:r>
            <a:r>
              <a:rPr dirty="0" sz="3200" spc="-5" b="1">
                <a:solidFill>
                  <a:srgbClr val="008000"/>
                </a:solidFill>
                <a:latin typeface="Calibri"/>
                <a:cs typeface="Calibri"/>
              </a:rPr>
              <a:t>homophily </a:t>
            </a:r>
            <a:r>
              <a:rPr dirty="0" sz="3200" b="1">
                <a:solidFill>
                  <a:srgbClr val="008000"/>
                </a:solidFill>
                <a:latin typeface="Calibri"/>
                <a:cs typeface="Calibri"/>
              </a:rPr>
              <a:t>in </a:t>
            </a:r>
            <a:r>
              <a:rPr dirty="0" sz="3200" spc="-20" b="1">
                <a:solidFill>
                  <a:srgbClr val="008000"/>
                </a:solidFill>
                <a:latin typeface="Calibri"/>
                <a:cs typeface="Calibri"/>
              </a:rPr>
              <a:t>many </a:t>
            </a:r>
            <a:r>
              <a:rPr dirty="0" sz="3200" spc="-5" b="1">
                <a:solidFill>
                  <a:srgbClr val="008000"/>
                </a:solidFill>
                <a:latin typeface="Calibri"/>
                <a:cs typeface="Calibri"/>
              </a:rPr>
              <a:t>node  </a:t>
            </a:r>
            <a:r>
              <a:rPr dirty="0" sz="3200" spc="-10" b="1">
                <a:solidFill>
                  <a:srgbClr val="008000"/>
                </a:solidFill>
                <a:latin typeface="Calibri"/>
                <a:cs typeface="Calibri"/>
              </a:rPr>
              <a:t>classification </a:t>
            </a:r>
            <a:r>
              <a:rPr dirty="0" sz="3200" spc="-5" b="1">
                <a:solidFill>
                  <a:srgbClr val="008000"/>
                </a:solidFill>
                <a:latin typeface="Calibri"/>
                <a:cs typeface="Calibri"/>
              </a:rPr>
              <a:t>benchmark</a:t>
            </a:r>
            <a:r>
              <a:rPr dirty="0" sz="3200" spc="-10" b="1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3200" spc="-15" b="1">
                <a:solidFill>
                  <a:srgbClr val="008000"/>
                </a:solidFill>
                <a:latin typeface="Calibri"/>
                <a:cs typeface="Calibri"/>
              </a:rPr>
              <a:t>datasets.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3/13/21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61</a:t>
            </a:fld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41375"/>
            <a:ext cx="6382511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8027034" cy="1973580"/>
          </a:xfrm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332740" marR="106045" indent="-320040">
              <a:lnSpc>
                <a:spcPct val="100299"/>
              </a:lnSpc>
              <a:spcBef>
                <a:spcPts val="8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 b="1">
                <a:solidFill>
                  <a:srgbClr val="D60093"/>
                </a:solidFill>
                <a:latin typeface="Calibri"/>
                <a:cs typeface="Calibri"/>
              </a:rPr>
              <a:t>Simplified GCN </a:t>
            </a:r>
            <a:r>
              <a:rPr dirty="0" spc="-15" b="1">
                <a:solidFill>
                  <a:srgbClr val="D60093"/>
                </a:solidFill>
                <a:latin typeface="Calibri"/>
                <a:cs typeface="Calibri"/>
              </a:rPr>
              <a:t>removes </a:t>
            </a:r>
            <a:r>
              <a:rPr dirty="0" spc="-5" b="1">
                <a:solidFill>
                  <a:srgbClr val="D60093"/>
                </a:solidFill>
                <a:latin typeface="Calibri"/>
                <a:cs typeface="Calibri"/>
              </a:rPr>
              <a:t>non-linearity </a:t>
            </a:r>
            <a:r>
              <a:rPr dirty="0" b="1">
                <a:solidFill>
                  <a:srgbClr val="D60093"/>
                </a:solidFill>
                <a:latin typeface="Calibri"/>
                <a:cs typeface="Calibri"/>
              </a:rPr>
              <a:t>in </a:t>
            </a:r>
            <a:r>
              <a:rPr dirty="0" spc="-5" b="1">
                <a:solidFill>
                  <a:srgbClr val="D60093"/>
                </a:solidFill>
                <a:latin typeface="Calibri"/>
                <a:cs typeface="Calibri"/>
              </a:rPr>
              <a:t>GCN  and </a:t>
            </a:r>
            <a:r>
              <a:rPr dirty="0" spc="-10" b="1">
                <a:solidFill>
                  <a:srgbClr val="D60093"/>
                </a:solidFill>
                <a:latin typeface="Calibri"/>
                <a:cs typeface="Calibri"/>
              </a:rPr>
              <a:t>reduces </a:t>
            </a:r>
            <a:r>
              <a:rPr dirty="0" spc="-15" b="1">
                <a:solidFill>
                  <a:srgbClr val="D60093"/>
                </a:solidFill>
                <a:latin typeface="Calibri"/>
                <a:cs typeface="Calibri"/>
              </a:rPr>
              <a:t>to </a:t>
            </a:r>
            <a:r>
              <a:rPr dirty="0" spc="-5" b="1">
                <a:solidFill>
                  <a:srgbClr val="D60093"/>
                </a:solidFill>
                <a:latin typeface="Calibri"/>
                <a:cs typeface="Calibri"/>
              </a:rPr>
              <a:t>the simple </a:t>
            </a:r>
            <a:r>
              <a:rPr dirty="0" spc="-10" b="1">
                <a:solidFill>
                  <a:srgbClr val="D60093"/>
                </a:solidFill>
                <a:latin typeface="Calibri"/>
                <a:cs typeface="Calibri"/>
              </a:rPr>
              <a:t>pre-processing </a:t>
            </a:r>
            <a:r>
              <a:rPr dirty="0" b="1">
                <a:solidFill>
                  <a:srgbClr val="D60093"/>
                </a:solidFill>
                <a:latin typeface="Calibri"/>
                <a:cs typeface="Calibri"/>
              </a:rPr>
              <a:t>of  </a:t>
            </a:r>
            <a:r>
              <a:rPr dirty="0" spc="-5" b="1">
                <a:solidFill>
                  <a:srgbClr val="D60093"/>
                </a:solidFill>
                <a:latin typeface="Calibri"/>
                <a:cs typeface="Calibri"/>
              </a:rPr>
              <a:t>node</a:t>
            </a:r>
            <a:r>
              <a:rPr dirty="0" spc="-40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pc="-20" b="1">
                <a:solidFill>
                  <a:srgbClr val="D60093"/>
                </a:solidFill>
                <a:latin typeface="Calibri"/>
                <a:cs typeface="Calibri"/>
              </a:rPr>
              <a:t>features.</a:t>
            </a:r>
          </a:p>
          <a:p>
            <a:pPr marL="332740" indent="-320040">
              <a:lnSpc>
                <a:spcPts val="379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/>
              <a:t>Once </a:t>
            </a:r>
            <a:r>
              <a:rPr dirty="0"/>
              <a:t>the </a:t>
            </a:r>
            <a:r>
              <a:rPr dirty="0" spc="-15"/>
              <a:t>pre-processed </a:t>
            </a:r>
            <a:r>
              <a:rPr dirty="0" spc="-25"/>
              <a:t>features </a:t>
            </a:r>
            <a:r>
              <a:rPr dirty="0" spc="-20"/>
              <a:t>are</a:t>
            </a:r>
            <a:r>
              <a:rPr dirty="0" spc="110"/>
              <a:t> </a:t>
            </a:r>
            <a:r>
              <a:rPr dirty="0" spc="-10"/>
              <a:t>obtained,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3/13/21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61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618108" y="3305555"/>
            <a:ext cx="7713980" cy="291401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332740" marR="899160">
              <a:lnSpc>
                <a:spcPts val="3790"/>
              </a:lnSpc>
              <a:spcBef>
                <a:spcPts val="265"/>
              </a:spcBef>
            </a:pPr>
            <a:r>
              <a:rPr dirty="0" sz="3200" spc="-5">
                <a:latin typeface="Calibri"/>
                <a:cs typeface="Calibri"/>
              </a:rPr>
              <a:t>scalable </a:t>
            </a:r>
            <a:r>
              <a:rPr dirty="0" sz="3200" spc="-10">
                <a:latin typeface="Calibri"/>
                <a:cs typeface="Calibri"/>
              </a:rPr>
              <a:t>mini-batch </a:t>
            </a:r>
            <a:r>
              <a:rPr dirty="0" sz="3200">
                <a:latin typeface="Calibri"/>
                <a:cs typeface="Calibri"/>
              </a:rPr>
              <a:t>SGD </a:t>
            </a:r>
            <a:r>
              <a:rPr dirty="0" sz="3200" spc="-15">
                <a:latin typeface="Calibri"/>
                <a:cs typeface="Calibri"/>
              </a:rPr>
              <a:t>can </a:t>
            </a:r>
            <a:r>
              <a:rPr dirty="0" sz="3200">
                <a:latin typeface="Calibri"/>
                <a:cs typeface="Calibri"/>
              </a:rPr>
              <a:t>be </a:t>
            </a:r>
            <a:r>
              <a:rPr dirty="0" sz="3200" spc="-10">
                <a:latin typeface="Calibri"/>
                <a:cs typeface="Calibri"/>
              </a:rPr>
              <a:t>directly  </a:t>
            </a:r>
            <a:r>
              <a:rPr dirty="0" sz="3200" spc="-5">
                <a:latin typeface="Calibri"/>
                <a:cs typeface="Calibri"/>
              </a:rPr>
              <a:t>applied </a:t>
            </a:r>
            <a:r>
              <a:rPr dirty="0" sz="3200" spc="-15">
                <a:latin typeface="Calibri"/>
                <a:cs typeface="Calibri"/>
              </a:rPr>
              <a:t>to optimize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25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parameters.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367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008000"/>
                </a:solidFill>
                <a:latin typeface="Calibri"/>
                <a:cs typeface="Calibri"/>
              </a:rPr>
              <a:t>Simplified GCN </a:t>
            </a:r>
            <a:r>
              <a:rPr dirty="0" sz="3200" spc="-15" b="1">
                <a:solidFill>
                  <a:srgbClr val="008000"/>
                </a:solidFill>
                <a:latin typeface="Calibri"/>
                <a:cs typeface="Calibri"/>
              </a:rPr>
              <a:t>works </a:t>
            </a:r>
            <a:r>
              <a:rPr dirty="0" sz="3200" spc="-5" b="1">
                <a:solidFill>
                  <a:srgbClr val="008000"/>
                </a:solidFill>
                <a:latin typeface="Calibri"/>
                <a:cs typeface="Calibri"/>
              </a:rPr>
              <a:t>surprisingly </a:t>
            </a:r>
            <a:r>
              <a:rPr dirty="0" sz="3200" spc="-10" b="1">
                <a:solidFill>
                  <a:srgbClr val="008000"/>
                </a:solidFill>
                <a:latin typeface="Calibri"/>
                <a:cs typeface="Calibri"/>
              </a:rPr>
              <a:t>well</a:t>
            </a:r>
            <a:r>
              <a:rPr dirty="0" sz="3200" spc="30" b="1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3200" b="1">
                <a:solidFill>
                  <a:srgbClr val="008000"/>
                </a:solidFill>
                <a:latin typeface="Calibri"/>
                <a:cs typeface="Calibri"/>
              </a:rPr>
              <a:t>in</a:t>
            </a:r>
            <a:endParaRPr sz="3200">
              <a:latin typeface="Calibri"/>
              <a:cs typeface="Calibri"/>
            </a:endParaRPr>
          </a:p>
          <a:p>
            <a:pPr marL="332740">
              <a:lnSpc>
                <a:spcPct val="100000"/>
              </a:lnSpc>
              <a:spcBef>
                <a:spcPts val="75"/>
              </a:spcBef>
            </a:pPr>
            <a:r>
              <a:rPr dirty="0" sz="3200" spc="-5" b="1">
                <a:solidFill>
                  <a:srgbClr val="008000"/>
                </a:solidFill>
                <a:latin typeface="Calibri"/>
                <a:cs typeface="Calibri"/>
              </a:rPr>
              <a:t>node </a:t>
            </a:r>
            <a:r>
              <a:rPr dirty="0" sz="3200" spc="-10" b="1">
                <a:solidFill>
                  <a:srgbClr val="008000"/>
                </a:solidFill>
                <a:latin typeface="Calibri"/>
                <a:cs typeface="Calibri"/>
              </a:rPr>
              <a:t>classification</a:t>
            </a:r>
            <a:r>
              <a:rPr dirty="0" sz="3200" spc="-25" b="1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008000"/>
                </a:solidFill>
                <a:latin typeface="Calibri"/>
                <a:cs typeface="Calibri"/>
              </a:rPr>
              <a:t>benchmark.</a:t>
            </a:r>
            <a:endParaRPr sz="3200">
              <a:latin typeface="Calibri"/>
              <a:cs typeface="Calibri"/>
            </a:endParaRPr>
          </a:p>
          <a:p>
            <a:pPr lvl="1" marL="625475" marR="5080" indent="-274320">
              <a:lnSpc>
                <a:spcPct val="100699"/>
              </a:lnSpc>
              <a:spcBef>
                <a:spcPts val="64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25">
                <a:latin typeface="Calibri"/>
                <a:cs typeface="Calibri"/>
              </a:rPr>
              <a:t>feature </a:t>
            </a:r>
            <a:r>
              <a:rPr dirty="0" sz="2800" spc="-10">
                <a:latin typeface="Calibri"/>
                <a:cs typeface="Calibri"/>
              </a:rPr>
              <a:t>pre-processing </a:t>
            </a:r>
            <a:r>
              <a:rPr dirty="0" sz="2800" spc="-5">
                <a:latin typeface="Calibri"/>
                <a:cs typeface="Calibri"/>
              </a:rPr>
              <a:t>aligns </a:t>
            </a:r>
            <a:r>
              <a:rPr dirty="0" sz="2800" spc="-10">
                <a:latin typeface="Calibri"/>
                <a:cs typeface="Calibri"/>
              </a:rPr>
              <a:t>well </a:t>
            </a:r>
            <a:r>
              <a:rPr dirty="0" sz="2800" spc="-5">
                <a:latin typeface="Calibri"/>
                <a:cs typeface="Calibri"/>
              </a:rPr>
              <a:t>with </a:t>
            </a:r>
            <a:r>
              <a:rPr dirty="0" sz="2800" spc="-114">
                <a:latin typeface="Calibri"/>
                <a:cs typeface="Calibri"/>
              </a:rPr>
              <a:t>graph  </a:t>
            </a:r>
            <a:r>
              <a:rPr dirty="0" sz="2800" spc="-5">
                <a:latin typeface="Calibri"/>
                <a:cs typeface="Calibri"/>
              </a:rPr>
              <a:t>homophily in </a:t>
            </a:r>
            <a:r>
              <a:rPr dirty="0" sz="2800" spc="-10">
                <a:latin typeface="Calibri"/>
                <a:cs typeface="Calibri"/>
              </a:rPr>
              <a:t>real-world prediction</a:t>
            </a:r>
            <a:r>
              <a:rPr dirty="0" sz="2800" spc="3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tasks.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2026-10-21T00:01:54Z</dcterms:created>
  <dcterms:modified xsi:type="dcterms:W3CDTF">2026-10-21T00:01:54Z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2021-03-13T00:00:00Z</vt:filetime>
  </property>
  <property fmtid="{D5CDD505-2E9C-101B-9397-08002B2CF9AE}" pid="3" name="LastSaved">
    <vt:filetime>2026-10-20T00:00:00Z</vt:filetime>
  </property>
</Properties>
</file>