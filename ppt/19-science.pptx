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108" y="1348740"/>
            <a:ext cx="7067550" cy="995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6563" y="1826259"/>
            <a:ext cx="7150734" cy="208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73615" y="6699893"/>
            <a:ext cx="3002279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54227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97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Relationship Id="rId4" Type="http://schemas.openxmlformats.org/officeDocument/2006/relationships/image" Target="../media/image48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png"/><Relationship Id="rId3" Type="http://schemas.openxmlformats.org/officeDocument/2006/relationships/image" Target="../media/image55.jpg"/><Relationship Id="rId4" Type="http://schemas.openxmlformats.org/officeDocument/2006/relationships/image" Target="../media/image5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jpg"/><Relationship Id="rId4" Type="http://schemas.openxmlformats.org/officeDocument/2006/relationships/image" Target="../media/image59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jpg"/><Relationship Id="rId4" Type="http://schemas.openxmlformats.org/officeDocument/2006/relationships/image" Target="../media/image62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79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jpg"/><Relationship Id="rId5" Type="http://schemas.openxmlformats.org/officeDocument/2006/relationships/image" Target="../media/image84.png"/><Relationship Id="rId6" Type="http://schemas.openxmlformats.org/officeDocument/2006/relationships/image" Target="../media/image85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Relationship Id="rId4" Type="http://schemas.openxmlformats.org/officeDocument/2006/relationships/image" Target="../media/image88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90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jpg"/><Relationship Id="rId4" Type="http://schemas.openxmlformats.org/officeDocument/2006/relationships/image" Target="../media/image102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104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jpg"/><Relationship Id="rId5" Type="http://schemas.openxmlformats.org/officeDocument/2006/relationships/image" Target="../media/image112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jpg"/><Relationship Id="rId5" Type="http://schemas.openxmlformats.org/officeDocument/2006/relationships/image" Target="../media/image122.png"/><Relationship Id="rId6" Type="http://schemas.openxmlformats.org/officeDocument/2006/relationships/image" Target="../media/image123.jpg"/><Relationship Id="rId7" Type="http://schemas.openxmlformats.org/officeDocument/2006/relationships/image" Target="../media/image124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126.jpg"/><Relationship Id="rId4" Type="http://schemas.openxmlformats.org/officeDocument/2006/relationships/image" Target="../media/image127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32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jpg"/><Relationship Id="rId4" Type="http://schemas.openxmlformats.org/officeDocument/2006/relationships/image" Target="../media/image137.png"/><Relationship Id="rId5" Type="http://schemas.openxmlformats.org/officeDocument/2006/relationships/image" Target="../media/image138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jpg"/><Relationship Id="rId3" Type="http://schemas.openxmlformats.org/officeDocument/2006/relationships/image" Target="../media/image144.png"/><Relationship Id="rId4" Type="http://schemas.openxmlformats.org/officeDocument/2006/relationships/image" Target="../media/image145.jpg"/><Relationship Id="rId5" Type="http://schemas.openxmlformats.org/officeDocument/2006/relationships/image" Target="../media/image146.png"/><Relationship Id="rId6" Type="http://schemas.openxmlformats.org/officeDocument/2006/relationships/image" Target="../media/image147.jpg"/><Relationship Id="rId7" Type="http://schemas.openxmlformats.org/officeDocument/2006/relationships/image" Target="../media/image148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1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5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157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8.png"/><Relationship Id="rId3" Type="http://schemas.openxmlformats.org/officeDocument/2006/relationships/image" Target="../media/image159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jpg"/><Relationship Id="rId4" Type="http://schemas.openxmlformats.org/officeDocument/2006/relationships/image" Target="../media/image162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png"/><Relationship Id="rId3" Type="http://schemas.openxmlformats.org/officeDocument/2006/relationships/image" Target="../media/image164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5.png"/><Relationship Id="rId3" Type="http://schemas.openxmlformats.org/officeDocument/2006/relationships/image" Target="../media/image166.jpg"/><Relationship Id="rId4" Type="http://schemas.openxmlformats.org/officeDocument/2006/relationships/image" Target="../media/image167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png"/><Relationship Id="rId3" Type="http://schemas.openxmlformats.org/officeDocument/2006/relationships/image" Target="../media/image169.jpg"/><Relationship Id="rId4" Type="http://schemas.openxmlformats.org/officeDocument/2006/relationships/image" Target="../media/image170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1.png"/><Relationship Id="rId3" Type="http://schemas.openxmlformats.org/officeDocument/2006/relationships/image" Target="../media/image172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3" Type="http://schemas.openxmlformats.org/officeDocument/2006/relationships/image" Target="../media/image174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5.png"/><Relationship Id="rId3" Type="http://schemas.openxmlformats.org/officeDocument/2006/relationships/image" Target="../media/image176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png"/><Relationship Id="rId3" Type="http://schemas.openxmlformats.org/officeDocument/2006/relationships/image" Target="../media/image178.jp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jpg"/><Relationship Id="rId5" Type="http://schemas.openxmlformats.org/officeDocument/2006/relationships/image" Target="../media/image182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3538728"/>
            <a:ext cx="6931152" cy="14691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63828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52365"/>
            <a:ext cx="5125720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Chemistry</a:t>
            </a:r>
            <a:r>
              <a:rPr dirty="0" sz="3200" spc="-5">
                <a:latin typeface="Calibri"/>
                <a:cs typeface="Calibri"/>
              </a:rPr>
              <a:t>: Molecular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Molecular </a:t>
            </a:r>
            <a:r>
              <a:rPr dirty="0" sz="2800" spc="-10">
                <a:latin typeface="Calibri"/>
                <a:cs typeface="Calibri"/>
              </a:rPr>
              <a:t>property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715149"/>
            <a:ext cx="7461884" cy="112077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Biology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15">
                <a:latin typeface="Calibri"/>
                <a:cs typeface="Calibri"/>
              </a:rPr>
              <a:t>Protein-protein </a:t>
            </a:r>
            <a:r>
              <a:rPr dirty="0" sz="3200" spc="-5">
                <a:latin typeface="Calibri"/>
                <a:cs typeface="Calibri"/>
              </a:rPr>
              <a:t>association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Protein </a:t>
            </a:r>
            <a:r>
              <a:rPr dirty="0" sz="2800" spc="-5">
                <a:latin typeface="Calibri"/>
                <a:cs typeface="Calibri"/>
              </a:rPr>
              <a:t>function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6775" y="2781726"/>
            <a:ext cx="1934052" cy="8089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98686" y="5330963"/>
            <a:ext cx="1622102" cy="856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74147" y="2788411"/>
            <a:ext cx="25787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6800" algn="l"/>
              </a:tabLst>
            </a:pPr>
            <a:r>
              <a:rPr dirty="0" sz="5400" spc="-5">
                <a:latin typeface="Arial"/>
                <a:cs typeface="Arial"/>
              </a:rPr>
              <a:t>f</a:t>
            </a:r>
            <a:r>
              <a:rPr dirty="0" sz="5400">
                <a:latin typeface="Arial"/>
                <a:cs typeface="Arial"/>
              </a:rPr>
              <a:t>(	)</a:t>
            </a:r>
            <a:endParaRPr sz="5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4990" y="5251196"/>
            <a:ext cx="4445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5">
                <a:latin typeface="Arial"/>
                <a:cs typeface="Arial"/>
              </a:rPr>
              <a:t>f(</a:t>
            </a:r>
            <a:endParaRPr sz="5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3042" y="2962148"/>
            <a:ext cx="16135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Arial"/>
                <a:cs typeface="Arial"/>
              </a:rPr>
              <a:t>=</a:t>
            </a:r>
            <a:r>
              <a:rPr dirty="0" sz="3600" spc="-85">
                <a:latin typeface="Arial"/>
                <a:cs typeface="Arial"/>
              </a:rPr>
              <a:t> </a:t>
            </a:r>
            <a:r>
              <a:rPr dirty="0" sz="3600" spc="-5">
                <a:latin typeface="Arial"/>
                <a:cs typeface="Arial"/>
              </a:rPr>
              <a:t>toxic?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9699" y="5214620"/>
            <a:ext cx="46132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86" sz="8100">
                <a:latin typeface="Arial"/>
                <a:cs typeface="Arial"/>
              </a:rPr>
              <a:t>) </a:t>
            </a:r>
            <a:r>
              <a:rPr dirty="0" sz="3600">
                <a:latin typeface="Arial"/>
                <a:cs typeface="Arial"/>
              </a:rPr>
              <a:t>= </a:t>
            </a:r>
            <a:r>
              <a:rPr dirty="0" sz="3600" spc="-5">
                <a:latin typeface="Arial"/>
                <a:cs typeface="Arial"/>
              </a:rPr>
              <a:t>biological</a:t>
            </a:r>
            <a:r>
              <a:rPr dirty="0" sz="3600" spc="665">
                <a:latin typeface="Arial"/>
                <a:cs typeface="Arial"/>
              </a:rPr>
              <a:t> </a:t>
            </a:r>
            <a:r>
              <a:rPr dirty="0" sz="3600" spc="-5">
                <a:latin typeface="Arial"/>
                <a:cs typeface="Arial"/>
              </a:rPr>
              <a:t>activity?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66826" y="1791580"/>
            <a:ext cx="2738120" cy="1278890"/>
          </a:xfrm>
          <a:custGeom>
            <a:avLst/>
            <a:gdLst/>
            <a:ahLst/>
            <a:cxnLst/>
            <a:rect l="l" t="t" r="r" b="b"/>
            <a:pathLst>
              <a:path w="2738120" h="1278889">
                <a:moveTo>
                  <a:pt x="0" y="1278418"/>
                </a:moveTo>
                <a:lnTo>
                  <a:pt x="546796" y="881474"/>
                </a:lnTo>
                <a:lnTo>
                  <a:pt x="511831" y="852134"/>
                </a:lnTo>
                <a:lnTo>
                  <a:pt x="480779" y="822219"/>
                </a:lnTo>
                <a:lnTo>
                  <a:pt x="453602" y="791803"/>
                </a:lnTo>
                <a:lnTo>
                  <a:pt x="430267" y="760960"/>
                </a:lnTo>
                <a:lnTo>
                  <a:pt x="394973" y="698296"/>
                </a:lnTo>
                <a:lnTo>
                  <a:pt x="374611" y="634821"/>
                </a:lnTo>
                <a:lnTo>
                  <a:pt x="368895" y="571133"/>
                </a:lnTo>
                <a:lnTo>
                  <a:pt x="371438" y="539395"/>
                </a:lnTo>
                <a:lnTo>
                  <a:pt x="387151" y="476505"/>
                </a:lnTo>
                <a:lnTo>
                  <a:pt x="416791" y="414891"/>
                </a:lnTo>
                <a:lnTo>
                  <a:pt x="460072" y="355151"/>
                </a:lnTo>
                <a:lnTo>
                  <a:pt x="486738" y="326170"/>
                </a:lnTo>
                <a:lnTo>
                  <a:pt x="516707" y="297880"/>
                </a:lnTo>
                <a:lnTo>
                  <a:pt x="549942" y="270357"/>
                </a:lnTo>
                <a:lnTo>
                  <a:pt x="586409" y="243676"/>
                </a:lnTo>
                <a:lnTo>
                  <a:pt x="626070" y="217910"/>
                </a:lnTo>
                <a:lnTo>
                  <a:pt x="668891" y="193134"/>
                </a:lnTo>
                <a:lnTo>
                  <a:pt x="714835" y="169422"/>
                </a:lnTo>
                <a:lnTo>
                  <a:pt x="763866" y="146850"/>
                </a:lnTo>
                <a:lnTo>
                  <a:pt x="815949" y="125492"/>
                </a:lnTo>
                <a:lnTo>
                  <a:pt x="871048" y="105422"/>
                </a:lnTo>
                <a:lnTo>
                  <a:pt x="929127" y="86715"/>
                </a:lnTo>
                <a:lnTo>
                  <a:pt x="977185" y="72928"/>
                </a:lnTo>
                <a:lnTo>
                  <a:pt x="1026019" y="60365"/>
                </a:lnTo>
                <a:lnTo>
                  <a:pt x="1075550" y="49014"/>
                </a:lnTo>
                <a:lnTo>
                  <a:pt x="1125698" y="38869"/>
                </a:lnTo>
                <a:lnTo>
                  <a:pt x="1176387" y="29919"/>
                </a:lnTo>
                <a:lnTo>
                  <a:pt x="1227537" y="22156"/>
                </a:lnTo>
                <a:lnTo>
                  <a:pt x="1279071" y="15571"/>
                </a:lnTo>
                <a:lnTo>
                  <a:pt x="1330910" y="10155"/>
                </a:lnTo>
                <a:lnTo>
                  <a:pt x="1382975" y="5898"/>
                </a:lnTo>
                <a:lnTo>
                  <a:pt x="1435189" y="2793"/>
                </a:lnTo>
                <a:lnTo>
                  <a:pt x="1487473" y="830"/>
                </a:lnTo>
                <a:lnTo>
                  <a:pt x="1539749" y="0"/>
                </a:lnTo>
                <a:lnTo>
                  <a:pt x="1591939" y="293"/>
                </a:lnTo>
                <a:lnTo>
                  <a:pt x="1643963" y="1703"/>
                </a:lnTo>
                <a:lnTo>
                  <a:pt x="1695745" y="4218"/>
                </a:lnTo>
                <a:lnTo>
                  <a:pt x="1747205" y="7831"/>
                </a:lnTo>
                <a:lnTo>
                  <a:pt x="1798266" y="12532"/>
                </a:lnTo>
                <a:lnTo>
                  <a:pt x="1848849" y="18313"/>
                </a:lnTo>
                <a:lnTo>
                  <a:pt x="1898875" y="25164"/>
                </a:lnTo>
                <a:lnTo>
                  <a:pt x="1948267" y="33076"/>
                </a:lnTo>
                <a:lnTo>
                  <a:pt x="1996946" y="42041"/>
                </a:lnTo>
                <a:lnTo>
                  <a:pt x="2044834" y="52050"/>
                </a:lnTo>
                <a:lnTo>
                  <a:pt x="2091852" y="63093"/>
                </a:lnTo>
                <a:lnTo>
                  <a:pt x="2137923" y="75162"/>
                </a:lnTo>
                <a:lnTo>
                  <a:pt x="2182967" y="88248"/>
                </a:lnTo>
                <a:lnTo>
                  <a:pt x="2226908" y="102342"/>
                </a:lnTo>
                <a:lnTo>
                  <a:pt x="2269665" y="117435"/>
                </a:lnTo>
                <a:lnTo>
                  <a:pt x="2311161" y="133517"/>
                </a:lnTo>
                <a:lnTo>
                  <a:pt x="2351319" y="150581"/>
                </a:lnTo>
                <a:lnTo>
                  <a:pt x="2390058" y="168616"/>
                </a:lnTo>
                <a:lnTo>
                  <a:pt x="2427302" y="187615"/>
                </a:lnTo>
                <a:lnTo>
                  <a:pt x="2462971" y="207568"/>
                </a:lnTo>
                <a:lnTo>
                  <a:pt x="2496988" y="228465"/>
                </a:lnTo>
                <a:lnTo>
                  <a:pt x="2529274" y="250300"/>
                </a:lnTo>
                <a:lnTo>
                  <a:pt x="2594716" y="302401"/>
                </a:lnTo>
                <a:lnTo>
                  <a:pt x="2625768" y="332317"/>
                </a:lnTo>
                <a:lnTo>
                  <a:pt x="2652944" y="362733"/>
                </a:lnTo>
                <a:lnTo>
                  <a:pt x="2676280" y="393575"/>
                </a:lnTo>
                <a:lnTo>
                  <a:pt x="2711573" y="456239"/>
                </a:lnTo>
                <a:lnTo>
                  <a:pt x="2731935" y="519714"/>
                </a:lnTo>
                <a:lnTo>
                  <a:pt x="2737652" y="583402"/>
                </a:lnTo>
                <a:lnTo>
                  <a:pt x="2735108" y="615140"/>
                </a:lnTo>
                <a:lnTo>
                  <a:pt x="2719396" y="678031"/>
                </a:lnTo>
                <a:lnTo>
                  <a:pt x="2689755" y="739644"/>
                </a:lnTo>
                <a:lnTo>
                  <a:pt x="2646475" y="799384"/>
                </a:lnTo>
                <a:lnTo>
                  <a:pt x="2619808" y="828366"/>
                </a:lnTo>
                <a:lnTo>
                  <a:pt x="2589840" y="856655"/>
                </a:lnTo>
                <a:lnTo>
                  <a:pt x="2556604" y="884178"/>
                </a:lnTo>
                <a:lnTo>
                  <a:pt x="2520138" y="910859"/>
                </a:lnTo>
                <a:lnTo>
                  <a:pt x="2480476" y="936625"/>
                </a:lnTo>
                <a:lnTo>
                  <a:pt x="2437656" y="961401"/>
                </a:lnTo>
                <a:lnTo>
                  <a:pt x="2391712" y="985113"/>
                </a:lnTo>
                <a:lnTo>
                  <a:pt x="2342680" y="1007685"/>
                </a:lnTo>
                <a:lnTo>
                  <a:pt x="2290597" y="1029043"/>
                </a:lnTo>
                <a:lnTo>
                  <a:pt x="2235499" y="1049113"/>
                </a:lnTo>
                <a:lnTo>
                  <a:pt x="2177420" y="1067820"/>
                </a:lnTo>
                <a:lnTo>
                  <a:pt x="2131379" y="1081048"/>
                </a:lnTo>
                <a:lnTo>
                  <a:pt x="2084481" y="1093177"/>
                </a:lnTo>
                <a:lnTo>
                  <a:pt x="2036800" y="1104207"/>
                </a:lnTo>
                <a:lnTo>
                  <a:pt x="1988413" y="1114140"/>
                </a:lnTo>
                <a:lnTo>
                  <a:pt x="1939394" y="1122978"/>
                </a:lnTo>
                <a:lnTo>
                  <a:pt x="1889819" y="1130721"/>
                </a:lnTo>
                <a:lnTo>
                  <a:pt x="1839764" y="1137372"/>
                </a:lnTo>
                <a:lnTo>
                  <a:pt x="1789303" y="1142931"/>
                </a:lnTo>
                <a:lnTo>
                  <a:pt x="1738513" y="1147401"/>
                </a:lnTo>
                <a:lnTo>
                  <a:pt x="1687469" y="1150782"/>
                </a:lnTo>
                <a:lnTo>
                  <a:pt x="1636245" y="1153076"/>
                </a:lnTo>
                <a:lnTo>
                  <a:pt x="1584919" y="1154284"/>
                </a:lnTo>
                <a:lnTo>
                  <a:pt x="1533564" y="1154408"/>
                </a:lnTo>
                <a:lnTo>
                  <a:pt x="1482256" y="1153449"/>
                </a:lnTo>
                <a:lnTo>
                  <a:pt x="1431072" y="1151409"/>
                </a:lnTo>
                <a:lnTo>
                  <a:pt x="1380086" y="1148289"/>
                </a:lnTo>
                <a:lnTo>
                  <a:pt x="1329373" y="1144090"/>
                </a:lnTo>
                <a:lnTo>
                  <a:pt x="1279010" y="1138814"/>
                </a:lnTo>
                <a:lnTo>
                  <a:pt x="1229071" y="1132462"/>
                </a:lnTo>
                <a:lnTo>
                  <a:pt x="1179632" y="1125036"/>
                </a:lnTo>
                <a:lnTo>
                  <a:pt x="1130768" y="1116536"/>
                </a:lnTo>
                <a:lnTo>
                  <a:pt x="1082555" y="1106966"/>
                </a:lnTo>
                <a:lnTo>
                  <a:pt x="1035069" y="1096325"/>
                </a:lnTo>
                <a:lnTo>
                  <a:pt x="988384" y="1084615"/>
                </a:lnTo>
                <a:lnTo>
                  <a:pt x="942576" y="1071838"/>
                </a:lnTo>
                <a:lnTo>
                  <a:pt x="897721" y="1057995"/>
                </a:lnTo>
                <a:lnTo>
                  <a:pt x="853893" y="1043087"/>
                </a:lnTo>
                <a:lnTo>
                  <a:pt x="0" y="127841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00927" y="2001011"/>
            <a:ext cx="16770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Our running  example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today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19632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4765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GNNs </a:t>
            </a:r>
            <a:r>
              <a:rPr dirty="0" spc="-10" b="0">
                <a:latin typeface="Calibri"/>
                <a:cs typeface="Calibri"/>
              </a:rPr>
              <a:t>obtain </a:t>
            </a:r>
            <a:r>
              <a:rPr dirty="0" b="0">
                <a:latin typeface="Calibri"/>
                <a:cs typeface="Calibri"/>
              </a:rPr>
              <a:t>an </a:t>
            </a:r>
            <a:r>
              <a:rPr dirty="0" spc="-5" b="0">
                <a:latin typeface="Calibri"/>
                <a:cs typeface="Calibri"/>
              </a:rPr>
              <a:t>embedding of </a:t>
            </a:r>
            <a:r>
              <a:rPr dirty="0" b="0">
                <a:latin typeface="Calibri"/>
                <a:cs typeface="Calibri"/>
              </a:rPr>
              <a:t>an </a:t>
            </a:r>
            <a:r>
              <a:rPr dirty="0" spc="-15" b="0">
                <a:latin typeface="Calibri"/>
                <a:cs typeface="Calibri"/>
              </a:rPr>
              <a:t>entire graph  </a:t>
            </a:r>
            <a:r>
              <a:rPr dirty="0" spc="-5" b="0">
                <a:latin typeface="Calibri"/>
                <a:cs typeface="Calibri"/>
              </a:rPr>
              <a:t>by </a:t>
            </a:r>
            <a:r>
              <a:rPr dirty="0" spc="-10" b="0">
                <a:latin typeface="Calibri"/>
                <a:cs typeface="Calibri"/>
              </a:rPr>
              <a:t>following two</a:t>
            </a:r>
            <a:r>
              <a:rPr dirty="0" spc="-75" b="0">
                <a:latin typeface="Calibri"/>
                <a:cs typeface="Calibri"/>
              </a:rPr>
              <a:t> </a:t>
            </a:r>
            <a:r>
              <a:rPr dirty="0" spc="-20" b="0">
                <a:latin typeface="Calibri"/>
                <a:cs typeface="Calibri"/>
              </a:rPr>
              <a:t>steps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14523"/>
            <a:ext cx="7397750" cy="181165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080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Iteratively aggregate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neighboring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information </a:t>
            </a:r>
            <a:r>
              <a:rPr dirty="0" sz="2800" spc="-30">
                <a:latin typeface="Calibri"/>
                <a:cs typeface="Calibri"/>
              </a:rPr>
              <a:t>to  </a:t>
            </a:r>
            <a:r>
              <a:rPr dirty="0" sz="2800" spc="-10">
                <a:latin typeface="Calibri"/>
                <a:cs typeface="Calibri"/>
              </a:rPr>
              <a:t>obtain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marL="287020" marR="1180465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20" b="1">
                <a:solidFill>
                  <a:srgbClr val="D60093"/>
                </a:solidFill>
                <a:latin typeface="Calibri"/>
                <a:cs typeface="Calibri"/>
              </a:rPr>
              <a:t>Pool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node embeddings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obtain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  </a:t>
            </a:r>
            <a:r>
              <a:rPr dirty="0" sz="2800" spc="-5">
                <a:latin typeface="Calibri"/>
                <a:cs typeface="Calibri"/>
              </a:rPr>
              <a:t>embedding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663" y="5001259"/>
            <a:ext cx="940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Molecule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0348" y="5326660"/>
            <a:ext cx="144322" cy="632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4671" y="5326660"/>
            <a:ext cx="1898222" cy="432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0348" y="5326660"/>
            <a:ext cx="2042544" cy="1065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0348" y="5959400"/>
            <a:ext cx="1898221" cy="4329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28570" y="5759628"/>
            <a:ext cx="144322" cy="6327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099602" y="5928747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62907" y="5963894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5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80420" y="6256247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34725" y="5987219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34725" y="5644952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50017" y="5980727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5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50017" y="5638005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52394" y="5601249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60210" y="555621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60210" y="555621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71333" y="5549271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71333" y="5549270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07417" y="58767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007417" y="58767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56040" y="589848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56040" y="589848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88235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88235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71333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771333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45828" y="6208812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45828" y="6208812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80624" y="5879039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5"/>
                </a:lnTo>
                <a:lnTo>
                  <a:pt x="66960" y="95508"/>
                </a:lnTo>
                <a:lnTo>
                  <a:pt x="82280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80624" y="5879039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60675" y="532277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33114" y="532277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822457" y="531762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794897" y="531762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57730" y="588048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30170" y="588048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34327" y="638375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506767" y="638375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17425" y="637413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89865" y="637413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27162" y="565934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99602" y="565934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525661" y="567862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98101" y="567862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69787" y="600826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742226" y="600826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16458" y="5695536"/>
            <a:ext cx="146685" cy="227329"/>
          </a:xfrm>
          <a:custGeom>
            <a:avLst/>
            <a:gdLst/>
            <a:ahLst/>
            <a:cxnLst/>
            <a:rect l="l" t="t" r="r" b="b"/>
            <a:pathLst>
              <a:path w="146685" h="227329">
                <a:moveTo>
                  <a:pt x="89265" y="161432"/>
                </a:moveTo>
                <a:lnTo>
                  <a:pt x="64963" y="176463"/>
                </a:lnTo>
                <a:lnTo>
                  <a:pt x="146509" y="226823"/>
                </a:lnTo>
                <a:lnTo>
                  <a:pt x="142486" y="182369"/>
                </a:lnTo>
                <a:lnTo>
                  <a:pt x="109736" y="182369"/>
                </a:lnTo>
                <a:lnTo>
                  <a:pt x="100931" y="180294"/>
                </a:lnTo>
                <a:lnTo>
                  <a:pt x="89265" y="161432"/>
                </a:lnTo>
                <a:close/>
              </a:path>
              <a:path w="146685" h="227329">
                <a:moveTo>
                  <a:pt x="113568" y="146401"/>
                </a:moveTo>
                <a:lnTo>
                  <a:pt x="89265" y="161432"/>
                </a:lnTo>
                <a:lnTo>
                  <a:pt x="100931" y="180294"/>
                </a:lnTo>
                <a:lnTo>
                  <a:pt x="109736" y="182369"/>
                </a:lnTo>
                <a:lnTo>
                  <a:pt x="123158" y="174068"/>
                </a:lnTo>
                <a:lnTo>
                  <a:pt x="125234" y="165263"/>
                </a:lnTo>
                <a:lnTo>
                  <a:pt x="113568" y="146401"/>
                </a:lnTo>
                <a:close/>
              </a:path>
              <a:path w="146685" h="227329">
                <a:moveTo>
                  <a:pt x="137869" y="131370"/>
                </a:moveTo>
                <a:lnTo>
                  <a:pt x="113568" y="146401"/>
                </a:lnTo>
                <a:lnTo>
                  <a:pt x="125234" y="165263"/>
                </a:lnTo>
                <a:lnTo>
                  <a:pt x="123158" y="174068"/>
                </a:lnTo>
                <a:lnTo>
                  <a:pt x="109736" y="182369"/>
                </a:lnTo>
                <a:lnTo>
                  <a:pt x="142486" y="182369"/>
                </a:lnTo>
                <a:lnTo>
                  <a:pt x="137869" y="131370"/>
                </a:lnTo>
                <a:close/>
              </a:path>
              <a:path w="146685" h="227329">
                <a:moveTo>
                  <a:pt x="15497" y="0"/>
                </a:moveTo>
                <a:lnTo>
                  <a:pt x="2075" y="8301"/>
                </a:lnTo>
                <a:lnTo>
                  <a:pt x="0" y="17106"/>
                </a:lnTo>
                <a:lnTo>
                  <a:pt x="89265" y="161432"/>
                </a:lnTo>
                <a:lnTo>
                  <a:pt x="113568" y="146401"/>
                </a:lnTo>
                <a:lnTo>
                  <a:pt x="24302" y="2075"/>
                </a:lnTo>
                <a:lnTo>
                  <a:pt x="1549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812583" y="5961121"/>
            <a:ext cx="186690" cy="221615"/>
          </a:xfrm>
          <a:custGeom>
            <a:avLst/>
            <a:gdLst/>
            <a:ahLst/>
            <a:cxnLst/>
            <a:rect l="l" t="t" r="r" b="b"/>
            <a:pathLst>
              <a:path w="186689" h="221614">
                <a:moveTo>
                  <a:pt x="120616" y="56894"/>
                </a:moveTo>
                <a:lnTo>
                  <a:pt x="0" y="202468"/>
                </a:lnTo>
                <a:lnTo>
                  <a:pt x="844" y="211475"/>
                </a:lnTo>
                <a:lnTo>
                  <a:pt x="12995" y="221544"/>
                </a:lnTo>
                <a:lnTo>
                  <a:pt x="22002" y="220699"/>
                </a:lnTo>
                <a:lnTo>
                  <a:pt x="142620" y="75125"/>
                </a:lnTo>
                <a:lnTo>
                  <a:pt x="120616" y="56894"/>
                </a:lnTo>
                <a:close/>
              </a:path>
              <a:path w="186689" h="221614">
                <a:moveTo>
                  <a:pt x="177257" y="38972"/>
                </a:moveTo>
                <a:lnTo>
                  <a:pt x="143772" y="38972"/>
                </a:lnTo>
                <a:lnTo>
                  <a:pt x="155925" y="49041"/>
                </a:lnTo>
                <a:lnTo>
                  <a:pt x="156770" y="58048"/>
                </a:lnTo>
                <a:lnTo>
                  <a:pt x="142620" y="75125"/>
                </a:lnTo>
                <a:lnTo>
                  <a:pt x="164623" y="93357"/>
                </a:lnTo>
                <a:lnTo>
                  <a:pt x="177257" y="38972"/>
                </a:lnTo>
                <a:close/>
              </a:path>
              <a:path w="186689" h="221614">
                <a:moveTo>
                  <a:pt x="143772" y="38972"/>
                </a:moveTo>
                <a:lnTo>
                  <a:pt x="134766" y="39817"/>
                </a:lnTo>
                <a:lnTo>
                  <a:pt x="120616" y="56894"/>
                </a:lnTo>
                <a:lnTo>
                  <a:pt x="142620" y="75125"/>
                </a:lnTo>
                <a:lnTo>
                  <a:pt x="156770" y="58048"/>
                </a:lnTo>
                <a:lnTo>
                  <a:pt x="155925" y="49041"/>
                </a:lnTo>
                <a:lnTo>
                  <a:pt x="143772" y="38972"/>
                </a:lnTo>
                <a:close/>
              </a:path>
              <a:path w="186689" h="221614">
                <a:moveTo>
                  <a:pt x="186311" y="0"/>
                </a:moveTo>
                <a:lnTo>
                  <a:pt x="98612" y="38663"/>
                </a:lnTo>
                <a:lnTo>
                  <a:pt x="120616" y="56894"/>
                </a:lnTo>
                <a:lnTo>
                  <a:pt x="134766" y="39817"/>
                </a:lnTo>
                <a:lnTo>
                  <a:pt x="143772" y="38972"/>
                </a:lnTo>
                <a:lnTo>
                  <a:pt x="177257" y="38972"/>
                </a:lnTo>
                <a:lnTo>
                  <a:pt x="1863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90332" y="5954073"/>
            <a:ext cx="292100" cy="85725"/>
          </a:xfrm>
          <a:custGeom>
            <a:avLst/>
            <a:gdLst/>
            <a:ahLst/>
            <a:cxnLst/>
            <a:rect l="l" t="t" r="r" b="b"/>
            <a:pathLst>
              <a:path w="292100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92100" h="85725">
                <a:moveTo>
                  <a:pt x="85725" y="28575"/>
                </a:moveTo>
                <a:lnTo>
                  <a:pt x="71437" y="28575"/>
                </a:lnTo>
                <a:lnTo>
                  <a:pt x="63546" y="28575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292100" h="85725">
                <a:moveTo>
                  <a:pt x="85725" y="57150"/>
                </a:moveTo>
                <a:lnTo>
                  <a:pt x="63546" y="57150"/>
                </a:lnTo>
                <a:lnTo>
                  <a:pt x="85725" y="57150"/>
                </a:lnTo>
                <a:close/>
              </a:path>
              <a:path w="292100" h="85725">
                <a:moveTo>
                  <a:pt x="285419" y="28574"/>
                </a:moveTo>
                <a:lnTo>
                  <a:pt x="85725" y="28575"/>
                </a:lnTo>
                <a:lnTo>
                  <a:pt x="85725" y="57150"/>
                </a:lnTo>
                <a:lnTo>
                  <a:pt x="285419" y="57149"/>
                </a:lnTo>
                <a:lnTo>
                  <a:pt x="291815" y="50753"/>
                </a:lnTo>
                <a:lnTo>
                  <a:pt x="291816" y="34970"/>
                </a:lnTo>
                <a:lnTo>
                  <a:pt x="285419" y="285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52486" y="5891817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515790" y="5926965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4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633303" y="6219318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87609" y="5950289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40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87609" y="5608023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5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02901" y="5943797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4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902901" y="5601076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05278" y="5564320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513093" y="551928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824218" y="551234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60300" y="583983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308924" y="586155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541120" y="616733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24218" y="616733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698713" y="6171884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6" y="14558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6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433508" y="5842110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1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1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513559" y="528584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85999" y="528584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875341" y="528069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847780" y="528069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210614" y="584355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183053" y="584355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587211" y="634682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559649" y="634682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70308" y="633720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842748" y="633720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180046" y="562241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152486" y="562241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578544" y="564169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550984" y="564169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822671" y="597133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795111" y="597133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191340" y="579107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347847" y="0"/>
                </a:moveTo>
                <a:lnTo>
                  <a:pt x="347847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7" y="203683"/>
                </a:lnTo>
                <a:lnTo>
                  <a:pt x="347847" y="298670"/>
                </a:lnTo>
                <a:lnTo>
                  <a:pt x="497182" y="149335"/>
                </a:lnTo>
                <a:lnTo>
                  <a:pt x="3478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191340" y="579107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216249" y="5752322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347846" y="0"/>
                </a:moveTo>
                <a:lnTo>
                  <a:pt x="347846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6" y="203683"/>
                </a:lnTo>
                <a:lnTo>
                  <a:pt x="347846" y="298670"/>
                </a:lnTo>
                <a:lnTo>
                  <a:pt x="497180" y="149335"/>
                </a:lnTo>
                <a:lnTo>
                  <a:pt x="3478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216249" y="5752322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407046" y="4855315"/>
            <a:ext cx="514984" cy="381000"/>
          </a:xfrm>
          <a:custGeom>
            <a:avLst/>
            <a:gdLst/>
            <a:ahLst/>
            <a:cxnLst/>
            <a:rect l="l" t="t" r="r" b="b"/>
            <a:pathLst>
              <a:path w="514985" h="381000">
                <a:moveTo>
                  <a:pt x="190239" y="285380"/>
                </a:moveTo>
                <a:lnTo>
                  <a:pt x="0" y="285380"/>
                </a:lnTo>
                <a:lnTo>
                  <a:pt x="81362" y="380499"/>
                </a:lnTo>
                <a:lnTo>
                  <a:pt x="190239" y="285380"/>
                </a:lnTo>
                <a:close/>
              </a:path>
              <a:path w="514985" h="381000">
                <a:moveTo>
                  <a:pt x="465501" y="0"/>
                </a:moveTo>
                <a:lnTo>
                  <a:pt x="417299" y="2484"/>
                </a:lnTo>
                <a:lnTo>
                  <a:pt x="370346" y="9558"/>
                </a:lnTo>
                <a:lnTo>
                  <a:pt x="324996" y="21006"/>
                </a:lnTo>
                <a:lnTo>
                  <a:pt x="281605" y="36612"/>
                </a:lnTo>
                <a:lnTo>
                  <a:pt x="240526" y="56163"/>
                </a:lnTo>
                <a:lnTo>
                  <a:pt x="202116" y="79443"/>
                </a:lnTo>
                <a:lnTo>
                  <a:pt x="166728" y="106236"/>
                </a:lnTo>
                <a:lnTo>
                  <a:pt x="134719" y="136328"/>
                </a:lnTo>
                <a:lnTo>
                  <a:pt x="106442" y="169504"/>
                </a:lnTo>
                <a:lnTo>
                  <a:pt x="82254" y="205547"/>
                </a:lnTo>
                <a:lnTo>
                  <a:pt x="62508" y="244244"/>
                </a:lnTo>
                <a:lnTo>
                  <a:pt x="47560" y="285380"/>
                </a:lnTo>
                <a:lnTo>
                  <a:pt x="142679" y="285380"/>
                </a:lnTo>
                <a:lnTo>
                  <a:pt x="159196" y="240734"/>
                </a:lnTo>
                <a:lnTo>
                  <a:pt x="181463" y="198841"/>
                </a:lnTo>
                <a:lnTo>
                  <a:pt x="209046" y="160029"/>
                </a:lnTo>
                <a:lnTo>
                  <a:pt x="241513" y="124628"/>
                </a:lnTo>
                <a:lnTo>
                  <a:pt x="278429" y="92967"/>
                </a:lnTo>
                <a:lnTo>
                  <a:pt x="319362" y="65378"/>
                </a:lnTo>
                <a:lnTo>
                  <a:pt x="363878" y="42189"/>
                </a:lnTo>
                <a:lnTo>
                  <a:pt x="411545" y="23729"/>
                </a:lnTo>
                <a:lnTo>
                  <a:pt x="461928" y="10330"/>
                </a:lnTo>
                <a:lnTo>
                  <a:pt x="514596" y="2319"/>
                </a:lnTo>
                <a:lnTo>
                  <a:pt x="46550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874084" y="4855336"/>
            <a:ext cx="528955" cy="381000"/>
          </a:xfrm>
          <a:custGeom>
            <a:avLst/>
            <a:gdLst/>
            <a:ahLst/>
            <a:cxnLst/>
            <a:rect l="l" t="t" r="r" b="b"/>
            <a:pathLst>
              <a:path w="528954" h="381000">
                <a:moveTo>
                  <a:pt x="95119" y="0"/>
                </a:moveTo>
                <a:lnTo>
                  <a:pt x="0" y="0"/>
                </a:lnTo>
                <a:lnTo>
                  <a:pt x="50524" y="2559"/>
                </a:lnTo>
                <a:lnTo>
                  <a:pt x="99336" y="10048"/>
                </a:lnTo>
                <a:lnTo>
                  <a:pt x="146111" y="22181"/>
                </a:lnTo>
                <a:lnTo>
                  <a:pt x="190525" y="38672"/>
                </a:lnTo>
                <a:lnTo>
                  <a:pt x="232251" y="59235"/>
                </a:lnTo>
                <a:lnTo>
                  <a:pt x="270965" y="83586"/>
                </a:lnTo>
                <a:lnTo>
                  <a:pt x="306342" y="111439"/>
                </a:lnTo>
                <a:lnTo>
                  <a:pt x="338057" y="142508"/>
                </a:lnTo>
                <a:lnTo>
                  <a:pt x="365784" y="176508"/>
                </a:lnTo>
                <a:lnTo>
                  <a:pt x="389199" y="213153"/>
                </a:lnTo>
                <a:lnTo>
                  <a:pt x="407976" y="252158"/>
                </a:lnTo>
                <a:lnTo>
                  <a:pt x="421791" y="293238"/>
                </a:lnTo>
                <a:lnTo>
                  <a:pt x="430319" y="336106"/>
                </a:lnTo>
                <a:lnTo>
                  <a:pt x="433233" y="380478"/>
                </a:lnTo>
                <a:lnTo>
                  <a:pt x="528353" y="380478"/>
                </a:lnTo>
                <a:lnTo>
                  <a:pt x="525438" y="336106"/>
                </a:lnTo>
                <a:lnTo>
                  <a:pt x="516910" y="293238"/>
                </a:lnTo>
                <a:lnTo>
                  <a:pt x="503096" y="252158"/>
                </a:lnTo>
                <a:lnTo>
                  <a:pt x="484318" y="213153"/>
                </a:lnTo>
                <a:lnTo>
                  <a:pt x="460903" y="176508"/>
                </a:lnTo>
                <a:lnTo>
                  <a:pt x="433176" y="142508"/>
                </a:lnTo>
                <a:lnTo>
                  <a:pt x="401461" y="111439"/>
                </a:lnTo>
                <a:lnTo>
                  <a:pt x="366084" y="83586"/>
                </a:lnTo>
                <a:lnTo>
                  <a:pt x="327370" y="59235"/>
                </a:lnTo>
                <a:lnTo>
                  <a:pt x="285644" y="38672"/>
                </a:lnTo>
                <a:lnTo>
                  <a:pt x="241230" y="22181"/>
                </a:lnTo>
                <a:lnTo>
                  <a:pt x="194455" y="10048"/>
                </a:lnTo>
                <a:lnTo>
                  <a:pt x="145643" y="2559"/>
                </a:lnTo>
                <a:lnTo>
                  <a:pt x="95119" y="0"/>
                </a:lnTo>
                <a:close/>
              </a:path>
            </a:pathLst>
          </a:custGeom>
          <a:solidFill>
            <a:srgbClr val="75A7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407046" y="4855336"/>
            <a:ext cx="995680" cy="381000"/>
          </a:xfrm>
          <a:custGeom>
            <a:avLst/>
            <a:gdLst/>
            <a:ahLst/>
            <a:cxnLst/>
            <a:rect l="l" t="t" r="r" b="b"/>
            <a:pathLst>
              <a:path w="995679" h="381000">
                <a:moveTo>
                  <a:pt x="514596" y="2300"/>
                </a:moveTo>
                <a:lnTo>
                  <a:pt x="461928" y="10310"/>
                </a:lnTo>
                <a:lnTo>
                  <a:pt x="411545" y="23709"/>
                </a:lnTo>
                <a:lnTo>
                  <a:pt x="363878" y="42168"/>
                </a:lnTo>
                <a:lnTo>
                  <a:pt x="319361" y="65358"/>
                </a:lnTo>
                <a:lnTo>
                  <a:pt x="278428" y="92947"/>
                </a:lnTo>
                <a:lnTo>
                  <a:pt x="241512" y="124607"/>
                </a:lnTo>
                <a:lnTo>
                  <a:pt x="209046" y="160008"/>
                </a:lnTo>
                <a:lnTo>
                  <a:pt x="181463" y="198820"/>
                </a:lnTo>
                <a:lnTo>
                  <a:pt x="159196" y="240714"/>
                </a:lnTo>
                <a:lnTo>
                  <a:pt x="142679" y="285359"/>
                </a:lnTo>
                <a:lnTo>
                  <a:pt x="190239" y="285358"/>
                </a:lnTo>
                <a:lnTo>
                  <a:pt x="81363" y="380478"/>
                </a:lnTo>
                <a:lnTo>
                  <a:pt x="0" y="285358"/>
                </a:lnTo>
                <a:lnTo>
                  <a:pt x="47560" y="285358"/>
                </a:lnTo>
                <a:lnTo>
                  <a:pt x="64009" y="240848"/>
                </a:lnTo>
                <a:lnTo>
                  <a:pt x="86122" y="199149"/>
                </a:lnTo>
                <a:lnTo>
                  <a:pt x="113457" y="160562"/>
                </a:lnTo>
                <a:lnTo>
                  <a:pt x="145571" y="125388"/>
                </a:lnTo>
                <a:lnTo>
                  <a:pt x="182022" y="93927"/>
                </a:lnTo>
                <a:lnTo>
                  <a:pt x="222368" y="66481"/>
                </a:lnTo>
                <a:lnTo>
                  <a:pt x="266167" y="43350"/>
                </a:lnTo>
                <a:lnTo>
                  <a:pt x="312975" y="24835"/>
                </a:lnTo>
                <a:lnTo>
                  <a:pt x="362351" y="11238"/>
                </a:lnTo>
                <a:lnTo>
                  <a:pt x="413852" y="2859"/>
                </a:lnTo>
                <a:lnTo>
                  <a:pt x="467036" y="0"/>
                </a:lnTo>
                <a:lnTo>
                  <a:pt x="562156" y="0"/>
                </a:lnTo>
                <a:lnTo>
                  <a:pt x="612681" y="2560"/>
                </a:lnTo>
                <a:lnTo>
                  <a:pt x="661493" y="10048"/>
                </a:lnTo>
                <a:lnTo>
                  <a:pt x="708268" y="22181"/>
                </a:lnTo>
                <a:lnTo>
                  <a:pt x="752682" y="38672"/>
                </a:lnTo>
                <a:lnTo>
                  <a:pt x="794408" y="59236"/>
                </a:lnTo>
                <a:lnTo>
                  <a:pt x="833122" y="83587"/>
                </a:lnTo>
                <a:lnTo>
                  <a:pt x="868499" y="111439"/>
                </a:lnTo>
                <a:lnTo>
                  <a:pt x="900213" y="142508"/>
                </a:lnTo>
                <a:lnTo>
                  <a:pt x="927941" y="176508"/>
                </a:lnTo>
                <a:lnTo>
                  <a:pt x="951356" y="213153"/>
                </a:lnTo>
                <a:lnTo>
                  <a:pt x="970133" y="252158"/>
                </a:lnTo>
                <a:lnTo>
                  <a:pt x="983948" y="293238"/>
                </a:lnTo>
                <a:lnTo>
                  <a:pt x="992475" y="336106"/>
                </a:lnTo>
                <a:lnTo>
                  <a:pt x="995390" y="380478"/>
                </a:lnTo>
                <a:lnTo>
                  <a:pt x="900270" y="380478"/>
                </a:lnTo>
                <a:lnTo>
                  <a:pt x="897356" y="336106"/>
                </a:lnTo>
                <a:lnTo>
                  <a:pt x="888828" y="293238"/>
                </a:lnTo>
                <a:lnTo>
                  <a:pt x="875013" y="252158"/>
                </a:lnTo>
                <a:lnTo>
                  <a:pt x="856236" y="213153"/>
                </a:lnTo>
                <a:lnTo>
                  <a:pt x="832821" y="176508"/>
                </a:lnTo>
                <a:lnTo>
                  <a:pt x="805094" y="142508"/>
                </a:lnTo>
                <a:lnTo>
                  <a:pt x="773379" y="111439"/>
                </a:lnTo>
                <a:lnTo>
                  <a:pt x="738002" y="83587"/>
                </a:lnTo>
                <a:lnTo>
                  <a:pt x="699288" y="59236"/>
                </a:lnTo>
                <a:lnTo>
                  <a:pt x="657562" y="38672"/>
                </a:lnTo>
                <a:lnTo>
                  <a:pt x="613149" y="22181"/>
                </a:lnTo>
                <a:lnTo>
                  <a:pt x="566373" y="10048"/>
                </a:lnTo>
                <a:lnTo>
                  <a:pt x="517561" y="2560"/>
                </a:lnTo>
                <a:lnTo>
                  <a:pt x="467037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975177" y="4838326"/>
            <a:ext cx="2026920" cy="441325"/>
          </a:xfrm>
          <a:custGeom>
            <a:avLst/>
            <a:gdLst/>
            <a:ahLst/>
            <a:cxnLst/>
            <a:rect l="l" t="t" r="r" b="b"/>
            <a:pathLst>
              <a:path w="2026920" h="441325">
                <a:moveTo>
                  <a:pt x="0" y="440768"/>
                </a:moveTo>
                <a:lnTo>
                  <a:pt x="1872" y="371109"/>
                </a:lnTo>
                <a:lnTo>
                  <a:pt x="7086" y="310612"/>
                </a:lnTo>
                <a:lnTo>
                  <a:pt x="15037" y="262905"/>
                </a:lnTo>
                <a:lnTo>
                  <a:pt x="36729" y="220384"/>
                </a:lnTo>
                <a:lnTo>
                  <a:pt x="976445" y="220384"/>
                </a:lnTo>
                <a:lnTo>
                  <a:pt x="988053" y="209148"/>
                </a:lnTo>
                <a:lnTo>
                  <a:pt x="998135" y="177862"/>
                </a:lnTo>
                <a:lnTo>
                  <a:pt x="1006086" y="130155"/>
                </a:lnTo>
                <a:lnTo>
                  <a:pt x="1011300" y="69658"/>
                </a:lnTo>
                <a:lnTo>
                  <a:pt x="1013173" y="0"/>
                </a:lnTo>
                <a:lnTo>
                  <a:pt x="1015045" y="69658"/>
                </a:lnTo>
                <a:lnTo>
                  <a:pt x="1020259" y="130155"/>
                </a:lnTo>
                <a:lnTo>
                  <a:pt x="1028210" y="177862"/>
                </a:lnTo>
                <a:lnTo>
                  <a:pt x="1038292" y="209148"/>
                </a:lnTo>
                <a:lnTo>
                  <a:pt x="1049902" y="220384"/>
                </a:lnTo>
                <a:lnTo>
                  <a:pt x="1989618" y="220384"/>
                </a:lnTo>
                <a:lnTo>
                  <a:pt x="2001227" y="231619"/>
                </a:lnTo>
                <a:lnTo>
                  <a:pt x="2011309" y="262905"/>
                </a:lnTo>
                <a:lnTo>
                  <a:pt x="2019260" y="310612"/>
                </a:lnTo>
                <a:lnTo>
                  <a:pt x="2024474" y="371109"/>
                </a:lnTo>
                <a:lnTo>
                  <a:pt x="2026347" y="440768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929906" y="4181440"/>
            <a:ext cx="144145" cy="504190"/>
          </a:xfrm>
          <a:custGeom>
            <a:avLst/>
            <a:gdLst/>
            <a:ahLst/>
            <a:cxnLst/>
            <a:rect l="l" t="t" r="r" b="b"/>
            <a:pathLst>
              <a:path w="144145" h="504189">
                <a:moveTo>
                  <a:pt x="0" y="0"/>
                </a:moveTo>
                <a:lnTo>
                  <a:pt x="143896" y="0"/>
                </a:lnTo>
                <a:lnTo>
                  <a:pt x="143896" y="504052"/>
                </a:lnTo>
                <a:lnTo>
                  <a:pt x="0" y="504052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929906" y="4181440"/>
            <a:ext cx="144145" cy="504190"/>
          </a:xfrm>
          <a:custGeom>
            <a:avLst/>
            <a:gdLst/>
            <a:ahLst/>
            <a:cxnLst/>
            <a:rect l="l" t="t" r="r" b="b"/>
            <a:pathLst>
              <a:path w="144145" h="504189">
                <a:moveTo>
                  <a:pt x="0" y="0"/>
                </a:moveTo>
                <a:lnTo>
                  <a:pt x="143896" y="0"/>
                </a:lnTo>
                <a:lnTo>
                  <a:pt x="143896" y="504052"/>
                </a:lnTo>
                <a:lnTo>
                  <a:pt x="0" y="50405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3125697" y="4208779"/>
            <a:ext cx="1944370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Iterative</a:t>
            </a:r>
            <a:r>
              <a:rPr dirty="0" sz="18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neighbor 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aggregation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312959" y="4181440"/>
            <a:ext cx="537845" cy="504190"/>
          </a:xfrm>
          <a:custGeom>
            <a:avLst/>
            <a:gdLst/>
            <a:ahLst/>
            <a:cxnLst/>
            <a:rect l="l" t="t" r="r" b="b"/>
            <a:pathLst>
              <a:path w="537845" h="504189">
                <a:moveTo>
                  <a:pt x="0" y="0"/>
                </a:moveTo>
                <a:lnTo>
                  <a:pt x="0" y="504054"/>
                </a:lnTo>
                <a:lnTo>
                  <a:pt x="537270" y="378040"/>
                </a:lnTo>
                <a:lnTo>
                  <a:pt x="537270" y="126013"/>
                </a:lnTo>
                <a:lnTo>
                  <a:pt x="0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312959" y="4181440"/>
            <a:ext cx="537845" cy="504190"/>
          </a:xfrm>
          <a:custGeom>
            <a:avLst/>
            <a:gdLst/>
            <a:ahLst/>
            <a:cxnLst/>
            <a:rect l="l" t="t" r="r" b="b"/>
            <a:pathLst>
              <a:path w="537845" h="504189">
                <a:moveTo>
                  <a:pt x="0" y="0"/>
                </a:moveTo>
                <a:lnTo>
                  <a:pt x="537271" y="126013"/>
                </a:lnTo>
                <a:lnTo>
                  <a:pt x="537271" y="378040"/>
                </a:lnTo>
                <a:lnTo>
                  <a:pt x="0" y="504054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E66C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458072" y="4211828"/>
            <a:ext cx="13658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dirty="0" baseline="1543" sz="2700">
                <a:latin typeface="Cambria Math"/>
                <a:cs typeface="Cambria Math"/>
              </a:rPr>
              <a:t>𝑾	</a:t>
            </a:r>
            <a:r>
              <a:rPr dirty="0" sz="2400" spc="-5">
                <a:latin typeface="Arial"/>
                <a:cs typeface="Arial"/>
              </a:rPr>
              <a:t>toxic?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1" name="object 10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2" name="object 1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3" name="object 103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108684" y="4696459"/>
            <a:ext cx="520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Pool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19632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20330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212979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Node embeddings </a:t>
            </a:r>
            <a:r>
              <a:rPr dirty="0" spc="-15" b="0">
                <a:latin typeface="Calibri"/>
                <a:cs typeface="Calibri"/>
              </a:rPr>
              <a:t>capture </a:t>
            </a:r>
            <a:r>
              <a:rPr dirty="0" spc="-10">
                <a:solidFill>
                  <a:srgbClr val="D60093"/>
                </a:solidFill>
              </a:rPr>
              <a:t>local  </a:t>
            </a:r>
            <a:r>
              <a:rPr dirty="0" spc="-5">
                <a:solidFill>
                  <a:srgbClr val="D60093"/>
                </a:solidFill>
              </a:rPr>
              <a:t>neighborhood</a:t>
            </a:r>
            <a:r>
              <a:rPr dirty="0" spc="-30">
                <a:solidFill>
                  <a:srgbClr val="D60093"/>
                </a:solidFill>
              </a:rPr>
              <a:t> </a:t>
            </a:r>
            <a:r>
              <a:rPr dirty="0" spc="-15">
                <a:solidFill>
                  <a:srgbClr val="D60093"/>
                </a:solidFill>
              </a:rPr>
              <a:t>structure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latin typeface="Calibri"/>
                <a:cs typeface="Calibri"/>
              </a:rPr>
              <a:t>The </a:t>
            </a:r>
            <a:r>
              <a:rPr dirty="0" spc="-5" b="0">
                <a:latin typeface="Calibri"/>
                <a:cs typeface="Calibri"/>
              </a:rPr>
              <a:t>embedding of </a:t>
            </a:r>
            <a:r>
              <a:rPr dirty="0" b="0">
                <a:latin typeface="Calibri"/>
                <a:cs typeface="Calibri"/>
              </a:rPr>
              <a:t>an </a:t>
            </a:r>
            <a:r>
              <a:rPr dirty="0" spc="-15" b="0">
                <a:latin typeface="Calibri"/>
                <a:cs typeface="Calibri"/>
              </a:rPr>
              <a:t>entire graph </a:t>
            </a:r>
            <a:r>
              <a:rPr dirty="0" b="0">
                <a:latin typeface="Calibri"/>
                <a:cs typeface="Calibri"/>
              </a:rPr>
              <a:t>is a </a:t>
            </a:r>
            <a:r>
              <a:rPr dirty="0" spc="-5">
                <a:solidFill>
                  <a:srgbClr val="D60093"/>
                </a:solidFill>
              </a:rPr>
              <a:t>global  </a:t>
            </a:r>
            <a:r>
              <a:rPr dirty="0" spc="-15">
                <a:solidFill>
                  <a:srgbClr val="D60093"/>
                </a:solidFill>
              </a:rPr>
              <a:t>aggregation </a:t>
            </a:r>
            <a:r>
              <a:rPr dirty="0" spc="-5" b="0">
                <a:latin typeface="Calibri"/>
                <a:cs typeface="Calibri"/>
              </a:rPr>
              <a:t>of such node</a:t>
            </a:r>
            <a:r>
              <a:rPr dirty="0" spc="5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embeddings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7663" y="5001259"/>
            <a:ext cx="940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Molecule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0348" y="5326660"/>
            <a:ext cx="144322" cy="6327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4671" y="5326660"/>
            <a:ext cx="1898222" cy="432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0348" y="5326660"/>
            <a:ext cx="2042544" cy="1065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0348" y="5959400"/>
            <a:ext cx="1898221" cy="4329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28570" y="5759628"/>
            <a:ext cx="144322" cy="6327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99602" y="5928747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62907" y="5963894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5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80420" y="6256247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34725" y="5987219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34725" y="5644952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50017" y="5980727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5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850017" y="5638005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52394" y="5601249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60210" y="555621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60210" y="555621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771333" y="5549271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771333" y="5549270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007417" y="58767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07417" y="58767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56040" y="589848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56040" y="589848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88235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88235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71333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71333" y="620426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45828" y="6208812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645828" y="6208812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80624" y="5879039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5"/>
                </a:lnTo>
                <a:lnTo>
                  <a:pt x="66960" y="95508"/>
                </a:lnTo>
                <a:lnTo>
                  <a:pt x="82280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80624" y="5879039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460675" y="532277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33114" y="532277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22457" y="531762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794897" y="531762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57730" y="588048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30170" y="588048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534327" y="638375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06767" y="638375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817425" y="637413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89865" y="637413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27162" y="565934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099602" y="565934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525661" y="567862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498101" y="567862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769787" y="600826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742226" y="600826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816458" y="5695536"/>
            <a:ext cx="146685" cy="227329"/>
          </a:xfrm>
          <a:custGeom>
            <a:avLst/>
            <a:gdLst/>
            <a:ahLst/>
            <a:cxnLst/>
            <a:rect l="l" t="t" r="r" b="b"/>
            <a:pathLst>
              <a:path w="146685" h="227329">
                <a:moveTo>
                  <a:pt x="89265" y="161432"/>
                </a:moveTo>
                <a:lnTo>
                  <a:pt x="64963" y="176463"/>
                </a:lnTo>
                <a:lnTo>
                  <a:pt x="146509" y="226823"/>
                </a:lnTo>
                <a:lnTo>
                  <a:pt x="142486" y="182369"/>
                </a:lnTo>
                <a:lnTo>
                  <a:pt x="109736" y="182369"/>
                </a:lnTo>
                <a:lnTo>
                  <a:pt x="100931" y="180294"/>
                </a:lnTo>
                <a:lnTo>
                  <a:pt x="89265" y="161432"/>
                </a:lnTo>
                <a:close/>
              </a:path>
              <a:path w="146685" h="227329">
                <a:moveTo>
                  <a:pt x="113568" y="146401"/>
                </a:moveTo>
                <a:lnTo>
                  <a:pt x="89265" y="161432"/>
                </a:lnTo>
                <a:lnTo>
                  <a:pt x="100931" y="180294"/>
                </a:lnTo>
                <a:lnTo>
                  <a:pt x="109736" y="182369"/>
                </a:lnTo>
                <a:lnTo>
                  <a:pt x="123158" y="174068"/>
                </a:lnTo>
                <a:lnTo>
                  <a:pt x="125234" y="165263"/>
                </a:lnTo>
                <a:lnTo>
                  <a:pt x="113568" y="146401"/>
                </a:lnTo>
                <a:close/>
              </a:path>
              <a:path w="146685" h="227329">
                <a:moveTo>
                  <a:pt x="137869" y="131370"/>
                </a:moveTo>
                <a:lnTo>
                  <a:pt x="113568" y="146401"/>
                </a:lnTo>
                <a:lnTo>
                  <a:pt x="125234" y="165263"/>
                </a:lnTo>
                <a:lnTo>
                  <a:pt x="123158" y="174068"/>
                </a:lnTo>
                <a:lnTo>
                  <a:pt x="109736" y="182369"/>
                </a:lnTo>
                <a:lnTo>
                  <a:pt x="142486" y="182369"/>
                </a:lnTo>
                <a:lnTo>
                  <a:pt x="137869" y="131370"/>
                </a:lnTo>
                <a:close/>
              </a:path>
              <a:path w="146685" h="227329">
                <a:moveTo>
                  <a:pt x="15497" y="0"/>
                </a:moveTo>
                <a:lnTo>
                  <a:pt x="2075" y="8301"/>
                </a:lnTo>
                <a:lnTo>
                  <a:pt x="0" y="17106"/>
                </a:lnTo>
                <a:lnTo>
                  <a:pt x="89265" y="161432"/>
                </a:lnTo>
                <a:lnTo>
                  <a:pt x="113568" y="146401"/>
                </a:lnTo>
                <a:lnTo>
                  <a:pt x="24302" y="2075"/>
                </a:lnTo>
                <a:lnTo>
                  <a:pt x="1549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12583" y="5961121"/>
            <a:ext cx="186690" cy="221615"/>
          </a:xfrm>
          <a:custGeom>
            <a:avLst/>
            <a:gdLst/>
            <a:ahLst/>
            <a:cxnLst/>
            <a:rect l="l" t="t" r="r" b="b"/>
            <a:pathLst>
              <a:path w="186689" h="221614">
                <a:moveTo>
                  <a:pt x="120616" y="56894"/>
                </a:moveTo>
                <a:lnTo>
                  <a:pt x="0" y="202468"/>
                </a:lnTo>
                <a:lnTo>
                  <a:pt x="844" y="211475"/>
                </a:lnTo>
                <a:lnTo>
                  <a:pt x="12995" y="221544"/>
                </a:lnTo>
                <a:lnTo>
                  <a:pt x="22002" y="220699"/>
                </a:lnTo>
                <a:lnTo>
                  <a:pt x="142620" y="75125"/>
                </a:lnTo>
                <a:lnTo>
                  <a:pt x="120616" y="56894"/>
                </a:lnTo>
                <a:close/>
              </a:path>
              <a:path w="186689" h="221614">
                <a:moveTo>
                  <a:pt x="177257" y="38972"/>
                </a:moveTo>
                <a:lnTo>
                  <a:pt x="143772" y="38972"/>
                </a:lnTo>
                <a:lnTo>
                  <a:pt x="155925" y="49041"/>
                </a:lnTo>
                <a:lnTo>
                  <a:pt x="156770" y="58048"/>
                </a:lnTo>
                <a:lnTo>
                  <a:pt x="142620" y="75125"/>
                </a:lnTo>
                <a:lnTo>
                  <a:pt x="164623" y="93357"/>
                </a:lnTo>
                <a:lnTo>
                  <a:pt x="177257" y="38972"/>
                </a:lnTo>
                <a:close/>
              </a:path>
              <a:path w="186689" h="221614">
                <a:moveTo>
                  <a:pt x="143772" y="38972"/>
                </a:moveTo>
                <a:lnTo>
                  <a:pt x="134766" y="39817"/>
                </a:lnTo>
                <a:lnTo>
                  <a:pt x="120616" y="56894"/>
                </a:lnTo>
                <a:lnTo>
                  <a:pt x="142620" y="75125"/>
                </a:lnTo>
                <a:lnTo>
                  <a:pt x="156770" y="58048"/>
                </a:lnTo>
                <a:lnTo>
                  <a:pt x="155925" y="49041"/>
                </a:lnTo>
                <a:lnTo>
                  <a:pt x="143772" y="38972"/>
                </a:lnTo>
                <a:close/>
              </a:path>
              <a:path w="186689" h="221614">
                <a:moveTo>
                  <a:pt x="186311" y="0"/>
                </a:moveTo>
                <a:lnTo>
                  <a:pt x="98612" y="38663"/>
                </a:lnTo>
                <a:lnTo>
                  <a:pt x="120616" y="56894"/>
                </a:lnTo>
                <a:lnTo>
                  <a:pt x="134766" y="39817"/>
                </a:lnTo>
                <a:lnTo>
                  <a:pt x="143772" y="38972"/>
                </a:lnTo>
                <a:lnTo>
                  <a:pt x="177257" y="38972"/>
                </a:lnTo>
                <a:lnTo>
                  <a:pt x="1863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090332" y="5954073"/>
            <a:ext cx="292100" cy="85725"/>
          </a:xfrm>
          <a:custGeom>
            <a:avLst/>
            <a:gdLst/>
            <a:ahLst/>
            <a:cxnLst/>
            <a:rect l="l" t="t" r="r" b="b"/>
            <a:pathLst>
              <a:path w="292100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0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92100" h="85725">
                <a:moveTo>
                  <a:pt x="85725" y="28575"/>
                </a:moveTo>
                <a:lnTo>
                  <a:pt x="71437" y="28575"/>
                </a:lnTo>
                <a:lnTo>
                  <a:pt x="63546" y="28575"/>
                </a:lnTo>
                <a:lnTo>
                  <a:pt x="57150" y="34970"/>
                </a:lnTo>
                <a:lnTo>
                  <a:pt x="57150" y="50753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292100" h="85725">
                <a:moveTo>
                  <a:pt x="85725" y="57150"/>
                </a:moveTo>
                <a:lnTo>
                  <a:pt x="63546" y="57150"/>
                </a:lnTo>
                <a:lnTo>
                  <a:pt x="85725" y="57150"/>
                </a:lnTo>
                <a:close/>
              </a:path>
              <a:path w="292100" h="85725">
                <a:moveTo>
                  <a:pt x="285419" y="28574"/>
                </a:moveTo>
                <a:lnTo>
                  <a:pt x="85725" y="28575"/>
                </a:lnTo>
                <a:lnTo>
                  <a:pt x="85725" y="57150"/>
                </a:lnTo>
                <a:lnTo>
                  <a:pt x="285419" y="57149"/>
                </a:lnTo>
                <a:lnTo>
                  <a:pt x="291815" y="50753"/>
                </a:lnTo>
                <a:lnTo>
                  <a:pt x="291816" y="34970"/>
                </a:lnTo>
                <a:lnTo>
                  <a:pt x="285419" y="285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52486" y="5891817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515790" y="5926965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4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633303" y="6219318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4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87609" y="5950289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40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87609" y="5608023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5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902901" y="5943797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4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902901" y="5601076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605278" y="5564320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13093" y="551928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824218" y="551234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060300" y="583983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08924" y="586155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541120" y="616733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824218" y="616733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698713" y="6171884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6" y="14558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6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433508" y="5842110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1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1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13559" y="528584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85999" y="528584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875341" y="528069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847780" y="528069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10614" y="584355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183053" y="584355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587211" y="634682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559649" y="634682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870308" y="633720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42748" y="633720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180046" y="562241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152486" y="562241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578544" y="564169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550984" y="564169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822671" y="597133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795111" y="597133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191340" y="579107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347847" y="0"/>
                </a:moveTo>
                <a:lnTo>
                  <a:pt x="347847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7" y="203683"/>
                </a:lnTo>
                <a:lnTo>
                  <a:pt x="347847" y="298670"/>
                </a:lnTo>
                <a:lnTo>
                  <a:pt x="497182" y="149335"/>
                </a:lnTo>
                <a:lnTo>
                  <a:pt x="3478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191340" y="579107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216249" y="5752322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347846" y="0"/>
                </a:moveTo>
                <a:lnTo>
                  <a:pt x="347846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6" y="203683"/>
                </a:lnTo>
                <a:lnTo>
                  <a:pt x="347846" y="298670"/>
                </a:lnTo>
                <a:lnTo>
                  <a:pt x="497180" y="149335"/>
                </a:lnTo>
                <a:lnTo>
                  <a:pt x="3478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216249" y="5752322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975177" y="4838326"/>
            <a:ext cx="2026920" cy="441325"/>
          </a:xfrm>
          <a:custGeom>
            <a:avLst/>
            <a:gdLst/>
            <a:ahLst/>
            <a:cxnLst/>
            <a:rect l="l" t="t" r="r" b="b"/>
            <a:pathLst>
              <a:path w="2026920" h="441325">
                <a:moveTo>
                  <a:pt x="0" y="440768"/>
                </a:moveTo>
                <a:lnTo>
                  <a:pt x="1872" y="371109"/>
                </a:lnTo>
                <a:lnTo>
                  <a:pt x="7086" y="310612"/>
                </a:lnTo>
                <a:lnTo>
                  <a:pt x="15037" y="262905"/>
                </a:lnTo>
                <a:lnTo>
                  <a:pt x="36729" y="220384"/>
                </a:lnTo>
                <a:lnTo>
                  <a:pt x="976445" y="220384"/>
                </a:lnTo>
                <a:lnTo>
                  <a:pt x="988053" y="209148"/>
                </a:lnTo>
                <a:lnTo>
                  <a:pt x="998135" y="177862"/>
                </a:lnTo>
                <a:lnTo>
                  <a:pt x="1006086" y="130155"/>
                </a:lnTo>
                <a:lnTo>
                  <a:pt x="1011300" y="69658"/>
                </a:lnTo>
                <a:lnTo>
                  <a:pt x="1013173" y="0"/>
                </a:lnTo>
                <a:lnTo>
                  <a:pt x="1015045" y="69658"/>
                </a:lnTo>
                <a:lnTo>
                  <a:pt x="1020259" y="130155"/>
                </a:lnTo>
                <a:lnTo>
                  <a:pt x="1028210" y="177862"/>
                </a:lnTo>
                <a:lnTo>
                  <a:pt x="1038292" y="209148"/>
                </a:lnTo>
                <a:lnTo>
                  <a:pt x="1049902" y="220384"/>
                </a:lnTo>
                <a:lnTo>
                  <a:pt x="1989618" y="220384"/>
                </a:lnTo>
                <a:lnTo>
                  <a:pt x="2001227" y="231619"/>
                </a:lnTo>
                <a:lnTo>
                  <a:pt x="2011309" y="262905"/>
                </a:lnTo>
                <a:lnTo>
                  <a:pt x="2019260" y="310612"/>
                </a:lnTo>
                <a:lnTo>
                  <a:pt x="2024474" y="371109"/>
                </a:lnTo>
                <a:lnTo>
                  <a:pt x="2026347" y="440768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3067763" y="3861308"/>
            <a:ext cx="2070735" cy="11290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Capture local  n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ighbo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hood  structure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94" name="object 9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5" name="object 95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191089" y="3608323"/>
            <a:ext cx="13271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Glob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ll</a:t>
            </a:r>
            <a:r>
              <a:rPr dirty="0" sz="2400" b="1">
                <a:solidFill>
                  <a:srgbClr val="C00000"/>
                </a:solidFill>
                <a:latin typeface="Arial"/>
                <a:cs typeface="Arial"/>
              </a:rPr>
              <a:t>y-</a:t>
            </a:r>
            <a:endParaRPr sz="24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191089" y="3977132"/>
            <a:ext cx="1990089" cy="7600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aggregate  local</a:t>
            </a:r>
            <a:r>
              <a:rPr dirty="0" sz="24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48919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685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latin typeface="Calibri"/>
                <a:cs typeface="Calibri"/>
              </a:rPr>
              <a:t>Two </a:t>
            </a:r>
            <a:r>
              <a:rPr dirty="0" spc="-10" b="0">
                <a:latin typeface="Calibri"/>
                <a:cs typeface="Calibri"/>
              </a:rPr>
              <a:t>fundamental </a:t>
            </a:r>
            <a:r>
              <a:rPr dirty="0" spc="-5" b="0">
                <a:latin typeface="Calibri"/>
                <a:cs typeface="Calibri"/>
              </a:rPr>
              <a:t>challenges </a:t>
            </a:r>
            <a:r>
              <a:rPr dirty="0" b="0">
                <a:latin typeface="Calibri"/>
                <a:cs typeface="Calibri"/>
              </a:rPr>
              <a:t>in applying ML  </a:t>
            </a:r>
            <a:r>
              <a:rPr dirty="0" spc="-15" b="0">
                <a:latin typeface="Calibri"/>
                <a:cs typeface="Calibri"/>
              </a:rPr>
              <a:t>to </a:t>
            </a:r>
            <a:r>
              <a:rPr dirty="0" spc="-5" b="0">
                <a:latin typeface="Calibri"/>
                <a:cs typeface="Calibri"/>
              </a:rPr>
              <a:t>scientific</a:t>
            </a:r>
            <a:r>
              <a:rPr dirty="0" spc="-3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domains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30773"/>
            <a:ext cx="7028815" cy="40011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855"/>
              </a:spcBef>
              <a:buAutoNum type="arabicPeriod"/>
              <a:tabLst>
                <a:tab pos="419100" algn="l"/>
              </a:tabLst>
            </a:pPr>
            <a:r>
              <a:rPr dirty="0" sz="3200" spc="-15" b="1">
                <a:latin typeface="Calibri"/>
                <a:cs typeface="Calibri"/>
              </a:rPr>
              <a:t>Scarcity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5" b="1">
                <a:latin typeface="Calibri"/>
                <a:cs typeface="Calibri"/>
              </a:rPr>
              <a:t>labeled</a:t>
            </a:r>
            <a:r>
              <a:rPr dirty="0" sz="3200" spc="-30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lvl="1" marL="625475" marR="774065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Obtaining labels </a:t>
            </a:r>
            <a:r>
              <a:rPr dirty="0" sz="2800" spc="-15">
                <a:latin typeface="Calibri"/>
                <a:cs typeface="Calibri"/>
              </a:rPr>
              <a:t>requires expensive </a:t>
            </a:r>
            <a:r>
              <a:rPr dirty="0" sz="2800" spc="-5">
                <a:latin typeface="Calibri"/>
                <a:cs typeface="Calibri"/>
              </a:rPr>
              <a:t>lab  </a:t>
            </a:r>
            <a:r>
              <a:rPr dirty="0" sz="2800" spc="-15">
                <a:latin typeface="Calibri"/>
                <a:cs typeface="Calibri"/>
              </a:rPr>
              <a:t>experiments</a:t>
            </a:r>
            <a:endParaRPr sz="2800">
              <a:latin typeface="Calibri"/>
              <a:cs typeface="Calibri"/>
            </a:endParaRPr>
          </a:p>
          <a:p>
            <a:pPr marL="593725">
              <a:lnSpc>
                <a:spcPts val="3329"/>
              </a:lnSpc>
              <a:spcBef>
                <a:spcPts val="645"/>
              </a:spcBef>
            </a:pPr>
            <a:r>
              <a:rPr dirty="0" sz="2800" spc="1180">
                <a:latin typeface="Arial"/>
                <a:cs typeface="Arial"/>
              </a:rPr>
              <a:t>à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GNNs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overfit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to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small </a:t>
            </a:r>
            <a:r>
              <a:rPr dirty="0" sz="2800" spc="-15">
                <a:solidFill>
                  <a:srgbClr val="D60093"/>
                </a:solidFill>
                <a:latin typeface="Calibri"/>
                <a:cs typeface="Calibri"/>
              </a:rPr>
              <a:t>training </a:t>
            </a:r>
            <a:r>
              <a:rPr dirty="0" sz="2800" spc="-20">
                <a:solidFill>
                  <a:srgbClr val="D60093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419100" indent="-406400">
              <a:lnSpc>
                <a:spcPts val="3810"/>
              </a:lnSpc>
              <a:buAutoNum type="arabicPeriod" startAt="2"/>
              <a:tabLst>
                <a:tab pos="419734" algn="l"/>
              </a:tabLst>
            </a:pPr>
            <a:r>
              <a:rPr dirty="0" sz="3200" spc="-15" b="1">
                <a:latin typeface="Calibri"/>
                <a:cs typeface="Calibri"/>
              </a:rPr>
              <a:t>Out-of-distribution</a:t>
            </a:r>
            <a:r>
              <a:rPr dirty="0" sz="3200" spc="-10" b="1">
                <a:latin typeface="Calibri"/>
                <a:cs typeface="Calibri"/>
              </a:rPr>
              <a:t> prediction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91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75">
                <a:latin typeface="Calibri"/>
                <a:cs typeface="Calibri"/>
              </a:rPr>
              <a:t>Test </a:t>
            </a:r>
            <a:r>
              <a:rPr dirty="0" sz="2800" spc="-20">
                <a:latin typeface="Calibri"/>
                <a:cs typeface="Calibri"/>
              </a:rPr>
              <a:t>examples </a:t>
            </a:r>
            <a:r>
              <a:rPr dirty="0" sz="2800" spc="-15">
                <a:latin typeface="Calibri"/>
                <a:cs typeface="Calibri"/>
              </a:rPr>
              <a:t>tend to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10">
                <a:latin typeface="Calibri"/>
                <a:cs typeface="Calibri"/>
              </a:rPr>
              <a:t>very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5">
                <a:latin typeface="Calibri"/>
                <a:cs typeface="Calibri"/>
              </a:rPr>
              <a:t>from  </a:t>
            </a:r>
            <a:r>
              <a:rPr dirty="0" sz="2800" spc="-10">
                <a:latin typeface="Calibri"/>
                <a:cs typeface="Calibri"/>
              </a:rPr>
              <a:t>training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  <a:p>
            <a:pPr marL="593725">
              <a:lnSpc>
                <a:spcPct val="100000"/>
              </a:lnSpc>
              <a:spcBef>
                <a:spcPts val="615"/>
              </a:spcBef>
            </a:pPr>
            <a:r>
              <a:rPr dirty="0" sz="2800" spc="1180">
                <a:latin typeface="Arial"/>
                <a:cs typeface="Arial"/>
              </a:rPr>
              <a:t>à</a:t>
            </a:r>
            <a:r>
              <a:rPr dirty="0" sz="2800" spc="-155"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D60093"/>
                </a:solidFill>
                <a:latin typeface="Calibri"/>
                <a:cs typeface="Calibri"/>
              </a:rPr>
              <a:t>GNNs </a:t>
            </a:r>
            <a:r>
              <a:rPr dirty="0" sz="2800" spc="-20">
                <a:solidFill>
                  <a:srgbClr val="D60093"/>
                </a:solidFill>
                <a:latin typeface="Calibri"/>
                <a:cs typeface="Calibri"/>
              </a:rPr>
              <a:t>extrapolate </a:t>
            </a:r>
            <a:r>
              <a:rPr dirty="0" sz="2800" spc="-10">
                <a:solidFill>
                  <a:srgbClr val="D60093"/>
                </a:solidFill>
                <a:latin typeface="Calibri"/>
                <a:cs typeface="Calibri"/>
              </a:rPr>
              <a:t>poorly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368808"/>
            <a:ext cx="6708648" cy="478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88300" cy="247015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20955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Deep learning models </a:t>
            </a:r>
            <a:r>
              <a:rPr dirty="0" sz="3200" spc="-25" b="1">
                <a:latin typeface="Calibri"/>
                <a:cs typeface="Calibri"/>
              </a:rPr>
              <a:t>have </a:t>
            </a:r>
            <a:r>
              <a:rPr dirty="0" sz="3200" b="1">
                <a:latin typeface="Calibri"/>
                <a:cs typeface="Calibri"/>
              </a:rPr>
              <a:t>a lot </a:t>
            </a:r>
            <a:r>
              <a:rPr dirty="0" sz="3200" spc="-25" b="1">
                <a:latin typeface="Calibri"/>
                <a:cs typeface="Calibri"/>
              </a:rPr>
              <a:t>parameters 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20" b="1">
                <a:latin typeface="Calibri"/>
                <a:cs typeface="Calibri"/>
              </a:rPr>
              <a:t>train </a:t>
            </a:r>
            <a:r>
              <a:rPr dirty="0" sz="3200" b="1">
                <a:latin typeface="Calibri"/>
                <a:cs typeface="Calibri"/>
              </a:rPr>
              <a:t>(e.g., in </a:t>
            </a:r>
            <a:r>
              <a:rPr dirty="0" sz="3200" spc="-5" b="1">
                <a:latin typeface="Calibri"/>
                <a:cs typeface="Calibri"/>
              </a:rPr>
              <a:t>the </a:t>
            </a:r>
            <a:r>
              <a:rPr dirty="0" sz="3200" spc="-15" b="1">
                <a:latin typeface="Calibri"/>
                <a:cs typeface="Calibri"/>
              </a:rPr>
              <a:t>order </a:t>
            </a:r>
            <a:r>
              <a:rPr dirty="0" sz="3200" b="1">
                <a:latin typeface="Calibri"/>
                <a:cs typeface="Calibri"/>
              </a:rPr>
              <a:t>of</a:t>
            </a:r>
            <a:r>
              <a:rPr dirty="0" sz="3200" spc="4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millions).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#(Labeled 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training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data) </a:t>
            </a:r>
            <a:r>
              <a:rPr dirty="0" sz="3200" b="1">
                <a:solidFill>
                  <a:srgbClr val="0070C0"/>
                </a:solidFill>
                <a:latin typeface="Calibri"/>
                <a:cs typeface="Calibri"/>
              </a:rPr>
              <a:t>&lt;&lt;</a:t>
            </a:r>
            <a:r>
              <a:rPr dirty="0" sz="3200" spc="3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#(Parameters)</a:t>
            </a:r>
            <a:endParaRPr sz="32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Deep learning models 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are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extremely prone to 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overfitting 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on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small labeled</a:t>
            </a:r>
            <a:r>
              <a:rPr dirty="0" sz="3200" spc="-20" b="1">
                <a:solidFill>
                  <a:srgbClr val="D60093"/>
                </a:solidFill>
                <a:latin typeface="Calibri"/>
                <a:cs typeface="Calibri"/>
              </a:rPr>
              <a:t> data.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649" y="1379220"/>
            <a:ext cx="72351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D60093"/>
                </a:solidFill>
              </a:rPr>
              <a:t>Deep learning models </a:t>
            </a:r>
            <a:r>
              <a:rPr dirty="0" spc="-20">
                <a:solidFill>
                  <a:srgbClr val="D60093"/>
                </a:solidFill>
              </a:rPr>
              <a:t>extrapolate</a:t>
            </a:r>
            <a:r>
              <a:rPr dirty="0" spc="-30">
                <a:solidFill>
                  <a:srgbClr val="D60093"/>
                </a:solidFill>
              </a:rPr>
              <a:t> </a:t>
            </a:r>
            <a:r>
              <a:rPr dirty="0" spc="-5">
                <a:solidFill>
                  <a:srgbClr val="D60093"/>
                </a:solidFill>
              </a:rPr>
              <a:t>poorly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5104" y="3733968"/>
            <a:ext cx="8113395" cy="274510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During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training: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Most </a:t>
            </a:r>
            <a:r>
              <a:rPr dirty="0" sz="2400" spc="-5">
                <a:latin typeface="Calibri"/>
                <a:cs typeface="Calibri"/>
              </a:rPr>
              <a:t>“polar </a:t>
            </a:r>
            <a:r>
              <a:rPr dirty="0" sz="2400" spc="-10">
                <a:latin typeface="Calibri"/>
                <a:cs typeface="Calibri"/>
              </a:rPr>
              <a:t>bears”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latin typeface="Calibri"/>
                <a:cs typeface="Calibri"/>
              </a:rPr>
              <a:t>the snow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background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Most </a:t>
            </a:r>
            <a:r>
              <a:rPr dirty="0" sz="2400" spc="-5">
                <a:latin typeface="Calibri"/>
                <a:cs typeface="Calibri"/>
              </a:rPr>
              <a:t>“normal </a:t>
            </a:r>
            <a:r>
              <a:rPr dirty="0" sz="2400" spc="-10">
                <a:latin typeface="Calibri"/>
                <a:cs typeface="Calibri"/>
              </a:rPr>
              <a:t>bears” </a:t>
            </a:r>
            <a:r>
              <a:rPr dirty="0" sz="2400" spc="-20">
                <a:latin typeface="Calibri"/>
                <a:cs typeface="Calibri"/>
              </a:rPr>
              <a:t>have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grass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background</a:t>
            </a:r>
            <a:endParaRPr sz="2400">
              <a:latin typeface="Calibri"/>
              <a:cs typeface="Calibri"/>
            </a:endParaRPr>
          </a:p>
          <a:p>
            <a:pPr lvl="1" marL="552450" marR="501650" indent="-228600">
              <a:lnSpc>
                <a:spcPct val="100800"/>
              </a:lnSpc>
              <a:spcBef>
                <a:spcPts val="60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Model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can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learn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2400" spc="-20" b="1">
                <a:solidFill>
                  <a:srgbClr val="0000FF"/>
                </a:solidFill>
                <a:latin typeface="Calibri"/>
                <a:cs typeface="Calibri"/>
              </a:rPr>
              <a:t>make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prediction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based on the </a:t>
            </a:r>
            <a:r>
              <a:rPr dirty="0" sz="2400" spc="-105" b="1">
                <a:solidFill>
                  <a:srgbClr val="0000FF"/>
                </a:solidFill>
                <a:latin typeface="Calibri"/>
                <a:cs typeface="Calibri"/>
              </a:rPr>
              <a:t>image  </a:t>
            </a:r>
            <a:r>
              <a:rPr dirty="0" sz="2400" spc="-10" b="1">
                <a:solidFill>
                  <a:srgbClr val="0000FF"/>
                </a:solidFill>
                <a:latin typeface="Calibri"/>
                <a:cs typeface="Calibri"/>
              </a:rPr>
              <a:t>background, </a:t>
            </a:r>
            <a:r>
              <a:rPr dirty="0" sz="2400" spc="-15" b="1">
                <a:solidFill>
                  <a:srgbClr val="0000FF"/>
                </a:solidFill>
                <a:latin typeface="Calibri"/>
                <a:cs typeface="Calibri"/>
              </a:rPr>
              <a:t>rather </a:t>
            </a:r>
            <a:r>
              <a:rPr dirty="0" sz="2400" spc="-5" b="1">
                <a:solidFill>
                  <a:srgbClr val="0000FF"/>
                </a:solidFill>
                <a:latin typeface="Calibri"/>
                <a:cs typeface="Calibri"/>
              </a:rPr>
              <a:t>than the animal</a:t>
            </a:r>
            <a:r>
              <a:rPr dirty="0" sz="240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00FF"/>
                </a:solidFill>
                <a:latin typeface="Calibri"/>
                <a:cs typeface="Calibri"/>
              </a:rPr>
              <a:t>itself.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35">
                <a:latin typeface="Calibri"/>
                <a:cs typeface="Calibri"/>
              </a:rPr>
              <a:t>At </a:t>
            </a:r>
            <a:r>
              <a:rPr dirty="0" sz="2800" spc="-20">
                <a:latin typeface="Calibri"/>
                <a:cs typeface="Calibri"/>
              </a:rPr>
              <a:t>test </a:t>
            </a:r>
            <a:r>
              <a:rPr dirty="0" sz="2800" spc="-5">
                <a:latin typeface="Calibri"/>
                <a:cs typeface="Calibri"/>
              </a:rPr>
              <a:t>time, </a:t>
            </a: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see “polar </a:t>
            </a:r>
            <a:r>
              <a:rPr dirty="0" sz="2800" spc="15">
                <a:latin typeface="Calibri"/>
                <a:cs typeface="Calibri"/>
              </a:rPr>
              <a:t>bear” </a:t>
            </a:r>
            <a:r>
              <a:rPr dirty="0" sz="2800" spc="-5">
                <a:latin typeface="Calibri"/>
                <a:cs typeface="Calibri"/>
              </a:rPr>
              <a:t>on the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grass?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68808"/>
            <a:ext cx="6711696" cy="478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28561" y="3370066"/>
            <a:ext cx="1291319" cy="857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83058" y="3370066"/>
            <a:ext cx="1291319" cy="8577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05104" y="1951227"/>
            <a:ext cx="7858759" cy="20262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3606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Models </a:t>
            </a:r>
            <a:r>
              <a:rPr dirty="0" sz="2800" spc="-15">
                <a:latin typeface="Calibri"/>
                <a:cs typeface="Calibri"/>
              </a:rPr>
              <a:t>often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 spc="-10">
                <a:latin typeface="Calibri"/>
                <a:cs typeface="Calibri"/>
              </a:rPr>
              <a:t>predictions </a:t>
            </a:r>
            <a:r>
              <a:rPr dirty="0" sz="2800" spc="-5">
                <a:latin typeface="Calibri"/>
                <a:cs typeface="Calibri"/>
              </a:rPr>
              <a:t>based on spurious  </a:t>
            </a:r>
            <a:r>
              <a:rPr dirty="0" sz="2800" spc="-15">
                <a:latin typeface="Calibri"/>
                <a:cs typeface="Calibri"/>
              </a:rPr>
              <a:t>correlations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dataset </a:t>
            </a:r>
            <a:r>
              <a:rPr dirty="0" sz="2000" spc="-15">
                <a:latin typeface="Calibri"/>
                <a:cs typeface="Calibri"/>
              </a:rPr>
              <a:t>[Sagawa </a:t>
            </a:r>
            <a:r>
              <a:rPr dirty="0" sz="2000" spc="-5">
                <a:latin typeface="Calibri"/>
                <a:cs typeface="Calibri"/>
              </a:rPr>
              <a:t>et </a:t>
            </a:r>
            <a:r>
              <a:rPr dirty="0" sz="2000">
                <a:latin typeface="Calibri"/>
                <a:cs typeface="Calibri"/>
              </a:rPr>
              <a:t>al. </a:t>
            </a:r>
            <a:r>
              <a:rPr dirty="0" sz="2000" spc="-5">
                <a:latin typeface="Calibri"/>
                <a:cs typeface="Calibri"/>
              </a:rPr>
              <a:t>ICML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2020]</a:t>
            </a:r>
            <a:endParaRPr sz="2000">
              <a:latin typeface="Calibri"/>
              <a:cs typeface="Calibri"/>
            </a:endParaRPr>
          </a:p>
          <a:p>
            <a:pPr marL="287020" marR="38354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Ex) </a:t>
            </a:r>
            <a:r>
              <a:rPr dirty="0" sz="2800" spc="-10">
                <a:latin typeface="Calibri"/>
                <a:cs typeface="Calibri"/>
              </a:rPr>
              <a:t>Image classification </a:t>
            </a:r>
            <a:r>
              <a:rPr dirty="0" sz="2800" spc="-15">
                <a:latin typeface="Calibri"/>
                <a:cs typeface="Calibri"/>
              </a:rPr>
              <a:t>between </a:t>
            </a:r>
            <a:r>
              <a:rPr dirty="0" sz="2800" spc="-5">
                <a:latin typeface="Calibri"/>
                <a:cs typeface="Calibri"/>
              </a:rPr>
              <a:t>“polar </a:t>
            </a:r>
            <a:r>
              <a:rPr dirty="0" sz="2800" spc="15">
                <a:latin typeface="Calibri"/>
                <a:cs typeface="Calibri"/>
              </a:rPr>
              <a:t>bear” </a:t>
            </a:r>
            <a:r>
              <a:rPr dirty="0" sz="2800" spc="-5">
                <a:latin typeface="Calibri"/>
                <a:cs typeface="Calibri"/>
              </a:rPr>
              <a:t>and  </a:t>
            </a:r>
            <a:r>
              <a:rPr dirty="0" sz="2800" spc="-15">
                <a:latin typeface="Calibri"/>
                <a:cs typeface="Calibri"/>
              </a:rPr>
              <a:t>“brown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15">
                <a:latin typeface="Calibri"/>
                <a:cs typeface="Calibri"/>
              </a:rPr>
              <a:t>bear”</a:t>
            </a:r>
            <a:endParaRPr sz="2800">
              <a:latin typeface="Calibri"/>
              <a:cs typeface="Calibri"/>
            </a:endParaRPr>
          </a:p>
          <a:p>
            <a:pPr algn="r" marR="5080">
              <a:lnSpc>
                <a:spcPts val="1590"/>
              </a:lnSpc>
            </a:pPr>
            <a:r>
              <a:rPr dirty="0" sz="1400" spc="-5">
                <a:latin typeface="Arial"/>
                <a:cs typeface="Arial"/>
              </a:rPr>
              <a:t>Adapted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 spc="-5">
                <a:latin typeface="Arial"/>
                <a:cs typeface="Arial"/>
              </a:rPr>
              <a:t>from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4220" y="3939540"/>
            <a:ext cx="7962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Wikipedia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805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831455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D60093"/>
                </a:solidFill>
              </a:rPr>
              <a:t>Goal: </a:t>
            </a:r>
            <a:r>
              <a:rPr dirty="0" sz="3000" spc="-15">
                <a:solidFill>
                  <a:srgbClr val="D60093"/>
                </a:solidFill>
              </a:rPr>
              <a:t>Improve </a:t>
            </a:r>
            <a:r>
              <a:rPr dirty="0" sz="3000" spc="-30">
                <a:solidFill>
                  <a:srgbClr val="D60093"/>
                </a:solidFill>
              </a:rPr>
              <a:t>model’s </a:t>
            </a:r>
            <a:r>
              <a:rPr dirty="0" sz="3000" spc="-15">
                <a:solidFill>
                  <a:srgbClr val="D60093"/>
                </a:solidFill>
              </a:rPr>
              <a:t>out-of-distribution  </a:t>
            </a:r>
            <a:r>
              <a:rPr dirty="0" sz="3000" spc="-10">
                <a:solidFill>
                  <a:srgbClr val="D60093"/>
                </a:solidFill>
              </a:rPr>
              <a:t>prediction performance even </a:t>
            </a:r>
            <a:r>
              <a:rPr dirty="0" sz="3000" spc="-5">
                <a:solidFill>
                  <a:srgbClr val="D60093"/>
                </a:solidFill>
              </a:rPr>
              <a:t>with </a:t>
            </a:r>
            <a:r>
              <a:rPr dirty="0" sz="3000" spc="-10">
                <a:solidFill>
                  <a:srgbClr val="D60093"/>
                </a:solidFill>
              </a:rPr>
              <a:t>limited</a:t>
            </a:r>
            <a:r>
              <a:rPr dirty="0" sz="3000" spc="10">
                <a:solidFill>
                  <a:srgbClr val="D60093"/>
                </a:solidFill>
              </a:rPr>
              <a:t> </a:t>
            </a:r>
            <a:r>
              <a:rPr dirty="0" sz="3000" spc="-20">
                <a:solidFill>
                  <a:srgbClr val="D60093"/>
                </a:solidFill>
              </a:rPr>
              <a:t>data.</a:t>
            </a:r>
            <a:endParaRPr sz="3000"/>
          </a:p>
          <a:p>
            <a:pPr marL="332740" marR="41275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30">
                <a:solidFill>
                  <a:srgbClr val="C00000"/>
                </a:solidFill>
              </a:rPr>
              <a:t>Key </a:t>
            </a:r>
            <a:r>
              <a:rPr dirty="0" sz="3000" spc="-5">
                <a:solidFill>
                  <a:srgbClr val="C00000"/>
                </a:solidFill>
              </a:rPr>
              <a:t>idea</a:t>
            </a:r>
            <a:r>
              <a:rPr dirty="0" sz="3000" spc="-5" b="0">
                <a:latin typeface="Calibri"/>
                <a:cs typeface="Calibri"/>
              </a:rPr>
              <a:t>: </a:t>
            </a:r>
            <a:r>
              <a:rPr dirty="0" sz="3000" spc="-10" b="0">
                <a:latin typeface="Calibri"/>
                <a:cs typeface="Calibri"/>
              </a:rPr>
              <a:t>Inject </a:t>
            </a:r>
            <a:r>
              <a:rPr dirty="0" sz="3000" spc="-5" b="0">
                <a:latin typeface="Calibri"/>
                <a:cs typeface="Calibri"/>
              </a:rPr>
              <a:t>domain </a:t>
            </a:r>
            <a:r>
              <a:rPr dirty="0" sz="3000" spc="-10" b="0">
                <a:latin typeface="Calibri"/>
                <a:cs typeface="Calibri"/>
              </a:rPr>
              <a:t>knowledge </a:t>
            </a:r>
            <a:r>
              <a:rPr dirty="0" sz="3000" spc="-20" b="0">
                <a:latin typeface="Calibri"/>
                <a:cs typeface="Calibri"/>
              </a:rPr>
              <a:t>into </a:t>
            </a:r>
            <a:r>
              <a:rPr dirty="0" sz="3000" b="0">
                <a:latin typeface="Calibri"/>
                <a:cs typeface="Calibri"/>
              </a:rPr>
              <a:t>a </a:t>
            </a:r>
            <a:r>
              <a:rPr dirty="0" sz="3000" spc="-5" b="0">
                <a:latin typeface="Calibri"/>
                <a:cs typeface="Calibri"/>
              </a:rPr>
              <a:t>model  </a:t>
            </a:r>
            <a:r>
              <a:rPr dirty="0" sz="3000" spc="-25" b="0">
                <a:latin typeface="Calibri"/>
                <a:cs typeface="Calibri"/>
              </a:rPr>
              <a:t>before </a:t>
            </a:r>
            <a:r>
              <a:rPr dirty="0" sz="3000" spc="-15" b="0">
                <a:latin typeface="Calibri"/>
                <a:cs typeface="Calibri"/>
              </a:rPr>
              <a:t>training </a:t>
            </a:r>
            <a:r>
              <a:rPr dirty="0" sz="3000" b="0">
                <a:latin typeface="Calibri"/>
                <a:cs typeface="Calibri"/>
              </a:rPr>
              <a:t>on </a:t>
            </a:r>
            <a:r>
              <a:rPr dirty="0" sz="3000" spc="-15" b="0">
                <a:latin typeface="Calibri"/>
                <a:cs typeface="Calibri"/>
              </a:rPr>
              <a:t>scarcely-labeled</a:t>
            </a:r>
            <a:r>
              <a:rPr dirty="0" sz="3000" b="0">
                <a:latin typeface="Calibri"/>
                <a:cs typeface="Calibri"/>
              </a:rPr>
              <a:t> </a:t>
            </a:r>
            <a:r>
              <a:rPr dirty="0" sz="3000" spc="-15" b="0">
                <a:latin typeface="Calibri"/>
                <a:cs typeface="Calibri"/>
              </a:rPr>
              <a:t>tasks!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265932"/>
            <a:ext cx="7418705" cy="253809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287020" marR="546735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The model </a:t>
            </a:r>
            <a:r>
              <a:rPr dirty="0" sz="2600" spc="-10">
                <a:latin typeface="Calibri"/>
                <a:cs typeface="Calibri"/>
              </a:rPr>
              <a:t>already knows </a:t>
            </a:r>
            <a:r>
              <a:rPr dirty="0" sz="2600" spc="-5">
                <a:latin typeface="Calibri"/>
                <a:cs typeface="Calibri"/>
              </a:rPr>
              <a:t>the domain </a:t>
            </a:r>
            <a:r>
              <a:rPr dirty="0" sz="2600" spc="-70">
                <a:latin typeface="Calibri"/>
                <a:cs typeface="Calibri"/>
              </a:rPr>
              <a:t>knowledge  </a:t>
            </a:r>
            <a:r>
              <a:rPr dirty="0" sz="2600" spc="-25">
                <a:latin typeface="Calibri"/>
                <a:cs typeface="Calibri"/>
              </a:rPr>
              <a:t>before </a:t>
            </a:r>
            <a:r>
              <a:rPr dirty="0" sz="2600" spc="-10">
                <a:latin typeface="Calibri"/>
                <a:cs typeface="Calibri"/>
              </a:rPr>
              <a:t>training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>
                <a:latin typeface="Calibri"/>
                <a:cs typeface="Calibri"/>
              </a:rPr>
              <a:t>So </a:t>
            </a:r>
            <a:r>
              <a:rPr dirty="0" sz="2600" spc="-10">
                <a:latin typeface="Calibri"/>
                <a:cs typeface="Calibri"/>
              </a:rPr>
              <a:t>that </a:t>
            </a:r>
            <a:r>
              <a:rPr dirty="0" sz="2600" spc="-5">
                <a:latin typeface="Calibri"/>
                <a:cs typeface="Calibri"/>
              </a:rPr>
              <a:t>the model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can</a:t>
            </a:r>
            <a:endParaRPr sz="26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8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Generalize </a:t>
            </a:r>
            <a:r>
              <a:rPr dirty="0" sz="2400" spc="-10">
                <a:latin typeface="Calibri"/>
                <a:cs typeface="Calibri"/>
              </a:rPr>
              <a:t>well </a:t>
            </a:r>
            <a:r>
              <a:rPr dirty="0" sz="2400" spc="-5">
                <a:latin typeface="Calibri"/>
                <a:cs typeface="Calibri"/>
              </a:rPr>
              <a:t>without much </a:t>
            </a:r>
            <a:r>
              <a:rPr dirty="0" sz="2400" spc="-15">
                <a:latin typeface="Calibri"/>
                <a:cs typeface="Calibri"/>
              </a:rPr>
              <a:t>task-specific </a:t>
            </a:r>
            <a:r>
              <a:rPr dirty="0" sz="2400">
                <a:latin typeface="Calibri"/>
                <a:cs typeface="Calibri"/>
              </a:rPr>
              <a:t>labeled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12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552450" marR="549910" indent="-228600">
              <a:lnSpc>
                <a:spcPct val="100800"/>
              </a:lnSpc>
              <a:spcBef>
                <a:spcPts val="59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Extract </a:t>
            </a:r>
            <a:r>
              <a:rPr dirty="0" sz="2400" spc="-5">
                <a:latin typeface="Calibri"/>
                <a:cs typeface="Calibri"/>
              </a:rPr>
              <a:t>essential (non-spurious) </a:t>
            </a:r>
            <a:r>
              <a:rPr dirty="0" sz="2400" spc="-15">
                <a:latin typeface="Calibri"/>
                <a:cs typeface="Calibri"/>
              </a:rPr>
              <a:t>pattern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95">
                <a:latin typeface="Calibri"/>
                <a:cs typeface="Calibri"/>
              </a:rPr>
              <a:t>allows  </a:t>
            </a:r>
            <a:r>
              <a:rPr dirty="0" sz="2400" spc="-15">
                <a:latin typeface="Calibri"/>
                <a:cs typeface="Calibri"/>
              </a:rPr>
              <a:t>better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extrapolation.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595616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900034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0">
                <a:latin typeface="Calibri"/>
                <a:cs typeface="Calibri"/>
              </a:rPr>
              <a:t>We </a:t>
            </a:r>
            <a:r>
              <a:rPr dirty="0" sz="3000" spc="-15">
                <a:solidFill>
                  <a:srgbClr val="C00000"/>
                </a:solidFill>
              </a:rPr>
              <a:t>pre-train </a:t>
            </a:r>
            <a:r>
              <a:rPr dirty="0" sz="3000">
                <a:solidFill>
                  <a:srgbClr val="C00000"/>
                </a:solidFill>
              </a:rPr>
              <a:t>a </a:t>
            </a:r>
            <a:r>
              <a:rPr dirty="0" sz="3000" spc="-5">
                <a:solidFill>
                  <a:srgbClr val="C00000"/>
                </a:solidFill>
              </a:rPr>
              <a:t>model </a:t>
            </a:r>
            <a:r>
              <a:rPr dirty="0" sz="3000" spc="-20">
                <a:solidFill>
                  <a:srgbClr val="C00000"/>
                </a:solidFill>
              </a:rPr>
              <a:t>relevant </a:t>
            </a:r>
            <a:r>
              <a:rPr dirty="0" sz="3000" spc="-15">
                <a:solidFill>
                  <a:srgbClr val="C00000"/>
                </a:solidFill>
              </a:rPr>
              <a:t>tasks</a:t>
            </a:r>
            <a:r>
              <a:rPr dirty="0" sz="3000" spc="-15" b="0">
                <a:latin typeface="Calibri"/>
                <a:cs typeface="Calibri"/>
              </a:rPr>
              <a:t>, where </a:t>
            </a:r>
            <a:r>
              <a:rPr dirty="0" sz="3000" spc="-20" b="0">
                <a:latin typeface="Calibri"/>
                <a:cs typeface="Calibri"/>
              </a:rPr>
              <a:t>data  </a:t>
            </a:r>
            <a:r>
              <a:rPr dirty="0" sz="3000" spc="-5" b="0">
                <a:latin typeface="Calibri"/>
                <a:cs typeface="Calibri"/>
              </a:rPr>
              <a:t>is</a:t>
            </a:r>
            <a:r>
              <a:rPr dirty="0" sz="3000" spc="-70" b="0">
                <a:latin typeface="Calibri"/>
                <a:cs typeface="Calibri"/>
              </a:rPr>
              <a:t> </a:t>
            </a:r>
            <a:r>
              <a:rPr dirty="0" sz="3000" spc="-10" b="0">
                <a:latin typeface="Calibri"/>
                <a:cs typeface="Calibri"/>
              </a:rPr>
              <a:t>abundant.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51532"/>
            <a:ext cx="7644765" cy="254317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625475" marR="466725" indent="-274320">
              <a:lnSpc>
                <a:spcPts val="3100"/>
              </a:lnSpc>
              <a:spcBef>
                <a:spcPts val="21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After pre-training, </a:t>
            </a:r>
            <a:r>
              <a:rPr dirty="0" sz="2600" spc="-5">
                <a:latin typeface="Calibri"/>
                <a:cs typeface="Calibri"/>
              </a:rPr>
              <a:t>the model </a:t>
            </a:r>
            <a:r>
              <a:rPr dirty="0" sz="2600" spc="-20">
                <a:latin typeface="Calibri"/>
                <a:cs typeface="Calibri"/>
              </a:rPr>
              <a:t>parameters </a:t>
            </a:r>
            <a:r>
              <a:rPr dirty="0" sz="2600" spc="-85">
                <a:latin typeface="Calibri"/>
                <a:cs typeface="Calibri"/>
              </a:rPr>
              <a:t>already  </a:t>
            </a:r>
            <a:r>
              <a:rPr dirty="0" sz="2600" spc="-15">
                <a:latin typeface="Calibri"/>
                <a:cs typeface="Calibri"/>
              </a:rPr>
              <a:t>contain </a:t>
            </a:r>
            <a:r>
              <a:rPr dirty="0" sz="2600" spc="-5">
                <a:latin typeface="Calibri"/>
                <a:cs typeface="Calibri"/>
              </a:rPr>
              <a:t>domain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knowledge.</a:t>
            </a:r>
            <a:endParaRPr sz="2600">
              <a:latin typeface="Calibri"/>
              <a:cs typeface="Calibri"/>
            </a:endParaRPr>
          </a:p>
          <a:p>
            <a:pPr marL="332740" marR="833755" indent="-320040">
              <a:lnSpc>
                <a:spcPts val="3290"/>
              </a:lnSpc>
              <a:spcBef>
                <a:spcPts val="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For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downstream tasks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(what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we care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about,  typically with small #labeled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data)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ct val="102299"/>
              </a:lnSpc>
              <a:spcBef>
                <a:spcPts val="48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45" b="1">
                <a:solidFill>
                  <a:srgbClr val="0070C0"/>
                </a:solidFill>
                <a:latin typeface="Calibri"/>
                <a:cs typeface="Calibri"/>
              </a:rPr>
              <a:t>We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start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from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dirty="0" sz="2600" spc="-10" b="1">
                <a:solidFill>
                  <a:srgbClr val="0070C0"/>
                </a:solidFill>
                <a:latin typeface="Calibri"/>
                <a:cs typeface="Calibri"/>
              </a:rPr>
              <a:t>pre-trained </a:t>
            </a:r>
            <a:r>
              <a:rPr dirty="0" sz="2600" spc="-15" b="1">
                <a:solidFill>
                  <a:srgbClr val="0070C0"/>
                </a:solidFill>
                <a:latin typeface="Calibri"/>
                <a:cs typeface="Calibri"/>
              </a:rPr>
              <a:t>parameters </a:t>
            </a:r>
            <a:r>
              <a:rPr dirty="0" sz="2600" b="1">
                <a:solidFill>
                  <a:srgbClr val="0070C0"/>
                </a:solidFill>
                <a:latin typeface="Calibri"/>
                <a:cs typeface="Calibri"/>
              </a:rPr>
              <a:t>and  </a:t>
            </a:r>
            <a:r>
              <a:rPr dirty="0" sz="2600" spc="-65" b="1">
                <a:solidFill>
                  <a:srgbClr val="0070C0"/>
                </a:solidFill>
                <a:latin typeface="Calibri"/>
                <a:cs typeface="Calibri"/>
              </a:rPr>
              <a:t>fine-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tuning</a:t>
            </a:r>
            <a:r>
              <a:rPr dirty="0" sz="2600" spc="1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0070C0"/>
                </a:solidFill>
                <a:latin typeface="Calibri"/>
                <a:cs typeface="Calibri"/>
              </a:rPr>
              <a:t>them.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7648" y="5233923"/>
            <a:ext cx="102870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Output  e</a:t>
            </a:r>
            <a:r>
              <a:rPr dirty="0" sz="1600">
                <a:latin typeface="Arial"/>
                <a:cs typeface="Arial"/>
              </a:rPr>
              <a:t>m</a:t>
            </a:r>
            <a:r>
              <a:rPr dirty="0" sz="1600" spc="-5">
                <a:latin typeface="Arial"/>
                <a:cs typeface="Arial"/>
              </a:rPr>
              <a:t>bedd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3905" y="5882889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19" h="544829">
                <a:moveTo>
                  <a:pt x="0" y="0"/>
                </a:moveTo>
                <a:lnTo>
                  <a:pt x="108856" y="0"/>
                </a:lnTo>
                <a:lnTo>
                  <a:pt x="108856" y="544284"/>
                </a:lnTo>
                <a:lnTo>
                  <a:pt x="0" y="544284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3905" y="5882889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19" h="544829">
                <a:moveTo>
                  <a:pt x="0" y="0"/>
                </a:moveTo>
                <a:lnTo>
                  <a:pt x="108857" y="0"/>
                </a:lnTo>
                <a:lnTo>
                  <a:pt x="108857" y="544285"/>
                </a:lnTo>
                <a:lnTo>
                  <a:pt x="0" y="54428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49904" y="5861118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6" y="0"/>
                </a:lnTo>
                <a:lnTo>
                  <a:pt x="108856" y="544284"/>
                </a:lnTo>
                <a:lnTo>
                  <a:pt x="0" y="544284"/>
                </a:lnTo>
                <a:lnTo>
                  <a:pt x="0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49904" y="5861118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7" y="0"/>
                </a:lnTo>
                <a:lnTo>
                  <a:pt x="108857" y="544285"/>
                </a:lnTo>
                <a:lnTo>
                  <a:pt x="0" y="54428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94344" y="5236972"/>
            <a:ext cx="46482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Raw  </a:t>
            </a:r>
            <a:r>
              <a:rPr dirty="0" sz="1600" spc="-10">
                <a:latin typeface="Arial"/>
                <a:cs typeface="Arial"/>
              </a:rPr>
              <a:t>i</a:t>
            </a:r>
            <a:r>
              <a:rPr dirty="0" sz="1600" spc="-5">
                <a:latin typeface="Arial"/>
                <a:cs typeface="Arial"/>
              </a:rPr>
              <a:t>npu</a:t>
            </a:r>
            <a:r>
              <a:rPr dirty="0" sz="1600"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1104" y="5654290"/>
            <a:ext cx="1491615" cy="979805"/>
          </a:xfrm>
          <a:prstGeom prst="rect">
            <a:avLst/>
          </a:prstGeom>
          <a:ln w="38100">
            <a:solidFill>
              <a:srgbClr val="008000"/>
            </a:solidFill>
          </a:ln>
        </p:spPr>
        <p:txBody>
          <a:bodyPr wrap="square" lIns="0" tIns="102235" rIns="0" bIns="0" rtlCol="0" vert="horz">
            <a:spAutoFit/>
          </a:bodyPr>
          <a:lstStyle/>
          <a:p>
            <a:pPr algn="ctr" marR="78105">
              <a:lnSpc>
                <a:spcPts val="2115"/>
              </a:lnSpc>
              <a:spcBef>
                <a:spcPts val="805"/>
              </a:spcBef>
            </a:pPr>
            <a:r>
              <a:rPr dirty="0" sz="1800" spc="-5"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algn="ctr" marR="80010">
              <a:lnSpc>
                <a:spcPts val="3315"/>
              </a:lnSpc>
            </a:pPr>
            <a:r>
              <a:rPr dirty="0" sz="2800">
                <a:latin typeface="Cambria Math"/>
                <a:cs typeface="Cambria Math"/>
              </a:rPr>
              <a:t>𝜽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56721" y="6038732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5" h="287654">
                <a:moveTo>
                  <a:pt x="91568" y="0"/>
                </a:moveTo>
                <a:lnTo>
                  <a:pt x="91568" y="71855"/>
                </a:lnTo>
                <a:lnTo>
                  <a:pt x="0" y="71855"/>
                </a:lnTo>
                <a:lnTo>
                  <a:pt x="0" y="215565"/>
                </a:lnTo>
                <a:lnTo>
                  <a:pt x="91568" y="215565"/>
                </a:lnTo>
                <a:lnTo>
                  <a:pt x="91568" y="287420"/>
                </a:lnTo>
                <a:lnTo>
                  <a:pt x="183137" y="143710"/>
                </a:lnTo>
                <a:lnTo>
                  <a:pt x="9156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6721" y="6038732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5" h="287654">
                <a:moveTo>
                  <a:pt x="0" y="71855"/>
                </a:moveTo>
                <a:lnTo>
                  <a:pt x="91569" y="71855"/>
                </a:lnTo>
                <a:lnTo>
                  <a:pt x="91569" y="0"/>
                </a:lnTo>
                <a:lnTo>
                  <a:pt x="183138" y="143710"/>
                </a:lnTo>
                <a:lnTo>
                  <a:pt x="91569" y="287421"/>
                </a:lnTo>
                <a:lnTo>
                  <a:pt x="91569" y="215565"/>
                </a:lnTo>
                <a:lnTo>
                  <a:pt x="0" y="215565"/>
                </a:lnTo>
                <a:lnTo>
                  <a:pt x="0" y="71855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896406" y="5980112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4" h="287654">
                <a:moveTo>
                  <a:pt x="91568" y="0"/>
                </a:moveTo>
                <a:lnTo>
                  <a:pt x="91568" y="71855"/>
                </a:lnTo>
                <a:lnTo>
                  <a:pt x="0" y="71855"/>
                </a:lnTo>
                <a:lnTo>
                  <a:pt x="0" y="215565"/>
                </a:lnTo>
                <a:lnTo>
                  <a:pt x="91568" y="215565"/>
                </a:lnTo>
                <a:lnTo>
                  <a:pt x="91568" y="287420"/>
                </a:lnTo>
                <a:lnTo>
                  <a:pt x="183137" y="143710"/>
                </a:lnTo>
                <a:lnTo>
                  <a:pt x="9156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96406" y="5980112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4" h="287654">
                <a:moveTo>
                  <a:pt x="0" y="71855"/>
                </a:moveTo>
                <a:lnTo>
                  <a:pt x="91569" y="71855"/>
                </a:lnTo>
                <a:lnTo>
                  <a:pt x="91569" y="0"/>
                </a:lnTo>
                <a:lnTo>
                  <a:pt x="183138" y="143710"/>
                </a:lnTo>
                <a:lnTo>
                  <a:pt x="91569" y="287421"/>
                </a:lnTo>
                <a:lnTo>
                  <a:pt x="91569" y="215565"/>
                </a:lnTo>
                <a:lnTo>
                  <a:pt x="0" y="215565"/>
                </a:lnTo>
                <a:lnTo>
                  <a:pt x="0" y="71855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59634" y="4957571"/>
            <a:ext cx="14490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Pre-training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29151" y="5842487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8" y="0"/>
                </a:lnTo>
                <a:lnTo>
                  <a:pt x="108858" y="544284"/>
                </a:lnTo>
                <a:lnTo>
                  <a:pt x="0" y="544284"/>
                </a:lnTo>
                <a:lnTo>
                  <a:pt x="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29151" y="5842487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7" y="0"/>
                </a:lnTo>
                <a:lnTo>
                  <a:pt x="108857" y="544285"/>
                </a:lnTo>
                <a:lnTo>
                  <a:pt x="0" y="54428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515151" y="5820716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8" y="0"/>
                </a:lnTo>
                <a:lnTo>
                  <a:pt x="108858" y="544284"/>
                </a:lnTo>
                <a:lnTo>
                  <a:pt x="0" y="544284"/>
                </a:lnTo>
                <a:lnTo>
                  <a:pt x="0" y="0"/>
                </a:lnTo>
                <a:close/>
              </a:path>
            </a:pathLst>
          </a:custGeom>
          <a:solidFill>
            <a:srgbClr val="F0A7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15151" y="5820716"/>
            <a:ext cx="109220" cy="544830"/>
          </a:xfrm>
          <a:custGeom>
            <a:avLst/>
            <a:gdLst/>
            <a:ahLst/>
            <a:cxnLst/>
            <a:rect l="l" t="t" r="r" b="b"/>
            <a:pathLst>
              <a:path w="109220" h="544829">
                <a:moveTo>
                  <a:pt x="0" y="0"/>
                </a:moveTo>
                <a:lnTo>
                  <a:pt x="108857" y="0"/>
                </a:lnTo>
                <a:lnTo>
                  <a:pt x="108857" y="544285"/>
                </a:lnTo>
                <a:lnTo>
                  <a:pt x="0" y="54428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9253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686351" y="5613889"/>
            <a:ext cx="1491615" cy="979805"/>
          </a:xfrm>
          <a:prstGeom prst="rect">
            <a:avLst/>
          </a:prstGeom>
          <a:ln w="38100">
            <a:solidFill>
              <a:srgbClr val="008000"/>
            </a:solidFill>
          </a:ln>
        </p:spPr>
        <p:txBody>
          <a:bodyPr wrap="square" lIns="0" tIns="103505" rIns="0" bIns="0" rtlCol="0" vert="horz">
            <a:spAutoFit/>
          </a:bodyPr>
          <a:lstStyle/>
          <a:p>
            <a:pPr marL="372110">
              <a:lnSpc>
                <a:spcPct val="100000"/>
              </a:lnSpc>
              <a:spcBef>
                <a:spcPts val="815"/>
              </a:spcBef>
            </a:pPr>
            <a:r>
              <a:rPr dirty="0" sz="1800" spc="-5"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427355">
              <a:lnSpc>
                <a:spcPct val="100000"/>
              </a:lnSpc>
              <a:spcBef>
                <a:spcPts val="630"/>
              </a:spcBef>
            </a:pPr>
            <a:r>
              <a:rPr dirty="0" baseline="11904" sz="4200" spc="322">
                <a:latin typeface="Cambria Math"/>
                <a:cs typeface="Cambria Math"/>
              </a:rPr>
              <a:t>𝜽</a:t>
            </a:r>
            <a:r>
              <a:rPr dirty="0" sz="2000" spc="215">
                <a:latin typeface="Cambria Math"/>
                <a:cs typeface="Cambria Math"/>
              </a:rPr>
              <a:t>!"#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21967" y="5998331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4" h="287654">
                <a:moveTo>
                  <a:pt x="91568" y="0"/>
                </a:moveTo>
                <a:lnTo>
                  <a:pt x="91568" y="71855"/>
                </a:lnTo>
                <a:lnTo>
                  <a:pt x="0" y="71855"/>
                </a:lnTo>
                <a:lnTo>
                  <a:pt x="0" y="215565"/>
                </a:lnTo>
                <a:lnTo>
                  <a:pt x="91568" y="215565"/>
                </a:lnTo>
                <a:lnTo>
                  <a:pt x="91568" y="287420"/>
                </a:lnTo>
                <a:lnTo>
                  <a:pt x="183137" y="143710"/>
                </a:lnTo>
                <a:lnTo>
                  <a:pt x="9156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421967" y="5998331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4" h="287654">
                <a:moveTo>
                  <a:pt x="0" y="71855"/>
                </a:moveTo>
                <a:lnTo>
                  <a:pt x="91569" y="71855"/>
                </a:lnTo>
                <a:lnTo>
                  <a:pt x="91569" y="0"/>
                </a:lnTo>
                <a:lnTo>
                  <a:pt x="183138" y="143710"/>
                </a:lnTo>
                <a:lnTo>
                  <a:pt x="91569" y="287421"/>
                </a:lnTo>
                <a:lnTo>
                  <a:pt x="91569" y="215565"/>
                </a:lnTo>
                <a:lnTo>
                  <a:pt x="0" y="215565"/>
                </a:lnTo>
                <a:lnTo>
                  <a:pt x="0" y="71855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61652" y="5939711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5" h="287654">
                <a:moveTo>
                  <a:pt x="91569" y="0"/>
                </a:moveTo>
                <a:lnTo>
                  <a:pt x="91569" y="71855"/>
                </a:lnTo>
                <a:lnTo>
                  <a:pt x="0" y="71855"/>
                </a:lnTo>
                <a:lnTo>
                  <a:pt x="0" y="215565"/>
                </a:lnTo>
                <a:lnTo>
                  <a:pt x="91569" y="215565"/>
                </a:lnTo>
                <a:lnTo>
                  <a:pt x="91569" y="287420"/>
                </a:lnTo>
                <a:lnTo>
                  <a:pt x="183137" y="143710"/>
                </a:lnTo>
                <a:lnTo>
                  <a:pt x="9156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61652" y="5939711"/>
            <a:ext cx="183515" cy="287655"/>
          </a:xfrm>
          <a:custGeom>
            <a:avLst/>
            <a:gdLst/>
            <a:ahLst/>
            <a:cxnLst/>
            <a:rect l="l" t="t" r="r" b="b"/>
            <a:pathLst>
              <a:path w="183515" h="287654">
                <a:moveTo>
                  <a:pt x="0" y="71855"/>
                </a:moveTo>
                <a:lnTo>
                  <a:pt x="91569" y="71855"/>
                </a:lnTo>
                <a:lnTo>
                  <a:pt x="91569" y="0"/>
                </a:lnTo>
                <a:lnTo>
                  <a:pt x="183138" y="143710"/>
                </a:lnTo>
                <a:lnTo>
                  <a:pt x="91569" y="287421"/>
                </a:lnTo>
                <a:lnTo>
                  <a:pt x="91569" y="215565"/>
                </a:lnTo>
                <a:lnTo>
                  <a:pt x="0" y="215565"/>
                </a:lnTo>
                <a:lnTo>
                  <a:pt x="0" y="71855"/>
                </a:lnTo>
                <a:close/>
              </a:path>
            </a:pathLst>
          </a:custGeom>
          <a:ln w="381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493490" y="4863084"/>
            <a:ext cx="22402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Fine-tuning </a:t>
            </a:r>
            <a:r>
              <a:rPr dirty="0" sz="2000" b="1">
                <a:solidFill>
                  <a:srgbClr val="0000FF"/>
                </a:solidFill>
                <a:latin typeface="Arial"/>
                <a:cs typeface="Arial"/>
              </a:rPr>
              <a:t>on  </a:t>
            </a: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downstream</a:t>
            </a:r>
            <a:r>
              <a:rPr dirty="0" sz="2000" spc="-60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0000FF"/>
                </a:solidFill>
                <a:latin typeface="Arial"/>
                <a:cs typeface="Arial"/>
              </a:rPr>
              <a:t>tasks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609904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46950" cy="149161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D60093"/>
                </a:solidFill>
              </a:rPr>
              <a:t>Pre-training </a:t>
            </a:r>
            <a:r>
              <a:rPr dirty="0" spc="-5">
                <a:solidFill>
                  <a:srgbClr val="D60093"/>
                </a:solidFill>
              </a:rPr>
              <a:t>has been </a:t>
            </a:r>
            <a:r>
              <a:rPr dirty="0" spc="-10">
                <a:solidFill>
                  <a:srgbClr val="D60093"/>
                </a:solidFill>
              </a:rPr>
              <a:t>hugely successful </a:t>
            </a:r>
            <a:r>
              <a:rPr dirty="0">
                <a:solidFill>
                  <a:srgbClr val="D60093"/>
                </a:solidFill>
              </a:rPr>
              <a:t>in  </a:t>
            </a:r>
            <a:r>
              <a:rPr dirty="0" spc="-10">
                <a:solidFill>
                  <a:srgbClr val="D60093"/>
                </a:solidFill>
              </a:rPr>
              <a:t>computer </a:t>
            </a:r>
            <a:r>
              <a:rPr dirty="0" spc="-5">
                <a:solidFill>
                  <a:srgbClr val="D60093"/>
                </a:solidFill>
              </a:rPr>
              <a:t>vision and </a:t>
            </a:r>
            <a:r>
              <a:rPr dirty="0" spc="-20">
                <a:solidFill>
                  <a:srgbClr val="D60093"/>
                </a:solidFill>
              </a:rPr>
              <a:t>natural </a:t>
            </a:r>
            <a:r>
              <a:rPr dirty="0" spc="-10">
                <a:solidFill>
                  <a:srgbClr val="D60093"/>
                </a:solidFill>
              </a:rPr>
              <a:t>language  processing.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819907"/>
            <a:ext cx="7747634" cy="346392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Pre-training improves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label-efficiency.</a:t>
            </a:r>
            <a:endParaRPr sz="2800">
              <a:latin typeface="Calibri"/>
              <a:cs typeface="Calibri"/>
            </a:endParaRPr>
          </a:p>
          <a:p>
            <a:pPr marL="625475" marR="126111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Pre-training improves out-of-distribution  </a:t>
            </a:r>
            <a:r>
              <a:rPr dirty="0" sz="2800" spc="-10">
                <a:latin typeface="Calibri"/>
                <a:cs typeface="Calibri"/>
              </a:rPr>
              <a:t>performance </a:t>
            </a:r>
            <a:r>
              <a:rPr dirty="0" sz="2000" spc="-10">
                <a:latin typeface="Calibri"/>
                <a:cs typeface="Calibri"/>
              </a:rPr>
              <a:t>[Hendrycks </a:t>
            </a:r>
            <a:r>
              <a:rPr dirty="0" sz="2000" spc="-5">
                <a:latin typeface="Calibri"/>
                <a:cs typeface="Calibri"/>
              </a:rPr>
              <a:t>et </a:t>
            </a:r>
            <a:r>
              <a:rPr dirty="0" sz="2000">
                <a:latin typeface="Calibri"/>
                <a:cs typeface="Calibri"/>
              </a:rPr>
              <a:t>al. </a:t>
            </a:r>
            <a:r>
              <a:rPr dirty="0" sz="2000" spc="-5">
                <a:latin typeface="Calibri"/>
                <a:cs typeface="Calibri"/>
              </a:rPr>
              <a:t>ICML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2019]</a:t>
            </a:r>
            <a:endParaRPr sz="2000">
              <a:latin typeface="Calibri"/>
              <a:cs typeface="Calibri"/>
            </a:endParaRPr>
          </a:p>
          <a:p>
            <a:pPr marL="332740" marR="5080" indent="-320040">
              <a:lnSpc>
                <a:spcPts val="391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Pre-training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10">
                <a:latin typeface="Calibri"/>
                <a:cs typeface="Calibri"/>
              </a:rPr>
              <a:t>powerful </a:t>
            </a:r>
            <a:r>
              <a:rPr dirty="0" sz="3200" spc="-5">
                <a:latin typeface="Calibri"/>
                <a:cs typeface="Calibri"/>
              </a:rPr>
              <a:t>solution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two  </a:t>
            </a:r>
            <a:r>
              <a:rPr dirty="0" sz="3200">
                <a:latin typeface="Calibri"/>
                <a:cs typeface="Calibri"/>
              </a:rPr>
              <a:t>ML </a:t>
            </a:r>
            <a:r>
              <a:rPr dirty="0" sz="3200" spc="-5">
                <a:latin typeface="Calibri"/>
                <a:cs typeface="Calibri"/>
              </a:rPr>
              <a:t>challenges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5">
                <a:latin typeface="Calibri"/>
                <a:cs typeface="Calibri"/>
              </a:rPr>
              <a:t>scientific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applications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9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Scarce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labels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Out-of-distribution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47446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76795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 b="0">
                <a:latin typeface="Calibri"/>
                <a:cs typeface="Calibri"/>
              </a:rPr>
              <a:t>Let’s </a:t>
            </a:r>
            <a:r>
              <a:rPr dirty="0" spc="-10" b="0">
                <a:latin typeface="Calibri"/>
                <a:cs typeface="Calibri"/>
              </a:rPr>
              <a:t>consider </a:t>
            </a:r>
            <a:r>
              <a:rPr dirty="0" spc="-15" b="0">
                <a:latin typeface="Calibri"/>
                <a:cs typeface="Calibri"/>
              </a:rPr>
              <a:t>pre-training</a:t>
            </a:r>
            <a:r>
              <a:rPr dirty="0" spc="5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GNNs!</a:t>
            </a:r>
          </a:p>
          <a:p>
            <a:pPr marL="332740" marR="5080" indent="-320040">
              <a:lnSpc>
                <a:spcPts val="391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latin typeface="Calibri"/>
                <a:cs typeface="Calibri"/>
              </a:rPr>
              <a:t>We </a:t>
            </a:r>
            <a:r>
              <a:rPr dirty="0" spc="-5" b="0">
                <a:latin typeface="Calibri"/>
                <a:cs typeface="Calibri"/>
              </a:rPr>
              <a:t>design GNN </a:t>
            </a:r>
            <a:r>
              <a:rPr dirty="0" spc="-15" b="0">
                <a:latin typeface="Calibri"/>
                <a:cs typeface="Calibri"/>
              </a:rPr>
              <a:t>pre-training </a:t>
            </a:r>
            <a:r>
              <a:rPr dirty="0" spc="-20" b="0">
                <a:latin typeface="Calibri"/>
                <a:cs typeface="Calibri"/>
              </a:rPr>
              <a:t>strategies </a:t>
            </a:r>
            <a:r>
              <a:rPr dirty="0" b="0">
                <a:latin typeface="Calibri"/>
                <a:cs typeface="Calibri"/>
              </a:rPr>
              <a:t>and  </a:t>
            </a:r>
            <a:r>
              <a:rPr dirty="0" spc="-20" b="0">
                <a:latin typeface="Calibri"/>
                <a:cs typeface="Calibri"/>
              </a:rPr>
              <a:t>systematically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spc="-25" b="0">
                <a:latin typeface="Calibri"/>
                <a:cs typeface="Calibri"/>
              </a:rPr>
              <a:t>investigate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7759700" cy="1476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Q1. </a:t>
            </a: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 spc="-25">
                <a:latin typeface="Calibri"/>
                <a:cs typeface="Calibri"/>
              </a:rPr>
              <a:t>effective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5">
                <a:latin typeface="Calibri"/>
                <a:cs typeface="Calibri"/>
              </a:rPr>
              <a:t>pre-training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GNNs?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Q2. </a:t>
            </a:r>
            <a:r>
              <a:rPr dirty="0" sz="3200" spc="-10">
                <a:latin typeface="Calibri"/>
                <a:cs typeface="Calibri"/>
              </a:rPr>
              <a:t>What </a:t>
            </a:r>
            <a:r>
              <a:rPr dirty="0" sz="3200">
                <a:latin typeface="Calibri"/>
                <a:cs typeface="Calibri"/>
              </a:rPr>
              <a:t>is the </a:t>
            </a:r>
            <a:r>
              <a:rPr dirty="0" sz="3200" spc="-25">
                <a:latin typeface="Calibri"/>
                <a:cs typeface="Calibri"/>
              </a:rPr>
              <a:t>effective </a:t>
            </a:r>
            <a:r>
              <a:rPr dirty="0" sz="3200" spc="-15">
                <a:latin typeface="Calibri"/>
                <a:cs typeface="Calibri"/>
              </a:rPr>
              <a:t>pre-training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strategy?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3498" y="79755"/>
            <a:ext cx="18110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Hu et al. ICLR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2020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3568"/>
            <a:ext cx="8193024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12430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30">
                <a:solidFill>
                  <a:srgbClr val="00B050"/>
                </a:solidFill>
              </a:rPr>
              <a:t>Let’s </a:t>
            </a:r>
            <a:r>
              <a:rPr dirty="0" spc="-5">
                <a:solidFill>
                  <a:srgbClr val="00B050"/>
                </a:solidFill>
              </a:rPr>
              <a:t>think about molecular </a:t>
            </a:r>
            <a:r>
              <a:rPr dirty="0" spc="-10">
                <a:solidFill>
                  <a:srgbClr val="00B050"/>
                </a:solidFill>
              </a:rPr>
              <a:t>property prediction  </a:t>
            </a:r>
            <a:r>
              <a:rPr dirty="0" spc="-20">
                <a:solidFill>
                  <a:srgbClr val="00B050"/>
                </a:solidFill>
              </a:rPr>
              <a:t>for </a:t>
            </a:r>
            <a:r>
              <a:rPr dirty="0" spc="-5">
                <a:solidFill>
                  <a:srgbClr val="00B050"/>
                </a:solidFill>
              </a:rPr>
              <a:t>drug</a:t>
            </a:r>
            <a:r>
              <a:rPr dirty="0" spc="-30">
                <a:solidFill>
                  <a:srgbClr val="00B050"/>
                </a:solidFill>
              </a:rPr>
              <a:t> discovery.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Naïve</a:t>
            </a:r>
            <a:r>
              <a:rPr dirty="0" spc="-90">
                <a:solidFill>
                  <a:srgbClr val="D60093"/>
                </a:solidFill>
              </a:rPr>
              <a:t> </a:t>
            </a:r>
            <a:r>
              <a:rPr dirty="0" spc="-25">
                <a:solidFill>
                  <a:srgbClr val="D60093"/>
                </a:solidFill>
              </a:rPr>
              <a:t>strategy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09748"/>
            <a:ext cx="81749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Calibri"/>
                <a:cs typeface="Calibri"/>
              </a:rPr>
              <a:t>Multi-task </a:t>
            </a:r>
            <a:r>
              <a:rPr dirty="0" sz="3000" spc="-5">
                <a:latin typeface="Calibri"/>
                <a:cs typeface="Calibri"/>
              </a:rPr>
              <a:t>supervised </a:t>
            </a:r>
            <a:r>
              <a:rPr dirty="0" sz="3000" spc="-15">
                <a:latin typeface="Calibri"/>
                <a:cs typeface="Calibri"/>
              </a:rPr>
              <a:t>pre-training </a:t>
            </a:r>
            <a:r>
              <a:rPr dirty="0" sz="3000">
                <a:latin typeface="Calibri"/>
                <a:cs typeface="Calibri"/>
              </a:rPr>
              <a:t>on </a:t>
            </a:r>
            <a:r>
              <a:rPr dirty="0" sz="3000" spc="-20">
                <a:latin typeface="Calibri"/>
                <a:cs typeface="Calibri"/>
              </a:rPr>
              <a:t>relevant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labels.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0665" y="3456940"/>
            <a:ext cx="98425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>
                <a:latin typeface="Arial"/>
                <a:cs typeface="Arial"/>
              </a:rPr>
              <a:t>Toxicity</a:t>
            </a:r>
            <a:r>
              <a:rPr dirty="0" sz="1600" spc="-14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A?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006" y="5040884"/>
            <a:ext cx="940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Molecule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72" y="5350770"/>
            <a:ext cx="135728" cy="595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2500" y="5350770"/>
            <a:ext cx="1720715" cy="3924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72" y="5350770"/>
            <a:ext cx="1856443" cy="987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72" y="5945830"/>
            <a:ext cx="1720715" cy="3924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27486" y="5743250"/>
            <a:ext cx="135728" cy="5950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16651" y="5909650"/>
            <a:ext cx="255270" cy="0"/>
          </a:xfrm>
          <a:custGeom>
            <a:avLst/>
            <a:gdLst/>
            <a:ahLst/>
            <a:cxnLst/>
            <a:rect l="l" t="t" r="r" b="b"/>
            <a:pathLst>
              <a:path w="255270" h="0">
                <a:moveTo>
                  <a:pt x="0" y="0"/>
                </a:moveTo>
                <a:lnTo>
                  <a:pt x="254744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45983" y="5942704"/>
            <a:ext cx="179070" cy="244475"/>
          </a:xfrm>
          <a:custGeom>
            <a:avLst/>
            <a:gdLst/>
            <a:ahLst/>
            <a:cxnLst/>
            <a:rect l="l" t="t" r="r" b="b"/>
            <a:pathLst>
              <a:path w="179070" h="244475">
                <a:moveTo>
                  <a:pt x="178613" y="24402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46020" y="6217648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5" h="0">
                <a:moveTo>
                  <a:pt x="173060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23300" y="5964640"/>
            <a:ext cx="151765" cy="219075"/>
          </a:xfrm>
          <a:custGeom>
            <a:avLst/>
            <a:gdLst/>
            <a:ahLst/>
            <a:cxnLst/>
            <a:rect l="l" t="t" r="r" b="b"/>
            <a:pathLst>
              <a:path w="151764" h="219075">
                <a:moveTo>
                  <a:pt x="151395" y="21844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23301" y="5642755"/>
            <a:ext cx="126364" cy="253365"/>
          </a:xfrm>
          <a:custGeom>
            <a:avLst/>
            <a:gdLst/>
            <a:ahLst/>
            <a:cxnLst/>
            <a:rect l="l" t="t" r="r" b="b"/>
            <a:pathLst>
              <a:path w="126364" h="253364">
                <a:moveTo>
                  <a:pt x="0" y="252751"/>
                </a:moveTo>
                <a:lnTo>
                  <a:pt x="12598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90407" y="5958534"/>
            <a:ext cx="184785" cy="224790"/>
          </a:xfrm>
          <a:custGeom>
            <a:avLst/>
            <a:gdLst/>
            <a:ahLst/>
            <a:cxnLst/>
            <a:rect l="l" t="t" r="r" b="b"/>
            <a:pathLst>
              <a:path w="184785" h="224789">
                <a:moveTo>
                  <a:pt x="0" y="224547"/>
                </a:moveTo>
                <a:lnTo>
                  <a:pt x="1844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90407" y="5636224"/>
            <a:ext cx="154940" cy="239395"/>
          </a:xfrm>
          <a:custGeom>
            <a:avLst/>
            <a:gdLst/>
            <a:ahLst/>
            <a:cxnLst/>
            <a:rect l="l" t="t" r="r" b="b"/>
            <a:pathLst>
              <a:path w="154939" h="239395">
                <a:moveTo>
                  <a:pt x="154918" y="23886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20615" y="5601656"/>
            <a:ext cx="198755" cy="6985"/>
          </a:xfrm>
          <a:custGeom>
            <a:avLst/>
            <a:gdLst/>
            <a:ahLst/>
            <a:cxnLst/>
            <a:rect l="l" t="t" r="r" b="b"/>
            <a:pathLst>
              <a:path w="198755" h="6985">
                <a:moveTo>
                  <a:pt x="198466" y="0"/>
                </a:moveTo>
                <a:lnTo>
                  <a:pt x="0" y="653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37051" y="5559305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5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49"/>
                </a:lnTo>
                <a:lnTo>
                  <a:pt x="25518" y="93925"/>
                </a:lnTo>
                <a:lnTo>
                  <a:pt x="41781" y="97767"/>
                </a:lnTo>
                <a:lnTo>
                  <a:pt x="58045" y="93925"/>
                </a:lnTo>
                <a:lnTo>
                  <a:pt x="71326" y="83449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5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37051" y="5559304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19081" y="5552771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4"/>
                </a:lnTo>
                <a:lnTo>
                  <a:pt x="3283" y="67912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8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1" y="67912"/>
                </a:lnTo>
                <a:lnTo>
                  <a:pt x="83564" y="48884"/>
                </a:lnTo>
                <a:lnTo>
                  <a:pt x="80281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19081" y="5552771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33088" y="5860765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8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33088" y="5860765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51974" y="5881189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2" y="0"/>
                </a:moveTo>
                <a:lnTo>
                  <a:pt x="25519" y="3841"/>
                </a:lnTo>
                <a:lnTo>
                  <a:pt x="12238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8" y="83450"/>
                </a:lnTo>
                <a:lnTo>
                  <a:pt x="25519" y="93926"/>
                </a:lnTo>
                <a:lnTo>
                  <a:pt x="41782" y="97767"/>
                </a:lnTo>
                <a:lnTo>
                  <a:pt x="58046" y="93926"/>
                </a:lnTo>
                <a:lnTo>
                  <a:pt x="71326" y="83450"/>
                </a:lnTo>
                <a:lnTo>
                  <a:pt x="80281" y="67911"/>
                </a:lnTo>
                <a:lnTo>
                  <a:pt x="83564" y="48883"/>
                </a:lnTo>
                <a:lnTo>
                  <a:pt x="80281" y="29856"/>
                </a:lnTo>
                <a:lnTo>
                  <a:pt x="71326" y="14317"/>
                </a:lnTo>
                <a:lnTo>
                  <a:pt x="58046" y="3841"/>
                </a:lnTo>
                <a:lnTo>
                  <a:pt x="4178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51974" y="5881189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62456" y="616876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7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1" y="67911"/>
                </a:lnTo>
                <a:lnTo>
                  <a:pt x="83564" y="48883"/>
                </a:lnTo>
                <a:lnTo>
                  <a:pt x="80281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62456" y="616876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19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19081" y="616876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7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1" y="67911"/>
                </a:lnTo>
                <a:lnTo>
                  <a:pt x="83564" y="48883"/>
                </a:lnTo>
                <a:lnTo>
                  <a:pt x="80281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19081" y="616876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2" y="97768"/>
                </a:moveTo>
                <a:lnTo>
                  <a:pt x="25518" y="93926"/>
                </a:lnTo>
                <a:lnTo>
                  <a:pt x="12237" y="83450"/>
                </a:lnTo>
                <a:lnTo>
                  <a:pt x="3283" y="67911"/>
                </a:lnTo>
                <a:lnTo>
                  <a:pt x="0" y="48884"/>
                </a:lnTo>
                <a:lnTo>
                  <a:pt x="3283" y="29856"/>
                </a:lnTo>
                <a:lnTo>
                  <a:pt x="12237" y="14317"/>
                </a:lnTo>
                <a:lnTo>
                  <a:pt x="25518" y="3841"/>
                </a:lnTo>
                <a:lnTo>
                  <a:pt x="41782" y="0"/>
                </a:lnTo>
                <a:lnTo>
                  <a:pt x="58045" y="3841"/>
                </a:lnTo>
                <a:lnTo>
                  <a:pt x="71326" y="14317"/>
                </a:lnTo>
                <a:lnTo>
                  <a:pt x="80280" y="29856"/>
                </a:lnTo>
                <a:lnTo>
                  <a:pt x="83564" y="48884"/>
                </a:lnTo>
                <a:lnTo>
                  <a:pt x="80280" y="67911"/>
                </a:lnTo>
                <a:lnTo>
                  <a:pt x="71326" y="83450"/>
                </a:lnTo>
                <a:lnTo>
                  <a:pt x="58045" y="93926"/>
                </a:lnTo>
                <a:lnTo>
                  <a:pt x="41782" y="97768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11800" y="6173038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43691" y="0"/>
                </a:moveTo>
                <a:lnTo>
                  <a:pt x="26684" y="3673"/>
                </a:lnTo>
                <a:lnTo>
                  <a:pt x="12796" y="13691"/>
                </a:lnTo>
                <a:lnTo>
                  <a:pt x="3433" y="28550"/>
                </a:lnTo>
                <a:lnTo>
                  <a:pt x="0" y="46747"/>
                </a:lnTo>
                <a:lnTo>
                  <a:pt x="3433" y="64943"/>
                </a:lnTo>
                <a:lnTo>
                  <a:pt x="12796" y="79802"/>
                </a:lnTo>
                <a:lnTo>
                  <a:pt x="26684" y="89820"/>
                </a:lnTo>
                <a:lnTo>
                  <a:pt x="43691" y="93494"/>
                </a:lnTo>
                <a:lnTo>
                  <a:pt x="60698" y="89820"/>
                </a:lnTo>
                <a:lnTo>
                  <a:pt x="74586" y="79802"/>
                </a:lnTo>
                <a:lnTo>
                  <a:pt x="83950" y="64943"/>
                </a:lnTo>
                <a:lnTo>
                  <a:pt x="87383" y="46747"/>
                </a:lnTo>
                <a:lnTo>
                  <a:pt x="83950" y="28550"/>
                </a:lnTo>
                <a:lnTo>
                  <a:pt x="74586" y="13691"/>
                </a:lnTo>
                <a:lnTo>
                  <a:pt x="60698" y="3673"/>
                </a:lnTo>
                <a:lnTo>
                  <a:pt x="4369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11800" y="6173038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0" y="46747"/>
                </a:moveTo>
                <a:lnTo>
                  <a:pt x="3433" y="28550"/>
                </a:lnTo>
                <a:lnTo>
                  <a:pt x="12797" y="13691"/>
                </a:lnTo>
                <a:lnTo>
                  <a:pt x="26685" y="3673"/>
                </a:lnTo>
                <a:lnTo>
                  <a:pt x="43692" y="0"/>
                </a:lnTo>
                <a:lnTo>
                  <a:pt x="60698" y="3673"/>
                </a:lnTo>
                <a:lnTo>
                  <a:pt x="74586" y="13691"/>
                </a:lnTo>
                <a:lnTo>
                  <a:pt x="83950" y="28550"/>
                </a:lnTo>
                <a:lnTo>
                  <a:pt x="87384" y="46747"/>
                </a:lnTo>
                <a:lnTo>
                  <a:pt x="83950" y="64943"/>
                </a:lnTo>
                <a:lnTo>
                  <a:pt x="74586" y="79802"/>
                </a:lnTo>
                <a:lnTo>
                  <a:pt x="60698" y="89820"/>
                </a:lnTo>
                <a:lnTo>
                  <a:pt x="43692" y="93494"/>
                </a:lnTo>
                <a:lnTo>
                  <a:pt x="26685" y="89820"/>
                </a:lnTo>
                <a:lnTo>
                  <a:pt x="12797" y="79802"/>
                </a:lnTo>
                <a:lnTo>
                  <a:pt x="3433" y="64943"/>
                </a:lnTo>
                <a:lnTo>
                  <a:pt x="0" y="4674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71396" y="5862902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43691" y="0"/>
                </a:moveTo>
                <a:lnTo>
                  <a:pt x="26685" y="3673"/>
                </a:lnTo>
                <a:lnTo>
                  <a:pt x="12797" y="13691"/>
                </a:lnTo>
                <a:lnTo>
                  <a:pt x="3433" y="28550"/>
                </a:lnTo>
                <a:lnTo>
                  <a:pt x="0" y="46746"/>
                </a:lnTo>
                <a:lnTo>
                  <a:pt x="3433" y="64942"/>
                </a:lnTo>
                <a:lnTo>
                  <a:pt x="12797" y="79802"/>
                </a:lnTo>
                <a:lnTo>
                  <a:pt x="26685" y="89820"/>
                </a:lnTo>
                <a:lnTo>
                  <a:pt x="43691" y="93493"/>
                </a:lnTo>
                <a:lnTo>
                  <a:pt x="60698" y="89820"/>
                </a:lnTo>
                <a:lnTo>
                  <a:pt x="74586" y="79802"/>
                </a:lnTo>
                <a:lnTo>
                  <a:pt x="83950" y="64942"/>
                </a:lnTo>
                <a:lnTo>
                  <a:pt x="87383" y="46746"/>
                </a:lnTo>
                <a:lnTo>
                  <a:pt x="83950" y="28550"/>
                </a:lnTo>
                <a:lnTo>
                  <a:pt x="74586" y="13691"/>
                </a:lnTo>
                <a:lnTo>
                  <a:pt x="60698" y="3673"/>
                </a:lnTo>
                <a:lnTo>
                  <a:pt x="43691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71396" y="5862902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0" y="46747"/>
                </a:moveTo>
                <a:lnTo>
                  <a:pt x="3433" y="28550"/>
                </a:lnTo>
                <a:lnTo>
                  <a:pt x="12797" y="13691"/>
                </a:lnTo>
                <a:lnTo>
                  <a:pt x="26685" y="3673"/>
                </a:lnTo>
                <a:lnTo>
                  <a:pt x="43692" y="0"/>
                </a:lnTo>
                <a:lnTo>
                  <a:pt x="60698" y="3673"/>
                </a:lnTo>
                <a:lnTo>
                  <a:pt x="74586" y="13691"/>
                </a:lnTo>
                <a:lnTo>
                  <a:pt x="83950" y="28550"/>
                </a:lnTo>
                <a:lnTo>
                  <a:pt x="87384" y="46747"/>
                </a:lnTo>
                <a:lnTo>
                  <a:pt x="83950" y="64943"/>
                </a:lnTo>
                <a:lnTo>
                  <a:pt x="74586" y="79802"/>
                </a:lnTo>
                <a:lnTo>
                  <a:pt x="60698" y="89820"/>
                </a:lnTo>
                <a:lnTo>
                  <a:pt x="43692" y="93494"/>
                </a:lnTo>
                <a:lnTo>
                  <a:pt x="26685" y="89820"/>
                </a:lnTo>
                <a:lnTo>
                  <a:pt x="12797" y="79802"/>
                </a:lnTo>
                <a:lnTo>
                  <a:pt x="3433" y="64943"/>
                </a:lnTo>
                <a:lnTo>
                  <a:pt x="0" y="4674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937473" y="5339765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3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912491" y="5339765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265424" y="5334919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1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40441" y="5334919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62857" y="5864263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37875" y="5864263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04237" y="6337563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979254" y="6337563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260862" y="6328515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235880" y="6328515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541635" y="5656288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516652" y="5656288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02869" y="5674424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877886" y="5674424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124168" y="5984435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99185" y="5984435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258450" y="5689346"/>
            <a:ext cx="134620" cy="214629"/>
          </a:xfrm>
          <a:custGeom>
            <a:avLst/>
            <a:gdLst/>
            <a:ahLst/>
            <a:cxnLst/>
            <a:rect l="l" t="t" r="r" b="b"/>
            <a:pathLst>
              <a:path w="134620" h="214629">
                <a:moveTo>
                  <a:pt x="78175" y="147981"/>
                </a:moveTo>
                <a:lnTo>
                  <a:pt x="53632" y="162613"/>
                </a:lnTo>
                <a:lnTo>
                  <a:pt x="134345" y="214297"/>
                </a:lnTo>
                <a:lnTo>
                  <a:pt x="131008" y="169249"/>
                </a:lnTo>
                <a:lnTo>
                  <a:pt x="98303" y="169249"/>
                </a:lnTo>
                <a:lnTo>
                  <a:pt x="89532" y="167031"/>
                </a:lnTo>
                <a:lnTo>
                  <a:pt x="78175" y="147981"/>
                </a:lnTo>
                <a:close/>
              </a:path>
              <a:path w="134620" h="214629">
                <a:moveTo>
                  <a:pt x="102719" y="133348"/>
                </a:moveTo>
                <a:lnTo>
                  <a:pt x="78175" y="147981"/>
                </a:lnTo>
                <a:lnTo>
                  <a:pt x="89532" y="167031"/>
                </a:lnTo>
                <a:lnTo>
                  <a:pt x="98303" y="169249"/>
                </a:lnTo>
                <a:lnTo>
                  <a:pt x="111857" y="161168"/>
                </a:lnTo>
                <a:lnTo>
                  <a:pt x="114076" y="152398"/>
                </a:lnTo>
                <a:lnTo>
                  <a:pt x="102719" y="133348"/>
                </a:lnTo>
                <a:close/>
              </a:path>
              <a:path w="134620" h="214629">
                <a:moveTo>
                  <a:pt x="127264" y="118716"/>
                </a:moveTo>
                <a:lnTo>
                  <a:pt x="102719" y="133348"/>
                </a:lnTo>
                <a:lnTo>
                  <a:pt x="114076" y="152398"/>
                </a:lnTo>
                <a:lnTo>
                  <a:pt x="111857" y="161168"/>
                </a:lnTo>
                <a:lnTo>
                  <a:pt x="98303" y="169249"/>
                </a:lnTo>
                <a:lnTo>
                  <a:pt x="131008" y="169249"/>
                </a:lnTo>
                <a:lnTo>
                  <a:pt x="127264" y="118716"/>
                </a:lnTo>
                <a:close/>
              </a:path>
              <a:path w="134620" h="214629">
                <a:moveTo>
                  <a:pt x="15774" y="0"/>
                </a:moveTo>
                <a:lnTo>
                  <a:pt x="2219" y="8081"/>
                </a:lnTo>
                <a:lnTo>
                  <a:pt x="0" y="16851"/>
                </a:lnTo>
                <a:lnTo>
                  <a:pt x="78175" y="147981"/>
                </a:lnTo>
                <a:lnTo>
                  <a:pt x="102719" y="133348"/>
                </a:lnTo>
                <a:lnTo>
                  <a:pt x="24545" y="2218"/>
                </a:lnTo>
                <a:lnTo>
                  <a:pt x="157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254921" y="5940096"/>
            <a:ext cx="170815" cy="209550"/>
          </a:xfrm>
          <a:custGeom>
            <a:avLst/>
            <a:gdLst/>
            <a:ahLst/>
            <a:cxnLst/>
            <a:rect l="l" t="t" r="r" b="b"/>
            <a:pathLst>
              <a:path w="170814" h="209550">
                <a:moveTo>
                  <a:pt x="105781" y="58068"/>
                </a:moveTo>
                <a:lnTo>
                  <a:pt x="0" y="190519"/>
                </a:lnTo>
                <a:lnTo>
                  <a:pt x="1007" y="199509"/>
                </a:lnTo>
                <a:lnTo>
                  <a:pt x="13338" y="209358"/>
                </a:lnTo>
                <a:lnTo>
                  <a:pt x="22329" y="208351"/>
                </a:lnTo>
                <a:lnTo>
                  <a:pt x="128109" y="75900"/>
                </a:lnTo>
                <a:lnTo>
                  <a:pt x="105781" y="58068"/>
                </a:lnTo>
                <a:close/>
              </a:path>
              <a:path w="170814" h="209550">
                <a:moveTo>
                  <a:pt x="161962" y="39732"/>
                </a:moveTo>
                <a:lnTo>
                  <a:pt x="128611" y="39732"/>
                </a:lnTo>
                <a:lnTo>
                  <a:pt x="140943" y="49580"/>
                </a:lnTo>
                <a:lnTo>
                  <a:pt x="141950" y="58570"/>
                </a:lnTo>
                <a:lnTo>
                  <a:pt x="128109" y="75900"/>
                </a:lnTo>
                <a:lnTo>
                  <a:pt x="150437" y="93732"/>
                </a:lnTo>
                <a:lnTo>
                  <a:pt x="161962" y="39732"/>
                </a:lnTo>
                <a:close/>
              </a:path>
              <a:path w="170814" h="209550">
                <a:moveTo>
                  <a:pt x="128611" y="39732"/>
                </a:moveTo>
                <a:lnTo>
                  <a:pt x="119621" y="40738"/>
                </a:lnTo>
                <a:lnTo>
                  <a:pt x="105781" y="58068"/>
                </a:lnTo>
                <a:lnTo>
                  <a:pt x="128109" y="75900"/>
                </a:lnTo>
                <a:lnTo>
                  <a:pt x="141950" y="58570"/>
                </a:lnTo>
                <a:lnTo>
                  <a:pt x="140943" y="49580"/>
                </a:lnTo>
                <a:lnTo>
                  <a:pt x="128611" y="39732"/>
                </a:lnTo>
                <a:close/>
              </a:path>
              <a:path w="170814" h="209550">
                <a:moveTo>
                  <a:pt x="170441" y="0"/>
                </a:moveTo>
                <a:lnTo>
                  <a:pt x="83452" y="40236"/>
                </a:lnTo>
                <a:lnTo>
                  <a:pt x="105781" y="58068"/>
                </a:lnTo>
                <a:lnTo>
                  <a:pt x="119621" y="40738"/>
                </a:lnTo>
                <a:lnTo>
                  <a:pt x="128611" y="39732"/>
                </a:lnTo>
                <a:lnTo>
                  <a:pt x="161962" y="39732"/>
                </a:lnTo>
                <a:lnTo>
                  <a:pt x="17044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508250" y="5930915"/>
            <a:ext cx="266065" cy="85725"/>
          </a:xfrm>
          <a:custGeom>
            <a:avLst/>
            <a:gdLst/>
            <a:ahLst/>
            <a:cxnLst/>
            <a:rect l="l" t="t" r="r" b="b"/>
            <a:pathLst>
              <a:path w="266064" h="85725">
                <a:moveTo>
                  <a:pt x="85723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4" y="57150"/>
                </a:lnTo>
                <a:lnTo>
                  <a:pt x="63544" y="57149"/>
                </a:lnTo>
                <a:lnTo>
                  <a:pt x="57150" y="50753"/>
                </a:lnTo>
                <a:lnTo>
                  <a:pt x="57150" y="34971"/>
                </a:lnTo>
                <a:lnTo>
                  <a:pt x="63545" y="28575"/>
                </a:lnTo>
                <a:lnTo>
                  <a:pt x="85724" y="28575"/>
                </a:lnTo>
                <a:lnTo>
                  <a:pt x="85723" y="0"/>
                </a:lnTo>
                <a:close/>
              </a:path>
              <a:path w="266064" h="85725">
                <a:moveTo>
                  <a:pt x="85724" y="28575"/>
                </a:moveTo>
                <a:lnTo>
                  <a:pt x="71437" y="28575"/>
                </a:lnTo>
                <a:lnTo>
                  <a:pt x="63545" y="28575"/>
                </a:lnTo>
                <a:lnTo>
                  <a:pt x="57150" y="34971"/>
                </a:lnTo>
                <a:lnTo>
                  <a:pt x="57150" y="50753"/>
                </a:lnTo>
                <a:lnTo>
                  <a:pt x="63545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266064" h="85725">
                <a:moveTo>
                  <a:pt x="85724" y="57150"/>
                </a:moveTo>
                <a:lnTo>
                  <a:pt x="63545" y="57150"/>
                </a:lnTo>
                <a:lnTo>
                  <a:pt x="85724" y="57150"/>
                </a:lnTo>
                <a:close/>
              </a:path>
              <a:path w="266064" h="85725">
                <a:moveTo>
                  <a:pt x="259467" y="28574"/>
                </a:moveTo>
                <a:lnTo>
                  <a:pt x="85724" y="28575"/>
                </a:lnTo>
                <a:lnTo>
                  <a:pt x="85724" y="57150"/>
                </a:lnTo>
                <a:lnTo>
                  <a:pt x="259467" y="57149"/>
                </a:lnTo>
                <a:lnTo>
                  <a:pt x="265863" y="50753"/>
                </a:lnTo>
                <a:lnTo>
                  <a:pt x="265864" y="34971"/>
                </a:lnTo>
                <a:lnTo>
                  <a:pt x="259467" y="285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284054" y="5874920"/>
            <a:ext cx="255270" cy="0"/>
          </a:xfrm>
          <a:custGeom>
            <a:avLst/>
            <a:gdLst/>
            <a:ahLst/>
            <a:cxnLst/>
            <a:rect l="l" t="t" r="r" b="b"/>
            <a:pathLst>
              <a:path w="255270" h="0">
                <a:moveTo>
                  <a:pt x="0" y="0"/>
                </a:moveTo>
                <a:lnTo>
                  <a:pt x="254744" y="1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613386" y="5907975"/>
            <a:ext cx="179070" cy="244475"/>
          </a:xfrm>
          <a:custGeom>
            <a:avLst/>
            <a:gdLst/>
            <a:ahLst/>
            <a:cxnLst/>
            <a:rect l="l" t="t" r="r" b="b"/>
            <a:pathLst>
              <a:path w="179070" h="244475">
                <a:moveTo>
                  <a:pt x="178613" y="244026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813422" y="6182917"/>
            <a:ext cx="173355" cy="0"/>
          </a:xfrm>
          <a:custGeom>
            <a:avLst/>
            <a:gdLst/>
            <a:ahLst/>
            <a:cxnLst/>
            <a:rect l="l" t="t" r="r" b="b"/>
            <a:pathLst>
              <a:path w="173354" h="0">
                <a:moveTo>
                  <a:pt x="173060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590702" y="5929910"/>
            <a:ext cx="151765" cy="219075"/>
          </a:xfrm>
          <a:custGeom>
            <a:avLst/>
            <a:gdLst/>
            <a:ahLst/>
            <a:cxnLst/>
            <a:rect l="l" t="t" r="r" b="b"/>
            <a:pathLst>
              <a:path w="151764" h="219075">
                <a:moveTo>
                  <a:pt x="151395" y="218442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590702" y="5608025"/>
            <a:ext cx="126364" cy="253365"/>
          </a:xfrm>
          <a:custGeom>
            <a:avLst/>
            <a:gdLst/>
            <a:ahLst/>
            <a:cxnLst/>
            <a:rect l="l" t="t" r="r" b="b"/>
            <a:pathLst>
              <a:path w="126364" h="253364">
                <a:moveTo>
                  <a:pt x="0" y="252751"/>
                </a:moveTo>
                <a:lnTo>
                  <a:pt x="125989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057809" y="5923805"/>
            <a:ext cx="184785" cy="224790"/>
          </a:xfrm>
          <a:custGeom>
            <a:avLst/>
            <a:gdLst/>
            <a:ahLst/>
            <a:cxnLst/>
            <a:rect l="l" t="t" r="r" b="b"/>
            <a:pathLst>
              <a:path w="184785" h="224789">
                <a:moveTo>
                  <a:pt x="0" y="224547"/>
                </a:moveTo>
                <a:lnTo>
                  <a:pt x="184462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57810" y="5601493"/>
            <a:ext cx="154940" cy="239395"/>
          </a:xfrm>
          <a:custGeom>
            <a:avLst/>
            <a:gdLst/>
            <a:ahLst/>
            <a:cxnLst/>
            <a:rect l="l" t="t" r="r" b="b"/>
            <a:pathLst>
              <a:path w="154939" h="239395">
                <a:moveTo>
                  <a:pt x="154918" y="23886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788018" y="5566926"/>
            <a:ext cx="198755" cy="6985"/>
          </a:xfrm>
          <a:custGeom>
            <a:avLst/>
            <a:gdLst/>
            <a:ahLst/>
            <a:cxnLst/>
            <a:rect l="l" t="t" r="r" b="b"/>
            <a:pathLst>
              <a:path w="198754" h="6985">
                <a:moveTo>
                  <a:pt x="198466" y="0"/>
                </a:moveTo>
                <a:lnTo>
                  <a:pt x="0" y="6533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704452" y="5524574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5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7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1" y="67911"/>
                </a:lnTo>
                <a:lnTo>
                  <a:pt x="83564" y="48883"/>
                </a:lnTo>
                <a:lnTo>
                  <a:pt x="80281" y="29855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986484" y="5518041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5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8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5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200489" y="5826035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2" y="0"/>
                </a:moveTo>
                <a:lnTo>
                  <a:pt x="25519" y="3841"/>
                </a:lnTo>
                <a:lnTo>
                  <a:pt x="12238" y="14317"/>
                </a:lnTo>
                <a:lnTo>
                  <a:pt x="3283" y="29856"/>
                </a:lnTo>
                <a:lnTo>
                  <a:pt x="0" y="48884"/>
                </a:lnTo>
                <a:lnTo>
                  <a:pt x="3283" y="67911"/>
                </a:lnTo>
                <a:lnTo>
                  <a:pt x="12238" y="83450"/>
                </a:lnTo>
                <a:lnTo>
                  <a:pt x="25519" y="93926"/>
                </a:lnTo>
                <a:lnTo>
                  <a:pt x="41782" y="97768"/>
                </a:lnTo>
                <a:lnTo>
                  <a:pt x="58046" y="93926"/>
                </a:lnTo>
                <a:lnTo>
                  <a:pt x="71326" y="83450"/>
                </a:lnTo>
                <a:lnTo>
                  <a:pt x="80281" y="67911"/>
                </a:lnTo>
                <a:lnTo>
                  <a:pt x="83564" y="48884"/>
                </a:lnTo>
                <a:lnTo>
                  <a:pt x="80281" y="29856"/>
                </a:lnTo>
                <a:lnTo>
                  <a:pt x="71326" y="14317"/>
                </a:lnTo>
                <a:lnTo>
                  <a:pt x="58046" y="3841"/>
                </a:lnTo>
                <a:lnTo>
                  <a:pt x="4178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519376" y="5846459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7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729859" y="613403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8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986484" y="6134033"/>
            <a:ext cx="83820" cy="97790"/>
          </a:xfrm>
          <a:custGeom>
            <a:avLst/>
            <a:gdLst/>
            <a:ahLst/>
            <a:cxnLst/>
            <a:rect l="l" t="t" r="r" b="b"/>
            <a:pathLst>
              <a:path w="83820" h="97789">
                <a:moveTo>
                  <a:pt x="41781" y="0"/>
                </a:moveTo>
                <a:lnTo>
                  <a:pt x="25518" y="3841"/>
                </a:lnTo>
                <a:lnTo>
                  <a:pt x="12237" y="14317"/>
                </a:lnTo>
                <a:lnTo>
                  <a:pt x="3283" y="29856"/>
                </a:lnTo>
                <a:lnTo>
                  <a:pt x="0" y="48883"/>
                </a:lnTo>
                <a:lnTo>
                  <a:pt x="3283" y="67911"/>
                </a:lnTo>
                <a:lnTo>
                  <a:pt x="12237" y="83450"/>
                </a:lnTo>
                <a:lnTo>
                  <a:pt x="25518" y="93926"/>
                </a:lnTo>
                <a:lnTo>
                  <a:pt x="41781" y="97768"/>
                </a:lnTo>
                <a:lnTo>
                  <a:pt x="58045" y="93926"/>
                </a:lnTo>
                <a:lnTo>
                  <a:pt x="71326" y="83450"/>
                </a:lnTo>
                <a:lnTo>
                  <a:pt x="80280" y="67911"/>
                </a:lnTo>
                <a:lnTo>
                  <a:pt x="83563" y="48883"/>
                </a:lnTo>
                <a:lnTo>
                  <a:pt x="80280" y="29856"/>
                </a:lnTo>
                <a:lnTo>
                  <a:pt x="71326" y="14317"/>
                </a:lnTo>
                <a:lnTo>
                  <a:pt x="58045" y="3841"/>
                </a:lnTo>
                <a:lnTo>
                  <a:pt x="4178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779201" y="6138308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43693" y="0"/>
                </a:moveTo>
                <a:lnTo>
                  <a:pt x="26685" y="3673"/>
                </a:lnTo>
                <a:lnTo>
                  <a:pt x="12797" y="13691"/>
                </a:lnTo>
                <a:lnTo>
                  <a:pt x="3433" y="28550"/>
                </a:lnTo>
                <a:lnTo>
                  <a:pt x="0" y="46746"/>
                </a:lnTo>
                <a:lnTo>
                  <a:pt x="3433" y="64942"/>
                </a:lnTo>
                <a:lnTo>
                  <a:pt x="12797" y="79802"/>
                </a:lnTo>
                <a:lnTo>
                  <a:pt x="26685" y="89820"/>
                </a:lnTo>
                <a:lnTo>
                  <a:pt x="43693" y="93493"/>
                </a:lnTo>
                <a:lnTo>
                  <a:pt x="60699" y="89820"/>
                </a:lnTo>
                <a:lnTo>
                  <a:pt x="74587" y="79802"/>
                </a:lnTo>
                <a:lnTo>
                  <a:pt x="83951" y="64942"/>
                </a:lnTo>
                <a:lnTo>
                  <a:pt x="87384" y="46746"/>
                </a:lnTo>
                <a:lnTo>
                  <a:pt x="83951" y="28550"/>
                </a:lnTo>
                <a:lnTo>
                  <a:pt x="74587" y="13691"/>
                </a:lnTo>
                <a:lnTo>
                  <a:pt x="60699" y="3673"/>
                </a:lnTo>
                <a:lnTo>
                  <a:pt x="436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538798" y="5828172"/>
            <a:ext cx="87630" cy="93980"/>
          </a:xfrm>
          <a:custGeom>
            <a:avLst/>
            <a:gdLst/>
            <a:ahLst/>
            <a:cxnLst/>
            <a:rect l="l" t="t" r="r" b="b"/>
            <a:pathLst>
              <a:path w="87629" h="93979">
                <a:moveTo>
                  <a:pt x="43691" y="0"/>
                </a:moveTo>
                <a:lnTo>
                  <a:pt x="26685" y="3673"/>
                </a:lnTo>
                <a:lnTo>
                  <a:pt x="12797" y="13691"/>
                </a:lnTo>
                <a:lnTo>
                  <a:pt x="3433" y="28550"/>
                </a:lnTo>
                <a:lnTo>
                  <a:pt x="0" y="46747"/>
                </a:lnTo>
                <a:lnTo>
                  <a:pt x="3433" y="64943"/>
                </a:lnTo>
                <a:lnTo>
                  <a:pt x="12797" y="79802"/>
                </a:lnTo>
                <a:lnTo>
                  <a:pt x="26685" y="89820"/>
                </a:lnTo>
                <a:lnTo>
                  <a:pt x="43691" y="93493"/>
                </a:lnTo>
                <a:lnTo>
                  <a:pt x="60699" y="89820"/>
                </a:lnTo>
                <a:lnTo>
                  <a:pt x="74587" y="79802"/>
                </a:lnTo>
                <a:lnTo>
                  <a:pt x="83951" y="64943"/>
                </a:lnTo>
                <a:lnTo>
                  <a:pt x="87384" y="46747"/>
                </a:lnTo>
                <a:lnTo>
                  <a:pt x="83951" y="28550"/>
                </a:lnTo>
                <a:lnTo>
                  <a:pt x="74587" y="13691"/>
                </a:lnTo>
                <a:lnTo>
                  <a:pt x="60699" y="3673"/>
                </a:lnTo>
                <a:lnTo>
                  <a:pt x="43691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704876" y="5305035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3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79893" y="5305035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032827" y="5300188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3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007844" y="5300188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430260" y="5829534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405277" y="5829534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771639" y="6302833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746657" y="6302833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028265" y="6293785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003282" y="6293785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309037" y="5621558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6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284054" y="5621558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4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670271" y="5639694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645288" y="5639694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5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891569" y="5949704"/>
            <a:ext cx="0" cy="159385"/>
          </a:xfrm>
          <a:custGeom>
            <a:avLst/>
            <a:gdLst/>
            <a:ahLst/>
            <a:cxnLst/>
            <a:rect l="l" t="t" r="r" b="b"/>
            <a:pathLst>
              <a:path w="0" h="159385">
                <a:moveTo>
                  <a:pt x="0" y="0"/>
                </a:moveTo>
                <a:lnTo>
                  <a:pt x="0" y="159352"/>
                </a:lnTo>
              </a:path>
            </a:pathLst>
          </a:custGeom>
          <a:ln w="4996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866586" y="5949704"/>
            <a:ext cx="50165" cy="159385"/>
          </a:xfrm>
          <a:custGeom>
            <a:avLst/>
            <a:gdLst/>
            <a:ahLst/>
            <a:cxnLst/>
            <a:rect l="l" t="t" r="r" b="b"/>
            <a:pathLst>
              <a:path w="50165" h="159385">
                <a:moveTo>
                  <a:pt x="0" y="0"/>
                </a:moveTo>
                <a:lnTo>
                  <a:pt x="49966" y="0"/>
                </a:lnTo>
                <a:lnTo>
                  <a:pt x="49966" y="159353"/>
                </a:lnTo>
                <a:lnTo>
                  <a:pt x="0" y="15935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786838" y="5780179"/>
            <a:ext cx="450850" cy="281305"/>
          </a:xfrm>
          <a:custGeom>
            <a:avLst/>
            <a:gdLst/>
            <a:ahLst/>
            <a:cxnLst/>
            <a:rect l="l" t="t" r="r" b="b"/>
            <a:pathLst>
              <a:path w="450850" h="281304">
                <a:moveTo>
                  <a:pt x="310247" y="0"/>
                </a:moveTo>
                <a:lnTo>
                  <a:pt x="310247" y="89331"/>
                </a:lnTo>
                <a:lnTo>
                  <a:pt x="0" y="89331"/>
                </a:lnTo>
                <a:lnTo>
                  <a:pt x="0" y="191553"/>
                </a:lnTo>
                <a:lnTo>
                  <a:pt x="310247" y="191553"/>
                </a:lnTo>
                <a:lnTo>
                  <a:pt x="310247" y="280885"/>
                </a:lnTo>
                <a:lnTo>
                  <a:pt x="450688" y="140442"/>
                </a:lnTo>
                <a:lnTo>
                  <a:pt x="3102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786838" y="5780179"/>
            <a:ext cx="450850" cy="281305"/>
          </a:xfrm>
          <a:custGeom>
            <a:avLst/>
            <a:gdLst/>
            <a:ahLst/>
            <a:cxnLst/>
            <a:rect l="l" t="t" r="r" b="b"/>
            <a:pathLst>
              <a:path w="450850" h="281304">
                <a:moveTo>
                  <a:pt x="0" y="89331"/>
                </a:moveTo>
                <a:lnTo>
                  <a:pt x="310246" y="89331"/>
                </a:lnTo>
                <a:lnTo>
                  <a:pt x="310246" y="0"/>
                </a:lnTo>
                <a:lnTo>
                  <a:pt x="450689" y="140442"/>
                </a:lnTo>
                <a:lnTo>
                  <a:pt x="310246" y="280885"/>
                </a:lnTo>
                <a:lnTo>
                  <a:pt x="310246" y="191553"/>
                </a:lnTo>
                <a:lnTo>
                  <a:pt x="0" y="191553"/>
                </a:lnTo>
                <a:lnTo>
                  <a:pt x="0" y="89331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455466" y="5743733"/>
            <a:ext cx="450850" cy="281305"/>
          </a:xfrm>
          <a:custGeom>
            <a:avLst/>
            <a:gdLst/>
            <a:ahLst/>
            <a:cxnLst/>
            <a:rect l="l" t="t" r="r" b="b"/>
            <a:pathLst>
              <a:path w="450850" h="281304">
                <a:moveTo>
                  <a:pt x="310247" y="0"/>
                </a:moveTo>
                <a:lnTo>
                  <a:pt x="310247" y="89331"/>
                </a:lnTo>
                <a:lnTo>
                  <a:pt x="0" y="89331"/>
                </a:lnTo>
                <a:lnTo>
                  <a:pt x="0" y="191553"/>
                </a:lnTo>
                <a:lnTo>
                  <a:pt x="310247" y="191553"/>
                </a:lnTo>
                <a:lnTo>
                  <a:pt x="310247" y="280885"/>
                </a:lnTo>
                <a:lnTo>
                  <a:pt x="450688" y="140442"/>
                </a:lnTo>
                <a:lnTo>
                  <a:pt x="3102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455466" y="5743733"/>
            <a:ext cx="450850" cy="281305"/>
          </a:xfrm>
          <a:custGeom>
            <a:avLst/>
            <a:gdLst/>
            <a:ahLst/>
            <a:cxnLst/>
            <a:rect l="l" t="t" r="r" b="b"/>
            <a:pathLst>
              <a:path w="450850" h="281304">
                <a:moveTo>
                  <a:pt x="0" y="89331"/>
                </a:moveTo>
                <a:lnTo>
                  <a:pt x="310246" y="89331"/>
                </a:lnTo>
                <a:lnTo>
                  <a:pt x="310246" y="0"/>
                </a:lnTo>
                <a:lnTo>
                  <a:pt x="450689" y="140442"/>
                </a:lnTo>
                <a:lnTo>
                  <a:pt x="310246" y="280885"/>
                </a:lnTo>
                <a:lnTo>
                  <a:pt x="310246" y="191553"/>
                </a:lnTo>
                <a:lnTo>
                  <a:pt x="0" y="191553"/>
                </a:lnTo>
                <a:lnTo>
                  <a:pt x="0" y="89331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888782" y="4900152"/>
            <a:ext cx="467359" cy="358140"/>
          </a:xfrm>
          <a:custGeom>
            <a:avLst/>
            <a:gdLst/>
            <a:ahLst/>
            <a:cxnLst/>
            <a:rect l="l" t="t" r="r" b="b"/>
            <a:pathLst>
              <a:path w="467360" h="358139">
                <a:moveTo>
                  <a:pt x="178911" y="268376"/>
                </a:moveTo>
                <a:lnTo>
                  <a:pt x="0" y="268376"/>
                </a:lnTo>
                <a:lnTo>
                  <a:pt x="77062" y="357831"/>
                </a:lnTo>
                <a:lnTo>
                  <a:pt x="178911" y="268376"/>
                </a:lnTo>
                <a:close/>
              </a:path>
              <a:path w="467360" h="358139">
                <a:moveTo>
                  <a:pt x="419315" y="0"/>
                </a:moveTo>
                <a:lnTo>
                  <a:pt x="372230" y="2955"/>
                </a:lnTo>
                <a:lnTo>
                  <a:pt x="326518" y="10975"/>
                </a:lnTo>
                <a:lnTo>
                  <a:pt x="282589" y="23802"/>
                </a:lnTo>
                <a:lnTo>
                  <a:pt x="240855" y="41177"/>
                </a:lnTo>
                <a:lnTo>
                  <a:pt x="201727" y="62840"/>
                </a:lnTo>
                <a:lnTo>
                  <a:pt x="165617" y="88533"/>
                </a:lnTo>
                <a:lnTo>
                  <a:pt x="132935" y="117996"/>
                </a:lnTo>
                <a:lnTo>
                  <a:pt x="104094" y="150971"/>
                </a:lnTo>
                <a:lnTo>
                  <a:pt x="79505" y="187199"/>
                </a:lnTo>
                <a:lnTo>
                  <a:pt x="59579" y="226420"/>
                </a:lnTo>
                <a:lnTo>
                  <a:pt x="44728" y="268376"/>
                </a:lnTo>
                <a:lnTo>
                  <a:pt x="134183" y="268376"/>
                </a:lnTo>
                <a:lnTo>
                  <a:pt x="150958" y="222068"/>
                </a:lnTo>
                <a:lnTo>
                  <a:pt x="174027" y="178965"/>
                </a:lnTo>
                <a:lnTo>
                  <a:pt x="202860" y="139487"/>
                </a:lnTo>
                <a:lnTo>
                  <a:pt x="236930" y="104057"/>
                </a:lnTo>
                <a:lnTo>
                  <a:pt x="275709" y="73096"/>
                </a:lnTo>
                <a:lnTo>
                  <a:pt x="318670" y="47025"/>
                </a:lnTo>
                <a:lnTo>
                  <a:pt x="365283" y="26266"/>
                </a:lnTo>
                <a:lnTo>
                  <a:pt x="415023" y="11240"/>
                </a:lnTo>
                <a:lnTo>
                  <a:pt x="467359" y="2369"/>
                </a:lnTo>
                <a:lnTo>
                  <a:pt x="41931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311415" y="4900164"/>
            <a:ext cx="480059" cy="358140"/>
          </a:xfrm>
          <a:custGeom>
            <a:avLst/>
            <a:gdLst/>
            <a:ahLst/>
            <a:cxnLst/>
            <a:rect l="l" t="t" r="r" b="b"/>
            <a:pathLst>
              <a:path w="480060" h="358139">
                <a:moveTo>
                  <a:pt x="89454" y="0"/>
                </a:moveTo>
                <a:lnTo>
                  <a:pt x="0" y="0"/>
                </a:lnTo>
                <a:lnTo>
                  <a:pt x="48958" y="2787"/>
                </a:lnTo>
                <a:lnTo>
                  <a:pt x="96101" y="10928"/>
                </a:lnTo>
                <a:lnTo>
                  <a:pt x="141064" y="24085"/>
                </a:lnTo>
                <a:lnTo>
                  <a:pt x="183481" y="41924"/>
                </a:lnTo>
                <a:lnTo>
                  <a:pt x="222985" y="64109"/>
                </a:lnTo>
                <a:lnTo>
                  <a:pt x="259212" y="90305"/>
                </a:lnTo>
                <a:lnTo>
                  <a:pt x="291795" y="120177"/>
                </a:lnTo>
                <a:lnTo>
                  <a:pt x="320369" y="153389"/>
                </a:lnTo>
                <a:lnTo>
                  <a:pt x="344568" y="189607"/>
                </a:lnTo>
                <a:lnTo>
                  <a:pt x="364026" y="228494"/>
                </a:lnTo>
                <a:lnTo>
                  <a:pt x="378377" y="269715"/>
                </a:lnTo>
                <a:lnTo>
                  <a:pt x="387256" y="312935"/>
                </a:lnTo>
                <a:lnTo>
                  <a:pt x="390297" y="357819"/>
                </a:lnTo>
                <a:lnTo>
                  <a:pt x="479752" y="357819"/>
                </a:lnTo>
                <a:lnTo>
                  <a:pt x="476711" y="312935"/>
                </a:lnTo>
                <a:lnTo>
                  <a:pt x="467832" y="269715"/>
                </a:lnTo>
                <a:lnTo>
                  <a:pt x="453481" y="228494"/>
                </a:lnTo>
                <a:lnTo>
                  <a:pt x="434023" y="189607"/>
                </a:lnTo>
                <a:lnTo>
                  <a:pt x="409824" y="153389"/>
                </a:lnTo>
                <a:lnTo>
                  <a:pt x="381250" y="120177"/>
                </a:lnTo>
                <a:lnTo>
                  <a:pt x="348667" y="90305"/>
                </a:lnTo>
                <a:lnTo>
                  <a:pt x="312440" y="64109"/>
                </a:lnTo>
                <a:lnTo>
                  <a:pt x="272936" y="41924"/>
                </a:lnTo>
                <a:lnTo>
                  <a:pt x="230519" y="24085"/>
                </a:lnTo>
                <a:lnTo>
                  <a:pt x="185556" y="10928"/>
                </a:lnTo>
                <a:lnTo>
                  <a:pt x="138413" y="2787"/>
                </a:lnTo>
                <a:lnTo>
                  <a:pt x="89454" y="0"/>
                </a:lnTo>
                <a:close/>
              </a:path>
            </a:pathLst>
          </a:custGeom>
          <a:solidFill>
            <a:srgbClr val="75A7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888782" y="4900164"/>
            <a:ext cx="902969" cy="358140"/>
          </a:xfrm>
          <a:custGeom>
            <a:avLst/>
            <a:gdLst/>
            <a:ahLst/>
            <a:cxnLst/>
            <a:rect l="l" t="t" r="r" b="b"/>
            <a:pathLst>
              <a:path w="902970" h="358139">
                <a:moveTo>
                  <a:pt x="467359" y="2357"/>
                </a:moveTo>
                <a:lnTo>
                  <a:pt x="415022" y="11228"/>
                </a:lnTo>
                <a:lnTo>
                  <a:pt x="365283" y="26254"/>
                </a:lnTo>
                <a:lnTo>
                  <a:pt x="318669" y="47014"/>
                </a:lnTo>
                <a:lnTo>
                  <a:pt x="275708" y="73084"/>
                </a:lnTo>
                <a:lnTo>
                  <a:pt x="236929" y="104046"/>
                </a:lnTo>
                <a:lnTo>
                  <a:pt x="202859" y="139476"/>
                </a:lnTo>
                <a:lnTo>
                  <a:pt x="174026" y="178953"/>
                </a:lnTo>
                <a:lnTo>
                  <a:pt x="150957" y="222056"/>
                </a:lnTo>
                <a:lnTo>
                  <a:pt x="134182" y="268364"/>
                </a:lnTo>
                <a:lnTo>
                  <a:pt x="178910" y="268364"/>
                </a:lnTo>
                <a:lnTo>
                  <a:pt x="77062" y="357820"/>
                </a:lnTo>
                <a:lnTo>
                  <a:pt x="0" y="268364"/>
                </a:lnTo>
                <a:lnTo>
                  <a:pt x="44727" y="268364"/>
                </a:lnTo>
                <a:lnTo>
                  <a:pt x="61315" y="222460"/>
                </a:lnTo>
                <a:lnTo>
                  <a:pt x="84029" y="179789"/>
                </a:lnTo>
                <a:lnTo>
                  <a:pt x="112339" y="140727"/>
                </a:lnTo>
                <a:lnTo>
                  <a:pt x="145714" y="105651"/>
                </a:lnTo>
                <a:lnTo>
                  <a:pt x="183624" y="74938"/>
                </a:lnTo>
                <a:lnTo>
                  <a:pt x="225538" y="48965"/>
                </a:lnTo>
                <a:lnTo>
                  <a:pt x="270927" y="28107"/>
                </a:lnTo>
                <a:lnTo>
                  <a:pt x="319259" y="12743"/>
                </a:lnTo>
                <a:lnTo>
                  <a:pt x="370004" y="3248"/>
                </a:lnTo>
                <a:lnTo>
                  <a:pt x="422632" y="0"/>
                </a:lnTo>
                <a:lnTo>
                  <a:pt x="512087" y="0"/>
                </a:lnTo>
                <a:lnTo>
                  <a:pt x="561045" y="2788"/>
                </a:lnTo>
                <a:lnTo>
                  <a:pt x="608188" y="10928"/>
                </a:lnTo>
                <a:lnTo>
                  <a:pt x="653151" y="24085"/>
                </a:lnTo>
                <a:lnTo>
                  <a:pt x="695568" y="41924"/>
                </a:lnTo>
                <a:lnTo>
                  <a:pt x="735073" y="64109"/>
                </a:lnTo>
                <a:lnTo>
                  <a:pt x="771300" y="90305"/>
                </a:lnTo>
                <a:lnTo>
                  <a:pt x="803883" y="120177"/>
                </a:lnTo>
                <a:lnTo>
                  <a:pt x="832457" y="153389"/>
                </a:lnTo>
                <a:lnTo>
                  <a:pt x="856656" y="189607"/>
                </a:lnTo>
                <a:lnTo>
                  <a:pt x="876114" y="228494"/>
                </a:lnTo>
                <a:lnTo>
                  <a:pt x="890465" y="269715"/>
                </a:lnTo>
                <a:lnTo>
                  <a:pt x="899344" y="312936"/>
                </a:lnTo>
                <a:lnTo>
                  <a:pt x="902385" y="357820"/>
                </a:lnTo>
                <a:lnTo>
                  <a:pt x="812930" y="357820"/>
                </a:lnTo>
                <a:lnTo>
                  <a:pt x="809889" y="312936"/>
                </a:lnTo>
                <a:lnTo>
                  <a:pt x="801010" y="269715"/>
                </a:lnTo>
                <a:lnTo>
                  <a:pt x="786659" y="228494"/>
                </a:lnTo>
                <a:lnTo>
                  <a:pt x="767201" y="189607"/>
                </a:lnTo>
                <a:lnTo>
                  <a:pt x="743002" y="153389"/>
                </a:lnTo>
                <a:lnTo>
                  <a:pt x="714428" y="120177"/>
                </a:lnTo>
                <a:lnTo>
                  <a:pt x="681845" y="90305"/>
                </a:lnTo>
                <a:lnTo>
                  <a:pt x="645618" y="64109"/>
                </a:lnTo>
                <a:lnTo>
                  <a:pt x="606113" y="41924"/>
                </a:lnTo>
                <a:lnTo>
                  <a:pt x="563696" y="24085"/>
                </a:lnTo>
                <a:lnTo>
                  <a:pt x="518733" y="10928"/>
                </a:lnTo>
                <a:lnTo>
                  <a:pt x="471590" y="2788"/>
                </a:lnTo>
                <a:lnTo>
                  <a:pt x="422632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216840" y="4884165"/>
            <a:ext cx="1837055" cy="414655"/>
          </a:xfrm>
          <a:custGeom>
            <a:avLst/>
            <a:gdLst/>
            <a:ahLst/>
            <a:cxnLst/>
            <a:rect l="l" t="t" r="r" b="b"/>
            <a:pathLst>
              <a:path w="1837054" h="414654">
                <a:moveTo>
                  <a:pt x="0" y="414520"/>
                </a:moveTo>
                <a:lnTo>
                  <a:pt x="2714" y="333845"/>
                </a:lnTo>
                <a:lnTo>
                  <a:pt x="10117" y="267965"/>
                </a:lnTo>
                <a:lnTo>
                  <a:pt x="21096" y="223547"/>
                </a:lnTo>
                <a:lnTo>
                  <a:pt x="34541" y="207260"/>
                </a:lnTo>
                <a:lnTo>
                  <a:pt x="883887" y="207260"/>
                </a:lnTo>
                <a:lnTo>
                  <a:pt x="897332" y="190972"/>
                </a:lnTo>
                <a:lnTo>
                  <a:pt x="908312" y="146554"/>
                </a:lnTo>
                <a:lnTo>
                  <a:pt x="915714" y="80674"/>
                </a:lnTo>
                <a:lnTo>
                  <a:pt x="918429" y="0"/>
                </a:lnTo>
                <a:lnTo>
                  <a:pt x="921143" y="80674"/>
                </a:lnTo>
                <a:lnTo>
                  <a:pt x="928545" y="146554"/>
                </a:lnTo>
                <a:lnTo>
                  <a:pt x="939525" y="190972"/>
                </a:lnTo>
                <a:lnTo>
                  <a:pt x="952970" y="207260"/>
                </a:lnTo>
                <a:lnTo>
                  <a:pt x="1802316" y="207260"/>
                </a:lnTo>
                <a:lnTo>
                  <a:pt x="1815761" y="223547"/>
                </a:lnTo>
                <a:lnTo>
                  <a:pt x="1826741" y="267965"/>
                </a:lnTo>
                <a:lnTo>
                  <a:pt x="1834143" y="333845"/>
                </a:lnTo>
                <a:lnTo>
                  <a:pt x="1836858" y="414520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082289" y="4266398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10" h="474345">
                <a:moveTo>
                  <a:pt x="0" y="0"/>
                </a:moveTo>
                <a:lnTo>
                  <a:pt x="130439" y="0"/>
                </a:lnTo>
                <a:lnTo>
                  <a:pt x="130439" y="474035"/>
                </a:lnTo>
                <a:lnTo>
                  <a:pt x="0" y="47403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082289" y="4266398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10" h="474345">
                <a:moveTo>
                  <a:pt x="0" y="0"/>
                </a:moveTo>
                <a:lnTo>
                  <a:pt x="130440" y="0"/>
                </a:lnTo>
                <a:lnTo>
                  <a:pt x="130440" y="474035"/>
                </a:lnTo>
                <a:lnTo>
                  <a:pt x="0" y="4740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2701095" y="4282947"/>
            <a:ext cx="17316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Iterative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neighbor  aggregation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345224" y="4751323"/>
            <a:ext cx="520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D60093"/>
                </a:solidFill>
                <a:latin typeface="Arial"/>
                <a:cs typeface="Arial"/>
              </a:rPr>
              <a:t>Pool</a:t>
            </a:r>
            <a:endParaRPr sz="18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597055" y="3494532"/>
            <a:ext cx="2976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latin typeface="Arial"/>
                <a:cs typeface="Arial"/>
              </a:rPr>
              <a:t>Diverse pre-training labels  from chemical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database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6196433" y="3591947"/>
            <a:ext cx="1465580" cy="928369"/>
          </a:xfrm>
          <a:custGeom>
            <a:avLst/>
            <a:gdLst/>
            <a:ahLst/>
            <a:cxnLst/>
            <a:rect l="l" t="t" r="r" b="b"/>
            <a:pathLst>
              <a:path w="1465579" h="928370">
                <a:moveTo>
                  <a:pt x="1385320" y="33546"/>
                </a:moveTo>
                <a:lnTo>
                  <a:pt x="2009" y="903575"/>
                </a:lnTo>
                <a:lnTo>
                  <a:pt x="0" y="912397"/>
                </a:lnTo>
                <a:lnTo>
                  <a:pt x="8402" y="925756"/>
                </a:lnTo>
                <a:lnTo>
                  <a:pt x="17222" y="927765"/>
                </a:lnTo>
                <a:lnTo>
                  <a:pt x="1400533" y="57735"/>
                </a:lnTo>
                <a:lnTo>
                  <a:pt x="1385320" y="33546"/>
                </a:lnTo>
                <a:close/>
              </a:path>
              <a:path w="1465579" h="928370">
                <a:moveTo>
                  <a:pt x="1452292" y="21738"/>
                </a:moveTo>
                <a:lnTo>
                  <a:pt x="1404094" y="21738"/>
                </a:lnTo>
                <a:lnTo>
                  <a:pt x="1412914" y="23747"/>
                </a:lnTo>
                <a:lnTo>
                  <a:pt x="1421316" y="37106"/>
                </a:lnTo>
                <a:lnTo>
                  <a:pt x="1419307" y="45927"/>
                </a:lnTo>
                <a:lnTo>
                  <a:pt x="1400533" y="57735"/>
                </a:lnTo>
                <a:lnTo>
                  <a:pt x="1415746" y="81923"/>
                </a:lnTo>
                <a:lnTo>
                  <a:pt x="1452292" y="21738"/>
                </a:lnTo>
                <a:close/>
              </a:path>
              <a:path w="1465579" h="928370">
                <a:moveTo>
                  <a:pt x="1404094" y="21738"/>
                </a:moveTo>
                <a:lnTo>
                  <a:pt x="1385320" y="33546"/>
                </a:lnTo>
                <a:lnTo>
                  <a:pt x="1400533" y="57735"/>
                </a:lnTo>
                <a:lnTo>
                  <a:pt x="1419307" y="45927"/>
                </a:lnTo>
                <a:lnTo>
                  <a:pt x="1421316" y="37106"/>
                </a:lnTo>
                <a:lnTo>
                  <a:pt x="1412914" y="23747"/>
                </a:lnTo>
                <a:lnTo>
                  <a:pt x="1404094" y="21738"/>
                </a:lnTo>
                <a:close/>
              </a:path>
              <a:path w="1465579" h="928370">
                <a:moveTo>
                  <a:pt x="1465492" y="0"/>
                </a:moveTo>
                <a:lnTo>
                  <a:pt x="1370106" y="9357"/>
                </a:lnTo>
                <a:lnTo>
                  <a:pt x="1385320" y="33546"/>
                </a:lnTo>
                <a:lnTo>
                  <a:pt x="1404094" y="21738"/>
                </a:lnTo>
                <a:lnTo>
                  <a:pt x="1452292" y="21738"/>
                </a:lnTo>
                <a:lnTo>
                  <a:pt x="14654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7740665" y="4011676"/>
            <a:ext cx="995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>
                <a:latin typeface="Arial"/>
                <a:cs typeface="Arial"/>
              </a:rPr>
              <a:t>Toxicity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B?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576051" y="4791964"/>
            <a:ext cx="1243330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080">
              <a:lnSpc>
                <a:spcPct val="1575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Bioactivity</a:t>
            </a:r>
            <a:r>
              <a:rPr dirty="0" sz="1600" spc="-15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A?  Bioactivity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B?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998716" y="5723635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6196974" y="4126926"/>
            <a:ext cx="1465580" cy="392430"/>
          </a:xfrm>
          <a:custGeom>
            <a:avLst/>
            <a:gdLst/>
            <a:ahLst/>
            <a:cxnLst/>
            <a:rect l="l" t="t" r="r" b="b"/>
            <a:pathLst>
              <a:path w="1465579" h="392429">
                <a:moveTo>
                  <a:pt x="1378289" y="27753"/>
                </a:moveTo>
                <a:lnTo>
                  <a:pt x="4688" y="364492"/>
                </a:lnTo>
                <a:lnTo>
                  <a:pt x="0" y="372229"/>
                </a:lnTo>
                <a:lnTo>
                  <a:pt x="3756" y="387557"/>
                </a:lnTo>
                <a:lnTo>
                  <a:pt x="11493" y="392245"/>
                </a:lnTo>
                <a:lnTo>
                  <a:pt x="1385093" y="55505"/>
                </a:lnTo>
                <a:lnTo>
                  <a:pt x="1378289" y="27753"/>
                </a:lnTo>
                <a:close/>
              </a:path>
              <a:path w="1465579" h="392429">
                <a:moveTo>
                  <a:pt x="1463473" y="22472"/>
                </a:moveTo>
                <a:lnTo>
                  <a:pt x="1399829" y="22472"/>
                </a:lnTo>
                <a:lnTo>
                  <a:pt x="1407565" y="27161"/>
                </a:lnTo>
                <a:lnTo>
                  <a:pt x="1411323" y="42489"/>
                </a:lnTo>
                <a:lnTo>
                  <a:pt x="1406632" y="50224"/>
                </a:lnTo>
                <a:lnTo>
                  <a:pt x="1385093" y="55505"/>
                </a:lnTo>
                <a:lnTo>
                  <a:pt x="1391897" y="83258"/>
                </a:lnTo>
                <a:lnTo>
                  <a:pt x="1463473" y="22472"/>
                </a:lnTo>
                <a:close/>
              </a:path>
              <a:path w="1465579" h="392429">
                <a:moveTo>
                  <a:pt x="1399829" y="22472"/>
                </a:moveTo>
                <a:lnTo>
                  <a:pt x="1378289" y="27753"/>
                </a:lnTo>
                <a:lnTo>
                  <a:pt x="1385093" y="55505"/>
                </a:lnTo>
                <a:lnTo>
                  <a:pt x="1406632" y="50224"/>
                </a:lnTo>
                <a:lnTo>
                  <a:pt x="1411323" y="42489"/>
                </a:lnTo>
                <a:lnTo>
                  <a:pt x="1407565" y="27161"/>
                </a:lnTo>
                <a:lnTo>
                  <a:pt x="1399829" y="22472"/>
                </a:lnTo>
                <a:close/>
              </a:path>
              <a:path w="1465579" h="392429">
                <a:moveTo>
                  <a:pt x="1371485" y="0"/>
                </a:moveTo>
                <a:lnTo>
                  <a:pt x="1378289" y="27753"/>
                </a:lnTo>
                <a:lnTo>
                  <a:pt x="1399829" y="22472"/>
                </a:lnTo>
                <a:lnTo>
                  <a:pt x="1463473" y="22472"/>
                </a:lnTo>
                <a:lnTo>
                  <a:pt x="1464951" y="21217"/>
                </a:lnTo>
                <a:lnTo>
                  <a:pt x="1371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7970704" y="4391659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6196643" y="4487331"/>
            <a:ext cx="1308735" cy="477520"/>
          </a:xfrm>
          <a:custGeom>
            <a:avLst/>
            <a:gdLst/>
            <a:ahLst/>
            <a:cxnLst/>
            <a:rect l="l" t="t" r="r" b="b"/>
            <a:pathLst>
              <a:path w="1308734" h="477520">
                <a:moveTo>
                  <a:pt x="1222744" y="450006"/>
                </a:moveTo>
                <a:lnTo>
                  <a:pt x="1213374" y="477001"/>
                </a:lnTo>
                <a:lnTo>
                  <a:pt x="1308414" y="464616"/>
                </a:lnTo>
                <a:lnTo>
                  <a:pt x="1301255" y="457278"/>
                </a:lnTo>
                <a:lnTo>
                  <a:pt x="1243697" y="457278"/>
                </a:lnTo>
                <a:lnTo>
                  <a:pt x="1222744" y="450006"/>
                </a:lnTo>
                <a:close/>
              </a:path>
              <a:path w="1308734" h="477520">
                <a:moveTo>
                  <a:pt x="1232113" y="423011"/>
                </a:moveTo>
                <a:lnTo>
                  <a:pt x="1222744" y="450006"/>
                </a:lnTo>
                <a:lnTo>
                  <a:pt x="1243697" y="457278"/>
                </a:lnTo>
                <a:lnTo>
                  <a:pt x="1251837" y="453334"/>
                </a:lnTo>
                <a:lnTo>
                  <a:pt x="1257012" y="438424"/>
                </a:lnTo>
                <a:lnTo>
                  <a:pt x="1253067" y="430283"/>
                </a:lnTo>
                <a:lnTo>
                  <a:pt x="1232113" y="423011"/>
                </a:lnTo>
                <a:close/>
              </a:path>
              <a:path w="1308734" h="477520">
                <a:moveTo>
                  <a:pt x="1241483" y="396016"/>
                </a:moveTo>
                <a:lnTo>
                  <a:pt x="1232113" y="423011"/>
                </a:lnTo>
                <a:lnTo>
                  <a:pt x="1253067" y="430283"/>
                </a:lnTo>
                <a:lnTo>
                  <a:pt x="1257012" y="438424"/>
                </a:lnTo>
                <a:lnTo>
                  <a:pt x="1251837" y="453334"/>
                </a:lnTo>
                <a:lnTo>
                  <a:pt x="1243697" y="457278"/>
                </a:lnTo>
                <a:lnTo>
                  <a:pt x="1301255" y="457278"/>
                </a:lnTo>
                <a:lnTo>
                  <a:pt x="1241483" y="396016"/>
                </a:lnTo>
                <a:close/>
              </a:path>
              <a:path w="1308734" h="477520">
                <a:moveTo>
                  <a:pt x="13314" y="0"/>
                </a:moveTo>
                <a:lnTo>
                  <a:pt x="5175" y="3945"/>
                </a:lnTo>
                <a:lnTo>
                  <a:pt x="0" y="18855"/>
                </a:lnTo>
                <a:lnTo>
                  <a:pt x="3945" y="26995"/>
                </a:lnTo>
                <a:lnTo>
                  <a:pt x="1222744" y="450006"/>
                </a:lnTo>
                <a:lnTo>
                  <a:pt x="1232113" y="423011"/>
                </a:lnTo>
                <a:lnTo>
                  <a:pt x="133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196465" y="4487155"/>
            <a:ext cx="1308735" cy="882015"/>
          </a:xfrm>
          <a:custGeom>
            <a:avLst/>
            <a:gdLst/>
            <a:ahLst/>
            <a:cxnLst/>
            <a:rect l="l" t="t" r="r" b="b"/>
            <a:pathLst>
              <a:path w="1308734" h="882014">
                <a:moveTo>
                  <a:pt x="1229410" y="845652"/>
                </a:moveTo>
                <a:lnTo>
                  <a:pt x="1213512" y="869397"/>
                </a:lnTo>
                <a:lnTo>
                  <a:pt x="1308592" y="881470"/>
                </a:lnTo>
                <a:lnTo>
                  <a:pt x="1295237" y="857991"/>
                </a:lnTo>
                <a:lnTo>
                  <a:pt x="1247841" y="857991"/>
                </a:lnTo>
                <a:lnTo>
                  <a:pt x="1229410" y="845652"/>
                </a:lnTo>
                <a:close/>
              </a:path>
              <a:path w="1308734" h="882014">
                <a:moveTo>
                  <a:pt x="1245306" y="821907"/>
                </a:moveTo>
                <a:lnTo>
                  <a:pt x="1229410" y="845652"/>
                </a:lnTo>
                <a:lnTo>
                  <a:pt x="1247841" y="857991"/>
                </a:lnTo>
                <a:lnTo>
                  <a:pt x="1256714" y="856234"/>
                </a:lnTo>
                <a:lnTo>
                  <a:pt x="1265494" y="843121"/>
                </a:lnTo>
                <a:lnTo>
                  <a:pt x="1263737" y="834246"/>
                </a:lnTo>
                <a:lnTo>
                  <a:pt x="1245306" y="821907"/>
                </a:lnTo>
                <a:close/>
              </a:path>
              <a:path w="1308734" h="882014">
                <a:moveTo>
                  <a:pt x="1261203" y="798161"/>
                </a:moveTo>
                <a:lnTo>
                  <a:pt x="1245306" y="821907"/>
                </a:lnTo>
                <a:lnTo>
                  <a:pt x="1263737" y="834246"/>
                </a:lnTo>
                <a:lnTo>
                  <a:pt x="1265494" y="843121"/>
                </a:lnTo>
                <a:lnTo>
                  <a:pt x="1256714" y="856234"/>
                </a:lnTo>
                <a:lnTo>
                  <a:pt x="1247841" y="857991"/>
                </a:lnTo>
                <a:lnTo>
                  <a:pt x="1295237" y="857991"/>
                </a:lnTo>
                <a:lnTo>
                  <a:pt x="1261203" y="798161"/>
                </a:lnTo>
                <a:close/>
              </a:path>
              <a:path w="1308734" h="882014">
                <a:moveTo>
                  <a:pt x="17654" y="0"/>
                </a:moveTo>
                <a:lnTo>
                  <a:pt x="8780" y="1756"/>
                </a:lnTo>
                <a:lnTo>
                  <a:pt x="0" y="14870"/>
                </a:lnTo>
                <a:lnTo>
                  <a:pt x="1757" y="23743"/>
                </a:lnTo>
                <a:lnTo>
                  <a:pt x="1229410" y="845652"/>
                </a:lnTo>
                <a:lnTo>
                  <a:pt x="1245306" y="821907"/>
                </a:lnTo>
                <a:lnTo>
                  <a:pt x="176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9" name="object 10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0" name="object 1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62127"/>
            <a:ext cx="5535168" cy="591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732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Molecule</a:t>
            </a:r>
            <a:r>
              <a:rPr dirty="0" spc="-25"/>
              <a:t> </a:t>
            </a:r>
            <a:r>
              <a:rPr dirty="0" spc="-10"/>
              <a:t>classification</a:t>
            </a:r>
          </a:p>
        </p:txBody>
      </p:sp>
      <p:sp>
        <p:nvSpPr>
          <p:cNvPr id="4" name="object 4"/>
          <p:cNvSpPr/>
          <p:nvPr/>
        </p:nvSpPr>
        <p:spPr>
          <a:xfrm>
            <a:off x="2331608" y="2441355"/>
            <a:ext cx="1237296" cy="541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1897831"/>
            <a:ext cx="7539355" cy="456247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8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45" b="1">
                <a:solidFill>
                  <a:srgbClr val="D60093"/>
                </a:solidFill>
                <a:latin typeface="Calibri"/>
                <a:cs typeface="Calibri"/>
              </a:rPr>
              <a:t>Task</a:t>
            </a:r>
            <a:r>
              <a:rPr dirty="0" sz="2800" spc="-45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Binary </a:t>
            </a:r>
            <a:r>
              <a:rPr dirty="0" sz="2800" spc="-10">
                <a:latin typeface="Calibri"/>
                <a:cs typeface="Calibri"/>
              </a:rPr>
              <a:t>classification. </a:t>
            </a:r>
            <a:r>
              <a:rPr dirty="0" sz="2800" spc="-15">
                <a:latin typeface="Calibri"/>
                <a:cs typeface="Calibri"/>
              </a:rPr>
              <a:t>ROC-AUC </a:t>
            </a:r>
            <a:r>
              <a:rPr dirty="0" sz="2800" spc="-5">
                <a:latin typeface="Calibri"/>
                <a:cs typeface="Calibri"/>
              </a:rPr>
              <a:t>as</a:t>
            </a:r>
            <a:r>
              <a:rPr dirty="0" sz="2800" spc="1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metric</a:t>
            </a:r>
            <a:endParaRPr sz="2800">
              <a:latin typeface="Calibri"/>
              <a:cs typeface="Calibri"/>
            </a:endParaRPr>
          </a:p>
          <a:p>
            <a:pPr marL="1053465">
              <a:lnSpc>
                <a:spcPct val="100000"/>
              </a:lnSpc>
              <a:spcBef>
                <a:spcPts val="229"/>
              </a:spcBef>
              <a:tabLst>
                <a:tab pos="2603500" algn="l"/>
              </a:tabLst>
            </a:pPr>
            <a:r>
              <a:rPr dirty="0" sz="3600" spc="-5">
                <a:latin typeface="Arial"/>
                <a:cs typeface="Arial"/>
              </a:rPr>
              <a:t>f(	</a:t>
            </a:r>
            <a:r>
              <a:rPr dirty="0" sz="3600">
                <a:latin typeface="Arial"/>
                <a:cs typeface="Arial"/>
              </a:rPr>
              <a:t>)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50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{0,1}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1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D60093"/>
                </a:solidFill>
                <a:latin typeface="Calibri"/>
                <a:cs typeface="Calibri"/>
              </a:rPr>
              <a:t>Supervised </a:t>
            </a: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pre-training</a:t>
            </a:r>
            <a:r>
              <a:rPr dirty="0" sz="2800" spc="-6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552450" marR="505459" indent="-228600">
              <a:lnSpc>
                <a:spcPts val="2810"/>
              </a:lnSpc>
              <a:spcBef>
                <a:spcPts val="79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1310 </a:t>
            </a:r>
            <a:r>
              <a:rPr dirty="0" sz="2400" spc="-15">
                <a:latin typeface="Calibri"/>
                <a:cs typeface="Calibri"/>
              </a:rPr>
              <a:t>diverse </a:t>
            </a:r>
            <a:r>
              <a:rPr dirty="0" sz="2400">
                <a:latin typeface="Calibri"/>
                <a:cs typeface="Calibri"/>
              </a:rPr>
              <a:t>binary </a:t>
            </a:r>
            <a:r>
              <a:rPr dirty="0" sz="2400" spc="-10">
                <a:latin typeface="Calibri"/>
                <a:cs typeface="Calibri"/>
              </a:rPr>
              <a:t>bioassays </a:t>
            </a:r>
            <a:r>
              <a:rPr dirty="0" sz="2400" spc="-15">
                <a:latin typeface="Calibri"/>
                <a:cs typeface="Calibri"/>
              </a:rPr>
              <a:t>annotated </a:t>
            </a:r>
            <a:r>
              <a:rPr dirty="0" sz="2400" spc="-10">
                <a:latin typeface="Calibri"/>
                <a:cs typeface="Calibri"/>
              </a:rPr>
              <a:t>over </a:t>
            </a:r>
            <a:r>
              <a:rPr dirty="0" sz="2400" spc="-110">
                <a:latin typeface="Calibri"/>
                <a:cs typeface="Calibri"/>
              </a:rPr>
              <a:t>~450K  </a:t>
            </a:r>
            <a:r>
              <a:rPr dirty="0" sz="2400" spc="-5">
                <a:latin typeface="Calibri"/>
                <a:cs typeface="Calibri"/>
              </a:rPr>
              <a:t>molecules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Downstream task </a:t>
            </a:r>
            <a:r>
              <a:rPr dirty="0" sz="2800" spc="-10">
                <a:latin typeface="Calibri"/>
                <a:cs typeface="Calibri"/>
              </a:rPr>
              <a:t>(what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care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about!)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49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>
                <a:latin typeface="Calibri"/>
                <a:cs typeface="Calibri"/>
              </a:rPr>
              <a:t>8 </a:t>
            </a:r>
            <a:r>
              <a:rPr dirty="0" sz="2400" spc="-5">
                <a:latin typeface="Calibri"/>
                <a:cs typeface="Calibri"/>
              </a:rPr>
              <a:t>molecular </a:t>
            </a:r>
            <a:r>
              <a:rPr dirty="0" sz="2400" spc="-10">
                <a:latin typeface="Calibri"/>
                <a:cs typeface="Calibri"/>
              </a:rPr>
              <a:t>classification datasets </a:t>
            </a:r>
            <a:r>
              <a:rPr dirty="0" sz="2400" spc="-15">
                <a:latin typeface="Calibri"/>
                <a:cs typeface="Calibri"/>
              </a:rPr>
              <a:t>(relatively-small, </a:t>
            </a:r>
            <a:r>
              <a:rPr dirty="0" sz="2400" spc="-110">
                <a:latin typeface="Calibri"/>
                <a:cs typeface="Calibri"/>
              </a:rPr>
              <a:t>1K—  </a:t>
            </a:r>
            <a:r>
              <a:rPr dirty="0" sz="2400" spc="-5">
                <a:latin typeface="Calibri"/>
                <a:cs typeface="Calibri"/>
              </a:rPr>
              <a:t>100K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molecules)</a:t>
            </a:r>
            <a:endParaRPr sz="2400">
              <a:latin typeface="Calibri"/>
              <a:cs typeface="Calibri"/>
            </a:endParaRPr>
          </a:p>
          <a:p>
            <a:pPr marL="287020" marR="629285" indent="-274320">
              <a:lnSpc>
                <a:spcPct val="100699"/>
              </a:lnSpc>
              <a:spcBef>
                <a:spcPts val="6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D60093"/>
                </a:solidFill>
                <a:latin typeface="Calibri"/>
                <a:cs typeface="Calibri"/>
              </a:rPr>
              <a:t>Data </a:t>
            </a:r>
            <a:r>
              <a:rPr dirty="0" sz="2800" spc="-5" b="1">
                <a:solidFill>
                  <a:srgbClr val="D60093"/>
                </a:solidFill>
                <a:latin typeface="Calibri"/>
                <a:cs typeface="Calibri"/>
              </a:rPr>
              <a:t>split</a:t>
            </a:r>
            <a:r>
              <a:rPr dirty="0" sz="2800" spc="-5">
                <a:latin typeface="Calibri"/>
                <a:cs typeface="Calibri"/>
              </a:rPr>
              <a:t>: </a:t>
            </a:r>
            <a:r>
              <a:rPr dirty="0" sz="2800" spc="-20">
                <a:latin typeface="Calibri"/>
                <a:cs typeface="Calibri"/>
              </a:rPr>
              <a:t>Scaffold </a:t>
            </a:r>
            <a:r>
              <a:rPr dirty="0" sz="2800" spc="-15">
                <a:latin typeface="Calibri"/>
                <a:cs typeface="Calibri"/>
              </a:rPr>
              <a:t>(test </a:t>
            </a:r>
            <a:r>
              <a:rPr dirty="0" sz="2800" spc="-5">
                <a:latin typeface="Calibri"/>
                <a:cs typeface="Calibri"/>
              </a:rPr>
              <a:t>molecules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30">
                <a:latin typeface="Calibri"/>
                <a:cs typeface="Calibri"/>
              </a:rPr>
              <a:t>out-of-  </a:t>
            </a:r>
            <a:r>
              <a:rPr dirty="0" sz="2800" spc="-5">
                <a:latin typeface="Calibri"/>
                <a:cs typeface="Calibri"/>
              </a:rPr>
              <a:t>distribution)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3776" y="353568"/>
            <a:ext cx="8193024" cy="5273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8004" y="1348740"/>
            <a:ext cx="28638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Naïve</a:t>
            </a:r>
            <a:r>
              <a:rPr dirty="0" spc="-65">
                <a:solidFill>
                  <a:srgbClr val="D60093"/>
                </a:solidFill>
              </a:rPr>
              <a:t> </a:t>
            </a:r>
            <a:r>
              <a:rPr dirty="0" spc="-25">
                <a:solidFill>
                  <a:srgbClr val="D60093"/>
                </a:solidFill>
              </a:rPr>
              <a:t>strategy</a:t>
            </a:r>
            <a:r>
              <a:rPr dirty="0" spc="-25" b="0">
                <a:latin typeface="Calibri"/>
                <a:cs typeface="Calibri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2182" y="3935816"/>
            <a:ext cx="654685" cy="159131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algn="ctr">
              <a:lnSpc>
                <a:spcPts val="1639"/>
              </a:lnSpc>
              <a:spcBef>
                <a:spcPts val="50"/>
              </a:spcBef>
            </a:pPr>
            <a:r>
              <a:rPr dirty="0" sz="1400" spc="-35">
                <a:latin typeface="Arial"/>
                <a:cs typeface="Arial"/>
              </a:rPr>
              <a:t>R</a:t>
            </a:r>
            <a:r>
              <a:rPr dirty="0" sz="1400" spc="-40">
                <a:latin typeface="Arial"/>
                <a:cs typeface="Arial"/>
              </a:rPr>
              <a:t>O</a:t>
            </a:r>
            <a:r>
              <a:rPr dirty="0" sz="1400" spc="-40">
                <a:latin typeface="Arial"/>
                <a:cs typeface="Arial"/>
              </a:rPr>
              <a:t>C</a:t>
            </a:r>
            <a:r>
              <a:rPr dirty="0" sz="1400" spc="-35">
                <a:latin typeface="Arial"/>
                <a:cs typeface="Arial"/>
              </a:rPr>
              <a:t>A</a:t>
            </a:r>
            <a:r>
              <a:rPr dirty="0" sz="1400" spc="-35">
                <a:latin typeface="Arial"/>
                <a:cs typeface="Arial"/>
              </a:rPr>
              <a:t>UC</a:t>
            </a:r>
            <a:endParaRPr sz="1400">
              <a:latin typeface="Arial"/>
              <a:cs typeface="Arial"/>
            </a:endParaRPr>
          </a:p>
          <a:p>
            <a:pPr algn="ctr" marL="12065" marR="5080">
              <a:lnSpc>
                <a:spcPts val="1700"/>
              </a:lnSpc>
            </a:pP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">
                <a:latin typeface="Arial"/>
                <a:cs typeface="Arial"/>
              </a:rPr>
              <a:t>m</a:t>
            </a:r>
            <a:r>
              <a:rPr dirty="0" sz="1400" spc="-30">
                <a:latin typeface="Arial"/>
                <a:cs typeface="Arial"/>
              </a:rPr>
              <a:t>p</a:t>
            </a:r>
            <a:r>
              <a:rPr dirty="0" sz="1400" spc="-45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 spc="-25">
                <a:latin typeface="Arial"/>
                <a:cs typeface="Arial"/>
              </a:rPr>
              <a:t>v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45">
                <a:latin typeface="Arial"/>
                <a:cs typeface="Arial"/>
              </a:rPr>
              <a:t>m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 spc="-25">
                <a:latin typeface="Arial"/>
                <a:cs typeface="Arial"/>
              </a:rPr>
              <a:t>v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>
                <a:latin typeface="Arial"/>
                <a:cs typeface="Arial"/>
              </a:rPr>
              <a:t>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o </a:t>
            </a:r>
            <a:r>
              <a:rPr dirty="0" sz="1400" spc="-30">
                <a:latin typeface="Arial"/>
                <a:cs typeface="Arial"/>
              </a:rPr>
              <a:t>p</a:t>
            </a:r>
            <a:r>
              <a:rPr dirty="0" sz="1400" spc="-45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-</a:t>
            </a:r>
            <a:r>
              <a:rPr dirty="0" sz="1400" spc="-15">
                <a:latin typeface="Arial"/>
                <a:cs typeface="Arial"/>
              </a:rPr>
              <a:t>t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a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660" y="5930526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67660" y="5477186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31542" y="5241072"/>
            <a:ext cx="3117850" cy="0"/>
          </a:xfrm>
          <a:custGeom>
            <a:avLst/>
            <a:gdLst/>
            <a:ahLst/>
            <a:cxnLst/>
            <a:rect l="l" t="t" r="r" b="b"/>
            <a:pathLst>
              <a:path w="3117850" h="0">
                <a:moveTo>
                  <a:pt x="0" y="0"/>
                </a:moveTo>
                <a:lnTo>
                  <a:pt x="3117808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67660" y="5241072"/>
            <a:ext cx="628650" cy="0"/>
          </a:xfrm>
          <a:custGeom>
            <a:avLst/>
            <a:gdLst/>
            <a:ahLst/>
            <a:cxnLst/>
            <a:rect l="l" t="t" r="r" b="b"/>
            <a:pathLst>
              <a:path w="628650" h="0">
                <a:moveTo>
                  <a:pt x="0" y="0"/>
                </a:moveTo>
                <a:lnTo>
                  <a:pt x="628215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67660" y="5014465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667660" y="4778350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67660" y="4551681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67660" y="4315566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67660" y="4088896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667660" y="3862226"/>
            <a:ext cx="3982085" cy="0"/>
          </a:xfrm>
          <a:custGeom>
            <a:avLst/>
            <a:gdLst/>
            <a:ahLst/>
            <a:cxnLst/>
            <a:rect l="l" t="t" r="r" b="b"/>
            <a:pathLst>
              <a:path w="3982084" h="0">
                <a:moveTo>
                  <a:pt x="0" y="0"/>
                </a:moveTo>
                <a:lnTo>
                  <a:pt x="3981690" y="0"/>
                </a:lnTo>
              </a:path>
            </a:pathLst>
          </a:custGeom>
          <a:ln w="945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68910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68910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660765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60765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62015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62015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63265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63265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55058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55058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656308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56308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57558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57558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649350" y="3862226"/>
            <a:ext cx="0" cy="1795780"/>
          </a:xfrm>
          <a:custGeom>
            <a:avLst/>
            <a:gdLst/>
            <a:ahLst/>
            <a:cxnLst/>
            <a:rect l="l" t="t" r="r" b="b"/>
            <a:pathLst>
              <a:path w="0" h="1795779">
                <a:moveTo>
                  <a:pt x="0" y="0"/>
                </a:moveTo>
                <a:lnTo>
                  <a:pt x="0" y="1795611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649350" y="5737504"/>
            <a:ext cx="0" cy="193040"/>
          </a:xfrm>
          <a:custGeom>
            <a:avLst/>
            <a:gdLst/>
            <a:ahLst/>
            <a:cxnLst/>
            <a:rect l="l" t="t" r="r" b="b"/>
            <a:pathLst>
              <a:path w="0" h="193039">
                <a:moveTo>
                  <a:pt x="0" y="0"/>
                </a:moveTo>
                <a:lnTo>
                  <a:pt x="0" y="193023"/>
                </a:lnTo>
              </a:path>
            </a:pathLst>
          </a:custGeom>
          <a:ln w="946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667660" y="3862226"/>
            <a:ext cx="0" cy="2068830"/>
          </a:xfrm>
          <a:custGeom>
            <a:avLst/>
            <a:gdLst/>
            <a:ahLst/>
            <a:cxnLst/>
            <a:rect l="l" t="t" r="r" b="b"/>
            <a:pathLst>
              <a:path w="0" h="2068829">
                <a:moveTo>
                  <a:pt x="0" y="2068300"/>
                </a:moveTo>
                <a:lnTo>
                  <a:pt x="0" y="0"/>
                </a:lnTo>
              </a:path>
            </a:pathLst>
          </a:custGeom>
          <a:ln w="2837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629829" y="593052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43449" y="5689689"/>
            <a:ext cx="0" cy="28575"/>
          </a:xfrm>
          <a:custGeom>
            <a:avLst/>
            <a:gdLst/>
            <a:ahLst/>
            <a:cxnLst/>
            <a:rect l="l" t="t" r="r" b="b"/>
            <a:pathLst>
              <a:path w="0" h="28575">
                <a:moveTo>
                  <a:pt x="0" y="0"/>
                </a:moveTo>
                <a:lnTo>
                  <a:pt x="0" y="28333"/>
                </a:lnTo>
              </a:path>
            </a:pathLst>
          </a:custGeom>
          <a:ln w="27239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629829" y="547718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29829" y="524107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29829" y="501446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29829" y="477835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629829" y="455168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29829" y="431556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629829" y="408889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629829" y="386222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830" y="0"/>
                </a:lnTo>
              </a:path>
            </a:pathLst>
          </a:custGeom>
          <a:ln w="2833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889912" y="534968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26" y="2225"/>
                </a:lnTo>
                <a:lnTo>
                  <a:pt x="8308" y="8297"/>
                </a:lnTo>
                <a:lnTo>
                  <a:pt x="2228" y="17303"/>
                </a:lnTo>
                <a:lnTo>
                  <a:pt x="0" y="28333"/>
                </a:lnTo>
                <a:lnTo>
                  <a:pt x="2228" y="39364"/>
                </a:lnTo>
                <a:lnTo>
                  <a:pt x="8308" y="48370"/>
                </a:lnTo>
                <a:lnTo>
                  <a:pt x="17326" y="54441"/>
                </a:lnTo>
                <a:lnTo>
                  <a:pt x="28371" y="56667"/>
                </a:lnTo>
                <a:lnTo>
                  <a:pt x="39417" y="54441"/>
                </a:lnTo>
                <a:lnTo>
                  <a:pt x="48436" y="48370"/>
                </a:lnTo>
                <a:lnTo>
                  <a:pt x="54515" y="39364"/>
                </a:lnTo>
                <a:lnTo>
                  <a:pt x="56744" y="28333"/>
                </a:lnTo>
                <a:lnTo>
                  <a:pt x="54515" y="17303"/>
                </a:lnTo>
                <a:lnTo>
                  <a:pt x="48436" y="8297"/>
                </a:lnTo>
                <a:lnTo>
                  <a:pt x="39417" y="2225"/>
                </a:lnTo>
                <a:lnTo>
                  <a:pt x="2837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889912" y="534968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6" y="39364"/>
                </a:lnTo>
                <a:lnTo>
                  <a:pt x="48436" y="48370"/>
                </a:lnTo>
                <a:lnTo>
                  <a:pt x="39418" y="54441"/>
                </a:lnTo>
                <a:lnTo>
                  <a:pt x="28372" y="56667"/>
                </a:lnTo>
                <a:lnTo>
                  <a:pt x="17326" y="54441"/>
                </a:lnTo>
                <a:lnTo>
                  <a:pt x="8308" y="48370"/>
                </a:lnTo>
                <a:lnTo>
                  <a:pt x="2229" y="39364"/>
                </a:lnTo>
                <a:lnTo>
                  <a:pt x="0" y="28333"/>
                </a:lnTo>
                <a:lnTo>
                  <a:pt x="2229" y="17303"/>
                </a:lnTo>
                <a:lnTo>
                  <a:pt x="8308" y="8297"/>
                </a:lnTo>
                <a:lnTo>
                  <a:pt x="17326" y="2225"/>
                </a:lnTo>
                <a:lnTo>
                  <a:pt x="28372" y="0"/>
                </a:lnTo>
                <a:lnTo>
                  <a:pt x="39418" y="2225"/>
                </a:lnTo>
                <a:lnTo>
                  <a:pt x="48436" y="8297"/>
                </a:lnTo>
                <a:lnTo>
                  <a:pt x="54516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391162" y="52080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26" y="2225"/>
                </a:lnTo>
                <a:lnTo>
                  <a:pt x="8308" y="8297"/>
                </a:lnTo>
                <a:lnTo>
                  <a:pt x="2228" y="17303"/>
                </a:lnTo>
                <a:lnTo>
                  <a:pt x="0" y="28333"/>
                </a:lnTo>
                <a:lnTo>
                  <a:pt x="2228" y="39364"/>
                </a:lnTo>
                <a:lnTo>
                  <a:pt x="8308" y="48370"/>
                </a:lnTo>
                <a:lnTo>
                  <a:pt x="17326" y="54441"/>
                </a:lnTo>
                <a:lnTo>
                  <a:pt x="28371" y="56667"/>
                </a:lnTo>
                <a:lnTo>
                  <a:pt x="39417" y="54441"/>
                </a:lnTo>
                <a:lnTo>
                  <a:pt x="48436" y="48370"/>
                </a:lnTo>
                <a:lnTo>
                  <a:pt x="54515" y="39364"/>
                </a:lnTo>
                <a:lnTo>
                  <a:pt x="56744" y="28333"/>
                </a:lnTo>
                <a:lnTo>
                  <a:pt x="54515" y="17303"/>
                </a:lnTo>
                <a:lnTo>
                  <a:pt x="48436" y="8297"/>
                </a:lnTo>
                <a:lnTo>
                  <a:pt x="39417" y="2225"/>
                </a:lnTo>
                <a:lnTo>
                  <a:pt x="2837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391162" y="520801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6" y="39364"/>
                </a:lnTo>
                <a:lnTo>
                  <a:pt x="48436" y="48370"/>
                </a:lnTo>
                <a:lnTo>
                  <a:pt x="39418" y="54441"/>
                </a:lnTo>
                <a:lnTo>
                  <a:pt x="28372" y="56667"/>
                </a:lnTo>
                <a:lnTo>
                  <a:pt x="17326" y="54441"/>
                </a:lnTo>
                <a:lnTo>
                  <a:pt x="8308" y="48370"/>
                </a:lnTo>
                <a:lnTo>
                  <a:pt x="2229" y="39364"/>
                </a:lnTo>
                <a:lnTo>
                  <a:pt x="0" y="28333"/>
                </a:lnTo>
                <a:lnTo>
                  <a:pt x="2229" y="17303"/>
                </a:lnTo>
                <a:lnTo>
                  <a:pt x="8308" y="8297"/>
                </a:lnTo>
                <a:lnTo>
                  <a:pt x="17326" y="2225"/>
                </a:lnTo>
                <a:lnTo>
                  <a:pt x="28372" y="0"/>
                </a:lnTo>
                <a:lnTo>
                  <a:pt x="39418" y="2225"/>
                </a:lnTo>
                <a:lnTo>
                  <a:pt x="48436" y="8297"/>
                </a:lnTo>
                <a:lnTo>
                  <a:pt x="54516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892412" y="541579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2" y="2225"/>
                </a:lnTo>
                <a:lnTo>
                  <a:pt x="8322" y="8297"/>
                </a:lnTo>
                <a:lnTo>
                  <a:pt x="2234" y="17303"/>
                </a:lnTo>
                <a:lnTo>
                  <a:pt x="0" y="28333"/>
                </a:lnTo>
                <a:lnTo>
                  <a:pt x="2234" y="39364"/>
                </a:lnTo>
                <a:lnTo>
                  <a:pt x="8322" y="48370"/>
                </a:lnTo>
                <a:lnTo>
                  <a:pt x="17342" y="54441"/>
                </a:lnTo>
                <a:lnTo>
                  <a:pt x="28373" y="56667"/>
                </a:lnTo>
                <a:lnTo>
                  <a:pt x="39402" y="54441"/>
                </a:lnTo>
                <a:lnTo>
                  <a:pt x="48422" y="48370"/>
                </a:lnTo>
                <a:lnTo>
                  <a:pt x="54510" y="39364"/>
                </a:lnTo>
                <a:lnTo>
                  <a:pt x="56744" y="28333"/>
                </a:lnTo>
                <a:lnTo>
                  <a:pt x="54510" y="17303"/>
                </a:lnTo>
                <a:lnTo>
                  <a:pt x="48422" y="8297"/>
                </a:lnTo>
                <a:lnTo>
                  <a:pt x="39402" y="2225"/>
                </a:lnTo>
                <a:lnTo>
                  <a:pt x="2837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892412" y="541579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64"/>
                </a:lnTo>
                <a:lnTo>
                  <a:pt x="48422" y="48370"/>
                </a:lnTo>
                <a:lnTo>
                  <a:pt x="39402" y="54441"/>
                </a:lnTo>
                <a:lnTo>
                  <a:pt x="28372" y="56667"/>
                </a:lnTo>
                <a:lnTo>
                  <a:pt x="17342" y="54441"/>
                </a:lnTo>
                <a:lnTo>
                  <a:pt x="8322" y="48370"/>
                </a:lnTo>
                <a:lnTo>
                  <a:pt x="2234" y="39364"/>
                </a:lnTo>
                <a:lnTo>
                  <a:pt x="0" y="28333"/>
                </a:lnTo>
                <a:lnTo>
                  <a:pt x="2234" y="17303"/>
                </a:lnTo>
                <a:lnTo>
                  <a:pt x="8322" y="8297"/>
                </a:lnTo>
                <a:lnTo>
                  <a:pt x="17342" y="2225"/>
                </a:lnTo>
                <a:lnTo>
                  <a:pt x="28372" y="0"/>
                </a:lnTo>
                <a:lnTo>
                  <a:pt x="39402" y="2225"/>
                </a:lnTo>
                <a:lnTo>
                  <a:pt x="48422" y="8297"/>
                </a:lnTo>
                <a:lnTo>
                  <a:pt x="54510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84205" y="505690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0"/>
                </a:lnTo>
                <a:lnTo>
                  <a:pt x="2234" y="17318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3" y="54436"/>
                </a:lnTo>
                <a:lnTo>
                  <a:pt x="28373" y="56667"/>
                </a:lnTo>
                <a:lnTo>
                  <a:pt x="39402" y="54436"/>
                </a:lnTo>
                <a:lnTo>
                  <a:pt x="48422" y="48356"/>
                </a:lnTo>
                <a:lnTo>
                  <a:pt x="54510" y="39348"/>
                </a:lnTo>
                <a:lnTo>
                  <a:pt x="56744" y="28333"/>
                </a:lnTo>
                <a:lnTo>
                  <a:pt x="54510" y="17318"/>
                </a:lnTo>
                <a:lnTo>
                  <a:pt x="48422" y="8310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384205" y="505690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85454" y="39991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0"/>
                </a:lnTo>
                <a:lnTo>
                  <a:pt x="2234" y="17318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3" y="54436"/>
                </a:lnTo>
                <a:lnTo>
                  <a:pt x="28373" y="56667"/>
                </a:lnTo>
                <a:lnTo>
                  <a:pt x="39402" y="54436"/>
                </a:lnTo>
                <a:lnTo>
                  <a:pt x="48422" y="48356"/>
                </a:lnTo>
                <a:lnTo>
                  <a:pt x="54510" y="39348"/>
                </a:lnTo>
                <a:lnTo>
                  <a:pt x="56744" y="28333"/>
                </a:lnTo>
                <a:lnTo>
                  <a:pt x="54510" y="17318"/>
                </a:lnTo>
                <a:lnTo>
                  <a:pt x="48422" y="8310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885454" y="39991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386704" y="4584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0"/>
                </a:lnTo>
                <a:lnTo>
                  <a:pt x="2234" y="17318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3" y="54436"/>
                </a:lnTo>
                <a:lnTo>
                  <a:pt x="28373" y="56667"/>
                </a:lnTo>
                <a:lnTo>
                  <a:pt x="39402" y="54436"/>
                </a:lnTo>
                <a:lnTo>
                  <a:pt x="48423" y="48356"/>
                </a:lnTo>
                <a:lnTo>
                  <a:pt x="54511" y="39348"/>
                </a:lnTo>
                <a:lnTo>
                  <a:pt x="56746" y="28333"/>
                </a:lnTo>
                <a:lnTo>
                  <a:pt x="54511" y="17318"/>
                </a:lnTo>
                <a:lnTo>
                  <a:pt x="48423" y="8310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386704" y="4584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878497" y="515134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1"/>
                </a:lnTo>
                <a:lnTo>
                  <a:pt x="2234" y="17319"/>
                </a:lnTo>
                <a:lnTo>
                  <a:pt x="0" y="28333"/>
                </a:lnTo>
                <a:lnTo>
                  <a:pt x="2234" y="39364"/>
                </a:lnTo>
                <a:lnTo>
                  <a:pt x="8322" y="48370"/>
                </a:lnTo>
                <a:lnTo>
                  <a:pt x="17343" y="54441"/>
                </a:lnTo>
                <a:lnTo>
                  <a:pt x="28373" y="56667"/>
                </a:lnTo>
                <a:lnTo>
                  <a:pt x="39402" y="54441"/>
                </a:lnTo>
                <a:lnTo>
                  <a:pt x="48423" y="48370"/>
                </a:lnTo>
                <a:lnTo>
                  <a:pt x="54511" y="39364"/>
                </a:lnTo>
                <a:lnTo>
                  <a:pt x="56746" y="28333"/>
                </a:lnTo>
                <a:lnTo>
                  <a:pt x="54511" y="17319"/>
                </a:lnTo>
                <a:lnTo>
                  <a:pt x="48423" y="8311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878497" y="515134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64"/>
                </a:lnTo>
                <a:lnTo>
                  <a:pt x="48422" y="48370"/>
                </a:lnTo>
                <a:lnTo>
                  <a:pt x="39402" y="54441"/>
                </a:lnTo>
                <a:lnTo>
                  <a:pt x="28372" y="56667"/>
                </a:lnTo>
                <a:lnTo>
                  <a:pt x="17342" y="54441"/>
                </a:lnTo>
                <a:lnTo>
                  <a:pt x="8322" y="48370"/>
                </a:lnTo>
                <a:lnTo>
                  <a:pt x="2234" y="39364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79748" y="4017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42" y="2231"/>
                </a:lnTo>
                <a:lnTo>
                  <a:pt x="8322" y="8311"/>
                </a:lnTo>
                <a:lnTo>
                  <a:pt x="2234" y="17319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2" y="54436"/>
                </a:lnTo>
                <a:lnTo>
                  <a:pt x="28371" y="56667"/>
                </a:lnTo>
                <a:lnTo>
                  <a:pt x="39401" y="54436"/>
                </a:lnTo>
                <a:lnTo>
                  <a:pt x="48421" y="48356"/>
                </a:lnTo>
                <a:lnTo>
                  <a:pt x="54510" y="39348"/>
                </a:lnTo>
                <a:lnTo>
                  <a:pt x="56744" y="28333"/>
                </a:lnTo>
                <a:lnTo>
                  <a:pt x="54510" y="17319"/>
                </a:lnTo>
                <a:lnTo>
                  <a:pt x="48421" y="8311"/>
                </a:lnTo>
                <a:lnTo>
                  <a:pt x="39401" y="2231"/>
                </a:lnTo>
                <a:lnTo>
                  <a:pt x="28371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79747" y="4017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889912" y="538746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26" y="2225"/>
                </a:lnTo>
                <a:lnTo>
                  <a:pt x="8308" y="8297"/>
                </a:lnTo>
                <a:lnTo>
                  <a:pt x="2228" y="17303"/>
                </a:lnTo>
                <a:lnTo>
                  <a:pt x="0" y="28333"/>
                </a:lnTo>
                <a:lnTo>
                  <a:pt x="2228" y="39364"/>
                </a:lnTo>
                <a:lnTo>
                  <a:pt x="8308" y="48370"/>
                </a:lnTo>
                <a:lnTo>
                  <a:pt x="17326" y="54441"/>
                </a:lnTo>
                <a:lnTo>
                  <a:pt x="28371" y="56667"/>
                </a:lnTo>
                <a:lnTo>
                  <a:pt x="39417" y="54441"/>
                </a:lnTo>
                <a:lnTo>
                  <a:pt x="48436" y="48370"/>
                </a:lnTo>
                <a:lnTo>
                  <a:pt x="54515" y="39364"/>
                </a:lnTo>
                <a:lnTo>
                  <a:pt x="56744" y="28333"/>
                </a:lnTo>
                <a:lnTo>
                  <a:pt x="54515" y="17303"/>
                </a:lnTo>
                <a:lnTo>
                  <a:pt x="48436" y="8297"/>
                </a:lnTo>
                <a:lnTo>
                  <a:pt x="39417" y="2225"/>
                </a:lnTo>
                <a:lnTo>
                  <a:pt x="28371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889912" y="538746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6" y="39364"/>
                </a:lnTo>
                <a:lnTo>
                  <a:pt x="48436" y="48370"/>
                </a:lnTo>
                <a:lnTo>
                  <a:pt x="39418" y="54441"/>
                </a:lnTo>
                <a:lnTo>
                  <a:pt x="28372" y="56667"/>
                </a:lnTo>
                <a:lnTo>
                  <a:pt x="17326" y="54441"/>
                </a:lnTo>
                <a:lnTo>
                  <a:pt x="8308" y="48370"/>
                </a:lnTo>
                <a:lnTo>
                  <a:pt x="2229" y="39364"/>
                </a:lnTo>
                <a:lnTo>
                  <a:pt x="0" y="28333"/>
                </a:lnTo>
                <a:lnTo>
                  <a:pt x="2229" y="17303"/>
                </a:lnTo>
                <a:lnTo>
                  <a:pt x="8308" y="8297"/>
                </a:lnTo>
                <a:lnTo>
                  <a:pt x="17326" y="2225"/>
                </a:lnTo>
                <a:lnTo>
                  <a:pt x="28372" y="0"/>
                </a:lnTo>
                <a:lnTo>
                  <a:pt x="39418" y="2225"/>
                </a:lnTo>
                <a:lnTo>
                  <a:pt x="48436" y="8297"/>
                </a:lnTo>
                <a:lnTo>
                  <a:pt x="54516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391162" y="53307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26" y="2225"/>
                </a:lnTo>
                <a:lnTo>
                  <a:pt x="8308" y="8297"/>
                </a:lnTo>
                <a:lnTo>
                  <a:pt x="2228" y="17303"/>
                </a:lnTo>
                <a:lnTo>
                  <a:pt x="0" y="28333"/>
                </a:lnTo>
                <a:lnTo>
                  <a:pt x="2228" y="39364"/>
                </a:lnTo>
                <a:lnTo>
                  <a:pt x="8308" y="48370"/>
                </a:lnTo>
                <a:lnTo>
                  <a:pt x="17326" y="54441"/>
                </a:lnTo>
                <a:lnTo>
                  <a:pt x="28371" y="56667"/>
                </a:lnTo>
                <a:lnTo>
                  <a:pt x="39417" y="54441"/>
                </a:lnTo>
                <a:lnTo>
                  <a:pt x="48436" y="48370"/>
                </a:lnTo>
                <a:lnTo>
                  <a:pt x="54515" y="39364"/>
                </a:lnTo>
                <a:lnTo>
                  <a:pt x="56744" y="28333"/>
                </a:lnTo>
                <a:lnTo>
                  <a:pt x="54515" y="17303"/>
                </a:lnTo>
                <a:lnTo>
                  <a:pt x="48436" y="8297"/>
                </a:lnTo>
                <a:lnTo>
                  <a:pt x="39417" y="2225"/>
                </a:lnTo>
                <a:lnTo>
                  <a:pt x="28371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391162" y="533079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6" y="39364"/>
                </a:lnTo>
                <a:lnTo>
                  <a:pt x="48436" y="48370"/>
                </a:lnTo>
                <a:lnTo>
                  <a:pt x="39418" y="54441"/>
                </a:lnTo>
                <a:lnTo>
                  <a:pt x="28372" y="56667"/>
                </a:lnTo>
                <a:lnTo>
                  <a:pt x="17326" y="54441"/>
                </a:lnTo>
                <a:lnTo>
                  <a:pt x="8308" y="48370"/>
                </a:lnTo>
                <a:lnTo>
                  <a:pt x="2229" y="39364"/>
                </a:lnTo>
                <a:lnTo>
                  <a:pt x="0" y="28333"/>
                </a:lnTo>
                <a:lnTo>
                  <a:pt x="2229" y="17303"/>
                </a:lnTo>
                <a:lnTo>
                  <a:pt x="8308" y="8297"/>
                </a:lnTo>
                <a:lnTo>
                  <a:pt x="17326" y="2225"/>
                </a:lnTo>
                <a:lnTo>
                  <a:pt x="28372" y="0"/>
                </a:lnTo>
                <a:lnTo>
                  <a:pt x="39418" y="2225"/>
                </a:lnTo>
                <a:lnTo>
                  <a:pt x="48436" y="8297"/>
                </a:lnTo>
                <a:lnTo>
                  <a:pt x="54516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892412" y="55669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2" y="2225"/>
                </a:lnTo>
                <a:lnTo>
                  <a:pt x="8322" y="8297"/>
                </a:lnTo>
                <a:lnTo>
                  <a:pt x="2234" y="17303"/>
                </a:lnTo>
                <a:lnTo>
                  <a:pt x="0" y="28333"/>
                </a:lnTo>
                <a:lnTo>
                  <a:pt x="2234" y="39364"/>
                </a:lnTo>
                <a:lnTo>
                  <a:pt x="8322" y="48370"/>
                </a:lnTo>
                <a:lnTo>
                  <a:pt x="17342" y="54441"/>
                </a:lnTo>
                <a:lnTo>
                  <a:pt x="28373" y="56667"/>
                </a:lnTo>
                <a:lnTo>
                  <a:pt x="39402" y="54441"/>
                </a:lnTo>
                <a:lnTo>
                  <a:pt x="48422" y="48370"/>
                </a:lnTo>
                <a:lnTo>
                  <a:pt x="54510" y="39364"/>
                </a:lnTo>
                <a:lnTo>
                  <a:pt x="56744" y="28333"/>
                </a:lnTo>
                <a:lnTo>
                  <a:pt x="54510" y="17303"/>
                </a:lnTo>
                <a:lnTo>
                  <a:pt x="48422" y="8297"/>
                </a:lnTo>
                <a:lnTo>
                  <a:pt x="39402" y="2225"/>
                </a:lnTo>
                <a:lnTo>
                  <a:pt x="2837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892412" y="556691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64"/>
                </a:lnTo>
                <a:lnTo>
                  <a:pt x="48422" y="48370"/>
                </a:lnTo>
                <a:lnTo>
                  <a:pt x="39402" y="54441"/>
                </a:lnTo>
                <a:lnTo>
                  <a:pt x="28372" y="56667"/>
                </a:lnTo>
                <a:lnTo>
                  <a:pt x="17342" y="54441"/>
                </a:lnTo>
                <a:lnTo>
                  <a:pt x="8322" y="48370"/>
                </a:lnTo>
                <a:lnTo>
                  <a:pt x="2234" y="39364"/>
                </a:lnTo>
                <a:lnTo>
                  <a:pt x="0" y="28333"/>
                </a:lnTo>
                <a:lnTo>
                  <a:pt x="2234" y="17303"/>
                </a:lnTo>
                <a:lnTo>
                  <a:pt x="8322" y="8297"/>
                </a:lnTo>
                <a:lnTo>
                  <a:pt x="17342" y="2225"/>
                </a:lnTo>
                <a:lnTo>
                  <a:pt x="28372" y="0"/>
                </a:lnTo>
                <a:lnTo>
                  <a:pt x="39402" y="2225"/>
                </a:lnTo>
                <a:lnTo>
                  <a:pt x="48422" y="8297"/>
                </a:lnTo>
                <a:lnTo>
                  <a:pt x="54510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384205" y="512301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1"/>
                </a:lnTo>
                <a:lnTo>
                  <a:pt x="2234" y="17319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3" y="54436"/>
                </a:lnTo>
                <a:lnTo>
                  <a:pt x="28373" y="56667"/>
                </a:lnTo>
                <a:lnTo>
                  <a:pt x="39402" y="54436"/>
                </a:lnTo>
                <a:lnTo>
                  <a:pt x="48422" y="48356"/>
                </a:lnTo>
                <a:lnTo>
                  <a:pt x="54510" y="39348"/>
                </a:lnTo>
                <a:lnTo>
                  <a:pt x="56744" y="28333"/>
                </a:lnTo>
                <a:lnTo>
                  <a:pt x="54510" y="17319"/>
                </a:lnTo>
                <a:lnTo>
                  <a:pt x="48422" y="8311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384205" y="512301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885454" y="57746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25"/>
                </a:lnTo>
                <a:lnTo>
                  <a:pt x="8322" y="8297"/>
                </a:lnTo>
                <a:lnTo>
                  <a:pt x="2234" y="17303"/>
                </a:lnTo>
                <a:lnTo>
                  <a:pt x="0" y="28333"/>
                </a:lnTo>
                <a:lnTo>
                  <a:pt x="2234" y="39364"/>
                </a:lnTo>
                <a:lnTo>
                  <a:pt x="8322" y="48370"/>
                </a:lnTo>
                <a:lnTo>
                  <a:pt x="17343" y="54441"/>
                </a:lnTo>
                <a:lnTo>
                  <a:pt x="28373" y="56667"/>
                </a:lnTo>
                <a:lnTo>
                  <a:pt x="39402" y="54441"/>
                </a:lnTo>
                <a:lnTo>
                  <a:pt x="48422" y="48370"/>
                </a:lnTo>
                <a:lnTo>
                  <a:pt x="54510" y="39364"/>
                </a:lnTo>
                <a:lnTo>
                  <a:pt x="56744" y="28333"/>
                </a:lnTo>
                <a:lnTo>
                  <a:pt x="54510" y="17303"/>
                </a:lnTo>
                <a:lnTo>
                  <a:pt x="48422" y="8297"/>
                </a:lnTo>
                <a:lnTo>
                  <a:pt x="39402" y="2225"/>
                </a:lnTo>
                <a:lnTo>
                  <a:pt x="2837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85454" y="57746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64"/>
                </a:lnTo>
                <a:lnTo>
                  <a:pt x="48422" y="48370"/>
                </a:lnTo>
                <a:lnTo>
                  <a:pt x="39402" y="54441"/>
                </a:lnTo>
                <a:lnTo>
                  <a:pt x="28372" y="56667"/>
                </a:lnTo>
                <a:lnTo>
                  <a:pt x="17342" y="54441"/>
                </a:lnTo>
                <a:lnTo>
                  <a:pt x="8322" y="48370"/>
                </a:lnTo>
                <a:lnTo>
                  <a:pt x="2234" y="39364"/>
                </a:lnTo>
                <a:lnTo>
                  <a:pt x="0" y="28333"/>
                </a:lnTo>
                <a:lnTo>
                  <a:pt x="2234" y="17303"/>
                </a:lnTo>
                <a:lnTo>
                  <a:pt x="8322" y="8297"/>
                </a:lnTo>
                <a:lnTo>
                  <a:pt x="17342" y="2225"/>
                </a:lnTo>
                <a:lnTo>
                  <a:pt x="28372" y="0"/>
                </a:lnTo>
                <a:lnTo>
                  <a:pt x="39402" y="2225"/>
                </a:lnTo>
                <a:lnTo>
                  <a:pt x="48422" y="8297"/>
                </a:lnTo>
                <a:lnTo>
                  <a:pt x="54510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386704" y="4801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31"/>
                </a:lnTo>
                <a:lnTo>
                  <a:pt x="8322" y="8311"/>
                </a:lnTo>
                <a:lnTo>
                  <a:pt x="2234" y="17319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3" y="54436"/>
                </a:lnTo>
                <a:lnTo>
                  <a:pt x="28373" y="56667"/>
                </a:lnTo>
                <a:lnTo>
                  <a:pt x="39402" y="54436"/>
                </a:lnTo>
                <a:lnTo>
                  <a:pt x="48423" y="48356"/>
                </a:lnTo>
                <a:lnTo>
                  <a:pt x="54511" y="39348"/>
                </a:lnTo>
                <a:lnTo>
                  <a:pt x="56746" y="28333"/>
                </a:lnTo>
                <a:lnTo>
                  <a:pt x="54511" y="17319"/>
                </a:lnTo>
                <a:lnTo>
                  <a:pt x="48423" y="8311"/>
                </a:lnTo>
                <a:lnTo>
                  <a:pt x="39402" y="2231"/>
                </a:lnTo>
                <a:lnTo>
                  <a:pt x="2837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386704" y="4801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878497" y="578413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3" y="0"/>
                </a:moveTo>
                <a:lnTo>
                  <a:pt x="17343" y="2225"/>
                </a:lnTo>
                <a:lnTo>
                  <a:pt x="8322" y="8297"/>
                </a:lnTo>
                <a:lnTo>
                  <a:pt x="2234" y="17303"/>
                </a:lnTo>
                <a:lnTo>
                  <a:pt x="0" y="28333"/>
                </a:lnTo>
                <a:lnTo>
                  <a:pt x="2234" y="39364"/>
                </a:lnTo>
                <a:lnTo>
                  <a:pt x="8322" y="48370"/>
                </a:lnTo>
                <a:lnTo>
                  <a:pt x="17343" y="54441"/>
                </a:lnTo>
                <a:lnTo>
                  <a:pt x="28373" y="56667"/>
                </a:lnTo>
                <a:lnTo>
                  <a:pt x="39402" y="54441"/>
                </a:lnTo>
                <a:lnTo>
                  <a:pt x="48423" y="48370"/>
                </a:lnTo>
                <a:lnTo>
                  <a:pt x="54511" y="39364"/>
                </a:lnTo>
                <a:lnTo>
                  <a:pt x="56746" y="28333"/>
                </a:lnTo>
                <a:lnTo>
                  <a:pt x="54511" y="17303"/>
                </a:lnTo>
                <a:lnTo>
                  <a:pt x="48423" y="8297"/>
                </a:lnTo>
                <a:lnTo>
                  <a:pt x="39402" y="2225"/>
                </a:lnTo>
                <a:lnTo>
                  <a:pt x="28373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78497" y="578413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64"/>
                </a:lnTo>
                <a:lnTo>
                  <a:pt x="48422" y="48370"/>
                </a:lnTo>
                <a:lnTo>
                  <a:pt x="39402" y="54441"/>
                </a:lnTo>
                <a:lnTo>
                  <a:pt x="28372" y="56667"/>
                </a:lnTo>
                <a:lnTo>
                  <a:pt x="17342" y="54441"/>
                </a:lnTo>
                <a:lnTo>
                  <a:pt x="8322" y="48370"/>
                </a:lnTo>
                <a:lnTo>
                  <a:pt x="2234" y="39364"/>
                </a:lnTo>
                <a:lnTo>
                  <a:pt x="0" y="28333"/>
                </a:lnTo>
                <a:lnTo>
                  <a:pt x="2234" y="17303"/>
                </a:lnTo>
                <a:lnTo>
                  <a:pt x="8322" y="8297"/>
                </a:lnTo>
                <a:lnTo>
                  <a:pt x="17342" y="2225"/>
                </a:lnTo>
                <a:lnTo>
                  <a:pt x="28372" y="0"/>
                </a:lnTo>
                <a:lnTo>
                  <a:pt x="39402" y="2225"/>
                </a:lnTo>
                <a:lnTo>
                  <a:pt x="48422" y="8297"/>
                </a:lnTo>
                <a:lnTo>
                  <a:pt x="54510" y="17303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79748" y="48963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371" y="0"/>
                </a:moveTo>
                <a:lnTo>
                  <a:pt x="17342" y="2231"/>
                </a:lnTo>
                <a:lnTo>
                  <a:pt x="8322" y="8311"/>
                </a:lnTo>
                <a:lnTo>
                  <a:pt x="2234" y="17319"/>
                </a:lnTo>
                <a:lnTo>
                  <a:pt x="0" y="28333"/>
                </a:lnTo>
                <a:lnTo>
                  <a:pt x="2234" y="39348"/>
                </a:lnTo>
                <a:lnTo>
                  <a:pt x="8322" y="48356"/>
                </a:lnTo>
                <a:lnTo>
                  <a:pt x="17342" y="54436"/>
                </a:lnTo>
                <a:lnTo>
                  <a:pt x="28371" y="56667"/>
                </a:lnTo>
                <a:lnTo>
                  <a:pt x="39401" y="54436"/>
                </a:lnTo>
                <a:lnTo>
                  <a:pt x="48421" y="48356"/>
                </a:lnTo>
                <a:lnTo>
                  <a:pt x="54510" y="39348"/>
                </a:lnTo>
                <a:lnTo>
                  <a:pt x="56744" y="28333"/>
                </a:lnTo>
                <a:lnTo>
                  <a:pt x="54510" y="17319"/>
                </a:lnTo>
                <a:lnTo>
                  <a:pt x="48421" y="8311"/>
                </a:lnTo>
                <a:lnTo>
                  <a:pt x="39401" y="2231"/>
                </a:lnTo>
                <a:lnTo>
                  <a:pt x="28371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379747" y="489634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6745" y="28333"/>
                </a:moveTo>
                <a:lnTo>
                  <a:pt x="54510" y="39348"/>
                </a:lnTo>
                <a:lnTo>
                  <a:pt x="48422" y="48356"/>
                </a:lnTo>
                <a:lnTo>
                  <a:pt x="39402" y="54436"/>
                </a:lnTo>
                <a:lnTo>
                  <a:pt x="28372" y="56667"/>
                </a:lnTo>
                <a:lnTo>
                  <a:pt x="17342" y="54436"/>
                </a:lnTo>
                <a:lnTo>
                  <a:pt x="8322" y="48356"/>
                </a:lnTo>
                <a:lnTo>
                  <a:pt x="2234" y="39348"/>
                </a:lnTo>
                <a:lnTo>
                  <a:pt x="0" y="28333"/>
                </a:lnTo>
                <a:lnTo>
                  <a:pt x="2234" y="17319"/>
                </a:lnTo>
                <a:lnTo>
                  <a:pt x="8322" y="8311"/>
                </a:lnTo>
                <a:lnTo>
                  <a:pt x="17342" y="2231"/>
                </a:lnTo>
                <a:lnTo>
                  <a:pt x="28372" y="0"/>
                </a:lnTo>
                <a:lnTo>
                  <a:pt x="39402" y="2231"/>
                </a:lnTo>
                <a:lnTo>
                  <a:pt x="48422" y="8311"/>
                </a:lnTo>
                <a:lnTo>
                  <a:pt x="54510" y="17319"/>
                </a:lnTo>
                <a:lnTo>
                  <a:pt x="56745" y="28333"/>
                </a:lnTo>
                <a:close/>
              </a:path>
            </a:pathLst>
          </a:custGeom>
          <a:ln w="9460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349481" y="3761251"/>
            <a:ext cx="229235" cy="2244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16.0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14.0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12.0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10.0</a:t>
            </a:r>
            <a:endParaRPr sz="9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740"/>
              </a:spcBef>
            </a:pP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740"/>
              </a:spcBef>
            </a:pP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735"/>
              </a:spcBef>
            </a:pP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735"/>
              </a:spcBef>
            </a:pP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69850">
              <a:lnSpc>
                <a:spcPct val="100000"/>
              </a:lnSpc>
              <a:spcBef>
                <a:spcPts val="740"/>
              </a:spcBef>
            </a:pP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34925">
              <a:lnSpc>
                <a:spcPct val="100000"/>
              </a:lnSpc>
              <a:spcBef>
                <a:spcPts val="740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-</a:t>
            </a:r>
            <a:r>
              <a:rPr dirty="0" sz="900" spc="-15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r>
              <a:rPr dirty="0" sz="900" spc="-10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726851" y="6038685"/>
            <a:ext cx="189865" cy="204470"/>
          </a:xfrm>
          <a:custGeom>
            <a:avLst/>
            <a:gdLst/>
            <a:ahLst/>
            <a:cxnLst/>
            <a:rect l="l" t="t" r="r" b="b"/>
            <a:pathLst>
              <a:path w="189864" h="204470">
                <a:moveTo>
                  <a:pt x="30794" y="132079"/>
                </a:moveTo>
                <a:lnTo>
                  <a:pt x="26014" y="133349"/>
                </a:lnTo>
                <a:lnTo>
                  <a:pt x="23568" y="133349"/>
                </a:lnTo>
                <a:lnTo>
                  <a:pt x="18549" y="135889"/>
                </a:lnTo>
                <a:lnTo>
                  <a:pt x="15788" y="138429"/>
                </a:lnTo>
                <a:lnTo>
                  <a:pt x="631" y="153669"/>
                </a:lnTo>
                <a:lnTo>
                  <a:pt x="265" y="154939"/>
                </a:lnTo>
                <a:lnTo>
                  <a:pt x="0" y="156209"/>
                </a:lnTo>
                <a:lnTo>
                  <a:pt x="454" y="157479"/>
                </a:lnTo>
                <a:lnTo>
                  <a:pt x="47705" y="204469"/>
                </a:lnTo>
                <a:lnTo>
                  <a:pt x="51335" y="204469"/>
                </a:lnTo>
                <a:lnTo>
                  <a:pt x="61836" y="194309"/>
                </a:lnTo>
                <a:lnTo>
                  <a:pt x="50566" y="194309"/>
                </a:lnTo>
                <a:lnTo>
                  <a:pt x="32698" y="176529"/>
                </a:lnTo>
                <a:lnTo>
                  <a:pt x="37780" y="171449"/>
                </a:lnTo>
                <a:lnTo>
                  <a:pt x="27326" y="171449"/>
                </a:lnTo>
                <a:lnTo>
                  <a:pt x="10908" y="154939"/>
                </a:lnTo>
                <a:lnTo>
                  <a:pt x="19798" y="146049"/>
                </a:lnTo>
                <a:lnTo>
                  <a:pt x="21537" y="144779"/>
                </a:lnTo>
                <a:lnTo>
                  <a:pt x="24615" y="142239"/>
                </a:lnTo>
                <a:lnTo>
                  <a:pt x="44766" y="142239"/>
                </a:lnTo>
                <a:lnTo>
                  <a:pt x="43959" y="140969"/>
                </a:lnTo>
                <a:lnTo>
                  <a:pt x="42950" y="139699"/>
                </a:lnTo>
                <a:lnTo>
                  <a:pt x="39734" y="135889"/>
                </a:lnTo>
                <a:lnTo>
                  <a:pt x="37616" y="134619"/>
                </a:lnTo>
                <a:lnTo>
                  <a:pt x="33113" y="133349"/>
                </a:lnTo>
                <a:lnTo>
                  <a:pt x="30794" y="132079"/>
                </a:lnTo>
                <a:close/>
              </a:path>
              <a:path w="189864" h="204470">
                <a:moveTo>
                  <a:pt x="71184" y="161289"/>
                </a:moveTo>
                <a:lnTo>
                  <a:pt x="53592" y="161289"/>
                </a:lnTo>
                <a:lnTo>
                  <a:pt x="55270" y="162559"/>
                </a:lnTo>
                <a:lnTo>
                  <a:pt x="58524" y="163829"/>
                </a:lnTo>
                <a:lnTo>
                  <a:pt x="60100" y="163829"/>
                </a:lnTo>
                <a:lnTo>
                  <a:pt x="61612" y="166369"/>
                </a:lnTo>
                <a:lnTo>
                  <a:pt x="63026" y="167639"/>
                </a:lnTo>
                <a:lnTo>
                  <a:pt x="64021" y="168909"/>
                </a:lnTo>
                <a:lnTo>
                  <a:pt x="65168" y="171449"/>
                </a:lnTo>
                <a:lnTo>
                  <a:pt x="65383" y="173989"/>
                </a:lnTo>
                <a:lnTo>
                  <a:pt x="65068" y="176529"/>
                </a:lnTo>
                <a:lnTo>
                  <a:pt x="64602" y="177799"/>
                </a:lnTo>
                <a:lnTo>
                  <a:pt x="63037" y="181609"/>
                </a:lnTo>
                <a:lnTo>
                  <a:pt x="61878" y="182879"/>
                </a:lnTo>
                <a:lnTo>
                  <a:pt x="50566" y="194309"/>
                </a:lnTo>
                <a:lnTo>
                  <a:pt x="61836" y="194309"/>
                </a:lnTo>
                <a:lnTo>
                  <a:pt x="67086" y="189229"/>
                </a:lnTo>
                <a:lnTo>
                  <a:pt x="68649" y="186689"/>
                </a:lnTo>
                <a:lnTo>
                  <a:pt x="71045" y="182879"/>
                </a:lnTo>
                <a:lnTo>
                  <a:pt x="72016" y="181609"/>
                </a:lnTo>
                <a:lnTo>
                  <a:pt x="73996" y="176529"/>
                </a:lnTo>
                <a:lnTo>
                  <a:pt x="74437" y="172719"/>
                </a:lnTo>
                <a:lnTo>
                  <a:pt x="74375" y="170179"/>
                </a:lnTo>
                <a:lnTo>
                  <a:pt x="73694" y="167639"/>
                </a:lnTo>
                <a:lnTo>
                  <a:pt x="73063" y="165099"/>
                </a:lnTo>
                <a:lnTo>
                  <a:pt x="71184" y="161289"/>
                </a:lnTo>
                <a:close/>
              </a:path>
              <a:path w="189864" h="204470">
                <a:moveTo>
                  <a:pt x="44766" y="142239"/>
                </a:moveTo>
                <a:lnTo>
                  <a:pt x="30314" y="142239"/>
                </a:lnTo>
                <a:lnTo>
                  <a:pt x="32975" y="143509"/>
                </a:lnTo>
                <a:lnTo>
                  <a:pt x="34249" y="144779"/>
                </a:lnTo>
                <a:lnTo>
                  <a:pt x="39406" y="154939"/>
                </a:lnTo>
                <a:lnTo>
                  <a:pt x="39142" y="157479"/>
                </a:lnTo>
                <a:lnTo>
                  <a:pt x="37918" y="160019"/>
                </a:lnTo>
                <a:lnTo>
                  <a:pt x="27326" y="171449"/>
                </a:lnTo>
                <a:lnTo>
                  <a:pt x="37780" y="171449"/>
                </a:lnTo>
                <a:lnTo>
                  <a:pt x="42862" y="166369"/>
                </a:lnTo>
                <a:lnTo>
                  <a:pt x="44817" y="165099"/>
                </a:lnTo>
                <a:lnTo>
                  <a:pt x="48423" y="162559"/>
                </a:lnTo>
                <a:lnTo>
                  <a:pt x="50176" y="162559"/>
                </a:lnTo>
                <a:lnTo>
                  <a:pt x="53592" y="161289"/>
                </a:lnTo>
                <a:lnTo>
                  <a:pt x="71184" y="161289"/>
                </a:lnTo>
                <a:lnTo>
                  <a:pt x="69910" y="160019"/>
                </a:lnTo>
                <a:lnTo>
                  <a:pt x="68322" y="158749"/>
                </a:lnTo>
                <a:lnTo>
                  <a:pt x="66593" y="156209"/>
                </a:lnTo>
                <a:lnTo>
                  <a:pt x="45787" y="156209"/>
                </a:lnTo>
                <a:lnTo>
                  <a:pt x="46418" y="153669"/>
                </a:lnTo>
                <a:lnTo>
                  <a:pt x="46784" y="152399"/>
                </a:lnTo>
                <a:lnTo>
                  <a:pt x="46903" y="151129"/>
                </a:lnTo>
                <a:lnTo>
                  <a:pt x="46897" y="148589"/>
                </a:lnTo>
                <a:lnTo>
                  <a:pt x="46165" y="144779"/>
                </a:lnTo>
                <a:lnTo>
                  <a:pt x="45573" y="143509"/>
                </a:lnTo>
                <a:lnTo>
                  <a:pt x="44766" y="142239"/>
                </a:lnTo>
                <a:close/>
              </a:path>
              <a:path w="189864" h="204470">
                <a:moveTo>
                  <a:pt x="79936" y="86359"/>
                </a:moveTo>
                <a:lnTo>
                  <a:pt x="72835" y="86359"/>
                </a:lnTo>
                <a:lnTo>
                  <a:pt x="65370" y="90169"/>
                </a:lnTo>
                <a:lnTo>
                  <a:pt x="62597" y="91439"/>
                </a:lnTo>
                <a:lnTo>
                  <a:pt x="47452" y="106679"/>
                </a:lnTo>
                <a:lnTo>
                  <a:pt x="47086" y="107949"/>
                </a:lnTo>
                <a:lnTo>
                  <a:pt x="46822" y="109219"/>
                </a:lnTo>
                <a:lnTo>
                  <a:pt x="47263" y="110489"/>
                </a:lnTo>
                <a:lnTo>
                  <a:pt x="94526" y="157479"/>
                </a:lnTo>
                <a:lnTo>
                  <a:pt x="95496" y="158749"/>
                </a:lnTo>
                <a:lnTo>
                  <a:pt x="97375" y="157479"/>
                </a:lnTo>
                <a:lnTo>
                  <a:pt x="98144" y="157479"/>
                </a:lnTo>
                <a:lnTo>
                  <a:pt x="108653" y="147319"/>
                </a:lnTo>
                <a:lnTo>
                  <a:pt x="97375" y="147319"/>
                </a:lnTo>
                <a:lnTo>
                  <a:pt x="79507" y="129539"/>
                </a:lnTo>
                <a:lnTo>
                  <a:pt x="84595" y="124459"/>
                </a:lnTo>
                <a:lnTo>
                  <a:pt x="74147" y="124459"/>
                </a:lnTo>
                <a:lnTo>
                  <a:pt x="57729" y="107949"/>
                </a:lnTo>
                <a:lnTo>
                  <a:pt x="66606" y="99059"/>
                </a:lnTo>
                <a:lnTo>
                  <a:pt x="68347" y="97789"/>
                </a:lnTo>
                <a:lnTo>
                  <a:pt x="71423" y="96519"/>
                </a:lnTo>
                <a:lnTo>
                  <a:pt x="72899" y="95249"/>
                </a:lnTo>
                <a:lnTo>
                  <a:pt x="91581" y="95249"/>
                </a:lnTo>
                <a:lnTo>
                  <a:pt x="90768" y="93979"/>
                </a:lnTo>
                <a:lnTo>
                  <a:pt x="89758" y="92709"/>
                </a:lnTo>
                <a:lnTo>
                  <a:pt x="86555" y="90169"/>
                </a:lnTo>
                <a:lnTo>
                  <a:pt x="84424" y="87629"/>
                </a:lnTo>
                <a:lnTo>
                  <a:pt x="79936" y="86359"/>
                </a:lnTo>
                <a:close/>
              </a:path>
              <a:path w="189864" h="204470">
                <a:moveTo>
                  <a:pt x="54930" y="152399"/>
                </a:moveTo>
                <a:lnTo>
                  <a:pt x="52988" y="152399"/>
                </a:lnTo>
                <a:lnTo>
                  <a:pt x="49204" y="153669"/>
                </a:lnTo>
                <a:lnTo>
                  <a:pt x="47426" y="154939"/>
                </a:lnTo>
                <a:lnTo>
                  <a:pt x="45787" y="156209"/>
                </a:lnTo>
                <a:lnTo>
                  <a:pt x="66593" y="156209"/>
                </a:lnTo>
                <a:lnTo>
                  <a:pt x="64753" y="154939"/>
                </a:lnTo>
                <a:lnTo>
                  <a:pt x="60831" y="153669"/>
                </a:lnTo>
                <a:lnTo>
                  <a:pt x="58864" y="153669"/>
                </a:lnTo>
                <a:lnTo>
                  <a:pt x="54930" y="152399"/>
                </a:lnTo>
                <a:close/>
              </a:path>
              <a:path w="189864" h="204470">
                <a:moveTo>
                  <a:pt x="117993" y="115569"/>
                </a:moveTo>
                <a:lnTo>
                  <a:pt x="102078" y="115569"/>
                </a:lnTo>
                <a:lnTo>
                  <a:pt x="105345" y="116839"/>
                </a:lnTo>
                <a:lnTo>
                  <a:pt x="106921" y="118109"/>
                </a:lnTo>
                <a:lnTo>
                  <a:pt x="112191" y="126999"/>
                </a:lnTo>
                <a:lnTo>
                  <a:pt x="111889" y="129539"/>
                </a:lnTo>
                <a:lnTo>
                  <a:pt x="111423" y="132079"/>
                </a:lnTo>
                <a:lnTo>
                  <a:pt x="109858" y="134619"/>
                </a:lnTo>
                <a:lnTo>
                  <a:pt x="108699" y="135889"/>
                </a:lnTo>
                <a:lnTo>
                  <a:pt x="97375" y="147319"/>
                </a:lnTo>
                <a:lnTo>
                  <a:pt x="108653" y="147319"/>
                </a:lnTo>
                <a:lnTo>
                  <a:pt x="113907" y="142239"/>
                </a:lnTo>
                <a:lnTo>
                  <a:pt x="115458" y="139699"/>
                </a:lnTo>
                <a:lnTo>
                  <a:pt x="117867" y="137159"/>
                </a:lnTo>
                <a:lnTo>
                  <a:pt x="120804" y="129539"/>
                </a:lnTo>
                <a:lnTo>
                  <a:pt x="121246" y="125729"/>
                </a:lnTo>
                <a:lnTo>
                  <a:pt x="121196" y="124459"/>
                </a:lnTo>
                <a:lnTo>
                  <a:pt x="120515" y="120649"/>
                </a:lnTo>
                <a:lnTo>
                  <a:pt x="119871" y="118109"/>
                </a:lnTo>
                <a:lnTo>
                  <a:pt x="117993" y="115569"/>
                </a:lnTo>
                <a:close/>
              </a:path>
              <a:path w="189864" h="204470">
                <a:moveTo>
                  <a:pt x="91581" y="95249"/>
                </a:moveTo>
                <a:lnTo>
                  <a:pt x="77123" y="95249"/>
                </a:lnTo>
                <a:lnTo>
                  <a:pt x="79783" y="96519"/>
                </a:lnTo>
                <a:lnTo>
                  <a:pt x="81070" y="97789"/>
                </a:lnTo>
                <a:lnTo>
                  <a:pt x="86227" y="109219"/>
                </a:lnTo>
                <a:lnTo>
                  <a:pt x="85951" y="110489"/>
                </a:lnTo>
                <a:lnTo>
                  <a:pt x="84728" y="113029"/>
                </a:lnTo>
                <a:lnTo>
                  <a:pt x="74147" y="124459"/>
                </a:lnTo>
                <a:lnTo>
                  <a:pt x="84595" y="124459"/>
                </a:lnTo>
                <a:lnTo>
                  <a:pt x="89683" y="119379"/>
                </a:lnTo>
                <a:lnTo>
                  <a:pt x="91638" y="118109"/>
                </a:lnTo>
                <a:lnTo>
                  <a:pt x="95232" y="115569"/>
                </a:lnTo>
                <a:lnTo>
                  <a:pt x="117993" y="115569"/>
                </a:lnTo>
                <a:lnTo>
                  <a:pt x="116719" y="113029"/>
                </a:lnTo>
                <a:lnTo>
                  <a:pt x="115130" y="111759"/>
                </a:lnTo>
                <a:lnTo>
                  <a:pt x="113403" y="110489"/>
                </a:lnTo>
                <a:lnTo>
                  <a:pt x="111561" y="109219"/>
                </a:lnTo>
                <a:lnTo>
                  <a:pt x="92595" y="109219"/>
                </a:lnTo>
                <a:lnTo>
                  <a:pt x="93226" y="107949"/>
                </a:lnTo>
                <a:lnTo>
                  <a:pt x="93605" y="105409"/>
                </a:lnTo>
                <a:lnTo>
                  <a:pt x="93719" y="104139"/>
                </a:lnTo>
                <a:lnTo>
                  <a:pt x="93705" y="101599"/>
                </a:lnTo>
                <a:lnTo>
                  <a:pt x="92974" y="97789"/>
                </a:lnTo>
                <a:lnTo>
                  <a:pt x="92395" y="96519"/>
                </a:lnTo>
                <a:lnTo>
                  <a:pt x="91581" y="95249"/>
                </a:lnTo>
                <a:close/>
              </a:path>
              <a:path w="189864" h="204470">
                <a:moveTo>
                  <a:pt x="120060" y="45719"/>
                </a:moveTo>
                <a:lnTo>
                  <a:pt x="112961" y="45719"/>
                </a:lnTo>
                <a:lnTo>
                  <a:pt x="105496" y="49529"/>
                </a:lnTo>
                <a:lnTo>
                  <a:pt x="102722" y="52069"/>
                </a:lnTo>
                <a:lnTo>
                  <a:pt x="87565" y="67309"/>
                </a:lnTo>
                <a:lnTo>
                  <a:pt x="87199" y="67309"/>
                </a:lnTo>
                <a:lnTo>
                  <a:pt x="86946" y="69849"/>
                </a:lnTo>
                <a:lnTo>
                  <a:pt x="87388" y="71119"/>
                </a:lnTo>
                <a:lnTo>
                  <a:pt x="134650" y="118109"/>
                </a:lnTo>
                <a:lnTo>
                  <a:pt x="138269" y="118109"/>
                </a:lnTo>
                <a:lnTo>
                  <a:pt x="149182" y="106679"/>
                </a:lnTo>
                <a:lnTo>
                  <a:pt x="137500" y="106679"/>
                </a:lnTo>
                <a:lnTo>
                  <a:pt x="119632" y="88899"/>
                </a:lnTo>
                <a:lnTo>
                  <a:pt x="124720" y="83819"/>
                </a:lnTo>
                <a:lnTo>
                  <a:pt x="114273" y="83819"/>
                </a:lnTo>
                <a:lnTo>
                  <a:pt x="97854" y="67309"/>
                </a:lnTo>
                <a:lnTo>
                  <a:pt x="106732" y="58419"/>
                </a:lnTo>
                <a:lnTo>
                  <a:pt x="108471" y="57149"/>
                </a:lnTo>
                <a:lnTo>
                  <a:pt x="111549" y="55879"/>
                </a:lnTo>
                <a:lnTo>
                  <a:pt x="131705" y="55879"/>
                </a:lnTo>
                <a:lnTo>
                  <a:pt x="130892" y="54609"/>
                </a:lnTo>
                <a:lnTo>
                  <a:pt x="129884" y="53339"/>
                </a:lnTo>
                <a:lnTo>
                  <a:pt x="126681" y="49529"/>
                </a:lnTo>
                <a:lnTo>
                  <a:pt x="124550" y="48259"/>
                </a:lnTo>
                <a:lnTo>
                  <a:pt x="120060" y="45719"/>
                </a:lnTo>
                <a:close/>
              </a:path>
              <a:path w="189864" h="204470">
                <a:moveTo>
                  <a:pt x="107652" y="106679"/>
                </a:moveTo>
                <a:lnTo>
                  <a:pt x="96013" y="106679"/>
                </a:lnTo>
                <a:lnTo>
                  <a:pt x="94247" y="107949"/>
                </a:lnTo>
                <a:lnTo>
                  <a:pt x="92595" y="109219"/>
                </a:lnTo>
                <a:lnTo>
                  <a:pt x="111561" y="109219"/>
                </a:lnTo>
                <a:lnTo>
                  <a:pt x="107652" y="106679"/>
                </a:lnTo>
                <a:close/>
              </a:path>
              <a:path w="189864" h="204470">
                <a:moveTo>
                  <a:pt x="101738" y="105409"/>
                </a:moveTo>
                <a:lnTo>
                  <a:pt x="99809" y="106679"/>
                </a:lnTo>
                <a:lnTo>
                  <a:pt x="105685" y="106679"/>
                </a:lnTo>
                <a:lnTo>
                  <a:pt x="101738" y="105409"/>
                </a:lnTo>
                <a:close/>
              </a:path>
              <a:path w="189864" h="204470">
                <a:moveTo>
                  <a:pt x="158117" y="74929"/>
                </a:moveTo>
                <a:lnTo>
                  <a:pt x="142204" y="74929"/>
                </a:lnTo>
                <a:lnTo>
                  <a:pt x="145470" y="76199"/>
                </a:lnTo>
                <a:lnTo>
                  <a:pt x="148559" y="78739"/>
                </a:lnTo>
                <a:lnTo>
                  <a:pt x="149971" y="80009"/>
                </a:lnTo>
                <a:lnTo>
                  <a:pt x="150956" y="82549"/>
                </a:lnTo>
                <a:lnTo>
                  <a:pt x="152115" y="85089"/>
                </a:lnTo>
                <a:lnTo>
                  <a:pt x="152216" y="87629"/>
                </a:lnTo>
                <a:lnTo>
                  <a:pt x="152015" y="90169"/>
                </a:lnTo>
                <a:lnTo>
                  <a:pt x="151547" y="91439"/>
                </a:lnTo>
                <a:lnTo>
                  <a:pt x="149984" y="93979"/>
                </a:lnTo>
                <a:lnTo>
                  <a:pt x="148824" y="96519"/>
                </a:lnTo>
                <a:lnTo>
                  <a:pt x="137500" y="106679"/>
                </a:lnTo>
                <a:lnTo>
                  <a:pt x="149182" y="106679"/>
                </a:lnTo>
                <a:lnTo>
                  <a:pt x="154031" y="101599"/>
                </a:lnTo>
                <a:lnTo>
                  <a:pt x="155583" y="100329"/>
                </a:lnTo>
                <a:lnTo>
                  <a:pt x="157979" y="96519"/>
                </a:lnTo>
                <a:lnTo>
                  <a:pt x="158963" y="95249"/>
                </a:lnTo>
                <a:lnTo>
                  <a:pt x="160450" y="91439"/>
                </a:lnTo>
                <a:lnTo>
                  <a:pt x="160930" y="88899"/>
                </a:lnTo>
                <a:lnTo>
                  <a:pt x="161371" y="85089"/>
                </a:lnTo>
                <a:lnTo>
                  <a:pt x="161320" y="83819"/>
                </a:lnTo>
                <a:lnTo>
                  <a:pt x="160639" y="80009"/>
                </a:lnTo>
                <a:lnTo>
                  <a:pt x="158117" y="74929"/>
                </a:lnTo>
                <a:close/>
              </a:path>
              <a:path w="189864" h="204470">
                <a:moveTo>
                  <a:pt x="131705" y="55879"/>
                </a:moveTo>
                <a:lnTo>
                  <a:pt x="117248" y="55879"/>
                </a:lnTo>
                <a:lnTo>
                  <a:pt x="119909" y="57149"/>
                </a:lnTo>
                <a:lnTo>
                  <a:pt x="121196" y="58419"/>
                </a:lnTo>
                <a:lnTo>
                  <a:pt x="122419" y="59689"/>
                </a:lnTo>
                <a:lnTo>
                  <a:pt x="123516" y="59689"/>
                </a:lnTo>
                <a:lnTo>
                  <a:pt x="124424" y="60959"/>
                </a:lnTo>
                <a:lnTo>
                  <a:pt x="125836" y="64769"/>
                </a:lnTo>
                <a:lnTo>
                  <a:pt x="126215" y="66039"/>
                </a:lnTo>
                <a:lnTo>
                  <a:pt x="126353" y="68579"/>
                </a:lnTo>
                <a:lnTo>
                  <a:pt x="126075" y="69849"/>
                </a:lnTo>
                <a:lnTo>
                  <a:pt x="124852" y="73659"/>
                </a:lnTo>
                <a:lnTo>
                  <a:pt x="123680" y="74929"/>
                </a:lnTo>
                <a:lnTo>
                  <a:pt x="114273" y="83819"/>
                </a:lnTo>
                <a:lnTo>
                  <a:pt x="124720" y="83819"/>
                </a:lnTo>
                <a:lnTo>
                  <a:pt x="129807" y="78739"/>
                </a:lnTo>
                <a:lnTo>
                  <a:pt x="131762" y="77469"/>
                </a:lnTo>
                <a:lnTo>
                  <a:pt x="135356" y="76199"/>
                </a:lnTo>
                <a:lnTo>
                  <a:pt x="137109" y="74929"/>
                </a:lnTo>
                <a:lnTo>
                  <a:pt x="158117" y="74929"/>
                </a:lnTo>
                <a:lnTo>
                  <a:pt x="156844" y="73659"/>
                </a:lnTo>
                <a:lnTo>
                  <a:pt x="155256" y="71119"/>
                </a:lnTo>
                <a:lnTo>
                  <a:pt x="153527" y="69849"/>
                </a:lnTo>
                <a:lnTo>
                  <a:pt x="151687" y="68579"/>
                </a:lnTo>
                <a:lnTo>
                  <a:pt x="132721" y="68579"/>
                </a:lnTo>
                <a:lnTo>
                  <a:pt x="133352" y="67309"/>
                </a:lnTo>
                <a:lnTo>
                  <a:pt x="133718" y="66039"/>
                </a:lnTo>
                <a:lnTo>
                  <a:pt x="133797" y="64769"/>
                </a:lnTo>
                <a:lnTo>
                  <a:pt x="133831" y="60959"/>
                </a:lnTo>
                <a:lnTo>
                  <a:pt x="133099" y="58419"/>
                </a:lnTo>
                <a:lnTo>
                  <a:pt x="132519" y="57149"/>
                </a:lnTo>
                <a:lnTo>
                  <a:pt x="131705" y="55879"/>
                </a:lnTo>
                <a:close/>
              </a:path>
              <a:path w="189864" h="204470">
                <a:moveTo>
                  <a:pt x="170324" y="0"/>
                </a:moveTo>
                <a:lnTo>
                  <a:pt x="161560" y="0"/>
                </a:lnTo>
                <a:lnTo>
                  <a:pt x="157071" y="1269"/>
                </a:lnTo>
                <a:lnTo>
                  <a:pt x="155116" y="1269"/>
                </a:lnTo>
                <a:lnTo>
                  <a:pt x="151762" y="3809"/>
                </a:lnTo>
                <a:lnTo>
                  <a:pt x="150388" y="5079"/>
                </a:lnTo>
                <a:lnTo>
                  <a:pt x="148193" y="6349"/>
                </a:lnTo>
                <a:lnTo>
                  <a:pt x="147096" y="7619"/>
                </a:lnTo>
                <a:lnTo>
                  <a:pt x="134461" y="20319"/>
                </a:lnTo>
                <a:lnTo>
                  <a:pt x="134071" y="21589"/>
                </a:lnTo>
                <a:lnTo>
                  <a:pt x="133856" y="22859"/>
                </a:lnTo>
                <a:lnTo>
                  <a:pt x="134335" y="24129"/>
                </a:lnTo>
                <a:lnTo>
                  <a:pt x="182366" y="72389"/>
                </a:lnTo>
                <a:lnTo>
                  <a:pt x="184144" y="72389"/>
                </a:lnTo>
                <a:lnTo>
                  <a:pt x="184561" y="71119"/>
                </a:lnTo>
                <a:lnTo>
                  <a:pt x="185557" y="71119"/>
                </a:lnTo>
                <a:lnTo>
                  <a:pt x="186137" y="69849"/>
                </a:lnTo>
                <a:lnTo>
                  <a:pt x="187436" y="68579"/>
                </a:lnTo>
                <a:lnTo>
                  <a:pt x="187953" y="68579"/>
                </a:lnTo>
                <a:lnTo>
                  <a:pt x="188685" y="67309"/>
                </a:lnTo>
                <a:lnTo>
                  <a:pt x="188936" y="67309"/>
                </a:lnTo>
                <a:lnTo>
                  <a:pt x="189252" y="66039"/>
                </a:lnTo>
                <a:lnTo>
                  <a:pt x="189113" y="64769"/>
                </a:lnTo>
                <a:lnTo>
                  <a:pt x="170639" y="46989"/>
                </a:lnTo>
                <a:lnTo>
                  <a:pt x="175726" y="41909"/>
                </a:lnTo>
                <a:lnTo>
                  <a:pt x="165116" y="41909"/>
                </a:lnTo>
                <a:lnTo>
                  <a:pt x="144776" y="21589"/>
                </a:lnTo>
                <a:lnTo>
                  <a:pt x="152166" y="13969"/>
                </a:lnTo>
                <a:lnTo>
                  <a:pt x="153440" y="12699"/>
                </a:lnTo>
                <a:lnTo>
                  <a:pt x="156226" y="10159"/>
                </a:lnTo>
                <a:lnTo>
                  <a:pt x="157840" y="10159"/>
                </a:lnTo>
                <a:lnTo>
                  <a:pt x="161472" y="8889"/>
                </a:lnTo>
                <a:lnTo>
                  <a:pt x="181018" y="8889"/>
                </a:lnTo>
                <a:lnTo>
                  <a:pt x="178483" y="6349"/>
                </a:lnTo>
                <a:lnTo>
                  <a:pt x="176566" y="3809"/>
                </a:lnTo>
                <a:lnTo>
                  <a:pt x="174561" y="2539"/>
                </a:lnTo>
                <a:lnTo>
                  <a:pt x="170324" y="0"/>
                </a:lnTo>
                <a:close/>
              </a:path>
              <a:path w="189864" h="204470">
                <a:moveTo>
                  <a:pt x="145811" y="66039"/>
                </a:moveTo>
                <a:lnTo>
                  <a:pt x="139922" y="66039"/>
                </a:lnTo>
                <a:lnTo>
                  <a:pt x="136138" y="67309"/>
                </a:lnTo>
                <a:lnTo>
                  <a:pt x="134373" y="67309"/>
                </a:lnTo>
                <a:lnTo>
                  <a:pt x="132721" y="68579"/>
                </a:lnTo>
                <a:lnTo>
                  <a:pt x="151687" y="68579"/>
                </a:lnTo>
                <a:lnTo>
                  <a:pt x="147765" y="67309"/>
                </a:lnTo>
                <a:lnTo>
                  <a:pt x="145811" y="66039"/>
                </a:lnTo>
                <a:close/>
              </a:path>
              <a:path w="189864" h="204470">
                <a:moveTo>
                  <a:pt x="181018" y="8889"/>
                </a:moveTo>
                <a:lnTo>
                  <a:pt x="163452" y="8889"/>
                </a:lnTo>
                <a:lnTo>
                  <a:pt x="167764" y="10159"/>
                </a:lnTo>
                <a:lnTo>
                  <a:pt x="169870" y="11429"/>
                </a:lnTo>
                <a:lnTo>
                  <a:pt x="171938" y="13969"/>
                </a:lnTo>
                <a:lnTo>
                  <a:pt x="173451" y="15239"/>
                </a:lnTo>
                <a:lnTo>
                  <a:pt x="174625" y="16509"/>
                </a:lnTo>
                <a:lnTo>
                  <a:pt x="176264" y="20319"/>
                </a:lnTo>
                <a:lnTo>
                  <a:pt x="176679" y="21589"/>
                </a:lnTo>
                <a:lnTo>
                  <a:pt x="176705" y="25399"/>
                </a:lnTo>
                <a:lnTo>
                  <a:pt x="176301" y="27939"/>
                </a:lnTo>
                <a:lnTo>
                  <a:pt x="174663" y="31749"/>
                </a:lnTo>
                <a:lnTo>
                  <a:pt x="173225" y="33019"/>
                </a:lnTo>
                <a:lnTo>
                  <a:pt x="165116" y="41909"/>
                </a:lnTo>
                <a:lnTo>
                  <a:pt x="175726" y="41909"/>
                </a:lnTo>
                <a:lnTo>
                  <a:pt x="179542" y="38099"/>
                </a:lnTo>
                <a:lnTo>
                  <a:pt x="181837" y="34289"/>
                </a:lnTo>
                <a:lnTo>
                  <a:pt x="184788" y="29209"/>
                </a:lnTo>
                <a:lnTo>
                  <a:pt x="185595" y="25399"/>
                </a:lnTo>
                <a:lnTo>
                  <a:pt x="185822" y="20319"/>
                </a:lnTo>
                <a:lnTo>
                  <a:pt x="185280" y="16509"/>
                </a:lnTo>
                <a:lnTo>
                  <a:pt x="182883" y="11429"/>
                </a:lnTo>
                <a:lnTo>
                  <a:pt x="181018" y="8889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93374" y="6047397"/>
            <a:ext cx="238760" cy="212090"/>
          </a:xfrm>
          <a:custGeom>
            <a:avLst/>
            <a:gdLst/>
            <a:ahLst/>
            <a:cxnLst/>
            <a:rect l="l" t="t" r="r" b="b"/>
            <a:pathLst>
              <a:path w="238760" h="212089">
                <a:moveTo>
                  <a:pt x="34746" y="168910"/>
                </a:moveTo>
                <a:lnTo>
                  <a:pt x="20427" y="168910"/>
                </a:lnTo>
                <a:lnTo>
                  <a:pt x="64601" y="212090"/>
                </a:lnTo>
                <a:lnTo>
                  <a:pt x="66807" y="212090"/>
                </a:lnTo>
                <a:lnTo>
                  <a:pt x="67816" y="210820"/>
                </a:lnTo>
                <a:lnTo>
                  <a:pt x="68384" y="210820"/>
                </a:lnTo>
                <a:lnTo>
                  <a:pt x="69669" y="209550"/>
                </a:lnTo>
                <a:lnTo>
                  <a:pt x="70173" y="209550"/>
                </a:lnTo>
                <a:lnTo>
                  <a:pt x="71183" y="207010"/>
                </a:lnTo>
                <a:lnTo>
                  <a:pt x="71574" y="207010"/>
                </a:lnTo>
                <a:lnTo>
                  <a:pt x="71473" y="205740"/>
                </a:lnTo>
                <a:lnTo>
                  <a:pt x="34746" y="168910"/>
                </a:lnTo>
                <a:close/>
              </a:path>
              <a:path w="238760" h="212089">
                <a:moveTo>
                  <a:pt x="37729" y="140970"/>
                </a:moveTo>
                <a:lnTo>
                  <a:pt x="35913" y="140970"/>
                </a:lnTo>
                <a:lnTo>
                  <a:pt x="238" y="176530"/>
                </a:lnTo>
                <a:lnTo>
                  <a:pt x="100" y="177800"/>
                </a:lnTo>
                <a:lnTo>
                  <a:pt x="264" y="179070"/>
                </a:lnTo>
                <a:lnTo>
                  <a:pt x="478" y="179070"/>
                </a:lnTo>
                <a:lnTo>
                  <a:pt x="1108" y="180340"/>
                </a:lnTo>
                <a:lnTo>
                  <a:pt x="1512" y="180340"/>
                </a:lnTo>
                <a:lnTo>
                  <a:pt x="2508" y="181610"/>
                </a:lnTo>
                <a:lnTo>
                  <a:pt x="2975" y="181610"/>
                </a:lnTo>
                <a:lnTo>
                  <a:pt x="3832" y="182880"/>
                </a:lnTo>
                <a:lnTo>
                  <a:pt x="5951" y="182880"/>
                </a:lnTo>
                <a:lnTo>
                  <a:pt x="20427" y="168910"/>
                </a:lnTo>
                <a:lnTo>
                  <a:pt x="34746" y="168910"/>
                </a:lnTo>
                <a:lnTo>
                  <a:pt x="27174" y="161290"/>
                </a:lnTo>
                <a:lnTo>
                  <a:pt x="41638" y="147320"/>
                </a:lnTo>
                <a:lnTo>
                  <a:pt x="41776" y="147320"/>
                </a:lnTo>
                <a:lnTo>
                  <a:pt x="41902" y="146050"/>
                </a:lnTo>
                <a:lnTo>
                  <a:pt x="41676" y="146050"/>
                </a:lnTo>
                <a:lnTo>
                  <a:pt x="41474" y="144780"/>
                </a:lnTo>
                <a:lnTo>
                  <a:pt x="40843" y="144780"/>
                </a:lnTo>
                <a:lnTo>
                  <a:pt x="40439" y="143510"/>
                </a:lnTo>
                <a:lnTo>
                  <a:pt x="39947" y="143510"/>
                </a:lnTo>
                <a:lnTo>
                  <a:pt x="39443" y="142240"/>
                </a:lnTo>
                <a:lnTo>
                  <a:pt x="38119" y="142240"/>
                </a:lnTo>
                <a:lnTo>
                  <a:pt x="37729" y="140970"/>
                </a:lnTo>
                <a:close/>
              </a:path>
              <a:path w="238760" h="212089">
                <a:moveTo>
                  <a:pt x="93969" y="121920"/>
                </a:moveTo>
                <a:lnTo>
                  <a:pt x="84752" y="121920"/>
                </a:lnTo>
                <a:lnTo>
                  <a:pt x="78712" y="124460"/>
                </a:lnTo>
                <a:lnTo>
                  <a:pt x="64737" y="147320"/>
                </a:lnTo>
                <a:lnTo>
                  <a:pt x="65130" y="152400"/>
                </a:lnTo>
                <a:lnTo>
                  <a:pt x="86694" y="176530"/>
                </a:lnTo>
                <a:lnTo>
                  <a:pt x="89757" y="176530"/>
                </a:lnTo>
                <a:lnTo>
                  <a:pt x="95924" y="177800"/>
                </a:lnTo>
                <a:lnTo>
                  <a:pt x="107966" y="172720"/>
                </a:lnTo>
                <a:lnTo>
                  <a:pt x="111492" y="168910"/>
                </a:lnTo>
                <a:lnTo>
                  <a:pt x="95154" y="168910"/>
                </a:lnTo>
                <a:lnTo>
                  <a:pt x="90956" y="167640"/>
                </a:lnTo>
                <a:lnTo>
                  <a:pt x="84776" y="163830"/>
                </a:lnTo>
                <a:lnTo>
                  <a:pt x="82784" y="162560"/>
                </a:lnTo>
                <a:lnTo>
                  <a:pt x="78837" y="158750"/>
                </a:lnTo>
                <a:lnTo>
                  <a:pt x="77198" y="156210"/>
                </a:lnTo>
                <a:lnTo>
                  <a:pt x="74675" y="152400"/>
                </a:lnTo>
                <a:lnTo>
                  <a:pt x="73869" y="149860"/>
                </a:lnTo>
                <a:lnTo>
                  <a:pt x="73188" y="146050"/>
                </a:lnTo>
                <a:lnTo>
                  <a:pt x="73365" y="143510"/>
                </a:lnTo>
                <a:lnTo>
                  <a:pt x="86492" y="130810"/>
                </a:lnTo>
                <a:lnTo>
                  <a:pt x="108156" y="130810"/>
                </a:lnTo>
                <a:lnTo>
                  <a:pt x="106188" y="128270"/>
                </a:lnTo>
                <a:lnTo>
                  <a:pt x="103174" y="127000"/>
                </a:lnTo>
                <a:lnTo>
                  <a:pt x="97047" y="123190"/>
                </a:lnTo>
                <a:lnTo>
                  <a:pt x="93969" y="121920"/>
                </a:lnTo>
                <a:close/>
              </a:path>
              <a:path w="238760" h="212089">
                <a:moveTo>
                  <a:pt x="108156" y="130810"/>
                </a:moveTo>
                <a:lnTo>
                  <a:pt x="88610" y="130810"/>
                </a:lnTo>
                <a:lnTo>
                  <a:pt x="92796" y="132080"/>
                </a:lnTo>
                <a:lnTo>
                  <a:pt x="94877" y="132080"/>
                </a:lnTo>
                <a:lnTo>
                  <a:pt x="98988" y="135890"/>
                </a:lnTo>
                <a:lnTo>
                  <a:pt x="100968" y="137160"/>
                </a:lnTo>
                <a:lnTo>
                  <a:pt x="102872" y="138430"/>
                </a:lnTo>
                <a:lnTo>
                  <a:pt x="104914" y="140970"/>
                </a:lnTo>
                <a:lnTo>
                  <a:pt x="106566" y="143510"/>
                </a:lnTo>
                <a:lnTo>
                  <a:pt x="109114" y="147320"/>
                </a:lnTo>
                <a:lnTo>
                  <a:pt x="109921" y="149860"/>
                </a:lnTo>
                <a:lnTo>
                  <a:pt x="110366" y="152400"/>
                </a:lnTo>
                <a:lnTo>
                  <a:pt x="110488" y="154940"/>
                </a:lnTo>
                <a:lnTo>
                  <a:pt x="110388" y="156210"/>
                </a:lnTo>
                <a:lnTo>
                  <a:pt x="108963" y="160020"/>
                </a:lnTo>
                <a:lnTo>
                  <a:pt x="103666" y="165100"/>
                </a:lnTo>
                <a:lnTo>
                  <a:pt x="101560" y="167640"/>
                </a:lnTo>
                <a:lnTo>
                  <a:pt x="97273" y="168910"/>
                </a:lnTo>
                <a:lnTo>
                  <a:pt x="111492" y="168910"/>
                </a:lnTo>
                <a:lnTo>
                  <a:pt x="113842" y="166370"/>
                </a:lnTo>
                <a:lnTo>
                  <a:pt x="115973" y="163830"/>
                </a:lnTo>
                <a:lnTo>
                  <a:pt x="118534" y="157480"/>
                </a:lnTo>
                <a:lnTo>
                  <a:pt x="119051" y="153670"/>
                </a:lnTo>
                <a:lnTo>
                  <a:pt x="118546" y="147320"/>
                </a:lnTo>
                <a:lnTo>
                  <a:pt x="117600" y="143510"/>
                </a:lnTo>
                <a:lnTo>
                  <a:pt x="114284" y="137160"/>
                </a:lnTo>
                <a:lnTo>
                  <a:pt x="112013" y="134620"/>
                </a:lnTo>
                <a:lnTo>
                  <a:pt x="109139" y="132080"/>
                </a:lnTo>
                <a:lnTo>
                  <a:pt x="108156" y="130810"/>
                </a:lnTo>
                <a:close/>
              </a:path>
              <a:path w="238760" h="212089">
                <a:moveTo>
                  <a:pt x="133162" y="146050"/>
                </a:moveTo>
                <a:lnTo>
                  <a:pt x="130072" y="146050"/>
                </a:lnTo>
                <a:lnTo>
                  <a:pt x="130538" y="147320"/>
                </a:lnTo>
                <a:lnTo>
                  <a:pt x="132064" y="147320"/>
                </a:lnTo>
                <a:lnTo>
                  <a:pt x="133162" y="146050"/>
                </a:lnTo>
                <a:close/>
              </a:path>
              <a:path w="238760" h="212089">
                <a:moveTo>
                  <a:pt x="102355" y="102870"/>
                </a:moveTo>
                <a:lnTo>
                  <a:pt x="101258" y="102870"/>
                </a:lnTo>
                <a:lnTo>
                  <a:pt x="100577" y="104140"/>
                </a:lnTo>
                <a:lnTo>
                  <a:pt x="100161" y="104140"/>
                </a:lnTo>
                <a:lnTo>
                  <a:pt x="99165" y="105410"/>
                </a:lnTo>
                <a:lnTo>
                  <a:pt x="98534" y="105410"/>
                </a:lnTo>
                <a:lnTo>
                  <a:pt x="96945" y="106680"/>
                </a:lnTo>
                <a:lnTo>
                  <a:pt x="96290" y="107950"/>
                </a:lnTo>
                <a:lnTo>
                  <a:pt x="95382" y="109220"/>
                </a:lnTo>
                <a:lnTo>
                  <a:pt x="95116" y="109220"/>
                </a:lnTo>
                <a:lnTo>
                  <a:pt x="94952" y="110490"/>
                </a:lnTo>
                <a:lnTo>
                  <a:pt x="95571" y="110490"/>
                </a:lnTo>
                <a:lnTo>
                  <a:pt x="95986" y="111760"/>
                </a:lnTo>
                <a:lnTo>
                  <a:pt x="96566" y="111760"/>
                </a:lnTo>
                <a:lnTo>
                  <a:pt x="123527" y="116840"/>
                </a:lnTo>
                <a:lnTo>
                  <a:pt x="129882" y="146050"/>
                </a:lnTo>
                <a:lnTo>
                  <a:pt x="133817" y="146050"/>
                </a:lnTo>
                <a:lnTo>
                  <a:pt x="135305" y="143510"/>
                </a:lnTo>
                <a:lnTo>
                  <a:pt x="135873" y="143510"/>
                </a:lnTo>
                <a:lnTo>
                  <a:pt x="136679" y="142240"/>
                </a:lnTo>
                <a:lnTo>
                  <a:pt x="136969" y="142240"/>
                </a:lnTo>
                <a:lnTo>
                  <a:pt x="137335" y="140970"/>
                </a:lnTo>
                <a:lnTo>
                  <a:pt x="137309" y="139700"/>
                </a:lnTo>
                <a:lnTo>
                  <a:pt x="131749" y="116840"/>
                </a:lnTo>
                <a:lnTo>
                  <a:pt x="161850" y="116840"/>
                </a:lnTo>
                <a:lnTo>
                  <a:pt x="162039" y="115570"/>
                </a:lnTo>
                <a:lnTo>
                  <a:pt x="161042" y="115570"/>
                </a:lnTo>
                <a:lnTo>
                  <a:pt x="160474" y="114300"/>
                </a:lnTo>
                <a:lnTo>
                  <a:pt x="132177" y="107950"/>
                </a:lnTo>
                <a:lnTo>
                  <a:pt x="123791" y="107950"/>
                </a:lnTo>
                <a:lnTo>
                  <a:pt x="102355" y="102870"/>
                </a:lnTo>
                <a:close/>
              </a:path>
              <a:path w="238760" h="212089">
                <a:moveTo>
                  <a:pt x="161584" y="116840"/>
                </a:moveTo>
                <a:lnTo>
                  <a:pt x="131749" y="116840"/>
                </a:lnTo>
                <a:lnTo>
                  <a:pt x="154485" y="123190"/>
                </a:lnTo>
                <a:lnTo>
                  <a:pt x="156414" y="123190"/>
                </a:lnTo>
                <a:lnTo>
                  <a:pt x="156843" y="121920"/>
                </a:lnTo>
                <a:lnTo>
                  <a:pt x="157839" y="121920"/>
                </a:lnTo>
                <a:lnTo>
                  <a:pt x="160072" y="119380"/>
                </a:lnTo>
                <a:lnTo>
                  <a:pt x="160689" y="118110"/>
                </a:lnTo>
                <a:lnTo>
                  <a:pt x="161584" y="116840"/>
                </a:lnTo>
                <a:close/>
              </a:path>
              <a:path w="238760" h="212089">
                <a:moveTo>
                  <a:pt x="162501" y="48260"/>
                </a:moveTo>
                <a:lnTo>
                  <a:pt x="147587" y="48260"/>
                </a:lnTo>
                <a:lnTo>
                  <a:pt x="150348" y="49530"/>
                </a:lnTo>
                <a:lnTo>
                  <a:pt x="151610" y="50800"/>
                </a:lnTo>
                <a:lnTo>
                  <a:pt x="153855" y="53340"/>
                </a:lnTo>
                <a:lnTo>
                  <a:pt x="154927" y="54610"/>
                </a:lnTo>
                <a:lnTo>
                  <a:pt x="157007" y="57150"/>
                </a:lnTo>
                <a:lnTo>
                  <a:pt x="157928" y="59690"/>
                </a:lnTo>
                <a:lnTo>
                  <a:pt x="159529" y="63500"/>
                </a:lnTo>
                <a:lnTo>
                  <a:pt x="161799" y="102870"/>
                </a:lnTo>
                <a:lnTo>
                  <a:pt x="161862" y="104140"/>
                </a:lnTo>
                <a:lnTo>
                  <a:pt x="162063" y="105410"/>
                </a:lnTo>
                <a:lnTo>
                  <a:pt x="162518" y="106680"/>
                </a:lnTo>
                <a:lnTo>
                  <a:pt x="163135" y="106680"/>
                </a:lnTo>
                <a:lnTo>
                  <a:pt x="163917" y="107950"/>
                </a:lnTo>
                <a:lnTo>
                  <a:pt x="165014" y="109220"/>
                </a:lnTo>
                <a:lnTo>
                  <a:pt x="165544" y="109220"/>
                </a:lnTo>
                <a:lnTo>
                  <a:pt x="166514" y="110490"/>
                </a:lnTo>
                <a:lnTo>
                  <a:pt x="168885" y="110490"/>
                </a:lnTo>
                <a:lnTo>
                  <a:pt x="169251" y="109220"/>
                </a:lnTo>
                <a:lnTo>
                  <a:pt x="180956" y="97790"/>
                </a:lnTo>
                <a:lnTo>
                  <a:pt x="169806" y="97790"/>
                </a:lnTo>
                <a:lnTo>
                  <a:pt x="169448" y="80010"/>
                </a:lnTo>
                <a:lnTo>
                  <a:pt x="169377" y="74930"/>
                </a:lnTo>
                <a:lnTo>
                  <a:pt x="169075" y="69850"/>
                </a:lnTo>
                <a:lnTo>
                  <a:pt x="168003" y="62230"/>
                </a:lnTo>
                <a:lnTo>
                  <a:pt x="167271" y="58420"/>
                </a:lnTo>
                <a:lnTo>
                  <a:pt x="165380" y="53340"/>
                </a:lnTo>
                <a:lnTo>
                  <a:pt x="164257" y="50800"/>
                </a:lnTo>
                <a:lnTo>
                  <a:pt x="162501" y="48260"/>
                </a:lnTo>
                <a:close/>
              </a:path>
              <a:path w="238760" h="212089">
                <a:moveTo>
                  <a:pt x="125280" y="80010"/>
                </a:moveTo>
                <a:lnTo>
                  <a:pt x="123766" y="80010"/>
                </a:lnTo>
                <a:lnTo>
                  <a:pt x="122695" y="81280"/>
                </a:lnTo>
                <a:lnTo>
                  <a:pt x="122052" y="82550"/>
                </a:lnTo>
                <a:lnTo>
                  <a:pt x="121282" y="82550"/>
                </a:lnTo>
                <a:lnTo>
                  <a:pt x="120046" y="83820"/>
                </a:lnTo>
                <a:lnTo>
                  <a:pt x="119315" y="85090"/>
                </a:lnTo>
                <a:lnTo>
                  <a:pt x="119063" y="85090"/>
                </a:lnTo>
                <a:lnTo>
                  <a:pt x="118811" y="86360"/>
                </a:lnTo>
                <a:lnTo>
                  <a:pt x="123791" y="107950"/>
                </a:lnTo>
                <a:lnTo>
                  <a:pt x="132177" y="107950"/>
                </a:lnTo>
                <a:lnTo>
                  <a:pt x="126112" y="81280"/>
                </a:lnTo>
                <a:lnTo>
                  <a:pt x="125759" y="81280"/>
                </a:lnTo>
                <a:lnTo>
                  <a:pt x="125280" y="80010"/>
                </a:lnTo>
                <a:close/>
              </a:path>
              <a:path w="238760" h="212089">
                <a:moveTo>
                  <a:pt x="194471" y="74930"/>
                </a:moveTo>
                <a:lnTo>
                  <a:pt x="192088" y="74930"/>
                </a:lnTo>
                <a:lnTo>
                  <a:pt x="169806" y="97790"/>
                </a:lnTo>
                <a:lnTo>
                  <a:pt x="180956" y="97790"/>
                </a:lnTo>
                <a:lnTo>
                  <a:pt x="197863" y="81280"/>
                </a:lnTo>
                <a:lnTo>
                  <a:pt x="198027" y="81280"/>
                </a:lnTo>
                <a:lnTo>
                  <a:pt x="198179" y="80010"/>
                </a:lnTo>
                <a:lnTo>
                  <a:pt x="197888" y="78740"/>
                </a:lnTo>
                <a:lnTo>
                  <a:pt x="197674" y="78740"/>
                </a:lnTo>
                <a:lnTo>
                  <a:pt x="197082" y="77470"/>
                </a:lnTo>
                <a:lnTo>
                  <a:pt x="196225" y="77470"/>
                </a:lnTo>
                <a:lnTo>
                  <a:pt x="195757" y="76200"/>
                </a:lnTo>
                <a:lnTo>
                  <a:pt x="195304" y="76200"/>
                </a:lnTo>
                <a:lnTo>
                  <a:pt x="194471" y="74930"/>
                </a:lnTo>
                <a:close/>
              </a:path>
              <a:path w="238760" h="212089">
                <a:moveTo>
                  <a:pt x="128559" y="67310"/>
                </a:moveTo>
                <a:lnTo>
                  <a:pt x="125091" y="67310"/>
                </a:lnTo>
                <a:lnTo>
                  <a:pt x="125986" y="68580"/>
                </a:lnTo>
                <a:lnTo>
                  <a:pt x="128041" y="68580"/>
                </a:lnTo>
                <a:lnTo>
                  <a:pt x="128559" y="67310"/>
                </a:lnTo>
                <a:close/>
              </a:path>
              <a:path w="238760" h="212089">
                <a:moveTo>
                  <a:pt x="150336" y="38100"/>
                </a:moveTo>
                <a:lnTo>
                  <a:pt x="143198" y="38100"/>
                </a:lnTo>
                <a:lnTo>
                  <a:pt x="140727" y="39370"/>
                </a:lnTo>
                <a:lnTo>
                  <a:pt x="135658" y="40640"/>
                </a:lnTo>
                <a:lnTo>
                  <a:pt x="133162" y="43180"/>
                </a:lnTo>
                <a:lnTo>
                  <a:pt x="127853" y="48260"/>
                </a:lnTo>
                <a:lnTo>
                  <a:pt x="125684" y="52070"/>
                </a:lnTo>
                <a:lnTo>
                  <a:pt x="124788" y="53340"/>
                </a:lnTo>
                <a:lnTo>
                  <a:pt x="123376" y="57150"/>
                </a:lnTo>
                <a:lnTo>
                  <a:pt x="122872" y="58420"/>
                </a:lnTo>
                <a:lnTo>
                  <a:pt x="122279" y="60960"/>
                </a:lnTo>
                <a:lnTo>
                  <a:pt x="122102" y="62230"/>
                </a:lnTo>
                <a:lnTo>
                  <a:pt x="122052" y="63500"/>
                </a:lnTo>
                <a:lnTo>
                  <a:pt x="122203" y="63500"/>
                </a:lnTo>
                <a:lnTo>
                  <a:pt x="122455" y="64770"/>
                </a:lnTo>
                <a:lnTo>
                  <a:pt x="123060" y="64770"/>
                </a:lnTo>
                <a:lnTo>
                  <a:pt x="123653" y="66040"/>
                </a:lnTo>
                <a:lnTo>
                  <a:pt x="124599" y="67310"/>
                </a:lnTo>
                <a:lnTo>
                  <a:pt x="128823" y="67310"/>
                </a:lnTo>
                <a:lnTo>
                  <a:pt x="129265" y="64770"/>
                </a:lnTo>
                <a:lnTo>
                  <a:pt x="129606" y="63500"/>
                </a:lnTo>
                <a:lnTo>
                  <a:pt x="130526" y="60960"/>
                </a:lnTo>
                <a:lnTo>
                  <a:pt x="131182" y="58420"/>
                </a:lnTo>
                <a:lnTo>
                  <a:pt x="132909" y="55880"/>
                </a:lnTo>
                <a:lnTo>
                  <a:pt x="134170" y="53340"/>
                </a:lnTo>
                <a:lnTo>
                  <a:pt x="137209" y="50800"/>
                </a:lnTo>
                <a:lnTo>
                  <a:pt x="138672" y="49530"/>
                </a:lnTo>
                <a:lnTo>
                  <a:pt x="141711" y="48260"/>
                </a:lnTo>
                <a:lnTo>
                  <a:pt x="162501" y="48260"/>
                </a:lnTo>
                <a:lnTo>
                  <a:pt x="161622" y="46990"/>
                </a:lnTo>
                <a:lnTo>
                  <a:pt x="160147" y="45720"/>
                </a:lnTo>
                <a:lnTo>
                  <a:pt x="156729" y="41910"/>
                </a:lnTo>
                <a:lnTo>
                  <a:pt x="154725" y="40640"/>
                </a:lnTo>
                <a:lnTo>
                  <a:pt x="150336" y="38100"/>
                </a:lnTo>
                <a:close/>
              </a:path>
              <a:path w="238760" h="212089">
                <a:moveTo>
                  <a:pt x="191443" y="12700"/>
                </a:moveTo>
                <a:lnTo>
                  <a:pt x="178078" y="12700"/>
                </a:lnTo>
                <a:lnTo>
                  <a:pt x="216640" y="52070"/>
                </a:lnTo>
                <a:lnTo>
                  <a:pt x="205846" y="62230"/>
                </a:lnTo>
                <a:lnTo>
                  <a:pt x="205619" y="63500"/>
                </a:lnTo>
                <a:lnTo>
                  <a:pt x="205846" y="63500"/>
                </a:lnTo>
                <a:lnTo>
                  <a:pt x="206034" y="64770"/>
                </a:lnTo>
                <a:lnTo>
                  <a:pt x="206552" y="64770"/>
                </a:lnTo>
                <a:lnTo>
                  <a:pt x="206918" y="66040"/>
                </a:lnTo>
                <a:lnTo>
                  <a:pt x="207888" y="67310"/>
                </a:lnTo>
                <a:lnTo>
                  <a:pt x="211281" y="67310"/>
                </a:lnTo>
                <a:lnTo>
                  <a:pt x="234303" y="44450"/>
                </a:lnTo>
                <a:lnTo>
                  <a:pt x="223373" y="44450"/>
                </a:lnTo>
                <a:lnTo>
                  <a:pt x="191443" y="12700"/>
                </a:lnTo>
                <a:close/>
              </a:path>
              <a:path w="238760" h="212089">
                <a:moveTo>
                  <a:pt x="235794" y="35560"/>
                </a:moveTo>
                <a:lnTo>
                  <a:pt x="232755" y="35560"/>
                </a:lnTo>
                <a:lnTo>
                  <a:pt x="223373" y="44450"/>
                </a:lnTo>
                <a:lnTo>
                  <a:pt x="234303" y="44450"/>
                </a:lnTo>
                <a:lnTo>
                  <a:pt x="238140" y="40640"/>
                </a:lnTo>
                <a:lnTo>
                  <a:pt x="238431" y="40640"/>
                </a:lnTo>
                <a:lnTo>
                  <a:pt x="238431" y="39370"/>
                </a:lnTo>
                <a:lnTo>
                  <a:pt x="238265" y="39370"/>
                </a:lnTo>
                <a:lnTo>
                  <a:pt x="238102" y="38100"/>
                </a:lnTo>
                <a:lnTo>
                  <a:pt x="237572" y="38100"/>
                </a:lnTo>
                <a:lnTo>
                  <a:pt x="237195" y="36830"/>
                </a:lnTo>
                <a:lnTo>
                  <a:pt x="236236" y="36830"/>
                </a:lnTo>
                <a:lnTo>
                  <a:pt x="235794" y="35560"/>
                </a:lnTo>
                <a:close/>
              </a:path>
              <a:path w="238760" h="212089">
                <a:moveTo>
                  <a:pt x="178671" y="0"/>
                </a:moveTo>
                <a:lnTo>
                  <a:pt x="176703" y="0"/>
                </a:lnTo>
                <a:lnTo>
                  <a:pt x="175770" y="1270"/>
                </a:lnTo>
                <a:lnTo>
                  <a:pt x="175216" y="1270"/>
                </a:lnTo>
                <a:lnTo>
                  <a:pt x="174119" y="2540"/>
                </a:lnTo>
                <a:lnTo>
                  <a:pt x="173135" y="3810"/>
                </a:lnTo>
                <a:lnTo>
                  <a:pt x="172896" y="3810"/>
                </a:lnTo>
                <a:lnTo>
                  <a:pt x="172530" y="5080"/>
                </a:lnTo>
                <a:lnTo>
                  <a:pt x="172114" y="5080"/>
                </a:lnTo>
                <a:lnTo>
                  <a:pt x="172088" y="6350"/>
                </a:lnTo>
                <a:lnTo>
                  <a:pt x="167813" y="25400"/>
                </a:lnTo>
                <a:lnTo>
                  <a:pt x="167801" y="26670"/>
                </a:lnTo>
                <a:lnTo>
                  <a:pt x="168141" y="26670"/>
                </a:lnTo>
                <a:lnTo>
                  <a:pt x="168343" y="27940"/>
                </a:lnTo>
                <a:lnTo>
                  <a:pt x="169251" y="27940"/>
                </a:lnTo>
                <a:lnTo>
                  <a:pt x="170298" y="29210"/>
                </a:lnTo>
                <a:lnTo>
                  <a:pt x="170827" y="30480"/>
                </a:lnTo>
                <a:lnTo>
                  <a:pt x="173639" y="30480"/>
                </a:lnTo>
                <a:lnTo>
                  <a:pt x="173892" y="29210"/>
                </a:lnTo>
                <a:lnTo>
                  <a:pt x="174119" y="29210"/>
                </a:lnTo>
                <a:lnTo>
                  <a:pt x="178078" y="12700"/>
                </a:lnTo>
                <a:lnTo>
                  <a:pt x="191443" y="12700"/>
                </a:lnTo>
                <a:lnTo>
                  <a:pt x="178671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633401" y="6047081"/>
            <a:ext cx="299490" cy="2705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207537" y="6041414"/>
            <a:ext cx="227329" cy="219710"/>
          </a:xfrm>
          <a:custGeom>
            <a:avLst/>
            <a:gdLst/>
            <a:ahLst/>
            <a:cxnLst/>
            <a:rect l="l" t="t" r="r" b="b"/>
            <a:pathLst>
              <a:path w="227329" h="219710">
                <a:moveTo>
                  <a:pt x="45523" y="218440"/>
                </a:moveTo>
                <a:lnTo>
                  <a:pt x="36948" y="218440"/>
                </a:lnTo>
                <a:lnTo>
                  <a:pt x="37703" y="219710"/>
                </a:lnTo>
                <a:lnTo>
                  <a:pt x="44135" y="219710"/>
                </a:lnTo>
                <a:lnTo>
                  <a:pt x="45523" y="218440"/>
                </a:lnTo>
                <a:close/>
              </a:path>
              <a:path w="227329" h="219710">
                <a:moveTo>
                  <a:pt x="48675" y="217170"/>
                </a:moveTo>
                <a:lnTo>
                  <a:pt x="35561" y="217170"/>
                </a:lnTo>
                <a:lnTo>
                  <a:pt x="36191" y="218440"/>
                </a:lnTo>
                <a:lnTo>
                  <a:pt x="47035" y="218440"/>
                </a:lnTo>
                <a:lnTo>
                  <a:pt x="48675" y="217170"/>
                </a:lnTo>
                <a:close/>
              </a:path>
              <a:path w="227329" h="219710">
                <a:moveTo>
                  <a:pt x="63428" y="184150"/>
                </a:moveTo>
                <a:lnTo>
                  <a:pt x="50062" y="184150"/>
                </a:lnTo>
                <a:lnTo>
                  <a:pt x="51701" y="185420"/>
                </a:lnTo>
                <a:lnTo>
                  <a:pt x="54475" y="187960"/>
                </a:lnTo>
                <a:lnTo>
                  <a:pt x="55358" y="189230"/>
                </a:lnTo>
                <a:lnTo>
                  <a:pt x="55989" y="190500"/>
                </a:lnTo>
                <a:lnTo>
                  <a:pt x="56746" y="194310"/>
                </a:lnTo>
                <a:lnTo>
                  <a:pt x="56493" y="196850"/>
                </a:lnTo>
                <a:lnTo>
                  <a:pt x="55989" y="199390"/>
                </a:lnTo>
                <a:lnTo>
                  <a:pt x="55106" y="200660"/>
                </a:lnTo>
                <a:lnTo>
                  <a:pt x="54349" y="201930"/>
                </a:lnTo>
                <a:lnTo>
                  <a:pt x="53214" y="203200"/>
                </a:lnTo>
                <a:lnTo>
                  <a:pt x="51701" y="205740"/>
                </a:lnTo>
                <a:lnTo>
                  <a:pt x="49809" y="207010"/>
                </a:lnTo>
                <a:lnTo>
                  <a:pt x="47792" y="208280"/>
                </a:lnTo>
                <a:lnTo>
                  <a:pt x="44009" y="210820"/>
                </a:lnTo>
                <a:lnTo>
                  <a:pt x="42244" y="210820"/>
                </a:lnTo>
                <a:lnTo>
                  <a:pt x="40604" y="212090"/>
                </a:lnTo>
                <a:lnTo>
                  <a:pt x="39091" y="212090"/>
                </a:lnTo>
                <a:lnTo>
                  <a:pt x="37703" y="213360"/>
                </a:lnTo>
                <a:lnTo>
                  <a:pt x="34425" y="213360"/>
                </a:lnTo>
                <a:lnTo>
                  <a:pt x="34173" y="214630"/>
                </a:lnTo>
                <a:lnTo>
                  <a:pt x="34047" y="215900"/>
                </a:lnTo>
                <a:lnTo>
                  <a:pt x="34425" y="215900"/>
                </a:lnTo>
                <a:lnTo>
                  <a:pt x="35182" y="217170"/>
                </a:lnTo>
                <a:lnTo>
                  <a:pt x="50314" y="217170"/>
                </a:lnTo>
                <a:lnTo>
                  <a:pt x="51953" y="215900"/>
                </a:lnTo>
                <a:lnTo>
                  <a:pt x="55485" y="213360"/>
                </a:lnTo>
                <a:lnTo>
                  <a:pt x="61537" y="205740"/>
                </a:lnTo>
                <a:lnTo>
                  <a:pt x="62924" y="203200"/>
                </a:lnTo>
                <a:lnTo>
                  <a:pt x="64437" y="200660"/>
                </a:lnTo>
                <a:lnTo>
                  <a:pt x="65319" y="198120"/>
                </a:lnTo>
                <a:lnTo>
                  <a:pt x="65825" y="191770"/>
                </a:lnTo>
                <a:lnTo>
                  <a:pt x="65446" y="189230"/>
                </a:lnTo>
                <a:lnTo>
                  <a:pt x="63428" y="184150"/>
                </a:lnTo>
                <a:close/>
              </a:path>
              <a:path w="227329" h="219710">
                <a:moveTo>
                  <a:pt x="26103" y="151130"/>
                </a:moveTo>
                <a:lnTo>
                  <a:pt x="13997" y="151130"/>
                </a:lnTo>
                <a:lnTo>
                  <a:pt x="12736" y="152400"/>
                </a:lnTo>
                <a:lnTo>
                  <a:pt x="9961" y="153670"/>
                </a:lnTo>
                <a:lnTo>
                  <a:pt x="0" y="173990"/>
                </a:lnTo>
                <a:lnTo>
                  <a:pt x="125" y="175260"/>
                </a:lnTo>
                <a:lnTo>
                  <a:pt x="13997" y="190500"/>
                </a:lnTo>
                <a:lnTo>
                  <a:pt x="22698" y="190500"/>
                </a:lnTo>
                <a:lnTo>
                  <a:pt x="26986" y="189230"/>
                </a:lnTo>
                <a:lnTo>
                  <a:pt x="29129" y="187960"/>
                </a:lnTo>
                <a:lnTo>
                  <a:pt x="31273" y="187960"/>
                </a:lnTo>
                <a:lnTo>
                  <a:pt x="33290" y="186690"/>
                </a:lnTo>
                <a:lnTo>
                  <a:pt x="39470" y="185420"/>
                </a:lnTo>
                <a:lnTo>
                  <a:pt x="41361" y="184150"/>
                </a:lnTo>
                <a:lnTo>
                  <a:pt x="63428" y="184150"/>
                </a:lnTo>
                <a:lnTo>
                  <a:pt x="61789" y="181610"/>
                </a:lnTo>
                <a:lnTo>
                  <a:pt x="60591" y="180340"/>
                </a:lnTo>
                <a:lnTo>
                  <a:pt x="14753" y="180340"/>
                </a:lnTo>
                <a:lnTo>
                  <a:pt x="11727" y="177800"/>
                </a:lnTo>
                <a:lnTo>
                  <a:pt x="10844" y="176530"/>
                </a:lnTo>
                <a:lnTo>
                  <a:pt x="10088" y="175260"/>
                </a:lnTo>
                <a:lnTo>
                  <a:pt x="9079" y="172720"/>
                </a:lnTo>
                <a:lnTo>
                  <a:pt x="8827" y="171450"/>
                </a:lnTo>
                <a:lnTo>
                  <a:pt x="8827" y="168910"/>
                </a:lnTo>
                <a:lnTo>
                  <a:pt x="9206" y="167640"/>
                </a:lnTo>
                <a:lnTo>
                  <a:pt x="9961" y="166370"/>
                </a:lnTo>
                <a:lnTo>
                  <a:pt x="10593" y="165100"/>
                </a:lnTo>
                <a:lnTo>
                  <a:pt x="11601" y="163830"/>
                </a:lnTo>
                <a:lnTo>
                  <a:pt x="14502" y="161290"/>
                </a:lnTo>
                <a:lnTo>
                  <a:pt x="16141" y="160020"/>
                </a:lnTo>
                <a:lnTo>
                  <a:pt x="17654" y="158750"/>
                </a:lnTo>
                <a:lnTo>
                  <a:pt x="19293" y="157480"/>
                </a:lnTo>
                <a:lnTo>
                  <a:pt x="20806" y="157480"/>
                </a:lnTo>
                <a:lnTo>
                  <a:pt x="22067" y="156210"/>
                </a:lnTo>
                <a:lnTo>
                  <a:pt x="24589" y="156210"/>
                </a:lnTo>
                <a:lnTo>
                  <a:pt x="26607" y="154940"/>
                </a:lnTo>
                <a:lnTo>
                  <a:pt x="27741" y="154940"/>
                </a:lnTo>
                <a:lnTo>
                  <a:pt x="27868" y="153670"/>
                </a:lnTo>
                <a:lnTo>
                  <a:pt x="27364" y="153670"/>
                </a:lnTo>
                <a:lnTo>
                  <a:pt x="26859" y="152400"/>
                </a:lnTo>
                <a:lnTo>
                  <a:pt x="26480" y="152400"/>
                </a:lnTo>
                <a:lnTo>
                  <a:pt x="26103" y="151130"/>
                </a:lnTo>
                <a:close/>
              </a:path>
              <a:path w="227329" h="219710">
                <a:moveTo>
                  <a:pt x="51070" y="173990"/>
                </a:moveTo>
                <a:lnTo>
                  <a:pt x="42369" y="173990"/>
                </a:lnTo>
                <a:lnTo>
                  <a:pt x="38082" y="175260"/>
                </a:lnTo>
                <a:lnTo>
                  <a:pt x="35938" y="175260"/>
                </a:lnTo>
                <a:lnTo>
                  <a:pt x="31650" y="177800"/>
                </a:lnTo>
                <a:lnTo>
                  <a:pt x="27616" y="179070"/>
                </a:lnTo>
                <a:lnTo>
                  <a:pt x="25472" y="179070"/>
                </a:lnTo>
                <a:lnTo>
                  <a:pt x="23581" y="180340"/>
                </a:lnTo>
                <a:lnTo>
                  <a:pt x="60591" y="180340"/>
                </a:lnTo>
                <a:lnTo>
                  <a:pt x="59394" y="179070"/>
                </a:lnTo>
                <a:lnTo>
                  <a:pt x="57376" y="176530"/>
                </a:lnTo>
                <a:lnTo>
                  <a:pt x="55358" y="175260"/>
                </a:lnTo>
                <a:lnTo>
                  <a:pt x="51070" y="173990"/>
                </a:lnTo>
                <a:close/>
              </a:path>
              <a:path w="227329" h="219710">
                <a:moveTo>
                  <a:pt x="43379" y="123190"/>
                </a:moveTo>
                <a:lnTo>
                  <a:pt x="42369" y="123190"/>
                </a:lnTo>
                <a:lnTo>
                  <a:pt x="41614" y="124460"/>
                </a:lnTo>
                <a:lnTo>
                  <a:pt x="40225" y="124460"/>
                </a:lnTo>
                <a:lnTo>
                  <a:pt x="39596" y="125730"/>
                </a:lnTo>
                <a:lnTo>
                  <a:pt x="38964" y="125730"/>
                </a:lnTo>
                <a:lnTo>
                  <a:pt x="38334" y="127000"/>
                </a:lnTo>
                <a:lnTo>
                  <a:pt x="37830" y="127000"/>
                </a:lnTo>
                <a:lnTo>
                  <a:pt x="37578" y="128270"/>
                </a:lnTo>
                <a:lnTo>
                  <a:pt x="36821" y="128270"/>
                </a:lnTo>
                <a:lnTo>
                  <a:pt x="36443" y="129540"/>
                </a:lnTo>
                <a:lnTo>
                  <a:pt x="36821" y="130810"/>
                </a:lnTo>
                <a:lnTo>
                  <a:pt x="85496" y="179070"/>
                </a:lnTo>
                <a:lnTo>
                  <a:pt x="86000" y="179070"/>
                </a:lnTo>
                <a:lnTo>
                  <a:pt x="86504" y="180340"/>
                </a:lnTo>
                <a:lnTo>
                  <a:pt x="86757" y="180340"/>
                </a:lnTo>
                <a:lnTo>
                  <a:pt x="87514" y="179070"/>
                </a:lnTo>
                <a:lnTo>
                  <a:pt x="89531" y="177800"/>
                </a:lnTo>
                <a:lnTo>
                  <a:pt x="90162" y="177800"/>
                </a:lnTo>
                <a:lnTo>
                  <a:pt x="90792" y="176530"/>
                </a:lnTo>
                <a:lnTo>
                  <a:pt x="91296" y="176530"/>
                </a:lnTo>
                <a:lnTo>
                  <a:pt x="92053" y="175260"/>
                </a:lnTo>
                <a:lnTo>
                  <a:pt x="92306" y="173990"/>
                </a:lnTo>
                <a:lnTo>
                  <a:pt x="92684" y="173990"/>
                </a:lnTo>
                <a:lnTo>
                  <a:pt x="92684" y="172720"/>
                </a:lnTo>
                <a:lnTo>
                  <a:pt x="92306" y="172720"/>
                </a:lnTo>
                <a:lnTo>
                  <a:pt x="43630" y="124460"/>
                </a:lnTo>
                <a:lnTo>
                  <a:pt x="43379" y="123190"/>
                </a:lnTo>
                <a:close/>
              </a:path>
              <a:path w="227329" h="219710">
                <a:moveTo>
                  <a:pt x="99367" y="83820"/>
                </a:moveTo>
                <a:lnTo>
                  <a:pt x="86883" y="83820"/>
                </a:lnTo>
                <a:lnTo>
                  <a:pt x="78560" y="87630"/>
                </a:lnTo>
                <a:lnTo>
                  <a:pt x="74273" y="91440"/>
                </a:lnTo>
                <a:lnTo>
                  <a:pt x="58384" y="106680"/>
                </a:lnTo>
                <a:lnTo>
                  <a:pt x="57754" y="107950"/>
                </a:lnTo>
                <a:lnTo>
                  <a:pt x="57376" y="107950"/>
                </a:lnTo>
                <a:lnTo>
                  <a:pt x="57123" y="110490"/>
                </a:lnTo>
                <a:lnTo>
                  <a:pt x="57628" y="111760"/>
                </a:lnTo>
                <a:lnTo>
                  <a:pt x="104915" y="158750"/>
                </a:lnTo>
                <a:lnTo>
                  <a:pt x="108446" y="158750"/>
                </a:lnTo>
                <a:lnTo>
                  <a:pt x="109077" y="157480"/>
                </a:lnTo>
                <a:lnTo>
                  <a:pt x="118455" y="148590"/>
                </a:lnTo>
                <a:lnTo>
                  <a:pt x="107689" y="148590"/>
                </a:lnTo>
                <a:lnTo>
                  <a:pt x="68220" y="107950"/>
                </a:lnTo>
                <a:lnTo>
                  <a:pt x="75156" y="101600"/>
                </a:lnTo>
                <a:lnTo>
                  <a:pt x="78560" y="97790"/>
                </a:lnTo>
                <a:lnTo>
                  <a:pt x="81965" y="95250"/>
                </a:lnTo>
                <a:lnTo>
                  <a:pt x="88270" y="92710"/>
                </a:lnTo>
                <a:lnTo>
                  <a:pt x="116937" y="92710"/>
                </a:lnTo>
                <a:lnTo>
                  <a:pt x="115634" y="91440"/>
                </a:lnTo>
                <a:lnTo>
                  <a:pt x="111725" y="88900"/>
                </a:lnTo>
                <a:lnTo>
                  <a:pt x="107689" y="86360"/>
                </a:lnTo>
                <a:lnTo>
                  <a:pt x="99367" y="83820"/>
                </a:lnTo>
                <a:close/>
              </a:path>
              <a:path w="227329" h="219710">
                <a:moveTo>
                  <a:pt x="24715" y="149860"/>
                </a:moveTo>
                <a:lnTo>
                  <a:pt x="16645" y="149860"/>
                </a:lnTo>
                <a:lnTo>
                  <a:pt x="15384" y="151130"/>
                </a:lnTo>
                <a:lnTo>
                  <a:pt x="25598" y="151130"/>
                </a:lnTo>
                <a:lnTo>
                  <a:pt x="24715" y="149860"/>
                </a:lnTo>
                <a:close/>
              </a:path>
              <a:path w="227329" h="219710">
                <a:moveTo>
                  <a:pt x="23202" y="148590"/>
                </a:moveTo>
                <a:lnTo>
                  <a:pt x="20302" y="148590"/>
                </a:lnTo>
                <a:lnTo>
                  <a:pt x="19168" y="149860"/>
                </a:lnTo>
                <a:lnTo>
                  <a:pt x="23707" y="149860"/>
                </a:lnTo>
                <a:lnTo>
                  <a:pt x="23202" y="148590"/>
                </a:lnTo>
                <a:close/>
              </a:path>
              <a:path w="227329" h="219710">
                <a:moveTo>
                  <a:pt x="116937" y="92710"/>
                </a:moveTo>
                <a:lnTo>
                  <a:pt x="91549" y="92710"/>
                </a:lnTo>
                <a:lnTo>
                  <a:pt x="97854" y="93980"/>
                </a:lnTo>
                <a:lnTo>
                  <a:pt x="101006" y="93980"/>
                </a:lnTo>
                <a:lnTo>
                  <a:pt x="107059" y="97790"/>
                </a:lnTo>
                <a:lnTo>
                  <a:pt x="109960" y="100330"/>
                </a:lnTo>
                <a:lnTo>
                  <a:pt x="112734" y="102870"/>
                </a:lnTo>
                <a:lnTo>
                  <a:pt x="116138" y="106680"/>
                </a:lnTo>
                <a:lnTo>
                  <a:pt x="118786" y="109220"/>
                </a:lnTo>
                <a:lnTo>
                  <a:pt x="122317" y="115570"/>
                </a:lnTo>
                <a:lnTo>
                  <a:pt x="123327" y="119380"/>
                </a:lnTo>
                <a:lnTo>
                  <a:pt x="123578" y="125730"/>
                </a:lnTo>
                <a:lnTo>
                  <a:pt x="123074" y="128270"/>
                </a:lnTo>
                <a:lnTo>
                  <a:pt x="121561" y="132080"/>
                </a:lnTo>
                <a:lnTo>
                  <a:pt x="120173" y="134620"/>
                </a:lnTo>
                <a:lnTo>
                  <a:pt x="117904" y="138430"/>
                </a:lnTo>
                <a:lnTo>
                  <a:pt x="114625" y="140970"/>
                </a:lnTo>
                <a:lnTo>
                  <a:pt x="107689" y="148590"/>
                </a:lnTo>
                <a:lnTo>
                  <a:pt x="118455" y="148590"/>
                </a:lnTo>
                <a:lnTo>
                  <a:pt x="119795" y="147320"/>
                </a:lnTo>
                <a:lnTo>
                  <a:pt x="132532" y="125730"/>
                </a:lnTo>
                <a:lnTo>
                  <a:pt x="132532" y="116840"/>
                </a:lnTo>
                <a:lnTo>
                  <a:pt x="131523" y="113030"/>
                </a:lnTo>
                <a:lnTo>
                  <a:pt x="129252" y="107950"/>
                </a:lnTo>
                <a:lnTo>
                  <a:pt x="127109" y="104140"/>
                </a:lnTo>
                <a:lnTo>
                  <a:pt x="123831" y="100330"/>
                </a:lnTo>
                <a:lnTo>
                  <a:pt x="119543" y="95250"/>
                </a:lnTo>
                <a:lnTo>
                  <a:pt x="116937" y="92710"/>
                </a:lnTo>
                <a:close/>
              </a:path>
              <a:path w="227329" h="219710">
                <a:moveTo>
                  <a:pt x="132532" y="36830"/>
                </a:moveTo>
                <a:lnTo>
                  <a:pt x="129252" y="36830"/>
                </a:lnTo>
                <a:lnTo>
                  <a:pt x="105168" y="60960"/>
                </a:lnTo>
                <a:lnTo>
                  <a:pt x="104663" y="60960"/>
                </a:lnTo>
                <a:lnTo>
                  <a:pt x="104286" y="62230"/>
                </a:lnTo>
                <a:lnTo>
                  <a:pt x="104033" y="63500"/>
                </a:lnTo>
                <a:lnTo>
                  <a:pt x="104411" y="64770"/>
                </a:lnTo>
                <a:lnTo>
                  <a:pt x="151698" y="111760"/>
                </a:lnTo>
                <a:lnTo>
                  <a:pt x="155356" y="111760"/>
                </a:lnTo>
                <a:lnTo>
                  <a:pt x="155860" y="110490"/>
                </a:lnTo>
                <a:lnTo>
                  <a:pt x="164827" y="101600"/>
                </a:lnTo>
                <a:lnTo>
                  <a:pt x="154599" y="101600"/>
                </a:lnTo>
                <a:lnTo>
                  <a:pt x="136441" y="82550"/>
                </a:lnTo>
                <a:lnTo>
                  <a:pt x="141679" y="77470"/>
                </a:lnTo>
                <a:lnTo>
                  <a:pt x="131018" y="77470"/>
                </a:lnTo>
                <a:lnTo>
                  <a:pt x="115003" y="62230"/>
                </a:lnTo>
                <a:lnTo>
                  <a:pt x="134927" y="41910"/>
                </a:lnTo>
                <a:lnTo>
                  <a:pt x="135305" y="41910"/>
                </a:lnTo>
                <a:lnTo>
                  <a:pt x="135305" y="40640"/>
                </a:lnTo>
                <a:lnTo>
                  <a:pt x="134927" y="39370"/>
                </a:lnTo>
                <a:lnTo>
                  <a:pt x="134297" y="39370"/>
                </a:lnTo>
                <a:lnTo>
                  <a:pt x="133918" y="38100"/>
                </a:lnTo>
                <a:lnTo>
                  <a:pt x="133414" y="38100"/>
                </a:lnTo>
                <a:lnTo>
                  <a:pt x="132532" y="36830"/>
                </a:lnTo>
                <a:close/>
              </a:path>
              <a:path w="227329" h="219710">
                <a:moveTo>
                  <a:pt x="177045" y="81280"/>
                </a:moveTo>
                <a:lnTo>
                  <a:pt x="174649" y="81280"/>
                </a:lnTo>
                <a:lnTo>
                  <a:pt x="154599" y="101600"/>
                </a:lnTo>
                <a:lnTo>
                  <a:pt x="164827" y="101600"/>
                </a:lnTo>
                <a:lnTo>
                  <a:pt x="180197" y="86360"/>
                </a:lnTo>
                <a:lnTo>
                  <a:pt x="180701" y="86360"/>
                </a:lnTo>
                <a:lnTo>
                  <a:pt x="180701" y="85090"/>
                </a:lnTo>
                <a:lnTo>
                  <a:pt x="180324" y="83820"/>
                </a:lnTo>
                <a:lnTo>
                  <a:pt x="179693" y="83820"/>
                </a:lnTo>
                <a:lnTo>
                  <a:pt x="179315" y="82550"/>
                </a:lnTo>
                <a:lnTo>
                  <a:pt x="178306" y="82550"/>
                </a:lnTo>
                <a:lnTo>
                  <a:pt x="177045" y="81280"/>
                </a:lnTo>
                <a:close/>
              </a:path>
              <a:path w="227329" h="219710">
                <a:moveTo>
                  <a:pt x="151194" y="60960"/>
                </a:moveTo>
                <a:lnTo>
                  <a:pt x="147916" y="60960"/>
                </a:lnTo>
                <a:lnTo>
                  <a:pt x="131018" y="77470"/>
                </a:lnTo>
                <a:lnTo>
                  <a:pt x="141679" y="77470"/>
                </a:lnTo>
                <a:lnTo>
                  <a:pt x="153464" y="66040"/>
                </a:lnTo>
                <a:lnTo>
                  <a:pt x="153969" y="64770"/>
                </a:lnTo>
                <a:lnTo>
                  <a:pt x="153591" y="63500"/>
                </a:lnTo>
                <a:lnTo>
                  <a:pt x="152960" y="63500"/>
                </a:lnTo>
                <a:lnTo>
                  <a:pt x="152581" y="62230"/>
                </a:lnTo>
                <a:lnTo>
                  <a:pt x="151573" y="62230"/>
                </a:lnTo>
                <a:lnTo>
                  <a:pt x="151194" y="60960"/>
                </a:lnTo>
                <a:close/>
              </a:path>
              <a:path w="227329" h="219710">
                <a:moveTo>
                  <a:pt x="179440" y="0"/>
                </a:moveTo>
                <a:lnTo>
                  <a:pt x="170992" y="0"/>
                </a:lnTo>
                <a:lnTo>
                  <a:pt x="166452" y="1270"/>
                </a:lnTo>
                <a:lnTo>
                  <a:pt x="161913" y="3810"/>
                </a:lnTo>
                <a:lnTo>
                  <a:pt x="160274" y="6350"/>
                </a:lnTo>
                <a:lnTo>
                  <a:pt x="157373" y="8890"/>
                </a:lnTo>
                <a:lnTo>
                  <a:pt x="156113" y="10160"/>
                </a:lnTo>
                <a:lnTo>
                  <a:pt x="145394" y="20320"/>
                </a:lnTo>
                <a:lnTo>
                  <a:pt x="144763" y="21590"/>
                </a:lnTo>
                <a:lnTo>
                  <a:pt x="144385" y="21590"/>
                </a:lnTo>
                <a:lnTo>
                  <a:pt x="144133" y="24130"/>
                </a:lnTo>
                <a:lnTo>
                  <a:pt x="144512" y="24130"/>
                </a:lnTo>
                <a:lnTo>
                  <a:pt x="192556" y="72390"/>
                </a:lnTo>
                <a:lnTo>
                  <a:pt x="194951" y="72390"/>
                </a:lnTo>
                <a:lnTo>
                  <a:pt x="195961" y="71120"/>
                </a:lnTo>
                <a:lnTo>
                  <a:pt x="197095" y="69850"/>
                </a:lnTo>
                <a:lnTo>
                  <a:pt x="197852" y="69850"/>
                </a:lnTo>
                <a:lnTo>
                  <a:pt x="198356" y="68580"/>
                </a:lnTo>
                <a:lnTo>
                  <a:pt x="198987" y="68580"/>
                </a:lnTo>
                <a:lnTo>
                  <a:pt x="199238" y="67310"/>
                </a:lnTo>
                <a:lnTo>
                  <a:pt x="199617" y="67310"/>
                </a:lnTo>
                <a:lnTo>
                  <a:pt x="199617" y="66040"/>
                </a:lnTo>
                <a:lnTo>
                  <a:pt x="199238" y="66040"/>
                </a:lnTo>
                <a:lnTo>
                  <a:pt x="177675" y="44450"/>
                </a:lnTo>
                <a:lnTo>
                  <a:pt x="182215" y="39370"/>
                </a:lnTo>
                <a:lnTo>
                  <a:pt x="172253" y="39370"/>
                </a:lnTo>
                <a:lnTo>
                  <a:pt x="155103" y="21590"/>
                </a:lnTo>
                <a:lnTo>
                  <a:pt x="160778" y="16510"/>
                </a:lnTo>
                <a:lnTo>
                  <a:pt x="162166" y="15240"/>
                </a:lnTo>
                <a:lnTo>
                  <a:pt x="163300" y="13970"/>
                </a:lnTo>
                <a:lnTo>
                  <a:pt x="165065" y="12700"/>
                </a:lnTo>
                <a:lnTo>
                  <a:pt x="165948" y="11430"/>
                </a:lnTo>
                <a:lnTo>
                  <a:pt x="166831" y="11430"/>
                </a:lnTo>
                <a:lnTo>
                  <a:pt x="169478" y="10160"/>
                </a:lnTo>
                <a:lnTo>
                  <a:pt x="172001" y="8890"/>
                </a:lnTo>
                <a:lnTo>
                  <a:pt x="190033" y="8890"/>
                </a:lnTo>
                <a:lnTo>
                  <a:pt x="188647" y="7620"/>
                </a:lnTo>
                <a:lnTo>
                  <a:pt x="187007" y="5080"/>
                </a:lnTo>
                <a:lnTo>
                  <a:pt x="185242" y="3810"/>
                </a:lnTo>
                <a:lnTo>
                  <a:pt x="181458" y="1270"/>
                </a:lnTo>
                <a:lnTo>
                  <a:pt x="179440" y="0"/>
                </a:lnTo>
                <a:close/>
              </a:path>
              <a:path w="227329" h="219710">
                <a:moveTo>
                  <a:pt x="149303" y="59690"/>
                </a:moveTo>
                <a:lnTo>
                  <a:pt x="149051" y="59690"/>
                </a:lnTo>
                <a:lnTo>
                  <a:pt x="148421" y="60960"/>
                </a:lnTo>
                <a:lnTo>
                  <a:pt x="149682" y="60960"/>
                </a:lnTo>
                <a:lnTo>
                  <a:pt x="149303" y="59690"/>
                </a:lnTo>
                <a:close/>
              </a:path>
              <a:path w="227329" h="219710">
                <a:moveTo>
                  <a:pt x="220550" y="35560"/>
                </a:moveTo>
                <a:lnTo>
                  <a:pt x="194951" y="35560"/>
                </a:lnTo>
                <a:lnTo>
                  <a:pt x="196590" y="36830"/>
                </a:lnTo>
                <a:lnTo>
                  <a:pt x="198356" y="36830"/>
                </a:lnTo>
                <a:lnTo>
                  <a:pt x="202139" y="38100"/>
                </a:lnTo>
                <a:lnTo>
                  <a:pt x="218658" y="45720"/>
                </a:lnTo>
                <a:lnTo>
                  <a:pt x="222189" y="45720"/>
                </a:lnTo>
                <a:lnTo>
                  <a:pt x="222694" y="44450"/>
                </a:lnTo>
                <a:lnTo>
                  <a:pt x="223324" y="44450"/>
                </a:lnTo>
                <a:lnTo>
                  <a:pt x="225846" y="41910"/>
                </a:lnTo>
                <a:lnTo>
                  <a:pt x="226225" y="40640"/>
                </a:lnTo>
                <a:lnTo>
                  <a:pt x="226603" y="40640"/>
                </a:lnTo>
                <a:lnTo>
                  <a:pt x="226855" y="39370"/>
                </a:lnTo>
                <a:lnTo>
                  <a:pt x="226603" y="39370"/>
                </a:lnTo>
                <a:lnTo>
                  <a:pt x="226350" y="38100"/>
                </a:lnTo>
                <a:lnTo>
                  <a:pt x="224838" y="38100"/>
                </a:lnTo>
                <a:lnTo>
                  <a:pt x="223955" y="36830"/>
                </a:lnTo>
                <a:lnTo>
                  <a:pt x="220550" y="35560"/>
                </a:lnTo>
                <a:close/>
              </a:path>
              <a:path w="227329" h="219710">
                <a:moveTo>
                  <a:pt x="190033" y="8890"/>
                </a:moveTo>
                <a:lnTo>
                  <a:pt x="172001" y="8890"/>
                </a:lnTo>
                <a:lnTo>
                  <a:pt x="174144" y="10160"/>
                </a:lnTo>
                <a:lnTo>
                  <a:pt x="176414" y="10160"/>
                </a:lnTo>
                <a:lnTo>
                  <a:pt x="178558" y="11430"/>
                </a:lnTo>
                <a:lnTo>
                  <a:pt x="184106" y="24130"/>
                </a:lnTo>
                <a:lnTo>
                  <a:pt x="183602" y="25400"/>
                </a:lnTo>
                <a:lnTo>
                  <a:pt x="182719" y="26670"/>
                </a:lnTo>
                <a:lnTo>
                  <a:pt x="181963" y="29210"/>
                </a:lnTo>
                <a:lnTo>
                  <a:pt x="180576" y="30480"/>
                </a:lnTo>
                <a:lnTo>
                  <a:pt x="172253" y="39370"/>
                </a:lnTo>
                <a:lnTo>
                  <a:pt x="182215" y="39370"/>
                </a:lnTo>
                <a:lnTo>
                  <a:pt x="185242" y="36830"/>
                </a:lnTo>
                <a:lnTo>
                  <a:pt x="186881" y="36830"/>
                </a:lnTo>
                <a:lnTo>
                  <a:pt x="188394" y="35560"/>
                </a:lnTo>
                <a:lnTo>
                  <a:pt x="220550" y="35560"/>
                </a:lnTo>
                <a:lnTo>
                  <a:pt x="206931" y="30480"/>
                </a:lnTo>
                <a:lnTo>
                  <a:pt x="203400" y="29210"/>
                </a:lnTo>
                <a:lnTo>
                  <a:pt x="200374" y="27940"/>
                </a:lnTo>
                <a:lnTo>
                  <a:pt x="189908" y="27940"/>
                </a:lnTo>
                <a:lnTo>
                  <a:pt x="190916" y="25400"/>
                </a:lnTo>
                <a:lnTo>
                  <a:pt x="191547" y="24130"/>
                </a:lnTo>
                <a:lnTo>
                  <a:pt x="192556" y="20320"/>
                </a:lnTo>
                <a:lnTo>
                  <a:pt x="192681" y="17780"/>
                </a:lnTo>
                <a:lnTo>
                  <a:pt x="192430" y="16510"/>
                </a:lnTo>
                <a:lnTo>
                  <a:pt x="192303" y="13970"/>
                </a:lnTo>
                <a:lnTo>
                  <a:pt x="191799" y="12700"/>
                </a:lnTo>
                <a:lnTo>
                  <a:pt x="190033" y="8890"/>
                </a:lnTo>
                <a:close/>
              </a:path>
              <a:path w="227329" h="219710">
                <a:moveTo>
                  <a:pt x="130892" y="35560"/>
                </a:moveTo>
                <a:lnTo>
                  <a:pt x="129758" y="35560"/>
                </a:lnTo>
                <a:lnTo>
                  <a:pt x="129505" y="36830"/>
                </a:lnTo>
                <a:lnTo>
                  <a:pt x="131271" y="36830"/>
                </a:lnTo>
                <a:lnTo>
                  <a:pt x="130892" y="35560"/>
                </a:lnTo>
                <a:close/>
              </a:path>
              <a:path w="227329" h="219710">
                <a:moveTo>
                  <a:pt x="196086" y="26670"/>
                </a:moveTo>
                <a:lnTo>
                  <a:pt x="192303" y="26670"/>
                </a:lnTo>
                <a:lnTo>
                  <a:pt x="191169" y="27940"/>
                </a:lnTo>
                <a:lnTo>
                  <a:pt x="198860" y="27940"/>
                </a:lnTo>
                <a:lnTo>
                  <a:pt x="196086" y="2667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662004" y="6047447"/>
            <a:ext cx="267970" cy="254000"/>
          </a:xfrm>
          <a:custGeom>
            <a:avLst/>
            <a:gdLst/>
            <a:ahLst/>
            <a:cxnLst/>
            <a:rect l="l" t="t" r="r" b="b"/>
            <a:pathLst>
              <a:path w="267970" h="254000">
                <a:moveTo>
                  <a:pt x="29759" y="184150"/>
                </a:moveTo>
                <a:lnTo>
                  <a:pt x="22067" y="184150"/>
                </a:lnTo>
                <a:lnTo>
                  <a:pt x="20554" y="185420"/>
                </a:lnTo>
                <a:lnTo>
                  <a:pt x="17275" y="186690"/>
                </a:lnTo>
                <a:lnTo>
                  <a:pt x="13996" y="189229"/>
                </a:lnTo>
                <a:lnTo>
                  <a:pt x="12358" y="189229"/>
                </a:lnTo>
                <a:lnTo>
                  <a:pt x="10844" y="190500"/>
                </a:lnTo>
                <a:lnTo>
                  <a:pt x="9331" y="193040"/>
                </a:lnTo>
                <a:lnTo>
                  <a:pt x="6052" y="195579"/>
                </a:lnTo>
                <a:lnTo>
                  <a:pt x="3656" y="199390"/>
                </a:lnTo>
                <a:lnTo>
                  <a:pt x="2143" y="203200"/>
                </a:lnTo>
                <a:lnTo>
                  <a:pt x="504" y="207009"/>
                </a:lnTo>
                <a:lnTo>
                  <a:pt x="0" y="210820"/>
                </a:lnTo>
                <a:lnTo>
                  <a:pt x="13745" y="241300"/>
                </a:lnTo>
                <a:lnTo>
                  <a:pt x="17780" y="245109"/>
                </a:lnTo>
                <a:lnTo>
                  <a:pt x="21941" y="248920"/>
                </a:lnTo>
                <a:lnTo>
                  <a:pt x="30264" y="252729"/>
                </a:lnTo>
                <a:lnTo>
                  <a:pt x="34298" y="254000"/>
                </a:lnTo>
                <a:lnTo>
                  <a:pt x="46278" y="254000"/>
                </a:lnTo>
                <a:lnTo>
                  <a:pt x="49936" y="252729"/>
                </a:lnTo>
                <a:lnTo>
                  <a:pt x="53718" y="251459"/>
                </a:lnTo>
                <a:lnTo>
                  <a:pt x="57250" y="248920"/>
                </a:lnTo>
                <a:lnTo>
                  <a:pt x="61127" y="245109"/>
                </a:lnTo>
                <a:lnTo>
                  <a:pt x="39217" y="245109"/>
                </a:lnTo>
                <a:lnTo>
                  <a:pt x="33164" y="242570"/>
                </a:lnTo>
                <a:lnTo>
                  <a:pt x="9583" y="214629"/>
                </a:lnTo>
                <a:lnTo>
                  <a:pt x="9079" y="212090"/>
                </a:lnTo>
                <a:lnTo>
                  <a:pt x="9331" y="208279"/>
                </a:lnTo>
                <a:lnTo>
                  <a:pt x="10340" y="205740"/>
                </a:lnTo>
                <a:lnTo>
                  <a:pt x="11222" y="203200"/>
                </a:lnTo>
                <a:lnTo>
                  <a:pt x="12862" y="200659"/>
                </a:lnTo>
                <a:lnTo>
                  <a:pt x="15132" y="198120"/>
                </a:lnTo>
                <a:lnTo>
                  <a:pt x="17150" y="196850"/>
                </a:lnTo>
                <a:lnTo>
                  <a:pt x="19166" y="194309"/>
                </a:lnTo>
                <a:lnTo>
                  <a:pt x="23202" y="193040"/>
                </a:lnTo>
                <a:lnTo>
                  <a:pt x="25093" y="191770"/>
                </a:lnTo>
                <a:lnTo>
                  <a:pt x="28373" y="191770"/>
                </a:lnTo>
                <a:lnTo>
                  <a:pt x="29759" y="190500"/>
                </a:lnTo>
                <a:lnTo>
                  <a:pt x="33416" y="190500"/>
                </a:lnTo>
                <a:lnTo>
                  <a:pt x="33543" y="189229"/>
                </a:lnTo>
                <a:lnTo>
                  <a:pt x="33290" y="187959"/>
                </a:lnTo>
                <a:lnTo>
                  <a:pt x="32660" y="187959"/>
                </a:lnTo>
                <a:lnTo>
                  <a:pt x="32407" y="186690"/>
                </a:lnTo>
                <a:lnTo>
                  <a:pt x="32029" y="186690"/>
                </a:lnTo>
                <a:lnTo>
                  <a:pt x="31399" y="185420"/>
                </a:lnTo>
                <a:lnTo>
                  <a:pt x="31021" y="185420"/>
                </a:lnTo>
                <a:lnTo>
                  <a:pt x="29759" y="184150"/>
                </a:lnTo>
                <a:close/>
              </a:path>
              <a:path w="267970" h="254000">
                <a:moveTo>
                  <a:pt x="67463" y="220979"/>
                </a:moveTo>
                <a:lnTo>
                  <a:pt x="63303" y="220979"/>
                </a:lnTo>
                <a:lnTo>
                  <a:pt x="63176" y="222250"/>
                </a:lnTo>
                <a:lnTo>
                  <a:pt x="62167" y="227329"/>
                </a:lnTo>
                <a:lnTo>
                  <a:pt x="61789" y="228600"/>
                </a:lnTo>
                <a:lnTo>
                  <a:pt x="61032" y="229870"/>
                </a:lnTo>
                <a:lnTo>
                  <a:pt x="59015" y="234950"/>
                </a:lnTo>
                <a:lnTo>
                  <a:pt x="57501" y="236220"/>
                </a:lnTo>
                <a:lnTo>
                  <a:pt x="53088" y="241300"/>
                </a:lnTo>
                <a:lnTo>
                  <a:pt x="47792" y="243840"/>
                </a:lnTo>
                <a:lnTo>
                  <a:pt x="45017" y="245109"/>
                </a:lnTo>
                <a:lnTo>
                  <a:pt x="61127" y="245109"/>
                </a:lnTo>
                <a:lnTo>
                  <a:pt x="62419" y="243840"/>
                </a:lnTo>
                <a:lnTo>
                  <a:pt x="64058" y="241300"/>
                </a:lnTo>
                <a:lnTo>
                  <a:pt x="66581" y="237490"/>
                </a:lnTo>
                <a:lnTo>
                  <a:pt x="67463" y="236220"/>
                </a:lnTo>
                <a:lnTo>
                  <a:pt x="69481" y="231140"/>
                </a:lnTo>
                <a:lnTo>
                  <a:pt x="69860" y="228600"/>
                </a:lnTo>
                <a:lnTo>
                  <a:pt x="70111" y="227329"/>
                </a:lnTo>
                <a:lnTo>
                  <a:pt x="70238" y="224790"/>
                </a:lnTo>
                <a:lnTo>
                  <a:pt x="69733" y="224790"/>
                </a:lnTo>
                <a:lnTo>
                  <a:pt x="69607" y="223520"/>
                </a:lnTo>
                <a:lnTo>
                  <a:pt x="68850" y="223520"/>
                </a:lnTo>
                <a:lnTo>
                  <a:pt x="68472" y="222250"/>
                </a:lnTo>
                <a:lnTo>
                  <a:pt x="67967" y="222250"/>
                </a:lnTo>
                <a:lnTo>
                  <a:pt x="67463" y="220979"/>
                </a:lnTo>
                <a:close/>
              </a:path>
              <a:path w="267970" h="254000">
                <a:moveTo>
                  <a:pt x="33794" y="163829"/>
                </a:moveTo>
                <a:lnTo>
                  <a:pt x="31525" y="163829"/>
                </a:lnTo>
                <a:lnTo>
                  <a:pt x="30516" y="165100"/>
                </a:lnTo>
                <a:lnTo>
                  <a:pt x="29381" y="166370"/>
                </a:lnTo>
                <a:lnTo>
                  <a:pt x="28751" y="166370"/>
                </a:lnTo>
                <a:lnTo>
                  <a:pt x="28246" y="167640"/>
                </a:lnTo>
                <a:lnTo>
                  <a:pt x="27490" y="167640"/>
                </a:lnTo>
                <a:lnTo>
                  <a:pt x="27237" y="168909"/>
                </a:lnTo>
                <a:lnTo>
                  <a:pt x="26859" y="170179"/>
                </a:lnTo>
                <a:lnTo>
                  <a:pt x="27363" y="170179"/>
                </a:lnTo>
                <a:lnTo>
                  <a:pt x="79695" y="222250"/>
                </a:lnTo>
                <a:lnTo>
                  <a:pt x="79947" y="223520"/>
                </a:lnTo>
                <a:lnTo>
                  <a:pt x="81587" y="223520"/>
                </a:lnTo>
                <a:lnTo>
                  <a:pt x="82091" y="222250"/>
                </a:lnTo>
                <a:lnTo>
                  <a:pt x="82974" y="222250"/>
                </a:lnTo>
                <a:lnTo>
                  <a:pt x="84109" y="220979"/>
                </a:lnTo>
                <a:lnTo>
                  <a:pt x="84865" y="219709"/>
                </a:lnTo>
                <a:lnTo>
                  <a:pt x="85747" y="219709"/>
                </a:lnTo>
                <a:lnTo>
                  <a:pt x="86000" y="218440"/>
                </a:lnTo>
                <a:lnTo>
                  <a:pt x="86253" y="218440"/>
                </a:lnTo>
                <a:lnTo>
                  <a:pt x="86631" y="217170"/>
                </a:lnTo>
                <a:lnTo>
                  <a:pt x="86253" y="215900"/>
                </a:lnTo>
                <a:lnTo>
                  <a:pt x="33794" y="163829"/>
                </a:lnTo>
                <a:close/>
              </a:path>
              <a:path w="267970" h="254000">
                <a:moveTo>
                  <a:pt x="65698" y="219709"/>
                </a:moveTo>
                <a:lnTo>
                  <a:pt x="64058" y="219709"/>
                </a:lnTo>
                <a:lnTo>
                  <a:pt x="63680" y="220979"/>
                </a:lnTo>
                <a:lnTo>
                  <a:pt x="66076" y="220979"/>
                </a:lnTo>
                <a:lnTo>
                  <a:pt x="65698" y="219709"/>
                </a:lnTo>
                <a:close/>
              </a:path>
              <a:path w="267970" h="254000">
                <a:moveTo>
                  <a:pt x="70994" y="161290"/>
                </a:moveTo>
                <a:lnTo>
                  <a:pt x="68724" y="161290"/>
                </a:lnTo>
                <a:lnTo>
                  <a:pt x="67716" y="162559"/>
                </a:lnTo>
                <a:lnTo>
                  <a:pt x="66581" y="162559"/>
                </a:lnTo>
                <a:lnTo>
                  <a:pt x="65951" y="163829"/>
                </a:lnTo>
                <a:lnTo>
                  <a:pt x="65445" y="163829"/>
                </a:lnTo>
                <a:lnTo>
                  <a:pt x="64689" y="165100"/>
                </a:lnTo>
                <a:lnTo>
                  <a:pt x="64437" y="165100"/>
                </a:lnTo>
                <a:lnTo>
                  <a:pt x="64058" y="166370"/>
                </a:lnTo>
                <a:lnTo>
                  <a:pt x="64185" y="166370"/>
                </a:lnTo>
                <a:lnTo>
                  <a:pt x="64185" y="167640"/>
                </a:lnTo>
                <a:lnTo>
                  <a:pt x="64562" y="167640"/>
                </a:lnTo>
                <a:lnTo>
                  <a:pt x="99745" y="203200"/>
                </a:lnTo>
                <a:lnTo>
                  <a:pt x="102141" y="203200"/>
                </a:lnTo>
                <a:lnTo>
                  <a:pt x="102519" y="201929"/>
                </a:lnTo>
                <a:lnTo>
                  <a:pt x="103654" y="201929"/>
                </a:lnTo>
                <a:lnTo>
                  <a:pt x="104284" y="200659"/>
                </a:lnTo>
                <a:lnTo>
                  <a:pt x="105420" y="199390"/>
                </a:lnTo>
                <a:lnTo>
                  <a:pt x="106177" y="198120"/>
                </a:lnTo>
                <a:lnTo>
                  <a:pt x="106681" y="198120"/>
                </a:lnTo>
                <a:lnTo>
                  <a:pt x="106681" y="196850"/>
                </a:lnTo>
                <a:lnTo>
                  <a:pt x="106302" y="196850"/>
                </a:lnTo>
                <a:lnTo>
                  <a:pt x="70994" y="161290"/>
                </a:lnTo>
                <a:close/>
              </a:path>
              <a:path w="267970" h="254000">
                <a:moveTo>
                  <a:pt x="112481" y="121920"/>
                </a:moveTo>
                <a:lnTo>
                  <a:pt x="110086" y="121920"/>
                </a:lnTo>
                <a:lnTo>
                  <a:pt x="102897" y="125729"/>
                </a:lnTo>
                <a:lnTo>
                  <a:pt x="100628" y="128270"/>
                </a:lnTo>
                <a:lnTo>
                  <a:pt x="98610" y="129540"/>
                </a:lnTo>
                <a:lnTo>
                  <a:pt x="97097" y="132079"/>
                </a:lnTo>
                <a:lnTo>
                  <a:pt x="96215" y="135890"/>
                </a:lnTo>
                <a:lnTo>
                  <a:pt x="95205" y="138429"/>
                </a:lnTo>
                <a:lnTo>
                  <a:pt x="94953" y="140970"/>
                </a:lnTo>
                <a:lnTo>
                  <a:pt x="94911" y="143509"/>
                </a:lnTo>
                <a:lnTo>
                  <a:pt x="95079" y="146050"/>
                </a:lnTo>
                <a:lnTo>
                  <a:pt x="84109" y="146050"/>
                </a:lnTo>
                <a:lnTo>
                  <a:pt x="84235" y="147320"/>
                </a:lnTo>
                <a:lnTo>
                  <a:pt x="84613" y="147320"/>
                </a:lnTo>
                <a:lnTo>
                  <a:pt x="119922" y="182879"/>
                </a:lnTo>
                <a:lnTo>
                  <a:pt x="121813" y="182879"/>
                </a:lnTo>
                <a:lnTo>
                  <a:pt x="122695" y="181609"/>
                </a:lnTo>
                <a:lnTo>
                  <a:pt x="123704" y="181609"/>
                </a:lnTo>
                <a:lnTo>
                  <a:pt x="124335" y="180340"/>
                </a:lnTo>
                <a:lnTo>
                  <a:pt x="125469" y="179070"/>
                </a:lnTo>
                <a:lnTo>
                  <a:pt x="126226" y="179070"/>
                </a:lnTo>
                <a:lnTo>
                  <a:pt x="126479" y="177800"/>
                </a:lnTo>
                <a:lnTo>
                  <a:pt x="126730" y="177800"/>
                </a:lnTo>
                <a:lnTo>
                  <a:pt x="126730" y="176529"/>
                </a:lnTo>
                <a:lnTo>
                  <a:pt x="126352" y="176529"/>
                </a:lnTo>
                <a:lnTo>
                  <a:pt x="101636" y="151129"/>
                </a:lnTo>
                <a:lnTo>
                  <a:pt x="101384" y="148590"/>
                </a:lnTo>
                <a:lnTo>
                  <a:pt x="101258" y="144779"/>
                </a:lnTo>
                <a:lnTo>
                  <a:pt x="101763" y="140970"/>
                </a:lnTo>
                <a:lnTo>
                  <a:pt x="102141" y="138429"/>
                </a:lnTo>
                <a:lnTo>
                  <a:pt x="103276" y="137159"/>
                </a:lnTo>
                <a:lnTo>
                  <a:pt x="104790" y="134620"/>
                </a:lnTo>
                <a:lnTo>
                  <a:pt x="106050" y="133350"/>
                </a:lnTo>
                <a:lnTo>
                  <a:pt x="107438" y="133350"/>
                </a:lnTo>
                <a:lnTo>
                  <a:pt x="108825" y="132079"/>
                </a:lnTo>
                <a:lnTo>
                  <a:pt x="130009" y="132079"/>
                </a:lnTo>
                <a:lnTo>
                  <a:pt x="126226" y="128270"/>
                </a:lnTo>
                <a:lnTo>
                  <a:pt x="123831" y="127000"/>
                </a:lnTo>
                <a:lnTo>
                  <a:pt x="121560" y="125729"/>
                </a:lnTo>
                <a:lnTo>
                  <a:pt x="119416" y="123190"/>
                </a:lnTo>
                <a:lnTo>
                  <a:pt x="117147" y="123190"/>
                </a:lnTo>
                <a:lnTo>
                  <a:pt x="112481" y="121920"/>
                </a:lnTo>
                <a:close/>
              </a:path>
              <a:path w="267970" h="254000">
                <a:moveTo>
                  <a:pt x="56997" y="146050"/>
                </a:moveTo>
                <a:lnTo>
                  <a:pt x="54853" y="146050"/>
                </a:lnTo>
                <a:lnTo>
                  <a:pt x="53592" y="147320"/>
                </a:lnTo>
                <a:lnTo>
                  <a:pt x="52080" y="148590"/>
                </a:lnTo>
                <a:lnTo>
                  <a:pt x="50440" y="149859"/>
                </a:lnTo>
                <a:lnTo>
                  <a:pt x="49683" y="151129"/>
                </a:lnTo>
                <a:lnTo>
                  <a:pt x="49683" y="153670"/>
                </a:lnTo>
                <a:lnTo>
                  <a:pt x="50440" y="154940"/>
                </a:lnTo>
                <a:lnTo>
                  <a:pt x="51953" y="156209"/>
                </a:lnTo>
                <a:lnTo>
                  <a:pt x="54728" y="158750"/>
                </a:lnTo>
                <a:lnTo>
                  <a:pt x="56871" y="158750"/>
                </a:lnTo>
                <a:lnTo>
                  <a:pt x="58132" y="157479"/>
                </a:lnTo>
                <a:lnTo>
                  <a:pt x="59771" y="156209"/>
                </a:lnTo>
                <a:lnTo>
                  <a:pt x="61285" y="154940"/>
                </a:lnTo>
                <a:lnTo>
                  <a:pt x="62042" y="153670"/>
                </a:lnTo>
                <a:lnTo>
                  <a:pt x="62042" y="151129"/>
                </a:lnTo>
                <a:lnTo>
                  <a:pt x="61285" y="149859"/>
                </a:lnTo>
                <a:lnTo>
                  <a:pt x="59771" y="148590"/>
                </a:lnTo>
                <a:lnTo>
                  <a:pt x="56997" y="146050"/>
                </a:lnTo>
                <a:close/>
              </a:path>
              <a:path w="267970" h="254000">
                <a:moveTo>
                  <a:pt x="130009" y="132079"/>
                </a:moveTo>
                <a:lnTo>
                  <a:pt x="114752" y="132079"/>
                </a:lnTo>
                <a:lnTo>
                  <a:pt x="116264" y="133350"/>
                </a:lnTo>
                <a:lnTo>
                  <a:pt x="119291" y="134620"/>
                </a:lnTo>
                <a:lnTo>
                  <a:pt x="121056" y="135890"/>
                </a:lnTo>
                <a:lnTo>
                  <a:pt x="143755" y="158750"/>
                </a:lnTo>
                <a:lnTo>
                  <a:pt x="146024" y="158750"/>
                </a:lnTo>
                <a:lnTo>
                  <a:pt x="147032" y="157479"/>
                </a:lnTo>
                <a:lnTo>
                  <a:pt x="148168" y="156209"/>
                </a:lnTo>
                <a:lnTo>
                  <a:pt x="149303" y="156209"/>
                </a:lnTo>
                <a:lnTo>
                  <a:pt x="150059" y="154940"/>
                </a:lnTo>
                <a:lnTo>
                  <a:pt x="150312" y="154940"/>
                </a:lnTo>
                <a:lnTo>
                  <a:pt x="150690" y="153670"/>
                </a:lnTo>
                <a:lnTo>
                  <a:pt x="150563" y="152400"/>
                </a:lnTo>
                <a:lnTo>
                  <a:pt x="150186" y="152400"/>
                </a:lnTo>
                <a:lnTo>
                  <a:pt x="130009" y="132079"/>
                </a:lnTo>
                <a:close/>
              </a:path>
              <a:path w="267970" h="254000">
                <a:moveTo>
                  <a:pt x="90035" y="140970"/>
                </a:moveTo>
                <a:lnTo>
                  <a:pt x="88648" y="140970"/>
                </a:lnTo>
                <a:lnTo>
                  <a:pt x="88270" y="142240"/>
                </a:lnTo>
                <a:lnTo>
                  <a:pt x="86883" y="142240"/>
                </a:lnTo>
                <a:lnTo>
                  <a:pt x="86379" y="143509"/>
                </a:lnTo>
                <a:lnTo>
                  <a:pt x="85747" y="143509"/>
                </a:lnTo>
                <a:lnTo>
                  <a:pt x="84865" y="144779"/>
                </a:lnTo>
                <a:lnTo>
                  <a:pt x="84361" y="146050"/>
                </a:lnTo>
                <a:lnTo>
                  <a:pt x="95079" y="146050"/>
                </a:lnTo>
                <a:lnTo>
                  <a:pt x="90413" y="142240"/>
                </a:lnTo>
                <a:lnTo>
                  <a:pt x="90035" y="140970"/>
                </a:lnTo>
                <a:close/>
              </a:path>
              <a:path w="267970" h="254000">
                <a:moveTo>
                  <a:pt x="140454" y="88900"/>
                </a:moveTo>
                <a:lnTo>
                  <a:pt x="126226" y="88900"/>
                </a:lnTo>
                <a:lnTo>
                  <a:pt x="170110" y="132079"/>
                </a:lnTo>
                <a:lnTo>
                  <a:pt x="170361" y="132079"/>
                </a:lnTo>
                <a:lnTo>
                  <a:pt x="170614" y="133350"/>
                </a:lnTo>
                <a:lnTo>
                  <a:pt x="171371" y="133350"/>
                </a:lnTo>
                <a:lnTo>
                  <a:pt x="172126" y="132079"/>
                </a:lnTo>
                <a:lnTo>
                  <a:pt x="174144" y="130809"/>
                </a:lnTo>
                <a:lnTo>
                  <a:pt x="174776" y="130809"/>
                </a:lnTo>
                <a:lnTo>
                  <a:pt x="175406" y="129540"/>
                </a:lnTo>
                <a:lnTo>
                  <a:pt x="175910" y="129540"/>
                </a:lnTo>
                <a:lnTo>
                  <a:pt x="176667" y="128270"/>
                </a:lnTo>
                <a:lnTo>
                  <a:pt x="176918" y="128270"/>
                </a:lnTo>
                <a:lnTo>
                  <a:pt x="177045" y="127000"/>
                </a:lnTo>
                <a:lnTo>
                  <a:pt x="177297" y="127000"/>
                </a:lnTo>
                <a:lnTo>
                  <a:pt x="177171" y="125729"/>
                </a:lnTo>
                <a:lnTo>
                  <a:pt x="176918" y="125729"/>
                </a:lnTo>
                <a:lnTo>
                  <a:pt x="140454" y="88900"/>
                </a:lnTo>
                <a:close/>
              </a:path>
              <a:path w="267970" h="254000">
                <a:moveTo>
                  <a:pt x="144763" y="62229"/>
                </a:moveTo>
                <a:lnTo>
                  <a:pt x="141484" y="62229"/>
                </a:lnTo>
                <a:lnTo>
                  <a:pt x="106177" y="96520"/>
                </a:lnTo>
                <a:lnTo>
                  <a:pt x="105924" y="97790"/>
                </a:lnTo>
                <a:lnTo>
                  <a:pt x="106555" y="100329"/>
                </a:lnTo>
                <a:lnTo>
                  <a:pt x="107311" y="100329"/>
                </a:lnTo>
                <a:lnTo>
                  <a:pt x="107689" y="101600"/>
                </a:lnTo>
                <a:lnTo>
                  <a:pt x="108699" y="101600"/>
                </a:lnTo>
                <a:lnTo>
                  <a:pt x="109203" y="102870"/>
                </a:lnTo>
                <a:lnTo>
                  <a:pt x="111851" y="102870"/>
                </a:lnTo>
                <a:lnTo>
                  <a:pt x="126226" y="88900"/>
                </a:lnTo>
                <a:lnTo>
                  <a:pt x="140454" y="88900"/>
                </a:lnTo>
                <a:lnTo>
                  <a:pt x="132910" y="81279"/>
                </a:lnTo>
                <a:lnTo>
                  <a:pt x="147159" y="67309"/>
                </a:lnTo>
                <a:lnTo>
                  <a:pt x="147537" y="67309"/>
                </a:lnTo>
                <a:lnTo>
                  <a:pt x="147664" y="66040"/>
                </a:lnTo>
                <a:lnTo>
                  <a:pt x="147411" y="66040"/>
                </a:lnTo>
                <a:lnTo>
                  <a:pt x="146907" y="64770"/>
                </a:lnTo>
                <a:lnTo>
                  <a:pt x="146528" y="64770"/>
                </a:lnTo>
                <a:lnTo>
                  <a:pt x="146150" y="63500"/>
                </a:lnTo>
                <a:lnTo>
                  <a:pt x="145141" y="63500"/>
                </a:lnTo>
                <a:lnTo>
                  <a:pt x="144763" y="62229"/>
                </a:lnTo>
                <a:close/>
              </a:path>
              <a:path w="267970" h="254000">
                <a:moveTo>
                  <a:pt x="199743" y="41909"/>
                </a:moveTo>
                <a:lnTo>
                  <a:pt x="193564" y="41909"/>
                </a:lnTo>
                <a:lnTo>
                  <a:pt x="181458" y="46990"/>
                </a:lnTo>
                <a:lnTo>
                  <a:pt x="170462" y="67309"/>
                </a:lnTo>
                <a:lnTo>
                  <a:pt x="170865" y="72390"/>
                </a:lnTo>
                <a:lnTo>
                  <a:pt x="171875" y="76200"/>
                </a:lnTo>
                <a:lnTo>
                  <a:pt x="175153" y="81279"/>
                </a:lnTo>
                <a:lnTo>
                  <a:pt x="177424" y="85090"/>
                </a:lnTo>
                <a:lnTo>
                  <a:pt x="183349" y="90170"/>
                </a:lnTo>
                <a:lnTo>
                  <a:pt x="186376" y="92709"/>
                </a:lnTo>
                <a:lnTo>
                  <a:pt x="192429" y="96520"/>
                </a:lnTo>
                <a:lnTo>
                  <a:pt x="195455" y="97790"/>
                </a:lnTo>
                <a:lnTo>
                  <a:pt x="201635" y="97790"/>
                </a:lnTo>
                <a:lnTo>
                  <a:pt x="213740" y="92709"/>
                </a:lnTo>
                <a:lnTo>
                  <a:pt x="216640" y="90170"/>
                </a:lnTo>
                <a:lnTo>
                  <a:pt x="217607" y="88900"/>
                </a:lnTo>
                <a:lnTo>
                  <a:pt x="200878" y="88900"/>
                </a:lnTo>
                <a:lnTo>
                  <a:pt x="196716" y="87629"/>
                </a:lnTo>
                <a:lnTo>
                  <a:pt x="194572" y="86359"/>
                </a:lnTo>
                <a:lnTo>
                  <a:pt x="188520" y="82550"/>
                </a:lnTo>
                <a:lnTo>
                  <a:pt x="186629" y="80009"/>
                </a:lnTo>
                <a:lnTo>
                  <a:pt x="184611" y="78740"/>
                </a:lnTo>
                <a:lnTo>
                  <a:pt x="182971" y="76200"/>
                </a:lnTo>
                <a:lnTo>
                  <a:pt x="180450" y="72390"/>
                </a:lnTo>
                <a:lnTo>
                  <a:pt x="179567" y="69850"/>
                </a:lnTo>
                <a:lnTo>
                  <a:pt x="179315" y="68579"/>
                </a:lnTo>
                <a:lnTo>
                  <a:pt x="178936" y="66040"/>
                </a:lnTo>
                <a:lnTo>
                  <a:pt x="179062" y="63500"/>
                </a:lnTo>
                <a:lnTo>
                  <a:pt x="179819" y="62229"/>
                </a:lnTo>
                <a:lnTo>
                  <a:pt x="180450" y="59690"/>
                </a:lnTo>
                <a:lnTo>
                  <a:pt x="181837" y="57150"/>
                </a:lnTo>
                <a:lnTo>
                  <a:pt x="183728" y="55879"/>
                </a:lnTo>
                <a:lnTo>
                  <a:pt x="185872" y="53340"/>
                </a:lnTo>
                <a:lnTo>
                  <a:pt x="187890" y="52070"/>
                </a:lnTo>
                <a:lnTo>
                  <a:pt x="192177" y="50800"/>
                </a:lnTo>
                <a:lnTo>
                  <a:pt x="213908" y="50800"/>
                </a:lnTo>
                <a:lnTo>
                  <a:pt x="211975" y="48259"/>
                </a:lnTo>
                <a:lnTo>
                  <a:pt x="208949" y="46990"/>
                </a:lnTo>
                <a:lnTo>
                  <a:pt x="205795" y="44450"/>
                </a:lnTo>
                <a:lnTo>
                  <a:pt x="199743" y="41909"/>
                </a:lnTo>
                <a:close/>
              </a:path>
              <a:path w="267970" h="254000">
                <a:moveTo>
                  <a:pt x="213908" y="50800"/>
                </a:moveTo>
                <a:lnTo>
                  <a:pt x="194321" y="50800"/>
                </a:lnTo>
                <a:lnTo>
                  <a:pt x="198481" y="52070"/>
                </a:lnTo>
                <a:lnTo>
                  <a:pt x="200625" y="53340"/>
                </a:lnTo>
                <a:lnTo>
                  <a:pt x="202643" y="54609"/>
                </a:lnTo>
                <a:lnTo>
                  <a:pt x="204787" y="55879"/>
                </a:lnTo>
                <a:lnTo>
                  <a:pt x="208570" y="58420"/>
                </a:lnTo>
                <a:lnTo>
                  <a:pt x="216388" y="73659"/>
                </a:lnTo>
                <a:lnTo>
                  <a:pt x="216136" y="76200"/>
                </a:lnTo>
                <a:lnTo>
                  <a:pt x="215379" y="77470"/>
                </a:lnTo>
                <a:lnTo>
                  <a:pt x="214749" y="80009"/>
                </a:lnTo>
                <a:lnTo>
                  <a:pt x="213362" y="81279"/>
                </a:lnTo>
                <a:lnTo>
                  <a:pt x="211470" y="83820"/>
                </a:lnTo>
                <a:lnTo>
                  <a:pt x="209453" y="86359"/>
                </a:lnTo>
                <a:lnTo>
                  <a:pt x="207309" y="87629"/>
                </a:lnTo>
                <a:lnTo>
                  <a:pt x="203022" y="88900"/>
                </a:lnTo>
                <a:lnTo>
                  <a:pt x="217607" y="88900"/>
                </a:lnTo>
                <a:lnTo>
                  <a:pt x="219541" y="86359"/>
                </a:lnTo>
                <a:lnTo>
                  <a:pt x="221684" y="83820"/>
                </a:lnTo>
                <a:lnTo>
                  <a:pt x="222945" y="80009"/>
                </a:lnTo>
                <a:lnTo>
                  <a:pt x="224332" y="77470"/>
                </a:lnTo>
                <a:lnTo>
                  <a:pt x="224836" y="73659"/>
                </a:lnTo>
                <a:lnTo>
                  <a:pt x="224332" y="67309"/>
                </a:lnTo>
                <a:lnTo>
                  <a:pt x="223324" y="63500"/>
                </a:lnTo>
                <a:lnTo>
                  <a:pt x="220045" y="57150"/>
                </a:lnTo>
                <a:lnTo>
                  <a:pt x="217775" y="54609"/>
                </a:lnTo>
                <a:lnTo>
                  <a:pt x="214875" y="52070"/>
                </a:lnTo>
                <a:lnTo>
                  <a:pt x="213908" y="50800"/>
                </a:lnTo>
                <a:close/>
              </a:path>
              <a:path w="267970" h="254000">
                <a:moveTo>
                  <a:pt x="238330" y="66040"/>
                </a:moveTo>
                <a:lnTo>
                  <a:pt x="235681" y="66040"/>
                </a:lnTo>
                <a:lnTo>
                  <a:pt x="235808" y="67309"/>
                </a:lnTo>
                <a:lnTo>
                  <a:pt x="237825" y="67309"/>
                </a:lnTo>
                <a:lnTo>
                  <a:pt x="238330" y="66040"/>
                </a:lnTo>
                <a:close/>
              </a:path>
              <a:path w="267970" h="254000">
                <a:moveTo>
                  <a:pt x="231646" y="1270"/>
                </a:moveTo>
                <a:lnTo>
                  <a:pt x="228494" y="1270"/>
                </a:lnTo>
                <a:lnTo>
                  <a:pt x="227737" y="2540"/>
                </a:lnTo>
                <a:lnTo>
                  <a:pt x="226980" y="2540"/>
                </a:lnTo>
                <a:lnTo>
                  <a:pt x="225089" y="5079"/>
                </a:lnTo>
                <a:lnTo>
                  <a:pt x="224836" y="5079"/>
                </a:lnTo>
                <a:lnTo>
                  <a:pt x="224458" y="6350"/>
                </a:lnTo>
                <a:lnTo>
                  <a:pt x="224458" y="7620"/>
                </a:lnTo>
                <a:lnTo>
                  <a:pt x="229502" y="29209"/>
                </a:lnTo>
                <a:lnTo>
                  <a:pt x="200878" y="29209"/>
                </a:lnTo>
                <a:lnTo>
                  <a:pt x="200752" y="30479"/>
                </a:lnTo>
                <a:lnTo>
                  <a:pt x="201256" y="30479"/>
                </a:lnTo>
                <a:lnTo>
                  <a:pt x="201761" y="31750"/>
                </a:lnTo>
                <a:lnTo>
                  <a:pt x="202265" y="31750"/>
                </a:lnTo>
                <a:lnTo>
                  <a:pt x="229251" y="38100"/>
                </a:lnTo>
                <a:lnTo>
                  <a:pt x="235430" y="66040"/>
                </a:lnTo>
                <a:lnTo>
                  <a:pt x="239591" y="66040"/>
                </a:lnTo>
                <a:lnTo>
                  <a:pt x="241104" y="64770"/>
                </a:lnTo>
                <a:lnTo>
                  <a:pt x="241608" y="63500"/>
                </a:lnTo>
                <a:lnTo>
                  <a:pt x="242365" y="62229"/>
                </a:lnTo>
                <a:lnTo>
                  <a:pt x="242869" y="62229"/>
                </a:lnTo>
                <a:lnTo>
                  <a:pt x="243122" y="60959"/>
                </a:lnTo>
                <a:lnTo>
                  <a:pt x="242995" y="59690"/>
                </a:lnTo>
                <a:lnTo>
                  <a:pt x="237448" y="38100"/>
                </a:lnTo>
                <a:lnTo>
                  <a:pt x="267333" y="38100"/>
                </a:lnTo>
                <a:lnTo>
                  <a:pt x="267585" y="36829"/>
                </a:lnTo>
                <a:lnTo>
                  <a:pt x="267712" y="35559"/>
                </a:lnTo>
                <a:lnTo>
                  <a:pt x="266198" y="35559"/>
                </a:lnTo>
                <a:lnTo>
                  <a:pt x="237952" y="29209"/>
                </a:lnTo>
                <a:lnTo>
                  <a:pt x="231899" y="2540"/>
                </a:lnTo>
                <a:lnTo>
                  <a:pt x="231646" y="1270"/>
                </a:lnTo>
                <a:close/>
              </a:path>
              <a:path w="267970" h="254000">
                <a:moveTo>
                  <a:pt x="142745" y="60959"/>
                </a:moveTo>
                <a:lnTo>
                  <a:pt x="141862" y="60959"/>
                </a:lnTo>
                <a:lnTo>
                  <a:pt x="141611" y="62229"/>
                </a:lnTo>
                <a:lnTo>
                  <a:pt x="143502" y="62229"/>
                </a:lnTo>
                <a:lnTo>
                  <a:pt x="142745" y="60959"/>
                </a:lnTo>
                <a:close/>
              </a:path>
              <a:path w="267970" h="254000">
                <a:moveTo>
                  <a:pt x="266451" y="38100"/>
                </a:moveTo>
                <a:lnTo>
                  <a:pt x="237448" y="38100"/>
                </a:lnTo>
                <a:lnTo>
                  <a:pt x="259892" y="43179"/>
                </a:lnTo>
                <a:lnTo>
                  <a:pt x="262163" y="43179"/>
                </a:lnTo>
                <a:lnTo>
                  <a:pt x="263550" y="41909"/>
                </a:lnTo>
                <a:lnTo>
                  <a:pt x="264180" y="40640"/>
                </a:lnTo>
                <a:lnTo>
                  <a:pt x="264937" y="40640"/>
                </a:lnTo>
                <a:lnTo>
                  <a:pt x="265819" y="39370"/>
                </a:lnTo>
                <a:lnTo>
                  <a:pt x="266451" y="38100"/>
                </a:lnTo>
                <a:close/>
              </a:path>
              <a:path w="267970" h="254000">
                <a:moveTo>
                  <a:pt x="208066" y="22859"/>
                </a:moveTo>
                <a:lnTo>
                  <a:pt x="206931" y="22859"/>
                </a:lnTo>
                <a:lnTo>
                  <a:pt x="206678" y="24129"/>
                </a:lnTo>
                <a:lnTo>
                  <a:pt x="206300" y="24129"/>
                </a:lnTo>
                <a:lnTo>
                  <a:pt x="204913" y="25400"/>
                </a:lnTo>
                <a:lnTo>
                  <a:pt x="204283" y="25400"/>
                </a:lnTo>
                <a:lnTo>
                  <a:pt x="203526" y="26670"/>
                </a:lnTo>
                <a:lnTo>
                  <a:pt x="202643" y="26670"/>
                </a:lnTo>
                <a:lnTo>
                  <a:pt x="202013" y="27940"/>
                </a:lnTo>
                <a:lnTo>
                  <a:pt x="201635" y="27940"/>
                </a:lnTo>
                <a:lnTo>
                  <a:pt x="201129" y="29209"/>
                </a:lnTo>
                <a:lnTo>
                  <a:pt x="229502" y="29209"/>
                </a:lnTo>
                <a:lnTo>
                  <a:pt x="208318" y="24129"/>
                </a:lnTo>
                <a:lnTo>
                  <a:pt x="208066" y="22859"/>
                </a:lnTo>
                <a:close/>
              </a:path>
              <a:path w="267970" h="254000">
                <a:moveTo>
                  <a:pt x="231016" y="0"/>
                </a:moveTo>
                <a:lnTo>
                  <a:pt x="230007" y="0"/>
                </a:lnTo>
                <a:lnTo>
                  <a:pt x="229502" y="1270"/>
                </a:lnTo>
                <a:lnTo>
                  <a:pt x="231521" y="1270"/>
                </a:lnTo>
                <a:lnTo>
                  <a:pt x="231016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224754" y="6029883"/>
            <a:ext cx="189230" cy="207645"/>
          </a:xfrm>
          <a:custGeom>
            <a:avLst/>
            <a:gdLst/>
            <a:ahLst/>
            <a:cxnLst/>
            <a:rect l="l" t="t" r="r" b="b"/>
            <a:pathLst>
              <a:path w="189229" h="207645">
                <a:moveTo>
                  <a:pt x="11008" y="147134"/>
                </a:moveTo>
                <a:lnTo>
                  <a:pt x="9368" y="147411"/>
                </a:lnTo>
                <a:lnTo>
                  <a:pt x="8611" y="147725"/>
                </a:lnTo>
                <a:lnTo>
                  <a:pt x="7856" y="148204"/>
                </a:lnTo>
                <a:lnTo>
                  <a:pt x="6973" y="148682"/>
                </a:lnTo>
                <a:lnTo>
                  <a:pt x="0" y="158215"/>
                </a:lnTo>
                <a:lnTo>
                  <a:pt x="415" y="159097"/>
                </a:lnTo>
                <a:lnTo>
                  <a:pt x="1424" y="160192"/>
                </a:lnTo>
                <a:lnTo>
                  <a:pt x="48180" y="206848"/>
                </a:lnTo>
                <a:lnTo>
                  <a:pt x="48460" y="207100"/>
                </a:lnTo>
                <a:lnTo>
                  <a:pt x="48964" y="207226"/>
                </a:lnTo>
                <a:lnTo>
                  <a:pt x="49343" y="207176"/>
                </a:lnTo>
                <a:lnTo>
                  <a:pt x="49720" y="207012"/>
                </a:lnTo>
                <a:lnTo>
                  <a:pt x="49973" y="206848"/>
                </a:lnTo>
                <a:lnTo>
                  <a:pt x="50477" y="206584"/>
                </a:lnTo>
                <a:lnTo>
                  <a:pt x="51486" y="205854"/>
                </a:lnTo>
                <a:lnTo>
                  <a:pt x="52621" y="204708"/>
                </a:lnTo>
                <a:lnTo>
                  <a:pt x="53377" y="204040"/>
                </a:lnTo>
                <a:lnTo>
                  <a:pt x="53882" y="203448"/>
                </a:lnTo>
                <a:lnTo>
                  <a:pt x="54260" y="202957"/>
                </a:lnTo>
                <a:lnTo>
                  <a:pt x="54513" y="202466"/>
                </a:lnTo>
                <a:lnTo>
                  <a:pt x="54890" y="202038"/>
                </a:lnTo>
                <a:lnTo>
                  <a:pt x="55269" y="201005"/>
                </a:lnTo>
                <a:lnTo>
                  <a:pt x="55269" y="200741"/>
                </a:lnTo>
                <a:lnTo>
                  <a:pt x="55017" y="200237"/>
                </a:lnTo>
                <a:lnTo>
                  <a:pt x="54764" y="200036"/>
                </a:lnTo>
                <a:lnTo>
                  <a:pt x="10629" y="155936"/>
                </a:lnTo>
                <a:lnTo>
                  <a:pt x="32739" y="155886"/>
                </a:lnTo>
                <a:lnTo>
                  <a:pt x="15421" y="148380"/>
                </a:lnTo>
                <a:lnTo>
                  <a:pt x="14413" y="147914"/>
                </a:lnTo>
                <a:lnTo>
                  <a:pt x="13530" y="147574"/>
                </a:lnTo>
                <a:lnTo>
                  <a:pt x="12773" y="147373"/>
                </a:lnTo>
                <a:lnTo>
                  <a:pt x="11890" y="147171"/>
                </a:lnTo>
                <a:lnTo>
                  <a:pt x="11008" y="147134"/>
                </a:lnTo>
                <a:close/>
              </a:path>
              <a:path w="189229" h="207645">
                <a:moveTo>
                  <a:pt x="32739" y="155886"/>
                </a:moveTo>
                <a:lnTo>
                  <a:pt x="10755" y="155886"/>
                </a:lnTo>
                <a:lnTo>
                  <a:pt x="72166" y="183124"/>
                </a:lnTo>
                <a:lnTo>
                  <a:pt x="72544" y="183275"/>
                </a:lnTo>
                <a:lnTo>
                  <a:pt x="73176" y="183250"/>
                </a:lnTo>
                <a:lnTo>
                  <a:pt x="73511" y="183124"/>
                </a:lnTo>
                <a:lnTo>
                  <a:pt x="74184" y="182821"/>
                </a:lnTo>
                <a:lnTo>
                  <a:pt x="74562" y="182570"/>
                </a:lnTo>
                <a:lnTo>
                  <a:pt x="74941" y="182230"/>
                </a:lnTo>
                <a:lnTo>
                  <a:pt x="75445" y="181890"/>
                </a:lnTo>
                <a:lnTo>
                  <a:pt x="75949" y="181449"/>
                </a:lnTo>
                <a:lnTo>
                  <a:pt x="76453" y="180895"/>
                </a:lnTo>
                <a:lnTo>
                  <a:pt x="76959" y="180378"/>
                </a:lnTo>
                <a:lnTo>
                  <a:pt x="77463" y="179900"/>
                </a:lnTo>
                <a:lnTo>
                  <a:pt x="77842" y="179484"/>
                </a:lnTo>
                <a:lnTo>
                  <a:pt x="78093" y="179069"/>
                </a:lnTo>
                <a:lnTo>
                  <a:pt x="78597" y="178313"/>
                </a:lnTo>
                <a:lnTo>
                  <a:pt x="78850" y="177633"/>
                </a:lnTo>
                <a:lnTo>
                  <a:pt x="78850" y="176815"/>
                </a:lnTo>
                <a:lnTo>
                  <a:pt x="76186" y="170569"/>
                </a:lnTo>
                <a:lnTo>
                  <a:pt x="66619" y="170569"/>
                </a:lnTo>
                <a:lnTo>
                  <a:pt x="32739" y="155886"/>
                </a:lnTo>
                <a:close/>
              </a:path>
              <a:path w="189229" h="207645">
                <a:moveTo>
                  <a:pt x="53882" y="103663"/>
                </a:moveTo>
                <a:lnTo>
                  <a:pt x="52873" y="103663"/>
                </a:lnTo>
                <a:lnTo>
                  <a:pt x="52369" y="103789"/>
                </a:lnTo>
                <a:lnTo>
                  <a:pt x="51991" y="104029"/>
                </a:lnTo>
                <a:lnTo>
                  <a:pt x="51486" y="104268"/>
                </a:lnTo>
                <a:lnTo>
                  <a:pt x="50981" y="104595"/>
                </a:lnTo>
                <a:lnTo>
                  <a:pt x="46316" y="109317"/>
                </a:lnTo>
                <a:lnTo>
                  <a:pt x="45559" y="109985"/>
                </a:lnTo>
                <a:lnTo>
                  <a:pt x="45055" y="110640"/>
                </a:lnTo>
                <a:lnTo>
                  <a:pt x="44802" y="111282"/>
                </a:lnTo>
                <a:lnTo>
                  <a:pt x="44424" y="111937"/>
                </a:lnTo>
                <a:lnTo>
                  <a:pt x="44173" y="112629"/>
                </a:lnTo>
                <a:lnTo>
                  <a:pt x="44074" y="115009"/>
                </a:lnTo>
                <a:lnTo>
                  <a:pt x="44298" y="115803"/>
                </a:lnTo>
                <a:lnTo>
                  <a:pt x="44424" y="116697"/>
                </a:lnTo>
                <a:lnTo>
                  <a:pt x="44820" y="117717"/>
                </a:lnTo>
                <a:lnTo>
                  <a:pt x="45359" y="118875"/>
                </a:lnTo>
                <a:lnTo>
                  <a:pt x="66870" y="170367"/>
                </a:lnTo>
                <a:lnTo>
                  <a:pt x="66619" y="170569"/>
                </a:lnTo>
                <a:lnTo>
                  <a:pt x="76186" y="170569"/>
                </a:lnTo>
                <a:lnTo>
                  <a:pt x="52452" y="114909"/>
                </a:lnTo>
                <a:lnTo>
                  <a:pt x="52369" y="114329"/>
                </a:lnTo>
                <a:lnTo>
                  <a:pt x="65740" y="114329"/>
                </a:lnTo>
                <a:lnTo>
                  <a:pt x="56530" y="105137"/>
                </a:lnTo>
                <a:lnTo>
                  <a:pt x="56025" y="104595"/>
                </a:lnTo>
                <a:lnTo>
                  <a:pt x="55521" y="104205"/>
                </a:lnTo>
                <a:lnTo>
                  <a:pt x="55017" y="103991"/>
                </a:lnTo>
                <a:lnTo>
                  <a:pt x="54386" y="103764"/>
                </a:lnTo>
                <a:lnTo>
                  <a:pt x="53882" y="103663"/>
                </a:lnTo>
                <a:close/>
              </a:path>
              <a:path w="189229" h="207645">
                <a:moveTo>
                  <a:pt x="65740" y="114329"/>
                </a:moveTo>
                <a:lnTo>
                  <a:pt x="52369" y="114329"/>
                </a:lnTo>
                <a:lnTo>
                  <a:pt x="96504" y="158429"/>
                </a:lnTo>
                <a:lnTo>
                  <a:pt x="96630" y="158643"/>
                </a:lnTo>
                <a:lnTo>
                  <a:pt x="96883" y="158769"/>
                </a:lnTo>
                <a:lnTo>
                  <a:pt x="97513" y="158870"/>
                </a:lnTo>
                <a:lnTo>
                  <a:pt x="97853" y="158769"/>
                </a:lnTo>
                <a:lnTo>
                  <a:pt x="98144" y="158643"/>
                </a:lnTo>
                <a:lnTo>
                  <a:pt x="98491" y="158429"/>
                </a:lnTo>
                <a:lnTo>
                  <a:pt x="98899" y="158215"/>
                </a:lnTo>
                <a:lnTo>
                  <a:pt x="99909" y="157460"/>
                </a:lnTo>
                <a:lnTo>
                  <a:pt x="101043" y="156339"/>
                </a:lnTo>
                <a:lnTo>
                  <a:pt x="101800" y="155671"/>
                </a:lnTo>
                <a:lnTo>
                  <a:pt x="102331" y="155042"/>
                </a:lnTo>
                <a:lnTo>
                  <a:pt x="102557" y="154614"/>
                </a:lnTo>
                <a:lnTo>
                  <a:pt x="102935" y="154135"/>
                </a:lnTo>
                <a:lnTo>
                  <a:pt x="103187" y="153707"/>
                </a:lnTo>
                <a:lnTo>
                  <a:pt x="103440" y="153354"/>
                </a:lnTo>
                <a:lnTo>
                  <a:pt x="103440" y="151919"/>
                </a:lnTo>
                <a:lnTo>
                  <a:pt x="103187" y="151705"/>
                </a:lnTo>
                <a:lnTo>
                  <a:pt x="65740" y="114329"/>
                </a:lnTo>
                <a:close/>
              </a:path>
              <a:path w="189229" h="207645">
                <a:moveTo>
                  <a:pt x="71914" y="84321"/>
                </a:moveTo>
                <a:lnTo>
                  <a:pt x="71662" y="84371"/>
                </a:lnTo>
                <a:lnTo>
                  <a:pt x="70906" y="84686"/>
                </a:lnTo>
                <a:lnTo>
                  <a:pt x="69518" y="85706"/>
                </a:lnTo>
                <a:lnTo>
                  <a:pt x="68384" y="86839"/>
                </a:lnTo>
                <a:lnTo>
                  <a:pt x="67627" y="87519"/>
                </a:lnTo>
                <a:lnTo>
                  <a:pt x="67123" y="88099"/>
                </a:lnTo>
                <a:lnTo>
                  <a:pt x="66366" y="89056"/>
                </a:lnTo>
                <a:lnTo>
                  <a:pt x="66113" y="89484"/>
                </a:lnTo>
                <a:lnTo>
                  <a:pt x="65736" y="90491"/>
                </a:lnTo>
                <a:lnTo>
                  <a:pt x="65862" y="90756"/>
                </a:lnTo>
                <a:lnTo>
                  <a:pt x="65987" y="91247"/>
                </a:lnTo>
                <a:lnTo>
                  <a:pt x="66240" y="91461"/>
                </a:lnTo>
                <a:lnTo>
                  <a:pt x="97638" y="122880"/>
                </a:lnTo>
                <a:lnTo>
                  <a:pt x="100792" y="125978"/>
                </a:lnTo>
                <a:lnTo>
                  <a:pt x="103944" y="128282"/>
                </a:lnTo>
                <a:lnTo>
                  <a:pt x="110501" y="131254"/>
                </a:lnTo>
                <a:lnTo>
                  <a:pt x="113780" y="131959"/>
                </a:lnTo>
                <a:lnTo>
                  <a:pt x="120211" y="131833"/>
                </a:lnTo>
                <a:lnTo>
                  <a:pt x="135882" y="122603"/>
                </a:lnTo>
                <a:lnTo>
                  <a:pt x="119706" y="122603"/>
                </a:lnTo>
                <a:lnTo>
                  <a:pt x="115167" y="122452"/>
                </a:lnTo>
                <a:lnTo>
                  <a:pt x="112897" y="121822"/>
                </a:lnTo>
                <a:lnTo>
                  <a:pt x="110627" y="120651"/>
                </a:lnTo>
                <a:lnTo>
                  <a:pt x="108231" y="119467"/>
                </a:lnTo>
                <a:lnTo>
                  <a:pt x="105923" y="117679"/>
                </a:lnTo>
                <a:lnTo>
                  <a:pt x="102531" y="114329"/>
                </a:lnTo>
                <a:lnTo>
                  <a:pt x="72923" y="84761"/>
                </a:lnTo>
                <a:lnTo>
                  <a:pt x="72671" y="84560"/>
                </a:lnTo>
                <a:lnTo>
                  <a:pt x="72419" y="84421"/>
                </a:lnTo>
                <a:lnTo>
                  <a:pt x="71914" y="84321"/>
                </a:lnTo>
                <a:close/>
              </a:path>
              <a:path w="189229" h="207645">
                <a:moveTo>
                  <a:pt x="103440" y="52889"/>
                </a:moveTo>
                <a:lnTo>
                  <a:pt x="103040" y="52965"/>
                </a:lnTo>
                <a:lnTo>
                  <a:pt x="102808" y="53103"/>
                </a:lnTo>
                <a:lnTo>
                  <a:pt x="102377" y="53305"/>
                </a:lnTo>
                <a:lnTo>
                  <a:pt x="97261" y="59034"/>
                </a:lnTo>
                <a:lnTo>
                  <a:pt x="97387" y="59286"/>
                </a:lnTo>
                <a:lnTo>
                  <a:pt x="97513" y="59790"/>
                </a:lnTo>
                <a:lnTo>
                  <a:pt x="130929" y="93211"/>
                </a:lnTo>
                <a:lnTo>
                  <a:pt x="135635" y="107126"/>
                </a:lnTo>
                <a:lnTo>
                  <a:pt x="135343" y="108788"/>
                </a:lnTo>
                <a:lnTo>
                  <a:pt x="134334" y="110879"/>
                </a:lnTo>
                <a:lnTo>
                  <a:pt x="133451" y="112982"/>
                </a:lnTo>
                <a:lnTo>
                  <a:pt x="119706" y="122603"/>
                </a:lnTo>
                <a:lnTo>
                  <a:pt x="135882" y="122603"/>
                </a:lnTo>
                <a:lnTo>
                  <a:pt x="144548" y="107126"/>
                </a:lnTo>
                <a:lnTo>
                  <a:pt x="144448" y="99999"/>
                </a:lnTo>
                <a:lnTo>
                  <a:pt x="143791" y="97115"/>
                </a:lnTo>
                <a:lnTo>
                  <a:pt x="140765" y="90491"/>
                </a:lnTo>
                <a:lnTo>
                  <a:pt x="138495" y="87293"/>
                </a:lnTo>
                <a:lnTo>
                  <a:pt x="135343" y="84220"/>
                </a:lnTo>
                <a:lnTo>
                  <a:pt x="104404" y="53267"/>
                </a:lnTo>
                <a:lnTo>
                  <a:pt x="104197" y="53091"/>
                </a:lnTo>
                <a:lnTo>
                  <a:pt x="103944" y="52965"/>
                </a:lnTo>
                <a:lnTo>
                  <a:pt x="103440" y="52889"/>
                </a:lnTo>
                <a:close/>
              </a:path>
              <a:path w="189229" h="207645">
                <a:moveTo>
                  <a:pt x="120463" y="35864"/>
                </a:moveTo>
                <a:lnTo>
                  <a:pt x="120084" y="35902"/>
                </a:lnTo>
                <a:lnTo>
                  <a:pt x="119706" y="36027"/>
                </a:lnTo>
                <a:lnTo>
                  <a:pt x="118950" y="36430"/>
                </a:lnTo>
                <a:lnTo>
                  <a:pt x="118572" y="36821"/>
                </a:lnTo>
                <a:lnTo>
                  <a:pt x="118067" y="37211"/>
                </a:lnTo>
                <a:lnTo>
                  <a:pt x="114284" y="41266"/>
                </a:lnTo>
                <a:lnTo>
                  <a:pt x="113906" y="41757"/>
                </a:lnTo>
                <a:lnTo>
                  <a:pt x="179730" y="74851"/>
                </a:lnTo>
                <a:lnTo>
                  <a:pt x="180612" y="75128"/>
                </a:lnTo>
                <a:lnTo>
                  <a:pt x="180991" y="75178"/>
                </a:lnTo>
                <a:lnTo>
                  <a:pt x="181622" y="75078"/>
                </a:lnTo>
                <a:lnTo>
                  <a:pt x="181874" y="74964"/>
                </a:lnTo>
                <a:lnTo>
                  <a:pt x="182379" y="74649"/>
                </a:lnTo>
                <a:lnTo>
                  <a:pt x="182756" y="74448"/>
                </a:lnTo>
                <a:lnTo>
                  <a:pt x="183513" y="73919"/>
                </a:lnTo>
                <a:lnTo>
                  <a:pt x="183892" y="73592"/>
                </a:lnTo>
                <a:lnTo>
                  <a:pt x="184270" y="73164"/>
                </a:lnTo>
                <a:lnTo>
                  <a:pt x="184774" y="72748"/>
                </a:lnTo>
                <a:lnTo>
                  <a:pt x="185910" y="71678"/>
                </a:lnTo>
                <a:lnTo>
                  <a:pt x="186665" y="70922"/>
                </a:lnTo>
                <a:lnTo>
                  <a:pt x="187171" y="70267"/>
                </a:lnTo>
                <a:lnTo>
                  <a:pt x="188179" y="69172"/>
                </a:lnTo>
                <a:lnTo>
                  <a:pt x="188558" y="68693"/>
                </a:lnTo>
                <a:lnTo>
                  <a:pt x="188683" y="68252"/>
                </a:lnTo>
                <a:lnTo>
                  <a:pt x="188936" y="67824"/>
                </a:lnTo>
                <a:lnTo>
                  <a:pt x="189062" y="66703"/>
                </a:lnTo>
                <a:lnTo>
                  <a:pt x="188809" y="65935"/>
                </a:lnTo>
                <a:lnTo>
                  <a:pt x="188035" y="64323"/>
                </a:lnTo>
                <a:lnTo>
                  <a:pt x="178847" y="64323"/>
                </a:lnTo>
                <a:lnTo>
                  <a:pt x="121724" y="36229"/>
                </a:lnTo>
                <a:lnTo>
                  <a:pt x="121345" y="36078"/>
                </a:lnTo>
                <a:lnTo>
                  <a:pt x="120967" y="35965"/>
                </a:lnTo>
                <a:lnTo>
                  <a:pt x="120463" y="35864"/>
                </a:lnTo>
                <a:close/>
              </a:path>
              <a:path w="189229" h="207645">
                <a:moveTo>
                  <a:pt x="155897" y="0"/>
                </a:moveTo>
                <a:lnTo>
                  <a:pt x="155361" y="226"/>
                </a:lnTo>
                <a:lnTo>
                  <a:pt x="153627" y="1611"/>
                </a:lnTo>
                <a:lnTo>
                  <a:pt x="152871" y="2417"/>
                </a:lnTo>
                <a:lnTo>
                  <a:pt x="150980" y="4357"/>
                </a:lnTo>
                <a:lnTo>
                  <a:pt x="150601" y="4860"/>
                </a:lnTo>
                <a:lnTo>
                  <a:pt x="150348" y="5301"/>
                </a:lnTo>
                <a:lnTo>
                  <a:pt x="150097" y="5666"/>
                </a:lnTo>
                <a:lnTo>
                  <a:pt x="150097" y="6649"/>
                </a:lnTo>
                <a:lnTo>
                  <a:pt x="150223" y="7253"/>
                </a:lnTo>
                <a:lnTo>
                  <a:pt x="150475" y="7618"/>
                </a:lnTo>
                <a:lnTo>
                  <a:pt x="178974" y="64286"/>
                </a:lnTo>
                <a:lnTo>
                  <a:pt x="188035" y="64323"/>
                </a:lnTo>
                <a:lnTo>
                  <a:pt x="157915" y="1599"/>
                </a:lnTo>
                <a:lnTo>
                  <a:pt x="157537" y="1007"/>
                </a:lnTo>
                <a:lnTo>
                  <a:pt x="157158" y="617"/>
                </a:lnTo>
                <a:lnTo>
                  <a:pt x="156907" y="226"/>
                </a:lnTo>
                <a:lnTo>
                  <a:pt x="156528" y="25"/>
                </a:lnTo>
                <a:lnTo>
                  <a:pt x="155897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771817" y="6026811"/>
            <a:ext cx="143510" cy="160655"/>
          </a:xfrm>
          <a:custGeom>
            <a:avLst/>
            <a:gdLst/>
            <a:ahLst/>
            <a:cxnLst/>
            <a:rect l="l" t="t" r="r" b="b"/>
            <a:pathLst>
              <a:path w="143510" h="160654">
                <a:moveTo>
                  <a:pt x="6178" y="104242"/>
                </a:moveTo>
                <a:lnTo>
                  <a:pt x="2520" y="106799"/>
                </a:lnTo>
                <a:lnTo>
                  <a:pt x="1891" y="107416"/>
                </a:lnTo>
                <a:lnTo>
                  <a:pt x="1386" y="107983"/>
                </a:lnTo>
                <a:lnTo>
                  <a:pt x="629" y="109003"/>
                </a:lnTo>
                <a:lnTo>
                  <a:pt x="377" y="109431"/>
                </a:lnTo>
                <a:lnTo>
                  <a:pt x="125" y="109783"/>
                </a:lnTo>
                <a:lnTo>
                  <a:pt x="0" y="110967"/>
                </a:lnTo>
                <a:lnTo>
                  <a:pt x="251" y="111206"/>
                </a:lnTo>
                <a:lnTo>
                  <a:pt x="377" y="111408"/>
                </a:lnTo>
                <a:lnTo>
                  <a:pt x="49099" y="160054"/>
                </a:lnTo>
                <a:lnTo>
                  <a:pt x="49305" y="160217"/>
                </a:lnTo>
                <a:lnTo>
                  <a:pt x="49556" y="160356"/>
                </a:lnTo>
                <a:lnTo>
                  <a:pt x="50060" y="160457"/>
                </a:lnTo>
                <a:lnTo>
                  <a:pt x="50397" y="160356"/>
                </a:lnTo>
                <a:lnTo>
                  <a:pt x="55987" y="154903"/>
                </a:lnTo>
                <a:lnTo>
                  <a:pt x="56240" y="154551"/>
                </a:lnTo>
                <a:lnTo>
                  <a:pt x="56240" y="153984"/>
                </a:lnTo>
                <a:lnTo>
                  <a:pt x="55862" y="153279"/>
                </a:lnTo>
                <a:lnTo>
                  <a:pt x="33290" y="130826"/>
                </a:lnTo>
                <a:lnTo>
                  <a:pt x="39163" y="124958"/>
                </a:lnTo>
                <a:lnTo>
                  <a:pt x="27489" y="124958"/>
                </a:lnTo>
                <a:lnTo>
                  <a:pt x="7127" y="104633"/>
                </a:lnTo>
                <a:lnTo>
                  <a:pt x="6935" y="104469"/>
                </a:lnTo>
                <a:lnTo>
                  <a:pt x="6682" y="104343"/>
                </a:lnTo>
                <a:lnTo>
                  <a:pt x="6178" y="104242"/>
                </a:lnTo>
                <a:close/>
              </a:path>
              <a:path w="143510" h="160654">
                <a:moveTo>
                  <a:pt x="69821" y="107769"/>
                </a:moveTo>
                <a:lnTo>
                  <a:pt x="56366" y="107769"/>
                </a:lnTo>
                <a:lnTo>
                  <a:pt x="78938" y="130234"/>
                </a:lnTo>
                <a:lnTo>
                  <a:pt x="79065" y="130448"/>
                </a:lnTo>
                <a:lnTo>
                  <a:pt x="79316" y="130574"/>
                </a:lnTo>
                <a:lnTo>
                  <a:pt x="79820" y="130675"/>
                </a:lnTo>
                <a:lnTo>
                  <a:pt x="80199" y="130624"/>
                </a:lnTo>
                <a:lnTo>
                  <a:pt x="80451" y="130448"/>
                </a:lnTo>
                <a:lnTo>
                  <a:pt x="80926" y="130234"/>
                </a:lnTo>
                <a:lnTo>
                  <a:pt x="81334" y="130020"/>
                </a:lnTo>
                <a:lnTo>
                  <a:pt x="81713" y="129667"/>
                </a:lnTo>
                <a:lnTo>
                  <a:pt x="82217" y="129315"/>
                </a:lnTo>
                <a:lnTo>
                  <a:pt x="82847" y="128798"/>
                </a:lnTo>
                <a:lnTo>
                  <a:pt x="83478" y="128118"/>
                </a:lnTo>
                <a:lnTo>
                  <a:pt x="84108" y="127501"/>
                </a:lnTo>
                <a:lnTo>
                  <a:pt x="84612" y="126935"/>
                </a:lnTo>
                <a:lnTo>
                  <a:pt x="85369" y="125940"/>
                </a:lnTo>
                <a:lnTo>
                  <a:pt x="85622" y="125524"/>
                </a:lnTo>
                <a:lnTo>
                  <a:pt x="85747" y="125172"/>
                </a:lnTo>
                <a:lnTo>
                  <a:pt x="85901" y="124958"/>
                </a:lnTo>
                <a:lnTo>
                  <a:pt x="85873" y="123988"/>
                </a:lnTo>
                <a:lnTo>
                  <a:pt x="85622" y="123547"/>
                </a:lnTo>
                <a:lnTo>
                  <a:pt x="69821" y="107769"/>
                </a:lnTo>
                <a:close/>
              </a:path>
              <a:path w="143510" h="160654">
                <a:moveTo>
                  <a:pt x="35938" y="74498"/>
                </a:moveTo>
                <a:lnTo>
                  <a:pt x="29758" y="80669"/>
                </a:lnTo>
                <a:lnTo>
                  <a:pt x="29885" y="80933"/>
                </a:lnTo>
                <a:lnTo>
                  <a:pt x="30011" y="81424"/>
                </a:lnTo>
                <a:lnTo>
                  <a:pt x="30264" y="81639"/>
                </a:lnTo>
                <a:lnTo>
                  <a:pt x="50566" y="101900"/>
                </a:lnTo>
                <a:lnTo>
                  <a:pt x="27489" y="124958"/>
                </a:lnTo>
                <a:lnTo>
                  <a:pt x="39163" y="124958"/>
                </a:lnTo>
                <a:lnTo>
                  <a:pt x="56366" y="107769"/>
                </a:lnTo>
                <a:lnTo>
                  <a:pt x="69821" y="107769"/>
                </a:lnTo>
                <a:lnTo>
                  <a:pt x="36836" y="74851"/>
                </a:lnTo>
                <a:lnTo>
                  <a:pt x="36694" y="74738"/>
                </a:lnTo>
                <a:lnTo>
                  <a:pt x="36442" y="74599"/>
                </a:lnTo>
                <a:lnTo>
                  <a:pt x="35938" y="74498"/>
                </a:lnTo>
                <a:close/>
              </a:path>
              <a:path w="143510" h="160654">
                <a:moveTo>
                  <a:pt x="52961" y="57486"/>
                </a:moveTo>
                <a:lnTo>
                  <a:pt x="49305" y="60042"/>
                </a:lnTo>
                <a:lnTo>
                  <a:pt x="48674" y="60646"/>
                </a:lnTo>
                <a:lnTo>
                  <a:pt x="48295" y="61200"/>
                </a:lnTo>
                <a:lnTo>
                  <a:pt x="47539" y="62183"/>
                </a:lnTo>
                <a:lnTo>
                  <a:pt x="47287" y="62611"/>
                </a:lnTo>
                <a:lnTo>
                  <a:pt x="47034" y="62976"/>
                </a:lnTo>
                <a:lnTo>
                  <a:pt x="46782" y="63669"/>
                </a:lnTo>
                <a:lnTo>
                  <a:pt x="46782" y="63946"/>
                </a:lnTo>
                <a:lnTo>
                  <a:pt x="95894" y="113309"/>
                </a:lnTo>
                <a:lnTo>
                  <a:pt x="96845" y="113712"/>
                </a:lnTo>
                <a:lnTo>
                  <a:pt x="97096" y="113649"/>
                </a:lnTo>
                <a:lnTo>
                  <a:pt x="97853" y="113309"/>
                </a:lnTo>
                <a:lnTo>
                  <a:pt x="98231" y="113032"/>
                </a:lnTo>
                <a:lnTo>
                  <a:pt x="98861" y="112654"/>
                </a:lnTo>
                <a:lnTo>
                  <a:pt x="102645" y="108511"/>
                </a:lnTo>
                <a:lnTo>
                  <a:pt x="102897" y="108159"/>
                </a:lnTo>
                <a:lnTo>
                  <a:pt x="53910" y="57889"/>
                </a:lnTo>
                <a:lnTo>
                  <a:pt x="53465" y="57599"/>
                </a:lnTo>
                <a:lnTo>
                  <a:pt x="52961" y="57486"/>
                </a:lnTo>
                <a:close/>
              </a:path>
              <a:path w="143510" h="160654">
                <a:moveTo>
                  <a:pt x="74524" y="35864"/>
                </a:moveTo>
                <a:lnTo>
                  <a:pt x="74272" y="35902"/>
                </a:lnTo>
                <a:lnTo>
                  <a:pt x="73894" y="36027"/>
                </a:lnTo>
                <a:lnTo>
                  <a:pt x="73138" y="36430"/>
                </a:lnTo>
                <a:lnTo>
                  <a:pt x="72759" y="36821"/>
                </a:lnTo>
                <a:lnTo>
                  <a:pt x="72255" y="37211"/>
                </a:lnTo>
                <a:lnTo>
                  <a:pt x="68219" y="42979"/>
                </a:lnTo>
                <a:lnTo>
                  <a:pt x="68976" y="43646"/>
                </a:lnTo>
                <a:lnTo>
                  <a:pt x="69480" y="43999"/>
                </a:lnTo>
                <a:lnTo>
                  <a:pt x="133917" y="74851"/>
                </a:lnTo>
                <a:lnTo>
                  <a:pt x="134548" y="75078"/>
                </a:lnTo>
                <a:lnTo>
                  <a:pt x="134801" y="75128"/>
                </a:lnTo>
                <a:lnTo>
                  <a:pt x="135178" y="75178"/>
                </a:lnTo>
                <a:lnTo>
                  <a:pt x="135684" y="75078"/>
                </a:lnTo>
                <a:lnTo>
                  <a:pt x="138457" y="73164"/>
                </a:lnTo>
                <a:lnTo>
                  <a:pt x="138962" y="72748"/>
                </a:lnTo>
                <a:lnTo>
                  <a:pt x="139466" y="72257"/>
                </a:lnTo>
                <a:lnTo>
                  <a:pt x="139970" y="71678"/>
                </a:lnTo>
                <a:lnTo>
                  <a:pt x="141358" y="70267"/>
                </a:lnTo>
                <a:lnTo>
                  <a:pt x="142367" y="69172"/>
                </a:lnTo>
                <a:lnTo>
                  <a:pt x="142745" y="68693"/>
                </a:lnTo>
                <a:lnTo>
                  <a:pt x="142871" y="68252"/>
                </a:lnTo>
                <a:lnTo>
                  <a:pt x="143123" y="67824"/>
                </a:lnTo>
                <a:lnTo>
                  <a:pt x="143249" y="66703"/>
                </a:lnTo>
                <a:lnTo>
                  <a:pt x="142996" y="65935"/>
                </a:lnTo>
                <a:lnTo>
                  <a:pt x="142219" y="64323"/>
                </a:lnTo>
                <a:lnTo>
                  <a:pt x="133035" y="64323"/>
                </a:lnTo>
                <a:lnTo>
                  <a:pt x="75785" y="36229"/>
                </a:lnTo>
                <a:lnTo>
                  <a:pt x="75533" y="36078"/>
                </a:lnTo>
                <a:lnTo>
                  <a:pt x="75154" y="35965"/>
                </a:lnTo>
                <a:lnTo>
                  <a:pt x="74524" y="35864"/>
                </a:lnTo>
                <a:close/>
              </a:path>
              <a:path w="143510" h="160654">
                <a:moveTo>
                  <a:pt x="110084" y="0"/>
                </a:moveTo>
                <a:lnTo>
                  <a:pt x="109549" y="226"/>
                </a:lnTo>
                <a:lnTo>
                  <a:pt x="107815" y="1611"/>
                </a:lnTo>
                <a:lnTo>
                  <a:pt x="107058" y="2417"/>
                </a:lnTo>
                <a:lnTo>
                  <a:pt x="105167" y="4357"/>
                </a:lnTo>
                <a:lnTo>
                  <a:pt x="104788" y="4860"/>
                </a:lnTo>
                <a:lnTo>
                  <a:pt x="104536" y="5301"/>
                </a:lnTo>
                <a:lnTo>
                  <a:pt x="104284" y="5666"/>
                </a:lnTo>
                <a:lnTo>
                  <a:pt x="104159" y="6649"/>
                </a:lnTo>
                <a:lnTo>
                  <a:pt x="104410" y="7253"/>
                </a:lnTo>
                <a:lnTo>
                  <a:pt x="104663" y="7618"/>
                </a:lnTo>
                <a:lnTo>
                  <a:pt x="133035" y="64286"/>
                </a:lnTo>
                <a:lnTo>
                  <a:pt x="142219" y="64323"/>
                </a:lnTo>
                <a:lnTo>
                  <a:pt x="111977" y="1599"/>
                </a:lnTo>
                <a:lnTo>
                  <a:pt x="111724" y="1007"/>
                </a:lnTo>
                <a:lnTo>
                  <a:pt x="111345" y="617"/>
                </a:lnTo>
                <a:lnTo>
                  <a:pt x="111094" y="226"/>
                </a:lnTo>
                <a:lnTo>
                  <a:pt x="110716" y="25"/>
                </a:lnTo>
                <a:lnTo>
                  <a:pt x="11008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214304" y="6033290"/>
            <a:ext cx="210820" cy="209550"/>
          </a:xfrm>
          <a:custGeom>
            <a:avLst/>
            <a:gdLst/>
            <a:ahLst/>
            <a:cxnLst/>
            <a:rect l="l" t="t" r="r" b="b"/>
            <a:pathLst>
              <a:path w="210820" h="209550">
                <a:moveTo>
                  <a:pt x="30768" y="137159"/>
                </a:moveTo>
                <a:lnTo>
                  <a:pt x="25976" y="138429"/>
                </a:lnTo>
                <a:lnTo>
                  <a:pt x="23580" y="138429"/>
                </a:lnTo>
                <a:lnTo>
                  <a:pt x="18536" y="140970"/>
                </a:lnTo>
                <a:lnTo>
                  <a:pt x="15761" y="143509"/>
                </a:lnTo>
                <a:lnTo>
                  <a:pt x="1261" y="158750"/>
                </a:lnTo>
                <a:lnTo>
                  <a:pt x="629" y="158750"/>
                </a:lnTo>
                <a:lnTo>
                  <a:pt x="251" y="160020"/>
                </a:lnTo>
                <a:lnTo>
                  <a:pt x="0" y="161290"/>
                </a:lnTo>
                <a:lnTo>
                  <a:pt x="377" y="162559"/>
                </a:lnTo>
                <a:lnTo>
                  <a:pt x="47665" y="209550"/>
                </a:lnTo>
                <a:lnTo>
                  <a:pt x="51953" y="209550"/>
                </a:lnTo>
                <a:lnTo>
                  <a:pt x="62041" y="199390"/>
                </a:lnTo>
                <a:lnTo>
                  <a:pt x="50566" y="199390"/>
                </a:lnTo>
                <a:lnTo>
                  <a:pt x="32659" y="181609"/>
                </a:lnTo>
                <a:lnTo>
                  <a:pt x="37271" y="176529"/>
                </a:lnTo>
                <a:lnTo>
                  <a:pt x="27363" y="176529"/>
                </a:lnTo>
                <a:lnTo>
                  <a:pt x="10844" y="160020"/>
                </a:lnTo>
                <a:lnTo>
                  <a:pt x="17905" y="152400"/>
                </a:lnTo>
                <a:lnTo>
                  <a:pt x="19796" y="151129"/>
                </a:lnTo>
                <a:lnTo>
                  <a:pt x="21563" y="149859"/>
                </a:lnTo>
                <a:lnTo>
                  <a:pt x="24589" y="147320"/>
                </a:lnTo>
                <a:lnTo>
                  <a:pt x="44764" y="147320"/>
                </a:lnTo>
                <a:lnTo>
                  <a:pt x="43882" y="146050"/>
                </a:lnTo>
                <a:lnTo>
                  <a:pt x="42873" y="144779"/>
                </a:lnTo>
                <a:lnTo>
                  <a:pt x="41738" y="143509"/>
                </a:lnTo>
                <a:lnTo>
                  <a:pt x="39721" y="140970"/>
                </a:lnTo>
                <a:lnTo>
                  <a:pt x="37578" y="139700"/>
                </a:lnTo>
                <a:lnTo>
                  <a:pt x="33037" y="138429"/>
                </a:lnTo>
                <a:lnTo>
                  <a:pt x="30768" y="137159"/>
                </a:lnTo>
                <a:close/>
              </a:path>
              <a:path w="210820" h="209550">
                <a:moveTo>
                  <a:pt x="71120" y="166370"/>
                </a:moveTo>
                <a:lnTo>
                  <a:pt x="53592" y="166370"/>
                </a:lnTo>
                <a:lnTo>
                  <a:pt x="55231" y="167640"/>
                </a:lnTo>
                <a:lnTo>
                  <a:pt x="58510" y="168909"/>
                </a:lnTo>
                <a:lnTo>
                  <a:pt x="60024" y="168909"/>
                </a:lnTo>
                <a:lnTo>
                  <a:pt x="61536" y="171450"/>
                </a:lnTo>
                <a:lnTo>
                  <a:pt x="63050" y="172720"/>
                </a:lnTo>
                <a:lnTo>
                  <a:pt x="63933" y="173990"/>
                </a:lnTo>
                <a:lnTo>
                  <a:pt x="65192" y="176529"/>
                </a:lnTo>
                <a:lnTo>
                  <a:pt x="65319" y="179070"/>
                </a:lnTo>
                <a:lnTo>
                  <a:pt x="65067" y="181609"/>
                </a:lnTo>
                <a:lnTo>
                  <a:pt x="63050" y="186690"/>
                </a:lnTo>
                <a:lnTo>
                  <a:pt x="61915" y="187959"/>
                </a:lnTo>
                <a:lnTo>
                  <a:pt x="60275" y="189229"/>
                </a:lnTo>
                <a:lnTo>
                  <a:pt x="50566" y="199390"/>
                </a:lnTo>
                <a:lnTo>
                  <a:pt x="62041" y="199390"/>
                </a:lnTo>
                <a:lnTo>
                  <a:pt x="67085" y="194309"/>
                </a:lnTo>
                <a:lnTo>
                  <a:pt x="68597" y="191770"/>
                </a:lnTo>
                <a:lnTo>
                  <a:pt x="69858" y="190500"/>
                </a:lnTo>
                <a:lnTo>
                  <a:pt x="70994" y="187959"/>
                </a:lnTo>
                <a:lnTo>
                  <a:pt x="72002" y="186690"/>
                </a:lnTo>
                <a:lnTo>
                  <a:pt x="74020" y="181609"/>
                </a:lnTo>
                <a:lnTo>
                  <a:pt x="74146" y="179070"/>
                </a:lnTo>
                <a:lnTo>
                  <a:pt x="74399" y="177800"/>
                </a:lnTo>
                <a:lnTo>
                  <a:pt x="74399" y="175259"/>
                </a:lnTo>
                <a:lnTo>
                  <a:pt x="73642" y="172720"/>
                </a:lnTo>
                <a:lnTo>
                  <a:pt x="73012" y="170179"/>
                </a:lnTo>
                <a:lnTo>
                  <a:pt x="72129" y="168909"/>
                </a:lnTo>
                <a:lnTo>
                  <a:pt x="71120" y="166370"/>
                </a:lnTo>
                <a:close/>
              </a:path>
              <a:path w="210820" h="209550">
                <a:moveTo>
                  <a:pt x="44764" y="147320"/>
                </a:moveTo>
                <a:lnTo>
                  <a:pt x="30264" y="147320"/>
                </a:lnTo>
                <a:lnTo>
                  <a:pt x="31650" y="148590"/>
                </a:lnTo>
                <a:lnTo>
                  <a:pt x="32912" y="148590"/>
                </a:lnTo>
                <a:lnTo>
                  <a:pt x="35434" y="151129"/>
                </a:lnTo>
                <a:lnTo>
                  <a:pt x="39216" y="161290"/>
                </a:lnTo>
                <a:lnTo>
                  <a:pt x="39090" y="162559"/>
                </a:lnTo>
                <a:lnTo>
                  <a:pt x="37829" y="165100"/>
                </a:lnTo>
                <a:lnTo>
                  <a:pt x="36695" y="166370"/>
                </a:lnTo>
                <a:lnTo>
                  <a:pt x="34928" y="168909"/>
                </a:lnTo>
                <a:lnTo>
                  <a:pt x="27363" y="176529"/>
                </a:lnTo>
                <a:lnTo>
                  <a:pt x="37271" y="176529"/>
                </a:lnTo>
                <a:lnTo>
                  <a:pt x="40730" y="172720"/>
                </a:lnTo>
                <a:lnTo>
                  <a:pt x="42873" y="171450"/>
                </a:lnTo>
                <a:lnTo>
                  <a:pt x="46657" y="168909"/>
                </a:lnTo>
                <a:lnTo>
                  <a:pt x="48422" y="167640"/>
                </a:lnTo>
                <a:lnTo>
                  <a:pt x="50187" y="167640"/>
                </a:lnTo>
                <a:lnTo>
                  <a:pt x="53592" y="166370"/>
                </a:lnTo>
                <a:lnTo>
                  <a:pt x="71120" y="166370"/>
                </a:lnTo>
                <a:lnTo>
                  <a:pt x="69858" y="165100"/>
                </a:lnTo>
                <a:lnTo>
                  <a:pt x="68346" y="163829"/>
                </a:lnTo>
                <a:lnTo>
                  <a:pt x="66581" y="161290"/>
                </a:lnTo>
                <a:lnTo>
                  <a:pt x="45774" y="161290"/>
                </a:lnTo>
                <a:lnTo>
                  <a:pt x="46404" y="158750"/>
                </a:lnTo>
                <a:lnTo>
                  <a:pt x="46782" y="157479"/>
                </a:lnTo>
                <a:lnTo>
                  <a:pt x="46908" y="156209"/>
                </a:lnTo>
                <a:lnTo>
                  <a:pt x="46908" y="153670"/>
                </a:lnTo>
                <a:lnTo>
                  <a:pt x="46151" y="149859"/>
                </a:lnTo>
                <a:lnTo>
                  <a:pt x="45521" y="148590"/>
                </a:lnTo>
                <a:lnTo>
                  <a:pt x="44764" y="147320"/>
                </a:lnTo>
                <a:close/>
              </a:path>
              <a:path w="210820" h="209550">
                <a:moveTo>
                  <a:pt x="91296" y="168909"/>
                </a:moveTo>
                <a:lnTo>
                  <a:pt x="90161" y="168909"/>
                </a:lnTo>
                <a:lnTo>
                  <a:pt x="90539" y="170179"/>
                </a:lnTo>
                <a:lnTo>
                  <a:pt x="91296" y="168909"/>
                </a:lnTo>
                <a:close/>
              </a:path>
              <a:path w="210820" h="209550">
                <a:moveTo>
                  <a:pt x="67336" y="93979"/>
                </a:moveTo>
                <a:lnTo>
                  <a:pt x="65319" y="93979"/>
                </a:lnTo>
                <a:lnTo>
                  <a:pt x="64815" y="95250"/>
                </a:lnTo>
                <a:lnTo>
                  <a:pt x="63806" y="95250"/>
                </a:lnTo>
                <a:lnTo>
                  <a:pt x="63176" y="96520"/>
                </a:lnTo>
                <a:lnTo>
                  <a:pt x="62419" y="96520"/>
                </a:lnTo>
                <a:lnTo>
                  <a:pt x="61662" y="97790"/>
                </a:lnTo>
                <a:lnTo>
                  <a:pt x="60779" y="97790"/>
                </a:lnTo>
                <a:lnTo>
                  <a:pt x="60149" y="99059"/>
                </a:lnTo>
                <a:lnTo>
                  <a:pt x="59771" y="99059"/>
                </a:lnTo>
                <a:lnTo>
                  <a:pt x="59267" y="100329"/>
                </a:lnTo>
                <a:lnTo>
                  <a:pt x="58888" y="100329"/>
                </a:lnTo>
                <a:lnTo>
                  <a:pt x="58635" y="101600"/>
                </a:lnTo>
                <a:lnTo>
                  <a:pt x="58384" y="101600"/>
                </a:lnTo>
                <a:lnTo>
                  <a:pt x="58384" y="102870"/>
                </a:lnTo>
                <a:lnTo>
                  <a:pt x="58635" y="102870"/>
                </a:lnTo>
                <a:lnTo>
                  <a:pt x="89152" y="167640"/>
                </a:lnTo>
                <a:lnTo>
                  <a:pt x="89782" y="168909"/>
                </a:lnTo>
                <a:lnTo>
                  <a:pt x="92809" y="168909"/>
                </a:lnTo>
                <a:lnTo>
                  <a:pt x="93440" y="167640"/>
                </a:lnTo>
                <a:lnTo>
                  <a:pt x="95584" y="166370"/>
                </a:lnTo>
                <a:lnTo>
                  <a:pt x="96340" y="165100"/>
                </a:lnTo>
                <a:lnTo>
                  <a:pt x="96592" y="163829"/>
                </a:lnTo>
                <a:lnTo>
                  <a:pt x="96970" y="163829"/>
                </a:lnTo>
                <a:lnTo>
                  <a:pt x="96845" y="162559"/>
                </a:lnTo>
                <a:lnTo>
                  <a:pt x="96592" y="162559"/>
                </a:lnTo>
                <a:lnTo>
                  <a:pt x="88521" y="146050"/>
                </a:lnTo>
                <a:lnTo>
                  <a:pt x="95999" y="138429"/>
                </a:lnTo>
                <a:lnTo>
                  <a:pt x="84865" y="138429"/>
                </a:lnTo>
                <a:lnTo>
                  <a:pt x="68346" y="104140"/>
                </a:lnTo>
                <a:lnTo>
                  <a:pt x="88816" y="104140"/>
                </a:lnTo>
                <a:lnTo>
                  <a:pt x="67336" y="93979"/>
                </a:lnTo>
                <a:close/>
              </a:path>
              <a:path w="210820" h="209550">
                <a:moveTo>
                  <a:pt x="54853" y="157479"/>
                </a:moveTo>
                <a:lnTo>
                  <a:pt x="52961" y="157479"/>
                </a:lnTo>
                <a:lnTo>
                  <a:pt x="49178" y="158750"/>
                </a:lnTo>
                <a:lnTo>
                  <a:pt x="47412" y="160020"/>
                </a:lnTo>
                <a:lnTo>
                  <a:pt x="45774" y="161290"/>
                </a:lnTo>
                <a:lnTo>
                  <a:pt x="66581" y="161290"/>
                </a:lnTo>
                <a:lnTo>
                  <a:pt x="64688" y="160020"/>
                </a:lnTo>
                <a:lnTo>
                  <a:pt x="62797" y="160020"/>
                </a:lnTo>
                <a:lnTo>
                  <a:pt x="60779" y="158750"/>
                </a:lnTo>
                <a:lnTo>
                  <a:pt x="58888" y="158750"/>
                </a:lnTo>
                <a:lnTo>
                  <a:pt x="54853" y="157479"/>
                </a:lnTo>
                <a:close/>
              </a:path>
              <a:path w="210820" h="209550">
                <a:moveTo>
                  <a:pt x="88816" y="104140"/>
                </a:moveTo>
                <a:lnTo>
                  <a:pt x="68346" y="104140"/>
                </a:lnTo>
                <a:lnTo>
                  <a:pt x="102519" y="120650"/>
                </a:lnTo>
                <a:lnTo>
                  <a:pt x="84865" y="138429"/>
                </a:lnTo>
                <a:lnTo>
                  <a:pt x="95999" y="138429"/>
                </a:lnTo>
                <a:lnTo>
                  <a:pt x="109707" y="124459"/>
                </a:lnTo>
                <a:lnTo>
                  <a:pt x="131775" y="124459"/>
                </a:lnTo>
                <a:lnTo>
                  <a:pt x="88816" y="104140"/>
                </a:lnTo>
                <a:close/>
              </a:path>
              <a:path w="210820" h="209550">
                <a:moveTo>
                  <a:pt x="132530" y="124459"/>
                </a:moveTo>
                <a:lnTo>
                  <a:pt x="109707" y="124459"/>
                </a:lnTo>
                <a:lnTo>
                  <a:pt x="126352" y="132079"/>
                </a:lnTo>
                <a:lnTo>
                  <a:pt x="126982" y="133350"/>
                </a:lnTo>
                <a:lnTo>
                  <a:pt x="128243" y="133350"/>
                </a:lnTo>
                <a:lnTo>
                  <a:pt x="129000" y="132079"/>
                </a:lnTo>
                <a:lnTo>
                  <a:pt x="130009" y="130809"/>
                </a:lnTo>
                <a:lnTo>
                  <a:pt x="130639" y="130809"/>
                </a:lnTo>
                <a:lnTo>
                  <a:pt x="131522" y="129540"/>
                </a:lnTo>
                <a:lnTo>
                  <a:pt x="132909" y="128270"/>
                </a:lnTo>
                <a:lnTo>
                  <a:pt x="133287" y="128270"/>
                </a:lnTo>
                <a:lnTo>
                  <a:pt x="133791" y="127000"/>
                </a:lnTo>
                <a:lnTo>
                  <a:pt x="134044" y="127000"/>
                </a:lnTo>
                <a:lnTo>
                  <a:pt x="134044" y="125729"/>
                </a:lnTo>
                <a:lnTo>
                  <a:pt x="133162" y="125729"/>
                </a:lnTo>
                <a:lnTo>
                  <a:pt x="132530" y="124459"/>
                </a:lnTo>
                <a:close/>
              </a:path>
              <a:path w="210820" h="209550">
                <a:moveTo>
                  <a:pt x="124839" y="45720"/>
                </a:moveTo>
                <a:lnTo>
                  <a:pt x="117020" y="45720"/>
                </a:lnTo>
                <a:lnTo>
                  <a:pt x="115507" y="46990"/>
                </a:lnTo>
                <a:lnTo>
                  <a:pt x="113868" y="46990"/>
                </a:lnTo>
                <a:lnTo>
                  <a:pt x="112355" y="48259"/>
                </a:lnTo>
                <a:lnTo>
                  <a:pt x="110716" y="49529"/>
                </a:lnTo>
                <a:lnTo>
                  <a:pt x="107436" y="50800"/>
                </a:lnTo>
                <a:lnTo>
                  <a:pt x="105797" y="52070"/>
                </a:lnTo>
                <a:lnTo>
                  <a:pt x="104410" y="54609"/>
                </a:lnTo>
                <a:lnTo>
                  <a:pt x="101005" y="57150"/>
                </a:lnTo>
                <a:lnTo>
                  <a:pt x="98610" y="60959"/>
                </a:lnTo>
                <a:lnTo>
                  <a:pt x="95584" y="68579"/>
                </a:lnTo>
                <a:lnTo>
                  <a:pt x="94952" y="72390"/>
                </a:lnTo>
                <a:lnTo>
                  <a:pt x="95584" y="81279"/>
                </a:lnTo>
                <a:lnTo>
                  <a:pt x="112859" y="106679"/>
                </a:lnTo>
                <a:lnTo>
                  <a:pt x="116894" y="110490"/>
                </a:lnTo>
                <a:lnTo>
                  <a:pt x="125216" y="114300"/>
                </a:lnTo>
                <a:lnTo>
                  <a:pt x="129378" y="115570"/>
                </a:lnTo>
                <a:lnTo>
                  <a:pt x="141231" y="115570"/>
                </a:lnTo>
                <a:lnTo>
                  <a:pt x="145014" y="114300"/>
                </a:lnTo>
                <a:lnTo>
                  <a:pt x="148672" y="113029"/>
                </a:lnTo>
                <a:lnTo>
                  <a:pt x="152203" y="110490"/>
                </a:lnTo>
                <a:lnTo>
                  <a:pt x="155481" y="106679"/>
                </a:lnTo>
                <a:lnTo>
                  <a:pt x="134170" y="106679"/>
                </a:lnTo>
                <a:lnTo>
                  <a:pt x="131269" y="105409"/>
                </a:lnTo>
                <a:lnTo>
                  <a:pt x="128243" y="104140"/>
                </a:lnTo>
                <a:lnTo>
                  <a:pt x="124965" y="102870"/>
                </a:lnTo>
                <a:lnTo>
                  <a:pt x="121813" y="101600"/>
                </a:lnTo>
                <a:lnTo>
                  <a:pt x="118659" y="99059"/>
                </a:lnTo>
                <a:lnTo>
                  <a:pt x="115507" y="95250"/>
                </a:lnTo>
                <a:lnTo>
                  <a:pt x="112228" y="92709"/>
                </a:lnTo>
                <a:lnTo>
                  <a:pt x="109707" y="88900"/>
                </a:lnTo>
                <a:lnTo>
                  <a:pt x="107941" y="85090"/>
                </a:lnTo>
                <a:lnTo>
                  <a:pt x="106050" y="82550"/>
                </a:lnTo>
                <a:lnTo>
                  <a:pt x="105041" y="78740"/>
                </a:lnTo>
                <a:lnTo>
                  <a:pt x="104537" y="76200"/>
                </a:lnTo>
                <a:lnTo>
                  <a:pt x="104159" y="73659"/>
                </a:lnTo>
                <a:lnTo>
                  <a:pt x="104410" y="69850"/>
                </a:lnTo>
                <a:lnTo>
                  <a:pt x="112228" y="58420"/>
                </a:lnTo>
                <a:lnTo>
                  <a:pt x="114246" y="55879"/>
                </a:lnTo>
                <a:lnTo>
                  <a:pt x="118281" y="54609"/>
                </a:lnTo>
                <a:lnTo>
                  <a:pt x="120046" y="53340"/>
                </a:lnTo>
                <a:lnTo>
                  <a:pt x="123325" y="53340"/>
                </a:lnTo>
                <a:lnTo>
                  <a:pt x="124712" y="52070"/>
                </a:lnTo>
                <a:lnTo>
                  <a:pt x="128496" y="52070"/>
                </a:lnTo>
                <a:lnTo>
                  <a:pt x="128621" y="50800"/>
                </a:lnTo>
                <a:lnTo>
                  <a:pt x="128243" y="49529"/>
                </a:lnTo>
                <a:lnTo>
                  <a:pt x="127739" y="49529"/>
                </a:lnTo>
                <a:lnTo>
                  <a:pt x="127360" y="48259"/>
                </a:lnTo>
                <a:lnTo>
                  <a:pt x="126982" y="48259"/>
                </a:lnTo>
                <a:lnTo>
                  <a:pt x="125595" y="46990"/>
                </a:lnTo>
                <a:lnTo>
                  <a:pt x="124839" y="45720"/>
                </a:lnTo>
                <a:close/>
              </a:path>
              <a:path w="210820" h="209550">
                <a:moveTo>
                  <a:pt x="161029" y="81279"/>
                </a:moveTo>
                <a:lnTo>
                  <a:pt x="159012" y="81279"/>
                </a:lnTo>
                <a:lnTo>
                  <a:pt x="158634" y="82550"/>
                </a:lnTo>
                <a:lnTo>
                  <a:pt x="158381" y="82550"/>
                </a:lnTo>
                <a:lnTo>
                  <a:pt x="158130" y="83820"/>
                </a:lnTo>
                <a:lnTo>
                  <a:pt x="158003" y="85090"/>
                </a:lnTo>
                <a:lnTo>
                  <a:pt x="157624" y="86359"/>
                </a:lnTo>
                <a:lnTo>
                  <a:pt x="157247" y="88900"/>
                </a:lnTo>
                <a:lnTo>
                  <a:pt x="156742" y="90170"/>
                </a:lnTo>
                <a:lnTo>
                  <a:pt x="155986" y="91440"/>
                </a:lnTo>
                <a:lnTo>
                  <a:pt x="153968" y="95250"/>
                </a:lnTo>
                <a:lnTo>
                  <a:pt x="152454" y="97790"/>
                </a:lnTo>
                <a:lnTo>
                  <a:pt x="148041" y="102870"/>
                </a:lnTo>
                <a:lnTo>
                  <a:pt x="145519" y="104140"/>
                </a:lnTo>
                <a:lnTo>
                  <a:pt x="139971" y="106679"/>
                </a:lnTo>
                <a:lnTo>
                  <a:pt x="155481" y="106679"/>
                </a:lnTo>
                <a:lnTo>
                  <a:pt x="157499" y="105409"/>
                </a:lnTo>
                <a:lnTo>
                  <a:pt x="159012" y="102870"/>
                </a:lnTo>
                <a:lnTo>
                  <a:pt x="161533" y="99059"/>
                </a:lnTo>
                <a:lnTo>
                  <a:pt x="162543" y="96520"/>
                </a:lnTo>
                <a:lnTo>
                  <a:pt x="164056" y="93979"/>
                </a:lnTo>
                <a:lnTo>
                  <a:pt x="165065" y="88900"/>
                </a:lnTo>
                <a:lnTo>
                  <a:pt x="165317" y="88900"/>
                </a:lnTo>
                <a:lnTo>
                  <a:pt x="165191" y="86359"/>
                </a:lnTo>
                <a:lnTo>
                  <a:pt x="164812" y="86359"/>
                </a:lnTo>
                <a:lnTo>
                  <a:pt x="164560" y="85090"/>
                </a:lnTo>
                <a:lnTo>
                  <a:pt x="163804" y="85090"/>
                </a:lnTo>
                <a:lnTo>
                  <a:pt x="163426" y="83820"/>
                </a:lnTo>
                <a:lnTo>
                  <a:pt x="163047" y="83820"/>
                </a:lnTo>
                <a:lnTo>
                  <a:pt x="161533" y="82550"/>
                </a:lnTo>
                <a:lnTo>
                  <a:pt x="161029" y="81279"/>
                </a:lnTo>
                <a:close/>
              </a:path>
              <a:path w="210820" h="209550">
                <a:moveTo>
                  <a:pt x="161029" y="0"/>
                </a:moveTo>
                <a:lnTo>
                  <a:pt x="159264" y="0"/>
                </a:lnTo>
                <a:lnTo>
                  <a:pt x="159012" y="1269"/>
                </a:lnTo>
                <a:lnTo>
                  <a:pt x="134927" y="24129"/>
                </a:lnTo>
                <a:lnTo>
                  <a:pt x="134296" y="25400"/>
                </a:lnTo>
                <a:lnTo>
                  <a:pt x="133791" y="27940"/>
                </a:lnTo>
                <a:lnTo>
                  <a:pt x="134170" y="29209"/>
                </a:lnTo>
                <a:lnTo>
                  <a:pt x="181458" y="76200"/>
                </a:lnTo>
                <a:lnTo>
                  <a:pt x="185115" y="76200"/>
                </a:lnTo>
                <a:lnTo>
                  <a:pt x="185619" y="74929"/>
                </a:lnTo>
                <a:lnTo>
                  <a:pt x="194586" y="66040"/>
                </a:lnTo>
                <a:lnTo>
                  <a:pt x="184232" y="66040"/>
                </a:lnTo>
                <a:lnTo>
                  <a:pt x="166199" y="46990"/>
                </a:lnTo>
                <a:lnTo>
                  <a:pt x="171399" y="41909"/>
                </a:lnTo>
                <a:lnTo>
                  <a:pt x="160651" y="41909"/>
                </a:lnTo>
                <a:lnTo>
                  <a:pt x="144763" y="26670"/>
                </a:lnTo>
                <a:lnTo>
                  <a:pt x="164560" y="6350"/>
                </a:lnTo>
                <a:lnTo>
                  <a:pt x="164812" y="6350"/>
                </a:lnTo>
                <a:lnTo>
                  <a:pt x="165065" y="5080"/>
                </a:lnTo>
                <a:lnTo>
                  <a:pt x="164687" y="3809"/>
                </a:lnTo>
                <a:lnTo>
                  <a:pt x="164308" y="3809"/>
                </a:lnTo>
                <a:lnTo>
                  <a:pt x="164056" y="2540"/>
                </a:lnTo>
                <a:lnTo>
                  <a:pt x="163173" y="2540"/>
                </a:lnTo>
                <a:lnTo>
                  <a:pt x="162669" y="1269"/>
                </a:lnTo>
                <a:lnTo>
                  <a:pt x="161408" y="1269"/>
                </a:lnTo>
                <a:lnTo>
                  <a:pt x="161029" y="0"/>
                </a:lnTo>
                <a:close/>
              </a:path>
              <a:path w="210820" h="209550">
                <a:moveTo>
                  <a:pt x="206804" y="45720"/>
                </a:moveTo>
                <a:lnTo>
                  <a:pt x="204409" y="45720"/>
                </a:lnTo>
                <a:lnTo>
                  <a:pt x="184232" y="66040"/>
                </a:lnTo>
                <a:lnTo>
                  <a:pt x="194586" y="66040"/>
                </a:lnTo>
                <a:lnTo>
                  <a:pt x="209957" y="50800"/>
                </a:lnTo>
                <a:lnTo>
                  <a:pt x="210461" y="50800"/>
                </a:lnTo>
                <a:lnTo>
                  <a:pt x="210461" y="49529"/>
                </a:lnTo>
                <a:lnTo>
                  <a:pt x="210083" y="48259"/>
                </a:lnTo>
                <a:lnTo>
                  <a:pt x="209452" y="48259"/>
                </a:lnTo>
                <a:lnTo>
                  <a:pt x="209073" y="46990"/>
                </a:lnTo>
                <a:lnTo>
                  <a:pt x="208065" y="46990"/>
                </a:lnTo>
                <a:lnTo>
                  <a:pt x="206804" y="45720"/>
                </a:lnTo>
                <a:close/>
              </a:path>
              <a:path w="210820" h="209550">
                <a:moveTo>
                  <a:pt x="205670" y="44450"/>
                </a:moveTo>
                <a:lnTo>
                  <a:pt x="205417" y="44450"/>
                </a:lnTo>
                <a:lnTo>
                  <a:pt x="204787" y="45720"/>
                </a:lnTo>
                <a:lnTo>
                  <a:pt x="206425" y="45720"/>
                </a:lnTo>
                <a:lnTo>
                  <a:pt x="205670" y="44450"/>
                </a:lnTo>
                <a:close/>
              </a:path>
              <a:path w="210820" h="209550">
                <a:moveTo>
                  <a:pt x="180953" y="25400"/>
                </a:moveTo>
                <a:lnTo>
                  <a:pt x="177675" y="25400"/>
                </a:lnTo>
                <a:lnTo>
                  <a:pt x="160651" y="41909"/>
                </a:lnTo>
                <a:lnTo>
                  <a:pt x="171399" y="41909"/>
                </a:lnTo>
                <a:lnTo>
                  <a:pt x="183097" y="30479"/>
                </a:lnTo>
                <a:lnTo>
                  <a:pt x="183349" y="30479"/>
                </a:lnTo>
                <a:lnTo>
                  <a:pt x="183475" y="27940"/>
                </a:lnTo>
                <a:lnTo>
                  <a:pt x="182718" y="27940"/>
                </a:lnTo>
                <a:lnTo>
                  <a:pt x="182341" y="26670"/>
                </a:lnTo>
                <a:lnTo>
                  <a:pt x="181836" y="26670"/>
                </a:lnTo>
                <a:lnTo>
                  <a:pt x="180953" y="25400"/>
                </a:lnTo>
                <a:close/>
              </a:path>
              <a:path w="210820" h="209550">
                <a:moveTo>
                  <a:pt x="179062" y="24129"/>
                </a:moveTo>
                <a:lnTo>
                  <a:pt x="178179" y="24129"/>
                </a:lnTo>
                <a:lnTo>
                  <a:pt x="177927" y="25400"/>
                </a:lnTo>
                <a:lnTo>
                  <a:pt x="179692" y="25400"/>
                </a:lnTo>
                <a:lnTo>
                  <a:pt x="179062" y="24129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79901" y="3720495"/>
            <a:ext cx="4511675" cy="2720340"/>
          </a:xfrm>
          <a:custGeom>
            <a:avLst/>
            <a:gdLst/>
            <a:ahLst/>
            <a:cxnLst/>
            <a:rect l="l" t="t" r="r" b="b"/>
            <a:pathLst>
              <a:path w="4511675" h="2720340">
                <a:moveTo>
                  <a:pt x="0" y="2720039"/>
                </a:moveTo>
                <a:lnTo>
                  <a:pt x="4511250" y="2720039"/>
                </a:lnTo>
                <a:lnTo>
                  <a:pt x="4511250" y="0"/>
                </a:lnTo>
                <a:lnTo>
                  <a:pt x="0" y="0"/>
                </a:lnTo>
                <a:lnTo>
                  <a:pt x="0" y="2720039"/>
                </a:lnTo>
                <a:close/>
              </a:path>
            </a:pathLst>
          </a:custGeom>
          <a:ln w="9457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807859" y="3956827"/>
            <a:ext cx="236220" cy="118745"/>
          </a:xfrm>
          <a:custGeom>
            <a:avLst/>
            <a:gdLst/>
            <a:ahLst/>
            <a:cxnLst/>
            <a:rect l="l" t="t" r="r" b="b"/>
            <a:pathLst>
              <a:path w="236220" h="118745">
                <a:moveTo>
                  <a:pt x="0" y="0"/>
                </a:moveTo>
                <a:lnTo>
                  <a:pt x="235666" y="0"/>
                </a:lnTo>
                <a:lnTo>
                  <a:pt x="235666" y="118710"/>
                </a:lnTo>
                <a:lnTo>
                  <a:pt x="0" y="118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254782" y="4571785"/>
            <a:ext cx="236220" cy="118745"/>
          </a:xfrm>
          <a:custGeom>
            <a:avLst/>
            <a:gdLst/>
            <a:ahLst/>
            <a:cxnLst/>
            <a:rect l="l" t="t" r="r" b="b"/>
            <a:pathLst>
              <a:path w="236220" h="118745">
                <a:moveTo>
                  <a:pt x="0" y="0"/>
                </a:moveTo>
                <a:lnTo>
                  <a:pt x="235666" y="0"/>
                </a:lnTo>
                <a:lnTo>
                  <a:pt x="235666" y="118710"/>
                </a:lnTo>
                <a:lnTo>
                  <a:pt x="0" y="118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800882" y="5099565"/>
            <a:ext cx="236220" cy="118745"/>
          </a:xfrm>
          <a:custGeom>
            <a:avLst/>
            <a:gdLst/>
            <a:ahLst/>
            <a:cxnLst/>
            <a:rect l="l" t="t" r="r" b="b"/>
            <a:pathLst>
              <a:path w="236220" h="118745">
                <a:moveTo>
                  <a:pt x="0" y="0"/>
                </a:moveTo>
                <a:lnTo>
                  <a:pt x="235666" y="0"/>
                </a:lnTo>
                <a:lnTo>
                  <a:pt x="235666" y="118710"/>
                </a:lnTo>
                <a:lnTo>
                  <a:pt x="0" y="118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308882" y="3963178"/>
            <a:ext cx="236220" cy="118745"/>
          </a:xfrm>
          <a:custGeom>
            <a:avLst/>
            <a:gdLst/>
            <a:ahLst/>
            <a:cxnLst/>
            <a:rect l="l" t="t" r="r" b="b"/>
            <a:pathLst>
              <a:path w="236220" h="118745">
                <a:moveTo>
                  <a:pt x="0" y="0"/>
                </a:moveTo>
                <a:lnTo>
                  <a:pt x="235666" y="0"/>
                </a:lnTo>
                <a:lnTo>
                  <a:pt x="235666" y="118710"/>
                </a:lnTo>
                <a:lnTo>
                  <a:pt x="0" y="118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301534" y="5052912"/>
            <a:ext cx="236220" cy="66040"/>
          </a:xfrm>
          <a:custGeom>
            <a:avLst/>
            <a:gdLst/>
            <a:ahLst/>
            <a:cxnLst/>
            <a:rect l="l" t="t" r="r" b="b"/>
            <a:pathLst>
              <a:path w="236220" h="66039">
                <a:moveTo>
                  <a:pt x="0" y="0"/>
                </a:moveTo>
                <a:lnTo>
                  <a:pt x="235666" y="0"/>
                </a:lnTo>
                <a:lnTo>
                  <a:pt x="235666" y="65704"/>
                </a:lnTo>
                <a:lnTo>
                  <a:pt x="0" y="65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295875" y="5185422"/>
            <a:ext cx="236220" cy="118745"/>
          </a:xfrm>
          <a:custGeom>
            <a:avLst/>
            <a:gdLst/>
            <a:ahLst/>
            <a:cxnLst/>
            <a:rect l="l" t="t" r="r" b="b"/>
            <a:pathLst>
              <a:path w="236220" h="118745">
                <a:moveTo>
                  <a:pt x="0" y="0"/>
                </a:moveTo>
                <a:lnTo>
                  <a:pt x="235666" y="0"/>
                </a:lnTo>
                <a:lnTo>
                  <a:pt x="235666" y="118710"/>
                </a:lnTo>
                <a:lnTo>
                  <a:pt x="0" y="1187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805611" y="5325779"/>
            <a:ext cx="236220" cy="66040"/>
          </a:xfrm>
          <a:custGeom>
            <a:avLst/>
            <a:gdLst/>
            <a:ahLst/>
            <a:cxnLst/>
            <a:rect l="l" t="t" r="r" b="b"/>
            <a:pathLst>
              <a:path w="236219" h="66039">
                <a:moveTo>
                  <a:pt x="0" y="0"/>
                </a:moveTo>
                <a:lnTo>
                  <a:pt x="235666" y="0"/>
                </a:lnTo>
                <a:lnTo>
                  <a:pt x="235666" y="65705"/>
                </a:lnTo>
                <a:lnTo>
                  <a:pt x="0" y="657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053903" y="4799327"/>
            <a:ext cx="277495" cy="704215"/>
          </a:xfrm>
          <a:custGeom>
            <a:avLst/>
            <a:gdLst/>
            <a:ahLst/>
            <a:cxnLst/>
            <a:rect l="l" t="t" r="r" b="b"/>
            <a:pathLst>
              <a:path w="277495" h="704214">
                <a:moveTo>
                  <a:pt x="0" y="0"/>
                </a:moveTo>
                <a:lnTo>
                  <a:pt x="54001" y="1816"/>
                </a:lnTo>
                <a:lnTo>
                  <a:pt x="98099" y="6772"/>
                </a:lnTo>
                <a:lnTo>
                  <a:pt x="127831" y="14121"/>
                </a:lnTo>
                <a:lnTo>
                  <a:pt x="138733" y="23121"/>
                </a:lnTo>
                <a:lnTo>
                  <a:pt x="138733" y="328846"/>
                </a:lnTo>
                <a:lnTo>
                  <a:pt x="149635" y="337846"/>
                </a:lnTo>
                <a:lnTo>
                  <a:pt x="179367" y="345195"/>
                </a:lnTo>
                <a:lnTo>
                  <a:pt x="223465" y="350151"/>
                </a:lnTo>
                <a:lnTo>
                  <a:pt x="277466" y="351968"/>
                </a:lnTo>
                <a:lnTo>
                  <a:pt x="223465" y="353784"/>
                </a:lnTo>
                <a:lnTo>
                  <a:pt x="179367" y="358740"/>
                </a:lnTo>
                <a:lnTo>
                  <a:pt x="149635" y="366089"/>
                </a:lnTo>
                <a:lnTo>
                  <a:pt x="138733" y="375089"/>
                </a:lnTo>
                <a:lnTo>
                  <a:pt x="138733" y="680814"/>
                </a:lnTo>
                <a:lnTo>
                  <a:pt x="127831" y="689814"/>
                </a:lnTo>
                <a:lnTo>
                  <a:pt x="98099" y="697163"/>
                </a:lnTo>
                <a:lnTo>
                  <a:pt x="54001" y="702119"/>
                </a:lnTo>
                <a:lnTo>
                  <a:pt x="0" y="703936"/>
                </a:lnTo>
              </a:path>
            </a:pathLst>
          </a:custGeom>
          <a:ln w="3810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648200" y="5702807"/>
            <a:ext cx="1584960" cy="219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692484" y="5720454"/>
            <a:ext cx="1496060" cy="134620"/>
          </a:xfrm>
          <a:custGeom>
            <a:avLst/>
            <a:gdLst/>
            <a:ahLst/>
            <a:cxnLst/>
            <a:rect l="l" t="t" r="r" b="b"/>
            <a:pathLst>
              <a:path w="1496060" h="134620">
                <a:moveTo>
                  <a:pt x="747812" y="0"/>
                </a:moveTo>
                <a:lnTo>
                  <a:pt x="587389" y="1546"/>
                </a:lnTo>
                <a:lnTo>
                  <a:pt x="511446" y="3419"/>
                </a:lnTo>
                <a:lnTo>
                  <a:pt x="438956" y="5969"/>
                </a:lnTo>
                <a:lnTo>
                  <a:pt x="370377" y="9156"/>
                </a:lnTo>
                <a:lnTo>
                  <a:pt x="306164" y="12940"/>
                </a:lnTo>
                <a:lnTo>
                  <a:pt x="246773" y="17279"/>
                </a:lnTo>
                <a:lnTo>
                  <a:pt x="192661" y="22132"/>
                </a:lnTo>
                <a:lnTo>
                  <a:pt x="144284" y="27458"/>
                </a:lnTo>
                <a:lnTo>
                  <a:pt x="102098" y="33218"/>
                </a:lnTo>
                <a:lnTo>
                  <a:pt x="38124" y="45870"/>
                </a:lnTo>
                <a:lnTo>
                  <a:pt x="0" y="67069"/>
                </a:lnTo>
                <a:lnTo>
                  <a:pt x="4388" y="74376"/>
                </a:lnTo>
                <a:lnTo>
                  <a:pt x="66559" y="94769"/>
                </a:lnTo>
                <a:lnTo>
                  <a:pt x="144284" y="106679"/>
                </a:lnTo>
                <a:lnTo>
                  <a:pt x="192661" y="112005"/>
                </a:lnTo>
                <a:lnTo>
                  <a:pt x="246773" y="116858"/>
                </a:lnTo>
                <a:lnTo>
                  <a:pt x="306164" y="121197"/>
                </a:lnTo>
                <a:lnTo>
                  <a:pt x="370377" y="124981"/>
                </a:lnTo>
                <a:lnTo>
                  <a:pt x="438956" y="128168"/>
                </a:lnTo>
                <a:lnTo>
                  <a:pt x="511446" y="130718"/>
                </a:lnTo>
                <a:lnTo>
                  <a:pt x="587389" y="132591"/>
                </a:lnTo>
                <a:lnTo>
                  <a:pt x="666330" y="133744"/>
                </a:lnTo>
                <a:lnTo>
                  <a:pt x="747812" y="134138"/>
                </a:lnTo>
                <a:lnTo>
                  <a:pt x="908236" y="132591"/>
                </a:lnTo>
                <a:lnTo>
                  <a:pt x="984179" y="130718"/>
                </a:lnTo>
                <a:lnTo>
                  <a:pt x="1056668" y="128168"/>
                </a:lnTo>
                <a:lnTo>
                  <a:pt x="1125248" y="124981"/>
                </a:lnTo>
                <a:lnTo>
                  <a:pt x="1189461" y="121197"/>
                </a:lnTo>
                <a:lnTo>
                  <a:pt x="1248851" y="116858"/>
                </a:lnTo>
                <a:lnTo>
                  <a:pt x="1302963" y="112005"/>
                </a:lnTo>
                <a:lnTo>
                  <a:pt x="1351341" y="106679"/>
                </a:lnTo>
                <a:lnTo>
                  <a:pt x="1393527" y="100920"/>
                </a:lnTo>
                <a:lnTo>
                  <a:pt x="1457501" y="88268"/>
                </a:lnTo>
                <a:lnTo>
                  <a:pt x="1495625" y="67069"/>
                </a:lnTo>
                <a:lnTo>
                  <a:pt x="1491237" y="59761"/>
                </a:lnTo>
                <a:lnTo>
                  <a:pt x="1429066" y="39368"/>
                </a:lnTo>
                <a:lnTo>
                  <a:pt x="1351341" y="27458"/>
                </a:lnTo>
                <a:lnTo>
                  <a:pt x="1302963" y="22132"/>
                </a:lnTo>
                <a:lnTo>
                  <a:pt x="1248851" y="17279"/>
                </a:lnTo>
                <a:lnTo>
                  <a:pt x="1189461" y="12940"/>
                </a:lnTo>
                <a:lnTo>
                  <a:pt x="1125248" y="9156"/>
                </a:lnTo>
                <a:lnTo>
                  <a:pt x="1056668" y="5969"/>
                </a:lnTo>
                <a:lnTo>
                  <a:pt x="984179" y="3419"/>
                </a:lnTo>
                <a:lnTo>
                  <a:pt x="908236" y="1546"/>
                </a:lnTo>
                <a:lnTo>
                  <a:pt x="829295" y="393"/>
                </a:lnTo>
                <a:lnTo>
                  <a:pt x="747812" y="0"/>
                </a:lnTo>
                <a:close/>
              </a:path>
            </a:pathLst>
          </a:custGeom>
          <a:solidFill>
            <a:srgbClr val="ECDDB2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692484" y="5720454"/>
            <a:ext cx="1496060" cy="134620"/>
          </a:xfrm>
          <a:custGeom>
            <a:avLst/>
            <a:gdLst/>
            <a:ahLst/>
            <a:cxnLst/>
            <a:rect l="l" t="t" r="r" b="b"/>
            <a:pathLst>
              <a:path w="1496060" h="134620">
                <a:moveTo>
                  <a:pt x="0" y="67069"/>
                </a:moveTo>
                <a:lnTo>
                  <a:pt x="38124" y="45870"/>
                </a:lnTo>
                <a:lnTo>
                  <a:pt x="102098" y="33217"/>
                </a:lnTo>
                <a:lnTo>
                  <a:pt x="144284" y="27458"/>
                </a:lnTo>
                <a:lnTo>
                  <a:pt x="192661" y="22132"/>
                </a:lnTo>
                <a:lnTo>
                  <a:pt x="246773" y="17279"/>
                </a:lnTo>
                <a:lnTo>
                  <a:pt x="306164" y="12940"/>
                </a:lnTo>
                <a:lnTo>
                  <a:pt x="370377" y="9156"/>
                </a:lnTo>
                <a:lnTo>
                  <a:pt x="438956" y="5969"/>
                </a:lnTo>
                <a:lnTo>
                  <a:pt x="511446" y="3419"/>
                </a:lnTo>
                <a:lnTo>
                  <a:pt x="587389" y="1546"/>
                </a:lnTo>
                <a:lnTo>
                  <a:pt x="666330" y="393"/>
                </a:lnTo>
                <a:lnTo>
                  <a:pt x="747813" y="0"/>
                </a:lnTo>
                <a:lnTo>
                  <a:pt x="829295" y="393"/>
                </a:lnTo>
                <a:lnTo>
                  <a:pt x="908236" y="1546"/>
                </a:lnTo>
                <a:lnTo>
                  <a:pt x="984179" y="3419"/>
                </a:lnTo>
                <a:lnTo>
                  <a:pt x="1056669" y="5969"/>
                </a:lnTo>
                <a:lnTo>
                  <a:pt x="1125248" y="9156"/>
                </a:lnTo>
                <a:lnTo>
                  <a:pt x="1189461" y="12940"/>
                </a:lnTo>
                <a:lnTo>
                  <a:pt x="1248852" y="17279"/>
                </a:lnTo>
                <a:lnTo>
                  <a:pt x="1302964" y="22132"/>
                </a:lnTo>
                <a:lnTo>
                  <a:pt x="1351341" y="27458"/>
                </a:lnTo>
                <a:lnTo>
                  <a:pt x="1393527" y="33217"/>
                </a:lnTo>
                <a:lnTo>
                  <a:pt x="1457502" y="45870"/>
                </a:lnTo>
                <a:lnTo>
                  <a:pt x="1495626" y="67069"/>
                </a:lnTo>
                <a:lnTo>
                  <a:pt x="1491237" y="74376"/>
                </a:lnTo>
                <a:lnTo>
                  <a:pt x="1429066" y="94769"/>
                </a:lnTo>
                <a:lnTo>
                  <a:pt x="1351341" y="106679"/>
                </a:lnTo>
                <a:lnTo>
                  <a:pt x="1302964" y="112005"/>
                </a:lnTo>
                <a:lnTo>
                  <a:pt x="1248852" y="116858"/>
                </a:lnTo>
                <a:lnTo>
                  <a:pt x="1189461" y="121197"/>
                </a:lnTo>
                <a:lnTo>
                  <a:pt x="1125248" y="124981"/>
                </a:lnTo>
                <a:lnTo>
                  <a:pt x="1056669" y="128168"/>
                </a:lnTo>
                <a:lnTo>
                  <a:pt x="984179" y="130718"/>
                </a:lnTo>
                <a:lnTo>
                  <a:pt x="908236" y="132591"/>
                </a:lnTo>
                <a:lnTo>
                  <a:pt x="829295" y="133744"/>
                </a:lnTo>
                <a:lnTo>
                  <a:pt x="747813" y="134138"/>
                </a:lnTo>
                <a:lnTo>
                  <a:pt x="666330" y="133744"/>
                </a:lnTo>
                <a:lnTo>
                  <a:pt x="587389" y="132591"/>
                </a:lnTo>
                <a:lnTo>
                  <a:pt x="511446" y="130718"/>
                </a:lnTo>
                <a:lnTo>
                  <a:pt x="438956" y="128168"/>
                </a:lnTo>
                <a:lnTo>
                  <a:pt x="370377" y="124981"/>
                </a:lnTo>
                <a:lnTo>
                  <a:pt x="306164" y="121197"/>
                </a:lnTo>
                <a:lnTo>
                  <a:pt x="246773" y="116858"/>
                </a:lnTo>
                <a:lnTo>
                  <a:pt x="192661" y="112005"/>
                </a:lnTo>
                <a:lnTo>
                  <a:pt x="144284" y="106679"/>
                </a:lnTo>
                <a:lnTo>
                  <a:pt x="102098" y="100920"/>
                </a:lnTo>
                <a:lnTo>
                  <a:pt x="38124" y="88267"/>
                </a:lnTo>
                <a:lnTo>
                  <a:pt x="0" y="67069"/>
                </a:lnTo>
                <a:close/>
              </a:path>
            </a:pathLst>
          </a:custGeom>
          <a:ln w="6350">
            <a:solidFill>
              <a:srgbClr val="FCCA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528004" y="1831339"/>
            <a:ext cx="8174990" cy="175387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0"/>
              </a:spcBef>
            </a:pPr>
            <a:r>
              <a:rPr dirty="0" sz="3000" spc="-10">
                <a:latin typeface="Calibri"/>
                <a:cs typeface="Calibri"/>
              </a:rPr>
              <a:t>Multi-task </a:t>
            </a:r>
            <a:r>
              <a:rPr dirty="0" sz="3000" spc="-5">
                <a:latin typeface="Calibri"/>
                <a:cs typeface="Calibri"/>
              </a:rPr>
              <a:t>supervised </a:t>
            </a:r>
            <a:r>
              <a:rPr dirty="0" sz="3000" spc="-15">
                <a:latin typeface="Calibri"/>
                <a:cs typeface="Calibri"/>
              </a:rPr>
              <a:t>pre-training </a:t>
            </a:r>
            <a:r>
              <a:rPr dirty="0" sz="3000">
                <a:latin typeface="Calibri"/>
                <a:cs typeface="Calibri"/>
              </a:rPr>
              <a:t>on </a:t>
            </a:r>
            <a:r>
              <a:rPr dirty="0" sz="3000" spc="-20">
                <a:latin typeface="Calibri"/>
                <a:cs typeface="Calibri"/>
              </a:rPr>
              <a:t>relevant </a:t>
            </a:r>
            <a:r>
              <a:rPr dirty="0" sz="3000" spc="-5">
                <a:latin typeface="Calibri"/>
                <a:cs typeface="Calibri"/>
              </a:rPr>
              <a:t>labels.  </a:t>
            </a:r>
            <a:r>
              <a:rPr dirty="0" baseline="1010" sz="4125" spc="1807">
                <a:solidFill>
                  <a:srgbClr val="0070C0"/>
                </a:solidFill>
                <a:latin typeface="Arial"/>
                <a:cs typeface="Arial"/>
              </a:rPr>
              <a:t>à</a:t>
            </a:r>
            <a:r>
              <a:rPr dirty="0" baseline="1010" sz="4125" spc="-75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Limited performance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improvement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on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downstream  tasks. Often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leads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to negative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0070C0"/>
                </a:solidFill>
                <a:latin typeface="Calibri"/>
                <a:cs typeface="Calibri"/>
              </a:rPr>
              <a:t>transfer</a:t>
            </a:r>
            <a:endParaRPr sz="2800">
              <a:latin typeface="Calibri"/>
              <a:cs typeface="Calibri"/>
            </a:endParaRPr>
          </a:p>
          <a:p>
            <a:pPr marL="2052955">
              <a:lnSpc>
                <a:spcPct val="100000"/>
              </a:lnSpc>
              <a:spcBef>
                <a:spcPts val="790"/>
              </a:spcBef>
            </a:pPr>
            <a:r>
              <a:rPr dirty="0" sz="2050" spc="-25">
                <a:latin typeface="Arial"/>
                <a:cs typeface="Arial"/>
              </a:rPr>
              <a:t>Molecule </a:t>
            </a:r>
            <a:r>
              <a:rPr dirty="0" sz="2050" spc="-20">
                <a:latin typeface="Arial"/>
                <a:cs typeface="Arial"/>
              </a:rPr>
              <a:t>classification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performance</a:t>
            </a:r>
            <a:endParaRPr sz="205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337887" y="6334078"/>
            <a:ext cx="2609215" cy="400685"/>
          </a:xfrm>
          <a:custGeom>
            <a:avLst/>
            <a:gdLst/>
            <a:ahLst/>
            <a:cxnLst/>
            <a:rect l="l" t="t" r="r" b="b"/>
            <a:pathLst>
              <a:path w="2609215" h="400684">
                <a:moveTo>
                  <a:pt x="0" y="0"/>
                </a:moveTo>
                <a:lnTo>
                  <a:pt x="2608599" y="0"/>
                </a:lnTo>
                <a:lnTo>
                  <a:pt x="2608599" y="400109"/>
                </a:lnTo>
                <a:lnTo>
                  <a:pt x="0" y="4001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3416627" y="6367491"/>
            <a:ext cx="242633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">
                <a:latin typeface="Arial"/>
                <a:cs typeface="Arial"/>
              </a:rPr>
              <a:t>Downstream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-5">
                <a:latin typeface="Arial"/>
                <a:cs typeface="Arial"/>
              </a:rPr>
              <a:t>datasets</a:t>
            </a:r>
            <a:endParaRPr sz="19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91460" y="5704944"/>
            <a:ext cx="1320800" cy="4781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0"/>
              </a:spcBef>
            </a:pPr>
            <a:r>
              <a:rPr dirty="0" sz="1450" spc="5">
                <a:solidFill>
                  <a:srgbClr val="7030A0"/>
                </a:solidFill>
                <a:latin typeface="Arial"/>
                <a:cs typeface="Arial"/>
              </a:rPr>
              <a:t>Non</a:t>
            </a:r>
            <a:r>
              <a:rPr dirty="0" sz="1450" spc="-35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7030A0"/>
                </a:solidFill>
                <a:latin typeface="Arial"/>
                <a:cs typeface="Arial"/>
              </a:rPr>
              <a:t>pre-trained  </a:t>
            </a:r>
            <a:r>
              <a:rPr dirty="0" sz="1450" spc="-5">
                <a:solidFill>
                  <a:srgbClr val="7030A0"/>
                </a:solidFill>
                <a:latin typeface="Arial"/>
                <a:cs typeface="Arial"/>
              </a:rPr>
              <a:t>GNNs</a:t>
            </a:r>
            <a:endParaRPr sz="145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981376" y="5688515"/>
            <a:ext cx="661035" cy="283210"/>
          </a:xfrm>
          <a:custGeom>
            <a:avLst/>
            <a:gdLst/>
            <a:ahLst/>
            <a:cxnLst/>
            <a:rect l="l" t="t" r="r" b="b"/>
            <a:pathLst>
              <a:path w="661035" h="283210">
                <a:moveTo>
                  <a:pt x="518876" y="44492"/>
                </a:moveTo>
                <a:lnTo>
                  <a:pt x="15311" y="236761"/>
                </a:lnTo>
                <a:lnTo>
                  <a:pt x="7318" y="241816"/>
                </a:lnTo>
                <a:lnTo>
                  <a:pt x="2067" y="249283"/>
                </a:lnTo>
                <a:lnTo>
                  <a:pt x="0" y="258175"/>
                </a:lnTo>
                <a:lnTo>
                  <a:pt x="1558" y="267501"/>
                </a:lnTo>
                <a:lnTo>
                  <a:pt x="6612" y="275493"/>
                </a:lnTo>
                <a:lnTo>
                  <a:pt x="14080" y="280744"/>
                </a:lnTo>
                <a:lnTo>
                  <a:pt x="22971" y="282811"/>
                </a:lnTo>
                <a:lnTo>
                  <a:pt x="32298" y="281253"/>
                </a:lnTo>
                <a:lnTo>
                  <a:pt x="535863" y="88984"/>
                </a:lnTo>
                <a:lnTo>
                  <a:pt x="518876" y="44492"/>
                </a:lnTo>
                <a:close/>
              </a:path>
              <a:path w="661035" h="283210">
                <a:moveTo>
                  <a:pt x="643720" y="34440"/>
                </a:moveTo>
                <a:lnTo>
                  <a:pt x="550448" y="34440"/>
                </a:lnTo>
                <a:lnTo>
                  <a:pt x="559339" y="36507"/>
                </a:lnTo>
                <a:lnTo>
                  <a:pt x="566807" y="41758"/>
                </a:lnTo>
                <a:lnTo>
                  <a:pt x="571861" y="49750"/>
                </a:lnTo>
                <a:lnTo>
                  <a:pt x="573420" y="59077"/>
                </a:lnTo>
                <a:lnTo>
                  <a:pt x="571352" y="67968"/>
                </a:lnTo>
                <a:lnTo>
                  <a:pt x="566101" y="75436"/>
                </a:lnTo>
                <a:lnTo>
                  <a:pt x="558110" y="80490"/>
                </a:lnTo>
                <a:lnTo>
                  <a:pt x="535863" y="88984"/>
                </a:lnTo>
                <a:lnTo>
                  <a:pt x="552851" y="133476"/>
                </a:lnTo>
                <a:lnTo>
                  <a:pt x="643720" y="34440"/>
                </a:lnTo>
                <a:close/>
              </a:path>
              <a:path w="661035" h="283210">
                <a:moveTo>
                  <a:pt x="550448" y="34440"/>
                </a:moveTo>
                <a:lnTo>
                  <a:pt x="541121" y="35998"/>
                </a:lnTo>
                <a:lnTo>
                  <a:pt x="518876" y="44492"/>
                </a:lnTo>
                <a:lnTo>
                  <a:pt x="535863" y="88984"/>
                </a:lnTo>
                <a:lnTo>
                  <a:pt x="558110" y="80490"/>
                </a:lnTo>
                <a:lnTo>
                  <a:pt x="566101" y="75436"/>
                </a:lnTo>
                <a:lnTo>
                  <a:pt x="571352" y="67968"/>
                </a:lnTo>
                <a:lnTo>
                  <a:pt x="573420" y="59077"/>
                </a:lnTo>
                <a:lnTo>
                  <a:pt x="571861" y="49750"/>
                </a:lnTo>
                <a:lnTo>
                  <a:pt x="566807" y="41758"/>
                </a:lnTo>
                <a:lnTo>
                  <a:pt x="559339" y="36507"/>
                </a:lnTo>
                <a:lnTo>
                  <a:pt x="550448" y="34440"/>
                </a:lnTo>
                <a:close/>
              </a:path>
              <a:path w="661035" h="283210">
                <a:moveTo>
                  <a:pt x="501888" y="0"/>
                </a:moveTo>
                <a:lnTo>
                  <a:pt x="518876" y="44492"/>
                </a:lnTo>
                <a:lnTo>
                  <a:pt x="541121" y="35998"/>
                </a:lnTo>
                <a:lnTo>
                  <a:pt x="550448" y="34440"/>
                </a:lnTo>
                <a:lnTo>
                  <a:pt x="643720" y="34440"/>
                </a:lnTo>
                <a:lnTo>
                  <a:pt x="660846" y="15774"/>
                </a:lnTo>
                <a:lnTo>
                  <a:pt x="501888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2688819" y="5689587"/>
            <a:ext cx="3941445" cy="16510"/>
          </a:xfrm>
          <a:custGeom>
            <a:avLst/>
            <a:gdLst/>
            <a:ahLst/>
            <a:cxnLst/>
            <a:rect l="l" t="t" r="r" b="b"/>
            <a:pathLst>
              <a:path w="3941445" h="16510">
                <a:moveTo>
                  <a:pt x="0" y="16166"/>
                </a:moveTo>
                <a:lnTo>
                  <a:pt x="3941267" y="0"/>
                </a:lnTo>
              </a:path>
            </a:pathLst>
          </a:custGeom>
          <a:ln w="635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6162291" y="5686254"/>
            <a:ext cx="2415540" cy="384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260">
              <a:lnSpc>
                <a:spcPct val="100000"/>
              </a:lnSpc>
              <a:spcBef>
                <a:spcPts val="100"/>
              </a:spcBef>
            </a:pPr>
            <a:r>
              <a:rPr dirty="0" sz="2350" spc="-35">
                <a:solidFill>
                  <a:srgbClr val="C00000"/>
                </a:solidFill>
                <a:latin typeface="Arial"/>
                <a:cs typeface="Arial"/>
              </a:rPr>
              <a:t>Negative</a:t>
            </a:r>
            <a:r>
              <a:rPr dirty="0" sz="23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C00000"/>
                </a:solidFill>
                <a:latin typeface="Arial"/>
                <a:cs typeface="Arial"/>
              </a:rPr>
              <a:t>transfer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132842" y="3939806"/>
            <a:ext cx="247650" cy="241300"/>
          </a:xfrm>
          <a:custGeom>
            <a:avLst/>
            <a:gdLst/>
            <a:ahLst/>
            <a:cxnLst/>
            <a:rect l="l" t="t" r="r" b="b"/>
            <a:pathLst>
              <a:path w="247650" h="241300">
                <a:moveTo>
                  <a:pt x="123668" y="0"/>
                </a:moveTo>
                <a:lnTo>
                  <a:pt x="75531" y="9461"/>
                </a:lnTo>
                <a:lnTo>
                  <a:pt x="36221" y="35263"/>
                </a:lnTo>
                <a:lnTo>
                  <a:pt x="9718" y="73533"/>
                </a:lnTo>
                <a:lnTo>
                  <a:pt x="0" y="120398"/>
                </a:lnTo>
                <a:lnTo>
                  <a:pt x="9718" y="167262"/>
                </a:lnTo>
                <a:lnTo>
                  <a:pt x="36221" y="205532"/>
                </a:lnTo>
                <a:lnTo>
                  <a:pt x="75531" y="231334"/>
                </a:lnTo>
                <a:lnTo>
                  <a:pt x="123668" y="240795"/>
                </a:lnTo>
                <a:lnTo>
                  <a:pt x="171806" y="231334"/>
                </a:lnTo>
                <a:lnTo>
                  <a:pt x="211115" y="205532"/>
                </a:lnTo>
                <a:lnTo>
                  <a:pt x="237619" y="167262"/>
                </a:lnTo>
                <a:lnTo>
                  <a:pt x="247337" y="120398"/>
                </a:lnTo>
                <a:lnTo>
                  <a:pt x="237619" y="73533"/>
                </a:lnTo>
                <a:lnTo>
                  <a:pt x="211115" y="35263"/>
                </a:lnTo>
                <a:lnTo>
                  <a:pt x="171806" y="9461"/>
                </a:lnTo>
                <a:lnTo>
                  <a:pt x="123668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7456746" y="3868928"/>
            <a:ext cx="1094105" cy="66294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61925" marR="5080" indent="-149225">
              <a:lnSpc>
                <a:spcPts val="2500"/>
              </a:lnSpc>
              <a:spcBef>
                <a:spcPts val="200"/>
              </a:spcBef>
            </a:pPr>
            <a:r>
              <a:rPr dirty="0" sz="2100">
                <a:latin typeface="Arial"/>
                <a:cs typeface="Arial"/>
              </a:rPr>
              <a:t>: </a:t>
            </a:r>
            <a:r>
              <a:rPr dirty="0" sz="2100" spc="-100">
                <a:latin typeface="Arial"/>
                <a:cs typeface="Arial"/>
              </a:rPr>
              <a:t>Naïve  </a:t>
            </a:r>
            <a:r>
              <a:rPr dirty="0" sz="2100" spc="-5">
                <a:latin typeface="Arial"/>
                <a:cs typeface="Arial"/>
              </a:rPr>
              <a:t>st</a:t>
            </a:r>
            <a:r>
              <a:rPr dirty="0" sz="2100" spc="-40">
                <a:latin typeface="Arial"/>
                <a:cs typeface="Arial"/>
              </a:rPr>
              <a:t>r</a:t>
            </a:r>
            <a:r>
              <a:rPr dirty="0" sz="2100" spc="-85">
                <a:latin typeface="Arial"/>
                <a:cs typeface="Arial"/>
              </a:rPr>
              <a:t>a</a:t>
            </a:r>
            <a:r>
              <a:rPr dirty="0" sz="2100" spc="30">
                <a:latin typeface="Arial"/>
                <a:cs typeface="Arial"/>
              </a:rPr>
              <a:t>t</a:t>
            </a:r>
            <a:r>
              <a:rPr dirty="0" sz="2100" spc="-85">
                <a:latin typeface="Arial"/>
                <a:cs typeface="Arial"/>
              </a:rPr>
              <a:t>e</a:t>
            </a:r>
            <a:r>
              <a:rPr dirty="0" sz="2100" spc="-15">
                <a:latin typeface="Arial"/>
                <a:cs typeface="Arial"/>
              </a:rPr>
              <a:t>g</a:t>
            </a:r>
            <a:r>
              <a:rPr dirty="0" sz="2100" spc="-80"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4" name="object 10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5" name="object 10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6" name="object 10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759256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D60093"/>
                </a:solidFill>
              </a:rPr>
              <a:t>Key </a:t>
            </a:r>
            <a:r>
              <a:rPr dirty="0" spc="-5">
                <a:solidFill>
                  <a:srgbClr val="D60093"/>
                </a:solidFill>
              </a:rPr>
              <a:t>idea</a:t>
            </a:r>
            <a:r>
              <a:rPr dirty="0" spc="-5" b="0">
                <a:latin typeface="Calibri"/>
                <a:cs typeface="Calibri"/>
              </a:rPr>
              <a:t>: </a:t>
            </a:r>
            <a:r>
              <a:rPr dirty="0" spc="-15"/>
              <a:t>Pre-train </a:t>
            </a:r>
            <a:r>
              <a:rPr dirty="0" spc="-5"/>
              <a:t>both node </a:t>
            </a:r>
            <a:r>
              <a:rPr dirty="0" spc="-10"/>
              <a:t>and </a:t>
            </a:r>
            <a:r>
              <a:rPr dirty="0" spc="-20"/>
              <a:t>graph  </a:t>
            </a:r>
            <a:r>
              <a:rPr dirty="0" spc="-5"/>
              <a:t>embeddings.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26131"/>
            <a:ext cx="7305040" cy="8851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50"/>
              </a:spcBef>
            </a:pPr>
            <a:r>
              <a:rPr dirty="0" sz="2800" spc="1180">
                <a:latin typeface="Arial"/>
                <a:cs typeface="Arial"/>
              </a:rPr>
              <a:t>à</a:t>
            </a:r>
            <a:r>
              <a:rPr dirty="0" sz="2800" spc="-75">
                <a:latin typeface="Arial"/>
                <a:cs typeface="Arial"/>
              </a:rPr>
              <a:t> </a:t>
            </a:r>
            <a:r>
              <a:rPr dirty="0" sz="2800" spc="-5">
                <a:latin typeface="Calibri"/>
                <a:cs typeface="Calibri"/>
              </a:rPr>
              <a:t>GNN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5">
                <a:latin typeface="Calibri"/>
                <a:cs typeface="Calibri"/>
              </a:rPr>
              <a:t>capture </a:t>
            </a:r>
            <a:r>
              <a:rPr dirty="0" sz="2800" spc="-5">
                <a:latin typeface="Calibri"/>
                <a:cs typeface="Calibri"/>
              </a:rPr>
              <a:t>domain-specific </a:t>
            </a:r>
            <a:r>
              <a:rPr dirty="0" sz="2800" spc="-10">
                <a:latin typeface="Calibri"/>
                <a:cs typeface="Calibri"/>
              </a:rPr>
              <a:t>knowledge </a:t>
            </a:r>
            <a:r>
              <a:rPr dirty="0" sz="2800" spc="-5">
                <a:latin typeface="Calibri"/>
                <a:cs typeface="Calibri"/>
              </a:rPr>
              <a:t>of  both </a:t>
            </a:r>
            <a:r>
              <a:rPr dirty="0" sz="2800" spc="-10">
                <a:latin typeface="Calibri"/>
                <a:cs typeface="Calibri"/>
              </a:rPr>
              <a:t>local </a:t>
            </a:r>
            <a:r>
              <a:rPr dirty="0" sz="2800" spc="-5">
                <a:latin typeface="Calibri"/>
                <a:cs typeface="Calibri"/>
              </a:rPr>
              <a:t>and global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281268"/>
            <a:ext cx="1892955" cy="431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5281268"/>
            <a:ext cx="1892955" cy="10645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5912806"/>
            <a:ext cx="1748632" cy="4329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48632" y="5713034"/>
            <a:ext cx="144322" cy="6327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19663" y="5882152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82968" y="5917300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5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00482" y="6209653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54786" y="5940624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54787" y="5598359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70079" y="5934133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5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70079" y="5591411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72456" y="5554656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80272" y="550962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3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3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80272" y="550962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91395" y="5502676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2" y="4084"/>
                </a:lnTo>
                <a:lnTo>
                  <a:pt x="13500" y="15224"/>
                </a:lnTo>
                <a:lnTo>
                  <a:pt x="3622" y="31747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5"/>
                </a:lnTo>
                <a:lnTo>
                  <a:pt x="28152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5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7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391395" y="5502676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27479" y="583017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627479" y="583017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76101" y="585188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76101" y="5851889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08298" y="615767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08298" y="615767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91395" y="615767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2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2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91395" y="615767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65890" y="6162218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1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1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265890" y="6162218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00686" y="5832445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5"/>
                </a:lnTo>
                <a:lnTo>
                  <a:pt x="66960" y="95508"/>
                </a:lnTo>
                <a:lnTo>
                  <a:pt x="82281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1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00686" y="5832445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80737" y="527618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53176" y="527618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42519" y="527102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414958" y="527102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77792" y="583389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50231" y="583389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54389" y="633716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126828" y="633716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37487" y="632754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09927" y="632754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47224" y="5612747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719663" y="5612747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45723" y="563203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18162" y="563203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89849" y="596167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62288" y="596167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36519" y="5648942"/>
            <a:ext cx="146685" cy="227329"/>
          </a:xfrm>
          <a:custGeom>
            <a:avLst/>
            <a:gdLst/>
            <a:ahLst/>
            <a:cxnLst/>
            <a:rect l="l" t="t" r="r" b="b"/>
            <a:pathLst>
              <a:path w="146685" h="227329">
                <a:moveTo>
                  <a:pt x="89266" y="161432"/>
                </a:moveTo>
                <a:lnTo>
                  <a:pt x="64964" y="176463"/>
                </a:lnTo>
                <a:lnTo>
                  <a:pt x="146511" y="226823"/>
                </a:lnTo>
                <a:lnTo>
                  <a:pt x="142487" y="182369"/>
                </a:lnTo>
                <a:lnTo>
                  <a:pt x="109738" y="182369"/>
                </a:lnTo>
                <a:lnTo>
                  <a:pt x="100931" y="180294"/>
                </a:lnTo>
                <a:lnTo>
                  <a:pt x="89266" y="161432"/>
                </a:lnTo>
                <a:close/>
              </a:path>
              <a:path w="146685" h="227329">
                <a:moveTo>
                  <a:pt x="113568" y="146401"/>
                </a:moveTo>
                <a:lnTo>
                  <a:pt x="89266" y="161432"/>
                </a:lnTo>
                <a:lnTo>
                  <a:pt x="100931" y="180294"/>
                </a:lnTo>
                <a:lnTo>
                  <a:pt x="109738" y="182369"/>
                </a:lnTo>
                <a:lnTo>
                  <a:pt x="123159" y="174068"/>
                </a:lnTo>
                <a:lnTo>
                  <a:pt x="125234" y="165263"/>
                </a:lnTo>
                <a:lnTo>
                  <a:pt x="113568" y="146401"/>
                </a:lnTo>
                <a:close/>
              </a:path>
              <a:path w="146685" h="227329">
                <a:moveTo>
                  <a:pt x="137871" y="131370"/>
                </a:moveTo>
                <a:lnTo>
                  <a:pt x="113568" y="146401"/>
                </a:lnTo>
                <a:lnTo>
                  <a:pt x="125234" y="165263"/>
                </a:lnTo>
                <a:lnTo>
                  <a:pt x="123159" y="174068"/>
                </a:lnTo>
                <a:lnTo>
                  <a:pt x="109738" y="182369"/>
                </a:lnTo>
                <a:lnTo>
                  <a:pt x="142487" y="182369"/>
                </a:lnTo>
                <a:lnTo>
                  <a:pt x="137871" y="131370"/>
                </a:lnTo>
                <a:close/>
              </a:path>
              <a:path w="146685" h="227329">
                <a:moveTo>
                  <a:pt x="15497" y="0"/>
                </a:moveTo>
                <a:lnTo>
                  <a:pt x="2076" y="8301"/>
                </a:lnTo>
                <a:lnTo>
                  <a:pt x="0" y="17106"/>
                </a:lnTo>
                <a:lnTo>
                  <a:pt x="89266" y="161432"/>
                </a:lnTo>
                <a:lnTo>
                  <a:pt x="113568" y="146401"/>
                </a:lnTo>
                <a:lnTo>
                  <a:pt x="24302" y="2075"/>
                </a:lnTo>
                <a:lnTo>
                  <a:pt x="1549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32644" y="5914527"/>
            <a:ext cx="186690" cy="221615"/>
          </a:xfrm>
          <a:custGeom>
            <a:avLst/>
            <a:gdLst/>
            <a:ahLst/>
            <a:cxnLst/>
            <a:rect l="l" t="t" r="r" b="b"/>
            <a:pathLst>
              <a:path w="186689" h="221614">
                <a:moveTo>
                  <a:pt x="120616" y="56894"/>
                </a:moveTo>
                <a:lnTo>
                  <a:pt x="0" y="202468"/>
                </a:lnTo>
                <a:lnTo>
                  <a:pt x="844" y="211475"/>
                </a:lnTo>
                <a:lnTo>
                  <a:pt x="12995" y="221544"/>
                </a:lnTo>
                <a:lnTo>
                  <a:pt x="22002" y="220699"/>
                </a:lnTo>
                <a:lnTo>
                  <a:pt x="142620" y="75126"/>
                </a:lnTo>
                <a:lnTo>
                  <a:pt x="120616" y="56894"/>
                </a:lnTo>
                <a:close/>
              </a:path>
              <a:path w="186689" h="221614">
                <a:moveTo>
                  <a:pt x="177257" y="38972"/>
                </a:moveTo>
                <a:lnTo>
                  <a:pt x="143772" y="38972"/>
                </a:lnTo>
                <a:lnTo>
                  <a:pt x="155925" y="49041"/>
                </a:lnTo>
                <a:lnTo>
                  <a:pt x="156770" y="58048"/>
                </a:lnTo>
                <a:lnTo>
                  <a:pt x="142620" y="75126"/>
                </a:lnTo>
                <a:lnTo>
                  <a:pt x="164623" y="93357"/>
                </a:lnTo>
                <a:lnTo>
                  <a:pt x="177257" y="38972"/>
                </a:lnTo>
                <a:close/>
              </a:path>
              <a:path w="186689" h="221614">
                <a:moveTo>
                  <a:pt x="143772" y="38972"/>
                </a:moveTo>
                <a:lnTo>
                  <a:pt x="134766" y="39817"/>
                </a:lnTo>
                <a:lnTo>
                  <a:pt x="120616" y="56894"/>
                </a:lnTo>
                <a:lnTo>
                  <a:pt x="142620" y="75126"/>
                </a:lnTo>
                <a:lnTo>
                  <a:pt x="156770" y="58048"/>
                </a:lnTo>
                <a:lnTo>
                  <a:pt x="155925" y="49041"/>
                </a:lnTo>
                <a:lnTo>
                  <a:pt x="143772" y="38972"/>
                </a:lnTo>
                <a:close/>
              </a:path>
              <a:path w="186689" h="221614">
                <a:moveTo>
                  <a:pt x="186311" y="0"/>
                </a:moveTo>
                <a:lnTo>
                  <a:pt x="98612" y="38663"/>
                </a:lnTo>
                <a:lnTo>
                  <a:pt x="120616" y="56894"/>
                </a:lnTo>
                <a:lnTo>
                  <a:pt x="134766" y="39817"/>
                </a:lnTo>
                <a:lnTo>
                  <a:pt x="143772" y="38972"/>
                </a:lnTo>
                <a:lnTo>
                  <a:pt x="177257" y="38972"/>
                </a:lnTo>
                <a:lnTo>
                  <a:pt x="1863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710394" y="5907479"/>
            <a:ext cx="292100" cy="85725"/>
          </a:xfrm>
          <a:custGeom>
            <a:avLst/>
            <a:gdLst/>
            <a:ahLst/>
            <a:cxnLst/>
            <a:rect l="l" t="t" r="r" b="b"/>
            <a:pathLst>
              <a:path w="292100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50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0" y="34971"/>
                </a:lnTo>
                <a:lnTo>
                  <a:pt x="63546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92100" h="85725">
                <a:moveTo>
                  <a:pt x="85725" y="28575"/>
                </a:moveTo>
                <a:lnTo>
                  <a:pt x="71437" y="28575"/>
                </a:lnTo>
                <a:lnTo>
                  <a:pt x="63546" y="28575"/>
                </a:lnTo>
                <a:lnTo>
                  <a:pt x="57150" y="34971"/>
                </a:lnTo>
                <a:lnTo>
                  <a:pt x="57150" y="50753"/>
                </a:lnTo>
                <a:lnTo>
                  <a:pt x="63546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292100" h="85725">
                <a:moveTo>
                  <a:pt x="85725" y="57150"/>
                </a:moveTo>
                <a:lnTo>
                  <a:pt x="63546" y="57150"/>
                </a:lnTo>
                <a:lnTo>
                  <a:pt x="85725" y="57150"/>
                </a:lnTo>
                <a:close/>
              </a:path>
              <a:path w="292100" h="85725">
                <a:moveTo>
                  <a:pt x="285419" y="28574"/>
                </a:moveTo>
                <a:lnTo>
                  <a:pt x="85725" y="28575"/>
                </a:lnTo>
                <a:lnTo>
                  <a:pt x="85725" y="57150"/>
                </a:lnTo>
                <a:lnTo>
                  <a:pt x="285419" y="57149"/>
                </a:lnTo>
                <a:lnTo>
                  <a:pt x="291816" y="50753"/>
                </a:lnTo>
                <a:lnTo>
                  <a:pt x="291816" y="34971"/>
                </a:lnTo>
                <a:lnTo>
                  <a:pt x="285419" y="285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772547" y="5845223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35853" y="5880371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4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253366" y="6172724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07671" y="5903695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007670" y="5561429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22963" y="5897203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4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22963" y="5554482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225340" y="5517727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33156" y="547269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444279" y="546574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7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7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680362" y="579324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928986" y="5814960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161181" y="6120745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444279" y="6120745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18774" y="6125290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6" y="14558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6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053571" y="5795516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9"/>
                </a:lnTo>
                <a:lnTo>
                  <a:pt x="3787" y="30359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6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6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9"/>
                </a:lnTo>
                <a:lnTo>
                  <a:pt x="82280" y="14559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133621" y="523925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106061" y="523925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95403" y="5234099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67843" y="5234099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30676" y="579696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03116" y="579696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207273" y="630023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179713" y="630023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490371" y="6290612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462810" y="6290612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00108" y="5575818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772547" y="5575818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198607" y="559510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171047" y="559510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42733" y="5924743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415172" y="5924743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811402" y="5744483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347847" y="0"/>
                </a:moveTo>
                <a:lnTo>
                  <a:pt x="347847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7" y="203683"/>
                </a:lnTo>
                <a:lnTo>
                  <a:pt x="347847" y="298670"/>
                </a:lnTo>
                <a:lnTo>
                  <a:pt x="497182" y="149335"/>
                </a:lnTo>
                <a:lnTo>
                  <a:pt x="3478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1811402" y="5744483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836310" y="5705728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347846" y="0"/>
                </a:moveTo>
                <a:lnTo>
                  <a:pt x="347846" y="94987"/>
                </a:lnTo>
                <a:lnTo>
                  <a:pt x="0" y="94987"/>
                </a:lnTo>
                <a:lnTo>
                  <a:pt x="0" y="203683"/>
                </a:lnTo>
                <a:lnTo>
                  <a:pt x="347846" y="203683"/>
                </a:lnTo>
                <a:lnTo>
                  <a:pt x="347846" y="298670"/>
                </a:lnTo>
                <a:lnTo>
                  <a:pt x="497182" y="149335"/>
                </a:lnTo>
                <a:lnTo>
                  <a:pt x="3478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836310" y="5705728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595239" y="4791732"/>
            <a:ext cx="2026920" cy="441325"/>
          </a:xfrm>
          <a:custGeom>
            <a:avLst/>
            <a:gdLst/>
            <a:ahLst/>
            <a:cxnLst/>
            <a:rect l="l" t="t" r="r" b="b"/>
            <a:pathLst>
              <a:path w="2026920" h="441325">
                <a:moveTo>
                  <a:pt x="0" y="440768"/>
                </a:moveTo>
                <a:lnTo>
                  <a:pt x="1872" y="371109"/>
                </a:lnTo>
                <a:lnTo>
                  <a:pt x="7086" y="310612"/>
                </a:lnTo>
                <a:lnTo>
                  <a:pt x="15037" y="262905"/>
                </a:lnTo>
                <a:lnTo>
                  <a:pt x="36729" y="220384"/>
                </a:lnTo>
                <a:lnTo>
                  <a:pt x="976445" y="220384"/>
                </a:lnTo>
                <a:lnTo>
                  <a:pt x="988053" y="209148"/>
                </a:lnTo>
                <a:lnTo>
                  <a:pt x="998135" y="177862"/>
                </a:lnTo>
                <a:lnTo>
                  <a:pt x="1006086" y="130155"/>
                </a:lnTo>
                <a:lnTo>
                  <a:pt x="1011300" y="69658"/>
                </a:lnTo>
                <a:lnTo>
                  <a:pt x="1013173" y="0"/>
                </a:lnTo>
                <a:lnTo>
                  <a:pt x="1015045" y="69658"/>
                </a:lnTo>
                <a:lnTo>
                  <a:pt x="1020259" y="130155"/>
                </a:lnTo>
                <a:lnTo>
                  <a:pt x="1028210" y="177862"/>
                </a:lnTo>
                <a:lnTo>
                  <a:pt x="1038292" y="209148"/>
                </a:lnTo>
                <a:lnTo>
                  <a:pt x="1049902" y="220384"/>
                </a:lnTo>
                <a:lnTo>
                  <a:pt x="1989618" y="220384"/>
                </a:lnTo>
                <a:lnTo>
                  <a:pt x="2001227" y="231619"/>
                </a:lnTo>
                <a:lnTo>
                  <a:pt x="2011309" y="262905"/>
                </a:lnTo>
                <a:lnTo>
                  <a:pt x="2019260" y="310612"/>
                </a:lnTo>
                <a:lnTo>
                  <a:pt x="2024474" y="371109"/>
                </a:lnTo>
                <a:lnTo>
                  <a:pt x="2026347" y="440768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1601152" y="4550155"/>
            <a:ext cx="15627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Capture local 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ighborhood 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87859" y="4038091"/>
            <a:ext cx="10166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Capture 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Global 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tu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369009" y="4411106"/>
            <a:ext cx="133350" cy="878840"/>
          </a:xfrm>
          <a:custGeom>
            <a:avLst/>
            <a:gdLst/>
            <a:ahLst/>
            <a:cxnLst/>
            <a:rect l="l" t="t" r="r" b="b"/>
            <a:pathLst>
              <a:path w="133350" h="878839">
                <a:moveTo>
                  <a:pt x="66675" y="88900"/>
                </a:moveTo>
                <a:lnTo>
                  <a:pt x="44448" y="856260"/>
                </a:lnTo>
                <a:lnTo>
                  <a:pt x="46195" y="864911"/>
                </a:lnTo>
                <a:lnTo>
                  <a:pt x="50958" y="871976"/>
                </a:lnTo>
                <a:lnTo>
                  <a:pt x="58022" y="876739"/>
                </a:lnTo>
                <a:lnTo>
                  <a:pt x="66673" y="878485"/>
                </a:lnTo>
                <a:lnTo>
                  <a:pt x="75324" y="876739"/>
                </a:lnTo>
                <a:lnTo>
                  <a:pt x="82389" y="871976"/>
                </a:lnTo>
                <a:lnTo>
                  <a:pt x="87152" y="864911"/>
                </a:lnTo>
                <a:lnTo>
                  <a:pt x="88898" y="856260"/>
                </a:lnTo>
                <a:lnTo>
                  <a:pt x="88900" y="111125"/>
                </a:lnTo>
                <a:lnTo>
                  <a:pt x="87153" y="102474"/>
                </a:lnTo>
                <a:lnTo>
                  <a:pt x="82390" y="95409"/>
                </a:lnTo>
                <a:lnTo>
                  <a:pt x="75325" y="90646"/>
                </a:lnTo>
                <a:lnTo>
                  <a:pt x="66675" y="88900"/>
                </a:lnTo>
                <a:close/>
              </a:path>
              <a:path w="133350" h="878839">
                <a:moveTo>
                  <a:pt x="66675" y="0"/>
                </a:moveTo>
                <a:lnTo>
                  <a:pt x="0" y="133350"/>
                </a:lnTo>
                <a:lnTo>
                  <a:pt x="44449" y="133350"/>
                </a:lnTo>
                <a:lnTo>
                  <a:pt x="44450" y="111125"/>
                </a:lnTo>
                <a:lnTo>
                  <a:pt x="46196" y="102474"/>
                </a:lnTo>
                <a:lnTo>
                  <a:pt x="50959" y="95409"/>
                </a:lnTo>
                <a:lnTo>
                  <a:pt x="58024" y="90646"/>
                </a:lnTo>
                <a:lnTo>
                  <a:pt x="66675" y="88900"/>
                </a:lnTo>
                <a:lnTo>
                  <a:pt x="111125" y="88900"/>
                </a:lnTo>
                <a:lnTo>
                  <a:pt x="66675" y="0"/>
                </a:lnTo>
                <a:close/>
              </a:path>
              <a:path w="133350" h="878839">
                <a:moveTo>
                  <a:pt x="111125" y="88900"/>
                </a:moveTo>
                <a:lnTo>
                  <a:pt x="66675" y="88900"/>
                </a:lnTo>
                <a:lnTo>
                  <a:pt x="75325" y="90646"/>
                </a:lnTo>
                <a:lnTo>
                  <a:pt x="82390" y="95409"/>
                </a:lnTo>
                <a:lnTo>
                  <a:pt x="87153" y="102474"/>
                </a:lnTo>
                <a:lnTo>
                  <a:pt x="88900" y="111125"/>
                </a:lnTo>
                <a:lnTo>
                  <a:pt x="88899" y="133350"/>
                </a:lnTo>
                <a:lnTo>
                  <a:pt x="133350" y="133350"/>
                </a:lnTo>
                <a:lnTo>
                  <a:pt x="111125" y="889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076889" y="4549835"/>
            <a:ext cx="133350" cy="1097280"/>
          </a:xfrm>
          <a:custGeom>
            <a:avLst/>
            <a:gdLst/>
            <a:ahLst/>
            <a:cxnLst/>
            <a:rect l="l" t="t" r="r" b="b"/>
            <a:pathLst>
              <a:path w="133350" h="1097279">
                <a:moveTo>
                  <a:pt x="66675" y="88900"/>
                </a:moveTo>
                <a:lnTo>
                  <a:pt x="44448" y="1074918"/>
                </a:lnTo>
                <a:lnTo>
                  <a:pt x="46195" y="1083569"/>
                </a:lnTo>
                <a:lnTo>
                  <a:pt x="50958" y="1090634"/>
                </a:lnTo>
                <a:lnTo>
                  <a:pt x="58022" y="1095397"/>
                </a:lnTo>
                <a:lnTo>
                  <a:pt x="66673" y="1097143"/>
                </a:lnTo>
                <a:lnTo>
                  <a:pt x="75324" y="1095397"/>
                </a:lnTo>
                <a:lnTo>
                  <a:pt x="82389" y="1090634"/>
                </a:lnTo>
                <a:lnTo>
                  <a:pt x="87152" y="1083569"/>
                </a:lnTo>
                <a:lnTo>
                  <a:pt x="88898" y="1074918"/>
                </a:lnTo>
                <a:lnTo>
                  <a:pt x="88900" y="111125"/>
                </a:lnTo>
                <a:lnTo>
                  <a:pt x="87153" y="102474"/>
                </a:lnTo>
                <a:lnTo>
                  <a:pt x="82390" y="95409"/>
                </a:lnTo>
                <a:lnTo>
                  <a:pt x="75325" y="90646"/>
                </a:lnTo>
                <a:lnTo>
                  <a:pt x="66675" y="88900"/>
                </a:lnTo>
                <a:close/>
              </a:path>
              <a:path w="133350" h="1097279">
                <a:moveTo>
                  <a:pt x="66675" y="0"/>
                </a:moveTo>
                <a:lnTo>
                  <a:pt x="0" y="133350"/>
                </a:lnTo>
                <a:lnTo>
                  <a:pt x="44449" y="133350"/>
                </a:lnTo>
                <a:lnTo>
                  <a:pt x="44450" y="111125"/>
                </a:lnTo>
                <a:lnTo>
                  <a:pt x="46196" y="102474"/>
                </a:lnTo>
                <a:lnTo>
                  <a:pt x="50959" y="95409"/>
                </a:lnTo>
                <a:lnTo>
                  <a:pt x="58024" y="90646"/>
                </a:lnTo>
                <a:lnTo>
                  <a:pt x="66675" y="88900"/>
                </a:lnTo>
                <a:lnTo>
                  <a:pt x="111125" y="88900"/>
                </a:lnTo>
                <a:lnTo>
                  <a:pt x="66675" y="0"/>
                </a:lnTo>
                <a:close/>
              </a:path>
              <a:path w="133350" h="1097279">
                <a:moveTo>
                  <a:pt x="111125" y="88900"/>
                </a:moveTo>
                <a:lnTo>
                  <a:pt x="66675" y="88900"/>
                </a:lnTo>
                <a:lnTo>
                  <a:pt x="75325" y="90646"/>
                </a:lnTo>
                <a:lnTo>
                  <a:pt x="82390" y="95409"/>
                </a:lnTo>
                <a:lnTo>
                  <a:pt x="87153" y="102474"/>
                </a:lnTo>
                <a:lnTo>
                  <a:pt x="88900" y="111125"/>
                </a:lnTo>
                <a:lnTo>
                  <a:pt x="88899" y="133350"/>
                </a:lnTo>
                <a:lnTo>
                  <a:pt x="133350" y="133350"/>
                </a:lnTo>
                <a:lnTo>
                  <a:pt x="111125" y="8890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1636173" y="3946652"/>
            <a:ext cx="2971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Pre-training </a:t>
            </a: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on node</a:t>
            </a:r>
            <a:r>
              <a:rPr dirty="0" sz="18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056853" y="3406140"/>
            <a:ext cx="86486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1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737158" y="3526708"/>
            <a:ext cx="1241425" cy="812800"/>
          </a:xfrm>
          <a:custGeom>
            <a:avLst/>
            <a:gdLst/>
            <a:ahLst/>
            <a:cxnLst/>
            <a:rect l="l" t="t" r="r" b="b"/>
            <a:pathLst>
              <a:path w="1241425" h="812800">
                <a:moveTo>
                  <a:pt x="1116980" y="53914"/>
                </a:moveTo>
                <a:lnTo>
                  <a:pt x="9795" y="771984"/>
                </a:lnTo>
                <a:lnTo>
                  <a:pt x="3487" y="778157"/>
                </a:lnTo>
                <a:lnTo>
                  <a:pt x="152" y="785997"/>
                </a:lnTo>
                <a:lnTo>
                  <a:pt x="0" y="794515"/>
                </a:lnTo>
                <a:lnTo>
                  <a:pt x="3241" y="802723"/>
                </a:lnTo>
                <a:lnTo>
                  <a:pt x="9414" y="809031"/>
                </a:lnTo>
                <a:lnTo>
                  <a:pt x="17254" y="812367"/>
                </a:lnTo>
                <a:lnTo>
                  <a:pt x="25773" y="812520"/>
                </a:lnTo>
                <a:lnTo>
                  <a:pt x="33982" y="809278"/>
                </a:lnTo>
                <a:lnTo>
                  <a:pt x="1141167" y="91207"/>
                </a:lnTo>
                <a:lnTo>
                  <a:pt x="1116980" y="53914"/>
                </a:lnTo>
                <a:close/>
              </a:path>
              <a:path w="1241425" h="812800">
                <a:moveTo>
                  <a:pt x="1218257" y="38578"/>
                </a:moveTo>
                <a:lnTo>
                  <a:pt x="1143835" y="38578"/>
                </a:lnTo>
                <a:lnTo>
                  <a:pt x="1152354" y="38730"/>
                </a:lnTo>
                <a:lnTo>
                  <a:pt x="1160195" y="42066"/>
                </a:lnTo>
                <a:lnTo>
                  <a:pt x="1166367" y="48374"/>
                </a:lnTo>
                <a:lnTo>
                  <a:pt x="1169609" y="56582"/>
                </a:lnTo>
                <a:lnTo>
                  <a:pt x="1169457" y="65100"/>
                </a:lnTo>
                <a:lnTo>
                  <a:pt x="1166122" y="72940"/>
                </a:lnTo>
                <a:lnTo>
                  <a:pt x="1159814" y="79113"/>
                </a:lnTo>
                <a:lnTo>
                  <a:pt x="1141167" y="91207"/>
                </a:lnTo>
                <a:lnTo>
                  <a:pt x="1165354" y="128501"/>
                </a:lnTo>
                <a:lnTo>
                  <a:pt x="1218257" y="38578"/>
                </a:lnTo>
                <a:close/>
              </a:path>
              <a:path w="1241425" h="812800">
                <a:moveTo>
                  <a:pt x="1143835" y="38578"/>
                </a:moveTo>
                <a:lnTo>
                  <a:pt x="1135627" y="41821"/>
                </a:lnTo>
                <a:lnTo>
                  <a:pt x="1116980" y="53914"/>
                </a:lnTo>
                <a:lnTo>
                  <a:pt x="1141167" y="91207"/>
                </a:lnTo>
                <a:lnTo>
                  <a:pt x="1159814" y="79113"/>
                </a:lnTo>
                <a:lnTo>
                  <a:pt x="1166122" y="72940"/>
                </a:lnTo>
                <a:lnTo>
                  <a:pt x="1169457" y="65100"/>
                </a:lnTo>
                <a:lnTo>
                  <a:pt x="1169609" y="56582"/>
                </a:lnTo>
                <a:lnTo>
                  <a:pt x="1166367" y="48374"/>
                </a:lnTo>
                <a:lnTo>
                  <a:pt x="1160195" y="42066"/>
                </a:lnTo>
                <a:lnTo>
                  <a:pt x="1152354" y="38730"/>
                </a:lnTo>
                <a:lnTo>
                  <a:pt x="1143835" y="38578"/>
                </a:lnTo>
                <a:close/>
              </a:path>
              <a:path w="1241425" h="812800">
                <a:moveTo>
                  <a:pt x="1240954" y="0"/>
                </a:moveTo>
                <a:lnTo>
                  <a:pt x="1092794" y="16620"/>
                </a:lnTo>
                <a:lnTo>
                  <a:pt x="1116980" y="53914"/>
                </a:lnTo>
                <a:lnTo>
                  <a:pt x="1135627" y="41821"/>
                </a:lnTo>
                <a:lnTo>
                  <a:pt x="1143835" y="38578"/>
                </a:lnTo>
                <a:lnTo>
                  <a:pt x="1218257" y="38578"/>
                </a:lnTo>
                <a:lnTo>
                  <a:pt x="124095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8056853" y="3890772"/>
            <a:ext cx="8750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918378" y="4573523"/>
            <a:ext cx="109283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571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1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  </a:t>
            </a: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195007" y="5363971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737082" y="3980428"/>
            <a:ext cx="1241425" cy="359410"/>
          </a:xfrm>
          <a:custGeom>
            <a:avLst/>
            <a:gdLst/>
            <a:ahLst/>
            <a:cxnLst/>
            <a:rect l="l" t="t" r="r" b="b"/>
            <a:pathLst>
              <a:path w="1241425" h="359410">
                <a:moveTo>
                  <a:pt x="1106269" y="43125"/>
                </a:moveTo>
                <a:lnTo>
                  <a:pt x="16577" y="315348"/>
                </a:lnTo>
                <a:lnTo>
                  <a:pt x="8608" y="319139"/>
                </a:lnTo>
                <a:lnTo>
                  <a:pt x="2908" y="325472"/>
                </a:lnTo>
                <a:lnTo>
                  <a:pt x="0" y="333481"/>
                </a:lnTo>
                <a:lnTo>
                  <a:pt x="401" y="342298"/>
                </a:lnTo>
                <a:lnTo>
                  <a:pt x="4193" y="350267"/>
                </a:lnTo>
                <a:lnTo>
                  <a:pt x="10526" y="355966"/>
                </a:lnTo>
                <a:lnTo>
                  <a:pt x="18534" y="358875"/>
                </a:lnTo>
                <a:lnTo>
                  <a:pt x="27351" y="358472"/>
                </a:lnTo>
                <a:lnTo>
                  <a:pt x="1117043" y="86249"/>
                </a:lnTo>
                <a:lnTo>
                  <a:pt x="1106269" y="43125"/>
                </a:lnTo>
                <a:close/>
              </a:path>
              <a:path w="1241425" h="359410">
                <a:moveTo>
                  <a:pt x="1235231" y="37336"/>
                </a:moveTo>
                <a:lnTo>
                  <a:pt x="1136648" y="37336"/>
                </a:lnTo>
                <a:lnTo>
                  <a:pt x="1144656" y="40245"/>
                </a:lnTo>
                <a:lnTo>
                  <a:pt x="1150989" y="45944"/>
                </a:lnTo>
                <a:lnTo>
                  <a:pt x="1154781" y="53914"/>
                </a:lnTo>
                <a:lnTo>
                  <a:pt x="1155183" y="62730"/>
                </a:lnTo>
                <a:lnTo>
                  <a:pt x="1152274" y="70738"/>
                </a:lnTo>
                <a:lnTo>
                  <a:pt x="1146574" y="77071"/>
                </a:lnTo>
                <a:lnTo>
                  <a:pt x="1138605" y="80863"/>
                </a:lnTo>
                <a:lnTo>
                  <a:pt x="1117043" y="86249"/>
                </a:lnTo>
                <a:lnTo>
                  <a:pt x="1127816" y="129374"/>
                </a:lnTo>
                <a:lnTo>
                  <a:pt x="1235231" y="37336"/>
                </a:lnTo>
                <a:close/>
              </a:path>
              <a:path w="1241425" h="359410">
                <a:moveTo>
                  <a:pt x="1136648" y="37336"/>
                </a:moveTo>
                <a:lnTo>
                  <a:pt x="1127831" y="37739"/>
                </a:lnTo>
                <a:lnTo>
                  <a:pt x="1106269" y="43125"/>
                </a:lnTo>
                <a:lnTo>
                  <a:pt x="1117043" y="86249"/>
                </a:lnTo>
                <a:lnTo>
                  <a:pt x="1138605" y="80863"/>
                </a:lnTo>
                <a:lnTo>
                  <a:pt x="1146574" y="77071"/>
                </a:lnTo>
                <a:lnTo>
                  <a:pt x="1152274" y="70738"/>
                </a:lnTo>
                <a:lnTo>
                  <a:pt x="1155183" y="62730"/>
                </a:lnTo>
                <a:lnTo>
                  <a:pt x="1154781" y="53914"/>
                </a:lnTo>
                <a:lnTo>
                  <a:pt x="1150989" y="45944"/>
                </a:lnTo>
                <a:lnTo>
                  <a:pt x="1144656" y="40245"/>
                </a:lnTo>
                <a:lnTo>
                  <a:pt x="1136648" y="37336"/>
                </a:lnTo>
                <a:close/>
              </a:path>
              <a:path w="1241425" h="359410">
                <a:moveTo>
                  <a:pt x="1095496" y="0"/>
                </a:moveTo>
                <a:lnTo>
                  <a:pt x="1106269" y="43125"/>
                </a:lnTo>
                <a:lnTo>
                  <a:pt x="1127831" y="37739"/>
                </a:lnTo>
                <a:lnTo>
                  <a:pt x="1136648" y="37336"/>
                </a:lnTo>
                <a:lnTo>
                  <a:pt x="1235231" y="37336"/>
                </a:lnTo>
                <a:lnTo>
                  <a:pt x="1241030" y="32367"/>
                </a:lnTo>
                <a:lnTo>
                  <a:pt x="1095496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8171442" y="4202684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6736847" y="4295140"/>
            <a:ext cx="1109345" cy="431800"/>
          </a:xfrm>
          <a:custGeom>
            <a:avLst/>
            <a:gdLst/>
            <a:ahLst/>
            <a:cxnLst/>
            <a:rect l="l" t="t" r="r" b="b"/>
            <a:pathLst>
              <a:path w="1109345" h="431800">
                <a:moveTo>
                  <a:pt x="976325" y="389867"/>
                </a:moveTo>
                <a:lnTo>
                  <a:pt x="961248" y="431682"/>
                </a:lnTo>
                <a:lnTo>
                  <a:pt x="1109308" y="414193"/>
                </a:lnTo>
                <a:lnTo>
                  <a:pt x="1094548" y="398698"/>
                </a:lnTo>
                <a:lnTo>
                  <a:pt x="1005964" y="398698"/>
                </a:lnTo>
                <a:lnTo>
                  <a:pt x="997233" y="397406"/>
                </a:lnTo>
                <a:lnTo>
                  <a:pt x="976325" y="389867"/>
                </a:lnTo>
                <a:close/>
              </a:path>
              <a:path w="1109345" h="431800">
                <a:moveTo>
                  <a:pt x="991403" y="348052"/>
                </a:moveTo>
                <a:lnTo>
                  <a:pt x="976325" y="389867"/>
                </a:lnTo>
                <a:lnTo>
                  <a:pt x="997233" y="397406"/>
                </a:lnTo>
                <a:lnTo>
                  <a:pt x="1005964" y="398698"/>
                </a:lnTo>
                <a:lnTo>
                  <a:pt x="1014225" y="396614"/>
                </a:lnTo>
                <a:lnTo>
                  <a:pt x="1021102" y="391584"/>
                </a:lnTo>
                <a:lnTo>
                  <a:pt x="1025680" y="384038"/>
                </a:lnTo>
                <a:lnTo>
                  <a:pt x="1026971" y="375308"/>
                </a:lnTo>
                <a:lnTo>
                  <a:pt x="1024887" y="367047"/>
                </a:lnTo>
                <a:lnTo>
                  <a:pt x="1019857" y="360169"/>
                </a:lnTo>
                <a:lnTo>
                  <a:pt x="1012312" y="355592"/>
                </a:lnTo>
                <a:lnTo>
                  <a:pt x="991403" y="348052"/>
                </a:lnTo>
                <a:close/>
              </a:path>
              <a:path w="1109345" h="431800">
                <a:moveTo>
                  <a:pt x="1006481" y="306238"/>
                </a:moveTo>
                <a:lnTo>
                  <a:pt x="991403" y="348052"/>
                </a:lnTo>
                <a:lnTo>
                  <a:pt x="1012312" y="355592"/>
                </a:lnTo>
                <a:lnTo>
                  <a:pt x="1019857" y="360169"/>
                </a:lnTo>
                <a:lnTo>
                  <a:pt x="1024887" y="367047"/>
                </a:lnTo>
                <a:lnTo>
                  <a:pt x="1026971" y="375308"/>
                </a:lnTo>
                <a:lnTo>
                  <a:pt x="1025680" y="384038"/>
                </a:lnTo>
                <a:lnTo>
                  <a:pt x="1021102" y="391584"/>
                </a:lnTo>
                <a:lnTo>
                  <a:pt x="1014225" y="396614"/>
                </a:lnTo>
                <a:lnTo>
                  <a:pt x="1005964" y="398698"/>
                </a:lnTo>
                <a:lnTo>
                  <a:pt x="1094548" y="398698"/>
                </a:lnTo>
                <a:lnTo>
                  <a:pt x="1006481" y="306238"/>
                </a:lnTo>
                <a:close/>
              </a:path>
              <a:path w="1109345" h="431800">
                <a:moveTo>
                  <a:pt x="21006" y="0"/>
                </a:moveTo>
                <a:lnTo>
                  <a:pt x="12745" y="2084"/>
                </a:lnTo>
                <a:lnTo>
                  <a:pt x="5868" y="7113"/>
                </a:lnTo>
                <a:lnTo>
                  <a:pt x="1291" y="14659"/>
                </a:lnTo>
                <a:lnTo>
                  <a:pt x="0" y="23390"/>
                </a:lnTo>
                <a:lnTo>
                  <a:pt x="2084" y="31651"/>
                </a:lnTo>
                <a:lnTo>
                  <a:pt x="7114" y="38528"/>
                </a:lnTo>
                <a:lnTo>
                  <a:pt x="14659" y="43106"/>
                </a:lnTo>
                <a:lnTo>
                  <a:pt x="976325" y="389867"/>
                </a:lnTo>
                <a:lnTo>
                  <a:pt x="991403" y="348052"/>
                </a:lnTo>
                <a:lnTo>
                  <a:pt x="29737" y="1291"/>
                </a:lnTo>
                <a:lnTo>
                  <a:pt x="21006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737171" y="4295463"/>
            <a:ext cx="1109345" cy="778510"/>
          </a:xfrm>
          <a:custGeom>
            <a:avLst/>
            <a:gdLst/>
            <a:ahLst/>
            <a:cxnLst/>
            <a:rect l="l" t="t" r="r" b="b"/>
            <a:pathLst>
              <a:path w="1109345" h="778510">
                <a:moveTo>
                  <a:pt x="986821" y="720126"/>
                </a:moveTo>
                <a:lnTo>
                  <a:pt x="961439" y="756616"/>
                </a:lnTo>
                <a:lnTo>
                  <a:pt x="1108984" y="778025"/>
                </a:lnTo>
                <a:lnTo>
                  <a:pt x="1086302" y="736446"/>
                </a:lnTo>
                <a:lnTo>
                  <a:pt x="1021684" y="736446"/>
                </a:lnTo>
                <a:lnTo>
                  <a:pt x="1013165" y="736322"/>
                </a:lnTo>
                <a:lnTo>
                  <a:pt x="1005066" y="732816"/>
                </a:lnTo>
                <a:lnTo>
                  <a:pt x="986821" y="720126"/>
                </a:lnTo>
                <a:close/>
              </a:path>
              <a:path w="1109345" h="778510">
                <a:moveTo>
                  <a:pt x="1012202" y="683635"/>
                </a:moveTo>
                <a:lnTo>
                  <a:pt x="986821" y="720126"/>
                </a:lnTo>
                <a:lnTo>
                  <a:pt x="1005066" y="732816"/>
                </a:lnTo>
                <a:lnTo>
                  <a:pt x="1013165" y="736322"/>
                </a:lnTo>
                <a:lnTo>
                  <a:pt x="1021684" y="736446"/>
                </a:lnTo>
                <a:lnTo>
                  <a:pt x="1029629" y="733366"/>
                </a:lnTo>
                <a:lnTo>
                  <a:pt x="1036002" y="727262"/>
                </a:lnTo>
                <a:lnTo>
                  <a:pt x="1039508" y="719163"/>
                </a:lnTo>
                <a:lnTo>
                  <a:pt x="1039632" y="710643"/>
                </a:lnTo>
                <a:lnTo>
                  <a:pt x="1036552" y="702699"/>
                </a:lnTo>
                <a:lnTo>
                  <a:pt x="1030447" y="696326"/>
                </a:lnTo>
                <a:lnTo>
                  <a:pt x="1012202" y="683635"/>
                </a:lnTo>
                <a:close/>
              </a:path>
              <a:path w="1109345" h="778510">
                <a:moveTo>
                  <a:pt x="1037585" y="647144"/>
                </a:moveTo>
                <a:lnTo>
                  <a:pt x="1012202" y="683635"/>
                </a:lnTo>
                <a:lnTo>
                  <a:pt x="1030447" y="696326"/>
                </a:lnTo>
                <a:lnTo>
                  <a:pt x="1036552" y="702699"/>
                </a:lnTo>
                <a:lnTo>
                  <a:pt x="1039632" y="710643"/>
                </a:lnTo>
                <a:lnTo>
                  <a:pt x="1039508" y="719163"/>
                </a:lnTo>
                <a:lnTo>
                  <a:pt x="1036002" y="727262"/>
                </a:lnTo>
                <a:lnTo>
                  <a:pt x="1029629" y="733366"/>
                </a:lnTo>
                <a:lnTo>
                  <a:pt x="1021684" y="736446"/>
                </a:lnTo>
                <a:lnTo>
                  <a:pt x="1086302" y="736446"/>
                </a:lnTo>
                <a:lnTo>
                  <a:pt x="1037585" y="647144"/>
                </a:lnTo>
                <a:close/>
              </a:path>
              <a:path w="1109345" h="778510">
                <a:moveTo>
                  <a:pt x="17947" y="0"/>
                </a:moveTo>
                <a:lnTo>
                  <a:pt x="10003" y="3079"/>
                </a:lnTo>
                <a:lnTo>
                  <a:pt x="3629" y="9184"/>
                </a:lnTo>
                <a:lnTo>
                  <a:pt x="123" y="17283"/>
                </a:lnTo>
                <a:lnTo>
                  <a:pt x="0" y="25803"/>
                </a:lnTo>
                <a:lnTo>
                  <a:pt x="3079" y="33747"/>
                </a:lnTo>
                <a:lnTo>
                  <a:pt x="9184" y="40120"/>
                </a:lnTo>
                <a:lnTo>
                  <a:pt x="986821" y="720126"/>
                </a:lnTo>
                <a:lnTo>
                  <a:pt x="1012202" y="683635"/>
                </a:lnTo>
                <a:lnTo>
                  <a:pt x="34565" y="3629"/>
                </a:lnTo>
                <a:lnTo>
                  <a:pt x="26466" y="123"/>
                </a:lnTo>
                <a:lnTo>
                  <a:pt x="1794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524921" y="4112299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09" h="474345">
                <a:moveTo>
                  <a:pt x="0" y="0"/>
                </a:moveTo>
                <a:lnTo>
                  <a:pt x="130440" y="0"/>
                </a:lnTo>
                <a:lnTo>
                  <a:pt x="130440" y="474033"/>
                </a:lnTo>
                <a:lnTo>
                  <a:pt x="0" y="474033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524921" y="4112299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09" h="474345">
                <a:moveTo>
                  <a:pt x="0" y="0"/>
                </a:moveTo>
                <a:lnTo>
                  <a:pt x="130440" y="0"/>
                </a:lnTo>
                <a:lnTo>
                  <a:pt x="130440" y="474035"/>
                </a:lnTo>
                <a:lnTo>
                  <a:pt x="0" y="4740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6285150" y="3102355"/>
            <a:ext cx="16516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Pre-training</a:t>
            </a:r>
            <a:r>
              <a:rPr dirty="0" sz="1800" spc="-65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B050"/>
                </a:solidFill>
                <a:latin typeface="Arial"/>
                <a:cs typeface="Arial"/>
              </a:rPr>
              <a:t>on 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graph</a:t>
            </a:r>
            <a:r>
              <a:rPr dirty="0" sz="1800" spc="-6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7" name="object 10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8" name="object 10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759256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675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D60093"/>
                </a:solidFill>
              </a:rPr>
              <a:t>Key </a:t>
            </a:r>
            <a:r>
              <a:rPr dirty="0" spc="-5">
                <a:solidFill>
                  <a:srgbClr val="D60093"/>
                </a:solidFill>
              </a:rPr>
              <a:t>idea</a:t>
            </a:r>
            <a:r>
              <a:rPr dirty="0" spc="-5" b="0">
                <a:latin typeface="Calibri"/>
                <a:cs typeface="Calibri"/>
              </a:rPr>
              <a:t>: </a:t>
            </a:r>
            <a:r>
              <a:rPr dirty="0" spc="-15"/>
              <a:t>Pre-train </a:t>
            </a:r>
            <a:r>
              <a:rPr dirty="0" spc="-5"/>
              <a:t>both node </a:t>
            </a:r>
            <a:r>
              <a:rPr dirty="0" spc="-10"/>
              <a:t>and </a:t>
            </a:r>
            <a:r>
              <a:rPr dirty="0" spc="-20"/>
              <a:t>graph  </a:t>
            </a:r>
            <a:r>
              <a:rPr dirty="0" spc="-5"/>
              <a:t>embeddings.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9655" y="2678683"/>
            <a:ext cx="3324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Embedding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illustration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9515" y="3222557"/>
            <a:ext cx="2133599" cy="3072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173090" y="3260540"/>
            <a:ext cx="4315593" cy="3034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84374" y="4590219"/>
            <a:ext cx="990600" cy="685800"/>
          </a:xfrm>
          <a:custGeom>
            <a:avLst/>
            <a:gdLst/>
            <a:ahLst/>
            <a:cxnLst/>
            <a:rect l="l" t="t" r="r" b="b"/>
            <a:pathLst>
              <a:path w="990600" h="685800">
                <a:moveTo>
                  <a:pt x="253451" y="0"/>
                </a:moveTo>
                <a:lnTo>
                  <a:pt x="0" y="342900"/>
                </a:lnTo>
                <a:lnTo>
                  <a:pt x="253451" y="685800"/>
                </a:lnTo>
                <a:lnTo>
                  <a:pt x="253451" y="514351"/>
                </a:lnTo>
                <a:lnTo>
                  <a:pt x="863873" y="514351"/>
                </a:lnTo>
                <a:lnTo>
                  <a:pt x="990599" y="342900"/>
                </a:lnTo>
                <a:lnTo>
                  <a:pt x="863875" y="171451"/>
                </a:lnTo>
                <a:lnTo>
                  <a:pt x="253451" y="171451"/>
                </a:lnTo>
                <a:lnTo>
                  <a:pt x="253451" y="0"/>
                </a:lnTo>
                <a:close/>
              </a:path>
              <a:path w="990600" h="685800">
                <a:moveTo>
                  <a:pt x="863873" y="514351"/>
                </a:moveTo>
                <a:lnTo>
                  <a:pt x="737148" y="514351"/>
                </a:lnTo>
                <a:lnTo>
                  <a:pt x="737148" y="685800"/>
                </a:lnTo>
                <a:lnTo>
                  <a:pt x="863873" y="514351"/>
                </a:lnTo>
                <a:close/>
              </a:path>
              <a:path w="990600" h="685800">
                <a:moveTo>
                  <a:pt x="737148" y="0"/>
                </a:moveTo>
                <a:lnTo>
                  <a:pt x="737148" y="171451"/>
                </a:lnTo>
                <a:lnTo>
                  <a:pt x="863875" y="171451"/>
                </a:lnTo>
                <a:lnTo>
                  <a:pt x="73714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60373" y="4566218"/>
            <a:ext cx="1038860" cy="734060"/>
          </a:xfrm>
          <a:custGeom>
            <a:avLst/>
            <a:gdLst/>
            <a:ahLst/>
            <a:cxnLst/>
            <a:rect l="l" t="t" r="r" b="b"/>
            <a:pathLst>
              <a:path w="1038860" h="734060">
                <a:moveTo>
                  <a:pt x="277486" y="0"/>
                </a:moveTo>
                <a:lnTo>
                  <a:pt x="4700" y="352636"/>
                </a:lnTo>
                <a:lnTo>
                  <a:pt x="0" y="366901"/>
                </a:lnTo>
                <a:lnTo>
                  <a:pt x="1175" y="374324"/>
                </a:lnTo>
                <a:lnTo>
                  <a:pt x="258151" y="724066"/>
                </a:lnTo>
                <a:lnTo>
                  <a:pt x="277486" y="733802"/>
                </a:lnTo>
                <a:lnTo>
                  <a:pt x="284961" y="732596"/>
                </a:lnTo>
                <a:lnTo>
                  <a:pt x="291689" y="729123"/>
                </a:lnTo>
                <a:lnTo>
                  <a:pt x="296896" y="723868"/>
                </a:lnTo>
                <a:lnTo>
                  <a:pt x="300258" y="717278"/>
                </a:lnTo>
                <a:lnTo>
                  <a:pt x="301451" y="709800"/>
                </a:lnTo>
                <a:lnTo>
                  <a:pt x="253451" y="709800"/>
                </a:lnTo>
                <a:lnTo>
                  <a:pt x="253451" y="669255"/>
                </a:lnTo>
                <a:lnTo>
                  <a:pt x="29969" y="366900"/>
                </a:lnTo>
                <a:lnTo>
                  <a:pt x="253451" y="64546"/>
                </a:lnTo>
                <a:lnTo>
                  <a:pt x="253451" y="24000"/>
                </a:lnTo>
                <a:lnTo>
                  <a:pt x="301451" y="24000"/>
                </a:lnTo>
                <a:lnTo>
                  <a:pt x="300258" y="16524"/>
                </a:lnTo>
                <a:lnTo>
                  <a:pt x="296896" y="9934"/>
                </a:lnTo>
                <a:lnTo>
                  <a:pt x="291689" y="4679"/>
                </a:lnTo>
                <a:lnTo>
                  <a:pt x="284961" y="1206"/>
                </a:lnTo>
                <a:lnTo>
                  <a:pt x="277486" y="0"/>
                </a:lnTo>
                <a:close/>
              </a:path>
              <a:path w="1038860" h="734060">
                <a:moveTo>
                  <a:pt x="765948" y="562351"/>
                </a:moveTo>
                <a:lnTo>
                  <a:pt x="737148" y="562351"/>
                </a:lnTo>
                <a:lnTo>
                  <a:pt x="737148" y="709800"/>
                </a:lnTo>
                <a:lnTo>
                  <a:pt x="761113" y="733802"/>
                </a:lnTo>
                <a:lnTo>
                  <a:pt x="768424" y="732671"/>
                </a:lnTo>
                <a:lnTo>
                  <a:pt x="775045" y="729370"/>
                </a:lnTo>
                <a:lnTo>
                  <a:pt x="780449" y="724066"/>
                </a:lnTo>
                <a:lnTo>
                  <a:pt x="790994" y="709800"/>
                </a:lnTo>
                <a:lnTo>
                  <a:pt x="765948" y="709800"/>
                </a:lnTo>
                <a:lnTo>
                  <a:pt x="757288" y="706948"/>
                </a:lnTo>
                <a:lnTo>
                  <a:pt x="759168" y="704404"/>
                </a:lnTo>
                <a:lnTo>
                  <a:pt x="749569" y="701242"/>
                </a:lnTo>
                <a:lnTo>
                  <a:pt x="751449" y="698698"/>
                </a:lnTo>
                <a:lnTo>
                  <a:pt x="741849" y="695536"/>
                </a:lnTo>
                <a:lnTo>
                  <a:pt x="765948" y="662931"/>
                </a:lnTo>
                <a:lnTo>
                  <a:pt x="765948" y="562351"/>
                </a:lnTo>
                <a:close/>
              </a:path>
              <a:path w="1038860" h="734060">
                <a:moveTo>
                  <a:pt x="253451" y="669255"/>
                </a:moveTo>
                <a:lnTo>
                  <a:pt x="253451" y="709800"/>
                </a:lnTo>
                <a:lnTo>
                  <a:pt x="263051" y="706638"/>
                </a:lnTo>
                <a:lnTo>
                  <a:pt x="263051" y="682243"/>
                </a:lnTo>
                <a:lnTo>
                  <a:pt x="253451" y="669255"/>
                </a:lnTo>
                <a:close/>
              </a:path>
              <a:path w="1038860" h="734060">
                <a:moveTo>
                  <a:pt x="263051" y="706638"/>
                </a:moveTo>
                <a:lnTo>
                  <a:pt x="253451" y="709800"/>
                </a:lnTo>
                <a:lnTo>
                  <a:pt x="263051" y="709800"/>
                </a:lnTo>
                <a:lnTo>
                  <a:pt x="263051" y="706638"/>
                </a:lnTo>
                <a:close/>
              </a:path>
              <a:path w="1038860" h="734060">
                <a:moveTo>
                  <a:pt x="272651" y="706638"/>
                </a:moveTo>
                <a:lnTo>
                  <a:pt x="263051" y="709800"/>
                </a:lnTo>
                <a:lnTo>
                  <a:pt x="272651" y="709800"/>
                </a:lnTo>
                <a:lnTo>
                  <a:pt x="272651" y="706638"/>
                </a:lnTo>
                <a:close/>
              </a:path>
              <a:path w="1038860" h="734060">
                <a:moveTo>
                  <a:pt x="279431" y="704404"/>
                </a:moveTo>
                <a:lnTo>
                  <a:pt x="272652" y="706638"/>
                </a:lnTo>
                <a:lnTo>
                  <a:pt x="272651" y="709800"/>
                </a:lnTo>
                <a:lnTo>
                  <a:pt x="281311" y="706948"/>
                </a:lnTo>
                <a:lnTo>
                  <a:pt x="279431" y="704404"/>
                </a:lnTo>
                <a:close/>
              </a:path>
              <a:path w="1038860" h="734060">
                <a:moveTo>
                  <a:pt x="763799" y="533551"/>
                </a:moveTo>
                <a:lnTo>
                  <a:pt x="274800" y="533551"/>
                </a:lnTo>
                <a:lnTo>
                  <a:pt x="272651" y="535700"/>
                </a:lnTo>
                <a:lnTo>
                  <a:pt x="272652" y="662931"/>
                </a:lnTo>
                <a:lnTo>
                  <a:pt x="296752" y="695536"/>
                </a:lnTo>
                <a:lnTo>
                  <a:pt x="287152" y="698698"/>
                </a:lnTo>
                <a:lnTo>
                  <a:pt x="289031" y="701242"/>
                </a:lnTo>
                <a:lnTo>
                  <a:pt x="279431" y="704404"/>
                </a:lnTo>
                <a:lnTo>
                  <a:pt x="281311" y="706948"/>
                </a:lnTo>
                <a:lnTo>
                  <a:pt x="272651" y="709800"/>
                </a:lnTo>
                <a:lnTo>
                  <a:pt x="301451" y="709800"/>
                </a:lnTo>
                <a:lnTo>
                  <a:pt x="301451" y="562351"/>
                </a:lnTo>
                <a:lnTo>
                  <a:pt x="765948" y="562351"/>
                </a:lnTo>
                <a:lnTo>
                  <a:pt x="765948" y="535700"/>
                </a:lnTo>
                <a:lnTo>
                  <a:pt x="763799" y="533551"/>
                </a:lnTo>
                <a:close/>
              </a:path>
              <a:path w="1038860" h="734060">
                <a:moveTo>
                  <a:pt x="759168" y="704404"/>
                </a:moveTo>
                <a:lnTo>
                  <a:pt x="757288" y="706948"/>
                </a:lnTo>
                <a:lnTo>
                  <a:pt x="765948" y="709800"/>
                </a:lnTo>
                <a:lnTo>
                  <a:pt x="765948" y="706638"/>
                </a:lnTo>
                <a:lnTo>
                  <a:pt x="759168" y="704404"/>
                </a:lnTo>
                <a:close/>
              </a:path>
              <a:path w="1038860" h="734060">
                <a:moveTo>
                  <a:pt x="765948" y="706638"/>
                </a:moveTo>
                <a:lnTo>
                  <a:pt x="765948" y="709800"/>
                </a:lnTo>
                <a:lnTo>
                  <a:pt x="775548" y="709800"/>
                </a:lnTo>
                <a:lnTo>
                  <a:pt x="765948" y="706638"/>
                </a:lnTo>
                <a:close/>
              </a:path>
              <a:path w="1038860" h="734060">
                <a:moveTo>
                  <a:pt x="775548" y="706638"/>
                </a:moveTo>
                <a:lnTo>
                  <a:pt x="775548" y="709800"/>
                </a:lnTo>
                <a:lnTo>
                  <a:pt x="785148" y="709800"/>
                </a:lnTo>
                <a:lnTo>
                  <a:pt x="775548" y="706638"/>
                </a:lnTo>
                <a:close/>
              </a:path>
              <a:path w="1038860" h="734060">
                <a:moveTo>
                  <a:pt x="785148" y="669256"/>
                </a:moveTo>
                <a:lnTo>
                  <a:pt x="775548" y="682243"/>
                </a:lnTo>
                <a:lnTo>
                  <a:pt x="775549" y="706638"/>
                </a:lnTo>
                <a:lnTo>
                  <a:pt x="785148" y="709800"/>
                </a:lnTo>
                <a:lnTo>
                  <a:pt x="785148" y="669256"/>
                </a:lnTo>
                <a:close/>
              </a:path>
              <a:path w="1038860" h="734060">
                <a:moveTo>
                  <a:pt x="790993" y="24000"/>
                </a:moveTo>
                <a:lnTo>
                  <a:pt x="785148" y="24000"/>
                </a:lnTo>
                <a:lnTo>
                  <a:pt x="785148" y="64546"/>
                </a:lnTo>
                <a:lnTo>
                  <a:pt x="1008631" y="366901"/>
                </a:lnTo>
                <a:lnTo>
                  <a:pt x="785148" y="669255"/>
                </a:lnTo>
                <a:lnTo>
                  <a:pt x="785148" y="709800"/>
                </a:lnTo>
                <a:lnTo>
                  <a:pt x="790994" y="709800"/>
                </a:lnTo>
                <a:lnTo>
                  <a:pt x="1033900" y="381166"/>
                </a:lnTo>
                <a:lnTo>
                  <a:pt x="1037425" y="374324"/>
                </a:lnTo>
                <a:lnTo>
                  <a:pt x="1038600" y="366900"/>
                </a:lnTo>
                <a:lnTo>
                  <a:pt x="1037425" y="359478"/>
                </a:lnTo>
                <a:lnTo>
                  <a:pt x="1033900" y="352636"/>
                </a:lnTo>
                <a:lnTo>
                  <a:pt x="790993" y="24000"/>
                </a:lnTo>
                <a:close/>
              </a:path>
              <a:path w="1038860" h="734060">
                <a:moveTo>
                  <a:pt x="277551" y="701861"/>
                </a:moveTo>
                <a:lnTo>
                  <a:pt x="272652" y="703475"/>
                </a:lnTo>
                <a:lnTo>
                  <a:pt x="272651" y="706638"/>
                </a:lnTo>
                <a:lnTo>
                  <a:pt x="279431" y="704404"/>
                </a:lnTo>
                <a:lnTo>
                  <a:pt x="277551" y="701861"/>
                </a:lnTo>
                <a:close/>
              </a:path>
              <a:path w="1038860" h="734060">
                <a:moveTo>
                  <a:pt x="263051" y="682243"/>
                </a:moveTo>
                <a:lnTo>
                  <a:pt x="263051" y="706638"/>
                </a:lnTo>
                <a:lnTo>
                  <a:pt x="272651" y="703475"/>
                </a:lnTo>
                <a:lnTo>
                  <a:pt x="272651" y="695231"/>
                </a:lnTo>
                <a:lnTo>
                  <a:pt x="263051" y="682243"/>
                </a:lnTo>
                <a:close/>
              </a:path>
              <a:path w="1038860" h="734060">
                <a:moveTo>
                  <a:pt x="761048" y="701861"/>
                </a:moveTo>
                <a:lnTo>
                  <a:pt x="759168" y="704404"/>
                </a:lnTo>
                <a:lnTo>
                  <a:pt x="765948" y="706638"/>
                </a:lnTo>
                <a:lnTo>
                  <a:pt x="765948" y="703475"/>
                </a:lnTo>
                <a:lnTo>
                  <a:pt x="761048" y="701861"/>
                </a:lnTo>
                <a:close/>
              </a:path>
              <a:path w="1038860" h="734060">
                <a:moveTo>
                  <a:pt x="775548" y="682244"/>
                </a:moveTo>
                <a:lnTo>
                  <a:pt x="765948" y="695231"/>
                </a:lnTo>
                <a:lnTo>
                  <a:pt x="765949" y="703475"/>
                </a:lnTo>
                <a:lnTo>
                  <a:pt x="775548" y="706638"/>
                </a:lnTo>
                <a:lnTo>
                  <a:pt x="775548" y="682244"/>
                </a:lnTo>
                <a:close/>
              </a:path>
              <a:path w="1038860" h="734060">
                <a:moveTo>
                  <a:pt x="272651" y="695231"/>
                </a:moveTo>
                <a:lnTo>
                  <a:pt x="272651" y="703475"/>
                </a:lnTo>
                <a:lnTo>
                  <a:pt x="277551" y="701861"/>
                </a:lnTo>
                <a:lnTo>
                  <a:pt x="272651" y="695231"/>
                </a:lnTo>
                <a:close/>
              </a:path>
              <a:path w="1038860" h="734060">
                <a:moveTo>
                  <a:pt x="765948" y="695231"/>
                </a:moveTo>
                <a:lnTo>
                  <a:pt x="761048" y="701861"/>
                </a:lnTo>
                <a:lnTo>
                  <a:pt x="765948" y="703475"/>
                </a:lnTo>
                <a:lnTo>
                  <a:pt x="765948" y="695231"/>
                </a:lnTo>
                <a:close/>
              </a:path>
              <a:path w="1038860" h="734060">
                <a:moveTo>
                  <a:pt x="272651" y="679080"/>
                </a:moveTo>
                <a:lnTo>
                  <a:pt x="272651" y="695231"/>
                </a:lnTo>
                <a:lnTo>
                  <a:pt x="277552" y="701861"/>
                </a:lnTo>
                <a:lnTo>
                  <a:pt x="287152" y="698698"/>
                </a:lnTo>
                <a:lnTo>
                  <a:pt x="272651" y="679080"/>
                </a:lnTo>
                <a:close/>
              </a:path>
              <a:path w="1038860" h="734060">
                <a:moveTo>
                  <a:pt x="765948" y="679082"/>
                </a:moveTo>
                <a:lnTo>
                  <a:pt x="751449" y="698698"/>
                </a:lnTo>
                <a:lnTo>
                  <a:pt x="761048" y="701861"/>
                </a:lnTo>
                <a:lnTo>
                  <a:pt x="765948" y="695231"/>
                </a:lnTo>
                <a:lnTo>
                  <a:pt x="765948" y="679082"/>
                </a:lnTo>
                <a:close/>
              </a:path>
              <a:path w="1038860" h="734060">
                <a:moveTo>
                  <a:pt x="765948" y="662931"/>
                </a:moveTo>
                <a:lnTo>
                  <a:pt x="741849" y="695536"/>
                </a:lnTo>
                <a:lnTo>
                  <a:pt x="751449" y="698698"/>
                </a:lnTo>
                <a:lnTo>
                  <a:pt x="765948" y="679082"/>
                </a:lnTo>
                <a:lnTo>
                  <a:pt x="765948" y="662931"/>
                </a:lnTo>
                <a:close/>
              </a:path>
              <a:path w="1038860" h="734060">
                <a:moveTo>
                  <a:pt x="272651" y="662929"/>
                </a:moveTo>
                <a:lnTo>
                  <a:pt x="272652" y="679082"/>
                </a:lnTo>
                <a:lnTo>
                  <a:pt x="287152" y="698698"/>
                </a:lnTo>
                <a:lnTo>
                  <a:pt x="296752" y="695536"/>
                </a:lnTo>
                <a:lnTo>
                  <a:pt x="272651" y="662929"/>
                </a:lnTo>
                <a:close/>
              </a:path>
              <a:path w="1038860" h="734060">
                <a:moveTo>
                  <a:pt x="785148" y="653106"/>
                </a:moveTo>
                <a:lnTo>
                  <a:pt x="775549" y="666092"/>
                </a:lnTo>
                <a:lnTo>
                  <a:pt x="775548" y="682244"/>
                </a:lnTo>
                <a:lnTo>
                  <a:pt x="785148" y="669256"/>
                </a:lnTo>
                <a:lnTo>
                  <a:pt x="785148" y="653106"/>
                </a:lnTo>
                <a:close/>
              </a:path>
              <a:path w="1038860" h="734060">
                <a:moveTo>
                  <a:pt x="253451" y="653104"/>
                </a:moveTo>
                <a:lnTo>
                  <a:pt x="253451" y="669256"/>
                </a:lnTo>
                <a:lnTo>
                  <a:pt x="263051" y="682243"/>
                </a:lnTo>
                <a:lnTo>
                  <a:pt x="263051" y="666092"/>
                </a:lnTo>
                <a:lnTo>
                  <a:pt x="253451" y="653104"/>
                </a:lnTo>
                <a:close/>
              </a:path>
              <a:path w="1038860" h="734060">
                <a:moveTo>
                  <a:pt x="775548" y="649943"/>
                </a:moveTo>
                <a:lnTo>
                  <a:pt x="765949" y="662929"/>
                </a:lnTo>
                <a:lnTo>
                  <a:pt x="765948" y="679082"/>
                </a:lnTo>
                <a:lnTo>
                  <a:pt x="775548" y="666094"/>
                </a:lnTo>
                <a:lnTo>
                  <a:pt x="775548" y="649943"/>
                </a:lnTo>
                <a:close/>
              </a:path>
              <a:path w="1038860" h="734060">
                <a:moveTo>
                  <a:pt x="263051" y="649941"/>
                </a:moveTo>
                <a:lnTo>
                  <a:pt x="263052" y="666094"/>
                </a:lnTo>
                <a:lnTo>
                  <a:pt x="272651" y="679080"/>
                </a:lnTo>
                <a:lnTo>
                  <a:pt x="272651" y="662929"/>
                </a:lnTo>
                <a:lnTo>
                  <a:pt x="263051" y="649941"/>
                </a:lnTo>
                <a:close/>
              </a:path>
              <a:path w="1038860" h="734060">
                <a:moveTo>
                  <a:pt x="785148" y="636955"/>
                </a:moveTo>
                <a:lnTo>
                  <a:pt x="775549" y="649941"/>
                </a:lnTo>
                <a:lnTo>
                  <a:pt x="775548" y="666094"/>
                </a:lnTo>
                <a:lnTo>
                  <a:pt x="785148" y="653106"/>
                </a:lnTo>
                <a:lnTo>
                  <a:pt x="785148" y="636955"/>
                </a:lnTo>
                <a:close/>
              </a:path>
              <a:path w="1038860" h="734060">
                <a:moveTo>
                  <a:pt x="253451" y="636953"/>
                </a:moveTo>
                <a:lnTo>
                  <a:pt x="253452" y="653106"/>
                </a:lnTo>
                <a:lnTo>
                  <a:pt x="263051" y="666092"/>
                </a:lnTo>
                <a:lnTo>
                  <a:pt x="263051" y="649941"/>
                </a:lnTo>
                <a:lnTo>
                  <a:pt x="253451" y="636953"/>
                </a:lnTo>
                <a:close/>
              </a:path>
              <a:path w="1038860" h="734060">
                <a:moveTo>
                  <a:pt x="785148" y="80696"/>
                </a:moveTo>
                <a:lnTo>
                  <a:pt x="785149" y="96848"/>
                </a:lnTo>
                <a:lnTo>
                  <a:pt x="984755" y="366901"/>
                </a:lnTo>
                <a:lnTo>
                  <a:pt x="785149" y="636953"/>
                </a:lnTo>
                <a:lnTo>
                  <a:pt x="785148" y="653106"/>
                </a:lnTo>
                <a:lnTo>
                  <a:pt x="996693" y="366900"/>
                </a:lnTo>
                <a:lnTo>
                  <a:pt x="785148" y="80696"/>
                </a:lnTo>
                <a:close/>
              </a:path>
              <a:path w="1038860" h="734060">
                <a:moveTo>
                  <a:pt x="253451" y="80697"/>
                </a:moveTo>
                <a:lnTo>
                  <a:pt x="41906" y="366901"/>
                </a:lnTo>
                <a:lnTo>
                  <a:pt x="253451" y="653104"/>
                </a:lnTo>
                <a:lnTo>
                  <a:pt x="253451" y="636953"/>
                </a:lnTo>
                <a:lnTo>
                  <a:pt x="53844" y="366900"/>
                </a:lnTo>
                <a:lnTo>
                  <a:pt x="253451" y="96848"/>
                </a:lnTo>
                <a:lnTo>
                  <a:pt x="253451" y="80697"/>
                </a:lnTo>
                <a:close/>
              </a:path>
              <a:path w="1038860" h="734060">
                <a:moveTo>
                  <a:pt x="779852" y="523951"/>
                </a:moveTo>
                <a:lnTo>
                  <a:pt x="769102" y="523951"/>
                </a:lnTo>
                <a:lnTo>
                  <a:pt x="775548" y="530399"/>
                </a:lnTo>
                <a:lnTo>
                  <a:pt x="775548" y="649943"/>
                </a:lnTo>
                <a:lnTo>
                  <a:pt x="785148" y="636955"/>
                </a:lnTo>
                <a:lnTo>
                  <a:pt x="785148" y="538352"/>
                </a:lnTo>
                <a:lnTo>
                  <a:pt x="783262" y="529010"/>
                </a:lnTo>
                <a:lnTo>
                  <a:pt x="779852" y="523951"/>
                </a:lnTo>
                <a:close/>
              </a:path>
              <a:path w="1038860" h="734060">
                <a:moveTo>
                  <a:pt x="761149" y="514351"/>
                </a:moveTo>
                <a:lnTo>
                  <a:pt x="277452" y="514351"/>
                </a:lnTo>
                <a:lnTo>
                  <a:pt x="268110" y="516237"/>
                </a:lnTo>
                <a:lnTo>
                  <a:pt x="260481" y="521381"/>
                </a:lnTo>
                <a:lnTo>
                  <a:pt x="255337" y="529010"/>
                </a:lnTo>
                <a:lnTo>
                  <a:pt x="253451" y="538352"/>
                </a:lnTo>
                <a:lnTo>
                  <a:pt x="253452" y="636955"/>
                </a:lnTo>
                <a:lnTo>
                  <a:pt x="263051" y="649941"/>
                </a:lnTo>
                <a:lnTo>
                  <a:pt x="263051" y="530399"/>
                </a:lnTo>
                <a:lnTo>
                  <a:pt x="269498" y="523951"/>
                </a:lnTo>
                <a:lnTo>
                  <a:pt x="779852" y="523951"/>
                </a:lnTo>
                <a:lnTo>
                  <a:pt x="778119" y="521381"/>
                </a:lnTo>
                <a:lnTo>
                  <a:pt x="770491" y="516237"/>
                </a:lnTo>
                <a:lnTo>
                  <a:pt x="761149" y="514351"/>
                </a:lnTo>
                <a:close/>
              </a:path>
              <a:path w="1038860" h="734060">
                <a:moveTo>
                  <a:pt x="263051" y="83861"/>
                </a:moveTo>
                <a:lnTo>
                  <a:pt x="253452" y="96847"/>
                </a:lnTo>
                <a:lnTo>
                  <a:pt x="253451" y="195452"/>
                </a:lnTo>
                <a:lnTo>
                  <a:pt x="255337" y="204793"/>
                </a:lnTo>
                <a:lnTo>
                  <a:pt x="260481" y="212422"/>
                </a:lnTo>
                <a:lnTo>
                  <a:pt x="268110" y="217565"/>
                </a:lnTo>
                <a:lnTo>
                  <a:pt x="277452" y="219451"/>
                </a:lnTo>
                <a:lnTo>
                  <a:pt x="761149" y="219451"/>
                </a:lnTo>
                <a:lnTo>
                  <a:pt x="770491" y="217565"/>
                </a:lnTo>
                <a:lnTo>
                  <a:pt x="778119" y="212422"/>
                </a:lnTo>
                <a:lnTo>
                  <a:pt x="779852" y="209851"/>
                </a:lnTo>
                <a:lnTo>
                  <a:pt x="269498" y="209851"/>
                </a:lnTo>
                <a:lnTo>
                  <a:pt x="263051" y="203404"/>
                </a:lnTo>
                <a:lnTo>
                  <a:pt x="263051" y="83861"/>
                </a:lnTo>
                <a:close/>
              </a:path>
              <a:path w="1038860" h="734060">
                <a:moveTo>
                  <a:pt x="775548" y="83859"/>
                </a:moveTo>
                <a:lnTo>
                  <a:pt x="775548" y="203404"/>
                </a:lnTo>
                <a:lnTo>
                  <a:pt x="769102" y="209851"/>
                </a:lnTo>
                <a:lnTo>
                  <a:pt x="779852" y="209851"/>
                </a:lnTo>
                <a:lnTo>
                  <a:pt x="783262" y="204793"/>
                </a:lnTo>
                <a:lnTo>
                  <a:pt x="785148" y="195452"/>
                </a:lnTo>
                <a:lnTo>
                  <a:pt x="785148" y="96847"/>
                </a:lnTo>
                <a:lnTo>
                  <a:pt x="775548" y="83859"/>
                </a:lnTo>
                <a:close/>
              </a:path>
              <a:path w="1038860" h="734060">
                <a:moveTo>
                  <a:pt x="301451" y="24000"/>
                </a:moveTo>
                <a:lnTo>
                  <a:pt x="272651" y="24000"/>
                </a:lnTo>
                <a:lnTo>
                  <a:pt x="281311" y="26854"/>
                </a:lnTo>
                <a:lnTo>
                  <a:pt x="279431" y="29397"/>
                </a:lnTo>
                <a:lnTo>
                  <a:pt x="289031" y="32560"/>
                </a:lnTo>
                <a:lnTo>
                  <a:pt x="287152" y="35103"/>
                </a:lnTo>
                <a:lnTo>
                  <a:pt x="296752" y="38266"/>
                </a:lnTo>
                <a:lnTo>
                  <a:pt x="272652" y="70871"/>
                </a:lnTo>
                <a:lnTo>
                  <a:pt x="272651" y="198102"/>
                </a:lnTo>
                <a:lnTo>
                  <a:pt x="274800" y="200251"/>
                </a:lnTo>
                <a:lnTo>
                  <a:pt x="763799" y="200251"/>
                </a:lnTo>
                <a:lnTo>
                  <a:pt x="765948" y="198102"/>
                </a:lnTo>
                <a:lnTo>
                  <a:pt x="765948" y="171451"/>
                </a:lnTo>
                <a:lnTo>
                  <a:pt x="301451" y="171451"/>
                </a:lnTo>
                <a:lnTo>
                  <a:pt x="301451" y="24000"/>
                </a:lnTo>
                <a:close/>
              </a:path>
              <a:path w="1038860" h="734060">
                <a:moveTo>
                  <a:pt x="761113" y="0"/>
                </a:moveTo>
                <a:lnTo>
                  <a:pt x="737148" y="24000"/>
                </a:lnTo>
                <a:lnTo>
                  <a:pt x="737148" y="171451"/>
                </a:lnTo>
                <a:lnTo>
                  <a:pt x="765948" y="171451"/>
                </a:lnTo>
                <a:lnTo>
                  <a:pt x="765948" y="70871"/>
                </a:lnTo>
                <a:lnTo>
                  <a:pt x="741849" y="38266"/>
                </a:lnTo>
                <a:lnTo>
                  <a:pt x="751449" y="35103"/>
                </a:lnTo>
                <a:lnTo>
                  <a:pt x="749569" y="32560"/>
                </a:lnTo>
                <a:lnTo>
                  <a:pt x="759168" y="29397"/>
                </a:lnTo>
                <a:lnTo>
                  <a:pt x="757288" y="26854"/>
                </a:lnTo>
                <a:lnTo>
                  <a:pt x="765948" y="24000"/>
                </a:lnTo>
                <a:lnTo>
                  <a:pt x="790993" y="24000"/>
                </a:lnTo>
                <a:lnTo>
                  <a:pt x="780449" y="9736"/>
                </a:lnTo>
                <a:lnTo>
                  <a:pt x="775045" y="4432"/>
                </a:lnTo>
                <a:lnTo>
                  <a:pt x="768424" y="1131"/>
                </a:lnTo>
                <a:lnTo>
                  <a:pt x="761113" y="0"/>
                </a:lnTo>
                <a:close/>
              </a:path>
              <a:path w="1038860" h="734060">
                <a:moveTo>
                  <a:pt x="263051" y="67709"/>
                </a:moveTo>
                <a:lnTo>
                  <a:pt x="253452" y="80696"/>
                </a:lnTo>
                <a:lnTo>
                  <a:pt x="253451" y="96848"/>
                </a:lnTo>
                <a:lnTo>
                  <a:pt x="263051" y="83861"/>
                </a:lnTo>
                <a:lnTo>
                  <a:pt x="263051" y="67709"/>
                </a:lnTo>
                <a:close/>
              </a:path>
              <a:path w="1038860" h="734060">
                <a:moveTo>
                  <a:pt x="775548" y="67708"/>
                </a:moveTo>
                <a:lnTo>
                  <a:pt x="775549" y="83861"/>
                </a:lnTo>
                <a:lnTo>
                  <a:pt x="785148" y="96847"/>
                </a:lnTo>
                <a:lnTo>
                  <a:pt x="785148" y="80696"/>
                </a:lnTo>
                <a:lnTo>
                  <a:pt x="775548" y="67708"/>
                </a:lnTo>
                <a:close/>
              </a:path>
              <a:path w="1038860" h="734060">
                <a:moveTo>
                  <a:pt x="272651" y="54722"/>
                </a:moveTo>
                <a:lnTo>
                  <a:pt x="263052" y="67708"/>
                </a:lnTo>
                <a:lnTo>
                  <a:pt x="263051" y="83861"/>
                </a:lnTo>
                <a:lnTo>
                  <a:pt x="272651" y="70873"/>
                </a:lnTo>
                <a:lnTo>
                  <a:pt x="272651" y="54722"/>
                </a:lnTo>
                <a:close/>
              </a:path>
              <a:path w="1038860" h="734060">
                <a:moveTo>
                  <a:pt x="765948" y="54720"/>
                </a:moveTo>
                <a:lnTo>
                  <a:pt x="765949" y="70873"/>
                </a:lnTo>
                <a:lnTo>
                  <a:pt x="775548" y="83859"/>
                </a:lnTo>
                <a:lnTo>
                  <a:pt x="775548" y="67708"/>
                </a:lnTo>
                <a:lnTo>
                  <a:pt x="765948" y="54720"/>
                </a:lnTo>
                <a:close/>
              </a:path>
              <a:path w="1038860" h="734060">
                <a:moveTo>
                  <a:pt x="263051" y="51559"/>
                </a:moveTo>
                <a:lnTo>
                  <a:pt x="253451" y="64546"/>
                </a:lnTo>
                <a:lnTo>
                  <a:pt x="253451" y="80697"/>
                </a:lnTo>
                <a:lnTo>
                  <a:pt x="263051" y="67709"/>
                </a:lnTo>
                <a:lnTo>
                  <a:pt x="263051" y="51559"/>
                </a:lnTo>
                <a:close/>
              </a:path>
              <a:path w="1038860" h="734060">
                <a:moveTo>
                  <a:pt x="775548" y="51558"/>
                </a:moveTo>
                <a:lnTo>
                  <a:pt x="775549" y="67709"/>
                </a:lnTo>
                <a:lnTo>
                  <a:pt x="785148" y="80696"/>
                </a:lnTo>
                <a:lnTo>
                  <a:pt x="785148" y="64546"/>
                </a:lnTo>
                <a:lnTo>
                  <a:pt x="775548" y="51558"/>
                </a:lnTo>
                <a:close/>
              </a:path>
              <a:path w="1038860" h="734060">
                <a:moveTo>
                  <a:pt x="287152" y="35103"/>
                </a:moveTo>
                <a:lnTo>
                  <a:pt x="272652" y="54720"/>
                </a:lnTo>
                <a:lnTo>
                  <a:pt x="272651" y="70873"/>
                </a:lnTo>
                <a:lnTo>
                  <a:pt x="296752" y="38266"/>
                </a:lnTo>
                <a:lnTo>
                  <a:pt x="287152" y="35103"/>
                </a:lnTo>
                <a:close/>
              </a:path>
              <a:path w="1038860" h="734060">
                <a:moveTo>
                  <a:pt x="751449" y="35103"/>
                </a:moveTo>
                <a:lnTo>
                  <a:pt x="741849" y="38266"/>
                </a:lnTo>
                <a:lnTo>
                  <a:pt x="765948" y="70871"/>
                </a:lnTo>
                <a:lnTo>
                  <a:pt x="765948" y="54720"/>
                </a:lnTo>
                <a:lnTo>
                  <a:pt x="751449" y="35103"/>
                </a:lnTo>
                <a:close/>
              </a:path>
              <a:path w="1038860" h="734060">
                <a:moveTo>
                  <a:pt x="253451" y="24000"/>
                </a:moveTo>
                <a:lnTo>
                  <a:pt x="253451" y="64546"/>
                </a:lnTo>
                <a:lnTo>
                  <a:pt x="263051" y="51559"/>
                </a:lnTo>
                <a:lnTo>
                  <a:pt x="263051" y="27163"/>
                </a:lnTo>
                <a:lnTo>
                  <a:pt x="253451" y="24000"/>
                </a:lnTo>
                <a:close/>
              </a:path>
              <a:path w="1038860" h="734060">
                <a:moveTo>
                  <a:pt x="785148" y="24000"/>
                </a:moveTo>
                <a:lnTo>
                  <a:pt x="775548" y="27163"/>
                </a:lnTo>
                <a:lnTo>
                  <a:pt x="775548" y="51559"/>
                </a:lnTo>
                <a:lnTo>
                  <a:pt x="785148" y="64546"/>
                </a:lnTo>
                <a:lnTo>
                  <a:pt x="785148" y="24000"/>
                </a:lnTo>
                <a:close/>
              </a:path>
              <a:path w="1038860" h="734060">
                <a:moveTo>
                  <a:pt x="277552" y="31941"/>
                </a:moveTo>
                <a:lnTo>
                  <a:pt x="272651" y="38570"/>
                </a:lnTo>
                <a:lnTo>
                  <a:pt x="272651" y="54722"/>
                </a:lnTo>
                <a:lnTo>
                  <a:pt x="287152" y="35103"/>
                </a:lnTo>
                <a:lnTo>
                  <a:pt x="277552" y="31941"/>
                </a:lnTo>
                <a:close/>
              </a:path>
              <a:path w="1038860" h="734060">
                <a:moveTo>
                  <a:pt x="761048" y="31941"/>
                </a:moveTo>
                <a:lnTo>
                  <a:pt x="751449" y="35103"/>
                </a:lnTo>
                <a:lnTo>
                  <a:pt x="765948" y="54720"/>
                </a:lnTo>
                <a:lnTo>
                  <a:pt x="765948" y="38570"/>
                </a:lnTo>
                <a:lnTo>
                  <a:pt x="761048" y="31941"/>
                </a:lnTo>
                <a:close/>
              </a:path>
              <a:path w="1038860" h="734060">
                <a:moveTo>
                  <a:pt x="263051" y="27163"/>
                </a:moveTo>
                <a:lnTo>
                  <a:pt x="263051" y="51559"/>
                </a:lnTo>
                <a:lnTo>
                  <a:pt x="272651" y="38571"/>
                </a:lnTo>
                <a:lnTo>
                  <a:pt x="272651" y="30326"/>
                </a:lnTo>
                <a:lnTo>
                  <a:pt x="263051" y="27163"/>
                </a:lnTo>
                <a:close/>
              </a:path>
              <a:path w="1038860" h="734060">
                <a:moveTo>
                  <a:pt x="775548" y="27163"/>
                </a:moveTo>
                <a:lnTo>
                  <a:pt x="765949" y="30326"/>
                </a:lnTo>
                <a:lnTo>
                  <a:pt x="765948" y="38571"/>
                </a:lnTo>
                <a:lnTo>
                  <a:pt x="775548" y="51558"/>
                </a:lnTo>
                <a:lnTo>
                  <a:pt x="775548" y="27163"/>
                </a:lnTo>
                <a:close/>
              </a:path>
              <a:path w="1038860" h="734060">
                <a:moveTo>
                  <a:pt x="272651" y="30326"/>
                </a:moveTo>
                <a:lnTo>
                  <a:pt x="272651" y="38571"/>
                </a:lnTo>
                <a:lnTo>
                  <a:pt x="277552" y="31941"/>
                </a:lnTo>
                <a:lnTo>
                  <a:pt x="272651" y="30326"/>
                </a:lnTo>
                <a:close/>
              </a:path>
              <a:path w="1038860" h="734060">
                <a:moveTo>
                  <a:pt x="765948" y="30326"/>
                </a:moveTo>
                <a:lnTo>
                  <a:pt x="761048" y="31941"/>
                </a:lnTo>
                <a:lnTo>
                  <a:pt x="765948" y="38570"/>
                </a:lnTo>
                <a:lnTo>
                  <a:pt x="765948" y="30326"/>
                </a:lnTo>
                <a:close/>
              </a:path>
              <a:path w="1038860" h="734060">
                <a:moveTo>
                  <a:pt x="765948" y="27163"/>
                </a:moveTo>
                <a:lnTo>
                  <a:pt x="759168" y="29397"/>
                </a:lnTo>
                <a:lnTo>
                  <a:pt x="761048" y="31941"/>
                </a:lnTo>
                <a:lnTo>
                  <a:pt x="765948" y="30326"/>
                </a:lnTo>
                <a:lnTo>
                  <a:pt x="765948" y="27163"/>
                </a:lnTo>
                <a:close/>
              </a:path>
              <a:path w="1038860" h="734060">
                <a:moveTo>
                  <a:pt x="272651" y="27163"/>
                </a:moveTo>
                <a:lnTo>
                  <a:pt x="272652" y="30326"/>
                </a:lnTo>
                <a:lnTo>
                  <a:pt x="277552" y="31941"/>
                </a:lnTo>
                <a:lnTo>
                  <a:pt x="279431" y="29397"/>
                </a:lnTo>
                <a:lnTo>
                  <a:pt x="272651" y="27163"/>
                </a:lnTo>
                <a:close/>
              </a:path>
              <a:path w="1038860" h="734060">
                <a:moveTo>
                  <a:pt x="765948" y="24000"/>
                </a:moveTo>
                <a:lnTo>
                  <a:pt x="757288" y="26854"/>
                </a:lnTo>
                <a:lnTo>
                  <a:pt x="759169" y="29397"/>
                </a:lnTo>
                <a:lnTo>
                  <a:pt x="765948" y="27163"/>
                </a:lnTo>
                <a:lnTo>
                  <a:pt x="765948" y="24000"/>
                </a:lnTo>
                <a:close/>
              </a:path>
              <a:path w="1038860" h="734060">
                <a:moveTo>
                  <a:pt x="272651" y="24000"/>
                </a:moveTo>
                <a:lnTo>
                  <a:pt x="272652" y="27163"/>
                </a:lnTo>
                <a:lnTo>
                  <a:pt x="279431" y="29397"/>
                </a:lnTo>
                <a:lnTo>
                  <a:pt x="281311" y="26854"/>
                </a:lnTo>
                <a:lnTo>
                  <a:pt x="272651" y="24000"/>
                </a:lnTo>
                <a:close/>
              </a:path>
              <a:path w="1038860" h="734060">
                <a:moveTo>
                  <a:pt x="775548" y="24000"/>
                </a:moveTo>
                <a:lnTo>
                  <a:pt x="765948" y="24000"/>
                </a:lnTo>
                <a:lnTo>
                  <a:pt x="765948" y="27163"/>
                </a:lnTo>
                <a:lnTo>
                  <a:pt x="775548" y="24000"/>
                </a:lnTo>
                <a:close/>
              </a:path>
              <a:path w="1038860" h="734060">
                <a:moveTo>
                  <a:pt x="272651" y="24000"/>
                </a:moveTo>
                <a:lnTo>
                  <a:pt x="263051" y="24000"/>
                </a:lnTo>
                <a:lnTo>
                  <a:pt x="272651" y="27163"/>
                </a:lnTo>
                <a:lnTo>
                  <a:pt x="272651" y="24000"/>
                </a:lnTo>
                <a:close/>
              </a:path>
              <a:path w="1038860" h="734060">
                <a:moveTo>
                  <a:pt x="785148" y="24000"/>
                </a:moveTo>
                <a:lnTo>
                  <a:pt x="775548" y="24000"/>
                </a:lnTo>
                <a:lnTo>
                  <a:pt x="775548" y="27163"/>
                </a:lnTo>
                <a:lnTo>
                  <a:pt x="785148" y="24000"/>
                </a:lnTo>
                <a:close/>
              </a:path>
              <a:path w="1038860" h="734060">
                <a:moveTo>
                  <a:pt x="263051" y="24000"/>
                </a:moveTo>
                <a:lnTo>
                  <a:pt x="253451" y="24000"/>
                </a:lnTo>
                <a:lnTo>
                  <a:pt x="263051" y="27163"/>
                </a:lnTo>
                <a:lnTo>
                  <a:pt x="263051" y="240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251830" y="2696972"/>
            <a:ext cx="2364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Naïve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spc="-5" b="1">
                <a:latin typeface="Arial"/>
                <a:cs typeface="Arial"/>
              </a:rPr>
              <a:t>strategies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114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00200" y="1828800"/>
            <a:ext cx="6380863" cy="4482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19928" y="3568900"/>
            <a:ext cx="1642745" cy="1079500"/>
          </a:xfrm>
          <a:custGeom>
            <a:avLst/>
            <a:gdLst/>
            <a:ahLst/>
            <a:cxnLst/>
            <a:rect l="l" t="t" r="r" b="b"/>
            <a:pathLst>
              <a:path w="1642745" h="1079500">
                <a:moveTo>
                  <a:pt x="1462784" y="0"/>
                </a:moveTo>
                <a:lnTo>
                  <a:pt x="179886" y="0"/>
                </a:lnTo>
                <a:lnTo>
                  <a:pt x="132065" y="6425"/>
                </a:lnTo>
                <a:lnTo>
                  <a:pt x="89094" y="24559"/>
                </a:lnTo>
                <a:lnTo>
                  <a:pt x="52687" y="52687"/>
                </a:lnTo>
                <a:lnTo>
                  <a:pt x="24559" y="89094"/>
                </a:lnTo>
                <a:lnTo>
                  <a:pt x="6425" y="132066"/>
                </a:lnTo>
                <a:lnTo>
                  <a:pt x="0" y="179887"/>
                </a:lnTo>
                <a:lnTo>
                  <a:pt x="0" y="899411"/>
                </a:lnTo>
                <a:lnTo>
                  <a:pt x="6425" y="947232"/>
                </a:lnTo>
                <a:lnTo>
                  <a:pt x="24559" y="990204"/>
                </a:lnTo>
                <a:lnTo>
                  <a:pt x="52687" y="1026611"/>
                </a:lnTo>
                <a:lnTo>
                  <a:pt x="89094" y="1054739"/>
                </a:lnTo>
                <a:lnTo>
                  <a:pt x="132065" y="1072873"/>
                </a:lnTo>
                <a:lnTo>
                  <a:pt x="179886" y="1079299"/>
                </a:lnTo>
                <a:lnTo>
                  <a:pt x="1462784" y="1079299"/>
                </a:lnTo>
                <a:lnTo>
                  <a:pt x="1510605" y="1072873"/>
                </a:lnTo>
                <a:lnTo>
                  <a:pt x="1553576" y="1054739"/>
                </a:lnTo>
                <a:lnTo>
                  <a:pt x="1589983" y="1026611"/>
                </a:lnTo>
                <a:lnTo>
                  <a:pt x="1618111" y="990204"/>
                </a:lnTo>
                <a:lnTo>
                  <a:pt x="1636245" y="947232"/>
                </a:lnTo>
                <a:lnTo>
                  <a:pt x="1642671" y="899411"/>
                </a:lnTo>
                <a:lnTo>
                  <a:pt x="1642671" y="179887"/>
                </a:lnTo>
                <a:lnTo>
                  <a:pt x="1636245" y="132066"/>
                </a:lnTo>
                <a:lnTo>
                  <a:pt x="1618111" y="89094"/>
                </a:lnTo>
                <a:lnTo>
                  <a:pt x="1589983" y="52687"/>
                </a:lnTo>
                <a:lnTo>
                  <a:pt x="1553576" y="24559"/>
                </a:lnTo>
                <a:lnTo>
                  <a:pt x="1510605" y="6425"/>
                </a:lnTo>
                <a:lnTo>
                  <a:pt x="1462784" y="0"/>
                </a:lnTo>
                <a:close/>
              </a:path>
            </a:pathLst>
          </a:custGeom>
          <a:solidFill>
            <a:srgbClr val="00B050">
              <a:alpha val="3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95958" y="3545710"/>
            <a:ext cx="1691005" cy="1126490"/>
          </a:xfrm>
          <a:custGeom>
            <a:avLst/>
            <a:gdLst/>
            <a:ahLst/>
            <a:cxnLst/>
            <a:rect l="l" t="t" r="r" b="b"/>
            <a:pathLst>
              <a:path w="1691004" h="1126489">
                <a:moveTo>
                  <a:pt x="1486753" y="0"/>
                </a:moveTo>
                <a:lnTo>
                  <a:pt x="202646" y="0"/>
                </a:lnTo>
                <a:lnTo>
                  <a:pt x="181843" y="1270"/>
                </a:lnTo>
                <a:lnTo>
                  <a:pt x="142114" y="8890"/>
                </a:lnTo>
                <a:lnTo>
                  <a:pt x="105651" y="25400"/>
                </a:lnTo>
                <a:lnTo>
                  <a:pt x="73289" y="46990"/>
                </a:lnTo>
                <a:lnTo>
                  <a:pt x="45826" y="74930"/>
                </a:lnTo>
                <a:lnTo>
                  <a:pt x="24058" y="107950"/>
                </a:lnTo>
                <a:lnTo>
                  <a:pt x="8812" y="144780"/>
                </a:lnTo>
                <a:lnTo>
                  <a:pt x="928" y="184150"/>
                </a:lnTo>
                <a:lnTo>
                  <a:pt x="0" y="924560"/>
                </a:lnTo>
                <a:lnTo>
                  <a:pt x="1173" y="944880"/>
                </a:lnTo>
                <a:lnTo>
                  <a:pt x="9518" y="985520"/>
                </a:lnTo>
                <a:lnTo>
                  <a:pt x="25168" y="1021080"/>
                </a:lnTo>
                <a:lnTo>
                  <a:pt x="47285" y="1054100"/>
                </a:lnTo>
                <a:lnTo>
                  <a:pt x="75058" y="1080770"/>
                </a:lnTo>
                <a:lnTo>
                  <a:pt x="107696" y="1103630"/>
                </a:lnTo>
                <a:lnTo>
                  <a:pt x="144387" y="1118870"/>
                </a:lnTo>
                <a:lnTo>
                  <a:pt x="184254" y="1126490"/>
                </a:lnTo>
                <a:lnTo>
                  <a:pt x="1508767" y="1126490"/>
                </a:lnTo>
                <a:lnTo>
                  <a:pt x="1548495" y="1117600"/>
                </a:lnTo>
                <a:lnTo>
                  <a:pt x="1584960" y="1102360"/>
                </a:lnTo>
                <a:lnTo>
                  <a:pt x="1591238" y="1098550"/>
                </a:lnTo>
                <a:lnTo>
                  <a:pt x="203856" y="1098550"/>
                </a:lnTo>
                <a:lnTo>
                  <a:pt x="185705" y="1097280"/>
                </a:lnTo>
                <a:lnTo>
                  <a:pt x="135486" y="1084580"/>
                </a:lnTo>
                <a:lnTo>
                  <a:pt x="92306" y="1057910"/>
                </a:lnTo>
                <a:lnTo>
                  <a:pt x="58535" y="1021080"/>
                </a:lnTo>
                <a:lnTo>
                  <a:pt x="36564" y="975360"/>
                </a:lnTo>
                <a:lnTo>
                  <a:pt x="28825" y="924560"/>
                </a:lnTo>
                <a:lnTo>
                  <a:pt x="28835" y="201930"/>
                </a:lnTo>
                <a:lnTo>
                  <a:pt x="36705" y="151130"/>
                </a:lnTo>
                <a:lnTo>
                  <a:pt x="58793" y="105410"/>
                </a:lnTo>
                <a:lnTo>
                  <a:pt x="92660" y="68580"/>
                </a:lnTo>
                <a:lnTo>
                  <a:pt x="135919" y="41910"/>
                </a:lnTo>
                <a:lnTo>
                  <a:pt x="186188" y="29210"/>
                </a:lnTo>
                <a:lnTo>
                  <a:pt x="1591353" y="29210"/>
                </a:lnTo>
                <a:lnTo>
                  <a:pt x="1582915" y="24130"/>
                </a:lnTo>
                <a:lnTo>
                  <a:pt x="1565023" y="15240"/>
                </a:lnTo>
                <a:lnTo>
                  <a:pt x="1546223" y="8890"/>
                </a:lnTo>
                <a:lnTo>
                  <a:pt x="1526628" y="3810"/>
                </a:lnTo>
                <a:lnTo>
                  <a:pt x="1506357" y="1270"/>
                </a:lnTo>
                <a:lnTo>
                  <a:pt x="1486753" y="0"/>
                </a:lnTo>
                <a:close/>
              </a:path>
              <a:path w="1691004" h="1126489">
                <a:moveTo>
                  <a:pt x="1591353" y="29210"/>
                </a:moveTo>
                <a:lnTo>
                  <a:pt x="1504904" y="29210"/>
                </a:lnTo>
                <a:lnTo>
                  <a:pt x="1522282" y="31750"/>
                </a:lnTo>
                <a:lnTo>
                  <a:pt x="1539052" y="36830"/>
                </a:lnTo>
                <a:lnTo>
                  <a:pt x="1584838" y="58420"/>
                </a:lnTo>
                <a:lnTo>
                  <a:pt x="1622012" y="92710"/>
                </a:lnTo>
                <a:lnTo>
                  <a:pt x="1648180" y="135890"/>
                </a:lnTo>
                <a:lnTo>
                  <a:pt x="1660968" y="185420"/>
                </a:lnTo>
                <a:lnTo>
                  <a:pt x="1661776" y="924560"/>
                </a:lnTo>
                <a:lnTo>
                  <a:pt x="1660918" y="941070"/>
                </a:lnTo>
                <a:lnTo>
                  <a:pt x="1647997" y="991870"/>
                </a:lnTo>
                <a:lnTo>
                  <a:pt x="1621720" y="1035050"/>
                </a:lnTo>
                <a:lnTo>
                  <a:pt x="1584455" y="1068070"/>
                </a:lnTo>
                <a:lnTo>
                  <a:pt x="1538597" y="1090930"/>
                </a:lnTo>
                <a:lnTo>
                  <a:pt x="1486512" y="1098550"/>
                </a:lnTo>
                <a:lnTo>
                  <a:pt x="1591238" y="1098550"/>
                </a:lnTo>
                <a:lnTo>
                  <a:pt x="1631713" y="1066800"/>
                </a:lnTo>
                <a:lnTo>
                  <a:pt x="1656430" y="1036320"/>
                </a:lnTo>
                <a:lnTo>
                  <a:pt x="1675042" y="1002030"/>
                </a:lnTo>
                <a:lnTo>
                  <a:pt x="1686712" y="962660"/>
                </a:lnTo>
                <a:lnTo>
                  <a:pt x="1690577" y="924560"/>
                </a:lnTo>
                <a:lnTo>
                  <a:pt x="1690611" y="201930"/>
                </a:lnTo>
                <a:lnTo>
                  <a:pt x="1689437" y="181610"/>
                </a:lnTo>
                <a:lnTo>
                  <a:pt x="1681091" y="142240"/>
                </a:lnTo>
                <a:lnTo>
                  <a:pt x="1665441" y="105410"/>
                </a:lnTo>
                <a:lnTo>
                  <a:pt x="1643324" y="73660"/>
                </a:lnTo>
                <a:lnTo>
                  <a:pt x="1615551" y="45720"/>
                </a:lnTo>
                <a:lnTo>
                  <a:pt x="1599792" y="34290"/>
                </a:lnTo>
                <a:lnTo>
                  <a:pt x="1591353" y="29210"/>
                </a:lnTo>
                <a:close/>
              </a:path>
              <a:path w="1691004" h="1126489">
                <a:moveTo>
                  <a:pt x="1486753" y="38100"/>
                </a:moveTo>
                <a:lnTo>
                  <a:pt x="204583" y="38100"/>
                </a:lnTo>
                <a:lnTo>
                  <a:pt x="187637" y="39370"/>
                </a:lnTo>
                <a:lnTo>
                  <a:pt x="140086" y="50800"/>
                </a:lnTo>
                <a:lnTo>
                  <a:pt x="99117" y="74930"/>
                </a:lnTo>
                <a:lnTo>
                  <a:pt x="66998" y="110490"/>
                </a:lnTo>
                <a:lnTo>
                  <a:pt x="46003" y="153670"/>
                </a:lnTo>
                <a:lnTo>
                  <a:pt x="38434" y="201930"/>
                </a:lnTo>
                <a:lnTo>
                  <a:pt x="38463" y="924560"/>
                </a:lnTo>
                <a:lnTo>
                  <a:pt x="45579" y="971550"/>
                </a:lnTo>
                <a:lnTo>
                  <a:pt x="66224" y="1014730"/>
                </a:lnTo>
                <a:lnTo>
                  <a:pt x="98055" y="1050290"/>
                </a:lnTo>
                <a:lnTo>
                  <a:pt x="138785" y="1075690"/>
                </a:lnTo>
                <a:lnTo>
                  <a:pt x="186190" y="1088390"/>
                </a:lnTo>
                <a:lnTo>
                  <a:pt x="1502973" y="1088390"/>
                </a:lnTo>
                <a:lnTo>
                  <a:pt x="1519421" y="1085850"/>
                </a:lnTo>
                <a:lnTo>
                  <a:pt x="1535297" y="1082040"/>
                </a:lnTo>
                <a:lnTo>
                  <a:pt x="1541388" y="1079500"/>
                </a:lnTo>
                <a:lnTo>
                  <a:pt x="203856" y="1079500"/>
                </a:lnTo>
                <a:lnTo>
                  <a:pt x="186674" y="1078230"/>
                </a:lnTo>
                <a:lnTo>
                  <a:pt x="142085" y="1066800"/>
                </a:lnTo>
                <a:lnTo>
                  <a:pt x="103804" y="1042670"/>
                </a:lnTo>
                <a:lnTo>
                  <a:pt x="73911" y="1009650"/>
                </a:lnTo>
                <a:lnTo>
                  <a:pt x="54594" y="969010"/>
                </a:lnTo>
                <a:lnTo>
                  <a:pt x="48044" y="924560"/>
                </a:lnTo>
                <a:lnTo>
                  <a:pt x="48038" y="201930"/>
                </a:lnTo>
                <a:lnTo>
                  <a:pt x="48867" y="186690"/>
                </a:lnTo>
                <a:lnTo>
                  <a:pt x="60643" y="142240"/>
                </a:lnTo>
                <a:lnTo>
                  <a:pt x="84267" y="104140"/>
                </a:lnTo>
                <a:lnTo>
                  <a:pt x="117652" y="73660"/>
                </a:lnTo>
                <a:lnTo>
                  <a:pt x="158612" y="54610"/>
                </a:lnTo>
                <a:lnTo>
                  <a:pt x="189085" y="48260"/>
                </a:lnTo>
                <a:lnTo>
                  <a:pt x="1542726" y="48260"/>
                </a:lnTo>
                <a:lnTo>
                  <a:pt x="1536660" y="45720"/>
                </a:lnTo>
                <a:lnTo>
                  <a:pt x="1520835" y="41910"/>
                </a:lnTo>
                <a:lnTo>
                  <a:pt x="1504420" y="39370"/>
                </a:lnTo>
                <a:lnTo>
                  <a:pt x="1486753" y="38100"/>
                </a:lnTo>
                <a:close/>
              </a:path>
              <a:path w="1691004" h="1126489">
                <a:moveTo>
                  <a:pt x="1542726" y="48260"/>
                </a:moveTo>
                <a:lnTo>
                  <a:pt x="1503936" y="48260"/>
                </a:lnTo>
                <a:lnTo>
                  <a:pt x="1519387" y="50800"/>
                </a:lnTo>
                <a:lnTo>
                  <a:pt x="1534270" y="54610"/>
                </a:lnTo>
                <a:lnTo>
                  <a:pt x="1574869" y="74930"/>
                </a:lnTo>
                <a:lnTo>
                  <a:pt x="1607803" y="105410"/>
                </a:lnTo>
                <a:lnTo>
                  <a:pt x="1630883" y="143510"/>
                </a:lnTo>
                <a:lnTo>
                  <a:pt x="1641986" y="189230"/>
                </a:lnTo>
                <a:lnTo>
                  <a:pt x="1642571" y="924560"/>
                </a:lnTo>
                <a:lnTo>
                  <a:pt x="1641742" y="939800"/>
                </a:lnTo>
                <a:lnTo>
                  <a:pt x="1629967" y="985520"/>
                </a:lnTo>
                <a:lnTo>
                  <a:pt x="1606342" y="1023620"/>
                </a:lnTo>
                <a:lnTo>
                  <a:pt x="1572958" y="1052830"/>
                </a:lnTo>
                <a:lnTo>
                  <a:pt x="1531998" y="1071880"/>
                </a:lnTo>
                <a:lnTo>
                  <a:pt x="1485543" y="1079500"/>
                </a:lnTo>
                <a:lnTo>
                  <a:pt x="1541388" y="1079500"/>
                </a:lnTo>
                <a:lnTo>
                  <a:pt x="1578706" y="1060450"/>
                </a:lnTo>
                <a:lnTo>
                  <a:pt x="1614031" y="1028700"/>
                </a:lnTo>
                <a:lnTo>
                  <a:pt x="1638981" y="988060"/>
                </a:lnTo>
                <a:lnTo>
                  <a:pt x="1651331" y="941070"/>
                </a:lnTo>
                <a:lnTo>
                  <a:pt x="1652175" y="924560"/>
                </a:lnTo>
                <a:lnTo>
                  <a:pt x="1652139" y="201930"/>
                </a:lnTo>
                <a:lnTo>
                  <a:pt x="1645031" y="154940"/>
                </a:lnTo>
                <a:lnTo>
                  <a:pt x="1624387" y="111760"/>
                </a:lnTo>
                <a:lnTo>
                  <a:pt x="1592555" y="76200"/>
                </a:lnTo>
                <a:lnTo>
                  <a:pt x="1551824" y="52070"/>
                </a:lnTo>
                <a:lnTo>
                  <a:pt x="1542726" y="4826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67689" y="3452662"/>
            <a:ext cx="1828800" cy="1195705"/>
          </a:xfrm>
          <a:custGeom>
            <a:avLst/>
            <a:gdLst/>
            <a:ahLst/>
            <a:cxnLst/>
            <a:rect l="l" t="t" r="r" b="b"/>
            <a:pathLst>
              <a:path w="1828800" h="1195704">
                <a:moveTo>
                  <a:pt x="1629249" y="0"/>
                </a:moveTo>
                <a:lnTo>
                  <a:pt x="199260" y="0"/>
                </a:lnTo>
                <a:lnTo>
                  <a:pt x="153572" y="5262"/>
                </a:lnTo>
                <a:lnTo>
                  <a:pt x="111630" y="20252"/>
                </a:lnTo>
                <a:lnTo>
                  <a:pt x="74633" y="43775"/>
                </a:lnTo>
                <a:lnTo>
                  <a:pt x="43775" y="74632"/>
                </a:lnTo>
                <a:lnTo>
                  <a:pt x="20253" y="111630"/>
                </a:lnTo>
                <a:lnTo>
                  <a:pt x="5262" y="153571"/>
                </a:lnTo>
                <a:lnTo>
                  <a:pt x="0" y="199260"/>
                </a:lnTo>
                <a:lnTo>
                  <a:pt x="0" y="996276"/>
                </a:lnTo>
                <a:lnTo>
                  <a:pt x="5262" y="1041965"/>
                </a:lnTo>
                <a:lnTo>
                  <a:pt x="20253" y="1083906"/>
                </a:lnTo>
                <a:lnTo>
                  <a:pt x="43775" y="1120903"/>
                </a:lnTo>
                <a:lnTo>
                  <a:pt x="74633" y="1151761"/>
                </a:lnTo>
                <a:lnTo>
                  <a:pt x="111630" y="1175284"/>
                </a:lnTo>
                <a:lnTo>
                  <a:pt x="153572" y="1190274"/>
                </a:lnTo>
                <a:lnTo>
                  <a:pt x="199260" y="1195537"/>
                </a:lnTo>
                <a:lnTo>
                  <a:pt x="1629249" y="1195537"/>
                </a:lnTo>
                <a:lnTo>
                  <a:pt x="1674938" y="1190274"/>
                </a:lnTo>
                <a:lnTo>
                  <a:pt x="1716879" y="1175284"/>
                </a:lnTo>
                <a:lnTo>
                  <a:pt x="1753877" y="1151761"/>
                </a:lnTo>
                <a:lnTo>
                  <a:pt x="1784735" y="1120903"/>
                </a:lnTo>
                <a:lnTo>
                  <a:pt x="1808257" y="1083906"/>
                </a:lnTo>
                <a:lnTo>
                  <a:pt x="1823247" y="1041965"/>
                </a:lnTo>
                <a:lnTo>
                  <a:pt x="1828510" y="996276"/>
                </a:lnTo>
                <a:lnTo>
                  <a:pt x="1828510" y="199260"/>
                </a:lnTo>
                <a:lnTo>
                  <a:pt x="1823247" y="153571"/>
                </a:lnTo>
                <a:lnTo>
                  <a:pt x="1808257" y="111630"/>
                </a:lnTo>
                <a:lnTo>
                  <a:pt x="1784735" y="74632"/>
                </a:lnTo>
                <a:lnTo>
                  <a:pt x="1753877" y="43775"/>
                </a:lnTo>
                <a:lnTo>
                  <a:pt x="1716879" y="20252"/>
                </a:lnTo>
                <a:lnTo>
                  <a:pt x="1674938" y="5262"/>
                </a:lnTo>
                <a:lnTo>
                  <a:pt x="1629249" y="0"/>
                </a:lnTo>
                <a:close/>
              </a:path>
            </a:pathLst>
          </a:custGeom>
          <a:solidFill>
            <a:srgbClr val="3792AA">
              <a:alpha val="3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3720" y="3428870"/>
            <a:ext cx="1877060" cy="1243330"/>
          </a:xfrm>
          <a:custGeom>
            <a:avLst/>
            <a:gdLst/>
            <a:ahLst/>
            <a:cxnLst/>
            <a:rect l="l" t="t" r="r" b="b"/>
            <a:pathLst>
              <a:path w="1877059" h="1243329">
                <a:moveTo>
                  <a:pt x="1653218" y="0"/>
                </a:moveTo>
                <a:lnTo>
                  <a:pt x="222018" y="0"/>
                </a:lnTo>
                <a:lnTo>
                  <a:pt x="199235" y="1270"/>
                </a:lnTo>
                <a:lnTo>
                  <a:pt x="155726" y="11430"/>
                </a:lnTo>
                <a:lnTo>
                  <a:pt x="115788" y="27939"/>
                </a:lnTo>
                <a:lnTo>
                  <a:pt x="80338" y="52070"/>
                </a:lnTo>
                <a:lnTo>
                  <a:pt x="50250" y="82550"/>
                </a:lnTo>
                <a:lnTo>
                  <a:pt x="26396" y="118110"/>
                </a:lnTo>
                <a:lnTo>
                  <a:pt x="9683" y="158750"/>
                </a:lnTo>
                <a:lnTo>
                  <a:pt x="1028" y="201930"/>
                </a:lnTo>
                <a:lnTo>
                  <a:pt x="0" y="1022350"/>
                </a:lnTo>
                <a:lnTo>
                  <a:pt x="1272" y="1045210"/>
                </a:lnTo>
                <a:lnTo>
                  <a:pt x="10389" y="1088390"/>
                </a:lnTo>
                <a:lnTo>
                  <a:pt x="27506" y="1127760"/>
                </a:lnTo>
                <a:lnTo>
                  <a:pt x="51709" y="1163320"/>
                </a:lnTo>
                <a:lnTo>
                  <a:pt x="82108" y="1193800"/>
                </a:lnTo>
                <a:lnTo>
                  <a:pt x="117834" y="1217930"/>
                </a:lnTo>
                <a:lnTo>
                  <a:pt x="157998" y="1234440"/>
                </a:lnTo>
                <a:lnTo>
                  <a:pt x="201645" y="1243330"/>
                </a:lnTo>
                <a:lnTo>
                  <a:pt x="1654428" y="1243330"/>
                </a:lnTo>
                <a:lnTo>
                  <a:pt x="1699352" y="1239520"/>
                </a:lnTo>
                <a:lnTo>
                  <a:pt x="1741195" y="1225550"/>
                </a:lnTo>
                <a:lnTo>
                  <a:pt x="1762696" y="1215390"/>
                </a:lnTo>
                <a:lnTo>
                  <a:pt x="223229" y="1215390"/>
                </a:lnTo>
                <a:lnTo>
                  <a:pt x="203098" y="1214120"/>
                </a:lnTo>
                <a:lnTo>
                  <a:pt x="165171" y="1206500"/>
                </a:lnTo>
                <a:lnTo>
                  <a:pt x="114312" y="1182370"/>
                </a:lnTo>
                <a:lnTo>
                  <a:pt x="73022" y="1144270"/>
                </a:lnTo>
                <a:lnTo>
                  <a:pt x="43952" y="1096010"/>
                </a:lnTo>
                <a:lnTo>
                  <a:pt x="32665" y="1059180"/>
                </a:lnTo>
                <a:lnTo>
                  <a:pt x="28828" y="1022350"/>
                </a:lnTo>
                <a:lnTo>
                  <a:pt x="28833" y="222250"/>
                </a:lnTo>
                <a:lnTo>
                  <a:pt x="32762" y="184150"/>
                </a:lnTo>
                <a:lnTo>
                  <a:pt x="44135" y="147320"/>
                </a:lnTo>
                <a:lnTo>
                  <a:pt x="73314" y="100330"/>
                </a:lnTo>
                <a:lnTo>
                  <a:pt x="114694" y="62230"/>
                </a:lnTo>
                <a:lnTo>
                  <a:pt x="165624" y="38100"/>
                </a:lnTo>
                <a:lnTo>
                  <a:pt x="203579" y="30480"/>
                </a:lnTo>
                <a:lnTo>
                  <a:pt x="223471" y="29210"/>
                </a:lnTo>
                <a:lnTo>
                  <a:pt x="1762718" y="29210"/>
                </a:lnTo>
                <a:lnTo>
                  <a:pt x="1758613" y="26670"/>
                </a:lnTo>
                <a:lnTo>
                  <a:pt x="1739028" y="17780"/>
                </a:lnTo>
                <a:lnTo>
                  <a:pt x="1718448" y="10160"/>
                </a:lnTo>
                <a:lnTo>
                  <a:pt x="1696996" y="5080"/>
                </a:lnTo>
                <a:lnTo>
                  <a:pt x="1674802" y="1270"/>
                </a:lnTo>
                <a:lnTo>
                  <a:pt x="1653218" y="0"/>
                </a:lnTo>
                <a:close/>
              </a:path>
              <a:path w="1877059" h="1243329">
                <a:moveTo>
                  <a:pt x="1762718" y="29210"/>
                </a:moveTo>
                <a:lnTo>
                  <a:pt x="1653218" y="29210"/>
                </a:lnTo>
                <a:lnTo>
                  <a:pt x="1673349" y="30480"/>
                </a:lnTo>
                <a:lnTo>
                  <a:pt x="1692652" y="33020"/>
                </a:lnTo>
                <a:lnTo>
                  <a:pt x="1729130" y="44450"/>
                </a:lnTo>
                <a:lnTo>
                  <a:pt x="1777091" y="73660"/>
                </a:lnTo>
                <a:lnTo>
                  <a:pt x="1814603" y="115570"/>
                </a:lnTo>
                <a:lnTo>
                  <a:pt x="1839013" y="166370"/>
                </a:lnTo>
                <a:lnTo>
                  <a:pt x="1846704" y="204470"/>
                </a:lnTo>
                <a:lnTo>
                  <a:pt x="1847619" y="222250"/>
                </a:lnTo>
                <a:lnTo>
                  <a:pt x="1847614" y="1022350"/>
                </a:lnTo>
                <a:lnTo>
                  <a:pt x="1843685" y="1060450"/>
                </a:lnTo>
                <a:lnTo>
                  <a:pt x="1824104" y="1113790"/>
                </a:lnTo>
                <a:lnTo>
                  <a:pt x="1790564" y="1158240"/>
                </a:lnTo>
                <a:lnTo>
                  <a:pt x="1745705" y="1191260"/>
                </a:lnTo>
                <a:lnTo>
                  <a:pt x="1692181" y="1211580"/>
                </a:lnTo>
                <a:lnTo>
                  <a:pt x="1652976" y="1215390"/>
                </a:lnTo>
                <a:lnTo>
                  <a:pt x="1762696" y="1215390"/>
                </a:lnTo>
                <a:lnTo>
                  <a:pt x="1796108" y="1192530"/>
                </a:lnTo>
                <a:lnTo>
                  <a:pt x="1826197" y="1162050"/>
                </a:lnTo>
                <a:lnTo>
                  <a:pt x="1850050" y="1126490"/>
                </a:lnTo>
                <a:lnTo>
                  <a:pt x="1866764" y="1085850"/>
                </a:lnTo>
                <a:lnTo>
                  <a:pt x="1875419" y="1042669"/>
                </a:lnTo>
                <a:lnTo>
                  <a:pt x="1876447" y="222250"/>
                </a:lnTo>
                <a:lnTo>
                  <a:pt x="1875175" y="199389"/>
                </a:lnTo>
                <a:lnTo>
                  <a:pt x="1866057" y="156210"/>
                </a:lnTo>
                <a:lnTo>
                  <a:pt x="1848940" y="116839"/>
                </a:lnTo>
                <a:lnTo>
                  <a:pt x="1824738" y="81280"/>
                </a:lnTo>
                <a:lnTo>
                  <a:pt x="1794339" y="50800"/>
                </a:lnTo>
                <a:lnTo>
                  <a:pt x="1777088" y="38100"/>
                </a:lnTo>
                <a:lnTo>
                  <a:pt x="1762718" y="29210"/>
                </a:lnTo>
                <a:close/>
              </a:path>
              <a:path w="1877059" h="1243329">
                <a:moveTo>
                  <a:pt x="1672865" y="39370"/>
                </a:moveTo>
                <a:lnTo>
                  <a:pt x="205028" y="39370"/>
                </a:lnTo>
                <a:lnTo>
                  <a:pt x="186656" y="41910"/>
                </a:lnTo>
                <a:lnTo>
                  <a:pt x="135726" y="60960"/>
                </a:lnTo>
                <a:lnTo>
                  <a:pt x="92986" y="92710"/>
                </a:lnTo>
                <a:lnTo>
                  <a:pt x="60991" y="134620"/>
                </a:lnTo>
                <a:lnTo>
                  <a:pt x="42252" y="185420"/>
                </a:lnTo>
                <a:lnTo>
                  <a:pt x="38436" y="222250"/>
                </a:lnTo>
                <a:lnTo>
                  <a:pt x="38467" y="1022350"/>
                </a:lnTo>
                <a:lnTo>
                  <a:pt x="46450" y="1074420"/>
                </a:lnTo>
                <a:lnTo>
                  <a:pt x="69531" y="1123950"/>
                </a:lnTo>
                <a:lnTo>
                  <a:pt x="105105" y="1163320"/>
                </a:lnTo>
                <a:lnTo>
                  <a:pt x="150616" y="1191260"/>
                </a:lnTo>
                <a:lnTo>
                  <a:pt x="203582" y="1203960"/>
                </a:lnTo>
                <a:lnTo>
                  <a:pt x="223229" y="1205230"/>
                </a:lnTo>
                <a:lnTo>
                  <a:pt x="1671419" y="1205230"/>
                </a:lnTo>
                <a:lnTo>
                  <a:pt x="1707522" y="1197610"/>
                </a:lnTo>
                <a:lnTo>
                  <a:pt x="1710924" y="1196340"/>
                </a:lnTo>
                <a:lnTo>
                  <a:pt x="223229" y="1196340"/>
                </a:lnTo>
                <a:lnTo>
                  <a:pt x="204066" y="1195070"/>
                </a:lnTo>
                <a:lnTo>
                  <a:pt x="153917" y="1182370"/>
                </a:lnTo>
                <a:lnTo>
                  <a:pt x="110854" y="1155700"/>
                </a:lnTo>
                <a:lnTo>
                  <a:pt x="77219" y="1117600"/>
                </a:lnTo>
                <a:lnTo>
                  <a:pt x="55464" y="1071880"/>
                </a:lnTo>
                <a:lnTo>
                  <a:pt x="48050" y="1022350"/>
                </a:lnTo>
                <a:lnTo>
                  <a:pt x="48035" y="222250"/>
                </a:lnTo>
                <a:lnTo>
                  <a:pt x="48967" y="204470"/>
                </a:lnTo>
                <a:lnTo>
                  <a:pt x="62165" y="154939"/>
                </a:lnTo>
                <a:lnTo>
                  <a:pt x="88690" y="111760"/>
                </a:lnTo>
                <a:lnTo>
                  <a:pt x="126193" y="77470"/>
                </a:lnTo>
                <a:lnTo>
                  <a:pt x="172224" y="55880"/>
                </a:lnTo>
                <a:lnTo>
                  <a:pt x="224439" y="48260"/>
                </a:lnTo>
                <a:lnTo>
                  <a:pt x="1712275" y="48260"/>
                </a:lnTo>
                <a:lnTo>
                  <a:pt x="1708886" y="46989"/>
                </a:lnTo>
                <a:lnTo>
                  <a:pt x="1672865" y="39370"/>
                </a:lnTo>
                <a:close/>
              </a:path>
              <a:path w="1877059" h="1243329">
                <a:moveTo>
                  <a:pt x="1712275" y="48260"/>
                </a:moveTo>
                <a:lnTo>
                  <a:pt x="1653218" y="48260"/>
                </a:lnTo>
                <a:lnTo>
                  <a:pt x="1672381" y="49530"/>
                </a:lnTo>
                <a:lnTo>
                  <a:pt x="1689755" y="52070"/>
                </a:lnTo>
                <a:lnTo>
                  <a:pt x="1737781" y="69850"/>
                </a:lnTo>
                <a:lnTo>
                  <a:pt x="1777974" y="100330"/>
                </a:lnTo>
                <a:lnTo>
                  <a:pt x="1807917" y="140970"/>
                </a:lnTo>
                <a:lnTo>
                  <a:pt x="1825186" y="189230"/>
                </a:lnTo>
                <a:lnTo>
                  <a:pt x="1828412" y="1022350"/>
                </a:lnTo>
                <a:lnTo>
                  <a:pt x="1827480" y="1040130"/>
                </a:lnTo>
                <a:lnTo>
                  <a:pt x="1814282" y="1089660"/>
                </a:lnTo>
                <a:lnTo>
                  <a:pt x="1787757" y="1132840"/>
                </a:lnTo>
                <a:lnTo>
                  <a:pt x="1750254" y="1167130"/>
                </a:lnTo>
                <a:lnTo>
                  <a:pt x="1704223" y="1188720"/>
                </a:lnTo>
                <a:lnTo>
                  <a:pt x="1652008" y="1196340"/>
                </a:lnTo>
                <a:lnTo>
                  <a:pt x="1710924" y="1196340"/>
                </a:lnTo>
                <a:lnTo>
                  <a:pt x="1756003" y="1174750"/>
                </a:lnTo>
                <a:lnTo>
                  <a:pt x="1795444" y="1139190"/>
                </a:lnTo>
                <a:lnTo>
                  <a:pt x="1823297" y="1093470"/>
                </a:lnTo>
                <a:lnTo>
                  <a:pt x="1837068" y="1040130"/>
                </a:lnTo>
                <a:lnTo>
                  <a:pt x="1838011" y="1022350"/>
                </a:lnTo>
                <a:lnTo>
                  <a:pt x="1837979" y="222250"/>
                </a:lnTo>
                <a:lnTo>
                  <a:pt x="1829997" y="168910"/>
                </a:lnTo>
                <a:lnTo>
                  <a:pt x="1806915" y="120650"/>
                </a:lnTo>
                <a:lnTo>
                  <a:pt x="1771342" y="81280"/>
                </a:lnTo>
                <a:lnTo>
                  <a:pt x="1725829" y="53339"/>
                </a:lnTo>
                <a:lnTo>
                  <a:pt x="1712275" y="4826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19928" y="4953000"/>
            <a:ext cx="1642745" cy="1015365"/>
          </a:xfrm>
          <a:custGeom>
            <a:avLst/>
            <a:gdLst/>
            <a:ahLst/>
            <a:cxnLst/>
            <a:rect l="l" t="t" r="r" b="b"/>
            <a:pathLst>
              <a:path w="1642745" h="1015364">
                <a:moveTo>
                  <a:pt x="1473485" y="0"/>
                </a:moveTo>
                <a:lnTo>
                  <a:pt x="169185" y="0"/>
                </a:lnTo>
                <a:lnTo>
                  <a:pt x="124209" y="6043"/>
                </a:lnTo>
                <a:lnTo>
                  <a:pt x="83794" y="23098"/>
                </a:lnTo>
                <a:lnTo>
                  <a:pt x="49553" y="49553"/>
                </a:lnTo>
                <a:lnTo>
                  <a:pt x="23098" y="83794"/>
                </a:lnTo>
                <a:lnTo>
                  <a:pt x="6043" y="124209"/>
                </a:lnTo>
                <a:lnTo>
                  <a:pt x="0" y="169185"/>
                </a:lnTo>
                <a:lnTo>
                  <a:pt x="0" y="845909"/>
                </a:lnTo>
                <a:lnTo>
                  <a:pt x="6043" y="890886"/>
                </a:lnTo>
                <a:lnTo>
                  <a:pt x="23098" y="931301"/>
                </a:lnTo>
                <a:lnTo>
                  <a:pt x="49553" y="965542"/>
                </a:lnTo>
                <a:lnTo>
                  <a:pt x="83794" y="991997"/>
                </a:lnTo>
                <a:lnTo>
                  <a:pt x="124209" y="1009052"/>
                </a:lnTo>
                <a:lnTo>
                  <a:pt x="169185" y="1015095"/>
                </a:lnTo>
                <a:lnTo>
                  <a:pt x="1473485" y="1015095"/>
                </a:lnTo>
                <a:lnTo>
                  <a:pt x="1518462" y="1009052"/>
                </a:lnTo>
                <a:lnTo>
                  <a:pt x="1558877" y="991997"/>
                </a:lnTo>
                <a:lnTo>
                  <a:pt x="1593118" y="965542"/>
                </a:lnTo>
                <a:lnTo>
                  <a:pt x="1619572" y="931301"/>
                </a:lnTo>
                <a:lnTo>
                  <a:pt x="1636627" y="890886"/>
                </a:lnTo>
                <a:lnTo>
                  <a:pt x="1642671" y="845909"/>
                </a:lnTo>
                <a:lnTo>
                  <a:pt x="1642671" y="169185"/>
                </a:lnTo>
                <a:lnTo>
                  <a:pt x="1636627" y="124209"/>
                </a:lnTo>
                <a:lnTo>
                  <a:pt x="1619572" y="83794"/>
                </a:lnTo>
                <a:lnTo>
                  <a:pt x="1593118" y="49553"/>
                </a:lnTo>
                <a:lnTo>
                  <a:pt x="1558877" y="23098"/>
                </a:lnTo>
                <a:lnTo>
                  <a:pt x="1518462" y="6043"/>
                </a:lnTo>
                <a:lnTo>
                  <a:pt x="1473485" y="0"/>
                </a:lnTo>
                <a:close/>
              </a:path>
            </a:pathLst>
          </a:custGeom>
          <a:solidFill>
            <a:srgbClr val="00B050">
              <a:alpha val="3293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95958" y="4929105"/>
            <a:ext cx="1691005" cy="1062990"/>
          </a:xfrm>
          <a:custGeom>
            <a:avLst/>
            <a:gdLst/>
            <a:ahLst/>
            <a:cxnLst/>
            <a:rect l="l" t="t" r="r" b="b"/>
            <a:pathLst>
              <a:path w="1691004" h="1062989">
                <a:moveTo>
                  <a:pt x="1497455" y="0"/>
                </a:moveTo>
                <a:lnTo>
                  <a:pt x="191945" y="0"/>
                </a:lnTo>
                <a:lnTo>
                  <a:pt x="172236" y="1270"/>
                </a:lnTo>
                <a:lnTo>
                  <a:pt x="134595" y="10160"/>
                </a:lnTo>
                <a:lnTo>
                  <a:pt x="84189" y="34290"/>
                </a:lnTo>
                <a:lnTo>
                  <a:pt x="43383" y="71120"/>
                </a:lnTo>
                <a:lnTo>
                  <a:pt x="14726" y="119380"/>
                </a:lnTo>
                <a:lnTo>
                  <a:pt x="3681" y="156210"/>
                </a:lnTo>
                <a:lnTo>
                  <a:pt x="0" y="871220"/>
                </a:lnTo>
                <a:lnTo>
                  <a:pt x="1117" y="891540"/>
                </a:lnTo>
                <a:lnTo>
                  <a:pt x="15642" y="946150"/>
                </a:lnTo>
                <a:lnTo>
                  <a:pt x="44842" y="994410"/>
                </a:lnTo>
                <a:lnTo>
                  <a:pt x="86100" y="1031240"/>
                </a:lnTo>
                <a:lnTo>
                  <a:pt x="136867" y="1055370"/>
                </a:lnTo>
                <a:lnTo>
                  <a:pt x="174646" y="1062990"/>
                </a:lnTo>
                <a:lnTo>
                  <a:pt x="1518375" y="1062990"/>
                </a:lnTo>
                <a:lnTo>
                  <a:pt x="1556015" y="1054100"/>
                </a:lnTo>
                <a:lnTo>
                  <a:pt x="1598491" y="1035050"/>
                </a:lnTo>
                <a:lnTo>
                  <a:pt x="193155" y="1035050"/>
                </a:lnTo>
                <a:lnTo>
                  <a:pt x="176099" y="1033780"/>
                </a:lnTo>
                <a:lnTo>
                  <a:pt x="128950" y="1022350"/>
                </a:lnTo>
                <a:lnTo>
                  <a:pt x="88412" y="996950"/>
                </a:lnTo>
                <a:lnTo>
                  <a:pt x="56708" y="962660"/>
                </a:lnTo>
                <a:lnTo>
                  <a:pt x="36083" y="919480"/>
                </a:lnTo>
                <a:lnTo>
                  <a:pt x="28826" y="871220"/>
                </a:lnTo>
                <a:lnTo>
                  <a:pt x="28831" y="193040"/>
                </a:lnTo>
                <a:lnTo>
                  <a:pt x="36224" y="144780"/>
                </a:lnTo>
                <a:lnTo>
                  <a:pt x="56965" y="101600"/>
                </a:lnTo>
                <a:lnTo>
                  <a:pt x="88765" y="67310"/>
                </a:lnTo>
                <a:lnTo>
                  <a:pt x="129383" y="41910"/>
                </a:lnTo>
                <a:lnTo>
                  <a:pt x="176580" y="30480"/>
                </a:lnTo>
                <a:lnTo>
                  <a:pt x="193396" y="29210"/>
                </a:lnTo>
                <a:lnTo>
                  <a:pt x="1598512" y="29210"/>
                </a:lnTo>
                <a:lnTo>
                  <a:pt x="1588516" y="22860"/>
                </a:lnTo>
                <a:lnTo>
                  <a:pt x="1571558" y="15240"/>
                </a:lnTo>
                <a:lnTo>
                  <a:pt x="1553743" y="8890"/>
                </a:lnTo>
                <a:lnTo>
                  <a:pt x="1535173" y="3810"/>
                </a:lnTo>
                <a:lnTo>
                  <a:pt x="1515964" y="1270"/>
                </a:lnTo>
                <a:lnTo>
                  <a:pt x="1497455" y="0"/>
                </a:lnTo>
                <a:close/>
              </a:path>
              <a:path w="1691004" h="1062989">
                <a:moveTo>
                  <a:pt x="1598512" y="29210"/>
                </a:moveTo>
                <a:lnTo>
                  <a:pt x="1497455" y="29210"/>
                </a:lnTo>
                <a:lnTo>
                  <a:pt x="1514511" y="30480"/>
                </a:lnTo>
                <a:lnTo>
                  <a:pt x="1530828" y="33020"/>
                </a:lnTo>
                <a:lnTo>
                  <a:pt x="1576016" y="49530"/>
                </a:lnTo>
                <a:lnTo>
                  <a:pt x="1613860" y="77470"/>
                </a:lnTo>
                <a:lnTo>
                  <a:pt x="1642118" y="115570"/>
                </a:lnTo>
                <a:lnTo>
                  <a:pt x="1658555" y="161290"/>
                </a:lnTo>
                <a:lnTo>
                  <a:pt x="1661788" y="193040"/>
                </a:lnTo>
                <a:lnTo>
                  <a:pt x="1661780" y="871220"/>
                </a:lnTo>
                <a:lnTo>
                  <a:pt x="1654385" y="919480"/>
                </a:lnTo>
                <a:lnTo>
                  <a:pt x="1633644" y="962660"/>
                </a:lnTo>
                <a:lnTo>
                  <a:pt x="1601844" y="996950"/>
                </a:lnTo>
                <a:lnTo>
                  <a:pt x="1561227" y="1022350"/>
                </a:lnTo>
                <a:lnTo>
                  <a:pt x="1514029" y="1033780"/>
                </a:lnTo>
                <a:lnTo>
                  <a:pt x="1497213" y="1035050"/>
                </a:lnTo>
                <a:lnTo>
                  <a:pt x="1598491" y="1035050"/>
                </a:lnTo>
                <a:lnTo>
                  <a:pt x="1634848" y="1005840"/>
                </a:lnTo>
                <a:lnTo>
                  <a:pt x="1667844" y="961390"/>
                </a:lnTo>
                <a:lnTo>
                  <a:pt x="1686929" y="908050"/>
                </a:lnTo>
                <a:lnTo>
                  <a:pt x="1690611" y="193040"/>
                </a:lnTo>
                <a:lnTo>
                  <a:pt x="1689493" y="172720"/>
                </a:lnTo>
                <a:lnTo>
                  <a:pt x="1681572" y="134620"/>
                </a:lnTo>
                <a:lnTo>
                  <a:pt x="1656967" y="85090"/>
                </a:lnTo>
                <a:lnTo>
                  <a:pt x="1619445" y="44450"/>
                </a:lnTo>
                <a:lnTo>
                  <a:pt x="1604510" y="33020"/>
                </a:lnTo>
                <a:lnTo>
                  <a:pt x="1598512" y="29210"/>
                </a:lnTo>
                <a:close/>
              </a:path>
              <a:path w="1691004" h="1062989">
                <a:moveTo>
                  <a:pt x="1514027" y="39370"/>
                </a:moveTo>
                <a:lnTo>
                  <a:pt x="178029" y="39370"/>
                </a:lnTo>
                <a:lnTo>
                  <a:pt x="162643" y="41910"/>
                </a:lnTo>
                <a:lnTo>
                  <a:pt x="119988" y="57150"/>
                </a:lnTo>
                <a:lnTo>
                  <a:pt x="84179" y="83820"/>
                </a:lnTo>
                <a:lnTo>
                  <a:pt x="57362" y="119380"/>
                </a:lnTo>
                <a:lnTo>
                  <a:pt x="41642" y="161290"/>
                </a:lnTo>
                <a:lnTo>
                  <a:pt x="38411" y="871220"/>
                </a:lnTo>
                <a:lnTo>
                  <a:pt x="39077" y="885190"/>
                </a:lnTo>
                <a:lnTo>
                  <a:pt x="50238" y="929640"/>
                </a:lnTo>
                <a:lnTo>
                  <a:pt x="73259" y="967740"/>
                </a:lnTo>
                <a:lnTo>
                  <a:pt x="106038" y="998220"/>
                </a:lnTo>
                <a:lnTo>
                  <a:pt x="146431" y="1018540"/>
                </a:lnTo>
                <a:lnTo>
                  <a:pt x="176583" y="1024890"/>
                </a:lnTo>
                <a:lnTo>
                  <a:pt x="1512581" y="1024890"/>
                </a:lnTo>
                <a:lnTo>
                  <a:pt x="1527966" y="1022350"/>
                </a:lnTo>
                <a:lnTo>
                  <a:pt x="1542816" y="1018540"/>
                </a:lnTo>
                <a:lnTo>
                  <a:pt x="1549938" y="1016000"/>
                </a:lnTo>
                <a:lnTo>
                  <a:pt x="193155" y="1016000"/>
                </a:lnTo>
                <a:lnTo>
                  <a:pt x="177067" y="1014730"/>
                </a:lnTo>
                <a:lnTo>
                  <a:pt x="135549" y="1003300"/>
                </a:lnTo>
                <a:lnTo>
                  <a:pt x="99909" y="981710"/>
                </a:lnTo>
                <a:lnTo>
                  <a:pt x="72083" y="951230"/>
                </a:lnTo>
                <a:lnTo>
                  <a:pt x="54113" y="913130"/>
                </a:lnTo>
                <a:lnTo>
                  <a:pt x="48043" y="871220"/>
                </a:lnTo>
                <a:lnTo>
                  <a:pt x="48034" y="193040"/>
                </a:lnTo>
                <a:lnTo>
                  <a:pt x="48812" y="177800"/>
                </a:lnTo>
                <a:lnTo>
                  <a:pt x="59803" y="135890"/>
                </a:lnTo>
                <a:lnTo>
                  <a:pt x="81823" y="100330"/>
                </a:lnTo>
                <a:lnTo>
                  <a:pt x="112934" y="72390"/>
                </a:lnTo>
                <a:lnTo>
                  <a:pt x="151093" y="54610"/>
                </a:lnTo>
                <a:lnTo>
                  <a:pt x="194365" y="48260"/>
                </a:lnTo>
                <a:lnTo>
                  <a:pt x="1551270" y="48260"/>
                </a:lnTo>
                <a:lnTo>
                  <a:pt x="1544180" y="45720"/>
                </a:lnTo>
                <a:lnTo>
                  <a:pt x="1529379" y="41910"/>
                </a:lnTo>
                <a:lnTo>
                  <a:pt x="1514027" y="39370"/>
                </a:lnTo>
                <a:close/>
              </a:path>
              <a:path w="1691004" h="1062989">
                <a:moveTo>
                  <a:pt x="1551270" y="48260"/>
                </a:moveTo>
                <a:lnTo>
                  <a:pt x="1497455" y="48260"/>
                </a:lnTo>
                <a:lnTo>
                  <a:pt x="1513542" y="49530"/>
                </a:lnTo>
                <a:lnTo>
                  <a:pt x="1527931" y="52070"/>
                </a:lnTo>
                <a:lnTo>
                  <a:pt x="1567684" y="66040"/>
                </a:lnTo>
                <a:lnTo>
                  <a:pt x="1600945" y="91440"/>
                </a:lnTo>
                <a:lnTo>
                  <a:pt x="1625710" y="125730"/>
                </a:lnTo>
                <a:lnTo>
                  <a:pt x="1639959" y="165100"/>
                </a:lnTo>
                <a:lnTo>
                  <a:pt x="1642614" y="193040"/>
                </a:lnTo>
                <a:lnTo>
                  <a:pt x="1642576" y="871220"/>
                </a:lnTo>
                <a:lnTo>
                  <a:pt x="1635791" y="914400"/>
                </a:lnTo>
                <a:lnTo>
                  <a:pt x="1617235" y="952500"/>
                </a:lnTo>
                <a:lnTo>
                  <a:pt x="1588931" y="982980"/>
                </a:lnTo>
                <a:lnTo>
                  <a:pt x="1552895" y="1004570"/>
                </a:lnTo>
                <a:lnTo>
                  <a:pt x="1496245" y="1016000"/>
                </a:lnTo>
                <a:lnTo>
                  <a:pt x="1549938" y="1016000"/>
                </a:lnTo>
                <a:lnTo>
                  <a:pt x="1595387" y="990600"/>
                </a:lnTo>
                <a:lnTo>
                  <a:pt x="1625439" y="957580"/>
                </a:lnTo>
                <a:lnTo>
                  <a:pt x="1645088" y="916940"/>
                </a:lnTo>
                <a:lnTo>
                  <a:pt x="1652175" y="871220"/>
                </a:lnTo>
                <a:lnTo>
                  <a:pt x="1652199" y="193040"/>
                </a:lnTo>
                <a:lnTo>
                  <a:pt x="1651532" y="179070"/>
                </a:lnTo>
                <a:lnTo>
                  <a:pt x="1640372" y="134620"/>
                </a:lnTo>
                <a:lnTo>
                  <a:pt x="1617351" y="95250"/>
                </a:lnTo>
                <a:lnTo>
                  <a:pt x="1584572" y="66040"/>
                </a:lnTo>
                <a:lnTo>
                  <a:pt x="1558361" y="50800"/>
                </a:lnTo>
                <a:lnTo>
                  <a:pt x="1551270" y="4826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39670" y="2673656"/>
            <a:ext cx="1151890" cy="895350"/>
          </a:xfrm>
          <a:custGeom>
            <a:avLst/>
            <a:gdLst/>
            <a:ahLst/>
            <a:cxnLst/>
            <a:rect l="l" t="t" r="r" b="b"/>
            <a:pathLst>
              <a:path w="1151889" h="895350">
                <a:moveTo>
                  <a:pt x="1015200" y="822169"/>
                </a:moveTo>
                <a:lnTo>
                  <a:pt x="984143" y="862369"/>
                </a:lnTo>
                <a:lnTo>
                  <a:pt x="1151329" y="895244"/>
                </a:lnTo>
                <a:lnTo>
                  <a:pt x="1126035" y="842792"/>
                </a:lnTo>
                <a:lnTo>
                  <a:pt x="1054062" y="842792"/>
                </a:lnTo>
                <a:lnTo>
                  <a:pt x="1044345" y="842164"/>
                </a:lnTo>
                <a:lnTo>
                  <a:pt x="1035301" y="837699"/>
                </a:lnTo>
                <a:lnTo>
                  <a:pt x="1015200" y="822169"/>
                </a:lnTo>
                <a:close/>
              </a:path>
              <a:path w="1151889" h="895350">
                <a:moveTo>
                  <a:pt x="1046259" y="781969"/>
                </a:moveTo>
                <a:lnTo>
                  <a:pt x="1015200" y="822169"/>
                </a:lnTo>
                <a:lnTo>
                  <a:pt x="1035301" y="837699"/>
                </a:lnTo>
                <a:lnTo>
                  <a:pt x="1044345" y="842164"/>
                </a:lnTo>
                <a:lnTo>
                  <a:pt x="1054062" y="842792"/>
                </a:lnTo>
                <a:lnTo>
                  <a:pt x="1063306" y="839732"/>
                </a:lnTo>
                <a:lnTo>
                  <a:pt x="1070930" y="833128"/>
                </a:lnTo>
                <a:lnTo>
                  <a:pt x="1075395" y="824084"/>
                </a:lnTo>
                <a:lnTo>
                  <a:pt x="1076024" y="814367"/>
                </a:lnTo>
                <a:lnTo>
                  <a:pt x="1072963" y="805123"/>
                </a:lnTo>
                <a:lnTo>
                  <a:pt x="1066360" y="797498"/>
                </a:lnTo>
                <a:lnTo>
                  <a:pt x="1046259" y="781969"/>
                </a:lnTo>
                <a:close/>
              </a:path>
              <a:path w="1151889" h="895350">
                <a:moveTo>
                  <a:pt x="1077317" y="741769"/>
                </a:moveTo>
                <a:lnTo>
                  <a:pt x="1046259" y="781969"/>
                </a:lnTo>
                <a:lnTo>
                  <a:pt x="1066360" y="797498"/>
                </a:lnTo>
                <a:lnTo>
                  <a:pt x="1072963" y="805123"/>
                </a:lnTo>
                <a:lnTo>
                  <a:pt x="1076024" y="814367"/>
                </a:lnTo>
                <a:lnTo>
                  <a:pt x="1075395" y="824084"/>
                </a:lnTo>
                <a:lnTo>
                  <a:pt x="1070930" y="833128"/>
                </a:lnTo>
                <a:lnTo>
                  <a:pt x="1063306" y="839732"/>
                </a:lnTo>
                <a:lnTo>
                  <a:pt x="1054062" y="842792"/>
                </a:lnTo>
                <a:lnTo>
                  <a:pt x="1126035" y="842792"/>
                </a:lnTo>
                <a:lnTo>
                  <a:pt x="1077317" y="741769"/>
                </a:lnTo>
                <a:close/>
              </a:path>
              <a:path w="1151889" h="895350">
                <a:moveTo>
                  <a:pt x="21961" y="0"/>
                </a:moveTo>
                <a:lnTo>
                  <a:pt x="12717" y="3060"/>
                </a:lnTo>
                <a:lnTo>
                  <a:pt x="5093" y="9664"/>
                </a:lnTo>
                <a:lnTo>
                  <a:pt x="628" y="18708"/>
                </a:lnTo>
                <a:lnTo>
                  <a:pt x="0" y="28425"/>
                </a:lnTo>
                <a:lnTo>
                  <a:pt x="3060" y="37668"/>
                </a:lnTo>
                <a:lnTo>
                  <a:pt x="9664" y="45292"/>
                </a:lnTo>
                <a:lnTo>
                  <a:pt x="1015200" y="822169"/>
                </a:lnTo>
                <a:lnTo>
                  <a:pt x="1046259" y="781969"/>
                </a:lnTo>
                <a:lnTo>
                  <a:pt x="40722" y="5093"/>
                </a:lnTo>
                <a:lnTo>
                  <a:pt x="31678" y="628"/>
                </a:lnTo>
                <a:lnTo>
                  <a:pt x="21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39458" y="2673443"/>
            <a:ext cx="1009015" cy="2279650"/>
          </a:xfrm>
          <a:custGeom>
            <a:avLst/>
            <a:gdLst/>
            <a:ahLst/>
            <a:cxnLst/>
            <a:rect l="l" t="t" r="r" b="b"/>
            <a:pathLst>
              <a:path w="1009014" h="2279650">
                <a:moveTo>
                  <a:pt x="915388" y="2149723"/>
                </a:moveTo>
                <a:lnTo>
                  <a:pt x="868753" y="2169868"/>
                </a:lnTo>
                <a:lnTo>
                  <a:pt x="999141" y="2279556"/>
                </a:lnTo>
                <a:lnTo>
                  <a:pt x="1004242" y="2188371"/>
                </a:lnTo>
                <a:lnTo>
                  <a:pt x="948981" y="2188371"/>
                </a:lnTo>
                <a:lnTo>
                  <a:pt x="939411" y="2186576"/>
                </a:lnTo>
                <a:lnTo>
                  <a:pt x="931212" y="2181323"/>
                </a:lnTo>
                <a:lnTo>
                  <a:pt x="925459" y="2173038"/>
                </a:lnTo>
                <a:lnTo>
                  <a:pt x="915388" y="2149723"/>
                </a:lnTo>
                <a:close/>
              </a:path>
              <a:path w="1009014" h="2279650">
                <a:moveTo>
                  <a:pt x="962022" y="2129578"/>
                </a:moveTo>
                <a:lnTo>
                  <a:pt x="915388" y="2149723"/>
                </a:lnTo>
                <a:lnTo>
                  <a:pt x="925459" y="2173038"/>
                </a:lnTo>
                <a:lnTo>
                  <a:pt x="931212" y="2181323"/>
                </a:lnTo>
                <a:lnTo>
                  <a:pt x="939411" y="2186576"/>
                </a:lnTo>
                <a:lnTo>
                  <a:pt x="948981" y="2188371"/>
                </a:lnTo>
                <a:lnTo>
                  <a:pt x="958849" y="2186283"/>
                </a:lnTo>
                <a:lnTo>
                  <a:pt x="967134" y="2180530"/>
                </a:lnTo>
                <a:lnTo>
                  <a:pt x="972388" y="2172332"/>
                </a:lnTo>
                <a:lnTo>
                  <a:pt x="974183" y="2162761"/>
                </a:lnTo>
                <a:lnTo>
                  <a:pt x="972094" y="2152894"/>
                </a:lnTo>
                <a:lnTo>
                  <a:pt x="962022" y="2129578"/>
                </a:lnTo>
                <a:close/>
              </a:path>
              <a:path w="1009014" h="2279650">
                <a:moveTo>
                  <a:pt x="1008658" y="2109433"/>
                </a:moveTo>
                <a:lnTo>
                  <a:pt x="962022" y="2129578"/>
                </a:lnTo>
                <a:lnTo>
                  <a:pt x="972094" y="2152894"/>
                </a:lnTo>
                <a:lnTo>
                  <a:pt x="974183" y="2162761"/>
                </a:lnTo>
                <a:lnTo>
                  <a:pt x="972388" y="2172332"/>
                </a:lnTo>
                <a:lnTo>
                  <a:pt x="967134" y="2180530"/>
                </a:lnTo>
                <a:lnTo>
                  <a:pt x="958849" y="2186283"/>
                </a:lnTo>
                <a:lnTo>
                  <a:pt x="948981" y="2188371"/>
                </a:lnTo>
                <a:lnTo>
                  <a:pt x="1004242" y="2188371"/>
                </a:lnTo>
                <a:lnTo>
                  <a:pt x="1008658" y="2109433"/>
                </a:lnTo>
                <a:close/>
              </a:path>
              <a:path w="1009014" h="2279650">
                <a:moveTo>
                  <a:pt x="25201" y="0"/>
                </a:moveTo>
                <a:lnTo>
                  <a:pt x="15333" y="2088"/>
                </a:lnTo>
                <a:lnTo>
                  <a:pt x="7048" y="7841"/>
                </a:lnTo>
                <a:lnTo>
                  <a:pt x="1795" y="16040"/>
                </a:lnTo>
                <a:lnTo>
                  <a:pt x="0" y="25611"/>
                </a:lnTo>
                <a:lnTo>
                  <a:pt x="2088" y="35478"/>
                </a:lnTo>
                <a:lnTo>
                  <a:pt x="915388" y="2149723"/>
                </a:lnTo>
                <a:lnTo>
                  <a:pt x="962022" y="2129578"/>
                </a:lnTo>
                <a:lnTo>
                  <a:pt x="48723" y="15334"/>
                </a:lnTo>
                <a:lnTo>
                  <a:pt x="42970" y="7048"/>
                </a:lnTo>
                <a:lnTo>
                  <a:pt x="34771" y="1795"/>
                </a:lnTo>
                <a:lnTo>
                  <a:pt x="25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84020" y="1800860"/>
            <a:ext cx="2296160" cy="12814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400" spc="-5" b="1">
                <a:latin typeface="Arial"/>
                <a:cs typeface="Arial"/>
              </a:rPr>
              <a:t>Self-supervised</a:t>
            </a:r>
            <a:endParaRPr sz="2400">
              <a:latin typeface="Arial"/>
              <a:cs typeface="Arial"/>
            </a:endParaRPr>
          </a:p>
          <a:p>
            <a:pPr marL="12700" marR="205740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Arial"/>
                <a:cs typeface="Arial"/>
              </a:rPr>
              <a:t>(No need </a:t>
            </a:r>
            <a:r>
              <a:rPr dirty="0" sz="2400" spc="-5">
                <a:latin typeface="Arial"/>
                <a:cs typeface="Arial"/>
              </a:rPr>
              <a:t>for  external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labels)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23290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155815" cy="197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Mask </a:t>
            </a:r>
            <a:r>
              <a:rPr dirty="0" sz="3200">
                <a:latin typeface="Calibri"/>
                <a:cs typeface="Calibri"/>
              </a:rPr>
              <a:t>node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attributes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GNNs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25">
                <a:latin typeface="Calibri"/>
                <a:cs typeface="Calibri"/>
              </a:rPr>
              <a:t>generate </a:t>
            </a:r>
            <a:r>
              <a:rPr dirty="0" sz="3200">
                <a:latin typeface="Calibri"/>
                <a:cs typeface="Calibri"/>
              </a:rPr>
              <a:t>node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embeddings.</a:t>
            </a:r>
            <a:endParaRPr sz="3200">
              <a:latin typeface="Calibri"/>
              <a:cs typeface="Calibri"/>
            </a:endParaRPr>
          </a:p>
          <a:p>
            <a:pPr marL="332740" marR="371475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embeddings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predict </a:t>
            </a:r>
            <a:r>
              <a:rPr dirty="0" sz="3200" spc="-25">
                <a:latin typeface="Calibri"/>
                <a:cs typeface="Calibri"/>
              </a:rPr>
              <a:t>masked  </a:t>
            </a:r>
            <a:r>
              <a:rPr dirty="0" sz="3200" spc="-15">
                <a:latin typeface="Calibri"/>
                <a:cs typeface="Calibri"/>
              </a:rPr>
              <a:t>attributes.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8144" y="3881963"/>
            <a:ext cx="2285999" cy="22020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45089" y="3738654"/>
            <a:ext cx="2965310" cy="24886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879335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059930" cy="197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Intuition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Through </a:t>
            </a:r>
            <a:r>
              <a:rPr dirty="0" sz="3200" spc="-5">
                <a:latin typeface="Calibri"/>
                <a:cs typeface="Calibri"/>
              </a:rPr>
              <a:t>solving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masked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attribute</a:t>
            </a:r>
            <a:endParaRPr sz="3200">
              <a:latin typeface="Calibri"/>
              <a:cs typeface="Calibri"/>
            </a:endParaRPr>
          </a:p>
          <a:p>
            <a:pPr marL="332740" marR="5080">
              <a:lnSpc>
                <a:spcPts val="3790"/>
              </a:lnSpc>
              <a:spcBef>
                <a:spcPts val="240"/>
              </a:spcBef>
            </a:pPr>
            <a:r>
              <a:rPr dirty="0" sz="3200" spc="-10">
                <a:latin typeface="Calibri"/>
                <a:cs typeface="Calibri"/>
              </a:rPr>
              <a:t>prediction task,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GNN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25">
                <a:latin typeface="Calibri"/>
                <a:cs typeface="Calibri"/>
              </a:rPr>
              <a:t>forced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5">
                <a:latin typeface="Calibri"/>
                <a:cs typeface="Calibri"/>
              </a:rPr>
              <a:t>learn  domain </a:t>
            </a:r>
            <a:r>
              <a:rPr dirty="0" sz="3200" spc="-10">
                <a:latin typeface="Calibri"/>
                <a:cs typeface="Calibri"/>
              </a:rPr>
              <a:t>knowledge, </a:t>
            </a:r>
            <a:r>
              <a:rPr dirty="0" sz="3200">
                <a:latin typeface="Calibri"/>
                <a:cs typeface="Calibri"/>
              </a:rPr>
              <a:t>.e.g., </a:t>
            </a:r>
            <a:r>
              <a:rPr dirty="0" sz="3200" spc="-5">
                <a:latin typeface="Calibri"/>
                <a:cs typeface="Calibri"/>
              </a:rPr>
              <a:t>chemical</a:t>
            </a:r>
            <a:r>
              <a:rPr dirty="0" sz="3200" spc="6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45089" y="3602339"/>
            <a:ext cx="3290154" cy="27612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08144" y="3881963"/>
            <a:ext cx="2285999" cy="22020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14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7920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66586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0">
                <a:latin typeface="Calibri"/>
                <a:cs typeface="Calibri"/>
              </a:rPr>
              <a:t>For </a:t>
            </a:r>
            <a:r>
              <a:rPr dirty="0" sz="3000" spc="-5" b="0">
                <a:latin typeface="Calibri"/>
                <a:cs typeface="Calibri"/>
              </a:rPr>
              <a:t>each </a:t>
            </a:r>
            <a:r>
              <a:rPr dirty="0" sz="3000" spc="-15" b="0">
                <a:latin typeface="Calibri"/>
                <a:cs typeface="Calibri"/>
              </a:rPr>
              <a:t>graph, </a:t>
            </a:r>
            <a:r>
              <a:rPr dirty="0" sz="3000" spc="-5" b="0">
                <a:latin typeface="Calibri"/>
                <a:cs typeface="Calibri"/>
              </a:rPr>
              <a:t>sample one </a:t>
            </a:r>
            <a:r>
              <a:rPr dirty="0" sz="3000" spc="-20" b="0">
                <a:latin typeface="Calibri"/>
                <a:cs typeface="Calibri"/>
              </a:rPr>
              <a:t>center</a:t>
            </a:r>
            <a:r>
              <a:rPr dirty="0" sz="3000" spc="-10" b="0">
                <a:latin typeface="Calibri"/>
                <a:cs typeface="Calibri"/>
              </a:rPr>
              <a:t> </a:t>
            </a:r>
            <a:r>
              <a:rPr dirty="0" sz="3000" spc="-5" b="0">
                <a:latin typeface="Calibri"/>
                <a:cs typeface="Calibri"/>
              </a:rPr>
              <a:t>node.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06955"/>
            <a:ext cx="7715884" cy="2341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Extract </a:t>
            </a:r>
            <a:r>
              <a:rPr dirty="0" sz="3000" spc="-5">
                <a:latin typeface="Calibri"/>
                <a:cs typeface="Calibri"/>
              </a:rPr>
              <a:t>neighborhood and </a:t>
            </a:r>
            <a:r>
              <a:rPr dirty="0" sz="3000" spc="-25">
                <a:latin typeface="Calibri"/>
                <a:cs typeface="Calibri"/>
              </a:rPr>
              <a:t>context</a:t>
            </a:r>
            <a:r>
              <a:rPr dirty="0" sz="3000" spc="-10">
                <a:latin typeface="Calibri"/>
                <a:cs typeface="Calibri"/>
              </a:rPr>
              <a:t> graphs.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libri"/>
                <a:cs typeface="Calibri"/>
              </a:rPr>
              <a:t>Use </a:t>
            </a:r>
            <a:r>
              <a:rPr dirty="0" sz="3000" spc="-5">
                <a:latin typeface="Calibri"/>
                <a:cs typeface="Calibri"/>
              </a:rPr>
              <a:t>GNNs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0">
                <a:latin typeface="Calibri"/>
                <a:cs typeface="Calibri"/>
              </a:rPr>
              <a:t>encode </a:t>
            </a:r>
            <a:r>
              <a:rPr dirty="0" sz="3000" spc="-5">
                <a:latin typeface="Calibri"/>
                <a:cs typeface="Calibri"/>
              </a:rPr>
              <a:t>neighborhood and </a:t>
            </a:r>
            <a:r>
              <a:rPr dirty="0" sz="3000" spc="-25">
                <a:latin typeface="Calibri"/>
                <a:cs typeface="Calibri"/>
              </a:rPr>
              <a:t>context  </a:t>
            </a:r>
            <a:r>
              <a:rPr dirty="0" sz="3000" spc="-15">
                <a:latin typeface="Calibri"/>
                <a:cs typeface="Calibri"/>
              </a:rPr>
              <a:t>graphs </a:t>
            </a:r>
            <a:r>
              <a:rPr dirty="0" sz="3000" spc="-20">
                <a:latin typeface="Calibri"/>
                <a:cs typeface="Calibri"/>
              </a:rPr>
              <a:t>into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vectors.</a:t>
            </a:r>
            <a:endParaRPr sz="3000">
              <a:latin typeface="Calibri"/>
              <a:cs typeface="Calibri"/>
            </a:endParaRPr>
          </a:p>
          <a:p>
            <a:pPr marL="332740" marR="99695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>
                <a:latin typeface="Calibri"/>
                <a:cs typeface="Calibri"/>
              </a:rPr>
              <a:t>Maximize/minimize </a:t>
            </a:r>
            <a:r>
              <a:rPr dirty="0" sz="3000" spc="-5">
                <a:latin typeface="Calibri"/>
                <a:cs typeface="Calibri"/>
              </a:rPr>
              <a:t>the inner </a:t>
            </a:r>
            <a:r>
              <a:rPr dirty="0" sz="3000" spc="-15">
                <a:latin typeface="Calibri"/>
                <a:cs typeface="Calibri"/>
              </a:rPr>
              <a:t>product between  </a:t>
            </a:r>
            <a:r>
              <a:rPr dirty="0" sz="3000" spc="-10">
                <a:latin typeface="Calibri"/>
                <a:cs typeface="Calibri"/>
              </a:rPr>
              <a:t>true/false </a:t>
            </a:r>
            <a:r>
              <a:rPr dirty="0" sz="3000" spc="-5">
                <a:latin typeface="Calibri"/>
                <a:cs typeface="Calibri"/>
              </a:rPr>
              <a:t>(neighborhood, </a:t>
            </a:r>
            <a:r>
              <a:rPr dirty="0" sz="3000" spc="-25">
                <a:latin typeface="Calibri"/>
                <a:cs typeface="Calibri"/>
              </a:rPr>
              <a:t>context)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pairs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935" y="4497978"/>
            <a:ext cx="5239760" cy="20552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97056" y="4418868"/>
            <a:ext cx="2133599" cy="20552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022592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41490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D60093"/>
                </a:solidFill>
              </a:rPr>
              <a:t>Intuition</a:t>
            </a:r>
          </a:p>
          <a:p>
            <a:pPr marL="12700" marR="5080">
              <a:lnSpc>
                <a:spcPts val="3910"/>
              </a:lnSpc>
              <a:spcBef>
                <a:spcPts val="45"/>
              </a:spcBef>
            </a:pPr>
            <a:r>
              <a:rPr dirty="0" spc="-10" b="0">
                <a:latin typeface="Calibri"/>
                <a:cs typeface="Calibri"/>
              </a:rPr>
              <a:t>Subgraphs that </a:t>
            </a:r>
            <a:r>
              <a:rPr dirty="0" spc="-20" b="0">
                <a:latin typeface="Calibri"/>
                <a:cs typeface="Calibri"/>
              </a:rPr>
              <a:t>are </a:t>
            </a:r>
            <a:r>
              <a:rPr dirty="0" spc="-10" b="0">
                <a:latin typeface="Calibri"/>
                <a:cs typeface="Calibri"/>
              </a:rPr>
              <a:t>surrounded </a:t>
            </a:r>
            <a:r>
              <a:rPr dirty="0" spc="-5" b="0">
                <a:latin typeface="Calibri"/>
                <a:cs typeface="Calibri"/>
              </a:rPr>
              <a:t>by similar  </a:t>
            </a:r>
            <a:r>
              <a:rPr dirty="0" spc="-20" b="0">
                <a:latin typeface="Calibri"/>
                <a:cs typeface="Calibri"/>
              </a:rPr>
              <a:t>contexts </a:t>
            </a:r>
            <a:r>
              <a:rPr dirty="0" spc="-15" b="0">
                <a:latin typeface="Calibri"/>
                <a:cs typeface="Calibri"/>
              </a:rPr>
              <a:t>are </a:t>
            </a:r>
            <a:r>
              <a:rPr dirty="0" spc="-10" b="0">
                <a:latin typeface="Calibri"/>
                <a:cs typeface="Calibri"/>
              </a:rPr>
              <a:t>semantically</a:t>
            </a:r>
            <a:r>
              <a:rPr dirty="0" spc="60" b="0">
                <a:latin typeface="Calibri"/>
                <a:cs typeface="Calibri"/>
              </a:rPr>
              <a:t> </a:t>
            </a:r>
            <a:r>
              <a:rPr dirty="0" spc="-45" b="0">
                <a:latin typeface="Calibri"/>
                <a:cs typeface="Calibri"/>
              </a:rPr>
              <a:t>similar.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899155"/>
            <a:ext cx="7406005" cy="1303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7020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B050"/>
                </a:solidFill>
                <a:latin typeface="Calibri"/>
                <a:cs typeface="Calibri"/>
              </a:rPr>
              <a:t>In </a:t>
            </a:r>
            <a:r>
              <a:rPr dirty="0" sz="2800" spc="-15" b="1">
                <a:solidFill>
                  <a:srgbClr val="00B050"/>
                </a:solidFill>
                <a:latin typeface="Calibri"/>
                <a:cs typeface="Calibri"/>
              </a:rPr>
              <a:t>natural </a:t>
            </a:r>
            <a:r>
              <a:rPr dirty="0" sz="2800" spc="-10" b="1">
                <a:solidFill>
                  <a:srgbClr val="00B050"/>
                </a:solidFill>
                <a:latin typeface="Calibri"/>
                <a:cs typeface="Calibri"/>
              </a:rPr>
              <a:t>language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processing, this </a:t>
            </a:r>
            <a:r>
              <a:rPr dirty="0" sz="2800" b="1">
                <a:solidFill>
                  <a:srgbClr val="00B050"/>
                </a:solidFill>
                <a:latin typeface="Calibri"/>
                <a:cs typeface="Calibri"/>
              </a:rPr>
              <a:t>is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called  distributional </a:t>
            </a:r>
            <a:r>
              <a:rPr dirty="0" sz="2800" spc="-10" b="1">
                <a:solidFill>
                  <a:srgbClr val="00B050"/>
                </a:solidFill>
                <a:latin typeface="Calibri"/>
                <a:cs typeface="Calibri"/>
              </a:rPr>
              <a:t>hypothesis,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and </a:t>
            </a:r>
            <a:r>
              <a:rPr dirty="0" sz="2800" b="1">
                <a:solidFill>
                  <a:srgbClr val="00B050"/>
                </a:solidFill>
                <a:latin typeface="Calibri"/>
                <a:cs typeface="Calibri"/>
              </a:rPr>
              <a:t>is </a:t>
            </a:r>
            <a:r>
              <a:rPr dirty="0" sz="2800" spc="-15" b="1">
                <a:solidFill>
                  <a:srgbClr val="00B050"/>
                </a:solidFill>
                <a:latin typeface="Calibri"/>
                <a:cs typeface="Calibri"/>
              </a:rPr>
              <a:t>exploited </a:t>
            </a:r>
            <a:r>
              <a:rPr dirty="0" sz="2800" b="1">
                <a:solidFill>
                  <a:srgbClr val="00B050"/>
                </a:solidFill>
                <a:latin typeface="Calibri"/>
                <a:cs typeface="Calibri"/>
              </a:rPr>
              <a:t>in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the  </a:t>
            </a:r>
            <a:r>
              <a:rPr dirty="0" sz="2800" spc="-15" b="1">
                <a:solidFill>
                  <a:srgbClr val="00B050"/>
                </a:solidFill>
                <a:latin typeface="Calibri"/>
                <a:cs typeface="Calibri"/>
              </a:rPr>
              <a:t>word2vec </a:t>
            </a:r>
            <a:r>
              <a:rPr dirty="0" sz="2800" spc="-5" b="1">
                <a:solidFill>
                  <a:srgbClr val="00B050"/>
                </a:solidFill>
                <a:latin typeface="Calibri"/>
                <a:cs typeface="Calibri"/>
              </a:rPr>
              <a:t>model </a:t>
            </a:r>
            <a:r>
              <a:rPr dirty="0" sz="1400" spc="-10" b="1">
                <a:solidFill>
                  <a:srgbClr val="00B050"/>
                </a:solidFill>
                <a:latin typeface="Calibri"/>
                <a:cs typeface="Calibri"/>
              </a:rPr>
              <a:t>[Mikolov et </a:t>
            </a:r>
            <a:r>
              <a:rPr dirty="0" sz="1400" spc="-5" b="1">
                <a:solidFill>
                  <a:srgbClr val="00B050"/>
                </a:solidFill>
                <a:latin typeface="Calibri"/>
                <a:cs typeface="Calibri"/>
              </a:rPr>
              <a:t>al. </a:t>
            </a:r>
            <a:r>
              <a:rPr dirty="0" sz="1400" b="1">
                <a:solidFill>
                  <a:srgbClr val="00B050"/>
                </a:solidFill>
                <a:latin typeface="Calibri"/>
                <a:cs typeface="Calibri"/>
              </a:rPr>
              <a:t>NIPS</a:t>
            </a:r>
            <a:r>
              <a:rPr dirty="0" sz="1400" spc="50" b="1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00B050"/>
                </a:solidFill>
                <a:latin typeface="Calibri"/>
                <a:cs typeface="Calibri"/>
              </a:rPr>
              <a:t>2013].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99202" y="4587241"/>
            <a:ext cx="5239760" cy="20552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7768" y="4534989"/>
            <a:ext cx="2133600" cy="20552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023" y="347472"/>
            <a:ext cx="7720583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4585186"/>
            <a:ext cx="5096" cy="6378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96" y="4587733"/>
            <a:ext cx="1898222" cy="432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4587734"/>
            <a:ext cx="1903318" cy="1065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5220474"/>
            <a:ext cx="1758995" cy="4329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58995" y="5020702"/>
            <a:ext cx="144322" cy="6327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30026" y="5189820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93332" y="5224968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5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10845" y="5517320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965149" y="5248292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65150" y="4906026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80442" y="5241800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5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80442" y="4899079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82819" y="4862323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90635" y="4817291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4" y="88734"/>
                </a:lnTo>
                <a:lnTo>
                  <a:pt x="88562" y="72211"/>
                </a:lnTo>
                <a:lnTo>
                  <a:pt x="92184" y="51978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90635" y="4817290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401758" y="481034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7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3" y="103959"/>
                </a:lnTo>
                <a:lnTo>
                  <a:pt x="64034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7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01758" y="4810345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37841" y="513784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37841" y="5137841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86464" y="515955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86464" y="5159557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18661" y="546534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4" y="88734"/>
                </a:lnTo>
                <a:lnTo>
                  <a:pt x="88562" y="72211"/>
                </a:lnTo>
                <a:lnTo>
                  <a:pt x="92184" y="51978"/>
                </a:lnTo>
                <a:lnTo>
                  <a:pt x="88562" y="31746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118661" y="546534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01758" y="546534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01758" y="546534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103959"/>
                </a:moveTo>
                <a:lnTo>
                  <a:pt x="28151" y="99874"/>
                </a:lnTo>
                <a:lnTo>
                  <a:pt x="13500" y="88734"/>
                </a:lnTo>
                <a:lnTo>
                  <a:pt x="3622" y="72212"/>
                </a:lnTo>
                <a:lnTo>
                  <a:pt x="0" y="51979"/>
                </a:lnTo>
                <a:lnTo>
                  <a:pt x="3622" y="31746"/>
                </a:lnTo>
                <a:lnTo>
                  <a:pt x="13500" y="15224"/>
                </a:lnTo>
                <a:lnTo>
                  <a:pt x="28151" y="4084"/>
                </a:lnTo>
                <a:lnTo>
                  <a:pt x="46092" y="0"/>
                </a:lnTo>
                <a:lnTo>
                  <a:pt x="64033" y="4084"/>
                </a:lnTo>
                <a:lnTo>
                  <a:pt x="78684" y="15224"/>
                </a:lnTo>
                <a:lnTo>
                  <a:pt x="88562" y="31746"/>
                </a:lnTo>
                <a:lnTo>
                  <a:pt x="92185" y="51979"/>
                </a:lnTo>
                <a:lnTo>
                  <a:pt x="88562" y="72212"/>
                </a:lnTo>
                <a:lnTo>
                  <a:pt x="78684" y="88734"/>
                </a:lnTo>
                <a:lnTo>
                  <a:pt x="64033" y="99874"/>
                </a:lnTo>
                <a:lnTo>
                  <a:pt x="46092" y="103959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76253" y="5469887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8"/>
                </a:lnTo>
                <a:lnTo>
                  <a:pt x="3787" y="30358"/>
                </a:lnTo>
                <a:lnTo>
                  <a:pt x="0" y="49706"/>
                </a:lnTo>
                <a:lnTo>
                  <a:pt x="3787" y="69055"/>
                </a:lnTo>
                <a:lnTo>
                  <a:pt x="14117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6"/>
                </a:lnTo>
                <a:lnTo>
                  <a:pt x="92610" y="30358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76253" y="5469887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11049" y="5140114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8"/>
                </a:lnTo>
                <a:lnTo>
                  <a:pt x="3787" y="30358"/>
                </a:lnTo>
                <a:lnTo>
                  <a:pt x="0" y="49707"/>
                </a:lnTo>
                <a:lnTo>
                  <a:pt x="3787" y="69055"/>
                </a:lnTo>
                <a:lnTo>
                  <a:pt x="14117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8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11049" y="5140114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0" y="49707"/>
                </a:moveTo>
                <a:lnTo>
                  <a:pt x="3787" y="30359"/>
                </a:lnTo>
                <a:lnTo>
                  <a:pt x="14117" y="14558"/>
                </a:lnTo>
                <a:lnTo>
                  <a:pt x="29437" y="3906"/>
                </a:lnTo>
                <a:lnTo>
                  <a:pt x="48199" y="0"/>
                </a:lnTo>
                <a:lnTo>
                  <a:pt x="66960" y="3906"/>
                </a:lnTo>
                <a:lnTo>
                  <a:pt x="82280" y="14558"/>
                </a:lnTo>
                <a:lnTo>
                  <a:pt x="92610" y="30359"/>
                </a:lnTo>
                <a:lnTo>
                  <a:pt x="96398" y="49707"/>
                </a:lnTo>
                <a:lnTo>
                  <a:pt x="92610" y="69055"/>
                </a:lnTo>
                <a:lnTo>
                  <a:pt x="82280" y="84856"/>
                </a:lnTo>
                <a:lnTo>
                  <a:pt x="66960" y="95508"/>
                </a:lnTo>
                <a:lnTo>
                  <a:pt x="48199" y="99415"/>
                </a:lnTo>
                <a:lnTo>
                  <a:pt x="29437" y="95508"/>
                </a:lnTo>
                <a:lnTo>
                  <a:pt x="14117" y="84856"/>
                </a:lnTo>
                <a:lnTo>
                  <a:pt x="3787" y="69055"/>
                </a:lnTo>
                <a:lnTo>
                  <a:pt x="0" y="49707"/>
                </a:lnTo>
                <a:close/>
              </a:path>
            </a:pathLst>
          </a:custGeom>
          <a:ln w="38100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91100" y="4583850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63539" y="4583850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452882" y="457869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25321" y="457869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788155" y="5141560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60595" y="5141560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64752" y="5644830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37192" y="5644830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4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47850" y="5635209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420290" y="5635209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57586" y="492041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730026" y="4920415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56086" y="4939700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128526" y="4939700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400212" y="5269340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372652" y="5269340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446883" y="4956610"/>
            <a:ext cx="146685" cy="227329"/>
          </a:xfrm>
          <a:custGeom>
            <a:avLst/>
            <a:gdLst/>
            <a:ahLst/>
            <a:cxnLst/>
            <a:rect l="l" t="t" r="r" b="b"/>
            <a:pathLst>
              <a:path w="146685" h="227329">
                <a:moveTo>
                  <a:pt x="89266" y="161433"/>
                </a:moveTo>
                <a:lnTo>
                  <a:pt x="64964" y="176463"/>
                </a:lnTo>
                <a:lnTo>
                  <a:pt x="146509" y="226824"/>
                </a:lnTo>
                <a:lnTo>
                  <a:pt x="142486" y="182370"/>
                </a:lnTo>
                <a:lnTo>
                  <a:pt x="109736" y="182370"/>
                </a:lnTo>
                <a:lnTo>
                  <a:pt x="100931" y="180294"/>
                </a:lnTo>
                <a:lnTo>
                  <a:pt x="89266" y="161433"/>
                </a:lnTo>
                <a:close/>
              </a:path>
              <a:path w="146685" h="227329">
                <a:moveTo>
                  <a:pt x="113568" y="146402"/>
                </a:moveTo>
                <a:lnTo>
                  <a:pt x="89266" y="161433"/>
                </a:lnTo>
                <a:lnTo>
                  <a:pt x="100931" y="180294"/>
                </a:lnTo>
                <a:lnTo>
                  <a:pt x="109736" y="182370"/>
                </a:lnTo>
                <a:lnTo>
                  <a:pt x="123159" y="174068"/>
                </a:lnTo>
                <a:lnTo>
                  <a:pt x="125234" y="165263"/>
                </a:lnTo>
                <a:lnTo>
                  <a:pt x="113568" y="146402"/>
                </a:lnTo>
                <a:close/>
              </a:path>
              <a:path w="146685" h="227329">
                <a:moveTo>
                  <a:pt x="137871" y="131371"/>
                </a:moveTo>
                <a:lnTo>
                  <a:pt x="113568" y="146402"/>
                </a:lnTo>
                <a:lnTo>
                  <a:pt x="125234" y="165263"/>
                </a:lnTo>
                <a:lnTo>
                  <a:pt x="123159" y="174068"/>
                </a:lnTo>
                <a:lnTo>
                  <a:pt x="109736" y="182370"/>
                </a:lnTo>
                <a:lnTo>
                  <a:pt x="142486" y="182370"/>
                </a:lnTo>
                <a:lnTo>
                  <a:pt x="137871" y="131371"/>
                </a:lnTo>
                <a:close/>
              </a:path>
              <a:path w="146685" h="227329">
                <a:moveTo>
                  <a:pt x="15497" y="0"/>
                </a:moveTo>
                <a:lnTo>
                  <a:pt x="2075" y="8301"/>
                </a:lnTo>
                <a:lnTo>
                  <a:pt x="0" y="17106"/>
                </a:lnTo>
                <a:lnTo>
                  <a:pt x="89266" y="161433"/>
                </a:lnTo>
                <a:lnTo>
                  <a:pt x="113568" y="146402"/>
                </a:lnTo>
                <a:lnTo>
                  <a:pt x="24302" y="2075"/>
                </a:lnTo>
                <a:lnTo>
                  <a:pt x="15497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443008" y="5222195"/>
            <a:ext cx="186690" cy="221615"/>
          </a:xfrm>
          <a:custGeom>
            <a:avLst/>
            <a:gdLst/>
            <a:ahLst/>
            <a:cxnLst/>
            <a:rect l="l" t="t" r="r" b="b"/>
            <a:pathLst>
              <a:path w="186689" h="221614">
                <a:moveTo>
                  <a:pt x="120616" y="56894"/>
                </a:moveTo>
                <a:lnTo>
                  <a:pt x="0" y="202468"/>
                </a:lnTo>
                <a:lnTo>
                  <a:pt x="844" y="211475"/>
                </a:lnTo>
                <a:lnTo>
                  <a:pt x="12995" y="221545"/>
                </a:lnTo>
                <a:lnTo>
                  <a:pt x="22002" y="220700"/>
                </a:lnTo>
                <a:lnTo>
                  <a:pt x="142620" y="75126"/>
                </a:lnTo>
                <a:lnTo>
                  <a:pt x="120616" y="56894"/>
                </a:lnTo>
                <a:close/>
              </a:path>
              <a:path w="186689" h="221614">
                <a:moveTo>
                  <a:pt x="177257" y="38972"/>
                </a:moveTo>
                <a:lnTo>
                  <a:pt x="143772" y="38972"/>
                </a:lnTo>
                <a:lnTo>
                  <a:pt x="155925" y="49042"/>
                </a:lnTo>
                <a:lnTo>
                  <a:pt x="156770" y="58049"/>
                </a:lnTo>
                <a:lnTo>
                  <a:pt x="142620" y="75126"/>
                </a:lnTo>
                <a:lnTo>
                  <a:pt x="164623" y="93357"/>
                </a:lnTo>
                <a:lnTo>
                  <a:pt x="177257" y="38972"/>
                </a:lnTo>
                <a:close/>
              </a:path>
              <a:path w="186689" h="221614">
                <a:moveTo>
                  <a:pt x="143772" y="38972"/>
                </a:moveTo>
                <a:lnTo>
                  <a:pt x="134766" y="39817"/>
                </a:lnTo>
                <a:lnTo>
                  <a:pt x="120616" y="56894"/>
                </a:lnTo>
                <a:lnTo>
                  <a:pt x="142620" y="75126"/>
                </a:lnTo>
                <a:lnTo>
                  <a:pt x="156770" y="58049"/>
                </a:lnTo>
                <a:lnTo>
                  <a:pt x="155925" y="49042"/>
                </a:lnTo>
                <a:lnTo>
                  <a:pt x="143772" y="38972"/>
                </a:lnTo>
                <a:close/>
              </a:path>
              <a:path w="186689" h="221614">
                <a:moveTo>
                  <a:pt x="186311" y="0"/>
                </a:moveTo>
                <a:lnTo>
                  <a:pt x="98612" y="38663"/>
                </a:lnTo>
                <a:lnTo>
                  <a:pt x="120616" y="56894"/>
                </a:lnTo>
                <a:lnTo>
                  <a:pt x="134766" y="39817"/>
                </a:lnTo>
                <a:lnTo>
                  <a:pt x="143772" y="38972"/>
                </a:lnTo>
                <a:lnTo>
                  <a:pt x="177257" y="38972"/>
                </a:lnTo>
                <a:lnTo>
                  <a:pt x="1863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720756" y="5215147"/>
            <a:ext cx="292100" cy="85725"/>
          </a:xfrm>
          <a:custGeom>
            <a:avLst/>
            <a:gdLst/>
            <a:ahLst/>
            <a:cxnLst/>
            <a:rect l="l" t="t" r="r" b="b"/>
            <a:pathLst>
              <a:path w="292100" h="85725">
                <a:moveTo>
                  <a:pt x="85725" y="0"/>
                </a:moveTo>
                <a:lnTo>
                  <a:pt x="0" y="42862"/>
                </a:lnTo>
                <a:lnTo>
                  <a:pt x="85725" y="85724"/>
                </a:lnTo>
                <a:lnTo>
                  <a:pt x="85725" y="57149"/>
                </a:lnTo>
                <a:lnTo>
                  <a:pt x="63546" y="57149"/>
                </a:lnTo>
                <a:lnTo>
                  <a:pt x="57150" y="50753"/>
                </a:lnTo>
                <a:lnTo>
                  <a:pt x="57151" y="34970"/>
                </a:lnTo>
                <a:lnTo>
                  <a:pt x="63546" y="28574"/>
                </a:lnTo>
                <a:lnTo>
                  <a:pt x="85725" y="28574"/>
                </a:lnTo>
                <a:lnTo>
                  <a:pt x="85725" y="0"/>
                </a:lnTo>
                <a:close/>
              </a:path>
              <a:path w="292100" h="85725">
                <a:moveTo>
                  <a:pt x="85725" y="28574"/>
                </a:moveTo>
                <a:lnTo>
                  <a:pt x="63546" y="28574"/>
                </a:lnTo>
                <a:lnTo>
                  <a:pt x="57151" y="34970"/>
                </a:lnTo>
                <a:lnTo>
                  <a:pt x="57150" y="50753"/>
                </a:lnTo>
                <a:lnTo>
                  <a:pt x="63546" y="57149"/>
                </a:lnTo>
                <a:lnTo>
                  <a:pt x="85725" y="57149"/>
                </a:lnTo>
                <a:lnTo>
                  <a:pt x="85725" y="28574"/>
                </a:lnTo>
                <a:close/>
              </a:path>
              <a:path w="292100" h="85725">
                <a:moveTo>
                  <a:pt x="285419" y="28574"/>
                </a:moveTo>
                <a:lnTo>
                  <a:pt x="85725" y="28574"/>
                </a:lnTo>
                <a:lnTo>
                  <a:pt x="85725" y="57149"/>
                </a:lnTo>
                <a:lnTo>
                  <a:pt x="285419" y="57149"/>
                </a:lnTo>
                <a:lnTo>
                  <a:pt x="291816" y="50753"/>
                </a:lnTo>
                <a:lnTo>
                  <a:pt x="291816" y="34970"/>
                </a:lnTo>
                <a:lnTo>
                  <a:pt x="285419" y="2857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782911" y="5152891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 h="0">
                <a:moveTo>
                  <a:pt x="0" y="0"/>
                </a:moveTo>
                <a:lnTo>
                  <a:pt x="281023" y="1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46214" y="5188039"/>
            <a:ext cx="197485" cy="259715"/>
          </a:xfrm>
          <a:custGeom>
            <a:avLst/>
            <a:gdLst/>
            <a:ahLst/>
            <a:cxnLst/>
            <a:rect l="l" t="t" r="r" b="b"/>
            <a:pathLst>
              <a:path w="197484" h="259714">
                <a:moveTo>
                  <a:pt x="197039" y="259478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263728" y="5480393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190913" y="1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018034" y="5211363"/>
            <a:ext cx="167640" cy="232410"/>
          </a:xfrm>
          <a:custGeom>
            <a:avLst/>
            <a:gdLst/>
            <a:ahLst/>
            <a:cxnLst/>
            <a:rect l="l" t="t" r="r" b="b"/>
            <a:pathLst>
              <a:path w="167639" h="232410">
                <a:moveTo>
                  <a:pt x="167013" y="232274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18033" y="4869097"/>
            <a:ext cx="139065" cy="269240"/>
          </a:xfrm>
          <a:custGeom>
            <a:avLst/>
            <a:gdLst/>
            <a:ahLst/>
            <a:cxnLst/>
            <a:rect l="l" t="t" r="r" b="b"/>
            <a:pathLst>
              <a:path w="139064" h="269239">
                <a:moveTo>
                  <a:pt x="0" y="268756"/>
                </a:moveTo>
                <a:lnTo>
                  <a:pt x="138986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33326" y="5204871"/>
            <a:ext cx="203835" cy="239395"/>
          </a:xfrm>
          <a:custGeom>
            <a:avLst/>
            <a:gdLst/>
            <a:ahLst/>
            <a:cxnLst/>
            <a:rect l="l" t="t" r="r" b="b"/>
            <a:pathLst>
              <a:path w="203834" h="239395">
                <a:moveTo>
                  <a:pt x="0" y="238766"/>
                </a:moveTo>
                <a:lnTo>
                  <a:pt x="203491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33326" y="4862150"/>
            <a:ext cx="171450" cy="254000"/>
          </a:xfrm>
          <a:custGeom>
            <a:avLst/>
            <a:gdLst/>
            <a:ahLst/>
            <a:cxnLst/>
            <a:rect l="l" t="t" r="r" b="b"/>
            <a:pathLst>
              <a:path w="171450" h="254000">
                <a:moveTo>
                  <a:pt x="170900" y="253986"/>
                </a:moveTo>
                <a:lnTo>
                  <a:pt x="0" y="0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35703" y="4825395"/>
            <a:ext cx="219075" cy="6985"/>
          </a:xfrm>
          <a:custGeom>
            <a:avLst/>
            <a:gdLst/>
            <a:ahLst/>
            <a:cxnLst/>
            <a:rect l="l" t="t" r="r" b="b"/>
            <a:pathLst>
              <a:path w="219075" h="6985">
                <a:moveTo>
                  <a:pt x="218939" y="0"/>
                </a:moveTo>
                <a:lnTo>
                  <a:pt x="0" y="6946"/>
                </a:lnTo>
              </a:path>
            </a:pathLst>
          </a:custGeom>
          <a:ln w="28575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43518" y="4780362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454642" y="4773415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5" y="88734"/>
                </a:lnTo>
                <a:lnTo>
                  <a:pt x="88563" y="72212"/>
                </a:lnTo>
                <a:lnTo>
                  <a:pt x="92185" y="51979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90725" y="5100913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939349" y="5122628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7"/>
                </a:lnTo>
                <a:lnTo>
                  <a:pt x="0" y="51979"/>
                </a:lnTo>
                <a:lnTo>
                  <a:pt x="3622" y="72212"/>
                </a:lnTo>
                <a:lnTo>
                  <a:pt x="13500" y="88734"/>
                </a:lnTo>
                <a:lnTo>
                  <a:pt x="28151" y="99874"/>
                </a:lnTo>
                <a:lnTo>
                  <a:pt x="46092" y="103959"/>
                </a:lnTo>
                <a:lnTo>
                  <a:pt x="64033" y="99874"/>
                </a:lnTo>
                <a:lnTo>
                  <a:pt x="78684" y="88734"/>
                </a:lnTo>
                <a:lnTo>
                  <a:pt x="88562" y="72212"/>
                </a:lnTo>
                <a:lnTo>
                  <a:pt x="92184" y="51979"/>
                </a:lnTo>
                <a:lnTo>
                  <a:pt x="88562" y="31747"/>
                </a:lnTo>
                <a:lnTo>
                  <a:pt x="78684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171544" y="542841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10" h="104139">
                <a:moveTo>
                  <a:pt x="46093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3" y="103958"/>
                </a:lnTo>
                <a:lnTo>
                  <a:pt x="64034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4" y="4084"/>
                </a:lnTo>
                <a:lnTo>
                  <a:pt x="46093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454642" y="5428414"/>
            <a:ext cx="92710" cy="104139"/>
          </a:xfrm>
          <a:custGeom>
            <a:avLst/>
            <a:gdLst/>
            <a:ahLst/>
            <a:cxnLst/>
            <a:rect l="l" t="t" r="r" b="b"/>
            <a:pathLst>
              <a:path w="92709" h="104139">
                <a:moveTo>
                  <a:pt x="46092" y="0"/>
                </a:moveTo>
                <a:lnTo>
                  <a:pt x="28151" y="4084"/>
                </a:lnTo>
                <a:lnTo>
                  <a:pt x="13500" y="15224"/>
                </a:lnTo>
                <a:lnTo>
                  <a:pt x="3622" y="31746"/>
                </a:lnTo>
                <a:lnTo>
                  <a:pt x="0" y="51978"/>
                </a:lnTo>
                <a:lnTo>
                  <a:pt x="3622" y="72211"/>
                </a:lnTo>
                <a:lnTo>
                  <a:pt x="13500" y="88734"/>
                </a:lnTo>
                <a:lnTo>
                  <a:pt x="28151" y="99873"/>
                </a:lnTo>
                <a:lnTo>
                  <a:pt x="46092" y="103958"/>
                </a:lnTo>
                <a:lnTo>
                  <a:pt x="64033" y="99873"/>
                </a:lnTo>
                <a:lnTo>
                  <a:pt x="78685" y="88734"/>
                </a:lnTo>
                <a:lnTo>
                  <a:pt x="88563" y="72211"/>
                </a:lnTo>
                <a:lnTo>
                  <a:pt x="92185" y="51978"/>
                </a:lnTo>
                <a:lnTo>
                  <a:pt x="88563" y="31746"/>
                </a:lnTo>
                <a:lnTo>
                  <a:pt x="78685" y="15224"/>
                </a:lnTo>
                <a:lnTo>
                  <a:pt x="64033" y="4084"/>
                </a:lnTo>
                <a:lnTo>
                  <a:pt x="46092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329137" y="5432958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7" y="14558"/>
                </a:lnTo>
                <a:lnTo>
                  <a:pt x="3787" y="30358"/>
                </a:lnTo>
                <a:lnTo>
                  <a:pt x="0" y="49706"/>
                </a:lnTo>
                <a:lnTo>
                  <a:pt x="3787" y="69055"/>
                </a:lnTo>
                <a:lnTo>
                  <a:pt x="14117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1" y="84855"/>
                </a:lnTo>
                <a:lnTo>
                  <a:pt x="92610" y="69055"/>
                </a:lnTo>
                <a:lnTo>
                  <a:pt x="96398" y="49706"/>
                </a:lnTo>
                <a:lnTo>
                  <a:pt x="92610" y="30358"/>
                </a:lnTo>
                <a:lnTo>
                  <a:pt x="82281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063933" y="5103185"/>
            <a:ext cx="96520" cy="99695"/>
          </a:xfrm>
          <a:custGeom>
            <a:avLst/>
            <a:gdLst/>
            <a:ahLst/>
            <a:cxnLst/>
            <a:rect l="l" t="t" r="r" b="b"/>
            <a:pathLst>
              <a:path w="96520" h="99695">
                <a:moveTo>
                  <a:pt x="48199" y="0"/>
                </a:moveTo>
                <a:lnTo>
                  <a:pt x="29437" y="3906"/>
                </a:lnTo>
                <a:lnTo>
                  <a:pt x="14116" y="14558"/>
                </a:lnTo>
                <a:lnTo>
                  <a:pt x="3787" y="30358"/>
                </a:lnTo>
                <a:lnTo>
                  <a:pt x="0" y="49707"/>
                </a:lnTo>
                <a:lnTo>
                  <a:pt x="3787" y="69055"/>
                </a:lnTo>
                <a:lnTo>
                  <a:pt x="14116" y="84855"/>
                </a:lnTo>
                <a:lnTo>
                  <a:pt x="29437" y="95508"/>
                </a:lnTo>
                <a:lnTo>
                  <a:pt x="48199" y="99414"/>
                </a:lnTo>
                <a:lnTo>
                  <a:pt x="66960" y="95508"/>
                </a:lnTo>
                <a:lnTo>
                  <a:pt x="82280" y="84855"/>
                </a:lnTo>
                <a:lnTo>
                  <a:pt x="92610" y="69055"/>
                </a:lnTo>
                <a:lnTo>
                  <a:pt x="96398" y="49707"/>
                </a:lnTo>
                <a:lnTo>
                  <a:pt x="92610" y="30358"/>
                </a:lnTo>
                <a:lnTo>
                  <a:pt x="82280" y="14558"/>
                </a:lnTo>
                <a:lnTo>
                  <a:pt x="66960" y="3906"/>
                </a:lnTo>
                <a:lnTo>
                  <a:pt x="48199" y="0"/>
                </a:lnTo>
                <a:close/>
              </a:path>
            </a:pathLst>
          </a:custGeom>
          <a:solidFill>
            <a:srgbClr val="BFE1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143984" y="454692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3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116423" y="454692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505766" y="454176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478206" y="454176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41039" y="510463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1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13478" y="510463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17636" y="560790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190076" y="560790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500733" y="559828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473173" y="559828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810471" y="4883486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782911" y="4883486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208970" y="490277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181410" y="490277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453096" y="5232411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444"/>
                </a:lnTo>
              </a:path>
            </a:pathLst>
          </a:custGeom>
          <a:ln w="55120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425536" y="5232411"/>
            <a:ext cx="55244" cy="169545"/>
          </a:xfrm>
          <a:custGeom>
            <a:avLst/>
            <a:gdLst/>
            <a:ahLst/>
            <a:cxnLst/>
            <a:rect l="l" t="t" r="r" b="b"/>
            <a:pathLst>
              <a:path w="55245" h="169545">
                <a:moveTo>
                  <a:pt x="0" y="0"/>
                </a:moveTo>
                <a:lnTo>
                  <a:pt x="55121" y="0"/>
                </a:lnTo>
                <a:lnTo>
                  <a:pt x="55121" y="169444"/>
                </a:lnTo>
                <a:lnTo>
                  <a:pt x="0" y="16944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1821765" y="5052151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347847" y="0"/>
                </a:moveTo>
                <a:lnTo>
                  <a:pt x="347847" y="94988"/>
                </a:lnTo>
                <a:lnTo>
                  <a:pt x="0" y="94988"/>
                </a:lnTo>
                <a:lnTo>
                  <a:pt x="0" y="203683"/>
                </a:lnTo>
                <a:lnTo>
                  <a:pt x="347847" y="203683"/>
                </a:lnTo>
                <a:lnTo>
                  <a:pt x="347847" y="298670"/>
                </a:lnTo>
                <a:lnTo>
                  <a:pt x="497182" y="149335"/>
                </a:lnTo>
                <a:lnTo>
                  <a:pt x="347847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1821765" y="5052151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5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846674" y="501339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347846" y="0"/>
                </a:moveTo>
                <a:lnTo>
                  <a:pt x="347846" y="94987"/>
                </a:lnTo>
                <a:lnTo>
                  <a:pt x="0" y="94987"/>
                </a:lnTo>
                <a:lnTo>
                  <a:pt x="0" y="203682"/>
                </a:lnTo>
                <a:lnTo>
                  <a:pt x="347846" y="203682"/>
                </a:lnTo>
                <a:lnTo>
                  <a:pt x="347846" y="298670"/>
                </a:lnTo>
                <a:lnTo>
                  <a:pt x="497180" y="149335"/>
                </a:lnTo>
                <a:lnTo>
                  <a:pt x="34784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846674" y="5013397"/>
            <a:ext cx="497205" cy="299085"/>
          </a:xfrm>
          <a:custGeom>
            <a:avLst/>
            <a:gdLst/>
            <a:ahLst/>
            <a:cxnLst/>
            <a:rect l="l" t="t" r="r" b="b"/>
            <a:pathLst>
              <a:path w="497204" h="299085">
                <a:moveTo>
                  <a:pt x="0" y="94987"/>
                </a:moveTo>
                <a:lnTo>
                  <a:pt x="347846" y="94987"/>
                </a:lnTo>
                <a:lnTo>
                  <a:pt x="347846" y="0"/>
                </a:lnTo>
                <a:lnTo>
                  <a:pt x="497182" y="149335"/>
                </a:lnTo>
                <a:lnTo>
                  <a:pt x="347846" y="298671"/>
                </a:lnTo>
                <a:lnTo>
                  <a:pt x="347846" y="203683"/>
                </a:lnTo>
                <a:lnTo>
                  <a:pt x="0" y="203683"/>
                </a:lnTo>
                <a:lnTo>
                  <a:pt x="0" y="9498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605602" y="4099400"/>
            <a:ext cx="2026920" cy="441325"/>
          </a:xfrm>
          <a:custGeom>
            <a:avLst/>
            <a:gdLst/>
            <a:ahLst/>
            <a:cxnLst/>
            <a:rect l="l" t="t" r="r" b="b"/>
            <a:pathLst>
              <a:path w="2026920" h="441325">
                <a:moveTo>
                  <a:pt x="0" y="440768"/>
                </a:moveTo>
                <a:lnTo>
                  <a:pt x="1872" y="371109"/>
                </a:lnTo>
                <a:lnTo>
                  <a:pt x="7086" y="310612"/>
                </a:lnTo>
                <a:lnTo>
                  <a:pt x="15037" y="262905"/>
                </a:lnTo>
                <a:lnTo>
                  <a:pt x="36729" y="220384"/>
                </a:lnTo>
                <a:lnTo>
                  <a:pt x="976445" y="220384"/>
                </a:lnTo>
                <a:lnTo>
                  <a:pt x="988053" y="209148"/>
                </a:lnTo>
                <a:lnTo>
                  <a:pt x="998135" y="177862"/>
                </a:lnTo>
                <a:lnTo>
                  <a:pt x="1006086" y="130155"/>
                </a:lnTo>
                <a:lnTo>
                  <a:pt x="1011300" y="69658"/>
                </a:lnTo>
                <a:lnTo>
                  <a:pt x="1013173" y="0"/>
                </a:lnTo>
                <a:lnTo>
                  <a:pt x="1015045" y="69658"/>
                </a:lnTo>
                <a:lnTo>
                  <a:pt x="1020259" y="130155"/>
                </a:lnTo>
                <a:lnTo>
                  <a:pt x="1028210" y="177862"/>
                </a:lnTo>
                <a:lnTo>
                  <a:pt x="1038292" y="209148"/>
                </a:lnTo>
                <a:lnTo>
                  <a:pt x="1049902" y="220384"/>
                </a:lnTo>
                <a:lnTo>
                  <a:pt x="1989618" y="220384"/>
                </a:lnTo>
                <a:lnTo>
                  <a:pt x="2001227" y="231619"/>
                </a:lnTo>
                <a:lnTo>
                  <a:pt x="2011309" y="262905"/>
                </a:lnTo>
                <a:lnTo>
                  <a:pt x="2019260" y="310612"/>
                </a:lnTo>
                <a:lnTo>
                  <a:pt x="2024474" y="371109"/>
                </a:lnTo>
                <a:lnTo>
                  <a:pt x="2026347" y="440768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8067216" y="2714244"/>
            <a:ext cx="86486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1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</a:t>
            </a:r>
            <a:endParaRPr sz="14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6747521" y="2834377"/>
            <a:ext cx="1241425" cy="812800"/>
          </a:xfrm>
          <a:custGeom>
            <a:avLst/>
            <a:gdLst/>
            <a:ahLst/>
            <a:cxnLst/>
            <a:rect l="l" t="t" r="r" b="b"/>
            <a:pathLst>
              <a:path w="1241425" h="812800">
                <a:moveTo>
                  <a:pt x="1116980" y="53913"/>
                </a:moveTo>
                <a:lnTo>
                  <a:pt x="9795" y="771984"/>
                </a:lnTo>
                <a:lnTo>
                  <a:pt x="3487" y="778157"/>
                </a:lnTo>
                <a:lnTo>
                  <a:pt x="152" y="785997"/>
                </a:lnTo>
                <a:lnTo>
                  <a:pt x="0" y="794515"/>
                </a:lnTo>
                <a:lnTo>
                  <a:pt x="3241" y="802723"/>
                </a:lnTo>
                <a:lnTo>
                  <a:pt x="9414" y="809031"/>
                </a:lnTo>
                <a:lnTo>
                  <a:pt x="17254" y="812367"/>
                </a:lnTo>
                <a:lnTo>
                  <a:pt x="25773" y="812519"/>
                </a:lnTo>
                <a:lnTo>
                  <a:pt x="33981" y="809277"/>
                </a:lnTo>
                <a:lnTo>
                  <a:pt x="1141166" y="91206"/>
                </a:lnTo>
                <a:lnTo>
                  <a:pt x="1116980" y="53913"/>
                </a:lnTo>
                <a:close/>
              </a:path>
              <a:path w="1241425" h="812800">
                <a:moveTo>
                  <a:pt x="1218257" y="38578"/>
                </a:moveTo>
                <a:lnTo>
                  <a:pt x="1143835" y="38578"/>
                </a:lnTo>
                <a:lnTo>
                  <a:pt x="1152354" y="38730"/>
                </a:lnTo>
                <a:lnTo>
                  <a:pt x="1160195" y="42066"/>
                </a:lnTo>
                <a:lnTo>
                  <a:pt x="1166367" y="48374"/>
                </a:lnTo>
                <a:lnTo>
                  <a:pt x="1169609" y="56582"/>
                </a:lnTo>
                <a:lnTo>
                  <a:pt x="1169456" y="65100"/>
                </a:lnTo>
                <a:lnTo>
                  <a:pt x="1166121" y="72940"/>
                </a:lnTo>
                <a:lnTo>
                  <a:pt x="1159813" y="79113"/>
                </a:lnTo>
                <a:lnTo>
                  <a:pt x="1141166" y="91206"/>
                </a:lnTo>
                <a:lnTo>
                  <a:pt x="1165354" y="128501"/>
                </a:lnTo>
                <a:lnTo>
                  <a:pt x="1218257" y="38578"/>
                </a:lnTo>
                <a:close/>
              </a:path>
              <a:path w="1241425" h="812800">
                <a:moveTo>
                  <a:pt x="1143835" y="38578"/>
                </a:moveTo>
                <a:lnTo>
                  <a:pt x="1135627" y="41819"/>
                </a:lnTo>
                <a:lnTo>
                  <a:pt x="1116980" y="53913"/>
                </a:lnTo>
                <a:lnTo>
                  <a:pt x="1141166" y="91206"/>
                </a:lnTo>
                <a:lnTo>
                  <a:pt x="1159813" y="79113"/>
                </a:lnTo>
                <a:lnTo>
                  <a:pt x="1166121" y="72940"/>
                </a:lnTo>
                <a:lnTo>
                  <a:pt x="1169456" y="65100"/>
                </a:lnTo>
                <a:lnTo>
                  <a:pt x="1169609" y="56582"/>
                </a:lnTo>
                <a:lnTo>
                  <a:pt x="1166367" y="48374"/>
                </a:lnTo>
                <a:lnTo>
                  <a:pt x="1160195" y="42066"/>
                </a:lnTo>
                <a:lnTo>
                  <a:pt x="1152354" y="38730"/>
                </a:lnTo>
                <a:lnTo>
                  <a:pt x="1143835" y="38578"/>
                </a:lnTo>
                <a:close/>
              </a:path>
              <a:path w="1241425" h="812800">
                <a:moveTo>
                  <a:pt x="1240953" y="0"/>
                </a:moveTo>
                <a:lnTo>
                  <a:pt x="1092794" y="16620"/>
                </a:lnTo>
                <a:lnTo>
                  <a:pt x="1116980" y="53913"/>
                </a:lnTo>
                <a:lnTo>
                  <a:pt x="1135627" y="41819"/>
                </a:lnTo>
                <a:lnTo>
                  <a:pt x="1143835" y="38578"/>
                </a:lnTo>
                <a:lnTo>
                  <a:pt x="1218257" y="38578"/>
                </a:lnTo>
                <a:lnTo>
                  <a:pt x="1240953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7928742" y="3198876"/>
            <a:ext cx="1092835" cy="137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ct val="157100"/>
              </a:lnSpc>
            </a:pP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1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  </a:t>
            </a: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205370" y="4672076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747445" y="3288097"/>
            <a:ext cx="1241425" cy="359410"/>
          </a:xfrm>
          <a:custGeom>
            <a:avLst/>
            <a:gdLst/>
            <a:ahLst/>
            <a:cxnLst/>
            <a:rect l="l" t="t" r="r" b="b"/>
            <a:pathLst>
              <a:path w="1241425" h="359410">
                <a:moveTo>
                  <a:pt x="1106270" y="43124"/>
                </a:moveTo>
                <a:lnTo>
                  <a:pt x="16578" y="315348"/>
                </a:lnTo>
                <a:lnTo>
                  <a:pt x="8608" y="319139"/>
                </a:lnTo>
                <a:lnTo>
                  <a:pt x="2908" y="325472"/>
                </a:lnTo>
                <a:lnTo>
                  <a:pt x="0" y="333480"/>
                </a:lnTo>
                <a:lnTo>
                  <a:pt x="402" y="342296"/>
                </a:lnTo>
                <a:lnTo>
                  <a:pt x="4193" y="350266"/>
                </a:lnTo>
                <a:lnTo>
                  <a:pt x="10526" y="355966"/>
                </a:lnTo>
                <a:lnTo>
                  <a:pt x="18534" y="358875"/>
                </a:lnTo>
                <a:lnTo>
                  <a:pt x="27350" y="358472"/>
                </a:lnTo>
                <a:lnTo>
                  <a:pt x="1117043" y="86249"/>
                </a:lnTo>
                <a:lnTo>
                  <a:pt x="1106270" y="43124"/>
                </a:lnTo>
                <a:close/>
              </a:path>
              <a:path w="1241425" h="359410">
                <a:moveTo>
                  <a:pt x="1235231" y="37336"/>
                </a:moveTo>
                <a:lnTo>
                  <a:pt x="1136648" y="37336"/>
                </a:lnTo>
                <a:lnTo>
                  <a:pt x="1144656" y="40244"/>
                </a:lnTo>
                <a:lnTo>
                  <a:pt x="1150989" y="45944"/>
                </a:lnTo>
                <a:lnTo>
                  <a:pt x="1154780" y="53914"/>
                </a:lnTo>
                <a:lnTo>
                  <a:pt x="1155183" y="62730"/>
                </a:lnTo>
                <a:lnTo>
                  <a:pt x="1152274" y="70738"/>
                </a:lnTo>
                <a:lnTo>
                  <a:pt x="1146575" y="77071"/>
                </a:lnTo>
                <a:lnTo>
                  <a:pt x="1138605" y="80863"/>
                </a:lnTo>
                <a:lnTo>
                  <a:pt x="1117043" y="86249"/>
                </a:lnTo>
                <a:lnTo>
                  <a:pt x="1127817" y="129374"/>
                </a:lnTo>
                <a:lnTo>
                  <a:pt x="1235231" y="37336"/>
                </a:lnTo>
                <a:close/>
              </a:path>
              <a:path w="1241425" h="359410">
                <a:moveTo>
                  <a:pt x="1136648" y="37336"/>
                </a:moveTo>
                <a:lnTo>
                  <a:pt x="1127832" y="37738"/>
                </a:lnTo>
                <a:lnTo>
                  <a:pt x="1106270" y="43124"/>
                </a:lnTo>
                <a:lnTo>
                  <a:pt x="1117043" y="86249"/>
                </a:lnTo>
                <a:lnTo>
                  <a:pt x="1138605" y="80863"/>
                </a:lnTo>
                <a:lnTo>
                  <a:pt x="1146575" y="77071"/>
                </a:lnTo>
                <a:lnTo>
                  <a:pt x="1152274" y="70738"/>
                </a:lnTo>
                <a:lnTo>
                  <a:pt x="1155183" y="62730"/>
                </a:lnTo>
                <a:lnTo>
                  <a:pt x="1154780" y="53914"/>
                </a:lnTo>
                <a:lnTo>
                  <a:pt x="1150989" y="45944"/>
                </a:lnTo>
                <a:lnTo>
                  <a:pt x="1144656" y="40244"/>
                </a:lnTo>
                <a:lnTo>
                  <a:pt x="1136648" y="37336"/>
                </a:lnTo>
                <a:close/>
              </a:path>
              <a:path w="1241425" h="359410">
                <a:moveTo>
                  <a:pt x="1095496" y="0"/>
                </a:moveTo>
                <a:lnTo>
                  <a:pt x="1106270" y="43124"/>
                </a:lnTo>
                <a:lnTo>
                  <a:pt x="1127832" y="37738"/>
                </a:lnTo>
                <a:lnTo>
                  <a:pt x="1136648" y="37336"/>
                </a:lnTo>
                <a:lnTo>
                  <a:pt x="1235231" y="37336"/>
                </a:lnTo>
                <a:lnTo>
                  <a:pt x="1241029" y="32367"/>
                </a:lnTo>
                <a:lnTo>
                  <a:pt x="1095496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8181804" y="3507740"/>
            <a:ext cx="382905" cy="2870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2860"/>
              </a:lnSpc>
            </a:pPr>
            <a:r>
              <a:rPr dirty="0" sz="2400">
                <a:latin typeface="Cambria Math"/>
                <a:cs typeface="Cambria Math"/>
              </a:rPr>
              <a:t>⋯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747211" y="3602807"/>
            <a:ext cx="1109345" cy="431800"/>
          </a:xfrm>
          <a:custGeom>
            <a:avLst/>
            <a:gdLst/>
            <a:ahLst/>
            <a:cxnLst/>
            <a:rect l="l" t="t" r="r" b="b"/>
            <a:pathLst>
              <a:path w="1109345" h="431800">
                <a:moveTo>
                  <a:pt x="976325" y="389868"/>
                </a:moveTo>
                <a:lnTo>
                  <a:pt x="961248" y="431682"/>
                </a:lnTo>
                <a:lnTo>
                  <a:pt x="1109308" y="414194"/>
                </a:lnTo>
                <a:lnTo>
                  <a:pt x="1094548" y="398698"/>
                </a:lnTo>
                <a:lnTo>
                  <a:pt x="1005963" y="398698"/>
                </a:lnTo>
                <a:lnTo>
                  <a:pt x="997233" y="397407"/>
                </a:lnTo>
                <a:lnTo>
                  <a:pt x="976325" y="389868"/>
                </a:lnTo>
                <a:close/>
              </a:path>
              <a:path w="1109345" h="431800">
                <a:moveTo>
                  <a:pt x="991403" y="348053"/>
                </a:moveTo>
                <a:lnTo>
                  <a:pt x="976325" y="389868"/>
                </a:lnTo>
                <a:lnTo>
                  <a:pt x="997233" y="397407"/>
                </a:lnTo>
                <a:lnTo>
                  <a:pt x="1005963" y="398698"/>
                </a:lnTo>
                <a:lnTo>
                  <a:pt x="1014225" y="396613"/>
                </a:lnTo>
                <a:lnTo>
                  <a:pt x="1021102" y="391583"/>
                </a:lnTo>
                <a:lnTo>
                  <a:pt x="1025680" y="384038"/>
                </a:lnTo>
                <a:lnTo>
                  <a:pt x="1026971" y="375307"/>
                </a:lnTo>
                <a:lnTo>
                  <a:pt x="1024886" y="367046"/>
                </a:lnTo>
                <a:lnTo>
                  <a:pt x="1019856" y="360169"/>
                </a:lnTo>
                <a:lnTo>
                  <a:pt x="1012310" y="355592"/>
                </a:lnTo>
                <a:lnTo>
                  <a:pt x="991403" y="348053"/>
                </a:lnTo>
                <a:close/>
              </a:path>
              <a:path w="1109345" h="431800">
                <a:moveTo>
                  <a:pt x="1006481" y="306239"/>
                </a:moveTo>
                <a:lnTo>
                  <a:pt x="991403" y="348053"/>
                </a:lnTo>
                <a:lnTo>
                  <a:pt x="1012310" y="355592"/>
                </a:lnTo>
                <a:lnTo>
                  <a:pt x="1019856" y="360169"/>
                </a:lnTo>
                <a:lnTo>
                  <a:pt x="1024886" y="367046"/>
                </a:lnTo>
                <a:lnTo>
                  <a:pt x="1026971" y="375307"/>
                </a:lnTo>
                <a:lnTo>
                  <a:pt x="1025680" y="384038"/>
                </a:lnTo>
                <a:lnTo>
                  <a:pt x="1021102" y="391583"/>
                </a:lnTo>
                <a:lnTo>
                  <a:pt x="1014225" y="396613"/>
                </a:lnTo>
                <a:lnTo>
                  <a:pt x="1005963" y="398698"/>
                </a:lnTo>
                <a:lnTo>
                  <a:pt x="1094548" y="398698"/>
                </a:lnTo>
                <a:lnTo>
                  <a:pt x="1006481" y="306239"/>
                </a:lnTo>
                <a:close/>
              </a:path>
              <a:path w="1109345" h="431800">
                <a:moveTo>
                  <a:pt x="21006" y="0"/>
                </a:moveTo>
                <a:lnTo>
                  <a:pt x="12745" y="2084"/>
                </a:lnTo>
                <a:lnTo>
                  <a:pt x="5868" y="7114"/>
                </a:lnTo>
                <a:lnTo>
                  <a:pt x="1291" y="14659"/>
                </a:lnTo>
                <a:lnTo>
                  <a:pt x="0" y="23390"/>
                </a:lnTo>
                <a:lnTo>
                  <a:pt x="2084" y="31651"/>
                </a:lnTo>
                <a:lnTo>
                  <a:pt x="7114" y="38528"/>
                </a:lnTo>
                <a:lnTo>
                  <a:pt x="14659" y="43106"/>
                </a:lnTo>
                <a:lnTo>
                  <a:pt x="976325" y="389868"/>
                </a:lnTo>
                <a:lnTo>
                  <a:pt x="991403" y="348053"/>
                </a:lnTo>
                <a:lnTo>
                  <a:pt x="29737" y="1291"/>
                </a:lnTo>
                <a:lnTo>
                  <a:pt x="21006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747534" y="3603131"/>
            <a:ext cx="1109345" cy="778510"/>
          </a:xfrm>
          <a:custGeom>
            <a:avLst/>
            <a:gdLst/>
            <a:ahLst/>
            <a:cxnLst/>
            <a:rect l="l" t="t" r="r" b="b"/>
            <a:pathLst>
              <a:path w="1109345" h="778510">
                <a:moveTo>
                  <a:pt x="986822" y="720125"/>
                </a:moveTo>
                <a:lnTo>
                  <a:pt x="961440" y="756616"/>
                </a:lnTo>
                <a:lnTo>
                  <a:pt x="1108984" y="778025"/>
                </a:lnTo>
                <a:lnTo>
                  <a:pt x="1086302" y="736446"/>
                </a:lnTo>
                <a:lnTo>
                  <a:pt x="1021685" y="736446"/>
                </a:lnTo>
                <a:lnTo>
                  <a:pt x="1013166" y="736322"/>
                </a:lnTo>
                <a:lnTo>
                  <a:pt x="1005067" y="732815"/>
                </a:lnTo>
                <a:lnTo>
                  <a:pt x="986822" y="720125"/>
                </a:lnTo>
                <a:close/>
              </a:path>
              <a:path w="1109345" h="778510">
                <a:moveTo>
                  <a:pt x="1012203" y="683634"/>
                </a:moveTo>
                <a:lnTo>
                  <a:pt x="986822" y="720125"/>
                </a:lnTo>
                <a:lnTo>
                  <a:pt x="1005067" y="732815"/>
                </a:lnTo>
                <a:lnTo>
                  <a:pt x="1013166" y="736322"/>
                </a:lnTo>
                <a:lnTo>
                  <a:pt x="1021685" y="736446"/>
                </a:lnTo>
                <a:lnTo>
                  <a:pt x="1029629" y="733366"/>
                </a:lnTo>
                <a:lnTo>
                  <a:pt x="1036002" y="727262"/>
                </a:lnTo>
                <a:lnTo>
                  <a:pt x="1039509" y="719162"/>
                </a:lnTo>
                <a:lnTo>
                  <a:pt x="1039632" y="710642"/>
                </a:lnTo>
                <a:lnTo>
                  <a:pt x="1036553" y="702698"/>
                </a:lnTo>
                <a:lnTo>
                  <a:pt x="1030447" y="696324"/>
                </a:lnTo>
                <a:lnTo>
                  <a:pt x="1012203" y="683634"/>
                </a:lnTo>
                <a:close/>
              </a:path>
              <a:path w="1109345" h="778510">
                <a:moveTo>
                  <a:pt x="1037585" y="647144"/>
                </a:moveTo>
                <a:lnTo>
                  <a:pt x="1012203" y="683634"/>
                </a:lnTo>
                <a:lnTo>
                  <a:pt x="1030447" y="696324"/>
                </a:lnTo>
                <a:lnTo>
                  <a:pt x="1036553" y="702698"/>
                </a:lnTo>
                <a:lnTo>
                  <a:pt x="1039632" y="710642"/>
                </a:lnTo>
                <a:lnTo>
                  <a:pt x="1039509" y="719162"/>
                </a:lnTo>
                <a:lnTo>
                  <a:pt x="1036002" y="727262"/>
                </a:lnTo>
                <a:lnTo>
                  <a:pt x="1029629" y="733366"/>
                </a:lnTo>
                <a:lnTo>
                  <a:pt x="1021685" y="736446"/>
                </a:lnTo>
                <a:lnTo>
                  <a:pt x="1086302" y="736446"/>
                </a:lnTo>
                <a:lnTo>
                  <a:pt x="1037585" y="647144"/>
                </a:lnTo>
                <a:close/>
              </a:path>
              <a:path w="1109345" h="778510">
                <a:moveTo>
                  <a:pt x="17947" y="0"/>
                </a:moveTo>
                <a:lnTo>
                  <a:pt x="10003" y="3079"/>
                </a:lnTo>
                <a:lnTo>
                  <a:pt x="3630" y="9183"/>
                </a:lnTo>
                <a:lnTo>
                  <a:pt x="123" y="17283"/>
                </a:lnTo>
                <a:lnTo>
                  <a:pt x="0" y="25803"/>
                </a:lnTo>
                <a:lnTo>
                  <a:pt x="3079" y="33747"/>
                </a:lnTo>
                <a:lnTo>
                  <a:pt x="9183" y="40121"/>
                </a:lnTo>
                <a:lnTo>
                  <a:pt x="986822" y="720125"/>
                </a:lnTo>
                <a:lnTo>
                  <a:pt x="1012203" y="683634"/>
                </a:lnTo>
                <a:lnTo>
                  <a:pt x="34566" y="3630"/>
                </a:lnTo>
                <a:lnTo>
                  <a:pt x="26466" y="123"/>
                </a:lnTo>
                <a:lnTo>
                  <a:pt x="1794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535286" y="3419966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09" h="474345">
                <a:moveTo>
                  <a:pt x="0" y="0"/>
                </a:moveTo>
                <a:lnTo>
                  <a:pt x="130439" y="0"/>
                </a:lnTo>
                <a:lnTo>
                  <a:pt x="130439" y="474035"/>
                </a:lnTo>
                <a:lnTo>
                  <a:pt x="0" y="474035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535286" y="3419966"/>
            <a:ext cx="130810" cy="474345"/>
          </a:xfrm>
          <a:custGeom>
            <a:avLst/>
            <a:gdLst/>
            <a:ahLst/>
            <a:cxnLst/>
            <a:rect l="l" t="t" r="r" b="b"/>
            <a:pathLst>
              <a:path w="130809" h="474345">
                <a:moveTo>
                  <a:pt x="0" y="0"/>
                </a:moveTo>
                <a:lnTo>
                  <a:pt x="130440" y="0"/>
                </a:lnTo>
                <a:lnTo>
                  <a:pt x="130440" y="474035"/>
                </a:lnTo>
                <a:lnTo>
                  <a:pt x="0" y="47403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28534" cy="163004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3975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Multi-task supervised </a:t>
            </a:r>
            <a:r>
              <a:rPr dirty="0" spc="-10" b="0">
                <a:latin typeface="Calibri"/>
                <a:cs typeface="Calibri"/>
              </a:rPr>
              <a:t>training </a:t>
            </a:r>
            <a:r>
              <a:rPr dirty="0" b="0">
                <a:latin typeface="Calibri"/>
                <a:cs typeface="Calibri"/>
              </a:rPr>
              <a:t>on </a:t>
            </a:r>
            <a:r>
              <a:rPr dirty="0" spc="-15" b="0">
                <a:latin typeface="Calibri"/>
                <a:cs typeface="Calibri"/>
              </a:rPr>
              <a:t>many  </a:t>
            </a:r>
            <a:r>
              <a:rPr dirty="0" spc="-20" b="0">
                <a:latin typeface="Calibri"/>
                <a:cs typeface="Calibri"/>
              </a:rPr>
              <a:t>relevant</a:t>
            </a:r>
            <a:r>
              <a:rPr dirty="0" spc="-5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labels.</a:t>
            </a:r>
          </a:p>
          <a:p>
            <a:pPr marL="5689600" marR="5080">
              <a:lnSpc>
                <a:spcPts val="2110"/>
              </a:lnSpc>
              <a:spcBef>
                <a:spcPts val="715"/>
              </a:spcBef>
            </a:pPr>
            <a:r>
              <a:rPr dirty="0" sz="1800" spc="-5">
                <a:solidFill>
                  <a:srgbClr val="00B050"/>
                </a:solidFill>
                <a:latin typeface="Arial"/>
                <a:cs typeface="Arial"/>
              </a:rPr>
              <a:t>Pre-training</a:t>
            </a:r>
            <a:r>
              <a:rPr dirty="0" sz="1800" spc="-65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B050"/>
                </a:solidFill>
                <a:latin typeface="Arial"/>
                <a:cs typeface="Arial"/>
              </a:rPr>
              <a:t>on  </a:t>
            </a:r>
            <a:r>
              <a:rPr dirty="0" sz="1800" spc="-5">
                <a:solidFill>
                  <a:srgbClr val="00B050"/>
                </a:solidFill>
                <a:latin typeface="Arial"/>
                <a:cs typeface="Arial"/>
              </a:rPr>
              <a:t>graph</a:t>
            </a:r>
            <a:r>
              <a:rPr dirty="0" sz="1800" spc="-6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B050"/>
                </a:solidFill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3157458" y="3921524"/>
            <a:ext cx="626745" cy="436880"/>
          </a:xfrm>
          <a:custGeom>
            <a:avLst/>
            <a:gdLst/>
            <a:ahLst/>
            <a:cxnLst/>
            <a:rect l="l" t="t" r="r" b="b"/>
            <a:pathLst>
              <a:path w="626745" h="436879">
                <a:moveTo>
                  <a:pt x="218409" y="327631"/>
                </a:moveTo>
                <a:lnTo>
                  <a:pt x="0" y="327631"/>
                </a:lnTo>
                <a:lnTo>
                  <a:pt x="92243" y="436837"/>
                </a:lnTo>
                <a:lnTo>
                  <a:pt x="218409" y="327631"/>
                </a:lnTo>
                <a:close/>
              </a:path>
              <a:path w="626745" h="436879">
                <a:moveTo>
                  <a:pt x="574175" y="0"/>
                </a:moveTo>
                <a:lnTo>
                  <a:pt x="522740" y="1812"/>
                </a:lnTo>
                <a:lnTo>
                  <a:pt x="472390" y="7583"/>
                </a:lnTo>
                <a:lnTo>
                  <a:pt x="423405" y="17152"/>
                </a:lnTo>
                <a:lnTo>
                  <a:pt x="376064" y="30361"/>
                </a:lnTo>
                <a:lnTo>
                  <a:pt x="330647" y="47050"/>
                </a:lnTo>
                <a:lnTo>
                  <a:pt x="287433" y="67061"/>
                </a:lnTo>
                <a:lnTo>
                  <a:pt x="246703" y="90234"/>
                </a:lnTo>
                <a:lnTo>
                  <a:pt x="208735" y="116411"/>
                </a:lnTo>
                <a:lnTo>
                  <a:pt x="173809" y="145432"/>
                </a:lnTo>
                <a:lnTo>
                  <a:pt x="142205" y="177138"/>
                </a:lnTo>
                <a:lnTo>
                  <a:pt x="114203" y="211369"/>
                </a:lnTo>
                <a:lnTo>
                  <a:pt x="90082" y="247968"/>
                </a:lnTo>
                <a:lnTo>
                  <a:pt x="70122" y="286775"/>
                </a:lnTo>
                <a:lnTo>
                  <a:pt x="54602" y="327631"/>
                </a:lnTo>
                <a:lnTo>
                  <a:pt x="163807" y="327631"/>
                </a:lnTo>
                <a:lnTo>
                  <a:pt x="180397" y="284430"/>
                </a:lnTo>
                <a:lnTo>
                  <a:pt x="202034" y="243414"/>
                </a:lnTo>
                <a:lnTo>
                  <a:pt x="228401" y="204805"/>
                </a:lnTo>
                <a:lnTo>
                  <a:pt x="259182" y="168825"/>
                </a:lnTo>
                <a:lnTo>
                  <a:pt x="294061" y="135696"/>
                </a:lnTo>
                <a:lnTo>
                  <a:pt x="332722" y="105641"/>
                </a:lnTo>
                <a:lnTo>
                  <a:pt x="374849" y="78882"/>
                </a:lnTo>
                <a:lnTo>
                  <a:pt x="420126" y="55641"/>
                </a:lnTo>
                <a:lnTo>
                  <a:pt x="468238" y="36141"/>
                </a:lnTo>
                <a:lnTo>
                  <a:pt x="518867" y="20603"/>
                </a:lnTo>
                <a:lnTo>
                  <a:pt x="571698" y="9250"/>
                </a:lnTo>
                <a:lnTo>
                  <a:pt x="626416" y="2304"/>
                </a:lnTo>
                <a:lnTo>
                  <a:pt x="57417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729271" y="3921541"/>
            <a:ext cx="643890" cy="436880"/>
          </a:xfrm>
          <a:custGeom>
            <a:avLst/>
            <a:gdLst/>
            <a:ahLst/>
            <a:cxnLst/>
            <a:rect l="l" t="t" r="r" b="b"/>
            <a:pathLst>
              <a:path w="643889" h="436879">
                <a:moveTo>
                  <a:pt x="109206" y="0"/>
                </a:moveTo>
                <a:lnTo>
                  <a:pt x="0" y="0"/>
                </a:lnTo>
                <a:lnTo>
                  <a:pt x="51444" y="1999"/>
                </a:lnTo>
                <a:lnTo>
                  <a:pt x="101505" y="7876"/>
                </a:lnTo>
                <a:lnTo>
                  <a:pt x="149958" y="17447"/>
                </a:lnTo>
                <a:lnTo>
                  <a:pt x="196581" y="30529"/>
                </a:lnTo>
                <a:lnTo>
                  <a:pt x="241148" y="46940"/>
                </a:lnTo>
                <a:lnTo>
                  <a:pt x="283436" y="66495"/>
                </a:lnTo>
                <a:lnTo>
                  <a:pt x="323222" y="89012"/>
                </a:lnTo>
                <a:lnTo>
                  <a:pt x="360280" y="114308"/>
                </a:lnTo>
                <a:lnTo>
                  <a:pt x="394388" y="142200"/>
                </a:lnTo>
                <a:lnTo>
                  <a:pt x="425322" y="172505"/>
                </a:lnTo>
                <a:lnTo>
                  <a:pt x="452858" y="205040"/>
                </a:lnTo>
                <a:lnTo>
                  <a:pt x="476771" y="239621"/>
                </a:lnTo>
                <a:lnTo>
                  <a:pt x="496839" y="276066"/>
                </a:lnTo>
                <a:lnTo>
                  <a:pt x="512837" y="314191"/>
                </a:lnTo>
                <a:lnTo>
                  <a:pt x="524541" y="353814"/>
                </a:lnTo>
                <a:lnTo>
                  <a:pt x="531728" y="394751"/>
                </a:lnTo>
                <a:lnTo>
                  <a:pt x="534173" y="436820"/>
                </a:lnTo>
                <a:lnTo>
                  <a:pt x="643378" y="436820"/>
                </a:lnTo>
                <a:lnTo>
                  <a:pt x="640932" y="394751"/>
                </a:lnTo>
                <a:lnTo>
                  <a:pt x="633746" y="353814"/>
                </a:lnTo>
                <a:lnTo>
                  <a:pt x="622042" y="314191"/>
                </a:lnTo>
                <a:lnTo>
                  <a:pt x="606044" y="276066"/>
                </a:lnTo>
                <a:lnTo>
                  <a:pt x="585976" y="239621"/>
                </a:lnTo>
                <a:lnTo>
                  <a:pt x="562063" y="205040"/>
                </a:lnTo>
                <a:lnTo>
                  <a:pt x="534528" y="172505"/>
                </a:lnTo>
                <a:lnTo>
                  <a:pt x="503594" y="142200"/>
                </a:lnTo>
                <a:lnTo>
                  <a:pt x="469486" y="114308"/>
                </a:lnTo>
                <a:lnTo>
                  <a:pt x="432427" y="89012"/>
                </a:lnTo>
                <a:lnTo>
                  <a:pt x="392642" y="66495"/>
                </a:lnTo>
                <a:lnTo>
                  <a:pt x="350354" y="46940"/>
                </a:lnTo>
                <a:lnTo>
                  <a:pt x="305787" y="30529"/>
                </a:lnTo>
                <a:lnTo>
                  <a:pt x="259164" y="17447"/>
                </a:lnTo>
                <a:lnTo>
                  <a:pt x="210711" y="7876"/>
                </a:lnTo>
                <a:lnTo>
                  <a:pt x="160650" y="1999"/>
                </a:lnTo>
                <a:lnTo>
                  <a:pt x="109206" y="0"/>
                </a:lnTo>
                <a:close/>
              </a:path>
            </a:pathLst>
          </a:custGeom>
          <a:solidFill>
            <a:srgbClr val="75A7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157458" y="3921540"/>
            <a:ext cx="1215390" cy="436880"/>
          </a:xfrm>
          <a:custGeom>
            <a:avLst/>
            <a:gdLst/>
            <a:ahLst/>
            <a:cxnLst/>
            <a:rect l="l" t="t" r="r" b="b"/>
            <a:pathLst>
              <a:path w="1215389" h="436879">
                <a:moveTo>
                  <a:pt x="626416" y="2288"/>
                </a:moveTo>
                <a:lnTo>
                  <a:pt x="571699" y="9234"/>
                </a:lnTo>
                <a:lnTo>
                  <a:pt x="518867" y="20587"/>
                </a:lnTo>
                <a:lnTo>
                  <a:pt x="468238" y="36125"/>
                </a:lnTo>
                <a:lnTo>
                  <a:pt x="420127" y="55625"/>
                </a:lnTo>
                <a:lnTo>
                  <a:pt x="374850" y="78866"/>
                </a:lnTo>
                <a:lnTo>
                  <a:pt x="332722" y="105626"/>
                </a:lnTo>
                <a:lnTo>
                  <a:pt x="294061" y="135681"/>
                </a:lnTo>
                <a:lnTo>
                  <a:pt x="259182" y="168809"/>
                </a:lnTo>
                <a:lnTo>
                  <a:pt x="228401" y="204789"/>
                </a:lnTo>
                <a:lnTo>
                  <a:pt x="202034" y="243399"/>
                </a:lnTo>
                <a:lnTo>
                  <a:pt x="180398" y="284415"/>
                </a:lnTo>
                <a:lnTo>
                  <a:pt x="163808" y="327616"/>
                </a:lnTo>
                <a:lnTo>
                  <a:pt x="218409" y="327615"/>
                </a:lnTo>
                <a:lnTo>
                  <a:pt x="92243" y="436821"/>
                </a:lnTo>
                <a:lnTo>
                  <a:pt x="0" y="327615"/>
                </a:lnTo>
                <a:lnTo>
                  <a:pt x="54602" y="327615"/>
                </a:lnTo>
                <a:lnTo>
                  <a:pt x="69931" y="287205"/>
                </a:lnTo>
                <a:lnTo>
                  <a:pt x="89643" y="248740"/>
                </a:lnTo>
                <a:lnTo>
                  <a:pt x="113475" y="212390"/>
                </a:lnTo>
                <a:lnTo>
                  <a:pt x="141161" y="178322"/>
                </a:lnTo>
                <a:lnTo>
                  <a:pt x="172437" y="146703"/>
                </a:lnTo>
                <a:lnTo>
                  <a:pt x="207038" y="117701"/>
                </a:lnTo>
                <a:lnTo>
                  <a:pt x="244700" y="91483"/>
                </a:lnTo>
                <a:lnTo>
                  <a:pt x="285158" y="68217"/>
                </a:lnTo>
                <a:lnTo>
                  <a:pt x="328148" y="48071"/>
                </a:lnTo>
                <a:lnTo>
                  <a:pt x="373405" y="31212"/>
                </a:lnTo>
                <a:lnTo>
                  <a:pt x="420664" y="17808"/>
                </a:lnTo>
                <a:lnTo>
                  <a:pt x="469662" y="8026"/>
                </a:lnTo>
                <a:lnTo>
                  <a:pt x="520133" y="2034"/>
                </a:lnTo>
                <a:lnTo>
                  <a:pt x="571812" y="0"/>
                </a:lnTo>
                <a:lnTo>
                  <a:pt x="681018" y="0"/>
                </a:lnTo>
                <a:lnTo>
                  <a:pt x="732462" y="1999"/>
                </a:lnTo>
                <a:lnTo>
                  <a:pt x="782523" y="7876"/>
                </a:lnTo>
                <a:lnTo>
                  <a:pt x="830976" y="17447"/>
                </a:lnTo>
                <a:lnTo>
                  <a:pt x="877599" y="30530"/>
                </a:lnTo>
                <a:lnTo>
                  <a:pt x="922166" y="46940"/>
                </a:lnTo>
                <a:lnTo>
                  <a:pt x="964454" y="66495"/>
                </a:lnTo>
                <a:lnTo>
                  <a:pt x="1004239" y="89013"/>
                </a:lnTo>
                <a:lnTo>
                  <a:pt x="1041298" y="114309"/>
                </a:lnTo>
                <a:lnTo>
                  <a:pt x="1075406" y="142201"/>
                </a:lnTo>
                <a:lnTo>
                  <a:pt x="1106340" y="172506"/>
                </a:lnTo>
                <a:lnTo>
                  <a:pt x="1133876" y="205040"/>
                </a:lnTo>
                <a:lnTo>
                  <a:pt x="1157789" y="239621"/>
                </a:lnTo>
                <a:lnTo>
                  <a:pt x="1177857" y="276066"/>
                </a:lnTo>
                <a:lnTo>
                  <a:pt x="1193854" y="314192"/>
                </a:lnTo>
                <a:lnTo>
                  <a:pt x="1205559" y="353815"/>
                </a:lnTo>
                <a:lnTo>
                  <a:pt x="1212745" y="394752"/>
                </a:lnTo>
                <a:lnTo>
                  <a:pt x="1215191" y="436821"/>
                </a:lnTo>
                <a:lnTo>
                  <a:pt x="1105985" y="436821"/>
                </a:lnTo>
                <a:lnTo>
                  <a:pt x="1103540" y="394752"/>
                </a:lnTo>
                <a:lnTo>
                  <a:pt x="1096353" y="353815"/>
                </a:lnTo>
                <a:lnTo>
                  <a:pt x="1084649" y="314192"/>
                </a:lnTo>
                <a:lnTo>
                  <a:pt x="1068651" y="276066"/>
                </a:lnTo>
                <a:lnTo>
                  <a:pt x="1048584" y="239621"/>
                </a:lnTo>
                <a:lnTo>
                  <a:pt x="1024670" y="205040"/>
                </a:lnTo>
                <a:lnTo>
                  <a:pt x="997135" y="172506"/>
                </a:lnTo>
                <a:lnTo>
                  <a:pt x="966201" y="142201"/>
                </a:lnTo>
                <a:lnTo>
                  <a:pt x="932093" y="114309"/>
                </a:lnTo>
                <a:lnTo>
                  <a:pt x="895034" y="89013"/>
                </a:lnTo>
                <a:lnTo>
                  <a:pt x="855249" y="66495"/>
                </a:lnTo>
                <a:lnTo>
                  <a:pt x="812960" y="46940"/>
                </a:lnTo>
                <a:lnTo>
                  <a:pt x="768393" y="30530"/>
                </a:lnTo>
                <a:lnTo>
                  <a:pt x="721771" y="17447"/>
                </a:lnTo>
                <a:lnTo>
                  <a:pt x="673318" y="7876"/>
                </a:lnTo>
                <a:lnTo>
                  <a:pt x="623257" y="1999"/>
                </a:lnTo>
                <a:lnTo>
                  <a:pt x="571812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2750355" y="3150107"/>
            <a:ext cx="215519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Iterative</a:t>
            </a:r>
            <a:r>
              <a:rPr dirty="0" sz="20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neighbor  aggregation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05" name="object 10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02336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434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B050"/>
                </a:solidFill>
              </a:rPr>
              <a:t>1. </a:t>
            </a:r>
            <a:r>
              <a:rPr dirty="0" spc="-10">
                <a:solidFill>
                  <a:srgbClr val="00B050"/>
                </a:solidFill>
              </a:rPr>
              <a:t>Node-level</a:t>
            </a:r>
            <a:r>
              <a:rPr dirty="0" spc="-40">
                <a:solidFill>
                  <a:srgbClr val="00B050"/>
                </a:solidFill>
              </a:rPr>
              <a:t> </a:t>
            </a:r>
            <a:r>
              <a:rPr dirty="0" spc="-15">
                <a:solidFill>
                  <a:srgbClr val="00B050"/>
                </a:solidFill>
              </a:rPr>
              <a:t>pre-training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30324"/>
            <a:ext cx="604456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19734" algn="l"/>
              </a:tabLst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Graph-level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pre-training</a:t>
            </a:r>
            <a:endParaRPr sz="320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spcBef>
                <a:spcPts val="70"/>
              </a:spcBef>
              <a:buAutoNum type="arabicPeriod" startAt="2"/>
              <a:tabLst>
                <a:tab pos="419734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Fine-tuning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downstream</a:t>
            </a:r>
            <a:r>
              <a:rPr dirty="0" sz="3200" spc="-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11523" y="4569459"/>
            <a:ext cx="11449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40">
                <a:latin typeface="Arial"/>
                <a:cs typeface="Arial"/>
              </a:rPr>
              <a:t>G</a:t>
            </a:r>
            <a:r>
              <a:rPr dirty="0" sz="4000" spc="-45">
                <a:latin typeface="Arial"/>
                <a:cs typeface="Arial"/>
              </a:rPr>
              <a:t>N</a:t>
            </a:r>
            <a:r>
              <a:rPr dirty="0" sz="4000" spc="-5">
                <a:latin typeface="Arial"/>
                <a:cs typeface="Arial"/>
              </a:rPr>
              <a:t>N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1351" y="3179964"/>
            <a:ext cx="2774950" cy="1727200"/>
          </a:xfrm>
          <a:custGeom>
            <a:avLst/>
            <a:gdLst/>
            <a:ahLst/>
            <a:cxnLst/>
            <a:rect l="l" t="t" r="r" b="b"/>
            <a:pathLst>
              <a:path w="2774950" h="1727200">
                <a:moveTo>
                  <a:pt x="2561820" y="1714500"/>
                </a:moveTo>
                <a:lnTo>
                  <a:pt x="214869" y="1714500"/>
                </a:lnTo>
                <a:lnTo>
                  <a:pt x="244073" y="1727200"/>
                </a:lnTo>
                <a:lnTo>
                  <a:pt x="2532699" y="1727200"/>
                </a:lnTo>
                <a:lnTo>
                  <a:pt x="2561820" y="1714500"/>
                </a:lnTo>
                <a:close/>
              </a:path>
              <a:path w="2774950" h="1727200">
                <a:moveTo>
                  <a:pt x="2559550" y="12700"/>
                </a:moveTo>
                <a:lnTo>
                  <a:pt x="212596" y="12700"/>
                </a:lnTo>
                <a:lnTo>
                  <a:pt x="184690" y="25400"/>
                </a:lnTo>
                <a:lnTo>
                  <a:pt x="158155" y="38100"/>
                </a:lnTo>
                <a:lnTo>
                  <a:pt x="133145" y="63500"/>
                </a:lnTo>
                <a:lnTo>
                  <a:pt x="109808" y="76200"/>
                </a:lnTo>
                <a:lnTo>
                  <a:pt x="68753" y="114300"/>
                </a:lnTo>
                <a:lnTo>
                  <a:pt x="36191" y="165100"/>
                </a:lnTo>
                <a:lnTo>
                  <a:pt x="13351" y="215900"/>
                </a:lnTo>
                <a:lnTo>
                  <a:pt x="5966" y="254000"/>
                </a:lnTo>
                <a:lnTo>
                  <a:pt x="0" y="304800"/>
                </a:lnTo>
                <a:lnTo>
                  <a:pt x="30" y="1435100"/>
                </a:lnTo>
                <a:lnTo>
                  <a:pt x="6447" y="1485900"/>
                </a:lnTo>
                <a:lnTo>
                  <a:pt x="14057" y="1524000"/>
                </a:lnTo>
                <a:lnTo>
                  <a:pt x="37301" y="1574800"/>
                </a:lnTo>
                <a:lnTo>
                  <a:pt x="70213" y="1625600"/>
                </a:lnTo>
                <a:lnTo>
                  <a:pt x="111577" y="1663700"/>
                </a:lnTo>
                <a:lnTo>
                  <a:pt x="135056" y="1676400"/>
                </a:lnTo>
                <a:lnTo>
                  <a:pt x="160200" y="1701800"/>
                </a:lnTo>
                <a:lnTo>
                  <a:pt x="186857" y="1714500"/>
                </a:lnTo>
                <a:lnTo>
                  <a:pt x="2589727" y="1714500"/>
                </a:lnTo>
                <a:lnTo>
                  <a:pt x="2616261" y="1701800"/>
                </a:lnTo>
                <a:lnTo>
                  <a:pt x="248418" y="1701800"/>
                </a:lnTo>
                <a:lnTo>
                  <a:pt x="222041" y="1689100"/>
                </a:lnTo>
                <a:lnTo>
                  <a:pt x="196756" y="1689100"/>
                </a:lnTo>
                <a:lnTo>
                  <a:pt x="172699" y="1676400"/>
                </a:lnTo>
                <a:lnTo>
                  <a:pt x="150010" y="1663700"/>
                </a:lnTo>
                <a:lnTo>
                  <a:pt x="128825" y="1638300"/>
                </a:lnTo>
                <a:lnTo>
                  <a:pt x="109284" y="1625600"/>
                </a:lnTo>
                <a:lnTo>
                  <a:pt x="91525" y="1600200"/>
                </a:lnTo>
                <a:lnTo>
                  <a:pt x="75690" y="1587500"/>
                </a:lnTo>
                <a:lnTo>
                  <a:pt x="61915" y="1562100"/>
                </a:lnTo>
                <a:lnTo>
                  <a:pt x="41102" y="1511300"/>
                </a:lnTo>
                <a:lnTo>
                  <a:pt x="30191" y="1460500"/>
                </a:lnTo>
                <a:lnTo>
                  <a:pt x="28793" y="1435100"/>
                </a:lnTo>
                <a:lnTo>
                  <a:pt x="28800" y="304800"/>
                </a:lnTo>
                <a:lnTo>
                  <a:pt x="34436" y="254000"/>
                </a:lnTo>
                <a:lnTo>
                  <a:pt x="50523" y="203200"/>
                </a:lnTo>
                <a:lnTo>
                  <a:pt x="75948" y="152400"/>
                </a:lnTo>
                <a:lnTo>
                  <a:pt x="91817" y="139700"/>
                </a:lnTo>
                <a:lnTo>
                  <a:pt x="109607" y="114300"/>
                </a:lnTo>
                <a:lnTo>
                  <a:pt x="129178" y="101600"/>
                </a:lnTo>
                <a:lnTo>
                  <a:pt x="150392" y="76200"/>
                </a:lnTo>
                <a:lnTo>
                  <a:pt x="173109" y="63500"/>
                </a:lnTo>
                <a:lnTo>
                  <a:pt x="197189" y="50800"/>
                </a:lnTo>
                <a:lnTo>
                  <a:pt x="222495" y="50800"/>
                </a:lnTo>
                <a:lnTo>
                  <a:pt x="248889" y="38100"/>
                </a:lnTo>
                <a:lnTo>
                  <a:pt x="2614219" y="38100"/>
                </a:lnTo>
                <a:lnTo>
                  <a:pt x="2587563" y="25400"/>
                </a:lnTo>
                <a:lnTo>
                  <a:pt x="2559550" y="12700"/>
                </a:lnTo>
                <a:close/>
              </a:path>
              <a:path w="2774950" h="1727200">
                <a:moveTo>
                  <a:pt x="2614219" y="38100"/>
                </a:moveTo>
                <a:lnTo>
                  <a:pt x="2526001" y="38100"/>
                </a:lnTo>
                <a:lnTo>
                  <a:pt x="2552378" y="50800"/>
                </a:lnTo>
                <a:lnTo>
                  <a:pt x="2577663" y="50800"/>
                </a:lnTo>
                <a:lnTo>
                  <a:pt x="2601719" y="63500"/>
                </a:lnTo>
                <a:lnTo>
                  <a:pt x="2624409" y="76200"/>
                </a:lnTo>
                <a:lnTo>
                  <a:pt x="2645594" y="101600"/>
                </a:lnTo>
                <a:lnTo>
                  <a:pt x="2665135" y="114300"/>
                </a:lnTo>
                <a:lnTo>
                  <a:pt x="2682894" y="139700"/>
                </a:lnTo>
                <a:lnTo>
                  <a:pt x="2698729" y="152400"/>
                </a:lnTo>
                <a:lnTo>
                  <a:pt x="2712504" y="177800"/>
                </a:lnTo>
                <a:lnTo>
                  <a:pt x="2733317" y="228600"/>
                </a:lnTo>
                <a:lnTo>
                  <a:pt x="2744228" y="279400"/>
                </a:lnTo>
                <a:lnTo>
                  <a:pt x="2745625" y="304800"/>
                </a:lnTo>
                <a:lnTo>
                  <a:pt x="2745617" y="1435100"/>
                </a:lnTo>
                <a:lnTo>
                  <a:pt x="2739980" y="1485900"/>
                </a:lnTo>
                <a:lnTo>
                  <a:pt x="2723893" y="1536700"/>
                </a:lnTo>
                <a:lnTo>
                  <a:pt x="2698468" y="1587500"/>
                </a:lnTo>
                <a:lnTo>
                  <a:pt x="2682599" y="1600200"/>
                </a:lnTo>
                <a:lnTo>
                  <a:pt x="2664809" y="1625600"/>
                </a:lnTo>
                <a:lnTo>
                  <a:pt x="2645237" y="1638300"/>
                </a:lnTo>
                <a:lnTo>
                  <a:pt x="2624024" y="1663700"/>
                </a:lnTo>
                <a:lnTo>
                  <a:pt x="2601308" y="1676400"/>
                </a:lnTo>
                <a:lnTo>
                  <a:pt x="2577227" y="1689100"/>
                </a:lnTo>
                <a:lnTo>
                  <a:pt x="2551921" y="1689100"/>
                </a:lnTo>
                <a:lnTo>
                  <a:pt x="2525527" y="1701800"/>
                </a:lnTo>
                <a:lnTo>
                  <a:pt x="2616261" y="1701800"/>
                </a:lnTo>
                <a:lnTo>
                  <a:pt x="2641271" y="1676400"/>
                </a:lnTo>
                <a:lnTo>
                  <a:pt x="2664608" y="1663700"/>
                </a:lnTo>
                <a:lnTo>
                  <a:pt x="2686121" y="1638300"/>
                </a:lnTo>
                <a:lnTo>
                  <a:pt x="2705664" y="1625600"/>
                </a:lnTo>
                <a:lnTo>
                  <a:pt x="2723082" y="1600200"/>
                </a:lnTo>
                <a:lnTo>
                  <a:pt x="2750938" y="1549400"/>
                </a:lnTo>
                <a:lnTo>
                  <a:pt x="2768450" y="1485900"/>
                </a:lnTo>
                <a:lnTo>
                  <a:pt x="2774416" y="1435100"/>
                </a:lnTo>
                <a:lnTo>
                  <a:pt x="2774388" y="304800"/>
                </a:lnTo>
                <a:lnTo>
                  <a:pt x="2767971" y="241300"/>
                </a:lnTo>
                <a:lnTo>
                  <a:pt x="2750026" y="190500"/>
                </a:lnTo>
                <a:lnTo>
                  <a:pt x="2721794" y="139700"/>
                </a:lnTo>
                <a:lnTo>
                  <a:pt x="2684505" y="88900"/>
                </a:lnTo>
                <a:lnTo>
                  <a:pt x="2662842" y="76200"/>
                </a:lnTo>
                <a:lnTo>
                  <a:pt x="2639363" y="50800"/>
                </a:lnTo>
                <a:lnTo>
                  <a:pt x="2614219" y="38100"/>
                </a:lnTo>
                <a:close/>
              </a:path>
              <a:path w="2774950" h="1727200">
                <a:moveTo>
                  <a:pt x="279132" y="50800"/>
                </a:moveTo>
                <a:lnTo>
                  <a:pt x="225795" y="50800"/>
                </a:lnTo>
                <a:lnTo>
                  <a:pt x="201355" y="63500"/>
                </a:lnTo>
                <a:lnTo>
                  <a:pt x="156141" y="88900"/>
                </a:lnTo>
                <a:lnTo>
                  <a:pt x="116711" y="114300"/>
                </a:lnTo>
                <a:lnTo>
                  <a:pt x="84153" y="165100"/>
                </a:lnTo>
                <a:lnTo>
                  <a:pt x="70786" y="177800"/>
                </a:lnTo>
                <a:lnTo>
                  <a:pt x="50541" y="228600"/>
                </a:lnTo>
                <a:lnTo>
                  <a:pt x="39828" y="279400"/>
                </a:lnTo>
                <a:lnTo>
                  <a:pt x="38381" y="1422400"/>
                </a:lnTo>
                <a:lnTo>
                  <a:pt x="39681" y="1460500"/>
                </a:lnTo>
                <a:lnTo>
                  <a:pt x="43638" y="1485900"/>
                </a:lnTo>
                <a:lnTo>
                  <a:pt x="50118" y="1511300"/>
                </a:lnTo>
                <a:lnTo>
                  <a:pt x="58989" y="1536700"/>
                </a:lnTo>
                <a:lnTo>
                  <a:pt x="70120" y="1549400"/>
                </a:lnTo>
                <a:lnTo>
                  <a:pt x="83378" y="1574800"/>
                </a:lnTo>
                <a:lnTo>
                  <a:pt x="98630" y="1600200"/>
                </a:lnTo>
                <a:lnTo>
                  <a:pt x="115740" y="1612900"/>
                </a:lnTo>
                <a:lnTo>
                  <a:pt x="134574" y="1638300"/>
                </a:lnTo>
                <a:lnTo>
                  <a:pt x="154994" y="1651000"/>
                </a:lnTo>
                <a:lnTo>
                  <a:pt x="176866" y="1663700"/>
                </a:lnTo>
                <a:lnTo>
                  <a:pt x="200055" y="1676400"/>
                </a:lnTo>
                <a:lnTo>
                  <a:pt x="224431" y="1689100"/>
                </a:lnTo>
                <a:lnTo>
                  <a:pt x="276721" y="1689100"/>
                </a:lnTo>
                <a:lnTo>
                  <a:pt x="251315" y="1676400"/>
                </a:lnTo>
                <a:lnTo>
                  <a:pt x="226822" y="1676400"/>
                </a:lnTo>
                <a:lnTo>
                  <a:pt x="203355" y="1663700"/>
                </a:lnTo>
                <a:lnTo>
                  <a:pt x="159978" y="1638300"/>
                </a:lnTo>
                <a:lnTo>
                  <a:pt x="122197" y="1612900"/>
                </a:lnTo>
                <a:lnTo>
                  <a:pt x="105734" y="1587500"/>
                </a:lnTo>
                <a:lnTo>
                  <a:pt x="91066" y="1574800"/>
                </a:lnTo>
                <a:lnTo>
                  <a:pt x="78324" y="1549400"/>
                </a:lnTo>
                <a:lnTo>
                  <a:pt x="67638" y="1524000"/>
                </a:lnTo>
                <a:lnTo>
                  <a:pt x="59133" y="1498600"/>
                </a:lnTo>
                <a:lnTo>
                  <a:pt x="52935" y="1485900"/>
                </a:lnTo>
                <a:lnTo>
                  <a:pt x="49171" y="1460500"/>
                </a:lnTo>
                <a:lnTo>
                  <a:pt x="47969" y="1422400"/>
                </a:lnTo>
                <a:lnTo>
                  <a:pt x="48000" y="304800"/>
                </a:lnTo>
                <a:lnTo>
                  <a:pt x="53417" y="254000"/>
                </a:lnTo>
                <a:lnTo>
                  <a:pt x="68553" y="203200"/>
                </a:lnTo>
                <a:lnTo>
                  <a:pt x="79435" y="190500"/>
                </a:lnTo>
                <a:lnTo>
                  <a:pt x="92357" y="165100"/>
                </a:lnTo>
                <a:lnTo>
                  <a:pt x="123816" y="127000"/>
                </a:lnTo>
                <a:lnTo>
                  <a:pt x="161890" y="101600"/>
                </a:lnTo>
                <a:lnTo>
                  <a:pt x="205522" y="76200"/>
                </a:lnTo>
                <a:lnTo>
                  <a:pt x="229094" y="63500"/>
                </a:lnTo>
                <a:lnTo>
                  <a:pt x="253670" y="63500"/>
                </a:lnTo>
                <a:lnTo>
                  <a:pt x="279132" y="50800"/>
                </a:lnTo>
                <a:close/>
              </a:path>
              <a:path w="2774950" h="1727200">
                <a:moveTo>
                  <a:pt x="2549988" y="50800"/>
                </a:moveTo>
                <a:lnTo>
                  <a:pt x="2497697" y="50800"/>
                </a:lnTo>
                <a:lnTo>
                  <a:pt x="2523104" y="63500"/>
                </a:lnTo>
                <a:lnTo>
                  <a:pt x="2547597" y="63500"/>
                </a:lnTo>
                <a:lnTo>
                  <a:pt x="2571064" y="76200"/>
                </a:lnTo>
                <a:lnTo>
                  <a:pt x="2614441" y="101600"/>
                </a:lnTo>
                <a:lnTo>
                  <a:pt x="2652222" y="127000"/>
                </a:lnTo>
                <a:lnTo>
                  <a:pt x="2668685" y="152400"/>
                </a:lnTo>
                <a:lnTo>
                  <a:pt x="2683354" y="165100"/>
                </a:lnTo>
                <a:lnTo>
                  <a:pt x="2696094" y="190500"/>
                </a:lnTo>
                <a:lnTo>
                  <a:pt x="2706781" y="215900"/>
                </a:lnTo>
                <a:lnTo>
                  <a:pt x="2715286" y="228600"/>
                </a:lnTo>
                <a:lnTo>
                  <a:pt x="2721484" y="254000"/>
                </a:lnTo>
                <a:lnTo>
                  <a:pt x="2725248" y="279400"/>
                </a:lnTo>
                <a:lnTo>
                  <a:pt x="2726450" y="304800"/>
                </a:lnTo>
                <a:lnTo>
                  <a:pt x="2726417" y="1435100"/>
                </a:lnTo>
                <a:lnTo>
                  <a:pt x="2725001" y="1460500"/>
                </a:lnTo>
                <a:lnTo>
                  <a:pt x="2720999" y="1485900"/>
                </a:lnTo>
                <a:lnTo>
                  <a:pt x="2714578" y="1511300"/>
                </a:lnTo>
                <a:lnTo>
                  <a:pt x="2705863" y="1524000"/>
                </a:lnTo>
                <a:lnTo>
                  <a:pt x="2694982" y="1549400"/>
                </a:lnTo>
                <a:lnTo>
                  <a:pt x="2682059" y="1574800"/>
                </a:lnTo>
                <a:lnTo>
                  <a:pt x="2667222" y="1587500"/>
                </a:lnTo>
                <a:lnTo>
                  <a:pt x="2650600" y="1612900"/>
                </a:lnTo>
                <a:lnTo>
                  <a:pt x="2612526" y="1638300"/>
                </a:lnTo>
                <a:lnTo>
                  <a:pt x="2568895" y="1663700"/>
                </a:lnTo>
                <a:lnTo>
                  <a:pt x="2545322" y="1676400"/>
                </a:lnTo>
                <a:lnTo>
                  <a:pt x="2520745" y="1676400"/>
                </a:lnTo>
                <a:lnTo>
                  <a:pt x="2495284" y="1689100"/>
                </a:lnTo>
                <a:lnTo>
                  <a:pt x="2548622" y="1689100"/>
                </a:lnTo>
                <a:lnTo>
                  <a:pt x="2573060" y="1676400"/>
                </a:lnTo>
                <a:lnTo>
                  <a:pt x="2596323" y="1663700"/>
                </a:lnTo>
                <a:lnTo>
                  <a:pt x="2618275" y="1651000"/>
                </a:lnTo>
                <a:lnTo>
                  <a:pt x="2638780" y="1638300"/>
                </a:lnTo>
                <a:lnTo>
                  <a:pt x="2657705" y="1612900"/>
                </a:lnTo>
                <a:lnTo>
                  <a:pt x="2674911" y="1600200"/>
                </a:lnTo>
                <a:lnTo>
                  <a:pt x="2690264" y="1574800"/>
                </a:lnTo>
                <a:lnTo>
                  <a:pt x="2703630" y="1562100"/>
                </a:lnTo>
                <a:lnTo>
                  <a:pt x="2714877" y="1536700"/>
                </a:lnTo>
                <a:lnTo>
                  <a:pt x="2730490" y="1485900"/>
                </a:lnTo>
                <a:lnTo>
                  <a:pt x="2736017" y="1435100"/>
                </a:lnTo>
                <a:lnTo>
                  <a:pt x="2736038" y="304800"/>
                </a:lnTo>
                <a:lnTo>
                  <a:pt x="2734738" y="279400"/>
                </a:lnTo>
                <a:lnTo>
                  <a:pt x="2724301" y="228600"/>
                </a:lnTo>
                <a:lnTo>
                  <a:pt x="2704300" y="177800"/>
                </a:lnTo>
                <a:lnTo>
                  <a:pt x="2691041" y="165100"/>
                </a:lnTo>
                <a:lnTo>
                  <a:pt x="2675789" y="139700"/>
                </a:lnTo>
                <a:lnTo>
                  <a:pt x="2658679" y="127000"/>
                </a:lnTo>
                <a:lnTo>
                  <a:pt x="2639845" y="101600"/>
                </a:lnTo>
                <a:lnTo>
                  <a:pt x="2619426" y="88900"/>
                </a:lnTo>
                <a:lnTo>
                  <a:pt x="2597554" y="76200"/>
                </a:lnTo>
                <a:lnTo>
                  <a:pt x="2574363" y="63500"/>
                </a:lnTo>
                <a:lnTo>
                  <a:pt x="2549988" y="50800"/>
                </a:lnTo>
                <a:close/>
              </a:path>
              <a:path w="2774950" h="1727200">
                <a:moveTo>
                  <a:pt x="2470264" y="38100"/>
                </a:moveTo>
                <a:lnTo>
                  <a:pt x="277683" y="38100"/>
                </a:lnTo>
                <a:lnTo>
                  <a:pt x="251280" y="50800"/>
                </a:lnTo>
                <a:lnTo>
                  <a:pt x="2498182" y="50800"/>
                </a:lnTo>
                <a:lnTo>
                  <a:pt x="2470264" y="38100"/>
                </a:lnTo>
                <a:close/>
              </a:path>
              <a:path w="2774950" h="1727200">
                <a:moveTo>
                  <a:pt x="2500118" y="0"/>
                </a:moveTo>
                <a:lnTo>
                  <a:pt x="271890" y="0"/>
                </a:lnTo>
                <a:lnTo>
                  <a:pt x="241717" y="12700"/>
                </a:lnTo>
                <a:lnTo>
                  <a:pt x="2530346" y="12700"/>
                </a:lnTo>
                <a:lnTo>
                  <a:pt x="250011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38377" y="3807549"/>
            <a:ext cx="1857413" cy="1057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64810" y="3277108"/>
            <a:ext cx="204533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 indent="309880">
              <a:lnSpc>
                <a:spcPts val="1900"/>
              </a:lnSpc>
              <a:spcBef>
                <a:spcPts val="180"/>
              </a:spcBef>
            </a:pPr>
            <a:r>
              <a:rPr dirty="0" sz="1600" spc="-5">
                <a:latin typeface="Arial"/>
                <a:cs typeface="Arial"/>
              </a:rPr>
              <a:t>Self-supervised  node-level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pre-training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3121" y="5027799"/>
            <a:ext cx="2792730" cy="1676400"/>
          </a:xfrm>
          <a:custGeom>
            <a:avLst/>
            <a:gdLst/>
            <a:ahLst/>
            <a:cxnLst/>
            <a:rect l="l" t="t" r="r" b="b"/>
            <a:pathLst>
              <a:path w="2792729" h="1676400">
                <a:moveTo>
                  <a:pt x="2585963" y="1663700"/>
                </a:moveTo>
                <a:lnTo>
                  <a:pt x="208955" y="1663700"/>
                </a:lnTo>
                <a:lnTo>
                  <a:pt x="237353" y="1676400"/>
                </a:lnTo>
                <a:lnTo>
                  <a:pt x="2557649" y="1676400"/>
                </a:lnTo>
                <a:lnTo>
                  <a:pt x="2585963" y="1663700"/>
                </a:lnTo>
                <a:close/>
              </a:path>
              <a:path w="2792729" h="1676400">
                <a:moveTo>
                  <a:pt x="2583691" y="12700"/>
                </a:moveTo>
                <a:lnTo>
                  <a:pt x="206683" y="12700"/>
                </a:lnTo>
                <a:lnTo>
                  <a:pt x="179550" y="25400"/>
                </a:lnTo>
                <a:lnTo>
                  <a:pt x="153751" y="38100"/>
                </a:lnTo>
                <a:lnTo>
                  <a:pt x="129434" y="50800"/>
                </a:lnTo>
                <a:lnTo>
                  <a:pt x="106745" y="76200"/>
                </a:lnTo>
                <a:lnTo>
                  <a:pt x="85830" y="88900"/>
                </a:lnTo>
                <a:lnTo>
                  <a:pt x="49897" y="139700"/>
                </a:lnTo>
                <a:lnTo>
                  <a:pt x="22816" y="190500"/>
                </a:lnTo>
                <a:lnTo>
                  <a:pt x="5795" y="241300"/>
                </a:lnTo>
                <a:lnTo>
                  <a:pt x="0" y="304800"/>
                </a:lnTo>
                <a:lnTo>
                  <a:pt x="30" y="1384300"/>
                </a:lnTo>
                <a:lnTo>
                  <a:pt x="1677" y="1422400"/>
                </a:lnTo>
                <a:lnTo>
                  <a:pt x="13679" y="1473200"/>
                </a:lnTo>
                <a:lnTo>
                  <a:pt x="36285" y="1524000"/>
                </a:lnTo>
                <a:lnTo>
                  <a:pt x="68291" y="1574800"/>
                </a:lnTo>
                <a:lnTo>
                  <a:pt x="108515" y="1612900"/>
                </a:lnTo>
                <a:lnTo>
                  <a:pt x="131346" y="1638300"/>
                </a:lnTo>
                <a:lnTo>
                  <a:pt x="155796" y="1651000"/>
                </a:lnTo>
                <a:lnTo>
                  <a:pt x="181717" y="1663700"/>
                </a:lnTo>
                <a:lnTo>
                  <a:pt x="2613096" y="1663700"/>
                </a:lnTo>
                <a:lnTo>
                  <a:pt x="2638895" y="1651000"/>
                </a:lnTo>
                <a:lnTo>
                  <a:pt x="241698" y="1651000"/>
                </a:lnTo>
                <a:lnTo>
                  <a:pt x="216127" y="1638300"/>
                </a:lnTo>
                <a:lnTo>
                  <a:pt x="191615" y="1638300"/>
                </a:lnTo>
                <a:lnTo>
                  <a:pt x="168295" y="1625600"/>
                </a:lnTo>
                <a:lnTo>
                  <a:pt x="146299" y="1612900"/>
                </a:lnTo>
                <a:lnTo>
                  <a:pt x="125762" y="1587500"/>
                </a:lnTo>
                <a:lnTo>
                  <a:pt x="106818" y="1574800"/>
                </a:lnTo>
                <a:lnTo>
                  <a:pt x="74252" y="1536700"/>
                </a:lnTo>
                <a:lnTo>
                  <a:pt x="49679" y="1485900"/>
                </a:lnTo>
                <a:lnTo>
                  <a:pt x="34169" y="1435100"/>
                </a:lnTo>
                <a:lnTo>
                  <a:pt x="28793" y="1384300"/>
                </a:lnTo>
                <a:lnTo>
                  <a:pt x="28800" y="304800"/>
                </a:lnTo>
                <a:lnTo>
                  <a:pt x="30196" y="266700"/>
                </a:lnTo>
                <a:lnTo>
                  <a:pt x="40865" y="215900"/>
                </a:lnTo>
                <a:lnTo>
                  <a:pt x="61121" y="177800"/>
                </a:lnTo>
                <a:lnTo>
                  <a:pt x="74511" y="152400"/>
                </a:lnTo>
                <a:lnTo>
                  <a:pt x="89896" y="127000"/>
                </a:lnTo>
                <a:lnTo>
                  <a:pt x="107142" y="114300"/>
                </a:lnTo>
                <a:lnTo>
                  <a:pt x="126116" y="88900"/>
                </a:lnTo>
                <a:lnTo>
                  <a:pt x="146681" y="76200"/>
                </a:lnTo>
                <a:lnTo>
                  <a:pt x="168704" y="63500"/>
                </a:lnTo>
                <a:lnTo>
                  <a:pt x="192049" y="50800"/>
                </a:lnTo>
                <a:lnTo>
                  <a:pt x="216582" y="50800"/>
                </a:lnTo>
                <a:lnTo>
                  <a:pt x="242169" y="38100"/>
                </a:lnTo>
                <a:lnTo>
                  <a:pt x="2636850" y="38100"/>
                </a:lnTo>
                <a:lnTo>
                  <a:pt x="2610930" y="25400"/>
                </a:lnTo>
                <a:lnTo>
                  <a:pt x="2583691" y="12700"/>
                </a:lnTo>
                <a:close/>
              </a:path>
              <a:path w="2792729" h="1676400">
                <a:moveTo>
                  <a:pt x="2636850" y="38100"/>
                </a:moveTo>
                <a:lnTo>
                  <a:pt x="2550948" y="38100"/>
                </a:lnTo>
                <a:lnTo>
                  <a:pt x="2576519" y="50800"/>
                </a:lnTo>
                <a:lnTo>
                  <a:pt x="2601031" y="50800"/>
                </a:lnTo>
                <a:lnTo>
                  <a:pt x="2624351" y="63500"/>
                </a:lnTo>
                <a:lnTo>
                  <a:pt x="2646347" y="76200"/>
                </a:lnTo>
                <a:lnTo>
                  <a:pt x="2666885" y="88900"/>
                </a:lnTo>
                <a:lnTo>
                  <a:pt x="2685828" y="114300"/>
                </a:lnTo>
                <a:lnTo>
                  <a:pt x="2703043" y="127000"/>
                </a:lnTo>
                <a:lnTo>
                  <a:pt x="2718393" y="152400"/>
                </a:lnTo>
                <a:lnTo>
                  <a:pt x="2731747" y="177800"/>
                </a:lnTo>
                <a:lnTo>
                  <a:pt x="2742968" y="190500"/>
                </a:lnTo>
                <a:lnTo>
                  <a:pt x="2751922" y="215900"/>
                </a:lnTo>
                <a:lnTo>
                  <a:pt x="2758477" y="241300"/>
                </a:lnTo>
                <a:lnTo>
                  <a:pt x="2762499" y="266700"/>
                </a:lnTo>
                <a:lnTo>
                  <a:pt x="2763853" y="304800"/>
                </a:lnTo>
                <a:lnTo>
                  <a:pt x="2763847" y="1384300"/>
                </a:lnTo>
                <a:lnTo>
                  <a:pt x="2758380" y="1435100"/>
                </a:lnTo>
                <a:lnTo>
                  <a:pt x="2742785" y="1485900"/>
                </a:lnTo>
                <a:lnTo>
                  <a:pt x="2718135" y="1536700"/>
                </a:lnTo>
                <a:lnTo>
                  <a:pt x="2685504" y="1574800"/>
                </a:lnTo>
                <a:lnTo>
                  <a:pt x="2666530" y="1587500"/>
                </a:lnTo>
                <a:lnTo>
                  <a:pt x="2645965" y="1612900"/>
                </a:lnTo>
                <a:lnTo>
                  <a:pt x="2623942" y="1625600"/>
                </a:lnTo>
                <a:lnTo>
                  <a:pt x="2600597" y="1638300"/>
                </a:lnTo>
                <a:lnTo>
                  <a:pt x="2576064" y="1638300"/>
                </a:lnTo>
                <a:lnTo>
                  <a:pt x="2550476" y="1651000"/>
                </a:lnTo>
                <a:lnTo>
                  <a:pt x="2638895" y="1651000"/>
                </a:lnTo>
                <a:lnTo>
                  <a:pt x="2663212" y="1625600"/>
                </a:lnTo>
                <a:lnTo>
                  <a:pt x="2685900" y="1612900"/>
                </a:lnTo>
                <a:lnTo>
                  <a:pt x="2725815" y="1574800"/>
                </a:lnTo>
                <a:lnTo>
                  <a:pt x="2757471" y="1524000"/>
                </a:lnTo>
                <a:lnTo>
                  <a:pt x="2779673" y="1473200"/>
                </a:lnTo>
                <a:lnTo>
                  <a:pt x="2791212" y="1409700"/>
                </a:lnTo>
                <a:lnTo>
                  <a:pt x="2792646" y="1384300"/>
                </a:lnTo>
                <a:lnTo>
                  <a:pt x="2792616" y="304800"/>
                </a:lnTo>
                <a:lnTo>
                  <a:pt x="2790969" y="266700"/>
                </a:lnTo>
                <a:lnTo>
                  <a:pt x="2786370" y="241300"/>
                </a:lnTo>
                <a:lnTo>
                  <a:pt x="2778967" y="215900"/>
                </a:lnTo>
                <a:lnTo>
                  <a:pt x="2768914" y="177800"/>
                </a:lnTo>
                <a:lnTo>
                  <a:pt x="2756360" y="152400"/>
                </a:lnTo>
                <a:lnTo>
                  <a:pt x="2741458" y="139700"/>
                </a:lnTo>
                <a:lnTo>
                  <a:pt x="2724355" y="114300"/>
                </a:lnTo>
                <a:lnTo>
                  <a:pt x="2705198" y="88900"/>
                </a:lnTo>
                <a:lnTo>
                  <a:pt x="2684131" y="76200"/>
                </a:lnTo>
                <a:lnTo>
                  <a:pt x="2661300" y="50800"/>
                </a:lnTo>
                <a:lnTo>
                  <a:pt x="2636850" y="38100"/>
                </a:lnTo>
                <a:close/>
              </a:path>
              <a:path w="2792729" h="1676400">
                <a:moveTo>
                  <a:pt x="246950" y="50800"/>
                </a:moveTo>
                <a:lnTo>
                  <a:pt x="219881" y="50800"/>
                </a:lnTo>
                <a:lnTo>
                  <a:pt x="196215" y="63500"/>
                </a:lnTo>
                <a:lnTo>
                  <a:pt x="152430" y="88900"/>
                </a:lnTo>
                <a:lnTo>
                  <a:pt x="114246" y="114300"/>
                </a:lnTo>
                <a:lnTo>
                  <a:pt x="97584" y="139700"/>
                </a:lnTo>
                <a:lnTo>
                  <a:pt x="82715" y="152400"/>
                </a:lnTo>
                <a:lnTo>
                  <a:pt x="69770" y="177800"/>
                </a:lnTo>
                <a:lnTo>
                  <a:pt x="58877" y="203200"/>
                </a:lnTo>
                <a:lnTo>
                  <a:pt x="50163" y="228600"/>
                </a:lnTo>
                <a:lnTo>
                  <a:pt x="43755" y="241300"/>
                </a:lnTo>
                <a:lnTo>
                  <a:pt x="39784" y="266700"/>
                </a:lnTo>
                <a:lnTo>
                  <a:pt x="38399" y="304800"/>
                </a:lnTo>
                <a:lnTo>
                  <a:pt x="38381" y="1384300"/>
                </a:lnTo>
                <a:lnTo>
                  <a:pt x="39638" y="1409700"/>
                </a:lnTo>
                <a:lnTo>
                  <a:pt x="49739" y="1460500"/>
                </a:lnTo>
                <a:lnTo>
                  <a:pt x="69104" y="1511300"/>
                </a:lnTo>
                <a:lnTo>
                  <a:pt x="81941" y="1524000"/>
                </a:lnTo>
                <a:lnTo>
                  <a:pt x="96708" y="1549400"/>
                </a:lnTo>
                <a:lnTo>
                  <a:pt x="131511" y="1587500"/>
                </a:lnTo>
                <a:lnTo>
                  <a:pt x="172461" y="1612900"/>
                </a:lnTo>
                <a:lnTo>
                  <a:pt x="218518" y="1638300"/>
                </a:lnTo>
                <a:lnTo>
                  <a:pt x="269165" y="1638300"/>
                </a:lnTo>
                <a:lnTo>
                  <a:pt x="244595" y="1625600"/>
                </a:lnTo>
                <a:lnTo>
                  <a:pt x="220909" y="1625600"/>
                </a:lnTo>
                <a:lnTo>
                  <a:pt x="198214" y="1612900"/>
                </a:lnTo>
                <a:lnTo>
                  <a:pt x="156268" y="1587500"/>
                </a:lnTo>
                <a:lnTo>
                  <a:pt x="119732" y="1562100"/>
                </a:lnTo>
                <a:lnTo>
                  <a:pt x="89629" y="1524000"/>
                </a:lnTo>
                <a:lnTo>
                  <a:pt x="77308" y="1498600"/>
                </a:lnTo>
                <a:lnTo>
                  <a:pt x="66976" y="1485900"/>
                </a:lnTo>
                <a:lnTo>
                  <a:pt x="58754" y="1460500"/>
                </a:lnTo>
                <a:lnTo>
                  <a:pt x="52764" y="1435100"/>
                </a:lnTo>
                <a:lnTo>
                  <a:pt x="49128" y="1409700"/>
                </a:lnTo>
                <a:lnTo>
                  <a:pt x="47969" y="1384300"/>
                </a:lnTo>
                <a:lnTo>
                  <a:pt x="48000" y="304800"/>
                </a:lnTo>
                <a:lnTo>
                  <a:pt x="53246" y="254000"/>
                </a:lnTo>
                <a:lnTo>
                  <a:pt x="67892" y="203200"/>
                </a:lnTo>
                <a:lnTo>
                  <a:pt x="90920" y="165100"/>
                </a:lnTo>
                <a:lnTo>
                  <a:pt x="105272" y="139700"/>
                </a:lnTo>
                <a:lnTo>
                  <a:pt x="121351" y="127000"/>
                </a:lnTo>
                <a:lnTo>
                  <a:pt x="139029" y="114300"/>
                </a:lnTo>
                <a:lnTo>
                  <a:pt x="158180" y="88900"/>
                </a:lnTo>
                <a:lnTo>
                  <a:pt x="178673" y="76200"/>
                </a:lnTo>
                <a:lnTo>
                  <a:pt x="200381" y="76200"/>
                </a:lnTo>
                <a:lnTo>
                  <a:pt x="223181" y="63500"/>
                </a:lnTo>
                <a:lnTo>
                  <a:pt x="246950" y="50800"/>
                </a:lnTo>
                <a:close/>
              </a:path>
              <a:path w="2792729" h="1676400">
                <a:moveTo>
                  <a:pt x="2574129" y="50800"/>
                </a:moveTo>
                <a:lnTo>
                  <a:pt x="2523481" y="50800"/>
                </a:lnTo>
                <a:lnTo>
                  <a:pt x="2548051" y="63500"/>
                </a:lnTo>
                <a:lnTo>
                  <a:pt x="2571737" y="63500"/>
                </a:lnTo>
                <a:lnTo>
                  <a:pt x="2594431" y="76200"/>
                </a:lnTo>
                <a:lnTo>
                  <a:pt x="2616019" y="88900"/>
                </a:lnTo>
                <a:lnTo>
                  <a:pt x="2636378" y="88900"/>
                </a:lnTo>
                <a:lnTo>
                  <a:pt x="2655386" y="114300"/>
                </a:lnTo>
                <a:lnTo>
                  <a:pt x="2672915" y="127000"/>
                </a:lnTo>
                <a:lnTo>
                  <a:pt x="2688834" y="139700"/>
                </a:lnTo>
                <a:lnTo>
                  <a:pt x="2703017" y="165100"/>
                </a:lnTo>
                <a:lnTo>
                  <a:pt x="2715338" y="177800"/>
                </a:lnTo>
                <a:lnTo>
                  <a:pt x="2733892" y="228600"/>
                </a:lnTo>
                <a:lnTo>
                  <a:pt x="2743518" y="279400"/>
                </a:lnTo>
                <a:lnTo>
                  <a:pt x="2744677" y="304800"/>
                </a:lnTo>
                <a:lnTo>
                  <a:pt x="2744647" y="1384300"/>
                </a:lnTo>
                <a:lnTo>
                  <a:pt x="2739400" y="1435100"/>
                </a:lnTo>
                <a:lnTo>
                  <a:pt x="2724755" y="1485900"/>
                </a:lnTo>
                <a:lnTo>
                  <a:pt x="2701726" y="1524000"/>
                </a:lnTo>
                <a:lnTo>
                  <a:pt x="2687373" y="1549400"/>
                </a:lnTo>
                <a:lnTo>
                  <a:pt x="2653617" y="1574800"/>
                </a:lnTo>
                <a:lnTo>
                  <a:pt x="2613974" y="1600200"/>
                </a:lnTo>
                <a:lnTo>
                  <a:pt x="2569465" y="1625600"/>
                </a:lnTo>
                <a:lnTo>
                  <a:pt x="2545696" y="1625600"/>
                </a:lnTo>
                <a:lnTo>
                  <a:pt x="2521071" y="1638300"/>
                </a:lnTo>
                <a:lnTo>
                  <a:pt x="2572765" y="1638300"/>
                </a:lnTo>
                <a:lnTo>
                  <a:pt x="2596431" y="1625600"/>
                </a:lnTo>
                <a:lnTo>
                  <a:pt x="2640216" y="1600200"/>
                </a:lnTo>
                <a:lnTo>
                  <a:pt x="2678400" y="1574800"/>
                </a:lnTo>
                <a:lnTo>
                  <a:pt x="2695062" y="1549400"/>
                </a:lnTo>
                <a:lnTo>
                  <a:pt x="2709931" y="1536700"/>
                </a:lnTo>
                <a:lnTo>
                  <a:pt x="2733769" y="1485900"/>
                </a:lnTo>
                <a:lnTo>
                  <a:pt x="2748891" y="1435100"/>
                </a:lnTo>
                <a:lnTo>
                  <a:pt x="2754247" y="1384300"/>
                </a:lnTo>
                <a:lnTo>
                  <a:pt x="2754264" y="304800"/>
                </a:lnTo>
                <a:lnTo>
                  <a:pt x="2753008" y="279400"/>
                </a:lnTo>
                <a:lnTo>
                  <a:pt x="2742907" y="228600"/>
                </a:lnTo>
                <a:lnTo>
                  <a:pt x="2723542" y="177800"/>
                </a:lnTo>
                <a:lnTo>
                  <a:pt x="2695938" y="139700"/>
                </a:lnTo>
                <a:lnTo>
                  <a:pt x="2679371" y="114300"/>
                </a:lnTo>
                <a:lnTo>
                  <a:pt x="2661135" y="101600"/>
                </a:lnTo>
                <a:lnTo>
                  <a:pt x="2641363" y="88900"/>
                </a:lnTo>
                <a:lnTo>
                  <a:pt x="2620184" y="76200"/>
                </a:lnTo>
                <a:lnTo>
                  <a:pt x="2597731" y="63500"/>
                </a:lnTo>
                <a:lnTo>
                  <a:pt x="2574129" y="50800"/>
                </a:lnTo>
                <a:close/>
              </a:path>
              <a:path w="2792729" h="1676400">
                <a:moveTo>
                  <a:pt x="2523965" y="38100"/>
                </a:moveTo>
                <a:lnTo>
                  <a:pt x="270128" y="38100"/>
                </a:lnTo>
                <a:lnTo>
                  <a:pt x="244560" y="50800"/>
                </a:lnTo>
                <a:lnTo>
                  <a:pt x="2549500" y="50800"/>
                </a:lnTo>
                <a:lnTo>
                  <a:pt x="2523965" y="38100"/>
                </a:lnTo>
                <a:close/>
              </a:path>
              <a:path w="2792729" h="1676400">
                <a:moveTo>
                  <a:pt x="2525901" y="0"/>
                </a:moveTo>
                <a:lnTo>
                  <a:pt x="264334" y="0"/>
                </a:lnTo>
                <a:lnTo>
                  <a:pt x="234997" y="12700"/>
                </a:lnTo>
                <a:lnTo>
                  <a:pt x="2555293" y="12700"/>
                </a:lnTo>
                <a:lnTo>
                  <a:pt x="25259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8440" y="5117084"/>
            <a:ext cx="23628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603250" marR="5080" indent="-59055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latin typeface="Arial"/>
                <a:cs typeface="Arial"/>
              </a:rPr>
              <a:t>Supervised graph-level  pre-training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54234" y="3963901"/>
            <a:ext cx="1162685" cy="738505"/>
          </a:xfrm>
          <a:custGeom>
            <a:avLst/>
            <a:gdLst/>
            <a:ahLst/>
            <a:cxnLst/>
            <a:rect l="l" t="t" r="r" b="b"/>
            <a:pathLst>
              <a:path w="1162685" h="738504">
                <a:moveTo>
                  <a:pt x="1001925" y="671304"/>
                </a:moveTo>
                <a:lnTo>
                  <a:pt x="971606" y="719749"/>
                </a:lnTo>
                <a:lnTo>
                  <a:pt x="1162419" y="738036"/>
                </a:lnTo>
                <a:lnTo>
                  <a:pt x="1133383" y="690460"/>
                </a:lnTo>
                <a:lnTo>
                  <a:pt x="1036767" y="690460"/>
                </a:lnTo>
                <a:lnTo>
                  <a:pt x="1026147" y="686463"/>
                </a:lnTo>
                <a:lnTo>
                  <a:pt x="1001925" y="671304"/>
                </a:lnTo>
                <a:close/>
              </a:path>
              <a:path w="1162685" h="738504">
                <a:moveTo>
                  <a:pt x="1032243" y="622859"/>
                </a:moveTo>
                <a:lnTo>
                  <a:pt x="1001925" y="671304"/>
                </a:lnTo>
                <a:lnTo>
                  <a:pt x="1026147" y="686463"/>
                </a:lnTo>
                <a:lnTo>
                  <a:pt x="1036767" y="690460"/>
                </a:lnTo>
                <a:lnTo>
                  <a:pt x="1047715" y="690087"/>
                </a:lnTo>
                <a:lnTo>
                  <a:pt x="1057725" y="685637"/>
                </a:lnTo>
                <a:lnTo>
                  <a:pt x="1065529" y="677400"/>
                </a:lnTo>
                <a:lnTo>
                  <a:pt x="1069526" y="666780"/>
                </a:lnTo>
                <a:lnTo>
                  <a:pt x="1069153" y="655832"/>
                </a:lnTo>
                <a:lnTo>
                  <a:pt x="1064703" y="645822"/>
                </a:lnTo>
                <a:lnTo>
                  <a:pt x="1056465" y="638017"/>
                </a:lnTo>
                <a:lnTo>
                  <a:pt x="1032243" y="622859"/>
                </a:lnTo>
                <a:close/>
              </a:path>
              <a:path w="1162685" h="738504">
                <a:moveTo>
                  <a:pt x="1062561" y="574414"/>
                </a:moveTo>
                <a:lnTo>
                  <a:pt x="1032243" y="622859"/>
                </a:lnTo>
                <a:lnTo>
                  <a:pt x="1056465" y="638017"/>
                </a:lnTo>
                <a:lnTo>
                  <a:pt x="1064703" y="645822"/>
                </a:lnTo>
                <a:lnTo>
                  <a:pt x="1069153" y="655832"/>
                </a:lnTo>
                <a:lnTo>
                  <a:pt x="1069526" y="666780"/>
                </a:lnTo>
                <a:lnTo>
                  <a:pt x="1065529" y="677400"/>
                </a:lnTo>
                <a:lnTo>
                  <a:pt x="1057725" y="685637"/>
                </a:lnTo>
                <a:lnTo>
                  <a:pt x="1047715" y="690087"/>
                </a:lnTo>
                <a:lnTo>
                  <a:pt x="1036767" y="690460"/>
                </a:lnTo>
                <a:lnTo>
                  <a:pt x="1133383" y="690460"/>
                </a:lnTo>
                <a:lnTo>
                  <a:pt x="1062561" y="574414"/>
                </a:lnTo>
                <a:close/>
              </a:path>
              <a:path w="1162685" h="738504">
                <a:moveTo>
                  <a:pt x="32759" y="0"/>
                </a:moveTo>
                <a:lnTo>
                  <a:pt x="21810" y="372"/>
                </a:lnTo>
                <a:lnTo>
                  <a:pt x="11801" y="4823"/>
                </a:lnTo>
                <a:lnTo>
                  <a:pt x="3997" y="13060"/>
                </a:lnTo>
                <a:lnTo>
                  <a:pt x="0" y="23680"/>
                </a:lnTo>
                <a:lnTo>
                  <a:pt x="372" y="34629"/>
                </a:lnTo>
                <a:lnTo>
                  <a:pt x="4822" y="44638"/>
                </a:lnTo>
                <a:lnTo>
                  <a:pt x="13060" y="52442"/>
                </a:lnTo>
                <a:lnTo>
                  <a:pt x="1001925" y="671304"/>
                </a:lnTo>
                <a:lnTo>
                  <a:pt x="1032243" y="622859"/>
                </a:lnTo>
                <a:lnTo>
                  <a:pt x="43379" y="3996"/>
                </a:lnTo>
                <a:lnTo>
                  <a:pt x="32759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73276" y="5102204"/>
            <a:ext cx="1227455" cy="864869"/>
          </a:xfrm>
          <a:custGeom>
            <a:avLst/>
            <a:gdLst/>
            <a:ahLst/>
            <a:cxnLst/>
            <a:rect l="l" t="t" r="r" b="b"/>
            <a:pathLst>
              <a:path w="1227454" h="864870">
                <a:moveTo>
                  <a:pt x="1070358" y="74659"/>
                </a:moveTo>
                <a:lnTo>
                  <a:pt x="11783" y="813131"/>
                </a:lnTo>
                <a:lnTo>
                  <a:pt x="3945" y="821336"/>
                </a:lnTo>
                <a:lnTo>
                  <a:pt x="0" y="831556"/>
                </a:lnTo>
                <a:lnTo>
                  <a:pt x="174" y="842509"/>
                </a:lnTo>
                <a:lnTo>
                  <a:pt x="4695" y="852916"/>
                </a:lnTo>
                <a:lnTo>
                  <a:pt x="12901" y="860753"/>
                </a:lnTo>
                <a:lnTo>
                  <a:pt x="23120" y="864699"/>
                </a:lnTo>
                <a:lnTo>
                  <a:pt x="34074" y="864525"/>
                </a:lnTo>
                <a:lnTo>
                  <a:pt x="44480" y="860003"/>
                </a:lnTo>
                <a:lnTo>
                  <a:pt x="1103056" y="121530"/>
                </a:lnTo>
                <a:lnTo>
                  <a:pt x="1070358" y="74659"/>
                </a:lnTo>
                <a:close/>
              </a:path>
              <a:path w="1227454" h="864870">
                <a:moveTo>
                  <a:pt x="1198171" y="53613"/>
                </a:moveTo>
                <a:lnTo>
                  <a:pt x="1115155" y="53613"/>
                </a:lnTo>
                <a:lnTo>
                  <a:pt x="1125374" y="57558"/>
                </a:lnTo>
                <a:lnTo>
                  <a:pt x="1133579" y="65396"/>
                </a:lnTo>
                <a:lnTo>
                  <a:pt x="1138101" y="75803"/>
                </a:lnTo>
                <a:lnTo>
                  <a:pt x="1138276" y="86756"/>
                </a:lnTo>
                <a:lnTo>
                  <a:pt x="1134330" y="96975"/>
                </a:lnTo>
                <a:lnTo>
                  <a:pt x="1126493" y="105181"/>
                </a:lnTo>
                <a:lnTo>
                  <a:pt x="1103056" y="121530"/>
                </a:lnTo>
                <a:lnTo>
                  <a:pt x="1135755" y="168401"/>
                </a:lnTo>
                <a:lnTo>
                  <a:pt x="1198171" y="53613"/>
                </a:lnTo>
                <a:close/>
              </a:path>
              <a:path w="1227454" h="864870">
                <a:moveTo>
                  <a:pt x="1115155" y="53613"/>
                </a:moveTo>
                <a:lnTo>
                  <a:pt x="1104202" y="53787"/>
                </a:lnTo>
                <a:lnTo>
                  <a:pt x="1093795" y="58309"/>
                </a:lnTo>
                <a:lnTo>
                  <a:pt x="1070358" y="74659"/>
                </a:lnTo>
                <a:lnTo>
                  <a:pt x="1103056" y="121530"/>
                </a:lnTo>
                <a:lnTo>
                  <a:pt x="1126493" y="105181"/>
                </a:lnTo>
                <a:lnTo>
                  <a:pt x="1134330" y="96975"/>
                </a:lnTo>
                <a:lnTo>
                  <a:pt x="1138276" y="86756"/>
                </a:lnTo>
                <a:lnTo>
                  <a:pt x="1138101" y="75803"/>
                </a:lnTo>
                <a:lnTo>
                  <a:pt x="1133579" y="65396"/>
                </a:lnTo>
                <a:lnTo>
                  <a:pt x="1125374" y="57558"/>
                </a:lnTo>
                <a:lnTo>
                  <a:pt x="1115155" y="53613"/>
                </a:lnTo>
                <a:close/>
              </a:path>
              <a:path w="1227454" h="864870">
                <a:moveTo>
                  <a:pt x="1227323" y="0"/>
                </a:moveTo>
                <a:lnTo>
                  <a:pt x="1037660" y="27787"/>
                </a:lnTo>
                <a:lnTo>
                  <a:pt x="1070358" y="74659"/>
                </a:lnTo>
                <a:lnTo>
                  <a:pt x="1093795" y="58309"/>
                </a:lnTo>
                <a:lnTo>
                  <a:pt x="1104202" y="53787"/>
                </a:lnTo>
                <a:lnTo>
                  <a:pt x="1115155" y="53613"/>
                </a:lnTo>
                <a:lnTo>
                  <a:pt x="1198171" y="53613"/>
                </a:lnTo>
                <a:lnTo>
                  <a:pt x="12273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60801" y="3632708"/>
            <a:ext cx="20078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">
                <a:solidFill>
                  <a:srgbClr val="00B050"/>
                </a:solidFill>
                <a:latin typeface="Arial"/>
                <a:cs typeface="Arial"/>
              </a:rPr>
              <a:t>Node</a:t>
            </a:r>
            <a:r>
              <a:rPr dirty="0" sz="2400" spc="-7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2400" spc="10">
                <a:solidFill>
                  <a:srgbClr val="00B050"/>
                </a:solidFill>
                <a:latin typeface="Arial"/>
                <a:cs typeface="Arial"/>
              </a:rPr>
              <a:t>pre-train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40970" y="3173934"/>
            <a:ext cx="1949450" cy="834390"/>
          </a:xfrm>
          <a:custGeom>
            <a:avLst/>
            <a:gdLst/>
            <a:ahLst/>
            <a:cxnLst/>
            <a:rect l="l" t="t" r="r" b="b"/>
            <a:pathLst>
              <a:path w="1949450" h="834389">
                <a:moveTo>
                  <a:pt x="1793990" y="0"/>
                </a:moveTo>
                <a:lnTo>
                  <a:pt x="153719" y="30"/>
                </a:lnTo>
                <a:lnTo>
                  <a:pt x="107737" y="7350"/>
                </a:lnTo>
                <a:lnTo>
                  <a:pt x="68903" y="26009"/>
                </a:lnTo>
                <a:lnTo>
                  <a:pt x="26842" y="67654"/>
                </a:lnTo>
                <a:lnTo>
                  <a:pt x="6614" y="110040"/>
                </a:lnTo>
                <a:lnTo>
                  <a:pt x="28" y="153751"/>
                </a:lnTo>
                <a:lnTo>
                  <a:pt x="0" y="680007"/>
                </a:lnTo>
                <a:lnTo>
                  <a:pt x="920" y="695807"/>
                </a:lnTo>
                <a:lnTo>
                  <a:pt x="12126" y="739123"/>
                </a:lnTo>
                <a:lnTo>
                  <a:pt x="44790" y="787855"/>
                </a:lnTo>
                <a:lnTo>
                  <a:pt x="93538" y="821119"/>
                </a:lnTo>
                <a:lnTo>
                  <a:pt x="140329" y="833050"/>
                </a:lnTo>
                <a:lnTo>
                  <a:pt x="154929" y="833757"/>
                </a:lnTo>
                <a:lnTo>
                  <a:pt x="1795198" y="833729"/>
                </a:lnTo>
                <a:lnTo>
                  <a:pt x="1841181" y="826409"/>
                </a:lnTo>
                <a:lnTo>
                  <a:pt x="1880015" y="807749"/>
                </a:lnTo>
                <a:lnTo>
                  <a:pt x="1883623" y="804965"/>
                </a:lnTo>
                <a:lnTo>
                  <a:pt x="154929" y="804957"/>
                </a:lnTo>
                <a:lnTo>
                  <a:pt x="141782" y="804287"/>
                </a:lnTo>
                <a:lnTo>
                  <a:pt x="84379" y="783371"/>
                </a:lnTo>
                <a:lnTo>
                  <a:pt x="50333" y="749321"/>
                </a:lnTo>
                <a:lnTo>
                  <a:pt x="31278" y="703995"/>
                </a:lnTo>
                <a:lnTo>
                  <a:pt x="28832" y="153751"/>
                </a:lnTo>
                <a:lnTo>
                  <a:pt x="29439" y="141813"/>
                </a:lnTo>
                <a:lnTo>
                  <a:pt x="50333" y="84437"/>
                </a:lnTo>
                <a:lnTo>
                  <a:pt x="84406" y="50364"/>
                </a:lnTo>
                <a:lnTo>
                  <a:pt x="129733" y="31309"/>
                </a:lnTo>
                <a:lnTo>
                  <a:pt x="155172" y="28794"/>
                </a:lnTo>
                <a:lnTo>
                  <a:pt x="1883625" y="28794"/>
                </a:lnTo>
                <a:lnTo>
                  <a:pt x="1881296" y="26873"/>
                </a:lnTo>
                <a:lnTo>
                  <a:pt x="1838910" y="6644"/>
                </a:lnTo>
                <a:lnTo>
                  <a:pt x="1808590" y="707"/>
                </a:lnTo>
                <a:lnTo>
                  <a:pt x="1793990" y="0"/>
                </a:lnTo>
                <a:close/>
              </a:path>
              <a:path w="1949450" h="834389">
                <a:moveTo>
                  <a:pt x="1883625" y="28794"/>
                </a:moveTo>
                <a:lnTo>
                  <a:pt x="155172" y="28794"/>
                </a:lnTo>
                <a:lnTo>
                  <a:pt x="1793990" y="28801"/>
                </a:lnTo>
                <a:lnTo>
                  <a:pt x="1807138" y="29470"/>
                </a:lnTo>
                <a:lnTo>
                  <a:pt x="1864541" y="50385"/>
                </a:lnTo>
                <a:lnTo>
                  <a:pt x="1898587" y="84437"/>
                </a:lnTo>
                <a:lnTo>
                  <a:pt x="1917641" y="129763"/>
                </a:lnTo>
                <a:lnTo>
                  <a:pt x="1920087" y="680007"/>
                </a:lnTo>
                <a:lnTo>
                  <a:pt x="1919479" y="691946"/>
                </a:lnTo>
                <a:lnTo>
                  <a:pt x="1898585" y="749322"/>
                </a:lnTo>
                <a:lnTo>
                  <a:pt x="1864512" y="783395"/>
                </a:lnTo>
                <a:lnTo>
                  <a:pt x="1819186" y="802450"/>
                </a:lnTo>
                <a:lnTo>
                  <a:pt x="1793746" y="804965"/>
                </a:lnTo>
                <a:lnTo>
                  <a:pt x="1883632" y="804957"/>
                </a:lnTo>
                <a:lnTo>
                  <a:pt x="1922078" y="766102"/>
                </a:lnTo>
                <a:lnTo>
                  <a:pt x="1942304" y="723719"/>
                </a:lnTo>
                <a:lnTo>
                  <a:pt x="1948889" y="680007"/>
                </a:lnTo>
                <a:lnTo>
                  <a:pt x="1948920" y="153751"/>
                </a:lnTo>
                <a:lnTo>
                  <a:pt x="1947999" y="137949"/>
                </a:lnTo>
                <a:lnTo>
                  <a:pt x="1936793" y="94635"/>
                </a:lnTo>
                <a:lnTo>
                  <a:pt x="1904132" y="45904"/>
                </a:lnTo>
                <a:lnTo>
                  <a:pt x="1903048" y="44819"/>
                </a:lnTo>
                <a:lnTo>
                  <a:pt x="1883625" y="28794"/>
                </a:lnTo>
                <a:close/>
              </a:path>
              <a:path w="1949450" h="834389">
                <a:moveTo>
                  <a:pt x="155656" y="38381"/>
                </a:moveTo>
                <a:lnTo>
                  <a:pt x="109895" y="47452"/>
                </a:lnTo>
                <a:lnTo>
                  <a:pt x="72556" y="72586"/>
                </a:lnTo>
                <a:lnTo>
                  <a:pt x="47421" y="109926"/>
                </a:lnTo>
                <a:lnTo>
                  <a:pt x="38433" y="153751"/>
                </a:lnTo>
                <a:lnTo>
                  <a:pt x="38437" y="680007"/>
                </a:lnTo>
                <a:lnTo>
                  <a:pt x="47423" y="723833"/>
                </a:lnTo>
                <a:lnTo>
                  <a:pt x="72559" y="761173"/>
                </a:lnTo>
                <a:lnTo>
                  <a:pt x="109899" y="786307"/>
                </a:lnTo>
                <a:lnTo>
                  <a:pt x="154931" y="795357"/>
                </a:lnTo>
                <a:lnTo>
                  <a:pt x="1793261" y="795378"/>
                </a:lnTo>
                <a:lnTo>
                  <a:pt x="1805205" y="794848"/>
                </a:lnTo>
                <a:lnTo>
                  <a:pt x="1816795" y="793153"/>
                </a:lnTo>
                <a:lnTo>
                  <a:pt x="1827983" y="790348"/>
                </a:lnTo>
                <a:lnTo>
                  <a:pt x="1839025" y="786306"/>
                </a:lnTo>
                <a:lnTo>
                  <a:pt x="1839978" y="785789"/>
                </a:lnTo>
                <a:lnTo>
                  <a:pt x="154931" y="785757"/>
                </a:lnTo>
                <a:lnTo>
                  <a:pt x="142750" y="785111"/>
                </a:lnTo>
                <a:lnTo>
                  <a:pt x="95195" y="767403"/>
                </a:lnTo>
                <a:lnTo>
                  <a:pt x="66323" y="738531"/>
                </a:lnTo>
                <a:lnTo>
                  <a:pt x="49874" y="699213"/>
                </a:lnTo>
                <a:lnTo>
                  <a:pt x="48034" y="153751"/>
                </a:lnTo>
                <a:lnTo>
                  <a:pt x="48615" y="142781"/>
                </a:lnTo>
                <a:lnTo>
                  <a:pt x="66323" y="95225"/>
                </a:lnTo>
                <a:lnTo>
                  <a:pt x="95195" y="66353"/>
                </a:lnTo>
                <a:lnTo>
                  <a:pt x="134514" y="49904"/>
                </a:lnTo>
                <a:lnTo>
                  <a:pt x="156141" y="47970"/>
                </a:lnTo>
                <a:lnTo>
                  <a:pt x="1839979" y="47970"/>
                </a:lnTo>
                <a:lnTo>
                  <a:pt x="1839024" y="47452"/>
                </a:lnTo>
                <a:lnTo>
                  <a:pt x="1829348" y="43834"/>
                </a:lnTo>
                <a:lnTo>
                  <a:pt x="1818210" y="40896"/>
                </a:lnTo>
                <a:lnTo>
                  <a:pt x="1806653" y="39058"/>
                </a:lnTo>
                <a:lnTo>
                  <a:pt x="1793990" y="38400"/>
                </a:lnTo>
                <a:lnTo>
                  <a:pt x="155656" y="38381"/>
                </a:lnTo>
                <a:close/>
              </a:path>
              <a:path w="1949450" h="834389">
                <a:moveTo>
                  <a:pt x="1839979" y="47970"/>
                </a:moveTo>
                <a:lnTo>
                  <a:pt x="156141" y="47970"/>
                </a:lnTo>
                <a:lnTo>
                  <a:pt x="1793990" y="48000"/>
                </a:lnTo>
                <a:lnTo>
                  <a:pt x="1806169" y="48646"/>
                </a:lnTo>
                <a:lnTo>
                  <a:pt x="1853726" y="66353"/>
                </a:lnTo>
                <a:lnTo>
                  <a:pt x="1882597" y="95225"/>
                </a:lnTo>
                <a:lnTo>
                  <a:pt x="1899046" y="134545"/>
                </a:lnTo>
                <a:lnTo>
                  <a:pt x="1900886" y="153751"/>
                </a:lnTo>
                <a:lnTo>
                  <a:pt x="1900884" y="680007"/>
                </a:lnTo>
                <a:lnTo>
                  <a:pt x="1892724" y="719872"/>
                </a:lnTo>
                <a:lnTo>
                  <a:pt x="1869542" y="754353"/>
                </a:lnTo>
                <a:lnTo>
                  <a:pt x="1835062" y="777534"/>
                </a:lnTo>
                <a:lnTo>
                  <a:pt x="1792777" y="785789"/>
                </a:lnTo>
                <a:lnTo>
                  <a:pt x="1839978" y="785789"/>
                </a:lnTo>
                <a:lnTo>
                  <a:pt x="1876364" y="761170"/>
                </a:lnTo>
                <a:lnTo>
                  <a:pt x="1901497" y="723833"/>
                </a:lnTo>
                <a:lnTo>
                  <a:pt x="1910485" y="680007"/>
                </a:lnTo>
                <a:lnTo>
                  <a:pt x="1910483" y="153751"/>
                </a:lnTo>
                <a:lnTo>
                  <a:pt x="1901499" y="109926"/>
                </a:lnTo>
                <a:lnTo>
                  <a:pt x="1876364" y="72586"/>
                </a:lnTo>
                <a:lnTo>
                  <a:pt x="1859119" y="58359"/>
                </a:lnTo>
                <a:lnTo>
                  <a:pt x="1839979" y="47970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280456" y="3238500"/>
            <a:ext cx="14598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40">
                <a:latin typeface="Arial"/>
                <a:cs typeface="Arial"/>
              </a:rPr>
              <a:t>D</a:t>
            </a:r>
            <a:r>
              <a:rPr dirty="0" sz="2000" spc="30">
                <a:latin typeface="Arial"/>
                <a:cs typeface="Arial"/>
              </a:rPr>
              <a:t>o</a:t>
            </a:r>
            <a:r>
              <a:rPr dirty="0" sz="2000" spc="60">
                <a:latin typeface="Arial"/>
                <a:cs typeface="Arial"/>
              </a:rPr>
              <a:t>w</a:t>
            </a:r>
            <a:r>
              <a:rPr dirty="0" sz="2000" spc="-5">
                <a:latin typeface="Arial"/>
                <a:cs typeface="Arial"/>
              </a:rPr>
              <a:t>n</a:t>
            </a:r>
            <a:r>
              <a:rPr dirty="0" sz="2000" spc="40">
                <a:latin typeface="Arial"/>
                <a:cs typeface="Arial"/>
              </a:rPr>
              <a:t>s</a:t>
            </a:r>
            <a:r>
              <a:rPr dirty="0" sz="2000" spc="20">
                <a:latin typeface="Arial"/>
                <a:cs typeface="Arial"/>
              </a:rPr>
              <a:t>t</a:t>
            </a:r>
            <a:r>
              <a:rPr dirty="0" sz="2000" spc="-45">
                <a:latin typeface="Arial"/>
                <a:cs typeface="Arial"/>
              </a:rPr>
              <a:t>r</a:t>
            </a:r>
            <a:r>
              <a:rPr dirty="0" sz="2000" spc="-40">
                <a:latin typeface="Arial"/>
                <a:cs typeface="Arial"/>
              </a:rPr>
              <a:t>ea</a:t>
            </a:r>
            <a:r>
              <a:rPr dirty="0" sz="2000" spc="15">
                <a:latin typeface="Arial"/>
                <a:cs typeface="Arial"/>
              </a:rPr>
              <a:t>m  </a:t>
            </a:r>
            <a:r>
              <a:rPr dirty="0" sz="2000" spc="10">
                <a:latin typeface="Arial"/>
                <a:cs typeface="Arial"/>
              </a:rPr>
              <a:t>task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28935" y="5780600"/>
            <a:ext cx="1775460" cy="796925"/>
          </a:xfrm>
          <a:custGeom>
            <a:avLst/>
            <a:gdLst/>
            <a:ahLst/>
            <a:cxnLst/>
            <a:rect l="l" t="t" r="r" b="b"/>
            <a:pathLst>
              <a:path w="1775459" h="796925">
                <a:moveTo>
                  <a:pt x="1626257" y="0"/>
                </a:moveTo>
                <a:lnTo>
                  <a:pt x="147527" y="30"/>
                </a:lnTo>
                <a:lnTo>
                  <a:pt x="103385" y="7071"/>
                </a:lnTo>
                <a:lnTo>
                  <a:pt x="66174" y="24950"/>
                </a:lnTo>
                <a:lnTo>
                  <a:pt x="25783" y="64924"/>
                </a:lnTo>
                <a:lnTo>
                  <a:pt x="6334" y="105688"/>
                </a:lnTo>
                <a:lnTo>
                  <a:pt x="27" y="147557"/>
                </a:lnTo>
                <a:lnTo>
                  <a:pt x="0" y="649042"/>
                </a:lnTo>
                <a:lnTo>
                  <a:pt x="889" y="664210"/>
                </a:lnTo>
                <a:lnTo>
                  <a:pt x="11640" y="705747"/>
                </a:lnTo>
                <a:lnTo>
                  <a:pt x="42976" y="752512"/>
                </a:lnTo>
                <a:lnTo>
                  <a:pt x="89756" y="784449"/>
                </a:lnTo>
                <a:lnTo>
                  <a:pt x="134769" y="795925"/>
                </a:lnTo>
                <a:lnTo>
                  <a:pt x="148737" y="796600"/>
                </a:lnTo>
                <a:lnTo>
                  <a:pt x="1627465" y="796571"/>
                </a:lnTo>
                <a:lnTo>
                  <a:pt x="1671607" y="789530"/>
                </a:lnTo>
                <a:lnTo>
                  <a:pt x="1708821" y="771649"/>
                </a:lnTo>
                <a:lnTo>
                  <a:pt x="1713709" y="767807"/>
                </a:lnTo>
                <a:lnTo>
                  <a:pt x="148737" y="767799"/>
                </a:lnTo>
                <a:lnTo>
                  <a:pt x="136222" y="767161"/>
                </a:lnTo>
                <a:lnTo>
                  <a:pt x="81676" y="747294"/>
                </a:lnTo>
                <a:lnTo>
                  <a:pt x="49275" y="714893"/>
                </a:lnTo>
                <a:lnTo>
                  <a:pt x="31153" y="671782"/>
                </a:lnTo>
                <a:lnTo>
                  <a:pt x="28831" y="147557"/>
                </a:lnTo>
                <a:lnTo>
                  <a:pt x="29408" y="136252"/>
                </a:lnTo>
                <a:lnTo>
                  <a:pt x="49275" y="81706"/>
                </a:lnTo>
                <a:lnTo>
                  <a:pt x="81676" y="49305"/>
                </a:lnTo>
                <a:lnTo>
                  <a:pt x="124787" y="31183"/>
                </a:lnTo>
                <a:lnTo>
                  <a:pt x="148978" y="28793"/>
                </a:lnTo>
                <a:lnTo>
                  <a:pt x="1713711" y="28793"/>
                </a:lnTo>
                <a:lnTo>
                  <a:pt x="1710100" y="25814"/>
                </a:lnTo>
                <a:lnTo>
                  <a:pt x="1669336" y="6365"/>
                </a:lnTo>
                <a:lnTo>
                  <a:pt x="1640225" y="674"/>
                </a:lnTo>
                <a:lnTo>
                  <a:pt x="1626257" y="0"/>
                </a:lnTo>
                <a:close/>
              </a:path>
              <a:path w="1775459" h="796925">
                <a:moveTo>
                  <a:pt x="1713711" y="28793"/>
                </a:moveTo>
                <a:lnTo>
                  <a:pt x="148978" y="28793"/>
                </a:lnTo>
                <a:lnTo>
                  <a:pt x="1626257" y="28800"/>
                </a:lnTo>
                <a:lnTo>
                  <a:pt x="1638772" y="29438"/>
                </a:lnTo>
                <a:lnTo>
                  <a:pt x="1693318" y="49305"/>
                </a:lnTo>
                <a:lnTo>
                  <a:pt x="1725719" y="81706"/>
                </a:lnTo>
                <a:lnTo>
                  <a:pt x="1743842" y="124817"/>
                </a:lnTo>
                <a:lnTo>
                  <a:pt x="1746161" y="649042"/>
                </a:lnTo>
                <a:lnTo>
                  <a:pt x="1745585" y="660348"/>
                </a:lnTo>
                <a:lnTo>
                  <a:pt x="1725717" y="714895"/>
                </a:lnTo>
                <a:lnTo>
                  <a:pt x="1693317" y="747295"/>
                </a:lnTo>
                <a:lnTo>
                  <a:pt x="1650204" y="765418"/>
                </a:lnTo>
                <a:lnTo>
                  <a:pt x="1626014" y="767807"/>
                </a:lnTo>
                <a:lnTo>
                  <a:pt x="1713719" y="767799"/>
                </a:lnTo>
                <a:lnTo>
                  <a:pt x="1749209" y="731676"/>
                </a:lnTo>
                <a:lnTo>
                  <a:pt x="1768657" y="690912"/>
                </a:lnTo>
                <a:lnTo>
                  <a:pt x="1774964" y="649042"/>
                </a:lnTo>
                <a:lnTo>
                  <a:pt x="1774995" y="147557"/>
                </a:lnTo>
                <a:lnTo>
                  <a:pt x="1774106" y="132389"/>
                </a:lnTo>
                <a:lnTo>
                  <a:pt x="1763355" y="90853"/>
                </a:lnTo>
                <a:lnTo>
                  <a:pt x="1732019" y="44088"/>
                </a:lnTo>
                <a:lnTo>
                  <a:pt x="1730936" y="43005"/>
                </a:lnTo>
                <a:lnTo>
                  <a:pt x="1713711" y="28793"/>
                </a:lnTo>
                <a:close/>
              </a:path>
              <a:path w="1775459" h="796925">
                <a:moveTo>
                  <a:pt x="149463" y="38381"/>
                </a:moveTo>
                <a:lnTo>
                  <a:pt x="106113" y="46964"/>
                </a:lnTo>
                <a:lnTo>
                  <a:pt x="70741" y="70772"/>
                </a:lnTo>
                <a:lnTo>
                  <a:pt x="46934" y="106143"/>
                </a:lnTo>
                <a:lnTo>
                  <a:pt x="38432" y="147557"/>
                </a:lnTo>
                <a:lnTo>
                  <a:pt x="38436" y="649042"/>
                </a:lnTo>
                <a:lnTo>
                  <a:pt x="46935" y="690458"/>
                </a:lnTo>
                <a:lnTo>
                  <a:pt x="70743" y="725829"/>
                </a:lnTo>
                <a:lnTo>
                  <a:pt x="106118" y="749637"/>
                </a:lnTo>
                <a:lnTo>
                  <a:pt x="148737" y="758200"/>
                </a:lnTo>
                <a:lnTo>
                  <a:pt x="1625530" y="758220"/>
                </a:lnTo>
                <a:lnTo>
                  <a:pt x="1636840" y="757722"/>
                </a:lnTo>
                <a:lnTo>
                  <a:pt x="1647814" y="756120"/>
                </a:lnTo>
                <a:lnTo>
                  <a:pt x="1658409" y="753469"/>
                </a:lnTo>
                <a:lnTo>
                  <a:pt x="1668883" y="749635"/>
                </a:lnTo>
                <a:lnTo>
                  <a:pt x="1670731" y="748632"/>
                </a:lnTo>
                <a:lnTo>
                  <a:pt x="148737" y="748599"/>
                </a:lnTo>
                <a:lnTo>
                  <a:pt x="137190" y="747986"/>
                </a:lnTo>
                <a:lnTo>
                  <a:pt x="92464" y="731304"/>
                </a:lnTo>
                <a:lnTo>
                  <a:pt x="65265" y="704105"/>
                </a:lnTo>
                <a:lnTo>
                  <a:pt x="49748" y="667000"/>
                </a:lnTo>
                <a:lnTo>
                  <a:pt x="48032" y="649042"/>
                </a:lnTo>
                <a:lnTo>
                  <a:pt x="48033" y="147557"/>
                </a:lnTo>
                <a:lnTo>
                  <a:pt x="55707" y="110104"/>
                </a:lnTo>
                <a:lnTo>
                  <a:pt x="77561" y="77591"/>
                </a:lnTo>
                <a:lnTo>
                  <a:pt x="110073" y="55737"/>
                </a:lnTo>
                <a:lnTo>
                  <a:pt x="149947" y="47969"/>
                </a:lnTo>
                <a:lnTo>
                  <a:pt x="1670732" y="47969"/>
                </a:lnTo>
                <a:lnTo>
                  <a:pt x="1668881" y="46964"/>
                </a:lnTo>
                <a:lnTo>
                  <a:pt x="1659774" y="43555"/>
                </a:lnTo>
                <a:lnTo>
                  <a:pt x="1649230" y="40770"/>
                </a:lnTo>
                <a:lnTo>
                  <a:pt x="1638288" y="39025"/>
                </a:lnTo>
                <a:lnTo>
                  <a:pt x="1626257" y="38399"/>
                </a:lnTo>
                <a:lnTo>
                  <a:pt x="149463" y="38381"/>
                </a:lnTo>
                <a:close/>
              </a:path>
              <a:path w="1775459" h="796925">
                <a:moveTo>
                  <a:pt x="1670732" y="47969"/>
                </a:moveTo>
                <a:lnTo>
                  <a:pt x="149947" y="47969"/>
                </a:lnTo>
                <a:lnTo>
                  <a:pt x="1626257" y="48000"/>
                </a:lnTo>
                <a:lnTo>
                  <a:pt x="1637804" y="48613"/>
                </a:lnTo>
                <a:lnTo>
                  <a:pt x="1682530" y="65295"/>
                </a:lnTo>
                <a:lnTo>
                  <a:pt x="1709729" y="92494"/>
                </a:lnTo>
                <a:lnTo>
                  <a:pt x="1725246" y="129599"/>
                </a:lnTo>
                <a:lnTo>
                  <a:pt x="1726962" y="147557"/>
                </a:lnTo>
                <a:lnTo>
                  <a:pt x="1726959" y="649042"/>
                </a:lnTo>
                <a:lnTo>
                  <a:pt x="1719285" y="686497"/>
                </a:lnTo>
                <a:lnTo>
                  <a:pt x="1697431" y="719009"/>
                </a:lnTo>
                <a:lnTo>
                  <a:pt x="1664919" y="740864"/>
                </a:lnTo>
                <a:lnTo>
                  <a:pt x="1625045" y="748632"/>
                </a:lnTo>
                <a:lnTo>
                  <a:pt x="1670731" y="748632"/>
                </a:lnTo>
                <a:lnTo>
                  <a:pt x="1704252" y="725827"/>
                </a:lnTo>
                <a:lnTo>
                  <a:pt x="1728059" y="690456"/>
                </a:lnTo>
                <a:lnTo>
                  <a:pt x="1736560" y="649042"/>
                </a:lnTo>
                <a:lnTo>
                  <a:pt x="1736558" y="147557"/>
                </a:lnTo>
                <a:lnTo>
                  <a:pt x="1728060" y="106143"/>
                </a:lnTo>
                <a:lnTo>
                  <a:pt x="1704252" y="70772"/>
                </a:lnTo>
                <a:lnTo>
                  <a:pt x="1687925" y="57300"/>
                </a:lnTo>
                <a:lnTo>
                  <a:pt x="1670732" y="4796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296960" y="5862828"/>
            <a:ext cx="14598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40">
                <a:latin typeface="Arial"/>
                <a:cs typeface="Arial"/>
              </a:rPr>
              <a:t>D</a:t>
            </a:r>
            <a:r>
              <a:rPr dirty="0" sz="2000" spc="30">
                <a:latin typeface="Arial"/>
                <a:cs typeface="Arial"/>
              </a:rPr>
              <a:t>o</a:t>
            </a:r>
            <a:r>
              <a:rPr dirty="0" sz="2000" spc="60">
                <a:latin typeface="Arial"/>
                <a:cs typeface="Arial"/>
              </a:rPr>
              <a:t>w</a:t>
            </a:r>
            <a:r>
              <a:rPr dirty="0" sz="2000" spc="-5">
                <a:latin typeface="Arial"/>
                <a:cs typeface="Arial"/>
              </a:rPr>
              <a:t>n</a:t>
            </a:r>
            <a:r>
              <a:rPr dirty="0" sz="2000" spc="40">
                <a:latin typeface="Arial"/>
                <a:cs typeface="Arial"/>
              </a:rPr>
              <a:t>s</a:t>
            </a:r>
            <a:r>
              <a:rPr dirty="0" sz="2000" spc="20">
                <a:latin typeface="Arial"/>
                <a:cs typeface="Arial"/>
              </a:rPr>
              <a:t>t</a:t>
            </a:r>
            <a:r>
              <a:rPr dirty="0" sz="2000" spc="-45">
                <a:latin typeface="Arial"/>
                <a:cs typeface="Arial"/>
              </a:rPr>
              <a:t>r</a:t>
            </a:r>
            <a:r>
              <a:rPr dirty="0" sz="2000" spc="-40">
                <a:latin typeface="Arial"/>
                <a:cs typeface="Arial"/>
              </a:rPr>
              <a:t>ea</a:t>
            </a:r>
            <a:r>
              <a:rPr dirty="0" sz="2000" spc="15">
                <a:latin typeface="Arial"/>
                <a:cs typeface="Arial"/>
              </a:rPr>
              <a:t>m  </a:t>
            </a:r>
            <a:r>
              <a:rPr dirty="0" sz="2000" spc="10">
                <a:latin typeface="Arial"/>
                <a:cs typeface="Arial"/>
              </a:rPr>
              <a:t>task</a:t>
            </a:r>
            <a:r>
              <a:rPr dirty="0" sz="2000" spc="-100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57317" y="3590814"/>
            <a:ext cx="1007744" cy="1152525"/>
          </a:xfrm>
          <a:custGeom>
            <a:avLst/>
            <a:gdLst/>
            <a:ahLst/>
            <a:cxnLst/>
            <a:rect l="l" t="t" r="r" b="b"/>
            <a:pathLst>
              <a:path w="1007745" h="1152525">
                <a:moveTo>
                  <a:pt x="873451" y="110497"/>
                </a:moveTo>
                <a:lnTo>
                  <a:pt x="6962" y="1105034"/>
                </a:lnTo>
                <a:lnTo>
                  <a:pt x="1349" y="1114895"/>
                </a:lnTo>
                <a:lnTo>
                  <a:pt x="0" y="1125767"/>
                </a:lnTo>
                <a:lnTo>
                  <a:pt x="2825" y="1136351"/>
                </a:lnTo>
                <a:lnTo>
                  <a:pt x="9736" y="1145350"/>
                </a:lnTo>
                <a:lnTo>
                  <a:pt x="19597" y="1150964"/>
                </a:lnTo>
                <a:lnTo>
                  <a:pt x="30468" y="1152313"/>
                </a:lnTo>
                <a:lnTo>
                  <a:pt x="41052" y="1149488"/>
                </a:lnTo>
                <a:lnTo>
                  <a:pt x="50052" y="1142577"/>
                </a:lnTo>
                <a:lnTo>
                  <a:pt x="916541" y="148039"/>
                </a:lnTo>
                <a:lnTo>
                  <a:pt x="873451" y="110497"/>
                </a:lnTo>
                <a:close/>
              </a:path>
              <a:path w="1007745" h="1152525">
                <a:moveTo>
                  <a:pt x="987136" y="79215"/>
                </a:moveTo>
                <a:lnTo>
                  <a:pt x="911806" y="79215"/>
                </a:lnTo>
                <a:lnTo>
                  <a:pt x="922677" y="80564"/>
                </a:lnTo>
                <a:lnTo>
                  <a:pt x="932538" y="86178"/>
                </a:lnTo>
                <a:lnTo>
                  <a:pt x="939449" y="95178"/>
                </a:lnTo>
                <a:lnTo>
                  <a:pt x="942275" y="105762"/>
                </a:lnTo>
                <a:lnTo>
                  <a:pt x="940925" y="116633"/>
                </a:lnTo>
                <a:lnTo>
                  <a:pt x="935312" y="126494"/>
                </a:lnTo>
                <a:lnTo>
                  <a:pt x="916541" y="148039"/>
                </a:lnTo>
                <a:lnTo>
                  <a:pt x="959630" y="185581"/>
                </a:lnTo>
                <a:lnTo>
                  <a:pt x="987136" y="79215"/>
                </a:lnTo>
                <a:close/>
              </a:path>
              <a:path w="1007745" h="1152525">
                <a:moveTo>
                  <a:pt x="911806" y="79215"/>
                </a:moveTo>
                <a:lnTo>
                  <a:pt x="901222" y="82041"/>
                </a:lnTo>
                <a:lnTo>
                  <a:pt x="892222" y="88952"/>
                </a:lnTo>
                <a:lnTo>
                  <a:pt x="873451" y="110497"/>
                </a:lnTo>
                <a:lnTo>
                  <a:pt x="916541" y="148039"/>
                </a:lnTo>
                <a:lnTo>
                  <a:pt x="935312" y="126494"/>
                </a:lnTo>
                <a:lnTo>
                  <a:pt x="940925" y="116633"/>
                </a:lnTo>
                <a:lnTo>
                  <a:pt x="942275" y="105762"/>
                </a:lnTo>
                <a:lnTo>
                  <a:pt x="939449" y="95178"/>
                </a:lnTo>
                <a:lnTo>
                  <a:pt x="932538" y="86178"/>
                </a:lnTo>
                <a:lnTo>
                  <a:pt x="922677" y="80564"/>
                </a:lnTo>
                <a:lnTo>
                  <a:pt x="911806" y="79215"/>
                </a:lnTo>
                <a:close/>
              </a:path>
              <a:path w="1007745" h="1152525">
                <a:moveTo>
                  <a:pt x="1007622" y="0"/>
                </a:moveTo>
                <a:lnTo>
                  <a:pt x="830362" y="72956"/>
                </a:lnTo>
                <a:lnTo>
                  <a:pt x="873451" y="110497"/>
                </a:lnTo>
                <a:lnTo>
                  <a:pt x="892222" y="88952"/>
                </a:lnTo>
                <a:lnTo>
                  <a:pt x="901222" y="82041"/>
                </a:lnTo>
                <a:lnTo>
                  <a:pt x="911806" y="79215"/>
                </a:lnTo>
                <a:lnTo>
                  <a:pt x="987136" y="79215"/>
                </a:lnTo>
                <a:lnTo>
                  <a:pt x="100762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86193" y="3164839"/>
            <a:ext cx="2165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" b="1">
                <a:solidFill>
                  <a:srgbClr val="00B05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3540" y="5133847"/>
            <a:ext cx="2165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5" b="1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97063" y="4329176"/>
            <a:ext cx="1319530" cy="798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0">
              <a:lnSpc>
                <a:spcPts val="3220"/>
              </a:lnSpc>
              <a:spcBef>
                <a:spcPts val="100"/>
              </a:spcBef>
            </a:pPr>
            <a:r>
              <a:rPr dirty="0" sz="2700" spc="-5" b="1">
                <a:solidFill>
                  <a:srgbClr val="0070C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dirty="0" sz="2400">
                <a:solidFill>
                  <a:srgbClr val="0070C0"/>
                </a:solidFill>
                <a:latin typeface="Arial"/>
                <a:cs typeface="Arial"/>
              </a:rPr>
              <a:t>Fine-tune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88068" y="6037579"/>
            <a:ext cx="2115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Graph</a:t>
            </a:r>
            <a:r>
              <a:rPr dirty="0" sz="2400" spc="-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10">
                <a:solidFill>
                  <a:srgbClr val="C00000"/>
                </a:solidFill>
                <a:latin typeface="Arial"/>
                <a:cs typeface="Arial"/>
              </a:rPr>
              <a:t>pre-train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057252" y="5054353"/>
            <a:ext cx="1096010" cy="1124585"/>
          </a:xfrm>
          <a:custGeom>
            <a:avLst/>
            <a:gdLst/>
            <a:ahLst/>
            <a:cxnLst/>
            <a:rect l="l" t="t" r="r" b="b"/>
            <a:pathLst>
              <a:path w="1096009" h="1124585">
                <a:moveTo>
                  <a:pt x="955575" y="1021639"/>
                </a:moveTo>
                <a:lnTo>
                  <a:pt x="914628" y="1061507"/>
                </a:lnTo>
                <a:lnTo>
                  <a:pt x="1095653" y="1124547"/>
                </a:lnTo>
                <a:lnTo>
                  <a:pt x="1072144" y="1050751"/>
                </a:lnTo>
                <a:lnTo>
                  <a:pt x="995600" y="1050751"/>
                </a:lnTo>
                <a:lnTo>
                  <a:pt x="984876" y="1048515"/>
                </a:lnTo>
                <a:lnTo>
                  <a:pt x="975508" y="1042112"/>
                </a:lnTo>
                <a:lnTo>
                  <a:pt x="955575" y="1021639"/>
                </a:lnTo>
                <a:close/>
              </a:path>
              <a:path w="1096009" h="1124585">
                <a:moveTo>
                  <a:pt x="996522" y="981772"/>
                </a:moveTo>
                <a:lnTo>
                  <a:pt x="955575" y="1021639"/>
                </a:lnTo>
                <a:lnTo>
                  <a:pt x="975508" y="1042112"/>
                </a:lnTo>
                <a:lnTo>
                  <a:pt x="984876" y="1048515"/>
                </a:lnTo>
                <a:lnTo>
                  <a:pt x="995600" y="1050751"/>
                </a:lnTo>
                <a:lnTo>
                  <a:pt x="1006380" y="1048802"/>
                </a:lnTo>
                <a:lnTo>
                  <a:pt x="1015916" y="1042652"/>
                </a:lnTo>
                <a:lnTo>
                  <a:pt x="1022319" y="1033284"/>
                </a:lnTo>
                <a:lnTo>
                  <a:pt x="1024555" y="1022560"/>
                </a:lnTo>
                <a:lnTo>
                  <a:pt x="1022606" y="1011780"/>
                </a:lnTo>
                <a:lnTo>
                  <a:pt x="1016455" y="1002245"/>
                </a:lnTo>
                <a:lnTo>
                  <a:pt x="996522" y="981772"/>
                </a:lnTo>
                <a:close/>
              </a:path>
              <a:path w="1096009" h="1124585">
                <a:moveTo>
                  <a:pt x="1037470" y="941903"/>
                </a:moveTo>
                <a:lnTo>
                  <a:pt x="996522" y="981772"/>
                </a:lnTo>
                <a:lnTo>
                  <a:pt x="1016455" y="1002245"/>
                </a:lnTo>
                <a:lnTo>
                  <a:pt x="1022606" y="1011780"/>
                </a:lnTo>
                <a:lnTo>
                  <a:pt x="1006380" y="1048802"/>
                </a:lnTo>
                <a:lnTo>
                  <a:pt x="995600" y="1050751"/>
                </a:lnTo>
                <a:lnTo>
                  <a:pt x="1072144" y="1050751"/>
                </a:lnTo>
                <a:lnTo>
                  <a:pt x="1037470" y="941903"/>
                </a:lnTo>
                <a:close/>
              </a:path>
              <a:path w="1096009" h="1124585">
                <a:moveTo>
                  <a:pt x="28953" y="0"/>
                </a:moveTo>
                <a:lnTo>
                  <a:pt x="18174" y="1948"/>
                </a:lnTo>
                <a:lnTo>
                  <a:pt x="8638" y="8099"/>
                </a:lnTo>
                <a:lnTo>
                  <a:pt x="2235" y="17466"/>
                </a:lnTo>
                <a:lnTo>
                  <a:pt x="0" y="28190"/>
                </a:lnTo>
                <a:lnTo>
                  <a:pt x="1948" y="38970"/>
                </a:lnTo>
                <a:lnTo>
                  <a:pt x="8098" y="48506"/>
                </a:lnTo>
                <a:lnTo>
                  <a:pt x="955575" y="1021639"/>
                </a:lnTo>
                <a:lnTo>
                  <a:pt x="996522" y="981772"/>
                </a:lnTo>
                <a:lnTo>
                  <a:pt x="49046" y="8639"/>
                </a:lnTo>
                <a:lnTo>
                  <a:pt x="39677" y="2235"/>
                </a:lnTo>
                <a:lnTo>
                  <a:pt x="2895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169861" y="5926835"/>
            <a:ext cx="86486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1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  <p:sp>
        <p:nvSpPr>
          <p:cNvPr id="25" name="object 25"/>
          <p:cNvSpPr txBox="1"/>
          <p:nvPr/>
        </p:nvSpPr>
        <p:spPr>
          <a:xfrm>
            <a:off x="1159987" y="6320028"/>
            <a:ext cx="8750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Toxicity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78393" y="5972555"/>
            <a:ext cx="110744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 indent="-1524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1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A?</a:t>
            </a:r>
            <a:endParaRPr sz="14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055"/>
              </a:spcBef>
            </a:pPr>
            <a:r>
              <a:rPr dirty="0" sz="1400" spc="-5">
                <a:latin typeface="Arial"/>
                <a:cs typeface="Arial"/>
              </a:rPr>
              <a:t>Bioactivity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98170" y="4617211"/>
            <a:ext cx="740410" cy="54800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5620"/>
              </a:lnSpc>
            </a:pPr>
            <a:r>
              <a:rPr dirty="0" sz="4800">
                <a:latin typeface="Cambria Math"/>
                <a:cs typeface="Cambria Math"/>
              </a:rPr>
              <a:t>⋯</a:t>
            </a:r>
            <a:endParaRPr sz="4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5678424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6148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0">
                <a:latin typeface="Calibri"/>
                <a:cs typeface="Calibri"/>
              </a:rPr>
              <a:t>Avoids </a:t>
            </a:r>
            <a:r>
              <a:rPr dirty="0" spc="-15" b="0">
                <a:latin typeface="Calibri"/>
                <a:cs typeface="Calibri"/>
              </a:rPr>
              <a:t>negative</a:t>
            </a:r>
            <a:r>
              <a:rPr dirty="0" spc="-30" b="0">
                <a:latin typeface="Calibri"/>
                <a:cs typeface="Calibri"/>
              </a:rPr>
              <a:t> </a:t>
            </a:r>
            <a:r>
              <a:rPr dirty="0" spc="-60" b="0">
                <a:latin typeface="Calibri"/>
                <a:cs typeface="Calibri"/>
              </a:rPr>
              <a:t>transfer.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latin typeface="Calibri"/>
                <a:cs typeface="Calibri"/>
              </a:rPr>
              <a:t>Significantly </a:t>
            </a:r>
            <a:r>
              <a:rPr dirty="0" spc="-15" b="0">
                <a:latin typeface="Calibri"/>
                <a:cs typeface="Calibri"/>
              </a:rPr>
              <a:t>improve </a:t>
            </a:r>
            <a:r>
              <a:rPr dirty="0" b="0">
                <a:latin typeface="Calibri"/>
                <a:cs typeface="Calibri"/>
              </a:rPr>
              <a:t>the</a:t>
            </a:r>
            <a:r>
              <a:rPr dirty="0" spc="-6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performance.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8788" y="4011567"/>
            <a:ext cx="274955" cy="154495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R="131445">
              <a:lnSpc>
                <a:spcPct val="45100"/>
              </a:lnSpc>
              <a:spcBef>
                <a:spcPts val="190"/>
              </a:spcBef>
            </a:pPr>
            <a:r>
              <a:rPr dirty="0" sz="900" spc="-5">
                <a:latin typeface="Arial"/>
                <a:cs typeface="Arial"/>
              </a:rPr>
              <a:t>o  </a:t>
            </a:r>
            <a:r>
              <a:rPr dirty="0" sz="900" spc="-2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R="131445">
              <a:lnSpc>
                <a:spcPct val="42800"/>
              </a:lnSpc>
              <a:spcBef>
                <a:spcPts val="70"/>
              </a:spcBef>
            </a:pPr>
            <a:r>
              <a:rPr dirty="0" sz="900" spc="-20">
                <a:latin typeface="Arial"/>
                <a:cs typeface="Arial"/>
              </a:rPr>
              <a:t>r  </a:t>
            </a:r>
            <a:r>
              <a:rPr dirty="0" sz="900" spc="-35"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  <a:p>
            <a:pPr>
              <a:lnSpc>
                <a:spcPts val="630"/>
              </a:lnSpc>
            </a:pPr>
            <a:r>
              <a:rPr dirty="0" sz="900" spc="-25">
                <a:latin typeface="Arial"/>
                <a:cs typeface="Arial"/>
              </a:rPr>
              <a:t>ov</a:t>
            </a:r>
            <a:endParaRPr sz="900">
              <a:latin typeface="Arial"/>
              <a:cs typeface="Arial"/>
            </a:endParaRPr>
          </a:p>
          <a:p>
            <a:pPr>
              <a:lnSpc>
                <a:spcPts val="500"/>
              </a:lnSpc>
            </a:pPr>
            <a:r>
              <a:rPr dirty="0" sz="900" spc="10"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  <a:p>
            <a:pPr>
              <a:lnSpc>
                <a:spcPts val="484"/>
              </a:lnSpc>
            </a:pPr>
            <a:r>
              <a:rPr dirty="0" sz="900" spc="-2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>
              <a:lnSpc>
                <a:spcPts val="605"/>
              </a:lnSpc>
            </a:pPr>
            <a:r>
              <a:rPr dirty="0" sz="900" spc="-5">
                <a:latin typeface="Arial"/>
                <a:cs typeface="Arial"/>
              </a:rPr>
              <a:t>eg</a:t>
            </a:r>
            <a:endParaRPr sz="900">
              <a:latin typeface="Arial"/>
              <a:cs typeface="Arial"/>
            </a:endParaRPr>
          </a:p>
          <a:p>
            <a:pPr>
              <a:lnSpc>
                <a:spcPts val="650"/>
              </a:lnSpc>
            </a:pPr>
            <a:r>
              <a:rPr dirty="0" sz="900" spc="-15">
                <a:latin typeface="Arial"/>
                <a:cs typeface="Arial"/>
              </a:rPr>
              <a:t>m</a:t>
            </a:r>
            <a:r>
              <a:rPr dirty="0" baseline="6172" sz="1350" spc="-22">
                <a:latin typeface="Arial"/>
                <a:cs typeface="Arial"/>
              </a:rPr>
              <a:t>in</a:t>
            </a:r>
            <a:endParaRPr baseline="6172" sz="1350">
              <a:latin typeface="Arial"/>
              <a:cs typeface="Arial"/>
            </a:endParaRPr>
          </a:p>
          <a:p>
            <a:pPr>
              <a:lnSpc>
                <a:spcPts val="690"/>
              </a:lnSpc>
            </a:pPr>
            <a:r>
              <a:rPr dirty="0" baseline="6172" sz="1350" spc="-37">
                <a:latin typeface="Arial"/>
                <a:cs typeface="Arial"/>
              </a:rPr>
              <a:t>e</a:t>
            </a:r>
            <a:r>
              <a:rPr dirty="0" sz="900" spc="-25">
                <a:latin typeface="Arial"/>
                <a:cs typeface="Arial"/>
              </a:rPr>
              <a:t>in</a:t>
            </a:r>
            <a:endParaRPr sz="900">
              <a:latin typeface="Arial"/>
              <a:cs typeface="Arial"/>
            </a:endParaRPr>
          </a:p>
          <a:p>
            <a:pPr>
              <a:lnSpc>
                <a:spcPts val="30"/>
              </a:lnSpc>
            </a:pPr>
            <a:r>
              <a:rPr dirty="0" sz="900" spc="-5">
                <a:latin typeface="Arial"/>
                <a:cs typeface="Arial"/>
              </a:rPr>
              <a:t>ov</a:t>
            </a:r>
            <a:r>
              <a:rPr dirty="0" baseline="-12345" sz="1350" spc="-7">
                <a:latin typeface="Arial"/>
                <a:cs typeface="Arial"/>
              </a:rPr>
              <a:t>tr</a:t>
            </a:r>
            <a:endParaRPr baseline="-12345" sz="1350">
              <a:latin typeface="Arial"/>
              <a:cs typeface="Arial"/>
            </a:endParaRPr>
          </a:p>
          <a:p>
            <a:pPr marL="139065">
              <a:lnSpc>
                <a:spcPts val="375"/>
              </a:lnSpc>
              <a:spcBef>
                <a:spcPts val="35"/>
              </a:spcBef>
            </a:pPr>
            <a:r>
              <a:rPr dirty="0" sz="900" spc="-35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>
              <a:lnSpc>
                <a:spcPts val="445"/>
              </a:lnSpc>
            </a:pPr>
            <a:r>
              <a:rPr dirty="0" sz="900" spc="-20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  <a:p>
            <a:pPr marL="139065">
              <a:lnSpc>
                <a:spcPts val="254"/>
              </a:lnSpc>
            </a:pPr>
            <a:r>
              <a:rPr dirty="0" sz="900" spc="25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  <a:p>
            <a:pPr>
              <a:lnSpc>
                <a:spcPts val="505"/>
              </a:lnSpc>
            </a:pPr>
            <a:r>
              <a:rPr dirty="0" sz="900" spc="0">
                <a:latin typeface="Arial"/>
                <a:cs typeface="Arial"/>
              </a:rPr>
              <a:t>p</a:t>
            </a:r>
            <a:r>
              <a:rPr dirty="0" baseline="-12345" sz="1350" spc="0">
                <a:latin typeface="Arial"/>
                <a:cs typeface="Arial"/>
              </a:rPr>
              <a:t>e</a:t>
            </a:r>
            <a:endParaRPr baseline="-12345"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22000"/>
              </a:lnSpc>
              <a:spcBef>
                <a:spcPts val="5"/>
              </a:spcBef>
            </a:pPr>
            <a:r>
              <a:rPr dirty="0" sz="900">
                <a:latin typeface="Arial"/>
                <a:cs typeface="Arial"/>
              </a:rPr>
              <a:t>m </a:t>
            </a:r>
            <a:r>
              <a:rPr dirty="0" baseline="3086" sz="1350">
                <a:latin typeface="Arial"/>
                <a:cs typeface="Arial"/>
              </a:rPr>
              <a:t> </a:t>
            </a:r>
            <a:r>
              <a:rPr dirty="0" baseline="3086" sz="1350" spc="-7">
                <a:latin typeface="Arial"/>
                <a:cs typeface="Arial"/>
              </a:rPr>
              <a:t>i</a:t>
            </a:r>
            <a:r>
              <a:rPr dirty="0" sz="900" spc="-5">
                <a:latin typeface="Arial"/>
                <a:cs typeface="Arial"/>
              </a:rPr>
              <a:t>pr</a:t>
            </a:r>
            <a:endParaRPr sz="900">
              <a:latin typeface="Arial"/>
              <a:cs typeface="Arial"/>
            </a:endParaRPr>
          </a:p>
          <a:p>
            <a:pPr>
              <a:lnSpc>
                <a:spcPts val="580"/>
              </a:lnSpc>
            </a:pPr>
            <a:r>
              <a:rPr dirty="0" sz="900" spc="-2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  <a:p>
            <a:pPr>
              <a:lnSpc>
                <a:spcPts val="585"/>
              </a:lnSpc>
            </a:pPr>
            <a:r>
              <a:rPr dirty="0" sz="900" spc="-35">
                <a:latin typeface="Arial"/>
                <a:cs typeface="Arial"/>
              </a:rPr>
              <a:t>U</a:t>
            </a:r>
            <a:endParaRPr sz="900">
              <a:latin typeface="Arial"/>
              <a:cs typeface="Arial"/>
            </a:endParaRPr>
          </a:p>
          <a:p>
            <a:pPr marR="131445">
              <a:lnSpc>
                <a:spcPct val="59100"/>
              </a:lnSpc>
              <a:spcBef>
                <a:spcPts val="180"/>
              </a:spcBef>
            </a:pPr>
            <a:r>
              <a:rPr dirty="0" sz="900" spc="-35">
                <a:latin typeface="Arial"/>
                <a:cs typeface="Arial"/>
              </a:rPr>
              <a:t>A  </a:t>
            </a:r>
            <a:r>
              <a:rPr dirty="0" sz="900" spc="-2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  <a:p>
            <a:pPr>
              <a:lnSpc>
                <a:spcPts val="900"/>
              </a:lnSpc>
              <a:spcBef>
                <a:spcPts val="175"/>
              </a:spcBef>
            </a:pPr>
            <a:r>
              <a:rPr dirty="0" sz="900" spc="-50">
                <a:latin typeface="Arial"/>
                <a:cs typeface="Arial"/>
              </a:rPr>
              <a:t>RO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3349" y="3223272"/>
            <a:ext cx="4802505" cy="2846070"/>
          </a:xfrm>
          <a:custGeom>
            <a:avLst/>
            <a:gdLst/>
            <a:ahLst/>
            <a:cxnLst/>
            <a:rect l="l" t="t" r="r" b="b"/>
            <a:pathLst>
              <a:path w="4802505" h="2846070">
                <a:moveTo>
                  <a:pt x="0" y="2846033"/>
                </a:moveTo>
                <a:lnTo>
                  <a:pt x="4802055" y="2846033"/>
                </a:lnTo>
                <a:lnTo>
                  <a:pt x="4802055" y="0"/>
                </a:lnTo>
                <a:lnTo>
                  <a:pt x="0" y="0"/>
                </a:lnTo>
                <a:lnTo>
                  <a:pt x="0" y="28460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60264" y="5540616"/>
            <a:ext cx="4229735" cy="0"/>
          </a:xfrm>
          <a:custGeom>
            <a:avLst/>
            <a:gdLst/>
            <a:ahLst/>
            <a:cxnLst/>
            <a:rect l="l" t="t" r="r" b="b"/>
            <a:pathLst>
              <a:path w="4229735" h="0">
                <a:moveTo>
                  <a:pt x="0" y="0"/>
                </a:moveTo>
                <a:lnTo>
                  <a:pt x="4229492" y="0"/>
                </a:lnTo>
              </a:path>
            </a:pathLst>
          </a:custGeom>
          <a:ln w="9891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92709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15176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47621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80067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02466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34911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67357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89756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1005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0264" y="5335296"/>
            <a:ext cx="0" cy="205740"/>
          </a:xfrm>
          <a:custGeom>
            <a:avLst/>
            <a:gdLst/>
            <a:ahLst/>
            <a:cxnLst/>
            <a:rect l="l" t="t" r="r" b="b"/>
            <a:pathLst>
              <a:path w="0" h="205739">
                <a:moveTo>
                  <a:pt x="0" y="0"/>
                </a:moveTo>
                <a:lnTo>
                  <a:pt x="0" y="205319"/>
                </a:lnTo>
              </a:path>
            </a:pathLst>
          </a:custGeom>
          <a:ln w="30138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20079" y="5540616"/>
            <a:ext cx="40640" cy="0"/>
          </a:xfrm>
          <a:custGeom>
            <a:avLst/>
            <a:gdLst/>
            <a:ahLst/>
            <a:cxnLst/>
            <a:rect l="l" t="t" r="r" b="b"/>
            <a:pathLst>
              <a:path w="40639" h="0">
                <a:moveTo>
                  <a:pt x="0" y="0"/>
                </a:moveTo>
                <a:lnTo>
                  <a:pt x="40184" y="0"/>
                </a:lnTo>
              </a:path>
            </a:pathLst>
          </a:custGeom>
          <a:ln w="29646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31036" y="5288623"/>
            <a:ext cx="0" cy="29845"/>
          </a:xfrm>
          <a:custGeom>
            <a:avLst/>
            <a:gdLst/>
            <a:ahLst/>
            <a:cxnLst/>
            <a:rect l="l" t="t" r="r" b="b"/>
            <a:pathLst>
              <a:path w="0" h="29845">
                <a:moveTo>
                  <a:pt x="0" y="0"/>
                </a:moveTo>
                <a:lnTo>
                  <a:pt x="0" y="29646"/>
                </a:lnTo>
              </a:path>
            </a:pathLst>
          </a:custGeom>
          <a:ln w="21913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145195" y="3371565"/>
          <a:ext cx="4255135" cy="1907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445"/>
                <a:gridCol w="522466"/>
                <a:gridCol w="532445"/>
                <a:gridCol w="532445"/>
                <a:gridCol w="522399"/>
                <a:gridCol w="532445"/>
                <a:gridCol w="532445"/>
                <a:gridCol w="522399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  <a:lnB w="1270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7E7E7E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9D9D9"/>
                      </a:solidFill>
                      <a:prstDash val="solid"/>
                    </a:lnL>
                    <a:lnR w="12700">
                      <a:solidFill>
                        <a:srgbClr val="D9D9D9"/>
                      </a:solidFill>
                      <a:prstDash val="solid"/>
                    </a:lnR>
                    <a:lnT w="12700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2396347" y="4932869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05" y="2328"/>
                </a:lnTo>
                <a:lnTo>
                  <a:pt x="8825" y="8681"/>
                </a:lnTo>
                <a:lnTo>
                  <a:pt x="2367" y="18104"/>
                </a:lnTo>
                <a:lnTo>
                  <a:pt x="0" y="29645"/>
                </a:lnTo>
                <a:lnTo>
                  <a:pt x="2367" y="41187"/>
                </a:lnTo>
                <a:lnTo>
                  <a:pt x="8825" y="50610"/>
                </a:lnTo>
                <a:lnTo>
                  <a:pt x="18405" y="56963"/>
                </a:lnTo>
                <a:lnTo>
                  <a:pt x="30138" y="59292"/>
                </a:lnTo>
                <a:lnTo>
                  <a:pt x="41871" y="56963"/>
                </a:lnTo>
                <a:lnTo>
                  <a:pt x="51451" y="50610"/>
                </a:lnTo>
                <a:lnTo>
                  <a:pt x="57908" y="41187"/>
                </a:lnTo>
                <a:lnTo>
                  <a:pt x="60276" y="29645"/>
                </a:lnTo>
                <a:lnTo>
                  <a:pt x="57908" y="18104"/>
                </a:lnTo>
                <a:lnTo>
                  <a:pt x="51451" y="8681"/>
                </a:lnTo>
                <a:lnTo>
                  <a:pt x="41871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96348" y="4932869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9" y="41187"/>
                </a:lnTo>
                <a:lnTo>
                  <a:pt x="51451" y="50610"/>
                </a:lnTo>
                <a:lnTo>
                  <a:pt x="41871" y="56963"/>
                </a:lnTo>
                <a:lnTo>
                  <a:pt x="30138" y="59292"/>
                </a:lnTo>
                <a:lnTo>
                  <a:pt x="18405" y="56963"/>
                </a:lnTo>
                <a:lnTo>
                  <a:pt x="8825" y="50610"/>
                </a:lnTo>
                <a:lnTo>
                  <a:pt x="2367" y="41187"/>
                </a:lnTo>
                <a:lnTo>
                  <a:pt x="0" y="29646"/>
                </a:lnTo>
                <a:lnTo>
                  <a:pt x="2367" y="18104"/>
                </a:lnTo>
                <a:lnTo>
                  <a:pt x="8825" y="8681"/>
                </a:lnTo>
                <a:lnTo>
                  <a:pt x="18405" y="2329"/>
                </a:lnTo>
                <a:lnTo>
                  <a:pt x="30138" y="0"/>
                </a:lnTo>
                <a:lnTo>
                  <a:pt x="41871" y="2329"/>
                </a:lnTo>
                <a:lnTo>
                  <a:pt x="51451" y="8681"/>
                </a:lnTo>
                <a:lnTo>
                  <a:pt x="57909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28793" y="4784638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05" y="2328"/>
                </a:lnTo>
                <a:lnTo>
                  <a:pt x="8825" y="8681"/>
                </a:lnTo>
                <a:lnTo>
                  <a:pt x="2367" y="18104"/>
                </a:lnTo>
                <a:lnTo>
                  <a:pt x="0" y="29645"/>
                </a:lnTo>
                <a:lnTo>
                  <a:pt x="2367" y="41187"/>
                </a:lnTo>
                <a:lnTo>
                  <a:pt x="8825" y="50610"/>
                </a:lnTo>
                <a:lnTo>
                  <a:pt x="18405" y="56963"/>
                </a:lnTo>
                <a:lnTo>
                  <a:pt x="30138" y="59292"/>
                </a:lnTo>
                <a:lnTo>
                  <a:pt x="41871" y="56963"/>
                </a:lnTo>
                <a:lnTo>
                  <a:pt x="51451" y="50610"/>
                </a:lnTo>
                <a:lnTo>
                  <a:pt x="57908" y="41187"/>
                </a:lnTo>
                <a:lnTo>
                  <a:pt x="60276" y="29645"/>
                </a:lnTo>
                <a:lnTo>
                  <a:pt x="57908" y="18104"/>
                </a:lnTo>
                <a:lnTo>
                  <a:pt x="51451" y="8681"/>
                </a:lnTo>
                <a:lnTo>
                  <a:pt x="41871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928794" y="4784638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9" y="41187"/>
                </a:lnTo>
                <a:lnTo>
                  <a:pt x="51451" y="50610"/>
                </a:lnTo>
                <a:lnTo>
                  <a:pt x="41871" y="56963"/>
                </a:lnTo>
                <a:lnTo>
                  <a:pt x="30138" y="59292"/>
                </a:lnTo>
                <a:lnTo>
                  <a:pt x="18405" y="56963"/>
                </a:lnTo>
                <a:lnTo>
                  <a:pt x="8825" y="50610"/>
                </a:lnTo>
                <a:lnTo>
                  <a:pt x="2367" y="41187"/>
                </a:lnTo>
                <a:lnTo>
                  <a:pt x="0" y="29646"/>
                </a:lnTo>
                <a:lnTo>
                  <a:pt x="2367" y="18104"/>
                </a:lnTo>
                <a:lnTo>
                  <a:pt x="8825" y="8681"/>
                </a:lnTo>
                <a:lnTo>
                  <a:pt x="18405" y="2329"/>
                </a:lnTo>
                <a:lnTo>
                  <a:pt x="30138" y="0"/>
                </a:lnTo>
                <a:lnTo>
                  <a:pt x="41871" y="2329"/>
                </a:lnTo>
                <a:lnTo>
                  <a:pt x="51451" y="8681"/>
                </a:lnTo>
                <a:lnTo>
                  <a:pt x="57909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61239" y="5002043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28"/>
                </a:lnTo>
                <a:lnTo>
                  <a:pt x="8840" y="8681"/>
                </a:lnTo>
                <a:lnTo>
                  <a:pt x="2373" y="18104"/>
                </a:lnTo>
                <a:lnTo>
                  <a:pt x="0" y="29645"/>
                </a:lnTo>
                <a:lnTo>
                  <a:pt x="2373" y="41187"/>
                </a:lnTo>
                <a:lnTo>
                  <a:pt x="8840" y="50610"/>
                </a:lnTo>
                <a:lnTo>
                  <a:pt x="18422" y="56963"/>
                </a:lnTo>
                <a:lnTo>
                  <a:pt x="30138" y="59292"/>
                </a:lnTo>
                <a:lnTo>
                  <a:pt x="41854" y="56963"/>
                </a:lnTo>
                <a:lnTo>
                  <a:pt x="51435" y="50610"/>
                </a:lnTo>
                <a:lnTo>
                  <a:pt x="57903" y="41187"/>
                </a:lnTo>
                <a:lnTo>
                  <a:pt x="60276" y="29645"/>
                </a:lnTo>
                <a:lnTo>
                  <a:pt x="57903" y="18104"/>
                </a:lnTo>
                <a:lnTo>
                  <a:pt x="51435" y="8681"/>
                </a:lnTo>
                <a:lnTo>
                  <a:pt x="41854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61239" y="5002043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87"/>
                </a:lnTo>
                <a:lnTo>
                  <a:pt x="51436" y="50610"/>
                </a:lnTo>
                <a:lnTo>
                  <a:pt x="41854" y="56963"/>
                </a:lnTo>
                <a:lnTo>
                  <a:pt x="30138" y="59292"/>
                </a:lnTo>
                <a:lnTo>
                  <a:pt x="18422" y="56963"/>
                </a:lnTo>
                <a:lnTo>
                  <a:pt x="8840" y="50610"/>
                </a:lnTo>
                <a:lnTo>
                  <a:pt x="2373" y="41187"/>
                </a:lnTo>
                <a:lnTo>
                  <a:pt x="0" y="29646"/>
                </a:lnTo>
                <a:lnTo>
                  <a:pt x="2373" y="18104"/>
                </a:lnTo>
                <a:lnTo>
                  <a:pt x="8840" y="8681"/>
                </a:lnTo>
                <a:lnTo>
                  <a:pt x="18422" y="2329"/>
                </a:lnTo>
                <a:lnTo>
                  <a:pt x="30138" y="0"/>
                </a:lnTo>
                <a:lnTo>
                  <a:pt x="41854" y="2329"/>
                </a:lnTo>
                <a:lnTo>
                  <a:pt x="51436" y="8681"/>
                </a:lnTo>
                <a:lnTo>
                  <a:pt x="57903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83638" y="4626524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34"/>
                </a:lnTo>
                <a:lnTo>
                  <a:pt x="8840" y="8696"/>
                </a:lnTo>
                <a:lnTo>
                  <a:pt x="2373" y="18121"/>
                </a:lnTo>
                <a:lnTo>
                  <a:pt x="0" y="29646"/>
                </a:lnTo>
                <a:lnTo>
                  <a:pt x="2373" y="41171"/>
                </a:lnTo>
                <a:lnTo>
                  <a:pt x="8840" y="50596"/>
                </a:lnTo>
                <a:lnTo>
                  <a:pt x="18422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6" y="50596"/>
                </a:lnTo>
                <a:lnTo>
                  <a:pt x="57903" y="41171"/>
                </a:lnTo>
                <a:lnTo>
                  <a:pt x="60276" y="29646"/>
                </a:lnTo>
                <a:lnTo>
                  <a:pt x="57903" y="18121"/>
                </a:lnTo>
                <a:lnTo>
                  <a:pt x="51436" y="8696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83639" y="462652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16083" y="351973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34"/>
                </a:lnTo>
                <a:lnTo>
                  <a:pt x="8840" y="8695"/>
                </a:lnTo>
                <a:lnTo>
                  <a:pt x="2373" y="18120"/>
                </a:lnTo>
                <a:lnTo>
                  <a:pt x="0" y="29645"/>
                </a:lnTo>
                <a:lnTo>
                  <a:pt x="2373" y="41170"/>
                </a:lnTo>
                <a:lnTo>
                  <a:pt x="8840" y="50596"/>
                </a:lnTo>
                <a:lnTo>
                  <a:pt x="18422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6" y="50596"/>
                </a:lnTo>
                <a:lnTo>
                  <a:pt x="57903" y="41170"/>
                </a:lnTo>
                <a:lnTo>
                  <a:pt x="60276" y="29645"/>
                </a:lnTo>
                <a:lnTo>
                  <a:pt x="57903" y="18120"/>
                </a:lnTo>
                <a:lnTo>
                  <a:pt x="51436" y="8695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16084" y="351973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48529" y="4132422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1" y="2334"/>
                </a:lnTo>
                <a:lnTo>
                  <a:pt x="8840" y="8695"/>
                </a:lnTo>
                <a:lnTo>
                  <a:pt x="2373" y="18120"/>
                </a:lnTo>
                <a:lnTo>
                  <a:pt x="0" y="29645"/>
                </a:lnTo>
                <a:lnTo>
                  <a:pt x="2373" y="41170"/>
                </a:lnTo>
                <a:lnTo>
                  <a:pt x="8840" y="50596"/>
                </a:lnTo>
                <a:lnTo>
                  <a:pt x="18421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5" y="50596"/>
                </a:lnTo>
                <a:lnTo>
                  <a:pt x="57903" y="41170"/>
                </a:lnTo>
                <a:lnTo>
                  <a:pt x="60276" y="29645"/>
                </a:lnTo>
                <a:lnTo>
                  <a:pt x="57903" y="18120"/>
                </a:lnTo>
                <a:lnTo>
                  <a:pt x="51435" y="8695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48529" y="4132423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70928" y="472534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1" y="2334"/>
                </a:lnTo>
                <a:lnTo>
                  <a:pt x="8840" y="8695"/>
                </a:lnTo>
                <a:lnTo>
                  <a:pt x="2373" y="18120"/>
                </a:lnTo>
                <a:lnTo>
                  <a:pt x="0" y="29645"/>
                </a:lnTo>
                <a:lnTo>
                  <a:pt x="2373" y="41187"/>
                </a:lnTo>
                <a:lnTo>
                  <a:pt x="8840" y="50610"/>
                </a:lnTo>
                <a:lnTo>
                  <a:pt x="18421" y="56963"/>
                </a:lnTo>
                <a:lnTo>
                  <a:pt x="30138" y="59292"/>
                </a:lnTo>
                <a:lnTo>
                  <a:pt x="41854" y="56963"/>
                </a:lnTo>
                <a:lnTo>
                  <a:pt x="51435" y="50610"/>
                </a:lnTo>
                <a:lnTo>
                  <a:pt x="57903" y="41187"/>
                </a:lnTo>
                <a:lnTo>
                  <a:pt x="60276" y="29645"/>
                </a:lnTo>
                <a:lnTo>
                  <a:pt x="57903" y="18120"/>
                </a:lnTo>
                <a:lnTo>
                  <a:pt x="51435" y="8695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70929" y="472534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87"/>
                </a:lnTo>
                <a:lnTo>
                  <a:pt x="51436" y="50610"/>
                </a:lnTo>
                <a:lnTo>
                  <a:pt x="41854" y="56963"/>
                </a:lnTo>
                <a:lnTo>
                  <a:pt x="30138" y="59292"/>
                </a:lnTo>
                <a:lnTo>
                  <a:pt x="18422" y="56963"/>
                </a:lnTo>
                <a:lnTo>
                  <a:pt x="8840" y="50610"/>
                </a:lnTo>
                <a:lnTo>
                  <a:pt x="2373" y="41187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103373" y="3539499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34"/>
                </a:lnTo>
                <a:lnTo>
                  <a:pt x="8840" y="8696"/>
                </a:lnTo>
                <a:lnTo>
                  <a:pt x="2373" y="18121"/>
                </a:lnTo>
                <a:lnTo>
                  <a:pt x="0" y="29645"/>
                </a:lnTo>
                <a:lnTo>
                  <a:pt x="2373" y="41170"/>
                </a:lnTo>
                <a:lnTo>
                  <a:pt x="8840" y="50596"/>
                </a:lnTo>
                <a:lnTo>
                  <a:pt x="18422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6" y="50596"/>
                </a:lnTo>
                <a:lnTo>
                  <a:pt x="57903" y="41170"/>
                </a:lnTo>
                <a:lnTo>
                  <a:pt x="60276" y="29645"/>
                </a:lnTo>
                <a:lnTo>
                  <a:pt x="57903" y="18121"/>
                </a:lnTo>
                <a:lnTo>
                  <a:pt x="51436" y="8696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103374" y="3539500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396347" y="497239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05" y="2329"/>
                </a:lnTo>
                <a:lnTo>
                  <a:pt x="8825" y="8681"/>
                </a:lnTo>
                <a:lnTo>
                  <a:pt x="2367" y="18105"/>
                </a:lnTo>
                <a:lnTo>
                  <a:pt x="0" y="29646"/>
                </a:lnTo>
                <a:lnTo>
                  <a:pt x="2367" y="41188"/>
                </a:lnTo>
                <a:lnTo>
                  <a:pt x="8825" y="50611"/>
                </a:lnTo>
                <a:lnTo>
                  <a:pt x="18405" y="56963"/>
                </a:lnTo>
                <a:lnTo>
                  <a:pt x="30138" y="59292"/>
                </a:lnTo>
                <a:lnTo>
                  <a:pt x="41871" y="56963"/>
                </a:lnTo>
                <a:lnTo>
                  <a:pt x="51451" y="50611"/>
                </a:lnTo>
                <a:lnTo>
                  <a:pt x="57908" y="41188"/>
                </a:lnTo>
                <a:lnTo>
                  <a:pt x="60276" y="29646"/>
                </a:lnTo>
                <a:lnTo>
                  <a:pt x="57908" y="18105"/>
                </a:lnTo>
                <a:lnTo>
                  <a:pt x="51451" y="8681"/>
                </a:lnTo>
                <a:lnTo>
                  <a:pt x="41871" y="2329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396348" y="4972398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9" y="41187"/>
                </a:lnTo>
                <a:lnTo>
                  <a:pt x="51451" y="50610"/>
                </a:lnTo>
                <a:lnTo>
                  <a:pt x="41871" y="56963"/>
                </a:lnTo>
                <a:lnTo>
                  <a:pt x="30138" y="59292"/>
                </a:lnTo>
                <a:lnTo>
                  <a:pt x="18405" y="56963"/>
                </a:lnTo>
                <a:lnTo>
                  <a:pt x="8825" y="50610"/>
                </a:lnTo>
                <a:lnTo>
                  <a:pt x="2367" y="41187"/>
                </a:lnTo>
                <a:lnTo>
                  <a:pt x="0" y="29646"/>
                </a:lnTo>
                <a:lnTo>
                  <a:pt x="2367" y="18104"/>
                </a:lnTo>
                <a:lnTo>
                  <a:pt x="8825" y="8681"/>
                </a:lnTo>
                <a:lnTo>
                  <a:pt x="18405" y="2329"/>
                </a:lnTo>
                <a:lnTo>
                  <a:pt x="30138" y="0"/>
                </a:lnTo>
                <a:lnTo>
                  <a:pt x="41871" y="2329"/>
                </a:lnTo>
                <a:lnTo>
                  <a:pt x="51451" y="8681"/>
                </a:lnTo>
                <a:lnTo>
                  <a:pt x="57909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928793" y="491310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05" y="2328"/>
                </a:lnTo>
                <a:lnTo>
                  <a:pt x="8825" y="8681"/>
                </a:lnTo>
                <a:lnTo>
                  <a:pt x="2367" y="18104"/>
                </a:lnTo>
                <a:lnTo>
                  <a:pt x="0" y="29645"/>
                </a:lnTo>
                <a:lnTo>
                  <a:pt x="2367" y="41187"/>
                </a:lnTo>
                <a:lnTo>
                  <a:pt x="8825" y="50610"/>
                </a:lnTo>
                <a:lnTo>
                  <a:pt x="18405" y="56962"/>
                </a:lnTo>
                <a:lnTo>
                  <a:pt x="30138" y="59291"/>
                </a:lnTo>
                <a:lnTo>
                  <a:pt x="41871" y="56962"/>
                </a:lnTo>
                <a:lnTo>
                  <a:pt x="51451" y="50610"/>
                </a:lnTo>
                <a:lnTo>
                  <a:pt x="57908" y="41187"/>
                </a:lnTo>
                <a:lnTo>
                  <a:pt x="60276" y="29645"/>
                </a:lnTo>
                <a:lnTo>
                  <a:pt x="57908" y="18104"/>
                </a:lnTo>
                <a:lnTo>
                  <a:pt x="51451" y="8681"/>
                </a:lnTo>
                <a:lnTo>
                  <a:pt x="41871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28794" y="491310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9" y="41187"/>
                </a:lnTo>
                <a:lnTo>
                  <a:pt x="51451" y="50610"/>
                </a:lnTo>
                <a:lnTo>
                  <a:pt x="41871" y="56963"/>
                </a:lnTo>
                <a:lnTo>
                  <a:pt x="30138" y="59292"/>
                </a:lnTo>
                <a:lnTo>
                  <a:pt x="18405" y="56963"/>
                </a:lnTo>
                <a:lnTo>
                  <a:pt x="8825" y="50610"/>
                </a:lnTo>
                <a:lnTo>
                  <a:pt x="2367" y="41187"/>
                </a:lnTo>
                <a:lnTo>
                  <a:pt x="0" y="29646"/>
                </a:lnTo>
                <a:lnTo>
                  <a:pt x="2367" y="18104"/>
                </a:lnTo>
                <a:lnTo>
                  <a:pt x="8825" y="8681"/>
                </a:lnTo>
                <a:lnTo>
                  <a:pt x="18405" y="2329"/>
                </a:lnTo>
                <a:lnTo>
                  <a:pt x="30138" y="0"/>
                </a:lnTo>
                <a:lnTo>
                  <a:pt x="41871" y="2329"/>
                </a:lnTo>
                <a:lnTo>
                  <a:pt x="51451" y="8681"/>
                </a:lnTo>
                <a:lnTo>
                  <a:pt x="57909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61239" y="516015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29"/>
                </a:lnTo>
                <a:lnTo>
                  <a:pt x="8840" y="8681"/>
                </a:lnTo>
                <a:lnTo>
                  <a:pt x="2373" y="18105"/>
                </a:lnTo>
                <a:lnTo>
                  <a:pt x="0" y="29646"/>
                </a:lnTo>
                <a:lnTo>
                  <a:pt x="2373" y="41188"/>
                </a:lnTo>
                <a:lnTo>
                  <a:pt x="8840" y="50611"/>
                </a:lnTo>
                <a:lnTo>
                  <a:pt x="18422" y="56963"/>
                </a:lnTo>
                <a:lnTo>
                  <a:pt x="30138" y="59292"/>
                </a:lnTo>
                <a:lnTo>
                  <a:pt x="41854" y="56963"/>
                </a:lnTo>
                <a:lnTo>
                  <a:pt x="51435" y="50611"/>
                </a:lnTo>
                <a:lnTo>
                  <a:pt x="57903" y="41188"/>
                </a:lnTo>
                <a:lnTo>
                  <a:pt x="60276" y="29646"/>
                </a:lnTo>
                <a:lnTo>
                  <a:pt x="57903" y="18105"/>
                </a:lnTo>
                <a:lnTo>
                  <a:pt x="51435" y="8681"/>
                </a:lnTo>
                <a:lnTo>
                  <a:pt x="41854" y="2329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61239" y="516015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87"/>
                </a:lnTo>
                <a:lnTo>
                  <a:pt x="51436" y="50610"/>
                </a:lnTo>
                <a:lnTo>
                  <a:pt x="41854" y="56963"/>
                </a:lnTo>
                <a:lnTo>
                  <a:pt x="30138" y="59292"/>
                </a:lnTo>
                <a:lnTo>
                  <a:pt x="18422" y="56963"/>
                </a:lnTo>
                <a:lnTo>
                  <a:pt x="8840" y="50610"/>
                </a:lnTo>
                <a:lnTo>
                  <a:pt x="2373" y="41187"/>
                </a:lnTo>
                <a:lnTo>
                  <a:pt x="0" y="29646"/>
                </a:lnTo>
                <a:lnTo>
                  <a:pt x="2373" y="18104"/>
                </a:lnTo>
                <a:lnTo>
                  <a:pt x="8840" y="8681"/>
                </a:lnTo>
                <a:lnTo>
                  <a:pt x="18422" y="2329"/>
                </a:lnTo>
                <a:lnTo>
                  <a:pt x="30138" y="0"/>
                </a:lnTo>
                <a:lnTo>
                  <a:pt x="41854" y="2329"/>
                </a:lnTo>
                <a:lnTo>
                  <a:pt x="51436" y="8681"/>
                </a:lnTo>
                <a:lnTo>
                  <a:pt x="57903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83638" y="4695699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34"/>
                </a:lnTo>
                <a:lnTo>
                  <a:pt x="8840" y="8696"/>
                </a:lnTo>
                <a:lnTo>
                  <a:pt x="2373" y="18121"/>
                </a:lnTo>
                <a:lnTo>
                  <a:pt x="0" y="29646"/>
                </a:lnTo>
                <a:lnTo>
                  <a:pt x="2373" y="41171"/>
                </a:lnTo>
                <a:lnTo>
                  <a:pt x="8840" y="50596"/>
                </a:lnTo>
                <a:lnTo>
                  <a:pt x="18422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6" y="50596"/>
                </a:lnTo>
                <a:lnTo>
                  <a:pt x="57903" y="41171"/>
                </a:lnTo>
                <a:lnTo>
                  <a:pt x="60276" y="29646"/>
                </a:lnTo>
                <a:lnTo>
                  <a:pt x="57903" y="18121"/>
                </a:lnTo>
                <a:lnTo>
                  <a:pt x="51436" y="8696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983639" y="4695700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16083" y="5377562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28"/>
                </a:lnTo>
                <a:lnTo>
                  <a:pt x="8840" y="8681"/>
                </a:lnTo>
                <a:lnTo>
                  <a:pt x="2373" y="18104"/>
                </a:lnTo>
                <a:lnTo>
                  <a:pt x="0" y="29645"/>
                </a:lnTo>
                <a:lnTo>
                  <a:pt x="2373" y="41187"/>
                </a:lnTo>
                <a:lnTo>
                  <a:pt x="8840" y="50610"/>
                </a:lnTo>
                <a:lnTo>
                  <a:pt x="18422" y="56962"/>
                </a:lnTo>
                <a:lnTo>
                  <a:pt x="30138" y="59291"/>
                </a:lnTo>
                <a:lnTo>
                  <a:pt x="41854" y="56962"/>
                </a:lnTo>
                <a:lnTo>
                  <a:pt x="51436" y="50610"/>
                </a:lnTo>
                <a:lnTo>
                  <a:pt x="57903" y="41187"/>
                </a:lnTo>
                <a:lnTo>
                  <a:pt x="60276" y="29645"/>
                </a:lnTo>
                <a:lnTo>
                  <a:pt x="57903" y="18104"/>
                </a:lnTo>
                <a:lnTo>
                  <a:pt x="51436" y="8681"/>
                </a:lnTo>
                <a:lnTo>
                  <a:pt x="41854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516084" y="5377562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87"/>
                </a:lnTo>
                <a:lnTo>
                  <a:pt x="51436" y="50610"/>
                </a:lnTo>
                <a:lnTo>
                  <a:pt x="41854" y="56963"/>
                </a:lnTo>
                <a:lnTo>
                  <a:pt x="30138" y="59292"/>
                </a:lnTo>
                <a:lnTo>
                  <a:pt x="18422" y="56963"/>
                </a:lnTo>
                <a:lnTo>
                  <a:pt x="8840" y="50610"/>
                </a:lnTo>
                <a:lnTo>
                  <a:pt x="2373" y="41187"/>
                </a:lnTo>
                <a:lnTo>
                  <a:pt x="0" y="29646"/>
                </a:lnTo>
                <a:lnTo>
                  <a:pt x="2373" y="18104"/>
                </a:lnTo>
                <a:lnTo>
                  <a:pt x="8840" y="8681"/>
                </a:lnTo>
                <a:lnTo>
                  <a:pt x="18422" y="2329"/>
                </a:lnTo>
                <a:lnTo>
                  <a:pt x="30138" y="0"/>
                </a:lnTo>
                <a:lnTo>
                  <a:pt x="41854" y="2329"/>
                </a:lnTo>
                <a:lnTo>
                  <a:pt x="51436" y="8681"/>
                </a:lnTo>
                <a:lnTo>
                  <a:pt x="57903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048529" y="4359709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1" y="2334"/>
                </a:lnTo>
                <a:lnTo>
                  <a:pt x="8840" y="8696"/>
                </a:lnTo>
                <a:lnTo>
                  <a:pt x="2373" y="18121"/>
                </a:lnTo>
                <a:lnTo>
                  <a:pt x="0" y="29646"/>
                </a:lnTo>
                <a:lnTo>
                  <a:pt x="2373" y="41171"/>
                </a:lnTo>
                <a:lnTo>
                  <a:pt x="8840" y="50596"/>
                </a:lnTo>
                <a:lnTo>
                  <a:pt x="18421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5" y="50596"/>
                </a:lnTo>
                <a:lnTo>
                  <a:pt x="57903" y="41171"/>
                </a:lnTo>
                <a:lnTo>
                  <a:pt x="60276" y="29646"/>
                </a:lnTo>
                <a:lnTo>
                  <a:pt x="57903" y="18121"/>
                </a:lnTo>
                <a:lnTo>
                  <a:pt x="51435" y="8696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048529" y="4359710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570928" y="5387444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1" y="2328"/>
                </a:lnTo>
                <a:lnTo>
                  <a:pt x="8840" y="8681"/>
                </a:lnTo>
                <a:lnTo>
                  <a:pt x="2373" y="18104"/>
                </a:lnTo>
                <a:lnTo>
                  <a:pt x="0" y="29645"/>
                </a:lnTo>
                <a:lnTo>
                  <a:pt x="2373" y="41187"/>
                </a:lnTo>
                <a:lnTo>
                  <a:pt x="8840" y="50610"/>
                </a:lnTo>
                <a:lnTo>
                  <a:pt x="18421" y="56963"/>
                </a:lnTo>
                <a:lnTo>
                  <a:pt x="30138" y="59292"/>
                </a:lnTo>
                <a:lnTo>
                  <a:pt x="41854" y="56963"/>
                </a:lnTo>
                <a:lnTo>
                  <a:pt x="51435" y="50610"/>
                </a:lnTo>
                <a:lnTo>
                  <a:pt x="57903" y="41187"/>
                </a:lnTo>
                <a:lnTo>
                  <a:pt x="60276" y="29645"/>
                </a:lnTo>
                <a:lnTo>
                  <a:pt x="57903" y="18104"/>
                </a:lnTo>
                <a:lnTo>
                  <a:pt x="51435" y="8681"/>
                </a:lnTo>
                <a:lnTo>
                  <a:pt x="41854" y="2328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570929" y="5387444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87"/>
                </a:lnTo>
                <a:lnTo>
                  <a:pt x="51436" y="50610"/>
                </a:lnTo>
                <a:lnTo>
                  <a:pt x="41854" y="56963"/>
                </a:lnTo>
                <a:lnTo>
                  <a:pt x="30138" y="59292"/>
                </a:lnTo>
                <a:lnTo>
                  <a:pt x="18422" y="56963"/>
                </a:lnTo>
                <a:lnTo>
                  <a:pt x="8840" y="50610"/>
                </a:lnTo>
                <a:lnTo>
                  <a:pt x="2373" y="41187"/>
                </a:lnTo>
                <a:lnTo>
                  <a:pt x="0" y="29646"/>
                </a:lnTo>
                <a:lnTo>
                  <a:pt x="2373" y="18104"/>
                </a:lnTo>
                <a:lnTo>
                  <a:pt x="8840" y="8681"/>
                </a:lnTo>
                <a:lnTo>
                  <a:pt x="18422" y="2329"/>
                </a:lnTo>
                <a:lnTo>
                  <a:pt x="30138" y="0"/>
                </a:lnTo>
                <a:lnTo>
                  <a:pt x="41854" y="2329"/>
                </a:lnTo>
                <a:lnTo>
                  <a:pt x="51436" y="8681"/>
                </a:lnTo>
                <a:lnTo>
                  <a:pt x="57903" y="18104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103373" y="4458530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30138" y="0"/>
                </a:moveTo>
                <a:lnTo>
                  <a:pt x="18422" y="2334"/>
                </a:lnTo>
                <a:lnTo>
                  <a:pt x="8840" y="8695"/>
                </a:lnTo>
                <a:lnTo>
                  <a:pt x="2373" y="18120"/>
                </a:lnTo>
                <a:lnTo>
                  <a:pt x="0" y="29645"/>
                </a:lnTo>
                <a:lnTo>
                  <a:pt x="2373" y="41170"/>
                </a:lnTo>
                <a:lnTo>
                  <a:pt x="8840" y="50596"/>
                </a:lnTo>
                <a:lnTo>
                  <a:pt x="18422" y="56957"/>
                </a:lnTo>
                <a:lnTo>
                  <a:pt x="30138" y="59292"/>
                </a:lnTo>
                <a:lnTo>
                  <a:pt x="41854" y="56957"/>
                </a:lnTo>
                <a:lnTo>
                  <a:pt x="51436" y="50596"/>
                </a:lnTo>
                <a:lnTo>
                  <a:pt x="57903" y="41170"/>
                </a:lnTo>
                <a:lnTo>
                  <a:pt x="60276" y="29645"/>
                </a:lnTo>
                <a:lnTo>
                  <a:pt x="57903" y="18120"/>
                </a:lnTo>
                <a:lnTo>
                  <a:pt x="51436" y="8695"/>
                </a:lnTo>
                <a:lnTo>
                  <a:pt x="41854" y="2334"/>
                </a:lnTo>
                <a:lnTo>
                  <a:pt x="30138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03374" y="4458530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276" y="29646"/>
                </a:moveTo>
                <a:lnTo>
                  <a:pt x="57903" y="41171"/>
                </a:lnTo>
                <a:lnTo>
                  <a:pt x="51436" y="50596"/>
                </a:lnTo>
                <a:lnTo>
                  <a:pt x="41854" y="56957"/>
                </a:lnTo>
                <a:lnTo>
                  <a:pt x="30138" y="59292"/>
                </a:lnTo>
                <a:lnTo>
                  <a:pt x="18422" y="56957"/>
                </a:lnTo>
                <a:lnTo>
                  <a:pt x="8840" y="50596"/>
                </a:lnTo>
                <a:lnTo>
                  <a:pt x="2373" y="41171"/>
                </a:lnTo>
                <a:lnTo>
                  <a:pt x="0" y="29646"/>
                </a:lnTo>
                <a:lnTo>
                  <a:pt x="2373" y="18121"/>
                </a:lnTo>
                <a:lnTo>
                  <a:pt x="8840" y="8696"/>
                </a:lnTo>
                <a:lnTo>
                  <a:pt x="18422" y="2334"/>
                </a:lnTo>
                <a:lnTo>
                  <a:pt x="30138" y="0"/>
                </a:lnTo>
                <a:lnTo>
                  <a:pt x="41854" y="2334"/>
                </a:lnTo>
                <a:lnTo>
                  <a:pt x="51436" y="8696"/>
                </a:lnTo>
                <a:lnTo>
                  <a:pt x="57903" y="18121"/>
                </a:lnTo>
                <a:lnTo>
                  <a:pt x="60276" y="29646"/>
                </a:lnTo>
                <a:close/>
              </a:path>
            </a:pathLst>
          </a:custGeom>
          <a:ln w="9972">
            <a:solidFill>
              <a:srgbClr val="ED7D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1823073" y="3271447"/>
            <a:ext cx="241935" cy="23469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16.0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14.0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12.0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10.0</a:t>
            </a:r>
            <a:endParaRPr sz="9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825"/>
              </a:spcBef>
            </a:pPr>
            <a:r>
              <a:rPr dirty="0" sz="900" spc="15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r>
              <a:rPr dirty="0" sz="900" spc="5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825"/>
              </a:spcBef>
            </a:pPr>
            <a:r>
              <a:rPr dirty="0" sz="900" spc="15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r>
              <a:rPr dirty="0" sz="900" spc="5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825"/>
              </a:spcBef>
            </a:pPr>
            <a:r>
              <a:rPr dirty="0" sz="900" spc="15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r>
              <a:rPr dirty="0" sz="900" spc="5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819"/>
              </a:spcBef>
            </a:pPr>
            <a:r>
              <a:rPr dirty="0" sz="900" spc="15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r>
              <a:rPr dirty="0" sz="900" spc="5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819"/>
              </a:spcBef>
            </a:pPr>
            <a:r>
              <a:rPr dirty="0" sz="900" spc="15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r>
              <a:rPr dirty="0" sz="900" spc="5">
                <a:solidFill>
                  <a:srgbClr val="585858"/>
                </a:solidFill>
                <a:latin typeface="Calibri"/>
                <a:cs typeface="Calibri"/>
              </a:rPr>
              <a:t>.0</a:t>
            </a:r>
            <a:endParaRPr sz="900">
              <a:latin typeface="Calibri"/>
              <a:cs typeface="Calibri"/>
            </a:endParaRPr>
          </a:p>
          <a:p>
            <a:pPr marL="36195">
              <a:lnSpc>
                <a:spcPct val="100000"/>
              </a:lnSpc>
              <a:spcBef>
                <a:spcPts val="819"/>
              </a:spcBef>
            </a:pPr>
            <a:r>
              <a:rPr dirty="0" sz="900" spc="10">
                <a:solidFill>
                  <a:srgbClr val="585858"/>
                </a:solidFill>
                <a:latin typeface="Calibri"/>
                <a:cs typeface="Calibri"/>
              </a:rPr>
              <a:t>-2.0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223138" y="5653094"/>
            <a:ext cx="201295" cy="214629"/>
          </a:xfrm>
          <a:custGeom>
            <a:avLst/>
            <a:gdLst/>
            <a:ahLst/>
            <a:cxnLst/>
            <a:rect l="l" t="t" r="r" b="b"/>
            <a:pathLst>
              <a:path w="201294" h="214629">
                <a:moveTo>
                  <a:pt x="35175" y="139700"/>
                </a:moveTo>
                <a:lnTo>
                  <a:pt x="27633" y="139700"/>
                </a:lnTo>
                <a:lnTo>
                  <a:pt x="25035" y="140970"/>
                </a:lnTo>
                <a:lnTo>
                  <a:pt x="19704" y="143510"/>
                </a:lnTo>
                <a:lnTo>
                  <a:pt x="16770" y="146050"/>
                </a:lnTo>
                <a:lnTo>
                  <a:pt x="670" y="161290"/>
                </a:lnTo>
                <a:lnTo>
                  <a:pt x="281" y="162560"/>
                </a:lnTo>
                <a:lnTo>
                  <a:pt x="0" y="163830"/>
                </a:lnTo>
                <a:lnTo>
                  <a:pt x="482" y="165100"/>
                </a:lnTo>
                <a:lnTo>
                  <a:pt x="50673" y="214630"/>
                </a:lnTo>
                <a:lnTo>
                  <a:pt x="54531" y="214630"/>
                </a:lnTo>
                <a:lnTo>
                  <a:pt x="66113" y="203200"/>
                </a:lnTo>
                <a:lnTo>
                  <a:pt x="53713" y="203200"/>
                </a:lnTo>
                <a:lnTo>
                  <a:pt x="34733" y="185420"/>
                </a:lnTo>
                <a:lnTo>
                  <a:pt x="40731" y="179070"/>
                </a:lnTo>
                <a:lnTo>
                  <a:pt x="29027" y="179070"/>
                </a:lnTo>
                <a:lnTo>
                  <a:pt x="11587" y="162560"/>
                </a:lnTo>
                <a:lnTo>
                  <a:pt x="21029" y="153670"/>
                </a:lnTo>
                <a:lnTo>
                  <a:pt x="22879" y="151130"/>
                </a:lnTo>
                <a:lnTo>
                  <a:pt x="26146" y="149860"/>
                </a:lnTo>
                <a:lnTo>
                  <a:pt x="47552" y="149860"/>
                </a:lnTo>
                <a:lnTo>
                  <a:pt x="46695" y="148590"/>
                </a:lnTo>
                <a:lnTo>
                  <a:pt x="45623" y="147320"/>
                </a:lnTo>
                <a:lnTo>
                  <a:pt x="42207" y="143510"/>
                </a:lnTo>
                <a:lnTo>
                  <a:pt x="39956" y="142240"/>
                </a:lnTo>
                <a:lnTo>
                  <a:pt x="35175" y="139700"/>
                </a:lnTo>
                <a:close/>
              </a:path>
              <a:path w="201294" h="214629">
                <a:moveTo>
                  <a:pt x="75601" y="170180"/>
                </a:moveTo>
                <a:lnTo>
                  <a:pt x="58709" y="170180"/>
                </a:lnTo>
                <a:lnTo>
                  <a:pt x="62166" y="171450"/>
                </a:lnTo>
                <a:lnTo>
                  <a:pt x="63840" y="172720"/>
                </a:lnTo>
                <a:lnTo>
                  <a:pt x="65448" y="173990"/>
                </a:lnTo>
                <a:lnTo>
                  <a:pt x="66948" y="175260"/>
                </a:lnTo>
                <a:lnTo>
                  <a:pt x="68005" y="177800"/>
                </a:lnTo>
                <a:lnTo>
                  <a:pt x="69225" y="180340"/>
                </a:lnTo>
                <a:lnTo>
                  <a:pt x="53713" y="203200"/>
                </a:lnTo>
                <a:lnTo>
                  <a:pt x="66113" y="203200"/>
                </a:lnTo>
                <a:lnTo>
                  <a:pt x="71260" y="198120"/>
                </a:lnTo>
                <a:lnTo>
                  <a:pt x="72922" y="196850"/>
                </a:lnTo>
                <a:lnTo>
                  <a:pt x="75467" y="193040"/>
                </a:lnTo>
                <a:lnTo>
                  <a:pt x="78601" y="185420"/>
                </a:lnTo>
                <a:lnTo>
                  <a:pt x="79070" y="181610"/>
                </a:lnTo>
                <a:lnTo>
                  <a:pt x="79002" y="179070"/>
                </a:lnTo>
                <a:lnTo>
                  <a:pt x="78280" y="175260"/>
                </a:lnTo>
                <a:lnTo>
                  <a:pt x="75601" y="170180"/>
                </a:lnTo>
                <a:close/>
              </a:path>
              <a:path w="201294" h="214629">
                <a:moveTo>
                  <a:pt x="47552" y="149860"/>
                </a:moveTo>
                <a:lnTo>
                  <a:pt x="32202" y="149860"/>
                </a:lnTo>
                <a:lnTo>
                  <a:pt x="35027" y="151130"/>
                </a:lnTo>
                <a:lnTo>
                  <a:pt x="36380" y="152400"/>
                </a:lnTo>
                <a:lnTo>
                  <a:pt x="41859" y="163830"/>
                </a:lnTo>
                <a:lnTo>
                  <a:pt x="41578" y="165100"/>
                </a:lnTo>
                <a:lnTo>
                  <a:pt x="40279" y="167640"/>
                </a:lnTo>
                <a:lnTo>
                  <a:pt x="39019" y="170180"/>
                </a:lnTo>
                <a:lnTo>
                  <a:pt x="29027" y="179070"/>
                </a:lnTo>
                <a:lnTo>
                  <a:pt x="40731" y="179070"/>
                </a:lnTo>
                <a:lnTo>
                  <a:pt x="45529" y="173990"/>
                </a:lnTo>
                <a:lnTo>
                  <a:pt x="47605" y="172720"/>
                </a:lnTo>
                <a:lnTo>
                  <a:pt x="51436" y="170180"/>
                </a:lnTo>
                <a:lnTo>
                  <a:pt x="75601" y="170180"/>
                </a:lnTo>
                <a:lnTo>
                  <a:pt x="74261" y="167640"/>
                </a:lnTo>
                <a:lnTo>
                  <a:pt x="72574" y="166370"/>
                </a:lnTo>
                <a:lnTo>
                  <a:pt x="70738" y="165100"/>
                </a:lnTo>
                <a:lnTo>
                  <a:pt x="68783" y="163830"/>
                </a:lnTo>
                <a:lnTo>
                  <a:pt x="48637" y="163830"/>
                </a:lnTo>
                <a:lnTo>
                  <a:pt x="49306" y="162560"/>
                </a:lnTo>
                <a:lnTo>
                  <a:pt x="49695" y="160020"/>
                </a:lnTo>
                <a:lnTo>
                  <a:pt x="49950" y="157480"/>
                </a:lnTo>
                <a:lnTo>
                  <a:pt x="49815" y="154940"/>
                </a:lnTo>
                <a:lnTo>
                  <a:pt x="49038" y="152400"/>
                </a:lnTo>
                <a:lnTo>
                  <a:pt x="48409" y="151130"/>
                </a:lnTo>
                <a:lnTo>
                  <a:pt x="47552" y="149860"/>
                </a:lnTo>
                <a:close/>
              </a:path>
              <a:path w="201294" h="214629">
                <a:moveTo>
                  <a:pt x="82445" y="90170"/>
                </a:moveTo>
                <a:lnTo>
                  <a:pt x="77369" y="91440"/>
                </a:lnTo>
                <a:lnTo>
                  <a:pt x="74757" y="91440"/>
                </a:lnTo>
                <a:lnTo>
                  <a:pt x="69439" y="93980"/>
                </a:lnTo>
                <a:lnTo>
                  <a:pt x="66492" y="96520"/>
                </a:lnTo>
                <a:lnTo>
                  <a:pt x="50405" y="113030"/>
                </a:lnTo>
                <a:lnTo>
                  <a:pt x="50016" y="113030"/>
                </a:lnTo>
                <a:lnTo>
                  <a:pt x="49735" y="115570"/>
                </a:lnTo>
                <a:lnTo>
                  <a:pt x="50204" y="116840"/>
                </a:lnTo>
                <a:lnTo>
                  <a:pt x="100408" y="166370"/>
                </a:lnTo>
                <a:lnTo>
                  <a:pt x="103435" y="166370"/>
                </a:lnTo>
                <a:lnTo>
                  <a:pt x="104253" y="165100"/>
                </a:lnTo>
                <a:lnTo>
                  <a:pt x="115415" y="154940"/>
                </a:lnTo>
                <a:lnTo>
                  <a:pt x="103435" y="154940"/>
                </a:lnTo>
                <a:lnTo>
                  <a:pt x="84455" y="135890"/>
                </a:lnTo>
                <a:lnTo>
                  <a:pt x="89860" y="130810"/>
                </a:lnTo>
                <a:lnTo>
                  <a:pt x="78761" y="130810"/>
                </a:lnTo>
                <a:lnTo>
                  <a:pt x="61321" y="113030"/>
                </a:lnTo>
                <a:lnTo>
                  <a:pt x="70751" y="104140"/>
                </a:lnTo>
                <a:lnTo>
                  <a:pt x="72600" y="102870"/>
                </a:lnTo>
                <a:lnTo>
                  <a:pt x="75868" y="101600"/>
                </a:lnTo>
                <a:lnTo>
                  <a:pt x="77435" y="100330"/>
                </a:lnTo>
                <a:lnTo>
                  <a:pt x="97280" y="100330"/>
                </a:lnTo>
                <a:lnTo>
                  <a:pt x="96417" y="99060"/>
                </a:lnTo>
                <a:lnTo>
                  <a:pt x="95345" y="97790"/>
                </a:lnTo>
                <a:lnTo>
                  <a:pt x="91942" y="93980"/>
                </a:lnTo>
                <a:lnTo>
                  <a:pt x="89678" y="92710"/>
                </a:lnTo>
                <a:lnTo>
                  <a:pt x="84910" y="91440"/>
                </a:lnTo>
                <a:lnTo>
                  <a:pt x="82445" y="90170"/>
                </a:lnTo>
                <a:close/>
              </a:path>
              <a:path w="201294" h="214629">
                <a:moveTo>
                  <a:pt x="58348" y="160020"/>
                </a:moveTo>
                <a:lnTo>
                  <a:pt x="56285" y="160020"/>
                </a:lnTo>
                <a:lnTo>
                  <a:pt x="52266" y="161290"/>
                </a:lnTo>
                <a:lnTo>
                  <a:pt x="50378" y="162560"/>
                </a:lnTo>
                <a:lnTo>
                  <a:pt x="48637" y="163830"/>
                </a:lnTo>
                <a:lnTo>
                  <a:pt x="68783" y="163830"/>
                </a:lnTo>
                <a:lnTo>
                  <a:pt x="64617" y="161290"/>
                </a:lnTo>
                <a:lnTo>
                  <a:pt x="62527" y="161290"/>
                </a:lnTo>
                <a:lnTo>
                  <a:pt x="58348" y="160020"/>
                </a:lnTo>
                <a:close/>
              </a:path>
              <a:path w="201294" h="214629">
                <a:moveTo>
                  <a:pt x="125336" y="120650"/>
                </a:moveTo>
                <a:lnTo>
                  <a:pt x="108431" y="120650"/>
                </a:lnTo>
                <a:lnTo>
                  <a:pt x="111900" y="123190"/>
                </a:lnTo>
                <a:lnTo>
                  <a:pt x="113574" y="123190"/>
                </a:lnTo>
                <a:lnTo>
                  <a:pt x="115182" y="125730"/>
                </a:lnTo>
                <a:lnTo>
                  <a:pt x="116682" y="127000"/>
                </a:lnTo>
                <a:lnTo>
                  <a:pt x="117727" y="128270"/>
                </a:lnTo>
                <a:lnTo>
                  <a:pt x="118959" y="132080"/>
                </a:lnTo>
                <a:lnTo>
                  <a:pt x="119174" y="133350"/>
                </a:lnTo>
                <a:lnTo>
                  <a:pt x="118852" y="137160"/>
                </a:lnTo>
                <a:lnTo>
                  <a:pt x="118357" y="138430"/>
                </a:lnTo>
                <a:lnTo>
                  <a:pt x="116696" y="140970"/>
                </a:lnTo>
                <a:lnTo>
                  <a:pt x="115464" y="143510"/>
                </a:lnTo>
                <a:lnTo>
                  <a:pt x="103435" y="154940"/>
                </a:lnTo>
                <a:lnTo>
                  <a:pt x="115415" y="154940"/>
                </a:lnTo>
                <a:lnTo>
                  <a:pt x="120996" y="149860"/>
                </a:lnTo>
                <a:lnTo>
                  <a:pt x="122643" y="147320"/>
                </a:lnTo>
                <a:lnTo>
                  <a:pt x="125201" y="143510"/>
                </a:lnTo>
                <a:lnTo>
                  <a:pt x="126232" y="142240"/>
                </a:lnTo>
                <a:lnTo>
                  <a:pt x="127814" y="138430"/>
                </a:lnTo>
                <a:lnTo>
                  <a:pt x="128323" y="135890"/>
                </a:lnTo>
                <a:lnTo>
                  <a:pt x="128791" y="132080"/>
                </a:lnTo>
                <a:lnTo>
                  <a:pt x="128738" y="130810"/>
                </a:lnTo>
                <a:lnTo>
                  <a:pt x="128014" y="127000"/>
                </a:lnTo>
                <a:lnTo>
                  <a:pt x="127331" y="124460"/>
                </a:lnTo>
                <a:lnTo>
                  <a:pt x="125336" y="120650"/>
                </a:lnTo>
                <a:close/>
              </a:path>
              <a:path w="201294" h="214629">
                <a:moveTo>
                  <a:pt x="97280" y="100330"/>
                </a:moveTo>
                <a:lnTo>
                  <a:pt x="81923" y="100330"/>
                </a:lnTo>
                <a:lnTo>
                  <a:pt x="84749" y="101600"/>
                </a:lnTo>
                <a:lnTo>
                  <a:pt x="86116" y="102870"/>
                </a:lnTo>
                <a:lnTo>
                  <a:pt x="91594" y="114300"/>
                </a:lnTo>
                <a:lnTo>
                  <a:pt x="91300" y="115570"/>
                </a:lnTo>
                <a:lnTo>
                  <a:pt x="90001" y="119380"/>
                </a:lnTo>
                <a:lnTo>
                  <a:pt x="78761" y="130810"/>
                </a:lnTo>
                <a:lnTo>
                  <a:pt x="89860" y="130810"/>
                </a:lnTo>
                <a:lnTo>
                  <a:pt x="95265" y="125730"/>
                </a:lnTo>
                <a:lnTo>
                  <a:pt x="97340" y="124460"/>
                </a:lnTo>
                <a:lnTo>
                  <a:pt x="101158" y="121920"/>
                </a:lnTo>
                <a:lnTo>
                  <a:pt x="103019" y="121920"/>
                </a:lnTo>
                <a:lnTo>
                  <a:pt x="106650" y="120650"/>
                </a:lnTo>
                <a:lnTo>
                  <a:pt x="125336" y="120650"/>
                </a:lnTo>
                <a:lnTo>
                  <a:pt x="123983" y="119380"/>
                </a:lnTo>
                <a:lnTo>
                  <a:pt x="122295" y="118110"/>
                </a:lnTo>
                <a:lnTo>
                  <a:pt x="120460" y="115570"/>
                </a:lnTo>
                <a:lnTo>
                  <a:pt x="118504" y="114300"/>
                </a:lnTo>
                <a:lnTo>
                  <a:pt x="98358" y="114300"/>
                </a:lnTo>
                <a:lnTo>
                  <a:pt x="99028" y="113030"/>
                </a:lnTo>
                <a:lnTo>
                  <a:pt x="99430" y="111760"/>
                </a:lnTo>
                <a:lnTo>
                  <a:pt x="99672" y="107950"/>
                </a:lnTo>
                <a:lnTo>
                  <a:pt x="99537" y="106680"/>
                </a:lnTo>
                <a:lnTo>
                  <a:pt x="98760" y="104140"/>
                </a:lnTo>
                <a:lnTo>
                  <a:pt x="98144" y="101600"/>
                </a:lnTo>
                <a:lnTo>
                  <a:pt x="97280" y="100330"/>
                </a:lnTo>
                <a:close/>
              </a:path>
              <a:path w="201294" h="214629">
                <a:moveTo>
                  <a:pt x="125068" y="48260"/>
                </a:moveTo>
                <a:lnTo>
                  <a:pt x="119992" y="49530"/>
                </a:lnTo>
                <a:lnTo>
                  <a:pt x="117379" y="49530"/>
                </a:lnTo>
                <a:lnTo>
                  <a:pt x="112062" y="52070"/>
                </a:lnTo>
                <a:lnTo>
                  <a:pt x="109114" y="54610"/>
                </a:lnTo>
                <a:lnTo>
                  <a:pt x="93014" y="71120"/>
                </a:lnTo>
                <a:lnTo>
                  <a:pt x="92626" y="71120"/>
                </a:lnTo>
                <a:lnTo>
                  <a:pt x="92358" y="73660"/>
                </a:lnTo>
                <a:lnTo>
                  <a:pt x="92826" y="74930"/>
                </a:lnTo>
                <a:lnTo>
                  <a:pt x="143031" y="124460"/>
                </a:lnTo>
                <a:lnTo>
                  <a:pt x="146057" y="124460"/>
                </a:lnTo>
                <a:lnTo>
                  <a:pt x="146875" y="123190"/>
                </a:lnTo>
                <a:lnTo>
                  <a:pt x="157179" y="113030"/>
                </a:lnTo>
                <a:lnTo>
                  <a:pt x="146057" y="113030"/>
                </a:lnTo>
                <a:lnTo>
                  <a:pt x="127077" y="93980"/>
                </a:lnTo>
                <a:lnTo>
                  <a:pt x="132481" y="88900"/>
                </a:lnTo>
                <a:lnTo>
                  <a:pt x="121384" y="88900"/>
                </a:lnTo>
                <a:lnTo>
                  <a:pt x="103944" y="71120"/>
                </a:lnTo>
                <a:lnTo>
                  <a:pt x="113374" y="62230"/>
                </a:lnTo>
                <a:lnTo>
                  <a:pt x="115223" y="60960"/>
                </a:lnTo>
                <a:lnTo>
                  <a:pt x="118491" y="59690"/>
                </a:lnTo>
                <a:lnTo>
                  <a:pt x="120058" y="58420"/>
                </a:lnTo>
                <a:lnTo>
                  <a:pt x="139903" y="58420"/>
                </a:lnTo>
                <a:lnTo>
                  <a:pt x="139039" y="57150"/>
                </a:lnTo>
                <a:lnTo>
                  <a:pt x="137967" y="55880"/>
                </a:lnTo>
                <a:lnTo>
                  <a:pt x="134565" y="52070"/>
                </a:lnTo>
                <a:lnTo>
                  <a:pt x="132300" y="50800"/>
                </a:lnTo>
                <a:lnTo>
                  <a:pt x="127533" y="49530"/>
                </a:lnTo>
                <a:lnTo>
                  <a:pt x="125068" y="48260"/>
                </a:lnTo>
                <a:close/>
              </a:path>
              <a:path w="201294" h="214629">
                <a:moveTo>
                  <a:pt x="112262" y="111760"/>
                </a:moveTo>
                <a:lnTo>
                  <a:pt x="106020" y="111760"/>
                </a:lnTo>
                <a:lnTo>
                  <a:pt x="101988" y="113030"/>
                </a:lnTo>
                <a:lnTo>
                  <a:pt x="100114" y="113030"/>
                </a:lnTo>
                <a:lnTo>
                  <a:pt x="98358" y="114300"/>
                </a:lnTo>
                <a:lnTo>
                  <a:pt x="118504" y="114300"/>
                </a:lnTo>
                <a:lnTo>
                  <a:pt x="114352" y="113030"/>
                </a:lnTo>
                <a:lnTo>
                  <a:pt x="112262" y="111760"/>
                </a:lnTo>
                <a:close/>
              </a:path>
              <a:path w="201294" h="214629">
                <a:moveTo>
                  <a:pt x="167958" y="78740"/>
                </a:moveTo>
                <a:lnTo>
                  <a:pt x="151053" y="78740"/>
                </a:lnTo>
                <a:lnTo>
                  <a:pt x="154523" y="81280"/>
                </a:lnTo>
                <a:lnTo>
                  <a:pt x="156184" y="81280"/>
                </a:lnTo>
                <a:lnTo>
                  <a:pt x="157805" y="83820"/>
                </a:lnTo>
                <a:lnTo>
                  <a:pt x="159304" y="85090"/>
                </a:lnTo>
                <a:lnTo>
                  <a:pt x="160350" y="86360"/>
                </a:lnTo>
                <a:lnTo>
                  <a:pt x="161582" y="90170"/>
                </a:lnTo>
                <a:lnTo>
                  <a:pt x="161689" y="92710"/>
                </a:lnTo>
                <a:lnTo>
                  <a:pt x="161475" y="95250"/>
                </a:lnTo>
                <a:lnTo>
                  <a:pt x="160980" y="96520"/>
                </a:lnTo>
                <a:lnTo>
                  <a:pt x="159318" y="99060"/>
                </a:lnTo>
                <a:lnTo>
                  <a:pt x="158087" y="101600"/>
                </a:lnTo>
                <a:lnTo>
                  <a:pt x="146057" y="113030"/>
                </a:lnTo>
                <a:lnTo>
                  <a:pt x="157179" y="113030"/>
                </a:lnTo>
                <a:lnTo>
                  <a:pt x="163619" y="106680"/>
                </a:lnTo>
                <a:lnTo>
                  <a:pt x="165266" y="105410"/>
                </a:lnTo>
                <a:lnTo>
                  <a:pt x="167811" y="101600"/>
                </a:lnTo>
                <a:lnTo>
                  <a:pt x="168855" y="100330"/>
                </a:lnTo>
                <a:lnTo>
                  <a:pt x="170436" y="96520"/>
                </a:lnTo>
                <a:lnTo>
                  <a:pt x="170945" y="93980"/>
                </a:lnTo>
                <a:lnTo>
                  <a:pt x="171414" y="90170"/>
                </a:lnTo>
                <a:lnTo>
                  <a:pt x="171361" y="88900"/>
                </a:lnTo>
                <a:lnTo>
                  <a:pt x="170637" y="85090"/>
                </a:lnTo>
                <a:lnTo>
                  <a:pt x="169953" y="82550"/>
                </a:lnTo>
                <a:lnTo>
                  <a:pt x="167958" y="78740"/>
                </a:lnTo>
                <a:close/>
              </a:path>
              <a:path w="201294" h="214629">
                <a:moveTo>
                  <a:pt x="139903" y="58420"/>
                </a:moveTo>
                <a:lnTo>
                  <a:pt x="124546" y="58420"/>
                </a:lnTo>
                <a:lnTo>
                  <a:pt x="127372" y="59690"/>
                </a:lnTo>
                <a:lnTo>
                  <a:pt x="128738" y="60960"/>
                </a:lnTo>
                <a:lnTo>
                  <a:pt x="134217" y="72390"/>
                </a:lnTo>
                <a:lnTo>
                  <a:pt x="133922" y="73660"/>
                </a:lnTo>
                <a:lnTo>
                  <a:pt x="132622" y="77470"/>
                </a:lnTo>
                <a:lnTo>
                  <a:pt x="121384" y="88900"/>
                </a:lnTo>
                <a:lnTo>
                  <a:pt x="132481" y="88900"/>
                </a:lnTo>
                <a:lnTo>
                  <a:pt x="137886" y="83820"/>
                </a:lnTo>
                <a:lnTo>
                  <a:pt x="139962" y="82550"/>
                </a:lnTo>
                <a:lnTo>
                  <a:pt x="143780" y="80010"/>
                </a:lnTo>
                <a:lnTo>
                  <a:pt x="145642" y="78740"/>
                </a:lnTo>
                <a:lnTo>
                  <a:pt x="167958" y="78740"/>
                </a:lnTo>
                <a:lnTo>
                  <a:pt x="166606" y="77470"/>
                </a:lnTo>
                <a:lnTo>
                  <a:pt x="164918" y="76200"/>
                </a:lnTo>
                <a:lnTo>
                  <a:pt x="163083" y="73660"/>
                </a:lnTo>
                <a:lnTo>
                  <a:pt x="161127" y="72390"/>
                </a:lnTo>
                <a:lnTo>
                  <a:pt x="140981" y="72390"/>
                </a:lnTo>
                <a:lnTo>
                  <a:pt x="141650" y="71120"/>
                </a:lnTo>
                <a:lnTo>
                  <a:pt x="142039" y="69850"/>
                </a:lnTo>
                <a:lnTo>
                  <a:pt x="142293" y="66040"/>
                </a:lnTo>
                <a:lnTo>
                  <a:pt x="142159" y="64770"/>
                </a:lnTo>
                <a:lnTo>
                  <a:pt x="141382" y="62230"/>
                </a:lnTo>
                <a:lnTo>
                  <a:pt x="140766" y="59690"/>
                </a:lnTo>
                <a:lnTo>
                  <a:pt x="139903" y="58420"/>
                </a:lnTo>
                <a:close/>
              </a:path>
              <a:path w="201294" h="214629">
                <a:moveTo>
                  <a:pt x="178634" y="0"/>
                </a:moveTo>
                <a:lnTo>
                  <a:pt x="171615" y="0"/>
                </a:lnTo>
                <a:lnTo>
                  <a:pt x="166846" y="1270"/>
                </a:lnTo>
                <a:lnTo>
                  <a:pt x="164771" y="2540"/>
                </a:lnTo>
                <a:lnTo>
                  <a:pt x="161207" y="5080"/>
                </a:lnTo>
                <a:lnTo>
                  <a:pt x="159746" y="5080"/>
                </a:lnTo>
                <a:lnTo>
                  <a:pt x="156251" y="8890"/>
                </a:lnTo>
                <a:lnTo>
                  <a:pt x="142829" y="21590"/>
                </a:lnTo>
                <a:lnTo>
                  <a:pt x="142413" y="22860"/>
                </a:lnTo>
                <a:lnTo>
                  <a:pt x="142186" y="24130"/>
                </a:lnTo>
                <a:lnTo>
                  <a:pt x="142695" y="25400"/>
                </a:lnTo>
                <a:lnTo>
                  <a:pt x="193716" y="76200"/>
                </a:lnTo>
                <a:lnTo>
                  <a:pt x="195605" y="76200"/>
                </a:lnTo>
                <a:lnTo>
                  <a:pt x="196047" y="74930"/>
                </a:lnTo>
                <a:lnTo>
                  <a:pt x="197105" y="74930"/>
                </a:lnTo>
                <a:lnTo>
                  <a:pt x="197722" y="73660"/>
                </a:lnTo>
                <a:lnTo>
                  <a:pt x="199101" y="72390"/>
                </a:lnTo>
                <a:lnTo>
                  <a:pt x="199650" y="72390"/>
                </a:lnTo>
                <a:lnTo>
                  <a:pt x="200427" y="71120"/>
                </a:lnTo>
                <a:lnTo>
                  <a:pt x="200695" y="71120"/>
                </a:lnTo>
                <a:lnTo>
                  <a:pt x="201030" y="69850"/>
                </a:lnTo>
                <a:lnTo>
                  <a:pt x="201016" y="68580"/>
                </a:lnTo>
                <a:lnTo>
                  <a:pt x="200883" y="68580"/>
                </a:lnTo>
                <a:lnTo>
                  <a:pt x="181259" y="49530"/>
                </a:lnTo>
                <a:lnTo>
                  <a:pt x="186663" y="44450"/>
                </a:lnTo>
                <a:lnTo>
                  <a:pt x="175392" y="44450"/>
                </a:lnTo>
                <a:lnTo>
                  <a:pt x="153786" y="22860"/>
                </a:lnTo>
                <a:lnTo>
                  <a:pt x="161636" y="15240"/>
                </a:lnTo>
                <a:lnTo>
                  <a:pt x="162989" y="13970"/>
                </a:lnTo>
                <a:lnTo>
                  <a:pt x="165949" y="11430"/>
                </a:lnTo>
                <a:lnTo>
                  <a:pt x="167664" y="11430"/>
                </a:lnTo>
                <a:lnTo>
                  <a:pt x="171521" y="10160"/>
                </a:lnTo>
                <a:lnTo>
                  <a:pt x="192943" y="10160"/>
                </a:lnTo>
                <a:lnTo>
                  <a:pt x="192283" y="8890"/>
                </a:lnTo>
                <a:lnTo>
                  <a:pt x="189590" y="6350"/>
                </a:lnTo>
                <a:lnTo>
                  <a:pt x="187554" y="5080"/>
                </a:lnTo>
                <a:lnTo>
                  <a:pt x="185425" y="3810"/>
                </a:lnTo>
                <a:lnTo>
                  <a:pt x="178634" y="0"/>
                </a:lnTo>
                <a:close/>
              </a:path>
              <a:path w="201294" h="214629">
                <a:moveTo>
                  <a:pt x="154885" y="69850"/>
                </a:moveTo>
                <a:lnTo>
                  <a:pt x="148629" y="69850"/>
                </a:lnTo>
                <a:lnTo>
                  <a:pt x="144611" y="71120"/>
                </a:lnTo>
                <a:lnTo>
                  <a:pt x="142736" y="71120"/>
                </a:lnTo>
                <a:lnTo>
                  <a:pt x="140981" y="72390"/>
                </a:lnTo>
                <a:lnTo>
                  <a:pt x="161127" y="72390"/>
                </a:lnTo>
                <a:lnTo>
                  <a:pt x="156961" y="71120"/>
                </a:lnTo>
                <a:lnTo>
                  <a:pt x="154885" y="69850"/>
                </a:lnTo>
                <a:close/>
              </a:path>
              <a:path w="201294" h="214629">
                <a:moveTo>
                  <a:pt x="192943" y="10160"/>
                </a:moveTo>
                <a:lnTo>
                  <a:pt x="173624" y="10160"/>
                </a:lnTo>
                <a:lnTo>
                  <a:pt x="178205" y="11430"/>
                </a:lnTo>
                <a:lnTo>
                  <a:pt x="180442" y="12700"/>
                </a:lnTo>
                <a:lnTo>
                  <a:pt x="182638" y="15240"/>
                </a:lnTo>
                <a:lnTo>
                  <a:pt x="184246" y="16510"/>
                </a:lnTo>
                <a:lnTo>
                  <a:pt x="185492" y="17780"/>
                </a:lnTo>
                <a:lnTo>
                  <a:pt x="187233" y="21590"/>
                </a:lnTo>
                <a:lnTo>
                  <a:pt x="187675" y="24130"/>
                </a:lnTo>
                <a:lnTo>
                  <a:pt x="187702" y="27940"/>
                </a:lnTo>
                <a:lnTo>
                  <a:pt x="187274" y="29210"/>
                </a:lnTo>
                <a:lnTo>
                  <a:pt x="185533" y="33020"/>
                </a:lnTo>
                <a:lnTo>
                  <a:pt x="184005" y="35560"/>
                </a:lnTo>
                <a:lnTo>
                  <a:pt x="175392" y="44450"/>
                </a:lnTo>
                <a:lnTo>
                  <a:pt x="186663" y="44450"/>
                </a:lnTo>
                <a:lnTo>
                  <a:pt x="197387" y="21590"/>
                </a:lnTo>
                <a:lnTo>
                  <a:pt x="196810" y="17780"/>
                </a:lnTo>
                <a:lnTo>
                  <a:pt x="194265" y="12700"/>
                </a:lnTo>
                <a:lnTo>
                  <a:pt x="192943" y="1016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718654" y="5662564"/>
            <a:ext cx="253365" cy="222250"/>
          </a:xfrm>
          <a:custGeom>
            <a:avLst/>
            <a:gdLst/>
            <a:ahLst/>
            <a:cxnLst/>
            <a:rect l="l" t="t" r="r" b="b"/>
            <a:pathLst>
              <a:path w="253364" h="222250">
                <a:moveTo>
                  <a:pt x="36515" y="176529"/>
                </a:moveTo>
                <a:lnTo>
                  <a:pt x="21739" y="176529"/>
                </a:lnTo>
                <a:lnTo>
                  <a:pt x="68662" y="222249"/>
                </a:lnTo>
                <a:lnTo>
                  <a:pt x="71006" y="222249"/>
                </a:lnTo>
                <a:lnTo>
                  <a:pt x="72077" y="220979"/>
                </a:lnTo>
                <a:lnTo>
                  <a:pt x="72680" y="220979"/>
                </a:lnTo>
                <a:lnTo>
                  <a:pt x="74047" y="219709"/>
                </a:lnTo>
                <a:lnTo>
                  <a:pt x="74583" y="218439"/>
                </a:lnTo>
                <a:lnTo>
                  <a:pt x="74971" y="218439"/>
                </a:lnTo>
                <a:lnTo>
                  <a:pt x="75653" y="217169"/>
                </a:lnTo>
                <a:lnTo>
                  <a:pt x="76015" y="217169"/>
                </a:lnTo>
                <a:lnTo>
                  <a:pt x="76069" y="215899"/>
                </a:lnTo>
                <a:lnTo>
                  <a:pt x="75829" y="215899"/>
                </a:lnTo>
                <a:lnTo>
                  <a:pt x="36515" y="176529"/>
                </a:lnTo>
                <a:close/>
              </a:path>
              <a:path w="253364" h="222250">
                <a:moveTo>
                  <a:pt x="40533" y="148589"/>
                </a:moveTo>
                <a:lnTo>
                  <a:pt x="38188" y="148589"/>
                </a:lnTo>
                <a:lnTo>
                  <a:pt x="294" y="185419"/>
                </a:lnTo>
                <a:lnTo>
                  <a:pt x="147" y="185419"/>
                </a:lnTo>
                <a:lnTo>
                  <a:pt x="0" y="186689"/>
                </a:lnTo>
                <a:lnTo>
                  <a:pt x="321" y="187959"/>
                </a:lnTo>
                <a:lnTo>
                  <a:pt x="549" y="187959"/>
                </a:lnTo>
                <a:lnTo>
                  <a:pt x="1219" y="189229"/>
                </a:lnTo>
                <a:lnTo>
                  <a:pt x="1648" y="189229"/>
                </a:lnTo>
                <a:lnTo>
                  <a:pt x="2706" y="190499"/>
                </a:lnTo>
                <a:lnTo>
                  <a:pt x="3201" y="190499"/>
                </a:lnTo>
                <a:lnTo>
                  <a:pt x="4112" y="191769"/>
                </a:lnTo>
                <a:lnTo>
                  <a:pt x="6362" y="191769"/>
                </a:lnTo>
                <a:lnTo>
                  <a:pt x="21739" y="176529"/>
                </a:lnTo>
                <a:lnTo>
                  <a:pt x="36515" y="176529"/>
                </a:lnTo>
                <a:lnTo>
                  <a:pt x="28906" y="168909"/>
                </a:lnTo>
                <a:lnTo>
                  <a:pt x="44270" y="154939"/>
                </a:lnTo>
                <a:lnTo>
                  <a:pt x="44418" y="153669"/>
                </a:lnTo>
                <a:lnTo>
                  <a:pt x="44310" y="152399"/>
                </a:lnTo>
                <a:lnTo>
                  <a:pt x="44095" y="152399"/>
                </a:lnTo>
                <a:lnTo>
                  <a:pt x="43426" y="151129"/>
                </a:lnTo>
                <a:lnTo>
                  <a:pt x="42998" y="151129"/>
                </a:lnTo>
                <a:lnTo>
                  <a:pt x="42475" y="149859"/>
                </a:lnTo>
                <a:lnTo>
                  <a:pt x="41443" y="149859"/>
                </a:lnTo>
                <a:lnTo>
                  <a:pt x="40533" y="148589"/>
                </a:lnTo>
                <a:close/>
              </a:path>
              <a:path w="253364" h="222250">
                <a:moveTo>
                  <a:pt x="99858" y="128269"/>
                </a:moveTo>
                <a:lnTo>
                  <a:pt x="90067" y="128269"/>
                </a:lnTo>
                <a:lnTo>
                  <a:pt x="83651" y="130809"/>
                </a:lnTo>
                <a:lnTo>
                  <a:pt x="68703" y="152399"/>
                </a:lnTo>
                <a:lnTo>
                  <a:pt x="69225" y="160019"/>
                </a:lnTo>
                <a:lnTo>
                  <a:pt x="95384" y="185419"/>
                </a:lnTo>
                <a:lnTo>
                  <a:pt x="105176" y="185419"/>
                </a:lnTo>
                <a:lnTo>
                  <a:pt x="111579" y="182879"/>
                </a:lnTo>
                <a:lnTo>
                  <a:pt x="114726" y="180339"/>
                </a:lnTo>
                <a:lnTo>
                  <a:pt x="118471" y="176529"/>
                </a:lnTo>
                <a:lnTo>
                  <a:pt x="101118" y="176529"/>
                </a:lnTo>
                <a:lnTo>
                  <a:pt x="96657" y="175259"/>
                </a:lnTo>
                <a:lnTo>
                  <a:pt x="94461" y="175259"/>
                </a:lnTo>
                <a:lnTo>
                  <a:pt x="90093" y="171449"/>
                </a:lnTo>
                <a:lnTo>
                  <a:pt x="87977" y="170179"/>
                </a:lnTo>
                <a:lnTo>
                  <a:pt x="83785" y="166369"/>
                </a:lnTo>
                <a:lnTo>
                  <a:pt x="82043" y="163829"/>
                </a:lnTo>
                <a:lnTo>
                  <a:pt x="79364" y="160019"/>
                </a:lnTo>
                <a:lnTo>
                  <a:pt x="78507" y="157479"/>
                </a:lnTo>
                <a:lnTo>
                  <a:pt x="77783" y="152399"/>
                </a:lnTo>
                <a:lnTo>
                  <a:pt x="77971" y="151129"/>
                </a:lnTo>
                <a:lnTo>
                  <a:pt x="79471" y="146049"/>
                </a:lnTo>
                <a:lnTo>
                  <a:pt x="80864" y="144779"/>
                </a:lnTo>
                <a:lnTo>
                  <a:pt x="85124" y="139699"/>
                </a:lnTo>
                <a:lnTo>
                  <a:pt x="87362" y="138429"/>
                </a:lnTo>
                <a:lnTo>
                  <a:pt x="91916" y="137159"/>
                </a:lnTo>
                <a:lnTo>
                  <a:pt x="114927" y="137159"/>
                </a:lnTo>
                <a:lnTo>
                  <a:pt x="112838" y="134619"/>
                </a:lnTo>
                <a:lnTo>
                  <a:pt x="109637" y="132079"/>
                </a:lnTo>
                <a:lnTo>
                  <a:pt x="99858" y="128269"/>
                </a:lnTo>
                <a:close/>
              </a:path>
              <a:path w="253364" h="222250">
                <a:moveTo>
                  <a:pt x="114927" y="137159"/>
                </a:moveTo>
                <a:lnTo>
                  <a:pt x="94166" y="137159"/>
                </a:lnTo>
                <a:lnTo>
                  <a:pt x="98612" y="138429"/>
                </a:lnTo>
                <a:lnTo>
                  <a:pt x="100824" y="138429"/>
                </a:lnTo>
                <a:lnTo>
                  <a:pt x="105190" y="142239"/>
                </a:lnTo>
                <a:lnTo>
                  <a:pt x="107293" y="143509"/>
                </a:lnTo>
                <a:lnTo>
                  <a:pt x="109315" y="146049"/>
                </a:lnTo>
                <a:lnTo>
                  <a:pt x="111485" y="147319"/>
                </a:lnTo>
                <a:lnTo>
                  <a:pt x="113240" y="149859"/>
                </a:lnTo>
                <a:lnTo>
                  <a:pt x="115945" y="153669"/>
                </a:lnTo>
                <a:lnTo>
                  <a:pt x="116803" y="156209"/>
                </a:lnTo>
                <a:lnTo>
                  <a:pt x="117513" y="161289"/>
                </a:lnTo>
                <a:lnTo>
                  <a:pt x="117298" y="162559"/>
                </a:lnTo>
                <a:lnTo>
                  <a:pt x="115785" y="167639"/>
                </a:lnTo>
                <a:lnTo>
                  <a:pt x="114392" y="168909"/>
                </a:lnTo>
                <a:lnTo>
                  <a:pt x="110159" y="173989"/>
                </a:lnTo>
                <a:lnTo>
                  <a:pt x="107922" y="175259"/>
                </a:lnTo>
                <a:lnTo>
                  <a:pt x="103367" y="176529"/>
                </a:lnTo>
                <a:lnTo>
                  <a:pt x="118471" y="176529"/>
                </a:lnTo>
                <a:lnTo>
                  <a:pt x="120968" y="173989"/>
                </a:lnTo>
                <a:lnTo>
                  <a:pt x="123233" y="171449"/>
                </a:lnTo>
                <a:lnTo>
                  <a:pt x="125952" y="163829"/>
                </a:lnTo>
                <a:lnTo>
                  <a:pt x="126500" y="161289"/>
                </a:lnTo>
                <a:lnTo>
                  <a:pt x="125964" y="153669"/>
                </a:lnTo>
                <a:lnTo>
                  <a:pt x="124960" y="151129"/>
                </a:lnTo>
                <a:lnTo>
                  <a:pt x="121438" y="144779"/>
                </a:lnTo>
                <a:lnTo>
                  <a:pt x="119026" y="140969"/>
                </a:lnTo>
                <a:lnTo>
                  <a:pt x="115972" y="138429"/>
                </a:lnTo>
                <a:lnTo>
                  <a:pt x="114927" y="137159"/>
                </a:lnTo>
                <a:close/>
              </a:path>
              <a:path w="253364" h="222250">
                <a:moveTo>
                  <a:pt x="139829" y="153669"/>
                </a:moveTo>
                <a:lnTo>
                  <a:pt x="138704" y="153669"/>
                </a:lnTo>
                <a:lnTo>
                  <a:pt x="139025" y="154939"/>
                </a:lnTo>
                <a:lnTo>
                  <a:pt x="139829" y="153669"/>
                </a:lnTo>
                <a:close/>
              </a:path>
              <a:path w="253364" h="222250">
                <a:moveTo>
                  <a:pt x="133828" y="85089"/>
                </a:moveTo>
                <a:lnTo>
                  <a:pt x="130371" y="85089"/>
                </a:lnTo>
                <a:lnTo>
                  <a:pt x="129689" y="86359"/>
                </a:lnTo>
                <a:lnTo>
                  <a:pt x="128871" y="86359"/>
                </a:lnTo>
                <a:lnTo>
                  <a:pt x="127560" y="87629"/>
                </a:lnTo>
                <a:lnTo>
                  <a:pt x="126782" y="88899"/>
                </a:lnTo>
                <a:lnTo>
                  <a:pt x="126514" y="88899"/>
                </a:lnTo>
                <a:lnTo>
                  <a:pt x="126246" y="90169"/>
                </a:lnTo>
                <a:lnTo>
                  <a:pt x="126179" y="91439"/>
                </a:lnTo>
                <a:lnTo>
                  <a:pt x="131537" y="114299"/>
                </a:lnTo>
                <a:lnTo>
                  <a:pt x="101078" y="114299"/>
                </a:lnTo>
                <a:lnTo>
                  <a:pt x="100904" y="115569"/>
                </a:lnTo>
                <a:lnTo>
                  <a:pt x="101560" y="116839"/>
                </a:lnTo>
                <a:lnTo>
                  <a:pt x="102618" y="116839"/>
                </a:lnTo>
                <a:lnTo>
                  <a:pt x="131257" y="123189"/>
                </a:lnTo>
                <a:lnTo>
                  <a:pt x="138007" y="153669"/>
                </a:lnTo>
                <a:lnTo>
                  <a:pt x="141490" y="153669"/>
                </a:lnTo>
                <a:lnTo>
                  <a:pt x="142186" y="152399"/>
                </a:lnTo>
                <a:lnTo>
                  <a:pt x="143767" y="151129"/>
                </a:lnTo>
                <a:lnTo>
                  <a:pt x="144369" y="149859"/>
                </a:lnTo>
                <a:lnTo>
                  <a:pt x="145227" y="149859"/>
                </a:lnTo>
                <a:lnTo>
                  <a:pt x="145535" y="148589"/>
                </a:lnTo>
                <a:lnTo>
                  <a:pt x="145924" y="148589"/>
                </a:lnTo>
                <a:lnTo>
                  <a:pt x="145990" y="147319"/>
                </a:lnTo>
                <a:lnTo>
                  <a:pt x="145897" y="146049"/>
                </a:lnTo>
                <a:lnTo>
                  <a:pt x="139989" y="123189"/>
                </a:lnTo>
                <a:lnTo>
                  <a:pt x="171963" y="123189"/>
                </a:lnTo>
                <a:lnTo>
                  <a:pt x="172071" y="121919"/>
                </a:lnTo>
                <a:lnTo>
                  <a:pt x="171547" y="120649"/>
                </a:lnTo>
                <a:lnTo>
                  <a:pt x="170503" y="120649"/>
                </a:lnTo>
                <a:lnTo>
                  <a:pt x="140445" y="114299"/>
                </a:lnTo>
                <a:lnTo>
                  <a:pt x="134002" y="86359"/>
                </a:lnTo>
                <a:lnTo>
                  <a:pt x="133828" y="85089"/>
                </a:lnTo>
                <a:close/>
              </a:path>
              <a:path w="253364" h="222250">
                <a:moveTo>
                  <a:pt x="171682" y="123189"/>
                </a:moveTo>
                <a:lnTo>
                  <a:pt x="139989" y="123189"/>
                </a:lnTo>
                <a:lnTo>
                  <a:pt x="164141" y="129539"/>
                </a:lnTo>
                <a:lnTo>
                  <a:pt x="165413" y="129539"/>
                </a:lnTo>
                <a:lnTo>
                  <a:pt x="166190" y="128269"/>
                </a:lnTo>
                <a:lnTo>
                  <a:pt x="166645" y="128269"/>
                </a:lnTo>
                <a:lnTo>
                  <a:pt x="167703" y="126999"/>
                </a:lnTo>
                <a:lnTo>
                  <a:pt x="170074" y="124459"/>
                </a:lnTo>
                <a:lnTo>
                  <a:pt x="170731" y="124459"/>
                </a:lnTo>
                <a:lnTo>
                  <a:pt x="171682" y="123189"/>
                </a:lnTo>
                <a:close/>
              </a:path>
              <a:path w="253364" h="222250">
                <a:moveTo>
                  <a:pt x="172655" y="50799"/>
                </a:moveTo>
                <a:lnTo>
                  <a:pt x="156814" y="50799"/>
                </a:lnTo>
                <a:lnTo>
                  <a:pt x="159746" y="52069"/>
                </a:lnTo>
                <a:lnTo>
                  <a:pt x="161086" y="53339"/>
                </a:lnTo>
                <a:lnTo>
                  <a:pt x="171909" y="107949"/>
                </a:lnTo>
                <a:lnTo>
                  <a:pt x="171977" y="109219"/>
                </a:lnTo>
                <a:lnTo>
                  <a:pt x="172191" y="110489"/>
                </a:lnTo>
                <a:lnTo>
                  <a:pt x="172325" y="110489"/>
                </a:lnTo>
                <a:lnTo>
                  <a:pt x="172673" y="111759"/>
                </a:lnTo>
                <a:lnTo>
                  <a:pt x="172954" y="111759"/>
                </a:lnTo>
                <a:lnTo>
                  <a:pt x="173704" y="113029"/>
                </a:lnTo>
                <a:lnTo>
                  <a:pt x="174160" y="113029"/>
                </a:lnTo>
                <a:lnTo>
                  <a:pt x="175326" y="114299"/>
                </a:lnTo>
                <a:lnTo>
                  <a:pt x="175888" y="114299"/>
                </a:lnTo>
                <a:lnTo>
                  <a:pt x="176919" y="115569"/>
                </a:lnTo>
                <a:lnTo>
                  <a:pt x="179825" y="115569"/>
                </a:lnTo>
                <a:lnTo>
                  <a:pt x="192489" y="102869"/>
                </a:lnTo>
                <a:lnTo>
                  <a:pt x="180416" y="102869"/>
                </a:lnTo>
                <a:lnTo>
                  <a:pt x="180080" y="86359"/>
                </a:lnTo>
                <a:lnTo>
                  <a:pt x="174522" y="53339"/>
                </a:lnTo>
                <a:lnTo>
                  <a:pt x="172655" y="50799"/>
                </a:lnTo>
                <a:close/>
              </a:path>
              <a:path w="253364" h="222250">
                <a:moveTo>
                  <a:pt x="108766" y="107949"/>
                </a:moveTo>
                <a:lnTo>
                  <a:pt x="107600" y="107949"/>
                </a:lnTo>
                <a:lnTo>
                  <a:pt x="106878" y="109219"/>
                </a:lnTo>
                <a:lnTo>
                  <a:pt x="106436" y="109219"/>
                </a:lnTo>
                <a:lnTo>
                  <a:pt x="105378" y="110489"/>
                </a:lnTo>
                <a:lnTo>
                  <a:pt x="104707" y="110489"/>
                </a:lnTo>
                <a:lnTo>
                  <a:pt x="103019" y="111759"/>
                </a:lnTo>
                <a:lnTo>
                  <a:pt x="102323" y="113029"/>
                </a:lnTo>
                <a:lnTo>
                  <a:pt x="101358" y="114299"/>
                </a:lnTo>
                <a:lnTo>
                  <a:pt x="131537" y="114299"/>
                </a:lnTo>
                <a:lnTo>
                  <a:pt x="108766" y="107949"/>
                </a:lnTo>
                <a:close/>
              </a:path>
              <a:path w="253364" h="222250">
                <a:moveTo>
                  <a:pt x="206616" y="78739"/>
                </a:moveTo>
                <a:lnTo>
                  <a:pt x="204083" y="78739"/>
                </a:lnTo>
                <a:lnTo>
                  <a:pt x="180416" y="102869"/>
                </a:lnTo>
                <a:lnTo>
                  <a:pt x="192489" y="102869"/>
                </a:lnTo>
                <a:lnTo>
                  <a:pt x="210219" y="85089"/>
                </a:lnTo>
                <a:lnTo>
                  <a:pt x="210393" y="85089"/>
                </a:lnTo>
                <a:lnTo>
                  <a:pt x="210554" y="83819"/>
                </a:lnTo>
                <a:lnTo>
                  <a:pt x="210245" y="82549"/>
                </a:lnTo>
                <a:lnTo>
                  <a:pt x="210018" y="82549"/>
                </a:lnTo>
                <a:lnTo>
                  <a:pt x="209388" y="81279"/>
                </a:lnTo>
                <a:lnTo>
                  <a:pt x="208478" y="81279"/>
                </a:lnTo>
                <a:lnTo>
                  <a:pt x="207982" y="80009"/>
                </a:lnTo>
                <a:lnTo>
                  <a:pt x="207500" y="80009"/>
                </a:lnTo>
                <a:lnTo>
                  <a:pt x="206616" y="78739"/>
                </a:lnTo>
                <a:close/>
              </a:path>
              <a:path w="253364" h="222250">
                <a:moveTo>
                  <a:pt x="133118" y="83819"/>
                </a:moveTo>
                <a:lnTo>
                  <a:pt x="131993" y="83819"/>
                </a:lnTo>
                <a:lnTo>
                  <a:pt x="131511" y="85089"/>
                </a:lnTo>
                <a:lnTo>
                  <a:pt x="133626" y="85089"/>
                </a:lnTo>
                <a:lnTo>
                  <a:pt x="133118" y="83819"/>
                </a:lnTo>
                <a:close/>
              </a:path>
              <a:path w="253364" h="222250">
                <a:moveTo>
                  <a:pt x="136601" y="71119"/>
                </a:moveTo>
                <a:lnTo>
                  <a:pt x="134270" y="71119"/>
                </a:lnTo>
                <a:lnTo>
                  <a:pt x="134980" y="72389"/>
                </a:lnTo>
                <a:lnTo>
                  <a:pt x="136051" y="72389"/>
                </a:lnTo>
                <a:lnTo>
                  <a:pt x="136601" y="71119"/>
                </a:lnTo>
                <a:close/>
              </a:path>
              <a:path w="253364" h="222250">
                <a:moveTo>
                  <a:pt x="159734" y="40639"/>
                </a:moveTo>
                <a:lnTo>
                  <a:pt x="149527" y="40639"/>
                </a:lnTo>
                <a:lnTo>
                  <a:pt x="144142" y="43179"/>
                </a:lnTo>
                <a:lnTo>
                  <a:pt x="141490" y="45719"/>
                </a:lnTo>
                <a:lnTo>
                  <a:pt x="135850" y="50799"/>
                </a:lnTo>
                <a:lnTo>
                  <a:pt x="133546" y="54609"/>
                </a:lnTo>
                <a:lnTo>
                  <a:pt x="132595" y="55879"/>
                </a:lnTo>
                <a:lnTo>
                  <a:pt x="131095" y="59689"/>
                </a:lnTo>
                <a:lnTo>
                  <a:pt x="130559" y="60959"/>
                </a:lnTo>
                <a:lnTo>
                  <a:pt x="129929" y="63499"/>
                </a:lnTo>
                <a:lnTo>
                  <a:pt x="129743" y="64769"/>
                </a:lnTo>
                <a:lnTo>
                  <a:pt x="129661" y="66039"/>
                </a:lnTo>
                <a:lnTo>
                  <a:pt x="129849" y="67309"/>
                </a:lnTo>
                <a:lnTo>
                  <a:pt x="130117" y="67309"/>
                </a:lnTo>
                <a:lnTo>
                  <a:pt x="130492" y="68579"/>
                </a:lnTo>
                <a:lnTo>
                  <a:pt x="130760" y="68579"/>
                </a:lnTo>
                <a:lnTo>
                  <a:pt x="131390" y="69849"/>
                </a:lnTo>
                <a:lnTo>
                  <a:pt x="132394" y="69849"/>
                </a:lnTo>
                <a:lnTo>
                  <a:pt x="132916" y="71119"/>
                </a:lnTo>
                <a:lnTo>
                  <a:pt x="136881" y="71119"/>
                </a:lnTo>
                <a:lnTo>
                  <a:pt x="137351" y="68579"/>
                </a:lnTo>
                <a:lnTo>
                  <a:pt x="137712" y="67309"/>
                </a:lnTo>
                <a:lnTo>
                  <a:pt x="138690" y="63499"/>
                </a:lnTo>
                <a:lnTo>
                  <a:pt x="139387" y="62229"/>
                </a:lnTo>
                <a:lnTo>
                  <a:pt x="141222" y="58419"/>
                </a:lnTo>
                <a:lnTo>
                  <a:pt x="142561" y="57149"/>
                </a:lnTo>
                <a:lnTo>
                  <a:pt x="145789" y="53339"/>
                </a:lnTo>
                <a:lnTo>
                  <a:pt x="147344" y="52069"/>
                </a:lnTo>
                <a:lnTo>
                  <a:pt x="150572" y="50799"/>
                </a:lnTo>
                <a:lnTo>
                  <a:pt x="172655" y="50799"/>
                </a:lnTo>
                <a:lnTo>
                  <a:pt x="171721" y="49529"/>
                </a:lnTo>
                <a:lnTo>
                  <a:pt x="170154" y="48259"/>
                </a:lnTo>
                <a:lnTo>
                  <a:pt x="166524" y="44449"/>
                </a:lnTo>
                <a:lnTo>
                  <a:pt x="164395" y="43179"/>
                </a:lnTo>
                <a:lnTo>
                  <a:pt x="159734" y="40639"/>
                </a:lnTo>
                <a:close/>
              </a:path>
              <a:path w="253364" h="222250">
                <a:moveTo>
                  <a:pt x="203949" y="13969"/>
                </a:moveTo>
                <a:lnTo>
                  <a:pt x="189202" y="13969"/>
                </a:lnTo>
                <a:lnTo>
                  <a:pt x="230164" y="54609"/>
                </a:lnTo>
                <a:lnTo>
                  <a:pt x="218697" y="66039"/>
                </a:lnTo>
                <a:lnTo>
                  <a:pt x="218483" y="66039"/>
                </a:lnTo>
                <a:lnTo>
                  <a:pt x="218697" y="67309"/>
                </a:lnTo>
                <a:lnTo>
                  <a:pt x="218898" y="67309"/>
                </a:lnTo>
                <a:lnTo>
                  <a:pt x="219448" y="68579"/>
                </a:lnTo>
                <a:lnTo>
                  <a:pt x="219837" y="68579"/>
                </a:lnTo>
                <a:lnTo>
                  <a:pt x="220868" y="69849"/>
                </a:lnTo>
                <a:lnTo>
                  <a:pt x="221350" y="69849"/>
                </a:lnTo>
                <a:lnTo>
                  <a:pt x="222234" y="71119"/>
                </a:lnTo>
                <a:lnTo>
                  <a:pt x="224471" y="71119"/>
                </a:lnTo>
                <a:lnTo>
                  <a:pt x="249111" y="46989"/>
                </a:lnTo>
                <a:lnTo>
                  <a:pt x="237317" y="46989"/>
                </a:lnTo>
                <a:lnTo>
                  <a:pt x="203949" y="13969"/>
                </a:lnTo>
                <a:close/>
              </a:path>
              <a:path w="253364" h="222250">
                <a:moveTo>
                  <a:pt x="249251" y="36829"/>
                </a:moveTo>
                <a:lnTo>
                  <a:pt x="247282" y="36829"/>
                </a:lnTo>
                <a:lnTo>
                  <a:pt x="237317" y="46989"/>
                </a:lnTo>
                <a:lnTo>
                  <a:pt x="249111" y="46989"/>
                </a:lnTo>
                <a:lnTo>
                  <a:pt x="253001" y="43179"/>
                </a:lnTo>
                <a:lnTo>
                  <a:pt x="253136" y="43179"/>
                </a:lnTo>
                <a:lnTo>
                  <a:pt x="253310" y="41909"/>
                </a:lnTo>
                <a:lnTo>
                  <a:pt x="253136" y="40639"/>
                </a:lnTo>
                <a:lnTo>
                  <a:pt x="252962" y="40639"/>
                </a:lnTo>
                <a:lnTo>
                  <a:pt x="252399" y="39369"/>
                </a:lnTo>
                <a:lnTo>
                  <a:pt x="251475" y="39369"/>
                </a:lnTo>
                <a:lnTo>
                  <a:pt x="250979" y="38099"/>
                </a:lnTo>
                <a:lnTo>
                  <a:pt x="249654" y="38099"/>
                </a:lnTo>
                <a:lnTo>
                  <a:pt x="249251" y="36829"/>
                </a:lnTo>
                <a:close/>
              </a:path>
              <a:path w="253364" h="222250">
                <a:moveTo>
                  <a:pt x="183965" y="31749"/>
                </a:moveTo>
                <a:lnTo>
                  <a:pt x="181500" y="31749"/>
                </a:lnTo>
                <a:lnTo>
                  <a:pt x="182464" y="33019"/>
                </a:lnTo>
                <a:lnTo>
                  <a:pt x="183643" y="33019"/>
                </a:lnTo>
                <a:lnTo>
                  <a:pt x="183965" y="31749"/>
                </a:lnTo>
                <a:close/>
              </a:path>
              <a:path w="253364" h="222250">
                <a:moveTo>
                  <a:pt x="189831" y="0"/>
                </a:moveTo>
                <a:lnTo>
                  <a:pt x="188170" y="0"/>
                </a:lnTo>
                <a:lnTo>
                  <a:pt x="187742" y="1269"/>
                </a:lnTo>
                <a:lnTo>
                  <a:pt x="186750" y="1269"/>
                </a:lnTo>
                <a:lnTo>
                  <a:pt x="186161" y="2539"/>
                </a:lnTo>
                <a:lnTo>
                  <a:pt x="184997" y="3809"/>
                </a:lnTo>
                <a:lnTo>
                  <a:pt x="183951" y="3809"/>
                </a:lnTo>
                <a:lnTo>
                  <a:pt x="183697" y="5079"/>
                </a:lnTo>
                <a:lnTo>
                  <a:pt x="183309" y="5079"/>
                </a:lnTo>
                <a:lnTo>
                  <a:pt x="182933" y="6349"/>
                </a:lnTo>
                <a:lnTo>
                  <a:pt x="178299" y="26669"/>
                </a:lnTo>
                <a:lnTo>
                  <a:pt x="178286" y="27939"/>
                </a:lnTo>
                <a:lnTo>
                  <a:pt x="178647" y="29209"/>
                </a:lnTo>
                <a:lnTo>
                  <a:pt x="179438" y="29209"/>
                </a:lnTo>
                <a:lnTo>
                  <a:pt x="179825" y="30479"/>
                </a:lnTo>
                <a:lnTo>
                  <a:pt x="180938" y="31749"/>
                </a:lnTo>
                <a:lnTo>
                  <a:pt x="184487" y="31749"/>
                </a:lnTo>
                <a:lnTo>
                  <a:pt x="184755" y="30479"/>
                </a:lnTo>
                <a:lnTo>
                  <a:pt x="184997" y="30479"/>
                </a:lnTo>
                <a:lnTo>
                  <a:pt x="189202" y="13969"/>
                </a:lnTo>
                <a:lnTo>
                  <a:pt x="203949" y="13969"/>
                </a:lnTo>
                <a:lnTo>
                  <a:pt x="189831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86108" y="5662398"/>
            <a:ext cx="318127" cy="2832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795841" y="5656657"/>
            <a:ext cx="241300" cy="229870"/>
          </a:xfrm>
          <a:custGeom>
            <a:avLst/>
            <a:gdLst/>
            <a:ahLst/>
            <a:cxnLst/>
            <a:rect l="l" t="t" r="r" b="b"/>
            <a:pathLst>
              <a:path w="241300" h="229870">
                <a:moveTo>
                  <a:pt x="48489" y="228600"/>
                </a:moveTo>
                <a:lnTo>
                  <a:pt x="39381" y="228600"/>
                </a:lnTo>
                <a:lnTo>
                  <a:pt x="40185" y="229869"/>
                </a:lnTo>
                <a:lnTo>
                  <a:pt x="47016" y="229869"/>
                </a:lnTo>
                <a:lnTo>
                  <a:pt x="48489" y="228600"/>
                </a:lnTo>
                <a:close/>
              </a:path>
              <a:path w="241300" h="229870">
                <a:moveTo>
                  <a:pt x="66930" y="191769"/>
                </a:moveTo>
                <a:lnTo>
                  <a:pt x="49829" y="191769"/>
                </a:lnTo>
                <a:lnTo>
                  <a:pt x="53312" y="193039"/>
                </a:lnTo>
                <a:lnTo>
                  <a:pt x="55053" y="194309"/>
                </a:lnTo>
                <a:lnTo>
                  <a:pt x="57999" y="196850"/>
                </a:lnTo>
                <a:lnTo>
                  <a:pt x="58938" y="198119"/>
                </a:lnTo>
                <a:lnTo>
                  <a:pt x="59607" y="199389"/>
                </a:lnTo>
                <a:lnTo>
                  <a:pt x="60411" y="203200"/>
                </a:lnTo>
                <a:lnTo>
                  <a:pt x="60143" y="207009"/>
                </a:lnTo>
                <a:lnTo>
                  <a:pt x="59607" y="208279"/>
                </a:lnTo>
                <a:lnTo>
                  <a:pt x="58670" y="209550"/>
                </a:lnTo>
                <a:lnTo>
                  <a:pt x="57866" y="210819"/>
                </a:lnTo>
                <a:lnTo>
                  <a:pt x="56661" y="213359"/>
                </a:lnTo>
                <a:lnTo>
                  <a:pt x="55053" y="214629"/>
                </a:lnTo>
                <a:lnTo>
                  <a:pt x="53044" y="217169"/>
                </a:lnTo>
                <a:lnTo>
                  <a:pt x="50900" y="218439"/>
                </a:lnTo>
                <a:lnTo>
                  <a:pt x="46882" y="219709"/>
                </a:lnTo>
                <a:lnTo>
                  <a:pt x="45007" y="220979"/>
                </a:lnTo>
                <a:lnTo>
                  <a:pt x="43266" y="222250"/>
                </a:lnTo>
                <a:lnTo>
                  <a:pt x="40185" y="222250"/>
                </a:lnTo>
                <a:lnTo>
                  <a:pt x="37908" y="223519"/>
                </a:lnTo>
                <a:lnTo>
                  <a:pt x="36433" y="223519"/>
                </a:lnTo>
                <a:lnTo>
                  <a:pt x="36300" y="224789"/>
                </a:lnTo>
                <a:lnTo>
                  <a:pt x="36568" y="226059"/>
                </a:lnTo>
                <a:lnTo>
                  <a:pt x="36701" y="226059"/>
                </a:lnTo>
                <a:lnTo>
                  <a:pt x="37505" y="227329"/>
                </a:lnTo>
                <a:lnTo>
                  <a:pt x="37908" y="227329"/>
                </a:lnTo>
                <a:lnTo>
                  <a:pt x="38577" y="228600"/>
                </a:lnTo>
                <a:lnTo>
                  <a:pt x="50097" y="228600"/>
                </a:lnTo>
                <a:lnTo>
                  <a:pt x="55321" y="224789"/>
                </a:lnTo>
                <a:lnTo>
                  <a:pt x="57196" y="224789"/>
                </a:lnTo>
                <a:lnTo>
                  <a:pt x="59071" y="222250"/>
                </a:lnTo>
                <a:lnTo>
                  <a:pt x="70055" y="200659"/>
                </a:lnTo>
                <a:lnTo>
                  <a:pt x="69653" y="198119"/>
                </a:lnTo>
                <a:lnTo>
                  <a:pt x="67510" y="193039"/>
                </a:lnTo>
                <a:lnTo>
                  <a:pt x="66930" y="191769"/>
                </a:lnTo>
                <a:close/>
              </a:path>
              <a:path w="241300" h="229870">
                <a:moveTo>
                  <a:pt x="28665" y="158750"/>
                </a:moveTo>
                <a:lnTo>
                  <a:pt x="13662" y="158750"/>
                </a:lnTo>
                <a:lnTo>
                  <a:pt x="10716" y="161289"/>
                </a:lnTo>
                <a:lnTo>
                  <a:pt x="0" y="181609"/>
                </a:lnTo>
                <a:lnTo>
                  <a:pt x="267" y="184150"/>
                </a:lnTo>
                <a:lnTo>
                  <a:pt x="2143" y="189229"/>
                </a:lnTo>
                <a:lnTo>
                  <a:pt x="3750" y="191769"/>
                </a:lnTo>
                <a:lnTo>
                  <a:pt x="6027" y="193039"/>
                </a:lnTo>
                <a:lnTo>
                  <a:pt x="8171" y="195579"/>
                </a:lnTo>
                <a:lnTo>
                  <a:pt x="15002" y="199389"/>
                </a:lnTo>
                <a:lnTo>
                  <a:pt x="24245" y="199389"/>
                </a:lnTo>
                <a:lnTo>
                  <a:pt x="28799" y="198119"/>
                </a:lnTo>
                <a:lnTo>
                  <a:pt x="31076" y="196850"/>
                </a:lnTo>
                <a:lnTo>
                  <a:pt x="33354" y="196850"/>
                </a:lnTo>
                <a:lnTo>
                  <a:pt x="35496" y="195579"/>
                </a:lnTo>
                <a:lnTo>
                  <a:pt x="37773" y="194309"/>
                </a:lnTo>
                <a:lnTo>
                  <a:pt x="42059" y="193039"/>
                </a:lnTo>
                <a:lnTo>
                  <a:pt x="44069" y="193039"/>
                </a:lnTo>
                <a:lnTo>
                  <a:pt x="47953" y="191769"/>
                </a:lnTo>
                <a:lnTo>
                  <a:pt x="66930" y="191769"/>
                </a:lnTo>
                <a:lnTo>
                  <a:pt x="65769" y="189229"/>
                </a:lnTo>
                <a:lnTo>
                  <a:pt x="19288" y="189229"/>
                </a:lnTo>
                <a:lnTo>
                  <a:pt x="15806" y="187959"/>
                </a:lnTo>
                <a:lnTo>
                  <a:pt x="12592" y="185419"/>
                </a:lnTo>
                <a:lnTo>
                  <a:pt x="11653" y="184150"/>
                </a:lnTo>
                <a:lnTo>
                  <a:pt x="10849" y="184150"/>
                </a:lnTo>
                <a:lnTo>
                  <a:pt x="9778" y="181609"/>
                </a:lnTo>
                <a:lnTo>
                  <a:pt x="9511" y="180339"/>
                </a:lnTo>
                <a:lnTo>
                  <a:pt x="9511" y="176529"/>
                </a:lnTo>
                <a:lnTo>
                  <a:pt x="9912" y="175259"/>
                </a:lnTo>
                <a:lnTo>
                  <a:pt x="10716" y="173989"/>
                </a:lnTo>
                <a:lnTo>
                  <a:pt x="11385" y="172719"/>
                </a:lnTo>
                <a:lnTo>
                  <a:pt x="12457" y="171450"/>
                </a:lnTo>
                <a:lnTo>
                  <a:pt x="15538" y="167639"/>
                </a:lnTo>
                <a:lnTo>
                  <a:pt x="17279" y="166369"/>
                </a:lnTo>
                <a:lnTo>
                  <a:pt x="18887" y="166369"/>
                </a:lnTo>
                <a:lnTo>
                  <a:pt x="20628" y="165100"/>
                </a:lnTo>
                <a:lnTo>
                  <a:pt x="22236" y="163829"/>
                </a:lnTo>
                <a:lnTo>
                  <a:pt x="26254" y="163829"/>
                </a:lnTo>
                <a:lnTo>
                  <a:pt x="28397" y="162559"/>
                </a:lnTo>
                <a:lnTo>
                  <a:pt x="29334" y="162559"/>
                </a:lnTo>
                <a:lnTo>
                  <a:pt x="29469" y="161289"/>
                </a:lnTo>
                <a:lnTo>
                  <a:pt x="29737" y="161289"/>
                </a:lnTo>
                <a:lnTo>
                  <a:pt x="29469" y="160019"/>
                </a:lnTo>
                <a:lnTo>
                  <a:pt x="29201" y="160019"/>
                </a:lnTo>
                <a:lnTo>
                  <a:pt x="28665" y="158750"/>
                </a:lnTo>
                <a:close/>
              </a:path>
              <a:path w="241300" h="229870">
                <a:moveTo>
                  <a:pt x="54383" y="181609"/>
                </a:moveTo>
                <a:lnTo>
                  <a:pt x="45140" y="181609"/>
                </a:lnTo>
                <a:lnTo>
                  <a:pt x="40586" y="182879"/>
                </a:lnTo>
                <a:lnTo>
                  <a:pt x="38309" y="184150"/>
                </a:lnTo>
                <a:lnTo>
                  <a:pt x="33755" y="185419"/>
                </a:lnTo>
                <a:lnTo>
                  <a:pt x="29469" y="186689"/>
                </a:lnTo>
                <a:lnTo>
                  <a:pt x="27191" y="187959"/>
                </a:lnTo>
                <a:lnTo>
                  <a:pt x="25182" y="187959"/>
                </a:lnTo>
                <a:lnTo>
                  <a:pt x="21164" y="189229"/>
                </a:lnTo>
                <a:lnTo>
                  <a:pt x="65769" y="189229"/>
                </a:lnTo>
                <a:lnTo>
                  <a:pt x="63224" y="186689"/>
                </a:lnTo>
                <a:lnTo>
                  <a:pt x="58938" y="184150"/>
                </a:lnTo>
                <a:lnTo>
                  <a:pt x="54383" y="181609"/>
                </a:lnTo>
                <a:close/>
              </a:path>
              <a:path w="241300" h="229870">
                <a:moveTo>
                  <a:pt x="46480" y="129539"/>
                </a:moveTo>
                <a:lnTo>
                  <a:pt x="44336" y="129539"/>
                </a:lnTo>
                <a:lnTo>
                  <a:pt x="42863" y="130809"/>
                </a:lnTo>
                <a:lnTo>
                  <a:pt x="42194" y="130809"/>
                </a:lnTo>
                <a:lnTo>
                  <a:pt x="41523" y="132079"/>
                </a:lnTo>
                <a:lnTo>
                  <a:pt x="40854" y="132079"/>
                </a:lnTo>
                <a:lnTo>
                  <a:pt x="40318" y="133350"/>
                </a:lnTo>
                <a:lnTo>
                  <a:pt x="40050" y="133350"/>
                </a:lnTo>
                <a:lnTo>
                  <a:pt x="39649" y="134619"/>
                </a:lnTo>
                <a:lnTo>
                  <a:pt x="39246" y="134619"/>
                </a:lnTo>
                <a:lnTo>
                  <a:pt x="38845" y="135889"/>
                </a:lnTo>
                <a:lnTo>
                  <a:pt x="38978" y="135889"/>
                </a:lnTo>
                <a:lnTo>
                  <a:pt x="39246" y="137159"/>
                </a:lnTo>
                <a:lnTo>
                  <a:pt x="90951" y="187959"/>
                </a:lnTo>
                <a:lnTo>
                  <a:pt x="93094" y="187959"/>
                </a:lnTo>
                <a:lnTo>
                  <a:pt x="95237" y="185419"/>
                </a:lnTo>
                <a:lnTo>
                  <a:pt x="95907" y="185419"/>
                </a:lnTo>
                <a:lnTo>
                  <a:pt x="96577" y="184150"/>
                </a:lnTo>
                <a:lnTo>
                  <a:pt x="97113" y="184150"/>
                </a:lnTo>
                <a:lnTo>
                  <a:pt x="97916" y="182879"/>
                </a:lnTo>
                <a:lnTo>
                  <a:pt x="98318" y="182879"/>
                </a:lnTo>
                <a:lnTo>
                  <a:pt x="98586" y="181609"/>
                </a:lnTo>
                <a:lnTo>
                  <a:pt x="98452" y="181609"/>
                </a:lnTo>
                <a:lnTo>
                  <a:pt x="98184" y="180339"/>
                </a:lnTo>
                <a:lnTo>
                  <a:pt x="46480" y="129539"/>
                </a:lnTo>
                <a:close/>
              </a:path>
              <a:path w="241300" h="229870">
                <a:moveTo>
                  <a:pt x="105685" y="87629"/>
                </a:moveTo>
                <a:lnTo>
                  <a:pt x="96845" y="87629"/>
                </a:lnTo>
                <a:lnTo>
                  <a:pt x="92424" y="88900"/>
                </a:lnTo>
                <a:lnTo>
                  <a:pt x="83583" y="92709"/>
                </a:lnTo>
                <a:lnTo>
                  <a:pt x="79029" y="95250"/>
                </a:lnTo>
                <a:lnTo>
                  <a:pt x="74341" y="100329"/>
                </a:lnTo>
                <a:lnTo>
                  <a:pt x="62152" y="111759"/>
                </a:lnTo>
                <a:lnTo>
                  <a:pt x="61483" y="113029"/>
                </a:lnTo>
                <a:lnTo>
                  <a:pt x="61080" y="113029"/>
                </a:lnTo>
                <a:lnTo>
                  <a:pt x="60812" y="115569"/>
                </a:lnTo>
                <a:lnTo>
                  <a:pt x="61348" y="116839"/>
                </a:lnTo>
                <a:lnTo>
                  <a:pt x="111579" y="166369"/>
                </a:lnTo>
                <a:lnTo>
                  <a:pt x="114526" y="166369"/>
                </a:lnTo>
                <a:lnTo>
                  <a:pt x="115329" y="165100"/>
                </a:lnTo>
                <a:lnTo>
                  <a:pt x="115999" y="165100"/>
                </a:lnTo>
                <a:lnTo>
                  <a:pt x="126119" y="154939"/>
                </a:lnTo>
                <a:lnTo>
                  <a:pt x="114526" y="154939"/>
                </a:lnTo>
                <a:lnTo>
                  <a:pt x="72600" y="113029"/>
                </a:lnTo>
                <a:lnTo>
                  <a:pt x="79968" y="106679"/>
                </a:lnTo>
                <a:lnTo>
                  <a:pt x="83583" y="102869"/>
                </a:lnTo>
                <a:lnTo>
                  <a:pt x="87200" y="100329"/>
                </a:lnTo>
                <a:lnTo>
                  <a:pt x="93898" y="97789"/>
                </a:lnTo>
                <a:lnTo>
                  <a:pt x="97381" y="96519"/>
                </a:lnTo>
                <a:lnTo>
                  <a:pt x="124003" y="96519"/>
                </a:lnTo>
                <a:lnTo>
                  <a:pt x="122965" y="95250"/>
                </a:lnTo>
                <a:lnTo>
                  <a:pt x="118812" y="92709"/>
                </a:lnTo>
                <a:lnTo>
                  <a:pt x="114526" y="90169"/>
                </a:lnTo>
                <a:lnTo>
                  <a:pt x="105685" y="87629"/>
                </a:lnTo>
                <a:close/>
              </a:path>
              <a:path w="241300" h="229870">
                <a:moveTo>
                  <a:pt x="27325" y="157479"/>
                </a:moveTo>
                <a:lnTo>
                  <a:pt x="16475" y="157479"/>
                </a:lnTo>
                <a:lnTo>
                  <a:pt x="15002" y="158750"/>
                </a:lnTo>
                <a:lnTo>
                  <a:pt x="27861" y="158750"/>
                </a:lnTo>
                <a:lnTo>
                  <a:pt x="27325" y="157479"/>
                </a:lnTo>
                <a:close/>
              </a:path>
              <a:path w="241300" h="229870">
                <a:moveTo>
                  <a:pt x="25986" y="156209"/>
                </a:moveTo>
                <a:lnTo>
                  <a:pt x="19155" y="156209"/>
                </a:lnTo>
                <a:lnTo>
                  <a:pt x="17815" y="157479"/>
                </a:lnTo>
                <a:lnTo>
                  <a:pt x="26388" y="157479"/>
                </a:lnTo>
                <a:lnTo>
                  <a:pt x="25986" y="156209"/>
                </a:lnTo>
                <a:close/>
              </a:path>
              <a:path w="241300" h="229870">
                <a:moveTo>
                  <a:pt x="23709" y="154939"/>
                </a:moveTo>
                <a:lnTo>
                  <a:pt x="22637" y="154939"/>
                </a:lnTo>
                <a:lnTo>
                  <a:pt x="21700" y="156209"/>
                </a:lnTo>
                <a:lnTo>
                  <a:pt x="23977" y="156209"/>
                </a:lnTo>
                <a:lnTo>
                  <a:pt x="23709" y="154939"/>
                </a:lnTo>
                <a:close/>
              </a:path>
              <a:path w="241300" h="229870">
                <a:moveTo>
                  <a:pt x="124003" y="96519"/>
                </a:moveTo>
                <a:lnTo>
                  <a:pt x="97381" y="96519"/>
                </a:lnTo>
                <a:lnTo>
                  <a:pt x="104077" y="97789"/>
                </a:lnTo>
                <a:lnTo>
                  <a:pt x="107426" y="99059"/>
                </a:lnTo>
                <a:lnTo>
                  <a:pt x="113856" y="101600"/>
                </a:lnTo>
                <a:lnTo>
                  <a:pt x="116937" y="104139"/>
                </a:lnTo>
                <a:lnTo>
                  <a:pt x="119884" y="107950"/>
                </a:lnTo>
                <a:lnTo>
                  <a:pt x="123501" y="110489"/>
                </a:lnTo>
                <a:lnTo>
                  <a:pt x="126314" y="114300"/>
                </a:lnTo>
                <a:lnTo>
                  <a:pt x="130064" y="121919"/>
                </a:lnTo>
                <a:lnTo>
                  <a:pt x="131136" y="124459"/>
                </a:lnTo>
                <a:lnTo>
                  <a:pt x="131404" y="130809"/>
                </a:lnTo>
                <a:lnTo>
                  <a:pt x="130868" y="134619"/>
                </a:lnTo>
                <a:lnTo>
                  <a:pt x="129260" y="137159"/>
                </a:lnTo>
                <a:lnTo>
                  <a:pt x="127787" y="140969"/>
                </a:lnTo>
                <a:lnTo>
                  <a:pt x="125375" y="143509"/>
                </a:lnTo>
                <a:lnTo>
                  <a:pt x="121893" y="147319"/>
                </a:lnTo>
                <a:lnTo>
                  <a:pt x="114526" y="154939"/>
                </a:lnTo>
                <a:lnTo>
                  <a:pt x="126119" y="154939"/>
                </a:lnTo>
                <a:lnTo>
                  <a:pt x="127384" y="153669"/>
                </a:lnTo>
                <a:lnTo>
                  <a:pt x="132073" y="149859"/>
                </a:lnTo>
                <a:lnTo>
                  <a:pt x="135422" y="144779"/>
                </a:lnTo>
                <a:lnTo>
                  <a:pt x="137699" y="140969"/>
                </a:lnTo>
                <a:lnTo>
                  <a:pt x="139842" y="135889"/>
                </a:lnTo>
                <a:lnTo>
                  <a:pt x="140914" y="132079"/>
                </a:lnTo>
                <a:lnTo>
                  <a:pt x="140914" y="123189"/>
                </a:lnTo>
                <a:lnTo>
                  <a:pt x="127118" y="100329"/>
                </a:lnTo>
                <a:lnTo>
                  <a:pt x="124003" y="96519"/>
                </a:lnTo>
                <a:close/>
              </a:path>
              <a:path w="241300" h="229870">
                <a:moveTo>
                  <a:pt x="140914" y="38100"/>
                </a:moveTo>
                <a:lnTo>
                  <a:pt x="137431" y="38100"/>
                </a:lnTo>
                <a:lnTo>
                  <a:pt x="111847" y="63500"/>
                </a:lnTo>
                <a:lnTo>
                  <a:pt x="111311" y="63500"/>
                </a:lnTo>
                <a:lnTo>
                  <a:pt x="110910" y="64769"/>
                </a:lnTo>
                <a:lnTo>
                  <a:pt x="110642" y="66039"/>
                </a:lnTo>
                <a:lnTo>
                  <a:pt x="111043" y="67309"/>
                </a:lnTo>
                <a:lnTo>
                  <a:pt x="161274" y="116839"/>
                </a:lnTo>
                <a:lnTo>
                  <a:pt x="165158" y="116839"/>
                </a:lnTo>
                <a:lnTo>
                  <a:pt x="165694" y="115569"/>
                </a:lnTo>
                <a:lnTo>
                  <a:pt x="176035" y="105409"/>
                </a:lnTo>
                <a:lnTo>
                  <a:pt x="164355" y="105409"/>
                </a:lnTo>
                <a:lnTo>
                  <a:pt x="145067" y="86359"/>
                </a:lnTo>
                <a:lnTo>
                  <a:pt x="150233" y="81279"/>
                </a:lnTo>
                <a:lnTo>
                  <a:pt x="139306" y="81279"/>
                </a:lnTo>
                <a:lnTo>
                  <a:pt x="122295" y="64769"/>
                </a:lnTo>
                <a:lnTo>
                  <a:pt x="143459" y="44450"/>
                </a:lnTo>
                <a:lnTo>
                  <a:pt x="143593" y="43179"/>
                </a:lnTo>
                <a:lnTo>
                  <a:pt x="143860" y="43179"/>
                </a:lnTo>
                <a:lnTo>
                  <a:pt x="143057" y="40639"/>
                </a:lnTo>
                <a:lnTo>
                  <a:pt x="142387" y="40639"/>
                </a:lnTo>
                <a:lnTo>
                  <a:pt x="141851" y="39369"/>
                </a:lnTo>
                <a:lnTo>
                  <a:pt x="140914" y="38100"/>
                </a:lnTo>
                <a:close/>
              </a:path>
              <a:path w="241300" h="229870">
                <a:moveTo>
                  <a:pt x="188197" y="85089"/>
                </a:moveTo>
                <a:lnTo>
                  <a:pt x="185652" y="85089"/>
                </a:lnTo>
                <a:lnTo>
                  <a:pt x="164355" y="105409"/>
                </a:lnTo>
                <a:lnTo>
                  <a:pt x="176035" y="105409"/>
                </a:lnTo>
                <a:lnTo>
                  <a:pt x="191546" y="90169"/>
                </a:lnTo>
                <a:lnTo>
                  <a:pt x="192082" y="90169"/>
                </a:lnTo>
                <a:lnTo>
                  <a:pt x="192082" y="88900"/>
                </a:lnTo>
                <a:lnTo>
                  <a:pt x="191681" y="87629"/>
                </a:lnTo>
                <a:lnTo>
                  <a:pt x="191010" y="87629"/>
                </a:lnTo>
                <a:lnTo>
                  <a:pt x="190609" y="86359"/>
                </a:lnTo>
                <a:lnTo>
                  <a:pt x="189537" y="86359"/>
                </a:lnTo>
                <a:lnTo>
                  <a:pt x="188197" y="85089"/>
                </a:lnTo>
                <a:close/>
              </a:path>
              <a:path w="241300" h="229870">
                <a:moveTo>
                  <a:pt x="186992" y="83819"/>
                </a:moveTo>
                <a:lnTo>
                  <a:pt x="186724" y="83819"/>
                </a:lnTo>
                <a:lnTo>
                  <a:pt x="186188" y="85089"/>
                </a:lnTo>
                <a:lnTo>
                  <a:pt x="187796" y="85089"/>
                </a:lnTo>
                <a:lnTo>
                  <a:pt x="186992" y="83819"/>
                </a:lnTo>
                <a:close/>
              </a:path>
              <a:path w="241300" h="229870">
                <a:moveTo>
                  <a:pt x="160738" y="63500"/>
                </a:moveTo>
                <a:lnTo>
                  <a:pt x="157256" y="63500"/>
                </a:lnTo>
                <a:lnTo>
                  <a:pt x="139306" y="81279"/>
                </a:lnTo>
                <a:lnTo>
                  <a:pt x="150233" y="81279"/>
                </a:lnTo>
                <a:lnTo>
                  <a:pt x="163149" y="68579"/>
                </a:lnTo>
                <a:lnTo>
                  <a:pt x="163685" y="68579"/>
                </a:lnTo>
                <a:lnTo>
                  <a:pt x="163685" y="67309"/>
                </a:lnTo>
                <a:lnTo>
                  <a:pt x="163283" y="67309"/>
                </a:lnTo>
                <a:lnTo>
                  <a:pt x="162881" y="66039"/>
                </a:lnTo>
                <a:lnTo>
                  <a:pt x="162212" y="66039"/>
                </a:lnTo>
                <a:lnTo>
                  <a:pt x="161140" y="64769"/>
                </a:lnTo>
                <a:lnTo>
                  <a:pt x="160738" y="63500"/>
                </a:lnTo>
                <a:close/>
              </a:path>
              <a:path w="241300" h="229870">
                <a:moveTo>
                  <a:pt x="190742" y="0"/>
                </a:moveTo>
                <a:lnTo>
                  <a:pt x="181768" y="0"/>
                </a:lnTo>
                <a:lnTo>
                  <a:pt x="176946" y="1269"/>
                </a:lnTo>
                <a:lnTo>
                  <a:pt x="174534" y="2539"/>
                </a:lnTo>
                <a:lnTo>
                  <a:pt x="172124" y="5079"/>
                </a:lnTo>
                <a:lnTo>
                  <a:pt x="170383" y="6350"/>
                </a:lnTo>
                <a:lnTo>
                  <a:pt x="167302" y="8889"/>
                </a:lnTo>
                <a:lnTo>
                  <a:pt x="154576" y="21589"/>
                </a:lnTo>
                <a:lnTo>
                  <a:pt x="153907" y="21589"/>
                </a:lnTo>
                <a:lnTo>
                  <a:pt x="153504" y="22859"/>
                </a:lnTo>
                <a:lnTo>
                  <a:pt x="153236" y="24129"/>
                </a:lnTo>
                <a:lnTo>
                  <a:pt x="153639" y="25400"/>
                </a:lnTo>
                <a:lnTo>
                  <a:pt x="204673" y="76200"/>
                </a:lnTo>
                <a:lnTo>
                  <a:pt x="207218" y="76200"/>
                </a:lnTo>
                <a:lnTo>
                  <a:pt x="208290" y="74929"/>
                </a:lnTo>
                <a:lnTo>
                  <a:pt x="209495" y="73659"/>
                </a:lnTo>
                <a:lnTo>
                  <a:pt x="210299" y="72389"/>
                </a:lnTo>
                <a:lnTo>
                  <a:pt x="211237" y="72389"/>
                </a:lnTo>
                <a:lnTo>
                  <a:pt x="211504" y="71119"/>
                </a:lnTo>
                <a:lnTo>
                  <a:pt x="211772" y="71119"/>
                </a:lnTo>
                <a:lnTo>
                  <a:pt x="212040" y="69850"/>
                </a:lnTo>
                <a:lnTo>
                  <a:pt x="212175" y="69850"/>
                </a:lnTo>
                <a:lnTo>
                  <a:pt x="212040" y="68579"/>
                </a:lnTo>
                <a:lnTo>
                  <a:pt x="211772" y="68579"/>
                </a:lnTo>
                <a:lnTo>
                  <a:pt x="188868" y="45719"/>
                </a:lnTo>
                <a:lnTo>
                  <a:pt x="193690" y="41909"/>
                </a:lnTo>
                <a:lnTo>
                  <a:pt x="194493" y="40639"/>
                </a:lnTo>
                <a:lnTo>
                  <a:pt x="183108" y="40639"/>
                </a:lnTo>
                <a:lnTo>
                  <a:pt x="164890" y="22859"/>
                </a:lnTo>
                <a:lnTo>
                  <a:pt x="170919" y="16509"/>
                </a:lnTo>
                <a:lnTo>
                  <a:pt x="172392" y="15239"/>
                </a:lnTo>
                <a:lnTo>
                  <a:pt x="173597" y="13969"/>
                </a:lnTo>
                <a:lnTo>
                  <a:pt x="175473" y="12700"/>
                </a:lnTo>
                <a:lnTo>
                  <a:pt x="176410" y="11429"/>
                </a:lnTo>
                <a:lnTo>
                  <a:pt x="177347" y="11429"/>
                </a:lnTo>
                <a:lnTo>
                  <a:pt x="180160" y="10159"/>
                </a:lnTo>
                <a:lnTo>
                  <a:pt x="182840" y="8889"/>
                </a:lnTo>
                <a:lnTo>
                  <a:pt x="201994" y="8889"/>
                </a:lnTo>
                <a:lnTo>
                  <a:pt x="200521" y="7619"/>
                </a:lnTo>
                <a:lnTo>
                  <a:pt x="198780" y="5079"/>
                </a:lnTo>
                <a:lnTo>
                  <a:pt x="196904" y="3809"/>
                </a:lnTo>
                <a:lnTo>
                  <a:pt x="192886" y="1269"/>
                </a:lnTo>
                <a:lnTo>
                  <a:pt x="190742" y="0"/>
                </a:lnTo>
                <a:close/>
              </a:path>
              <a:path w="241300" h="229870">
                <a:moveTo>
                  <a:pt x="231999" y="36829"/>
                </a:moveTo>
                <a:lnTo>
                  <a:pt x="207218" y="36829"/>
                </a:lnTo>
                <a:lnTo>
                  <a:pt x="208959" y="38100"/>
                </a:lnTo>
                <a:lnTo>
                  <a:pt x="210835" y="38100"/>
                </a:lnTo>
                <a:lnTo>
                  <a:pt x="212711" y="39369"/>
                </a:lnTo>
                <a:lnTo>
                  <a:pt x="214853" y="40639"/>
                </a:lnTo>
                <a:lnTo>
                  <a:pt x="232401" y="48259"/>
                </a:lnTo>
                <a:lnTo>
                  <a:pt x="235214" y="48259"/>
                </a:lnTo>
                <a:lnTo>
                  <a:pt x="235750" y="46989"/>
                </a:lnTo>
                <a:lnTo>
                  <a:pt x="236687" y="46989"/>
                </a:lnTo>
                <a:lnTo>
                  <a:pt x="237356" y="45719"/>
                </a:lnTo>
                <a:lnTo>
                  <a:pt x="238027" y="45719"/>
                </a:lnTo>
                <a:lnTo>
                  <a:pt x="240036" y="43179"/>
                </a:lnTo>
                <a:lnTo>
                  <a:pt x="240437" y="43179"/>
                </a:lnTo>
                <a:lnTo>
                  <a:pt x="240705" y="41909"/>
                </a:lnTo>
                <a:lnTo>
                  <a:pt x="241108" y="41909"/>
                </a:lnTo>
                <a:lnTo>
                  <a:pt x="240973" y="40639"/>
                </a:lnTo>
                <a:lnTo>
                  <a:pt x="239901" y="40639"/>
                </a:lnTo>
                <a:lnTo>
                  <a:pt x="239500" y="39369"/>
                </a:lnTo>
                <a:lnTo>
                  <a:pt x="238027" y="39369"/>
                </a:lnTo>
                <a:lnTo>
                  <a:pt x="231999" y="36829"/>
                </a:lnTo>
                <a:close/>
              </a:path>
              <a:path w="241300" h="229870">
                <a:moveTo>
                  <a:pt x="201994" y="8889"/>
                </a:moveTo>
                <a:lnTo>
                  <a:pt x="182840" y="8889"/>
                </a:lnTo>
                <a:lnTo>
                  <a:pt x="185117" y="10159"/>
                </a:lnTo>
                <a:lnTo>
                  <a:pt x="187528" y="10159"/>
                </a:lnTo>
                <a:lnTo>
                  <a:pt x="189805" y="11429"/>
                </a:lnTo>
                <a:lnTo>
                  <a:pt x="191949" y="13969"/>
                </a:lnTo>
                <a:lnTo>
                  <a:pt x="193287" y="15239"/>
                </a:lnTo>
                <a:lnTo>
                  <a:pt x="194226" y="16509"/>
                </a:lnTo>
                <a:lnTo>
                  <a:pt x="195564" y="19050"/>
                </a:lnTo>
                <a:lnTo>
                  <a:pt x="195832" y="21589"/>
                </a:lnTo>
                <a:lnTo>
                  <a:pt x="195832" y="22859"/>
                </a:lnTo>
                <a:lnTo>
                  <a:pt x="195699" y="24129"/>
                </a:lnTo>
                <a:lnTo>
                  <a:pt x="195163" y="26669"/>
                </a:lnTo>
                <a:lnTo>
                  <a:pt x="194226" y="27939"/>
                </a:lnTo>
                <a:lnTo>
                  <a:pt x="193422" y="30479"/>
                </a:lnTo>
                <a:lnTo>
                  <a:pt x="191949" y="31750"/>
                </a:lnTo>
                <a:lnTo>
                  <a:pt x="183108" y="40639"/>
                </a:lnTo>
                <a:lnTo>
                  <a:pt x="194493" y="40639"/>
                </a:lnTo>
                <a:lnTo>
                  <a:pt x="195296" y="39369"/>
                </a:lnTo>
                <a:lnTo>
                  <a:pt x="196904" y="39369"/>
                </a:lnTo>
                <a:lnTo>
                  <a:pt x="198645" y="38100"/>
                </a:lnTo>
                <a:lnTo>
                  <a:pt x="200253" y="36829"/>
                </a:lnTo>
                <a:lnTo>
                  <a:pt x="231999" y="36829"/>
                </a:lnTo>
                <a:lnTo>
                  <a:pt x="219943" y="31750"/>
                </a:lnTo>
                <a:lnTo>
                  <a:pt x="217934" y="30479"/>
                </a:lnTo>
                <a:lnTo>
                  <a:pt x="216193" y="30479"/>
                </a:lnTo>
                <a:lnTo>
                  <a:pt x="212978" y="29209"/>
                </a:lnTo>
                <a:lnTo>
                  <a:pt x="201861" y="29209"/>
                </a:lnTo>
                <a:lnTo>
                  <a:pt x="202932" y="26669"/>
                </a:lnTo>
                <a:lnTo>
                  <a:pt x="203602" y="25400"/>
                </a:lnTo>
                <a:lnTo>
                  <a:pt x="204673" y="20319"/>
                </a:lnTo>
                <a:lnTo>
                  <a:pt x="204807" y="19050"/>
                </a:lnTo>
                <a:lnTo>
                  <a:pt x="204405" y="15239"/>
                </a:lnTo>
                <a:lnTo>
                  <a:pt x="203870" y="12700"/>
                </a:lnTo>
                <a:lnTo>
                  <a:pt x="201994" y="8889"/>
                </a:lnTo>
                <a:close/>
              </a:path>
              <a:path w="241300" h="229870">
                <a:moveTo>
                  <a:pt x="208424" y="27939"/>
                </a:moveTo>
                <a:lnTo>
                  <a:pt x="204405" y="27939"/>
                </a:lnTo>
                <a:lnTo>
                  <a:pt x="203200" y="29209"/>
                </a:lnTo>
                <a:lnTo>
                  <a:pt x="211371" y="29209"/>
                </a:lnTo>
                <a:lnTo>
                  <a:pt x="208424" y="27939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278726" y="5663287"/>
            <a:ext cx="284480" cy="265430"/>
          </a:xfrm>
          <a:custGeom>
            <a:avLst/>
            <a:gdLst/>
            <a:ahLst/>
            <a:cxnLst/>
            <a:rect l="l" t="t" r="r" b="b"/>
            <a:pathLst>
              <a:path w="284479" h="265429">
                <a:moveTo>
                  <a:pt x="32415" y="193039"/>
                </a:moveTo>
                <a:lnTo>
                  <a:pt x="21833" y="193039"/>
                </a:lnTo>
                <a:lnTo>
                  <a:pt x="18351" y="194309"/>
                </a:lnTo>
                <a:lnTo>
                  <a:pt x="0" y="220979"/>
                </a:lnTo>
                <a:lnTo>
                  <a:pt x="670" y="229869"/>
                </a:lnTo>
                <a:lnTo>
                  <a:pt x="32147" y="264159"/>
                </a:lnTo>
                <a:lnTo>
                  <a:pt x="36433" y="265429"/>
                </a:lnTo>
                <a:lnTo>
                  <a:pt x="49159" y="265429"/>
                </a:lnTo>
                <a:lnTo>
                  <a:pt x="53044" y="264159"/>
                </a:lnTo>
                <a:lnTo>
                  <a:pt x="57062" y="261619"/>
                </a:lnTo>
                <a:lnTo>
                  <a:pt x="60812" y="259079"/>
                </a:lnTo>
                <a:lnTo>
                  <a:pt x="64932" y="255269"/>
                </a:lnTo>
                <a:lnTo>
                  <a:pt x="38444" y="255269"/>
                </a:lnTo>
                <a:lnTo>
                  <a:pt x="35228" y="253999"/>
                </a:lnTo>
                <a:lnTo>
                  <a:pt x="10180" y="224789"/>
                </a:lnTo>
                <a:lnTo>
                  <a:pt x="9644" y="220979"/>
                </a:lnTo>
                <a:lnTo>
                  <a:pt x="9912" y="218439"/>
                </a:lnTo>
                <a:lnTo>
                  <a:pt x="18216" y="205739"/>
                </a:lnTo>
                <a:lnTo>
                  <a:pt x="20360" y="203199"/>
                </a:lnTo>
                <a:lnTo>
                  <a:pt x="24646" y="201929"/>
                </a:lnTo>
                <a:lnTo>
                  <a:pt x="26656" y="200659"/>
                </a:lnTo>
                <a:lnTo>
                  <a:pt x="30138" y="199389"/>
                </a:lnTo>
                <a:lnTo>
                  <a:pt x="34827" y="199389"/>
                </a:lnTo>
                <a:lnTo>
                  <a:pt x="35228" y="198119"/>
                </a:lnTo>
                <a:lnTo>
                  <a:pt x="35631" y="198119"/>
                </a:lnTo>
                <a:lnTo>
                  <a:pt x="35631" y="196849"/>
                </a:lnTo>
                <a:lnTo>
                  <a:pt x="35363" y="196849"/>
                </a:lnTo>
                <a:lnTo>
                  <a:pt x="35095" y="195579"/>
                </a:lnTo>
                <a:lnTo>
                  <a:pt x="34424" y="195579"/>
                </a:lnTo>
                <a:lnTo>
                  <a:pt x="34023" y="194309"/>
                </a:lnTo>
                <a:lnTo>
                  <a:pt x="32951" y="194309"/>
                </a:lnTo>
                <a:lnTo>
                  <a:pt x="32415" y="193039"/>
                </a:lnTo>
                <a:close/>
              </a:path>
              <a:path w="284479" h="265429">
                <a:moveTo>
                  <a:pt x="70189" y="229869"/>
                </a:moveTo>
                <a:lnTo>
                  <a:pt x="67644" y="229869"/>
                </a:lnTo>
                <a:lnTo>
                  <a:pt x="67242" y="231139"/>
                </a:lnTo>
                <a:lnTo>
                  <a:pt x="67108" y="232409"/>
                </a:lnTo>
                <a:lnTo>
                  <a:pt x="66037" y="237489"/>
                </a:lnTo>
                <a:lnTo>
                  <a:pt x="65634" y="238759"/>
                </a:lnTo>
                <a:lnTo>
                  <a:pt x="64830" y="240029"/>
                </a:lnTo>
                <a:lnTo>
                  <a:pt x="62688" y="245109"/>
                </a:lnTo>
                <a:lnTo>
                  <a:pt x="61080" y="246379"/>
                </a:lnTo>
                <a:lnTo>
                  <a:pt x="56393" y="251459"/>
                </a:lnTo>
                <a:lnTo>
                  <a:pt x="50766" y="253999"/>
                </a:lnTo>
                <a:lnTo>
                  <a:pt x="47820" y="255269"/>
                </a:lnTo>
                <a:lnTo>
                  <a:pt x="64932" y="255269"/>
                </a:lnTo>
                <a:lnTo>
                  <a:pt x="66305" y="253999"/>
                </a:lnTo>
                <a:lnTo>
                  <a:pt x="68046" y="252729"/>
                </a:lnTo>
                <a:lnTo>
                  <a:pt x="70725" y="247649"/>
                </a:lnTo>
                <a:lnTo>
                  <a:pt x="71662" y="246379"/>
                </a:lnTo>
                <a:lnTo>
                  <a:pt x="73806" y="241299"/>
                </a:lnTo>
                <a:lnTo>
                  <a:pt x="74207" y="240029"/>
                </a:lnTo>
                <a:lnTo>
                  <a:pt x="74475" y="237489"/>
                </a:lnTo>
                <a:lnTo>
                  <a:pt x="74609" y="237489"/>
                </a:lnTo>
                <a:lnTo>
                  <a:pt x="74609" y="234949"/>
                </a:lnTo>
                <a:lnTo>
                  <a:pt x="74341" y="234949"/>
                </a:lnTo>
                <a:lnTo>
                  <a:pt x="74074" y="233679"/>
                </a:lnTo>
                <a:lnTo>
                  <a:pt x="73939" y="233679"/>
                </a:lnTo>
                <a:lnTo>
                  <a:pt x="73136" y="232409"/>
                </a:lnTo>
                <a:lnTo>
                  <a:pt x="72198" y="232409"/>
                </a:lnTo>
                <a:lnTo>
                  <a:pt x="71662" y="231139"/>
                </a:lnTo>
                <a:lnTo>
                  <a:pt x="70591" y="231139"/>
                </a:lnTo>
                <a:lnTo>
                  <a:pt x="70189" y="229869"/>
                </a:lnTo>
                <a:close/>
              </a:path>
              <a:path w="284479" h="265429">
                <a:moveTo>
                  <a:pt x="86396" y="232409"/>
                </a:moveTo>
                <a:lnTo>
                  <a:pt x="84923" y="232409"/>
                </a:lnTo>
                <a:lnTo>
                  <a:pt x="85191" y="233679"/>
                </a:lnTo>
                <a:lnTo>
                  <a:pt x="85995" y="233679"/>
                </a:lnTo>
                <a:lnTo>
                  <a:pt x="86396" y="232409"/>
                </a:lnTo>
                <a:close/>
              </a:path>
              <a:path w="284479" h="265429">
                <a:moveTo>
                  <a:pt x="35899" y="171449"/>
                </a:moveTo>
                <a:lnTo>
                  <a:pt x="33487" y="171449"/>
                </a:lnTo>
                <a:lnTo>
                  <a:pt x="32415" y="172719"/>
                </a:lnTo>
                <a:lnTo>
                  <a:pt x="31210" y="173989"/>
                </a:lnTo>
                <a:lnTo>
                  <a:pt x="30005" y="173989"/>
                </a:lnTo>
                <a:lnTo>
                  <a:pt x="29201" y="175259"/>
                </a:lnTo>
                <a:lnTo>
                  <a:pt x="28933" y="176529"/>
                </a:lnTo>
                <a:lnTo>
                  <a:pt x="28531" y="176529"/>
                </a:lnTo>
                <a:lnTo>
                  <a:pt x="28665" y="177799"/>
                </a:lnTo>
                <a:lnTo>
                  <a:pt x="29067" y="177799"/>
                </a:lnTo>
                <a:lnTo>
                  <a:pt x="84655" y="232409"/>
                </a:lnTo>
                <a:lnTo>
                  <a:pt x="88137" y="232409"/>
                </a:lnTo>
                <a:lnTo>
                  <a:pt x="89344" y="231139"/>
                </a:lnTo>
                <a:lnTo>
                  <a:pt x="90147" y="229869"/>
                </a:lnTo>
                <a:lnTo>
                  <a:pt x="90683" y="229869"/>
                </a:lnTo>
                <a:lnTo>
                  <a:pt x="91085" y="228599"/>
                </a:lnTo>
                <a:lnTo>
                  <a:pt x="91621" y="228599"/>
                </a:lnTo>
                <a:lnTo>
                  <a:pt x="92022" y="227329"/>
                </a:lnTo>
                <a:lnTo>
                  <a:pt x="91889" y="226059"/>
                </a:lnTo>
                <a:lnTo>
                  <a:pt x="91621" y="226059"/>
                </a:lnTo>
                <a:lnTo>
                  <a:pt x="35899" y="171449"/>
                </a:lnTo>
                <a:close/>
              </a:path>
              <a:path w="284479" h="265429">
                <a:moveTo>
                  <a:pt x="75413" y="167639"/>
                </a:moveTo>
                <a:lnTo>
                  <a:pt x="73404" y="167639"/>
                </a:lnTo>
                <a:lnTo>
                  <a:pt x="73002" y="168909"/>
                </a:lnTo>
                <a:lnTo>
                  <a:pt x="71930" y="168909"/>
                </a:lnTo>
                <a:lnTo>
                  <a:pt x="70725" y="170179"/>
                </a:lnTo>
                <a:lnTo>
                  <a:pt x="70055" y="171449"/>
                </a:lnTo>
                <a:lnTo>
                  <a:pt x="69519" y="171449"/>
                </a:lnTo>
                <a:lnTo>
                  <a:pt x="68715" y="172719"/>
                </a:lnTo>
                <a:lnTo>
                  <a:pt x="68447" y="172719"/>
                </a:lnTo>
                <a:lnTo>
                  <a:pt x="68046" y="173989"/>
                </a:lnTo>
                <a:lnTo>
                  <a:pt x="68179" y="173989"/>
                </a:lnTo>
                <a:lnTo>
                  <a:pt x="68314" y="175259"/>
                </a:lnTo>
                <a:lnTo>
                  <a:pt x="68582" y="175259"/>
                </a:lnTo>
                <a:lnTo>
                  <a:pt x="105953" y="212089"/>
                </a:lnTo>
                <a:lnTo>
                  <a:pt x="108498" y="212089"/>
                </a:lnTo>
                <a:lnTo>
                  <a:pt x="108899" y="210819"/>
                </a:lnTo>
                <a:lnTo>
                  <a:pt x="110106" y="210819"/>
                </a:lnTo>
                <a:lnTo>
                  <a:pt x="110775" y="209549"/>
                </a:lnTo>
                <a:lnTo>
                  <a:pt x="111980" y="208279"/>
                </a:lnTo>
                <a:lnTo>
                  <a:pt x="112784" y="207009"/>
                </a:lnTo>
                <a:lnTo>
                  <a:pt x="113052" y="207009"/>
                </a:lnTo>
                <a:lnTo>
                  <a:pt x="113320" y="205739"/>
                </a:lnTo>
                <a:lnTo>
                  <a:pt x="113187" y="205739"/>
                </a:lnTo>
                <a:lnTo>
                  <a:pt x="112919" y="204469"/>
                </a:lnTo>
                <a:lnTo>
                  <a:pt x="75413" y="167639"/>
                </a:lnTo>
                <a:close/>
              </a:path>
              <a:path w="284479" h="265429">
                <a:moveTo>
                  <a:pt x="30942" y="191769"/>
                </a:moveTo>
                <a:lnTo>
                  <a:pt x="24914" y="191769"/>
                </a:lnTo>
                <a:lnTo>
                  <a:pt x="23441" y="193039"/>
                </a:lnTo>
                <a:lnTo>
                  <a:pt x="31344" y="193039"/>
                </a:lnTo>
                <a:lnTo>
                  <a:pt x="30942" y="191769"/>
                </a:lnTo>
                <a:close/>
              </a:path>
              <a:path w="284479" h="265429">
                <a:moveTo>
                  <a:pt x="129395" y="190499"/>
                </a:moveTo>
                <a:lnTo>
                  <a:pt x="127519" y="190499"/>
                </a:lnTo>
                <a:lnTo>
                  <a:pt x="127787" y="191769"/>
                </a:lnTo>
                <a:lnTo>
                  <a:pt x="128591" y="191769"/>
                </a:lnTo>
                <a:lnTo>
                  <a:pt x="129395" y="190499"/>
                </a:lnTo>
                <a:close/>
              </a:path>
              <a:path w="284479" h="265429">
                <a:moveTo>
                  <a:pt x="119482" y="126999"/>
                </a:moveTo>
                <a:lnTo>
                  <a:pt x="116937" y="128269"/>
                </a:lnTo>
                <a:lnTo>
                  <a:pt x="111847" y="129539"/>
                </a:lnTo>
                <a:lnTo>
                  <a:pt x="109302" y="130809"/>
                </a:lnTo>
                <a:lnTo>
                  <a:pt x="100819" y="149859"/>
                </a:lnTo>
                <a:lnTo>
                  <a:pt x="100998" y="152399"/>
                </a:lnTo>
                <a:lnTo>
                  <a:pt x="89344" y="152399"/>
                </a:lnTo>
                <a:lnTo>
                  <a:pt x="89344" y="153669"/>
                </a:lnTo>
                <a:lnTo>
                  <a:pt x="89880" y="153669"/>
                </a:lnTo>
                <a:lnTo>
                  <a:pt x="127384" y="190499"/>
                </a:lnTo>
                <a:lnTo>
                  <a:pt x="130733" y="190499"/>
                </a:lnTo>
                <a:lnTo>
                  <a:pt x="131404" y="189229"/>
                </a:lnTo>
                <a:lnTo>
                  <a:pt x="132073" y="189229"/>
                </a:lnTo>
                <a:lnTo>
                  <a:pt x="133278" y="187959"/>
                </a:lnTo>
                <a:lnTo>
                  <a:pt x="134082" y="186689"/>
                </a:lnTo>
                <a:lnTo>
                  <a:pt x="134350" y="186689"/>
                </a:lnTo>
                <a:lnTo>
                  <a:pt x="134618" y="185419"/>
                </a:lnTo>
                <a:lnTo>
                  <a:pt x="134217" y="184149"/>
                </a:lnTo>
                <a:lnTo>
                  <a:pt x="107962" y="158749"/>
                </a:lnTo>
                <a:lnTo>
                  <a:pt x="107661" y="154939"/>
                </a:lnTo>
                <a:lnTo>
                  <a:pt x="111311" y="140969"/>
                </a:lnTo>
                <a:lnTo>
                  <a:pt x="112651" y="139699"/>
                </a:lnTo>
                <a:lnTo>
                  <a:pt x="114124" y="138429"/>
                </a:lnTo>
                <a:lnTo>
                  <a:pt x="115597" y="138429"/>
                </a:lnTo>
                <a:lnTo>
                  <a:pt x="117205" y="137159"/>
                </a:lnTo>
                <a:lnTo>
                  <a:pt x="136761" y="137159"/>
                </a:lnTo>
                <a:lnTo>
                  <a:pt x="134082" y="134619"/>
                </a:lnTo>
                <a:lnTo>
                  <a:pt x="131537" y="132079"/>
                </a:lnTo>
                <a:lnTo>
                  <a:pt x="129127" y="130809"/>
                </a:lnTo>
                <a:lnTo>
                  <a:pt x="126850" y="129539"/>
                </a:lnTo>
                <a:lnTo>
                  <a:pt x="124438" y="128269"/>
                </a:lnTo>
                <a:lnTo>
                  <a:pt x="119482" y="126999"/>
                </a:lnTo>
                <a:close/>
              </a:path>
              <a:path w="284479" h="265429">
                <a:moveTo>
                  <a:pt x="136761" y="137159"/>
                </a:moveTo>
                <a:lnTo>
                  <a:pt x="118678" y="137159"/>
                </a:lnTo>
                <a:lnTo>
                  <a:pt x="121893" y="138429"/>
                </a:lnTo>
                <a:lnTo>
                  <a:pt x="123501" y="138429"/>
                </a:lnTo>
                <a:lnTo>
                  <a:pt x="126715" y="140969"/>
                </a:lnTo>
                <a:lnTo>
                  <a:pt x="128591" y="142239"/>
                </a:lnTo>
                <a:lnTo>
                  <a:pt x="152702" y="166369"/>
                </a:lnTo>
                <a:lnTo>
                  <a:pt x="154711" y="166369"/>
                </a:lnTo>
                <a:lnTo>
                  <a:pt x="155112" y="165099"/>
                </a:lnTo>
                <a:lnTo>
                  <a:pt x="156184" y="165099"/>
                </a:lnTo>
                <a:lnTo>
                  <a:pt x="157389" y="163829"/>
                </a:lnTo>
                <a:lnTo>
                  <a:pt x="158059" y="162559"/>
                </a:lnTo>
                <a:lnTo>
                  <a:pt x="158595" y="162559"/>
                </a:lnTo>
                <a:lnTo>
                  <a:pt x="159398" y="161289"/>
                </a:lnTo>
                <a:lnTo>
                  <a:pt x="159666" y="161289"/>
                </a:lnTo>
                <a:lnTo>
                  <a:pt x="160068" y="160019"/>
                </a:lnTo>
                <a:lnTo>
                  <a:pt x="159934" y="160019"/>
                </a:lnTo>
                <a:lnTo>
                  <a:pt x="159801" y="158749"/>
                </a:lnTo>
                <a:lnTo>
                  <a:pt x="159533" y="158749"/>
                </a:lnTo>
                <a:lnTo>
                  <a:pt x="136761" y="137159"/>
                </a:lnTo>
                <a:close/>
              </a:path>
              <a:path w="284479" h="265429">
                <a:moveTo>
                  <a:pt x="60544" y="152399"/>
                </a:moveTo>
                <a:lnTo>
                  <a:pt x="58267" y="152399"/>
                </a:lnTo>
                <a:lnTo>
                  <a:pt x="56929" y="153669"/>
                </a:lnTo>
                <a:lnTo>
                  <a:pt x="55321" y="154939"/>
                </a:lnTo>
                <a:lnTo>
                  <a:pt x="53580" y="156209"/>
                </a:lnTo>
                <a:lnTo>
                  <a:pt x="52776" y="157479"/>
                </a:lnTo>
                <a:lnTo>
                  <a:pt x="52776" y="160019"/>
                </a:lnTo>
                <a:lnTo>
                  <a:pt x="55186" y="163829"/>
                </a:lnTo>
                <a:lnTo>
                  <a:pt x="56661" y="165099"/>
                </a:lnTo>
                <a:lnTo>
                  <a:pt x="61751" y="165099"/>
                </a:lnTo>
                <a:lnTo>
                  <a:pt x="63492" y="163829"/>
                </a:lnTo>
                <a:lnTo>
                  <a:pt x="65902" y="160019"/>
                </a:lnTo>
                <a:lnTo>
                  <a:pt x="65902" y="157479"/>
                </a:lnTo>
                <a:lnTo>
                  <a:pt x="65098" y="156209"/>
                </a:lnTo>
                <a:lnTo>
                  <a:pt x="63492" y="154939"/>
                </a:lnTo>
                <a:lnTo>
                  <a:pt x="60544" y="152399"/>
                </a:lnTo>
                <a:close/>
              </a:path>
              <a:path w="284479" h="265429">
                <a:moveTo>
                  <a:pt x="96041" y="147319"/>
                </a:moveTo>
                <a:lnTo>
                  <a:pt x="93764" y="147319"/>
                </a:lnTo>
                <a:lnTo>
                  <a:pt x="93228" y="148589"/>
                </a:lnTo>
                <a:lnTo>
                  <a:pt x="92290" y="148589"/>
                </a:lnTo>
                <a:lnTo>
                  <a:pt x="91754" y="149859"/>
                </a:lnTo>
                <a:lnTo>
                  <a:pt x="91085" y="149859"/>
                </a:lnTo>
                <a:lnTo>
                  <a:pt x="90147" y="151129"/>
                </a:lnTo>
                <a:lnTo>
                  <a:pt x="89612" y="152399"/>
                </a:lnTo>
                <a:lnTo>
                  <a:pt x="100998" y="152399"/>
                </a:lnTo>
                <a:lnTo>
                  <a:pt x="96041" y="147319"/>
                </a:lnTo>
                <a:close/>
              </a:path>
              <a:path w="284479" h="265429">
                <a:moveTo>
                  <a:pt x="148973" y="92709"/>
                </a:moveTo>
                <a:lnTo>
                  <a:pt x="134082" y="92709"/>
                </a:lnTo>
                <a:lnTo>
                  <a:pt x="180696" y="138429"/>
                </a:lnTo>
                <a:lnTo>
                  <a:pt x="182840" y="138429"/>
                </a:lnTo>
                <a:lnTo>
                  <a:pt x="184983" y="137159"/>
                </a:lnTo>
                <a:lnTo>
                  <a:pt x="185652" y="135889"/>
                </a:lnTo>
                <a:lnTo>
                  <a:pt x="186322" y="135889"/>
                </a:lnTo>
                <a:lnTo>
                  <a:pt x="186858" y="134619"/>
                </a:lnTo>
                <a:lnTo>
                  <a:pt x="187662" y="133349"/>
                </a:lnTo>
                <a:lnTo>
                  <a:pt x="188064" y="133349"/>
                </a:lnTo>
                <a:lnTo>
                  <a:pt x="188332" y="132079"/>
                </a:lnTo>
                <a:lnTo>
                  <a:pt x="188197" y="132079"/>
                </a:lnTo>
                <a:lnTo>
                  <a:pt x="187929" y="130809"/>
                </a:lnTo>
                <a:lnTo>
                  <a:pt x="148973" y="92709"/>
                </a:lnTo>
                <a:close/>
              </a:path>
              <a:path w="284479" h="265429">
                <a:moveTo>
                  <a:pt x="153772" y="64769"/>
                </a:moveTo>
                <a:lnTo>
                  <a:pt x="150290" y="64769"/>
                </a:lnTo>
                <a:lnTo>
                  <a:pt x="112784" y="101599"/>
                </a:lnTo>
                <a:lnTo>
                  <a:pt x="112383" y="101599"/>
                </a:lnTo>
                <a:lnTo>
                  <a:pt x="112248" y="102869"/>
                </a:lnTo>
                <a:lnTo>
                  <a:pt x="112383" y="102869"/>
                </a:lnTo>
                <a:lnTo>
                  <a:pt x="112784" y="104139"/>
                </a:lnTo>
                <a:lnTo>
                  <a:pt x="113454" y="104139"/>
                </a:lnTo>
                <a:lnTo>
                  <a:pt x="113990" y="105409"/>
                </a:lnTo>
                <a:lnTo>
                  <a:pt x="114392" y="105409"/>
                </a:lnTo>
                <a:lnTo>
                  <a:pt x="114928" y="106679"/>
                </a:lnTo>
                <a:lnTo>
                  <a:pt x="116401" y="106679"/>
                </a:lnTo>
                <a:lnTo>
                  <a:pt x="116803" y="107949"/>
                </a:lnTo>
                <a:lnTo>
                  <a:pt x="118678" y="107949"/>
                </a:lnTo>
                <a:lnTo>
                  <a:pt x="118812" y="106679"/>
                </a:lnTo>
                <a:lnTo>
                  <a:pt x="134082" y="92709"/>
                </a:lnTo>
                <a:lnTo>
                  <a:pt x="148973" y="92709"/>
                </a:lnTo>
                <a:lnTo>
                  <a:pt x="141182" y="85089"/>
                </a:lnTo>
                <a:lnTo>
                  <a:pt x="156317" y="69849"/>
                </a:lnTo>
                <a:lnTo>
                  <a:pt x="156853" y="69849"/>
                </a:lnTo>
                <a:lnTo>
                  <a:pt x="156853" y="68579"/>
                </a:lnTo>
                <a:lnTo>
                  <a:pt x="156585" y="68579"/>
                </a:lnTo>
                <a:lnTo>
                  <a:pt x="156049" y="67309"/>
                </a:lnTo>
                <a:lnTo>
                  <a:pt x="155648" y="67309"/>
                </a:lnTo>
                <a:lnTo>
                  <a:pt x="155246" y="66039"/>
                </a:lnTo>
                <a:lnTo>
                  <a:pt x="154175" y="66039"/>
                </a:lnTo>
                <a:lnTo>
                  <a:pt x="153772" y="64769"/>
                </a:lnTo>
                <a:close/>
              </a:path>
              <a:path w="284479" h="265429">
                <a:moveTo>
                  <a:pt x="205611" y="43179"/>
                </a:moveTo>
                <a:lnTo>
                  <a:pt x="181072" y="69849"/>
                </a:lnTo>
                <a:lnTo>
                  <a:pt x="181500" y="74929"/>
                </a:lnTo>
                <a:lnTo>
                  <a:pt x="207620" y="101599"/>
                </a:lnTo>
                <a:lnTo>
                  <a:pt x="217398" y="101599"/>
                </a:lnTo>
                <a:lnTo>
                  <a:pt x="223828" y="99059"/>
                </a:lnTo>
                <a:lnTo>
                  <a:pt x="227042" y="96519"/>
                </a:lnTo>
                <a:lnTo>
                  <a:pt x="230124" y="93979"/>
                </a:lnTo>
                <a:lnTo>
                  <a:pt x="231151" y="92709"/>
                </a:lnTo>
                <a:lnTo>
                  <a:pt x="213380" y="92709"/>
                </a:lnTo>
                <a:lnTo>
                  <a:pt x="208959" y="91439"/>
                </a:lnTo>
                <a:lnTo>
                  <a:pt x="206682" y="90169"/>
                </a:lnTo>
                <a:lnTo>
                  <a:pt x="200253" y="86359"/>
                </a:lnTo>
                <a:lnTo>
                  <a:pt x="198244" y="83819"/>
                </a:lnTo>
                <a:lnTo>
                  <a:pt x="196100" y="82549"/>
                </a:lnTo>
                <a:lnTo>
                  <a:pt x="194359" y="80009"/>
                </a:lnTo>
                <a:lnTo>
                  <a:pt x="191681" y="74929"/>
                </a:lnTo>
                <a:lnTo>
                  <a:pt x="190742" y="73659"/>
                </a:lnTo>
                <a:lnTo>
                  <a:pt x="190474" y="71119"/>
                </a:lnTo>
                <a:lnTo>
                  <a:pt x="190073" y="68579"/>
                </a:lnTo>
                <a:lnTo>
                  <a:pt x="190207" y="66039"/>
                </a:lnTo>
                <a:lnTo>
                  <a:pt x="191010" y="64769"/>
                </a:lnTo>
                <a:lnTo>
                  <a:pt x="191681" y="62229"/>
                </a:lnTo>
                <a:lnTo>
                  <a:pt x="193154" y="59689"/>
                </a:lnTo>
                <a:lnTo>
                  <a:pt x="195163" y="58419"/>
                </a:lnTo>
                <a:lnTo>
                  <a:pt x="197440" y="55879"/>
                </a:lnTo>
                <a:lnTo>
                  <a:pt x="199583" y="54609"/>
                </a:lnTo>
                <a:lnTo>
                  <a:pt x="204138" y="53339"/>
                </a:lnTo>
                <a:lnTo>
                  <a:pt x="228248" y="53339"/>
                </a:lnTo>
                <a:lnTo>
                  <a:pt x="225168" y="50799"/>
                </a:lnTo>
                <a:lnTo>
                  <a:pt x="221952" y="48259"/>
                </a:lnTo>
                <a:lnTo>
                  <a:pt x="218603" y="46989"/>
                </a:lnTo>
                <a:lnTo>
                  <a:pt x="215389" y="44449"/>
                </a:lnTo>
                <a:lnTo>
                  <a:pt x="212175" y="44449"/>
                </a:lnTo>
                <a:lnTo>
                  <a:pt x="205611" y="43179"/>
                </a:lnTo>
                <a:close/>
              </a:path>
              <a:path w="284479" h="265429">
                <a:moveTo>
                  <a:pt x="228248" y="53339"/>
                </a:moveTo>
                <a:lnTo>
                  <a:pt x="210835" y="53339"/>
                </a:lnTo>
                <a:lnTo>
                  <a:pt x="213112" y="54609"/>
                </a:lnTo>
                <a:lnTo>
                  <a:pt x="215256" y="55879"/>
                </a:lnTo>
                <a:lnTo>
                  <a:pt x="217533" y="57149"/>
                </a:lnTo>
                <a:lnTo>
                  <a:pt x="219542" y="59689"/>
                </a:lnTo>
                <a:lnTo>
                  <a:pt x="221551" y="60959"/>
                </a:lnTo>
                <a:lnTo>
                  <a:pt x="229856" y="76199"/>
                </a:lnTo>
                <a:lnTo>
                  <a:pt x="229588" y="78739"/>
                </a:lnTo>
                <a:lnTo>
                  <a:pt x="228784" y="81279"/>
                </a:lnTo>
                <a:lnTo>
                  <a:pt x="228114" y="83819"/>
                </a:lnTo>
                <a:lnTo>
                  <a:pt x="226641" y="85089"/>
                </a:lnTo>
                <a:lnTo>
                  <a:pt x="224632" y="87629"/>
                </a:lnTo>
                <a:lnTo>
                  <a:pt x="222488" y="88899"/>
                </a:lnTo>
                <a:lnTo>
                  <a:pt x="220211" y="91439"/>
                </a:lnTo>
                <a:lnTo>
                  <a:pt x="215657" y="92709"/>
                </a:lnTo>
                <a:lnTo>
                  <a:pt x="231151" y="92709"/>
                </a:lnTo>
                <a:lnTo>
                  <a:pt x="238831" y="76199"/>
                </a:lnTo>
                <a:lnTo>
                  <a:pt x="238295" y="69849"/>
                </a:lnTo>
                <a:lnTo>
                  <a:pt x="237223" y="66039"/>
                </a:lnTo>
                <a:lnTo>
                  <a:pt x="233740" y="59689"/>
                </a:lnTo>
                <a:lnTo>
                  <a:pt x="231329" y="57149"/>
                </a:lnTo>
                <a:lnTo>
                  <a:pt x="228248" y="53339"/>
                </a:lnTo>
                <a:close/>
              </a:path>
              <a:path w="284479" h="265429">
                <a:moveTo>
                  <a:pt x="253832" y="68579"/>
                </a:moveTo>
                <a:lnTo>
                  <a:pt x="250350" y="68579"/>
                </a:lnTo>
                <a:lnTo>
                  <a:pt x="250484" y="69849"/>
                </a:lnTo>
                <a:lnTo>
                  <a:pt x="253163" y="69849"/>
                </a:lnTo>
                <a:lnTo>
                  <a:pt x="253832" y="68579"/>
                </a:lnTo>
                <a:close/>
              </a:path>
              <a:path w="284479" h="265429">
                <a:moveTo>
                  <a:pt x="246331" y="1269"/>
                </a:moveTo>
                <a:lnTo>
                  <a:pt x="241910" y="1269"/>
                </a:lnTo>
                <a:lnTo>
                  <a:pt x="241108" y="2539"/>
                </a:lnTo>
                <a:lnTo>
                  <a:pt x="239099" y="5079"/>
                </a:lnTo>
                <a:lnTo>
                  <a:pt x="238831" y="5079"/>
                </a:lnTo>
                <a:lnTo>
                  <a:pt x="238428" y="6349"/>
                </a:lnTo>
                <a:lnTo>
                  <a:pt x="238428" y="7619"/>
                </a:lnTo>
                <a:lnTo>
                  <a:pt x="238563" y="7619"/>
                </a:lnTo>
                <a:lnTo>
                  <a:pt x="243786" y="29209"/>
                </a:lnTo>
                <a:lnTo>
                  <a:pt x="214184" y="29209"/>
                </a:lnTo>
                <a:lnTo>
                  <a:pt x="213648" y="30479"/>
                </a:lnTo>
                <a:lnTo>
                  <a:pt x="213246" y="30479"/>
                </a:lnTo>
                <a:lnTo>
                  <a:pt x="213246" y="31749"/>
                </a:lnTo>
                <a:lnTo>
                  <a:pt x="213781" y="31749"/>
                </a:lnTo>
                <a:lnTo>
                  <a:pt x="214317" y="33019"/>
                </a:lnTo>
                <a:lnTo>
                  <a:pt x="214853" y="33019"/>
                </a:lnTo>
                <a:lnTo>
                  <a:pt x="243518" y="39369"/>
                </a:lnTo>
                <a:lnTo>
                  <a:pt x="250082" y="68579"/>
                </a:lnTo>
                <a:lnTo>
                  <a:pt x="254502" y="68579"/>
                </a:lnTo>
                <a:lnTo>
                  <a:pt x="256109" y="67309"/>
                </a:lnTo>
                <a:lnTo>
                  <a:pt x="256645" y="66039"/>
                </a:lnTo>
                <a:lnTo>
                  <a:pt x="257449" y="64769"/>
                </a:lnTo>
                <a:lnTo>
                  <a:pt x="257985" y="64769"/>
                </a:lnTo>
                <a:lnTo>
                  <a:pt x="258253" y="63499"/>
                </a:lnTo>
                <a:lnTo>
                  <a:pt x="258253" y="62229"/>
                </a:lnTo>
                <a:lnTo>
                  <a:pt x="258118" y="62229"/>
                </a:lnTo>
                <a:lnTo>
                  <a:pt x="252225" y="39369"/>
                </a:lnTo>
                <a:lnTo>
                  <a:pt x="283970" y="39369"/>
                </a:lnTo>
                <a:lnTo>
                  <a:pt x="284238" y="38099"/>
                </a:lnTo>
                <a:lnTo>
                  <a:pt x="284373" y="38099"/>
                </a:lnTo>
                <a:lnTo>
                  <a:pt x="284373" y="36829"/>
                </a:lnTo>
                <a:lnTo>
                  <a:pt x="282765" y="36829"/>
                </a:lnTo>
                <a:lnTo>
                  <a:pt x="252761" y="29209"/>
                </a:lnTo>
                <a:lnTo>
                  <a:pt x="246331" y="1269"/>
                </a:lnTo>
                <a:close/>
              </a:path>
              <a:path w="284479" h="265429">
                <a:moveTo>
                  <a:pt x="151630" y="63499"/>
                </a:moveTo>
                <a:lnTo>
                  <a:pt x="150691" y="63499"/>
                </a:lnTo>
                <a:lnTo>
                  <a:pt x="150425" y="64769"/>
                </a:lnTo>
                <a:lnTo>
                  <a:pt x="152434" y="64769"/>
                </a:lnTo>
                <a:lnTo>
                  <a:pt x="151630" y="63499"/>
                </a:lnTo>
                <a:close/>
              </a:path>
              <a:path w="284479" h="265429">
                <a:moveTo>
                  <a:pt x="283436" y="39369"/>
                </a:moveTo>
                <a:lnTo>
                  <a:pt x="252225" y="39369"/>
                </a:lnTo>
                <a:lnTo>
                  <a:pt x="276068" y="44449"/>
                </a:lnTo>
                <a:lnTo>
                  <a:pt x="278479" y="44449"/>
                </a:lnTo>
                <a:lnTo>
                  <a:pt x="279952" y="43179"/>
                </a:lnTo>
                <a:lnTo>
                  <a:pt x="280623" y="41909"/>
                </a:lnTo>
                <a:lnTo>
                  <a:pt x="281425" y="41909"/>
                </a:lnTo>
                <a:lnTo>
                  <a:pt x="282364" y="40639"/>
                </a:lnTo>
                <a:lnTo>
                  <a:pt x="283033" y="40639"/>
                </a:lnTo>
                <a:lnTo>
                  <a:pt x="283436" y="39369"/>
                </a:lnTo>
                <a:close/>
              </a:path>
              <a:path w="284479" h="265429">
                <a:moveTo>
                  <a:pt x="221283" y="24129"/>
                </a:moveTo>
                <a:lnTo>
                  <a:pt x="219139" y="24129"/>
                </a:lnTo>
                <a:lnTo>
                  <a:pt x="217666" y="25399"/>
                </a:lnTo>
                <a:lnTo>
                  <a:pt x="216997" y="26669"/>
                </a:lnTo>
                <a:lnTo>
                  <a:pt x="216193" y="26669"/>
                </a:lnTo>
                <a:lnTo>
                  <a:pt x="215256" y="27939"/>
                </a:lnTo>
                <a:lnTo>
                  <a:pt x="214585" y="29209"/>
                </a:lnTo>
                <a:lnTo>
                  <a:pt x="243786" y="29209"/>
                </a:lnTo>
                <a:lnTo>
                  <a:pt x="221283" y="24129"/>
                </a:lnTo>
                <a:close/>
              </a:path>
              <a:path w="284479" h="265429">
                <a:moveTo>
                  <a:pt x="245930" y="0"/>
                </a:moveTo>
                <a:lnTo>
                  <a:pt x="243786" y="0"/>
                </a:lnTo>
                <a:lnTo>
                  <a:pt x="242714" y="1269"/>
                </a:lnTo>
                <a:lnTo>
                  <a:pt x="246063" y="1269"/>
                </a:lnTo>
                <a:lnTo>
                  <a:pt x="24593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876499" y="5644574"/>
            <a:ext cx="201295" cy="217170"/>
          </a:xfrm>
          <a:custGeom>
            <a:avLst/>
            <a:gdLst/>
            <a:ahLst/>
            <a:cxnLst/>
            <a:rect l="l" t="t" r="r" b="b"/>
            <a:pathLst>
              <a:path w="201295" h="217170">
                <a:moveTo>
                  <a:pt x="11693" y="153949"/>
                </a:moveTo>
                <a:lnTo>
                  <a:pt x="9952" y="154239"/>
                </a:lnTo>
                <a:lnTo>
                  <a:pt x="9148" y="154568"/>
                </a:lnTo>
                <a:lnTo>
                  <a:pt x="8344" y="155069"/>
                </a:lnTo>
                <a:lnTo>
                  <a:pt x="7407" y="155569"/>
                </a:lnTo>
                <a:lnTo>
                  <a:pt x="0" y="165544"/>
                </a:lnTo>
                <a:lnTo>
                  <a:pt x="441" y="166466"/>
                </a:lnTo>
                <a:lnTo>
                  <a:pt x="1513" y="167612"/>
                </a:lnTo>
                <a:lnTo>
                  <a:pt x="51178" y="216430"/>
                </a:lnTo>
                <a:lnTo>
                  <a:pt x="51476" y="216693"/>
                </a:lnTo>
                <a:lnTo>
                  <a:pt x="52011" y="216825"/>
                </a:lnTo>
                <a:lnTo>
                  <a:pt x="52413" y="216772"/>
                </a:lnTo>
                <a:lnTo>
                  <a:pt x="52814" y="216601"/>
                </a:lnTo>
                <a:lnTo>
                  <a:pt x="53082" y="216430"/>
                </a:lnTo>
                <a:lnTo>
                  <a:pt x="53618" y="216153"/>
                </a:lnTo>
                <a:lnTo>
                  <a:pt x="54690" y="215389"/>
                </a:lnTo>
                <a:lnTo>
                  <a:pt x="55895" y="214190"/>
                </a:lnTo>
                <a:lnTo>
                  <a:pt x="56699" y="213492"/>
                </a:lnTo>
                <a:lnTo>
                  <a:pt x="57235" y="212872"/>
                </a:lnTo>
                <a:lnTo>
                  <a:pt x="57637" y="212358"/>
                </a:lnTo>
                <a:lnTo>
                  <a:pt x="57905" y="211845"/>
                </a:lnTo>
                <a:lnTo>
                  <a:pt x="58307" y="211396"/>
                </a:lnTo>
                <a:lnTo>
                  <a:pt x="58708" y="210316"/>
                </a:lnTo>
                <a:lnTo>
                  <a:pt x="58708" y="210039"/>
                </a:lnTo>
                <a:lnTo>
                  <a:pt x="58441" y="209512"/>
                </a:lnTo>
                <a:lnTo>
                  <a:pt x="58173" y="209301"/>
                </a:lnTo>
                <a:lnTo>
                  <a:pt x="11290" y="163159"/>
                </a:lnTo>
                <a:lnTo>
                  <a:pt x="11425" y="163106"/>
                </a:lnTo>
                <a:lnTo>
                  <a:pt x="34776" y="163106"/>
                </a:lnTo>
                <a:lnTo>
                  <a:pt x="16381" y="155253"/>
                </a:lnTo>
                <a:lnTo>
                  <a:pt x="15309" y="154766"/>
                </a:lnTo>
                <a:lnTo>
                  <a:pt x="14372" y="154410"/>
                </a:lnTo>
                <a:lnTo>
                  <a:pt x="13568" y="154199"/>
                </a:lnTo>
                <a:lnTo>
                  <a:pt x="12630" y="153988"/>
                </a:lnTo>
                <a:lnTo>
                  <a:pt x="11693" y="153949"/>
                </a:lnTo>
                <a:close/>
              </a:path>
              <a:path w="201295" h="217170">
                <a:moveTo>
                  <a:pt x="34776" y="163106"/>
                </a:moveTo>
                <a:lnTo>
                  <a:pt x="11425" y="163106"/>
                </a:lnTo>
                <a:lnTo>
                  <a:pt x="76657" y="191606"/>
                </a:lnTo>
                <a:lnTo>
                  <a:pt x="76792" y="191711"/>
                </a:lnTo>
                <a:lnTo>
                  <a:pt x="77060" y="191764"/>
                </a:lnTo>
                <a:lnTo>
                  <a:pt x="77729" y="191738"/>
                </a:lnTo>
                <a:lnTo>
                  <a:pt x="78086" y="191606"/>
                </a:lnTo>
                <a:lnTo>
                  <a:pt x="78801" y="191290"/>
                </a:lnTo>
                <a:lnTo>
                  <a:pt x="79202" y="191026"/>
                </a:lnTo>
                <a:lnTo>
                  <a:pt x="79605" y="190671"/>
                </a:lnTo>
                <a:lnTo>
                  <a:pt x="80140" y="190315"/>
                </a:lnTo>
                <a:lnTo>
                  <a:pt x="80676" y="189854"/>
                </a:lnTo>
                <a:lnTo>
                  <a:pt x="81212" y="189274"/>
                </a:lnTo>
                <a:lnTo>
                  <a:pt x="81748" y="188734"/>
                </a:lnTo>
                <a:lnTo>
                  <a:pt x="82283" y="188233"/>
                </a:lnTo>
                <a:lnTo>
                  <a:pt x="82685" y="187798"/>
                </a:lnTo>
                <a:lnTo>
                  <a:pt x="82953" y="187363"/>
                </a:lnTo>
                <a:lnTo>
                  <a:pt x="83489" y="186573"/>
                </a:lnTo>
                <a:lnTo>
                  <a:pt x="83757" y="185861"/>
                </a:lnTo>
                <a:lnTo>
                  <a:pt x="83757" y="185005"/>
                </a:lnTo>
                <a:lnTo>
                  <a:pt x="80928" y="178470"/>
                </a:lnTo>
                <a:lnTo>
                  <a:pt x="70763" y="178470"/>
                </a:lnTo>
                <a:lnTo>
                  <a:pt x="34776" y="163106"/>
                </a:lnTo>
                <a:close/>
              </a:path>
              <a:path w="201295" h="217170">
                <a:moveTo>
                  <a:pt x="57235" y="108465"/>
                </a:moveTo>
                <a:lnTo>
                  <a:pt x="56163" y="108465"/>
                </a:lnTo>
                <a:lnTo>
                  <a:pt x="55627" y="108597"/>
                </a:lnTo>
                <a:lnTo>
                  <a:pt x="55226" y="108847"/>
                </a:lnTo>
                <a:lnTo>
                  <a:pt x="54690" y="109097"/>
                </a:lnTo>
                <a:lnTo>
                  <a:pt x="54154" y="109440"/>
                </a:lnTo>
                <a:lnTo>
                  <a:pt x="49199" y="114381"/>
                </a:lnTo>
                <a:lnTo>
                  <a:pt x="48395" y="115079"/>
                </a:lnTo>
                <a:lnTo>
                  <a:pt x="47859" y="115765"/>
                </a:lnTo>
                <a:lnTo>
                  <a:pt x="47591" y="116437"/>
                </a:lnTo>
                <a:lnTo>
                  <a:pt x="47190" y="117122"/>
                </a:lnTo>
                <a:lnTo>
                  <a:pt x="46922" y="117846"/>
                </a:lnTo>
                <a:lnTo>
                  <a:pt x="46817" y="120337"/>
                </a:lnTo>
                <a:lnTo>
                  <a:pt x="47055" y="121167"/>
                </a:lnTo>
                <a:lnTo>
                  <a:pt x="47190" y="122102"/>
                </a:lnTo>
                <a:lnTo>
                  <a:pt x="47610" y="123170"/>
                </a:lnTo>
                <a:lnTo>
                  <a:pt x="48183" y="124382"/>
                </a:lnTo>
                <a:lnTo>
                  <a:pt x="71031" y="178259"/>
                </a:lnTo>
                <a:lnTo>
                  <a:pt x="70763" y="178470"/>
                </a:lnTo>
                <a:lnTo>
                  <a:pt x="80928" y="178470"/>
                </a:lnTo>
                <a:lnTo>
                  <a:pt x="55494" y="119717"/>
                </a:lnTo>
                <a:lnTo>
                  <a:pt x="55627" y="119625"/>
                </a:lnTo>
                <a:lnTo>
                  <a:pt x="69832" y="119625"/>
                </a:lnTo>
                <a:lnTo>
                  <a:pt x="60048" y="110007"/>
                </a:lnTo>
                <a:lnTo>
                  <a:pt x="59512" y="109440"/>
                </a:lnTo>
                <a:lnTo>
                  <a:pt x="58976" y="109032"/>
                </a:lnTo>
                <a:lnTo>
                  <a:pt x="58441" y="108808"/>
                </a:lnTo>
                <a:lnTo>
                  <a:pt x="57771" y="108570"/>
                </a:lnTo>
                <a:lnTo>
                  <a:pt x="57235" y="108465"/>
                </a:lnTo>
                <a:close/>
              </a:path>
              <a:path w="201295" h="217170">
                <a:moveTo>
                  <a:pt x="69832" y="119625"/>
                </a:moveTo>
                <a:lnTo>
                  <a:pt x="55627" y="119625"/>
                </a:lnTo>
                <a:lnTo>
                  <a:pt x="102510" y="165768"/>
                </a:lnTo>
                <a:lnTo>
                  <a:pt x="102644" y="165992"/>
                </a:lnTo>
                <a:lnTo>
                  <a:pt x="102912" y="166124"/>
                </a:lnTo>
                <a:lnTo>
                  <a:pt x="103581" y="166229"/>
                </a:lnTo>
                <a:lnTo>
                  <a:pt x="103942" y="166124"/>
                </a:lnTo>
                <a:lnTo>
                  <a:pt x="104251" y="165992"/>
                </a:lnTo>
                <a:lnTo>
                  <a:pt x="104621" y="165768"/>
                </a:lnTo>
                <a:lnTo>
                  <a:pt x="105055" y="165544"/>
                </a:lnTo>
                <a:lnTo>
                  <a:pt x="106126" y="164753"/>
                </a:lnTo>
                <a:lnTo>
                  <a:pt x="107332" y="163581"/>
                </a:lnTo>
                <a:lnTo>
                  <a:pt x="108136" y="162882"/>
                </a:lnTo>
                <a:lnTo>
                  <a:pt x="108672" y="162276"/>
                </a:lnTo>
                <a:lnTo>
                  <a:pt x="108940" y="161775"/>
                </a:lnTo>
                <a:lnTo>
                  <a:pt x="109341" y="161275"/>
                </a:lnTo>
                <a:lnTo>
                  <a:pt x="109609" y="160827"/>
                </a:lnTo>
                <a:lnTo>
                  <a:pt x="109877" y="160458"/>
                </a:lnTo>
                <a:lnTo>
                  <a:pt x="110145" y="159746"/>
                </a:lnTo>
                <a:lnTo>
                  <a:pt x="110011" y="159470"/>
                </a:lnTo>
                <a:lnTo>
                  <a:pt x="110011" y="159193"/>
                </a:lnTo>
                <a:lnTo>
                  <a:pt x="109877" y="158956"/>
                </a:lnTo>
                <a:lnTo>
                  <a:pt x="109609" y="158732"/>
                </a:lnTo>
                <a:lnTo>
                  <a:pt x="69832" y="119625"/>
                </a:lnTo>
                <a:close/>
              </a:path>
              <a:path w="201295" h="217170">
                <a:moveTo>
                  <a:pt x="76389" y="88227"/>
                </a:moveTo>
                <a:lnTo>
                  <a:pt x="76121" y="88279"/>
                </a:lnTo>
                <a:lnTo>
                  <a:pt x="75318" y="88609"/>
                </a:lnTo>
                <a:lnTo>
                  <a:pt x="73844" y="89676"/>
                </a:lnTo>
                <a:lnTo>
                  <a:pt x="72639" y="90862"/>
                </a:lnTo>
                <a:lnTo>
                  <a:pt x="71835" y="91573"/>
                </a:lnTo>
                <a:lnTo>
                  <a:pt x="71299" y="92179"/>
                </a:lnTo>
                <a:lnTo>
                  <a:pt x="70497" y="93181"/>
                </a:lnTo>
                <a:lnTo>
                  <a:pt x="70229" y="93629"/>
                </a:lnTo>
                <a:lnTo>
                  <a:pt x="69826" y="94683"/>
                </a:lnTo>
                <a:lnTo>
                  <a:pt x="69961" y="94960"/>
                </a:lnTo>
                <a:lnTo>
                  <a:pt x="69961" y="95223"/>
                </a:lnTo>
                <a:lnTo>
                  <a:pt x="70094" y="95473"/>
                </a:lnTo>
                <a:lnTo>
                  <a:pt x="70362" y="95697"/>
                </a:lnTo>
                <a:lnTo>
                  <a:pt x="103715" y="128572"/>
                </a:lnTo>
                <a:lnTo>
                  <a:pt x="107064" y="131813"/>
                </a:lnTo>
                <a:lnTo>
                  <a:pt x="110413" y="134224"/>
                </a:lnTo>
                <a:lnTo>
                  <a:pt x="117377" y="137334"/>
                </a:lnTo>
                <a:lnTo>
                  <a:pt x="120861" y="138072"/>
                </a:lnTo>
                <a:lnTo>
                  <a:pt x="127692" y="137940"/>
                </a:lnTo>
                <a:lnTo>
                  <a:pt x="144338" y="128282"/>
                </a:lnTo>
                <a:lnTo>
                  <a:pt x="127156" y="128282"/>
                </a:lnTo>
                <a:lnTo>
                  <a:pt x="122334" y="128124"/>
                </a:lnTo>
                <a:lnTo>
                  <a:pt x="119922" y="127465"/>
                </a:lnTo>
                <a:lnTo>
                  <a:pt x="117512" y="126240"/>
                </a:lnTo>
                <a:lnTo>
                  <a:pt x="114967" y="125001"/>
                </a:lnTo>
                <a:lnTo>
                  <a:pt x="112516" y="123130"/>
                </a:lnTo>
                <a:lnTo>
                  <a:pt x="108913" y="119625"/>
                </a:lnTo>
                <a:lnTo>
                  <a:pt x="77461" y="88688"/>
                </a:lnTo>
                <a:lnTo>
                  <a:pt x="77193" y="88477"/>
                </a:lnTo>
                <a:lnTo>
                  <a:pt x="76925" y="88332"/>
                </a:lnTo>
                <a:lnTo>
                  <a:pt x="76389" y="88227"/>
                </a:lnTo>
                <a:close/>
              </a:path>
              <a:path w="201295" h="217170">
                <a:moveTo>
                  <a:pt x="109877" y="55339"/>
                </a:moveTo>
                <a:lnTo>
                  <a:pt x="109453" y="55418"/>
                </a:lnTo>
                <a:lnTo>
                  <a:pt x="109207" y="55563"/>
                </a:lnTo>
                <a:lnTo>
                  <a:pt x="108745" y="55774"/>
                </a:lnTo>
                <a:lnTo>
                  <a:pt x="103313" y="61769"/>
                </a:lnTo>
                <a:lnTo>
                  <a:pt x="103447" y="62033"/>
                </a:lnTo>
                <a:lnTo>
                  <a:pt x="103447" y="62309"/>
                </a:lnTo>
                <a:lnTo>
                  <a:pt x="103581" y="62560"/>
                </a:lnTo>
                <a:lnTo>
                  <a:pt x="103849" y="62770"/>
                </a:lnTo>
                <a:lnTo>
                  <a:pt x="139078" y="97529"/>
                </a:lnTo>
                <a:lnTo>
                  <a:pt x="140952" y="99900"/>
                </a:lnTo>
                <a:lnTo>
                  <a:pt x="143364" y="104631"/>
                </a:lnTo>
                <a:lnTo>
                  <a:pt x="144033" y="106963"/>
                </a:lnTo>
                <a:lnTo>
                  <a:pt x="144076" y="112088"/>
                </a:lnTo>
                <a:lnTo>
                  <a:pt x="143765" y="113828"/>
                </a:lnTo>
                <a:lnTo>
                  <a:pt x="142695" y="116015"/>
                </a:lnTo>
                <a:lnTo>
                  <a:pt x="141756" y="118215"/>
                </a:lnTo>
                <a:lnTo>
                  <a:pt x="127156" y="128282"/>
                </a:lnTo>
                <a:lnTo>
                  <a:pt x="144338" y="128282"/>
                </a:lnTo>
                <a:lnTo>
                  <a:pt x="153544" y="112088"/>
                </a:lnTo>
                <a:lnTo>
                  <a:pt x="153438" y="104631"/>
                </a:lnTo>
                <a:lnTo>
                  <a:pt x="152741" y="101613"/>
                </a:lnTo>
                <a:lnTo>
                  <a:pt x="149526" y="94683"/>
                </a:lnTo>
                <a:lnTo>
                  <a:pt x="147114" y="91336"/>
                </a:lnTo>
                <a:lnTo>
                  <a:pt x="143765" y="88121"/>
                </a:lnTo>
                <a:lnTo>
                  <a:pt x="110901" y="55734"/>
                </a:lnTo>
                <a:lnTo>
                  <a:pt x="110681" y="55550"/>
                </a:lnTo>
                <a:lnTo>
                  <a:pt x="110413" y="55418"/>
                </a:lnTo>
                <a:lnTo>
                  <a:pt x="109877" y="55339"/>
                </a:lnTo>
                <a:close/>
              </a:path>
              <a:path w="201295" h="217170">
                <a:moveTo>
                  <a:pt x="127960" y="37525"/>
                </a:moveTo>
                <a:lnTo>
                  <a:pt x="127558" y="37565"/>
                </a:lnTo>
                <a:lnTo>
                  <a:pt x="127156" y="37696"/>
                </a:lnTo>
                <a:lnTo>
                  <a:pt x="126352" y="38118"/>
                </a:lnTo>
                <a:lnTo>
                  <a:pt x="125951" y="38526"/>
                </a:lnTo>
                <a:lnTo>
                  <a:pt x="125415" y="38935"/>
                </a:lnTo>
                <a:lnTo>
                  <a:pt x="121397" y="43177"/>
                </a:lnTo>
                <a:lnTo>
                  <a:pt x="120994" y="43691"/>
                </a:lnTo>
                <a:lnTo>
                  <a:pt x="120994" y="44561"/>
                </a:lnTo>
                <a:lnTo>
                  <a:pt x="121129" y="44956"/>
                </a:lnTo>
                <a:lnTo>
                  <a:pt x="190915" y="78318"/>
                </a:lnTo>
                <a:lnTo>
                  <a:pt x="191854" y="78608"/>
                </a:lnTo>
                <a:lnTo>
                  <a:pt x="191987" y="78661"/>
                </a:lnTo>
                <a:lnTo>
                  <a:pt x="192255" y="78661"/>
                </a:lnTo>
                <a:lnTo>
                  <a:pt x="192925" y="78555"/>
                </a:lnTo>
                <a:lnTo>
                  <a:pt x="193193" y="78437"/>
                </a:lnTo>
                <a:lnTo>
                  <a:pt x="193729" y="78107"/>
                </a:lnTo>
                <a:lnTo>
                  <a:pt x="194131" y="77896"/>
                </a:lnTo>
                <a:lnTo>
                  <a:pt x="194934" y="77343"/>
                </a:lnTo>
                <a:lnTo>
                  <a:pt x="195336" y="77000"/>
                </a:lnTo>
                <a:lnTo>
                  <a:pt x="195738" y="76553"/>
                </a:lnTo>
                <a:lnTo>
                  <a:pt x="196274" y="76118"/>
                </a:lnTo>
                <a:lnTo>
                  <a:pt x="197479" y="74998"/>
                </a:lnTo>
                <a:lnTo>
                  <a:pt x="198283" y="74207"/>
                </a:lnTo>
                <a:lnTo>
                  <a:pt x="198819" y="73522"/>
                </a:lnTo>
                <a:lnTo>
                  <a:pt x="199891" y="72376"/>
                </a:lnTo>
                <a:lnTo>
                  <a:pt x="200292" y="71875"/>
                </a:lnTo>
                <a:lnTo>
                  <a:pt x="200427" y="71414"/>
                </a:lnTo>
                <a:lnTo>
                  <a:pt x="200694" y="70966"/>
                </a:lnTo>
                <a:lnTo>
                  <a:pt x="200828" y="70557"/>
                </a:lnTo>
                <a:lnTo>
                  <a:pt x="200828" y="69793"/>
                </a:lnTo>
                <a:lnTo>
                  <a:pt x="200560" y="68989"/>
                </a:lnTo>
                <a:lnTo>
                  <a:pt x="199738" y="67303"/>
                </a:lnTo>
                <a:lnTo>
                  <a:pt x="189978" y="67303"/>
                </a:lnTo>
                <a:lnTo>
                  <a:pt x="129299" y="37907"/>
                </a:lnTo>
                <a:lnTo>
                  <a:pt x="128898" y="37749"/>
                </a:lnTo>
                <a:lnTo>
                  <a:pt x="128496" y="37630"/>
                </a:lnTo>
                <a:lnTo>
                  <a:pt x="127960" y="37525"/>
                </a:lnTo>
                <a:close/>
              </a:path>
              <a:path w="201295" h="217170">
                <a:moveTo>
                  <a:pt x="165599" y="0"/>
                </a:moveTo>
                <a:lnTo>
                  <a:pt x="165030" y="237"/>
                </a:lnTo>
                <a:lnTo>
                  <a:pt x="163189" y="1686"/>
                </a:lnTo>
                <a:lnTo>
                  <a:pt x="162385" y="2529"/>
                </a:lnTo>
                <a:lnTo>
                  <a:pt x="160376" y="4558"/>
                </a:lnTo>
                <a:lnTo>
                  <a:pt x="159973" y="5085"/>
                </a:lnTo>
                <a:lnTo>
                  <a:pt x="159705" y="5547"/>
                </a:lnTo>
                <a:lnTo>
                  <a:pt x="159437" y="5929"/>
                </a:lnTo>
                <a:lnTo>
                  <a:pt x="159304" y="6311"/>
                </a:lnTo>
                <a:lnTo>
                  <a:pt x="159304" y="6653"/>
                </a:lnTo>
                <a:lnTo>
                  <a:pt x="159437" y="6956"/>
                </a:lnTo>
                <a:lnTo>
                  <a:pt x="159437" y="7260"/>
                </a:lnTo>
                <a:lnTo>
                  <a:pt x="159572" y="7589"/>
                </a:lnTo>
                <a:lnTo>
                  <a:pt x="159840" y="7971"/>
                </a:lnTo>
                <a:lnTo>
                  <a:pt x="190112" y="67263"/>
                </a:lnTo>
                <a:lnTo>
                  <a:pt x="189978" y="67303"/>
                </a:lnTo>
                <a:lnTo>
                  <a:pt x="199738" y="67303"/>
                </a:lnTo>
                <a:lnTo>
                  <a:pt x="167743" y="1673"/>
                </a:lnTo>
                <a:lnTo>
                  <a:pt x="167340" y="1054"/>
                </a:lnTo>
                <a:lnTo>
                  <a:pt x="166939" y="645"/>
                </a:lnTo>
                <a:lnTo>
                  <a:pt x="166671" y="237"/>
                </a:lnTo>
                <a:lnTo>
                  <a:pt x="166270" y="26"/>
                </a:lnTo>
                <a:lnTo>
                  <a:pt x="165599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457607" y="5641359"/>
            <a:ext cx="152400" cy="168275"/>
          </a:xfrm>
          <a:custGeom>
            <a:avLst/>
            <a:gdLst/>
            <a:ahLst/>
            <a:cxnLst/>
            <a:rect l="l" t="t" r="r" b="b"/>
            <a:pathLst>
              <a:path w="152400" h="168275">
                <a:moveTo>
                  <a:pt x="6563" y="109071"/>
                </a:moveTo>
                <a:lnTo>
                  <a:pt x="2679" y="111746"/>
                </a:lnTo>
                <a:lnTo>
                  <a:pt x="2009" y="112391"/>
                </a:lnTo>
                <a:lnTo>
                  <a:pt x="1473" y="112984"/>
                </a:lnTo>
                <a:lnTo>
                  <a:pt x="669" y="114052"/>
                </a:lnTo>
                <a:lnTo>
                  <a:pt x="401" y="114500"/>
                </a:lnTo>
                <a:lnTo>
                  <a:pt x="134" y="114868"/>
                </a:lnTo>
                <a:lnTo>
                  <a:pt x="81" y="115013"/>
                </a:lnTo>
                <a:lnTo>
                  <a:pt x="0" y="116107"/>
                </a:lnTo>
                <a:lnTo>
                  <a:pt x="267" y="116357"/>
                </a:lnTo>
                <a:lnTo>
                  <a:pt x="401" y="116568"/>
                </a:lnTo>
                <a:lnTo>
                  <a:pt x="52155" y="167467"/>
                </a:lnTo>
                <a:lnTo>
                  <a:pt x="52373" y="167639"/>
                </a:lnTo>
                <a:lnTo>
                  <a:pt x="52641" y="167784"/>
                </a:lnTo>
                <a:lnTo>
                  <a:pt x="53177" y="167889"/>
                </a:lnTo>
                <a:lnTo>
                  <a:pt x="53534" y="167784"/>
                </a:lnTo>
                <a:lnTo>
                  <a:pt x="59472" y="162078"/>
                </a:lnTo>
                <a:lnTo>
                  <a:pt x="59740" y="161709"/>
                </a:lnTo>
                <a:lnTo>
                  <a:pt x="59740" y="161117"/>
                </a:lnTo>
                <a:lnTo>
                  <a:pt x="59339" y="160379"/>
                </a:lnTo>
                <a:lnTo>
                  <a:pt x="35363" y="136886"/>
                </a:lnTo>
                <a:lnTo>
                  <a:pt x="41601" y="130746"/>
                </a:lnTo>
                <a:lnTo>
                  <a:pt x="29201" y="130746"/>
                </a:lnTo>
                <a:lnTo>
                  <a:pt x="7572" y="109479"/>
                </a:lnTo>
                <a:lnTo>
                  <a:pt x="7367" y="109308"/>
                </a:lnTo>
                <a:lnTo>
                  <a:pt x="7099" y="109176"/>
                </a:lnTo>
                <a:lnTo>
                  <a:pt x="6563" y="109071"/>
                </a:lnTo>
                <a:close/>
              </a:path>
              <a:path w="152400" h="168275">
                <a:moveTo>
                  <a:pt x="74167" y="112760"/>
                </a:moveTo>
                <a:lnTo>
                  <a:pt x="59875" y="112760"/>
                </a:lnTo>
                <a:lnTo>
                  <a:pt x="83851" y="136266"/>
                </a:lnTo>
                <a:lnTo>
                  <a:pt x="83986" y="136490"/>
                </a:lnTo>
                <a:lnTo>
                  <a:pt x="84254" y="136622"/>
                </a:lnTo>
                <a:lnTo>
                  <a:pt x="84789" y="136728"/>
                </a:lnTo>
                <a:lnTo>
                  <a:pt x="85191" y="136675"/>
                </a:lnTo>
                <a:lnTo>
                  <a:pt x="85459" y="136490"/>
                </a:lnTo>
                <a:lnTo>
                  <a:pt x="85962" y="136266"/>
                </a:lnTo>
                <a:lnTo>
                  <a:pt x="86396" y="136042"/>
                </a:lnTo>
                <a:lnTo>
                  <a:pt x="86798" y="135673"/>
                </a:lnTo>
                <a:lnTo>
                  <a:pt x="87334" y="135305"/>
                </a:lnTo>
                <a:lnTo>
                  <a:pt x="88004" y="134764"/>
                </a:lnTo>
                <a:lnTo>
                  <a:pt x="88673" y="134053"/>
                </a:lnTo>
                <a:lnTo>
                  <a:pt x="89343" y="133407"/>
                </a:lnTo>
                <a:lnTo>
                  <a:pt x="89879" y="132814"/>
                </a:lnTo>
                <a:lnTo>
                  <a:pt x="90683" y="131773"/>
                </a:lnTo>
                <a:lnTo>
                  <a:pt x="90951" y="131339"/>
                </a:lnTo>
                <a:lnTo>
                  <a:pt x="91085" y="130970"/>
                </a:lnTo>
                <a:lnTo>
                  <a:pt x="91247" y="130746"/>
                </a:lnTo>
                <a:lnTo>
                  <a:pt x="91352" y="130008"/>
                </a:lnTo>
                <a:lnTo>
                  <a:pt x="91219" y="129731"/>
                </a:lnTo>
                <a:lnTo>
                  <a:pt x="90951" y="129270"/>
                </a:lnTo>
                <a:lnTo>
                  <a:pt x="74167" y="112760"/>
                </a:lnTo>
                <a:close/>
              </a:path>
              <a:path w="152400" h="168275">
                <a:moveTo>
                  <a:pt x="38174" y="77949"/>
                </a:moveTo>
                <a:lnTo>
                  <a:pt x="31611" y="84405"/>
                </a:lnTo>
                <a:lnTo>
                  <a:pt x="31746" y="84682"/>
                </a:lnTo>
                <a:lnTo>
                  <a:pt x="31746" y="84946"/>
                </a:lnTo>
                <a:lnTo>
                  <a:pt x="31879" y="85196"/>
                </a:lnTo>
                <a:lnTo>
                  <a:pt x="32147" y="85420"/>
                </a:lnTo>
                <a:lnTo>
                  <a:pt x="53713" y="106620"/>
                </a:lnTo>
                <a:lnTo>
                  <a:pt x="29201" y="130746"/>
                </a:lnTo>
                <a:lnTo>
                  <a:pt x="41601" y="130746"/>
                </a:lnTo>
                <a:lnTo>
                  <a:pt x="59875" y="112760"/>
                </a:lnTo>
                <a:lnTo>
                  <a:pt x="74167" y="112760"/>
                </a:lnTo>
                <a:lnTo>
                  <a:pt x="39129" y="78318"/>
                </a:lnTo>
                <a:lnTo>
                  <a:pt x="38978" y="78199"/>
                </a:lnTo>
                <a:lnTo>
                  <a:pt x="38710" y="78054"/>
                </a:lnTo>
                <a:lnTo>
                  <a:pt x="38174" y="77949"/>
                </a:lnTo>
                <a:close/>
              </a:path>
              <a:path w="152400" h="168275">
                <a:moveTo>
                  <a:pt x="56258" y="60148"/>
                </a:moveTo>
                <a:lnTo>
                  <a:pt x="52373" y="62823"/>
                </a:lnTo>
                <a:lnTo>
                  <a:pt x="51704" y="63455"/>
                </a:lnTo>
                <a:lnTo>
                  <a:pt x="51302" y="64035"/>
                </a:lnTo>
                <a:lnTo>
                  <a:pt x="50499" y="65063"/>
                </a:lnTo>
                <a:lnTo>
                  <a:pt x="50231" y="65511"/>
                </a:lnTo>
                <a:lnTo>
                  <a:pt x="49963" y="65893"/>
                </a:lnTo>
                <a:lnTo>
                  <a:pt x="49695" y="66618"/>
                </a:lnTo>
                <a:lnTo>
                  <a:pt x="49695" y="66908"/>
                </a:lnTo>
                <a:lnTo>
                  <a:pt x="101863" y="118558"/>
                </a:lnTo>
                <a:lnTo>
                  <a:pt x="102872" y="118979"/>
                </a:lnTo>
                <a:lnTo>
                  <a:pt x="103140" y="118914"/>
                </a:lnTo>
                <a:lnTo>
                  <a:pt x="103944" y="118558"/>
                </a:lnTo>
                <a:lnTo>
                  <a:pt x="104345" y="118268"/>
                </a:lnTo>
                <a:lnTo>
                  <a:pt x="105016" y="117873"/>
                </a:lnTo>
                <a:lnTo>
                  <a:pt x="109034" y="113538"/>
                </a:lnTo>
                <a:lnTo>
                  <a:pt x="109302" y="113169"/>
                </a:lnTo>
                <a:lnTo>
                  <a:pt x="109369" y="112984"/>
                </a:lnTo>
                <a:lnTo>
                  <a:pt x="109435" y="112207"/>
                </a:lnTo>
                <a:lnTo>
                  <a:pt x="109034" y="111469"/>
                </a:lnTo>
                <a:lnTo>
                  <a:pt x="57267" y="60570"/>
                </a:lnTo>
                <a:lnTo>
                  <a:pt x="57062" y="60399"/>
                </a:lnTo>
                <a:lnTo>
                  <a:pt x="56794" y="60267"/>
                </a:lnTo>
                <a:lnTo>
                  <a:pt x="56258" y="60148"/>
                </a:lnTo>
                <a:close/>
              </a:path>
              <a:path w="152400" h="168275">
                <a:moveTo>
                  <a:pt x="79164" y="37525"/>
                </a:moveTo>
                <a:lnTo>
                  <a:pt x="78896" y="37564"/>
                </a:lnTo>
                <a:lnTo>
                  <a:pt x="78493" y="37696"/>
                </a:lnTo>
                <a:lnTo>
                  <a:pt x="77689" y="38118"/>
                </a:lnTo>
                <a:lnTo>
                  <a:pt x="77288" y="38526"/>
                </a:lnTo>
                <a:lnTo>
                  <a:pt x="76752" y="38935"/>
                </a:lnTo>
                <a:lnTo>
                  <a:pt x="72332" y="43691"/>
                </a:lnTo>
                <a:lnTo>
                  <a:pt x="72332" y="44561"/>
                </a:lnTo>
                <a:lnTo>
                  <a:pt x="142253" y="78318"/>
                </a:lnTo>
                <a:lnTo>
                  <a:pt x="143191" y="78608"/>
                </a:lnTo>
                <a:lnTo>
                  <a:pt x="143324" y="78661"/>
                </a:lnTo>
                <a:lnTo>
                  <a:pt x="143592" y="78661"/>
                </a:lnTo>
                <a:lnTo>
                  <a:pt x="144128" y="78555"/>
                </a:lnTo>
                <a:lnTo>
                  <a:pt x="147076" y="76552"/>
                </a:lnTo>
                <a:lnTo>
                  <a:pt x="147610" y="76118"/>
                </a:lnTo>
                <a:lnTo>
                  <a:pt x="148146" y="75604"/>
                </a:lnTo>
                <a:lnTo>
                  <a:pt x="148682" y="74998"/>
                </a:lnTo>
                <a:lnTo>
                  <a:pt x="150155" y="73522"/>
                </a:lnTo>
                <a:lnTo>
                  <a:pt x="151227" y="72376"/>
                </a:lnTo>
                <a:lnTo>
                  <a:pt x="151630" y="71875"/>
                </a:lnTo>
                <a:lnTo>
                  <a:pt x="151763" y="71414"/>
                </a:lnTo>
                <a:lnTo>
                  <a:pt x="152031" y="70966"/>
                </a:lnTo>
                <a:lnTo>
                  <a:pt x="152165" y="70557"/>
                </a:lnTo>
                <a:lnTo>
                  <a:pt x="152165" y="69793"/>
                </a:lnTo>
                <a:lnTo>
                  <a:pt x="151898" y="68989"/>
                </a:lnTo>
                <a:lnTo>
                  <a:pt x="151072" y="67303"/>
                </a:lnTo>
                <a:lnTo>
                  <a:pt x="141315" y="67303"/>
                </a:lnTo>
                <a:lnTo>
                  <a:pt x="80502" y="37907"/>
                </a:lnTo>
                <a:lnTo>
                  <a:pt x="80234" y="37749"/>
                </a:lnTo>
                <a:lnTo>
                  <a:pt x="79833" y="37630"/>
                </a:lnTo>
                <a:lnTo>
                  <a:pt x="79164" y="37525"/>
                </a:lnTo>
                <a:close/>
              </a:path>
              <a:path w="152400" h="168275">
                <a:moveTo>
                  <a:pt x="116937" y="0"/>
                </a:moveTo>
                <a:lnTo>
                  <a:pt x="116368" y="237"/>
                </a:lnTo>
                <a:lnTo>
                  <a:pt x="114526" y="1686"/>
                </a:lnTo>
                <a:lnTo>
                  <a:pt x="113722" y="2529"/>
                </a:lnTo>
                <a:lnTo>
                  <a:pt x="111713" y="4558"/>
                </a:lnTo>
                <a:lnTo>
                  <a:pt x="111311" y="5085"/>
                </a:lnTo>
                <a:lnTo>
                  <a:pt x="111043" y="5547"/>
                </a:lnTo>
                <a:lnTo>
                  <a:pt x="110775" y="5929"/>
                </a:lnTo>
                <a:lnTo>
                  <a:pt x="110641" y="6311"/>
                </a:lnTo>
                <a:lnTo>
                  <a:pt x="110641" y="6956"/>
                </a:lnTo>
                <a:lnTo>
                  <a:pt x="110909" y="7589"/>
                </a:lnTo>
                <a:lnTo>
                  <a:pt x="111177" y="7971"/>
                </a:lnTo>
                <a:lnTo>
                  <a:pt x="141275" y="67184"/>
                </a:lnTo>
                <a:lnTo>
                  <a:pt x="151072" y="67303"/>
                </a:lnTo>
                <a:lnTo>
                  <a:pt x="118946" y="1673"/>
                </a:lnTo>
                <a:lnTo>
                  <a:pt x="118678" y="1053"/>
                </a:lnTo>
                <a:lnTo>
                  <a:pt x="118276" y="645"/>
                </a:lnTo>
                <a:lnTo>
                  <a:pt x="118008" y="237"/>
                </a:lnTo>
                <a:lnTo>
                  <a:pt x="117607" y="26"/>
                </a:lnTo>
                <a:lnTo>
                  <a:pt x="116937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927633" y="5648955"/>
            <a:ext cx="224154" cy="218440"/>
          </a:xfrm>
          <a:custGeom>
            <a:avLst/>
            <a:gdLst/>
            <a:ahLst/>
            <a:cxnLst/>
            <a:rect l="l" t="t" r="r" b="b"/>
            <a:pathLst>
              <a:path w="224154" h="218439">
                <a:moveTo>
                  <a:pt x="35093" y="143509"/>
                </a:moveTo>
                <a:lnTo>
                  <a:pt x="27593" y="143509"/>
                </a:lnTo>
                <a:lnTo>
                  <a:pt x="25048" y="144779"/>
                </a:lnTo>
                <a:lnTo>
                  <a:pt x="19690" y="147319"/>
                </a:lnTo>
                <a:lnTo>
                  <a:pt x="16743" y="149859"/>
                </a:lnTo>
                <a:lnTo>
                  <a:pt x="1339" y="165099"/>
                </a:lnTo>
                <a:lnTo>
                  <a:pt x="669" y="165099"/>
                </a:lnTo>
                <a:lnTo>
                  <a:pt x="267" y="166369"/>
                </a:lnTo>
                <a:lnTo>
                  <a:pt x="0" y="167639"/>
                </a:lnTo>
                <a:lnTo>
                  <a:pt x="401" y="168909"/>
                </a:lnTo>
                <a:lnTo>
                  <a:pt x="50632" y="218439"/>
                </a:lnTo>
                <a:lnTo>
                  <a:pt x="54517" y="218439"/>
                </a:lnTo>
                <a:lnTo>
                  <a:pt x="55186" y="217169"/>
                </a:lnTo>
                <a:lnTo>
                  <a:pt x="65902" y="207009"/>
                </a:lnTo>
                <a:lnTo>
                  <a:pt x="53713" y="207009"/>
                </a:lnTo>
                <a:lnTo>
                  <a:pt x="34692" y="189229"/>
                </a:lnTo>
                <a:lnTo>
                  <a:pt x="40815" y="182879"/>
                </a:lnTo>
                <a:lnTo>
                  <a:pt x="29066" y="182879"/>
                </a:lnTo>
                <a:lnTo>
                  <a:pt x="11518" y="166369"/>
                </a:lnTo>
                <a:lnTo>
                  <a:pt x="19020" y="158749"/>
                </a:lnTo>
                <a:lnTo>
                  <a:pt x="21029" y="157479"/>
                </a:lnTo>
                <a:lnTo>
                  <a:pt x="22904" y="154939"/>
                </a:lnTo>
                <a:lnTo>
                  <a:pt x="26120" y="153669"/>
                </a:lnTo>
                <a:lnTo>
                  <a:pt x="47551" y="153669"/>
                </a:lnTo>
                <a:lnTo>
                  <a:pt x="46614" y="152399"/>
                </a:lnTo>
                <a:lnTo>
                  <a:pt x="45542" y="151129"/>
                </a:lnTo>
                <a:lnTo>
                  <a:pt x="44336" y="149859"/>
                </a:lnTo>
                <a:lnTo>
                  <a:pt x="42193" y="147319"/>
                </a:lnTo>
                <a:lnTo>
                  <a:pt x="39916" y="146049"/>
                </a:lnTo>
                <a:lnTo>
                  <a:pt x="35093" y="143509"/>
                </a:lnTo>
                <a:close/>
              </a:path>
              <a:path w="224154" h="218439">
                <a:moveTo>
                  <a:pt x="75547" y="173989"/>
                </a:moveTo>
                <a:lnTo>
                  <a:pt x="58668" y="173989"/>
                </a:lnTo>
                <a:lnTo>
                  <a:pt x="62152" y="175259"/>
                </a:lnTo>
                <a:lnTo>
                  <a:pt x="66973" y="179069"/>
                </a:lnTo>
                <a:lnTo>
                  <a:pt x="67911" y="181609"/>
                </a:lnTo>
                <a:lnTo>
                  <a:pt x="69250" y="184149"/>
                </a:lnTo>
                <a:lnTo>
                  <a:pt x="69385" y="186689"/>
                </a:lnTo>
                <a:lnTo>
                  <a:pt x="69117" y="189229"/>
                </a:lnTo>
                <a:lnTo>
                  <a:pt x="66973" y="194309"/>
                </a:lnTo>
                <a:lnTo>
                  <a:pt x="65768" y="195579"/>
                </a:lnTo>
                <a:lnTo>
                  <a:pt x="64027" y="196849"/>
                </a:lnTo>
                <a:lnTo>
                  <a:pt x="53713" y="207009"/>
                </a:lnTo>
                <a:lnTo>
                  <a:pt x="65902" y="207009"/>
                </a:lnTo>
                <a:lnTo>
                  <a:pt x="71260" y="201929"/>
                </a:lnTo>
                <a:lnTo>
                  <a:pt x="72867" y="200659"/>
                </a:lnTo>
                <a:lnTo>
                  <a:pt x="74207" y="198119"/>
                </a:lnTo>
                <a:lnTo>
                  <a:pt x="75412" y="196849"/>
                </a:lnTo>
                <a:lnTo>
                  <a:pt x="78626" y="189229"/>
                </a:lnTo>
                <a:lnTo>
                  <a:pt x="78761" y="186689"/>
                </a:lnTo>
                <a:lnTo>
                  <a:pt x="79029" y="185419"/>
                </a:lnTo>
                <a:lnTo>
                  <a:pt x="79029" y="182879"/>
                </a:lnTo>
                <a:lnTo>
                  <a:pt x="78225" y="179069"/>
                </a:lnTo>
                <a:lnTo>
                  <a:pt x="77556" y="177799"/>
                </a:lnTo>
                <a:lnTo>
                  <a:pt x="76617" y="175259"/>
                </a:lnTo>
                <a:lnTo>
                  <a:pt x="75547" y="173989"/>
                </a:lnTo>
                <a:close/>
              </a:path>
              <a:path w="224154" h="218439">
                <a:moveTo>
                  <a:pt x="47551" y="153669"/>
                </a:moveTo>
                <a:lnTo>
                  <a:pt x="33620" y="153669"/>
                </a:lnTo>
                <a:lnTo>
                  <a:pt x="37638" y="157479"/>
                </a:lnTo>
                <a:lnTo>
                  <a:pt x="38845" y="158749"/>
                </a:lnTo>
                <a:lnTo>
                  <a:pt x="41791" y="165099"/>
                </a:lnTo>
                <a:lnTo>
                  <a:pt x="41791" y="167639"/>
                </a:lnTo>
                <a:lnTo>
                  <a:pt x="41523" y="168909"/>
                </a:lnTo>
                <a:lnTo>
                  <a:pt x="40184" y="171449"/>
                </a:lnTo>
                <a:lnTo>
                  <a:pt x="38978" y="173989"/>
                </a:lnTo>
                <a:lnTo>
                  <a:pt x="37103" y="175259"/>
                </a:lnTo>
                <a:lnTo>
                  <a:pt x="29066" y="182879"/>
                </a:lnTo>
                <a:lnTo>
                  <a:pt x="40815" y="182879"/>
                </a:lnTo>
                <a:lnTo>
                  <a:pt x="43265" y="180339"/>
                </a:lnTo>
                <a:lnTo>
                  <a:pt x="45542" y="177799"/>
                </a:lnTo>
                <a:lnTo>
                  <a:pt x="49560" y="175259"/>
                </a:lnTo>
                <a:lnTo>
                  <a:pt x="51436" y="173989"/>
                </a:lnTo>
                <a:lnTo>
                  <a:pt x="75547" y="173989"/>
                </a:lnTo>
                <a:lnTo>
                  <a:pt x="74207" y="171449"/>
                </a:lnTo>
                <a:lnTo>
                  <a:pt x="72599" y="170179"/>
                </a:lnTo>
                <a:lnTo>
                  <a:pt x="70725" y="168909"/>
                </a:lnTo>
                <a:lnTo>
                  <a:pt x="68715" y="167639"/>
                </a:lnTo>
                <a:lnTo>
                  <a:pt x="48623" y="167639"/>
                </a:lnTo>
                <a:lnTo>
                  <a:pt x="49292" y="166369"/>
                </a:lnTo>
                <a:lnTo>
                  <a:pt x="49695" y="163829"/>
                </a:lnTo>
                <a:lnTo>
                  <a:pt x="49963" y="161289"/>
                </a:lnTo>
                <a:lnTo>
                  <a:pt x="49828" y="158749"/>
                </a:lnTo>
                <a:lnTo>
                  <a:pt x="49024" y="156209"/>
                </a:lnTo>
                <a:lnTo>
                  <a:pt x="48355" y="154939"/>
                </a:lnTo>
                <a:lnTo>
                  <a:pt x="47551" y="153669"/>
                </a:lnTo>
                <a:close/>
              </a:path>
              <a:path w="224154" h="218439">
                <a:moveTo>
                  <a:pt x="71527" y="97789"/>
                </a:moveTo>
                <a:lnTo>
                  <a:pt x="68849" y="97789"/>
                </a:lnTo>
                <a:lnTo>
                  <a:pt x="68313" y="99059"/>
                </a:lnTo>
                <a:lnTo>
                  <a:pt x="67108" y="99059"/>
                </a:lnTo>
                <a:lnTo>
                  <a:pt x="65500" y="101599"/>
                </a:lnTo>
                <a:lnTo>
                  <a:pt x="64562" y="101599"/>
                </a:lnTo>
                <a:lnTo>
                  <a:pt x="63893" y="102869"/>
                </a:lnTo>
                <a:lnTo>
                  <a:pt x="63491" y="102869"/>
                </a:lnTo>
                <a:lnTo>
                  <a:pt x="62955" y="104139"/>
                </a:lnTo>
                <a:lnTo>
                  <a:pt x="62553" y="104139"/>
                </a:lnTo>
                <a:lnTo>
                  <a:pt x="62285" y="105409"/>
                </a:lnTo>
                <a:lnTo>
                  <a:pt x="62017" y="105409"/>
                </a:lnTo>
                <a:lnTo>
                  <a:pt x="62017" y="106679"/>
                </a:lnTo>
                <a:lnTo>
                  <a:pt x="62285" y="106679"/>
                </a:lnTo>
                <a:lnTo>
                  <a:pt x="94701" y="175259"/>
                </a:lnTo>
                <a:lnTo>
                  <a:pt x="95370" y="176529"/>
                </a:lnTo>
                <a:lnTo>
                  <a:pt x="97514" y="176529"/>
                </a:lnTo>
                <a:lnTo>
                  <a:pt x="98586" y="175259"/>
                </a:lnTo>
                <a:lnTo>
                  <a:pt x="99255" y="175259"/>
                </a:lnTo>
                <a:lnTo>
                  <a:pt x="101532" y="172719"/>
                </a:lnTo>
                <a:lnTo>
                  <a:pt x="102336" y="171449"/>
                </a:lnTo>
                <a:lnTo>
                  <a:pt x="102604" y="171449"/>
                </a:lnTo>
                <a:lnTo>
                  <a:pt x="103005" y="170179"/>
                </a:lnTo>
                <a:lnTo>
                  <a:pt x="102872" y="170179"/>
                </a:lnTo>
                <a:lnTo>
                  <a:pt x="102872" y="168909"/>
                </a:lnTo>
                <a:lnTo>
                  <a:pt x="102604" y="168909"/>
                </a:lnTo>
                <a:lnTo>
                  <a:pt x="94032" y="151129"/>
                </a:lnTo>
                <a:lnTo>
                  <a:pt x="100650" y="144779"/>
                </a:lnTo>
                <a:lnTo>
                  <a:pt x="90147" y="144779"/>
                </a:lnTo>
                <a:lnTo>
                  <a:pt x="72599" y="109219"/>
                </a:lnTo>
                <a:lnTo>
                  <a:pt x="96168" y="109219"/>
                </a:lnTo>
                <a:lnTo>
                  <a:pt x="71527" y="97789"/>
                </a:lnTo>
                <a:close/>
              </a:path>
              <a:path w="224154" h="218439">
                <a:moveTo>
                  <a:pt x="58267" y="163829"/>
                </a:moveTo>
                <a:lnTo>
                  <a:pt x="56258" y="163829"/>
                </a:lnTo>
                <a:lnTo>
                  <a:pt x="52240" y="165099"/>
                </a:lnTo>
                <a:lnTo>
                  <a:pt x="50364" y="166369"/>
                </a:lnTo>
                <a:lnTo>
                  <a:pt x="48623" y="167639"/>
                </a:lnTo>
                <a:lnTo>
                  <a:pt x="68715" y="167639"/>
                </a:lnTo>
                <a:lnTo>
                  <a:pt x="66706" y="166369"/>
                </a:lnTo>
                <a:lnTo>
                  <a:pt x="64562" y="165099"/>
                </a:lnTo>
                <a:lnTo>
                  <a:pt x="62553" y="165099"/>
                </a:lnTo>
                <a:lnTo>
                  <a:pt x="58267" y="163829"/>
                </a:lnTo>
                <a:close/>
              </a:path>
              <a:path w="224154" h="218439">
                <a:moveTo>
                  <a:pt x="96168" y="109219"/>
                </a:moveTo>
                <a:lnTo>
                  <a:pt x="72599" y="109219"/>
                </a:lnTo>
                <a:lnTo>
                  <a:pt x="108899" y="125729"/>
                </a:lnTo>
                <a:lnTo>
                  <a:pt x="90147" y="144779"/>
                </a:lnTo>
                <a:lnTo>
                  <a:pt x="100650" y="144779"/>
                </a:lnTo>
                <a:lnTo>
                  <a:pt x="116535" y="129539"/>
                </a:lnTo>
                <a:lnTo>
                  <a:pt x="139975" y="129539"/>
                </a:lnTo>
                <a:lnTo>
                  <a:pt x="96168" y="109219"/>
                </a:lnTo>
                <a:close/>
              </a:path>
              <a:path w="224154" h="218439">
                <a:moveTo>
                  <a:pt x="141450" y="129539"/>
                </a:moveTo>
                <a:lnTo>
                  <a:pt x="116535" y="129539"/>
                </a:lnTo>
                <a:lnTo>
                  <a:pt x="134216" y="138429"/>
                </a:lnTo>
                <a:lnTo>
                  <a:pt x="136225" y="138429"/>
                </a:lnTo>
                <a:lnTo>
                  <a:pt x="137029" y="137159"/>
                </a:lnTo>
                <a:lnTo>
                  <a:pt x="138101" y="137159"/>
                </a:lnTo>
                <a:lnTo>
                  <a:pt x="138770" y="135889"/>
                </a:lnTo>
                <a:lnTo>
                  <a:pt x="139707" y="134619"/>
                </a:lnTo>
                <a:lnTo>
                  <a:pt x="141182" y="133349"/>
                </a:lnTo>
                <a:lnTo>
                  <a:pt x="141583" y="133349"/>
                </a:lnTo>
                <a:lnTo>
                  <a:pt x="142119" y="132079"/>
                </a:lnTo>
                <a:lnTo>
                  <a:pt x="142387" y="132079"/>
                </a:lnTo>
                <a:lnTo>
                  <a:pt x="142387" y="130809"/>
                </a:lnTo>
                <a:lnTo>
                  <a:pt x="142252" y="130809"/>
                </a:lnTo>
                <a:lnTo>
                  <a:pt x="141450" y="129539"/>
                </a:lnTo>
                <a:close/>
              </a:path>
              <a:path w="224154" h="218439">
                <a:moveTo>
                  <a:pt x="132608" y="46989"/>
                </a:moveTo>
                <a:lnTo>
                  <a:pt x="124303" y="46989"/>
                </a:lnTo>
                <a:lnTo>
                  <a:pt x="122697" y="48259"/>
                </a:lnTo>
                <a:lnTo>
                  <a:pt x="120954" y="48259"/>
                </a:lnTo>
                <a:lnTo>
                  <a:pt x="119348" y="49529"/>
                </a:lnTo>
                <a:lnTo>
                  <a:pt x="112382" y="54609"/>
                </a:lnTo>
                <a:lnTo>
                  <a:pt x="110909" y="55879"/>
                </a:lnTo>
                <a:lnTo>
                  <a:pt x="107292" y="59689"/>
                </a:lnTo>
                <a:lnTo>
                  <a:pt x="104747" y="63499"/>
                </a:lnTo>
                <a:lnTo>
                  <a:pt x="101532" y="71119"/>
                </a:lnTo>
                <a:lnTo>
                  <a:pt x="100863" y="74929"/>
                </a:lnTo>
                <a:lnTo>
                  <a:pt x="101264" y="80009"/>
                </a:lnTo>
                <a:lnTo>
                  <a:pt x="101532" y="83819"/>
                </a:lnTo>
                <a:lnTo>
                  <a:pt x="115463" y="106679"/>
                </a:lnTo>
                <a:lnTo>
                  <a:pt x="119884" y="111759"/>
                </a:lnTo>
                <a:lnTo>
                  <a:pt x="124170" y="114299"/>
                </a:lnTo>
                <a:lnTo>
                  <a:pt x="133010" y="119379"/>
                </a:lnTo>
                <a:lnTo>
                  <a:pt x="137430" y="120649"/>
                </a:lnTo>
                <a:lnTo>
                  <a:pt x="150022" y="120649"/>
                </a:lnTo>
                <a:lnTo>
                  <a:pt x="154040" y="118109"/>
                </a:lnTo>
                <a:lnTo>
                  <a:pt x="157924" y="116839"/>
                </a:lnTo>
                <a:lnTo>
                  <a:pt x="161676" y="114299"/>
                </a:lnTo>
                <a:lnTo>
                  <a:pt x="165158" y="110489"/>
                </a:lnTo>
                <a:lnTo>
                  <a:pt x="142520" y="110489"/>
                </a:lnTo>
                <a:lnTo>
                  <a:pt x="139439" y="109219"/>
                </a:lnTo>
                <a:lnTo>
                  <a:pt x="136225" y="109219"/>
                </a:lnTo>
                <a:lnTo>
                  <a:pt x="132742" y="106679"/>
                </a:lnTo>
                <a:lnTo>
                  <a:pt x="129393" y="105409"/>
                </a:lnTo>
                <a:lnTo>
                  <a:pt x="126044" y="102869"/>
                </a:lnTo>
                <a:lnTo>
                  <a:pt x="122697" y="99059"/>
                </a:lnTo>
                <a:lnTo>
                  <a:pt x="119213" y="95249"/>
                </a:lnTo>
                <a:lnTo>
                  <a:pt x="116535" y="92709"/>
                </a:lnTo>
                <a:lnTo>
                  <a:pt x="114659" y="88899"/>
                </a:lnTo>
                <a:lnTo>
                  <a:pt x="112650" y="85089"/>
                </a:lnTo>
                <a:lnTo>
                  <a:pt x="111578" y="82549"/>
                </a:lnTo>
                <a:lnTo>
                  <a:pt x="111043" y="78739"/>
                </a:lnTo>
                <a:lnTo>
                  <a:pt x="110641" y="76199"/>
                </a:lnTo>
                <a:lnTo>
                  <a:pt x="116936" y="62229"/>
                </a:lnTo>
                <a:lnTo>
                  <a:pt x="119213" y="59689"/>
                </a:lnTo>
                <a:lnTo>
                  <a:pt x="125643" y="55879"/>
                </a:lnTo>
                <a:lnTo>
                  <a:pt x="127518" y="55879"/>
                </a:lnTo>
                <a:lnTo>
                  <a:pt x="131001" y="54609"/>
                </a:lnTo>
                <a:lnTo>
                  <a:pt x="132474" y="54609"/>
                </a:lnTo>
                <a:lnTo>
                  <a:pt x="135020" y="53339"/>
                </a:lnTo>
                <a:lnTo>
                  <a:pt x="136493" y="53339"/>
                </a:lnTo>
                <a:lnTo>
                  <a:pt x="136627" y="52069"/>
                </a:lnTo>
                <a:lnTo>
                  <a:pt x="136225" y="50799"/>
                </a:lnTo>
                <a:lnTo>
                  <a:pt x="135689" y="50799"/>
                </a:lnTo>
                <a:lnTo>
                  <a:pt x="135288" y="49529"/>
                </a:lnTo>
                <a:lnTo>
                  <a:pt x="134350" y="49529"/>
                </a:lnTo>
                <a:lnTo>
                  <a:pt x="133412" y="48259"/>
                </a:lnTo>
                <a:lnTo>
                  <a:pt x="132608" y="46989"/>
                </a:lnTo>
                <a:close/>
              </a:path>
              <a:path w="224154" h="218439">
                <a:moveTo>
                  <a:pt x="171588" y="85089"/>
                </a:moveTo>
                <a:lnTo>
                  <a:pt x="168507" y="85089"/>
                </a:lnTo>
                <a:lnTo>
                  <a:pt x="167971" y="87629"/>
                </a:lnTo>
                <a:lnTo>
                  <a:pt x="167836" y="88899"/>
                </a:lnTo>
                <a:lnTo>
                  <a:pt x="167034" y="91439"/>
                </a:lnTo>
                <a:lnTo>
                  <a:pt x="166498" y="93979"/>
                </a:lnTo>
                <a:lnTo>
                  <a:pt x="165694" y="95249"/>
                </a:lnTo>
                <a:lnTo>
                  <a:pt x="163550" y="99059"/>
                </a:lnTo>
                <a:lnTo>
                  <a:pt x="161944" y="101599"/>
                </a:lnTo>
                <a:lnTo>
                  <a:pt x="157255" y="106679"/>
                </a:lnTo>
                <a:lnTo>
                  <a:pt x="154576" y="107949"/>
                </a:lnTo>
                <a:lnTo>
                  <a:pt x="148682" y="110489"/>
                </a:lnTo>
                <a:lnTo>
                  <a:pt x="165158" y="110489"/>
                </a:lnTo>
                <a:lnTo>
                  <a:pt x="167300" y="109219"/>
                </a:lnTo>
                <a:lnTo>
                  <a:pt x="168908" y="106679"/>
                </a:lnTo>
                <a:lnTo>
                  <a:pt x="171588" y="102869"/>
                </a:lnTo>
                <a:lnTo>
                  <a:pt x="174802" y="95249"/>
                </a:lnTo>
                <a:lnTo>
                  <a:pt x="175606" y="91439"/>
                </a:lnTo>
                <a:lnTo>
                  <a:pt x="175606" y="90169"/>
                </a:lnTo>
                <a:lnTo>
                  <a:pt x="175472" y="90169"/>
                </a:lnTo>
                <a:lnTo>
                  <a:pt x="175070" y="88899"/>
                </a:lnTo>
                <a:lnTo>
                  <a:pt x="174802" y="88899"/>
                </a:lnTo>
                <a:lnTo>
                  <a:pt x="174668" y="87629"/>
                </a:lnTo>
                <a:lnTo>
                  <a:pt x="173597" y="87629"/>
                </a:lnTo>
                <a:lnTo>
                  <a:pt x="173194" y="86359"/>
                </a:lnTo>
                <a:lnTo>
                  <a:pt x="171588" y="85089"/>
                </a:lnTo>
                <a:close/>
              </a:path>
              <a:path w="224154" h="218439">
                <a:moveTo>
                  <a:pt x="170381" y="83819"/>
                </a:moveTo>
                <a:lnTo>
                  <a:pt x="169311" y="83819"/>
                </a:lnTo>
                <a:lnTo>
                  <a:pt x="168908" y="85089"/>
                </a:lnTo>
                <a:lnTo>
                  <a:pt x="171052" y="85089"/>
                </a:lnTo>
                <a:lnTo>
                  <a:pt x="170381" y="83819"/>
                </a:lnTo>
                <a:close/>
              </a:path>
              <a:path w="224154" h="218439">
                <a:moveTo>
                  <a:pt x="171453" y="0"/>
                </a:moveTo>
                <a:lnTo>
                  <a:pt x="168908" y="0"/>
                </a:lnTo>
                <a:lnTo>
                  <a:pt x="143324" y="25399"/>
                </a:lnTo>
                <a:lnTo>
                  <a:pt x="142655" y="25399"/>
                </a:lnTo>
                <a:lnTo>
                  <a:pt x="142119" y="27939"/>
                </a:lnTo>
                <a:lnTo>
                  <a:pt x="142520" y="29209"/>
                </a:lnTo>
                <a:lnTo>
                  <a:pt x="192751" y="78739"/>
                </a:lnTo>
                <a:lnTo>
                  <a:pt x="196636" y="78739"/>
                </a:lnTo>
                <a:lnTo>
                  <a:pt x="197172" y="77469"/>
                </a:lnTo>
                <a:lnTo>
                  <a:pt x="207513" y="67309"/>
                </a:lnTo>
                <a:lnTo>
                  <a:pt x="195698" y="67309"/>
                </a:lnTo>
                <a:lnTo>
                  <a:pt x="176543" y="48259"/>
                </a:lnTo>
                <a:lnTo>
                  <a:pt x="181672" y="43179"/>
                </a:lnTo>
                <a:lnTo>
                  <a:pt x="170649" y="43179"/>
                </a:lnTo>
                <a:lnTo>
                  <a:pt x="153772" y="26669"/>
                </a:lnTo>
                <a:lnTo>
                  <a:pt x="174802" y="6349"/>
                </a:lnTo>
                <a:lnTo>
                  <a:pt x="175070" y="5079"/>
                </a:lnTo>
                <a:lnTo>
                  <a:pt x="175338" y="5079"/>
                </a:lnTo>
                <a:lnTo>
                  <a:pt x="175338" y="3809"/>
                </a:lnTo>
                <a:lnTo>
                  <a:pt x="174936" y="3809"/>
                </a:lnTo>
                <a:lnTo>
                  <a:pt x="174534" y="2539"/>
                </a:lnTo>
                <a:lnTo>
                  <a:pt x="173865" y="2539"/>
                </a:lnTo>
                <a:lnTo>
                  <a:pt x="173329" y="1269"/>
                </a:lnTo>
                <a:lnTo>
                  <a:pt x="172793" y="1269"/>
                </a:lnTo>
                <a:lnTo>
                  <a:pt x="171453" y="0"/>
                </a:lnTo>
                <a:close/>
              </a:path>
              <a:path w="224154" h="218439">
                <a:moveTo>
                  <a:pt x="219675" y="46989"/>
                </a:moveTo>
                <a:lnTo>
                  <a:pt x="217130" y="46989"/>
                </a:lnTo>
                <a:lnTo>
                  <a:pt x="195698" y="67309"/>
                </a:lnTo>
                <a:lnTo>
                  <a:pt x="207513" y="67309"/>
                </a:lnTo>
                <a:lnTo>
                  <a:pt x="223024" y="52069"/>
                </a:lnTo>
                <a:lnTo>
                  <a:pt x="223559" y="52069"/>
                </a:lnTo>
                <a:lnTo>
                  <a:pt x="223559" y="50799"/>
                </a:lnTo>
                <a:lnTo>
                  <a:pt x="223158" y="49529"/>
                </a:lnTo>
                <a:lnTo>
                  <a:pt x="222488" y="49529"/>
                </a:lnTo>
                <a:lnTo>
                  <a:pt x="222086" y="48259"/>
                </a:lnTo>
                <a:lnTo>
                  <a:pt x="221014" y="48259"/>
                </a:lnTo>
                <a:lnTo>
                  <a:pt x="219675" y="46989"/>
                </a:lnTo>
                <a:close/>
              </a:path>
              <a:path w="224154" h="218439">
                <a:moveTo>
                  <a:pt x="218470" y="45719"/>
                </a:moveTo>
                <a:lnTo>
                  <a:pt x="217934" y="45719"/>
                </a:lnTo>
                <a:lnTo>
                  <a:pt x="217531" y="46989"/>
                </a:lnTo>
                <a:lnTo>
                  <a:pt x="219273" y="46989"/>
                </a:lnTo>
                <a:lnTo>
                  <a:pt x="218470" y="45719"/>
                </a:lnTo>
                <a:close/>
              </a:path>
              <a:path w="224154" h="218439">
                <a:moveTo>
                  <a:pt x="192215" y="25399"/>
                </a:moveTo>
                <a:lnTo>
                  <a:pt x="188733" y="25399"/>
                </a:lnTo>
                <a:lnTo>
                  <a:pt x="170649" y="43179"/>
                </a:lnTo>
                <a:lnTo>
                  <a:pt x="181672" y="43179"/>
                </a:lnTo>
                <a:lnTo>
                  <a:pt x="194492" y="30479"/>
                </a:lnTo>
                <a:lnTo>
                  <a:pt x="195028" y="30479"/>
                </a:lnTo>
                <a:lnTo>
                  <a:pt x="195028" y="29209"/>
                </a:lnTo>
                <a:lnTo>
                  <a:pt x="194895" y="29209"/>
                </a:lnTo>
                <a:lnTo>
                  <a:pt x="194091" y="27939"/>
                </a:lnTo>
                <a:lnTo>
                  <a:pt x="193688" y="27939"/>
                </a:lnTo>
                <a:lnTo>
                  <a:pt x="193153" y="26669"/>
                </a:lnTo>
                <a:lnTo>
                  <a:pt x="192215" y="25399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48372" y="3228215"/>
            <a:ext cx="4792345" cy="2846070"/>
          </a:xfrm>
          <a:custGeom>
            <a:avLst/>
            <a:gdLst/>
            <a:ahLst/>
            <a:cxnLst/>
            <a:rect l="l" t="t" r="r" b="b"/>
            <a:pathLst>
              <a:path w="4792345" h="2846070">
                <a:moveTo>
                  <a:pt x="0" y="2846031"/>
                </a:moveTo>
                <a:lnTo>
                  <a:pt x="4792009" y="2846031"/>
                </a:lnTo>
                <a:lnTo>
                  <a:pt x="4792009" y="0"/>
                </a:lnTo>
                <a:lnTo>
                  <a:pt x="0" y="0"/>
                </a:lnTo>
                <a:lnTo>
                  <a:pt x="0" y="2846031"/>
                </a:lnTo>
                <a:close/>
              </a:path>
            </a:pathLst>
          </a:custGeom>
          <a:ln w="993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297679" y="5334000"/>
            <a:ext cx="1581912" cy="2225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340514" y="5352583"/>
            <a:ext cx="1496060" cy="134620"/>
          </a:xfrm>
          <a:custGeom>
            <a:avLst/>
            <a:gdLst/>
            <a:ahLst/>
            <a:cxnLst/>
            <a:rect l="l" t="t" r="r" b="b"/>
            <a:pathLst>
              <a:path w="1496060" h="134620">
                <a:moveTo>
                  <a:pt x="747812" y="0"/>
                </a:moveTo>
                <a:lnTo>
                  <a:pt x="587389" y="1546"/>
                </a:lnTo>
                <a:lnTo>
                  <a:pt x="511446" y="3419"/>
                </a:lnTo>
                <a:lnTo>
                  <a:pt x="438956" y="5969"/>
                </a:lnTo>
                <a:lnTo>
                  <a:pt x="370377" y="9156"/>
                </a:lnTo>
                <a:lnTo>
                  <a:pt x="306164" y="12940"/>
                </a:lnTo>
                <a:lnTo>
                  <a:pt x="246773" y="17279"/>
                </a:lnTo>
                <a:lnTo>
                  <a:pt x="192661" y="22132"/>
                </a:lnTo>
                <a:lnTo>
                  <a:pt x="144284" y="27458"/>
                </a:lnTo>
                <a:lnTo>
                  <a:pt x="102098" y="33217"/>
                </a:lnTo>
                <a:lnTo>
                  <a:pt x="38124" y="45869"/>
                </a:lnTo>
                <a:lnTo>
                  <a:pt x="0" y="67068"/>
                </a:lnTo>
                <a:lnTo>
                  <a:pt x="4388" y="74376"/>
                </a:lnTo>
                <a:lnTo>
                  <a:pt x="66559" y="94769"/>
                </a:lnTo>
                <a:lnTo>
                  <a:pt x="144284" y="106679"/>
                </a:lnTo>
                <a:lnTo>
                  <a:pt x="192661" y="112006"/>
                </a:lnTo>
                <a:lnTo>
                  <a:pt x="246773" y="116859"/>
                </a:lnTo>
                <a:lnTo>
                  <a:pt x="306164" y="121198"/>
                </a:lnTo>
                <a:lnTo>
                  <a:pt x="370377" y="124981"/>
                </a:lnTo>
                <a:lnTo>
                  <a:pt x="438956" y="128169"/>
                </a:lnTo>
                <a:lnTo>
                  <a:pt x="511446" y="130719"/>
                </a:lnTo>
                <a:lnTo>
                  <a:pt x="587389" y="132591"/>
                </a:lnTo>
                <a:lnTo>
                  <a:pt x="747812" y="134138"/>
                </a:lnTo>
                <a:lnTo>
                  <a:pt x="908236" y="132591"/>
                </a:lnTo>
                <a:lnTo>
                  <a:pt x="984179" y="130719"/>
                </a:lnTo>
                <a:lnTo>
                  <a:pt x="1056669" y="128169"/>
                </a:lnTo>
                <a:lnTo>
                  <a:pt x="1125248" y="124981"/>
                </a:lnTo>
                <a:lnTo>
                  <a:pt x="1189461" y="121198"/>
                </a:lnTo>
                <a:lnTo>
                  <a:pt x="1248852" y="116859"/>
                </a:lnTo>
                <a:lnTo>
                  <a:pt x="1302964" y="112006"/>
                </a:lnTo>
                <a:lnTo>
                  <a:pt x="1351341" y="106679"/>
                </a:lnTo>
                <a:lnTo>
                  <a:pt x="1393527" y="100920"/>
                </a:lnTo>
                <a:lnTo>
                  <a:pt x="1457501" y="88268"/>
                </a:lnTo>
                <a:lnTo>
                  <a:pt x="1495625" y="67068"/>
                </a:lnTo>
                <a:lnTo>
                  <a:pt x="1491237" y="59760"/>
                </a:lnTo>
                <a:lnTo>
                  <a:pt x="1429066" y="39368"/>
                </a:lnTo>
                <a:lnTo>
                  <a:pt x="1351341" y="27458"/>
                </a:lnTo>
                <a:lnTo>
                  <a:pt x="1302964" y="22132"/>
                </a:lnTo>
                <a:lnTo>
                  <a:pt x="1248852" y="17279"/>
                </a:lnTo>
                <a:lnTo>
                  <a:pt x="1189461" y="12940"/>
                </a:lnTo>
                <a:lnTo>
                  <a:pt x="1125248" y="9156"/>
                </a:lnTo>
                <a:lnTo>
                  <a:pt x="1056669" y="5969"/>
                </a:lnTo>
                <a:lnTo>
                  <a:pt x="984179" y="3419"/>
                </a:lnTo>
                <a:lnTo>
                  <a:pt x="908236" y="1546"/>
                </a:lnTo>
                <a:lnTo>
                  <a:pt x="747812" y="0"/>
                </a:lnTo>
                <a:close/>
              </a:path>
            </a:pathLst>
          </a:custGeom>
          <a:solidFill>
            <a:srgbClr val="ECDDB2">
              <a:alpha val="141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340514" y="5352583"/>
            <a:ext cx="1496060" cy="134620"/>
          </a:xfrm>
          <a:custGeom>
            <a:avLst/>
            <a:gdLst/>
            <a:ahLst/>
            <a:cxnLst/>
            <a:rect l="l" t="t" r="r" b="b"/>
            <a:pathLst>
              <a:path w="1496060" h="134620">
                <a:moveTo>
                  <a:pt x="0" y="67069"/>
                </a:moveTo>
                <a:lnTo>
                  <a:pt x="38124" y="45870"/>
                </a:lnTo>
                <a:lnTo>
                  <a:pt x="102098" y="33217"/>
                </a:lnTo>
                <a:lnTo>
                  <a:pt x="144284" y="27458"/>
                </a:lnTo>
                <a:lnTo>
                  <a:pt x="192661" y="22132"/>
                </a:lnTo>
                <a:lnTo>
                  <a:pt x="246773" y="17279"/>
                </a:lnTo>
                <a:lnTo>
                  <a:pt x="306164" y="12940"/>
                </a:lnTo>
                <a:lnTo>
                  <a:pt x="370377" y="9156"/>
                </a:lnTo>
                <a:lnTo>
                  <a:pt x="438956" y="5969"/>
                </a:lnTo>
                <a:lnTo>
                  <a:pt x="511446" y="3419"/>
                </a:lnTo>
                <a:lnTo>
                  <a:pt x="587389" y="1546"/>
                </a:lnTo>
                <a:lnTo>
                  <a:pt x="666330" y="393"/>
                </a:lnTo>
                <a:lnTo>
                  <a:pt x="747813" y="0"/>
                </a:lnTo>
                <a:lnTo>
                  <a:pt x="829295" y="393"/>
                </a:lnTo>
                <a:lnTo>
                  <a:pt x="908236" y="1546"/>
                </a:lnTo>
                <a:lnTo>
                  <a:pt x="984179" y="3419"/>
                </a:lnTo>
                <a:lnTo>
                  <a:pt x="1056669" y="5969"/>
                </a:lnTo>
                <a:lnTo>
                  <a:pt x="1125248" y="9156"/>
                </a:lnTo>
                <a:lnTo>
                  <a:pt x="1189461" y="12940"/>
                </a:lnTo>
                <a:lnTo>
                  <a:pt x="1248852" y="17279"/>
                </a:lnTo>
                <a:lnTo>
                  <a:pt x="1302964" y="22132"/>
                </a:lnTo>
                <a:lnTo>
                  <a:pt x="1351341" y="27458"/>
                </a:lnTo>
                <a:lnTo>
                  <a:pt x="1393527" y="33217"/>
                </a:lnTo>
                <a:lnTo>
                  <a:pt x="1457502" y="45870"/>
                </a:lnTo>
                <a:lnTo>
                  <a:pt x="1495626" y="67069"/>
                </a:lnTo>
                <a:lnTo>
                  <a:pt x="1491237" y="74376"/>
                </a:lnTo>
                <a:lnTo>
                  <a:pt x="1429066" y="94769"/>
                </a:lnTo>
                <a:lnTo>
                  <a:pt x="1351341" y="106679"/>
                </a:lnTo>
                <a:lnTo>
                  <a:pt x="1302964" y="112005"/>
                </a:lnTo>
                <a:lnTo>
                  <a:pt x="1248852" y="116858"/>
                </a:lnTo>
                <a:lnTo>
                  <a:pt x="1189461" y="121197"/>
                </a:lnTo>
                <a:lnTo>
                  <a:pt x="1125248" y="124981"/>
                </a:lnTo>
                <a:lnTo>
                  <a:pt x="1056669" y="128168"/>
                </a:lnTo>
                <a:lnTo>
                  <a:pt x="984179" y="130718"/>
                </a:lnTo>
                <a:lnTo>
                  <a:pt x="908236" y="132591"/>
                </a:lnTo>
                <a:lnTo>
                  <a:pt x="829295" y="133744"/>
                </a:lnTo>
                <a:lnTo>
                  <a:pt x="747813" y="134138"/>
                </a:lnTo>
                <a:lnTo>
                  <a:pt x="666330" y="133744"/>
                </a:lnTo>
                <a:lnTo>
                  <a:pt x="587389" y="132591"/>
                </a:lnTo>
                <a:lnTo>
                  <a:pt x="511446" y="130718"/>
                </a:lnTo>
                <a:lnTo>
                  <a:pt x="438956" y="128168"/>
                </a:lnTo>
                <a:lnTo>
                  <a:pt x="370377" y="124981"/>
                </a:lnTo>
                <a:lnTo>
                  <a:pt x="306164" y="121197"/>
                </a:lnTo>
                <a:lnTo>
                  <a:pt x="246773" y="116858"/>
                </a:lnTo>
                <a:lnTo>
                  <a:pt x="192661" y="112005"/>
                </a:lnTo>
                <a:lnTo>
                  <a:pt x="144284" y="106679"/>
                </a:lnTo>
                <a:lnTo>
                  <a:pt x="102098" y="100920"/>
                </a:lnTo>
                <a:lnTo>
                  <a:pt x="38124" y="88267"/>
                </a:lnTo>
                <a:lnTo>
                  <a:pt x="0" y="67069"/>
                </a:lnTo>
                <a:close/>
              </a:path>
            </a:pathLst>
          </a:custGeom>
          <a:ln w="6350">
            <a:solidFill>
              <a:srgbClr val="FCCA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1002007" y="3509096"/>
            <a:ext cx="654685" cy="159131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algn="ctr">
              <a:lnSpc>
                <a:spcPts val="1639"/>
              </a:lnSpc>
              <a:spcBef>
                <a:spcPts val="50"/>
              </a:spcBef>
            </a:pPr>
            <a:r>
              <a:rPr dirty="0" sz="1400" spc="-35">
                <a:latin typeface="Arial"/>
                <a:cs typeface="Arial"/>
              </a:rPr>
              <a:t>R</a:t>
            </a:r>
            <a:r>
              <a:rPr dirty="0" sz="1400" spc="-40">
                <a:latin typeface="Arial"/>
                <a:cs typeface="Arial"/>
              </a:rPr>
              <a:t>O</a:t>
            </a:r>
            <a:r>
              <a:rPr dirty="0" sz="1400" spc="-40">
                <a:latin typeface="Arial"/>
                <a:cs typeface="Arial"/>
              </a:rPr>
              <a:t>C</a:t>
            </a:r>
            <a:r>
              <a:rPr dirty="0" sz="1400" spc="-35">
                <a:latin typeface="Arial"/>
                <a:cs typeface="Arial"/>
              </a:rPr>
              <a:t>A</a:t>
            </a:r>
            <a:r>
              <a:rPr dirty="0" sz="1400" spc="-35">
                <a:latin typeface="Arial"/>
                <a:cs typeface="Arial"/>
              </a:rPr>
              <a:t>UC</a:t>
            </a:r>
            <a:endParaRPr sz="1400">
              <a:latin typeface="Arial"/>
              <a:cs typeface="Arial"/>
            </a:endParaRPr>
          </a:p>
          <a:p>
            <a:pPr algn="ctr" marL="12065" marR="5080">
              <a:lnSpc>
                <a:spcPts val="1700"/>
              </a:lnSpc>
            </a:pP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45">
                <a:latin typeface="Arial"/>
                <a:cs typeface="Arial"/>
              </a:rPr>
              <a:t>m</a:t>
            </a:r>
            <a:r>
              <a:rPr dirty="0" sz="1400" spc="-30">
                <a:latin typeface="Arial"/>
                <a:cs typeface="Arial"/>
              </a:rPr>
              <a:t>p</a:t>
            </a:r>
            <a:r>
              <a:rPr dirty="0" sz="1400" spc="-45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 spc="-25">
                <a:latin typeface="Arial"/>
                <a:cs typeface="Arial"/>
              </a:rPr>
              <a:t>v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45">
                <a:latin typeface="Arial"/>
                <a:cs typeface="Arial"/>
              </a:rPr>
              <a:t>m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t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o</a:t>
            </a:r>
            <a:r>
              <a:rPr dirty="0" sz="1400" spc="-25">
                <a:latin typeface="Arial"/>
                <a:cs typeface="Arial"/>
              </a:rPr>
              <a:t>v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>
                <a:latin typeface="Arial"/>
                <a:cs typeface="Arial"/>
              </a:rPr>
              <a:t>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o </a:t>
            </a:r>
            <a:r>
              <a:rPr dirty="0" sz="1400" spc="-30">
                <a:latin typeface="Arial"/>
                <a:cs typeface="Arial"/>
              </a:rPr>
              <a:t>p</a:t>
            </a:r>
            <a:r>
              <a:rPr dirty="0" sz="1400" spc="-45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e</a:t>
            </a:r>
            <a:r>
              <a:rPr dirty="0" sz="1400" spc="-15">
                <a:latin typeface="Arial"/>
                <a:cs typeface="Arial"/>
              </a:rPr>
              <a:t>-</a:t>
            </a:r>
            <a:r>
              <a:rPr dirty="0" sz="1400" spc="-15">
                <a:latin typeface="Arial"/>
                <a:cs typeface="Arial"/>
              </a:rPr>
              <a:t>t</a:t>
            </a:r>
            <a:r>
              <a:rPr dirty="0" sz="1400" spc="-20">
                <a:latin typeface="Arial"/>
                <a:cs typeface="Arial"/>
              </a:rPr>
              <a:t>r</a:t>
            </a:r>
            <a:r>
              <a:rPr dirty="0" sz="1400" spc="-30">
                <a:latin typeface="Arial"/>
                <a:cs typeface="Arial"/>
              </a:rPr>
              <a:t>a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 spc="-10">
                <a:latin typeface="Arial"/>
                <a:cs typeface="Arial"/>
              </a:rPr>
              <a:t>i</a:t>
            </a:r>
            <a:r>
              <a:rPr dirty="0" sz="1400" spc="-30">
                <a:latin typeface="Arial"/>
                <a:cs typeface="Arial"/>
              </a:rPr>
              <a:t>n</a:t>
            </a:r>
            <a:r>
              <a:rPr dirty="0" sz="1400"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904586" y="4897971"/>
            <a:ext cx="2767965" cy="33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 spc="-25">
                <a:solidFill>
                  <a:srgbClr val="C00000"/>
                </a:solidFill>
                <a:latin typeface="Arial"/>
                <a:cs typeface="Arial"/>
              </a:rPr>
              <a:t>Avoids </a:t>
            </a:r>
            <a:r>
              <a:rPr dirty="0" sz="2050" spc="-30">
                <a:solidFill>
                  <a:srgbClr val="C00000"/>
                </a:solidFill>
                <a:latin typeface="Arial"/>
                <a:cs typeface="Arial"/>
              </a:rPr>
              <a:t>negative</a:t>
            </a:r>
            <a:r>
              <a:rPr dirty="0" sz="20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C00000"/>
                </a:solidFill>
                <a:latin typeface="Arial"/>
                <a:cs typeface="Arial"/>
              </a:rPr>
              <a:t>transfer</a:t>
            </a:r>
            <a:endParaRPr sz="205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772362" y="3546094"/>
            <a:ext cx="247650" cy="241300"/>
          </a:xfrm>
          <a:custGeom>
            <a:avLst/>
            <a:gdLst/>
            <a:ahLst/>
            <a:cxnLst/>
            <a:rect l="l" t="t" r="r" b="b"/>
            <a:pathLst>
              <a:path w="247650" h="241300">
                <a:moveTo>
                  <a:pt x="123668" y="0"/>
                </a:moveTo>
                <a:lnTo>
                  <a:pt x="75531" y="9461"/>
                </a:lnTo>
                <a:lnTo>
                  <a:pt x="36221" y="35263"/>
                </a:lnTo>
                <a:lnTo>
                  <a:pt x="9718" y="73533"/>
                </a:lnTo>
                <a:lnTo>
                  <a:pt x="0" y="120397"/>
                </a:lnTo>
                <a:lnTo>
                  <a:pt x="9718" y="167261"/>
                </a:lnTo>
                <a:lnTo>
                  <a:pt x="36221" y="205532"/>
                </a:lnTo>
                <a:lnTo>
                  <a:pt x="75531" y="231334"/>
                </a:lnTo>
                <a:lnTo>
                  <a:pt x="123668" y="240795"/>
                </a:lnTo>
                <a:lnTo>
                  <a:pt x="171806" y="231334"/>
                </a:lnTo>
                <a:lnTo>
                  <a:pt x="211115" y="205532"/>
                </a:lnTo>
                <a:lnTo>
                  <a:pt x="237619" y="167261"/>
                </a:lnTo>
                <a:lnTo>
                  <a:pt x="247337" y="120397"/>
                </a:lnTo>
                <a:lnTo>
                  <a:pt x="237619" y="73533"/>
                </a:lnTo>
                <a:lnTo>
                  <a:pt x="211115" y="35263"/>
                </a:lnTo>
                <a:lnTo>
                  <a:pt x="171806" y="9461"/>
                </a:lnTo>
                <a:lnTo>
                  <a:pt x="123668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787203" y="4052551"/>
            <a:ext cx="247650" cy="241300"/>
          </a:xfrm>
          <a:custGeom>
            <a:avLst/>
            <a:gdLst/>
            <a:ahLst/>
            <a:cxnLst/>
            <a:rect l="l" t="t" r="r" b="b"/>
            <a:pathLst>
              <a:path w="247650" h="241300">
                <a:moveTo>
                  <a:pt x="123668" y="0"/>
                </a:moveTo>
                <a:lnTo>
                  <a:pt x="75531" y="9461"/>
                </a:lnTo>
                <a:lnTo>
                  <a:pt x="36221" y="35263"/>
                </a:lnTo>
                <a:lnTo>
                  <a:pt x="9718" y="73533"/>
                </a:lnTo>
                <a:lnTo>
                  <a:pt x="0" y="120398"/>
                </a:lnTo>
                <a:lnTo>
                  <a:pt x="9718" y="167262"/>
                </a:lnTo>
                <a:lnTo>
                  <a:pt x="36221" y="205532"/>
                </a:lnTo>
                <a:lnTo>
                  <a:pt x="75531" y="231334"/>
                </a:lnTo>
                <a:lnTo>
                  <a:pt x="123668" y="240795"/>
                </a:lnTo>
                <a:lnTo>
                  <a:pt x="171806" y="231334"/>
                </a:lnTo>
                <a:lnTo>
                  <a:pt x="211115" y="205532"/>
                </a:lnTo>
                <a:lnTo>
                  <a:pt x="237619" y="167262"/>
                </a:lnTo>
                <a:lnTo>
                  <a:pt x="247337" y="120398"/>
                </a:lnTo>
                <a:lnTo>
                  <a:pt x="237619" y="73533"/>
                </a:lnTo>
                <a:lnTo>
                  <a:pt x="211115" y="35263"/>
                </a:lnTo>
                <a:lnTo>
                  <a:pt x="171806" y="9461"/>
                </a:lnTo>
                <a:lnTo>
                  <a:pt x="123668" y="0"/>
                </a:lnTo>
                <a:close/>
              </a:path>
            </a:pathLst>
          </a:custGeom>
          <a:solidFill>
            <a:srgbClr val="9A31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098026" y="3302000"/>
            <a:ext cx="1592580" cy="134239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100">
                <a:latin typeface="Arial"/>
                <a:cs typeface="Arial"/>
              </a:rPr>
              <a:t>: </a:t>
            </a:r>
            <a:r>
              <a:rPr dirty="0" sz="2100" spc="-60">
                <a:latin typeface="Arial"/>
                <a:cs typeface="Arial"/>
              </a:rPr>
              <a:t>Our</a:t>
            </a:r>
            <a:r>
              <a:rPr dirty="0" sz="2100" spc="-55">
                <a:latin typeface="Arial"/>
                <a:cs typeface="Arial"/>
              </a:rPr>
              <a:t> </a:t>
            </a:r>
            <a:r>
              <a:rPr dirty="0" sz="2100" spc="-35">
                <a:latin typeface="Arial"/>
                <a:cs typeface="Arial"/>
              </a:rPr>
              <a:t>strategy</a:t>
            </a:r>
            <a:endParaRPr sz="2100">
              <a:latin typeface="Arial"/>
              <a:cs typeface="Arial"/>
            </a:endParaRPr>
          </a:p>
          <a:p>
            <a:pPr marL="174625" marR="490220" indent="-149225">
              <a:lnSpc>
                <a:spcPts val="2500"/>
              </a:lnSpc>
              <a:spcBef>
                <a:spcPts val="1515"/>
              </a:spcBef>
            </a:pPr>
            <a:r>
              <a:rPr dirty="0" sz="2100">
                <a:latin typeface="Arial"/>
                <a:cs typeface="Arial"/>
              </a:rPr>
              <a:t>: </a:t>
            </a:r>
            <a:r>
              <a:rPr dirty="0" sz="2100" spc="-100">
                <a:latin typeface="Arial"/>
                <a:cs typeface="Arial"/>
              </a:rPr>
              <a:t>Naïve  </a:t>
            </a:r>
            <a:r>
              <a:rPr dirty="0" sz="2100" spc="-5">
                <a:latin typeface="Arial"/>
                <a:cs typeface="Arial"/>
              </a:rPr>
              <a:t>st</a:t>
            </a:r>
            <a:r>
              <a:rPr dirty="0" sz="2100" spc="-40">
                <a:latin typeface="Arial"/>
                <a:cs typeface="Arial"/>
              </a:rPr>
              <a:t>r</a:t>
            </a:r>
            <a:r>
              <a:rPr dirty="0" sz="2100" spc="-85">
                <a:latin typeface="Arial"/>
                <a:cs typeface="Arial"/>
              </a:rPr>
              <a:t>a</a:t>
            </a:r>
            <a:r>
              <a:rPr dirty="0" sz="2100" spc="30">
                <a:latin typeface="Arial"/>
                <a:cs typeface="Arial"/>
              </a:rPr>
              <a:t>t</a:t>
            </a:r>
            <a:r>
              <a:rPr dirty="0" sz="2100" spc="-85">
                <a:latin typeface="Arial"/>
                <a:cs typeface="Arial"/>
              </a:rPr>
              <a:t>e</a:t>
            </a:r>
            <a:r>
              <a:rPr dirty="0" sz="2100" spc="-15">
                <a:latin typeface="Arial"/>
                <a:cs typeface="Arial"/>
              </a:rPr>
              <a:t>g</a:t>
            </a:r>
            <a:r>
              <a:rPr dirty="0" sz="2100" spc="-80">
                <a:latin typeface="Arial"/>
                <a:cs typeface="Arial"/>
              </a:rPr>
              <a:t>y</a:t>
            </a:r>
            <a:endParaRPr sz="21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173743" y="5295462"/>
            <a:ext cx="4212590" cy="8255"/>
          </a:xfrm>
          <a:custGeom>
            <a:avLst/>
            <a:gdLst/>
            <a:ahLst/>
            <a:cxnLst/>
            <a:rect l="l" t="t" r="r" b="b"/>
            <a:pathLst>
              <a:path w="4212590" h="8254">
                <a:moveTo>
                  <a:pt x="0" y="8084"/>
                </a:moveTo>
                <a:lnTo>
                  <a:pt x="4212097" y="0"/>
                </a:lnTo>
              </a:path>
            </a:pathLst>
          </a:custGeom>
          <a:ln w="63500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58693" y="4784007"/>
            <a:ext cx="76200" cy="605155"/>
          </a:xfrm>
          <a:custGeom>
            <a:avLst/>
            <a:gdLst/>
            <a:ahLst/>
            <a:cxnLst/>
            <a:rect l="l" t="t" r="r" b="b"/>
            <a:pathLst>
              <a:path w="76200" h="605154">
                <a:moveTo>
                  <a:pt x="25399" y="76199"/>
                </a:moveTo>
                <a:lnTo>
                  <a:pt x="25398" y="599302"/>
                </a:lnTo>
                <a:lnTo>
                  <a:pt x="31084" y="604989"/>
                </a:lnTo>
                <a:lnTo>
                  <a:pt x="45112" y="604989"/>
                </a:lnTo>
                <a:lnTo>
                  <a:pt x="50798" y="599302"/>
                </a:lnTo>
                <a:lnTo>
                  <a:pt x="50799" y="76199"/>
                </a:lnTo>
                <a:lnTo>
                  <a:pt x="25399" y="76199"/>
                </a:lnTo>
                <a:close/>
              </a:path>
              <a:path w="76200" h="605154">
                <a:moveTo>
                  <a:pt x="63499" y="50798"/>
                </a:moveTo>
                <a:lnTo>
                  <a:pt x="45112" y="50798"/>
                </a:lnTo>
                <a:lnTo>
                  <a:pt x="50800" y="56485"/>
                </a:lnTo>
                <a:lnTo>
                  <a:pt x="50799" y="76199"/>
                </a:lnTo>
                <a:lnTo>
                  <a:pt x="76200" y="76200"/>
                </a:lnTo>
                <a:lnTo>
                  <a:pt x="63499" y="50798"/>
                </a:lnTo>
                <a:close/>
              </a:path>
              <a:path w="76200" h="605154">
                <a:moveTo>
                  <a:pt x="45112" y="50798"/>
                </a:moveTo>
                <a:lnTo>
                  <a:pt x="31085" y="50798"/>
                </a:lnTo>
                <a:lnTo>
                  <a:pt x="25400" y="56485"/>
                </a:lnTo>
                <a:lnTo>
                  <a:pt x="25399" y="76199"/>
                </a:lnTo>
                <a:lnTo>
                  <a:pt x="50799" y="76199"/>
                </a:lnTo>
                <a:lnTo>
                  <a:pt x="50800" y="56485"/>
                </a:lnTo>
                <a:lnTo>
                  <a:pt x="45112" y="50798"/>
                </a:lnTo>
                <a:close/>
              </a:path>
              <a:path w="76200" h="605154">
                <a:moveTo>
                  <a:pt x="38100" y="0"/>
                </a:moveTo>
                <a:lnTo>
                  <a:pt x="0" y="76198"/>
                </a:lnTo>
                <a:lnTo>
                  <a:pt x="25399" y="76199"/>
                </a:lnTo>
                <a:lnTo>
                  <a:pt x="25400" y="56485"/>
                </a:lnTo>
                <a:lnTo>
                  <a:pt x="31085" y="50798"/>
                </a:lnTo>
                <a:lnTo>
                  <a:pt x="63499" y="50798"/>
                </a:lnTo>
                <a:lnTo>
                  <a:pt x="381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499612" y="3578034"/>
            <a:ext cx="76200" cy="1797685"/>
          </a:xfrm>
          <a:custGeom>
            <a:avLst/>
            <a:gdLst/>
            <a:ahLst/>
            <a:cxnLst/>
            <a:rect l="l" t="t" r="r" b="b"/>
            <a:pathLst>
              <a:path w="76200" h="1797685">
                <a:moveTo>
                  <a:pt x="45112" y="50800"/>
                </a:moveTo>
                <a:lnTo>
                  <a:pt x="31085" y="50800"/>
                </a:lnTo>
                <a:lnTo>
                  <a:pt x="25400" y="56485"/>
                </a:lnTo>
                <a:lnTo>
                  <a:pt x="25398" y="1791559"/>
                </a:lnTo>
                <a:lnTo>
                  <a:pt x="31084" y="1797246"/>
                </a:lnTo>
                <a:lnTo>
                  <a:pt x="45112" y="1797246"/>
                </a:lnTo>
                <a:lnTo>
                  <a:pt x="50798" y="1791559"/>
                </a:lnTo>
                <a:lnTo>
                  <a:pt x="50800" y="56485"/>
                </a:lnTo>
                <a:lnTo>
                  <a:pt x="45112" y="50800"/>
                </a:lnTo>
                <a:close/>
              </a:path>
              <a:path w="76200" h="1797685">
                <a:moveTo>
                  <a:pt x="38100" y="0"/>
                </a:moveTo>
                <a:lnTo>
                  <a:pt x="0" y="76200"/>
                </a:lnTo>
                <a:lnTo>
                  <a:pt x="25399" y="76200"/>
                </a:lnTo>
                <a:lnTo>
                  <a:pt x="25400" y="56485"/>
                </a:lnTo>
                <a:lnTo>
                  <a:pt x="31085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  <a:path w="76200" h="1797685">
                <a:moveTo>
                  <a:pt x="63500" y="50800"/>
                </a:moveTo>
                <a:lnTo>
                  <a:pt x="45112" y="50800"/>
                </a:lnTo>
                <a:lnTo>
                  <a:pt x="50800" y="56485"/>
                </a:lnTo>
                <a:lnTo>
                  <a:pt x="50799" y="76200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33593" y="5360520"/>
            <a:ext cx="758190" cy="7067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3400"/>
              </a:lnSpc>
              <a:spcBef>
                <a:spcPts val="60"/>
              </a:spcBef>
            </a:pPr>
            <a:r>
              <a:rPr dirty="0" sz="1450" spc="5">
                <a:solidFill>
                  <a:srgbClr val="7030A0"/>
                </a:solidFill>
                <a:latin typeface="Arial"/>
                <a:cs typeface="Arial"/>
              </a:rPr>
              <a:t>Non</a:t>
            </a:r>
            <a:r>
              <a:rPr dirty="0" sz="1450" spc="-60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450" spc="5">
                <a:solidFill>
                  <a:srgbClr val="7030A0"/>
                </a:solidFill>
                <a:latin typeface="Arial"/>
                <a:cs typeface="Arial"/>
              </a:rPr>
              <a:t>pre-  </a:t>
            </a:r>
            <a:r>
              <a:rPr dirty="0" sz="1450" spc="-5">
                <a:solidFill>
                  <a:srgbClr val="7030A0"/>
                </a:solidFill>
                <a:latin typeface="Arial"/>
                <a:cs typeface="Arial"/>
              </a:rPr>
              <a:t>trained  GNNs</a:t>
            </a:r>
            <a:endParaRPr sz="145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478011" y="5303547"/>
            <a:ext cx="695960" cy="439420"/>
          </a:xfrm>
          <a:custGeom>
            <a:avLst/>
            <a:gdLst/>
            <a:ahLst/>
            <a:cxnLst/>
            <a:rect l="l" t="t" r="r" b="b"/>
            <a:pathLst>
              <a:path w="695960" h="439420">
                <a:moveTo>
                  <a:pt x="561670" y="54844"/>
                </a:moveTo>
                <a:lnTo>
                  <a:pt x="11020" y="395088"/>
                </a:lnTo>
                <a:lnTo>
                  <a:pt x="4119" y="401552"/>
                </a:lnTo>
                <a:lnTo>
                  <a:pt x="362" y="409872"/>
                </a:lnTo>
                <a:lnTo>
                  <a:pt x="0" y="418994"/>
                </a:lnTo>
                <a:lnTo>
                  <a:pt x="3280" y="427863"/>
                </a:lnTo>
                <a:lnTo>
                  <a:pt x="9744" y="434764"/>
                </a:lnTo>
                <a:lnTo>
                  <a:pt x="18064" y="438520"/>
                </a:lnTo>
                <a:lnTo>
                  <a:pt x="27186" y="438883"/>
                </a:lnTo>
                <a:lnTo>
                  <a:pt x="36054" y="435603"/>
                </a:lnTo>
                <a:lnTo>
                  <a:pt x="586704" y="95358"/>
                </a:lnTo>
                <a:lnTo>
                  <a:pt x="561670" y="54844"/>
                </a:lnTo>
                <a:close/>
              </a:path>
              <a:path w="695960" h="439420">
                <a:moveTo>
                  <a:pt x="671593" y="39047"/>
                </a:moveTo>
                <a:lnTo>
                  <a:pt x="590796" y="39047"/>
                </a:lnTo>
                <a:lnTo>
                  <a:pt x="599918" y="39410"/>
                </a:lnTo>
                <a:lnTo>
                  <a:pt x="608238" y="43166"/>
                </a:lnTo>
                <a:lnTo>
                  <a:pt x="614702" y="50068"/>
                </a:lnTo>
                <a:lnTo>
                  <a:pt x="617982" y="58936"/>
                </a:lnTo>
                <a:lnTo>
                  <a:pt x="617619" y="68058"/>
                </a:lnTo>
                <a:lnTo>
                  <a:pt x="613863" y="76378"/>
                </a:lnTo>
                <a:lnTo>
                  <a:pt x="606961" y="82842"/>
                </a:lnTo>
                <a:lnTo>
                  <a:pt x="586704" y="95358"/>
                </a:lnTo>
                <a:lnTo>
                  <a:pt x="611738" y="135873"/>
                </a:lnTo>
                <a:lnTo>
                  <a:pt x="671593" y="39047"/>
                </a:lnTo>
                <a:close/>
              </a:path>
              <a:path w="695960" h="439420">
                <a:moveTo>
                  <a:pt x="590796" y="39047"/>
                </a:moveTo>
                <a:lnTo>
                  <a:pt x="581927" y="42327"/>
                </a:lnTo>
                <a:lnTo>
                  <a:pt x="561670" y="54844"/>
                </a:lnTo>
                <a:lnTo>
                  <a:pt x="586704" y="95358"/>
                </a:lnTo>
                <a:lnTo>
                  <a:pt x="606961" y="82842"/>
                </a:lnTo>
                <a:lnTo>
                  <a:pt x="613863" y="76378"/>
                </a:lnTo>
                <a:lnTo>
                  <a:pt x="617619" y="68058"/>
                </a:lnTo>
                <a:lnTo>
                  <a:pt x="617982" y="58936"/>
                </a:lnTo>
                <a:lnTo>
                  <a:pt x="614702" y="50068"/>
                </a:lnTo>
                <a:lnTo>
                  <a:pt x="608238" y="43166"/>
                </a:lnTo>
                <a:lnTo>
                  <a:pt x="599918" y="39410"/>
                </a:lnTo>
                <a:lnTo>
                  <a:pt x="590796" y="39047"/>
                </a:lnTo>
                <a:close/>
              </a:path>
              <a:path w="695960" h="439420">
                <a:moveTo>
                  <a:pt x="695732" y="0"/>
                </a:moveTo>
                <a:lnTo>
                  <a:pt x="536636" y="14329"/>
                </a:lnTo>
                <a:lnTo>
                  <a:pt x="561670" y="54844"/>
                </a:lnTo>
                <a:lnTo>
                  <a:pt x="581927" y="42327"/>
                </a:lnTo>
                <a:lnTo>
                  <a:pt x="590796" y="39047"/>
                </a:lnTo>
                <a:lnTo>
                  <a:pt x="671593" y="39047"/>
                </a:lnTo>
                <a:lnTo>
                  <a:pt x="695732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919417" y="5939749"/>
            <a:ext cx="2609215" cy="400685"/>
          </a:xfrm>
          <a:custGeom>
            <a:avLst/>
            <a:gdLst/>
            <a:ahLst/>
            <a:cxnLst/>
            <a:rect l="l" t="t" r="r" b="b"/>
            <a:pathLst>
              <a:path w="2609215" h="400685">
                <a:moveTo>
                  <a:pt x="0" y="0"/>
                </a:moveTo>
                <a:lnTo>
                  <a:pt x="2608599" y="0"/>
                </a:lnTo>
                <a:lnTo>
                  <a:pt x="2608599" y="400109"/>
                </a:lnTo>
                <a:lnTo>
                  <a:pt x="0" y="4001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2998157" y="5974299"/>
            <a:ext cx="242633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">
                <a:latin typeface="Arial"/>
                <a:cs typeface="Arial"/>
              </a:rPr>
              <a:t>Downstream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-5">
                <a:latin typeface="Arial"/>
                <a:cs typeface="Arial"/>
              </a:rPr>
              <a:t>datasets</a:t>
            </a:r>
            <a:endParaRPr sz="195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170429" y="2861101"/>
            <a:ext cx="4304665" cy="415925"/>
          </a:xfrm>
          <a:custGeom>
            <a:avLst/>
            <a:gdLst/>
            <a:ahLst/>
            <a:cxnLst/>
            <a:rect l="l" t="t" r="r" b="b"/>
            <a:pathLst>
              <a:path w="4304665" h="415925">
                <a:moveTo>
                  <a:pt x="0" y="0"/>
                </a:moveTo>
                <a:lnTo>
                  <a:pt x="4304383" y="0"/>
                </a:lnTo>
                <a:lnTo>
                  <a:pt x="4304383" y="415498"/>
                </a:lnTo>
                <a:lnTo>
                  <a:pt x="0" y="4154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2249170" y="2895435"/>
            <a:ext cx="4104004" cy="33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50" spc="-25">
                <a:latin typeface="Arial"/>
                <a:cs typeface="Arial"/>
              </a:rPr>
              <a:t>Molecule </a:t>
            </a:r>
            <a:r>
              <a:rPr dirty="0" sz="2050" spc="-20">
                <a:latin typeface="Arial"/>
                <a:cs typeface="Arial"/>
              </a:rPr>
              <a:t>classification</a:t>
            </a:r>
            <a:r>
              <a:rPr dirty="0" sz="2050" spc="25">
                <a:latin typeface="Arial"/>
                <a:cs typeface="Arial"/>
              </a:rPr>
              <a:t> </a:t>
            </a:r>
            <a:r>
              <a:rPr dirty="0" sz="2050" spc="-5">
                <a:latin typeface="Arial"/>
                <a:cs typeface="Arial"/>
              </a:rPr>
              <a:t>performance</a:t>
            </a:r>
            <a:endParaRPr sz="2050">
              <a:latin typeface="Arial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67787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69884" cy="29514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2740" marR="5080" indent="-320040">
              <a:lnSpc>
                <a:spcPct val="100299"/>
              </a:lnSpc>
              <a:spcBef>
                <a:spcPts val="8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When </a:t>
            </a:r>
            <a:r>
              <a:rPr dirty="0" sz="3200" spc="-25">
                <a:latin typeface="Calibri"/>
                <a:cs typeface="Calibri"/>
              </a:rPr>
              <a:t>different </a:t>
            </a:r>
            <a:r>
              <a:rPr dirty="0" sz="3200" spc="-5">
                <a:latin typeface="Calibri"/>
                <a:cs typeface="Calibri"/>
              </a:rPr>
              <a:t>GNN models </a:t>
            </a:r>
            <a:r>
              <a:rPr dirty="0" sz="3200" spc="-15">
                <a:latin typeface="Calibri"/>
                <a:cs typeface="Calibri"/>
              </a:rPr>
              <a:t>are pre-trained, </a:t>
            </a:r>
            <a:r>
              <a:rPr dirty="0" sz="3200" spc="-15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most expressive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model (GIN)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benefits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the 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most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from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pre-training.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Intuition: Expressive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model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can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learn</a:t>
            </a:r>
            <a:r>
              <a:rPr dirty="0" sz="3200" spc="3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  <a:p>
            <a:pPr marL="332740" marR="448945">
              <a:lnSpc>
                <a:spcPts val="3790"/>
              </a:lnSpc>
              <a:spcBef>
                <a:spcPts val="240"/>
              </a:spcBef>
            </a:pP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capture more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domain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knowledge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than less 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expressive</a:t>
            </a:r>
            <a:r>
              <a:rPr dirty="0" sz="3200" spc="-6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models.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1140" y="4500528"/>
          <a:ext cx="8544560" cy="1477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3095"/>
                <a:gridCol w="1647308"/>
                <a:gridCol w="1218634"/>
                <a:gridCol w="709780"/>
                <a:gridCol w="1647288"/>
                <a:gridCol w="1218655"/>
                <a:gridCol w="736363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Chemistry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Biology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Non-pre-trained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Pre-trained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Gain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Non-pre-trained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Pre-trained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75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Gain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5">
                          <a:latin typeface="Times New Roman"/>
                          <a:cs typeface="Times New Roman"/>
                        </a:rPr>
                        <a:t>GIN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>
                        <a:alpha val="2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67.0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>
                        <a:alpha val="2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74.2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>
                        <a:alpha val="2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+7.2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64.8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1.0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>
                        <a:alpha val="2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74.2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1.5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0000">
                        <a:alpha val="2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+9.4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25">
                          <a:latin typeface="Times New Roman"/>
                          <a:cs typeface="Times New Roman"/>
                        </a:rPr>
                        <a:t>GCN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68.9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72.2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+3.4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63.2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1.0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70.9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1.7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+7.7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5">
                          <a:latin typeface="Times New Roman"/>
                          <a:cs typeface="Times New Roman"/>
                        </a:rPr>
                        <a:t>GraphSAGE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68.3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70.3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+2.0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65.7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1.2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68.5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1.5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+2.8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-40">
                          <a:latin typeface="Times New Roman"/>
                          <a:cs typeface="Times New Roman"/>
                        </a:rPr>
                        <a:t>GAT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66.8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60.3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-6.5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0"/>
                        </a:lnSpc>
                      </a:pP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68.2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 b="1">
                          <a:latin typeface="Times New Roman"/>
                          <a:cs typeface="Times New Roman"/>
                        </a:rPr>
                        <a:t>1.1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67.8 </a:t>
                      </a:r>
                      <a:r>
                        <a:rPr dirty="0" sz="1650" spc="-40" i="1">
                          <a:latin typeface="Verdana"/>
                          <a:cs typeface="Verdana"/>
                        </a:rPr>
                        <a:t>±</a:t>
                      </a:r>
                      <a:r>
                        <a:rPr dirty="0" sz="1650" spc="-260" i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650" spc="10">
                          <a:latin typeface="Times New Roman"/>
                          <a:cs typeface="Times New Roman"/>
                        </a:rPr>
                        <a:t>3.6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1620"/>
                        </a:lnSpc>
                      </a:pPr>
                      <a:r>
                        <a:rPr dirty="0" sz="1650" spc="10">
                          <a:latin typeface="Times New Roman"/>
                          <a:cs typeface="Times New Roman"/>
                        </a:rPr>
                        <a:t>-0.4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57200" y="4993278"/>
            <a:ext cx="8534400" cy="228600"/>
          </a:xfrm>
          <a:custGeom>
            <a:avLst/>
            <a:gdLst/>
            <a:ahLst/>
            <a:cxnLst/>
            <a:rect l="l" t="t" r="r" b="b"/>
            <a:pathLst>
              <a:path w="8534400" h="228600">
                <a:moveTo>
                  <a:pt x="8496301" y="0"/>
                </a:moveTo>
                <a:lnTo>
                  <a:pt x="38098" y="0"/>
                </a:lnTo>
                <a:lnTo>
                  <a:pt x="23268" y="2994"/>
                </a:lnTo>
                <a:lnTo>
                  <a:pt x="11158" y="11159"/>
                </a:lnTo>
                <a:lnTo>
                  <a:pt x="2993" y="23269"/>
                </a:lnTo>
                <a:lnTo>
                  <a:pt x="0" y="38099"/>
                </a:lnTo>
                <a:lnTo>
                  <a:pt x="0" y="190499"/>
                </a:lnTo>
                <a:lnTo>
                  <a:pt x="2993" y="205329"/>
                </a:lnTo>
                <a:lnTo>
                  <a:pt x="11158" y="217440"/>
                </a:lnTo>
                <a:lnTo>
                  <a:pt x="23268" y="225605"/>
                </a:lnTo>
                <a:lnTo>
                  <a:pt x="38098" y="228599"/>
                </a:lnTo>
                <a:lnTo>
                  <a:pt x="8496301" y="228599"/>
                </a:lnTo>
                <a:lnTo>
                  <a:pt x="8511131" y="225605"/>
                </a:lnTo>
                <a:lnTo>
                  <a:pt x="8523241" y="217440"/>
                </a:lnTo>
                <a:lnTo>
                  <a:pt x="8531406" y="205329"/>
                </a:lnTo>
                <a:lnTo>
                  <a:pt x="8534400" y="190499"/>
                </a:lnTo>
                <a:lnTo>
                  <a:pt x="8534400" y="38099"/>
                </a:lnTo>
                <a:lnTo>
                  <a:pt x="8531406" y="23269"/>
                </a:lnTo>
                <a:lnTo>
                  <a:pt x="8523241" y="11159"/>
                </a:lnTo>
                <a:lnTo>
                  <a:pt x="8511131" y="2994"/>
                </a:lnTo>
                <a:lnTo>
                  <a:pt x="8496301" y="0"/>
                </a:lnTo>
                <a:close/>
              </a:path>
            </a:pathLst>
          </a:custGeom>
          <a:solidFill>
            <a:srgbClr val="C00000">
              <a:alpha val="239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3317" y="4969277"/>
            <a:ext cx="8582660" cy="276860"/>
          </a:xfrm>
          <a:custGeom>
            <a:avLst/>
            <a:gdLst/>
            <a:ahLst/>
            <a:cxnLst/>
            <a:rect l="l" t="t" r="r" b="b"/>
            <a:pathLst>
              <a:path w="8582660" h="276860">
                <a:moveTo>
                  <a:pt x="8520184" y="0"/>
                </a:moveTo>
                <a:lnTo>
                  <a:pt x="59574" y="121"/>
                </a:lnTo>
                <a:lnTo>
                  <a:pt x="18586" y="17622"/>
                </a:lnTo>
                <a:lnTo>
                  <a:pt x="96" y="59693"/>
                </a:lnTo>
                <a:lnTo>
                  <a:pt x="0" y="212093"/>
                </a:lnTo>
                <a:lnTo>
                  <a:pt x="50" y="217369"/>
                </a:lnTo>
                <a:lnTo>
                  <a:pt x="17503" y="257895"/>
                </a:lnTo>
                <a:lnTo>
                  <a:pt x="51895" y="275705"/>
                </a:lnTo>
                <a:lnTo>
                  <a:pt x="61981" y="276600"/>
                </a:lnTo>
                <a:lnTo>
                  <a:pt x="8522590" y="276478"/>
                </a:lnTo>
                <a:lnTo>
                  <a:pt x="8563578" y="258978"/>
                </a:lnTo>
                <a:lnTo>
                  <a:pt x="8572558" y="247823"/>
                </a:lnTo>
                <a:lnTo>
                  <a:pt x="61981" y="247799"/>
                </a:lnTo>
                <a:lnTo>
                  <a:pt x="55265" y="247098"/>
                </a:lnTo>
                <a:lnTo>
                  <a:pt x="28707" y="214500"/>
                </a:lnTo>
                <a:lnTo>
                  <a:pt x="28682" y="62100"/>
                </a:lnTo>
                <a:lnTo>
                  <a:pt x="29384" y="55383"/>
                </a:lnTo>
                <a:lnTo>
                  <a:pt x="62462" y="28775"/>
                </a:lnTo>
                <a:lnTo>
                  <a:pt x="8572557" y="28775"/>
                </a:lnTo>
                <a:lnTo>
                  <a:pt x="8572133" y="27994"/>
                </a:lnTo>
                <a:lnTo>
                  <a:pt x="8533444" y="1377"/>
                </a:lnTo>
                <a:lnTo>
                  <a:pt x="8530269" y="895"/>
                </a:lnTo>
                <a:lnTo>
                  <a:pt x="8520184" y="0"/>
                </a:lnTo>
                <a:close/>
              </a:path>
              <a:path w="8582660" h="276860">
                <a:moveTo>
                  <a:pt x="8572557" y="28775"/>
                </a:moveTo>
                <a:lnTo>
                  <a:pt x="62462" y="28775"/>
                </a:lnTo>
                <a:lnTo>
                  <a:pt x="8520184" y="28799"/>
                </a:lnTo>
                <a:lnTo>
                  <a:pt x="8526899" y="29502"/>
                </a:lnTo>
                <a:lnTo>
                  <a:pt x="8553457" y="62100"/>
                </a:lnTo>
                <a:lnTo>
                  <a:pt x="8553482" y="214500"/>
                </a:lnTo>
                <a:lnTo>
                  <a:pt x="8552781" y="221217"/>
                </a:lnTo>
                <a:lnTo>
                  <a:pt x="8519702" y="247823"/>
                </a:lnTo>
                <a:lnTo>
                  <a:pt x="8572558" y="247823"/>
                </a:lnTo>
                <a:lnTo>
                  <a:pt x="8582281" y="214500"/>
                </a:lnTo>
                <a:lnTo>
                  <a:pt x="8582161" y="59693"/>
                </a:lnTo>
                <a:lnTo>
                  <a:pt x="8581226" y="50417"/>
                </a:lnTo>
                <a:lnTo>
                  <a:pt x="8580905" y="48840"/>
                </a:lnTo>
                <a:lnTo>
                  <a:pt x="8577743" y="38654"/>
                </a:lnTo>
                <a:lnTo>
                  <a:pt x="8577132" y="37202"/>
                </a:lnTo>
                <a:lnTo>
                  <a:pt x="8572557" y="28775"/>
                </a:lnTo>
                <a:close/>
              </a:path>
              <a:path w="8582660" h="276860">
                <a:moveTo>
                  <a:pt x="63425" y="38327"/>
                </a:moveTo>
                <a:lnTo>
                  <a:pt x="38282" y="62100"/>
                </a:lnTo>
                <a:lnTo>
                  <a:pt x="38307" y="214019"/>
                </a:lnTo>
                <a:lnTo>
                  <a:pt x="8518740" y="238273"/>
                </a:lnTo>
                <a:lnTo>
                  <a:pt x="8524975" y="237643"/>
                </a:lnTo>
                <a:lnTo>
                  <a:pt x="8529390" y="236273"/>
                </a:lnTo>
                <a:lnTo>
                  <a:pt x="8533393" y="234101"/>
                </a:lnTo>
                <a:lnTo>
                  <a:pt x="8536894" y="231212"/>
                </a:lnTo>
                <a:lnTo>
                  <a:pt x="8538949" y="228721"/>
                </a:lnTo>
                <a:lnTo>
                  <a:pt x="61981" y="228600"/>
                </a:lnTo>
                <a:lnTo>
                  <a:pt x="59112" y="228189"/>
                </a:lnTo>
                <a:lnTo>
                  <a:pt x="47858" y="213056"/>
                </a:lnTo>
                <a:lnTo>
                  <a:pt x="47882" y="62100"/>
                </a:lnTo>
                <a:lnTo>
                  <a:pt x="64388" y="47879"/>
                </a:lnTo>
                <a:lnTo>
                  <a:pt x="8538949" y="47879"/>
                </a:lnTo>
                <a:lnTo>
                  <a:pt x="8536894" y="45388"/>
                </a:lnTo>
                <a:lnTo>
                  <a:pt x="8533393" y="42499"/>
                </a:lnTo>
                <a:lnTo>
                  <a:pt x="8529390" y="40326"/>
                </a:lnTo>
                <a:lnTo>
                  <a:pt x="8524975" y="38955"/>
                </a:lnTo>
                <a:lnTo>
                  <a:pt x="8520184" y="38400"/>
                </a:lnTo>
                <a:lnTo>
                  <a:pt x="63425" y="38327"/>
                </a:lnTo>
                <a:close/>
              </a:path>
              <a:path w="8582660" h="276860">
                <a:moveTo>
                  <a:pt x="8538949" y="47879"/>
                </a:moveTo>
                <a:lnTo>
                  <a:pt x="64388" y="47879"/>
                </a:lnTo>
                <a:lnTo>
                  <a:pt x="8520184" y="48000"/>
                </a:lnTo>
                <a:lnTo>
                  <a:pt x="8523053" y="48411"/>
                </a:lnTo>
                <a:lnTo>
                  <a:pt x="8534282" y="214500"/>
                </a:lnTo>
                <a:lnTo>
                  <a:pt x="8533872" y="217369"/>
                </a:lnTo>
                <a:lnTo>
                  <a:pt x="8517776" y="228721"/>
                </a:lnTo>
                <a:lnTo>
                  <a:pt x="8538949" y="228721"/>
                </a:lnTo>
                <a:lnTo>
                  <a:pt x="8539783" y="227711"/>
                </a:lnTo>
                <a:lnTo>
                  <a:pt x="8541956" y="223706"/>
                </a:lnTo>
                <a:lnTo>
                  <a:pt x="8543326" y="219293"/>
                </a:lnTo>
                <a:lnTo>
                  <a:pt x="8543882" y="214500"/>
                </a:lnTo>
                <a:lnTo>
                  <a:pt x="8543810" y="62100"/>
                </a:lnTo>
                <a:lnTo>
                  <a:pt x="8543326" y="57307"/>
                </a:lnTo>
                <a:lnTo>
                  <a:pt x="8541956" y="52892"/>
                </a:lnTo>
                <a:lnTo>
                  <a:pt x="8539743" y="48840"/>
                </a:lnTo>
                <a:lnTo>
                  <a:pt x="8538949" y="4787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9937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297939"/>
            <a:ext cx="7969884" cy="478663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332740" marR="524510" indent="-320040">
              <a:lnSpc>
                <a:spcPts val="3290"/>
              </a:lnSpc>
              <a:spcBef>
                <a:spcPts val="46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GNNs </a:t>
            </a:r>
            <a:r>
              <a:rPr dirty="0" sz="3000" spc="-25">
                <a:latin typeface="Calibri"/>
                <a:cs typeface="Calibri"/>
              </a:rPr>
              <a:t>have </a:t>
            </a:r>
            <a:r>
              <a:rPr dirty="0" sz="3000" spc="-10">
                <a:latin typeface="Calibri"/>
                <a:cs typeface="Calibri"/>
              </a:rPr>
              <a:t>important applications </a:t>
            </a:r>
            <a:r>
              <a:rPr dirty="0" sz="3000" spc="-5">
                <a:latin typeface="Calibri"/>
                <a:cs typeface="Calibri"/>
              </a:rPr>
              <a:t>in </a:t>
            </a:r>
            <a:r>
              <a:rPr dirty="0" sz="3000" spc="-10">
                <a:latin typeface="Calibri"/>
                <a:cs typeface="Calibri"/>
              </a:rPr>
              <a:t>scientific  applications, </a:t>
            </a:r>
            <a:r>
              <a:rPr dirty="0" sz="3000" spc="-5">
                <a:latin typeface="Calibri"/>
                <a:cs typeface="Calibri"/>
              </a:rPr>
              <a:t>but </a:t>
            </a:r>
            <a:r>
              <a:rPr dirty="0" sz="3000" spc="-10">
                <a:latin typeface="Calibri"/>
                <a:cs typeface="Calibri"/>
              </a:rPr>
              <a:t>they </a:t>
            </a:r>
            <a:r>
              <a:rPr dirty="0" sz="3000" spc="-15">
                <a:latin typeface="Calibri"/>
                <a:cs typeface="Calibri"/>
              </a:rPr>
              <a:t>present </a:t>
            </a:r>
            <a:r>
              <a:rPr dirty="0" sz="3000" spc="-10">
                <a:latin typeface="Calibri"/>
                <a:cs typeface="Calibri"/>
              </a:rPr>
              <a:t>challenges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Label</a:t>
            </a:r>
            <a:r>
              <a:rPr dirty="0" sz="3000" spc="-7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scarcity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ts val="3395"/>
              </a:lnSpc>
              <a:spcBef>
                <a:spcPts val="40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3000" spc="-15" b="1">
                <a:solidFill>
                  <a:srgbClr val="0070C0"/>
                </a:solidFill>
                <a:latin typeface="Calibri"/>
                <a:cs typeface="Calibri"/>
              </a:rPr>
              <a:t>Out-of-distribution</a:t>
            </a:r>
            <a:r>
              <a:rPr dirty="0" sz="3000" spc="-4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prediction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24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Pre-training </a:t>
            </a:r>
            <a:r>
              <a:rPr dirty="0" sz="3000" spc="-5">
                <a:latin typeface="Calibri"/>
                <a:cs typeface="Calibri"/>
              </a:rPr>
              <a:t>is </a:t>
            </a:r>
            <a:r>
              <a:rPr dirty="0" sz="3000" spc="-10">
                <a:latin typeface="Calibri"/>
                <a:cs typeface="Calibri"/>
              </a:rPr>
              <a:t>promising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5">
                <a:latin typeface="Calibri"/>
                <a:cs typeface="Calibri"/>
              </a:rPr>
              <a:t>tackle </a:t>
            </a:r>
            <a:r>
              <a:rPr dirty="0" sz="3000" spc="-5">
                <a:latin typeface="Calibri"/>
                <a:cs typeface="Calibri"/>
              </a:rPr>
              <a:t>the</a:t>
            </a:r>
            <a:r>
              <a:rPr dirty="0" sz="3000" spc="5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challenges.</a:t>
            </a:r>
            <a:endParaRPr sz="3000">
              <a:latin typeface="Calibri"/>
              <a:cs typeface="Calibri"/>
            </a:endParaRPr>
          </a:p>
          <a:p>
            <a:pPr marL="332740" marR="64135" indent="-320040">
              <a:lnSpc>
                <a:spcPct val="90300"/>
              </a:lnSpc>
              <a:spcBef>
                <a:spcPts val="195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45">
                <a:latin typeface="Calibri"/>
                <a:cs typeface="Calibri"/>
              </a:rPr>
              <a:t>However, </a:t>
            </a:r>
            <a:r>
              <a:rPr dirty="0" sz="3000" spc="-10">
                <a:latin typeface="Calibri"/>
                <a:cs typeface="Calibri"/>
              </a:rPr>
              <a:t>naïve </a:t>
            </a:r>
            <a:r>
              <a:rPr dirty="0" sz="3000" spc="-15">
                <a:latin typeface="Calibri"/>
                <a:cs typeface="Calibri"/>
              </a:rPr>
              <a:t>pre-training </a:t>
            </a:r>
            <a:r>
              <a:rPr dirty="0" sz="3000" spc="-25">
                <a:latin typeface="Calibri"/>
                <a:cs typeface="Calibri"/>
              </a:rPr>
              <a:t>strategy </a:t>
            </a:r>
            <a:r>
              <a:rPr dirty="0" sz="3000" spc="-10">
                <a:latin typeface="Calibri"/>
                <a:cs typeface="Calibri"/>
              </a:rPr>
              <a:t>gives </a:t>
            </a:r>
            <a:r>
              <a:rPr dirty="0" sz="3000" spc="-5">
                <a:latin typeface="Calibri"/>
                <a:cs typeface="Calibri"/>
              </a:rPr>
              <a:t>sub-  optimal </a:t>
            </a:r>
            <a:r>
              <a:rPr dirty="0" sz="3000" spc="-10">
                <a:latin typeface="Calibri"/>
                <a:cs typeface="Calibri"/>
              </a:rPr>
              <a:t>performance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even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leads </a:t>
            </a:r>
            <a:r>
              <a:rPr dirty="0" sz="3000" spc="-20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3000" spc="-15" b="1">
                <a:solidFill>
                  <a:srgbClr val="C00000"/>
                </a:solidFill>
                <a:latin typeface="Calibri"/>
                <a:cs typeface="Calibri"/>
              </a:rPr>
              <a:t>negative  </a:t>
            </a:r>
            <a:r>
              <a:rPr dirty="0" sz="3000" spc="-50" b="1">
                <a:solidFill>
                  <a:srgbClr val="C00000"/>
                </a:solidFill>
                <a:latin typeface="Calibri"/>
                <a:cs typeface="Calibri"/>
              </a:rPr>
              <a:t>transfer.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ts val="306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Our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strategy: </a:t>
            </a:r>
            <a:r>
              <a:rPr dirty="0" sz="3000" spc="-15" b="1">
                <a:solidFill>
                  <a:srgbClr val="D60093"/>
                </a:solidFill>
                <a:latin typeface="Calibri"/>
                <a:cs typeface="Calibri"/>
              </a:rPr>
              <a:t>Pre-train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both </a:t>
            </a:r>
            <a:r>
              <a:rPr dirty="0" sz="3000" b="1">
                <a:solidFill>
                  <a:srgbClr val="D60093"/>
                </a:solidFill>
                <a:latin typeface="Calibri"/>
                <a:cs typeface="Calibri"/>
              </a:rPr>
              <a:t>node </a:t>
            </a: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and</a:t>
            </a:r>
            <a:r>
              <a:rPr dirty="0" sz="3000" spc="-5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000" spc="-20" b="1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endParaRPr sz="3000">
              <a:latin typeface="Calibri"/>
              <a:cs typeface="Calibri"/>
            </a:endParaRPr>
          </a:p>
          <a:p>
            <a:pPr marL="332740" marR="109855">
              <a:lnSpc>
                <a:spcPts val="3190"/>
              </a:lnSpc>
              <a:spcBef>
                <a:spcPts val="290"/>
              </a:spcBef>
            </a:pPr>
            <a:r>
              <a:rPr dirty="0" sz="3000" spc="-5" b="1">
                <a:solidFill>
                  <a:srgbClr val="D60093"/>
                </a:solidFill>
                <a:latin typeface="Calibri"/>
                <a:cs typeface="Calibri"/>
              </a:rPr>
              <a:t>embeddings </a:t>
            </a:r>
            <a:r>
              <a:rPr dirty="0" sz="3000" spc="1265">
                <a:latin typeface="Arial"/>
                <a:cs typeface="Arial"/>
              </a:rPr>
              <a:t>à</a:t>
            </a:r>
            <a:r>
              <a:rPr dirty="0" sz="3000" spc="-140">
                <a:latin typeface="Arial"/>
                <a:cs typeface="Arial"/>
              </a:rPr>
              <a:t> </a:t>
            </a:r>
            <a:r>
              <a:rPr dirty="0" sz="3000" spc="-5">
                <a:latin typeface="Calibri"/>
                <a:cs typeface="Calibri"/>
              </a:rPr>
              <a:t>Leads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10">
                <a:latin typeface="Calibri"/>
                <a:cs typeface="Calibri"/>
              </a:rPr>
              <a:t>significant performance  </a:t>
            </a:r>
            <a:r>
              <a:rPr dirty="0" sz="3000" spc="-20">
                <a:latin typeface="Calibri"/>
                <a:cs typeface="Calibri"/>
              </a:rPr>
              <a:t>gain </a:t>
            </a:r>
            <a:r>
              <a:rPr dirty="0" sz="3000">
                <a:latin typeface="Calibri"/>
                <a:cs typeface="Calibri"/>
              </a:rPr>
              <a:t>on </a:t>
            </a:r>
            <a:r>
              <a:rPr dirty="0" sz="3000" spc="-15">
                <a:latin typeface="Calibri"/>
                <a:cs typeface="Calibri"/>
              </a:rPr>
              <a:t>downstream</a:t>
            </a:r>
            <a:r>
              <a:rPr dirty="0" sz="3000" spc="-20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tasks.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2960" y="3538728"/>
            <a:ext cx="5053584" cy="1475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2492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147"/>
            <a:ext cx="7334884" cy="198882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000"/>
              </a:lnSpc>
              <a:spcBef>
                <a:spcPts val="5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latin typeface="Calibri"/>
                <a:cs typeface="Calibri"/>
              </a:rPr>
              <a:t>In </a:t>
            </a:r>
            <a:r>
              <a:rPr dirty="0" sz="2800" spc="-10" b="0">
                <a:latin typeface="Calibri"/>
                <a:cs typeface="Calibri"/>
              </a:rPr>
              <a:t>previous lectures, </a:t>
            </a:r>
            <a:r>
              <a:rPr dirty="0" sz="2800" spc="-15" b="0">
                <a:latin typeface="Calibri"/>
                <a:cs typeface="Calibri"/>
              </a:rPr>
              <a:t>we focus </a:t>
            </a:r>
            <a:r>
              <a:rPr dirty="0" sz="2800" spc="-5" b="0">
                <a:latin typeface="Calibri"/>
                <a:cs typeface="Calibri"/>
              </a:rPr>
              <a:t>on </a:t>
            </a:r>
            <a:r>
              <a:rPr dirty="0" sz="2800" spc="-15" b="0">
                <a:latin typeface="Calibri"/>
                <a:cs typeface="Calibri"/>
              </a:rPr>
              <a:t>graph  representation </a:t>
            </a:r>
            <a:r>
              <a:rPr dirty="0" sz="2800" spc="-5" b="0">
                <a:latin typeface="Calibri"/>
                <a:cs typeface="Calibri"/>
              </a:rPr>
              <a:t>learning in </a:t>
            </a:r>
            <a:r>
              <a:rPr dirty="0" sz="2800" spc="-5">
                <a:solidFill>
                  <a:srgbClr val="C00000"/>
                </a:solidFill>
              </a:rPr>
              <a:t>Euclidean embedding  spaces</a:t>
            </a:r>
            <a:r>
              <a:rPr dirty="0" sz="2800" spc="-75">
                <a:solidFill>
                  <a:srgbClr val="C00000"/>
                </a:solidFill>
              </a:rPr>
              <a:t> </a:t>
            </a:r>
            <a:r>
              <a:rPr dirty="0" sz="2800" spc="135" b="0">
                <a:latin typeface="Cambria Math"/>
                <a:cs typeface="Cambria Math"/>
              </a:rPr>
              <a:t>ℝ</a:t>
            </a:r>
            <a:r>
              <a:rPr dirty="0" baseline="29166" sz="3000" spc="202" b="0">
                <a:latin typeface="Cambria Math"/>
                <a:cs typeface="Cambria Math"/>
              </a:rPr>
              <a:t>$</a:t>
            </a:r>
            <a:endParaRPr baseline="29166" sz="3000">
              <a:latin typeface="Cambria Math"/>
              <a:cs typeface="Cambria Math"/>
            </a:endParaRPr>
          </a:p>
          <a:p>
            <a:pPr marL="332740" marR="194945" indent="-320040">
              <a:lnSpc>
                <a:spcPts val="3000"/>
              </a:lnSpc>
              <a:spcBef>
                <a:spcPts val="9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45" b="0">
                <a:latin typeface="Calibri"/>
                <a:cs typeface="Calibri"/>
              </a:rPr>
              <a:t>However, </a:t>
            </a:r>
            <a:r>
              <a:rPr dirty="0" sz="2800" spc="-5" b="0">
                <a:latin typeface="Calibri"/>
                <a:cs typeface="Calibri"/>
              </a:rPr>
              <a:t>Euclidean embeddings cannot </a:t>
            </a:r>
            <a:r>
              <a:rPr dirty="0" sz="2800" spc="-25" b="0">
                <a:latin typeface="Calibri"/>
                <a:cs typeface="Calibri"/>
              </a:rPr>
              <a:t>always  </a:t>
            </a:r>
            <a:r>
              <a:rPr dirty="0" sz="2800" spc="-15" b="0">
                <a:latin typeface="Calibri"/>
                <a:cs typeface="Calibri"/>
              </a:rPr>
              <a:t>capture complex graph</a:t>
            </a:r>
            <a:r>
              <a:rPr dirty="0" sz="2800" spc="-20" b="0">
                <a:latin typeface="Calibri"/>
                <a:cs typeface="Calibri"/>
              </a:rPr>
              <a:t> </a:t>
            </a:r>
            <a:r>
              <a:rPr dirty="0" sz="2800" spc="-10" b="0">
                <a:latin typeface="Calibri"/>
                <a:cs typeface="Calibri"/>
              </a:rPr>
              <a:t>structures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228339"/>
            <a:ext cx="37630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>
                <a:latin typeface="Calibri"/>
                <a:cs typeface="Calibri"/>
              </a:rPr>
              <a:t>Example: </a:t>
            </a:r>
            <a:r>
              <a:rPr dirty="0" sz="2800" spc="-60">
                <a:latin typeface="Calibri"/>
                <a:cs typeface="Calibri"/>
              </a:rPr>
              <a:t>Tree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526532"/>
            <a:ext cx="7477125" cy="845819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32740" marR="5080" indent="-320040">
              <a:lnSpc>
                <a:spcPts val="3100"/>
              </a:lnSpc>
              <a:spcBef>
                <a:spcPts val="42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30" b="1">
                <a:solidFill>
                  <a:srgbClr val="0070C0"/>
                </a:solidFill>
                <a:latin typeface="Calibri"/>
                <a:cs typeface="Calibri"/>
              </a:rPr>
              <a:t>Tree-like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graphs</a:t>
            </a:r>
            <a:r>
              <a:rPr dirty="0" sz="2800" spc="-15">
                <a:latin typeface="Calibri"/>
                <a:cs typeface="Calibri"/>
              </a:rPr>
              <a:t>: graphs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similar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tree, 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0">
                <a:latin typeface="Calibri"/>
                <a:cs typeface="Calibri"/>
              </a:rPr>
              <a:t>can </a:t>
            </a:r>
            <a:r>
              <a:rPr dirty="0" sz="2800" spc="-15">
                <a:latin typeface="Calibri"/>
                <a:cs typeface="Calibri"/>
              </a:rPr>
              <a:t>contain </a:t>
            </a:r>
            <a:r>
              <a:rPr dirty="0" sz="2800" spc="-10">
                <a:latin typeface="Calibri"/>
                <a:cs typeface="Calibri"/>
              </a:rPr>
              <a:t>very </a:t>
            </a:r>
            <a:r>
              <a:rPr dirty="0" sz="2800" spc="-35">
                <a:latin typeface="Calibri"/>
                <a:cs typeface="Calibri"/>
              </a:rPr>
              <a:t>few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cycles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63481" y="3909452"/>
            <a:ext cx="266700" cy="229870"/>
          </a:xfrm>
          <a:custGeom>
            <a:avLst/>
            <a:gdLst/>
            <a:ahLst/>
            <a:cxnLst/>
            <a:rect l="l" t="t" r="r" b="b"/>
            <a:pathLst>
              <a:path w="266700" h="229870">
                <a:moveTo>
                  <a:pt x="266466" y="0"/>
                </a:moveTo>
                <a:lnTo>
                  <a:pt x="0" y="229728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445174" y="3912404"/>
            <a:ext cx="276225" cy="227329"/>
          </a:xfrm>
          <a:custGeom>
            <a:avLst/>
            <a:gdLst/>
            <a:ahLst/>
            <a:cxnLst/>
            <a:rect l="l" t="t" r="r" b="b"/>
            <a:pathLst>
              <a:path w="276225" h="227329">
                <a:moveTo>
                  <a:pt x="0" y="0"/>
                </a:moveTo>
                <a:lnTo>
                  <a:pt x="275761" y="226774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43197" y="4355142"/>
            <a:ext cx="182245" cy="416559"/>
          </a:xfrm>
          <a:custGeom>
            <a:avLst/>
            <a:gdLst/>
            <a:ahLst/>
            <a:cxnLst/>
            <a:rect l="l" t="t" r="r" b="b"/>
            <a:pathLst>
              <a:path w="182245" h="416560">
                <a:moveTo>
                  <a:pt x="0" y="0"/>
                </a:moveTo>
                <a:lnTo>
                  <a:pt x="181874" y="416357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554479" y="4376661"/>
            <a:ext cx="161925" cy="349250"/>
          </a:xfrm>
          <a:custGeom>
            <a:avLst/>
            <a:gdLst/>
            <a:ahLst/>
            <a:cxnLst/>
            <a:rect l="l" t="t" r="r" b="b"/>
            <a:pathLst>
              <a:path w="161925" h="349250">
                <a:moveTo>
                  <a:pt x="161810" y="0"/>
                </a:moveTo>
                <a:lnTo>
                  <a:pt x="0" y="348808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79247" y="4339693"/>
            <a:ext cx="163195" cy="386080"/>
          </a:xfrm>
          <a:custGeom>
            <a:avLst/>
            <a:gdLst/>
            <a:ahLst/>
            <a:cxnLst/>
            <a:rect l="l" t="t" r="r" b="b"/>
            <a:pathLst>
              <a:path w="163194" h="386079">
                <a:moveTo>
                  <a:pt x="162936" y="385776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77717" y="4359950"/>
            <a:ext cx="170180" cy="394970"/>
          </a:xfrm>
          <a:custGeom>
            <a:avLst/>
            <a:gdLst/>
            <a:ahLst/>
            <a:cxnLst/>
            <a:rect l="l" t="t" r="r" b="b"/>
            <a:pathLst>
              <a:path w="170180" h="394970">
                <a:moveTo>
                  <a:pt x="0" y="394840"/>
                </a:moveTo>
                <a:lnTo>
                  <a:pt x="169973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77221" y="4977422"/>
            <a:ext cx="170180" cy="394970"/>
          </a:xfrm>
          <a:custGeom>
            <a:avLst/>
            <a:gdLst/>
            <a:ahLst/>
            <a:cxnLst/>
            <a:rect l="l" t="t" r="r" b="b"/>
            <a:pathLst>
              <a:path w="170180" h="394970">
                <a:moveTo>
                  <a:pt x="0" y="394840"/>
                </a:moveTo>
                <a:lnTo>
                  <a:pt x="169973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36913" y="4984940"/>
            <a:ext cx="92075" cy="452120"/>
          </a:xfrm>
          <a:custGeom>
            <a:avLst/>
            <a:gdLst/>
            <a:ahLst/>
            <a:cxnLst/>
            <a:rect l="l" t="t" r="r" b="b"/>
            <a:pathLst>
              <a:path w="92075" h="452120">
                <a:moveTo>
                  <a:pt x="91572" y="451983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10804" y="5000468"/>
            <a:ext cx="170180" cy="394970"/>
          </a:xfrm>
          <a:custGeom>
            <a:avLst/>
            <a:gdLst/>
            <a:ahLst/>
            <a:cxnLst/>
            <a:rect l="l" t="t" r="r" b="b"/>
            <a:pathLst>
              <a:path w="170180" h="394970">
                <a:moveTo>
                  <a:pt x="0" y="394840"/>
                </a:moveTo>
                <a:lnTo>
                  <a:pt x="169973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78177" y="4971896"/>
            <a:ext cx="92075" cy="452120"/>
          </a:xfrm>
          <a:custGeom>
            <a:avLst/>
            <a:gdLst/>
            <a:ahLst/>
            <a:cxnLst/>
            <a:rect l="l" t="t" r="r" b="b"/>
            <a:pathLst>
              <a:path w="92075" h="452120">
                <a:moveTo>
                  <a:pt x="91572" y="451983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39148" y="4970053"/>
            <a:ext cx="219710" cy="503555"/>
          </a:xfrm>
          <a:custGeom>
            <a:avLst/>
            <a:gdLst/>
            <a:ahLst/>
            <a:cxnLst/>
            <a:rect l="l" t="t" r="r" b="b"/>
            <a:pathLst>
              <a:path w="219710" h="503554">
                <a:moveTo>
                  <a:pt x="219448" y="503524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30160" y="4982742"/>
            <a:ext cx="11430" cy="516890"/>
          </a:xfrm>
          <a:custGeom>
            <a:avLst/>
            <a:gdLst/>
            <a:ahLst/>
            <a:cxnLst/>
            <a:rect l="l" t="t" r="r" b="b"/>
            <a:pathLst>
              <a:path w="11429" h="516889">
                <a:moveTo>
                  <a:pt x="11017" y="516874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76016" y="4977422"/>
            <a:ext cx="58419" cy="522605"/>
          </a:xfrm>
          <a:custGeom>
            <a:avLst/>
            <a:gdLst/>
            <a:ahLst/>
            <a:cxnLst/>
            <a:rect l="l" t="t" r="r" b="b"/>
            <a:pathLst>
              <a:path w="58420" h="522604">
                <a:moveTo>
                  <a:pt x="0" y="522194"/>
                </a:moveTo>
                <a:lnTo>
                  <a:pt x="58055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87221" y="4970055"/>
            <a:ext cx="194310" cy="513080"/>
          </a:xfrm>
          <a:custGeom>
            <a:avLst/>
            <a:gdLst/>
            <a:ahLst/>
            <a:cxnLst/>
            <a:rect l="l" t="t" r="r" b="b"/>
            <a:pathLst>
              <a:path w="194310" h="513079">
                <a:moveTo>
                  <a:pt x="193909" y="512603"/>
                </a:moveTo>
                <a:lnTo>
                  <a:pt x="0" y="0"/>
                </a:lnTo>
              </a:path>
            </a:pathLst>
          </a:custGeom>
          <a:ln w="28575">
            <a:solidFill>
              <a:srgbClr val="B482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76882" y="3644112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2"/>
                </a:lnTo>
                <a:lnTo>
                  <a:pt x="30323" y="64343"/>
                </a:lnTo>
                <a:lnTo>
                  <a:pt x="8012" y="107486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4" y="157162"/>
                </a:lnTo>
                <a:lnTo>
                  <a:pt x="306312" y="107486"/>
                </a:lnTo>
                <a:lnTo>
                  <a:pt x="284001" y="64343"/>
                </a:lnTo>
                <a:lnTo>
                  <a:pt x="249980" y="30322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95188" y="4093147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74903" y="4093146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3" y="249981"/>
                </a:lnTo>
                <a:lnTo>
                  <a:pt x="64344" y="284002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2"/>
                </a:lnTo>
                <a:lnTo>
                  <a:pt x="284001" y="249981"/>
                </a:lnTo>
                <a:lnTo>
                  <a:pt x="306312" y="206838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4125" y="4725469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6" y="8012"/>
                </a:lnTo>
                <a:lnTo>
                  <a:pt x="64343" y="30323"/>
                </a:lnTo>
                <a:lnTo>
                  <a:pt x="30322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2" y="249981"/>
                </a:lnTo>
                <a:lnTo>
                  <a:pt x="64343" y="284002"/>
                </a:lnTo>
                <a:lnTo>
                  <a:pt x="107486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2"/>
                </a:lnTo>
                <a:lnTo>
                  <a:pt x="284001" y="249981"/>
                </a:lnTo>
                <a:lnTo>
                  <a:pt x="306312" y="206838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85019" y="4725469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3" y="249981"/>
                </a:lnTo>
                <a:lnTo>
                  <a:pt x="64344" y="284002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8" y="306312"/>
                </a:lnTo>
                <a:lnTo>
                  <a:pt x="249981" y="284002"/>
                </a:lnTo>
                <a:lnTo>
                  <a:pt x="284002" y="249981"/>
                </a:lnTo>
                <a:lnTo>
                  <a:pt x="306312" y="206838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2" y="64344"/>
                </a:lnTo>
                <a:lnTo>
                  <a:pt x="249981" y="30323"/>
                </a:lnTo>
                <a:lnTo>
                  <a:pt x="206838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17566" y="5318874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3" y="249981"/>
                </a:lnTo>
                <a:lnTo>
                  <a:pt x="64344" y="284002"/>
                </a:lnTo>
                <a:lnTo>
                  <a:pt x="107487" y="306313"/>
                </a:lnTo>
                <a:lnTo>
                  <a:pt x="157162" y="314325"/>
                </a:lnTo>
                <a:lnTo>
                  <a:pt x="206837" y="306313"/>
                </a:lnTo>
                <a:lnTo>
                  <a:pt x="249980" y="284002"/>
                </a:lnTo>
                <a:lnTo>
                  <a:pt x="284001" y="249981"/>
                </a:lnTo>
                <a:lnTo>
                  <a:pt x="306312" y="206838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44136" y="531846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3" y="249981"/>
                </a:lnTo>
                <a:lnTo>
                  <a:pt x="64344" y="284002"/>
                </a:lnTo>
                <a:lnTo>
                  <a:pt x="107487" y="306313"/>
                </a:lnTo>
                <a:lnTo>
                  <a:pt x="157162" y="314325"/>
                </a:lnTo>
                <a:lnTo>
                  <a:pt x="206837" y="306313"/>
                </a:lnTo>
                <a:lnTo>
                  <a:pt x="249980" y="284002"/>
                </a:lnTo>
                <a:lnTo>
                  <a:pt x="284001" y="249981"/>
                </a:lnTo>
                <a:lnTo>
                  <a:pt x="306312" y="206838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58461" y="531846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2"/>
                </a:lnTo>
                <a:lnTo>
                  <a:pt x="30323" y="64343"/>
                </a:lnTo>
                <a:lnTo>
                  <a:pt x="8012" y="107486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4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6"/>
                </a:lnTo>
                <a:lnTo>
                  <a:pt x="284001" y="64343"/>
                </a:lnTo>
                <a:lnTo>
                  <a:pt x="249980" y="30322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72785" y="5318874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8"/>
                </a:lnTo>
                <a:lnTo>
                  <a:pt x="30323" y="249981"/>
                </a:lnTo>
                <a:lnTo>
                  <a:pt x="64344" y="284002"/>
                </a:lnTo>
                <a:lnTo>
                  <a:pt x="107487" y="306313"/>
                </a:lnTo>
                <a:lnTo>
                  <a:pt x="157162" y="314325"/>
                </a:lnTo>
                <a:lnTo>
                  <a:pt x="206838" y="306313"/>
                </a:lnTo>
                <a:lnTo>
                  <a:pt x="249981" y="284002"/>
                </a:lnTo>
                <a:lnTo>
                  <a:pt x="284002" y="249981"/>
                </a:lnTo>
                <a:lnTo>
                  <a:pt x="306312" y="206838"/>
                </a:lnTo>
                <a:lnTo>
                  <a:pt x="314324" y="157162"/>
                </a:lnTo>
                <a:lnTo>
                  <a:pt x="306312" y="107487"/>
                </a:lnTo>
                <a:lnTo>
                  <a:pt x="284002" y="64344"/>
                </a:lnTo>
                <a:lnTo>
                  <a:pt x="249981" y="30323"/>
                </a:lnTo>
                <a:lnTo>
                  <a:pt x="206838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97315" y="4725469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2"/>
                </a:lnTo>
                <a:lnTo>
                  <a:pt x="30323" y="64343"/>
                </a:lnTo>
                <a:lnTo>
                  <a:pt x="8012" y="107486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6"/>
                </a:lnTo>
                <a:lnTo>
                  <a:pt x="284001" y="64343"/>
                </a:lnTo>
                <a:lnTo>
                  <a:pt x="249980" y="30322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79039" y="4725468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6" y="8012"/>
                </a:lnTo>
                <a:lnTo>
                  <a:pt x="64343" y="30322"/>
                </a:lnTo>
                <a:lnTo>
                  <a:pt x="30322" y="64343"/>
                </a:lnTo>
                <a:lnTo>
                  <a:pt x="8012" y="107486"/>
                </a:lnTo>
                <a:lnTo>
                  <a:pt x="0" y="157162"/>
                </a:lnTo>
                <a:lnTo>
                  <a:pt x="8012" y="206837"/>
                </a:lnTo>
                <a:lnTo>
                  <a:pt x="30322" y="249980"/>
                </a:lnTo>
                <a:lnTo>
                  <a:pt x="64343" y="284001"/>
                </a:lnTo>
                <a:lnTo>
                  <a:pt x="107486" y="306312"/>
                </a:lnTo>
                <a:lnTo>
                  <a:pt x="157162" y="314324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6"/>
                </a:lnTo>
                <a:lnTo>
                  <a:pt x="284001" y="64343"/>
                </a:lnTo>
                <a:lnTo>
                  <a:pt x="249980" y="30322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99356" y="5318464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2"/>
                </a:lnTo>
                <a:lnTo>
                  <a:pt x="30323" y="64343"/>
                </a:lnTo>
                <a:lnTo>
                  <a:pt x="8012" y="107486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4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6"/>
                </a:lnTo>
                <a:lnTo>
                  <a:pt x="284001" y="64343"/>
                </a:lnTo>
                <a:lnTo>
                  <a:pt x="249980" y="30322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701435" y="5326895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15760" y="5318462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23967" y="5316416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0"/>
                </a:moveTo>
                <a:lnTo>
                  <a:pt x="107487" y="8012"/>
                </a:lnTo>
                <a:lnTo>
                  <a:pt x="64344" y="30323"/>
                </a:lnTo>
                <a:lnTo>
                  <a:pt x="30323" y="64344"/>
                </a:lnTo>
                <a:lnTo>
                  <a:pt x="8012" y="107487"/>
                </a:lnTo>
                <a:lnTo>
                  <a:pt x="0" y="157162"/>
                </a:lnTo>
                <a:lnTo>
                  <a:pt x="8012" y="206837"/>
                </a:lnTo>
                <a:lnTo>
                  <a:pt x="30323" y="249980"/>
                </a:lnTo>
                <a:lnTo>
                  <a:pt x="64344" y="284001"/>
                </a:lnTo>
                <a:lnTo>
                  <a:pt x="107487" y="306312"/>
                </a:lnTo>
                <a:lnTo>
                  <a:pt x="157162" y="314325"/>
                </a:lnTo>
                <a:lnTo>
                  <a:pt x="206837" y="306312"/>
                </a:lnTo>
                <a:lnTo>
                  <a:pt x="249980" y="284001"/>
                </a:lnTo>
                <a:lnTo>
                  <a:pt x="284001" y="249980"/>
                </a:lnTo>
                <a:lnTo>
                  <a:pt x="306312" y="206837"/>
                </a:lnTo>
                <a:lnTo>
                  <a:pt x="314325" y="157162"/>
                </a:lnTo>
                <a:lnTo>
                  <a:pt x="306312" y="107487"/>
                </a:lnTo>
                <a:lnTo>
                  <a:pt x="284001" y="64344"/>
                </a:lnTo>
                <a:lnTo>
                  <a:pt x="249980" y="30323"/>
                </a:lnTo>
                <a:lnTo>
                  <a:pt x="206837" y="8012"/>
                </a:lnTo>
                <a:lnTo>
                  <a:pt x="15716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398752" y="4211828"/>
            <a:ext cx="32391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Often Exponential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increase</a:t>
            </a:r>
            <a:r>
              <a:rPr dirty="0" sz="18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in  number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of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nodes as depth  increases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0286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52365"/>
            <a:ext cx="6151880" cy="11207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latin typeface="Calibri"/>
                <a:cs typeface="Calibri"/>
              </a:rPr>
              <a:t>Graphs </a:t>
            </a:r>
            <a:r>
              <a:rPr dirty="0" spc="-5" b="0">
                <a:latin typeface="Calibri"/>
                <a:cs typeface="Calibri"/>
              </a:rPr>
              <a:t>with </a:t>
            </a:r>
            <a:r>
              <a:rPr dirty="0" spc="-15" b="0">
                <a:latin typeface="Calibri"/>
                <a:cs typeface="Calibri"/>
              </a:rPr>
              <a:t>many large</a:t>
            </a:r>
            <a:r>
              <a:rPr dirty="0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cycles</a:t>
            </a: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Best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spherical </a:t>
            </a:r>
            <a:r>
              <a:rPr dirty="0" sz="2800" spc="-5">
                <a:latin typeface="Calibri"/>
                <a:cs typeface="Calibri"/>
              </a:rPr>
              <a:t>space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207439"/>
            <a:ext cx="6249035" cy="114681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Grid-like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Best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Euclidean </a:t>
            </a:r>
            <a:r>
              <a:rPr dirty="0" sz="2800" spc="-5">
                <a:latin typeface="Calibri"/>
                <a:cs typeface="Calibri"/>
              </a:rPr>
              <a:t>space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5780532"/>
            <a:ext cx="53257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Hierarchical, tree-like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62102" y="2666409"/>
            <a:ext cx="917271" cy="917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93600" y="2460282"/>
            <a:ext cx="1112122" cy="12417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11089" y="4645019"/>
            <a:ext cx="974158" cy="9741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54773" y="4488572"/>
            <a:ext cx="1358284" cy="13959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25739" y="3081138"/>
            <a:ext cx="800100" cy="114300"/>
          </a:xfrm>
          <a:custGeom>
            <a:avLst/>
            <a:gdLst/>
            <a:ahLst/>
            <a:cxnLst/>
            <a:rect l="l" t="t" r="r" b="b"/>
            <a:pathLst>
              <a:path w="800100" h="114300">
                <a:moveTo>
                  <a:pt x="742950" y="0"/>
                </a:moveTo>
                <a:lnTo>
                  <a:pt x="742950" y="28575"/>
                </a:lnTo>
                <a:lnTo>
                  <a:pt x="0" y="28575"/>
                </a:lnTo>
                <a:lnTo>
                  <a:pt x="0" y="85725"/>
                </a:lnTo>
                <a:lnTo>
                  <a:pt x="742950" y="85725"/>
                </a:lnTo>
                <a:lnTo>
                  <a:pt x="742950" y="114300"/>
                </a:lnTo>
                <a:lnTo>
                  <a:pt x="800100" y="57150"/>
                </a:lnTo>
                <a:lnTo>
                  <a:pt x="74295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219957" y="2760979"/>
            <a:ext cx="723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2060"/>
                </a:solidFill>
                <a:latin typeface="Corbel"/>
                <a:cs typeface="Corbel"/>
              </a:rPr>
              <a:t>Em</a:t>
            </a:r>
            <a:r>
              <a:rPr dirty="0" sz="1800" spc="-5" b="1">
                <a:solidFill>
                  <a:srgbClr val="002060"/>
                </a:solidFill>
                <a:latin typeface="Corbel"/>
                <a:cs typeface="Corbel"/>
              </a:rPr>
              <a:t>b</a:t>
            </a:r>
            <a:r>
              <a:rPr dirty="0" sz="1800" b="1">
                <a:solidFill>
                  <a:srgbClr val="002060"/>
                </a:solidFill>
                <a:latin typeface="Corbel"/>
                <a:cs typeface="Corbel"/>
              </a:rPr>
              <a:t>ed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84732" y="4906771"/>
            <a:ext cx="723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2060"/>
                </a:solidFill>
                <a:latin typeface="Corbel"/>
                <a:cs typeface="Corbel"/>
              </a:rPr>
              <a:t>Em</a:t>
            </a:r>
            <a:r>
              <a:rPr dirty="0" sz="1800" spc="-5" b="1">
                <a:solidFill>
                  <a:srgbClr val="002060"/>
                </a:solidFill>
                <a:latin typeface="Corbel"/>
                <a:cs typeface="Corbel"/>
              </a:rPr>
              <a:t>b</a:t>
            </a:r>
            <a:r>
              <a:rPr dirty="0" sz="1800" b="1">
                <a:solidFill>
                  <a:srgbClr val="002060"/>
                </a:solidFill>
                <a:latin typeface="Corbel"/>
                <a:cs typeface="Corbel"/>
              </a:rPr>
              <a:t>ed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95766" y="2837179"/>
            <a:ext cx="1134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orbel"/>
                <a:cs typeface="Corbel"/>
              </a:rPr>
              <a:t>+</a:t>
            </a:r>
            <a:r>
              <a:rPr dirty="0" sz="1800" spc="-65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Corbel"/>
                <a:cs typeface="Corbel"/>
              </a:rPr>
              <a:t>curvature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8834" y="4955540"/>
            <a:ext cx="1132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Corbel"/>
                <a:cs typeface="Corbel"/>
              </a:rPr>
              <a:t>0</a:t>
            </a:r>
            <a:r>
              <a:rPr dirty="0" sz="1800" spc="-95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Corbel"/>
                <a:cs typeface="Corbel"/>
              </a:rPr>
              <a:t>curvature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78807" y="5172787"/>
            <a:ext cx="800100" cy="114300"/>
          </a:xfrm>
          <a:custGeom>
            <a:avLst/>
            <a:gdLst/>
            <a:ahLst/>
            <a:cxnLst/>
            <a:rect l="l" t="t" r="r" b="b"/>
            <a:pathLst>
              <a:path w="800100" h="114300">
                <a:moveTo>
                  <a:pt x="742950" y="0"/>
                </a:moveTo>
                <a:lnTo>
                  <a:pt x="742950" y="28574"/>
                </a:lnTo>
                <a:lnTo>
                  <a:pt x="0" y="28574"/>
                </a:lnTo>
                <a:lnTo>
                  <a:pt x="0" y="85724"/>
                </a:lnTo>
                <a:lnTo>
                  <a:pt x="742950" y="85724"/>
                </a:lnTo>
                <a:lnTo>
                  <a:pt x="742950" y="114299"/>
                </a:lnTo>
                <a:lnTo>
                  <a:pt x="800100" y="57149"/>
                </a:lnTo>
                <a:lnTo>
                  <a:pt x="74295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479" y="1567179"/>
            <a:ext cx="7595234" cy="1735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latin typeface="Calibri"/>
                <a:cs typeface="Calibri"/>
              </a:rPr>
              <a:t>Modeling </a:t>
            </a:r>
            <a:r>
              <a:rPr dirty="0" sz="2800" spc="-15">
                <a:solidFill>
                  <a:srgbClr val="C00000"/>
                </a:solidFill>
              </a:rPr>
              <a:t>Hierarchical, tree-like</a:t>
            </a:r>
            <a:r>
              <a:rPr dirty="0" sz="2800" spc="60">
                <a:solidFill>
                  <a:srgbClr val="C00000"/>
                </a:solidFill>
              </a:rPr>
              <a:t> </a:t>
            </a:r>
            <a:r>
              <a:rPr dirty="0" sz="2800" spc="-15" b="0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ct val="99600"/>
              </a:lnSpc>
              <a:spcBef>
                <a:spcPts val="6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latin typeface="Calibri"/>
                <a:cs typeface="Calibri"/>
              </a:rPr>
              <a:t>Hyperbolic space: an </a:t>
            </a:r>
            <a:r>
              <a:rPr dirty="0" sz="2800" spc="-15" b="0">
                <a:latin typeface="Calibri"/>
                <a:cs typeface="Calibri"/>
              </a:rPr>
              <a:t>alternative </a:t>
            </a:r>
            <a:r>
              <a:rPr dirty="0" sz="2800" spc="-5" b="0">
                <a:latin typeface="Calibri"/>
                <a:cs typeface="Calibri"/>
              </a:rPr>
              <a:t>embedding space  </a:t>
            </a:r>
            <a:r>
              <a:rPr dirty="0" sz="2800" spc="-15" b="0">
                <a:latin typeface="Calibri"/>
                <a:cs typeface="Calibri"/>
              </a:rPr>
              <a:t>to </a:t>
            </a:r>
            <a:r>
              <a:rPr dirty="0" sz="2800" spc="-5" b="0">
                <a:latin typeface="Calibri"/>
                <a:cs typeface="Calibri"/>
              </a:rPr>
              <a:t>model embeddings </a:t>
            </a:r>
            <a:r>
              <a:rPr dirty="0" sz="2800" spc="-25" b="0">
                <a:latin typeface="Calibri"/>
                <a:cs typeface="Calibri"/>
              </a:rPr>
              <a:t>for </a:t>
            </a:r>
            <a:r>
              <a:rPr dirty="0" sz="2800" spc="-10" b="0">
                <a:latin typeface="Calibri"/>
                <a:cs typeface="Calibri"/>
              </a:rPr>
              <a:t>trees </a:t>
            </a:r>
            <a:r>
              <a:rPr dirty="0" sz="2800" spc="-5" b="0">
                <a:latin typeface="Calibri"/>
                <a:cs typeface="Calibri"/>
              </a:rPr>
              <a:t>with </a:t>
            </a:r>
            <a:r>
              <a:rPr dirty="0" sz="2800" spc="-25" b="0">
                <a:latin typeface="Calibri"/>
                <a:cs typeface="Calibri"/>
              </a:rPr>
              <a:t>tree-like  </a:t>
            </a:r>
            <a:r>
              <a:rPr dirty="0" sz="2800" spc="-10" b="0">
                <a:latin typeface="Calibri"/>
                <a:cs typeface="Calibri"/>
              </a:rPr>
              <a:t>structure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216" y="347472"/>
            <a:ext cx="71597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92907" y="5406932"/>
            <a:ext cx="914400" cy="9122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48254" y="5745801"/>
            <a:ext cx="800100" cy="114300"/>
          </a:xfrm>
          <a:custGeom>
            <a:avLst/>
            <a:gdLst/>
            <a:ahLst/>
            <a:cxnLst/>
            <a:rect l="l" t="t" r="r" b="b"/>
            <a:pathLst>
              <a:path w="800100" h="114300">
                <a:moveTo>
                  <a:pt x="742951" y="0"/>
                </a:moveTo>
                <a:lnTo>
                  <a:pt x="742951" y="28574"/>
                </a:lnTo>
                <a:lnTo>
                  <a:pt x="0" y="28574"/>
                </a:lnTo>
                <a:lnTo>
                  <a:pt x="0" y="85724"/>
                </a:lnTo>
                <a:lnTo>
                  <a:pt x="742951" y="85724"/>
                </a:lnTo>
                <a:lnTo>
                  <a:pt x="742951" y="114299"/>
                </a:lnTo>
                <a:lnTo>
                  <a:pt x="800100" y="57149"/>
                </a:lnTo>
                <a:lnTo>
                  <a:pt x="742951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72000" y="5382581"/>
            <a:ext cx="950095" cy="10261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479" y="3283203"/>
            <a:ext cx="7375525" cy="25546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290"/>
              </a:lnSpc>
              <a:spcBef>
                <a:spcPts val="26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 b="1">
                <a:solidFill>
                  <a:srgbClr val="008000"/>
                </a:solidFill>
                <a:latin typeface="Calibri"/>
                <a:cs typeface="Calibri"/>
              </a:rPr>
              <a:t>Advantage</a:t>
            </a:r>
            <a:r>
              <a:rPr dirty="0" sz="2800" spc="-15">
                <a:latin typeface="Calibri"/>
                <a:cs typeface="Calibri"/>
              </a:rPr>
              <a:t>: </a:t>
            </a:r>
            <a:r>
              <a:rPr dirty="0" sz="2800" spc="-10">
                <a:latin typeface="Calibri"/>
                <a:cs typeface="Calibri"/>
              </a:rPr>
              <a:t>hyperbolic </a:t>
            </a:r>
            <a:r>
              <a:rPr dirty="0" sz="2800" spc="-5">
                <a:latin typeface="Calibri"/>
                <a:cs typeface="Calibri"/>
              </a:rPr>
              <a:t>embedding </a:t>
            </a:r>
            <a:r>
              <a:rPr dirty="0" sz="2800" spc="-10">
                <a:latin typeface="Calibri"/>
                <a:cs typeface="Calibri"/>
              </a:rPr>
              <a:t>properties  (explained </a:t>
            </a:r>
            <a:r>
              <a:rPr dirty="0" sz="2800" spc="-15">
                <a:latin typeface="Calibri"/>
                <a:cs typeface="Calibri"/>
              </a:rPr>
              <a:t>later) </a:t>
            </a:r>
            <a:r>
              <a:rPr dirty="0" sz="2800" spc="-10">
                <a:latin typeface="Calibri"/>
                <a:cs typeface="Calibri"/>
              </a:rPr>
              <a:t>allow </a:t>
            </a:r>
            <a:r>
              <a:rPr dirty="0" sz="2800" spc="-5">
                <a:latin typeface="Calibri"/>
                <a:cs typeface="Calibri"/>
              </a:rPr>
              <a:t>it </a:t>
            </a:r>
            <a:r>
              <a:rPr dirty="0" sz="2800" spc="-15">
                <a:latin typeface="Calibri"/>
                <a:cs typeface="Calibri"/>
              </a:rPr>
              <a:t>to naturally </a:t>
            </a:r>
            <a:r>
              <a:rPr dirty="0" sz="2800" spc="-5">
                <a:latin typeface="Calibri"/>
                <a:cs typeface="Calibri"/>
              </a:rPr>
              <a:t>model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trees</a:t>
            </a:r>
            <a:endParaRPr sz="2800">
              <a:latin typeface="Calibri"/>
              <a:cs typeface="Calibri"/>
            </a:endParaRPr>
          </a:p>
          <a:p>
            <a:pPr marL="332740" marR="803910" indent="-320040">
              <a:lnSpc>
                <a:spcPts val="3290"/>
              </a:lnSpc>
              <a:spcBef>
                <a:spcPts val="11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Challenges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15">
                <a:latin typeface="Calibri"/>
                <a:cs typeface="Calibri"/>
              </a:rPr>
              <a:t>existing </a:t>
            </a:r>
            <a:r>
              <a:rPr dirty="0" sz="2800" spc="-5">
                <a:latin typeface="Calibri"/>
                <a:cs typeface="Calibri"/>
              </a:rPr>
              <a:t>deep learning and  </a:t>
            </a:r>
            <a:r>
              <a:rPr dirty="0" sz="2800" spc="-15">
                <a:latin typeface="Calibri"/>
                <a:cs typeface="Calibri"/>
              </a:rPr>
              <a:t>optimization </a:t>
            </a:r>
            <a:r>
              <a:rPr dirty="0" sz="2800" spc="-10">
                <a:latin typeface="Calibri"/>
                <a:cs typeface="Calibri"/>
              </a:rPr>
              <a:t>toolkits can </a:t>
            </a:r>
            <a:r>
              <a:rPr dirty="0" sz="2800" spc="-5">
                <a:latin typeface="Calibri"/>
                <a:cs typeface="Calibri"/>
              </a:rPr>
              <a:t>only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applied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marL="332105">
              <a:lnSpc>
                <a:spcPts val="3310"/>
              </a:lnSpc>
            </a:pPr>
            <a:r>
              <a:rPr dirty="0" sz="2800" spc="-10">
                <a:latin typeface="Calibri"/>
                <a:cs typeface="Calibri"/>
              </a:rPr>
              <a:t>hyperbolic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embeddings</a:t>
            </a:r>
            <a:endParaRPr sz="2800">
              <a:latin typeface="Calibri"/>
              <a:cs typeface="Calibri"/>
            </a:endParaRPr>
          </a:p>
          <a:p>
            <a:pPr algn="ctr" marR="671195">
              <a:lnSpc>
                <a:spcPts val="1445"/>
              </a:lnSpc>
              <a:spcBef>
                <a:spcPts val="445"/>
              </a:spcBef>
            </a:pPr>
            <a:r>
              <a:rPr dirty="0" sz="1350" spc="-20">
                <a:solidFill>
                  <a:srgbClr val="D9253E"/>
                </a:solidFill>
                <a:latin typeface="Arial"/>
                <a:cs typeface="Arial"/>
              </a:rPr>
              <a:t>Embed</a:t>
            </a:r>
            <a:endParaRPr sz="1350">
              <a:latin typeface="Arial"/>
              <a:cs typeface="Arial"/>
            </a:endParaRPr>
          </a:p>
          <a:p>
            <a:pPr algn="r" marR="1551305">
              <a:lnSpc>
                <a:spcPts val="1265"/>
              </a:lnSpc>
            </a:pPr>
            <a:r>
              <a:rPr dirty="0" sz="1200" b="1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dirty="0" sz="12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200" spc="-5" b="1">
                <a:solidFill>
                  <a:srgbClr val="FF0000"/>
                </a:solidFill>
                <a:latin typeface="Times New Roman"/>
                <a:cs typeface="Times New Roman"/>
              </a:rPr>
              <a:t>curvature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479" y="1568196"/>
            <a:ext cx="7539355" cy="12204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15">
                <a:solidFill>
                  <a:srgbClr val="C00000"/>
                </a:solidFill>
              </a:rPr>
              <a:t>Hierarchical, tree-like</a:t>
            </a:r>
            <a:r>
              <a:rPr dirty="0" sz="2600" spc="-10">
                <a:solidFill>
                  <a:srgbClr val="C00000"/>
                </a:solidFill>
              </a:rPr>
              <a:t> </a:t>
            </a:r>
            <a:r>
              <a:rPr dirty="0" sz="2600" spc="-10" b="0">
                <a:latin typeface="Calibri"/>
                <a:cs typeface="Calibri"/>
              </a:rPr>
              <a:t>graphs</a:t>
            </a:r>
            <a:endParaRPr sz="2600">
              <a:latin typeface="Calibri"/>
              <a:cs typeface="Calibri"/>
            </a:endParaRPr>
          </a:p>
          <a:p>
            <a:pPr marL="332740" marR="5080" indent="-320040">
              <a:lnSpc>
                <a:spcPts val="3100"/>
              </a:lnSpc>
              <a:spcBef>
                <a:spcPts val="19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 b="0">
                <a:latin typeface="Calibri"/>
                <a:cs typeface="Calibri"/>
              </a:rPr>
              <a:t>Hyperbolic </a:t>
            </a:r>
            <a:r>
              <a:rPr dirty="0" sz="2600" spc="-10" b="0">
                <a:latin typeface="Calibri"/>
                <a:cs typeface="Calibri"/>
              </a:rPr>
              <a:t>geometry </a:t>
            </a:r>
            <a:r>
              <a:rPr dirty="0" sz="2600" spc="-25" b="0">
                <a:latin typeface="Calibri"/>
                <a:cs typeface="Calibri"/>
              </a:rPr>
              <a:t>differs </a:t>
            </a:r>
            <a:r>
              <a:rPr dirty="0" sz="2600" spc="-15" b="0">
                <a:latin typeface="Calibri"/>
                <a:cs typeface="Calibri"/>
              </a:rPr>
              <a:t>from </a:t>
            </a:r>
            <a:r>
              <a:rPr dirty="0" sz="2600" spc="-5" b="0">
                <a:latin typeface="Calibri"/>
                <a:cs typeface="Calibri"/>
              </a:rPr>
              <a:t>Euclidean </a:t>
            </a:r>
            <a:r>
              <a:rPr dirty="0" sz="2600" spc="-10" b="0">
                <a:latin typeface="Calibri"/>
                <a:cs typeface="Calibri"/>
              </a:rPr>
              <a:t>geometry  by </a:t>
            </a:r>
            <a:r>
              <a:rPr dirty="0" sz="2600" spc="-5" b="0">
                <a:latin typeface="Calibri"/>
                <a:cs typeface="Calibri"/>
              </a:rPr>
              <a:t>the </a:t>
            </a:r>
            <a:r>
              <a:rPr dirty="0" sz="2600" spc="-10">
                <a:solidFill>
                  <a:srgbClr val="D60093"/>
                </a:solidFill>
              </a:rPr>
              <a:t>parallel </a:t>
            </a:r>
            <a:r>
              <a:rPr dirty="0" sz="2600" spc="-15">
                <a:solidFill>
                  <a:srgbClr val="D60093"/>
                </a:solidFill>
              </a:rPr>
              <a:t>postulate </a:t>
            </a:r>
            <a:r>
              <a:rPr dirty="0" sz="2600" spc="-5">
                <a:solidFill>
                  <a:srgbClr val="D60093"/>
                </a:solidFill>
              </a:rPr>
              <a:t>(5</a:t>
            </a:r>
            <a:r>
              <a:rPr dirty="0" baseline="26143" sz="2550" spc="-7">
                <a:solidFill>
                  <a:srgbClr val="D60093"/>
                </a:solidFill>
              </a:rPr>
              <a:t>th</a:t>
            </a:r>
            <a:r>
              <a:rPr dirty="0" baseline="26143" sz="2550" spc="15">
                <a:solidFill>
                  <a:srgbClr val="D60093"/>
                </a:solidFill>
              </a:rPr>
              <a:t> </a:t>
            </a:r>
            <a:r>
              <a:rPr dirty="0" sz="2600" spc="-5">
                <a:solidFill>
                  <a:srgbClr val="D60093"/>
                </a:solidFill>
              </a:rPr>
              <a:t>axiom)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216" y="347472"/>
            <a:ext cx="58552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60254" y="5309254"/>
            <a:ext cx="1636162" cy="14725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61531" y="5451924"/>
            <a:ext cx="115570" cy="115570"/>
          </a:xfrm>
          <a:custGeom>
            <a:avLst/>
            <a:gdLst/>
            <a:ahLst/>
            <a:cxnLst/>
            <a:rect l="l" t="t" r="r" b="b"/>
            <a:pathLst>
              <a:path w="115570" h="115570">
                <a:moveTo>
                  <a:pt x="49729" y="0"/>
                </a:moveTo>
                <a:lnTo>
                  <a:pt x="28602" y="7269"/>
                </a:lnTo>
                <a:lnTo>
                  <a:pt x="11743" y="21930"/>
                </a:lnTo>
                <a:lnTo>
                  <a:pt x="1447" y="42658"/>
                </a:lnTo>
                <a:lnTo>
                  <a:pt x="0" y="65756"/>
                </a:lnTo>
                <a:lnTo>
                  <a:pt x="7270" y="86883"/>
                </a:lnTo>
                <a:lnTo>
                  <a:pt x="21931" y="103742"/>
                </a:lnTo>
                <a:lnTo>
                  <a:pt x="42659" y="114038"/>
                </a:lnTo>
                <a:lnTo>
                  <a:pt x="65757" y="115486"/>
                </a:lnTo>
                <a:lnTo>
                  <a:pt x="86884" y="108216"/>
                </a:lnTo>
                <a:lnTo>
                  <a:pt x="103743" y="93554"/>
                </a:lnTo>
                <a:lnTo>
                  <a:pt x="114039" y="72826"/>
                </a:lnTo>
                <a:lnTo>
                  <a:pt x="115486" y="49728"/>
                </a:lnTo>
                <a:lnTo>
                  <a:pt x="108216" y="28601"/>
                </a:lnTo>
                <a:lnTo>
                  <a:pt x="93555" y="11742"/>
                </a:lnTo>
                <a:lnTo>
                  <a:pt x="72827" y="1447"/>
                </a:lnTo>
                <a:lnTo>
                  <a:pt x="497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479" y="2759964"/>
            <a:ext cx="7416165" cy="3641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>
                <a:latin typeface="Calibri"/>
                <a:cs typeface="Calibri"/>
              </a:rPr>
              <a:t>In Euclidean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geometry:</a:t>
            </a:r>
            <a:endParaRPr sz="2600">
              <a:latin typeface="Calibri"/>
              <a:cs typeface="Calibri"/>
            </a:endParaRPr>
          </a:p>
          <a:p>
            <a:pPr marL="332105" marR="116205">
              <a:lnSpc>
                <a:spcPts val="3100"/>
              </a:lnSpc>
              <a:spcBef>
                <a:spcPts val="120"/>
              </a:spcBef>
            </a:pPr>
            <a:r>
              <a:rPr dirty="0" sz="2600" spc="-5">
                <a:latin typeface="Calibri"/>
                <a:cs typeface="Calibri"/>
              </a:rPr>
              <a:t>In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plane, </a:t>
            </a:r>
            <a:r>
              <a:rPr dirty="0" sz="2600" spc="-10">
                <a:latin typeface="Calibri"/>
                <a:cs typeface="Calibri"/>
              </a:rPr>
              <a:t>given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line and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10">
                <a:latin typeface="Calibri"/>
                <a:cs typeface="Calibri"/>
              </a:rPr>
              <a:t>point </a:t>
            </a:r>
            <a:r>
              <a:rPr dirty="0" sz="2600" spc="-5">
                <a:latin typeface="Calibri"/>
                <a:cs typeface="Calibri"/>
              </a:rPr>
              <a:t>not </a:t>
            </a:r>
            <a:r>
              <a:rPr dirty="0" sz="2600">
                <a:latin typeface="Calibri"/>
                <a:cs typeface="Calibri"/>
              </a:rPr>
              <a:t>on it, </a:t>
            </a:r>
            <a:r>
              <a:rPr dirty="0" sz="2600" spc="-10">
                <a:latin typeface="Calibri"/>
                <a:cs typeface="Calibri"/>
              </a:rPr>
              <a:t>at most  </a:t>
            </a:r>
            <a:r>
              <a:rPr dirty="0" sz="2600" spc="-5">
                <a:latin typeface="Calibri"/>
                <a:cs typeface="Calibri"/>
              </a:rPr>
              <a:t>one line </a:t>
            </a:r>
            <a:r>
              <a:rPr dirty="0" sz="2600" spc="-10">
                <a:latin typeface="Calibri"/>
                <a:cs typeface="Calibri"/>
              </a:rPr>
              <a:t>parallel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given </a:t>
            </a:r>
            <a:r>
              <a:rPr dirty="0" sz="2600" spc="-5">
                <a:latin typeface="Calibri"/>
                <a:cs typeface="Calibri"/>
              </a:rPr>
              <a:t>line </a:t>
            </a:r>
            <a:r>
              <a:rPr dirty="0" sz="2600" spc="-10">
                <a:latin typeface="Calibri"/>
                <a:cs typeface="Calibri"/>
              </a:rPr>
              <a:t>can </a:t>
            </a:r>
            <a:r>
              <a:rPr dirty="0" sz="2600" spc="-5">
                <a:latin typeface="Calibri"/>
                <a:cs typeface="Calibri"/>
              </a:rPr>
              <a:t>be</a:t>
            </a:r>
            <a:r>
              <a:rPr dirty="0" sz="2600" spc="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drawn</a:t>
            </a:r>
            <a:endParaRPr sz="2600">
              <a:latin typeface="Calibri"/>
              <a:cs typeface="Calibri"/>
            </a:endParaRPr>
          </a:p>
          <a:p>
            <a:pPr marL="332105">
              <a:lnSpc>
                <a:spcPts val="3080"/>
              </a:lnSpc>
            </a:pPr>
            <a:r>
              <a:rPr dirty="0" sz="2600" spc="-10">
                <a:latin typeface="Calibri"/>
                <a:cs typeface="Calibri"/>
              </a:rPr>
              <a:t>through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point.</a:t>
            </a:r>
            <a:endParaRPr sz="2600">
              <a:latin typeface="Calibri"/>
              <a:cs typeface="Calibri"/>
            </a:endParaRPr>
          </a:p>
          <a:p>
            <a:pPr marL="332740" marR="5080" indent="-320040">
              <a:lnSpc>
                <a:spcPct val="99600"/>
              </a:lnSpc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40">
                <a:latin typeface="Calibri"/>
                <a:cs typeface="Calibri"/>
              </a:rPr>
              <a:t>However,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hyperbolic </a:t>
            </a:r>
            <a:r>
              <a:rPr dirty="0" sz="2600" spc="-30">
                <a:latin typeface="Calibri"/>
                <a:cs typeface="Calibri"/>
              </a:rPr>
              <a:t>geometry, </a:t>
            </a:r>
            <a:r>
              <a:rPr dirty="0" sz="2600" spc="-10">
                <a:latin typeface="Calibri"/>
                <a:cs typeface="Calibri"/>
              </a:rPr>
              <a:t>there are infinite  </a:t>
            </a:r>
            <a:r>
              <a:rPr dirty="0" sz="2600" spc="-5">
                <a:latin typeface="Calibri"/>
                <a:cs typeface="Calibri"/>
              </a:rPr>
              <a:t>number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5">
                <a:latin typeface="Calibri"/>
                <a:cs typeface="Calibri"/>
              </a:rPr>
              <a:t>lines </a:t>
            </a:r>
            <a:r>
              <a:rPr dirty="0" sz="2600" spc="-10">
                <a:latin typeface="Calibri"/>
                <a:cs typeface="Calibri"/>
              </a:rPr>
              <a:t>parallel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given </a:t>
            </a:r>
            <a:r>
              <a:rPr dirty="0" sz="2600" spc="-5">
                <a:latin typeface="Calibri"/>
                <a:cs typeface="Calibri"/>
              </a:rPr>
              <a:t>line </a:t>
            </a:r>
            <a:r>
              <a:rPr dirty="0" sz="2600" spc="-10">
                <a:latin typeface="Calibri"/>
                <a:cs typeface="Calibri"/>
              </a:rPr>
              <a:t>through </a:t>
            </a:r>
            <a:r>
              <a:rPr dirty="0" sz="2600" spc="-5">
                <a:latin typeface="Calibri"/>
                <a:cs typeface="Calibri"/>
              </a:rPr>
              <a:t>the  </a:t>
            </a:r>
            <a:r>
              <a:rPr dirty="0" sz="2600" spc="-10">
                <a:latin typeface="Calibri"/>
                <a:cs typeface="Calibri"/>
              </a:rPr>
              <a:t>point</a:t>
            </a:r>
            <a:endParaRPr sz="2600">
              <a:latin typeface="Calibri"/>
              <a:cs typeface="Calibri"/>
            </a:endParaRPr>
          </a:p>
          <a:p>
            <a:pPr marL="3779520" marR="309880">
              <a:lnSpc>
                <a:spcPct val="99400"/>
              </a:lnSpc>
              <a:spcBef>
                <a:spcPts val="185"/>
              </a:spcBef>
            </a:pPr>
            <a:r>
              <a:rPr dirty="0" sz="1800" spc="-5">
                <a:latin typeface="Corbel"/>
                <a:cs typeface="Corbel"/>
              </a:rPr>
              <a:t>Set </a:t>
            </a:r>
            <a:r>
              <a:rPr dirty="0" sz="1800">
                <a:latin typeface="Corbel"/>
                <a:cs typeface="Corbel"/>
              </a:rPr>
              <a:t>of </a:t>
            </a:r>
            <a:r>
              <a:rPr dirty="0" sz="1800" spc="-5">
                <a:latin typeface="Corbel"/>
                <a:cs typeface="Corbel"/>
              </a:rPr>
              <a:t>geodesic lines from </a:t>
            </a:r>
            <a:r>
              <a:rPr dirty="0" sz="1800">
                <a:latin typeface="Corbel"/>
                <a:cs typeface="Corbel"/>
              </a:rPr>
              <a:t>the </a:t>
            </a:r>
            <a:r>
              <a:rPr dirty="0" sz="1800" spc="-5">
                <a:solidFill>
                  <a:srgbClr val="C00000"/>
                </a:solidFill>
                <a:latin typeface="Corbel"/>
                <a:cs typeface="Corbel"/>
              </a:rPr>
              <a:t>red  </a:t>
            </a:r>
            <a:r>
              <a:rPr dirty="0" sz="1800" spc="-5">
                <a:latin typeface="Corbel"/>
                <a:cs typeface="Corbel"/>
              </a:rPr>
              <a:t>point to boundary </a:t>
            </a:r>
            <a:r>
              <a:rPr dirty="0" sz="1800">
                <a:latin typeface="Corbel"/>
                <a:cs typeface="Corbel"/>
              </a:rPr>
              <a:t>of </a:t>
            </a:r>
            <a:r>
              <a:rPr dirty="0" sz="1800" spc="-5">
                <a:latin typeface="Corbel"/>
                <a:cs typeface="Corbel"/>
              </a:rPr>
              <a:t>the </a:t>
            </a:r>
            <a:r>
              <a:rPr dirty="0" sz="1800" spc="-15">
                <a:latin typeface="Corbel"/>
                <a:cs typeface="Corbel"/>
              </a:rPr>
              <a:t>Poincare  </a:t>
            </a:r>
            <a:r>
              <a:rPr dirty="0" sz="1800" spc="-5">
                <a:latin typeface="Corbel"/>
                <a:cs typeface="Corbel"/>
              </a:rPr>
              <a:t>ball </a:t>
            </a:r>
            <a:r>
              <a:rPr dirty="0" sz="1800">
                <a:latin typeface="Corbel"/>
                <a:cs typeface="Corbel"/>
              </a:rPr>
              <a:t>that </a:t>
            </a:r>
            <a:r>
              <a:rPr dirty="0" sz="1800" spc="-5">
                <a:latin typeface="Corbel"/>
                <a:cs typeface="Corbel"/>
              </a:rPr>
              <a:t>are parallel </a:t>
            </a:r>
            <a:r>
              <a:rPr dirty="0" sz="1800">
                <a:latin typeface="Corbel"/>
                <a:cs typeface="Corbel"/>
              </a:rPr>
              <a:t>to the </a:t>
            </a:r>
            <a:r>
              <a:rPr dirty="0" sz="1800" spc="-5">
                <a:solidFill>
                  <a:srgbClr val="0432FF"/>
                </a:solidFill>
                <a:latin typeface="Corbel"/>
                <a:cs typeface="Corbel"/>
              </a:rPr>
              <a:t>blue line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479" y="1568196"/>
            <a:ext cx="7609205" cy="1613535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32740" marR="283845" indent="-320040">
              <a:lnSpc>
                <a:spcPct val="102299"/>
              </a:lnSpc>
              <a:spcBef>
                <a:spcPts val="25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 b="0">
                <a:latin typeface="Calibri"/>
                <a:cs typeface="Calibri"/>
              </a:rPr>
              <a:t>Hyperbolic space </a:t>
            </a:r>
            <a:r>
              <a:rPr dirty="0" sz="2600" spc="-10" b="0">
                <a:latin typeface="Calibri"/>
                <a:cs typeface="Calibri"/>
              </a:rPr>
              <a:t>cannot </a:t>
            </a:r>
            <a:r>
              <a:rPr dirty="0" sz="2600" spc="-5" b="0">
                <a:latin typeface="Calibri"/>
                <a:cs typeface="Calibri"/>
              </a:rPr>
              <a:t>be </a:t>
            </a:r>
            <a:r>
              <a:rPr dirty="0" sz="2600" spc="-10" b="0">
                <a:latin typeface="Calibri"/>
                <a:cs typeface="Calibri"/>
              </a:rPr>
              <a:t>naturally </a:t>
            </a:r>
            <a:r>
              <a:rPr dirty="0" sz="2600" spc="-15" b="0">
                <a:latin typeface="Calibri"/>
                <a:cs typeface="Calibri"/>
              </a:rPr>
              <a:t>represented </a:t>
            </a:r>
            <a:r>
              <a:rPr dirty="0" sz="2600" b="0">
                <a:latin typeface="Calibri"/>
                <a:cs typeface="Calibri"/>
              </a:rPr>
              <a:t>in  </a:t>
            </a:r>
            <a:r>
              <a:rPr dirty="0" sz="2600" spc="-5" b="0">
                <a:latin typeface="Calibri"/>
                <a:cs typeface="Calibri"/>
              </a:rPr>
              <a:t>Euclidean space due </a:t>
            </a:r>
            <a:r>
              <a:rPr dirty="0" sz="2600" spc="-15" b="0">
                <a:latin typeface="Calibri"/>
                <a:cs typeface="Calibri"/>
              </a:rPr>
              <a:t>to </a:t>
            </a:r>
            <a:r>
              <a:rPr dirty="0" sz="2600" b="0">
                <a:latin typeface="Calibri"/>
                <a:cs typeface="Calibri"/>
              </a:rPr>
              <a:t>its </a:t>
            </a:r>
            <a:r>
              <a:rPr dirty="0" sz="2600" spc="-5" b="0">
                <a:latin typeface="Calibri"/>
                <a:cs typeface="Calibri"/>
              </a:rPr>
              <a:t>special</a:t>
            </a:r>
            <a:r>
              <a:rPr dirty="0" sz="2600" spc="0" b="0">
                <a:latin typeface="Calibri"/>
                <a:cs typeface="Calibri"/>
              </a:rPr>
              <a:t> </a:t>
            </a:r>
            <a:r>
              <a:rPr dirty="0" sz="2600" spc="-10" b="0">
                <a:latin typeface="Calibri"/>
                <a:cs typeface="Calibri"/>
              </a:rPr>
              <a:t>properties</a:t>
            </a:r>
            <a:endParaRPr sz="2600">
              <a:latin typeface="Calibri"/>
              <a:cs typeface="Calibri"/>
            </a:endParaRPr>
          </a:p>
          <a:p>
            <a:pPr marL="332740" marR="5080" indent="-320040">
              <a:lnSpc>
                <a:spcPts val="3100"/>
              </a:lnSpc>
              <a:spcBef>
                <a:spcPts val="9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0" b="0">
                <a:latin typeface="Calibri"/>
                <a:cs typeface="Calibri"/>
              </a:rPr>
              <a:t>We </a:t>
            </a:r>
            <a:r>
              <a:rPr dirty="0" sz="2600" spc="-5" b="0">
                <a:latin typeface="Calibri"/>
                <a:cs typeface="Calibri"/>
              </a:rPr>
              <a:t>commonly use </a:t>
            </a:r>
            <a:r>
              <a:rPr dirty="0" sz="2600" b="0">
                <a:latin typeface="Calibri"/>
                <a:cs typeface="Calibri"/>
              </a:rPr>
              <a:t>2 </a:t>
            </a:r>
            <a:r>
              <a:rPr dirty="0" sz="2600" spc="-10" b="0">
                <a:latin typeface="Calibri"/>
                <a:cs typeface="Calibri"/>
              </a:rPr>
              <a:t>geometry </a:t>
            </a:r>
            <a:r>
              <a:rPr dirty="0" sz="2600" spc="-5" b="0">
                <a:latin typeface="Calibri"/>
                <a:cs typeface="Calibri"/>
              </a:rPr>
              <a:t>models </a:t>
            </a:r>
            <a:r>
              <a:rPr dirty="0" sz="2600" spc="-15" b="0">
                <a:latin typeface="Calibri"/>
                <a:cs typeface="Calibri"/>
              </a:rPr>
              <a:t>to </a:t>
            </a:r>
            <a:r>
              <a:rPr dirty="0" sz="2600" spc="-10">
                <a:solidFill>
                  <a:srgbClr val="C00000"/>
                </a:solidFill>
              </a:rPr>
              <a:t>represent </a:t>
            </a:r>
            <a:r>
              <a:rPr dirty="0" sz="2600">
                <a:solidFill>
                  <a:srgbClr val="C00000"/>
                </a:solidFill>
              </a:rPr>
              <a:t>or  </a:t>
            </a:r>
            <a:r>
              <a:rPr dirty="0" sz="2600" spc="-10">
                <a:solidFill>
                  <a:srgbClr val="C00000"/>
                </a:solidFill>
              </a:rPr>
              <a:t>visualize hyperbolic</a:t>
            </a:r>
            <a:r>
              <a:rPr dirty="0" sz="2600">
                <a:solidFill>
                  <a:srgbClr val="C00000"/>
                </a:solidFill>
              </a:rPr>
              <a:t> </a:t>
            </a:r>
            <a:r>
              <a:rPr dirty="0" sz="2600" spc="-5">
                <a:solidFill>
                  <a:srgbClr val="C00000"/>
                </a:solidFill>
              </a:rPr>
              <a:t>spaces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479" y="3156204"/>
            <a:ext cx="7316470" cy="122047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32740" marR="5080" indent="-320040">
              <a:lnSpc>
                <a:spcPts val="3100"/>
              </a:lnSpc>
              <a:spcBef>
                <a:spcPts val="219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10">
                <a:latin typeface="Calibri"/>
                <a:cs typeface="Calibri"/>
              </a:rPr>
              <a:t>They are equivalent: there </a:t>
            </a:r>
            <a:r>
              <a:rPr dirty="0" sz="2600" spc="-15">
                <a:latin typeface="Calibri"/>
                <a:cs typeface="Calibri"/>
              </a:rPr>
              <a:t>exists </a:t>
            </a:r>
            <a:r>
              <a:rPr dirty="0" sz="2600" spc="-5">
                <a:latin typeface="Calibri"/>
                <a:cs typeface="Calibri"/>
              </a:rPr>
              <a:t>mappings </a:t>
            </a:r>
            <a:r>
              <a:rPr dirty="0" sz="2600" spc="-10">
                <a:latin typeface="Calibri"/>
                <a:cs typeface="Calibri"/>
              </a:rPr>
              <a:t>between  </a:t>
            </a:r>
            <a:r>
              <a:rPr dirty="0" sz="2600" spc="-5">
                <a:latin typeface="Calibri"/>
                <a:cs typeface="Calibri"/>
              </a:rPr>
              <a:t>these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spaces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090"/>
              </a:lnSpc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15">
                <a:solidFill>
                  <a:srgbClr val="0432FF"/>
                </a:solidFill>
                <a:latin typeface="Calibri"/>
                <a:cs typeface="Calibri"/>
              </a:rPr>
              <a:t>Poincaré</a:t>
            </a:r>
            <a:r>
              <a:rPr dirty="0" sz="2600" spc="-95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0432FF"/>
                </a:solidFill>
                <a:latin typeface="Calibri"/>
                <a:cs typeface="Calibri"/>
              </a:rPr>
              <a:t>Model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59852" y="4512552"/>
            <a:ext cx="409575" cy="293370"/>
          </a:xfrm>
          <a:custGeom>
            <a:avLst/>
            <a:gdLst/>
            <a:ahLst/>
            <a:cxnLst/>
            <a:rect l="l" t="t" r="r" b="b"/>
            <a:pathLst>
              <a:path w="409575" h="293370">
                <a:moveTo>
                  <a:pt x="58970" y="160883"/>
                </a:moveTo>
                <a:lnTo>
                  <a:pt x="29764" y="160883"/>
                </a:lnTo>
                <a:lnTo>
                  <a:pt x="91380" y="293339"/>
                </a:lnTo>
                <a:lnTo>
                  <a:pt x="105816" y="293339"/>
                </a:lnTo>
                <a:lnTo>
                  <a:pt x="117317" y="254049"/>
                </a:lnTo>
                <a:lnTo>
                  <a:pt x="101351" y="254049"/>
                </a:lnTo>
                <a:lnTo>
                  <a:pt x="58970" y="160883"/>
                </a:lnTo>
                <a:close/>
              </a:path>
              <a:path w="409575" h="293370">
                <a:moveTo>
                  <a:pt x="212824" y="0"/>
                </a:moveTo>
                <a:lnTo>
                  <a:pt x="174872" y="0"/>
                </a:lnTo>
                <a:lnTo>
                  <a:pt x="101351" y="254049"/>
                </a:lnTo>
                <a:lnTo>
                  <a:pt x="117317" y="254049"/>
                </a:lnTo>
                <a:lnTo>
                  <a:pt x="185886" y="19794"/>
                </a:lnTo>
                <a:lnTo>
                  <a:pt x="409381" y="19794"/>
                </a:lnTo>
                <a:lnTo>
                  <a:pt x="409381" y="1353"/>
                </a:lnTo>
                <a:lnTo>
                  <a:pt x="212824" y="1353"/>
                </a:lnTo>
                <a:lnTo>
                  <a:pt x="212824" y="0"/>
                </a:lnTo>
                <a:close/>
              </a:path>
              <a:path w="409575" h="293370">
                <a:moveTo>
                  <a:pt x="48814" y="138558"/>
                </a:moveTo>
                <a:lnTo>
                  <a:pt x="0" y="160883"/>
                </a:lnTo>
                <a:lnTo>
                  <a:pt x="4613" y="172045"/>
                </a:lnTo>
                <a:lnTo>
                  <a:pt x="29764" y="160883"/>
                </a:lnTo>
                <a:lnTo>
                  <a:pt x="58970" y="160883"/>
                </a:lnTo>
                <a:lnTo>
                  <a:pt x="48814" y="138558"/>
                </a:lnTo>
                <a:close/>
              </a:path>
              <a:path w="409575" h="293370">
                <a:moveTo>
                  <a:pt x="409381" y="19794"/>
                </a:moveTo>
                <a:lnTo>
                  <a:pt x="193481" y="19794"/>
                </a:lnTo>
                <a:lnTo>
                  <a:pt x="193481" y="26753"/>
                </a:lnTo>
                <a:lnTo>
                  <a:pt x="409381" y="26753"/>
                </a:lnTo>
                <a:lnTo>
                  <a:pt x="409381" y="197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5934" y="4461764"/>
            <a:ext cx="3949065" cy="200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3328670" algn="l"/>
              </a:tabLst>
            </a:pPr>
            <a:r>
              <a:rPr dirty="0" sz="2400" spc="-5">
                <a:latin typeface="Calibri"/>
                <a:cs typeface="Calibri"/>
              </a:rPr>
              <a:t>Radius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proportional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to	</a:t>
            </a:r>
            <a:r>
              <a:rPr dirty="0" sz="2400">
                <a:latin typeface="Cambria Math"/>
                <a:cs typeface="Cambria Math"/>
              </a:rPr>
              <a:t>𝐾</a:t>
            </a:r>
            <a:endParaRPr sz="2400">
              <a:latin typeface="Cambria Math"/>
              <a:cs typeface="Cambria Math"/>
            </a:endParaRPr>
          </a:p>
          <a:p>
            <a:pPr algn="ctr" marR="344805">
              <a:lnSpc>
                <a:spcPct val="100000"/>
              </a:lnSpc>
              <a:spcBef>
                <a:spcPts val="20"/>
              </a:spcBef>
            </a:pPr>
            <a:r>
              <a:rPr dirty="0" sz="2400" spc="15">
                <a:latin typeface="Calibri"/>
                <a:cs typeface="Calibri"/>
              </a:rPr>
              <a:t>(</a:t>
            </a:r>
            <a:r>
              <a:rPr dirty="0" sz="2400" spc="15">
                <a:latin typeface="Cambria Math"/>
                <a:cs typeface="Cambria Math"/>
              </a:rPr>
              <a:t>𝐾</a:t>
            </a:r>
            <a:r>
              <a:rPr dirty="0" sz="2400" spc="15">
                <a:latin typeface="Calibri"/>
                <a:cs typeface="Calibri"/>
              </a:rPr>
              <a:t>: </a:t>
            </a:r>
            <a:r>
              <a:rPr dirty="0" sz="2400" spc="-20">
                <a:latin typeface="Calibri"/>
                <a:cs typeface="Calibri"/>
              </a:rPr>
              <a:t>inverse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curvature)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Open </a:t>
            </a:r>
            <a:r>
              <a:rPr dirty="0" sz="2400">
                <a:latin typeface="Calibri"/>
                <a:cs typeface="Calibri"/>
              </a:rPr>
              <a:t>ball </a:t>
            </a:r>
            <a:r>
              <a:rPr dirty="0" sz="2400" spc="-15">
                <a:latin typeface="Calibri"/>
                <a:cs typeface="Calibri"/>
              </a:rPr>
              <a:t>(exclude  </a:t>
            </a:r>
            <a:r>
              <a:rPr dirty="0" sz="2400" spc="-50">
                <a:latin typeface="Calibri"/>
                <a:cs typeface="Calibri"/>
              </a:rPr>
              <a:t>boundary)</a:t>
            </a:r>
            <a:endParaRPr sz="2400">
              <a:latin typeface="Calibri"/>
              <a:cs typeface="Calibri"/>
            </a:endParaRPr>
          </a:p>
          <a:p>
            <a:pPr marL="287020" marR="487045" indent="-274320">
              <a:lnSpc>
                <a:spcPct val="1008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triangle in the </a:t>
            </a:r>
            <a:r>
              <a:rPr dirty="0" sz="2400" spc="-105">
                <a:latin typeface="Calibri"/>
                <a:cs typeface="Calibri"/>
              </a:rPr>
              <a:t>figure  </a:t>
            </a:r>
            <a:r>
              <a:rPr dirty="0" sz="2400" spc="-5">
                <a:latin typeface="Calibri"/>
                <a:cs typeface="Calibri"/>
              </a:rPr>
              <a:t>has the </a:t>
            </a:r>
            <a:r>
              <a:rPr dirty="0" sz="2400" spc="-5" b="1">
                <a:solidFill>
                  <a:srgbClr val="D60093"/>
                </a:solidFill>
                <a:latin typeface="Calibri"/>
                <a:cs typeface="Calibri"/>
              </a:rPr>
              <a:t>same</a:t>
            </a:r>
            <a:r>
              <a:rPr dirty="0" sz="2400" spc="-5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area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5216" y="347472"/>
            <a:ext cx="58552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37553" y="4000187"/>
            <a:ext cx="1871610" cy="1865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70354" y="4669028"/>
            <a:ext cx="21088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Poincaré model:  intuitive</a:t>
            </a:r>
            <a:r>
              <a:rPr dirty="0" sz="1800" spc="-40">
                <a:solidFill>
                  <a:srgbClr val="D60093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visualization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479" y="1567179"/>
            <a:ext cx="553339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solidFill>
                  <a:srgbClr val="0432FF"/>
                </a:solidFill>
                <a:latin typeface="Calibri"/>
                <a:cs typeface="Calibri"/>
              </a:rPr>
              <a:t>Hyperboloid Model </a:t>
            </a:r>
            <a:r>
              <a:rPr dirty="0" sz="2800" spc="-15" b="0">
                <a:latin typeface="Calibri"/>
                <a:cs typeface="Calibri"/>
              </a:rPr>
              <a:t>(Lorentz </a:t>
            </a:r>
            <a:r>
              <a:rPr dirty="0" sz="2800" spc="-5" b="0">
                <a:latin typeface="Calibri"/>
                <a:cs typeface="Calibri"/>
              </a:rPr>
              <a:t>Model)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479" y="2008123"/>
            <a:ext cx="7640955" cy="26022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Upper sheet of 2-sheet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hyperboloid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Subset of Euclidean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Hyperboloid Model is </a:t>
            </a:r>
            <a:r>
              <a:rPr dirty="0" sz="2800" spc="-10">
                <a:latin typeface="Calibri"/>
                <a:cs typeface="Calibri"/>
              </a:rPr>
              <a:t>numerically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stable</a:t>
            </a:r>
            <a:endParaRPr sz="2800">
              <a:latin typeface="Calibri"/>
              <a:cs typeface="Calibri"/>
            </a:endParaRPr>
          </a:p>
          <a:p>
            <a:pPr algn="just" marL="332740" marR="5080" indent="-320040">
              <a:lnSpc>
                <a:spcPct val="99600"/>
              </a:lnSpc>
              <a:spcBef>
                <a:spcPts val="5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In comparison, </a:t>
            </a:r>
            <a:r>
              <a:rPr dirty="0" sz="2800" spc="-20">
                <a:solidFill>
                  <a:srgbClr val="0432FF"/>
                </a:solidFill>
                <a:latin typeface="Calibri"/>
                <a:cs typeface="Calibri"/>
              </a:rPr>
              <a:t>Poincaré </a:t>
            </a:r>
            <a:r>
              <a:rPr dirty="0" sz="2800" spc="-5">
                <a:solidFill>
                  <a:srgbClr val="0432FF"/>
                </a:solidFill>
                <a:latin typeface="Calibri"/>
                <a:cs typeface="Calibri"/>
              </a:rPr>
              <a:t>Model </a:t>
            </a:r>
            <a:r>
              <a:rPr dirty="0" sz="2800" spc="-5">
                <a:latin typeface="Calibri"/>
                <a:cs typeface="Calibri"/>
              </a:rPr>
              <a:t>needs </a:t>
            </a:r>
            <a:r>
              <a:rPr dirty="0" sz="2800" spc="-15">
                <a:latin typeface="Calibri"/>
                <a:cs typeface="Calibri"/>
              </a:rPr>
              <a:t>to represent  exponentially many </a:t>
            </a:r>
            <a:r>
              <a:rPr dirty="0" sz="2800" spc="-5">
                <a:latin typeface="Calibri"/>
                <a:cs typeface="Calibri"/>
              </a:rPr>
              <a:t>embedding </a:t>
            </a:r>
            <a:r>
              <a:rPr dirty="0" sz="2800" spc="-10">
                <a:latin typeface="Calibri"/>
                <a:cs typeface="Calibri"/>
              </a:rPr>
              <a:t>points </a:t>
            </a:r>
            <a:r>
              <a:rPr dirty="0" sz="2800" spc="-5">
                <a:latin typeface="Calibri"/>
                <a:cs typeface="Calibri"/>
              </a:rPr>
              <a:t>close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the  boundary of the </a:t>
            </a:r>
            <a:r>
              <a:rPr dirty="0" sz="2800" spc="-20">
                <a:latin typeface="Calibri"/>
                <a:cs typeface="Calibri"/>
              </a:rPr>
              <a:t>Poincare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ball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216" y="347472"/>
            <a:ext cx="585520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1017" y="4872039"/>
            <a:ext cx="2357410" cy="16096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987605" y="5129276"/>
            <a:ext cx="21653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B050"/>
                </a:solidFill>
                <a:latin typeface="Calibri"/>
                <a:cs typeface="Calibri"/>
              </a:rPr>
              <a:t>Hyperboloid:  numerically </a:t>
            </a:r>
            <a:r>
              <a:rPr dirty="0" sz="1800" spc="-10">
                <a:solidFill>
                  <a:srgbClr val="00B050"/>
                </a:solidFill>
                <a:latin typeface="Calibri"/>
                <a:cs typeface="Calibri"/>
              </a:rPr>
              <a:t>more  stable, </a:t>
            </a:r>
            <a:r>
              <a:rPr dirty="0" sz="1800" spc="-5">
                <a:solidFill>
                  <a:srgbClr val="00B050"/>
                </a:solidFill>
                <a:latin typeface="Calibri"/>
                <a:cs typeface="Calibri"/>
              </a:rPr>
              <a:t>simpler</a:t>
            </a:r>
            <a:r>
              <a:rPr dirty="0" sz="1800" spc="-4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00B050"/>
                </a:solidFill>
                <a:latin typeface="Calibri"/>
                <a:cs typeface="Calibri"/>
              </a:rPr>
              <a:t>formula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111861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9622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 b="0">
                <a:latin typeface="Calibri"/>
                <a:cs typeface="Calibri"/>
              </a:rPr>
              <a:t>Graph </a:t>
            </a:r>
            <a:r>
              <a:rPr dirty="0" spc="-20" b="0">
                <a:latin typeface="Calibri"/>
                <a:cs typeface="Calibri"/>
              </a:rPr>
              <a:t>representation </a:t>
            </a:r>
            <a:r>
              <a:rPr dirty="0" spc="-5" b="0">
                <a:latin typeface="Calibri"/>
                <a:cs typeface="Calibri"/>
              </a:rPr>
              <a:t>learning on</a:t>
            </a:r>
            <a:r>
              <a:rPr dirty="0" spc="80" b="0">
                <a:latin typeface="Calibri"/>
                <a:cs typeface="Calibri"/>
              </a:rPr>
              <a:t> </a:t>
            </a:r>
            <a:r>
              <a:rPr dirty="0" spc="-15">
                <a:solidFill>
                  <a:srgbClr val="D60093"/>
                </a:solidFill>
              </a:rPr>
              <a:t>hierarchical</a:t>
            </a:r>
          </a:p>
          <a:p>
            <a:pPr marL="332740">
              <a:lnSpc>
                <a:spcPts val="3815"/>
              </a:lnSpc>
            </a:pPr>
            <a:r>
              <a:rPr dirty="0" spc="-15" b="0">
                <a:latin typeface="Calibri"/>
                <a:cs typeface="Calibri"/>
              </a:rPr>
              <a:t>graphs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3039110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Link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28582" y="2906947"/>
            <a:ext cx="2958216" cy="2892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17616" y="3700802"/>
            <a:ext cx="1165860" cy="1191260"/>
          </a:xfrm>
          <a:custGeom>
            <a:avLst/>
            <a:gdLst/>
            <a:ahLst/>
            <a:cxnLst/>
            <a:rect l="l" t="t" r="r" b="b"/>
            <a:pathLst>
              <a:path w="1165859" h="1191260">
                <a:moveTo>
                  <a:pt x="954584" y="0"/>
                </a:moveTo>
                <a:lnTo>
                  <a:pt x="209934" y="0"/>
                </a:lnTo>
                <a:lnTo>
                  <a:pt x="188381" y="1270"/>
                </a:lnTo>
                <a:lnTo>
                  <a:pt x="147219" y="10160"/>
                </a:lnTo>
                <a:lnTo>
                  <a:pt x="109440" y="26670"/>
                </a:lnTo>
                <a:lnTo>
                  <a:pt x="75915" y="49530"/>
                </a:lnTo>
                <a:lnTo>
                  <a:pt x="47463" y="77470"/>
                </a:lnTo>
                <a:lnTo>
                  <a:pt x="24914" y="111760"/>
                </a:lnTo>
                <a:lnTo>
                  <a:pt x="9122" y="149860"/>
                </a:lnTo>
                <a:lnTo>
                  <a:pt x="958" y="190500"/>
                </a:lnTo>
                <a:lnTo>
                  <a:pt x="0" y="981710"/>
                </a:lnTo>
                <a:lnTo>
                  <a:pt x="1217" y="1003300"/>
                </a:lnTo>
                <a:lnTo>
                  <a:pt x="9870" y="1045210"/>
                </a:lnTo>
                <a:lnTo>
                  <a:pt x="26089" y="1082040"/>
                </a:lnTo>
                <a:lnTo>
                  <a:pt x="49009" y="1116330"/>
                </a:lnTo>
                <a:lnTo>
                  <a:pt x="77787" y="1144270"/>
                </a:lnTo>
                <a:lnTo>
                  <a:pt x="111606" y="1167130"/>
                </a:lnTo>
                <a:lnTo>
                  <a:pt x="149625" y="1182370"/>
                </a:lnTo>
                <a:lnTo>
                  <a:pt x="190933" y="1191260"/>
                </a:lnTo>
                <a:lnTo>
                  <a:pt x="977417" y="1191260"/>
                </a:lnTo>
                <a:lnTo>
                  <a:pt x="1018579" y="1182370"/>
                </a:lnTo>
                <a:lnTo>
                  <a:pt x="1056358" y="1165860"/>
                </a:lnTo>
                <a:lnTo>
                  <a:pt x="1062863" y="1162050"/>
                </a:lnTo>
                <a:lnTo>
                  <a:pt x="954327" y="1162050"/>
                </a:lnTo>
                <a:lnTo>
                  <a:pt x="192469" y="1160780"/>
                </a:lnTo>
                <a:lnTo>
                  <a:pt x="140620" y="1146810"/>
                </a:lnTo>
                <a:lnTo>
                  <a:pt x="96041" y="1120140"/>
                </a:lnTo>
                <a:lnTo>
                  <a:pt x="61175" y="1082040"/>
                </a:lnTo>
                <a:lnTo>
                  <a:pt x="38493" y="1033780"/>
                </a:lnTo>
                <a:lnTo>
                  <a:pt x="30501" y="981710"/>
                </a:lnTo>
                <a:lnTo>
                  <a:pt x="30515" y="209550"/>
                </a:lnTo>
                <a:lnTo>
                  <a:pt x="38642" y="157480"/>
                </a:lnTo>
                <a:lnTo>
                  <a:pt x="61448" y="110490"/>
                </a:lnTo>
                <a:lnTo>
                  <a:pt x="96415" y="71120"/>
                </a:lnTo>
                <a:lnTo>
                  <a:pt x="141079" y="44450"/>
                </a:lnTo>
                <a:lnTo>
                  <a:pt x="192980" y="31750"/>
                </a:lnTo>
                <a:lnTo>
                  <a:pt x="211471" y="30480"/>
                </a:lnTo>
                <a:lnTo>
                  <a:pt x="1062937" y="30480"/>
                </a:lnTo>
                <a:lnTo>
                  <a:pt x="1054193" y="25400"/>
                </a:lnTo>
                <a:lnTo>
                  <a:pt x="1035654" y="16510"/>
                </a:lnTo>
                <a:lnTo>
                  <a:pt x="1016175" y="8890"/>
                </a:lnTo>
                <a:lnTo>
                  <a:pt x="995870" y="3810"/>
                </a:lnTo>
                <a:lnTo>
                  <a:pt x="974867" y="1270"/>
                </a:lnTo>
                <a:lnTo>
                  <a:pt x="954584" y="0"/>
                </a:lnTo>
                <a:close/>
              </a:path>
              <a:path w="1165859" h="1191260">
                <a:moveTo>
                  <a:pt x="1062937" y="30480"/>
                </a:moveTo>
                <a:lnTo>
                  <a:pt x="954584" y="30480"/>
                </a:lnTo>
                <a:lnTo>
                  <a:pt x="973329" y="31750"/>
                </a:lnTo>
                <a:lnTo>
                  <a:pt x="991271" y="34290"/>
                </a:lnTo>
                <a:lnTo>
                  <a:pt x="1040965" y="52070"/>
                </a:lnTo>
                <a:lnTo>
                  <a:pt x="1082582" y="83820"/>
                </a:lnTo>
                <a:lnTo>
                  <a:pt x="1113659" y="125730"/>
                </a:lnTo>
                <a:lnTo>
                  <a:pt x="1131736" y="175260"/>
                </a:lnTo>
                <a:lnTo>
                  <a:pt x="1135288" y="981710"/>
                </a:lnTo>
                <a:lnTo>
                  <a:pt x="1134399" y="999490"/>
                </a:lnTo>
                <a:lnTo>
                  <a:pt x="1121056" y="1051560"/>
                </a:lnTo>
                <a:lnTo>
                  <a:pt x="1093924" y="1096010"/>
                </a:lnTo>
                <a:lnTo>
                  <a:pt x="1055451" y="1130300"/>
                </a:lnTo>
                <a:lnTo>
                  <a:pt x="1008103" y="1153160"/>
                </a:lnTo>
                <a:lnTo>
                  <a:pt x="954327" y="1162050"/>
                </a:lnTo>
                <a:lnTo>
                  <a:pt x="1062863" y="1162050"/>
                </a:lnTo>
                <a:lnTo>
                  <a:pt x="1104794" y="1129030"/>
                </a:lnTo>
                <a:lnTo>
                  <a:pt x="1130400" y="1097280"/>
                </a:lnTo>
                <a:lnTo>
                  <a:pt x="1149680" y="1061720"/>
                </a:lnTo>
                <a:lnTo>
                  <a:pt x="1161765" y="1022350"/>
                </a:lnTo>
                <a:lnTo>
                  <a:pt x="1165770" y="981710"/>
                </a:lnTo>
                <a:lnTo>
                  <a:pt x="1165800" y="209550"/>
                </a:lnTo>
                <a:lnTo>
                  <a:pt x="1164582" y="187960"/>
                </a:lnTo>
                <a:lnTo>
                  <a:pt x="1155929" y="147320"/>
                </a:lnTo>
                <a:lnTo>
                  <a:pt x="1139709" y="109220"/>
                </a:lnTo>
                <a:lnTo>
                  <a:pt x="1116789" y="76200"/>
                </a:lnTo>
                <a:lnTo>
                  <a:pt x="1088011" y="46990"/>
                </a:lnTo>
                <a:lnTo>
                  <a:pt x="1071681" y="35560"/>
                </a:lnTo>
                <a:lnTo>
                  <a:pt x="1062937" y="30480"/>
                </a:lnTo>
                <a:close/>
              </a:path>
              <a:path w="1165859" h="1191260">
                <a:moveTo>
                  <a:pt x="954584" y="40640"/>
                </a:moveTo>
                <a:lnTo>
                  <a:pt x="211984" y="40640"/>
                </a:lnTo>
                <a:lnTo>
                  <a:pt x="194513" y="41910"/>
                </a:lnTo>
                <a:lnTo>
                  <a:pt x="145488" y="53340"/>
                </a:lnTo>
                <a:lnTo>
                  <a:pt x="103248" y="78740"/>
                </a:lnTo>
                <a:lnTo>
                  <a:pt x="70131" y="115570"/>
                </a:lnTo>
                <a:lnTo>
                  <a:pt x="48482" y="160020"/>
                </a:lnTo>
                <a:lnTo>
                  <a:pt x="40674" y="209550"/>
                </a:lnTo>
                <a:lnTo>
                  <a:pt x="40649" y="981710"/>
                </a:lnTo>
                <a:lnTo>
                  <a:pt x="41391" y="996950"/>
                </a:lnTo>
                <a:lnTo>
                  <a:pt x="53701" y="1046480"/>
                </a:lnTo>
                <a:lnTo>
                  <a:pt x="79084" y="1088390"/>
                </a:lnTo>
                <a:lnTo>
                  <a:pt x="115218" y="1121410"/>
                </a:lnTo>
                <a:lnTo>
                  <a:pt x="159745" y="1143000"/>
                </a:lnTo>
                <a:lnTo>
                  <a:pt x="211214" y="1151890"/>
                </a:lnTo>
                <a:lnTo>
                  <a:pt x="953815" y="1151890"/>
                </a:lnTo>
                <a:lnTo>
                  <a:pt x="971287" y="1150620"/>
                </a:lnTo>
                <a:lnTo>
                  <a:pt x="988244" y="1148080"/>
                </a:lnTo>
                <a:lnTo>
                  <a:pt x="1004611" y="1144270"/>
                </a:lnTo>
                <a:lnTo>
                  <a:pt x="1010891" y="1141730"/>
                </a:lnTo>
                <a:lnTo>
                  <a:pt x="953302" y="1141730"/>
                </a:lnTo>
                <a:lnTo>
                  <a:pt x="193494" y="1140460"/>
                </a:lnTo>
                <a:lnTo>
                  <a:pt x="147604" y="1127760"/>
                </a:lnTo>
                <a:lnTo>
                  <a:pt x="108210" y="1103630"/>
                </a:lnTo>
                <a:lnTo>
                  <a:pt x="77448" y="1069340"/>
                </a:lnTo>
                <a:lnTo>
                  <a:pt x="57575" y="1027430"/>
                </a:lnTo>
                <a:lnTo>
                  <a:pt x="50843" y="981710"/>
                </a:lnTo>
                <a:lnTo>
                  <a:pt x="50833" y="209550"/>
                </a:lnTo>
                <a:lnTo>
                  <a:pt x="51694" y="193040"/>
                </a:lnTo>
                <a:lnTo>
                  <a:pt x="63825" y="147320"/>
                </a:lnTo>
                <a:lnTo>
                  <a:pt x="88146" y="107950"/>
                </a:lnTo>
                <a:lnTo>
                  <a:pt x="122516" y="77470"/>
                </a:lnTo>
                <a:lnTo>
                  <a:pt x="164679" y="57150"/>
                </a:lnTo>
                <a:lnTo>
                  <a:pt x="212496" y="50800"/>
                </a:lnTo>
                <a:lnTo>
                  <a:pt x="1012307" y="50800"/>
                </a:lnTo>
                <a:lnTo>
                  <a:pt x="1006054" y="48260"/>
                </a:lnTo>
                <a:lnTo>
                  <a:pt x="989738" y="44450"/>
                </a:lnTo>
                <a:lnTo>
                  <a:pt x="972817" y="41910"/>
                </a:lnTo>
                <a:lnTo>
                  <a:pt x="954584" y="40640"/>
                </a:lnTo>
                <a:close/>
              </a:path>
              <a:path w="1165859" h="1191260">
                <a:moveTo>
                  <a:pt x="1012307" y="50800"/>
                </a:moveTo>
                <a:lnTo>
                  <a:pt x="954584" y="50800"/>
                </a:lnTo>
                <a:lnTo>
                  <a:pt x="972304" y="52070"/>
                </a:lnTo>
                <a:lnTo>
                  <a:pt x="988206" y="54610"/>
                </a:lnTo>
                <a:lnTo>
                  <a:pt x="1032146" y="71120"/>
                </a:lnTo>
                <a:lnTo>
                  <a:pt x="1068914" y="99060"/>
                </a:lnTo>
                <a:lnTo>
                  <a:pt x="1096293" y="135890"/>
                </a:lnTo>
                <a:lnTo>
                  <a:pt x="1112056" y="180340"/>
                </a:lnTo>
                <a:lnTo>
                  <a:pt x="1114965" y="981710"/>
                </a:lnTo>
                <a:lnTo>
                  <a:pt x="1114104" y="998220"/>
                </a:lnTo>
                <a:lnTo>
                  <a:pt x="1101975" y="1043940"/>
                </a:lnTo>
                <a:lnTo>
                  <a:pt x="1077652" y="1083310"/>
                </a:lnTo>
                <a:lnTo>
                  <a:pt x="1043282" y="1113790"/>
                </a:lnTo>
                <a:lnTo>
                  <a:pt x="1001119" y="1134110"/>
                </a:lnTo>
                <a:lnTo>
                  <a:pt x="953302" y="1141730"/>
                </a:lnTo>
                <a:lnTo>
                  <a:pt x="1010891" y="1141730"/>
                </a:lnTo>
                <a:lnTo>
                  <a:pt x="1049366" y="1122680"/>
                </a:lnTo>
                <a:lnTo>
                  <a:pt x="1085789" y="1089660"/>
                </a:lnTo>
                <a:lnTo>
                  <a:pt x="1111515" y="1047750"/>
                </a:lnTo>
                <a:lnTo>
                  <a:pt x="1124252" y="999490"/>
                </a:lnTo>
                <a:lnTo>
                  <a:pt x="1125129" y="981710"/>
                </a:lnTo>
                <a:lnTo>
                  <a:pt x="1125096" y="209550"/>
                </a:lnTo>
                <a:lnTo>
                  <a:pt x="1117765" y="161290"/>
                </a:lnTo>
                <a:lnTo>
                  <a:pt x="1096487" y="116840"/>
                </a:lnTo>
                <a:lnTo>
                  <a:pt x="1063674" y="80010"/>
                </a:lnTo>
                <a:lnTo>
                  <a:pt x="1021685" y="54610"/>
                </a:lnTo>
                <a:lnTo>
                  <a:pt x="1012307" y="50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010019" y="5293191"/>
            <a:ext cx="1974214" cy="486409"/>
          </a:xfrm>
          <a:custGeom>
            <a:avLst/>
            <a:gdLst/>
            <a:ahLst/>
            <a:cxnLst/>
            <a:rect l="l" t="t" r="r" b="b"/>
            <a:pathLst>
              <a:path w="1974215" h="486410">
                <a:moveTo>
                  <a:pt x="1880463" y="0"/>
                </a:moveTo>
                <a:lnTo>
                  <a:pt x="91671" y="95"/>
                </a:lnTo>
                <a:lnTo>
                  <a:pt x="41694" y="15636"/>
                </a:lnTo>
                <a:lnTo>
                  <a:pt x="7480" y="56638"/>
                </a:lnTo>
                <a:lnTo>
                  <a:pt x="0" y="394083"/>
                </a:lnTo>
                <a:lnTo>
                  <a:pt x="1644" y="410391"/>
                </a:lnTo>
                <a:lnTo>
                  <a:pt x="26890" y="458002"/>
                </a:lnTo>
                <a:lnTo>
                  <a:pt x="74111" y="483855"/>
                </a:lnTo>
                <a:lnTo>
                  <a:pt x="93581" y="485849"/>
                </a:lnTo>
                <a:lnTo>
                  <a:pt x="1882373" y="485753"/>
                </a:lnTo>
                <a:lnTo>
                  <a:pt x="1932350" y="470213"/>
                </a:lnTo>
                <a:lnTo>
                  <a:pt x="1941268" y="463008"/>
                </a:lnTo>
                <a:lnTo>
                  <a:pt x="93581" y="462989"/>
                </a:lnTo>
                <a:lnTo>
                  <a:pt x="79305" y="461531"/>
                </a:lnTo>
                <a:lnTo>
                  <a:pt x="43519" y="442235"/>
                </a:lnTo>
                <a:lnTo>
                  <a:pt x="24222" y="406448"/>
                </a:lnTo>
                <a:lnTo>
                  <a:pt x="22764" y="93677"/>
                </a:lnTo>
                <a:lnTo>
                  <a:pt x="24222" y="79400"/>
                </a:lnTo>
                <a:lnTo>
                  <a:pt x="43519" y="43614"/>
                </a:lnTo>
                <a:lnTo>
                  <a:pt x="79305" y="24317"/>
                </a:lnTo>
                <a:lnTo>
                  <a:pt x="93963" y="22840"/>
                </a:lnTo>
                <a:lnTo>
                  <a:pt x="1941268" y="22840"/>
                </a:lnTo>
                <a:lnTo>
                  <a:pt x="1933367" y="16322"/>
                </a:lnTo>
                <a:lnTo>
                  <a:pt x="1898681" y="1739"/>
                </a:lnTo>
                <a:lnTo>
                  <a:pt x="1880463" y="0"/>
                </a:lnTo>
                <a:close/>
              </a:path>
              <a:path w="1974215" h="486410">
                <a:moveTo>
                  <a:pt x="1941268" y="22840"/>
                </a:moveTo>
                <a:lnTo>
                  <a:pt x="93963" y="22840"/>
                </a:lnTo>
                <a:lnTo>
                  <a:pt x="1880463" y="22859"/>
                </a:lnTo>
                <a:lnTo>
                  <a:pt x="1894739" y="24317"/>
                </a:lnTo>
                <a:lnTo>
                  <a:pt x="1930525" y="43614"/>
                </a:lnTo>
                <a:lnTo>
                  <a:pt x="1949822" y="79400"/>
                </a:lnTo>
                <a:lnTo>
                  <a:pt x="1951280" y="392172"/>
                </a:lnTo>
                <a:lnTo>
                  <a:pt x="1949822" y="406448"/>
                </a:lnTo>
                <a:lnTo>
                  <a:pt x="1930525" y="442235"/>
                </a:lnTo>
                <a:lnTo>
                  <a:pt x="1894739" y="461531"/>
                </a:lnTo>
                <a:lnTo>
                  <a:pt x="1880081" y="463008"/>
                </a:lnTo>
                <a:lnTo>
                  <a:pt x="1941268" y="463008"/>
                </a:lnTo>
                <a:lnTo>
                  <a:pt x="1966563" y="429211"/>
                </a:lnTo>
                <a:lnTo>
                  <a:pt x="1974140" y="392172"/>
                </a:lnTo>
                <a:lnTo>
                  <a:pt x="1974044" y="91766"/>
                </a:lnTo>
                <a:lnTo>
                  <a:pt x="1958503" y="41789"/>
                </a:lnTo>
                <a:lnTo>
                  <a:pt x="1946292" y="26986"/>
                </a:lnTo>
                <a:lnTo>
                  <a:pt x="1941268" y="22840"/>
                </a:lnTo>
                <a:close/>
              </a:path>
              <a:path w="1974215" h="486410">
                <a:moveTo>
                  <a:pt x="94728" y="30421"/>
                </a:moveTo>
                <a:lnTo>
                  <a:pt x="48931" y="49027"/>
                </a:lnTo>
                <a:lnTo>
                  <a:pt x="30384" y="93677"/>
                </a:lnTo>
                <a:lnTo>
                  <a:pt x="30441" y="392172"/>
                </a:lnTo>
                <a:lnTo>
                  <a:pt x="48931" y="436822"/>
                </a:lnTo>
                <a:lnTo>
                  <a:pt x="93581" y="455369"/>
                </a:lnTo>
                <a:lnTo>
                  <a:pt x="1879316" y="455427"/>
                </a:lnTo>
                <a:lnTo>
                  <a:pt x="1893211" y="454026"/>
                </a:lnTo>
                <a:lnTo>
                  <a:pt x="1905048" y="450352"/>
                </a:lnTo>
                <a:lnTo>
                  <a:pt x="1909666" y="447845"/>
                </a:lnTo>
                <a:lnTo>
                  <a:pt x="93581" y="447749"/>
                </a:lnTo>
                <a:lnTo>
                  <a:pt x="82359" y="446521"/>
                </a:lnTo>
                <a:lnTo>
                  <a:pt x="47564" y="423192"/>
                </a:lnTo>
                <a:lnTo>
                  <a:pt x="37985" y="391025"/>
                </a:lnTo>
                <a:lnTo>
                  <a:pt x="38004" y="93677"/>
                </a:lnTo>
                <a:lnTo>
                  <a:pt x="54344" y="54439"/>
                </a:lnTo>
                <a:lnTo>
                  <a:pt x="95492" y="38003"/>
                </a:lnTo>
                <a:lnTo>
                  <a:pt x="1909666" y="38003"/>
                </a:lnTo>
                <a:lnTo>
                  <a:pt x="1905048" y="35496"/>
                </a:lnTo>
                <a:lnTo>
                  <a:pt x="1893211" y="31822"/>
                </a:lnTo>
                <a:lnTo>
                  <a:pt x="1880463" y="30480"/>
                </a:lnTo>
                <a:lnTo>
                  <a:pt x="94728" y="30421"/>
                </a:lnTo>
                <a:close/>
              </a:path>
              <a:path w="1974215" h="486410">
                <a:moveTo>
                  <a:pt x="1909666" y="38003"/>
                </a:moveTo>
                <a:lnTo>
                  <a:pt x="95492" y="38003"/>
                </a:lnTo>
                <a:lnTo>
                  <a:pt x="1880463" y="38100"/>
                </a:lnTo>
                <a:lnTo>
                  <a:pt x="1891685" y="39328"/>
                </a:lnTo>
                <a:lnTo>
                  <a:pt x="1926479" y="62656"/>
                </a:lnTo>
                <a:lnTo>
                  <a:pt x="1936040" y="392172"/>
                </a:lnTo>
                <a:lnTo>
                  <a:pt x="1934811" y="403394"/>
                </a:lnTo>
                <a:lnTo>
                  <a:pt x="1911483" y="438189"/>
                </a:lnTo>
                <a:lnTo>
                  <a:pt x="1878552" y="447845"/>
                </a:lnTo>
                <a:lnTo>
                  <a:pt x="1909666" y="447845"/>
                </a:lnTo>
                <a:lnTo>
                  <a:pt x="1938643" y="416757"/>
                </a:lnTo>
                <a:lnTo>
                  <a:pt x="1943660" y="392172"/>
                </a:lnTo>
                <a:lnTo>
                  <a:pt x="1943601" y="93677"/>
                </a:lnTo>
                <a:lnTo>
                  <a:pt x="1925112" y="49027"/>
                </a:lnTo>
                <a:lnTo>
                  <a:pt x="1915764" y="41314"/>
                </a:lnTo>
                <a:lnTo>
                  <a:pt x="1909666" y="3800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32021" y="3373737"/>
            <a:ext cx="553085" cy="2166620"/>
          </a:xfrm>
          <a:custGeom>
            <a:avLst/>
            <a:gdLst/>
            <a:ahLst/>
            <a:cxnLst/>
            <a:rect l="l" t="t" r="r" b="b"/>
            <a:pathLst>
              <a:path w="553084" h="2166620">
                <a:moveTo>
                  <a:pt x="447817" y="0"/>
                </a:moveTo>
                <a:lnTo>
                  <a:pt x="102817" y="96"/>
                </a:lnTo>
                <a:lnTo>
                  <a:pt x="64502" y="7966"/>
                </a:lnTo>
                <a:lnTo>
                  <a:pt x="31017" y="30251"/>
                </a:lnTo>
                <a:lnTo>
                  <a:pt x="8356" y="63446"/>
                </a:lnTo>
                <a:lnTo>
                  <a:pt x="88" y="102913"/>
                </a:lnTo>
                <a:lnTo>
                  <a:pt x="0" y="2063248"/>
                </a:lnTo>
                <a:lnTo>
                  <a:pt x="1870" y="2081803"/>
                </a:lnTo>
                <a:lnTo>
                  <a:pt x="17444" y="2119458"/>
                </a:lnTo>
                <a:lnTo>
                  <a:pt x="45591" y="2147935"/>
                </a:lnTo>
                <a:lnTo>
                  <a:pt x="83012" y="2163941"/>
                </a:lnTo>
                <a:lnTo>
                  <a:pt x="104729" y="2166162"/>
                </a:lnTo>
                <a:lnTo>
                  <a:pt x="449727" y="2166066"/>
                </a:lnTo>
                <a:lnTo>
                  <a:pt x="488043" y="2158194"/>
                </a:lnTo>
                <a:lnTo>
                  <a:pt x="512547" y="2143321"/>
                </a:lnTo>
                <a:lnTo>
                  <a:pt x="104729" y="2143302"/>
                </a:lnTo>
                <a:lnTo>
                  <a:pt x="88205" y="2141617"/>
                </a:lnTo>
                <a:lnTo>
                  <a:pt x="46784" y="2119283"/>
                </a:lnTo>
                <a:lnTo>
                  <a:pt x="24450" y="2077860"/>
                </a:lnTo>
                <a:lnTo>
                  <a:pt x="22764" y="104824"/>
                </a:lnTo>
                <a:lnTo>
                  <a:pt x="24450" y="88301"/>
                </a:lnTo>
                <a:lnTo>
                  <a:pt x="46784" y="46879"/>
                </a:lnTo>
                <a:lnTo>
                  <a:pt x="88205" y="24545"/>
                </a:lnTo>
                <a:lnTo>
                  <a:pt x="105111" y="22840"/>
                </a:lnTo>
                <a:lnTo>
                  <a:pt x="512547" y="22840"/>
                </a:lnTo>
                <a:lnTo>
                  <a:pt x="506952" y="18225"/>
                </a:lnTo>
                <a:lnTo>
                  <a:pt x="469534" y="2221"/>
                </a:lnTo>
                <a:lnTo>
                  <a:pt x="468270" y="1965"/>
                </a:lnTo>
                <a:lnTo>
                  <a:pt x="447817" y="0"/>
                </a:lnTo>
                <a:close/>
              </a:path>
              <a:path w="553084" h="2166620">
                <a:moveTo>
                  <a:pt x="512547" y="22840"/>
                </a:moveTo>
                <a:lnTo>
                  <a:pt x="105111" y="22840"/>
                </a:lnTo>
                <a:lnTo>
                  <a:pt x="447817" y="22860"/>
                </a:lnTo>
                <a:lnTo>
                  <a:pt x="464339" y="24545"/>
                </a:lnTo>
                <a:lnTo>
                  <a:pt x="505762" y="46879"/>
                </a:lnTo>
                <a:lnTo>
                  <a:pt x="528096" y="88301"/>
                </a:lnTo>
                <a:lnTo>
                  <a:pt x="529781" y="2061338"/>
                </a:lnTo>
                <a:lnTo>
                  <a:pt x="528096" y="2077860"/>
                </a:lnTo>
                <a:lnTo>
                  <a:pt x="505762" y="2119283"/>
                </a:lnTo>
                <a:lnTo>
                  <a:pt x="464339" y="2141617"/>
                </a:lnTo>
                <a:lnTo>
                  <a:pt x="447434" y="2143321"/>
                </a:lnTo>
                <a:lnTo>
                  <a:pt x="512547" y="2143321"/>
                </a:lnTo>
                <a:lnTo>
                  <a:pt x="544188" y="2102716"/>
                </a:lnTo>
                <a:lnTo>
                  <a:pt x="552641" y="2061338"/>
                </a:lnTo>
                <a:lnTo>
                  <a:pt x="552545" y="102913"/>
                </a:lnTo>
                <a:lnTo>
                  <a:pt x="544675" y="64598"/>
                </a:lnTo>
                <a:lnTo>
                  <a:pt x="522390" y="31112"/>
                </a:lnTo>
                <a:lnTo>
                  <a:pt x="521529" y="30251"/>
                </a:lnTo>
                <a:lnTo>
                  <a:pt x="512547" y="22840"/>
                </a:lnTo>
                <a:close/>
              </a:path>
              <a:path w="553084" h="2166620">
                <a:moveTo>
                  <a:pt x="105874" y="30422"/>
                </a:moveTo>
                <a:lnTo>
                  <a:pt x="63193" y="43218"/>
                </a:lnTo>
                <a:lnTo>
                  <a:pt x="36277" y="75900"/>
                </a:lnTo>
                <a:lnTo>
                  <a:pt x="30384" y="104824"/>
                </a:lnTo>
                <a:lnTo>
                  <a:pt x="30441" y="2061338"/>
                </a:lnTo>
                <a:lnTo>
                  <a:pt x="43122" y="2102872"/>
                </a:lnTo>
                <a:lnTo>
                  <a:pt x="75805" y="2129788"/>
                </a:lnTo>
                <a:lnTo>
                  <a:pt x="446670" y="2135739"/>
                </a:lnTo>
                <a:lnTo>
                  <a:pt x="462813" y="2134113"/>
                </a:lnTo>
                <a:lnTo>
                  <a:pt x="476741" y="2129788"/>
                </a:lnTo>
                <a:lnTo>
                  <a:pt x="479745" y="2128158"/>
                </a:lnTo>
                <a:lnTo>
                  <a:pt x="104729" y="2128062"/>
                </a:lnTo>
                <a:lnTo>
                  <a:pt x="91259" y="2126607"/>
                </a:lnTo>
                <a:lnTo>
                  <a:pt x="57609" y="2108457"/>
                </a:lnTo>
                <a:lnTo>
                  <a:pt x="39458" y="2074806"/>
                </a:lnTo>
                <a:lnTo>
                  <a:pt x="37985" y="2060191"/>
                </a:lnTo>
                <a:lnTo>
                  <a:pt x="38004" y="104824"/>
                </a:lnTo>
                <a:lnTo>
                  <a:pt x="49469" y="67571"/>
                </a:lnTo>
                <a:lnTo>
                  <a:pt x="91259" y="39554"/>
                </a:lnTo>
                <a:lnTo>
                  <a:pt x="106639" y="38004"/>
                </a:lnTo>
                <a:lnTo>
                  <a:pt x="479747" y="38004"/>
                </a:lnTo>
                <a:lnTo>
                  <a:pt x="476741" y="36372"/>
                </a:lnTo>
                <a:lnTo>
                  <a:pt x="462813" y="32049"/>
                </a:lnTo>
                <a:lnTo>
                  <a:pt x="447817" y="30480"/>
                </a:lnTo>
                <a:lnTo>
                  <a:pt x="105874" y="30422"/>
                </a:lnTo>
                <a:close/>
              </a:path>
              <a:path w="553084" h="2166620">
                <a:moveTo>
                  <a:pt x="479747" y="38004"/>
                </a:moveTo>
                <a:lnTo>
                  <a:pt x="106639" y="38004"/>
                </a:lnTo>
                <a:lnTo>
                  <a:pt x="447817" y="38100"/>
                </a:lnTo>
                <a:lnTo>
                  <a:pt x="461286" y="39554"/>
                </a:lnTo>
                <a:lnTo>
                  <a:pt x="494936" y="57704"/>
                </a:lnTo>
                <a:lnTo>
                  <a:pt x="513087" y="91354"/>
                </a:lnTo>
                <a:lnTo>
                  <a:pt x="514541" y="2061338"/>
                </a:lnTo>
                <a:lnTo>
                  <a:pt x="513087" y="2074806"/>
                </a:lnTo>
                <a:lnTo>
                  <a:pt x="494936" y="2108457"/>
                </a:lnTo>
                <a:lnTo>
                  <a:pt x="461286" y="2126607"/>
                </a:lnTo>
                <a:lnTo>
                  <a:pt x="445905" y="2128158"/>
                </a:lnTo>
                <a:lnTo>
                  <a:pt x="479745" y="2128158"/>
                </a:lnTo>
                <a:lnTo>
                  <a:pt x="509423" y="2102872"/>
                </a:lnTo>
                <a:lnTo>
                  <a:pt x="522161" y="2061338"/>
                </a:lnTo>
                <a:lnTo>
                  <a:pt x="522103" y="104824"/>
                </a:lnTo>
                <a:lnTo>
                  <a:pt x="509423" y="63290"/>
                </a:lnTo>
                <a:lnTo>
                  <a:pt x="489351" y="43218"/>
                </a:lnTo>
                <a:lnTo>
                  <a:pt x="479747" y="38004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54703" y="3998467"/>
            <a:ext cx="2352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FF0000"/>
                </a:solidFill>
                <a:latin typeface="Corbel"/>
                <a:cs typeface="Corbel"/>
              </a:rPr>
              <a:t>Nodes </a:t>
            </a:r>
            <a:r>
              <a:rPr dirty="0" sz="1800" b="1">
                <a:solidFill>
                  <a:srgbClr val="FF0000"/>
                </a:solidFill>
                <a:latin typeface="Corbel"/>
                <a:cs typeface="Corbel"/>
              </a:rPr>
              <a:t>in </a:t>
            </a:r>
            <a:r>
              <a:rPr dirty="0" sz="1800" spc="-5" b="1">
                <a:solidFill>
                  <a:srgbClr val="FF0000"/>
                </a:solidFill>
                <a:latin typeface="Corbel"/>
                <a:cs typeface="Corbel"/>
              </a:rPr>
              <a:t>high</a:t>
            </a:r>
            <a:r>
              <a:rPr dirty="0" sz="1800" spc="-30" b="1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Corbel"/>
                <a:cs typeface="Corbel"/>
              </a:rPr>
              <a:t>hierarchy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8231" y="4087835"/>
            <a:ext cx="917575" cy="209550"/>
          </a:xfrm>
          <a:custGeom>
            <a:avLst/>
            <a:gdLst/>
            <a:ahLst/>
            <a:cxnLst/>
            <a:rect l="l" t="t" r="r" b="b"/>
            <a:pathLst>
              <a:path w="917575" h="209550">
                <a:moveTo>
                  <a:pt x="812830" y="0"/>
                </a:moveTo>
                <a:lnTo>
                  <a:pt x="812830" y="52278"/>
                </a:lnTo>
                <a:lnTo>
                  <a:pt x="0" y="52278"/>
                </a:lnTo>
                <a:lnTo>
                  <a:pt x="0" y="156833"/>
                </a:lnTo>
                <a:lnTo>
                  <a:pt x="812830" y="156833"/>
                </a:lnTo>
                <a:lnTo>
                  <a:pt x="812830" y="209110"/>
                </a:lnTo>
                <a:lnTo>
                  <a:pt x="917387" y="104555"/>
                </a:lnTo>
                <a:lnTo>
                  <a:pt x="81283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35307" y="5416166"/>
            <a:ext cx="972819" cy="209550"/>
          </a:xfrm>
          <a:custGeom>
            <a:avLst/>
            <a:gdLst/>
            <a:ahLst/>
            <a:cxnLst/>
            <a:rect l="l" t="t" r="r" b="b"/>
            <a:pathLst>
              <a:path w="972820" h="209550">
                <a:moveTo>
                  <a:pt x="867924" y="0"/>
                </a:moveTo>
                <a:lnTo>
                  <a:pt x="867924" y="52278"/>
                </a:lnTo>
                <a:lnTo>
                  <a:pt x="0" y="52278"/>
                </a:lnTo>
                <a:lnTo>
                  <a:pt x="0" y="156833"/>
                </a:lnTo>
                <a:lnTo>
                  <a:pt x="867924" y="156833"/>
                </a:lnTo>
                <a:lnTo>
                  <a:pt x="867924" y="209111"/>
                </a:lnTo>
                <a:lnTo>
                  <a:pt x="972479" y="104555"/>
                </a:lnTo>
                <a:lnTo>
                  <a:pt x="867924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53584" y="5315203"/>
            <a:ext cx="2268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B050"/>
                </a:solidFill>
                <a:latin typeface="Corbel"/>
                <a:cs typeface="Corbel"/>
              </a:rPr>
              <a:t>Nodes </a:t>
            </a:r>
            <a:r>
              <a:rPr dirty="0" sz="1800" b="1">
                <a:solidFill>
                  <a:srgbClr val="00B050"/>
                </a:solidFill>
                <a:latin typeface="Corbel"/>
                <a:cs typeface="Corbel"/>
              </a:rPr>
              <a:t>in </a:t>
            </a:r>
            <a:r>
              <a:rPr dirty="0" sz="1800" spc="-5" b="1">
                <a:solidFill>
                  <a:srgbClr val="00B050"/>
                </a:solidFill>
                <a:latin typeface="Corbel"/>
                <a:cs typeface="Corbel"/>
              </a:rPr>
              <a:t>low</a:t>
            </a:r>
            <a:r>
              <a:rPr dirty="0" sz="1800" spc="-35" b="1">
                <a:solidFill>
                  <a:srgbClr val="00B05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B050"/>
                </a:solidFill>
                <a:latin typeface="Corbel"/>
                <a:cs typeface="Corbel"/>
              </a:rPr>
              <a:t>hierarchy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146632" y="5787644"/>
            <a:ext cx="2551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solidFill>
                  <a:srgbClr val="7030A0"/>
                </a:solidFill>
                <a:latin typeface="Arial"/>
                <a:cs typeface="Arial"/>
              </a:rPr>
              <a:t>Poincaré embedding </a:t>
            </a:r>
            <a:r>
              <a:rPr dirty="0" sz="1200" spc="-10" b="1">
                <a:solidFill>
                  <a:srgbClr val="7030A0"/>
                </a:solidFill>
                <a:latin typeface="Arial"/>
                <a:cs typeface="Arial"/>
              </a:rPr>
              <a:t>(Nickel </a:t>
            </a:r>
            <a:r>
              <a:rPr dirty="0" sz="1200" spc="-5" b="1">
                <a:solidFill>
                  <a:srgbClr val="7030A0"/>
                </a:solidFill>
                <a:latin typeface="Arial"/>
                <a:cs typeface="Arial"/>
              </a:rPr>
              <a:t>et.</a:t>
            </a:r>
            <a:r>
              <a:rPr dirty="0" sz="1200" spc="25" b="1">
                <a:solidFill>
                  <a:srgbClr val="7030A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7030A0"/>
                </a:solidFill>
                <a:latin typeface="Arial"/>
                <a:cs typeface="Arial"/>
              </a:rPr>
              <a:t>al.)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4664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0572" y="1390395"/>
            <a:ext cx="5445125" cy="8851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0">
                <a:solidFill>
                  <a:srgbClr val="0432FF"/>
                </a:solidFill>
                <a:latin typeface="Calibri"/>
                <a:cs typeface="Calibri"/>
              </a:rPr>
              <a:t>Manifold: </a:t>
            </a:r>
            <a:r>
              <a:rPr dirty="0" sz="2800" spc="-5" b="0">
                <a:latin typeface="Calibri"/>
                <a:cs typeface="Calibri"/>
              </a:rPr>
              <a:t>high-dimensional</a:t>
            </a:r>
            <a:r>
              <a:rPr dirty="0" sz="2800" spc="-40" b="0">
                <a:latin typeface="Calibri"/>
                <a:cs typeface="Calibri"/>
              </a:rPr>
              <a:t> </a:t>
            </a:r>
            <a:r>
              <a:rPr dirty="0" sz="2800" spc="-10" b="0">
                <a:latin typeface="Calibri"/>
                <a:cs typeface="Calibri"/>
              </a:rPr>
              <a:t>surface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solidFill>
                  <a:srgbClr val="0432FF"/>
                </a:solidFill>
                <a:latin typeface="Calibri"/>
                <a:cs typeface="Calibri"/>
              </a:rPr>
              <a:t>Riemannian</a:t>
            </a:r>
            <a:r>
              <a:rPr dirty="0" sz="2800" spc="-55" b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dirty="0" sz="2800" spc="-15" b="0">
                <a:solidFill>
                  <a:srgbClr val="0432FF"/>
                </a:solidFill>
                <a:latin typeface="Calibri"/>
                <a:cs typeface="Calibri"/>
              </a:rPr>
              <a:t>Manifold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9027" y="2315972"/>
            <a:ext cx="2085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Equipped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30"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0177" y="2760979"/>
            <a:ext cx="19272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 i="1">
                <a:solidFill>
                  <a:srgbClr val="C00000"/>
                </a:solidFill>
                <a:latin typeface="Calibri"/>
                <a:cs typeface="Calibri"/>
              </a:rPr>
              <a:t>Inner</a:t>
            </a:r>
            <a:r>
              <a:rPr dirty="0" sz="2400" spc="-7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40" i="1">
                <a:solidFill>
                  <a:srgbClr val="C00000"/>
                </a:solidFill>
                <a:latin typeface="Calibri"/>
                <a:cs typeface="Calibri"/>
              </a:rPr>
              <a:t>product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58244" y="2853080"/>
            <a:ext cx="520700" cy="278765"/>
          </a:xfrm>
          <a:custGeom>
            <a:avLst/>
            <a:gdLst/>
            <a:ahLst/>
            <a:cxnLst/>
            <a:rect l="l" t="t" r="r" b="b"/>
            <a:pathLst>
              <a:path w="520700" h="278764">
                <a:moveTo>
                  <a:pt x="460771" y="0"/>
                </a:moveTo>
                <a:lnTo>
                  <a:pt x="444846" y="5358"/>
                </a:lnTo>
                <a:lnTo>
                  <a:pt x="492620" y="139153"/>
                </a:lnTo>
                <a:lnTo>
                  <a:pt x="444846" y="272802"/>
                </a:lnTo>
                <a:lnTo>
                  <a:pt x="460771" y="278457"/>
                </a:lnTo>
                <a:lnTo>
                  <a:pt x="520153" y="144660"/>
                </a:lnTo>
                <a:lnTo>
                  <a:pt x="520153" y="133647"/>
                </a:lnTo>
                <a:lnTo>
                  <a:pt x="460771" y="0"/>
                </a:lnTo>
                <a:close/>
              </a:path>
              <a:path w="520700" h="278764">
                <a:moveTo>
                  <a:pt x="59381" y="0"/>
                </a:moveTo>
                <a:lnTo>
                  <a:pt x="0" y="133795"/>
                </a:lnTo>
                <a:lnTo>
                  <a:pt x="0" y="144809"/>
                </a:lnTo>
                <a:lnTo>
                  <a:pt x="59381" y="278457"/>
                </a:lnTo>
                <a:lnTo>
                  <a:pt x="75157" y="273099"/>
                </a:lnTo>
                <a:lnTo>
                  <a:pt x="27383" y="139302"/>
                </a:lnTo>
                <a:lnTo>
                  <a:pt x="75157" y="5655"/>
                </a:lnTo>
                <a:lnTo>
                  <a:pt x="593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36477" y="2760979"/>
            <a:ext cx="2265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dirty="0" sz="2400">
                <a:latin typeface="Cambria Math"/>
                <a:cs typeface="Cambria Math"/>
              </a:rPr>
              <a:t>.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.	</a:t>
            </a:r>
            <a:r>
              <a:rPr dirty="0" sz="2400">
                <a:latin typeface="Calibri"/>
                <a:cs typeface="Calibri"/>
              </a:rPr>
              <a:t>: </a:t>
            </a:r>
            <a:r>
              <a:rPr dirty="0" sz="2400" spc="-5">
                <a:latin typeface="Calibri"/>
                <a:cs typeface="Calibri"/>
              </a:rPr>
              <a:t>metric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027" y="3205988"/>
            <a:ext cx="6718934" cy="155892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552450" marR="248285" indent="-228600">
              <a:lnSpc>
                <a:spcPts val="2810"/>
              </a:lnSpc>
              <a:spcBef>
                <a:spcPts val="25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35" i="1">
                <a:solidFill>
                  <a:srgbClr val="C00000"/>
                </a:solidFill>
                <a:latin typeface="Calibri"/>
                <a:cs typeface="Calibri"/>
              </a:rPr>
              <a:t>Tangent </a:t>
            </a:r>
            <a:r>
              <a:rPr dirty="0" sz="2400" spc="-5" i="1">
                <a:solidFill>
                  <a:srgbClr val="C00000"/>
                </a:solidFill>
                <a:latin typeface="Calibri"/>
                <a:cs typeface="Calibri"/>
              </a:rPr>
              <a:t>space </a:t>
            </a:r>
            <a:r>
              <a:rPr dirty="0" sz="2400">
                <a:latin typeface="Cambria Math"/>
                <a:cs typeface="Cambria Math"/>
              </a:rPr>
              <a:t>𝒯</a:t>
            </a:r>
            <a:r>
              <a:rPr dirty="0" baseline="-15432" sz="2700">
                <a:latin typeface="Cambria Math"/>
                <a:cs typeface="Cambria Math"/>
              </a:rPr>
              <a:t>! </a:t>
            </a:r>
            <a:r>
              <a:rPr dirty="0" sz="2400">
                <a:latin typeface="Calibri"/>
                <a:cs typeface="Calibri"/>
              </a:rPr>
              <a:t>: an </a:t>
            </a:r>
            <a:r>
              <a:rPr dirty="0" sz="2400" spc="225">
                <a:latin typeface="Cambria Math"/>
                <a:cs typeface="Cambria Math"/>
              </a:rPr>
              <a:t>ℝ</a:t>
            </a:r>
            <a:r>
              <a:rPr dirty="0" baseline="27777" sz="2700" spc="337">
                <a:latin typeface="Cambria Math"/>
                <a:cs typeface="Cambria Math"/>
              </a:rPr>
              <a:t>"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 spc="-15">
                <a:latin typeface="Calibri"/>
                <a:cs typeface="Calibri"/>
              </a:rPr>
              <a:t>approximates </a:t>
            </a:r>
            <a:r>
              <a:rPr dirty="0" sz="2400" spc="-45">
                <a:latin typeface="Calibri"/>
                <a:cs typeface="Calibri"/>
              </a:rPr>
              <a:t>the  </a:t>
            </a:r>
            <a:r>
              <a:rPr dirty="0" sz="2400" spc="-10">
                <a:latin typeface="Calibri"/>
                <a:cs typeface="Calibri"/>
              </a:rPr>
              <a:t>manifold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20">
                <a:latin typeface="Calibri"/>
                <a:cs typeface="Calibri"/>
              </a:rPr>
              <a:t>any </a:t>
            </a:r>
            <a:r>
              <a:rPr dirty="0" sz="2400" spc="-10">
                <a:latin typeface="Calibri"/>
                <a:cs typeface="Calibri"/>
              </a:rPr>
              <a:t>point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alibri"/>
                <a:cs typeface="Calibri"/>
              </a:rPr>
              <a:t>Both functions </a:t>
            </a:r>
            <a:r>
              <a:rPr dirty="0" sz="2400" spc="-10">
                <a:latin typeface="Calibri"/>
                <a:cs typeface="Calibri"/>
              </a:rPr>
              <a:t>vary </a:t>
            </a:r>
            <a:r>
              <a:rPr dirty="0" sz="2400" spc="-5">
                <a:latin typeface="Calibri"/>
                <a:cs typeface="Calibri"/>
              </a:rPr>
              <a:t>smoothly </a:t>
            </a:r>
            <a:r>
              <a:rPr dirty="0" sz="2400" spc="-10">
                <a:latin typeface="Calibri"/>
                <a:cs typeface="Calibri"/>
              </a:rPr>
              <a:t>(differentiable) </a:t>
            </a: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120">
                <a:latin typeface="Calibri"/>
                <a:cs typeface="Calibri"/>
              </a:rPr>
              <a:t>the  </a:t>
            </a:r>
            <a:r>
              <a:rPr dirty="0" sz="2400" spc="-10">
                <a:latin typeface="Calibri"/>
                <a:cs typeface="Calibri"/>
              </a:rPr>
              <a:t>manifold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95696" y="1438473"/>
            <a:ext cx="1693106" cy="16345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496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716531"/>
            <a:ext cx="547878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solidFill>
                  <a:srgbClr val="0432FF"/>
                </a:solidFill>
                <a:latin typeface="Calibri"/>
                <a:cs typeface="Calibri"/>
              </a:rPr>
              <a:t>Geodesic: </a:t>
            </a:r>
            <a:r>
              <a:rPr dirty="0" sz="2800" spc="-10" b="0">
                <a:latin typeface="Calibri"/>
                <a:cs typeface="Calibri"/>
              </a:rPr>
              <a:t>shortest path </a:t>
            </a:r>
            <a:r>
              <a:rPr dirty="0" sz="2800" spc="-5" b="0">
                <a:latin typeface="Calibri"/>
                <a:cs typeface="Calibri"/>
              </a:rPr>
              <a:t>in</a:t>
            </a:r>
            <a:r>
              <a:rPr dirty="0" sz="2800" b="0">
                <a:latin typeface="Calibri"/>
                <a:cs typeface="Calibri"/>
              </a:rPr>
              <a:t> </a:t>
            </a:r>
            <a:r>
              <a:rPr dirty="0" sz="2800" spc="-15" b="0">
                <a:latin typeface="Calibri"/>
                <a:cs typeface="Calibri"/>
              </a:rPr>
              <a:t>manifold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13355"/>
            <a:ext cx="7239000" cy="781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61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200" spc="-5">
                <a:latin typeface="Calibri"/>
                <a:cs typeface="Calibri"/>
              </a:rPr>
              <a:t>Analogous </a:t>
            </a:r>
            <a:r>
              <a:rPr dirty="0" sz="2200" spc="-15">
                <a:latin typeface="Calibri"/>
                <a:cs typeface="Calibri"/>
              </a:rPr>
              <a:t>to straight </a:t>
            </a:r>
            <a:r>
              <a:rPr dirty="0" sz="2200" spc="-5">
                <a:latin typeface="Calibri"/>
                <a:cs typeface="Calibri"/>
              </a:rPr>
              <a:t>lines in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280">
                <a:latin typeface="Cambria Math"/>
                <a:cs typeface="Cambria Math"/>
              </a:rPr>
              <a:t>ℝ</a:t>
            </a:r>
            <a:r>
              <a:rPr dirty="0" baseline="27777" sz="2400" spc="419">
                <a:latin typeface="Cambria Math"/>
                <a:cs typeface="Cambria Math"/>
              </a:rPr>
              <a:t>!</a:t>
            </a:r>
            <a:endParaRPr baseline="27777" sz="2400">
              <a:latin typeface="Cambria Math"/>
              <a:cs typeface="Cambria Math"/>
            </a:endParaRPr>
          </a:p>
          <a:p>
            <a:pPr marL="332740" indent="-320040">
              <a:lnSpc>
                <a:spcPts val="333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solidFill>
                  <a:srgbClr val="0432FF"/>
                </a:solidFill>
                <a:latin typeface="Calibri"/>
                <a:cs typeface="Calibri"/>
              </a:rPr>
              <a:t>Hyperbolic space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Riemannian </a:t>
            </a:r>
            <a:r>
              <a:rPr dirty="0" sz="2800" spc="-15">
                <a:latin typeface="Calibri"/>
                <a:cs typeface="Calibri"/>
              </a:rPr>
              <a:t>manifold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with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6164" y="3329940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8149" y="3063747"/>
            <a:ext cx="70243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constant </a:t>
            </a:r>
            <a:r>
              <a:rPr dirty="0" sz="2800" spc="-20">
                <a:solidFill>
                  <a:srgbClr val="C00000"/>
                </a:solidFill>
                <a:latin typeface="Calibri"/>
                <a:cs typeface="Calibri"/>
              </a:rPr>
              <a:t>negative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curvature </a:t>
            </a:r>
            <a:r>
              <a:rPr dirty="0" sz="2800">
                <a:latin typeface="Cambria Math"/>
                <a:cs typeface="Cambria Math"/>
              </a:rPr>
              <a:t>− </a:t>
            </a:r>
            <a:r>
              <a:rPr dirty="0" baseline="45833" sz="3000" spc="-367">
                <a:latin typeface="Cambria Math"/>
                <a:cs typeface="Cambria Math"/>
              </a:rPr>
              <a:t>%</a:t>
            </a:r>
            <a:r>
              <a:rPr dirty="0" sz="2800" spc="-245">
                <a:latin typeface="Calibri"/>
                <a:cs typeface="Calibri"/>
              </a:rPr>
              <a:t>, 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>
                <a:latin typeface="Cambria Math"/>
                <a:cs typeface="Cambria Math"/>
              </a:rPr>
              <a:t>(𝐾  &gt;</a:t>
            </a:r>
            <a:r>
              <a:rPr dirty="0" sz="2800" spc="-295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0)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63" y="3342132"/>
            <a:ext cx="6824345" cy="171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18965">
              <a:lnSpc>
                <a:spcPct val="100000"/>
              </a:lnSpc>
              <a:spcBef>
                <a:spcPts val="100"/>
              </a:spcBef>
            </a:pPr>
            <a:r>
              <a:rPr dirty="0" sz="2000" spc="60">
                <a:latin typeface="Cambria Math"/>
                <a:cs typeface="Cambria Math"/>
              </a:rPr>
              <a:t>&amp;</a:t>
            </a:r>
            <a:endParaRPr sz="20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Becomes </a:t>
            </a:r>
            <a:r>
              <a:rPr dirty="0" sz="2800" spc="-5">
                <a:latin typeface="Calibri"/>
                <a:cs typeface="Calibri"/>
              </a:rPr>
              <a:t>Euclidean when </a:t>
            </a:r>
            <a:r>
              <a:rPr dirty="0" sz="2800">
                <a:latin typeface="Cambria Math"/>
                <a:cs typeface="Cambria Math"/>
              </a:rPr>
              <a:t>𝐾  →</a:t>
            </a:r>
            <a:r>
              <a:rPr dirty="0" sz="2800" spc="-2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∞</a:t>
            </a:r>
            <a:endParaRPr sz="2800">
              <a:latin typeface="Cambria Math"/>
              <a:cs typeface="Cambria Math"/>
            </a:endParaRPr>
          </a:p>
          <a:p>
            <a:pPr marL="287020" marR="5080" indent="-274320">
              <a:lnSpc>
                <a:spcPct val="101400"/>
              </a:lnSpc>
              <a:spcBef>
                <a:spcPts val="57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20">
                <a:latin typeface="Calibri"/>
                <a:cs typeface="Calibri"/>
              </a:rPr>
              <a:t>negative </a:t>
            </a:r>
            <a:r>
              <a:rPr dirty="0" sz="2800" spc="-5">
                <a:latin typeface="Calibri"/>
                <a:cs typeface="Calibri"/>
              </a:rPr>
              <a:t>is the </a:t>
            </a:r>
            <a:r>
              <a:rPr dirty="0" sz="2800" spc="-15">
                <a:latin typeface="Calibri"/>
                <a:cs typeface="Calibri"/>
              </a:rPr>
              <a:t>curvature,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more  </a:t>
            </a:r>
            <a:r>
              <a:rPr dirty="0" sz="2800" spc="-5">
                <a:latin typeface="Calibri"/>
                <a:cs typeface="Calibri"/>
              </a:rPr>
              <a:t>curved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space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9788" y="5306786"/>
            <a:ext cx="6078855" cy="954405"/>
          </a:xfrm>
          <a:prstGeom prst="rect">
            <a:avLst/>
          </a:prstGeom>
          <a:solidFill>
            <a:srgbClr val="A6D4A7"/>
          </a:solidFill>
        </p:spPr>
        <p:txBody>
          <a:bodyPr wrap="square" lIns="0" tIns="31115" rIns="0" bIns="0" rtlCol="0" vert="horz">
            <a:spAutoFit/>
          </a:bodyPr>
          <a:lstStyle/>
          <a:p>
            <a:pPr marL="1426210" marR="487045" indent="-931544">
              <a:lnSpc>
                <a:spcPct val="100699"/>
              </a:lnSpc>
              <a:spcBef>
                <a:spcPts val="245"/>
              </a:spcBef>
            </a:pP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How does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curvature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affect the  </a:t>
            </a:r>
            <a:r>
              <a:rPr dirty="0" sz="2800" spc="-5" b="1">
                <a:solidFill>
                  <a:srgbClr val="0070C0"/>
                </a:solidFill>
                <a:latin typeface="Arial"/>
                <a:cs typeface="Arial"/>
              </a:rPr>
              <a:t>embedding</a:t>
            </a:r>
            <a:r>
              <a:rPr dirty="0" sz="2800" spc="-3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70C0"/>
                </a:solidFill>
                <a:latin typeface="Arial"/>
                <a:cs typeface="Arial"/>
              </a:rPr>
              <a:t>space?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107935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32962" y="175513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42551" y="1325880"/>
            <a:ext cx="1949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665">
                <a:latin typeface="Cambria Math"/>
                <a:cs typeface="Cambria Math"/>
              </a:rPr>
              <a:t>!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449324"/>
            <a:ext cx="63144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latin typeface="Calibri"/>
                <a:cs typeface="Calibri"/>
              </a:rPr>
              <a:t>We </a:t>
            </a:r>
            <a:r>
              <a:rPr dirty="0" spc="-5" b="0">
                <a:latin typeface="Calibri"/>
                <a:cs typeface="Calibri"/>
              </a:rPr>
              <a:t>use </a:t>
            </a:r>
            <a:r>
              <a:rPr dirty="0" b="0">
                <a:latin typeface="Cambria Math"/>
                <a:cs typeface="Cambria Math"/>
              </a:rPr>
              <a:t>− </a:t>
            </a:r>
            <a:r>
              <a:rPr dirty="0" baseline="-38647" sz="3450" spc="1125" b="0">
                <a:latin typeface="Cambria Math"/>
                <a:cs typeface="Cambria Math"/>
              </a:rPr>
              <a:t>"</a:t>
            </a:r>
            <a:r>
              <a:rPr dirty="0" baseline="-38647" sz="3450" spc="-89" b="0">
                <a:latin typeface="Cambria Math"/>
                <a:cs typeface="Cambria Math"/>
              </a:rPr>
              <a:t> </a:t>
            </a:r>
            <a:r>
              <a:rPr dirty="0" sz="3200" spc="-15" b="0">
                <a:latin typeface="Calibri"/>
                <a:cs typeface="Calibri"/>
              </a:rPr>
              <a:t>to </a:t>
            </a:r>
            <a:r>
              <a:rPr dirty="0" sz="3200" spc="-10" b="0">
                <a:latin typeface="Calibri"/>
                <a:cs typeface="Calibri"/>
              </a:rPr>
              <a:t>denote </a:t>
            </a:r>
            <a:r>
              <a:rPr dirty="0" sz="3200" b="0">
                <a:latin typeface="Calibri"/>
                <a:cs typeface="Calibri"/>
              </a:rPr>
              <a:t>the </a:t>
            </a:r>
            <a:r>
              <a:rPr dirty="0" sz="3200" spc="-15">
                <a:solidFill>
                  <a:srgbClr val="C00000"/>
                </a:solidFill>
              </a:rPr>
              <a:t>curvature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7793" y="2147077"/>
            <a:ext cx="558165" cy="391160"/>
          </a:xfrm>
          <a:custGeom>
            <a:avLst/>
            <a:gdLst/>
            <a:ahLst/>
            <a:cxnLst/>
            <a:rect l="l" t="t" r="r" b="b"/>
            <a:pathLst>
              <a:path w="558165" h="391160">
                <a:moveTo>
                  <a:pt x="78628" y="214511"/>
                </a:moveTo>
                <a:lnTo>
                  <a:pt x="39687" y="214511"/>
                </a:lnTo>
                <a:lnTo>
                  <a:pt x="121840" y="391120"/>
                </a:lnTo>
                <a:lnTo>
                  <a:pt x="141088" y="391120"/>
                </a:lnTo>
                <a:lnTo>
                  <a:pt x="156423" y="338733"/>
                </a:lnTo>
                <a:lnTo>
                  <a:pt x="135136" y="338733"/>
                </a:lnTo>
                <a:lnTo>
                  <a:pt x="78628" y="214511"/>
                </a:lnTo>
                <a:close/>
              </a:path>
              <a:path w="558165" h="391160">
                <a:moveTo>
                  <a:pt x="283765" y="0"/>
                </a:moveTo>
                <a:lnTo>
                  <a:pt x="233163" y="0"/>
                </a:lnTo>
                <a:lnTo>
                  <a:pt x="135136" y="338733"/>
                </a:lnTo>
                <a:lnTo>
                  <a:pt x="156423" y="338733"/>
                </a:lnTo>
                <a:lnTo>
                  <a:pt x="247848" y="26393"/>
                </a:lnTo>
                <a:lnTo>
                  <a:pt x="557569" y="26393"/>
                </a:lnTo>
                <a:lnTo>
                  <a:pt x="557569" y="1762"/>
                </a:lnTo>
                <a:lnTo>
                  <a:pt x="283765" y="1762"/>
                </a:lnTo>
                <a:lnTo>
                  <a:pt x="283765" y="0"/>
                </a:lnTo>
                <a:close/>
              </a:path>
              <a:path w="558165" h="391160">
                <a:moveTo>
                  <a:pt x="65087" y="184745"/>
                </a:moveTo>
                <a:lnTo>
                  <a:pt x="0" y="214511"/>
                </a:lnTo>
                <a:lnTo>
                  <a:pt x="6151" y="229393"/>
                </a:lnTo>
                <a:lnTo>
                  <a:pt x="39687" y="214511"/>
                </a:lnTo>
                <a:lnTo>
                  <a:pt x="78628" y="214511"/>
                </a:lnTo>
                <a:lnTo>
                  <a:pt x="65087" y="184745"/>
                </a:lnTo>
                <a:close/>
              </a:path>
              <a:path w="558165" h="391160">
                <a:moveTo>
                  <a:pt x="557569" y="26393"/>
                </a:moveTo>
                <a:lnTo>
                  <a:pt x="265469" y="26393"/>
                </a:lnTo>
                <a:lnTo>
                  <a:pt x="265469" y="27162"/>
                </a:lnTo>
                <a:lnTo>
                  <a:pt x="557569" y="27162"/>
                </a:lnTo>
                <a:lnTo>
                  <a:pt x="557569" y="263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2086356"/>
            <a:ext cx="7988300" cy="1518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9440" indent="-5867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599440" algn="l"/>
                <a:tab pos="600075" algn="l"/>
              </a:tabLst>
            </a:pPr>
            <a:r>
              <a:rPr dirty="0" sz="3200">
                <a:latin typeface="Cambria Math"/>
                <a:cs typeface="Cambria Math"/>
              </a:rPr>
              <a:t>𝐾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also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radius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Poincaré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ball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Hyperboloid model </a:t>
            </a:r>
            <a:r>
              <a:rPr dirty="0" sz="3200">
                <a:latin typeface="Calibri"/>
                <a:cs typeface="Calibri"/>
              </a:rPr>
              <a:t>as a </a:t>
            </a:r>
            <a:r>
              <a:rPr dirty="0" sz="3200" spc="-5">
                <a:latin typeface="Calibri"/>
                <a:cs typeface="Calibri"/>
              </a:rPr>
              <a:t>Riemannian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manifold: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Constant 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Minkowski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inner</a:t>
            </a:r>
            <a:r>
              <a:rPr dirty="0" sz="2800" spc="-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product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44113" y="3688234"/>
            <a:ext cx="609600" cy="325120"/>
          </a:xfrm>
          <a:custGeom>
            <a:avLst/>
            <a:gdLst/>
            <a:ahLst/>
            <a:cxnLst/>
            <a:rect l="l" t="t" r="r" b="b"/>
            <a:pathLst>
              <a:path w="609600" h="325120">
                <a:moveTo>
                  <a:pt x="539916" y="0"/>
                </a:moveTo>
                <a:lnTo>
                  <a:pt x="521337" y="6250"/>
                </a:lnTo>
                <a:lnTo>
                  <a:pt x="577074" y="162346"/>
                </a:lnTo>
                <a:lnTo>
                  <a:pt x="521337" y="318268"/>
                </a:lnTo>
                <a:lnTo>
                  <a:pt x="539916" y="324866"/>
                </a:lnTo>
                <a:lnTo>
                  <a:pt x="609196" y="168770"/>
                </a:lnTo>
                <a:lnTo>
                  <a:pt x="609196" y="155921"/>
                </a:lnTo>
                <a:lnTo>
                  <a:pt x="539916" y="0"/>
                </a:lnTo>
                <a:close/>
              </a:path>
              <a:path w="609600" h="325120">
                <a:moveTo>
                  <a:pt x="69279" y="0"/>
                </a:moveTo>
                <a:lnTo>
                  <a:pt x="0" y="156095"/>
                </a:lnTo>
                <a:lnTo>
                  <a:pt x="0" y="168944"/>
                </a:lnTo>
                <a:lnTo>
                  <a:pt x="69279" y="324866"/>
                </a:lnTo>
                <a:lnTo>
                  <a:pt x="87684" y="318616"/>
                </a:lnTo>
                <a:lnTo>
                  <a:pt x="31948" y="162519"/>
                </a:lnTo>
                <a:lnTo>
                  <a:pt x="87684" y="6597"/>
                </a:lnTo>
                <a:lnTo>
                  <a:pt x="69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37534" y="3584955"/>
            <a:ext cx="3632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. ,</a:t>
            </a:r>
            <a:r>
              <a:rPr dirty="0" sz="2800" spc="-40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.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2171" y="3453891"/>
            <a:ext cx="31896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770" algn="l"/>
              </a:tabLst>
            </a:pPr>
            <a:r>
              <a:rPr dirty="0" baseline="-44444" sz="3000">
                <a:latin typeface="Cambria Math"/>
                <a:cs typeface="Cambria Math"/>
              </a:rPr>
              <a:t>ℒ</a:t>
            </a:r>
            <a:r>
              <a:rPr dirty="0" baseline="-44444" sz="3000" spc="390">
                <a:latin typeface="Cambria Math"/>
                <a:cs typeface="Cambria Math"/>
              </a:rPr>
              <a:t> </a:t>
            </a:r>
            <a:r>
              <a:rPr dirty="0" baseline="-20833" sz="4200">
                <a:latin typeface="Cambria Math"/>
                <a:cs typeface="Cambria Math"/>
              </a:rPr>
              <a:t>∶	</a:t>
            </a:r>
            <a:r>
              <a:rPr dirty="0" baseline="-20833" sz="4200" spc="195">
                <a:latin typeface="Cambria Math"/>
                <a:cs typeface="Cambria Math"/>
              </a:rPr>
              <a:t>ℝ</a:t>
            </a:r>
            <a:r>
              <a:rPr dirty="0" sz="2000" spc="130">
                <a:latin typeface="Cambria Math"/>
                <a:cs typeface="Cambria Math"/>
              </a:rPr>
              <a:t>()%</a:t>
            </a:r>
            <a:r>
              <a:rPr dirty="0" baseline="-20833" sz="4200" spc="195">
                <a:latin typeface="Cambria Math"/>
                <a:cs typeface="Cambria Math"/>
              </a:rPr>
              <a:t>×ℝ</a:t>
            </a:r>
            <a:r>
              <a:rPr dirty="0" sz="2000" spc="130">
                <a:latin typeface="Cambria Math"/>
                <a:cs typeface="Cambria Math"/>
              </a:rPr>
              <a:t>()% </a:t>
            </a:r>
            <a:r>
              <a:rPr dirty="0" baseline="-20833" sz="4200">
                <a:latin typeface="Cambria Math"/>
                <a:cs typeface="Cambria Math"/>
              </a:rPr>
              <a:t>→</a:t>
            </a:r>
            <a:r>
              <a:rPr dirty="0" baseline="-20833" sz="4200" spc="262">
                <a:latin typeface="Cambria Math"/>
                <a:cs typeface="Cambria Math"/>
              </a:rPr>
              <a:t> </a:t>
            </a:r>
            <a:r>
              <a:rPr dirty="0" baseline="-20833" sz="4200">
                <a:latin typeface="Cambria Math"/>
                <a:cs typeface="Cambria Math"/>
              </a:rPr>
              <a:t>ℝ</a:t>
            </a:r>
            <a:endParaRPr baseline="-20833" sz="4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08520" y="3207001"/>
            <a:ext cx="1727264" cy="11793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44882" y="4241882"/>
            <a:ext cx="761365" cy="481330"/>
          </a:xfrm>
          <a:custGeom>
            <a:avLst/>
            <a:gdLst/>
            <a:ahLst/>
            <a:cxnLst/>
            <a:rect l="l" t="t" r="r" b="b"/>
            <a:pathLst>
              <a:path w="761364" h="481329">
                <a:moveTo>
                  <a:pt x="667862" y="0"/>
                </a:moveTo>
                <a:lnTo>
                  <a:pt x="90879" y="95"/>
                </a:lnTo>
                <a:lnTo>
                  <a:pt x="41344" y="15500"/>
                </a:lnTo>
                <a:lnTo>
                  <a:pt x="7419" y="56154"/>
                </a:lnTo>
                <a:lnTo>
                  <a:pt x="0" y="390135"/>
                </a:lnTo>
                <a:lnTo>
                  <a:pt x="1628" y="406283"/>
                </a:lnTo>
                <a:lnTo>
                  <a:pt x="26659" y="453495"/>
                </a:lnTo>
                <a:lnTo>
                  <a:pt x="73479" y="479131"/>
                </a:lnTo>
                <a:lnTo>
                  <a:pt x="92791" y="481110"/>
                </a:lnTo>
                <a:lnTo>
                  <a:pt x="669772" y="481013"/>
                </a:lnTo>
                <a:lnTo>
                  <a:pt x="719307" y="465608"/>
                </a:lnTo>
                <a:lnTo>
                  <a:pt x="728388" y="458269"/>
                </a:lnTo>
                <a:lnTo>
                  <a:pt x="92791" y="458250"/>
                </a:lnTo>
                <a:lnTo>
                  <a:pt x="78673" y="456807"/>
                </a:lnTo>
                <a:lnTo>
                  <a:pt x="43286" y="437728"/>
                </a:lnTo>
                <a:lnTo>
                  <a:pt x="24207" y="402341"/>
                </a:lnTo>
                <a:lnTo>
                  <a:pt x="22764" y="92885"/>
                </a:lnTo>
                <a:lnTo>
                  <a:pt x="24207" y="78769"/>
                </a:lnTo>
                <a:lnTo>
                  <a:pt x="43286" y="43381"/>
                </a:lnTo>
                <a:lnTo>
                  <a:pt x="78673" y="24301"/>
                </a:lnTo>
                <a:lnTo>
                  <a:pt x="93172" y="22839"/>
                </a:lnTo>
                <a:lnTo>
                  <a:pt x="728388" y="22839"/>
                </a:lnTo>
                <a:lnTo>
                  <a:pt x="720324" y="16186"/>
                </a:lnTo>
                <a:lnTo>
                  <a:pt x="685921" y="1723"/>
                </a:lnTo>
                <a:lnTo>
                  <a:pt x="667862" y="0"/>
                </a:lnTo>
                <a:close/>
              </a:path>
              <a:path w="761364" h="481329">
                <a:moveTo>
                  <a:pt x="728388" y="22839"/>
                </a:moveTo>
                <a:lnTo>
                  <a:pt x="93172" y="22839"/>
                </a:lnTo>
                <a:lnTo>
                  <a:pt x="667862" y="22860"/>
                </a:lnTo>
                <a:lnTo>
                  <a:pt x="681979" y="24301"/>
                </a:lnTo>
                <a:lnTo>
                  <a:pt x="717365" y="43381"/>
                </a:lnTo>
                <a:lnTo>
                  <a:pt x="736446" y="78769"/>
                </a:lnTo>
                <a:lnTo>
                  <a:pt x="737889" y="388223"/>
                </a:lnTo>
                <a:lnTo>
                  <a:pt x="736446" y="402341"/>
                </a:lnTo>
                <a:lnTo>
                  <a:pt x="717365" y="437728"/>
                </a:lnTo>
                <a:lnTo>
                  <a:pt x="681979" y="456807"/>
                </a:lnTo>
                <a:lnTo>
                  <a:pt x="667480" y="458269"/>
                </a:lnTo>
                <a:lnTo>
                  <a:pt x="728388" y="458269"/>
                </a:lnTo>
                <a:lnTo>
                  <a:pt x="753233" y="424955"/>
                </a:lnTo>
                <a:lnTo>
                  <a:pt x="760749" y="388223"/>
                </a:lnTo>
                <a:lnTo>
                  <a:pt x="760652" y="90975"/>
                </a:lnTo>
                <a:lnTo>
                  <a:pt x="745247" y="41440"/>
                </a:lnTo>
                <a:lnTo>
                  <a:pt x="733132" y="26753"/>
                </a:lnTo>
                <a:lnTo>
                  <a:pt x="728388" y="22839"/>
                </a:lnTo>
                <a:close/>
              </a:path>
              <a:path w="761364" h="481329">
                <a:moveTo>
                  <a:pt x="93936" y="30421"/>
                </a:moveTo>
                <a:lnTo>
                  <a:pt x="48699" y="48794"/>
                </a:lnTo>
                <a:lnTo>
                  <a:pt x="30384" y="92885"/>
                </a:lnTo>
                <a:lnTo>
                  <a:pt x="30441" y="388223"/>
                </a:lnTo>
                <a:lnTo>
                  <a:pt x="48699" y="432315"/>
                </a:lnTo>
                <a:lnTo>
                  <a:pt x="92791" y="450630"/>
                </a:lnTo>
                <a:lnTo>
                  <a:pt x="666715" y="450687"/>
                </a:lnTo>
                <a:lnTo>
                  <a:pt x="680452" y="449303"/>
                </a:lnTo>
                <a:lnTo>
                  <a:pt x="692138" y="445676"/>
                </a:lnTo>
                <a:lnTo>
                  <a:pt x="696871" y="443106"/>
                </a:lnTo>
                <a:lnTo>
                  <a:pt x="92791" y="443010"/>
                </a:lnTo>
                <a:lnTo>
                  <a:pt x="81727" y="441798"/>
                </a:lnTo>
                <a:lnTo>
                  <a:pt x="47429" y="418801"/>
                </a:lnTo>
                <a:lnTo>
                  <a:pt x="37985" y="387078"/>
                </a:lnTo>
                <a:lnTo>
                  <a:pt x="38004" y="92885"/>
                </a:lnTo>
                <a:lnTo>
                  <a:pt x="54112" y="54207"/>
                </a:lnTo>
                <a:lnTo>
                  <a:pt x="94701" y="38003"/>
                </a:lnTo>
                <a:lnTo>
                  <a:pt x="696871" y="38003"/>
                </a:lnTo>
                <a:lnTo>
                  <a:pt x="692138" y="35434"/>
                </a:lnTo>
                <a:lnTo>
                  <a:pt x="680452" y="31807"/>
                </a:lnTo>
                <a:lnTo>
                  <a:pt x="667862" y="30480"/>
                </a:lnTo>
                <a:lnTo>
                  <a:pt x="93936" y="30421"/>
                </a:lnTo>
                <a:close/>
              </a:path>
              <a:path w="761364" h="481329">
                <a:moveTo>
                  <a:pt x="696871" y="38003"/>
                </a:moveTo>
                <a:lnTo>
                  <a:pt x="94701" y="38003"/>
                </a:lnTo>
                <a:lnTo>
                  <a:pt x="667862" y="38100"/>
                </a:lnTo>
                <a:lnTo>
                  <a:pt x="678925" y="39311"/>
                </a:lnTo>
                <a:lnTo>
                  <a:pt x="713223" y="62307"/>
                </a:lnTo>
                <a:lnTo>
                  <a:pt x="722649" y="388223"/>
                </a:lnTo>
                <a:lnTo>
                  <a:pt x="721436" y="399286"/>
                </a:lnTo>
                <a:lnTo>
                  <a:pt x="698440" y="433585"/>
                </a:lnTo>
                <a:lnTo>
                  <a:pt x="665951" y="443106"/>
                </a:lnTo>
                <a:lnTo>
                  <a:pt x="696871" y="443106"/>
                </a:lnTo>
                <a:lnTo>
                  <a:pt x="725313" y="412501"/>
                </a:lnTo>
                <a:lnTo>
                  <a:pt x="730269" y="388223"/>
                </a:lnTo>
                <a:lnTo>
                  <a:pt x="730210" y="92885"/>
                </a:lnTo>
                <a:lnTo>
                  <a:pt x="711953" y="48794"/>
                </a:lnTo>
                <a:lnTo>
                  <a:pt x="702721" y="41178"/>
                </a:lnTo>
                <a:lnTo>
                  <a:pt x="696871" y="38003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46220" y="4241881"/>
            <a:ext cx="1776095" cy="481330"/>
          </a:xfrm>
          <a:custGeom>
            <a:avLst/>
            <a:gdLst/>
            <a:ahLst/>
            <a:cxnLst/>
            <a:rect l="l" t="t" r="r" b="b"/>
            <a:pathLst>
              <a:path w="1776095" h="481329">
                <a:moveTo>
                  <a:pt x="1683148" y="0"/>
                </a:moveTo>
                <a:lnTo>
                  <a:pt x="90878" y="95"/>
                </a:lnTo>
                <a:lnTo>
                  <a:pt x="41344" y="15500"/>
                </a:lnTo>
                <a:lnTo>
                  <a:pt x="7418" y="56154"/>
                </a:lnTo>
                <a:lnTo>
                  <a:pt x="0" y="390133"/>
                </a:lnTo>
                <a:lnTo>
                  <a:pt x="1626" y="406283"/>
                </a:lnTo>
                <a:lnTo>
                  <a:pt x="26657" y="453494"/>
                </a:lnTo>
                <a:lnTo>
                  <a:pt x="73478" y="479130"/>
                </a:lnTo>
                <a:lnTo>
                  <a:pt x="92788" y="481109"/>
                </a:lnTo>
                <a:lnTo>
                  <a:pt x="1685058" y="481013"/>
                </a:lnTo>
                <a:lnTo>
                  <a:pt x="1734593" y="465608"/>
                </a:lnTo>
                <a:lnTo>
                  <a:pt x="1743674" y="458269"/>
                </a:lnTo>
                <a:lnTo>
                  <a:pt x="92788" y="458249"/>
                </a:lnTo>
                <a:lnTo>
                  <a:pt x="78672" y="456807"/>
                </a:lnTo>
                <a:lnTo>
                  <a:pt x="43285" y="437727"/>
                </a:lnTo>
                <a:lnTo>
                  <a:pt x="24206" y="402341"/>
                </a:lnTo>
                <a:lnTo>
                  <a:pt x="22763" y="92885"/>
                </a:lnTo>
                <a:lnTo>
                  <a:pt x="24206" y="78767"/>
                </a:lnTo>
                <a:lnTo>
                  <a:pt x="43285" y="43381"/>
                </a:lnTo>
                <a:lnTo>
                  <a:pt x="78672" y="24301"/>
                </a:lnTo>
                <a:lnTo>
                  <a:pt x="93171" y="22840"/>
                </a:lnTo>
                <a:lnTo>
                  <a:pt x="1743676" y="22840"/>
                </a:lnTo>
                <a:lnTo>
                  <a:pt x="1735611" y="16187"/>
                </a:lnTo>
                <a:lnTo>
                  <a:pt x="1701208" y="1723"/>
                </a:lnTo>
                <a:lnTo>
                  <a:pt x="1683148" y="0"/>
                </a:lnTo>
                <a:close/>
              </a:path>
              <a:path w="1776095" h="481329">
                <a:moveTo>
                  <a:pt x="1743676" y="22840"/>
                </a:moveTo>
                <a:lnTo>
                  <a:pt x="93171" y="22840"/>
                </a:lnTo>
                <a:lnTo>
                  <a:pt x="1683148" y="22860"/>
                </a:lnTo>
                <a:lnTo>
                  <a:pt x="1697266" y="24301"/>
                </a:lnTo>
                <a:lnTo>
                  <a:pt x="1732652" y="43381"/>
                </a:lnTo>
                <a:lnTo>
                  <a:pt x="1751731" y="78767"/>
                </a:lnTo>
                <a:lnTo>
                  <a:pt x="1753174" y="388223"/>
                </a:lnTo>
                <a:lnTo>
                  <a:pt x="1751731" y="402341"/>
                </a:lnTo>
                <a:lnTo>
                  <a:pt x="1732652" y="437727"/>
                </a:lnTo>
                <a:lnTo>
                  <a:pt x="1697266" y="456807"/>
                </a:lnTo>
                <a:lnTo>
                  <a:pt x="1682766" y="458269"/>
                </a:lnTo>
                <a:lnTo>
                  <a:pt x="1743674" y="458269"/>
                </a:lnTo>
                <a:lnTo>
                  <a:pt x="1768519" y="424955"/>
                </a:lnTo>
                <a:lnTo>
                  <a:pt x="1776034" y="388223"/>
                </a:lnTo>
                <a:lnTo>
                  <a:pt x="1775938" y="90975"/>
                </a:lnTo>
                <a:lnTo>
                  <a:pt x="1760533" y="41440"/>
                </a:lnTo>
                <a:lnTo>
                  <a:pt x="1748419" y="26753"/>
                </a:lnTo>
                <a:lnTo>
                  <a:pt x="1743676" y="22840"/>
                </a:lnTo>
                <a:close/>
              </a:path>
              <a:path w="1776095" h="481329">
                <a:moveTo>
                  <a:pt x="93935" y="30421"/>
                </a:moveTo>
                <a:lnTo>
                  <a:pt x="48698" y="48794"/>
                </a:lnTo>
                <a:lnTo>
                  <a:pt x="30383" y="92885"/>
                </a:lnTo>
                <a:lnTo>
                  <a:pt x="30441" y="388223"/>
                </a:lnTo>
                <a:lnTo>
                  <a:pt x="48698" y="432314"/>
                </a:lnTo>
                <a:lnTo>
                  <a:pt x="92788" y="450629"/>
                </a:lnTo>
                <a:lnTo>
                  <a:pt x="1682001" y="450687"/>
                </a:lnTo>
                <a:lnTo>
                  <a:pt x="1695738" y="449301"/>
                </a:lnTo>
                <a:lnTo>
                  <a:pt x="1707424" y="445674"/>
                </a:lnTo>
                <a:lnTo>
                  <a:pt x="1712158" y="443105"/>
                </a:lnTo>
                <a:lnTo>
                  <a:pt x="92788" y="443009"/>
                </a:lnTo>
                <a:lnTo>
                  <a:pt x="81725" y="441797"/>
                </a:lnTo>
                <a:lnTo>
                  <a:pt x="47428" y="418801"/>
                </a:lnTo>
                <a:lnTo>
                  <a:pt x="37984" y="387076"/>
                </a:lnTo>
                <a:lnTo>
                  <a:pt x="38003" y="92885"/>
                </a:lnTo>
                <a:lnTo>
                  <a:pt x="54112" y="54207"/>
                </a:lnTo>
                <a:lnTo>
                  <a:pt x="94700" y="38003"/>
                </a:lnTo>
                <a:lnTo>
                  <a:pt x="1712158" y="38003"/>
                </a:lnTo>
                <a:lnTo>
                  <a:pt x="1707424" y="35434"/>
                </a:lnTo>
                <a:lnTo>
                  <a:pt x="1695738" y="31807"/>
                </a:lnTo>
                <a:lnTo>
                  <a:pt x="1683148" y="30480"/>
                </a:lnTo>
                <a:lnTo>
                  <a:pt x="93935" y="30421"/>
                </a:lnTo>
                <a:close/>
              </a:path>
              <a:path w="1776095" h="481329">
                <a:moveTo>
                  <a:pt x="1712158" y="38003"/>
                </a:moveTo>
                <a:lnTo>
                  <a:pt x="94700" y="38003"/>
                </a:lnTo>
                <a:lnTo>
                  <a:pt x="1683148" y="38100"/>
                </a:lnTo>
                <a:lnTo>
                  <a:pt x="1694211" y="39311"/>
                </a:lnTo>
                <a:lnTo>
                  <a:pt x="1728509" y="62307"/>
                </a:lnTo>
                <a:lnTo>
                  <a:pt x="1737934" y="388223"/>
                </a:lnTo>
                <a:lnTo>
                  <a:pt x="1736722" y="399286"/>
                </a:lnTo>
                <a:lnTo>
                  <a:pt x="1713726" y="433584"/>
                </a:lnTo>
                <a:lnTo>
                  <a:pt x="1681237" y="443105"/>
                </a:lnTo>
                <a:lnTo>
                  <a:pt x="1712158" y="443105"/>
                </a:lnTo>
                <a:lnTo>
                  <a:pt x="1740599" y="412501"/>
                </a:lnTo>
                <a:lnTo>
                  <a:pt x="1745554" y="388223"/>
                </a:lnTo>
                <a:lnTo>
                  <a:pt x="1745496" y="92885"/>
                </a:lnTo>
                <a:lnTo>
                  <a:pt x="1727239" y="48794"/>
                </a:lnTo>
                <a:lnTo>
                  <a:pt x="1718007" y="41178"/>
                </a:lnTo>
                <a:lnTo>
                  <a:pt x="1712158" y="38003"/>
                </a:lnTo>
                <a:close/>
              </a:path>
            </a:pathLst>
          </a:custGeom>
          <a:solidFill>
            <a:srgbClr val="3792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13395" y="4350809"/>
            <a:ext cx="490855" cy="208915"/>
          </a:xfrm>
          <a:custGeom>
            <a:avLst/>
            <a:gdLst/>
            <a:ahLst/>
            <a:cxnLst/>
            <a:rect l="l" t="t" r="r" b="b"/>
            <a:pathLst>
              <a:path w="490855" h="208914">
                <a:moveTo>
                  <a:pt x="446003" y="0"/>
                </a:moveTo>
                <a:lnTo>
                  <a:pt x="434060" y="4018"/>
                </a:lnTo>
                <a:lnTo>
                  <a:pt x="469891" y="104366"/>
                </a:lnTo>
                <a:lnTo>
                  <a:pt x="434060" y="204602"/>
                </a:lnTo>
                <a:lnTo>
                  <a:pt x="446003" y="208842"/>
                </a:lnTo>
                <a:lnTo>
                  <a:pt x="490541" y="108496"/>
                </a:lnTo>
                <a:lnTo>
                  <a:pt x="490541" y="100236"/>
                </a:lnTo>
                <a:lnTo>
                  <a:pt x="446003" y="0"/>
                </a:lnTo>
                <a:close/>
              </a:path>
              <a:path w="490855" h="208914">
                <a:moveTo>
                  <a:pt x="44536" y="0"/>
                </a:moveTo>
                <a:lnTo>
                  <a:pt x="0" y="100347"/>
                </a:lnTo>
                <a:lnTo>
                  <a:pt x="0" y="108607"/>
                </a:lnTo>
                <a:lnTo>
                  <a:pt x="44536" y="208842"/>
                </a:lnTo>
                <a:lnTo>
                  <a:pt x="56368" y="204824"/>
                </a:lnTo>
                <a:lnTo>
                  <a:pt x="20538" y="104477"/>
                </a:lnTo>
                <a:lnTo>
                  <a:pt x="56368" y="4241"/>
                </a:lnTo>
                <a:lnTo>
                  <a:pt x="44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605093" y="4388103"/>
            <a:ext cx="300355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645" algn="l"/>
                <a:tab pos="943610" algn="l"/>
                <a:tab pos="1437640" algn="l"/>
                <a:tab pos="1659889" algn="l"/>
                <a:tab pos="2642235" algn="l"/>
                <a:tab pos="2884805" algn="l"/>
              </a:tabLst>
            </a:pPr>
            <a:r>
              <a:rPr dirty="0" sz="1300">
                <a:latin typeface="Cambria Math"/>
                <a:cs typeface="Cambria Math"/>
              </a:rPr>
              <a:t>ℒ	</a:t>
            </a:r>
            <a:r>
              <a:rPr dirty="0" sz="1300" spc="235">
                <a:latin typeface="Cambria Math"/>
                <a:cs typeface="Cambria Math"/>
              </a:rPr>
              <a:t>"</a:t>
            </a:r>
            <a:r>
              <a:rPr dirty="0" sz="1300" spc="235">
                <a:latin typeface="Cambria Math"/>
                <a:cs typeface="Cambria Math"/>
              </a:rPr>
              <a:t>	</a:t>
            </a:r>
            <a:r>
              <a:rPr dirty="0" sz="1300" spc="235">
                <a:latin typeface="Cambria Math"/>
                <a:cs typeface="Cambria Math"/>
              </a:rPr>
              <a:t>"</a:t>
            </a:r>
            <a:r>
              <a:rPr dirty="0" sz="1300" spc="235">
                <a:latin typeface="Cambria Math"/>
                <a:cs typeface="Cambria Math"/>
              </a:rPr>
              <a:t>	</a:t>
            </a:r>
            <a:r>
              <a:rPr dirty="0" sz="1300" spc="-55">
                <a:latin typeface="Cambria Math"/>
                <a:cs typeface="Cambria Math"/>
              </a:rPr>
              <a:t>#</a:t>
            </a:r>
            <a:r>
              <a:rPr dirty="0" sz="1300" spc="-55">
                <a:latin typeface="Cambria Math"/>
                <a:cs typeface="Cambria Math"/>
              </a:rPr>
              <a:t>	</a:t>
            </a:r>
            <a:r>
              <a:rPr dirty="0" sz="1300" spc="-55">
                <a:latin typeface="Cambria Math"/>
                <a:cs typeface="Cambria Math"/>
              </a:rPr>
              <a:t>#</a:t>
            </a:r>
            <a:r>
              <a:rPr dirty="0" sz="1300" spc="-55">
                <a:latin typeface="Cambria Math"/>
                <a:cs typeface="Cambria Math"/>
              </a:rPr>
              <a:t>	</a:t>
            </a:r>
            <a:r>
              <a:rPr dirty="0" sz="1300" spc="165">
                <a:latin typeface="Cambria Math"/>
                <a:cs typeface="Cambria Math"/>
              </a:rPr>
              <a:t>$</a:t>
            </a:r>
            <a:r>
              <a:rPr dirty="0" sz="1300" spc="165">
                <a:latin typeface="Cambria Math"/>
                <a:cs typeface="Cambria Math"/>
              </a:rPr>
              <a:t>	</a:t>
            </a:r>
            <a:r>
              <a:rPr dirty="0" sz="1300" spc="165">
                <a:latin typeface="Cambria Math"/>
                <a:cs typeface="Cambria Math"/>
              </a:rPr>
              <a:t>$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25343" y="4450645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68912" y="4278883"/>
            <a:ext cx="41103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5475" algn="l"/>
                <a:tab pos="1536700" algn="l"/>
                <a:tab pos="2253615" algn="l"/>
                <a:tab pos="3505835" algn="l"/>
              </a:tabLst>
            </a:pPr>
            <a:r>
              <a:rPr dirty="0" sz="1800" spc="-5">
                <a:latin typeface="Cambria Math"/>
                <a:cs typeface="Cambria Math"/>
              </a:rPr>
              <a:t>𝒙,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𝒚	=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−𝑥 </a:t>
            </a:r>
            <a:r>
              <a:rPr dirty="0" sz="1800" spc="2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	+ 𝑥</a:t>
            </a:r>
            <a:r>
              <a:rPr dirty="0" sz="1800" spc="37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	+  … +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𝑥 </a:t>
            </a:r>
            <a:r>
              <a:rPr dirty="0" sz="1800" spc="1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	= −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baseline="41666" sz="2700">
                <a:latin typeface="Cambria Math"/>
                <a:cs typeface="Cambria Math"/>
              </a:rPr>
              <a:t>1</a:t>
            </a:r>
            <a:endParaRPr baseline="41666" sz="27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06737" y="4431284"/>
            <a:ext cx="1854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𝐾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95688" y="4349360"/>
            <a:ext cx="742315" cy="212090"/>
          </a:xfrm>
          <a:custGeom>
            <a:avLst/>
            <a:gdLst/>
            <a:ahLst/>
            <a:cxnLst/>
            <a:rect l="l" t="t" r="r" b="b"/>
            <a:pathLst>
              <a:path w="742315" h="212089">
                <a:moveTo>
                  <a:pt x="674740" y="0"/>
                </a:moveTo>
                <a:lnTo>
                  <a:pt x="671727" y="8595"/>
                </a:lnTo>
                <a:lnTo>
                  <a:pt x="683984" y="13914"/>
                </a:lnTo>
                <a:lnTo>
                  <a:pt x="694526" y="21277"/>
                </a:lnTo>
                <a:lnTo>
                  <a:pt x="715929" y="55409"/>
                </a:lnTo>
                <a:lnTo>
                  <a:pt x="722961" y="104811"/>
                </a:lnTo>
                <a:lnTo>
                  <a:pt x="722176" y="123487"/>
                </a:lnTo>
                <a:lnTo>
                  <a:pt x="710403" y="169217"/>
                </a:lnTo>
                <a:lnTo>
                  <a:pt x="684127" y="197806"/>
                </a:lnTo>
                <a:lnTo>
                  <a:pt x="672062" y="203150"/>
                </a:lnTo>
                <a:lnTo>
                  <a:pt x="674740" y="211744"/>
                </a:lnTo>
                <a:lnTo>
                  <a:pt x="715196" y="187708"/>
                </a:lnTo>
                <a:lnTo>
                  <a:pt x="737918" y="143335"/>
                </a:lnTo>
                <a:lnTo>
                  <a:pt x="742271" y="105928"/>
                </a:lnTo>
                <a:lnTo>
                  <a:pt x="741180" y="86516"/>
                </a:lnTo>
                <a:lnTo>
                  <a:pt x="724802" y="37114"/>
                </a:lnTo>
                <a:lnTo>
                  <a:pt x="690092" y="5542"/>
                </a:lnTo>
                <a:lnTo>
                  <a:pt x="674740" y="0"/>
                </a:lnTo>
                <a:close/>
              </a:path>
              <a:path w="742315" h="212089">
                <a:moveTo>
                  <a:pt x="67529" y="0"/>
                </a:moveTo>
                <a:lnTo>
                  <a:pt x="27147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3" y="206209"/>
                </a:lnTo>
                <a:lnTo>
                  <a:pt x="67529" y="211744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3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6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457765" y="4278884"/>
            <a:ext cx="617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𝐾 &gt;</a:t>
            </a:r>
            <a:r>
              <a:rPr dirty="0" sz="1800" spc="15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63837" y="4742154"/>
            <a:ext cx="375920" cy="370840"/>
          </a:xfrm>
          <a:custGeom>
            <a:avLst/>
            <a:gdLst/>
            <a:ahLst/>
            <a:cxnLst/>
            <a:rect l="l" t="t" r="r" b="b"/>
            <a:pathLst>
              <a:path w="375920" h="370839">
                <a:moveTo>
                  <a:pt x="27462" y="290047"/>
                </a:moveTo>
                <a:lnTo>
                  <a:pt x="0" y="370693"/>
                </a:lnTo>
                <a:lnTo>
                  <a:pt x="80994" y="344276"/>
                </a:lnTo>
                <a:lnTo>
                  <a:pt x="76822" y="340050"/>
                </a:lnTo>
                <a:lnTo>
                  <a:pt x="49121" y="340050"/>
                </a:lnTo>
                <a:lnTo>
                  <a:pt x="41079" y="339998"/>
                </a:lnTo>
                <a:lnTo>
                  <a:pt x="31225" y="330014"/>
                </a:lnTo>
                <a:lnTo>
                  <a:pt x="31277" y="321974"/>
                </a:lnTo>
                <a:lnTo>
                  <a:pt x="45307" y="308124"/>
                </a:lnTo>
                <a:lnTo>
                  <a:pt x="27462" y="290047"/>
                </a:lnTo>
                <a:close/>
              </a:path>
              <a:path w="375920" h="370839">
                <a:moveTo>
                  <a:pt x="45307" y="308124"/>
                </a:moveTo>
                <a:lnTo>
                  <a:pt x="31277" y="321974"/>
                </a:lnTo>
                <a:lnTo>
                  <a:pt x="31225" y="330014"/>
                </a:lnTo>
                <a:lnTo>
                  <a:pt x="41079" y="339998"/>
                </a:lnTo>
                <a:lnTo>
                  <a:pt x="49121" y="340050"/>
                </a:lnTo>
                <a:lnTo>
                  <a:pt x="63150" y="326200"/>
                </a:lnTo>
                <a:lnTo>
                  <a:pt x="45307" y="308124"/>
                </a:lnTo>
                <a:close/>
              </a:path>
              <a:path w="375920" h="370839">
                <a:moveTo>
                  <a:pt x="63150" y="326200"/>
                </a:moveTo>
                <a:lnTo>
                  <a:pt x="49121" y="340050"/>
                </a:lnTo>
                <a:lnTo>
                  <a:pt x="76822" y="340050"/>
                </a:lnTo>
                <a:lnTo>
                  <a:pt x="63150" y="326200"/>
                </a:lnTo>
                <a:close/>
              </a:path>
              <a:path w="375920" h="370839">
                <a:moveTo>
                  <a:pt x="357441" y="0"/>
                </a:moveTo>
                <a:lnTo>
                  <a:pt x="45307" y="308124"/>
                </a:lnTo>
                <a:lnTo>
                  <a:pt x="63150" y="326200"/>
                </a:lnTo>
                <a:lnTo>
                  <a:pt x="375285" y="18075"/>
                </a:lnTo>
                <a:lnTo>
                  <a:pt x="375337" y="10035"/>
                </a:lnTo>
                <a:lnTo>
                  <a:pt x="365483" y="52"/>
                </a:lnTo>
                <a:lnTo>
                  <a:pt x="357441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63047" y="4750597"/>
            <a:ext cx="427990" cy="353695"/>
          </a:xfrm>
          <a:custGeom>
            <a:avLst/>
            <a:gdLst/>
            <a:ahLst/>
            <a:cxnLst/>
            <a:rect l="l" t="t" r="r" b="b"/>
            <a:pathLst>
              <a:path w="427989" h="353695">
                <a:moveTo>
                  <a:pt x="360959" y="315004"/>
                </a:moveTo>
                <a:lnTo>
                  <a:pt x="344853" y="334644"/>
                </a:lnTo>
                <a:lnTo>
                  <a:pt x="427934" y="353504"/>
                </a:lnTo>
                <a:lnTo>
                  <a:pt x="416315" y="327506"/>
                </a:lnTo>
                <a:lnTo>
                  <a:pt x="376204" y="327506"/>
                </a:lnTo>
                <a:lnTo>
                  <a:pt x="360959" y="315004"/>
                </a:lnTo>
                <a:close/>
              </a:path>
              <a:path w="427989" h="353695">
                <a:moveTo>
                  <a:pt x="377066" y="295364"/>
                </a:moveTo>
                <a:lnTo>
                  <a:pt x="360959" y="315004"/>
                </a:lnTo>
                <a:lnTo>
                  <a:pt x="376204" y="327506"/>
                </a:lnTo>
                <a:lnTo>
                  <a:pt x="384206" y="326715"/>
                </a:lnTo>
                <a:lnTo>
                  <a:pt x="393101" y="315868"/>
                </a:lnTo>
                <a:lnTo>
                  <a:pt x="392310" y="307865"/>
                </a:lnTo>
                <a:lnTo>
                  <a:pt x="377066" y="295364"/>
                </a:lnTo>
                <a:close/>
              </a:path>
              <a:path w="427989" h="353695">
                <a:moveTo>
                  <a:pt x="393172" y="275724"/>
                </a:moveTo>
                <a:lnTo>
                  <a:pt x="377066" y="295364"/>
                </a:lnTo>
                <a:lnTo>
                  <a:pt x="392310" y="307865"/>
                </a:lnTo>
                <a:lnTo>
                  <a:pt x="393101" y="315868"/>
                </a:lnTo>
                <a:lnTo>
                  <a:pt x="384206" y="326715"/>
                </a:lnTo>
                <a:lnTo>
                  <a:pt x="376204" y="327506"/>
                </a:lnTo>
                <a:lnTo>
                  <a:pt x="416315" y="327506"/>
                </a:lnTo>
                <a:lnTo>
                  <a:pt x="393172" y="275724"/>
                </a:lnTo>
                <a:close/>
              </a:path>
              <a:path w="427989" h="353695">
                <a:moveTo>
                  <a:pt x="16898" y="0"/>
                </a:moveTo>
                <a:lnTo>
                  <a:pt x="8896" y="791"/>
                </a:lnTo>
                <a:lnTo>
                  <a:pt x="0" y="11638"/>
                </a:lnTo>
                <a:lnTo>
                  <a:pt x="791" y="19640"/>
                </a:lnTo>
                <a:lnTo>
                  <a:pt x="360959" y="315004"/>
                </a:lnTo>
                <a:lnTo>
                  <a:pt x="377066" y="295364"/>
                </a:lnTo>
                <a:lnTo>
                  <a:pt x="1689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18108" y="5105082"/>
            <a:ext cx="7827645" cy="871855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904364">
              <a:lnSpc>
                <a:spcPct val="100000"/>
              </a:lnSpc>
              <a:spcBef>
                <a:spcPts val="335"/>
              </a:spcBef>
              <a:tabLst>
                <a:tab pos="4237355" algn="l"/>
              </a:tabLst>
            </a:pPr>
            <a:r>
              <a:rPr dirty="0" sz="1800" spc="-10">
                <a:solidFill>
                  <a:srgbClr val="0070C0"/>
                </a:solidFill>
                <a:latin typeface="Arial"/>
                <a:cs typeface="Arial"/>
              </a:rPr>
              <a:t>Time-like	</a:t>
            </a:r>
            <a:r>
              <a:rPr dirty="0" sz="1800" spc="-5">
                <a:solidFill>
                  <a:srgbClr val="C00000"/>
                </a:solidFill>
                <a:latin typeface="Arial"/>
                <a:cs typeface="Arial"/>
              </a:rPr>
              <a:t>Space-like</a:t>
            </a:r>
            <a:endParaRPr sz="180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4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Distance </a:t>
            </a:r>
            <a:r>
              <a:rPr dirty="0" sz="3200" spc="-10">
                <a:latin typeface="Calibri"/>
                <a:cs typeface="Calibri"/>
              </a:rPr>
              <a:t>between </a:t>
            </a:r>
            <a:r>
              <a:rPr dirty="0" sz="3200" spc="-15">
                <a:latin typeface="Calibri"/>
                <a:cs typeface="Calibri"/>
              </a:rPr>
              <a:t>two </a:t>
            </a:r>
            <a:r>
              <a:rPr dirty="0" sz="3200" spc="-10">
                <a:latin typeface="Calibri"/>
                <a:cs typeface="Calibri"/>
              </a:rPr>
              <a:t>hyperbolic </a:t>
            </a:r>
            <a:r>
              <a:rPr dirty="0" sz="3200" spc="-5">
                <a:latin typeface="Calibri"/>
                <a:cs typeface="Calibri"/>
              </a:rPr>
              <a:t>points </a:t>
            </a:r>
            <a:r>
              <a:rPr dirty="0" sz="3200" spc="35">
                <a:latin typeface="Cambria Math"/>
                <a:cs typeface="Cambria Math"/>
              </a:rPr>
              <a:t>𝑥,</a:t>
            </a:r>
            <a:r>
              <a:rPr dirty="0" sz="3200" spc="-110">
                <a:latin typeface="Cambria Math"/>
                <a:cs typeface="Cambria Math"/>
              </a:rPr>
              <a:t> </a:t>
            </a:r>
            <a:r>
              <a:rPr dirty="0" sz="3200" spc="25">
                <a:latin typeface="Cambria Math"/>
                <a:cs typeface="Cambria Math"/>
              </a:rPr>
              <a:t>𝑦</a:t>
            </a:r>
            <a:r>
              <a:rPr dirty="0" sz="3200" spc="2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19539" y="6058468"/>
            <a:ext cx="4706992" cy="4430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71856"/>
            <a:ext cx="3608832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4445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0">
                <a:solidFill>
                  <a:srgbClr val="C00000"/>
                </a:solidFill>
              </a:rPr>
              <a:t>Tangent </a:t>
            </a:r>
            <a:r>
              <a:rPr dirty="0" spc="-5">
                <a:solidFill>
                  <a:srgbClr val="C00000"/>
                </a:solidFill>
              </a:rPr>
              <a:t>space </a:t>
            </a:r>
            <a:r>
              <a:rPr dirty="0" spc="-15" b="0">
                <a:latin typeface="Calibri"/>
                <a:cs typeface="Calibri"/>
              </a:rPr>
              <a:t>expression </a:t>
            </a:r>
            <a:r>
              <a:rPr dirty="0" spc="-5" b="0">
                <a:latin typeface="Calibri"/>
                <a:cs typeface="Calibri"/>
              </a:rPr>
              <a:t>under </a:t>
            </a:r>
            <a:r>
              <a:rPr dirty="0" spc="-10" b="0">
                <a:latin typeface="Calibri"/>
                <a:cs typeface="Calibri"/>
              </a:rPr>
              <a:t>hyperboloid  </a:t>
            </a:r>
            <a:r>
              <a:rPr dirty="0" spc="-5" b="0">
                <a:latin typeface="Calibri"/>
                <a:cs typeface="Calibri"/>
              </a:rPr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426715"/>
            <a:ext cx="34791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65">
                <a:latin typeface="Cambria Math"/>
                <a:cs typeface="Cambria Math"/>
              </a:rPr>
              <a:t>𝒯</a:t>
            </a:r>
            <a:r>
              <a:rPr dirty="0" baseline="-16666" sz="3000" spc="97">
                <a:latin typeface="Cambria Math"/>
                <a:cs typeface="Cambria Math"/>
              </a:rPr>
              <a:t>*</a:t>
            </a:r>
            <a:r>
              <a:rPr dirty="0" sz="2800" spc="65">
                <a:latin typeface="Cambria Math"/>
                <a:cs typeface="Cambria Math"/>
              </a:rPr>
              <a:t>ℍ</a:t>
            </a:r>
            <a:r>
              <a:rPr dirty="0" baseline="27777" sz="3000" spc="97">
                <a:latin typeface="Cambria Math"/>
                <a:cs typeface="Cambria Math"/>
              </a:rPr>
              <a:t>(,&amp;  </a:t>
            </a:r>
            <a:r>
              <a:rPr dirty="0" sz="2800">
                <a:latin typeface="Cambria Math"/>
                <a:cs typeface="Cambria Math"/>
              </a:rPr>
              <a:t>= {𝒗 ∈</a:t>
            </a:r>
            <a:r>
              <a:rPr dirty="0" sz="2800" spc="100">
                <a:latin typeface="Cambria Math"/>
                <a:cs typeface="Cambria Math"/>
              </a:rPr>
              <a:t> </a:t>
            </a:r>
            <a:r>
              <a:rPr dirty="0" sz="2800" spc="125">
                <a:latin typeface="Cambria Math"/>
                <a:cs typeface="Cambria Math"/>
              </a:rPr>
              <a:t>ℝ</a:t>
            </a:r>
            <a:r>
              <a:rPr dirty="0" baseline="27777" sz="3000" spc="187">
                <a:latin typeface="Cambria Math"/>
                <a:cs typeface="Cambria Math"/>
              </a:rPr>
              <a:t>()%</a:t>
            </a:r>
            <a:r>
              <a:rPr dirty="0" sz="2800" spc="125">
                <a:latin typeface="Cambria Math"/>
                <a:cs typeface="Cambria Math"/>
              </a:rPr>
              <a:t>: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81512" y="2532534"/>
            <a:ext cx="762635" cy="325120"/>
          </a:xfrm>
          <a:custGeom>
            <a:avLst/>
            <a:gdLst/>
            <a:ahLst/>
            <a:cxnLst/>
            <a:rect l="l" t="t" r="r" b="b"/>
            <a:pathLst>
              <a:path w="762635" h="325119">
                <a:moveTo>
                  <a:pt x="692887" y="0"/>
                </a:moveTo>
                <a:lnTo>
                  <a:pt x="674309" y="6250"/>
                </a:lnTo>
                <a:lnTo>
                  <a:pt x="730044" y="162346"/>
                </a:lnTo>
                <a:lnTo>
                  <a:pt x="674309" y="318268"/>
                </a:lnTo>
                <a:lnTo>
                  <a:pt x="692887" y="324867"/>
                </a:lnTo>
                <a:lnTo>
                  <a:pt x="762166" y="168770"/>
                </a:lnTo>
                <a:lnTo>
                  <a:pt x="762166" y="155921"/>
                </a:lnTo>
                <a:lnTo>
                  <a:pt x="692887" y="0"/>
                </a:lnTo>
                <a:close/>
              </a:path>
              <a:path w="762635" h="325119">
                <a:moveTo>
                  <a:pt x="69278" y="0"/>
                </a:moveTo>
                <a:lnTo>
                  <a:pt x="0" y="156095"/>
                </a:lnTo>
                <a:lnTo>
                  <a:pt x="0" y="168944"/>
                </a:lnTo>
                <a:lnTo>
                  <a:pt x="69278" y="324867"/>
                </a:lnTo>
                <a:lnTo>
                  <a:pt x="87684" y="318616"/>
                </a:lnTo>
                <a:lnTo>
                  <a:pt x="31948" y="162520"/>
                </a:lnTo>
                <a:lnTo>
                  <a:pt x="87684" y="6597"/>
                </a:lnTo>
                <a:lnTo>
                  <a:pt x="69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74933" y="2426715"/>
            <a:ext cx="16776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0245" algn="l"/>
              </a:tabLst>
            </a:pPr>
            <a:r>
              <a:rPr dirty="0" sz="2800" spc="-5">
                <a:latin typeface="Cambria Math"/>
                <a:cs typeface="Cambria Math"/>
              </a:rPr>
              <a:t>𝒗,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𝒙	</a:t>
            </a:r>
            <a:r>
              <a:rPr dirty="0" baseline="-16666" sz="3000">
                <a:latin typeface="Cambria Math"/>
                <a:cs typeface="Cambria Math"/>
              </a:rPr>
              <a:t>ℒ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114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0}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3345" y="3603043"/>
            <a:ext cx="2746132" cy="18069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941862" y="3184651"/>
            <a:ext cx="4862195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Hyperboloid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612900">
              <a:lnSpc>
                <a:spcPts val="2125"/>
              </a:lnSpc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𝒅</a:t>
            </a:r>
            <a:r>
              <a:rPr dirty="0" sz="1800">
                <a:latin typeface="Arial"/>
                <a:cs typeface="Arial"/>
              </a:rPr>
              <a:t>: </a:t>
            </a:r>
            <a:r>
              <a:rPr dirty="0" sz="1800" spc="-5">
                <a:latin typeface="Arial"/>
                <a:cs typeface="Arial"/>
              </a:rPr>
              <a:t>hyperbolic space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dimension</a:t>
            </a:r>
            <a:endParaRPr sz="1800">
              <a:latin typeface="Arial"/>
              <a:cs typeface="Arial"/>
            </a:endParaRPr>
          </a:p>
          <a:p>
            <a:pPr marL="1612900">
              <a:lnSpc>
                <a:spcPts val="2125"/>
              </a:lnSpc>
            </a:pPr>
            <a:r>
              <a:rPr dirty="0" sz="1800" spc="-5">
                <a:solidFill>
                  <a:srgbClr val="C00000"/>
                </a:solidFill>
                <a:latin typeface="Cambria Math"/>
                <a:cs typeface="Cambria Math"/>
              </a:rPr>
              <a:t>𝑲</a:t>
            </a:r>
            <a:r>
              <a:rPr dirty="0" sz="1800" spc="-5">
                <a:latin typeface="Arial"/>
                <a:cs typeface="Arial"/>
              </a:rPr>
              <a:t>: negative inverse 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curvature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800100">
              <a:lnSpc>
                <a:spcPct val="100000"/>
              </a:lnSpc>
              <a:spcBef>
                <a:spcPts val="1230"/>
              </a:spcBef>
            </a:pPr>
            <a:r>
              <a:rPr dirty="0" sz="1800" spc="-35">
                <a:latin typeface="Arial"/>
                <a:cs typeface="Arial"/>
              </a:rPr>
              <a:t>Tangent </a:t>
            </a:r>
            <a:r>
              <a:rPr dirty="0" sz="1800" spc="-5">
                <a:latin typeface="Arial"/>
                <a:cs typeface="Arial"/>
              </a:rPr>
              <a:t>space at north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pole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72233" y="3603043"/>
            <a:ext cx="375920" cy="440690"/>
          </a:xfrm>
          <a:custGeom>
            <a:avLst/>
            <a:gdLst/>
            <a:ahLst/>
            <a:cxnLst/>
            <a:rect l="l" t="t" r="r" b="b"/>
            <a:pathLst>
              <a:path w="375920" h="440689">
                <a:moveTo>
                  <a:pt x="287174" y="74968"/>
                </a:moveTo>
                <a:lnTo>
                  <a:pt x="4438" y="409262"/>
                </a:lnTo>
                <a:lnTo>
                  <a:pt x="793" y="415890"/>
                </a:lnTo>
                <a:lnTo>
                  <a:pt x="0" y="423150"/>
                </a:lnTo>
                <a:lnTo>
                  <a:pt x="1986" y="430178"/>
                </a:lnTo>
                <a:lnTo>
                  <a:pt x="6681" y="436109"/>
                </a:lnTo>
                <a:lnTo>
                  <a:pt x="13310" y="439754"/>
                </a:lnTo>
                <a:lnTo>
                  <a:pt x="20570" y="440547"/>
                </a:lnTo>
                <a:lnTo>
                  <a:pt x="27597" y="438561"/>
                </a:lnTo>
                <a:lnTo>
                  <a:pt x="33529" y="433866"/>
                </a:lnTo>
                <a:lnTo>
                  <a:pt x="316265" y="99572"/>
                </a:lnTo>
                <a:lnTo>
                  <a:pt x="287174" y="74968"/>
                </a:lnTo>
                <a:close/>
              </a:path>
              <a:path w="375920" h="440689">
                <a:moveTo>
                  <a:pt x="362472" y="53742"/>
                </a:moveTo>
                <a:lnTo>
                  <a:pt x="312435" y="53742"/>
                </a:lnTo>
                <a:lnTo>
                  <a:pt x="319695" y="54535"/>
                </a:lnTo>
                <a:lnTo>
                  <a:pt x="326324" y="58179"/>
                </a:lnTo>
                <a:lnTo>
                  <a:pt x="331018" y="64111"/>
                </a:lnTo>
                <a:lnTo>
                  <a:pt x="333005" y="71139"/>
                </a:lnTo>
                <a:lnTo>
                  <a:pt x="332212" y="78399"/>
                </a:lnTo>
                <a:lnTo>
                  <a:pt x="328566" y="85027"/>
                </a:lnTo>
                <a:lnTo>
                  <a:pt x="316265" y="99572"/>
                </a:lnTo>
                <a:lnTo>
                  <a:pt x="345356" y="124176"/>
                </a:lnTo>
                <a:lnTo>
                  <a:pt x="362472" y="53742"/>
                </a:lnTo>
                <a:close/>
              </a:path>
              <a:path w="375920" h="440689">
                <a:moveTo>
                  <a:pt x="312435" y="53742"/>
                </a:moveTo>
                <a:lnTo>
                  <a:pt x="305408" y="55729"/>
                </a:lnTo>
                <a:lnTo>
                  <a:pt x="299476" y="60424"/>
                </a:lnTo>
                <a:lnTo>
                  <a:pt x="287174" y="74968"/>
                </a:lnTo>
                <a:lnTo>
                  <a:pt x="316265" y="99572"/>
                </a:lnTo>
                <a:lnTo>
                  <a:pt x="328566" y="85027"/>
                </a:lnTo>
                <a:lnTo>
                  <a:pt x="332212" y="78399"/>
                </a:lnTo>
                <a:lnTo>
                  <a:pt x="333005" y="71139"/>
                </a:lnTo>
                <a:lnTo>
                  <a:pt x="331018" y="64111"/>
                </a:lnTo>
                <a:lnTo>
                  <a:pt x="326324" y="58179"/>
                </a:lnTo>
                <a:lnTo>
                  <a:pt x="319695" y="54535"/>
                </a:lnTo>
                <a:lnTo>
                  <a:pt x="312435" y="53742"/>
                </a:lnTo>
                <a:close/>
              </a:path>
              <a:path w="375920" h="440689">
                <a:moveTo>
                  <a:pt x="375531" y="0"/>
                </a:moveTo>
                <a:lnTo>
                  <a:pt x="258084" y="50365"/>
                </a:lnTo>
                <a:lnTo>
                  <a:pt x="287174" y="74968"/>
                </a:lnTo>
                <a:lnTo>
                  <a:pt x="299476" y="60424"/>
                </a:lnTo>
                <a:lnTo>
                  <a:pt x="305408" y="55729"/>
                </a:lnTo>
                <a:lnTo>
                  <a:pt x="312435" y="53742"/>
                </a:lnTo>
                <a:lnTo>
                  <a:pt x="362472" y="53742"/>
                </a:lnTo>
                <a:lnTo>
                  <a:pt x="375531" y="0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50441" y="4926013"/>
            <a:ext cx="395605" cy="114300"/>
          </a:xfrm>
          <a:custGeom>
            <a:avLst/>
            <a:gdLst/>
            <a:ahLst/>
            <a:cxnLst/>
            <a:rect l="l" t="t" r="r" b="b"/>
            <a:pathLst>
              <a:path w="395604" h="114300">
                <a:moveTo>
                  <a:pt x="281285" y="0"/>
                </a:moveTo>
                <a:lnTo>
                  <a:pt x="280892" y="38098"/>
                </a:lnTo>
                <a:lnTo>
                  <a:pt x="299942" y="38295"/>
                </a:lnTo>
                <a:lnTo>
                  <a:pt x="307340" y="39868"/>
                </a:lnTo>
                <a:lnTo>
                  <a:pt x="313353" y="44013"/>
                </a:lnTo>
                <a:lnTo>
                  <a:pt x="317373" y="50110"/>
                </a:lnTo>
                <a:lnTo>
                  <a:pt x="318794" y="57541"/>
                </a:lnTo>
                <a:lnTo>
                  <a:pt x="317220" y="64940"/>
                </a:lnTo>
                <a:lnTo>
                  <a:pt x="313075" y="70952"/>
                </a:lnTo>
                <a:lnTo>
                  <a:pt x="306978" y="74972"/>
                </a:lnTo>
                <a:lnTo>
                  <a:pt x="299548" y="76393"/>
                </a:lnTo>
                <a:lnTo>
                  <a:pt x="280497" y="76393"/>
                </a:lnTo>
                <a:lnTo>
                  <a:pt x="280106" y="114294"/>
                </a:lnTo>
                <a:lnTo>
                  <a:pt x="357906" y="76393"/>
                </a:lnTo>
                <a:lnTo>
                  <a:pt x="299548" y="76393"/>
                </a:lnTo>
                <a:lnTo>
                  <a:pt x="280499" y="76196"/>
                </a:lnTo>
                <a:lnTo>
                  <a:pt x="358310" y="76196"/>
                </a:lnTo>
                <a:lnTo>
                  <a:pt x="394990" y="58327"/>
                </a:lnTo>
                <a:lnTo>
                  <a:pt x="281285" y="0"/>
                </a:lnTo>
                <a:close/>
              </a:path>
              <a:path w="395604" h="114300">
                <a:moveTo>
                  <a:pt x="280892" y="38098"/>
                </a:moveTo>
                <a:lnTo>
                  <a:pt x="280499" y="76196"/>
                </a:lnTo>
                <a:lnTo>
                  <a:pt x="299548" y="76393"/>
                </a:lnTo>
                <a:lnTo>
                  <a:pt x="306978" y="74972"/>
                </a:lnTo>
                <a:lnTo>
                  <a:pt x="313075" y="70952"/>
                </a:lnTo>
                <a:lnTo>
                  <a:pt x="317220" y="64940"/>
                </a:lnTo>
                <a:lnTo>
                  <a:pt x="318794" y="57541"/>
                </a:lnTo>
                <a:lnTo>
                  <a:pt x="317373" y="50110"/>
                </a:lnTo>
                <a:lnTo>
                  <a:pt x="313353" y="44013"/>
                </a:lnTo>
                <a:lnTo>
                  <a:pt x="307340" y="39868"/>
                </a:lnTo>
                <a:lnTo>
                  <a:pt x="299942" y="38295"/>
                </a:lnTo>
                <a:lnTo>
                  <a:pt x="280892" y="38098"/>
                </a:lnTo>
                <a:close/>
              </a:path>
              <a:path w="395604" h="114300">
                <a:moveTo>
                  <a:pt x="19245" y="35398"/>
                </a:moveTo>
                <a:lnTo>
                  <a:pt x="11815" y="36818"/>
                </a:lnTo>
                <a:lnTo>
                  <a:pt x="5718" y="40838"/>
                </a:lnTo>
                <a:lnTo>
                  <a:pt x="1573" y="46851"/>
                </a:lnTo>
                <a:lnTo>
                  <a:pt x="0" y="54250"/>
                </a:lnTo>
                <a:lnTo>
                  <a:pt x="1420" y="61680"/>
                </a:lnTo>
                <a:lnTo>
                  <a:pt x="5440" y="67777"/>
                </a:lnTo>
                <a:lnTo>
                  <a:pt x="11453" y="71922"/>
                </a:lnTo>
                <a:lnTo>
                  <a:pt x="18851" y="73496"/>
                </a:lnTo>
                <a:lnTo>
                  <a:pt x="280499" y="76196"/>
                </a:lnTo>
                <a:lnTo>
                  <a:pt x="280892" y="38098"/>
                </a:lnTo>
                <a:lnTo>
                  <a:pt x="19245" y="35398"/>
                </a:lnTo>
                <a:close/>
              </a:path>
            </a:pathLst>
          </a:custGeom>
          <a:solidFill>
            <a:srgbClr val="F0AC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21224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656195" cy="130302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latin typeface="Calibri"/>
                <a:cs typeface="Calibri"/>
              </a:rPr>
              <a:t>Geodesic </a:t>
            </a:r>
            <a:r>
              <a:rPr dirty="0" sz="2800" spc="-10" b="0">
                <a:latin typeface="Calibri"/>
                <a:cs typeface="Calibri"/>
              </a:rPr>
              <a:t>distance </a:t>
            </a:r>
            <a:r>
              <a:rPr dirty="0" sz="2800" spc="-5" b="0">
                <a:latin typeface="Calibri"/>
                <a:cs typeface="Calibri"/>
              </a:rPr>
              <a:t>in </a:t>
            </a:r>
            <a:r>
              <a:rPr dirty="0" sz="2800" spc="-10" b="0">
                <a:latin typeface="Calibri"/>
                <a:cs typeface="Calibri"/>
              </a:rPr>
              <a:t>hyperbolic </a:t>
            </a:r>
            <a:r>
              <a:rPr dirty="0" sz="2800" spc="-5" b="0">
                <a:latin typeface="Calibri"/>
                <a:cs typeface="Calibri"/>
              </a:rPr>
              <a:t>space is </a:t>
            </a:r>
            <a:r>
              <a:rPr dirty="0" sz="2800" spc="-10" b="0">
                <a:latin typeface="Calibri"/>
                <a:cs typeface="Calibri"/>
              </a:rPr>
              <a:t>analogous  </a:t>
            </a:r>
            <a:r>
              <a:rPr dirty="0" sz="2800" spc="-15" b="0">
                <a:latin typeface="Calibri"/>
                <a:cs typeface="Calibri"/>
              </a:rPr>
              <a:t>to </a:t>
            </a:r>
            <a:r>
              <a:rPr dirty="0" sz="2800" b="0">
                <a:latin typeface="Calibri"/>
                <a:cs typeface="Calibri"/>
              </a:rPr>
              <a:t>the </a:t>
            </a:r>
            <a:r>
              <a:rPr dirty="0" sz="2800" spc="-10" b="0">
                <a:latin typeface="Calibri"/>
                <a:cs typeface="Calibri"/>
              </a:rPr>
              <a:t>shortest path distance </a:t>
            </a:r>
            <a:r>
              <a:rPr dirty="0" sz="2800" spc="-5" b="0">
                <a:latin typeface="Calibri"/>
                <a:cs typeface="Calibri"/>
              </a:rPr>
              <a:t>in Euclidean</a:t>
            </a:r>
            <a:r>
              <a:rPr dirty="0" sz="2800" spc="35" b="0">
                <a:latin typeface="Calibri"/>
                <a:cs typeface="Calibri"/>
              </a:rPr>
              <a:t> </a:t>
            </a:r>
            <a:r>
              <a:rPr dirty="0" sz="2800" spc="-5" b="0">
                <a:latin typeface="Calibri"/>
                <a:cs typeface="Calibri"/>
              </a:rPr>
              <a:t>space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29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>
                <a:solidFill>
                  <a:srgbClr val="C00000"/>
                </a:solidFill>
              </a:rPr>
              <a:t>“Straight </a:t>
            </a:r>
            <a:r>
              <a:rPr dirty="0" sz="2800" spc="-5">
                <a:solidFill>
                  <a:srgbClr val="C00000"/>
                </a:solidFill>
              </a:rPr>
              <a:t>line” </a:t>
            </a:r>
            <a:r>
              <a:rPr dirty="0" sz="2800" spc="-5" b="0">
                <a:latin typeface="Calibri"/>
                <a:cs typeface="Calibri"/>
              </a:rPr>
              <a:t>in </a:t>
            </a:r>
            <a:r>
              <a:rPr dirty="0" sz="2800" spc="-10" b="0">
                <a:latin typeface="Calibri"/>
                <a:cs typeface="Calibri"/>
              </a:rPr>
              <a:t>hyperbolic</a:t>
            </a:r>
            <a:r>
              <a:rPr dirty="0" sz="2800" spc="5" b="0">
                <a:latin typeface="Calibri"/>
                <a:cs typeface="Calibri"/>
              </a:rPr>
              <a:t> </a:t>
            </a:r>
            <a:r>
              <a:rPr dirty="0" sz="2800" spc="-5" b="0">
                <a:latin typeface="Calibri"/>
                <a:cs typeface="Calibri"/>
              </a:rPr>
              <a:t>space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544493"/>
            <a:ext cx="6066155" cy="148780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8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20">
                <a:latin typeface="Calibri"/>
                <a:cs typeface="Calibri"/>
              </a:rPr>
              <a:t>negative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curvature: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more geodesics </a:t>
            </a:r>
            <a:r>
              <a:rPr dirty="0" sz="2600" spc="-5">
                <a:latin typeface="Calibri"/>
                <a:cs typeface="Calibri"/>
              </a:rPr>
              <a:t>bends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inward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>
                <a:latin typeface="Calibri"/>
                <a:cs typeface="Calibri"/>
              </a:rPr>
              <a:t>distance between </a:t>
            </a:r>
            <a:r>
              <a:rPr dirty="0" sz="2600" b="1">
                <a:latin typeface="Calibri"/>
                <a:cs typeface="Calibri"/>
              </a:rPr>
              <a:t>x </a:t>
            </a:r>
            <a:r>
              <a:rPr dirty="0" sz="2600" spc="-5">
                <a:latin typeface="Calibri"/>
                <a:cs typeface="Calibri"/>
              </a:rPr>
              <a:t>and </a:t>
            </a:r>
            <a:r>
              <a:rPr dirty="0" sz="2600" b="1">
                <a:latin typeface="Calibri"/>
                <a:cs typeface="Calibri"/>
              </a:rPr>
              <a:t>y </a:t>
            </a:r>
            <a:r>
              <a:rPr dirty="0" sz="2600" spc="-5">
                <a:latin typeface="Calibri"/>
                <a:cs typeface="Calibri"/>
              </a:rPr>
              <a:t>also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increases: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2769" y="5144515"/>
            <a:ext cx="331533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>
                <a:latin typeface="Arial"/>
                <a:cs typeface="Arial"/>
              </a:rPr>
              <a:t>Distance between </a:t>
            </a:r>
            <a:r>
              <a:rPr dirty="0" sz="1800">
                <a:latin typeface="Cambria Math"/>
                <a:cs typeface="Cambria Math"/>
              </a:rPr>
              <a:t>𝒙 </a:t>
            </a:r>
            <a:r>
              <a:rPr dirty="0" sz="1800" spc="-5">
                <a:latin typeface="Arial"/>
                <a:cs typeface="Arial"/>
              </a:rPr>
              <a:t>and </a:t>
            </a:r>
            <a:r>
              <a:rPr dirty="0" sz="1800">
                <a:latin typeface="Cambria Math"/>
                <a:cs typeface="Cambria Math"/>
              </a:rPr>
              <a:t>𝒚  </a:t>
            </a:r>
            <a:r>
              <a:rPr dirty="0" sz="1800" spc="-5">
                <a:latin typeface="Arial"/>
                <a:cs typeface="Arial"/>
              </a:rPr>
              <a:t>increases as curvature becomes  more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negative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81818" y="4296030"/>
            <a:ext cx="2759527" cy="2373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24272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670165" cy="21685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32740" marR="5080" indent="-320040">
              <a:lnSpc>
                <a:spcPct val="99600"/>
              </a:lnSpc>
              <a:spcBef>
                <a:spcPts val="11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0">
                <a:latin typeface="Calibri"/>
                <a:cs typeface="Calibri"/>
              </a:rPr>
              <a:t>Geodesic </a:t>
            </a:r>
            <a:r>
              <a:rPr dirty="0" sz="2800" spc="-10" b="0">
                <a:latin typeface="Calibri"/>
                <a:cs typeface="Calibri"/>
              </a:rPr>
              <a:t>distance </a:t>
            </a:r>
            <a:r>
              <a:rPr dirty="0" sz="2800" spc="-15" b="0">
                <a:latin typeface="Calibri"/>
                <a:cs typeface="Calibri"/>
              </a:rPr>
              <a:t>between two </a:t>
            </a:r>
            <a:r>
              <a:rPr dirty="0" sz="2800" spc="-10" b="0">
                <a:latin typeface="Calibri"/>
                <a:cs typeface="Calibri"/>
              </a:rPr>
              <a:t>hyperbolic points  </a:t>
            </a:r>
            <a:r>
              <a:rPr dirty="0" sz="2800" spc="-5" b="0">
                <a:latin typeface="Calibri"/>
                <a:cs typeface="Calibri"/>
              </a:rPr>
              <a:t>will bend </a:t>
            </a:r>
            <a:r>
              <a:rPr dirty="0" sz="2800" spc="-20" b="0">
                <a:latin typeface="Calibri"/>
                <a:cs typeface="Calibri"/>
              </a:rPr>
              <a:t>inward </a:t>
            </a:r>
            <a:r>
              <a:rPr dirty="0" sz="2800" spc="-15" b="0">
                <a:latin typeface="Calibri"/>
                <a:cs typeface="Calibri"/>
              </a:rPr>
              <a:t>more </a:t>
            </a:r>
            <a:r>
              <a:rPr dirty="0" sz="2800" spc="-5" b="0">
                <a:latin typeface="Calibri"/>
                <a:cs typeface="Calibri"/>
              </a:rPr>
              <a:t>as </a:t>
            </a:r>
            <a:r>
              <a:rPr dirty="0" sz="2800" spc="-15" b="0">
                <a:latin typeface="Calibri"/>
                <a:cs typeface="Calibri"/>
              </a:rPr>
              <a:t>curvature </a:t>
            </a:r>
            <a:r>
              <a:rPr dirty="0" sz="2800" spc="-10" b="0">
                <a:latin typeface="Calibri"/>
                <a:cs typeface="Calibri"/>
              </a:rPr>
              <a:t>becomes </a:t>
            </a:r>
            <a:r>
              <a:rPr dirty="0" sz="2800" spc="-15" b="0">
                <a:latin typeface="Calibri"/>
                <a:cs typeface="Calibri"/>
              </a:rPr>
              <a:t>more  </a:t>
            </a:r>
            <a:r>
              <a:rPr dirty="0" sz="2800" spc="-20" b="0">
                <a:latin typeface="Calibri"/>
                <a:cs typeface="Calibri"/>
              </a:rPr>
              <a:t>negative</a:t>
            </a:r>
            <a:endParaRPr sz="2800">
              <a:latin typeface="Calibri"/>
              <a:cs typeface="Calibri"/>
            </a:endParaRPr>
          </a:p>
          <a:p>
            <a:pPr marL="332740" marR="417830" indent="-320040">
              <a:lnSpc>
                <a:spcPct val="10140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5">
                <a:solidFill>
                  <a:srgbClr val="C00000"/>
                </a:solidFill>
              </a:rPr>
              <a:t>Larger </a:t>
            </a:r>
            <a:r>
              <a:rPr dirty="0" sz="2800" spc="-10">
                <a:solidFill>
                  <a:srgbClr val="C00000"/>
                </a:solidFill>
              </a:rPr>
              <a:t>curvature </a:t>
            </a:r>
            <a:r>
              <a:rPr dirty="0" sz="2800" spc="-10" b="0">
                <a:latin typeface="Calibri"/>
                <a:cs typeface="Calibri"/>
              </a:rPr>
              <a:t>results </a:t>
            </a:r>
            <a:r>
              <a:rPr dirty="0" sz="2800" spc="-5" b="0">
                <a:latin typeface="Calibri"/>
                <a:cs typeface="Calibri"/>
              </a:rPr>
              <a:t>in </a:t>
            </a:r>
            <a:r>
              <a:rPr dirty="0" sz="2800" spc="-5">
                <a:solidFill>
                  <a:srgbClr val="008000"/>
                </a:solidFill>
              </a:rPr>
              <a:t>smaller </a:t>
            </a:r>
            <a:r>
              <a:rPr dirty="0" sz="2800" spc="-15">
                <a:solidFill>
                  <a:srgbClr val="008000"/>
                </a:solidFill>
              </a:rPr>
              <a:t>radius </a:t>
            </a:r>
            <a:r>
              <a:rPr dirty="0" sz="2800" spc="-5" b="0">
                <a:latin typeface="Calibri"/>
                <a:cs typeface="Calibri"/>
              </a:rPr>
              <a:t>of the  </a:t>
            </a:r>
            <a:r>
              <a:rPr dirty="0" sz="2800" spc="-20" b="0">
                <a:latin typeface="Calibri"/>
                <a:cs typeface="Calibri"/>
              </a:rPr>
              <a:t>Poincare</a:t>
            </a:r>
            <a:r>
              <a:rPr dirty="0" sz="2800" spc="-55" b="0">
                <a:latin typeface="Calibri"/>
                <a:cs typeface="Calibri"/>
              </a:rPr>
              <a:t> </a:t>
            </a:r>
            <a:r>
              <a:rPr dirty="0" sz="2800" spc="-5" b="0">
                <a:latin typeface="Calibri"/>
                <a:cs typeface="Calibri"/>
              </a:rPr>
              <a:t>ball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481323"/>
            <a:ext cx="6326505" cy="88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>
                <a:latin typeface="Calibri"/>
                <a:cs typeface="Calibri"/>
              </a:rPr>
              <a:t>Distance </a:t>
            </a:r>
            <a:r>
              <a:rPr dirty="0" sz="2800" spc="-15">
                <a:latin typeface="Calibri"/>
                <a:cs typeface="Calibri"/>
              </a:rPr>
              <a:t>between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same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coordinates</a:t>
            </a:r>
            <a:endParaRPr sz="28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45"/>
              </a:spcBef>
            </a:pPr>
            <a:r>
              <a:rPr dirty="0" sz="2800" spc="25">
                <a:latin typeface="Cambria Math"/>
                <a:cs typeface="Cambria Math"/>
              </a:rPr>
              <a:t>(𝑥, </a:t>
            </a:r>
            <a:r>
              <a:rPr dirty="0" sz="2800" spc="10">
                <a:latin typeface="Cambria Math"/>
                <a:cs typeface="Cambria Math"/>
              </a:rPr>
              <a:t>𝑦) </a:t>
            </a:r>
            <a:r>
              <a:rPr dirty="0" sz="2800" spc="-10">
                <a:latin typeface="Calibri"/>
                <a:cs typeface="Calibri"/>
              </a:rPr>
              <a:t>increases </a:t>
            </a:r>
            <a:r>
              <a:rPr dirty="0" sz="2800" spc="-5">
                <a:latin typeface="Calibri"/>
                <a:cs typeface="Calibri"/>
              </a:rPr>
              <a:t>as the </a:t>
            </a:r>
            <a:r>
              <a:rPr dirty="0" sz="2800" spc="-15">
                <a:latin typeface="Calibri"/>
                <a:cs typeface="Calibri"/>
              </a:rPr>
              <a:t>radius gets</a:t>
            </a:r>
            <a:r>
              <a:rPr dirty="0" sz="2800" spc="-18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smaller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7133" y="4540159"/>
            <a:ext cx="2279843" cy="2317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530912" y="5674867"/>
            <a:ext cx="519493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2060"/>
                </a:solidFill>
                <a:latin typeface="Arial"/>
                <a:cs typeface="Arial"/>
              </a:rPr>
              <a:t>Dark blue</a:t>
            </a:r>
            <a:r>
              <a:rPr dirty="0" sz="1800" spc="-5">
                <a:latin typeface="Arial"/>
                <a:cs typeface="Arial"/>
              </a:rPr>
              <a:t>: high curvature boundary and</a:t>
            </a:r>
            <a:r>
              <a:rPr dirty="0" sz="180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geodesics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b="1">
                <a:solidFill>
                  <a:srgbClr val="00B0F0"/>
                </a:solidFill>
                <a:latin typeface="Arial"/>
                <a:cs typeface="Arial"/>
              </a:rPr>
              <a:t>Light </a:t>
            </a:r>
            <a:r>
              <a:rPr dirty="0" sz="1800" spc="-5" b="1">
                <a:solidFill>
                  <a:srgbClr val="00B0F0"/>
                </a:solidFill>
                <a:latin typeface="Arial"/>
                <a:cs typeface="Arial"/>
              </a:rPr>
              <a:t>blue</a:t>
            </a:r>
            <a:r>
              <a:rPr dirty="0" sz="1800" spc="-5">
                <a:latin typeface="Arial"/>
                <a:cs typeface="Arial"/>
              </a:rPr>
              <a:t>: low curvature boundary and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geodesics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02301" y="3814032"/>
            <a:ext cx="3677457" cy="2417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10013" y="5104724"/>
            <a:ext cx="473709" cy="269875"/>
          </a:xfrm>
          <a:custGeom>
            <a:avLst/>
            <a:gdLst/>
            <a:ahLst/>
            <a:cxnLst/>
            <a:rect l="l" t="t" r="r" b="b"/>
            <a:pathLst>
              <a:path w="473709" h="269875">
                <a:moveTo>
                  <a:pt x="0" y="0"/>
                </a:moveTo>
                <a:lnTo>
                  <a:pt x="473528" y="0"/>
                </a:lnTo>
                <a:lnTo>
                  <a:pt x="473528" y="269420"/>
                </a:lnTo>
                <a:lnTo>
                  <a:pt x="0" y="2694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2168" y="356615"/>
            <a:ext cx="8043672" cy="515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817484" cy="1735455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400"/>
              </a:lnSpc>
              <a:spcBef>
                <a:spcPts val="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0">
                <a:latin typeface="Calibri"/>
                <a:cs typeface="Calibri"/>
              </a:rPr>
              <a:t>Exponential </a:t>
            </a:r>
            <a:r>
              <a:rPr dirty="0" sz="2800" spc="-5" b="0">
                <a:latin typeface="Calibri"/>
                <a:cs typeface="Calibri"/>
              </a:rPr>
              <a:t>map: </a:t>
            </a:r>
            <a:r>
              <a:rPr dirty="0" sz="2800" spc="-15" b="0">
                <a:latin typeface="Calibri"/>
                <a:cs typeface="Calibri"/>
              </a:rPr>
              <a:t>from tangent </a:t>
            </a:r>
            <a:r>
              <a:rPr dirty="0" sz="2800" spc="-5" b="0">
                <a:latin typeface="Calibri"/>
                <a:cs typeface="Calibri"/>
              </a:rPr>
              <a:t>space (Euclidean) </a:t>
            </a:r>
            <a:r>
              <a:rPr dirty="0" sz="2800" spc="-15" b="0">
                <a:latin typeface="Calibri"/>
                <a:cs typeface="Calibri"/>
              </a:rPr>
              <a:t>to  manifold</a:t>
            </a:r>
            <a:endParaRPr sz="2800">
              <a:latin typeface="Calibri"/>
              <a:cs typeface="Calibri"/>
            </a:endParaRPr>
          </a:p>
          <a:p>
            <a:pPr marL="332740" marR="210185" indent="-320040">
              <a:lnSpc>
                <a:spcPts val="341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10" b="0">
                <a:latin typeface="Calibri"/>
                <a:cs typeface="Calibri"/>
              </a:rPr>
              <a:t>Logarithmic </a:t>
            </a:r>
            <a:r>
              <a:rPr dirty="0" sz="2800" spc="-5" b="0">
                <a:latin typeface="Calibri"/>
                <a:cs typeface="Calibri"/>
              </a:rPr>
              <a:t>map: </a:t>
            </a:r>
            <a:r>
              <a:rPr dirty="0" sz="2800" spc="-25" b="0">
                <a:latin typeface="Calibri"/>
                <a:cs typeface="Calibri"/>
              </a:rPr>
              <a:t>inverse </a:t>
            </a:r>
            <a:r>
              <a:rPr dirty="0" sz="2800" spc="-15" b="0">
                <a:latin typeface="Calibri"/>
                <a:cs typeface="Calibri"/>
              </a:rPr>
              <a:t>operation </a:t>
            </a:r>
            <a:r>
              <a:rPr dirty="0" sz="2800" spc="-5" b="0">
                <a:latin typeface="Calibri"/>
                <a:cs typeface="Calibri"/>
              </a:rPr>
              <a:t>of </a:t>
            </a:r>
            <a:r>
              <a:rPr dirty="0" sz="2800" spc="-15" b="0">
                <a:latin typeface="Calibri"/>
                <a:cs typeface="Calibri"/>
              </a:rPr>
              <a:t>exponential  </a:t>
            </a:r>
            <a:r>
              <a:rPr dirty="0" sz="2800" spc="-5" b="0">
                <a:latin typeface="Calibri"/>
                <a:cs typeface="Calibri"/>
              </a:rPr>
              <a:t>map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3063747"/>
            <a:ext cx="11715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0">
                <a:latin typeface="Calibri"/>
                <a:cs typeface="Calibri"/>
              </a:rPr>
              <a:t>N</a:t>
            </a: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>
                <a:latin typeface="Calibri"/>
                <a:cs typeface="Calibri"/>
              </a:rPr>
              <a:t>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81211" y="31684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305680" y="31684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89098" y="31684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13568" y="3168402"/>
            <a:ext cx="0" cy="323215"/>
          </a:xfrm>
          <a:custGeom>
            <a:avLst/>
            <a:gdLst/>
            <a:ahLst/>
            <a:cxnLst/>
            <a:rect l="l" t="t" r="r" b="b"/>
            <a:pathLst>
              <a:path w="0" h="323214">
                <a:moveTo>
                  <a:pt x="0" y="0"/>
                </a:moveTo>
                <a:lnTo>
                  <a:pt x="0" y="323131"/>
                </a:lnTo>
              </a:path>
            </a:pathLst>
          </a:custGeom>
          <a:ln w="2673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98787" y="3167534"/>
            <a:ext cx="753110" cy="325120"/>
          </a:xfrm>
          <a:custGeom>
            <a:avLst/>
            <a:gdLst/>
            <a:ahLst/>
            <a:cxnLst/>
            <a:rect l="l" t="t" r="r" b="b"/>
            <a:pathLst>
              <a:path w="753110" h="325120">
                <a:moveTo>
                  <a:pt x="683553" y="0"/>
                </a:moveTo>
                <a:lnTo>
                  <a:pt x="664974" y="6250"/>
                </a:lnTo>
                <a:lnTo>
                  <a:pt x="720711" y="162346"/>
                </a:lnTo>
                <a:lnTo>
                  <a:pt x="664974" y="318268"/>
                </a:lnTo>
                <a:lnTo>
                  <a:pt x="683553" y="324867"/>
                </a:lnTo>
                <a:lnTo>
                  <a:pt x="752833" y="168770"/>
                </a:lnTo>
                <a:lnTo>
                  <a:pt x="752833" y="155921"/>
                </a:lnTo>
                <a:lnTo>
                  <a:pt x="683553" y="0"/>
                </a:lnTo>
                <a:close/>
              </a:path>
              <a:path w="753110" h="325120">
                <a:moveTo>
                  <a:pt x="69279" y="0"/>
                </a:moveTo>
                <a:lnTo>
                  <a:pt x="0" y="156095"/>
                </a:lnTo>
                <a:lnTo>
                  <a:pt x="0" y="168944"/>
                </a:lnTo>
                <a:lnTo>
                  <a:pt x="69279" y="324867"/>
                </a:lnTo>
                <a:lnTo>
                  <a:pt x="87684" y="318616"/>
                </a:lnTo>
                <a:lnTo>
                  <a:pt x="31948" y="162520"/>
                </a:lnTo>
                <a:lnTo>
                  <a:pt x="87684" y="6597"/>
                </a:lnTo>
                <a:lnTo>
                  <a:pt x="69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32635" y="3063747"/>
            <a:ext cx="20034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495" algn="l"/>
                <a:tab pos="1172210" algn="l"/>
                <a:tab pos="1840230" algn="l"/>
              </a:tabLst>
            </a:pP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baseline="-16666" sz="3000">
                <a:latin typeface="Cambria Math"/>
                <a:cs typeface="Cambria Math"/>
              </a:rPr>
              <a:t>ℒ </a:t>
            </a:r>
            <a:r>
              <a:rPr dirty="0" baseline="-16666" sz="3000" spc="-26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75">
                <a:latin typeface="Cambria Math"/>
                <a:cs typeface="Cambria Math"/>
              </a:rPr>
              <a:t>𝑣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baseline="-16666" sz="3000">
                <a:latin typeface="Cambria Math"/>
                <a:cs typeface="Cambria Math"/>
              </a:rPr>
              <a:t>ℒ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1294" y="4237263"/>
            <a:ext cx="4625488" cy="587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61294" y="5562600"/>
            <a:ext cx="3409252" cy="5874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0034" y="5168900"/>
            <a:ext cx="978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Log</a:t>
            </a:r>
            <a:r>
              <a:rPr dirty="0" sz="1800" spc="-95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81818" y="4308216"/>
            <a:ext cx="412750" cy="408305"/>
          </a:xfrm>
          <a:custGeom>
            <a:avLst/>
            <a:gdLst/>
            <a:ahLst/>
            <a:cxnLst/>
            <a:rect l="l" t="t" r="r" b="b"/>
            <a:pathLst>
              <a:path w="412750" h="408304">
                <a:moveTo>
                  <a:pt x="0" y="68037"/>
                </a:moveTo>
                <a:lnTo>
                  <a:pt x="5346" y="41554"/>
                </a:lnTo>
                <a:lnTo>
                  <a:pt x="19927" y="19927"/>
                </a:lnTo>
                <a:lnTo>
                  <a:pt x="41554" y="5346"/>
                </a:lnTo>
                <a:lnTo>
                  <a:pt x="68037" y="0"/>
                </a:lnTo>
                <a:lnTo>
                  <a:pt x="344257" y="0"/>
                </a:lnTo>
                <a:lnTo>
                  <a:pt x="370740" y="5346"/>
                </a:lnTo>
                <a:lnTo>
                  <a:pt x="392367" y="19927"/>
                </a:lnTo>
                <a:lnTo>
                  <a:pt x="406948" y="41554"/>
                </a:lnTo>
                <a:lnTo>
                  <a:pt x="412295" y="68037"/>
                </a:lnTo>
                <a:lnTo>
                  <a:pt x="412295" y="340177"/>
                </a:lnTo>
                <a:lnTo>
                  <a:pt x="406948" y="366660"/>
                </a:lnTo>
                <a:lnTo>
                  <a:pt x="392367" y="388287"/>
                </a:lnTo>
                <a:lnTo>
                  <a:pt x="370740" y="402868"/>
                </a:lnTo>
                <a:lnTo>
                  <a:pt x="344257" y="408215"/>
                </a:lnTo>
                <a:lnTo>
                  <a:pt x="68037" y="408215"/>
                </a:lnTo>
                <a:lnTo>
                  <a:pt x="41554" y="402868"/>
                </a:lnTo>
                <a:lnTo>
                  <a:pt x="19927" y="388287"/>
                </a:lnTo>
                <a:lnTo>
                  <a:pt x="5346" y="366660"/>
                </a:lnTo>
                <a:lnTo>
                  <a:pt x="0" y="340177"/>
                </a:lnTo>
                <a:lnTo>
                  <a:pt x="0" y="6803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88178" y="4308214"/>
            <a:ext cx="375920" cy="408305"/>
          </a:xfrm>
          <a:custGeom>
            <a:avLst/>
            <a:gdLst/>
            <a:ahLst/>
            <a:cxnLst/>
            <a:rect l="l" t="t" r="r" b="b"/>
            <a:pathLst>
              <a:path w="375920" h="408304">
                <a:moveTo>
                  <a:pt x="0" y="62593"/>
                </a:moveTo>
                <a:lnTo>
                  <a:pt x="4918" y="38229"/>
                </a:lnTo>
                <a:lnTo>
                  <a:pt x="18333" y="18333"/>
                </a:lnTo>
                <a:lnTo>
                  <a:pt x="38229" y="4918"/>
                </a:lnTo>
                <a:lnTo>
                  <a:pt x="62593" y="0"/>
                </a:lnTo>
                <a:lnTo>
                  <a:pt x="312963" y="0"/>
                </a:lnTo>
                <a:lnTo>
                  <a:pt x="337327" y="4918"/>
                </a:lnTo>
                <a:lnTo>
                  <a:pt x="357223" y="18333"/>
                </a:lnTo>
                <a:lnTo>
                  <a:pt x="370638" y="38229"/>
                </a:lnTo>
                <a:lnTo>
                  <a:pt x="375557" y="62593"/>
                </a:lnTo>
                <a:lnTo>
                  <a:pt x="375557" y="345621"/>
                </a:lnTo>
                <a:lnTo>
                  <a:pt x="370638" y="369985"/>
                </a:lnTo>
                <a:lnTo>
                  <a:pt x="357223" y="389881"/>
                </a:lnTo>
                <a:lnTo>
                  <a:pt x="337327" y="403296"/>
                </a:lnTo>
                <a:lnTo>
                  <a:pt x="312963" y="408215"/>
                </a:lnTo>
                <a:lnTo>
                  <a:pt x="62593" y="408215"/>
                </a:lnTo>
                <a:lnTo>
                  <a:pt x="38229" y="403296"/>
                </a:lnTo>
                <a:lnTo>
                  <a:pt x="18333" y="389881"/>
                </a:lnTo>
                <a:lnTo>
                  <a:pt x="4918" y="369985"/>
                </a:lnTo>
                <a:lnTo>
                  <a:pt x="0" y="345621"/>
                </a:lnTo>
                <a:lnTo>
                  <a:pt x="0" y="62593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40034" y="3602228"/>
            <a:ext cx="4069715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208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Hyperbolic</a:t>
            </a:r>
            <a:r>
              <a:rPr dirty="0" sz="1800" spc="-1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trigonometry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25"/>
              </a:lnSpc>
            </a:pP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Exp</a:t>
            </a:r>
            <a:r>
              <a:rPr dirty="0" sz="1800" spc="-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9711" y="3849815"/>
            <a:ext cx="696595" cy="387985"/>
          </a:xfrm>
          <a:custGeom>
            <a:avLst/>
            <a:gdLst/>
            <a:ahLst/>
            <a:cxnLst/>
            <a:rect l="l" t="t" r="r" b="b"/>
            <a:pathLst>
              <a:path w="696595" h="387985">
                <a:moveTo>
                  <a:pt x="614155" y="358917"/>
                </a:moveTo>
                <a:lnTo>
                  <a:pt x="600464" y="383998"/>
                </a:lnTo>
                <a:lnTo>
                  <a:pt x="696245" y="387447"/>
                </a:lnTo>
                <a:lnTo>
                  <a:pt x="683798" y="369543"/>
                </a:lnTo>
                <a:lnTo>
                  <a:pt x="633622" y="369543"/>
                </a:lnTo>
                <a:lnTo>
                  <a:pt x="614155" y="358917"/>
                </a:lnTo>
                <a:close/>
              </a:path>
              <a:path w="696595" h="387985">
                <a:moveTo>
                  <a:pt x="627846" y="333835"/>
                </a:moveTo>
                <a:lnTo>
                  <a:pt x="614155" y="358917"/>
                </a:lnTo>
                <a:lnTo>
                  <a:pt x="633622" y="369543"/>
                </a:lnTo>
                <a:lnTo>
                  <a:pt x="642301" y="366993"/>
                </a:lnTo>
                <a:lnTo>
                  <a:pt x="649862" y="353141"/>
                </a:lnTo>
                <a:lnTo>
                  <a:pt x="647312" y="344460"/>
                </a:lnTo>
                <a:lnTo>
                  <a:pt x="627846" y="333835"/>
                </a:lnTo>
                <a:close/>
              </a:path>
              <a:path w="696595" h="387985">
                <a:moveTo>
                  <a:pt x="641536" y="308753"/>
                </a:moveTo>
                <a:lnTo>
                  <a:pt x="627846" y="333835"/>
                </a:lnTo>
                <a:lnTo>
                  <a:pt x="647312" y="344460"/>
                </a:lnTo>
                <a:lnTo>
                  <a:pt x="649862" y="353141"/>
                </a:lnTo>
                <a:lnTo>
                  <a:pt x="642301" y="366993"/>
                </a:lnTo>
                <a:lnTo>
                  <a:pt x="633622" y="369543"/>
                </a:lnTo>
                <a:lnTo>
                  <a:pt x="683798" y="369543"/>
                </a:lnTo>
                <a:lnTo>
                  <a:pt x="641536" y="308753"/>
                </a:lnTo>
                <a:close/>
              </a:path>
              <a:path w="696595" h="387985">
                <a:moveTo>
                  <a:pt x="16240" y="0"/>
                </a:moveTo>
                <a:lnTo>
                  <a:pt x="7561" y="2550"/>
                </a:lnTo>
                <a:lnTo>
                  <a:pt x="0" y="16402"/>
                </a:lnTo>
                <a:lnTo>
                  <a:pt x="2550" y="25081"/>
                </a:lnTo>
                <a:lnTo>
                  <a:pt x="614155" y="358917"/>
                </a:lnTo>
                <a:lnTo>
                  <a:pt x="627846" y="333835"/>
                </a:lnTo>
                <a:lnTo>
                  <a:pt x="162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67216" y="3850634"/>
            <a:ext cx="1014094" cy="419100"/>
          </a:xfrm>
          <a:custGeom>
            <a:avLst/>
            <a:gdLst/>
            <a:ahLst/>
            <a:cxnLst/>
            <a:rect l="l" t="t" r="r" b="b"/>
            <a:pathLst>
              <a:path w="1014094" h="419100">
                <a:moveTo>
                  <a:pt x="63973" y="338957"/>
                </a:moveTo>
                <a:lnTo>
                  <a:pt x="0" y="410324"/>
                </a:lnTo>
                <a:lnTo>
                  <a:pt x="95477" y="418683"/>
                </a:lnTo>
                <a:lnTo>
                  <a:pt x="88196" y="400258"/>
                </a:lnTo>
                <a:lnTo>
                  <a:pt x="64350" y="400258"/>
                </a:lnTo>
                <a:lnTo>
                  <a:pt x="56050" y="396660"/>
                </a:lnTo>
                <a:lnTo>
                  <a:pt x="50250" y="381982"/>
                </a:lnTo>
                <a:lnTo>
                  <a:pt x="53849" y="373683"/>
                </a:lnTo>
                <a:lnTo>
                  <a:pt x="74474" y="365533"/>
                </a:lnTo>
                <a:lnTo>
                  <a:pt x="63973" y="338957"/>
                </a:lnTo>
                <a:close/>
              </a:path>
              <a:path w="1014094" h="419100">
                <a:moveTo>
                  <a:pt x="74474" y="365533"/>
                </a:moveTo>
                <a:lnTo>
                  <a:pt x="53849" y="373683"/>
                </a:lnTo>
                <a:lnTo>
                  <a:pt x="50250" y="381982"/>
                </a:lnTo>
                <a:lnTo>
                  <a:pt x="56050" y="396660"/>
                </a:lnTo>
                <a:lnTo>
                  <a:pt x="64350" y="400258"/>
                </a:lnTo>
                <a:lnTo>
                  <a:pt x="84976" y="392108"/>
                </a:lnTo>
                <a:lnTo>
                  <a:pt x="74474" y="365533"/>
                </a:lnTo>
                <a:close/>
              </a:path>
              <a:path w="1014094" h="419100">
                <a:moveTo>
                  <a:pt x="84976" y="392108"/>
                </a:moveTo>
                <a:lnTo>
                  <a:pt x="64350" y="400258"/>
                </a:lnTo>
                <a:lnTo>
                  <a:pt x="88196" y="400258"/>
                </a:lnTo>
                <a:lnTo>
                  <a:pt x="84976" y="392108"/>
                </a:lnTo>
                <a:close/>
              </a:path>
              <a:path w="1014094" h="419100">
                <a:moveTo>
                  <a:pt x="999495" y="0"/>
                </a:moveTo>
                <a:lnTo>
                  <a:pt x="74474" y="365533"/>
                </a:lnTo>
                <a:lnTo>
                  <a:pt x="84976" y="392108"/>
                </a:lnTo>
                <a:lnTo>
                  <a:pt x="1009996" y="26576"/>
                </a:lnTo>
                <a:lnTo>
                  <a:pt x="1013594" y="18275"/>
                </a:lnTo>
                <a:lnTo>
                  <a:pt x="1007795" y="3599"/>
                </a:lnTo>
                <a:lnTo>
                  <a:pt x="999495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169422" y="4672076"/>
            <a:ext cx="1892300" cy="1445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𝒗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 marR="1045210">
              <a:lnSpc>
                <a:spcPts val="2090"/>
              </a:lnSpc>
            </a:pPr>
            <a:r>
              <a:rPr dirty="0" sz="1800" spc="-5">
                <a:solidFill>
                  <a:srgbClr val="0070C0"/>
                </a:solidFill>
                <a:latin typeface="Cambria Math"/>
                <a:cs typeface="Cambria Math"/>
              </a:rPr>
              <a:t>𝒚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: 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point</a:t>
            </a:r>
            <a:r>
              <a:rPr dirty="0" sz="1800" spc="-10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70C0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0"/>
              </a:lnSpc>
            </a:pP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hyperbolic</a:t>
            </a:r>
            <a:r>
              <a:rPr dirty="0" sz="1800" spc="-80" b="1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71970" y="3279140"/>
            <a:ext cx="17405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point in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Arial"/>
                <a:cs typeface="Arial"/>
              </a:rPr>
              <a:t>tangent  space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76783" y="3876261"/>
            <a:ext cx="457834" cy="892175"/>
          </a:xfrm>
          <a:custGeom>
            <a:avLst/>
            <a:gdLst/>
            <a:ahLst/>
            <a:cxnLst/>
            <a:rect l="l" t="t" r="r" b="b"/>
            <a:pathLst>
              <a:path w="457834" h="892175">
                <a:moveTo>
                  <a:pt x="334" y="795839"/>
                </a:moveTo>
                <a:lnTo>
                  <a:pt x="0" y="891682"/>
                </a:lnTo>
                <a:lnTo>
                  <a:pt x="63759" y="844208"/>
                </a:lnTo>
                <a:lnTo>
                  <a:pt x="32781" y="844208"/>
                </a:lnTo>
                <a:lnTo>
                  <a:pt x="18690" y="837101"/>
                </a:lnTo>
                <a:lnTo>
                  <a:pt x="15859" y="828509"/>
                </a:lnTo>
                <a:lnTo>
                  <a:pt x="25847" y="808707"/>
                </a:lnTo>
                <a:lnTo>
                  <a:pt x="334" y="795839"/>
                </a:lnTo>
                <a:close/>
              </a:path>
              <a:path w="457834" h="892175">
                <a:moveTo>
                  <a:pt x="25847" y="808707"/>
                </a:moveTo>
                <a:lnTo>
                  <a:pt x="15859" y="828509"/>
                </a:lnTo>
                <a:lnTo>
                  <a:pt x="18690" y="837101"/>
                </a:lnTo>
                <a:lnTo>
                  <a:pt x="32781" y="844208"/>
                </a:lnTo>
                <a:lnTo>
                  <a:pt x="41374" y="841377"/>
                </a:lnTo>
                <a:lnTo>
                  <a:pt x="51361" y="821575"/>
                </a:lnTo>
                <a:lnTo>
                  <a:pt x="25847" y="808707"/>
                </a:lnTo>
                <a:close/>
              </a:path>
              <a:path w="457834" h="892175">
                <a:moveTo>
                  <a:pt x="51361" y="821575"/>
                </a:moveTo>
                <a:lnTo>
                  <a:pt x="41374" y="841377"/>
                </a:lnTo>
                <a:lnTo>
                  <a:pt x="32781" y="844208"/>
                </a:lnTo>
                <a:lnTo>
                  <a:pt x="63759" y="844208"/>
                </a:lnTo>
                <a:lnTo>
                  <a:pt x="76874" y="834443"/>
                </a:lnTo>
                <a:lnTo>
                  <a:pt x="51361" y="821575"/>
                </a:lnTo>
                <a:close/>
              </a:path>
              <a:path w="457834" h="892175">
                <a:moveTo>
                  <a:pt x="440894" y="0"/>
                </a:moveTo>
                <a:lnTo>
                  <a:pt x="432302" y="2830"/>
                </a:lnTo>
                <a:lnTo>
                  <a:pt x="25847" y="808707"/>
                </a:lnTo>
                <a:lnTo>
                  <a:pt x="51361" y="821575"/>
                </a:lnTo>
                <a:lnTo>
                  <a:pt x="457815" y="15698"/>
                </a:lnTo>
                <a:lnTo>
                  <a:pt x="454985" y="7106"/>
                </a:lnTo>
                <a:lnTo>
                  <a:pt x="44089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7563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5086" y="1508252"/>
            <a:ext cx="20447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solidFill>
                  <a:srgbClr val="C00000"/>
                </a:solidFill>
              </a:rPr>
              <a:t>Ch</a:t>
            </a:r>
            <a:r>
              <a:rPr dirty="0" sz="3000" spc="-10">
                <a:solidFill>
                  <a:srgbClr val="C00000"/>
                </a:solidFill>
              </a:rPr>
              <a:t>a</a:t>
            </a:r>
            <a:r>
              <a:rPr dirty="0" sz="3000">
                <a:solidFill>
                  <a:srgbClr val="C00000"/>
                </a:solidFill>
              </a:rPr>
              <a:t>llen</a:t>
            </a:r>
            <a:r>
              <a:rPr dirty="0" sz="3000" spc="-30">
                <a:solidFill>
                  <a:srgbClr val="C00000"/>
                </a:solidFill>
              </a:rPr>
              <a:t>g</a:t>
            </a:r>
            <a:r>
              <a:rPr dirty="0" sz="3000">
                <a:solidFill>
                  <a:srgbClr val="C00000"/>
                </a:solidFill>
              </a:rPr>
              <a:t>es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33541" y="1967484"/>
            <a:ext cx="5652770" cy="3113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ts val="28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Input node </a:t>
            </a:r>
            <a:r>
              <a:rPr dirty="0" sz="2600" spc="-20">
                <a:latin typeface="Calibri"/>
                <a:cs typeface="Calibri"/>
              </a:rPr>
              <a:t>features </a:t>
            </a:r>
            <a:r>
              <a:rPr dirty="0" sz="2600" spc="-10">
                <a:latin typeface="Calibri"/>
                <a:cs typeface="Calibri"/>
              </a:rPr>
              <a:t>are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usually</a:t>
            </a:r>
            <a:endParaRPr sz="2600">
              <a:latin typeface="Calibri"/>
              <a:cs typeface="Calibri"/>
            </a:endParaRPr>
          </a:p>
          <a:p>
            <a:pPr marL="287020">
              <a:lnSpc>
                <a:spcPts val="2810"/>
              </a:lnSpc>
            </a:pPr>
            <a:r>
              <a:rPr dirty="0" sz="2600" spc="-5" b="1">
                <a:latin typeface="Calibri"/>
                <a:cs typeface="Calibri"/>
              </a:rPr>
              <a:t>Euclidean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Times New Roman"/>
              <a:cs typeface="Times New Roman"/>
            </a:endParaRPr>
          </a:p>
          <a:p>
            <a:pPr marL="287020" marR="664845" indent="-274320">
              <a:lnSpc>
                <a:spcPts val="2500"/>
              </a:lnSpc>
              <a:spcBef>
                <a:spcPts val="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20">
                <a:latin typeface="Calibri"/>
                <a:cs typeface="Calibri"/>
              </a:rPr>
              <a:t>Perform </a:t>
            </a:r>
            <a:r>
              <a:rPr dirty="0" sz="2600" spc="-10">
                <a:latin typeface="Calibri"/>
                <a:cs typeface="Calibri"/>
              </a:rPr>
              <a:t>hyperbolic aggregation </a:t>
            </a:r>
            <a:r>
              <a:rPr dirty="0" sz="2600" spc="-150">
                <a:latin typeface="Calibri"/>
                <a:cs typeface="Calibri"/>
              </a:rPr>
              <a:t>for  </a:t>
            </a:r>
            <a:r>
              <a:rPr dirty="0" sz="2600" spc="-10">
                <a:latin typeface="Calibri"/>
                <a:cs typeface="Calibri"/>
              </a:rPr>
              <a:t>message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passing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60B5CC"/>
              </a:buClr>
              <a:buFont typeface="Malgun Gothic"/>
              <a:buChar char="▪"/>
            </a:pPr>
            <a:endParaRPr sz="27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80000"/>
              </a:lnSpc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latin typeface="Calibri"/>
                <a:cs typeface="Calibri"/>
              </a:rPr>
              <a:t>Choose </a:t>
            </a:r>
            <a:r>
              <a:rPr dirty="0" sz="2600" spc="-10">
                <a:latin typeface="Calibri"/>
                <a:cs typeface="Calibri"/>
              </a:rPr>
              <a:t>hyperbolic </a:t>
            </a:r>
            <a:r>
              <a:rPr dirty="0" sz="2600" spc="-5">
                <a:latin typeface="Calibri"/>
                <a:cs typeface="Calibri"/>
              </a:rPr>
              <a:t>spaces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25" b="1">
                <a:solidFill>
                  <a:srgbClr val="C00000"/>
                </a:solidFill>
                <a:latin typeface="Calibri"/>
                <a:cs typeface="Calibri"/>
              </a:rPr>
              <a:t>right 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amount </a:t>
            </a:r>
            <a:r>
              <a:rPr dirty="0" sz="26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600" spc="-10" b="1">
                <a:solidFill>
                  <a:srgbClr val="C00000"/>
                </a:solidFill>
                <a:latin typeface="Calibri"/>
                <a:cs typeface="Calibri"/>
              </a:rPr>
              <a:t>curvature </a:t>
            </a:r>
            <a:r>
              <a:rPr dirty="0" sz="2600" spc="-10">
                <a:latin typeface="Calibri"/>
                <a:cs typeface="Calibri"/>
              </a:rPr>
              <a:t>at every </a:t>
            </a:r>
            <a:r>
              <a:rPr dirty="0" sz="2600" spc="-20">
                <a:latin typeface="Calibri"/>
                <a:cs typeface="Calibri"/>
              </a:rPr>
              <a:t>layer </a:t>
            </a:r>
            <a:r>
              <a:rPr dirty="0" sz="2600">
                <a:latin typeface="Calibri"/>
                <a:cs typeface="Calibri"/>
              </a:rPr>
              <a:t>of  </a:t>
            </a:r>
            <a:r>
              <a:rPr dirty="0" sz="2600" spc="-5">
                <a:latin typeface="Calibri"/>
                <a:cs typeface="Calibri"/>
              </a:rPr>
              <a:t>the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GNN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75621" y="4411330"/>
            <a:ext cx="2370406" cy="15579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10346" y="5977128"/>
            <a:ext cx="35598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Times New Roman"/>
                <a:cs typeface="Times New Roman"/>
              </a:rPr>
              <a:t>Hyperbolic Graph </a:t>
            </a:r>
            <a:r>
              <a:rPr dirty="0" sz="1100" spc="-30">
                <a:latin typeface="Times New Roman"/>
                <a:cs typeface="Times New Roman"/>
              </a:rPr>
              <a:t>Convolutional </a:t>
            </a:r>
            <a:r>
              <a:rPr dirty="0" sz="1100" spc="-25">
                <a:latin typeface="Times New Roman"/>
                <a:cs typeface="Times New Roman"/>
              </a:rPr>
              <a:t>Neural Networks, NeurIPS</a:t>
            </a:r>
            <a:r>
              <a:rPr dirty="0" sz="1100" spc="-8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7868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488948"/>
            <a:ext cx="2089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480">
                <a:solidFill>
                  <a:srgbClr val="F0AD00"/>
                </a:solidFill>
                <a:latin typeface="Arial"/>
                <a:cs typeface="Arial"/>
              </a:rPr>
              <a:t>¡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3612" y="1469849"/>
            <a:ext cx="1338580" cy="491490"/>
          </a:xfrm>
          <a:custGeom>
            <a:avLst/>
            <a:gdLst/>
            <a:ahLst/>
            <a:cxnLst/>
            <a:rect l="l" t="t" r="r" b="b"/>
            <a:pathLst>
              <a:path w="1338579" h="491489">
                <a:moveTo>
                  <a:pt x="1209340" y="0"/>
                </a:moveTo>
                <a:lnTo>
                  <a:pt x="1204380" y="16272"/>
                </a:lnTo>
                <a:lnTo>
                  <a:pt x="1226933" y="27967"/>
                </a:lnTo>
                <a:lnTo>
                  <a:pt x="1246573" y="44996"/>
                </a:lnTo>
                <a:lnTo>
                  <a:pt x="1277108" y="95051"/>
                </a:lnTo>
                <a:lnTo>
                  <a:pt x="1295636" y="163066"/>
                </a:lnTo>
                <a:lnTo>
                  <a:pt x="1300269" y="202542"/>
                </a:lnTo>
                <a:lnTo>
                  <a:pt x="1301813" y="245666"/>
                </a:lnTo>
                <a:lnTo>
                  <a:pt x="1300269" y="288695"/>
                </a:lnTo>
                <a:lnTo>
                  <a:pt x="1295636" y="328091"/>
                </a:lnTo>
                <a:lnTo>
                  <a:pt x="1277108" y="395982"/>
                </a:lnTo>
                <a:lnTo>
                  <a:pt x="1246573" y="445963"/>
                </a:lnTo>
                <a:lnTo>
                  <a:pt x="1204380" y="474662"/>
                </a:lnTo>
                <a:lnTo>
                  <a:pt x="1209340" y="490935"/>
                </a:lnTo>
                <a:lnTo>
                  <a:pt x="1264159" y="461715"/>
                </a:lnTo>
                <a:lnTo>
                  <a:pt x="1304790" y="406599"/>
                </a:lnTo>
                <a:lnTo>
                  <a:pt x="1319462" y="371004"/>
                </a:lnTo>
                <a:lnTo>
                  <a:pt x="1329942" y="332284"/>
                </a:lnTo>
                <a:lnTo>
                  <a:pt x="1336230" y="290438"/>
                </a:lnTo>
                <a:lnTo>
                  <a:pt x="1338326" y="245468"/>
                </a:lnTo>
                <a:lnTo>
                  <a:pt x="1336230" y="200497"/>
                </a:lnTo>
                <a:lnTo>
                  <a:pt x="1329942" y="158651"/>
                </a:lnTo>
                <a:lnTo>
                  <a:pt x="1319462" y="119931"/>
                </a:lnTo>
                <a:lnTo>
                  <a:pt x="1304790" y="84336"/>
                </a:lnTo>
                <a:lnTo>
                  <a:pt x="1264159" y="29220"/>
                </a:lnTo>
                <a:lnTo>
                  <a:pt x="1238523" y="11373"/>
                </a:lnTo>
                <a:lnTo>
                  <a:pt x="1209340" y="0"/>
                </a:lnTo>
                <a:close/>
              </a:path>
              <a:path w="1338579" h="491489">
                <a:moveTo>
                  <a:pt x="128983" y="0"/>
                </a:moveTo>
                <a:lnTo>
                  <a:pt x="74165" y="29220"/>
                </a:lnTo>
                <a:lnTo>
                  <a:pt x="33535" y="84336"/>
                </a:lnTo>
                <a:lnTo>
                  <a:pt x="18863" y="119931"/>
                </a:lnTo>
                <a:lnTo>
                  <a:pt x="8383" y="158651"/>
                </a:lnTo>
                <a:lnTo>
                  <a:pt x="2095" y="200497"/>
                </a:lnTo>
                <a:lnTo>
                  <a:pt x="0" y="245468"/>
                </a:lnTo>
                <a:lnTo>
                  <a:pt x="2095" y="290438"/>
                </a:lnTo>
                <a:lnTo>
                  <a:pt x="8383" y="332284"/>
                </a:lnTo>
                <a:lnTo>
                  <a:pt x="18863" y="371004"/>
                </a:lnTo>
                <a:lnTo>
                  <a:pt x="33535" y="406599"/>
                </a:lnTo>
                <a:lnTo>
                  <a:pt x="74165" y="461715"/>
                </a:lnTo>
                <a:lnTo>
                  <a:pt x="128983" y="490935"/>
                </a:lnTo>
                <a:lnTo>
                  <a:pt x="133945" y="474662"/>
                </a:lnTo>
                <a:lnTo>
                  <a:pt x="111391" y="462973"/>
                </a:lnTo>
                <a:lnTo>
                  <a:pt x="91752" y="445963"/>
                </a:lnTo>
                <a:lnTo>
                  <a:pt x="61217" y="395982"/>
                </a:lnTo>
                <a:lnTo>
                  <a:pt x="42688" y="328091"/>
                </a:lnTo>
                <a:lnTo>
                  <a:pt x="38056" y="288695"/>
                </a:lnTo>
                <a:lnTo>
                  <a:pt x="36512" y="245666"/>
                </a:lnTo>
                <a:lnTo>
                  <a:pt x="38056" y="202542"/>
                </a:lnTo>
                <a:lnTo>
                  <a:pt x="42688" y="163066"/>
                </a:lnTo>
                <a:lnTo>
                  <a:pt x="61217" y="95051"/>
                </a:lnTo>
                <a:lnTo>
                  <a:pt x="91752" y="44996"/>
                </a:lnTo>
                <a:lnTo>
                  <a:pt x="133945" y="16272"/>
                </a:lnTo>
                <a:lnTo>
                  <a:pt x="128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87399" y="1645920"/>
            <a:ext cx="220345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7880" algn="l"/>
              </a:tabLst>
            </a:pPr>
            <a:r>
              <a:rPr dirty="0" sz="2300" spc="-620">
                <a:latin typeface="Cambria Math"/>
                <a:cs typeface="Cambria Math"/>
              </a:rPr>
              <a:t>#</a:t>
            </a:r>
            <a:r>
              <a:rPr dirty="0" sz="2300" spc="-620">
                <a:latin typeface="Cambria Math"/>
                <a:cs typeface="Cambria Math"/>
              </a:rPr>
              <a:t>	</a:t>
            </a:r>
            <a:r>
              <a:rPr dirty="0" sz="2300" spc="-62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0224" y="1220724"/>
            <a:ext cx="31400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10105" algn="l"/>
              </a:tabLst>
            </a:pPr>
            <a:r>
              <a:rPr dirty="0" baseline="-26041" sz="4800" b="0">
                <a:latin typeface="Cambria Math"/>
                <a:cs typeface="Cambria Math"/>
              </a:rPr>
              <a:t>𝒉</a:t>
            </a:r>
            <a:r>
              <a:rPr dirty="0" sz="2300" spc="-270" b="0">
                <a:latin typeface="Cambria Math"/>
                <a:cs typeface="Cambria Math"/>
              </a:rPr>
              <a:t>$</a:t>
            </a:r>
            <a:r>
              <a:rPr dirty="0" sz="2300" b="0">
                <a:latin typeface="Cambria Math"/>
                <a:cs typeface="Cambria Math"/>
              </a:rPr>
              <a:t>,</a:t>
            </a:r>
            <a:r>
              <a:rPr dirty="0" sz="2300" spc="140" b="0">
                <a:latin typeface="Cambria Math"/>
                <a:cs typeface="Cambria Math"/>
              </a:rPr>
              <a:t>&amp;</a:t>
            </a:r>
            <a:r>
              <a:rPr dirty="0" sz="2300" b="0">
                <a:latin typeface="Cambria Math"/>
                <a:cs typeface="Cambria Math"/>
              </a:rPr>
              <a:t> </a:t>
            </a:r>
            <a:r>
              <a:rPr dirty="0" sz="2300" spc="-220" b="0">
                <a:latin typeface="Cambria Math"/>
                <a:cs typeface="Cambria Math"/>
              </a:rPr>
              <a:t> </a:t>
            </a:r>
            <a:r>
              <a:rPr dirty="0" baseline="-26041" sz="4800" b="0">
                <a:latin typeface="Cambria Math"/>
                <a:cs typeface="Cambria Math"/>
              </a:rPr>
              <a:t>=</a:t>
            </a:r>
            <a:r>
              <a:rPr dirty="0" baseline="-26041" sz="4800" spc="262" b="0">
                <a:latin typeface="Cambria Math"/>
                <a:cs typeface="Cambria Math"/>
              </a:rPr>
              <a:t> </a:t>
            </a:r>
            <a:r>
              <a:rPr dirty="0" baseline="-26041" sz="4800" b="0">
                <a:latin typeface="Cambria Math"/>
                <a:cs typeface="Cambria Math"/>
              </a:rPr>
              <a:t>M</a:t>
            </a:r>
            <a:r>
              <a:rPr dirty="0" baseline="-26041" sz="4800" spc="-7" b="0">
                <a:latin typeface="Cambria Math"/>
                <a:cs typeface="Cambria Math"/>
              </a:rPr>
              <a:t>s</a:t>
            </a:r>
            <a:r>
              <a:rPr dirty="0" baseline="-26041" sz="4800" b="0">
                <a:latin typeface="Cambria Math"/>
                <a:cs typeface="Cambria Math"/>
              </a:rPr>
              <a:t>g	𝒙</a:t>
            </a:r>
            <a:r>
              <a:rPr dirty="0" sz="2300" spc="-270" b="0">
                <a:latin typeface="Cambria Math"/>
                <a:cs typeface="Cambria Math"/>
              </a:rPr>
              <a:t>$</a:t>
            </a:r>
            <a:r>
              <a:rPr dirty="0" sz="2300" spc="1150" b="0">
                <a:latin typeface="Cambria Math"/>
                <a:cs typeface="Cambria Math"/>
              </a:rPr>
              <a:t>'</a:t>
            </a:r>
            <a:r>
              <a:rPr dirty="0" sz="2300" spc="680" b="0">
                <a:latin typeface="Cambria Math"/>
                <a:cs typeface="Cambria Math"/>
              </a:rPr>
              <a:t>!</a:t>
            </a:r>
            <a:r>
              <a:rPr dirty="0" sz="2300" b="0">
                <a:latin typeface="Cambria Math"/>
                <a:cs typeface="Cambria Math"/>
              </a:rPr>
              <a:t>,</a:t>
            </a:r>
            <a:r>
              <a:rPr dirty="0" sz="2300" spc="140" b="0">
                <a:latin typeface="Cambria Math"/>
                <a:cs typeface="Cambria Math"/>
              </a:rPr>
              <a:t>&amp;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3111" y="2231135"/>
            <a:ext cx="1282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62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8" y="1994916"/>
            <a:ext cx="30238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24180" algn="l"/>
                <a:tab pos="424815" algn="l"/>
              </a:tabLst>
            </a:pPr>
            <a:r>
              <a:rPr dirty="0" sz="3200" spc="-35">
                <a:latin typeface="Cambria Math"/>
                <a:cs typeface="Cambria Math"/>
              </a:rPr>
              <a:t>𝒚</a:t>
            </a:r>
            <a:r>
              <a:rPr dirty="0" baseline="36231" sz="3450" spc="-52">
                <a:latin typeface="Cambria Math"/>
                <a:cs typeface="Cambria Math"/>
              </a:rPr>
              <a:t>$,&amp; 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-20">
                <a:latin typeface="Cambria Math"/>
                <a:cs typeface="Cambria Math"/>
              </a:rPr>
              <a:t> </a:t>
            </a:r>
            <a:r>
              <a:rPr dirty="0" sz="3200" spc="229">
                <a:latin typeface="Cambria Math"/>
                <a:cs typeface="Cambria Math"/>
              </a:rPr>
              <a:t>AGG</a:t>
            </a:r>
            <a:r>
              <a:rPr dirty="0" baseline="27777" sz="3450" spc="345">
                <a:latin typeface="Cambria Math"/>
                <a:cs typeface="Cambria Math"/>
              </a:rPr>
              <a:t>"</a:t>
            </a:r>
            <a:r>
              <a:rPr dirty="0" baseline="19005" sz="2850" spc="345">
                <a:latin typeface="Cambria Math"/>
                <a:cs typeface="Cambria Math"/>
              </a:rPr>
              <a:t>!"#</a:t>
            </a:r>
            <a:endParaRPr baseline="19005" sz="28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94715" y="2054050"/>
            <a:ext cx="973455" cy="491490"/>
          </a:xfrm>
          <a:custGeom>
            <a:avLst/>
            <a:gdLst/>
            <a:ahLst/>
            <a:cxnLst/>
            <a:rect l="l" t="t" r="r" b="b"/>
            <a:pathLst>
              <a:path w="973454" h="491489">
                <a:moveTo>
                  <a:pt x="844215" y="0"/>
                </a:moveTo>
                <a:lnTo>
                  <a:pt x="839255" y="16271"/>
                </a:lnTo>
                <a:lnTo>
                  <a:pt x="861808" y="27966"/>
                </a:lnTo>
                <a:lnTo>
                  <a:pt x="881448" y="44994"/>
                </a:lnTo>
                <a:lnTo>
                  <a:pt x="911983" y="95050"/>
                </a:lnTo>
                <a:lnTo>
                  <a:pt x="930511" y="163065"/>
                </a:lnTo>
                <a:lnTo>
                  <a:pt x="935144" y="202542"/>
                </a:lnTo>
                <a:lnTo>
                  <a:pt x="936688" y="245664"/>
                </a:lnTo>
                <a:lnTo>
                  <a:pt x="935144" y="288694"/>
                </a:lnTo>
                <a:lnTo>
                  <a:pt x="930511" y="328090"/>
                </a:lnTo>
                <a:lnTo>
                  <a:pt x="911983" y="395980"/>
                </a:lnTo>
                <a:lnTo>
                  <a:pt x="881448" y="445962"/>
                </a:lnTo>
                <a:lnTo>
                  <a:pt x="839255" y="474661"/>
                </a:lnTo>
                <a:lnTo>
                  <a:pt x="844215" y="490933"/>
                </a:lnTo>
                <a:lnTo>
                  <a:pt x="899034" y="461713"/>
                </a:lnTo>
                <a:lnTo>
                  <a:pt x="939664" y="406598"/>
                </a:lnTo>
                <a:lnTo>
                  <a:pt x="954336" y="371003"/>
                </a:lnTo>
                <a:lnTo>
                  <a:pt x="964816" y="332283"/>
                </a:lnTo>
                <a:lnTo>
                  <a:pt x="971105" y="290437"/>
                </a:lnTo>
                <a:lnTo>
                  <a:pt x="973201" y="245466"/>
                </a:lnTo>
                <a:lnTo>
                  <a:pt x="971105" y="200496"/>
                </a:lnTo>
                <a:lnTo>
                  <a:pt x="964816" y="158650"/>
                </a:lnTo>
                <a:lnTo>
                  <a:pt x="954336" y="119930"/>
                </a:lnTo>
                <a:lnTo>
                  <a:pt x="939664" y="84335"/>
                </a:lnTo>
                <a:lnTo>
                  <a:pt x="899034" y="29219"/>
                </a:lnTo>
                <a:lnTo>
                  <a:pt x="873398" y="11372"/>
                </a:lnTo>
                <a:lnTo>
                  <a:pt x="844215" y="0"/>
                </a:lnTo>
                <a:close/>
              </a:path>
              <a:path w="973454" h="491489">
                <a:moveTo>
                  <a:pt x="128983" y="0"/>
                </a:moveTo>
                <a:lnTo>
                  <a:pt x="74165" y="29219"/>
                </a:lnTo>
                <a:lnTo>
                  <a:pt x="33535" y="84335"/>
                </a:lnTo>
                <a:lnTo>
                  <a:pt x="18863" y="119930"/>
                </a:lnTo>
                <a:lnTo>
                  <a:pt x="8383" y="158650"/>
                </a:lnTo>
                <a:lnTo>
                  <a:pt x="2095" y="200496"/>
                </a:lnTo>
                <a:lnTo>
                  <a:pt x="0" y="245466"/>
                </a:lnTo>
                <a:lnTo>
                  <a:pt x="2095" y="290437"/>
                </a:lnTo>
                <a:lnTo>
                  <a:pt x="8383" y="332283"/>
                </a:lnTo>
                <a:lnTo>
                  <a:pt x="18863" y="371003"/>
                </a:lnTo>
                <a:lnTo>
                  <a:pt x="33535" y="406598"/>
                </a:lnTo>
                <a:lnTo>
                  <a:pt x="74165" y="461713"/>
                </a:lnTo>
                <a:lnTo>
                  <a:pt x="128983" y="490933"/>
                </a:lnTo>
                <a:lnTo>
                  <a:pt x="133945" y="474661"/>
                </a:lnTo>
                <a:lnTo>
                  <a:pt x="111391" y="462972"/>
                </a:lnTo>
                <a:lnTo>
                  <a:pt x="91752" y="445962"/>
                </a:lnTo>
                <a:lnTo>
                  <a:pt x="61217" y="395980"/>
                </a:lnTo>
                <a:lnTo>
                  <a:pt x="42688" y="328090"/>
                </a:lnTo>
                <a:lnTo>
                  <a:pt x="38056" y="288694"/>
                </a:lnTo>
                <a:lnTo>
                  <a:pt x="36512" y="245664"/>
                </a:lnTo>
                <a:lnTo>
                  <a:pt x="38056" y="202542"/>
                </a:lnTo>
                <a:lnTo>
                  <a:pt x="42688" y="163065"/>
                </a:lnTo>
                <a:lnTo>
                  <a:pt x="61217" y="95050"/>
                </a:lnTo>
                <a:lnTo>
                  <a:pt x="91752" y="44994"/>
                </a:lnTo>
                <a:lnTo>
                  <a:pt x="133945" y="16271"/>
                </a:lnTo>
                <a:lnTo>
                  <a:pt x="1289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28859" y="1848612"/>
            <a:ext cx="6775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965" sz="4800">
                <a:latin typeface="Cambria Math"/>
                <a:cs typeface="Cambria Math"/>
              </a:rPr>
              <a:t>𝒉</a:t>
            </a:r>
            <a:r>
              <a:rPr dirty="0" sz="2300" spc="-270">
                <a:latin typeface="Cambria Math"/>
                <a:cs typeface="Cambria Math"/>
              </a:rPr>
              <a:t>$</a:t>
            </a:r>
            <a:r>
              <a:rPr dirty="0" sz="2300">
                <a:latin typeface="Cambria Math"/>
                <a:cs typeface="Cambria Math"/>
              </a:rPr>
              <a:t>,</a:t>
            </a:r>
            <a:r>
              <a:rPr dirty="0" sz="2300" spc="140">
                <a:latin typeface="Cambria Math"/>
                <a:cs typeface="Cambria Math"/>
              </a:rPr>
              <a:t>&amp;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0935" y="2304288"/>
            <a:ext cx="128270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62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5174" y="2877311"/>
            <a:ext cx="378142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65854" algn="l"/>
              </a:tabLst>
            </a:pPr>
            <a:r>
              <a:rPr dirty="0" sz="2300" spc="-620">
                <a:latin typeface="Cambria Math"/>
                <a:cs typeface="Cambria Math"/>
              </a:rPr>
              <a:t>#</a:t>
            </a:r>
            <a:r>
              <a:rPr dirty="0" sz="2300" spc="-620">
                <a:latin typeface="Cambria Math"/>
                <a:cs typeface="Cambria Math"/>
              </a:rPr>
              <a:t>	</a:t>
            </a:r>
            <a:r>
              <a:rPr dirty="0" sz="2300" spc="-620">
                <a:latin typeface="Cambria Math"/>
                <a:cs typeface="Cambria Math"/>
              </a:rPr>
              <a:t>#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50634" y="3530203"/>
            <a:ext cx="3535302" cy="18703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26911" y="4452620"/>
            <a:ext cx="1485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At every</a:t>
            </a:r>
            <a:r>
              <a:rPr dirty="0" sz="1800" spc="-75" b="1">
                <a:latin typeface="Times New Roman"/>
                <a:cs typeface="Times New Roman"/>
              </a:rPr>
              <a:t> </a:t>
            </a:r>
            <a:r>
              <a:rPr dirty="0" sz="1800" spc="-5" b="1">
                <a:latin typeface="Times New Roman"/>
                <a:cs typeface="Times New Roman"/>
              </a:rPr>
              <a:t>layer: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93027" y="1402587"/>
            <a:ext cx="1531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 b="1">
                <a:solidFill>
                  <a:srgbClr val="008000"/>
                </a:solidFill>
                <a:latin typeface="Arial"/>
                <a:cs typeface="Arial"/>
              </a:rPr>
              <a:t>Messa</a:t>
            </a:r>
            <a:r>
              <a:rPr dirty="0" sz="2800" b="1">
                <a:solidFill>
                  <a:srgbClr val="008000"/>
                </a:solidFill>
                <a:latin typeface="Arial"/>
                <a:cs typeface="Arial"/>
              </a:rPr>
              <a:t>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93027" y="2009139"/>
            <a:ext cx="21221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C00000"/>
                </a:solidFill>
                <a:latin typeface="Arial"/>
                <a:cs typeface="Arial"/>
              </a:rPr>
              <a:t>Aggregation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8108" y="2644140"/>
            <a:ext cx="62077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24180" algn="l"/>
                <a:tab pos="424815" algn="l"/>
              </a:tabLst>
            </a:pPr>
            <a:r>
              <a:rPr dirty="0" sz="3200" spc="-35">
                <a:latin typeface="Cambria Math"/>
                <a:cs typeface="Cambria Math"/>
              </a:rPr>
              <a:t>𝒙</a:t>
            </a:r>
            <a:r>
              <a:rPr dirty="0" baseline="36231" sz="3450" spc="-52">
                <a:latin typeface="Cambria Math"/>
                <a:cs typeface="Cambria Math"/>
              </a:rPr>
              <a:t>$,&amp;  </a:t>
            </a:r>
            <a:r>
              <a:rPr dirty="0" sz="3200">
                <a:latin typeface="Cambria Math"/>
                <a:cs typeface="Cambria Math"/>
              </a:rPr>
              <a:t>= </a:t>
            </a:r>
            <a:r>
              <a:rPr dirty="0" sz="3200" spc="140">
                <a:latin typeface="Cambria Math"/>
                <a:cs typeface="Cambria Math"/>
              </a:rPr>
              <a:t>Update</a:t>
            </a:r>
            <a:r>
              <a:rPr dirty="0" baseline="28985" sz="3450" spc="209">
                <a:latin typeface="Cambria Math"/>
                <a:cs typeface="Cambria Math"/>
              </a:rPr>
              <a:t>"</a:t>
            </a:r>
            <a:r>
              <a:rPr dirty="0" baseline="20467" sz="2850" spc="209">
                <a:latin typeface="Cambria Math"/>
                <a:cs typeface="Cambria Math"/>
              </a:rPr>
              <a:t>!"#</a:t>
            </a:r>
            <a:r>
              <a:rPr dirty="0" baseline="28985" sz="3450" spc="209">
                <a:latin typeface="Cambria Math"/>
                <a:cs typeface="Cambria Math"/>
              </a:rPr>
              <a:t>,"</a:t>
            </a:r>
            <a:r>
              <a:rPr dirty="0" baseline="20467" sz="2850" spc="209">
                <a:latin typeface="Cambria Math"/>
                <a:cs typeface="Cambria Math"/>
              </a:rPr>
              <a:t>!</a:t>
            </a:r>
            <a:r>
              <a:rPr dirty="0" sz="3200" spc="140">
                <a:latin typeface="Cambria Math"/>
                <a:cs typeface="Cambria Math"/>
              </a:rPr>
              <a:t>(𝒚</a:t>
            </a:r>
            <a:r>
              <a:rPr dirty="0" baseline="36231" sz="3450" spc="209">
                <a:latin typeface="Cambria Math"/>
                <a:cs typeface="Cambria Math"/>
              </a:rPr>
              <a:t>$,&amp;</a:t>
            </a:r>
            <a:r>
              <a:rPr dirty="0" sz="3200" spc="140">
                <a:latin typeface="Cambria Math"/>
                <a:cs typeface="Cambria Math"/>
              </a:rPr>
              <a:t>)</a:t>
            </a:r>
            <a:r>
              <a:rPr dirty="0" sz="3200" spc="-30">
                <a:latin typeface="Cambria Math"/>
                <a:cs typeface="Cambria Math"/>
              </a:rPr>
              <a:t> </a:t>
            </a:r>
            <a:r>
              <a:rPr dirty="0" sz="2800" b="1">
                <a:solidFill>
                  <a:srgbClr val="B48200"/>
                </a:solidFill>
                <a:latin typeface="Arial"/>
                <a:cs typeface="Arial"/>
              </a:rPr>
              <a:t>Update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03909" y="6224015"/>
            <a:ext cx="35598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Times New Roman"/>
                <a:cs typeface="Times New Roman"/>
              </a:rPr>
              <a:t>Hyperbolic Graph </a:t>
            </a:r>
            <a:r>
              <a:rPr dirty="0" sz="1100" spc="-30">
                <a:latin typeface="Times New Roman"/>
                <a:cs typeface="Times New Roman"/>
              </a:rPr>
              <a:t>Convolutional </a:t>
            </a:r>
            <a:r>
              <a:rPr dirty="0" sz="1100" spc="-25">
                <a:latin typeface="Times New Roman"/>
                <a:cs typeface="Times New Roman"/>
              </a:rPr>
              <a:t>Neural Networks, NeurIPS</a:t>
            </a:r>
            <a:r>
              <a:rPr dirty="0" sz="1100" spc="-8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2019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66252" y="3779011"/>
            <a:ext cx="2118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4">
                <a:latin typeface="Cambria Math"/>
                <a:cs typeface="Cambria Math"/>
              </a:rPr>
              <a:t>𝐾</a:t>
            </a:r>
            <a:r>
              <a:rPr dirty="0" baseline="-14957" sz="1950" spc="-382">
                <a:latin typeface="Cambria Math"/>
                <a:cs typeface="Cambria Math"/>
              </a:rPr>
              <a:t>%</a:t>
            </a:r>
            <a:r>
              <a:rPr dirty="0" sz="1800" spc="-254">
                <a:latin typeface="Corbel"/>
                <a:cs typeface="Corbel"/>
              </a:rPr>
              <a:t>:    </a:t>
            </a:r>
            <a:r>
              <a:rPr dirty="0" sz="1800" spc="-5">
                <a:latin typeface="Corbel"/>
                <a:cs typeface="Corbel"/>
              </a:rPr>
              <a:t>curvature </a:t>
            </a:r>
            <a:r>
              <a:rPr dirty="0" sz="1800">
                <a:latin typeface="Corbel"/>
                <a:cs typeface="Corbel"/>
              </a:rPr>
              <a:t>at </a:t>
            </a:r>
            <a:r>
              <a:rPr dirty="0" sz="1800" spc="-5">
                <a:latin typeface="Corbel"/>
                <a:cs typeface="Corbel"/>
              </a:rPr>
              <a:t>layer</a:t>
            </a:r>
            <a:r>
              <a:rPr dirty="0" sz="1800" spc="-80">
                <a:latin typeface="Corbel"/>
                <a:cs typeface="Corbel"/>
              </a:rPr>
              <a:t> </a:t>
            </a:r>
            <a:r>
              <a:rPr dirty="0" sz="1800">
                <a:latin typeface="Cambria Math"/>
                <a:cs typeface="Cambria Math"/>
              </a:rPr>
              <a:t>𝑙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94494" y="5384291"/>
            <a:ext cx="88709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0" b="1">
                <a:solidFill>
                  <a:srgbClr val="B48200"/>
                </a:solidFill>
                <a:latin typeface="Arial"/>
                <a:cs typeface="Arial"/>
              </a:rPr>
              <a:t>U</a:t>
            </a:r>
            <a:r>
              <a:rPr dirty="0" sz="2000" b="1">
                <a:solidFill>
                  <a:srgbClr val="B48200"/>
                </a:solidFill>
                <a:latin typeface="Arial"/>
                <a:cs typeface="Arial"/>
              </a:rPr>
              <a:t>pd</a:t>
            </a:r>
            <a:r>
              <a:rPr dirty="0" sz="2000" spc="-5" b="1">
                <a:solidFill>
                  <a:srgbClr val="B48200"/>
                </a:solidFill>
                <a:latin typeface="Arial"/>
                <a:cs typeface="Arial"/>
              </a:rPr>
              <a:t>at</a:t>
            </a:r>
            <a:r>
              <a:rPr dirty="0" sz="2000" b="1">
                <a:solidFill>
                  <a:srgbClr val="B48200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10064" y="5375147"/>
            <a:ext cx="15214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Aggregation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37167" y="5375147"/>
            <a:ext cx="10985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Arial"/>
                <a:cs typeface="Arial"/>
              </a:rPr>
              <a:t>Message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7258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90577" y="1522475"/>
            <a:ext cx="1752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60">
                <a:solidFill>
                  <a:srgbClr val="D60093"/>
                </a:solidFill>
                <a:latin typeface="Cambria Math"/>
                <a:cs typeface="Cambria Math"/>
              </a:rPr>
              <a:t>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92099" y="1450773"/>
            <a:ext cx="1163320" cy="329565"/>
          </a:xfrm>
          <a:custGeom>
            <a:avLst/>
            <a:gdLst/>
            <a:ahLst/>
            <a:cxnLst/>
            <a:rect l="l" t="t" r="r" b="b"/>
            <a:pathLst>
              <a:path w="1163320" h="329564">
                <a:moveTo>
                  <a:pt x="1057817" y="0"/>
                </a:moveTo>
                <a:lnTo>
                  <a:pt x="1053129" y="13370"/>
                </a:lnTo>
                <a:lnTo>
                  <a:pt x="1072196" y="21645"/>
                </a:lnTo>
                <a:lnTo>
                  <a:pt x="1088593" y="33099"/>
                </a:lnTo>
                <a:lnTo>
                  <a:pt x="1113379" y="65547"/>
                </a:lnTo>
                <a:lnTo>
                  <a:pt x="1127965" y="109324"/>
                </a:lnTo>
                <a:lnTo>
                  <a:pt x="1132827" y="163041"/>
                </a:lnTo>
                <a:lnTo>
                  <a:pt x="1131606" y="192092"/>
                </a:lnTo>
                <a:lnTo>
                  <a:pt x="1121839" y="242185"/>
                </a:lnTo>
                <a:lnTo>
                  <a:pt x="1102240" y="281307"/>
                </a:lnTo>
                <a:lnTo>
                  <a:pt x="1072418" y="307699"/>
                </a:lnTo>
                <a:lnTo>
                  <a:pt x="1053650" y="316011"/>
                </a:lnTo>
                <a:lnTo>
                  <a:pt x="1057817" y="329382"/>
                </a:lnTo>
                <a:lnTo>
                  <a:pt x="1102744" y="308307"/>
                </a:lnTo>
                <a:lnTo>
                  <a:pt x="1135778" y="271823"/>
                </a:lnTo>
                <a:lnTo>
                  <a:pt x="1156093" y="222966"/>
                </a:lnTo>
                <a:lnTo>
                  <a:pt x="1162865" y="164777"/>
                </a:lnTo>
                <a:lnTo>
                  <a:pt x="1161167" y="134581"/>
                </a:lnTo>
                <a:lnTo>
                  <a:pt x="1147580" y="81059"/>
                </a:lnTo>
                <a:lnTo>
                  <a:pt x="1120634" y="37488"/>
                </a:lnTo>
                <a:lnTo>
                  <a:pt x="1081697" y="8622"/>
                </a:lnTo>
                <a:lnTo>
                  <a:pt x="1057817" y="0"/>
                </a:lnTo>
                <a:close/>
              </a:path>
              <a:path w="1163320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7723"/>
            <a:ext cx="70288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  <a:tab pos="5789930" algn="l"/>
              </a:tabLst>
            </a:pPr>
            <a:r>
              <a:rPr dirty="0" sz="2800" spc="-5" b="0">
                <a:latin typeface="Corbel"/>
                <a:cs typeface="Corbel"/>
              </a:rPr>
              <a:t>Input </a:t>
            </a:r>
            <a:r>
              <a:rPr dirty="0" sz="2800" spc="-15" b="0">
                <a:latin typeface="Corbel"/>
                <a:cs typeface="Corbel"/>
              </a:rPr>
              <a:t>Transformation: </a:t>
            </a:r>
            <a:r>
              <a:rPr dirty="0" sz="2800" spc="400" b="0">
                <a:latin typeface="Cambria Math"/>
                <a:cs typeface="Cambria Math"/>
              </a:rPr>
              <a:t>𝒙</a:t>
            </a:r>
            <a:r>
              <a:rPr dirty="0" baseline="27777" sz="3000" spc="600" b="0">
                <a:solidFill>
                  <a:srgbClr val="FFC000"/>
                </a:solidFill>
                <a:latin typeface="Cambria Math"/>
                <a:cs typeface="Cambria Math"/>
              </a:rPr>
              <a:t>,</a:t>
            </a:r>
            <a:r>
              <a:rPr dirty="0" baseline="27777" sz="3000" spc="600" b="0">
                <a:latin typeface="Cambria Math"/>
                <a:cs typeface="Cambria Math"/>
              </a:rPr>
              <a:t>,</a:t>
            </a:r>
            <a:r>
              <a:rPr dirty="0" baseline="27777" sz="3000" spc="600" b="0">
                <a:solidFill>
                  <a:srgbClr val="0432FF"/>
                </a:solidFill>
                <a:latin typeface="Cambria Math"/>
                <a:cs typeface="Cambria Math"/>
              </a:rPr>
              <a:t>-</a:t>
            </a:r>
            <a:r>
              <a:rPr dirty="0" baseline="27777" sz="3000" spc="150" b="0">
                <a:solidFill>
                  <a:srgbClr val="0432FF"/>
                </a:solidFill>
                <a:latin typeface="Cambria Math"/>
                <a:cs typeface="Cambria Math"/>
              </a:rPr>
              <a:t> </a:t>
            </a:r>
            <a:r>
              <a:rPr dirty="0" sz="2800" b="0">
                <a:latin typeface="Cambria Math"/>
                <a:cs typeface="Cambria Math"/>
              </a:rPr>
              <a:t>≔</a:t>
            </a:r>
            <a:r>
              <a:rPr dirty="0" sz="2800" spc="155" b="0">
                <a:latin typeface="Cambria Math"/>
                <a:cs typeface="Cambria Math"/>
              </a:rPr>
              <a:t> </a:t>
            </a:r>
            <a:r>
              <a:rPr dirty="0" sz="2800" spc="30" b="0">
                <a:latin typeface="Cambria Math"/>
                <a:cs typeface="Cambria Math"/>
              </a:rPr>
              <a:t>exp</a:t>
            </a:r>
            <a:r>
              <a:rPr dirty="0" baseline="27777" sz="3000" spc="44" b="0">
                <a:solidFill>
                  <a:srgbClr val="D60093"/>
                </a:solidFill>
                <a:latin typeface="Cambria Math"/>
                <a:cs typeface="Cambria Math"/>
              </a:rPr>
              <a:t>&amp;</a:t>
            </a:r>
            <a:r>
              <a:rPr dirty="0" sz="2800" spc="30" b="0">
                <a:latin typeface="Cambria Math"/>
                <a:cs typeface="Cambria Math"/>
              </a:rPr>
              <a:t>(	</a:t>
            </a:r>
            <a:r>
              <a:rPr dirty="0" sz="2800" spc="-5" b="0">
                <a:latin typeface="Cambria Math"/>
                <a:cs typeface="Cambria Math"/>
              </a:rPr>
              <a:t>0, </a:t>
            </a:r>
            <a:r>
              <a:rPr dirty="0" sz="2800" spc="260" b="0">
                <a:latin typeface="Cambria Math"/>
                <a:cs typeface="Cambria Math"/>
              </a:rPr>
              <a:t>𝒙</a:t>
            </a:r>
            <a:r>
              <a:rPr dirty="0" baseline="27777" sz="3000" spc="390" b="0">
                <a:solidFill>
                  <a:srgbClr val="FFC000"/>
                </a:solidFill>
                <a:latin typeface="Cambria Math"/>
                <a:cs typeface="Cambria Math"/>
              </a:rPr>
              <a:t>,</a:t>
            </a:r>
            <a:r>
              <a:rPr dirty="0" baseline="27777" sz="3000" spc="390" b="0">
                <a:latin typeface="Cambria Math"/>
                <a:cs typeface="Cambria Math"/>
              </a:rPr>
              <a:t>,</a:t>
            </a:r>
            <a:r>
              <a:rPr dirty="0" baseline="27777" sz="3000" spc="390" b="0">
                <a:solidFill>
                  <a:srgbClr val="00B050"/>
                </a:solidFill>
                <a:latin typeface="Cambria Math"/>
                <a:cs typeface="Cambria Math"/>
              </a:rPr>
              <a:t>/</a:t>
            </a:r>
            <a:r>
              <a:rPr dirty="0" baseline="27777" sz="3000" spc="487" b="0">
                <a:solidFill>
                  <a:srgbClr val="00B050"/>
                </a:solidFill>
                <a:latin typeface="Cambria Math"/>
                <a:cs typeface="Cambria Math"/>
              </a:rPr>
              <a:t> </a:t>
            </a:r>
            <a:r>
              <a:rPr dirty="0" sz="2800" b="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1844547"/>
            <a:ext cx="28981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  <a:tab pos="1922780" algn="l"/>
              </a:tabLst>
            </a:pPr>
            <a:r>
              <a:rPr dirty="0" sz="2800" spc="-5" b="1">
                <a:solidFill>
                  <a:srgbClr val="008000"/>
                </a:solidFill>
                <a:latin typeface="Corbel"/>
                <a:cs typeface="Corbel"/>
              </a:rPr>
              <a:t>Message</a:t>
            </a:r>
            <a:r>
              <a:rPr dirty="0" sz="2800" spc="-5">
                <a:latin typeface="Cambria Math"/>
                <a:cs typeface="Cambria Math"/>
              </a:rPr>
              <a:t>:	</a:t>
            </a:r>
            <a:r>
              <a:rPr dirty="0" sz="2800" spc="125">
                <a:latin typeface="Cambria Math"/>
                <a:cs typeface="Cambria Math"/>
              </a:rPr>
              <a:t>𝒉</a:t>
            </a:r>
            <a:r>
              <a:rPr dirty="0" baseline="36111" sz="3000" spc="187">
                <a:latin typeface="Cambria Math"/>
                <a:cs typeface="Cambria Math"/>
              </a:rPr>
              <a:t>1,-</a:t>
            </a:r>
            <a:r>
              <a:rPr dirty="0" baseline="36111" sz="3000" spc="26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2782" y="1895980"/>
            <a:ext cx="2741295" cy="429895"/>
          </a:xfrm>
          <a:custGeom>
            <a:avLst/>
            <a:gdLst/>
            <a:ahLst/>
            <a:cxnLst/>
            <a:rect l="l" t="t" r="r" b="b"/>
            <a:pathLst>
              <a:path w="2741295" h="429894">
                <a:moveTo>
                  <a:pt x="2628004" y="0"/>
                </a:moveTo>
                <a:lnTo>
                  <a:pt x="2623663" y="14237"/>
                </a:lnTo>
                <a:lnTo>
                  <a:pt x="2643398" y="24471"/>
                </a:lnTo>
                <a:lnTo>
                  <a:pt x="2660583" y="39371"/>
                </a:lnTo>
                <a:lnTo>
                  <a:pt x="2687300" y="83171"/>
                </a:lnTo>
                <a:lnTo>
                  <a:pt x="2703513" y="142683"/>
                </a:lnTo>
                <a:lnTo>
                  <a:pt x="2708917" y="214957"/>
                </a:lnTo>
                <a:lnTo>
                  <a:pt x="2707566" y="252609"/>
                </a:lnTo>
                <a:lnTo>
                  <a:pt x="2696758" y="318372"/>
                </a:lnTo>
                <a:lnTo>
                  <a:pt x="2675217" y="370679"/>
                </a:lnTo>
                <a:lnTo>
                  <a:pt x="2643398" y="405102"/>
                </a:lnTo>
                <a:lnTo>
                  <a:pt x="2623663" y="415330"/>
                </a:lnTo>
                <a:lnTo>
                  <a:pt x="2628004" y="429568"/>
                </a:lnTo>
                <a:lnTo>
                  <a:pt x="2675970" y="404000"/>
                </a:lnTo>
                <a:lnTo>
                  <a:pt x="2711522" y="355773"/>
                </a:lnTo>
                <a:lnTo>
                  <a:pt x="2733530" y="290748"/>
                </a:lnTo>
                <a:lnTo>
                  <a:pt x="2740865" y="214784"/>
                </a:lnTo>
                <a:lnTo>
                  <a:pt x="2739031" y="175435"/>
                </a:lnTo>
                <a:lnTo>
                  <a:pt x="2724360" y="104939"/>
                </a:lnTo>
                <a:lnTo>
                  <a:pt x="2695298" y="46848"/>
                </a:lnTo>
                <a:lnTo>
                  <a:pt x="2653539" y="9951"/>
                </a:lnTo>
                <a:lnTo>
                  <a:pt x="2628004" y="0"/>
                </a:lnTo>
                <a:close/>
              </a:path>
              <a:path w="2741295" h="429894">
                <a:moveTo>
                  <a:pt x="112861" y="0"/>
                </a:moveTo>
                <a:lnTo>
                  <a:pt x="64895" y="25567"/>
                </a:lnTo>
                <a:lnTo>
                  <a:pt x="29344" y="73794"/>
                </a:lnTo>
                <a:lnTo>
                  <a:pt x="7336" y="138820"/>
                </a:lnTo>
                <a:lnTo>
                  <a:pt x="0" y="214784"/>
                </a:lnTo>
                <a:lnTo>
                  <a:pt x="1834" y="254134"/>
                </a:lnTo>
                <a:lnTo>
                  <a:pt x="16506" y="324628"/>
                </a:lnTo>
                <a:lnTo>
                  <a:pt x="45568" y="382719"/>
                </a:lnTo>
                <a:lnTo>
                  <a:pt x="87326" y="419617"/>
                </a:lnTo>
                <a:lnTo>
                  <a:pt x="112861" y="429568"/>
                </a:lnTo>
                <a:lnTo>
                  <a:pt x="117201" y="415330"/>
                </a:lnTo>
                <a:lnTo>
                  <a:pt x="97467" y="405102"/>
                </a:lnTo>
                <a:lnTo>
                  <a:pt x="80283" y="390218"/>
                </a:lnTo>
                <a:lnTo>
                  <a:pt x="53566" y="346485"/>
                </a:lnTo>
                <a:lnTo>
                  <a:pt x="37352" y="287080"/>
                </a:lnTo>
                <a:lnTo>
                  <a:pt x="31954" y="214784"/>
                </a:lnTo>
                <a:lnTo>
                  <a:pt x="33299" y="177225"/>
                </a:lnTo>
                <a:lnTo>
                  <a:pt x="44108" y="111331"/>
                </a:lnTo>
                <a:lnTo>
                  <a:pt x="65649" y="58938"/>
                </a:lnTo>
                <a:lnTo>
                  <a:pt x="97467" y="24471"/>
                </a:lnTo>
                <a:lnTo>
                  <a:pt x="117201" y="14237"/>
                </a:lnTo>
                <a:lnTo>
                  <a:pt x="1128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54248" y="2049779"/>
            <a:ext cx="28816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8760" algn="l"/>
              </a:tabLst>
            </a:pPr>
            <a:r>
              <a:rPr dirty="0" sz="2000" spc="-409">
                <a:latin typeface="Cambria Math"/>
                <a:cs typeface="Cambria Math"/>
              </a:rPr>
              <a:t>0</a:t>
            </a:r>
            <a:r>
              <a:rPr dirty="0" sz="2000" spc="-409">
                <a:latin typeface="Cambria Math"/>
                <a:cs typeface="Cambria Math"/>
              </a:rPr>
              <a:t>	</a:t>
            </a:r>
            <a:r>
              <a:rPr dirty="0" sz="2000" spc="-409"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8595" y="1676908"/>
            <a:ext cx="24834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5793" sz="4200" spc="-172">
                <a:latin typeface="Cambria Math"/>
                <a:cs typeface="Cambria Math"/>
              </a:rPr>
              <a:t>𝑊</a:t>
            </a:r>
            <a:r>
              <a:rPr dirty="0" baseline="-8333" sz="3000" spc="-172">
                <a:latin typeface="Cambria Math"/>
                <a:cs typeface="Cambria Math"/>
              </a:rPr>
              <a:t>1  </a:t>
            </a:r>
            <a:r>
              <a:rPr dirty="0" baseline="-25793" sz="4200" spc="225">
                <a:latin typeface="Cambria Math"/>
                <a:cs typeface="Cambria Math"/>
              </a:rPr>
              <a:t>⊗</a:t>
            </a:r>
            <a:r>
              <a:rPr dirty="0" baseline="-8333" sz="3000" spc="225">
                <a:latin typeface="Cambria Math"/>
                <a:cs typeface="Cambria Math"/>
              </a:rPr>
              <a:t>&amp;</a:t>
            </a:r>
            <a:r>
              <a:rPr dirty="0" baseline="-22875" sz="2550" spc="225">
                <a:latin typeface="Cambria Math"/>
                <a:cs typeface="Cambria Math"/>
              </a:rPr>
              <a:t>!"#</a:t>
            </a:r>
            <a:r>
              <a:rPr dirty="0" baseline="-22875" sz="2550" spc="0">
                <a:latin typeface="Cambria Math"/>
                <a:cs typeface="Cambria Math"/>
              </a:rPr>
              <a:t> </a:t>
            </a:r>
            <a:r>
              <a:rPr dirty="0" baseline="-25793" sz="4200" spc="60">
                <a:latin typeface="Cambria Math"/>
                <a:cs typeface="Cambria Math"/>
              </a:rPr>
              <a:t>𝒙</a:t>
            </a:r>
            <a:r>
              <a:rPr dirty="0" sz="2000" spc="40">
                <a:latin typeface="Cambria Math"/>
                <a:cs typeface="Cambria Math"/>
              </a:rPr>
              <a:t>12%,-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1221" y="1768347"/>
            <a:ext cx="13436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1904" sz="4200" spc="225">
                <a:latin typeface="Cambria Math"/>
                <a:cs typeface="Cambria Math"/>
              </a:rPr>
              <a:t>⊕</a:t>
            </a:r>
            <a:r>
              <a:rPr dirty="0" baseline="12500" sz="3000" spc="225">
                <a:latin typeface="Cambria Math"/>
                <a:cs typeface="Cambria Math"/>
              </a:rPr>
              <a:t>&amp;</a:t>
            </a:r>
            <a:r>
              <a:rPr dirty="0" sz="1700" spc="150">
                <a:latin typeface="Cambria Math"/>
                <a:cs typeface="Cambria Math"/>
              </a:rPr>
              <a:t>!"#</a:t>
            </a:r>
            <a:r>
              <a:rPr dirty="0" sz="1700" spc="25">
                <a:latin typeface="Cambria Math"/>
                <a:cs typeface="Cambria Math"/>
              </a:rPr>
              <a:t> </a:t>
            </a:r>
            <a:r>
              <a:rPr dirty="0" baseline="-11904" sz="4200" spc="-307">
                <a:latin typeface="Cambria Math"/>
                <a:cs typeface="Cambria Math"/>
              </a:rPr>
              <a:t>𝒃</a:t>
            </a:r>
            <a:r>
              <a:rPr dirty="0" baseline="12500" sz="3000" spc="-307">
                <a:latin typeface="Cambria Math"/>
                <a:cs typeface="Cambria Math"/>
              </a:rPr>
              <a:t>1</a:t>
            </a:r>
            <a:endParaRPr baseline="12500" sz="3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1690" y="2501900"/>
            <a:ext cx="160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5">
                <a:solidFill>
                  <a:srgbClr val="D60093"/>
                </a:solidFill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563" y="2364739"/>
            <a:ext cx="7089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orbel"/>
                <a:cs typeface="Corbel"/>
              </a:rPr>
              <a:t>Hyperbolic linear: </a:t>
            </a:r>
            <a:r>
              <a:rPr dirty="0" sz="2400">
                <a:latin typeface="Cambria Math"/>
                <a:cs typeface="Cambria Math"/>
              </a:rPr>
              <a:t>𝑊 </a:t>
            </a:r>
            <a:r>
              <a:rPr dirty="0" sz="2400" spc="140">
                <a:latin typeface="Cambria Math"/>
                <a:cs typeface="Cambria Math"/>
              </a:rPr>
              <a:t>⊗</a:t>
            </a:r>
            <a:r>
              <a:rPr dirty="0" baseline="27777" sz="2700" spc="209">
                <a:latin typeface="Cambria Math"/>
                <a:cs typeface="Cambria Math"/>
              </a:rPr>
              <a:t>4  </a:t>
            </a:r>
            <a:r>
              <a:rPr dirty="0" sz="2400">
                <a:latin typeface="Cambria Math"/>
                <a:cs typeface="Cambria Math"/>
              </a:rPr>
              <a:t>𝒙</a:t>
            </a:r>
            <a:r>
              <a:rPr dirty="0" baseline="27777" sz="2700">
                <a:solidFill>
                  <a:srgbClr val="FFC000"/>
                </a:solidFill>
                <a:latin typeface="Cambria Math"/>
                <a:cs typeface="Cambria Math"/>
              </a:rPr>
              <a:t>5</a:t>
            </a:r>
            <a:r>
              <a:rPr dirty="0" baseline="27777" sz="2700">
                <a:latin typeface="Cambria Math"/>
                <a:cs typeface="Cambria Math"/>
              </a:rPr>
              <a:t>,</a:t>
            </a:r>
            <a:r>
              <a:rPr dirty="0" baseline="27777" sz="2700">
                <a:solidFill>
                  <a:srgbClr val="0432FF"/>
                </a:solidFill>
                <a:latin typeface="Cambria Math"/>
                <a:cs typeface="Cambria Math"/>
              </a:rPr>
              <a:t>6  </a:t>
            </a:r>
            <a:r>
              <a:rPr dirty="0" sz="2400">
                <a:latin typeface="Cambria Math"/>
                <a:cs typeface="Cambria Math"/>
              </a:rPr>
              <a:t>≔ </a:t>
            </a:r>
            <a:r>
              <a:rPr dirty="0" sz="2400" spc="50">
                <a:latin typeface="Cambria Math"/>
                <a:cs typeface="Cambria Math"/>
              </a:rPr>
              <a:t>exp</a:t>
            </a:r>
            <a:r>
              <a:rPr dirty="0" baseline="27777" sz="2700" spc="75">
                <a:solidFill>
                  <a:srgbClr val="D60093"/>
                </a:solidFill>
                <a:latin typeface="Cambria Math"/>
                <a:cs typeface="Cambria Math"/>
              </a:rPr>
              <a:t>4</a:t>
            </a:r>
            <a:r>
              <a:rPr dirty="0" sz="2400" spc="50">
                <a:latin typeface="Cambria Math"/>
                <a:cs typeface="Cambria Math"/>
              </a:rPr>
              <a:t>(𝑊</a:t>
            </a:r>
            <a:r>
              <a:rPr dirty="0" sz="2400" spc="-145">
                <a:latin typeface="Cambria Math"/>
                <a:cs typeface="Cambria Math"/>
              </a:rPr>
              <a:t> </a:t>
            </a:r>
            <a:r>
              <a:rPr dirty="0" sz="2400" spc="40">
                <a:latin typeface="Cambria Math"/>
                <a:cs typeface="Cambria Math"/>
              </a:rPr>
              <a:t>log</a:t>
            </a:r>
            <a:r>
              <a:rPr dirty="0" baseline="27777" sz="2700" spc="60">
                <a:solidFill>
                  <a:srgbClr val="D60093"/>
                </a:solidFill>
                <a:latin typeface="Cambria Math"/>
                <a:cs typeface="Cambria Math"/>
              </a:rPr>
              <a:t>4</a:t>
            </a:r>
            <a:r>
              <a:rPr dirty="0" sz="2400" spc="40">
                <a:latin typeface="Cambria Math"/>
                <a:cs typeface="Cambria Math"/>
              </a:rPr>
              <a:t>(𝒙</a:t>
            </a:r>
            <a:r>
              <a:rPr dirty="0" baseline="27777" sz="2700" spc="60">
                <a:solidFill>
                  <a:srgbClr val="FFC000"/>
                </a:solidFill>
                <a:latin typeface="Cambria Math"/>
                <a:cs typeface="Cambria Math"/>
              </a:rPr>
              <a:t>5</a:t>
            </a:r>
            <a:r>
              <a:rPr dirty="0" baseline="27777" sz="2700" spc="60">
                <a:latin typeface="Cambria Math"/>
                <a:cs typeface="Cambria Math"/>
              </a:rPr>
              <a:t>,</a:t>
            </a:r>
            <a:r>
              <a:rPr dirty="0" baseline="27777" sz="2700" spc="60">
                <a:solidFill>
                  <a:srgbClr val="0432FF"/>
                </a:solidFill>
                <a:latin typeface="Cambria Math"/>
                <a:cs typeface="Cambria Math"/>
              </a:rPr>
              <a:t>6</a:t>
            </a:r>
            <a:r>
              <a:rPr dirty="0" sz="2400" spc="40">
                <a:latin typeface="Cambria Math"/>
                <a:cs typeface="Cambria Math"/>
              </a:rPr>
              <a:t>))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607" y="2968243"/>
            <a:ext cx="316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061" sz="2700" spc="892">
                <a:latin typeface="Cambria Math"/>
                <a:cs typeface="Cambria Math"/>
              </a:rPr>
              <a:t>!</a:t>
            </a:r>
            <a:r>
              <a:rPr dirty="0" sz="1400" spc="760">
                <a:latin typeface="Cambria Math"/>
                <a:cs typeface="Cambria Math"/>
              </a:rPr>
              <a:t>!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91046" y="3050539"/>
            <a:ext cx="616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latin typeface="Cambria Math"/>
                <a:cs typeface="Cambria Math"/>
              </a:rPr>
              <a:t>7</a:t>
            </a:r>
            <a:r>
              <a:rPr dirty="0" sz="1800" spc="-50">
                <a:latin typeface="Cambria Math"/>
                <a:cs typeface="Cambria Math"/>
              </a:rPr>
              <a:t>→</a:t>
            </a:r>
            <a:r>
              <a:rPr dirty="0" sz="1800" spc="-30">
                <a:latin typeface="Cambria Math"/>
                <a:cs typeface="Cambria Math"/>
              </a:rPr>
              <a:t>𝒙</a:t>
            </a:r>
            <a:r>
              <a:rPr dirty="0" baseline="25793" sz="2100">
                <a:latin typeface="Cambria Math"/>
                <a:cs typeface="Cambria Math"/>
              </a:rPr>
              <a:t>𝑯</a:t>
            </a:r>
            <a:endParaRPr baseline="25793" sz="21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563" y="2858516"/>
            <a:ext cx="5365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400" spc="-5">
                <a:latin typeface="Corbel"/>
                <a:cs typeface="Corbel"/>
              </a:rPr>
              <a:t>Mobius addition: </a:t>
            </a:r>
            <a:r>
              <a:rPr dirty="0" sz="2400" spc="175">
                <a:latin typeface="Cambria Math"/>
                <a:cs typeface="Cambria Math"/>
              </a:rPr>
              <a:t>𝒙</a:t>
            </a:r>
            <a:r>
              <a:rPr dirty="0" baseline="26234" sz="2700" spc="262">
                <a:latin typeface="Cambria Math"/>
                <a:cs typeface="Cambria Math"/>
              </a:rPr>
              <a:t>6 </a:t>
            </a:r>
            <a:r>
              <a:rPr dirty="0" sz="2400" spc="140">
                <a:latin typeface="Cambria Math"/>
                <a:cs typeface="Cambria Math"/>
              </a:rPr>
              <a:t>⊕</a:t>
            </a:r>
            <a:r>
              <a:rPr dirty="0" baseline="26234" sz="2700" spc="209">
                <a:latin typeface="Cambria Math"/>
                <a:cs typeface="Cambria Math"/>
              </a:rPr>
              <a:t>4 </a:t>
            </a:r>
            <a:r>
              <a:rPr dirty="0" sz="2400">
                <a:latin typeface="Cambria Math"/>
                <a:cs typeface="Cambria Math"/>
              </a:rPr>
              <a:t>𝒃 ≔ </a:t>
            </a:r>
            <a:r>
              <a:rPr dirty="0" sz="2400" spc="60">
                <a:latin typeface="Cambria Math"/>
                <a:cs typeface="Cambria Math"/>
              </a:rPr>
              <a:t>exp</a:t>
            </a:r>
            <a:r>
              <a:rPr dirty="0" baseline="32407" sz="2700" spc="89">
                <a:solidFill>
                  <a:srgbClr val="D60093"/>
                </a:solidFill>
                <a:latin typeface="Cambria Math"/>
                <a:cs typeface="Cambria Math"/>
              </a:rPr>
              <a:t>4 </a:t>
            </a:r>
            <a:r>
              <a:rPr dirty="0" baseline="32407" sz="2700" spc="225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400" spc="110">
                <a:latin typeface="Cambria Math"/>
                <a:cs typeface="Cambria Math"/>
              </a:rPr>
              <a:t>(𝑃</a:t>
            </a:r>
            <a:r>
              <a:rPr dirty="0" baseline="32407" sz="2700" spc="165">
                <a:solidFill>
                  <a:srgbClr val="D60093"/>
                </a:solidFill>
                <a:latin typeface="Cambria Math"/>
                <a:cs typeface="Cambria Math"/>
              </a:rPr>
              <a:t>4</a:t>
            </a:r>
            <a:endParaRPr baseline="32407"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747818" y="2949338"/>
            <a:ext cx="385445" cy="282575"/>
          </a:xfrm>
          <a:custGeom>
            <a:avLst/>
            <a:gdLst/>
            <a:ahLst/>
            <a:cxnLst/>
            <a:rect l="l" t="t" r="r" b="b"/>
            <a:pathLst>
              <a:path w="385445" h="282575">
                <a:moveTo>
                  <a:pt x="295114" y="0"/>
                </a:moveTo>
                <a:lnTo>
                  <a:pt x="291096" y="11459"/>
                </a:lnTo>
                <a:lnTo>
                  <a:pt x="307439" y="18552"/>
                </a:lnTo>
                <a:lnTo>
                  <a:pt x="321494" y="28370"/>
                </a:lnTo>
                <a:lnTo>
                  <a:pt x="350032" y="73878"/>
                </a:lnTo>
                <a:lnTo>
                  <a:pt x="358366" y="115662"/>
                </a:lnTo>
                <a:lnTo>
                  <a:pt x="359408" y="139749"/>
                </a:lnTo>
                <a:lnTo>
                  <a:pt x="358362" y="164650"/>
                </a:lnTo>
                <a:lnTo>
                  <a:pt x="349990" y="207587"/>
                </a:lnTo>
                <a:lnTo>
                  <a:pt x="321512" y="253826"/>
                </a:lnTo>
                <a:lnTo>
                  <a:pt x="291542" y="270866"/>
                </a:lnTo>
                <a:lnTo>
                  <a:pt x="295114" y="282327"/>
                </a:lnTo>
                <a:lnTo>
                  <a:pt x="333623" y="264263"/>
                </a:lnTo>
                <a:lnTo>
                  <a:pt x="361938" y="232990"/>
                </a:lnTo>
                <a:lnTo>
                  <a:pt x="379351" y="191113"/>
                </a:lnTo>
                <a:lnTo>
                  <a:pt x="385155" y="141237"/>
                </a:lnTo>
                <a:lnTo>
                  <a:pt x="383699" y="115355"/>
                </a:lnTo>
                <a:lnTo>
                  <a:pt x="372053" y="69479"/>
                </a:lnTo>
                <a:lnTo>
                  <a:pt x="348957" y="32133"/>
                </a:lnTo>
                <a:lnTo>
                  <a:pt x="315583" y="7390"/>
                </a:lnTo>
                <a:lnTo>
                  <a:pt x="295114" y="0"/>
                </a:lnTo>
                <a:close/>
              </a:path>
              <a:path w="38544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72511" y="3844738"/>
            <a:ext cx="611505" cy="306070"/>
          </a:xfrm>
          <a:custGeom>
            <a:avLst/>
            <a:gdLst/>
            <a:ahLst/>
            <a:cxnLst/>
            <a:rect l="l" t="t" r="r" b="b"/>
            <a:pathLst>
              <a:path w="611504" h="306070">
                <a:moveTo>
                  <a:pt x="513906" y="0"/>
                </a:moveTo>
                <a:lnTo>
                  <a:pt x="509553" y="12414"/>
                </a:lnTo>
                <a:lnTo>
                  <a:pt x="527258" y="20098"/>
                </a:lnTo>
                <a:lnTo>
                  <a:pt x="542484" y="30734"/>
                </a:lnTo>
                <a:lnTo>
                  <a:pt x="573400" y="80035"/>
                </a:lnTo>
                <a:lnTo>
                  <a:pt x="582428" y="125301"/>
                </a:lnTo>
                <a:lnTo>
                  <a:pt x="583557" y="151395"/>
                </a:lnTo>
                <a:lnTo>
                  <a:pt x="582423" y="178370"/>
                </a:lnTo>
                <a:lnTo>
                  <a:pt x="573355" y="224885"/>
                </a:lnTo>
                <a:lnTo>
                  <a:pt x="555156" y="261213"/>
                </a:lnTo>
                <a:lnTo>
                  <a:pt x="510037" y="293438"/>
                </a:lnTo>
                <a:lnTo>
                  <a:pt x="513906" y="305854"/>
                </a:lnTo>
                <a:lnTo>
                  <a:pt x="555625" y="286284"/>
                </a:lnTo>
                <a:lnTo>
                  <a:pt x="586299" y="252406"/>
                </a:lnTo>
                <a:lnTo>
                  <a:pt x="605162" y="207039"/>
                </a:lnTo>
                <a:lnTo>
                  <a:pt x="611450" y="153007"/>
                </a:lnTo>
                <a:lnTo>
                  <a:pt x="609873" y="124968"/>
                </a:lnTo>
                <a:lnTo>
                  <a:pt x="597257" y="75269"/>
                </a:lnTo>
                <a:lnTo>
                  <a:pt x="572236" y="34810"/>
                </a:lnTo>
                <a:lnTo>
                  <a:pt x="536080" y="8006"/>
                </a:lnTo>
                <a:lnTo>
                  <a:pt x="513906" y="0"/>
                </a:lnTo>
                <a:close/>
              </a:path>
              <a:path w="611504" h="306070">
                <a:moveTo>
                  <a:pt x="97544" y="0"/>
                </a:moveTo>
                <a:lnTo>
                  <a:pt x="55927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8108" y="3747516"/>
            <a:ext cx="411416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  <a:tab pos="3061970" algn="l"/>
                <a:tab pos="3594735" algn="l"/>
              </a:tabLst>
            </a:pPr>
            <a:r>
              <a:rPr dirty="0" sz="2600" spc="-5" b="1">
                <a:solidFill>
                  <a:srgbClr val="C00000"/>
                </a:solidFill>
                <a:latin typeface="Corbel"/>
                <a:cs typeface="Corbel"/>
              </a:rPr>
              <a:t>Aggregation</a:t>
            </a:r>
            <a:r>
              <a:rPr dirty="0" sz="2600" spc="-5">
                <a:latin typeface="Calibri"/>
                <a:cs typeface="Calibri"/>
              </a:rPr>
              <a:t>: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5">
                <a:latin typeface="Cambria Math"/>
                <a:cs typeface="Cambria Math"/>
              </a:rPr>
              <a:t>𝐴𝐺𝐺	</a:t>
            </a:r>
            <a:r>
              <a:rPr dirty="0" sz="2600" spc="300">
                <a:latin typeface="Cambria Math"/>
                <a:cs typeface="Cambria Math"/>
              </a:rPr>
              <a:t>𝑥</a:t>
            </a:r>
            <a:r>
              <a:rPr dirty="0" baseline="27777" sz="2850" spc="450">
                <a:latin typeface="Cambria Math"/>
                <a:cs typeface="Cambria Math"/>
              </a:rPr>
              <a:t>$	</a:t>
            </a:r>
            <a:r>
              <a:rPr dirty="0" baseline="-16081" sz="2850" spc="-1537">
                <a:latin typeface="Cambria Math"/>
                <a:cs typeface="Cambria Math"/>
              </a:rPr>
              <a:t>%</a:t>
            </a:r>
            <a:r>
              <a:rPr dirty="0" baseline="-16081" sz="2850" spc="187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≔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9499" y="4517644"/>
            <a:ext cx="1022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>
                <a:solidFill>
                  <a:srgbClr val="00B050"/>
                </a:solidFill>
                <a:latin typeface="Cambria Math"/>
                <a:cs typeface="Cambria Math"/>
              </a:rPr>
              <a:t>"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3798" y="4351528"/>
            <a:ext cx="833119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30">
                <a:latin typeface="Cambria Math"/>
                <a:cs typeface="Cambria Math"/>
              </a:rPr>
              <a:t>(∈𝒩(%)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89300" y="4336288"/>
            <a:ext cx="2228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70">
                <a:latin typeface="Cambria Math"/>
                <a:cs typeface="Cambria Math"/>
              </a:rPr>
              <a:t>%(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42803" y="4517644"/>
            <a:ext cx="1022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0">
                <a:solidFill>
                  <a:srgbClr val="00B050"/>
                </a:solidFill>
                <a:latin typeface="Cambria Math"/>
                <a:cs typeface="Cambria Math"/>
              </a:rPr>
              <a:t>"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9799" y="4302760"/>
            <a:ext cx="289814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5560" algn="l"/>
              </a:tabLst>
            </a:pPr>
            <a:r>
              <a:rPr dirty="0" baseline="-24853" sz="2850">
                <a:solidFill>
                  <a:srgbClr val="00B050"/>
                </a:solidFill>
                <a:latin typeface="Cambria Math"/>
                <a:cs typeface="Cambria Math"/>
              </a:rPr>
              <a:t>𝒙</a:t>
            </a:r>
            <a:r>
              <a:rPr dirty="0" sz="1600" spc="335">
                <a:solidFill>
                  <a:srgbClr val="00B050"/>
                </a:solidFill>
                <a:latin typeface="Cambria Math"/>
                <a:cs typeface="Cambria Math"/>
              </a:rPr>
              <a:t>#</a:t>
            </a:r>
            <a:r>
              <a:rPr dirty="0" sz="1600" spc="335">
                <a:solidFill>
                  <a:srgbClr val="00B050"/>
                </a:solidFill>
                <a:latin typeface="Cambria Math"/>
                <a:cs typeface="Cambria Math"/>
              </a:rPr>
              <a:t>	</a:t>
            </a:r>
            <a:r>
              <a:rPr dirty="0" baseline="-24853" sz="2850" spc="502">
                <a:solidFill>
                  <a:srgbClr val="00B050"/>
                </a:solidFill>
                <a:latin typeface="Cambria Math"/>
                <a:cs typeface="Cambria Math"/>
              </a:rPr>
              <a:t>𝒙</a:t>
            </a:r>
            <a:r>
              <a:rPr dirty="0" sz="1600" spc="335">
                <a:solidFill>
                  <a:srgbClr val="00B050"/>
                </a:solidFill>
                <a:latin typeface="Cambria Math"/>
                <a:cs typeface="Cambria Math"/>
              </a:rPr>
              <a:t>#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38149" y="4180332"/>
            <a:ext cx="42208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9790" algn="l"/>
                <a:tab pos="2637155" algn="l"/>
              </a:tabLst>
            </a:pPr>
            <a:r>
              <a:rPr dirty="0" sz="2600" spc="215">
                <a:latin typeface="Cambria Math"/>
                <a:cs typeface="Cambria Math"/>
              </a:rPr>
              <a:t>exp</a:t>
            </a:r>
            <a:r>
              <a:rPr dirty="0" baseline="33625" sz="2850" spc="322">
                <a:solidFill>
                  <a:srgbClr val="D60093"/>
                </a:solidFill>
                <a:latin typeface="Cambria Math"/>
                <a:cs typeface="Cambria Math"/>
              </a:rPr>
              <a:t>'</a:t>
            </a:r>
            <a:r>
              <a:rPr dirty="0" baseline="33625" sz="2850" spc="697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(</a:t>
            </a:r>
            <a:r>
              <a:rPr dirty="0" sz="2600" spc="-145">
                <a:latin typeface="Cambria Math"/>
                <a:cs typeface="Cambria Math"/>
              </a:rPr>
              <a:t> </a:t>
            </a:r>
            <a:r>
              <a:rPr dirty="0" baseline="2136" sz="3900">
                <a:latin typeface="Cambria Math"/>
                <a:cs typeface="Cambria Math"/>
              </a:rPr>
              <a:t>∑	</a:t>
            </a:r>
            <a:r>
              <a:rPr dirty="0" sz="2600">
                <a:latin typeface="Cambria Math"/>
                <a:cs typeface="Cambria Math"/>
              </a:rPr>
              <a:t>𝑤	</a:t>
            </a:r>
            <a:r>
              <a:rPr dirty="0" sz="2600" spc="240">
                <a:latin typeface="Cambria Math"/>
                <a:cs typeface="Cambria Math"/>
              </a:rPr>
              <a:t>log</a:t>
            </a:r>
            <a:r>
              <a:rPr dirty="0" baseline="33625" sz="2850" spc="359">
                <a:solidFill>
                  <a:srgbClr val="D60093"/>
                </a:solidFill>
                <a:latin typeface="Cambria Math"/>
                <a:cs typeface="Cambria Math"/>
              </a:rPr>
              <a:t>'</a:t>
            </a:r>
            <a:r>
              <a:rPr dirty="0" baseline="33625" sz="2850" spc="600">
                <a:solidFill>
                  <a:srgbClr val="D60093"/>
                </a:solidFill>
                <a:latin typeface="Cambria Math"/>
                <a:cs typeface="Cambria Math"/>
              </a:rPr>
              <a:t> </a:t>
            </a:r>
            <a:r>
              <a:rPr dirty="0" sz="2600" spc="105">
                <a:latin typeface="Cambria Math"/>
                <a:cs typeface="Cambria Math"/>
              </a:rPr>
              <a:t>(𝒙</a:t>
            </a:r>
            <a:r>
              <a:rPr dirty="0" baseline="30701" sz="2850" spc="157">
                <a:latin typeface="Cambria Math"/>
                <a:cs typeface="Cambria Math"/>
              </a:rPr>
              <a:t>$</a:t>
            </a:r>
            <a:r>
              <a:rPr dirty="0" sz="2600" spc="105">
                <a:latin typeface="Cambria Math"/>
                <a:cs typeface="Cambria Math"/>
              </a:rPr>
              <a:t>))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8108" y="5158740"/>
            <a:ext cx="33966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769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600" spc="-5" b="1">
                <a:solidFill>
                  <a:srgbClr val="B48200"/>
                </a:solidFill>
                <a:latin typeface="Corbel"/>
                <a:cs typeface="Corbel"/>
              </a:rPr>
              <a:t>Update</a:t>
            </a:r>
            <a:r>
              <a:rPr dirty="0" sz="2600" spc="-5">
                <a:latin typeface="Corbel"/>
                <a:cs typeface="Corbel"/>
              </a:rPr>
              <a:t>:</a:t>
            </a:r>
            <a:r>
              <a:rPr dirty="0" sz="2600">
                <a:latin typeface="Corbel"/>
                <a:cs typeface="Corbel"/>
              </a:rPr>
              <a:t> </a:t>
            </a:r>
            <a:r>
              <a:rPr dirty="0" sz="2600" spc="65">
                <a:latin typeface="Cambria Math"/>
                <a:cs typeface="Cambria Math"/>
              </a:rPr>
              <a:t>Update</a:t>
            </a:r>
            <a:r>
              <a:rPr dirty="0" baseline="27777" sz="2850" spc="97">
                <a:solidFill>
                  <a:srgbClr val="7030A0"/>
                </a:solidFill>
                <a:latin typeface="Cambria Math"/>
                <a:cs typeface="Cambria Math"/>
              </a:rPr>
              <a:t>'</a:t>
            </a:r>
            <a:r>
              <a:rPr dirty="0" baseline="19097" sz="2400" spc="97">
                <a:solidFill>
                  <a:srgbClr val="7030A0"/>
                </a:solidFill>
                <a:latin typeface="Cambria Math"/>
                <a:cs typeface="Cambria Math"/>
              </a:rPr>
              <a:t>$%&amp;</a:t>
            </a:r>
            <a:r>
              <a:rPr dirty="0" baseline="27777" sz="2850" spc="97">
                <a:latin typeface="Cambria Math"/>
                <a:cs typeface="Cambria Math"/>
              </a:rPr>
              <a:t>,</a:t>
            </a:r>
            <a:r>
              <a:rPr dirty="0" baseline="27777" sz="2850" spc="97">
                <a:solidFill>
                  <a:srgbClr val="D60093"/>
                </a:solidFill>
                <a:latin typeface="Cambria Math"/>
                <a:cs typeface="Cambria Math"/>
              </a:rPr>
              <a:t>'</a:t>
            </a:r>
            <a:r>
              <a:rPr dirty="0" baseline="19097" sz="2400" spc="97">
                <a:solidFill>
                  <a:srgbClr val="D60093"/>
                </a:solidFill>
                <a:latin typeface="Cambria Math"/>
                <a:cs typeface="Cambria Math"/>
              </a:rPr>
              <a:t>$</a:t>
            </a:r>
            <a:endParaRPr baseline="19097"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051999" y="5254438"/>
            <a:ext cx="608330" cy="306070"/>
          </a:xfrm>
          <a:custGeom>
            <a:avLst/>
            <a:gdLst/>
            <a:ahLst/>
            <a:cxnLst/>
            <a:rect l="l" t="t" r="r" b="b"/>
            <a:pathLst>
              <a:path w="608329" h="306070">
                <a:moveTo>
                  <a:pt x="510160" y="0"/>
                </a:moveTo>
                <a:lnTo>
                  <a:pt x="505806" y="12414"/>
                </a:lnTo>
                <a:lnTo>
                  <a:pt x="523511" y="20097"/>
                </a:lnTo>
                <a:lnTo>
                  <a:pt x="538738" y="30733"/>
                </a:lnTo>
                <a:lnTo>
                  <a:pt x="569654" y="80034"/>
                </a:lnTo>
                <a:lnTo>
                  <a:pt x="578682" y="125300"/>
                </a:lnTo>
                <a:lnTo>
                  <a:pt x="579810" y="151395"/>
                </a:lnTo>
                <a:lnTo>
                  <a:pt x="578677" y="178370"/>
                </a:lnTo>
                <a:lnTo>
                  <a:pt x="569608" y="224885"/>
                </a:lnTo>
                <a:lnTo>
                  <a:pt x="551409" y="261212"/>
                </a:lnTo>
                <a:lnTo>
                  <a:pt x="506290" y="293438"/>
                </a:lnTo>
                <a:lnTo>
                  <a:pt x="510160" y="305854"/>
                </a:lnTo>
                <a:lnTo>
                  <a:pt x="551878" y="286284"/>
                </a:lnTo>
                <a:lnTo>
                  <a:pt x="582552" y="252406"/>
                </a:lnTo>
                <a:lnTo>
                  <a:pt x="601416" y="207039"/>
                </a:lnTo>
                <a:lnTo>
                  <a:pt x="607703" y="153007"/>
                </a:lnTo>
                <a:lnTo>
                  <a:pt x="606126" y="124968"/>
                </a:lnTo>
                <a:lnTo>
                  <a:pt x="593511" y="75268"/>
                </a:lnTo>
                <a:lnTo>
                  <a:pt x="568490" y="34809"/>
                </a:lnTo>
                <a:lnTo>
                  <a:pt x="532334" y="8005"/>
                </a:lnTo>
                <a:lnTo>
                  <a:pt x="510160" y="0"/>
                </a:lnTo>
                <a:close/>
              </a:path>
              <a:path w="608329" h="306070">
                <a:moveTo>
                  <a:pt x="97544" y="0"/>
                </a:moveTo>
                <a:lnTo>
                  <a:pt x="55926" y="19608"/>
                </a:lnTo>
                <a:lnTo>
                  <a:pt x="25232" y="53607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7"/>
                </a:lnTo>
                <a:lnTo>
                  <a:pt x="46031" y="244424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47311" y="5036820"/>
            <a:ext cx="3975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0299" sz="3900">
                <a:latin typeface="Cambria Math"/>
                <a:cs typeface="Cambria Math"/>
              </a:rPr>
              <a:t>𝒙</a:t>
            </a:r>
            <a:r>
              <a:rPr dirty="0" sz="1900" spc="459">
                <a:latin typeface="Cambria Math"/>
                <a:cs typeface="Cambria Math"/>
              </a:rPr>
              <a:t>$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69026" y="5329935"/>
            <a:ext cx="1651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ambria Math"/>
                <a:cs typeface="Cambria Math"/>
              </a:rPr>
              <a:t>𝒐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69026" y="5070855"/>
            <a:ext cx="19939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910">
                <a:solidFill>
                  <a:srgbClr val="D60093"/>
                </a:solidFill>
                <a:latin typeface="Cambria Math"/>
                <a:cs typeface="Cambria Math"/>
              </a:rPr>
              <a:t>'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42063" y="5160772"/>
            <a:ext cx="1028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4">
                <a:solidFill>
                  <a:srgbClr val="D60093"/>
                </a:solidFill>
                <a:latin typeface="Cambria Math"/>
                <a:cs typeface="Cambria Math"/>
              </a:rPr>
              <a:t>$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320346" y="5207877"/>
            <a:ext cx="2017395" cy="399415"/>
          </a:xfrm>
          <a:custGeom>
            <a:avLst/>
            <a:gdLst/>
            <a:ahLst/>
            <a:cxnLst/>
            <a:rect l="l" t="t" r="r" b="b"/>
            <a:pathLst>
              <a:path w="2017395" h="399414">
                <a:moveTo>
                  <a:pt x="1912459" y="0"/>
                </a:moveTo>
                <a:lnTo>
                  <a:pt x="1908429" y="13220"/>
                </a:lnTo>
                <a:lnTo>
                  <a:pt x="1926754" y="22723"/>
                </a:lnTo>
                <a:lnTo>
                  <a:pt x="1942711" y="36559"/>
                </a:lnTo>
                <a:lnTo>
                  <a:pt x="1967520" y="77229"/>
                </a:lnTo>
                <a:lnTo>
                  <a:pt x="1982575" y="132491"/>
                </a:lnTo>
                <a:lnTo>
                  <a:pt x="1987593" y="199603"/>
                </a:lnTo>
                <a:lnTo>
                  <a:pt x="1986338" y="234565"/>
                </a:lnTo>
                <a:lnTo>
                  <a:pt x="1976302" y="295631"/>
                </a:lnTo>
                <a:lnTo>
                  <a:pt x="1956300" y="344201"/>
                </a:lnTo>
                <a:lnTo>
                  <a:pt x="1926754" y="376165"/>
                </a:lnTo>
                <a:lnTo>
                  <a:pt x="1908429" y="385663"/>
                </a:lnTo>
                <a:lnTo>
                  <a:pt x="1912459" y="398884"/>
                </a:lnTo>
                <a:lnTo>
                  <a:pt x="1956999" y="375143"/>
                </a:lnTo>
                <a:lnTo>
                  <a:pt x="1990012" y="330361"/>
                </a:lnTo>
                <a:lnTo>
                  <a:pt x="2010448" y="269980"/>
                </a:lnTo>
                <a:lnTo>
                  <a:pt x="2017260" y="199442"/>
                </a:lnTo>
                <a:lnTo>
                  <a:pt x="2015557" y="162903"/>
                </a:lnTo>
                <a:lnTo>
                  <a:pt x="2001933" y="97443"/>
                </a:lnTo>
                <a:lnTo>
                  <a:pt x="1974947" y="43501"/>
                </a:lnTo>
                <a:lnTo>
                  <a:pt x="1936170" y="9240"/>
                </a:lnTo>
                <a:lnTo>
                  <a:pt x="1912459" y="0"/>
                </a:lnTo>
                <a:close/>
              </a:path>
              <a:path w="2017395" h="399414">
                <a:moveTo>
                  <a:pt x="104800" y="0"/>
                </a:moveTo>
                <a:lnTo>
                  <a:pt x="60260" y="23741"/>
                </a:lnTo>
                <a:lnTo>
                  <a:pt x="27247" y="68522"/>
                </a:lnTo>
                <a:lnTo>
                  <a:pt x="6812" y="128903"/>
                </a:lnTo>
                <a:lnTo>
                  <a:pt x="0" y="199442"/>
                </a:lnTo>
                <a:lnTo>
                  <a:pt x="1703" y="235980"/>
                </a:lnTo>
                <a:lnTo>
                  <a:pt x="15327" y="301440"/>
                </a:lnTo>
                <a:lnTo>
                  <a:pt x="42313" y="355382"/>
                </a:lnTo>
                <a:lnTo>
                  <a:pt x="81089" y="389643"/>
                </a:lnTo>
                <a:lnTo>
                  <a:pt x="104800" y="398884"/>
                </a:lnTo>
                <a:lnTo>
                  <a:pt x="108831" y="385663"/>
                </a:lnTo>
                <a:lnTo>
                  <a:pt x="90506" y="376165"/>
                </a:lnTo>
                <a:lnTo>
                  <a:pt x="74549" y="362345"/>
                </a:lnTo>
                <a:lnTo>
                  <a:pt x="49739" y="321735"/>
                </a:lnTo>
                <a:lnTo>
                  <a:pt x="34685" y="266574"/>
                </a:lnTo>
                <a:lnTo>
                  <a:pt x="29672" y="199442"/>
                </a:lnTo>
                <a:lnTo>
                  <a:pt x="30921" y="164565"/>
                </a:lnTo>
                <a:lnTo>
                  <a:pt x="40957" y="103379"/>
                </a:lnTo>
                <a:lnTo>
                  <a:pt x="60960" y="54727"/>
                </a:lnTo>
                <a:lnTo>
                  <a:pt x="90506" y="22723"/>
                </a:lnTo>
                <a:lnTo>
                  <a:pt x="108831" y="13220"/>
                </a:lnTo>
                <a:lnTo>
                  <a:pt x="1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767707" y="5158740"/>
            <a:ext cx="21107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4910" algn="l"/>
                <a:tab pos="1671320" algn="l"/>
              </a:tabLst>
            </a:pPr>
            <a:r>
              <a:rPr dirty="0" sz="2600">
                <a:latin typeface="Cambria Math"/>
                <a:cs typeface="Cambria Math"/>
              </a:rPr>
              <a:t>≔</a:t>
            </a:r>
            <a:r>
              <a:rPr dirty="0" sz="2600" spc="135">
                <a:latin typeface="Cambria Math"/>
                <a:cs typeface="Cambria Math"/>
              </a:rPr>
              <a:t> </a:t>
            </a:r>
            <a:r>
              <a:rPr dirty="0" sz="2600" spc="-35">
                <a:latin typeface="Cambria Math"/>
                <a:cs typeface="Cambria Math"/>
              </a:rPr>
              <a:t>e</a:t>
            </a:r>
            <a:r>
              <a:rPr dirty="0" sz="2600" spc="0">
                <a:latin typeface="Cambria Math"/>
                <a:cs typeface="Cambria Math"/>
              </a:rPr>
              <a:t>x</a:t>
            </a:r>
            <a:r>
              <a:rPr dirty="0" sz="2600">
                <a:latin typeface="Cambria Math"/>
                <a:cs typeface="Cambria Math"/>
              </a:rPr>
              <a:t>p	</a:t>
            </a:r>
            <a:r>
              <a:rPr dirty="0" sz="2600" spc="-5">
                <a:latin typeface="Cambria Math"/>
                <a:cs typeface="Cambria Math"/>
              </a:rPr>
              <a:t>(</a:t>
            </a:r>
            <a:r>
              <a:rPr dirty="0" sz="2600">
                <a:latin typeface="Cambria Math"/>
                <a:cs typeface="Cambria Math"/>
              </a:rPr>
              <a:t>𝜎	</a:t>
            </a:r>
            <a:r>
              <a:rPr dirty="0" sz="2600" spc="-10">
                <a:latin typeface="Cambria Math"/>
                <a:cs typeface="Cambria Math"/>
              </a:rPr>
              <a:t>log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66890" y="5329935"/>
            <a:ext cx="16510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Cambria Math"/>
                <a:cs typeface="Cambria Math"/>
              </a:rPr>
              <a:t>𝒐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66890" y="5070855"/>
            <a:ext cx="19939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910">
                <a:solidFill>
                  <a:srgbClr val="7030A0"/>
                </a:solidFill>
                <a:latin typeface="Cambria Math"/>
                <a:cs typeface="Cambria Math"/>
              </a:rPr>
              <a:t>'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39926" y="5160772"/>
            <a:ext cx="368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29">
                <a:solidFill>
                  <a:srgbClr val="7030A0"/>
                </a:solidFill>
                <a:latin typeface="Cambria Math"/>
                <a:cs typeface="Cambria Math"/>
              </a:rPr>
              <a:t>$</a:t>
            </a:r>
            <a:r>
              <a:rPr dirty="0" sz="1600" spc="-265">
                <a:solidFill>
                  <a:srgbClr val="7030A0"/>
                </a:solidFill>
                <a:latin typeface="Cambria Math"/>
                <a:cs typeface="Cambria Math"/>
              </a:rPr>
              <a:t>%</a:t>
            </a:r>
            <a:r>
              <a:rPr dirty="0" sz="1600" spc="-150">
                <a:solidFill>
                  <a:srgbClr val="7030A0"/>
                </a:solidFill>
                <a:latin typeface="Cambria Math"/>
                <a:cs typeface="Cambria Math"/>
              </a:rPr>
              <a:t>&amp;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45058" y="5254438"/>
            <a:ext cx="608330" cy="306070"/>
          </a:xfrm>
          <a:custGeom>
            <a:avLst/>
            <a:gdLst/>
            <a:ahLst/>
            <a:cxnLst/>
            <a:rect l="l" t="t" r="r" b="b"/>
            <a:pathLst>
              <a:path w="608329" h="306070">
                <a:moveTo>
                  <a:pt x="510160" y="0"/>
                </a:moveTo>
                <a:lnTo>
                  <a:pt x="505806" y="12414"/>
                </a:lnTo>
                <a:lnTo>
                  <a:pt x="523511" y="20097"/>
                </a:lnTo>
                <a:lnTo>
                  <a:pt x="538737" y="30733"/>
                </a:lnTo>
                <a:lnTo>
                  <a:pt x="569653" y="80034"/>
                </a:lnTo>
                <a:lnTo>
                  <a:pt x="578682" y="125300"/>
                </a:lnTo>
                <a:lnTo>
                  <a:pt x="579810" y="151395"/>
                </a:lnTo>
                <a:lnTo>
                  <a:pt x="578677" y="178370"/>
                </a:lnTo>
                <a:lnTo>
                  <a:pt x="569608" y="224885"/>
                </a:lnTo>
                <a:lnTo>
                  <a:pt x="551409" y="261212"/>
                </a:lnTo>
                <a:lnTo>
                  <a:pt x="506290" y="293438"/>
                </a:lnTo>
                <a:lnTo>
                  <a:pt x="510160" y="305854"/>
                </a:lnTo>
                <a:lnTo>
                  <a:pt x="551878" y="286284"/>
                </a:lnTo>
                <a:lnTo>
                  <a:pt x="582552" y="252406"/>
                </a:lnTo>
                <a:lnTo>
                  <a:pt x="601416" y="207039"/>
                </a:lnTo>
                <a:lnTo>
                  <a:pt x="607703" y="153007"/>
                </a:lnTo>
                <a:lnTo>
                  <a:pt x="606126" y="124968"/>
                </a:lnTo>
                <a:lnTo>
                  <a:pt x="593510" y="75268"/>
                </a:lnTo>
                <a:lnTo>
                  <a:pt x="568489" y="34809"/>
                </a:lnTo>
                <a:lnTo>
                  <a:pt x="532334" y="8005"/>
                </a:lnTo>
                <a:lnTo>
                  <a:pt x="510160" y="0"/>
                </a:lnTo>
                <a:close/>
              </a:path>
              <a:path w="608329" h="306070">
                <a:moveTo>
                  <a:pt x="97544" y="0"/>
                </a:moveTo>
                <a:lnTo>
                  <a:pt x="55926" y="19608"/>
                </a:lnTo>
                <a:lnTo>
                  <a:pt x="25232" y="53607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3"/>
                </a:lnTo>
                <a:lnTo>
                  <a:pt x="75305" y="297857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7"/>
                </a:lnTo>
                <a:lnTo>
                  <a:pt x="46031" y="244424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0"/>
                </a:lnTo>
                <a:lnTo>
                  <a:pt x="38095" y="80034"/>
                </a:lnTo>
                <a:lnTo>
                  <a:pt x="56325" y="44322"/>
                </a:lnTo>
                <a:lnTo>
                  <a:pt x="101898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7540369" y="5158740"/>
            <a:ext cx="69151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225">
                <a:latin typeface="Cambria Math"/>
                <a:cs typeface="Cambria Math"/>
              </a:rPr>
              <a:t>𝒙</a:t>
            </a:r>
            <a:r>
              <a:rPr dirty="0" baseline="27777" sz="2850" spc="337">
                <a:latin typeface="Cambria Math"/>
                <a:cs typeface="Cambria Math"/>
              </a:rPr>
              <a:t>$</a:t>
            </a:r>
            <a:r>
              <a:rPr dirty="0" baseline="27777" sz="2850" spc="577">
                <a:latin typeface="Cambria Math"/>
                <a:cs typeface="Cambria Math"/>
              </a:rPr>
              <a:t> </a:t>
            </a:r>
            <a:r>
              <a:rPr dirty="0" sz="2600">
                <a:latin typeface="Cambria Math"/>
                <a:cs typeface="Cambria Math"/>
              </a:rPr>
              <a:t>)</a:t>
            </a:r>
            <a:endParaRPr sz="26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108292" y="3830175"/>
            <a:ext cx="2826188" cy="369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759246" y="2440177"/>
            <a:ext cx="1752600" cy="129413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 marR="1168400">
              <a:lnSpc>
                <a:spcPct val="100000"/>
              </a:lnSpc>
              <a:spcBef>
                <a:spcPts val="585"/>
              </a:spcBef>
            </a:pPr>
            <a:r>
              <a:rPr dirty="0" sz="1800" spc="55">
                <a:solidFill>
                  <a:srgbClr val="D60093"/>
                </a:solidFill>
                <a:latin typeface="Cambria Math"/>
                <a:cs typeface="Cambria Math"/>
              </a:rPr>
              <a:t>7</a:t>
            </a:r>
            <a:endParaRPr sz="1800">
              <a:latin typeface="Cambria Math"/>
              <a:cs typeface="Cambria Math"/>
            </a:endParaRPr>
          </a:p>
          <a:p>
            <a:pPr algn="ctr" marR="1129030">
              <a:lnSpc>
                <a:spcPct val="100000"/>
              </a:lnSpc>
              <a:spcBef>
                <a:spcPts val="645"/>
              </a:spcBef>
              <a:tabLst>
                <a:tab pos="311785" algn="l"/>
              </a:tabLst>
            </a:pPr>
            <a:r>
              <a:rPr dirty="0" sz="2400">
                <a:latin typeface="Cambria Math"/>
                <a:cs typeface="Cambria Math"/>
              </a:rPr>
              <a:t>𝒃	)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Parallel</a:t>
            </a:r>
            <a:r>
              <a:rPr dirty="0" sz="1800" spc="-185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1800" spc="-20" b="1">
                <a:solidFill>
                  <a:srgbClr val="008000"/>
                </a:solidFill>
                <a:latin typeface="Corbel"/>
                <a:cs typeface="Corbel"/>
              </a:rPr>
              <a:t>Transport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03172" y="4220982"/>
            <a:ext cx="559435" cy="489584"/>
          </a:xfrm>
          <a:custGeom>
            <a:avLst/>
            <a:gdLst/>
            <a:ahLst/>
            <a:cxnLst/>
            <a:rect l="l" t="t" r="r" b="b"/>
            <a:pathLst>
              <a:path w="559435" h="489585">
                <a:moveTo>
                  <a:pt x="464940" y="0"/>
                </a:moveTo>
                <a:lnTo>
                  <a:pt x="92231" y="96"/>
                </a:lnTo>
                <a:lnTo>
                  <a:pt x="41940" y="15731"/>
                </a:lnTo>
                <a:lnTo>
                  <a:pt x="7524" y="56979"/>
                </a:lnTo>
                <a:lnTo>
                  <a:pt x="0" y="396888"/>
                </a:lnTo>
                <a:lnTo>
                  <a:pt x="1656" y="413310"/>
                </a:lnTo>
                <a:lnTo>
                  <a:pt x="27054" y="461204"/>
                </a:lnTo>
                <a:lnTo>
                  <a:pt x="74557" y="487210"/>
                </a:lnTo>
                <a:lnTo>
                  <a:pt x="94141" y="489215"/>
                </a:lnTo>
                <a:lnTo>
                  <a:pt x="466851" y="489120"/>
                </a:lnTo>
                <a:lnTo>
                  <a:pt x="517141" y="473483"/>
                </a:lnTo>
                <a:lnTo>
                  <a:pt x="525942" y="466375"/>
                </a:lnTo>
                <a:lnTo>
                  <a:pt x="94141" y="466355"/>
                </a:lnTo>
                <a:lnTo>
                  <a:pt x="79752" y="464886"/>
                </a:lnTo>
                <a:lnTo>
                  <a:pt x="43682" y="445437"/>
                </a:lnTo>
                <a:lnTo>
                  <a:pt x="24234" y="409367"/>
                </a:lnTo>
                <a:lnTo>
                  <a:pt x="22763" y="94236"/>
                </a:lnTo>
                <a:lnTo>
                  <a:pt x="24234" y="79847"/>
                </a:lnTo>
                <a:lnTo>
                  <a:pt x="43682" y="43778"/>
                </a:lnTo>
                <a:lnTo>
                  <a:pt x="79752" y="24329"/>
                </a:lnTo>
                <a:lnTo>
                  <a:pt x="94523" y="22840"/>
                </a:lnTo>
                <a:lnTo>
                  <a:pt x="525943" y="22840"/>
                </a:lnTo>
                <a:lnTo>
                  <a:pt x="518158" y="16417"/>
                </a:lnTo>
                <a:lnTo>
                  <a:pt x="483273" y="1751"/>
                </a:lnTo>
                <a:lnTo>
                  <a:pt x="464940" y="0"/>
                </a:lnTo>
                <a:close/>
              </a:path>
              <a:path w="559435" h="489585">
                <a:moveTo>
                  <a:pt x="525943" y="22840"/>
                </a:moveTo>
                <a:lnTo>
                  <a:pt x="94523" y="22840"/>
                </a:lnTo>
                <a:lnTo>
                  <a:pt x="464940" y="22859"/>
                </a:lnTo>
                <a:lnTo>
                  <a:pt x="479329" y="24329"/>
                </a:lnTo>
                <a:lnTo>
                  <a:pt x="515400" y="43778"/>
                </a:lnTo>
                <a:lnTo>
                  <a:pt x="534847" y="79847"/>
                </a:lnTo>
                <a:lnTo>
                  <a:pt x="536318" y="394978"/>
                </a:lnTo>
                <a:lnTo>
                  <a:pt x="534847" y="409367"/>
                </a:lnTo>
                <a:lnTo>
                  <a:pt x="515400" y="445437"/>
                </a:lnTo>
                <a:lnTo>
                  <a:pt x="479329" y="464886"/>
                </a:lnTo>
                <a:lnTo>
                  <a:pt x="464558" y="466375"/>
                </a:lnTo>
                <a:lnTo>
                  <a:pt x="525942" y="466375"/>
                </a:lnTo>
                <a:lnTo>
                  <a:pt x="551557" y="432236"/>
                </a:lnTo>
                <a:lnTo>
                  <a:pt x="559178" y="394978"/>
                </a:lnTo>
                <a:lnTo>
                  <a:pt x="559081" y="92326"/>
                </a:lnTo>
                <a:lnTo>
                  <a:pt x="543445" y="42035"/>
                </a:lnTo>
                <a:lnTo>
                  <a:pt x="531166" y="27150"/>
                </a:lnTo>
                <a:lnTo>
                  <a:pt x="525943" y="22840"/>
                </a:lnTo>
                <a:close/>
              </a:path>
              <a:path w="559435" h="489585">
                <a:moveTo>
                  <a:pt x="95288" y="30422"/>
                </a:moveTo>
                <a:lnTo>
                  <a:pt x="58526" y="41409"/>
                </a:lnTo>
                <a:lnTo>
                  <a:pt x="31738" y="81375"/>
                </a:lnTo>
                <a:lnTo>
                  <a:pt x="30383" y="94236"/>
                </a:lnTo>
                <a:lnTo>
                  <a:pt x="30441" y="394978"/>
                </a:lnTo>
                <a:lnTo>
                  <a:pt x="49095" y="440024"/>
                </a:lnTo>
                <a:lnTo>
                  <a:pt x="94141" y="458735"/>
                </a:lnTo>
                <a:lnTo>
                  <a:pt x="463793" y="458793"/>
                </a:lnTo>
                <a:lnTo>
                  <a:pt x="477803" y="457381"/>
                </a:lnTo>
                <a:lnTo>
                  <a:pt x="489743" y="453674"/>
                </a:lnTo>
                <a:lnTo>
                  <a:pt x="494280" y="451211"/>
                </a:lnTo>
                <a:lnTo>
                  <a:pt x="94141" y="451115"/>
                </a:lnTo>
                <a:lnTo>
                  <a:pt x="82805" y="449877"/>
                </a:lnTo>
                <a:lnTo>
                  <a:pt x="47659" y="426312"/>
                </a:lnTo>
                <a:lnTo>
                  <a:pt x="37985" y="393832"/>
                </a:lnTo>
                <a:lnTo>
                  <a:pt x="38003" y="94236"/>
                </a:lnTo>
                <a:lnTo>
                  <a:pt x="54508" y="54603"/>
                </a:lnTo>
                <a:lnTo>
                  <a:pt x="96052" y="38003"/>
                </a:lnTo>
                <a:lnTo>
                  <a:pt x="494280" y="38003"/>
                </a:lnTo>
                <a:lnTo>
                  <a:pt x="489743" y="35540"/>
                </a:lnTo>
                <a:lnTo>
                  <a:pt x="477803" y="31835"/>
                </a:lnTo>
                <a:lnTo>
                  <a:pt x="464940" y="30479"/>
                </a:lnTo>
                <a:lnTo>
                  <a:pt x="95288" y="30422"/>
                </a:lnTo>
                <a:close/>
              </a:path>
              <a:path w="559435" h="489585">
                <a:moveTo>
                  <a:pt x="494280" y="38003"/>
                </a:moveTo>
                <a:lnTo>
                  <a:pt x="96052" y="38003"/>
                </a:lnTo>
                <a:lnTo>
                  <a:pt x="464940" y="38099"/>
                </a:lnTo>
                <a:lnTo>
                  <a:pt x="476276" y="39339"/>
                </a:lnTo>
                <a:lnTo>
                  <a:pt x="511422" y="62904"/>
                </a:lnTo>
                <a:lnTo>
                  <a:pt x="521078" y="394978"/>
                </a:lnTo>
                <a:lnTo>
                  <a:pt x="519838" y="406313"/>
                </a:lnTo>
                <a:lnTo>
                  <a:pt x="496274" y="441459"/>
                </a:lnTo>
                <a:lnTo>
                  <a:pt x="463030" y="451211"/>
                </a:lnTo>
                <a:lnTo>
                  <a:pt x="494280" y="451211"/>
                </a:lnTo>
                <a:lnTo>
                  <a:pt x="523637" y="419781"/>
                </a:lnTo>
                <a:lnTo>
                  <a:pt x="528698" y="394978"/>
                </a:lnTo>
                <a:lnTo>
                  <a:pt x="528639" y="94236"/>
                </a:lnTo>
                <a:lnTo>
                  <a:pt x="509987" y="49190"/>
                </a:lnTo>
                <a:lnTo>
                  <a:pt x="500556" y="41409"/>
                </a:lnTo>
                <a:lnTo>
                  <a:pt x="494280" y="3800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588274" y="4235167"/>
            <a:ext cx="1826260" cy="81597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1015"/>
              </a:spcBef>
            </a:pPr>
            <a:r>
              <a:rPr dirty="0" sz="1900" spc="100">
                <a:latin typeface="Cambria Math"/>
                <a:cs typeface="Cambria Math"/>
              </a:rPr>
              <a:t>(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800" b="1">
                <a:solidFill>
                  <a:srgbClr val="C00000"/>
                </a:solidFill>
                <a:latin typeface="Corbel"/>
                <a:cs typeface="Corbel"/>
              </a:rPr>
              <a:t>Attention</a:t>
            </a:r>
            <a:r>
              <a:rPr dirty="0" sz="1800" spc="-55" b="1">
                <a:solidFill>
                  <a:srgbClr val="C00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weights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685848" y="4719636"/>
            <a:ext cx="855344" cy="226060"/>
          </a:xfrm>
          <a:custGeom>
            <a:avLst/>
            <a:gdLst/>
            <a:ahLst/>
            <a:cxnLst/>
            <a:rect l="l" t="t" r="r" b="b"/>
            <a:pathLst>
              <a:path w="855345" h="226060">
                <a:moveTo>
                  <a:pt x="77119" y="24768"/>
                </a:moveTo>
                <a:lnTo>
                  <a:pt x="71485" y="49535"/>
                </a:lnTo>
                <a:lnTo>
                  <a:pt x="845270" y="225531"/>
                </a:lnTo>
                <a:lnTo>
                  <a:pt x="852074" y="221249"/>
                </a:lnTo>
                <a:lnTo>
                  <a:pt x="855186" y="207570"/>
                </a:lnTo>
                <a:lnTo>
                  <a:pt x="850903" y="200764"/>
                </a:lnTo>
                <a:lnTo>
                  <a:pt x="77119" y="24768"/>
                </a:lnTo>
                <a:close/>
              </a:path>
              <a:path w="855345" h="226060">
                <a:moveTo>
                  <a:pt x="82753" y="0"/>
                </a:moveTo>
                <a:lnTo>
                  <a:pt x="0" y="20251"/>
                </a:lnTo>
                <a:lnTo>
                  <a:pt x="65852" y="74302"/>
                </a:lnTo>
                <a:lnTo>
                  <a:pt x="71485" y="49535"/>
                </a:lnTo>
                <a:lnTo>
                  <a:pt x="52263" y="45163"/>
                </a:lnTo>
                <a:lnTo>
                  <a:pt x="47979" y="38357"/>
                </a:lnTo>
                <a:lnTo>
                  <a:pt x="51090" y="24678"/>
                </a:lnTo>
                <a:lnTo>
                  <a:pt x="57895" y="20396"/>
                </a:lnTo>
                <a:lnTo>
                  <a:pt x="78113" y="20396"/>
                </a:lnTo>
                <a:lnTo>
                  <a:pt x="82753" y="0"/>
                </a:lnTo>
                <a:close/>
              </a:path>
              <a:path w="855345" h="226060">
                <a:moveTo>
                  <a:pt x="57895" y="20396"/>
                </a:moveTo>
                <a:lnTo>
                  <a:pt x="51090" y="24678"/>
                </a:lnTo>
                <a:lnTo>
                  <a:pt x="47979" y="38357"/>
                </a:lnTo>
                <a:lnTo>
                  <a:pt x="52263" y="45163"/>
                </a:lnTo>
                <a:lnTo>
                  <a:pt x="71485" y="49535"/>
                </a:lnTo>
                <a:lnTo>
                  <a:pt x="77119" y="24768"/>
                </a:lnTo>
                <a:lnTo>
                  <a:pt x="57895" y="20396"/>
                </a:lnTo>
                <a:close/>
              </a:path>
              <a:path w="855345" h="226060">
                <a:moveTo>
                  <a:pt x="78113" y="20396"/>
                </a:moveTo>
                <a:lnTo>
                  <a:pt x="57895" y="20396"/>
                </a:lnTo>
                <a:lnTo>
                  <a:pt x="77119" y="24768"/>
                </a:lnTo>
                <a:lnTo>
                  <a:pt x="78113" y="20396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530361" y="6104635"/>
            <a:ext cx="19297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7030A0"/>
                </a:solidFill>
                <a:latin typeface="Corbel"/>
                <a:cs typeface="Corbel"/>
              </a:rPr>
              <a:t>Trainable</a:t>
            </a:r>
            <a:r>
              <a:rPr dirty="0" sz="1800" spc="-30" b="1">
                <a:solidFill>
                  <a:srgbClr val="7030A0"/>
                </a:solidFill>
                <a:latin typeface="Corbel"/>
                <a:cs typeface="Corbel"/>
              </a:rPr>
              <a:t> </a:t>
            </a:r>
            <a:r>
              <a:rPr dirty="0" sz="1800" spc="-10" b="1">
                <a:solidFill>
                  <a:srgbClr val="7030A0"/>
                </a:solidFill>
                <a:latin typeface="Corbel"/>
                <a:cs typeface="Corbel"/>
              </a:rPr>
              <a:t>curvature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228844" y="5554568"/>
            <a:ext cx="76200" cy="537845"/>
          </a:xfrm>
          <a:custGeom>
            <a:avLst/>
            <a:gdLst/>
            <a:ahLst/>
            <a:cxnLst/>
            <a:rect l="l" t="t" r="r" b="b"/>
            <a:pathLst>
              <a:path w="76200" h="537845">
                <a:moveTo>
                  <a:pt x="25400" y="76200"/>
                </a:moveTo>
                <a:lnTo>
                  <a:pt x="25400" y="531645"/>
                </a:lnTo>
                <a:lnTo>
                  <a:pt x="31085" y="537331"/>
                </a:lnTo>
                <a:lnTo>
                  <a:pt x="45112" y="537331"/>
                </a:lnTo>
                <a:lnTo>
                  <a:pt x="50800" y="531645"/>
                </a:lnTo>
                <a:lnTo>
                  <a:pt x="50800" y="76200"/>
                </a:lnTo>
                <a:lnTo>
                  <a:pt x="25400" y="76200"/>
                </a:lnTo>
                <a:close/>
              </a:path>
              <a:path w="76200" h="537845">
                <a:moveTo>
                  <a:pt x="63500" y="50800"/>
                </a:moveTo>
                <a:lnTo>
                  <a:pt x="45114" y="50800"/>
                </a:lnTo>
                <a:lnTo>
                  <a:pt x="50799" y="56486"/>
                </a:lnTo>
                <a:lnTo>
                  <a:pt x="50800" y="76200"/>
                </a:lnTo>
                <a:lnTo>
                  <a:pt x="76200" y="76200"/>
                </a:lnTo>
                <a:lnTo>
                  <a:pt x="63500" y="50800"/>
                </a:lnTo>
                <a:close/>
              </a:path>
              <a:path w="76200" h="537845">
                <a:moveTo>
                  <a:pt x="45114" y="50800"/>
                </a:moveTo>
                <a:lnTo>
                  <a:pt x="31085" y="50800"/>
                </a:lnTo>
                <a:lnTo>
                  <a:pt x="25400" y="56486"/>
                </a:lnTo>
                <a:lnTo>
                  <a:pt x="25400" y="76200"/>
                </a:lnTo>
                <a:lnTo>
                  <a:pt x="50800" y="76200"/>
                </a:lnTo>
                <a:lnTo>
                  <a:pt x="50799" y="56486"/>
                </a:lnTo>
                <a:lnTo>
                  <a:pt x="45114" y="50800"/>
                </a:lnTo>
                <a:close/>
              </a:path>
              <a:path w="76200" h="537845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56486"/>
                </a:lnTo>
                <a:lnTo>
                  <a:pt x="31085" y="50800"/>
                </a:lnTo>
                <a:lnTo>
                  <a:pt x="63500" y="50800"/>
                </a:lnTo>
                <a:lnTo>
                  <a:pt x="3810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00788" y="5536266"/>
            <a:ext cx="755650" cy="617855"/>
          </a:xfrm>
          <a:custGeom>
            <a:avLst/>
            <a:gdLst/>
            <a:ahLst/>
            <a:cxnLst/>
            <a:rect l="l" t="t" r="r" b="b"/>
            <a:pathLst>
              <a:path w="755650" h="617854">
                <a:moveTo>
                  <a:pt x="67107" y="38267"/>
                </a:moveTo>
                <a:lnTo>
                  <a:pt x="51068" y="57963"/>
                </a:lnTo>
                <a:lnTo>
                  <a:pt x="738277" y="617553"/>
                </a:lnTo>
                <a:lnTo>
                  <a:pt x="746277" y="616734"/>
                </a:lnTo>
                <a:lnTo>
                  <a:pt x="755134" y="605856"/>
                </a:lnTo>
                <a:lnTo>
                  <a:pt x="754316" y="597857"/>
                </a:lnTo>
                <a:lnTo>
                  <a:pt x="67107" y="38267"/>
                </a:lnTo>
                <a:close/>
              </a:path>
              <a:path w="755650" h="617854">
                <a:moveTo>
                  <a:pt x="0" y="0"/>
                </a:moveTo>
                <a:lnTo>
                  <a:pt x="35030" y="77659"/>
                </a:lnTo>
                <a:lnTo>
                  <a:pt x="51068" y="57963"/>
                </a:lnTo>
                <a:lnTo>
                  <a:pt x="35780" y="45514"/>
                </a:lnTo>
                <a:lnTo>
                  <a:pt x="34961" y="37515"/>
                </a:lnTo>
                <a:lnTo>
                  <a:pt x="43820" y="26636"/>
                </a:lnTo>
                <a:lnTo>
                  <a:pt x="51819" y="25819"/>
                </a:lnTo>
                <a:lnTo>
                  <a:pt x="77243" y="25819"/>
                </a:lnTo>
                <a:lnTo>
                  <a:pt x="83145" y="18571"/>
                </a:lnTo>
                <a:lnTo>
                  <a:pt x="0" y="0"/>
                </a:lnTo>
                <a:close/>
              </a:path>
              <a:path w="755650" h="617854">
                <a:moveTo>
                  <a:pt x="51819" y="25819"/>
                </a:moveTo>
                <a:lnTo>
                  <a:pt x="43820" y="26636"/>
                </a:lnTo>
                <a:lnTo>
                  <a:pt x="34961" y="37515"/>
                </a:lnTo>
                <a:lnTo>
                  <a:pt x="35780" y="45514"/>
                </a:lnTo>
                <a:lnTo>
                  <a:pt x="51068" y="57963"/>
                </a:lnTo>
                <a:lnTo>
                  <a:pt x="67107" y="38267"/>
                </a:lnTo>
                <a:lnTo>
                  <a:pt x="51819" y="25819"/>
                </a:lnTo>
                <a:close/>
              </a:path>
              <a:path w="755650" h="617854">
                <a:moveTo>
                  <a:pt x="77243" y="25819"/>
                </a:moveTo>
                <a:lnTo>
                  <a:pt x="51819" y="25819"/>
                </a:lnTo>
                <a:lnTo>
                  <a:pt x="67107" y="38267"/>
                </a:lnTo>
                <a:lnTo>
                  <a:pt x="77243" y="25819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45725" y="5066101"/>
            <a:ext cx="358140" cy="407034"/>
          </a:xfrm>
          <a:custGeom>
            <a:avLst/>
            <a:gdLst/>
            <a:ahLst/>
            <a:cxnLst/>
            <a:rect l="l" t="t" r="r" b="b"/>
            <a:pathLst>
              <a:path w="358139" h="407035">
                <a:moveTo>
                  <a:pt x="285404" y="0"/>
                </a:moveTo>
                <a:lnTo>
                  <a:pt x="70333" y="95"/>
                </a:lnTo>
                <a:lnTo>
                  <a:pt x="32285" y="11992"/>
                </a:lnTo>
                <a:lnTo>
                  <a:pt x="5803" y="43606"/>
                </a:lnTo>
                <a:lnTo>
                  <a:pt x="0" y="336260"/>
                </a:lnTo>
                <a:lnTo>
                  <a:pt x="1210" y="348269"/>
                </a:lnTo>
                <a:lnTo>
                  <a:pt x="20641" y="385093"/>
                </a:lnTo>
                <a:lnTo>
                  <a:pt x="57075" y="405130"/>
                </a:lnTo>
                <a:lnTo>
                  <a:pt x="72245" y="406692"/>
                </a:lnTo>
                <a:lnTo>
                  <a:pt x="287314" y="406595"/>
                </a:lnTo>
                <a:lnTo>
                  <a:pt x="325362" y="394699"/>
                </a:lnTo>
                <a:lnTo>
                  <a:pt x="338033" y="383851"/>
                </a:lnTo>
                <a:lnTo>
                  <a:pt x="72245" y="383832"/>
                </a:lnTo>
                <a:lnTo>
                  <a:pt x="62268" y="382805"/>
                </a:lnTo>
                <a:lnTo>
                  <a:pt x="26668" y="353606"/>
                </a:lnTo>
                <a:lnTo>
                  <a:pt x="22763" y="72340"/>
                </a:lnTo>
                <a:lnTo>
                  <a:pt x="23788" y="62364"/>
                </a:lnTo>
                <a:lnTo>
                  <a:pt x="52989" y="26765"/>
                </a:lnTo>
                <a:lnTo>
                  <a:pt x="72627" y="22840"/>
                </a:lnTo>
                <a:lnTo>
                  <a:pt x="338034" y="22840"/>
                </a:lnTo>
                <a:lnTo>
                  <a:pt x="337008" y="21597"/>
                </a:lnTo>
                <a:lnTo>
                  <a:pt x="300574" y="1560"/>
                </a:lnTo>
                <a:lnTo>
                  <a:pt x="299322" y="1305"/>
                </a:lnTo>
                <a:lnTo>
                  <a:pt x="285404" y="0"/>
                </a:lnTo>
                <a:close/>
              </a:path>
              <a:path w="358139" h="407035">
                <a:moveTo>
                  <a:pt x="338034" y="22840"/>
                </a:moveTo>
                <a:lnTo>
                  <a:pt x="72627" y="22840"/>
                </a:lnTo>
                <a:lnTo>
                  <a:pt x="285404" y="22860"/>
                </a:lnTo>
                <a:lnTo>
                  <a:pt x="295380" y="23884"/>
                </a:lnTo>
                <a:lnTo>
                  <a:pt x="330979" y="53086"/>
                </a:lnTo>
                <a:lnTo>
                  <a:pt x="334885" y="334350"/>
                </a:lnTo>
                <a:lnTo>
                  <a:pt x="333860" y="344326"/>
                </a:lnTo>
                <a:lnTo>
                  <a:pt x="304660" y="379925"/>
                </a:lnTo>
                <a:lnTo>
                  <a:pt x="285022" y="383851"/>
                </a:lnTo>
                <a:lnTo>
                  <a:pt x="338033" y="383851"/>
                </a:lnTo>
                <a:lnTo>
                  <a:pt x="356184" y="349519"/>
                </a:lnTo>
                <a:lnTo>
                  <a:pt x="357745" y="334350"/>
                </a:lnTo>
                <a:lnTo>
                  <a:pt x="357649" y="70430"/>
                </a:lnTo>
                <a:lnTo>
                  <a:pt x="345753" y="32382"/>
                </a:lnTo>
                <a:lnTo>
                  <a:pt x="345033" y="31324"/>
                </a:lnTo>
                <a:lnTo>
                  <a:pt x="338034" y="22840"/>
                </a:lnTo>
                <a:close/>
              </a:path>
              <a:path w="358139" h="407035">
                <a:moveTo>
                  <a:pt x="73392" y="30421"/>
                </a:moveTo>
                <a:lnTo>
                  <a:pt x="37574" y="48968"/>
                </a:lnTo>
                <a:lnTo>
                  <a:pt x="30383" y="72340"/>
                </a:lnTo>
                <a:lnTo>
                  <a:pt x="30441" y="334350"/>
                </a:lnTo>
                <a:lnTo>
                  <a:pt x="48872" y="369021"/>
                </a:lnTo>
                <a:lnTo>
                  <a:pt x="284257" y="376269"/>
                </a:lnTo>
                <a:lnTo>
                  <a:pt x="293853" y="375301"/>
                </a:lnTo>
                <a:lnTo>
                  <a:pt x="301684" y="372870"/>
                </a:lnTo>
                <a:lnTo>
                  <a:pt x="308777" y="369021"/>
                </a:lnTo>
                <a:lnTo>
                  <a:pt x="309182" y="368687"/>
                </a:lnTo>
                <a:lnTo>
                  <a:pt x="72245" y="368592"/>
                </a:lnTo>
                <a:lnTo>
                  <a:pt x="65322" y="367797"/>
                </a:lnTo>
                <a:lnTo>
                  <a:pt x="37984" y="333203"/>
                </a:lnTo>
                <a:lnTo>
                  <a:pt x="38003" y="72340"/>
                </a:lnTo>
                <a:lnTo>
                  <a:pt x="65322" y="38893"/>
                </a:lnTo>
                <a:lnTo>
                  <a:pt x="74155" y="38003"/>
                </a:lnTo>
                <a:lnTo>
                  <a:pt x="309182" y="38003"/>
                </a:lnTo>
                <a:lnTo>
                  <a:pt x="308777" y="37669"/>
                </a:lnTo>
                <a:lnTo>
                  <a:pt x="301684" y="33820"/>
                </a:lnTo>
                <a:lnTo>
                  <a:pt x="293853" y="31389"/>
                </a:lnTo>
                <a:lnTo>
                  <a:pt x="285404" y="30480"/>
                </a:lnTo>
                <a:lnTo>
                  <a:pt x="73392" y="30421"/>
                </a:lnTo>
                <a:close/>
              </a:path>
              <a:path w="358139" h="407035">
                <a:moveTo>
                  <a:pt x="309182" y="38003"/>
                </a:moveTo>
                <a:lnTo>
                  <a:pt x="74155" y="38003"/>
                </a:lnTo>
                <a:lnTo>
                  <a:pt x="285404" y="38100"/>
                </a:lnTo>
                <a:lnTo>
                  <a:pt x="292327" y="38893"/>
                </a:lnTo>
                <a:lnTo>
                  <a:pt x="319548" y="72340"/>
                </a:lnTo>
                <a:lnTo>
                  <a:pt x="319645" y="334350"/>
                </a:lnTo>
                <a:lnTo>
                  <a:pt x="318851" y="341273"/>
                </a:lnTo>
                <a:lnTo>
                  <a:pt x="283493" y="368687"/>
                </a:lnTo>
                <a:lnTo>
                  <a:pt x="309182" y="368687"/>
                </a:lnTo>
                <a:lnTo>
                  <a:pt x="327265" y="334350"/>
                </a:lnTo>
                <a:lnTo>
                  <a:pt x="327207" y="72340"/>
                </a:lnTo>
                <a:lnTo>
                  <a:pt x="326355" y="63891"/>
                </a:lnTo>
                <a:lnTo>
                  <a:pt x="323924" y="56061"/>
                </a:lnTo>
                <a:lnTo>
                  <a:pt x="320075" y="48968"/>
                </a:lnTo>
                <a:lnTo>
                  <a:pt x="314967" y="42777"/>
                </a:lnTo>
                <a:lnTo>
                  <a:pt x="309182" y="38003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74449" y="5066101"/>
            <a:ext cx="561975" cy="407034"/>
          </a:xfrm>
          <a:custGeom>
            <a:avLst/>
            <a:gdLst/>
            <a:ahLst/>
            <a:cxnLst/>
            <a:rect l="l" t="t" r="r" b="b"/>
            <a:pathLst>
              <a:path w="561975" h="407035">
                <a:moveTo>
                  <a:pt x="481368" y="0"/>
                </a:moveTo>
                <a:lnTo>
                  <a:pt x="78475" y="95"/>
                </a:lnTo>
                <a:lnTo>
                  <a:pt x="35876" y="13383"/>
                </a:lnTo>
                <a:lnTo>
                  <a:pt x="6443" y="48578"/>
                </a:lnTo>
                <a:lnTo>
                  <a:pt x="0" y="328119"/>
                </a:lnTo>
                <a:lnTo>
                  <a:pt x="1375" y="341768"/>
                </a:lnTo>
                <a:lnTo>
                  <a:pt x="23026" y="382709"/>
                </a:lnTo>
                <a:lnTo>
                  <a:pt x="63574" y="404964"/>
                </a:lnTo>
                <a:lnTo>
                  <a:pt x="80387" y="406692"/>
                </a:lnTo>
                <a:lnTo>
                  <a:pt x="483279" y="406595"/>
                </a:lnTo>
                <a:lnTo>
                  <a:pt x="525879" y="393308"/>
                </a:lnTo>
                <a:lnTo>
                  <a:pt x="537526" y="383851"/>
                </a:lnTo>
                <a:lnTo>
                  <a:pt x="80387" y="383832"/>
                </a:lnTo>
                <a:lnTo>
                  <a:pt x="68769" y="382640"/>
                </a:lnTo>
                <a:lnTo>
                  <a:pt x="32618" y="358415"/>
                </a:lnTo>
                <a:lnTo>
                  <a:pt x="22763" y="80482"/>
                </a:lnTo>
                <a:lnTo>
                  <a:pt x="23954" y="68865"/>
                </a:lnTo>
                <a:lnTo>
                  <a:pt x="48179" y="32713"/>
                </a:lnTo>
                <a:lnTo>
                  <a:pt x="80769" y="22840"/>
                </a:lnTo>
                <a:lnTo>
                  <a:pt x="537527" y="22840"/>
                </a:lnTo>
                <a:lnTo>
                  <a:pt x="526894" y="14067"/>
                </a:lnTo>
                <a:lnTo>
                  <a:pt x="496928" y="1471"/>
                </a:lnTo>
                <a:lnTo>
                  <a:pt x="481368" y="0"/>
                </a:lnTo>
                <a:close/>
              </a:path>
              <a:path w="561975" h="407035">
                <a:moveTo>
                  <a:pt x="537527" y="22840"/>
                </a:moveTo>
                <a:lnTo>
                  <a:pt x="80769" y="22840"/>
                </a:lnTo>
                <a:lnTo>
                  <a:pt x="481368" y="22860"/>
                </a:lnTo>
                <a:lnTo>
                  <a:pt x="492986" y="24049"/>
                </a:lnTo>
                <a:lnTo>
                  <a:pt x="529136" y="48275"/>
                </a:lnTo>
                <a:lnTo>
                  <a:pt x="538990" y="326208"/>
                </a:lnTo>
                <a:lnTo>
                  <a:pt x="537800" y="337826"/>
                </a:lnTo>
                <a:lnTo>
                  <a:pt x="513575" y="373976"/>
                </a:lnTo>
                <a:lnTo>
                  <a:pt x="480985" y="383851"/>
                </a:lnTo>
                <a:lnTo>
                  <a:pt x="537526" y="383851"/>
                </a:lnTo>
                <a:lnTo>
                  <a:pt x="560124" y="343019"/>
                </a:lnTo>
                <a:lnTo>
                  <a:pt x="561850" y="326208"/>
                </a:lnTo>
                <a:lnTo>
                  <a:pt x="561755" y="78572"/>
                </a:lnTo>
                <a:lnTo>
                  <a:pt x="548468" y="35971"/>
                </a:lnTo>
                <a:lnTo>
                  <a:pt x="537867" y="23121"/>
                </a:lnTo>
                <a:lnTo>
                  <a:pt x="537527" y="22840"/>
                </a:lnTo>
                <a:close/>
              </a:path>
              <a:path w="561975" h="407035">
                <a:moveTo>
                  <a:pt x="81532" y="30421"/>
                </a:moveTo>
                <a:lnTo>
                  <a:pt x="45065" y="45162"/>
                </a:lnTo>
                <a:lnTo>
                  <a:pt x="30383" y="80482"/>
                </a:lnTo>
                <a:lnTo>
                  <a:pt x="30441" y="326208"/>
                </a:lnTo>
                <a:lnTo>
                  <a:pt x="45067" y="361529"/>
                </a:lnTo>
                <a:lnTo>
                  <a:pt x="80387" y="376212"/>
                </a:lnTo>
                <a:lnTo>
                  <a:pt x="480221" y="376269"/>
                </a:lnTo>
                <a:lnTo>
                  <a:pt x="491458" y="375136"/>
                </a:lnTo>
                <a:lnTo>
                  <a:pt x="500816" y="372231"/>
                </a:lnTo>
                <a:lnTo>
                  <a:pt x="507346" y="368687"/>
                </a:lnTo>
                <a:lnTo>
                  <a:pt x="80387" y="368592"/>
                </a:lnTo>
                <a:lnTo>
                  <a:pt x="71819" y="367630"/>
                </a:lnTo>
                <a:lnTo>
                  <a:pt x="41419" y="342681"/>
                </a:lnTo>
                <a:lnTo>
                  <a:pt x="37985" y="325061"/>
                </a:lnTo>
                <a:lnTo>
                  <a:pt x="38003" y="80482"/>
                </a:lnTo>
                <a:lnTo>
                  <a:pt x="56743" y="45406"/>
                </a:lnTo>
                <a:lnTo>
                  <a:pt x="82297" y="38003"/>
                </a:lnTo>
                <a:lnTo>
                  <a:pt x="507345" y="38003"/>
                </a:lnTo>
                <a:lnTo>
                  <a:pt x="500816" y="34460"/>
                </a:lnTo>
                <a:lnTo>
                  <a:pt x="491458" y="31554"/>
                </a:lnTo>
                <a:lnTo>
                  <a:pt x="481368" y="30480"/>
                </a:lnTo>
                <a:lnTo>
                  <a:pt x="81532" y="30421"/>
                </a:lnTo>
                <a:close/>
              </a:path>
              <a:path w="561975" h="407035">
                <a:moveTo>
                  <a:pt x="507345" y="38003"/>
                </a:moveTo>
                <a:lnTo>
                  <a:pt x="82297" y="38003"/>
                </a:lnTo>
                <a:lnTo>
                  <a:pt x="481368" y="38100"/>
                </a:lnTo>
                <a:lnTo>
                  <a:pt x="489935" y="39060"/>
                </a:lnTo>
                <a:lnTo>
                  <a:pt x="520335" y="64009"/>
                </a:lnTo>
                <a:lnTo>
                  <a:pt x="523750" y="326208"/>
                </a:lnTo>
                <a:lnTo>
                  <a:pt x="522791" y="334772"/>
                </a:lnTo>
                <a:lnTo>
                  <a:pt x="497841" y="365175"/>
                </a:lnTo>
                <a:lnTo>
                  <a:pt x="479458" y="368687"/>
                </a:lnTo>
                <a:lnTo>
                  <a:pt x="507346" y="368687"/>
                </a:lnTo>
                <a:lnTo>
                  <a:pt x="530296" y="336298"/>
                </a:lnTo>
                <a:lnTo>
                  <a:pt x="531370" y="326208"/>
                </a:lnTo>
                <a:lnTo>
                  <a:pt x="531313" y="80482"/>
                </a:lnTo>
                <a:lnTo>
                  <a:pt x="516688" y="45162"/>
                </a:lnTo>
                <a:lnTo>
                  <a:pt x="509290" y="39058"/>
                </a:lnTo>
                <a:lnTo>
                  <a:pt x="507345" y="38003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696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03659" y="1628140"/>
            <a:ext cx="2877820" cy="117792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200" spc="-5">
                <a:latin typeface="Calibri"/>
                <a:cs typeface="Calibri"/>
              </a:rPr>
              <a:t>Node </a:t>
            </a:r>
            <a:r>
              <a:rPr dirty="0" sz="2200" spc="-10">
                <a:latin typeface="Calibri"/>
                <a:cs typeface="Calibri"/>
              </a:rPr>
              <a:t>Classification (tree)</a:t>
            </a:r>
            <a:endParaRPr sz="2200">
              <a:latin typeface="Calibri"/>
              <a:cs typeface="Calibri"/>
            </a:endParaRPr>
          </a:p>
          <a:p>
            <a:pPr marL="12700" marR="108585">
              <a:lnSpc>
                <a:spcPts val="2300"/>
              </a:lnSpc>
              <a:spcBef>
                <a:spcPts val="1100"/>
              </a:spcBef>
            </a:pPr>
            <a:r>
              <a:rPr dirty="0" sz="2200" spc="-5" b="1">
                <a:solidFill>
                  <a:srgbClr val="D60093"/>
                </a:solidFill>
                <a:latin typeface="Calibri"/>
                <a:cs typeface="Calibri"/>
              </a:rPr>
              <a:t>Disease </a:t>
            </a:r>
            <a:r>
              <a:rPr dirty="0" sz="2200" spc="-10" b="1">
                <a:solidFill>
                  <a:srgbClr val="D60093"/>
                </a:solidFill>
                <a:latin typeface="Calibri"/>
                <a:cs typeface="Calibri"/>
              </a:rPr>
              <a:t>spreding </a:t>
            </a:r>
            <a:r>
              <a:rPr dirty="0" sz="2200" spc="-15" b="1">
                <a:solidFill>
                  <a:srgbClr val="D60093"/>
                </a:solidFill>
                <a:latin typeface="Calibri"/>
                <a:cs typeface="Calibri"/>
              </a:rPr>
              <a:t>graph</a:t>
            </a:r>
            <a:r>
              <a:rPr dirty="0" sz="2200" spc="-15">
                <a:latin typeface="Calibri"/>
                <a:cs typeface="Calibri"/>
              </a:rPr>
              <a:t>:  </a:t>
            </a:r>
            <a:r>
              <a:rPr dirty="0" sz="2200" spc="-5">
                <a:latin typeface="Calibri"/>
                <a:cs typeface="Calibri"/>
              </a:rPr>
              <a:t>1044 nodes, </a:t>
            </a:r>
            <a:r>
              <a:rPr dirty="0" sz="2200">
                <a:latin typeface="Calibri"/>
                <a:cs typeface="Calibri"/>
              </a:rPr>
              <a:t>2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classes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659" y="3310635"/>
            <a:ext cx="443357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5" b="1">
                <a:solidFill>
                  <a:srgbClr val="C00000"/>
                </a:solidFill>
                <a:latin typeface="Calibri"/>
                <a:cs typeface="Calibri"/>
              </a:rPr>
              <a:t>Predict</a:t>
            </a:r>
            <a:r>
              <a:rPr dirty="0" sz="2200" spc="-5">
                <a:latin typeface="Calibri"/>
                <a:cs typeface="Calibri"/>
              </a:rPr>
              <a:t>: whether </a:t>
            </a:r>
            <a:r>
              <a:rPr dirty="0" sz="2200">
                <a:latin typeface="Calibri"/>
                <a:cs typeface="Calibri"/>
              </a:rPr>
              <a:t>a </a:t>
            </a:r>
            <a:r>
              <a:rPr dirty="0" sz="2200" spc="-10">
                <a:latin typeface="Calibri"/>
                <a:cs typeface="Calibri"/>
              </a:rPr>
              <a:t>person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infected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659" y="4173220"/>
            <a:ext cx="4284980" cy="65341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41300" marR="5080" indent="-228600">
              <a:lnSpc>
                <a:spcPts val="2300"/>
              </a:lnSpc>
              <a:spcBef>
                <a:spcPts val="4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 b="1">
                <a:solidFill>
                  <a:srgbClr val="008000"/>
                </a:solidFill>
                <a:latin typeface="Calibri"/>
                <a:cs typeface="Calibri"/>
              </a:rPr>
              <a:t>Groundtruth</a:t>
            </a:r>
            <a:r>
              <a:rPr dirty="0" sz="2200" spc="-10">
                <a:latin typeface="Calibri"/>
                <a:cs typeface="Calibri"/>
              </a:rPr>
              <a:t>: </a:t>
            </a:r>
            <a:r>
              <a:rPr dirty="0" sz="2200" spc="-5">
                <a:latin typeface="Calibri"/>
                <a:cs typeface="Calibri"/>
              </a:rPr>
              <a:t>FIR disease </a:t>
            </a:r>
            <a:r>
              <a:rPr dirty="0" sz="2200" spc="-10">
                <a:latin typeface="Calibri"/>
                <a:cs typeface="Calibri"/>
              </a:rPr>
              <a:t>spreading  </a:t>
            </a:r>
            <a:r>
              <a:rPr dirty="0" sz="2200" spc="-5">
                <a:latin typeface="Calibri"/>
                <a:cs typeface="Calibri"/>
              </a:rPr>
              <a:t>model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659" y="5328411"/>
            <a:ext cx="29305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 sz="2200" spc="-10" b="1">
                <a:solidFill>
                  <a:srgbClr val="0070C0"/>
                </a:solidFill>
                <a:latin typeface="Calibri"/>
                <a:cs typeface="Calibri"/>
              </a:rPr>
              <a:t>Curvature </a:t>
            </a:r>
            <a:r>
              <a:rPr dirty="0" sz="2200" spc="-5">
                <a:latin typeface="Calibri"/>
                <a:cs typeface="Calibri"/>
              </a:rPr>
              <a:t>is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important!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36847" y="2011679"/>
            <a:ext cx="2398776" cy="435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5069" y="2038402"/>
            <a:ext cx="2322195" cy="358140"/>
          </a:xfrm>
          <a:custGeom>
            <a:avLst/>
            <a:gdLst/>
            <a:ahLst/>
            <a:cxnLst/>
            <a:rect l="l" t="t" r="r" b="b"/>
            <a:pathLst>
              <a:path w="2322195" h="358139">
                <a:moveTo>
                  <a:pt x="2262379" y="0"/>
                </a:moveTo>
                <a:lnTo>
                  <a:pt x="59590" y="0"/>
                </a:lnTo>
                <a:lnTo>
                  <a:pt x="36395" y="4683"/>
                </a:lnTo>
                <a:lnTo>
                  <a:pt x="17453" y="17453"/>
                </a:lnTo>
                <a:lnTo>
                  <a:pt x="4683" y="36395"/>
                </a:lnTo>
                <a:lnTo>
                  <a:pt x="0" y="59590"/>
                </a:lnTo>
                <a:lnTo>
                  <a:pt x="0" y="297950"/>
                </a:lnTo>
                <a:lnTo>
                  <a:pt x="4683" y="321146"/>
                </a:lnTo>
                <a:lnTo>
                  <a:pt x="17453" y="340087"/>
                </a:lnTo>
                <a:lnTo>
                  <a:pt x="36395" y="352858"/>
                </a:lnTo>
                <a:lnTo>
                  <a:pt x="59590" y="357541"/>
                </a:lnTo>
                <a:lnTo>
                  <a:pt x="2262379" y="357541"/>
                </a:lnTo>
                <a:lnTo>
                  <a:pt x="2285574" y="352858"/>
                </a:lnTo>
                <a:lnTo>
                  <a:pt x="2304516" y="340087"/>
                </a:lnTo>
                <a:lnTo>
                  <a:pt x="2317287" y="321146"/>
                </a:lnTo>
                <a:lnTo>
                  <a:pt x="2321970" y="297950"/>
                </a:lnTo>
                <a:lnTo>
                  <a:pt x="2321970" y="59590"/>
                </a:lnTo>
                <a:lnTo>
                  <a:pt x="2317287" y="36395"/>
                </a:lnTo>
                <a:lnTo>
                  <a:pt x="2304516" y="17453"/>
                </a:lnTo>
                <a:lnTo>
                  <a:pt x="2285574" y="4683"/>
                </a:lnTo>
                <a:lnTo>
                  <a:pt x="22623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5069" y="2038402"/>
            <a:ext cx="2322195" cy="358140"/>
          </a:xfrm>
          <a:custGeom>
            <a:avLst/>
            <a:gdLst/>
            <a:ahLst/>
            <a:cxnLst/>
            <a:rect l="l" t="t" r="r" b="b"/>
            <a:pathLst>
              <a:path w="2322195" h="358139">
                <a:moveTo>
                  <a:pt x="0" y="59590"/>
                </a:moveTo>
                <a:lnTo>
                  <a:pt x="4682" y="36395"/>
                </a:lnTo>
                <a:lnTo>
                  <a:pt x="17453" y="17453"/>
                </a:lnTo>
                <a:lnTo>
                  <a:pt x="36395" y="4682"/>
                </a:lnTo>
                <a:lnTo>
                  <a:pt x="59590" y="0"/>
                </a:lnTo>
                <a:lnTo>
                  <a:pt x="2262379" y="0"/>
                </a:lnTo>
                <a:lnTo>
                  <a:pt x="2285574" y="4682"/>
                </a:lnTo>
                <a:lnTo>
                  <a:pt x="2304516" y="17453"/>
                </a:lnTo>
                <a:lnTo>
                  <a:pt x="2317287" y="36395"/>
                </a:lnTo>
                <a:lnTo>
                  <a:pt x="2321970" y="59590"/>
                </a:lnTo>
                <a:lnTo>
                  <a:pt x="2321970" y="297951"/>
                </a:lnTo>
                <a:lnTo>
                  <a:pt x="2317287" y="321146"/>
                </a:lnTo>
                <a:lnTo>
                  <a:pt x="2304516" y="340088"/>
                </a:lnTo>
                <a:lnTo>
                  <a:pt x="2285574" y="352859"/>
                </a:lnTo>
                <a:lnTo>
                  <a:pt x="2262379" y="357542"/>
                </a:lnTo>
                <a:lnTo>
                  <a:pt x="59590" y="357542"/>
                </a:lnTo>
                <a:lnTo>
                  <a:pt x="36395" y="352859"/>
                </a:lnTo>
                <a:lnTo>
                  <a:pt x="17453" y="340088"/>
                </a:lnTo>
                <a:lnTo>
                  <a:pt x="4682" y="321146"/>
                </a:lnTo>
                <a:lnTo>
                  <a:pt x="0" y="297951"/>
                </a:lnTo>
                <a:lnTo>
                  <a:pt x="0" y="59590"/>
                </a:lnTo>
                <a:close/>
              </a:path>
            </a:pathLst>
          </a:custGeom>
          <a:ln w="25400">
            <a:solidFill>
              <a:srgbClr val="3792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28915" y="1707296"/>
            <a:ext cx="2189425" cy="8124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01197" y="2490216"/>
            <a:ext cx="6515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Corbel"/>
                <a:cs typeface="Corbel"/>
              </a:rPr>
              <a:t>Layer</a:t>
            </a:r>
            <a:r>
              <a:rPr dirty="0" sz="1700" spc="-135">
                <a:latin typeface="Corbel"/>
                <a:cs typeface="Corbel"/>
              </a:rPr>
              <a:t> </a:t>
            </a:r>
            <a:r>
              <a:rPr dirty="0" sz="1700">
                <a:latin typeface="Corbel"/>
                <a:cs typeface="Corbel"/>
              </a:rPr>
              <a:t>1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4358" y="2490216"/>
            <a:ext cx="6648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Corbel"/>
                <a:cs typeface="Corbel"/>
              </a:rPr>
              <a:t>Layer</a:t>
            </a:r>
            <a:r>
              <a:rPr dirty="0" sz="1700" spc="-135">
                <a:latin typeface="Corbel"/>
                <a:cs typeface="Corbel"/>
              </a:rPr>
              <a:t> </a:t>
            </a:r>
            <a:r>
              <a:rPr dirty="0" sz="1700">
                <a:latin typeface="Corbel"/>
                <a:cs typeface="Corbel"/>
              </a:rPr>
              <a:t>2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06896" y="2011679"/>
            <a:ext cx="2340863" cy="435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46121" y="2038112"/>
            <a:ext cx="2261870" cy="358140"/>
          </a:xfrm>
          <a:custGeom>
            <a:avLst/>
            <a:gdLst/>
            <a:ahLst/>
            <a:cxnLst/>
            <a:rect l="l" t="t" r="r" b="b"/>
            <a:pathLst>
              <a:path w="2261870" h="358139">
                <a:moveTo>
                  <a:pt x="2202054" y="0"/>
                </a:moveTo>
                <a:lnTo>
                  <a:pt x="59590" y="0"/>
                </a:lnTo>
                <a:lnTo>
                  <a:pt x="36395" y="4682"/>
                </a:lnTo>
                <a:lnTo>
                  <a:pt x="17453" y="17453"/>
                </a:lnTo>
                <a:lnTo>
                  <a:pt x="4683" y="36395"/>
                </a:lnTo>
                <a:lnTo>
                  <a:pt x="0" y="59590"/>
                </a:lnTo>
                <a:lnTo>
                  <a:pt x="0" y="297950"/>
                </a:lnTo>
                <a:lnTo>
                  <a:pt x="4683" y="321146"/>
                </a:lnTo>
                <a:lnTo>
                  <a:pt x="17453" y="340087"/>
                </a:lnTo>
                <a:lnTo>
                  <a:pt x="36395" y="352858"/>
                </a:lnTo>
                <a:lnTo>
                  <a:pt x="59590" y="357541"/>
                </a:lnTo>
                <a:lnTo>
                  <a:pt x="2202054" y="357541"/>
                </a:lnTo>
                <a:lnTo>
                  <a:pt x="2225250" y="352858"/>
                </a:lnTo>
                <a:lnTo>
                  <a:pt x="2244191" y="340087"/>
                </a:lnTo>
                <a:lnTo>
                  <a:pt x="2256962" y="321146"/>
                </a:lnTo>
                <a:lnTo>
                  <a:pt x="2261645" y="297950"/>
                </a:lnTo>
                <a:lnTo>
                  <a:pt x="2261645" y="59590"/>
                </a:lnTo>
                <a:lnTo>
                  <a:pt x="2256962" y="36395"/>
                </a:lnTo>
                <a:lnTo>
                  <a:pt x="2244191" y="17453"/>
                </a:lnTo>
                <a:lnTo>
                  <a:pt x="2225250" y="4682"/>
                </a:lnTo>
                <a:lnTo>
                  <a:pt x="2202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46121" y="2038112"/>
            <a:ext cx="2261870" cy="358140"/>
          </a:xfrm>
          <a:custGeom>
            <a:avLst/>
            <a:gdLst/>
            <a:ahLst/>
            <a:cxnLst/>
            <a:rect l="l" t="t" r="r" b="b"/>
            <a:pathLst>
              <a:path w="2261870" h="358139">
                <a:moveTo>
                  <a:pt x="0" y="59591"/>
                </a:moveTo>
                <a:lnTo>
                  <a:pt x="4682" y="36395"/>
                </a:lnTo>
                <a:lnTo>
                  <a:pt x="17453" y="17453"/>
                </a:lnTo>
                <a:lnTo>
                  <a:pt x="36395" y="4682"/>
                </a:lnTo>
                <a:lnTo>
                  <a:pt x="59590" y="0"/>
                </a:lnTo>
                <a:lnTo>
                  <a:pt x="2202054" y="0"/>
                </a:lnTo>
                <a:lnTo>
                  <a:pt x="2225249" y="4682"/>
                </a:lnTo>
                <a:lnTo>
                  <a:pt x="2244191" y="17453"/>
                </a:lnTo>
                <a:lnTo>
                  <a:pt x="2256962" y="36395"/>
                </a:lnTo>
                <a:lnTo>
                  <a:pt x="2261645" y="59591"/>
                </a:lnTo>
                <a:lnTo>
                  <a:pt x="2261645" y="297950"/>
                </a:lnTo>
                <a:lnTo>
                  <a:pt x="2256962" y="321146"/>
                </a:lnTo>
                <a:lnTo>
                  <a:pt x="2244191" y="340088"/>
                </a:lnTo>
                <a:lnTo>
                  <a:pt x="2225249" y="352859"/>
                </a:lnTo>
                <a:lnTo>
                  <a:pt x="2202054" y="357542"/>
                </a:lnTo>
                <a:lnTo>
                  <a:pt x="59590" y="357542"/>
                </a:lnTo>
                <a:lnTo>
                  <a:pt x="36395" y="352859"/>
                </a:lnTo>
                <a:lnTo>
                  <a:pt x="17453" y="340088"/>
                </a:lnTo>
                <a:lnTo>
                  <a:pt x="4682" y="321146"/>
                </a:lnTo>
                <a:lnTo>
                  <a:pt x="0" y="297950"/>
                </a:lnTo>
                <a:lnTo>
                  <a:pt x="0" y="59591"/>
                </a:lnTo>
                <a:close/>
              </a:path>
            </a:pathLst>
          </a:custGeom>
          <a:ln w="25400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581761" y="1671200"/>
            <a:ext cx="1908553" cy="8298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51347" y="2526792"/>
            <a:ext cx="6515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Corbel"/>
                <a:cs typeface="Corbel"/>
              </a:rPr>
              <a:t>Layer</a:t>
            </a:r>
            <a:r>
              <a:rPr dirty="0" sz="1700" spc="-135">
                <a:latin typeface="Corbel"/>
                <a:cs typeface="Corbel"/>
              </a:rPr>
              <a:t> </a:t>
            </a:r>
            <a:r>
              <a:rPr dirty="0" sz="1700">
                <a:latin typeface="Corbel"/>
                <a:cs typeface="Corbel"/>
              </a:rPr>
              <a:t>1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94543" y="2511551"/>
            <a:ext cx="6648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latin typeface="Corbel"/>
                <a:cs typeface="Corbel"/>
              </a:rPr>
              <a:t>Layer</a:t>
            </a:r>
            <a:r>
              <a:rPr dirty="0" sz="1700" spc="-135">
                <a:latin typeface="Corbel"/>
                <a:cs typeface="Corbel"/>
              </a:rPr>
              <a:t> </a:t>
            </a:r>
            <a:r>
              <a:rPr dirty="0" sz="1700">
                <a:latin typeface="Corbel"/>
                <a:cs typeface="Corbel"/>
              </a:rPr>
              <a:t>2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2110" y="1392427"/>
            <a:ext cx="513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792AA"/>
                </a:solidFill>
                <a:latin typeface="Corbel"/>
                <a:cs typeface="Corbel"/>
              </a:rPr>
              <a:t>GNN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18651" y="1389380"/>
            <a:ext cx="6731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0">
                <a:solidFill>
                  <a:srgbClr val="00B050"/>
                </a:solidFill>
                <a:latin typeface="Corbel"/>
                <a:cs typeface="Corbel"/>
              </a:rPr>
              <a:t>H</a:t>
            </a:r>
            <a:r>
              <a:rPr dirty="0" sz="1800">
                <a:solidFill>
                  <a:srgbClr val="00B050"/>
                </a:solidFill>
                <a:latin typeface="Corbel"/>
                <a:cs typeface="Corbel"/>
              </a:rPr>
              <a:t>GNN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10519" y="4585715"/>
            <a:ext cx="12071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00B050"/>
                </a:solidFill>
                <a:latin typeface="Arial"/>
                <a:cs typeface="Arial"/>
              </a:rPr>
              <a:t>Low</a:t>
            </a:r>
            <a:r>
              <a:rPr dirty="0" sz="1400" spc="-110" b="1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00B050"/>
                </a:solidFill>
                <a:latin typeface="Arial"/>
                <a:cs typeface="Arial"/>
              </a:rPr>
              <a:t>distortion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239055" y="4903970"/>
            <a:ext cx="3514725" cy="16739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40605" y="5487786"/>
            <a:ext cx="552450" cy="781050"/>
          </a:xfrm>
          <a:custGeom>
            <a:avLst/>
            <a:gdLst/>
            <a:ahLst/>
            <a:cxnLst/>
            <a:rect l="l" t="t" r="r" b="b"/>
            <a:pathLst>
              <a:path w="552450" h="781050">
                <a:moveTo>
                  <a:pt x="447575" y="0"/>
                </a:moveTo>
                <a:lnTo>
                  <a:pt x="102769" y="96"/>
                </a:lnTo>
                <a:lnTo>
                  <a:pt x="64472" y="7962"/>
                </a:lnTo>
                <a:lnTo>
                  <a:pt x="31001" y="30237"/>
                </a:lnTo>
                <a:lnTo>
                  <a:pt x="8352" y="63417"/>
                </a:lnTo>
                <a:lnTo>
                  <a:pt x="87" y="102866"/>
                </a:lnTo>
                <a:lnTo>
                  <a:pt x="0" y="678183"/>
                </a:lnTo>
                <a:lnTo>
                  <a:pt x="1869" y="696729"/>
                </a:lnTo>
                <a:lnTo>
                  <a:pt x="17434" y="734367"/>
                </a:lnTo>
                <a:lnTo>
                  <a:pt x="45569" y="762832"/>
                </a:lnTo>
                <a:lnTo>
                  <a:pt x="82972" y="778830"/>
                </a:lnTo>
                <a:lnTo>
                  <a:pt x="104679" y="781050"/>
                </a:lnTo>
                <a:lnTo>
                  <a:pt x="449487" y="780953"/>
                </a:lnTo>
                <a:lnTo>
                  <a:pt x="487784" y="773086"/>
                </a:lnTo>
                <a:lnTo>
                  <a:pt x="512289" y="758209"/>
                </a:lnTo>
                <a:lnTo>
                  <a:pt x="104679" y="758190"/>
                </a:lnTo>
                <a:lnTo>
                  <a:pt x="88167" y="756505"/>
                </a:lnTo>
                <a:lnTo>
                  <a:pt x="46769" y="734184"/>
                </a:lnTo>
                <a:lnTo>
                  <a:pt x="24447" y="692786"/>
                </a:lnTo>
                <a:lnTo>
                  <a:pt x="22763" y="104777"/>
                </a:lnTo>
                <a:lnTo>
                  <a:pt x="24447" y="88263"/>
                </a:lnTo>
                <a:lnTo>
                  <a:pt x="46769" y="46865"/>
                </a:lnTo>
                <a:lnTo>
                  <a:pt x="88167" y="24544"/>
                </a:lnTo>
                <a:lnTo>
                  <a:pt x="105062" y="22840"/>
                </a:lnTo>
                <a:lnTo>
                  <a:pt x="512289" y="22840"/>
                </a:lnTo>
                <a:lnTo>
                  <a:pt x="506686" y="18218"/>
                </a:lnTo>
                <a:lnTo>
                  <a:pt x="469284" y="2219"/>
                </a:lnTo>
                <a:lnTo>
                  <a:pt x="468033" y="1965"/>
                </a:lnTo>
                <a:lnTo>
                  <a:pt x="447575" y="0"/>
                </a:lnTo>
                <a:close/>
              </a:path>
              <a:path w="552450" h="781050">
                <a:moveTo>
                  <a:pt x="512289" y="22840"/>
                </a:moveTo>
                <a:lnTo>
                  <a:pt x="105062" y="22840"/>
                </a:lnTo>
                <a:lnTo>
                  <a:pt x="447575" y="22860"/>
                </a:lnTo>
                <a:lnTo>
                  <a:pt x="464089" y="24544"/>
                </a:lnTo>
                <a:lnTo>
                  <a:pt x="505487" y="46865"/>
                </a:lnTo>
                <a:lnTo>
                  <a:pt x="527809" y="88263"/>
                </a:lnTo>
                <a:lnTo>
                  <a:pt x="529493" y="676273"/>
                </a:lnTo>
                <a:lnTo>
                  <a:pt x="527809" y="692786"/>
                </a:lnTo>
                <a:lnTo>
                  <a:pt x="505487" y="734184"/>
                </a:lnTo>
                <a:lnTo>
                  <a:pt x="464089" y="756505"/>
                </a:lnTo>
                <a:lnTo>
                  <a:pt x="447194" y="758209"/>
                </a:lnTo>
                <a:lnTo>
                  <a:pt x="512289" y="758209"/>
                </a:lnTo>
                <a:lnTo>
                  <a:pt x="543904" y="717632"/>
                </a:lnTo>
                <a:lnTo>
                  <a:pt x="552353" y="676273"/>
                </a:lnTo>
                <a:lnTo>
                  <a:pt x="552256" y="102866"/>
                </a:lnTo>
                <a:lnTo>
                  <a:pt x="544390" y="64568"/>
                </a:lnTo>
                <a:lnTo>
                  <a:pt x="522116" y="31098"/>
                </a:lnTo>
                <a:lnTo>
                  <a:pt x="521254" y="30237"/>
                </a:lnTo>
                <a:lnTo>
                  <a:pt x="512289" y="22840"/>
                </a:lnTo>
                <a:close/>
              </a:path>
              <a:path w="552450" h="781050">
                <a:moveTo>
                  <a:pt x="105826" y="30422"/>
                </a:moveTo>
                <a:lnTo>
                  <a:pt x="63172" y="43210"/>
                </a:lnTo>
                <a:lnTo>
                  <a:pt x="36272" y="75871"/>
                </a:lnTo>
                <a:lnTo>
                  <a:pt x="30383" y="104777"/>
                </a:lnTo>
                <a:lnTo>
                  <a:pt x="30441" y="676273"/>
                </a:lnTo>
                <a:lnTo>
                  <a:pt x="43112" y="717781"/>
                </a:lnTo>
                <a:lnTo>
                  <a:pt x="75774" y="744680"/>
                </a:lnTo>
                <a:lnTo>
                  <a:pt x="446430" y="750627"/>
                </a:lnTo>
                <a:lnTo>
                  <a:pt x="462563" y="749001"/>
                </a:lnTo>
                <a:lnTo>
                  <a:pt x="476482" y="744680"/>
                </a:lnTo>
                <a:lnTo>
                  <a:pt x="479493" y="743046"/>
                </a:lnTo>
                <a:lnTo>
                  <a:pt x="104679" y="742950"/>
                </a:lnTo>
                <a:lnTo>
                  <a:pt x="91220" y="741496"/>
                </a:lnTo>
                <a:lnTo>
                  <a:pt x="57594" y="723359"/>
                </a:lnTo>
                <a:lnTo>
                  <a:pt x="39456" y="689732"/>
                </a:lnTo>
                <a:lnTo>
                  <a:pt x="37984" y="675126"/>
                </a:lnTo>
                <a:lnTo>
                  <a:pt x="38003" y="104777"/>
                </a:lnTo>
                <a:lnTo>
                  <a:pt x="49458" y="67551"/>
                </a:lnTo>
                <a:lnTo>
                  <a:pt x="91220" y="39552"/>
                </a:lnTo>
                <a:lnTo>
                  <a:pt x="106591" y="38003"/>
                </a:lnTo>
                <a:lnTo>
                  <a:pt x="479493" y="38003"/>
                </a:lnTo>
                <a:lnTo>
                  <a:pt x="476482" y="36368"/>
                </a:lnTo>
                <a:lnTo>
                  <a:pt x="462563" y="32048"/>
                </a:lnTo>
                <a:lnTo>
                  <a:pt x="447575" y="30480"/>
                </a:lnTo>
                <a:lnTo>
                  <a:pt x="105826" y="30422"/>
                </a:lnTo>
                <a:close/>
              </a:path>
              <a:path w="552450" h="781050">
                <a:moveTo>
                  <a:pt x="479493" y="38003"/>
                </a:moveTo>
                <a:lnTo>
                  <a:pt x="106591" y="38003"/>
                </a:lnTo>
                <a:lnTo>
                  <a:pt x="447575" y="38100"/>
                </a:lnTo>
                <a:lnTo>
                  <a:pt x="461035" y="39552"/>
                </a:lnTo>
                <a:lnTo>
                  <a:pt x="494662" y="57691"/>
                </a:lnTo>
                <a:lnTo>
                  <a:pt x="512800" y="91318"/>
                </a:lnTo>
                <a:lnTo>
                  <a:pt x="514253" y="676273"/>
                </a:lnTo>
                <a:lnTo>
                  <a:pt x="512800" y="689732"/>
                </a:lnTo>
                <a:lnTo>
                  <a:pt x="494662" y="723359"/>
                </a:lnTo>
                <a:lnTo>
                  <a:pt x="461035" y="741496"/>
                </a:lnTo>
                <a:lnTo>
                  <a:pt x="445665" y="743046"/>
                </a:lnTo>
                <a:lnTo>
                  <a:pt x="479493" y="743046"/>
                </a:lnTo>
                <a:lnTo>
                  <a:pt x="509142" y="717781"/>
                </a:lnTo>
                <a:lnTo>
                  <a:pt x="521873" y="676273"/>
                </a:lnTo>
                <a:lnTo>
                  <a:pt x="521815" y="104777"/>
                </a:lnTo>
                <a:lnTo>
                  <a:pt x="509142" y="63268"/>
                </a:lnTo>
                <a:lnTo>
                  <a:pt x="489084" y="43210"/>
                </a:lnTo>
                <a:lnTo>
                  <a:pt x="479493" y="38003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21422" y="4996187"/>
            <a:ext cx="323850" cy="781050"/>
          </a:xfrm>
          <a:custGeom>
            <a:avLst/>
            <a:gdLst/>
            <a:ahLst/>
            <a:cxnLst/>
            <a:rect l="l" t="t" r="r" b="b"/>
            <a:pathLst>
              <a:path w="323850" h="781050">
                <a:moveTo>
                  <a:pt x="257077" y="0"/>
                </a:moveTo>
                <a:lnTo>
                  <a:pt x="64669" y="96"/>
                </a:lnTo>
                <a:lnTo>
                  <a:pt x="19842" y="19079"/>
                </a:lnTo>
                <a:lnTo>
                  <a:pt x="1350" y="52647"/>
                </a:lnTo>
                <a:lnTo>
                  <a:pt x="0" y="716284"/>
                </a:lnTo>
                <a:lnTo>
                  <a:pt x="1096" y="727151"/>
                </a:lnTo>
                <a:lnTo>
                  <a:pt x="18982" y="761111"/>
                </a:lnTo>
                <a:lnTo>
                  <a:pt x="52551" y="779604"/>
                </a:lnTo>
                <a:lnTo>
                  <a:pt x="66581" y="781050"/>
                </a:lnTo>
                <a:lnTo>
                  <a:pt x="258988" y="780954"/>
                </a:lnTo>
                <a:lnTo>
                  <a:pt x="303814" y="761971"/>
                </a:lnTo>
                <a:lnTo>
                  <a:pt x="307069" y="758209"/>
                </a:lnTo>
                <a:lnTo>
                  <a:pt x="66581" y="758190"/>
                </a:lnTo>
                <a:lnTo>
                  <a:pt x="57745" y="757280"/>
                </a:lnTo>
                <a:lnTo>
                  <a:pt x="26224" y="731424"/>
                </a:lnTo>
                <a:lnTo>
                  <a:pt x="22764" y="66676"/>
                </a:lnTo>
                <a:lnTo>
                  <a:pt x="23674" y="57842"/>
                </a:lnTo>
                <a:lnTo>
                  <a:pt x="49529" y="26320"/>
                </a:lnTo>
                <a:lnTo>
                  <a:pt x="66962" y="22840"/>
                </a:lnTo>
                <a:lnTo>
                  <a:pt x="307069" y="22840"/>
                </a:lnTo>
                <a:lnTo>
                  <a:pt x="304675" y="19938"/>
                </a:lnTo>
                <a:lnTo>
                  <a:pt x="271106" y="1446"/>
                </a:lnTo>
                <a:lnTo>
                  <a:pt x="269854" y="1191"/>
                </a:lnTo>
                <a:lnTo>
                  <a:pt x="257077" y="0"/>
                </a:lnTo>
                <a:close/>
              </a:path>
              <a:path w="323850" h="781050">
                <a:moveTo>
                  <a:pt x="307069" y="22840"/>
                </a:moveTo>
                <a:lnTo>
                  <a:pt x="66962" y="22840"/>
                </a:lnTo>
                <a:lnTo>
                  <a:pt x="257077" y="22860"/>
                </a:lnTo>
                <a:lnTo>
                  <a:pt x="265912" y="23770"/>
                </a:lnTo>
                <a:lnTo>
                  <a:pt x="297433" y="49626"/>
                </a:lnTo>
                <a:lnTo>
                  <a:pt x="300894" y="714373"/>
                </a:lnTo>
                <a:lnTo>
                  <a:pt x="299984" y="723208"/>
                </a:lnTo>
                <a:lnTo>
                  <a:pt x="274128" y="754730"/>
                </a:lnTo>
                <a:lnTo>
                  <a:pt x="256696" y="758209"/>
                </a:lnTo>
                <a:lnTo>
                  <a:pt x="307069" y="758209"/>
                </a:lnTo>
                <a:lnTo>
                  <a:pt x="323754" y="714373"/>
                </a:lnTo>
                <a:lnTo>
                  <a:pt x="323658" y="64766"/>
                </a:lnTo>
                <a:lnTo>
                  <a:pt x="312042" y="28868"/>
                </a:lnTo>
                <a:lnTo>
                  <a:pt x="307069" y="22840"/>
                </a:lnTo>
                <a:close/>
              </a:path>
              <a:path w="323850" h="781050">
                <a:moveTo>
                  <a:pt x="67726" y="30422"/>
                </a:moveTo>
                <a:lnTo>
                  <a:pt x="33264" y="52647"/>
                </a:lnTo>
                <a:lnTo>
                  <a:pt x="30384" y="66676"/>
                </a:lnTo>
                <a:lnTo>
                  <a:pt x="30441" y="714373"/>
                </a:lnTo>
                <a:lnTo>
                  <a:pt x="52505" y="747675"/>
                </a:lnTo>
                <a:lnTo>
                  <a:pt x="255931" y="750627"/>
                </a:lnTo>
                <a:lnTo>
                  <a:pt x="264386" y="749775"/>
                </a:lnTo>
                <a:lnTo>
                  <a:pt x="271152" y="747675"/>
                </a:lnTo>
                <a:lnTo>
                  <a:pt x="277282" y="744347"/>
                </a:lnTo>
                <a:lnTo>
                  <a:pt x="278860" y="743046"/>
                </a:lnTo>
                <a:lnTo>
                  <a:pt x="66581" y="742950"/>
                </a:lnTo>
                <a:lnTo>
                  <a:pt x="60799" y="742270"/>
                </a:lnTo>
                <a:lnTo>
                  <a:pt x="37985" y="713227"/>
                </a:lnTo>
                <a:lnTo>
                  <a:pt x="38004" y="66676"/>
                </a:lnTo>
                <a:lnTo>
                  <a:pt x="68491" y="38004"/>
                </a:lnTo>
                <a:lnTo>
                  <a:pt x="278860" y="38004"/>
                </a:lnTo>
                <a:lnTo>
                  <a:pt x="277282" y="36703"/>
                </a:lnTo>
                <a:lnTo>
                  <a:pt x="271152" y="33375"/>
                </a:lnTo>
                <a:lnTo>
                  <a:pt x="264386" y="31275"/>
                </a:lnTo>
                <a:lnTo>
                  <a:pt x="257077" y="30480"/>
                </a:lnTo>
                <a:lnTo>
                  <a:pt x="67726" y="30422"/>
                </a:lnTo>
                <a:close/>
              </a:path>
              <a:path w="323850" h="781050">
                <a:moveTo>
                  <a:pt x="278860" y="38004"/>
                </a:moveTo>
                <a:lnTo>
                  <a:pt x="68491" y="38004"/>
                </a:lnTo>
                <a:lnTo>
                  <a:pt x="257077" y="38100"/>
                </a:lnTo>
                <a:lnTo>
                  <a:pt x="262858" y="38779"/>
                </a:lnTo>
                <a:lnTo>
                  <a:pt x="285654" y="714373"/>
                </a:lnTo>
                <a:lnTo>
                  <a:pt x="284975" y="720154"/>
                </a:lnTo>
                <a:lnTo>
                  <a:pt x="255167" y="743046"/>
                </a:lnTo>
                <a:lnTo>
                  <a:pt x="278860" y="743046"/>
                </a:lnTo>
                <a:lnTo>
                  <a:pt x="293274" y="714373"/>
                </a:lnTo>
                <a:lnTo>
                  <a:pt x="293216" y="66676"/>
                </a:lnTo>
                <a:lnTo>
                  <a:pt x="292479" y="59368"/>
                </a:lnTo>
                <a:lnTo>
                  <a:pt x="290379" y="52602"/>
                </a:lnTo>
                <a:lnTo>
                  <a:pt x="287051" y="46470"/>
                </a:lnTo>
                <a:lnTo>
                  <a:pt x="282635" y="41118"/>
                </a:lnTo>
                <a:lnTo>
                  <a:pt x="278860" y="3800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46245" y="4978958"/>
            <a:ext cx="323850" cy="781050"/>
          </a:xfrm>
          <a:custGeom>
            <a:avLst/>
            <a:gdLst/>
            <a:ahLst/>
            <a:cxnLst/>
            <a:rect l="l" t="t" r="r" b="b"/>
            <a:pathLst>
              <a:path w="323850" h="781050">
                <a:moveTo>
                  <a:pt x="257077" y="0"/>
                </a:moveTo>
                <a:lnTo>
                  <a:pt x="64669" y="96"/>
                </a:lnTo>
                <a:lnTo>
                  <a:pt x="19842" y="19079"/>
                </a:lnTo>
                <a:lnTo>
                  <a:pt x="1350" y="52647"/>
                </a:lnTo>
                <a:lnTo>
                  <a:pt x="0" y="716284"/>
                </a:lnTo>
                <a:lnTo>
                  <a:pt x="1096" y="727151"/>
                </a:lnTo>
                <a:lnTo>
                  <a:pt x="18982" y="761111"/>
                </a:lnTo>
                <a:lnTo>
                  <a:pt x="52551" y="779603"/>
                </a:lnTo>
                <a:lnTo>
                  <a:pt x="66581" y="781050"/>
                </a:lnTo>
                <a:lnTo>
                  <a:pt x="258988" y="780953"/>
                </a:lnTo>
                <a:lnTo>
                  <a:pt x="303814" y="761971"/>
                </a:lnTo>
                <a:lnTo>
                  <a:pt x="307069" y="758209"/>
                </a:lnTo>
                <a:lnTo>
                  <a:pt x="66581" y="758190"/>
                </a:lnTo>
                <a:lnTo>
                  <a:pt x="57745" y="757280"/>
                </a:lnTo>
                <a:lnTo>
                  <a:pt x="26224" y="731424"/>
                </a:lnTo>
                <a:lnTo>
                  <a:pt x="22763" y="66676"/>
                </a:lnTo>
                <a:lnTo>
                  <a:pt x="23674" y="57840"/>
                </a:lnTo>
                <a:lnTo>
                  <a:pt x="49529" y="26320"/>
                </a:lnTo>
                <a:lnTo>
                  <a:pt x="66962" y="22840"/>
                </a:lnTo>
                <a:lnTo>
                  <a:pt x="307070" y="22840"/>
                </a:lnTo>
                <a:lnTo>
                  <a:pt x="304675" y="19939"/>
                </a:lnTo>
                <a:lnTo>
                  <a:pt x="271106" y="1446"/>
                </a:lnTo>
                <a:lnTo>
                  <a:pt x="269854" y="1191"/>
                </a:lnTo>
                <a:lnTo>
                  <a:pt x="257077" y="0"/>
                </a:lnTo>
                <a:close/>
              </a:path>
              <a:path w="323850" h="781050">
                <a:moveTo>
                  <a:pt x="307070" y="22840"/>
                </a:moveTo>
                <a:lnTo>
                  <a:pt x="66962" y="22840"/>
                </a:lnTo>
                <a:lnTo>
                  <a:pt x="257077" y="22860"/>
                </a:lnTo>
                <a:lnTo>
                  <a:pt x="265912" y="23770"/>
                </a:lnTo>
                <a:lnTo>
                  <a:pt x="297433" y="49625"/>
                </a:lnTo>
                <a:lnTo>
                  <a:pt x="300893" y="714373"/>
                </a:lnTo>
                <a:lnTo>
                  <a:pt x="299984" y="723208"/>
                </a:lnTo>
                <a:lnTo>
                  <a:pt x="274128" y="754729"/>
                </a:lnTo>
                <a:lnTo>
                  <a:pt x="256694" y="758209"/>
                </a:lnTo>
                <a:lnTo>
                  <a:pt x="307069" y="758209"/>
                </a:lnTo>
                <a:lnTo>
                  <a:pt x="323753" y="714373"/>
                </a:lnTo>
                <a:lnTo>
                  <a:pt x="323658" y="64766"/>
                </a:lnTo>
                <a:lnTo>
                  <a:pt x="312042" y="28867"/>
                </a:lnTo>
                <a:lnTo>
                  <a:pt x="307070" y="22840"/>
                </a:lnTo>
                <a:close/>
              </a:path>
              <a:path w="323850" h="781050">
                <a:moveTo>
                  <a:pt x="67726" y="30422"/>
                </a:moveTo>
                <a:lnTo>
                  <a:pt x="33264" y="52647"/>
                </a:lnTo>
                <a:lnTo>
                  <a:pt x="30383" y="66676"/>
                </a:lnTo>
                <a:lnTo>
                  <a:pt x="30441" y="714373"/>
                </a:lnTo>
                <a:lnTo>
                  <a:pt x="52505" y="747674"/>
                </a:lnTo>
                <a:lnTo>
                  <a:pt x="255931" y="750627"/>
                </a:lnTo>
                <a:lnTo>
                  <a:pt x="264386" y="749775"/>
                </a:lnTo>
                <a:lnTo>
                  <a:pt x="271152" y="747674"/>
                </a:lnTo>
                <a:lnTo>
                  <a:pt x="277282" y="744347"/>
                </a:lnTo>
                <a:lnTo>
                  <a:pt x="278860" y="743046"/>
                </a:lnTo>
                <a:lnTo>
                  <a:pt x="66581" y="742950"/>
                </a:lnTo>
                <a:lnTo>
                  <a:pt x="60799" y="742270"/>
                </a:lnTo>
                <a:lnTo>
                  <a:pt x="37985" y="713227"/>
                </a:lnTo>
                <a:lnTo>
                  <a:pt x="38003" y="66676"/>
                </a:lnTo>
                <a:lnTo>
                  <a:pt x="68491" y="38003"/>
                </a:lnTo>
                <a:lnTo>
                  <a:pt x="278859" y="38003"/>
                </a:lnTo>
                <a:lnTo>
                  <a:pt x="277282" y="36703"/>
                </a:lnTo>
                <a:lnTo>
                  <a:pt x="271152" y="33375"/>
                </a:lnTo>
                <a:lnTo>
                  <a:pt x="264386" y="31275"/>
                </a:lnTo>
                <a:lnTo>
                  <a:pt x="257077" y="30480"/>
                </a:lnTo>
                <a:lnTo>
                  <a:pt x="67726" y="30422"/>
                </a:lnTo>
                <a:close/>
              </a:path>
              <a:path w="323850" h="781050">
                <a:moveTo>
                  <a:pt x="278859" y="38003"/>
                </a:moveTo>
                <a:lnTo>
                  <a:pt x="68491" y="38003"/>
                </a:lnTo>
                <a:lnTo>
                  <a:pt x="257077" y="38100"/>
                </a:lnTo>
                <a:lnTo>
                  <a:pt x="262858" y="38779"/>
                </a:lnTo>
                <a:lnTo>
                  <a:pt x="285653" y="714373"/>
                </a:lnTo>
                <a:lnTo>
                  <a:pt x="284975" y="720154"/>
                </a:lnTo>
                <a:lnTo>
                  <a:pt x="255167" y="743046"/>
                </a:lnTo>
                <a:lnTo>
                  <a:pt x="278860" y="743046"/>
                </a:lnTo>
                <a:lnTo>
                  <a:pt x="293273" y="714373"/>
                </a:lnTo>
                <a:lnTo>
                  <a:pt x="293216" y="66676"/>
                </a:lnTo>
                <a:lnTo>
                  <a:pt x="292479" y="59368"/>
                </a:lnTo>
                <a:lnTo>
                  <a:pt x="290378" y="52600"/>
                </a:lnTo>
                <a:lnTo>
                  <a:pt x="287051" y="46470"/>
                </a:lnTo>
                <a:lnTo>
                  <a:pt x="282635" y="41118"/>
                </a:lnTo>
                <a:lnTo>
                  <a:pt x="278859" y="38003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820342" y="5219700"/>
            <a:ext cx="1245235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dirty="0" sz="1400" spc="-60" b="1">
                <a:solidFill>
                  <a:srgbClr val="C00000"/>
                </a:solidFill>
                <a:latin typeface="Arial"/>
                <a:cs typeface="Arial"/>
              </a:rPr>
              <a:t>Too</a:t>
            </a:r>
            <a:r>
              <a:rPr dirty="0" sz="1400" spc="-1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C00000"/>
                </a:solidFill>
                <a:latin typeface="Arial"/>
                <a:cs typeface="Arial"/>
              </a:rPr>
              <a:t>hyperbolic  (unstable)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234293" y="4899207"/>
            <a:ext cx="3524250" cy="1684020"/>
          </a:xfrm>
          <a:prstGeom prst="rect">
            <a:avLst/>
          </a:prstGeom>
          <a:ln w="9525">
            <a:solidFill>
              <a:srgbClr val="00B050"/>
            </a:solidFill>
          </a:ln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494665">
              <a:lnSpc>
                <a:spcPct val="100000"/>
              </a:lnSpc>
            </a:pPr>
            <a:r>
              <a:rPr dirty="0" sz="1400" spc="-30" b="1">
                <a:solidFill>
                  <a:srgbClr val="00B0F0"/>
                </a:solidFill>
                <a:latin typeface="Arial"/>
                <a:cs typeface="Arial"/>
              </a:rPr>
              <a:t>Almost</a:t>
            </a:r>
            <a:r>
              <a:rPr dirty="0" sz="1400" spc="-114" b="1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00B0F0"/>
                </a:solidFill>
                <a:latin typeface="Arial"/>
                <a:cs typeface="Arial"/>
              </a:rPr>
              <a:t>Euclidean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algn="r" marR="158115">
              <a:lnSpc>
                <a:spcPct val="100000"/>
              </a:lnSpc>
              <a:spcBef>
                <a:spcPts val="890"/>
              </a:spcBef>
            </a:pPr>
            <a:r>
              <a:rPr dirty="0" sz="1400" spc="-30" b="1">
                <a:solidFill>
                  <a:srgbClr val="00B050"/>
                </a:solidFill>
                <a:latin typeface="Corbel"/>
                <a:cs typeface="Corbel"/>
              </a:rPr>
              <a:t>Sweet</a:t>
            </a:r>
            <a:r>
              <a:rPr dirty="0" sz="1400" spc="-105" b="1">
                <a:solidFill>
                  <a:srgbClr val="00B050"/>
                </a:solidFill>
                <a:latin typeface="Corbel"/>
                <a:cs typeface="Corbel"/>
              </a:rPr>
              <a:t> </a:t>
            </a:r>
            <a:r>
              <a:rPr dirty="0" sz="1400" spc="-25" b="1">
                <a:solidFill>
                  <a:srgbClr val="00B050"/>
                </a:solidFill>
                <a:latin typeface="Corbel"/>
                <a:cs typeface="Corbel"/>
              </a:rPr>
              <a:t>spot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852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796530" cy="1125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15" b="0">
                <a:latin typeface="Calibri"/>
                <a:cs typeface="Calibri"/>
              </a:rPr>
              <a:t>Performance </a:t>
            </a:r>
            <a:r>
              <a:rPr dirty="0" sz="2400" spc="-5" b="0">
                <a:latin typeface="Calibri"/>
                <a:cs typeface="Calibri"/>
              </a:rPr>
              <a:t>on </a:t>
            </a:r>
            <a:r>
              <a:rPr dirty="0" sz="2400" b="0">
                <a:latin typeface="Calibri"/>
                <a:cs typeface="Calibri"/>
              </a:rPr>
              <a:t>a </a:t>
            </a:r>
            <a:r>
              <a:rPr dirty="0" sz="2400" spc="-10" b="0">
                <a:latin typeface="Calibri"/>
                <a:cs typeface="Calibri"/>
              </a:rPr>
              <a:t>variety </a:t>
            </a:r>
            <a:r>
              <a:rPr dirty="0" sz="2400" spc="-5" b="0">
                <a:latin typeface="Calibri"/>
                <a:cs typeface="Calibri"/>
              </a:rPr>
              <a:t>of</a:t>
            </a:r>
            <a:r>
              <a:rPr dirty="0" sz="240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datasets</a:t>
            </a:r>
            <a:endParaRPr sz="2400">
              <a:latin typeface="Calibri"/>
              <a:cs typeface="Calibri"/>
            </a:endParaRPr>
          </a:p>
          <a:p>
            <a:pPr marL="332740" marR="5080" indent="-320040">
              <a:lnSpc>
                <a:spcPts val="2900"/>
              </a:lnSpc>
              <a:spcBef>
                <a:spcPts val="80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45" b="0">
                <a:latin typeface="Calibri"/>
                <a:cs typeface="Calibri"/>
              </a:rPr>
              <a:t>We </a:t>
            </a:r>
            <a:r>
              <a:rPr dirty="0" sz="2400" spc="-5" b="0">
                <a:latin typeface="Calibri"/>
                <a:cs typeface="Calibri"/>
              </a:rPr>
              <a:t>use </a:t>
            </a:r>
            <a:r>
              <a:rPr dirty="0" sz="2400" spc="-10">
                <a:solidFill>
                  <a:srgbClr val="C00000"/>
                </a:solidFill>
              </a:rPr>
              <a:t>hyperbolicity </a:t>
            </a:r>
            <a:r>
              <a:rPr dirty="0" sz="2400" b="0">
                <a:solidFill>
                  <a:srgbClr val="C00000"/>
                </a:solidFill>
                <a:latin typeface="Cambria Math"/>
                <a:cs typeface="Cambria Math"/>
              </a:rPr>
              <a:t>𝜹 </a:t>
            </a:r>
            <a:r>
              <a:rPr dirty="0" sz="2400" spc="-15" b="0">
                <a:latin typeface="Calibri"/>
                <a:cs typeface="Calibri"/>
              </a:rPr>
              <a:t>to </a:t>
            </a:r>
            <a:r>
              <a:rPr dirty="0" sz="2400" spc="-10" b="0">
                <a:latin typeface="Calibri"/>
                <a:cs typeface="Calibri"/>
              </a:rPr>
              <a:t>measure </a:t>
            </a:r>
            <a:r>
              <a:rPr dirty="0" sz="2400" spc="-5" b="0">
                <a:latin typeface="Calibri"/>
                <a:cs typeface="Calibri"/>
              </a:rPr>
              <a:t>whether </a:t>
            </a:r>
            <a:r>
              <a:rPr dirty="0" sz="2400" b="0">
                <a:latin typeface="Calibri"/>
                <a:cs typeface="Calibri"/>
              </a:rPr>
              <a:t>a </a:t>
            </a:r>
            <a:r>
              <a:rPr dirty="0" sz="2400" spc="-15" b="0">
                <a:latin typeface="Calibri"/>
                <a:cs typeface="Calibri"/>
              </a:rPr>
              <a:t>graph dataset  </a:t>
            </a:r>
            <a:r>
              <a:rPr dirty="0" sz="2400" spc="-5" b="0">
                <a:latin typeface="Calibri"/>
                <a:cs typeface="Calibri"/>
              </a:rPr>
              <a:t>is </a:t>
            </a:r>
            <a:r>
              <a:rPr dirty="0" sz="2400" spc="-15" b="0">
                <a:latin typeface="Calibri"/>
                <a:cs typeface="Calibri"/>
              </a:rPr>
              <a:t>tree-like </a:t>
            </a:r>
            <a:r>
              <a:rPr dirty="0" sz="2400" b="0">
                <a:latin typeface="Calibri"/>
                <a:cs typeface="Calibri"/>
              </a:rPr>
              <a:t>and</a:t>
            </a:r>
            <a:r>
              <a:rPr dirty="0" sz="2400" spc="-25" b="0">
                <a:latin typeface="Calibri"/>
                <a:cs typeface="Calibri"/>
              </a:rPr>
              <a:t> </a:t>
            </a:r>
            <a:r>
              <a:rPr dirty="0" sz="2400" spc="-15" b="0">
                <a:latin typeface="Calibri"/>
                <a:cs typeface="Calibri"/>
              </a:rPr>
              <a:t>hierarchical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3985" y="4003519"/>
            <a:ext cx="3486149" cy="2255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92482" y="4517339"/>
            <a:ext cx="895350" cy="552450"/>
          </a:xfrm>
          <a:custGeom>
            <a:avLst/>
            <a:gdLst/>
            <a:ahLst/>
            <a:cxnLst/>
            <a:rect l="l" t="t" r="r" b="b"/>
            <a:pathLst>
              <a:path w="895350" h="552450">
                <a:moveTo>
                  <a:pt x="790477" y="0"/>
                </a:moveTo>
                <a:lnTo>
                  <a:pt x="102769" y="96"/>
                </a:lnTo>
                <a:lnTo>
                  <a:pt x="64471" y="7962"/>
                </a:lnTo>
                <a:lnTo>
                  <a:pt x="31001" y="30237"/>
                </a:lnTo>
                <a:lnTo>
                  <a:pt x="8352" y="63417"/>
                </a:lnTo>
                <a:lnTo>
                  <a:pt x="87" y="102866"/>
                </a:lnTo>
                <a:lnTo>
                  <a:pt x="0" y="449583"/>
                </a:lnTo>
                <a:lnTo>
                  <a:pt x="1869" y="468129"/>
                </a:lnTo>
                <a:lnTo>
                  <a:pt x="17435" y="505767"/>
                </a:lnTo>
                <a:lnTo>
                  <a:pt x="45570" y="534231"/>
                </a:lnTo>
                <a:lnTo>
                  <a:pt x="82972" y="550230"/>
                </a:lnTo>
                <a:lnTo>
                  <a:pt x="104681" y="552449"/>
                </a:lnTo>
                <a:lnTo>
                  <a:pt x="792387" y="552353"/>
                </a:lnTo>
                <a:lnTo>
                  <a:pt x="830685" y="544487"/>
                </a:lnTo>
                <a:lnTo>
                  <a:pt x="855189" y="529609"/>
                </a:lnTo>
                <a:lnTo>
                  <a:pt x="104681" y="529589"/>
                </a:lnTo>
                <a:lnTo>
                  <a:pt x="88167" y="527905"/>
                </a:lnTo>
                <a:lnTo>
                  <a:pt x="46769" y="505584"/>
                </a:lnTo>
                <a:lnTo>
                  <a:pt x="24447" y="464186"/>
                </a:lnTo>
                <a:lnTo>
                  <a:pt x="22763" y="104776"/>
                </a:lnTo>
                <a:lnTo>
                  <a:pt x="24447" y="88263"/>
                </a:lnTo>
                <a:lnTo>
                  <a:pt x="46769" y="46865"/>
                </a:lnTo>
                <a:lnTo>
                  <a:pt x="88167" y="24544"/>
                </a:lnTo>
                <a:lnTo>
                  <a:pt x="105062" y="22840"/>
                </a:lnTo>
                <a:lnTo>
                  <a:pt x="855189" y="22840"/>
                </a:lnTo>
                <a:lnTo>
                  <a:pt x="849584" y="18216"/>
                </a:lnTo>
                <a:lnTo>
                  <a:pt x="812184" y="2219"/>
                </a:lnTo>
                <a:lnTo>
                  <a:pt x="810933" y="1965"/>
                </a:lnTo>
                <a:lnTo>
                  <a:pt x="790477" y="0"/>
                </a:lnTo>
                <a:close/>
              </a:path>
              <a:path w="895350" h="552450">
                <a:moveTo>
                  <a:pt x="855189" y="22840"/>
                </a:moveTo>
                <a:lnTo>
                  <a:pt x="105062" y="22840"/>
                </a:lnTo>
                <a:lnTo>
                  <a:pt x="790477" y="22859"/>
                </a:lnTo>
                <a:lnTo>
                  <a:pt x="806989" y="24544"/>
                </a:lnTo>
                <a:lnTo>
                  <a:pt x="848387" y="46865"/>
                </a:lnTo>
                <a:lnTo>
                  <a:pt x="870709" y="88263"/>
                </a:lnTo>
                <a:lnTo>
                  <a:pt x="872393" y="447672"/>
                </a:lnTo>
                <a:lnTo>
                  <a:pt x="870709" y="464186"/>
                </a:lnTo>
                <a:lnTo>
                  <a:pt x="848387" y="505584"/>
                </a:lnTo>
                <a:lnTo>
                  <a:pt x="806989" y="527905"/>
                </a:lnTo>
                <a:lnTo>
                  <a:pt x="790094" y="529609"/>
                </a:lnTo>
                <a:lnTo>
                  <a:pt x="855189" y="529609"/>
                </a:lnTo>
                <a:lnTo>
                  <a:pt x="886804" y="489032"/>
                </a:lnTo>
                <a:lnTo>
                  <a:pt x="895253" y="447672"/>
                </a:lnTo>
                <a:lnTo>
                  <a:pt x="895156" y="102866"/>
                </a:lnTo>
                <a:lnTo>
                  <a:pt x="887290" y="64568"/>
                </a:lnTo>
                <a:lnTo>
                  <a:pt x="865016" y="31098"/>
                </a:lnTo>
                <a:lnTo>
                  <a:pt x="864154" y="30237"/>
                </a:lnTo>
                <a:lnTo>
                  <a:pt x="855189" y="22840"/>
                </a:lnTo>
                <a:close/>
              </a:path>
              <a:path w="895350" h="552450">
                <a:moveTo>
                  <a:pt x="105826" y="30421"/>
                </a:moveTo>
                <a:lnTo>
                  <a:pt x="63172" y="43209"/>
                </a:lnTo>
                <a:lnTo>
                  <a:pt x="36272" y="75871"/>
                </a:lnTo>
                <a:lnTo>
                  <a:pt x="30383" y="104776"/>
                </a:lnTo>
                <a:lnTo>
                  <a:pt x="30441" y="447672"/>
                </a:lnTo>
                <a:lnTo>
                  <a:pt x="43113" y="489181"/>
                </a:lnTo>
                <a:lnTo>
                  <a:pt x="75774" y="516081"/>
                </a:lnTo>
                <a:lnTo>
                  <a:pt x="789330" y="522027"/>
                </a:lnTo>
                <a:lnTo>
                  <a:pt x="805463" y="520401"/>
                </a:lnTo>
                <a:lnTo>
                  <a:pt x="819382" y="516081"/>
                </a:lnTo>
                <a:lnTo>
                  <a:pt x="822393" y="514446"/>
                </a:lnTo>
                <a:lnTo>
                  <a:pt x="104681" y="514349"/>
                </a:lnTo>
                <a:lnTo>
                  <a:pt x="91221" y="512895"/>
                </a:lnTo>
                <a:lnTo>
                  <a:pt x="57594" y="494758"/>
                </a:lnTo>
                <a:lnTo>
                  <a:pt x="39456" y="461131"/>
                </a:lnTo>
                <a:lnTo>
                  <a:pt x="37984" y="446526"/>
                </a:lnTo>
                <a:lnTo>
                  <a:pt x="38003" y="104776"/>
                </a:lnTo>
                <a:lnTo>
                  <a:pt x="49458" y="67550"/>
                </a:lnTo>
                <a:lnTo>
                  <a:pt x="91220" y="39552"/>
                </a:lnTo>
                <a:lnTo>
                  <a:pt x="106591" y="38003"/>
                </a:lnTo>
                <a:lnTo>
                  <a:pt x="822393" y="38003"/>
                </a:lnTo>
                <a:lnTo>
                  <a:pt x="819382" y="36368"/>
                </a:lnTo>
                <a:lnTo>
                  <a:pt x="805463" y="32048"/>
                </a:lnTo>
                <a:lnTo>
                  <a:pt x="790477" y="30479"/>
                </a:lnTo>
                <a:lnTo>
                  <a:pt x="105826" y="30421"/>
                </a:lnTo>
                <a:close/>
              </a:path>
              <a:path w="895350" h="552450">
                <a:moveTo>
                  <a:pt x="822393" y="38003"/>
                </a:moveTo>
                <a:lnTo>
                  <a:pt x="106591" y="38003"/>
                </a:lnTo>
                <a:lnTo>
                  <a:pt x="790477" y="38099"/>
                </a:lnTo>
                <a:lnTo>
                  <a:pt x="803936" y="39552"/>
                </a:lnTo>
                <a:lnTo>
                  <a:pt x="837562" y="57691"/>
                </a:lnTo>
                <a:lnTo>
                  <a:pt x="855700" y="91316"/>
                </a:lnTo>
                <a:lnTo>
                  <a:pt x="857153" y="447672"/>
                </a:lnTo>
                <a:lnTo>
                  <a:pt x="855700" y="461131"/>
                </a:lnTo>
                <a:lnTo>
                  <a:pt x="837562" y="494758"/>
                </a:lnTo>
                <a:lnTo>
                  <a:pt x="803936" y="512895"/>
                </a:lnTo>
                <a:lnTo>
                  <a:pt x="788565" y="514446"/>
                </a:lnTo>
                <a:lnTo>
                  <a:pt x="822393" y="514446"/>
                </a:lnTo>
                <a:lnTo>
                  <a:pt x="852044" y="489181"/>
                </a:lnTo>
                <a:lnTo>
                  <a:pt x="864773" y="447672"/>
                </a:lnTo>
                <a:lnTo>
                  <a:pt x="864715" y="104776"/>
                </a:lnTo>
                <a:lnTo>
                  <a:pt x="852044" y="63268"/>
                </a:lnTo>
                <a:lnTo>
                  <a:pt x="831984" y="43209"/>
                </a:lnTo>
                <a:lnTo>
                  <a:pt x="822393" y="38003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54791" y="3657091"/>
            <a:ext cx="142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B48200"/>
                </a:solidFill>
                <a:latin typeface="Arial"/>
                <a:cs typeface="Arial"/>
              </a:rPr>
              <a:t>Inductive</a:t>
            </a:r>
            <a:r>
              <a:rPr dirty="0" sz="1800" spc="-75">
                <a:solidFill>
                  <a:srgbClr val="B482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B48200"/>
                </a:solidFill>
                <a:latin typeface="Arial"/>
                <a:cs typeface="Arial"/>
              </a:rPr>
              <a:t>task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2603" y="4010342"/>
            <a:ext cx="3648075" cy="22418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11300" y="4036174"/>
            <a:ext cx="1096645" cy="504190"/>
          </a:xfrm>
          <a:custGeom>
            <a:avLst/>
            <a:gdLst/>
            <a:ahLst/>
            <a:cxnLst/>
            <a:rect l="l" t="t" r="r" b="b"/>
            <a:pathLst>
              <a:path w="1096645" h="504189">
                <a:moveTo>
                  <a:pt x="999794" y="0"/>
                </a:moveTo>
                <a:lnTo>
                  <a:pt x="94702" y="96"/>
                </a:lnTo>
                <a:lnTo>
                  <a:pt x="43031" y="16154"/>
                </a:lnTo>
                <a:lnTo>
                  <a:pt x="16057" y="43126"/>
                </a:lnTo>
                <a:lnTo>
                  <a:pt x="87" y="94799"/>
                </a:lnTo>
                <a:lnTo>
                  <a:pt x="0" y="409247"/>
                </a:lnTo>
                <a:lnTo>
                  <a:pt x="1705" y="426166"/>
                </a:lnTo>
                <a:lnTo>
                  <a:pt x="16744" y="461937"/>
                </a:lnTo>
                <a:lnTo>
                  <a:pt x="58393" y="496230"/>
                </a:lnTo>
                <a:lnTo>
                  <a:pt x="96613" y="504045"/>
                </a:lnTo>
                <a:lnTo>
                  <a:pt x="1001704" y="503949"/>
                </a:lnTo>
                <a:lnTo>
                  <a:pt x="1053377" y="487890"/>
                </a:lnTo>
                <a:lnTo>
                  <a:pt x="1061667" y="481204"/>
                </a:lnTo>
                <a:lnTo>
                  <a:pt x="96613" y="481185"/>
                </a:lnTo>
                <a:lnTo>
                  <a:pt x="81725" y="479665"/>
                </a:lnTo>
                <a:lnTo>
                  <a:pt x="44406" y="459543"/>
                </a:lnTo>
                <a:lnTo>
                  <a:pt x="24284" y="422224"/>
                </a:lnTo>
                <a:lnTo>
                  <a:pt x="22764" y="96709"/>
                </a:lnTo>
                <a:lnTo>
                  <a:pt x="24284" y="81822"/>
                </a:lnTo>
                <a:lnTo>
                  <a:pt x="44406" y="44503"/>
                </a:lnTo>
                <a:lnTo>
                  <a:pt x="81725" y="24380"/>
                </a:lnTo>
                <a:lnTo>
                  <a:pt x="96996" y="22840"/>
                </a:lnTo>
                <a:lnTo>
                  <a:pt x="1061666" y="22840"/>
                </a:lnTo>
                <a:lnTo>
                  <a:pt x="1054394" y="16840"/>
                </a:lnTo>
                <a:lnTo>
                  <a:pt x="1018623" y="1802"/>
                </a:lnTo>
                <a:lnTo>
                  <a:pt x="999794" y="0"/>
                </a:lnTo>
                <a:close/>
              </a:path>
              <a:path w="1096645" h="504189">
                <a:moveTo>
                  <a:pt x="1061666" y="22840"/>
                </a:moveTo>
                <a:lnTo>
                  <a:pt x="96996" y="22840"/>
                </a:lnTo>
                <a:lnTo>
                  <a:pt x="999794" y="22860"/>
                </a:lnTo>
                <a:lnTo>
                  <a:pt x="1014681" y="24380"/>
                </a:lnTo>
                <a:lnTo>
                  <a:pt x="1052000" y="44503"/>
                </a:lnTo>
                <a:lnTo>
                  <a:pt x="1072123" y="81822"/>
                </a:lnTo>
                <a:lnTo>
                  <a:pt x="1073644" y="407335"/>
                </a:lnTo>
                <a:lnTo>
                  <a:pt x="1072123" y="422224"/>
                </a:lnTo>
                <a:lnTo>
                  <a:pt x="1052000" y="459543"/>
                </a:lnTo>
                <a:lnTo>
                  <a:pt x="1014681" y="479665"/>
                </a:lnTo>
                <a:lnTo>
                  <a:pt x="999412" y="481204"/>
                </a:lnTo>
                <a:lnTo>
                  <a:pt x="1061667" y="481204"/>
                </a:lnTo>
                <a:lnTo>
                  <a:pt x="1088688" y="445556"/>
                </a:lnTo>
                <a:lnTo>
                  <a:pt x="1096504" y="407335"/>
                </a:lnTo>
                <a:lnTo>
                  <a:pt x="1096407" y="94799"/>
                </a:lnTo>
                <a:lnTo>
                  <a:pt x="1080349" y="43126"/>
                </a:lnTo>
                <a:lnTo>
                  <a:pt x="1067767" y="27875"/>
                </a:lnTo>
                <a:lnTo>
                  <a:pt x="1061666" y="22840"/>
                </a:lnTo>
                <a:close/>
              </a:path>
              <a:path w="1096645" h="504189">
                <a:moveTo>
                  <a:pt x="97759" y="30422"/>
                </a:moveTo>
                <a:lnTo>
                  <a:pt x="59616" y="41832"/>
                </a:lnTo>
                <a:lnTo>
                  <a:pt x="31789" y="83348"/>
                </a:lnTo>
                <a:lnTo>
                  <a:pt x="30384" y="96709"/>
                </a:lnTo>
                <a:lnTo>
                  <a:pt x="30441" y="407335"/>
                </a:lnTo>
                <a:lnTo>
                  <a:pt x="41736" y="444333"/>
                </a:lnTo>
                <a:lnTo>
                  <a:pt x="83253" y="472160"/>
                </a:lnTo>
                <a:lnTo>
                  <a:pt x="998647" y="473623"/>
                </a:lnTo>
                <a:lnTo>
                  <a:pt x="1013155" y="472160"/>
                </a:lnTo>
                <a:lnTo>
                  <a:pt x="1025559" y="468309"/>
                </a:lnTo>
                <a:lnTo>
                  <a:pt x="1029738" y="466041"/>
                </a:lnTo>
                <a:lnTo>
                  <a:pt x="96613" y="465945"/>
                </a:lnTo>
                <a:lnTo>
                  <a:pt x="84780" y="464656"/>
                </a:lnTo>
                <a:lnTo>
                  <a:pt x="48082" y="440051"/>
                </a:lnTo>
                <a:lnTo>
                  <a:pt x="37985" y="406189"/>
                </a:lnTo>
                <a:lnTo>
                  <a:pt x="38004" y="96709"/>
                </a:lnTo>
                <a:lnTo>
                  <a:pt x="55232" y="55328"/>
                </a:lnTo>
                <a:lnTo>
                  <a:pt x="98524" y="38004"/>
                </a:lnTo>
                <a:lnTo>
                  <a:pt x="1029739" y="38004"/>
                </a:lnTo>
                <a:lnTo>
                  <a:pt x="1025559" y="35735"/>
                </a:lnTo>
                <a:lnTo>
                  <a:pt x="1013155" y="31884"/>
                </a:lnTo>
                <a:lnTo>
                  <a:pt x="999794" y="30480"/>
                </a:lnTo>
                <a:lnTo>
                  <a:pt x="97759" y="30422"/>
                </a:lnTo>
                <a:close/>
              </a:path>
              <a:path w="1096645" h="504189">
                <a:moveTo>
                  <a:pt x="1029739" y="38004"/>
                </a:moveTo>
                <a:lnTo>
                  <a:pt x="98524" y="38004"/>
                </a:lnTo>
                <a:lnTo>
                  <a:pt x="999794" y="38100"/>
                </a:lnTo>
                <a:lnTo>
                  <a:pt x="1011627" y="39390"/>
                </a:lnTo>
                <a:lnTo>
                  <a:pt x="1048325" y="63994"/>
                </a:lnTo>
                <a:lnTo>
                  <a:pt x="1058404" y="407335"/>
                </a:lnTo>
                <a:lnTo>
                  <a:pt x="1057113" y="419169"/>
                </a:lnTo>
                <a:lnTo>
                  <a:pt x="1032509" y="455867"/>
                </a:lnTo>
                <a:lnTo>
                  <a:pt x="997883" y="466041"/>
                </a:lnTo>
                <a:lnTo>
                  <a:pt x="1029738" y="466041"/>
                </a:lnTo>
                <a:lnTo>
                  <a:pt x="1060767" y="433101"/>
                </a:lnTo>
                <a:lnTo>
                  <a:pt x="1066024" y="407335"/>
                </a:lnTo>
                <a:lnTo>
                  <a:pt x="1065965" y="96709"/>
                </a:lnTo>
                <a:lnTo>
                  <a:pt x="1054671" y="59712"/>
                </a:lnTo>
                <a:lnTo>
                  <a:pt x="1036791" y="41832"/>
                </a:lnTo>
                <a:lnTo>
                  <a:pt x="1029739" y="38004"/>
                </a:lnTo>
                <a:close/>
              </a:path>
            </a:pathLst>
          </a:custGeom>
          <a:solidFill>
            <a:srgbClr val="D6009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108" y="2453132"/>
            <a:ext cx="7844790" cy="13150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32740" marR="1824989" indent="-320040">
              <a:lnSpc>
                <a:spcPct val="100800"/>
              </a:lnSpc>
              <a:spcBef>
                <a:spcPts val="75"/>
              </a:spcBef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400" spc="-5">
                <a:latin typeface="Calibri"/>
                <a:cs typeface="Calibri"/>
              </a:rPr>
              <a:t>See </a:t>
            </a:r>
            <a:r>
              <a:rPr dirty="0" sz="2400" spc="-5" i="1">
                <a:latin typeface="Calibri"/>
                <a:cs typeface="Calibri"/>
              </a:rPr>
              <a:t>Gromov et </a:t>
            </a:r>
            <a:r>
              <a:rPr dirty="0" sz="2400" i="1">
                <a:latin typeface="Calibri"/>
                <a:cs typeface="Calibri"/>
              </a:rPr>
              <a:t>al. </a:t>
            </a:r>
            <a:r>
              <a:rPr dirty="0" sz="2400" spc="-5" i="1">
                <a:latin typeface="Calibri"/>
                <a:cs typeface="Calibri"/>
              </a:rPr>
              <a:t>1987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its </a:t>
            </a:r>
            <a:r>
              <a:rPr dirty="0" sz="2400" spc="-10">
                <a:latin typeface="Calibri"/>
                <a:cs typeface="Calibri"/>
              </a:rPr>
              <a:t>formula, </a:t>
            </a:r>
            <a:r>
              <a:rPr dirty="0" sz="2400">
                <a:latin typeface="Calibri"/>
                <a:cs typeface="Calibri"/>
              </a:rPr>
              <a:t>and an  </a:t>
            </a:r>
            <a:r>
              <a:rPr dirty="0" sz="2400" spc="-10">
                <a:latin typeface="Calibri"/>
                <a:cs typeface="Calibri"/>
              </a:rPr>
              <a:t>implementation can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15">
                <a:latin typeface="Calibri"/>
                <a:cs typeface="Calibri"/>
              </a:rPr>
              <a:t>found</a:t>
            </a:r>
            <a:r>
              <a:rPr dirty="0" sz="2400" spc="-50">
                <a:solidFill>
                  <a:srgbClr val="168BBA"/>
                </a:solidFill>
                <a:latin typeface="Calibri"/>
                <a:cs typeface="Calibri"/>
              </a:rPr>
              <a:t> </a:t>
            </a:r>
            <a:r>
              <a:rPr dirty="0" sz="2400" spc="-10" u="heavy">
                <a:solidFill>
                  <a:srgbClr val="168BBA"/>
                </a:solidFill>
                <a:latin typeface="Calibri"/>
                <a:cs typeface="Calibri"/>
              </a:rPr>
              <a:t>here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510"/>
              </a:lnSpc>
              <a:buClr>
                <a:srgbClr val="F0AD00"/>
              </a:buClr>
              <a:buSzPct val="79166"/>
              <a:buFont typeface="Arial"/>
              <a:buChar char="▪"/>
              <a:tabLst>
                <a:tab pos="332105" algn="l"/>
                <a:tab pos="332740" algn="l"/>
                <a:tab pos="2283460" algn="l"/>
              </a:tabLst>
            </a:pPr>
            <a:r>
              <a:rPr dirty="0" sz="2400" spc="-10">
                <a:latin typeface="Calibri"/>
                <a:cs typeface="Calibri"/>
              </a:rPr>
              <a:t>Lower</a:t>
            </a:r>
            <a:r>
              <a:rPr dirty="0" sz="24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of	</a:t>
            </a:r>
            <a:r>
              <a:rPr dirty="0" sz="2400" spc="-10">
                <a:latin typeface="Calibri"/>
                <a:cs typeface="Calibri"/>
              </a:rPr>
              <a:t>hyperbolicity: </a:t>
            </a:r>
            <a:r>
              <a:rPr dirty="0" sz="2400" spc="-15">
                <a:latin typeface="Calibri"/>
                <a:cs typeface="Calibri"/>
              </a:rPr>
              <a:t>graph </a:t>
            </a:r>
            <a:r>
              <a:rPr dirty="0" sz="2400" spc="-5">
                <a:latin typeface="Calibri"/>
                <a:cs typeface="Calibri"/>
              </a:rPr>
              <a:t>is </a:t>
            </a:r>
            <a:r>
              <a:rPr dirty="0" sz="2400" spc="-15">
                <a:latin typeface="Calibri"/>
                <a:cs typeface="Calibri"/>
              </a:rPr>
              <a:t>more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tree-like</a:t>
            </a:r>
            <a:endParaRPr sz="2400">
              <a:latin typeface="Calibri"/>
              <a:cs typeface="Calibri"/>
            </a:endParaRPr>
          </a:p>
          <a:p>
            <a:pPr algn="r" marR="5080">
              <a:lnSpc>
                <a:spcPts val="1860"/>
              </a:lnSpc>
            </a:pP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N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on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-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i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r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rc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h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ic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a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73166" y="3733291"/>
            <a:ext cx="7753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data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s</a:t>
            </a:r>
            <a:r>
              <a:rPr dirty="0" sz="1800" spc="-5">
                <a:solidFill>
                  <a:srgbClr val="D60093"/>
                </a:solidFill>
                <a:latin typeface="Arial"/>
                <a:cs typeface="Arial"/>
              </a:rPr>
              <a:t>e</a:t>
            </a:r>
            <a:r>
              <a:rPr dirty="0" sz="1800">
                <a:solidFill>
                  <a:srgbClr val="D60093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6263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796798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5" b="0">
                <a:latin typeface="Calibri"/>
                <a:cs typeface="Calibri"/>
              </a:rPr>
              <a:t>We </a:t>
            </a:r>
            <a:r>
              <a:rPr dirty="0" sz="3000" spc="-15" b="0">
                <a:latin typeface="Calibri"/>
                <a:cs typeface="Calibri"/>
              </a:rPr>
              <a:t>introduce </a:t>
            </a:r>
            <a:r>
              <a:rPr dirty="0" sz="3000" spc="-10">
                <a:solidFill>
                  <a:srgbClr val="C00000"/>
                </a:solidFill>
              </a:rPr>
              <a:t>hyperbolic geometry </a:t>
            </a:r>
            <a:r>
              <a:rPr dirty="0" sz="3000" b="0">
                <a:latin typeface="Calibri"/>
                <a:cs typeface="Calibri"/>
              </a:rPr>
              <a:t>as </a:t>
            </a:r>
            <a:r>
              <a:rPr dirty="0" sz="3000" spc="-5" b="0">
                <a:latin typeface="Calibri"/>
                <a:cs typeface="Calibri"/>
              </a:rPr>
              <a:t>the  embedding space </a:t>
            </a:r>
            <a:r>
              <a:rPr dirty="0" sz="3000" spc="-20" b="0">
                <a:latin typeface="Calibri"/>
                <a:cs typeface="Calibri"/>
              </a:rPr>
              <a:t>to </a:t>
            </a:r>
            <a:r>
              <a:rPr dirty="0" sz="3000" spc="-5" b="0">
                <a:latin typeface="Calibri"/>
                <a:cs typeface="Calibri"/>
              </a:rPr>
              <a:t>embed </a:t>
            </a:r>
            <a:r>
              <a:rPr dirty="0" sz="3000" spc="-15" b="0">
                <a:latin typeface="Calibri"/>
                <a:cs typeface="Calibri"/>
              </a:rPr>
              <a:t>hierarchical, </a:t>
            </a:r>
            <a:r>
              <a:rPr dirty="0" sz="3000" spc="-20" b="0">
                <a:latin typeface="Calibri"/>
                <a:cs typeface="Calibri"/>
              </a:rPr>
              <a:t>tree-like  </a:t>
            </a:r>
            <a:r>
              <a:rPr dirty="0" sz="3000" spc="-15" b="0">
                <a:latin typeface="Calibri"/>
                <a:cs typeface="Calibri"/>
              </a:rPr>
              <a:t>graphs</a:t>
            </a:r>
            <a:endParaRPr sz="30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0">
                <a:latin typeface="Calibri"/>
                <a:cs typeface="Calibri"/>
              </a:rPr>
              <a:t>2 </a:t>
            </a:r>
            <a:r>
              <a:rPr dirty="0" sz="3000" spc="-5" b="0">
                <a:latin typeface="Calibri"/>
                <a:cs typeface="Calibri"/>
              </a:rPr>
              <a:t>models </a:t>
            </a:r>
            <a:r>
              <a:rPr dirty="0" sz="3000" spc="-25" b="0">
                <a:latin typeface="Calibri"/>
                <a:cs typeface="Calibri"/>
              </a:rPr>
              <a:t>for </a:t>
            </a:r>
            <a:r>
              <a:rPr dirty="0" sz="3000" spc="-15" b="0">
                <a:latin typeface="Calibri"/>
                <a:cs typeface="Calibri"/>
              </a:rPr>
              <a:t>representing </a:t>
            </a:r>
            <a:r>
              <a:rPr dirty="0" sz="3000" spc="-10" b="0">
                <a:latin typeface="Calibri"/>
                <a:cs typeface="Calibri"/>
              </a:rPr>
              <a:t>hyperbolic</a:t>
            </a:r>
            <a:r>
              <a:rPr dirty="0" sz="3000" spc="-15" b="0">
                <a:latin typeface="Calibri"/>
                <a:cs typeface="Calibri"/>
              </a:rPr>
              <a:t> </a:t>
            </a:r>
            <a:r>
              <a:rPr dirty="0" sz="3000" spc="-5" b="0">
                <a:latin typeface="Calibri"/>
                <a:cs typeface="Calibri"/>
              </a:rPr>
              <a:t>space: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178555"/>
            <a:ext cx="779716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>
              <a:lnSpc>
                <a:spcPct val="100000"/>
              </a:lnSpc>
              <a:spcBef>
                <a:spcPts val="100"/>
              </a:spcBef>
            </a:pPr>
            <a:r>
              <a:rPr dirty="0" sz="3000" spc="-20" b="1">
                <a:solidFill>
                  <a:srgbClr val="0070C0"/>
                </a:solidFill>
                <a:latin typeface="Calibri"/>
                <a:cs typeface="Calibri"/>
              </a:rPr>
              <a:t>Poincaré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ball </a:t>
            </a:r>
            <a:r>
              <a:rPr dirty="0" sz="3000" spc="-5">
                <a:latin typeface="Calibri"/>
                <a:cs typeface="Calibri"/>
              </a:rPr>
              <a:t>model and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hyperboloid</a:t>
            </a:r>
            <a:r>
              <a:rPr dirty="0" sz="3000" spc="2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000" spc="-5">
                <a:latin typeface="Calibri"/>
                <a:cs typeface="Calibri"/>
              </a:rPr>
              <a:t>model</a:t>
            </a:r>
            <a:endParaRPr sz="3000">
              <a:latin typeface="Calibri"/>
              <a:cs typeface="Calibri"/>
            </a:endParaRPr>
          </a:p>
          <a:p>
            <a:pPr marL="332740" marR="51435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>
                <a:latin typeface="Calibri"/>
                <a:cs typeface="Calibri"/>
              </a:rPr>
              <a:t>Use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exponential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and </a:t>
            </a:r>
            <a:r>
              <a:rPr dirty="0" sz="3000" spc="-10" b="1">
                <a:solidFill>
                  <a:srgbClr val="0070C0"/>
                </a:solidFill>
                <a:latin typeface="Calibri"/>
                <a:cs typeface="Calibri"/>
              </a:rPr>
              <a:t>logarithmic </a:t>
            </a:r>
            <a:r>
              <a:rPr dirty="0" sz="3000" spc="-5" b="1">
                <a:solidFill>
                  <a:srgbClr val="0070C0"/>
                </a:solidFill>
                <a:latin typeface="Calibri"/>
                <a:cs typeface="Calibri"/>
              </a:rPr>
              <a:t>map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>
                <a:latin typeface="Calibri"/>
                <a:cs typeface="Calibri"/>
              </a:rPr>
              <a:t>map  </a:t>
            </a:r>
            <a:r>
              <a:rPr dirty="0" sz="3000" spc="-10">
                <a:latin typeface="Calibri"/>
                <a:cs typeface="Calibri"/>
              </a:rPr>
              <a:t>points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and </a:t>
            </a:r>
            <a:r>
              <a:rPr dirty="0" sz="3000" spc="-15">
                <a:latin typeface="Calibri"/>
                <a:cs typeface="Calibri"/>
              </a:rPr>
              <a:t>from </a:t>
            </a:r>
            <a:r>
              <a:rPr dirty="0" sz="3000" spc="-20">
                <a:latin typeface="Calibri"/>
                <a:cs typeface="Calibri"/>
              </a:rPr>
              <a:t>tangent </a:t>
            </a:r>
            <a:r>
              <a:rPr dirty="0" sz="3000" spc="-5">
                <a:latin typeface="Calibri"/>
                <a:cs typeface="Calibri"/>
              </a:rPr>
              <a:t>spaces </a:t>
            </a:r>
            <a:r>
              <a:rPr dirty="0" sz="3000" spc="-15">
                <a:latin typeface="Calibri"/>
                <a:cs typeface="Calibri"/>
              </a:rPr>
              <a:t>where neural  </a:t>
            </a:r>
            <a:r>
              <a:rPr dirty="0" sz="3000" spc="-10">
                <a:latin typeface="Calibri"/>
                <a:cs typeface="Calibri"/>
              </a:rPr>
              <a:t>network </a:t>
            </a:r>
            <a:r>
              <a:rPr dirty="0" sz="3000" spc="-15">
                <a:latin typeface="Calibri"/>
                <a:cs typeface="Calibri"/>
              </a:rPr>
              <a:t>operations can </a:t>
            </a:r>
            <a:r>
              <a:rPr dirty="0" sz="3000" spc="-5">
                <a:latin typeface="Calibri"/>
                <a:cs typeface="Calibri"/>
              </a:rPr>
              <a:t>be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performed</a:t>
            </a:r>
            <a:endParaRPr sz="3000">
              <a:latin typeface="Calibri"/>
              <a:cs typeface="Calibri"/>
            </a:endParaRPr>
          </a:p>
          <a:p>
            <a:pPr marL="332740" marR="508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008000"/>
                </a:solidFill>
                <a:latin typeface="Calibri"/>
                <a:cs typeface="Calibri"/>
              </a:rPr>
              <a:t>Learnable </a:t>
            </a:r>
            <a:r>
              <a:rPr dirty="0" sz="3000" spc="-15" b="1">
                <a:solidFill>
                  <a:srgbClr val="008000"/>
                </a:solidFill>
                <a:latin typeface="Calibri"/>
                <a:cs typeface="Calibri"/>
              </a:rPr>
              <a:t>curvature </a:t>
            </a:r>
            <a:r>
              <a:rPr dirty="0" sz="3000" spc="-10">
                <a:latin typeface="Calibri"/>
                <a:cs typeface="Calibri"/>
              </a:rPr>
              <a:t>allows </a:t>
            </a:r>
            <a:r>
              <a:rPr dirty="0" sz="3000" spc="-5">
                <a:latin typeface="Calibri"/>
                <a:cs typeface="Calibri"/>
              </a:rPr>
              <a:t>the model </a:t>
            </a:r>
            <a:r>
              <a:rPr dirty="0" sz="3000" spc="-20">
                <a:latin typeface="Calibri"/>
                <a:cs typeface="Calibri"/>
              </a:rPr>
              <a:t>to </a:t>
            </a:r>
            <a:r>
              <a:rPr dirty="0" sz="3000" spc="-5">
                <a:latin typeface="Calibri"/>
                <a:cs typeface="Calibri"/>
              </a:rPr>
              <a:t>learn </a:t>
            </a:r>
            <a:r>
              <a:rPr dirty="0" sz="3000">
                <a:latin typeface="Calibri"/>
                <a:cs typeface="Calibri"/>
              </a:rPr>
              <a:t>a  </a:t>
            </a:r>
            <a:r>
              <a:rPr dirty="0" sz="3000" spc="-15">
                <a:latin typeface="Calibri"/>
                <a:cs typeface="Calibri"/>
              </a:rPr>
              <a:t>tradeoff between </a:t>
            </a:r>
            <a:r>
              <a:rPr dirty="0" sz="3000" spc="-10">
                <a:latin typeface="Calibri"/>
                <a:cs typeface="Calibri"/>
              </a:rPr>
              <a:t>performance </a:t>
            </a:r>
            <a:r>
              <a:rPr dirty="0" sz="3000" spc="-5">
                <a:latin typeface="Calibri"/>
                <a:cs typeface="Calibri"/>
              </a:rPr>
              <a:t>and</a:t>
            </a:r>
            <a:r>
              <a:rPr dirty="0" sz="3000" spc="-10">
                <a:latin typeface="Calibri"/>
                <a:cs typeface="Calibri"/>
              </a:rPr>
              <a:t> </a:t>
            </a:r>
            <a:r>
              <a:rPr dirty="0" sz="3000" spc="-15">
                <a:latin typeface="Calibri"/>
                <a:cs typeface="Calibri"/>
              </a:rPr>
              <a:t>stability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3/18/21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3615" y="6694423"/>
            <a:ext cx="3002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Graphs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9697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1623" y="3529584"/>
            <a:ext cx="6931152" cy="14782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434072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655"/>
            <a:ext cx="399161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/>
              <a:t>GNN </a:t>
            </a:r>
            <a:r>
              <a:rPr dirty="0" sz="2700" spc="-15"/>
              <a:t>architectural</a:t>
            </a:r>
            <a:r>
              <a:rPr dirty="0" sz="2700" spc="-20"/>
              <a:t> </a:t>
            </a:r>
            <a:r>
              <a:rPr dirty="0" sz="2700" spc="-5"/>
              <a:t>design:</a:t>
            </a:r>
            <a:endParaRPr sz="2700"/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4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67332"/>
            <a:ext cx="7558405" cy="4734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695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latin typeface="Calibri"/>
                <a:cs typeface="Calibri"/>
              </a:rPr>
              <a:t>How </a:t>
            </a:r>
            <a:r>
              <a:rPr dirty="0" sz="2400" spc="-15">
                <a:latin typeface="Calibri"/>
                <a:cs typeface="Calibri"/>
              </a:rPr>
              <a:t>to </a:t>
            </a:r>
            <a:r>
              <a:rPr dirty="0" sz="2400" spc="-5">
                <a:latin typeface="Calibri"/>
                <a:cs typeface="Calibri"/>
              </a:rPr>
              <a:t>find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good </a:t>
            </a:r>
            <a:r>
              <a:rPr dirty="0" sz="2400" spc="-5">
                <a:latin typeface="Calibri"/>
                <a:cs typeface="Calibri"/>
              </a:rPr>
              <a:t>GNN design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specific GNN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task?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05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10" b="1">
                <a:latin typeface="Calibri"/>
                <a:cs typeface="Calibri"/>
              </a:rPr>
              <a:t>Important </a:t>
            </a:r>
            <a:r>
              <a:rPr dirty="0" sz="2700" b="1">
                <a:latin typeface="Calibri"/>
                <a:cs typeface="Calibri"/>
              </a:rPr>
              <a:t>but</a:t>
            </a:r>
            <a:r>
              <a:rPr dirty="0" sz="2700" spc="-25" b="1">
                <a:latin typeface="Calibri"/>
                <a:cs typeface="Calibri"/>
              </a:rPr>
              <a:t> </a:t>
            </a:r>
            <a:r>
              <a:rPr dirty="0" sz="2700" spc="-5" b="1">
                <a:latin typeface="Calibri"/>
                <a:cs typeface="Calibri"/>
              </a:rPr>
              <a:t>challenging:</a:t>
            </a:r>
            <a:endParaRPr sz="27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GNNs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have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been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very successful in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various</a:t>
            </a:r>
            <a:r>
              <a:rPr dirty="0" sz="240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lvl="1" marL="625475" marR="59690" indent="-274320">
              <a:lnSpc>
                <a:spcPts val="2620"/>
              </a:lnSpc>
              <a:spcBef>
                <a:spcPts val="6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Domain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experts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want to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use </a:t>
            </a:r>
            <a:r>
              <a:rPr dirty="0" sz="2400" spc="-65">
                <a:solidFill>
                  <a:srgbClr val="C00000"/>
                </a:solidFill>
                <a:latin typeface="Calibri"/>
                <a:cs typeface="Calibri"/>
              </a:rPr>
              <a:t>SOTA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GNN on their </a:t>
            </a:r>
            <a:r>
              <a:rPr dirty="0" sz="2400" spc="-70">
                <a:solidFill>
                  <a:srgbClr val="C00000"/>
                </a:solidFill>
                <a:latin typeface="Calibri"/>
                <a:cs typeface="Calibri"/>
              </a:rPr>
              <a:t>specific 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tasks,</a:t>
            </a:r>
            <a:r>
              <a:rPr dirty="0" sz="2400" spc="-7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C00000"/>
                </a:solidFill>
                <a:latin typeface="Calibri"/>
                <a:cs typeface="Calibri"/>
              </a:rPr>
              <a:t>however...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16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There are tons </a:t>
            </a:r>
            <a:r>
              <a:rPr dirty="0" sz="2000" spc="-5">
                <a:latin typeface="Calibri"/>
                <a:cs typeface="Calibri"/>
              </a:rPr>
              <a:t>of possible GNN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31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Best </a:t>
            </a:r>
            <a:r>
              <a:rPr dirty="0" sz="2000" spc="-5">
                <a:latin typeface="Calibri"/>
                <a:cs typeface="Calibri"/>
              </a:rPr>
              <a:t>design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one task can </a:t>
            </a:r>
            <a:r>
              <a:rPr dirty="0" sz="2000" spc="-10">
                <a:latin typeface="Calibri"/>
                <a:cs typeface="Calibri"/>
              </a:rPr>
              <a:t>perform </a:t>
            </a:r>
            <a:r>
              <a:rPr dirty="0" sz="2000" spc="-5">
                <a:latin typeface="Calibri"/>
                <a:cs typeface="Calibri"/>
              </a:rPr>
              <a:t>badly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 spc="-5">
                <a:latin typeface="Calibri"/>
                <a:cs typeface="Calibri"/>
              </a:rPr>
              <a:t>another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task</a:t>
            </a:r>
            <a:endParaRPr sz="2000">
              <a:latin typeface="Calibri"/>
              <a:cs typeface="Calibri"/>
            </a:endParaRPr>
          </a:p>
          <a:p>
            <a:pPr lvl="2" marL="890905" indent="-228600">
              <a:lnSpc>
                <a:spcPts val="2255"/>
              </a:lnSpc>
              <a:spcBef>
                <a:spcPts val="19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000" spc="-10">
                <a:latin typeface="Calibri"/>
                <a:cs typeface="Calibri"/>
              </a:rPr>
              <a:t>Redo </a:t>
            </a:r>
            <a:r>
              <a:rPr dirty="0" sz="2000" spc="-5">
                <a:latin typeface="Calibri"/>
                <a:cs typeface="Calibri"/>
              </a:rPr>
              <a:t>grid search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each </a:t>
            </a:r>
            <a:r>
              <a:rPr dirty="0" sz="2000" spc="-5">
                <a:latin typeface="Calibri"/>
                <a:cs typeface="Calibri"/>
              </a:rPr>
              <a:t>new task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2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feasible</a:t>
            </a:r>
            <a:endParaRPr sz="2000">
              <a:latin typeface="Calibri"/>
              <a:cs typeface="Calibri"/>
            </a:endParaRPr>
          </a:p>
          <a:p>
            <a:pPr marL="332740" indent="-320040">
              <a:lnSpc>
                <a:spcPts val="3095"/>
              </a:lnSpc>
              <a:buClr>
                <a:srgbClr val="F0AD00"/>
              </a:buClr>
              <a:buSzPct val="8148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Our </a:t>
            </a:r>
            <a:r>
              <a:rPr dirty="0" sz="2700" spc="-35" b="1">
                <a:solidFill>
                  <a:srgbClr val="C00000"/>
                </a:solidFill>
                <a:latin typeface="Calibri"/>
                <a:cs typeface="Calibri"/>
              </a:rPr>
              <a:t>key</a:t>
            </a:r>
            <a:r>
              <a:rPr dirty="0" sz="27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700" spc="-5" b="1">
                <a:solidFill>
                  <a:srgbClr val="C00000"/>
                </a:solidFill>
                <a:latin typeface="Calibri"/>
                <a:cs typeface="Calibri"/>
              </a:rPr>
              <a:t>contribution:</a:t>
            </a:r>
            <a:endParaRPr sz="2700">
              <a:latin typeface="Calibri"/>
              <a:cs typeface="Calibri"/>
            </a:endParaRPr>
          </a:p>
          <a:p>
            <a:pPr lvl="1" marL="625475" marR="5080" indent="-274320">
              <a:lnSpc>
                <a:spcPts val="2590"/>
              </a:lnSpc>
              <a:spcBef>
                <a:spcPts val="58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The </a:t>
            </a:r>
            <a:r>
              <a:rPr dirty="0" sz="2400" spc="-20">
                <a:latin typeface="Calibri"/>
                <a:cs typeface="Calibri"/>
              </a:rPr>
              <a:t>first systematic </a:t>
            </a:r>
            <a:r>
              <a:rPr dirty="0" sz="2400" spc="-10">
                <a:latin typeface="Calibri"/>
                <a:cs typeface="Calibri"/>
              </a:rPr>
              <a:t>study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5" b="1" i="1">
                <a:latin typeface="Calibri"/>
                <a:cs typeface="Calibri"/>
              </a:rPr>
              <a:t>GNN design </a:t>
            </a:r>
            <a:r>
              <a:rPr dirty="0" sz="2400" spc="-10" b="1" i="1">
                <a:latin typeface="Calibri"/>
                <a:cs typeface="Calibri"/>
              </a:rPr>
              <a:t>space </a:t>
            </a:r>
            <a:r>
              <a:rPr dirty="0" sz="2400" spc="-180" b="1" i="1">
                <a:latin typeface="Calibri"/>
                <a:cs typeface="Calibri"/>
              </a:rPr>
              <a:t>and  </a:t>
            </a:r>
            <a:r>
              <a:rPr dirty="0" sz="2400" spc="-10" b="1" i="1">
                <a:latin typeface="Calibri"/>
                <a:cs typeface="Calibri"/>
              </a:rPr>
              <a:t>task</a:t>
            </a:r>
            <a:r>
              <a:rPr dirty="0" sz="2400" spc="-70" b="1" i="1">
                <a:latin typeface="Calibri"/>
                <a:cs typeface="Calibri"/>
              </a:rPr>
              <a:t> </a:t>
            </a:r>
            <a:r>
              <a:rPr dirty="0" sz="2400" spc="-10" b="1" i="1">
                <a:latin typeface="Calibri"/>
                <a:cs typeface="Calibri"/>
              </a:rPr>
              <a:t>space</a:t>
            </a:r>
            <a:endParaRPr sz="2400">
              <a:latin typeface="Calibri"/>
              <a:cs typeface="Calibri"/>
            </a:endParaRPr>
          </a:p>
          <a:p>
            <a:pPr lvl="1" marL="625475" marR="172085" indent="-274320">
              <a:lnSpc>
                <a:spcPts val="259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 spc="-15" b="1">
                <a:latin typeface="Calibri"/>
                <a:cs typeface="Calibri"/>
              </a:rPr>
              <a:t>GraphGym</a:t>
            </a:r>
            <a:r>
              <a:rPr dirty="0" sz="2400" spc="-15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powerful </a:t>
            </a:r>
            <a:r>
              <a:rPr dirty="0" sz="2400" spc="-15">
                <a:latin typeface="Calibri"/>
                <a:cs typeface="Calibri"/>
              </a:rPr>
              <a:t>platform </a:t>
            </a:r>
            <a:r>
              <a:rPr dirty="0" sz="2400" spc="-20">
                <a:latin typeface="Calibri"/>
                <a:cs typeface="Calibri"/>
              </a:rPr>
              <a:t>for </a:t>
            </a:r>
            <a:r>
              <a:rPr dirty="0" sz="2400" spc="-10">
                <a:latin typeface="Calibri"/>
                <a:cs typeface="Calibri"/>
              </a:rPr>
              <a:t>exploring </a:t>
            </a:r>
            <a:r>
              <a:rPr dirty="0" sz="2400" spc="-75">
                <a:latin typeface="Calibri"/>
                <a:cs typeface="Calibri"/>
              </a:rPr>
              <a:t>different  </a:t>
            </a:r>
            <a:r>
              <a:rPr dirty="0" sz="2400" spc="-5">
                <a:latin typeface="Calibri"/>
                <a:cs typeface="Calibri"/>
              </a:rPr>
              <a:t>GNN designs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0389" y="20827"/>
            <a:ext cx="51600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J.You, </a:t>
            </a:r>
            <a:r>
              <a:rPr dirty="0" sz="1200" spc="5">
                <a:solidFill>
                  <a:srgbClr val="FFFFFF"/>
                </a:solidFill>
                <a:latin typeface="Corbel"/>
                <a:cs typeface="Corbel"/>
              </a:rPr>
              <a:t>R.Ying, </a:t>
            </a:r>
            <a:r>
              <a:rPr dirty="0" sz="1200">
                <a:solidFill>
                  <a:srgbClr val="FFFFFF"/>
                </a:solidFill>
                <a:latin typeface="Corbel"/>
                <a:cs typeface="Corbel"/>
              </a:rPr>
              <a:t>J. 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Leskovec.</a:t>
            </a:r>
            <a:r>
              <a:rPr dirty="0" sz="1200" spc="-5">
                <a:solidFill>
                  <a:srgbClr val="168BBA"/>
                </a:solidFill>
                <a:latin typeface="Corbel"/>
                <a:cs typeface="Corbel"/>
              </a:rPr>
              <a:t> </a:t>
            </a:r>
            <a:r>
              <a:rPr dirty="0" sz="1200" spc="-5" u="sng">
                <a:solidFill>
                  <a:srgbClr val="168BBA"/>
                </a:solidFill>
                <a:latin typeface="Corbel"/>
                <a:cs typeface="Corbel"/>
              </a:rPr>
              <a:t>Design Space of Graph Neural Networks</a:t>
            </a:r>
            <a:r>
              <a:rPr dirty="0" sz="1200" spc="-5">
                <a:solidFill>
                  <a:srgbClr val="FFFFFF"/>
                </a:solidFill>
                <a:latin typeface="Corbel"/>
                <a:cs typeface="Corbel"/>
              </a:rPr>
              <a:t>, NeurIPS</a:t>
            </a:r>
            <a:r>
              <a:rPr dirty="0" sz="1200" spc="-11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orbel"/>
                <a:cs typeface="Corbel"/>
              </a:rPr>
              <a:t>2020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910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1147"/>
            <a:ext cx="591502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/>
              <a:t>Design: </a:t>
            </a:r>
            <a:r>
              <a:rPr dirty="0" sz="2800" b="0">
                <a:latin typeface="Calibri"/>
                <a:cs typeface="Calibri"/>
              </a:rPr>
              <a:t>a </a:t>
            </a:r>
            <a:r>
              <a:rPr dirty="0" sz="2800" spc="-20" b="0">
                <a:latin typeface="Calibri"/>
                <a:cs typeface="Calibri"/>
              </a:rPr>
              <a:t>concrete </a:t>
            </a:r>
            <a:r>
              <a:rPr dirty="0" sz="2800" spc="-5" b="0">
                <a:latin typeface="Calibri"/>
                <a:cs typeface="Calibri"/>
              </a:rPr>
              <a:t>model</a:t>
            </a:r>
            <a:r>
              <a:rPr dirty="0" sz="2800" spc="-20" b="0">
                <a:latin typeface="Calibri"/>
                <a:cs typeface="Calibri"/>
              </a:rPr>
              <a:t> </a:t>
            </a:r>
            <a:r>
              <a:rPr dirty="0" sz="2800" spc="-15" b="0">
                <a:latin typeface="Calibri"/>
                <a:cs typeface="Calibri"/>
              </a:rPr>
              <a:t>instantiation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5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699893"/>
            <a:ext cx="152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779523"/>
            <a:ext cx="7424420" cy="4605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69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a </a:t>
            </a:r>
            <a:r>
              <a:rPr dirty="0" sz="2400" spc="-15">
                <a:latin typeface="Calibri"/>
                <a:cs typeface="Calibri"/>
              </a:rPr>
              <a:t>4-layer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GraphSAGE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17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Design dimensions </a:t>
            </a:r>
            <a:r>
              <a:rPr dirty="0" sz="2800" spc="-20">
                <a:latin typeface="Calibri"/>
                <a:cs typeface="Calibri"/>
              </a:rPr>
              <a:t>characterize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design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2740"/>
              </a:lnSpc>
              <a:spcBef>
                <a:spcPts val="22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5">
                <a:latin typeface="Calibri"/>
                <a:cs typeface="Calibri"/>
              </a:rPr>
              <a:t>the number of </a:t>
            </a:r>
            <a:r>
              <a:rPr dirty="0" sz="2400" spc="-25">
                <a:latin typeface="Calibri"/>
                <a:cs typeface="Calibri"/>
              </a:rPr>
              <a:t>layers </a:t>
            </a:r>
            <a:r>
              <a:rPr dirty="0" sz="2400">
                <a:latin typeface="Calibri"/>
                <a:cs typeface="Calibri"/>
              </a:rPr>
              <a:t>L </a:t>
            </a:r>
            <a:r>
              <a:rPr dirty="0" sz="2400">
                <a:latin typeface="Cambria Math"/>
                <a:cs typeface="Cambria Math"/>
              </a:rPr>
              <a:t>∈ </a:t>
            </a:r>
            <a:r>
              <a:rPr dirty="0" sz="2400" spc="-5">
                <a:latin typeface="Calibri"/>
                <a:cs typeface="Calibri"/>
              </a:rPr>
              <a:t>{2, 4, 6,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8}</a:t>
            </a:r>
            <a:endParaRPr sz="2400">
              <a:latin typeface="Calibri"/>
              <a:cs typeface="Calibri"/>
            </a:endParaRPr>
          </a:p>
          <a:p>
            <a:pPr marL="332740" marR="194310" indent="-320040">
              <a:lnSpc>
                <a:spcPts val="3000"/>
              </a:lnSpc>
              <a:spcBef>
                <a:spcPts val="25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Design choice </a:t>
            </a:r>
            <a:r>
              <a:rPr dirty="0" sz="2800" spc="-5">
                <a:latin typeface="Calibri"/>
                <a:cs typeface="Calibri"/>
              </a:rPr>
              <a:t>is the actual </a:t>
            </a:r>
            <a:r>
              <a:rPr dirty="0" sz="2800" spc="-10">
                <a:latin typeface="Calibri"/>
                <a:cs typeface="Calibri"/>
              </a:rPr>
              <a:t>selected </a:t>
            </a:r>
            <a:r>
              <a:rPr dirty="0" sz="2800" spc="-15">
                <a:latin typeface="Calibri"/>
                <a:cs typeface="Calibri"/>
              </a:rPr>
              <a:t>value </a:t>
            </a:r>
            <a:r>
              <a:rPr dirty="0" sz="2800" spc="-5">
                <a:latin typeface="Calibri"/>
                <a:cs typeface="Calibri"/>
              </a:rPr>
              <a:t>in the  design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dimension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2690"/>
              </a:lnSpc>
              <a:spcBef>
                <a:spcPts val="3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L =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332740" marR="300355" indent="-320040">
              <a:lnSpc>
                <a:spcPts val="3000"/>
              </a:lnSpc>
              <a:spcBef>
                <a:spcPts val="204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latin typeface="Calibri"/>
                <a:cs typeface="Calibri"/>
              </a:rPr>
              <a:t>Design space </a:t>
            </a:r>
            <a:r>
              <a:rPr dirty="0" sz="2800" spc="-10">
                <a:latin typeface="Calibri"/>
                <a:cs typeface="Calibri"/>
              </a:rPr>
              <a:t>consists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Cartesian product </a:t>
            </a:r>
            <a:r>
              <a:rPr dirty="0" sz="2800" spc="-5">
                <a:latin typeface="Calibri"/>
                <a:cs typeface="Calibri"/>
              </a:rPr>
              <a:t>of  design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dimensions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2960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45" b="1">
                <a:latin typeface="Calibri"/>
                <a:cs typeface="Calibri"/>
              </a:rPr>
              <a:t>Task: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specific </a:t>
            </a:r>
            <a:r>
              <a:rPr dirty="0" sz="2800" spc="-15">
                <a:latin typeface="Calibri"/>
                <a:cs typeface="Calibri"/>
              </a:rPr>
              <a:t>task </a:t>
            </a:r>
            <a:r>
              <a:rPr dirty="0" sz="2800" spc="-5">
                <a:latin typeface="Calibri"/>
                <a:cs typeface="Calibri"/>
              </a:rPr>
              <a:t>of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interest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ts val="262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400">
                <a:latin typeface="Calibri"/>
                <a:cs typeface="Calibri"/>
              </a:rPr>
              <a:t>E.g.,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classification </a:t>
            </a:r>
            <a:r>
              <a:rPr dirty="0" sz="2400" spc="-5">
                <a:latin typeface="Calibri"/>
                <a:cs typeface="Calibri"/>
              </a:rPr>
              <a:t>on </a:t>
            </a:r>
            <a:r>
              <a:rPr dirty="0" sz="2400" spc="-15">
                <a:latin typeface="Calibri"/>
                <a:cs typeface="Calibri"/>
              </a:rPr>
              <a:t>Cora, graph </a:t>
            </a:r>
            <a:r>
              <a:rPr dirty="0" sz="2400" spc="-10">
                <a:latin typeface="Calibri"/>
                <a:cs typeface="Calibri"/>
              </a:rPr>
              <a:t>classification </a:t>
            </a:r>
            <a:r>
              <a:rPr dirty="0" sz="2400" spc="-250">
                <a:latin typeface="Calibri"/>
                <a:cs typeface="Calibri"/>
              </a:rPr>
              <a:t>on  </a:t>
            </a:r>
            <a:r>
              <a:rPr dirty="0" sz="2400" spc="-10">
                <a:latin typeface="Calibri"/>
                <a:cs typeface="Calibri"/>
              </a:rPr>
              <a:t>ENZYMES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2915"/>
              </a:lnSpc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5" b="1">
                <a:latin typeface="Calibri"/>
                <a:cs typeface="Calibri"/>
              </a:rPr>
              <a:t>Task </a:t>
            </a:r>
            <a:r>
              <a:rPr dirty="0" sz="2800" spc="-5" b="1">
                <a:latin typeface="Calibri"/>
                <a:cs typeface="Calibri"/>
              </a:rPr>
              <a:t>space </a:t>
            </a:r>
            <a:r>
              <a:rPr dirty="0" sz="2800" spc="-10">
                <a:latin typeface="Calibri"/>
                <a:cs typeface="Calibri"/>
              </a:rPr>
              <a:t>consists </a:t>
            </a:r>
            <a:r>
              <a:rPr dirty="0" sz="2800" spc="-5">
                <a:latin typeface="Calibri"/>
                <a:cs typeface="Calibri"/>
              </a:rPr>
              <a:t>of multiple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tasks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33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84346" y="3273012"/>
            <a:ext cx="2922756" cy="33669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86885" y="3068605"/>
            <a:ext cx="2777592" cy="33209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36515" y="3595681"/>
            <a:ext cx="2411303" cy="2568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71510" y="3715572"/>
            <a:ext cx="177800" cy="1764664"/>
          </a:xfrm>
          <a:custGeom>
            <a:avLst/>
            <a:gdLst/>
            <a:ahLst/>
            <a:cxnLst/>
            <a:rect l="l" t="t" r="r" b="b"/>
            <a:pathLst>
              <a:path w="177800" h="1764664">
                <a:moveTo>
                  <a:pt x="0" y="0"/>
                </a:moveTo>
                <a:lnTo>
                  <a:pt x="34489" y="1160"/>
                </a:lnTo>
                <a:lnTo>
                  <a:pt x="62653" y="4324"/>
                </a:lnTo>
                <a:lnTo>
                  <a:pt x="81642" y="9018"/>
                </a:lnTo>
                <a:lnTo>
                  <a:pt x="88605" y="14766"/>
                </a:lnTo>
                <a:lnTo>
                  <a:pt x="88605" y="867390"/>
                </a:lnTo>
                <a:lnTo>
                  <a:pt x="95568" y="873138"/>
                </a:lnTo>
                <a:lnTo>
                  <a:pt x="114557" y="877832"/>
                </a:lnTo>
                <a:lnTo>
                  <a:pt x="142721" y="880996"/>
                </a:lnTo>
                <a:lnTo>
                  <a:pt x="177210" y="882157"/>
                </a:lnTo>
                <a:lnTo>
                  <a:pt x="142721" y="883317"/>
                </a:lnTo>
                <a:lnTo>
                  <a:pt x="114557" y="886481"/>
                </a:lnTo>
                <a:lnTo>
                  <a:pt x="95568" y="891175"/>
                </a:lnTo>
                <a:lnTo>
                  <a:pt x="88605" y="896923"/>
                </a:lnTo>
                <a:lnTo>
                  <a:pt x="88605" y="1749548"/>
                </a:lnTo>
                <a:lnTo>
                  <a:pt x="81642" y="1755295"/>
                </a:lnTo>
                <a:lnTo>
                  <a:pt x="62653" y="1759989"/>
                </a:lnTo>
                <a:lnTo>
                  <a:pt x="34489" y="1763153"/>
                </a:lnTo>
                <a:lnTo>
                  <a:pt x="0" y="176431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918428" y="4244550"/>
            <a:ext cx="1974214" cy="741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0">
              <a:lnSpc>
                <a:spcPts val="2815"/>
              </a:lnSpc>
              <a:spcBef>
                <a:spcPts val="100"/>
              </a:spcBef>
            </a:pPr>
            <a:r>
              <a:rPr dirty="0" sz="2350" spc="-30">
                <a:solidFill>
                  <a:srgbClr val="C00000"/>
                </a:solidFill>
                <a:latin typeface="Arial"/>
                <a:cs typeface="Arial"/>
              </a:rPr>
              <a:t>GNN</a:t>
            </a:r>
            <a:endParaRPr sz="2350">
              <a:latin typeface="Arial"/>
              <a:cs typeface="Arial"/>
            </a:endParaRPr>
          </a:p>
          <a:p>
            <a:pPr algn="ctr">
              <a:lnSpc>
                <a:spcPts val="2815"/>
              </a:lnSpc>
            </a:pPr>
            <a:r>
              <a:rPr dirty="0" sz="2350" spc="-40">
                <a:solidFill>
                  <a:srgbClr val="C00000"/>
                </a:solidFill>
                <a:latin typeface="Arial"/>
                <a:cs typeface="Arial"/>
              </a:rPr>
              <a:t>Transformation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0108" y="1478787"/>
            <a:ext cx="6319520" cy="8820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solidFill>
                  <a:srgbClr val="C00000"/>
                </a:solidFill>
              </a:rPr>
              <a:t>Intra-layer</a:t>
            </a:r>
            <a:r>
              <a:rPr dirty="0" sz="2800" spc="-35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Design:</a:t>
            </a:r>
            <a:endParaRPr sz="2800"/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800">
                <a:solidFill>
                  <a:srgbClr val="C00000"/>
                </a:solidFill>
              </a:rPr>
              <a:t>GNN </a:t>
            </a:r>
            <a:r>
              <a:rPr dirty="0" sz="2800" spc="-20">
                <a:solidFill>
                  <a:srgbClr val="C00000"/>
                </a:solidFill>
              </a:rPr>
              <a:t>Layer </a:t>
            </a:r>
            <a:r>
              <a:rPr dirty="0" sz="2800">
                <a:solidFill>
                  <a:srgbClr val="C00000"/>
                </a:solidFill>
              </a:rPr>
              <a:t>= </a:t>
            </a:r>
            <a:r>
              <a:rPr dirty="0" sz="2800" spc="-25">
                <a:solidFill>
                  <a:srgbClr val="C00000"/>
                </a:solidFill>
              </a:rPr>
              <a:t>Transformation </a:t>
            </a:r>
            <a:r>
              <a:rPr dirty="0" sz="2800">
                <a:solidFill>
                  <a:srgbClr val="C00000"/>
                </a:solidFill>
              </a:rPr>
              <a:t>+</a:t>
            </a:r>
            <a:r>
              <a:rPr dirty="0" sz="2800" spc="55">
                <a:solidFill>
                  <a:srgbClr val="C00000"/>
                </a:solidFill>
              </a:rPr>
              <a:t> </a:t>
            </a:r>
            <a:r>
              <a:rPr dirty="0" sz="2800" spc="-15">
                <a:solidFill>
                  <a:srgbClr val="C00000"/>
                </a:solidFill>
              </a:rPr>
              <a:t>Aggregation</a:t>
            </a:r>
            <a:endParaRPr sz="2800"/>
          </a:p>
        </p:txBody>
      </p:sp>
      <p:sp>
        <p:nvSpPr>
          <p:cNvPr id="9" name="object 9"/>
          <p:cNvSpPr txBox="1"/>
          <p:nvPr/>
        </p:nvSpPr>
        <p:spPr>
          <a:xfrm>
            <a:off x="830108" y="2340355"/>
            <a:ext cx="76828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45" b="1">
                <a:latin typeface="Calibri"/>
                <a:cs typeface="Calibri"/>
              </a:rPr>
              <a:t>We </a:t>
            </a:r>
            <a:r>
              <a:rPr dirty="0" sz="2400" spc="-10" b="1">
                <a:latin typeface="Calibri"/>
                <a:cs typeface="Calibri"/>
              </a:rPr>
              <a:t>propose </a:t>
            </a:r>
            <a:r>
              <a:rPr dirty="0" sz="2400" b="1">
                <a:latin typeface="Calibri"/>
                <a:cs typeface="Calibri"/>
              </a:rPr>
              <a:t>a </a:t>
            </a:r>
            <a:r>
              <a:rPr dirty="0" sz="2400" spc="-15" b="1">
                <a:latin typeface="Calibri"/>
                <a:cs typeface="Calibri"/>
              </a:rPr>
              <a:t>general </a:t>
            </a:r>
            <a:r>
              <a:rPr dirty="0" sz="2400" spc="-10" b="1">
                <a:latin typeface="Calibri"/>
                <a:cs typeface="Calibri"/>
              </a:rPr>
              <a:t>instantiation </a:t>
            </a:r>
            <a:r>
              <a:rPr dirty="0" sz="2400" spc="-5" b="1">
                <a:latin typeface="Calibri"/>
                <a:cs typeface="Calibri"/>
              </a:rPr>
              <a:t>under this</a:t>
            </a:r>
            <a:r>
              <a:rPr dirty="0" sz="2400" spc="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perspective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33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8339" y="2321700"/>
            <a:ext cx="5073125" cy="4016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48969" y="1317243"/>
            <a:ext cx="263652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">
                <a:solidFill>
                  <a:srgbClr val="C00000"/>
                </a:solidFill>
              </a:rPr>
              <a:t>Inter-layer</a:t>
            </a:r>
            <a:r>
              <a:rPr dirty="0" sz="2800" spc="-70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Design</a:t>
            </a:r>
            <a:endParaRPr sz="2800"/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748969" y="1749044"/>
            <a:ext cx="8159115" cy="4862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45" b="1">
                <a:latin typeface="Calibri"/>
                <a:cs typeface="Calibri"/>
              </a:rPr>
              <a:t>We </a:t>
            </a:r>
            <a:r>
              <a:rPr dirty="0" sz="2400" spc="-15" b="1">
                <a:latin typeface="Calibri"/>
                <a:cs typeface="Calibri"/>
              </a:rPr>
              <a:t>explore different </a:t>
            </a:r>
            <a:r>
              <a:rPr dirty="0" sz="2400" spc="-25" b="1">
                <a:latin typeface="Calibri"/>
                <a:cs typeface="Calibri"/>
              </a:rPr>
              <a:t>ways </a:t>
            </a:r>
            <a:r>
              <a:rPr dirty="0" sz="2400" spc="-5" b="1">
                <a:latin typeface="Calibri"/>
                <a:cs typeface="Calibri"/>
              </a:rPr>
              <a:t>of </a:t>
            </a:r>
            <a:r>
              <a:rPr dirty="0" sz="2400" spc="-15" b="1">
                <a:latin typeface="Calibri"/>
                <a:cs typeface="Calibri"/>
              </a:rPr>
              <a:t>organizing </a:t>
            </a:r>
            <a:r>
              <a:rPr dirty="0" sz="2400" spc="-5" b="1">
                <a:latin typeface="Calibri"/>
                <a:cs typeface="Calibri"/>
              </a:rPr>
              <a:t>GNN</a:t>
            </a:r>
            <a:r>
              <a:rPr dirty="0" sz="2400" spc="7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layers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4773930">
              <a:lnSpc>
                <a:spcPct val="100000"/>
              </a:lnSpc>
              <a:spcBef>
                <a:spcPts val="1825"/>
              </a:spcBef>
            </a:pPr>
            <a:r>
              <a:rPr dirty="0" sz="1750" spc="-5">
                <a:solidFill>
                  <a:srgbClr val="C00000"/>
                </a:solidFill>
                <a:latin typeface="Arial"/>
                <a:cs typeface="Arial"/>
              </a:rPr>
              <a:t>Pre-process</a:t>
            </a:r>
            <a:r>
              <a:rPr dirty="0" sz="1750" spc="-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750" spc="-30">
                <a:solidFill>
                  <a:srgbClr val="C00000"/>
                </a:solidFill>
                <a:latin typeface="Arial"/>
                <a:cs typeface="Arial"/>
              </a:rPr>
              <a:t>layers:</a:t>
            </a:r>
            <a:endParaRPr sz="1750">
              <a:latin typeface="Arial"/>
              <a:cs typeface="Arial"/>
            </a:endParaRPr>
          </a:p>
          <a:p>
            <a:pPr marL="4773930" marR="167005">
              <a:lnSpc>
                <a:spcPts val="2180"/>
              </a:lnSpc>
              <a:spcBef>
                <a:spcPts val="15"/>
              </a:spcBef>
            </a:pPr>
            <a:r>
              <a:rPr dirty="0" sz="1750" spc="0">
                <a:latin typeface="Arial"/>
                <a:cs typeface="Arial"/>
              </a:rPr>
              <a:t>Important </a:t>
            </a:r>
            <a:r>
              <a:rPr dirty="0" sz="1750">
                <a:latin typeface="Arial"/>
                <a:cs typeface="Arial"/>
              </a:rPr>
              <a:t>when </a:t>
            </a:r>
            <a:r>
              <a:rPr dirty="0" sz="1750" spc="-25">
                <a:latin typeface="Arial"/>
                <a:cs typeface="Arial"/>
              </a:rPr>
              <a:t>expressive </a:t>
            </a:r>
            <a:r>
              <a:rPr dirty="0" sz="1750" spc="0">
                <a:latin typeface="Arial"/>
                <a:cs typeface="Arial"/>
              </a:rPr>
              <a:t>node  </a:t>
            </a:r>
            <a:r>
              <a:rPr dirty="0" sz="1750" spc="-25">
                <a:latin typeface="Arial"/>
                <a:cs typeface="Arial"/>
              </a:rPr>
              <a:t>feature </a:t>
            </a:r>
            <a:r>
              <a:rPr dirty="0" sz="1750" spc="0">
                <a:latin typeface="Arial"/>
                <a:cs typeface="Arial"/>
              </a:rPr>
              <a:t>encoder </a:t>
            </a:r>
            <a:r>
              <a:rPr dirty="0" sz="1750" spc="-35">
                <a:latin typeface="Arial"/>
                <a:cs typeface="Arial"/>
              </a:rPr>
              <a:t>is</a:t>
            </a:r>
            <a:r>
              <a:rPr dirty="0" sz="1750" spc="25">
                <a:latin typeface="Arial"/>
                <a:cs typeface="Arial"/>
              </a:rPr>
              <a:t> </a:t>
            </a:r>
            <a:r>
              <a:rPr dirty="0" sz="1750" spc="-5">
                <a:latin typeface="Arial"/>
                <a:cs typeface="Arial"/>
              </a:rPr>
              <a:t>needed</a:t>
            </a:r>
            <a:endParaRPr sz="1750">
              <a:latin typeface="Arial"/>
              <a:cs typeface="Arial"/>
            </a:endParaRPr>
          </a:p>
          <a:p>
            <a:pPr marL="4773930">
              <a:lnSpc>
                <a:spcPts val="2155"/>
              </a:lnSpc>
            </a:pPr>
            <a:r>
              <a:rPr dirty="0" sz="1800" spc="-30">
                <a:latin typeface="Arial"/>
                <a:cs typeface="Arial"/>
              </a:rPr>
              <a:t>E.g., when </a:t>
            </a:r>
            <a:r>
              <a:rPr dirty="0" sz="1800" spc="-25">
                <a:latin typeface="Arial"/>
                <a:cs typeface="Arial"/>
              </a:rPr>
              <a:t>nodes </a:t>
            </a:r>
            <a:r>
              <a:rPr dirty="0" sz="1800" spc="-70">
                <a:latin typeface="Arial"/>
                <a:cs typeface="Arial"/>
              </a:rPr>
              <a:t>are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images/text</a:t>
            </a:r>
            <a:endParaRPr sz="1800">
              <a:latin typeface="Arial"/>
              <a:cs typeface="Arial"/>
            </a:endParaRPr>
          </a:p>
          <a:p>
            <a:pPr marL="4773930">
              <a:lnSpc>
                <a:spcPts val="2095"/>
              </a:lnSpc>
              <a:spcBef>
                <a:spcPts val="1515"/>
              </a:spcBef>
            </a:pPr>
            <a:r>
              <a:rPr dirty="0" sz="1750" spc="-5">
                <a:solidFill>
                  <a:srgbClr val="C00000"/>
                </a:solidFill>
                <a:latin typeface="Arial"/>
                <a:cs typeface="Arial"/>
              </a:rPr>
              <a:t>Skip</a:t>
            </a:r>
            <a:r>
              <a:rPr dirty="0" sz="1750" spc="-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750" spc="0">
                <a:solidFill>
                  <a:srgbClr val="C00000"/>
                </a:solidFill>
                <a:latin typeface="Arial"/>
                <a:cs typeface="Arial"/>
              </a:rPr>
              <a:t>connections:</a:t>
            </a:r>
            <a:endParaRPr sz="1750">
              <a:latin typeface="Arial"/>
              <a:cs typeface="Arial"/>
            </a:endParaRPr>
          </a:p>
          <a:p>
            <a:pPr marL="4773930">
              <a:lnSpc>
                <a:spcPts val="2155"/>
              </a:lnSpc>
            </a:pPr>
            <a:r>
              <a:rPr dirty="0" sz="1800" spc="-40">
                <a:latin typeface="Arial"/>
                <a:cs typeface="Arial"/>
              </a:rPr>
              <a:t>Improve </a:t>
            </a:r>
            <a:r>
              <a:rPr dirty="0" sz="1800" spc="-20">
                <a:latin typeface="Arial"/>
                <a:cs typeface="Arial"/>
              </a:rPr>
              <a:t>deep </a:t>
            </a:r>
            <a:r>
              <a:rPr dirty="0" sz="1800" spc="-60">
                <a:latin typeface="Arial"/>
                <a:cs typeface="Arial"/>
              </a:rPr>
              <a:t>GNN’s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performance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Times New Roman"/>
              <a:cs typeface="Times New Roman"/>
            </a:endParaRPr>
          </a:p>
          <a:p>
            <a:pPr marL="4773930" marR="545465">
              <a:lnSpc>
                <a:spcPct val="102000"/>
              </a:lnSpc>
            </a:pPr>
            <a:r>
              <a:rPr dirty="0" sz="1750" spc="5">
                <a:solidFill>
                  <a:srgbClr val="C00000"/>
                </a:solidFill>
                <a:latin typeface="Arial"/>
                <a:cs typeface="Arial"/>
              </a:rPr>
              <a:t>Post-process </a:t>
            </a:r>
            <a:r>
              <a:rPr dirty="0" sz="1750" spc="-30">
                <a:solidFill>
                  <a:srgbClr val="C00000"/>
                </a:solidFill>
                <a:latin typeface="Arial"/>
                <a:cs typeface="Arial"/>
              </a:rPr>
              <a:t>layers:  </a:t>
            </a:r>
            <a:r>
              <a:rPr dirty="0" sz="1750" spc="0">
                <a:latin typeface="Arial"/>
                <a:cs typeface="Arial"/>
              </a:rPr>
              <a:t>Important </a:t>
            </a:r>
            <a:r>
              <a:rPr dirty="0" sz="1750">
                <a:latin typeface="Arial"/>
                <a:cs typeface="Arial"/>
              </a:rPr>
              <a:t>when </a:t>
            </a:r>
            <a:r>
              <a:rPr dirty="0" sz="1750" spc="-20">
                <a:latin typeface="Arial"/>
                <a:cs typeface="Arial"/>
              </a:rPr>
              <a:t>reasoning </a:t>
            </a:r>
            <a:r>
              <a:rPr dirty="0" sz="1750">
                <a:latin typeface="Arial"/>
                <a:cs typeface="Arial"/>
              </a:rPr>
              <a:t>or  </a:t>
            </a:r>
            <a:r>
              <a:rPr dirty="0" sz="1750" spc="-5">
                <a:latin typeface="Arial"/>
                <a:cs typeface="Arial"/>
              </a:rPr>
              <a:t>transformation </a:t>
            </a:r>
            <a:r>
              <a:rPr dirty="0" sz="1750" spc="-20">
                <a:latin typeface="Arial"/>
                <a:cs typeface="Arial"/>
              </a:rPr>
              <a:t>over </a:t>
            </a:r>
            <a:r>
              <a:rPr dirty="0" sz="1750" spc="0">
                <a:latin typeface="Arial"/>
                <a:cs typeface="Arial"/>
              </a:rPr>
              <a:t>node  embeddings </a:t>
            </a:r>
            <a:r>
              <a:rPr dirty="0" sz="1750" spc="-40">
                <a:latin typeface="Arial"/>
                <a:cs typeface="Arial"/>
              </a:rPr>
              <a:t>are </a:t>
            </a:r>
            <a:r>
              <a:rPr dirty="0" sz="1750" spc="-5">
                <a:latin typeface="Arial"/>
                <a:cs typeface="Arial"/>
              </a:rPr>
              <a:t>needed  </a:t>
            </a:r>
            <a:r>
              <a:rPr dirty="0" sz="1800" spc="-30">
                <a:latin typeface="Arial"/>
                <a:cs typeface="Arial"/>
              </a:rPr>
              <a:t>E.g., </a:t>
            </a:r>
            <a:r>
              <a:rPr dirty="0" sz="1800" spc="-25">
                <a:latin typeface="Arial"/>
                <a:cs typeface="Arial"/>
              </a:rPr>
              <a:t>graph </a:t>
            </a:r>
            <a:r>
              <a:rPr dirty="0" sz="1800" spc="-35">
                <a:latin typeface="Arial"/>
                <a:cs typeface="Arial"/>
              </a:rPr>
              <a:t>classification,  </a:t>
            </a:r>
            <a:r>
              <a:rPr dirty="0" sz="1800" spc="-25">
                <a:latin typeface="Arial"/>
                <a:cs typeface="Arial"/>
              </a:rPr>
              <a:t>knowledge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graphs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333744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57657" y="2236922"/>
            <a:ext cx="5073125" cy="4016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09523" y="3066795"/>
            <a:ext cx="3488054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C00000"/>
                </a:solidFill>
              </a:rPr>
              <a:t>Learning</a:t>
            </a:r>
            <a:r>
              <a:rPr dirty="0" sz="2800" spc="-10">
                <a:solidFill>
                  <a:srgbClr val="C00000"/>
                </a:solidFill>
              </a:rPr>
              <a:t> </a:t>
            </a:r>
            <a:r>
              <a:rPr dirty="0" sz="2800" spc="-15">
                <a:solidFill>
                  <a:srgbClr val="C00000"/>
                </a:solidFill>
              </a:rPr>
              <a:t>configurations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5509523" y="3498596"/>
            <a:ext cx="3378835" cy="18542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55600" marR="678815" indent="-342900">
              <a:lnSpc>
                <a:spcPct val="100800"/>
              </a:lnSpc>
              <a:spcBef>
                <a:spcPts val="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Often neglected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5" b="1">
                <a:latin typeface="Calibri"/>
                <a:cs typeface="Calibri"/>
              </a:rPr>
              <a:t>in  </a:t>
            </a:r>
            <a:r>
              <a:rPr dirty="0" sz="2400" spc="-15" b="1">
                <a:latin typeface="Calibri"/>
                <a:cs typeface="Calibri"/>
              </a:rPr>
              <a:t>current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literature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99200"/>
              </a:lnSpc>
              <a:spcBef>
                <a:spcPts val="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 b="1">
                <a:latin typeface="Calibri"/>
                <a:cs typeface="Calibri"/>
              </a:rPr>
              <a:t>But </a:t>
            </a:r>
            <a:r>
              <a:rPr dirty="0" sz="2400" spc="-10" b="1">
                <a:latin typeface="Calibri"/>
                <a:cs typeface="Calibri"/>
              </a:rPr>
              <a:t>we found they </a:t>
            </a:r>
            <a:r>
              <a:rPr dirty="0" sz="2400" spc="-20" b="1">
                <a:latin typeface="Calibri"/>
                <a:cs typeface="Calibri"/>
              </a:rPr>
              <a:t>have  </a:t>
            </a:r>
            <a:r>
              <a:rPr dirty="0" sz="2400" spc="-5" b="1">
                <a:latin typeface="Calibri"/>
                <a:cs typeface="Calibri"/>
              </a:rPr>
              <a:t>high impact on  </a:t>
            </a:r>
            <a:r>
              <a:rPr dirty="0" sz="2400" spc="-10" b="1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769" y="4979305"/>
            <a:ext cx="2750820" cy="1325880"/>
          </a:xfrm>
          <a:custGeom>
            <a:avLst/>
            <a:gdLst/>
            <a:ahLst/>
            <a:cxnLst/>
            <a:rect l="l" t="t" r="r" b="b"/>
            <a:pathLst>
              <a:path w="2750820" h="1325879">
                <a:moveTo>
                  <a:pt x="0" y="0"/>
                </a:moveTo>
                <a:lnTo>
                  <a:pt x="2750288" y="0"/>
                </a:lnTo>
                <a:lnTo>
                  <a:pt x="2750288" y="1325526"/>
                </a:lnTo>
                <a:lnTo>
                  <a:pt x="0" y="1325526"/>
                </a:lnTo>
                <a:lnTo>
                  <a:pt x="0" y="0"/>
                </a:lnTo>
                <a:close/>
              </a:path>
            </a:pathLst>
          </a:custGeom>
          <a:ln w="480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430" y="3429000"/>
            <a:ext cx="5202864" cy="4325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3023" y="347472"/>
            <a:ext cx="7248144" cy="557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175" y="1572444"/>
            <a:ext cx="4665345" cy="946785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00"/>
              </a:spcBef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2800" spc="-15">
                <a:solidFill>
                  <a:srgbClr val="C00000"/>
                </a:solidFill>
              </a:rPr>
              <a:t>Overall: </a:t>
            </a:r>
            <a:r>
              <a:rPr dirty="0" sz="2800">
                <a:solidFill>
                  <a:srgbClr val="C00000"/>
                </a:solidFill>
              </a:rPr>
              <a:t>A GNN </a:t>
            </a:r>
            <a:r>
              <a:rPr dirty="0" sz="2800" spc="-5">
                <a:solidFill>
                  <a:srgbClr val="C00000"/>
                </a:solidFill>
              </a:rPr>
              <a:t>design</a:t>
            </a:r>
            <a:r>
              <a:rPr dirty="0" sz="2800" spc="-35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space</a:t>
            </a:r>
            <a:endParaRPr sz="2800"/>
          </a:p>
          <a:p>
            <a:pPr lvl="1" marL="1003300" indent="-381000">
              <a:lnSpc>
                <a:spcPct val="100000"/>
              </a:lnSpc>
              <a:spcBef>
                <a:spcPts val="550"/>
              </a:spcBef>
              <a:buClr>
                <a:srgbClr val="C00000"/>
              </a:buClr>
              <a:buFont typeface="Malgun Gothic"/>
              <a:buChar char="▪"/>
              <a:tabLst>
                <a:tab pos="1002665" algn="l"/>
                <a:tab pos="1003300" algn="l"/>
              </a:tabLst>
            </a:pPr>
            <a:r>
              <a:rPr dirty="0" sz="2200" spc="-20">
                <a:latin typeface="Calibri"/>
                <a:cs typeface="Calibri"/>
              </a:rPr>
              <a:t>Intra-layer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86939" y="2068541"/>
            <a:ext cx="1303185" cy="13981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49598" y="2337358"/>
            <a:ext cx="560070" cy="508634"/>
          </a:xfrm>
          <a:custGeom>
            <a:avLst/>
            <a:gdLst/>
            <a:ahLst/>
            <a:cxnLst/>
            <a:rect l="l" t="t" r="r" b="b"/>
            <a:pathLst>
              <a:path w="560070" h="508635">
                <a:moveTo>
                  <a:pt x="5714" y="502422"/>
                </a:moveTo>
                <a:lnTo>
                  <a:pt x="4762" y="502422"/>
                </a:lnTo>
                <a:lnTo>
                  <a:pt x="4762" y="508137"/>
                </a:lnTo>
                <a:lnTo>
                  <a:pt x="35095" y="508137"/>
                </a:lnTo>
                <a:lnTo>
                  <a:pt x="35095" y="503374"/>
                </a:lnTo>
                <a:lnTo>
                  <a:pt x="5714" y="503374"/>
                </a:lnTo>
                <a:lnTo>
                  <a:pt x="5714" y="502422"/>
                </a:lnTo>
                <a:close/>
              </a:path>
              <a:path w="560070" h="508635">
                <a:moveTo>
                  <a:pt x="5714" y="465274"/>
                </a:moveTo>
                <a:lnTo>
                  <a:pt x="0" y="465274"/>
                </a:lnTo>
                <a:lnTo>
                  <a:pt x="0" y="503374"/>
                </a:lnTo>
                <a:lnTo>
                  <a:pt x="4762" y="503374"/>
                </a:lnTo>
                <a:lnTo>
                  <a:pt x="4762" y="502422"/>
                </a:lnTo>
                <a:lnTo>
                  <a:pt x="5714" y="502422"/>
                </a:lnTo>
                <a:lnTo>
                  <a:pt x="5714" y="500517"/>
                </a:lnTo>
                <a:lnTo>
                  <a:pt x="4762" y="500517"/>
                </a:lnTo>
                <a:lnTo>
                  <a:pt x="4762" y="498612"/>
                </a:lnTo>
                <a:lnTo>
                  <a:pt x="5714" y="498612"/>
                </a:lnTo>
                <a:lnTo>
                  <a:pt x="5714" y="465274"/>
                </a:lnTo>
                <a:close/>
              </a:path>
              <a:path w="560070" h="508635">
                <a:moveTo>
                  <a:pt x="7619" y="502422"/>
                </a:moveTo>
                <a:lnTo>
                  <a:pt x="5714" y="502422"/>
                </a:lnTo>
                <a:lnTo>
                  <a:pt x="5714" y="503374"/>
                </a:lnTo>
                <a:lnTo>
                  <a:pt x="7619" y="503374"/>
                </a:lnTo>
                <a:lnTo>
                  <a:pt x="7619" y="502422"/>
                </a:lnTo>
                <a:close/>
              </a:path>
              <a:path w="560070" h="508635">
                <a:moveTo>
                  <a:pt x="9525" y="465274"/>
                </a:moveTo>
                <a:lnTo>
                  <a:pt x="7619" y="465274"/>
                </a:lnTo>
                <a:lnTo>
                  <a:pt x="7619" y="503374"/>
                </a:lnTo>
                <a:lnTo>
                  <a:pt x="9525" y="503374"/>
                </a:lnTo>
                <a:lnTo>
                  <a:pt x="9525" y="465274"/>
                </a:lnTo>
                <a:close/>
              </a:path>
              <a:path w="560070" h="508635">
                <a:moveTo>
                  <a:pt x="35095" y="502422"/>
                </a:moveTo>
                <a:lnTo>
                  <a:pt x="9525" y="502422"/>
                </a:lnTo>
                <a:lnTo>
                  <a:pt x="9525" y="503374"/>
                </a:lnTo>
                <a:lnTo>
                  <a:pt x="35095" y="503374"/>
                </a:lnTo>
                <a:lnTo>
                  <a:pt x="35095" y="502422"/>
                </a:lnTo>
                <a:close/>
              </a:path>
              <a:path w="560070" h="508635">
                <a:moveTo>
                  <a:pt x="5714" y="498612"/>
                </a:moveTo>
                <a:lnTo>
                  <a:pt x="4762" y="498612"/>
                </a:lnTo>
                <a:lnTo>
                  <a:pt x="4762" y="500517"/>
                </a:lnTo>
                <a:lnTo>
                  <a:pt x="5714" y="500517"/>
                </a:lnTo>
                <a:lnTo>
                  <a:pt x="5714" y="498612"/>
                </a:lnTo>
                <a:close/>
              </a:path>
              <a:path w="560070" h="508635">
                <a:moveTo>
                  <a:pt x="7619" y="498612"/>
                </a:moveTo>
                <a:lnTo>
                  <a:pt x="5714" y="498612"/>
                </a:lnTo>
                <a:lnTo>
                  <a:pt x="5714" y="500517"/>
                </a:lnTo>
                <a:lnTo>
                  <a:pt x="7619" y="500517"/>
                </a:lnTo>
                <a:lnTo>
                  <a:pt x="7619" y="498612"/>
                </a:lnTo>
                <a:close/>
              </a:path>
              <a:path w="560070" h="508635">
                <a:moveTo>
                  <a:pt x="35095" y="498612"/>
                </a:moveTo>
                <a:lnTo>
                  <a:pt x="9525" y="498612"/>
                </a:lnTo>
                <a:lnTo>
                  <a:pt x="9525" y="500517"/>
                </a:lnTo>
                <a:lnTo>
                  <a:pt x="35095" y="500517"/>
                </a:lnTo>
                <a:lnTo>
                  <a:pt x="35095" y="498612"/>
                </a:lnTo>
                <a:close/>
              </a:path>
              <a:path w="560070" h="508635">
                <a:moveTo>
                  <a:pt x="5714" y="398599"/>
                </a:moveTo>
                <a:lnTo>
                  <a:pt x="0" y="398599"/>
                </a:lnTo>
                <a:lnTo>
                  <a:pt x="0" y="436699"/>
                </a:lnTo>
                <a:lnTo>
                  <a:pt x="5714" y="436699"/>
                </a:lnTo>
                <a:lnTo>
                  <a:pt x="5714" y="398599"/>
                </a:lnTo>
                <a:close/>
              </a:path>
              <a:path w="560070" h="508635">
                <a:moveTo>
                  <a:pt x="9525" y="398599"/>
                </a:moveTo>
                <a:lnTo>
                  <a:pt x="7619" y="398599"/>
                </a:lnTo>
                <a:lnTo>
                  <a:pt x="7619" y="436699"/>
                </a:lnTo>
                <a:lnTo>
                  <a:pt x="9525" y="436699"/>
                </a:lnTo>
                <a:lnTo>
                  <a:pt x="9525" y="398599"/>
                </a:lnTo>
                <a:close/>
              </a:path>
              <a:path w="560070" h="508635">
                <a:moveTo>
                  <a:pt x="5714" y="331924"/>
                </a:moveTo>
                <a:lnTo>
                  <a:pt x="0" y="331924"/>
                </a:lnTo>
                <a:lnTo>
                  <a:pt x="0" y="370024"/>
                </a:lnTo>
                <a:lnTo>
                  <a:pt x="5714" y="370024"/>
                </a:lnTo>
                <a:lnTo>
                  <a:pt x="5714" y="331924"/>
                </a:lnTo>
                <a:close/>
              </a:path>
              <a:path w="560070" h="508635">
                <a:moveTo>
                  <a:pt x="9525" y="331924"/>
                </a:moveTo>
                <a:lnTo>
                  <a:pt x="7619" y="331924"/>
                </a:lnTo>
                <a:lnTo>
                  <a:pt x="7619" y="370024"/>
                </a:lnTo>
                <a:lnTo>
                  <a:pt x="9525" y="370024"/>
                </a:lnTo>
                <a:lnTo>
                  <a:pt x="9525" y="331924"/>
                </a:lnTo>
                <a:close/>
              </a:path>
              <a:path w="560070" h="508635">
                <a:moveTo>
                  <a:pt x="5714" y="265249"/>
                </a:moveTo>
                <a:lnTo>
                  <a:pt x="0" y="265249"/>
                </a:lnTo>
                <a:lnTo>
                  <a:pt x="0" y="303349"/>
                </a:lnTo>
                <a:lnTo>
                  <a:pt x="5714" y="303349"/>
                </a:lnTo>
                <a:lnTo>
                  <a:pt x="5714" y="265249"/>
                </a:lnTo>
                <a:close/>
              </a:path>
              <a:path w="560070" h="508635">
                <a:moveTo>
                  <a:pt x="9525" y="265249"/>
                </a:moveTo>
                <a:lnTo>
                  <a:pt x="7619" y="265249"/>
                </a:lnTo>
                <a:lnTo>
                  <a:pt x="7619" y="303349"/>
                </a:lnTo>
                <a:lnTo>
                  <a:pt x="9525" y="303349"/>
                </a:lnTo>
                <a:lnTo>
                  <a:pt x="9525" y="265249"/>
                </a:lnTo>
                <a:close/>
              </a:path>
              <a:path w="560070" h="508635">
                <a:moveTo>
                  <a:pt x="5714" y="198574"/>
                </a:moveTo>
                <a:lnTo>
                  <a:pt x="0" y="198574"/>
                </a:lnTo>
                <a:lnTo>
                  <a:pt x="0" y="236674"/>
                </a:lnTo>
                <a:lnTo>
                  <a:pt x="5714" y="236674"/>
                </a:lnTo>
                <a:lnTo>
                  <a:pt x="5714" y="198574"/>
                </a:lnTo>
                <a:close/>
              </a:path>
              <a:path w="560070" h="508635">
                <a:moveTo>
                  <a:pt x="9525" y="198574"/>
                </a:moveTo>
                <a:lnTo>
                  <a:pt x="7619" y="198574"/>
                </a:lnTo>
                <a:lnTo>
                  <a:pt x="7619" y="236674"/>
                </a:lnTo>
                <a:lnTo>
                  <a:pt x="9525" y="236674"/>
                </a:lnTo>
                <a:lnTo>
                  <a:pt x="9525" y="198574"/>
                </a:lnTo>
                <a:close/>
              </a:path>
              <a:path w="560070" h="508635">
                <a:moveTo>
                  <a:pt x="5714" y="131899"/>
                </a:moveTo>
                <a:lnTo>
                  <a:pt x="0" y="131899"/>
                </a:lnTo>
                <a:lnTo>
                  <a:pt x="0" y="169999"/>
                </a:lnTo>
                <a:lnTo>
                  <a:pt x="5714" y="169999"/>
                </a:lnTo>
                <a:lnTo>
                  <a:pt x="5714" y="131899"/>
                </a:lnTo>
                <a:close/>
              </a:path>
              <a:path w="560070" h="508635">
                <a:moveTo>
                  <a:pt x="9525" y="131899"/>
                </a:moveTo>
                <a:lnTo>
                  <a:pt x="7619" y="131899"/>
                </a:lnTo>
                <a:lnTo>
                  <a:pt x="7619" y="169999"/>
                </a:lnTo>
                <a:lnTo>
                  <a:pt x="9525" y="169999"/>
                </a:lnTo>
                <a:lnTo>
                  <a:pt x="9525" y="131899"/>
                </a:lnTo>
                <a:close/>
              </a:path>
              <a:path w="560070" h="508635">
                <a:moveTo>
                  <a:pt x="5714" y="65224"/>
                </a:moveTo>
                <a:lnTo>
                  <a:pt x="0" y="65224"/>
                </a:lnTo>
                <a:lnTo>
                  <a:pt x="0" y="103324"/>
                </a:lnTo>
                <a:lnTo>
                  <a:pt x="5714" y="103324"/>
                </a:lnTo>
                <a:lnTo>
                  <a:pt x="5714" y="65224"/>
                </a:lnTo>
                <a:close/>
              </a:path>
              <a:path w="560070" h="508635">
                <a:moveTo>
                  <a:pt x="9525" y="65224"/>
                </a:moveTo>
                <a:lnTo>
                  <a:pt x="7619" y="65224"/>
                </a:lnTo>
                <a:lnTo>
                  <a:pt x="7619" y="103324"/>
                </a:lnTo>
                <a:lnTo>
                  <a:pt x="9525" y="103324"/>
                </a:lnTo>
                <a:lnTo>
                  <a:pt x="9525" y="65224"/>
                </a:lnTo>
                <a:close/>
              </a:path>
              <a:path w="560070" h="508635">
                <a:moveTo>
                  <a:pt x="10974" y="0"/>
                </a:moveTo>
                <a:lnTo>
                  <a:pt x="2131" y="0"/>
                </a:lnTo>
                <a:lnTo>
                  <a:pt x="0" y="2132"/>
                </a:lnTo>
                <a:lnTo>
                  <a:pt x="0" y="36649"/>
                </a:lnTo>
                <a:lnTo>
                  <a:pt x="5714" y="36649"/>
                </a:lnTo>
                <a:lnTo>
                  <a:pt x="5714" y="5715"/>
                </a:lnTo>
                <a:lnTo>
                  <a:pt x="10974" y="5715"/>
                </a:lnTo>
                <a:lnTo>
                  <a:pt x="10974" y="0"/>
                </a:lnTo>
                <a:close/>
              </a:path>
              <a:path w="560070" h="508635">
                <a:moveTo>
                  <a:pt x="10974" y="7620"/>
                </a:moveTo>
                <a:lnTo>
                  <a:pt x="7619" y="7620"/>
                </a:lnTo>
                <a:lnTo>
                  <a:pt x="7619" y="36649"/>
                </a:lnTo>
                <a:lnTo>
                  <a:pt x="9525" y="36649"/>
                </a:lnTo>
                <a:lnTo>
                  <a:pt x="9525" y="9525"/>
                </a:lnTo>
                <a:lnTo>
                  <a:pt x="10974" y="9525"/>
                </a:lnTo>
                <a:lnTo>
                  <a:pt x="10974" y="7620"/>
                </a:lnTo>
                <a:close/>
              </a:path>
              <a:path w="560070" h="508635">
                <a:moveTo>
                  <a:pt x="77649" y="0"/>
                </a:moveTo>
                <a:lnTo>
                  <a:pt x="39549" y="0"/>
                </a:lnTo>
                <a:lnTo>
                  <a:pt x="39549" y="5715"/>
                </a:lnTo>
                <a:lnTo>
                  <a:pt x="77649" y="5715"/>
                </a:lnTo>
                <a:lnTo>
                  <a:pt x="77649" y="0"/>
                </a:lnTo>
                <a:close/>
              </a:path>
              <a:path w="560070" h="508635">
                <a:moveTo>
                  <a:pt x="77649" y="7620"/>
                </a:moveTo>
                <a:lnTo>
                  <a:pt x="39549" y="7620"/>
                </a:lnTo>
                <a:lnTo>
                  <a:pt x="39549" y="9525"/>
                </a:lnTo>
                <a:lnTo>
                  <a:pt x="77649" y="9525"/>
                </a:lnTo>
                <a:lnTo>
                  <a:pt x="77649" y="7620"/>
                </a:lnTo>
                <a:close/>
              </a:path>
              <a:path w="560070" h="508635">
                <a:moveTo>
                  <a:pt x="144324" y="0"/>
                </a:moveTo>
                <a:lnTo>
                  <a:pt x="106224" y="0"/>
                </a:lnTo>
                <a:lnTo>
                  <a:pt x="106224" y="5715"/>
                </a:lnTo>
                <a:lnTo>
                  <a:pt x="144324" y="5715"/>
                </a:lnTo>
                <a:lnTo>
                  <a:pt x="144324" y="0"/>
                </a:lnTo>
                <a:close/>
              </a:path>
              <a:path w="560070" h="508635">
                <a:moveTo>
                  <a:pt x="144324" y="7620"/>
                </a:moveTo>
                <a:lnTo>
                  <a:pt x="106224" y="7620"/>
                </a:lnTo>
                <a:lnTo>
                  <a:pt x="106224" y="9525"/>
                </a:lnTo>
                <a:lnTo>
                  <a:pt x="144324" y="9525"/>
                </a:lnTo>
                <a:lnTo>
                  <a:pt x="144324" y="7620"/>
                </a:lnTo>
                <a:close/>
              </a:path>
              <a:path w="560070" h="508635">
                <a:moveTo>
                  <a:pt x="210999" y="0"/>
                </a:moveTo>
                <a:lnTo>
                  <a:pt x="172899" y="0"/>
                </a:lnTo>
                <a:lnTo>
                  <a:pt x="172899" y="5715"/>
                </a:lnTo>
                <a:lnTo>
                  <a:pt x="210999" y="5715"/>
                </a:lnTo>
                <a:lnTo>
                  <a:pt x="210999" y="0"/>
                </a:lnTo>
                <a:close/>
              </a:path>
              <a:path w="560070" h="508635">
                <a:moveTo>
                  <a:pt x="210999" y="7620"/>
                </a:moveTo>
                <a:lnTo>
                  <a:pt x="172899" y="7620"/>
                </a:lnTo>
                <a:lnTo>
                  <a:pt x="172899" y="9525"/>
                </a:lnTo>
                <a:lnTo>
                  <a:pt x="210999" y="9525"/>
                </a:lnTo>
                <a:lnTo>
                  <a:pt x="210999" y="7620"/>
                </a:lnTo>
                <a:close/>
              </a:path>
              <a:path w="560070" h="508635">
                <a:moveTo>
                  <a:pt x="277674" y="0"/>
                </a:moveTo>
                <a:lnTo>
                  <a:pt x="239574" y="0"/>
                </a:lnTo>
                <a:lnTo>
                  <a:pt x="239574" y="5715"/>
                </a:lnTo>
                <a:lnTo>
                  <a:pt x="277674" y="5715"/>
                </a:lnTo>
                <a:lnTo>
                  <a:pt x="277674" y="0"/>
                </a:lnTo>
                <a:close/>
              </a:path>
              <a:path w="560070" h="508635">
                <a:moveTo>
                  <a:pt x="277674" y="7620"/>
                </a:moveTo>
                <a:lnTo>
                  <a:pt x="239574" y="7620"/>
                </a:lnTo>
                <a:lnTo>
                  <a:pt x="239574" y="9525"/>
                </a:lnTo>
                <a:lnTo>
                  <a:pt x="277674" y="9525"/>
                </a:lnTo>
                <a:lnTo>
                  <a:pt x="277674" y="7620"/>
                </a:lnTo>
                <a:close/>
              </a:path>
              <a:path w="560070" h="508635">
                <a:moveTo>
                  <a:pt x="344349" y="0"/>
                </a:moveTo>
                <a:lnTo>
                  <a:pt x="306249" y="0"/>
                </a:lnTo>
                <a:lnTo>
                  <a:pt x="306249" y="5715"/>
                </a:lnTo>
                <a:lnTo>
                  <a:pt x="344349" y="5715"/>
                </a:lnTo>
                <a:lnTo>
                  <a:pt x="344349" y="0"/>
                </a:lnTo>
                <a:close/>
              </a:path>
              <a:path w="560070" h="508635">
                <a:moveTo>
                  <a:pt x="344349" y="7620"/>
                </a:moveTo>
                <a:lnTo>
                  <a:pt x="306249" y="7620"/>
                </a:lnTo>
                <a:lnTo>
                  <a:pt x="306249" y="9525"/>
                </a:lnTo>
                <a:lnTo>
                  <a:pt x="344349" y="9525"/>
                </a:lnTo>
                <a:lnTo>
                  <a:pt x="344349" y="7620"/>
                </a:lnTo>
                <a:close/>
              </a:path>
              <a:path w="560070" h="508635">
                <a:moveTo>
                  <a:pt x="411024" y="0"/>
                </a:moveTo>
                <a:lnTo>
                  <a:pt x="372924" y="0"/>
                </a:lnTo>
                <a:lnTo>
                  <a:pt x="372924" y="5715"/>
                </a:lnTo>
                <a:lnTo>
                  <a:pt x="411024" y="5715"/>
                </a:lnTo>
                <a:lnTo>
                  <a:pt x="411024" y="0"/>
                </a:lnTo>
                <a:close/>
              </a:path>
              <a:path w="560070" h="508635">
                <a:moveTo>
                  <a:pt x="411024" y="7620"/>
                </a:moveTo>
                <a:lnTo>
                  <a:pt x="372924" y="7620"/>
                </a:lnTo>
                <a:lnTo>
                  <a:pt x="372924" y="9525"/>
                </a:lnTo>
                <a:lnTo>
                  <a:pt x="411024" y="9525"/>
                </a:lnTo>
                <a:lnTo>
                  <a:pt x="411024" y="7620"/>
                </a:lnTo>
                <a:close/>
              </a:path>
              <a:path w="560070" h="508635">
                <a:moveTo>
                  <a:pt x="477699" y="0"/>
                </a:moveTo>
                <a:lnTo>
                  <a:pt x="439599" y="0"/>
                </a:lnTo>
                <a:lnTo>
                  <a:pt x="439599" y="5715"/>
                </a:lnTo>
                <a:lnTo>
                  <a:pt x="477699" y="5715"/>
                </a:lnTo>
                <a:lnTo>
                  <a:pt x="477699" y="0"/>
                </a:lnTo>
                <a:close/>
              </a:path>
              <a:path w="560070" h="508635">
                <a:moveTo>
                  <a:pt x="477699" y="7620"/>
                </a:moveTo>
                <a:lnTo>
                  <a:pt x="439599" y="7620"/>
                </a:lnTo>
                <a:lnTo>
                  <a:pt x="439599" y="9525"/>
                </a:lnTo>
                <a:lnTo>
                  <a:pt x="477699" y="9525"/>
                </a:lnTo>
                <a:lnTo>
                  <a:pt x="477699" y="7620"/>
                </a:lnTo>
                <a:close/>
              </a:path>
              <a:path w="560070" h="508635">
                <a:moveTo>
                  <a:pt x="544374" y="0"/>
                </a:moveTo>
                <a:lnTo>
                  <a:pt x="506274" y="0"/>
                </a:lnTo>
                <a:lnTo>
                  <a:pt x="506274" y="5715"/>
                </a:lnTo>
                <a:lnTo>
                  <a:pt x="544374" y="5715"/>
                </a:lnTo>
                <a:lnTo>
                  <a:pt x="544374" y="0"/>
                </a:lnTo>
                <a:close/>
              </a:path>
              <a:path w="560070" h="508635">
                <a:moveTo>
                  <a:pt x="544374" y="7620"/>
                </a:moveTo>
                <a:lnTo>
                  <a:pt x="506274" y="7620"/>
                </a:lnTo>
                <a:lnTo>
                  <a:pt x="506274" y="9525"/>
                </a:lnTo>
                <a:lnTo>
                  <a:pt x="544374" y="9525"/>
                </a:lnTo>
                <a:lnTo>
                  <a:pt x="544374" y="7620"/>
                </a:lnTo>
                <a:close/>
              </a:path>
              <a:path w="560070" h="508635">
                <a:moveTo>
                  <a:pt x="559540" y="22933"/>
                </a:moveTo>
                <a:lnTo>
                  <a:pt x="553825" y="22933"/>
                </a:lnTo>
                <a:lnTo>
                  <a:pt x="553825" y="61033"/>
                </a:lnTo>
                <a:lnTo>
                  <a:pt x="559540" y="61033"/>
                </a:lnTo>
                <a:lnTo>
                  <a:pt x="559540" y="22933"/>
                </a:lnTo>
                <a:close/>
              </a:path>
              <a:path w="560070" h="508635">
                <a:moveTo>
                  <a:pt x="551920" y="22933"/>
                </a:moveTo>
                <a:lnTo>
                  <a:pt x="550015" y="22933"/>
                </a:lnTo>
                <a:lnTo>
                  <a:pt x="550015" y="61033"/>
                </a:lnTo>
                <a:lnTo>
                  <a:pt x="551920" y="61033"/>
                </a:lnTo>
                <a:lnTo>
                  <a:pt x="551920" y="22933"/>
                </a:lnTo>
                <a:close/>
              </a:path>
              <a:path w="560070" h="508635">
                <a:moveTo>
                  <a:pt x="559540" y="89608"/>
                </a:moveTo>
                <a:lnTo>
                  <a:pt x="553825" y="89608"/>
                </a:lnTo>
                <a:lnTo>
                  <a:pt x="553825" y="127708"/>
                </a:lnTo>
                <a:lnTo>
                  <a:pt x="559540" y="127708"/>
                </a:lnTo>
                <a:lnTo>
                  <a:pt x="559540" y="89608"/>
                </a:lnTo>
                <a:close/>
              </a:path>
              <a:path w="560070" h="508635">
                <a:moveTo>
                  <a:pt x="551920" y="89608"/>
                </a:moveTo>
                <a:lnTo>
                  <a:pt x="550015" y="89608"/>
                </a:lnTo>
                <a:lnTo>
                  <a:pt x="550015" y="127708"/>
                </a:lnTo>
                <a:lnTo>
                  <a:pt x="551920" y="127708"/>
                </a:lnTo>
                <a:lnTo>
                  <a:pt x="551920" y="89608"/>
                </a:lnTo>
                <a:close/>
              </a:path>
              <a:path w="560070" h="508635">
                <a:moveTo>
                  <a:pt x="559540" y="156283"/>
                </a:moveTo>
                <a:lnTo>
                  <a:pt x="553825" y="156283"/>
                </a:lnTo>
                <a:lnTo>
                  <a:pt x="553825" y="194383"/>
                </a:lnTo>
                <a:lnTo>
                  <a:pt x="559540" y="194383"/>
                </a:lnTo>
                <a:lnTo>
                  <a:pt x="559540" y="156283"/>
                </a:lnTo>
                <a:close/>
              </a:path>
              <a:path w="560070" h="508635">
                <a:moveTo>
                  <a:pt x="551920" y="156283"/>
                </a:moveTo>
                <a:lnTo>
                  <a:pt x="550015" y="156283"/>
                </a:lnTo>
                <a:lnTo>
                  <a:pt x="550015" y="194383"/>
                </a:lnTo>
                <a:lnTo>
                  <a:pt x="551920" y="194383"/>
                </a:lnTo>
                <a:lnTo>
                  <a:pt x="551920" y="156283"/>
                </a:lnTo>
                <a:close/>
              </a:path>
              <a:path w="560070" h="508635">
                <a:moveTo>
                  <a:pt x="559540" y="222958"/>
                </a:moveTo>
                <a:lnTo>
                  <a:pt x="553825" y="222958"/>
                </a:lnTo>
                <a:lnTo>
                  <a:pt x="553825" y="261058"/>
                </a:lnTo>
                <a:lnTo>
                  <a:pt x="559540" y="261058"/>
                </a:lnTo>
                <a:lnTo>
                  <a:pt x="559540" y="222958"/>
                </a:lnTo>
                <a:close/>
              </a:path>
              <a:path w="560070" h="508635">
                <a:moveTo>
                  <a:pt x="551920" y="222958"/>
                </a:moveTo>
                <a:lnTo>
                  <a:pt x="550015" y="222958"/>
                </a:lnTo>
                <a:lnTo>
                  <a:pt x="550015" y="261058"/>
                </a:lnTo>
                <a:lnTo>
                  <a:pt x="551920" y="261058"/>
                </a:lnTo>
                <a:lnTo>
                  <a:pt x="551920" y="222958"/>
                </a:lnTo>
                <a:close/>
              </a:path>
              <a:path w="560070" h="508635">
                <a:moveTo>
                  <a:pt x="559540" y="289633"/>
                </a:moveTo>
                <a:lnTo>
                  <a:pt x="553825" y="289633"/>
                </a:lnTo>
                <a:lnTo>
                  <a:pt x="553825" y="327733"/>
                </a:lnTo>
                <a:lnTo>
                  <a:pt x="559540" y="327733"/>
                </a:lnTo>
                <a:lnTo>
                  <a:pt x="559540" y="289633"/>
                </a:lnTo>
                <a:close/>
              </a:path>
              <a:path w="560070" h="508635">
                <a:moveTo>
                  <a:pt x="551920" y="289633"/>
                </a:moveTo>
                <a:lnTo>
                  <a:pt x="550015" y="289633"/>
                </a:lnTo>
                <a:lnTo>
                  <a:pt x="550015" y="327733"/>
                </a:lnTo>
                <a:lnTo>
                  <a:pt x="551920" y="327733"/>
                </a:lnTo>
                <a:lnTo>
                  <a:pt x="551920" y="289633"/>
                </a:lnTo>
                <a:close/>
              </a:path>
              <a:path w="560070" h="508635">
                <a:moveTo>
                  <a:pt x="559540" y="356308"/>
                </a:moveTo>
                <a:lnTo>
                  <a:pt x="553825" y="356308"/>
                </a:lnTo>
                <a:lnTo>
                  <a:pt x="553825" y="394408"/>
                </a:lnTo>
                <a:lnTo>
                  <a:pt x="559540" y="394408"/>
                </a:lnTo>
                <a:lnTo>
                  <a:pt x="559540" y="356308"/>
                </a:lnTo>
                <a:close/>
              </a:path>
              <a:path w="560070" h="508635">
                <a:moveTo>
                  <a:pt x="551920" y="356308"/>
                </a:moveTo>
                <a:lnTo>
                  <a:pt x="550015" y="356308"/>
                </a:lnTo>
                <a:lnTo>
                  <a:pt x="550015" y="394408"/>
                </a:lnTo>
                <a:lnTo>
                  <a:pt x="551920" y="394408"/>
                </a:lnTo>
                <a:lnTo>
                  <a:pt x="551920" y="356308"/>
                </a:lnTo>
                <a:close/>
              </a:path>
              <a:path w="560070" h="508635">
                <a:moveTo>
                  <a:pt x="559540" y="422983"/>
                </a:moveTo>
                <a:lnTo>
                  <a:pt x="553825" y="422983"/>
                </a:lnTo>
                <a:lnTo>
                  <a:pt x="553825" y="461083"/>
                </a:lnTo>
                <a:lnTo>
                  <a:pt x="559540" y="461083"/>
                </a:lnTo>
                <a:lnTo>
                  <a:pt x="559540" y="422983"/>
                </a:lnTo>
                <a:close/>
              </a:path>
              <a:path w="560070" h="508635">
                <a:moveTo>
                  <a:pt x="551920" y="422983"/>
                </a:moveTo>
                <a:lnTo>
                  <a:pt x="550015" y="422983"/>
                </a:lnTo>
                <a:lnTo>
                  <a:pt x="550015" y="461083"/>
                </a:lnTo>
                <a:lnTo>
                  <a:pt x="551920" y="461083"/>
                </a:lnTo>
                <a:lnTo>
                  <a:pt x="551920" y="422983"/>
                </a:lnTo>
                <a:close/>
              </a:path>
              <a:path w="560070" h="508635">
                <a:moveTo>
                  <a:pt x="559540" y="489658"/>
                </a:moveTo>
                <a:lnTo>
                  <a:pt x="553825" y="489658"/>
                </a:lnTo>
                <a:lnTo>
                  <a:pt x="553825" y="502422"/>
                </a:lnTo>
                <a:lnTo>
                  <a:pt x="530395" y="502422"/>
                </a:lnTo>
                <a:lnTo>
                  <a:pt x="530395" y="508137"/>
                </a:lnTo>
                <a:lnTo>
                  <a:pt x="557408" y="508137"/>
                </a:lnTo>
                <a:lnTo>
                  <a:pt x="559540" y="506004"/>
                </a:lnTo>
                <a:lnTo>
                  <a:pt x="559540" y="489658"/>
                </a:lnTo>
                <a:close/>
              </a:path>
              <a:path w="560070" h="508635">
                <a:moveTo>
                  <a:pt x="551920" y="489658"/>
                </a:moveTo>
                <a:lnTo>
                  <a:pt x="550015" y="489658"/>
                </a:lnTo>
                <a:lnTo>
                  <a:pt x="550015" y="498612"/>
                </a:lnTo>
                <a:lnTo>
                  <a:pt x="530395" y="498612"/>
                </a:lnTo>
                <a:lnTo>
                  <a:pt x="530395" y="500517"/>
                </a:lnTo>
                <a:lnTo>
                  <a:pt x="551920" y="500517"/>
                </a:lnTo>
                <a:lnTo>
                  <a:pt x="551920" y="489658"/>
                </a:lnTo>
                <a:close/>
              </a:path>
              <a:path w="560070" h="508635">
                <a:moveTo>
                  <a:pt x="501820" y="502422"/>
                </a:moveTo>
                <a:lnTo>
                  <a:pt x="463720" y="502422"/>
                </a:lnTo>
                <a:lnTo>
                  <a:pt x="463720" y="508137"/>
                </a:lnTo>
                <a:lnTo>
                  <a:pt x="501820" y="508137"/>
                </a:lnTo>
                <a:lnTo>
                  <a:pt x="501820" y="502422"/>
                </a:lnTo>
                <a:close/>
              </a:path>
              <a:path w="560070" h="508635">
                <a:moveTo>
                  <a:pt x="501820" y="498612"/>
                </a:moveTo>
                <a:lnTo>
                  <a:pt x="463720" y="498612"/>
                </a:lnTo>
                <a:lnTo>
                  <a:pt x="463720" y="500517"/>
                </a:lnTo>
                <a:lnTo>
                  <a:pt x="501820" y="500517"/>
                </a:lnTo>
                <a:lnTo>
                  <a:pt x="501820" y="498612"/>
                </a:lnTo>
                <a:close/>
              </a:path>
              <a:path w="560070" h="508635">
                <a:moveTo>
                  <a:pt x="435145" y="502422"/>
                </a:moveTo>
                <a:lnTo>
                  <a:pt x="397045" y="502422"/>
                </a:lnTo>
                <a:lnTo>
                  <a:pt x="397045" y="508137"/>
                </a:lnTo>
                <a:lnTo>
                  <a:pt x="435145" y="508137"/>
                </a:lnTo>
                <a:lnTo>
                  <a:pt x="435145" y="502422"/>
                </a:lnTo>
                <a:close/>
              </a:path>
              <a:path w="560070" h="508635">
                <a:moveTo>
                  <a:pt x="435145" y="498612"/>
                </a:moveTo>
                <a:lnTo>
                  <a:pt x="397045" y="498612"/>
                </a:lnTo>
                <a:lnTo>
                  <a:pt x="397045" y="500517"/>
                </a:lnTo>
                <a:lnTo>
                  <a:pt x="435145" y="500517"/>
                </a:lnTo>
                <a:lnTo>
                  <a:pt x="435145" y="498612"/>
                </a:lnTo>
                <a:close/>
              </a:path>
              <a:path w="560070" h="508635">
                <a:moveTo>
                  <a:pt x="368470" y="502422"/>
                </a:moveTo>
                <a:lnTo>
                  <a:pt x="330370" y="502422"/>
                </a:lnTo>
                <a:lnTo>
                  <a:pt x="330370" y="508137"/>
                </a:lnTo>
                <a:lnTo>
                  <a:pt x="368470" y="508137"/>
                </a:lnTo>
                <a:lnTo>
                  <a:pt x="368470" y="502422"/>
                </a:lnTo>
                <a:close/>
              </a:path>
              <a:path w="560070" h="508635">
                <a:moveTo>
                  <a:pt x="368470" y="498612"/>
                </a:moveTo>
                <a:lnTo>
                  <a:pt x="330370" y="498612"/>
                </a:lnTo>
                <a:lnTo>
                  <a:pt x="330370" y="500517"/>
                </a:lnTo>
                <a:lnTo>
                  <a:pt x="368470" y="500517"/>
                </a:lnTo>
                <a:lnTo>
                  <a:pt x="368470" y="498612"/>
                </a:lnTo>
                <a:close/>
              </a:path>
              <a:path w="560070" h="508635">
                <a:moveTo>
                  <a:pt x="301795" y="502422"/>
                </a:moveTo>
                <a:lnTo>
                  <a:pt x="263695" y="502422"/>
                </a:lnTo>
                <a:lnTo>
                  <a:pt x="263695" y="508137"/>
                </a:lnTo>
                <a:lnTo>
                  <a:pt x="301795" y="508137"/>
                </a:lnTo>
                <a:lnTo>
                  <a:pt x="301795" y="502422"/>
                </a:lnTo>
                <a:close/>
              </a:path>
              <a:path w="560070" h="508635">
                <a:moveTo>
                  <a:pt x="301795" y="498612"/>
                </a:moveTo>
                <a:lnTo>
                  <a:pt x="263695" y="498612"/>
                </a:lnTo>
                <a:lnTo>
                  <a:pt x="263695" y="500517"/>
                </a:lnTo>
                <a:lnTo>
                  <a:pt x="301795" y="500517"/>
                </a:lnTo>
                <a:lnTo>
                  <a:pt x="301795" y="498612"/>
                </a:lnTo>
                <a:close/>
              </a:path>
              <a:path w="560070" h="508635">
                <a:moveTo>
                  <a:pt x="235120" y="502422"/>
                </a:moveTo>
                <a:lnTo>
                  <a:pt x="197020" y="502422"/>
                </a:lnTo>
                <a:lnTo>
                  <a:pt x="197020" y="508137"/>
                </a:lnTo>
                <a:lnTo>
                  <a:pt x="235120" y="508137"/>
                </a:lnTo>
                <a:lnTo>
                  <a:pt x="235120" y="502422"/>
                </a:lnTo>
                <a:close/>
              </a:path>
              <a:path w="560070" h="508635">
                <a:moveTo>
                  <a:pt x="235120" y="498612"/>
                </a:moveTo>
                <a:lnTo>
                  <a:pt x="197020" y="498612"/>
                </a:lnTo>
                <a:lnTo>
                  <a:pt x="197020" y="500517"/>
                </a:lnTo>
                <a:lnTo>
                  <a:pt x="235120" y="500517"/>
                </a:lnTo>
                <a:lnTo>
                  <a:pt x="235120" y="498612"/>
                </a:lnTo>
                <a:close/>
              </a:path>
              <a:path w="560070" h="508635">
                <a:moveTo>
                  <a:pt x="168445" y="502422"/>
                </a:moveTo>
                <a:lnTo>
                  <a:pt x="130345" y="502422"/>
                </a:lnTo>
                <a:lnTo>
                  <a:pt x="130345" y="508137"/>
                </a:lnTo>
                <a:lnTo>
                  <a:pt x="168445" y="508137"/>
                </a:lnTo>
                <a:lnTo>
                  <a:pt x="168445" y="502422"/>
                </a:lnTo>
                <a:close/>
              </a:path>
              <a:path w="560070" h="508635">
                <a:moveTo>
                  <a:pt x="168445" y="498612"/>
                </a:moveTo>
                <a:lnTo>
                  <a:pt x="130345" y="498612"/>
                </a:lnTo>
                <a:lnTo>
                  <a:pt x="130345" y="500517"/>
                </a:lnTo>
                <a:lnTo>
                  <a:pt x="168445" y="500517"/>
                </a:lnTo>
                <a:lnTo>
                  <a:pt x="168445" y="498612"/>
                </a:lnTo>
                <a:close/>
              </a:path>
              <a:path w="560070" h="508635">
                <a:moveTo>
                  <a:pt x="101770" y="502422"/>
                </a:moveTo>
                <a:lnTo>
                  <a:pt x="63670" y="502422"/>
                </a:lnTo>
                <a:lnTo>
                  <a:pt x="63670" y="508137"/>
                </a:lnTo>
                <a:lnTo>
                  <a:pt x="101770" y="508137"/>
                </a:lnTo>
                <a:lnTo>
                  <a:pt x="101770" y="502422"/>
                </a:lnTo>
                <a:close/>
              </a:path>
              <a:path w="560070" h="508635">
                <a:moveTo>
                  <a:pt x="101770" y="498612"/>
                </a:moveTo>
                <a:lnTo>
                  <a:pt x="63670" y="498612"/>
                </a:lnTo>
                <a:lnTo>
                  <a:pt x="63670" y="500517"/>
                </a:lnTo>
                <a:lnTo>
                  <a:pt x="101770" y="500517"/>
                </a:lnTo>
                <a:lnTo>
                  <a:pt x="101770" y="498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12704" y="1541369"/>
            <a:ext cx="3538777" cy="28017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00788" y="1830781"/>
            <a:ext cx="393065" cy="514984"/>
          </a:xfrm>
          <a:custGeom>
            <a:avLst/>
            <a:gdLst/>
            <a:ahLst/>
            <a:cxnLst/>
            <a:rect l="l" t="t" r="r" b="b"/>
            <a:pathLst>
              <a:path w="393064" h="514985">
                <a:moveTo>
                  <a:pt x="15637" y="492583"/>
                </a:moveTo>
                <a:lnTo>
                  <a:pt x="13646" y="492856"/>
                </a:lnTo>
                <a:lnTo>
                  <a:pt x="0" y="510816"/>
                </a:lnTo>
                <a:lnTo>
                  <a:pt x="271" y="512809"/>
                </a:lnTo>
                <a:lnTo>
                  <a:pt x="3064" y="514930"/>
                </a:lnTo>
                <a:lnTo>
                  <a:pt x="5055" y="514658"/>
                </a:lnTo>
                <a:lnTo>
                  <a:pt x="18702" y="496697"/>
                </a:lnTo>
                <a:lnTo>
                  <a:pt x="18430" y="494705"/>
                </a:lnTo>
                <a:lnTo>
                  <a:pt x="15637" y="492583"/>
                </a:lnTo>
                <a:close/>
              </a:path>
              <a:path w="393064" h="514985">
                <a:moveTo>
                  <a:pt x="42527" y="457189"/>
                </a:moveTo>
                <a:lnTo>
                  <a:pt x="40534" y="457461"/>
                </a:lnTo>
                <a:lnTo>
                  <a:pt x="26889" y="475423"/>
                </a:lnTo>
                <a:lnTo>
                  <a:pt x="27161" y="477414"/>
                </a:lnTo>
                <a:lnTo>
                  <a:pt x="29954" y="479536"/>
                </a:lnTo>
                <a:lnTo>
                  <a:pt x="31945" y="479264"/>
                </a:lnTo>
                <a:lnTo>
                  <a:pt x="45591" y="461303"/>
                </a:lnTo>
                <a:lnTo>
                  <a:pt x="45319" y="459310"/>
                </a:lnTo>
                <a:lnTo>
                  <a:pt x="42527" y="457189"/>
                </a:lnTo>
                <a:close/>
              </a:path>
              <a:path w="393064" h="514985">
                <a:moveTo>
                  <a:pt x="69416" y="421794"/>
                </a:moveTo>
                <a:lnTo>
                  <a:pt x="67424" y="422066"/>
                </a:lnTo>
                <a:lnTo>
                  <a:pt x="53779" y="440028"/>
                </a:lnTo>
                <a:lnTo>
                  <a:pt x="54051" y="442020"/>
                </a:lnTo>
                <a:lnTo>
                  <a:pt x="56843" y="444141"/>
                </a:lnTo>
                <a:lnTo>
                  <a:pt x="58835" y="443870"/>
                </a:lnTo>
                <a:lnTo>
                  <a:pt x="72481" y="425908"/>
                </a:lnTo>
                <a:lnTo>
                  <a:pt x="72209" y="423917"/>
                </a:lnTo>
                <a:lnTo>
                  <a:pt x="69416" y="421794"/>
                </a:lnTo>
                <a:close/>
              </a:path>
              <a:path w="393064" h="514985">
                <a:moveTo>
                  <a:pt x="96306" y="386401"/>
                </a:moveTo>
                <a:lnTo>
                  <a:pt x="94314" y="386673"/>
                </a:lnTo>
                <a:lnTo>
                  <a:pt x="80669" y="404634"/>
                </a:lnTo>
                <a:lnTo>
                  <a:pt x="80940" y="406626"/>
                </a:lnTo>
                <a:lnTo>
                  <a:pt x="83733" y="408748"/>
                </a:lnTo>
                <a:lnTo>
                  <a:pt x="85725" y="408476"/>
                </a:lnTo>
                <a:lnTo>
                  <a:pt x="99371" y="390514"/>
                </a:lnTo>
                <a:lnTo>
                  <a:pt x="99098" y="388522"/>
                </a:lnTo>
                <a:lnTo>
                  <a:pt x="96306" y="386401"/>
                </a:lnTo>
                <a:close/>
              </a:path>
              <a:path w="393064" h="514985">
                <a:moveTo>
                  <a:pt x="123195" y="351006"/>
                </a:moveTo>
                <a:lnTo>
                  <a:pt x="121203" y="351278"/>
                </a:lnTo>
                <a:lnTo>
                  <a:pt x="107557" y="369239"/>
                </a:lnTo>
                <a:lnTo>
                  <a:pt x="107830" y="371232"/>
                </a:lnTo>
                <a:lnTo>
                  <a:pt x="110622" y="373353"/>
                </a:lnTo>
                <a:lnTo>
                  <a:pt x="112614" y="373081"/>
                </a:lnTo>
                <a:lnTo>
                  <a:pt x="126259" y="355119"/>
                </a:lnTo>
                <a:lnTo>
                  <a:pt x="125987" y="353128"/>
                </a:lnTo>
                <a:lnTo>
                  <a:pt x="123195" y="351006"/>
                </a:lnTo>
                <a:close/>
              </a:path>
              <a:path w="393064" h="514985">
                <a:moveTo>
                  <a:pt x="150084" y="315612"/>
                </a:moveTo>
                <a:lnTo>
                  <a:pt x="148093" y="315884"/>
                </a:lnTo>
                <a:lnTo>
                  <a:pt x="134447" y="333846"/>
                </a:lnTo>
                <a:lnTo>
                  <a:pt x="134719" y="335837"/>
                </a:lnTo>
                <a:lnTo>
                  <a:pt x="137511" y="337959"/>
                </a:lnTo>
                <a:lnTo>
                  <a:pt x="139504" y="337687"/>
                </a:lnTo>
                <a:lnTo>
                  <a:pt x="153149" y="319726"/>
                </a:lnTo>
                <a:lnTo>
                  <a:pt x="152877" y="317733"/>
                </a:lnTo>
                <a:lnTo>
                  <a:pt x="150084" y="315612"/>
                </a:lnTo>
                <a:close/>
              </a:path>
              <a:path w="393064" h="514985">
                <a:moveTo>
                  <a:pt x="176974" y="280217"/>
                </a:moveTo>
                <a:lnTo>
                  <a:pt x="174983" y="280489"/>
                </a:lnTo>
                <a:lnTo>
                  <a:pt x="161336" y="298451"/>
                </a:lnTo>
                <a:lnTo>
                  <a:pt x="161608" y="300443"/>
                </a:lnTo>
                <a:lnTo>
                  <a:pt x="164401" y="302564"/>
                </a:lnTo>
                <a:lnTo>
                  <a:pt x="166394" y="302293"/>
                </a:lnTo>
                <a:lnTo>
                  <a:pt x="180039" y="284331"/>
                </a:lnTo>
                <a:lnTo>
                  <a:pt x="179767" y="282340"/>
                </a:lnTo>
                <a:lnTo>
                  <a:pt x="176974" y="280217"/>
                </a:lnTo>
                <a:close/>
              </a:path>
              <a:path w="393064" h="514985">
                <a:moveTo>
                  <a:pt x="203864" y="244824"/>
                </a:moveTo>
                <a:lnTo>
                  <a:pt x="201872" y="245096"/>
                </a:lnTo>
                <a:lnTo>
                  <a:pt x="188226" y="263057"/>
                </a:lnTo>
                <a:lnTo>
                  <a:pt x="188498" y="265049"/>
                </a:lnTo>
                <a:lnTo>
                  <a:pt x="191291" y="267171"/>
                </a:lnTo>
                <a:lnTo>
                  <a:pt x="193282" y="266899"/>
                </a:lnTo>
                <a:lnTo>
                  <a:pt x="206928" y="248937"/>
                </a:lnTo>
                <a:lnTo>
                  <a:pt x="206656" y="246945"/>
                </a:lnTo>
                <a:lnTo>
                  <a:pt x="203864" y="244824"/>
                </a:lnTo>
                <a:close/>
              </a:path>
              <a:path w="393064" h="514985">
                <a:moveTo>
                  <a:pt x="230753" y="209429"/>
                </a:moveTo>
                <a:lnTo>
                  <a:pt x="228761" y="209701"/>
                </a:lnTo>
                <a:lnTo>
                  <a:pt x="215116" y="227662"/>
                </a:lnTo>
                <a:lnTo>
                  <a:pt x="215388" y="229655"/>
                </a:lnTo>
                <a:lnTo>
                  <a:pt x="218180" y="231776"/>
                </a:lnTo>
                <a:lnTo>
                  <a:pt x="220172" y="231504"/>
                </a:lnTo>
                <a:lnTo>
                  <a:pt x="233818" y="213542"/>
                </a:lnTo>
                <a:lnTo>
                  <a:pt x="233546" y="211551"/>
                </a:lnTo>
                <a:lnTo>
                  <a:pt x="230753" y="209429"/>
                </a:lnTo>
                <a:close/>
              </a:path>
              <a:path w="393064" h="514985">
                <a:moveTo>
                  <a:pt x="257643" y="174035"/>
                </a:moveTo>
                <a:lnTo>
                  <a:pt x="255650" y="174307"/>
                </a:lnTo>
                <a:lnTo>
                  <a:pt x="242006" y="192269"/>
                </a:lnTo>
                <a:lnTo>
                  <a:pt x="242277" y="194260"/>
                </a:lnTo>
                <a:lnTo>
                  <a:pt x="245070" y="196382"/>
                </a:lnTo>
                <a:lnTo>
                  <a:pt x="247061" y="196109"/>
                </a:lnTo>
                <a:lnTo>
                  <a:pt x="260708" y="178149"/>
                </a:lnTo>
                <a:lnTo>
                  <a:pt x="260436" y="176156"/>
                </a:lnTo>
                <a:lnTo>
                  <a:pt x="257643" y="174035"/>
                </a:lnTo>
                <a:close/>
              </a:path>
              <a:path w="393064" h="514985">
                <a:moveTo>
                  <a:pt x="284533" y="138640"/>
                </a:moveTo>
                <a:lnTo>
                  <a:pt x="282540" y="138912"/>
                </a:lnTo>
                <a:lnTo>
                  <a:pt x="268895" y="156874"/>
                </a:lnTo>
                <a:lnTo>
                  <a:pt x="269167" y="158866"/>
                </a:lnTo>
                <a:lnTo>
                  <a:pt x="271960" y="160987"/>
                </a:lnTo>
                <a:lnTo>
                  <a:pt x="273951" y="160715"/>
                </a:lnTo>
                <a:lnTo>
                  <a:pt x="287597" y="142754"/>
                </a:lnTo>
                <a:lnTo>
                  <a:pt x="287324" y="140762"/>
                </a:lnTo>
                <a:lnTo>
                  <a:pt x="284533" y="138640"/>
                </a:lnTo>
                <a:close/>
              </a:path>
              <a:path w="393064" h="514985">
                <a:moveTo>
                  <a:pt x="311421" y="103247"/>
                </a:moveTo>
                <a:lnTo>
                  <a:pt x="309430" y="103518"/>
                </a:lnTo>
                <a:lnTo>
                  <a:pt x="295784" y="121480"/>
                </a:lnTo>
                <a:lnTo>
                  <a:pt x="296057" y="123471"/>
                </a:lnTo>
                <a:lnTo>
                  <a:pt x="298848" y="125594"/>
                </a:lnTo>
                <a:lnTo>
                  <a:pt x="300841" y="125321"/>
                </a:lnTo>
                <a:lnTo>
                  <a:pt x="314486" y="107360"/>
                </a:lnTo>
                <a:lnTo>
                  <a:pt x="314214" y="105368"/>
                </a:lnTo>
                <a:lnTo>
                  <a:pt x="311421" y="103247"/>
                </a:lnTo>
                <a:close/>
              </a:path>
              <a:path w="393064" h="514985">
                <a:moveTo>
                  <a:pt x="338311" y="67852"/>
                </a:moveTo>
                <a:lnTo>
                  <a:pt x="336320" y="68124"/>
                </a:lnTo>
                <a:lnTo>
                  <a:pt x="322673" y="86085"/>
                </a:lnTo>
                <a:lnTo>
                  <a:pt x="322945" y="88078"/>
                </a:lnTo>
                <a:lnTo>
                  <a:pt x="325738" y="90199"/>
                </a:lnTo>
                <a:lnTo>
                  <a:pt x="327731" y="89927"/>
                </a:lnTo>
                <a:lnTo>
                  <a:pt x="341375" y="71965"/>
                </a:lnTo>
                <a:lnTo>
                  <a:pt x="341104" y="69974"/>
                </a:lnTo>
                <a:lnTo>
                  <a:pt x="338311" y="67852"/>
                </a:lnTo>
                <a:close/>
              </a:path>
              <a:path w="393064" h="514985">
                <a:moveTo>
                  <a:pt x="365201" y="32458"/>
                </a:moveTo>
                <a:lnTo>
                  <a:pt x="363209" y="32730"/>
                </a:lnTo>
                <a:lnTo>
                  <a:pt x="349563" y="50692"/>
                </a:lnTo>
                <a:lnTo>
                  <a:pt x="349835" y="52683"/>
                </a:lnTo>
                <a:lnTo>
                  <a:pt x="352628" y="54805"/>
                </a:lnTo>
                <a:lnTo>
                  <a:pt x="354620" y="54532"/>
                </a:lnTo>
                <a:lnTo>
                  <a:pt x="368265" y="36570"/>
                </a:lnTo>
                <a:lnTo>
                  <a:pt x="367993" y="34579"/>
                </a:lnTo>
                <a:lnTo>
                  <a:pt x="365201" y="32458"/>
                </a:lnTo>
                <a:close/>
              </a:path>
              <a:path w="393064" h="514985">
                <a:moveTo>
                  <a:pt x="389860" y="0"/>
                </a:moveTo>
                <a:lnTo>
                  <a:pt x="387868" y="271"/>
                </a:lnTo>
                <a:lnTo>
                  <a:pt x="376453" y="15297"/>
                </a:lnTo>
                <a:lnTo>
                  <a:pt x="376725" y="17289"/>
                </a:lnTo>
                <a:lnTo>
                  <a:pt x="379517" y="19410"/>
                </a:lnTo>
                <a:lnTo>
                  <a:pt x="381509" y="19138"/>
                </a:lnTo>
                <a:lnTo>
                  <a:pt x="392925" y="4113"/>
                </a:lnTo>
                <a:lnTo>
                  <a:pt x="392652" y="2120"/>
                </a:lnTo>
                <a:lnTo>
                  <a:pt x="389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00772" y="2826849"/>
            <a:ext cx="374650" cy="525780"/>
          </a:xfrm>
          <a:custGeom>
            <a:avLst/>
            <a:gdLst/>
            <a:ahLst/>
            <a:cxnLst/>
            <a:rect l="l" t="t" r="r" b="b"/>
            <a:pathLst>
              <a:path w="374650" h="525779">
                <a:moveTo>
                  <a:pt x="3197" y="0"/>
                </a:moveTo>
                <a:lnTo>
                  <a:pt x="336" y="2029"/>
                </a:lnTo>
                <a:lnTo>
                  <a:pt x="0" y="4010"/>
                </a:lnTo>
                <a:lnTo>
                  <a:pt x="13049" y="22409"/>
                </a:lnTo>
                <a:lnTo>
                  <a:pt x="15031" y="22746"/>
                </a:lnTo>
                <a:lnTo>
                  <a:pt x="17891" y="20717"/>
                </a:lnTo>
                <a:lnTo>
                  <a:pt x="18229" y="18736"/>
                </a:lnTo>
                <a:lnTo>
                  <a:pt x="5179" y="336"/>
                </a:lnTo>
                <a:lnTo>
                  <a:pt x="3197" y="0"/>
                </a:lnTo>
                <a:close/>
              </a:path>
              <a:path w="374650" h="525779">
                <a:moveTo>
                  <a:pt x="28912" y="36255"/>
                </a:moveTo>
                <a:lnTo>
                  <a:pt x="26052" y="38285"/>
                </a:lnTo>
                <a:lnTo>
                  <a:pt x="25714" y="40266"/>
                </a:lnTo>
                <a:lnTo>
                  <a:pt x="38765" y="58666"/>
                </a:lnTo>
                <a:lnTo>
                  <a:pt x="40746" y="59002"/>
                </a:lnTo>
                <a:lnTo>
                  <a:pt x="43607" y="56974"/>
                </a:lnTo>
                <a:lnTo>
                  <a:pt x="43944" y="54992"/>
                </a:lnTo>
                <a:lnTo>
                  <a:pt x="30895" y="36593"/>
                </a:lnTo>
                <a:lnTo>
                  <a:pt x="28912" y="36255"/>
                </a:lnTo>
                <a:close/>
              </a:path>
              <a:path w="374650" h="525779">
                <a:moveTo>
                  <a:pt x="54629" y="72513"/>
                </a:moveTo>
                <a:lnTo>
                  <a:pt x="51767" y="74541"/>
                </a:lnTo>
                <a:lnTo>
                  <a:pt x="51431" y="76523"/>
                </a:lnTo>
                <a:lnTo>
                  <a:pt x="64480" y="94922"/>
                </a:lnTo>
                <a:lnTo>
                  <a:pt x="66462" y="95258"/>
                </a:lnTo>
                <a:lnTo>
                  <a:pt x="69322" y="93230"/>
                </a:lnTo>
                <a:lnTo>
                  <a:pt x="69659" y="91248"/>
                </a:lnTo>
                <a:lnTo>
                  <a:pt x="56610" y="72849"/>
                </a:lnTo>
                <a:lnTo>
                  <a:pt x="54629" y="72513"/>
                </a:lnTo>
                <a:close/>
              </a:path>
              <a:path w="374650" h="525779">
                <a:moveTo>
                  <a:pt x="80344" y="108769"/>
                </a:moveTo>
                <a:lnTo>
                  <a:pt x="77482" y="110797"/>
                </a:lnTo>
                <a:lnTo>
                  <a:pt x="77146" y="112779"/>
                </a:lnTo>
                <a:lnTo>
                  <a:pt x="90195" y="131178"/>
                </a:lnTo>
                <a:lnTo>
                  <a:pt x="92177" y="131516"/>
                </a:lnTo>
                <a:lnTo>
                  <a:pt x="95037" y="129486"/>
                </a:lnTo>
                <a:lnTo>
                  <a:pt x="95375" y="127505"/>
                </a:lnTo>
                <a:lnTo>
                  <a:pt x="82325" y="109105"/>
                </a:lnTo>
                <a:lnTo>
                  <a:pt x="80344" y="108769"/>
                </a:lnTo>
                <a:close/>
              </a:path>
              <a:path w="374650" h="525779">
                <a:moveTo>
                  <a:pt x="106058" y="145025"/>
                </a:moveTo>
                <a:lnTo>
                  <a:pt x="103198" y="147054"/>
                </a:lnTo>
                <a:lnTo>
                  <a:pt x="102861" y="149035"/>
                </a:lnTo>
                <a:lnTo>
                  <a:pt x="115911" y="167435"/>
                </a:lnTo>
                <a:lnTo>
                  <a:pt x="117892" y="167772"/>
                </a:lnTo>
                <a:lnTo>
                  <a:pt x="120754" y="165742"/>
                </a:lnTo>
                <a:lnTo>
                  <a:pt x="121090" y="163761"/>
                </a:lnTo>
                <a:lnTo>
                  <a:pt x="108041" y="145362"/>
                </a:lnTo>
                <a:lnTo>
                  <a:pt x="106058" y="145025"/>
                </a:lnTo>
                <a:close/>
              </a:path>
              <a:path w="374650" h="525779">
                <a:moveTo>
                  <a:pt x="131775" y="181281"/>
                </a:moveTo>
                <a:lnTo>
                  <a:pt x="128913" y="183310"/>
                </a:lnTo>
                <a:lnTo>
                  <a:pt x="128577" y="185291"/>
                </a:lnTo>
                <a:lnTo>
                  <a:pt x="141626" y="203691"/>
                </a:lnTo>
                <a:lnTo>
                  <a:pt x="143609" y="204028"/>
                </a:lnTo>
                <a:lnTo>
                  <a:pt x="146469" y="201999"/>
                </a:lnTo>
                <a:lnTo>
                  <a:pt x="146805" y="200017"/>
                </a:lnTo>
                <a:lnTo>
                  <a:pt x="133756" y="181618"/>
                </a:lnTo>
                <a:lnTo>
                  <a:pt x="131775" y="181281"/>
                </a:lnTo>
                <a:close/>
              </a:path>
              <a:path w="374650" h="525779">
                <a:moveTo>
                  <a:pt x="157490" y="217538"/>
                </a:moveTo>
                <a:lnTo>
                  <a:pt x="154628" y="219566"/>
                </a:lnTo>
                <a:lnTo>
                  <a:pt x="154292" y="221548"/>
                </a:lnTo>
                <a:lnTo>
                  <a:pt x="167341" y="239947"/>
                </a:lnTo>
                <a:lnTo>
                  <a:pt x="169324" y="240285"/>
                </a:lnTo>
                <a:lnTo>
                  <a:pt x="172184" y="238255"/>
                </a:lnTo>
                <a:lnTo>
                  <a:pt x="172521" y="236273"/>
                </a:lnTo>
                <a:lnTo>
                  <a:pt x="159471" y="217874"/>
                </a:lnTo>
                <a:lnTo>
                  <a:pt x="157490" y="217538"/>
                </a:lnTo>
                <a:close/>
              </a:path>
              <a:path w="374650" h="525779">
                <a:moveTo>
                  <a:pt x="183205" y="253794"/>
                </a:moveTo>
                <a:lnTo>
                  <a:pt x="180345" y="255823"/>
                </a:lnTo>
                <a:lnTo>
                  <a:pt x="180007" y="257804"/>
                </a:lnTo>
                <a:lnTo>
                  <a:pt x="193057" y="276203"/>
                </a:lnTo>
                <a:lnTo>
                  <a:pt x="195038" y="276541"/>
                </a:lnTo>
                <a:lnTo>
                  <a:pt x="197900" y="274511"/>
                </a:lnTo>
                <a:lnTo>
                  <a:pt x="198236" y="272530"/>
                </a:lnTo>
                <a:lnTo>
                  <a:pt x="185187" y="254130"/>
                </a:lnTo>
                <a:lnTo>
                  <a:pt x="183205" y="253794"/>
                </a:lnTo>
                <a:close/>
              </a:path>
              <a:path w="374650" h="525779">
                <a:moveTo>
                  <a:pt x="208921" y="290050"/>
                </a:moveTo>
                <a:lnTo>
                  <a:pt x="206060" y="292079"/>
                </a:lnTo>
                <a:lnTo>
                  <a:pt x="205723" y="294060"/>
                </a:lnTo>
                <a:lnTo>
                  <a:pt x="218772" y="312460"/>
                </a:lnTo>
                <a:lnTo>
                  <a:pt x="220755" y="312797"/>
                </a:lnTo>
                <a:lnTo>
                  <a:pt x="223615" y="310769"/>
                </a:lnTo>
                <a:lnTo>
                  <a:pt x="223951" y="308786"/>
                </a:lnTo>
                <a:lnTo>
                  <a:pt x="210902" y="290388"/>
                </a:lnTo>
                <a:lnTo>
                  <a:pt x="208921" y="290050"/>
                </a:lnTo>
                <a:close/>
              </a:path>
              <a:path w="374650" h="525779">
                <a:moveTo>
                  <a:pt x="234636" y="326307"/>
                </a:moveTo>
                <a:lnTo>
                  <a:pt x="231776" y="328335"/>
                </a:lnTo>
                <a:lnTo>
                  <a:pt x="231438" y="330318"/>
                </a:lnTo>
                <a:lnTo>
                  <a:pt x="244487" y="348716"/>
                </a:lnTo>
                <a:lnTo>
                  <a:pt x="246470" y="349053"/>
                </a:lnTo>
                <a:lnTo>
                  <a:pt x="249330" y="347024"/>
                </a:lnTo>
                <a:lnTo>
                  <a:pt x="249668" y="345042"/>
                </a:lnTo>
                <a:lnTo>
                  <a:pt x="236617" y="326644"/>
                </a:lnTo>
                <a:lnTo>
                  <a:pt x="234636" y="326307"/>
                </a:lnTo>
                <a:close/>
              </a:path>
              <a:path w="374650" h="525779">
                <a:moveTo>
                  <a:pt x="260351" y="362563"/>
                </a:moveTo>
                <a:lnTo>
                  <a:pt x="257491" y="364591"/>
                </a:lnTo>
                <a:lnTo>
                  <a:pt x="257153" y="366574"/>
                </a:lnTo>
                <a:lnTo>
                  <a:pt x="270203" y="384972"/>
                </a:lnTo>
                <a:lnTo>
                  <a:pt x="272185" y="385310"/>
                </a:lnTo>
                <a:lnTo>
                  <a:pt x="275046" y="383280"/>
                </a:lnTo>
                <a:lnTo>
                  <a:pt x="275382" y="381299"/>
                </a:lnTo>
                <a:lnTo>
                  <a:pt x="262333" y="362899"/>
                </a:lnTo>
                <a:lnTo>
                  <a:pt x="260351" y="362563"/>
                </a:lnTo>
                <a:close/>
              </a:path>
              <a:path w="374650" h="525779">
                <a:moveTo>
                  <a:pt x="286067" y="398819"/>
                </a:moveTo>
                <a:lnTo>
                  <a:pt x="283206" y="400848"/>
                </a:lnTo>
                <a:lnTo>
                  <a:pt x="282869" y="402830"/>
                </a:lnTo>
                <a:lnTo>
                  <a:pt x="295918" y="421229"/>
                </a:lnTo>
                <a:lnTo>
                  <a:pt x="297901" y="421566"/>
                </a:lnTo>
                <a:lnTo>
                  <a:pt x="300761" y="419536"/>
                </a:lnTo>
                <a:lnTo>
                  <a:pt x="301099" y="417555"/>
                </a:lnTo>
                <a:lnTo>
                  <a:pt x="288048" y="399157"/>
                </a:lnTo>
                <a:lnTo>
                  <a:pt x="286067" y="398819"/>
                </a:lnTo>
                <a:close/>
              </a:path>
              <a:path w="374650" h="525779">
                <a:moveTo>
                  <a:pt x="311782" y="435075"/>
                </a:moveTo>
                <a:lnTo>
                  <a:pt x="308922" y="437104"/>
                </a:lnTo>
                <a:lnTo>
                  <a:pt x="308584" y="439085"/>
                </a:lnTo>
                <a:lnTo>
                  <a:pt x="321635" y="457485"/>
                </a:lnTo>
                <a:lnTo>
                  <a:pt x="323616" y="457822"/>
                </a:lnTo>
                <a:lnTo>
                  <a:pt x="326476" y="455794"/>
                </a:lnTo>
                <a:lnTo>
                  <a:pt x="326814" y="453811"/>
                </a:lnTo>
                <a:lnTo>
                  <a:pt x="313763" y="435413"/>
                </a:lnTo>
                <a:lnTo>
                  <a:pt x="311782" y="435075"/>
                </a:lnTo>
                <a:close/>
              </a:path>
              <a:path w="374650" h="525779">
                <a:moveTo>
                  <a:pt x="337497" y="471332"/>
                </a:moveTo>
                <a:lnTo>
                  <a:pt x="334637" y="473360"/>
                </a:lnTo>
                <a:lnTo>
                  <a:pt x="334299" y="475343"/>
                </a:lnTo>
                <a:lnTo>
                  <a:pt x="347350" y="493741"/>
                </a:lnTo>
                <a:lnTo>
                  <a:pt x="349331" y="494079"/>
                </a:lnTo>
                <a:lnTo>
                  <a:pt x="352192" y="492050"/>
                </a:lnTo>
                <a:lnTo>
                  <a:pt x="352529" y="490068"/>
                </a:lnTo>
                <a:lnTo>
                  <a:pt x="339479" y="471669"/>
                </a:lnTo>
                <a:lnTo>
                  <a:pt x="337497" y="471332"/>
                </a:lnTo>
                <a:close/>
              </a:path>
              <a:path w="374650" h="525779">
                <a:moveTo>
                  <a:pt x="363213" y="507588"/>
                </a:moveTo>
                <a:lnTo>
                  <a:pt x="360352" y="509617"/>
                </a:lnTo>
                <a:lnTo>
                  <a:pt x="360015" y="511599"/>
                </a:lnTo>
                <a:lnTo>
                  <a:pt x="369450" y="524902"/>
                </a:lnTo>
                <a:lnTo>
                  <a:pt x="371433" y="525238"/>
                </a:lnTo>
                <a:lnTo>
                  <a:pt x="374293" y="523210"/>
                </a:lnTo>
                <a:lnTo>
                  <a:pt x="374630" y="521228"/>
                </a:lnTo>
                <a:lnTo>
                  <a:pt x="365194" y="507925"/>
                </a:lnTo>
                <a:lnTo>
                  <a:pt x="363213" y="5075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303" y="2588614"/>
            <a:ext cx="4412635" cy="4123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0051" y="4153780"/>
            <a:ext cx="3632737" cy="4379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8152" y="2969260"/>
            <a:ext cx="7600950" cy="344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5190" indent="-3810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Malgun Gothic"/>
              <a:buChar char="▪"/>
              <a:tabLst>
                <a:tab pos="885190" algn="l"/>
                <a:tab pos="885825" algn="l"/>
              </a:tabLst>
            </a:pPr>
            <a:r>
              <a:rPr dirty="0" sz="2200" spc="-20">
                <a:latin typeface="Calibri"/>
                <a:cs typeface="Calibri"/>
              </a:rPr>
              <a:t>Inter-layer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5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▪"/>
            </a:pPr>
            <a:endParaRPr sz="3150">
              <a:latin typeface="Times New Roman"/>
              <a:cs typeface="Times New Roman"/>
            </a:endParaRPr>
          </a:p>
          <a:p>
            <a:pPr marL="885190" indent="-38100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Malgun Gothic"/>
              <a:buChar char="▪"/>
              <a:tabLst>
                <a:tab pos="885190" algn="l"/>
                <a:tab pos="885825" algn="l"/>
              </a:tabLst>
            </a:pPr>
            <a:r>
              <a:rPr dirty="0" sz="2200" spc="-5">
                <a:latin typeface="Calibri"/>
                <a:cs typeface="Calibri"/>
              </a:rPr>
              <a:t>Learning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5">
                <a:latin typeface="Calibri"/>
                <a:cs typeface="Calibri"/>
              </a:rPr>
              <a:t>configuration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▪"/>
            </a:pPr>
            <a:endParaRPr sz="3150">
              <a:latin typeface="Times New Roman"/>
              <a:cs typeface="Times New Roman"/>
            </a:endParaRPr>
          </a:p>
          <a:p>
            <a:pPr marL="885190" indent="-381000">
              <a:lnSpc>
                <a:spcPct val="100000"/>
              </a:lnSpc>
              <a:buFont typeface="Malgun Gothic"/>
              <a:buChar char="▪"/>
              <a:tabLst>
                <a:tab pos="885190" algn="l"/>
                <a:tab pos="88582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total: </a:t>
            </a:r>
            <a:r>
              <a:rPr dirty="0" sz="2000" spc="-5">
                <a:latin typeface="Calibri"/>
                <a:cs typeface="Calibri"/>
              </a:rPr>
              <a:t>315K possible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designs</a:t>
            </a:r>
            <a:endParaRPr sz="20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845"/>
              </a:spcBef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Purpose:</a:t>
            </a:r>
            <a:endParaRPr sz="2400">
              <a:latin typeface="Calibri"/>
              <a:cs typeface="Calibri"/>
            </a:endParaRPr>
          </a:p>
          <a:p>
            <a:pPr lvl="1" marL="1003300" indent="-38100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Font typeface="Malgun Gothic"/>
              <a:buChar char="▪"/>
              <a:tabLst>
                <a:tab pos="1002665" algn="l"/>
                <a:tab pos="1003300" algn="l"/>
              </a:tabLst>
            </a:pPr>
            <a:r>
              <a:rPr dirty="0" sz="2000" spc="-40">
                <a:latin typeface="Calibri"/>
                <a:cs typeface="Calibri"/>
              </a:rPr>
              <a:t>We </a:t>
            </a:r>
            <a:r>
              <a:rPr dirty="0" sz="2000" spc="-5">
                <a:latin typeface="Calibri"/>
                <a:cs typeface="Calibri"/>
              </a:rPr>
              <a:t>don’t </a:t>
            </a:r>
            <a:r>
              <a:rPr dirty="0" sz="2000" spc="-15">
                <a:latin typeface="Calibri"/>
                <a:cs typeface="Calibri"/>
              </a:rPr>
              <a:t>want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 spc="-5">
                <a:latin typeface="Calibri"/>
                <a:cs typeface="Calibri"/>
              </a:rPr>
              <a:t>(and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 spc="-5">
                <a:latin typeface="Calibri"/>
                <a:cs typeface="Calibri"/>
              </a:rPr>
              <a:t>cannot) </a:t>
            </a:r>
            <a:r>
              <a:rPr dirty="0" sz="2000" spc="-15">
                <a:latin typeface="Calibri"/>
                <a:cs typeface="Calibri"/>
              </a:rPr>
              <a:t>cover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-5">
                <a:latin typeface="Calibri"/>
                <a:cs typeface="Calibri"/>
              </a:rPr>
              <a:t>the possible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designs</a:t>
            </a:r>
            <a:endParaRPr sz="2000">
              <a:latin typeface="Calibri"/>
              <a:cs typeface="Calibri"/>
            </a:endParaRPr>
          </a:p>
          <a:p>
            <a:pPr lvl="1" marL="1003300" marR="161925" indent="-38100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Font typeface="Malgun Gothic"/>
              <a:buChar char="▪"/>
              <a:tabLst>
                <a:tab pos="1002665" algn="l"/>
                <a:tab pos="1003300" algn="l"/>
              </a:tabLst>
            </a:pPr>
            <a:r>
              <a:rPr dirty="0" sz="2000" spc="-40">
                <a:latin typeface="Calibri"/>
                <a:cs typeface="Calibri"/>
              </a:rPr>
              <a:t>We </a:t>
            </a:r>
            <a:r>
              <a:rPr dirty="0" sz="2000" spc="-15">
                <a:latin typeface="Calibri"/>
                <a:cs typeface="Calibri"/>
              </a:rPr>
              <a:t>want </a:t>
            </a:r>
            <a:r>
              <a:rPr dirty="0" sz="2000" spc="-10">
                <a:latin typeface="Calibri"/>
                <a:cs typeface="Calibri"/>
              </a:rPr>
              <a:t>to demonstrate </a:t>
            </a:r>
            <a:r>
              <a:rPr dirty="0" sz="2000" spc="-5">
                <a:latin typeface="Calibri"/>
                <a:cs typeface="Calibri"/>
              </a:rPr>
              <a:t>that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studying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design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space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is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more 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effective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than studying individual GNN</a:t>
            </a:r>
            <a:r>
              <a:rPr dirty="0" sz="2000" spc="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designs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4739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42545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/>
              <a:t>Categorizing </a:t>
            </a:r>
            <a:r>
              <a:rPr dirty="0" spc="-5"/>
              <a:t>GNN </a:t>
            </a:r>
            <a:r>
              <a:rPr dirty="0" spc="-15"/>
              <a:t>tasks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1789683"/>
            <a:ext cx="7962265" cy="46863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Common </a:t>
            </a:r>
            <a:r>
              <a:rPr dirty="0" sz="2800" spc="-10" b="1">
                <a:latin typeface="Calibri"/>
                <a:cs typeface="Calibri"/>
              </a:rPr>
              <a:t>practice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libri"/>
                <a:cs typeface="Calibri"/>
              </a:rPr>
              <a:t>/ </a:t>
            </a:r>
            <a:r>
              <a:rPr dirty="0" sz="2800" spc="-10">
                <a:latin typeface="Calibri"/>
                <a:cs typeface="Calibri"/>
              </a:rPr>
              <a:t>edge </a:t>
            </a:r>
            <a:r>
              <a:rPr dirty="0" sz="2800">
                <a:latin typeface="Calibri"/>
                <a:cs typeface="Calibri"/>
              </a:rPr>
              <a:t>/ </a:t>
            </a:r>
            <a:r>
              <a:rPr dirty="0" sz="2800" spc="-15">
                <a:latin typeface="Calibri"/>
                <a:cs typeface="Calibri"/>
              </a:rPr>
              <a:t>graph level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task</a:t>
            </a:r>
            <a:endParaRPr sz="28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334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Reasonable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5">
                <a:latin typeface="Calibri"/>
                <a:cs typeface="Calibri"/>
              </a:rPr>
              <a:t>not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precise</a:t>
            </a:r>
            <a:endParaRPr sz="2800">
              <a:latin typeface="Calibri"/>
              <a:cs typeface="Calibri"/>
            </a:endParaRPr>
          </a:p>
          <a:p>
            <a:pPr lvl="1" marL="890905" marR="5080" indent="-228600">
              <a:lnSpc>
                <a:spcPts val="2620"/>
              </a:lnSpc>
              <a:spcBef>
                <a:spcPts val="63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 b="1">
                <a:latin typeface="Calibri"/>
                <a:cs typeface="Calibri"/>
              </a:rPr>
              <a:t>Node </a:t>
            </a:r>
            <a:r>
              <a:rPr dirty="0" sz="2400" spc="-10" b="1">
                <a:latin typeface="Calibri"/>
                <a:cs typeface="Calibri"/>
              </a:rPr>
              <a:t>prediction: </a:t>
            </a:r>
            <a:r>
              <a:rPr dirty="0" sz="2400" spc="-10">
                <a:latin typeface="Calibri"/>
                <a:cs typeface="Calibri"/>
              </a:rPr>
              <a:t>predict clustering coefficient </a:t>
            </a:r>
            <a:r>
              <a:rPr dirty="0" sz="2400" spc="-5">
                <a:latin typeface="Calibri"/>
                <a:cs typeface="Calibri"/>
              </a:rPr>
              <a:t>vs. </a:t>
            </a:r>
            <a:r>
              <a:rPr dirty="0" sz="2400" spc="-75">
                <a:latin typeface="Calibri"/>
                <a:cs typeface="Calibri"/>
              </a:rPr>
              <a:t>predict 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25">
                <a:latin typeface="Calibri"/>
                <a:cs typeface="Calibri"/>
              </a:rPr>
              <a:t>node’s </a:t>
            </a:r>
            <a:r>
              <a:rPr dirty="0" sz="2400" spc="-5">
                <a:latin typeface="Calibri"/>
                <a:cs typeface="Calibri"/>
              </a:rPr>
              <a:t>subject </a:t>
            </a:r>
            <a:r>
              <a:rPr dirty="0" sz="2400" spc="-10">
                <a:latin typeface="Calibri"/>
                <a:cs typeface="Calibri"/>
              </a:rPr>
              <a:t>area </a:t>
            </a:r>
            <a:r>
              <a:rPr dirty="0" sz="2400">
                <a:latin typeface="Calibri"/>
                <a:cs typeface="Calibri"/>
              </a:rPr>
              <a:t>– </a:t>
            </a:r>
            <a:r>
              <a:rPr dirty="0" sz="2400" spc="-10">
                <a:latin typeface="Calibri"/>
                <a:cs typeface="Calibri"/>
              </a:rPr>
              <a:t>completely </a:t>
            </a:r>
            <a:r>
              <a:rPr dirty="0" sz="2400" spc="-15">
                <a:latin typeface="Calibri"/>
                <a:cs typeface="Calibri"/>
              </a:rPr>
              <a:t>different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  <a:p>
            <a:pPr marL="625475" marR="466725" indent="-274320">
              <a:lnSpc>
                <a:spcPts val="3000"/>
              </a:lnSpc>
              <a:spcBef>
                <a:spcPts val="670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5">
                <a:latin typeface="Calibri"/>
                <a:cs typeface="Calibri"/>
              </a:rPr>
              <a:t>creating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precise </a:t>
            </a:r>
            <a:r>
              <a:rPr dirty="0" sz="2800" spc="-30">
                <a:latin typeface="Calibri"/>
                <a:cs typeface="Calibri"/>
              </a:rPr>
              <a:t>taxonomy </a:t>
            </a:r>
            <a:r>
              <a:rPr dirty="0" sz="2800" spc="-5">
                <a:latin typeface="Calibri"/>
                <a:cs typeface="Calibri"/>
              </a:rPr>
              <a:t>of GNN </a:t>
            </a:r>
            <a:r>
              <a:rPr dirty="0" sz="2800" spc="-15">
                <a:latin typeface="Calibri"/>
                <a:cs typeface="Calibri"/>
              </a:rPr>
              <a:t>tasks </a:t>
            </a:r>
            <a:r>
              <a:rPr dirty="0" sz="2800" spc="-5">
                <a:latin typeface="Calibri"/>
                <a:cs typeface="Calibri"/>
              </a:rPr>
              <a:t>is  </a:t>
            </a:r>
            <a:r>
              <a:rPr dirty="0" sz="2800" spc="-10">
                <a:latin typeface="Calibri"/>
                <a:cs typeface="Calibri"/>
              </a:rPr>
              <a:t>very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hard!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ts val="2635"/>
              </a:lnSpc>
              <a:spcBef>
                <a:spcPts val="284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Novel </a:t>
            </a:r>
            <a:r>
              <a:rPr dirty="0" sz="2400" spc="-5">
                <a:latin typeface="Calibri"/>
                <a:cs typeface="Calibri"/>
              </a:rPr>
              <a:t>GNN </a:t>
            </a:r>
            <a:r>
              <a:rPr dirty="0" sz="2400" spc="-10">
                <a:latin typeface="Calibri"/>
                <a:cs typeface="Calibri"/>
              </a:rPr>
              <a:t>applications can </a:t>
            </a:r>
            <a:r>
              <a:rPr dirty="0" sz="2400" spc="-20">
                <a:latin typeface="Calibri"/>
                <a:cs typeface="Calibri"/>
              </a:rPr>
              <a:t>always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emerge</a:t>
            </a:r>
            <a:endParaRPr sz="2400">
              <a:latin typeface="Calibri"/>
              <a:cs typeface="Calibri"/>
            </a:endParaRPr>
          </a:p>
          <a:p>
            <a:pPr marL="332740" marR="74295" indent="-320040">
              <a:lnSpc>
                <a:spcPts val="3500"/>
              </a:lnSpc>
              <a:spcBef>
                <a:spcPts val="1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Our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innovation: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5" b="1">
                <a:latin typeface="Calibri"/>
                <a:cs typeface="Calibri"/>
              </a:rPr>
              <a:t>quantitative </a:t>
            </a:r>
            <a:r>
              <a:rPr dirty="0" sz="3200" spc="-10" b="1">
                <a:latin typeface="Calibri"/>
                <a:cs typeface="Calibri"/>
              </a:rPr>
              <a:t>task </a:t>
            </a:r>
            <a:r>
              <a:rPr dirty="0" sz="3200" spc="-5" b="1">
                <a:latin typeface="Calibri"/>
                <a:cs typeface="Calibri"/>
              </a:rPr>
              <a:t>similarity  metric</a:t>
            </a:r>
            <a:endParaRPr sz="3200">
              <a:latin typeface="Calibri"/>
              <a:cs typeface="Calibri"/>
            </a:endParaRPr>
          </a:p>
          <a:p>
            <a:pPr lvl="1" marL="625475" marR="24130" indent="-274320">
              <a:lnSpc>
                <a:spcPts val="3000"/>
              </a:lnSpc>
              <a:spcBef>
                <a:spcPts val="715"/>
              </a:spcBef>
              <a:buClr>
                <a:srgbClr val="60B5CC"/>
              </a:buClr>
              <a:buFont typeface="Arial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Purpose: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understand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tasks, </a:t>
            </a: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transfer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best 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GNN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models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across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tasks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4739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6563" y="1311147"/>
            <a:ext cx="699579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/>
              <a:t>Innovation: </a:t>
            </a:r>
            <a:r>
              <a:rPr dirty="0" sz="2800" spc="-15" b="0">
                <a:latin typeface="Calibri"/>
                <a:cs typeface="Calibri"/>
              </a:rPr>
              <a:t>quantitative </a:t>
            </a:r>
            <a:r>
              <a:rPr dirty="0" sz="2800" spc="-10">
                <a:solidFill>
                  <a:srgbClr val="C00000"/>
                </a:solidFill>
              </a:rPr>
              <a:t>task </a:t>
            </a:r>
            <a:r>
              <a:rPr dirty="0" sz="2800" spc="-5">
                <a:solidFill>
                  <a:srgbClr val="C00000"/>
                </a:solidFill>
              </a:rPr>
              <a:t>similarity</a:t>
            </a:r>
            <a:r>
              <a:rPr dirty="0" sz="2800" spc="15">
                <a:solidFill>
                  <a:srgbClr val="C00000"/>
                </a:solidFill>
              </a:rPr>
              <a:t> </a:t>
            </a:r>
            <a:r>
              <a:rPr dirty="0" sz="2800" spc="-5">
                <a:solidFill>
                  <a:srgbClr val="C00000"/>
                </a:solidFill>
              </a:rPr>
              <a:t>metric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1267713" y="1752091"/>
            <a:ext cx="6957695" cy="15494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1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 b="1">
                <a:latin typeface="Calibri"/>
                <a:cs typeface="Calibri"/>
              </a:rPr>
              <a:t>1) </a:t>
            </a:r>
            <a:r>
              <a:rPr dirty="0" sz="2400" spc="-5">
                <a:latin typeface="Calibri"/>
                <a:cs typeface="Calibri"/>
              </a:rPr>
              <a:t>Select </a:t>
            </a:r>
            <a:r>
              <a:rPr dirty="0" sz="2400" spc="-360">
                <a:latin typeface="华文楷体"/>
                <a:cs typeface="华文楷体"/>
              </a:rPr>
              <a:t>“</a:t>
            </a:r>
            <a:r>
              <a:rPr dirty="0" sz="2400" spc="-360">
                <a:latin typeface="Calibri"/>
                <a:cs typeface="Calibri"/>
              </a:rPr>
              <a:t>anchor</a:t>
            </a:r>
            <a:r>
              <a:rPr dirty="0" sz="2400" spc="-360">
                <a:latin typeface="华文楷体"/>
                <a:cs typeface="华文楷体"/>
              </a:rPr>
              <a:t>”  </a:t>
            </a:r>
            <a:r>
              <a:rPr dirty="0" sz="2400" spc="-5">
                <a:latin typeface="Calibri"/>
                <a:cs typeface="Calibri"/>
              </a:rPr>
              <a:t>models </a:t>
            </a:r>
            <a:r>
              <a:rPr dirty="0" sz="2400" spc="-30">
                <a:latin typeface="Calibri"/>
                <a:cs typeface="Calibri"/>
              </a:rPr>
              <a:t>(</a:t>
            </a:r>
            <a:r>
              <a:rPr dirty="0" sz="2400" spc="-30">
                <a:latin typeface="Cambria Math"/>
                <a:cs typeface="Cambria Math"/>
              </a:rPr>
              <a:t>𝑀</a:t>
            </a:r>
            <a:r>
              <a:rPr dirty="0" baseline="-15432" sz="2700" spc="-44">
                <a:latin typeface="Cambria Math"/>
                <a:cs typeface="Cambria Math"/>
              </a:rPr>
              <a:t>9</a:t>
            </a:r>
            <a:r>
              <a:rPr dirty="0" sz="2400" spc="-30">
                <a:latin typeface="Cambria Math"/>
                <a:cs typeface="Cambria Math"/>
              </a:rPr>
              <a:t>, </a:t>
            </a:r>
            <a:r>
              <a:rPr dirty="0" sz="2400">
                <a:latin typeface="Cambria Math"/>
                <a:cs typeface="Cambria Math"/>
              </a:rPr>
              <a:t>… ,</a:t>
            </a:r>
            <a:r>
              <a:rPr dirty="0" sz="2400" spc="-365">
                <a:latin typeface="Cambria Math"/>
                <a:cs typeface="Cambria Math"/>
              </a:rPr>
              <a:t> </a:t>
            </a:r>
            <a:r>
              <a:rPr dirty="0" sz="2400" spc="150">
                <a:latin typeface="Cambria Math"/>
                <a:cs typeface="Cambria Math"/>
              </a:rPr>
              <a:t>𝑀</a:t>
            </a:r>
            <a:r>
              <a:rPr dirty="0" baseline="-15432" sz="2700" spc="225">
                <a:latin typeface="Cambria Math"/>
                <a:cs typeface="Cambria Math"/>
              </a:rPr>
              <a:t>:</a:t>
            </a:r>
            <a:r>
              <a:rPr dirty="0" sz="2400" spc="15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241300" marR="243204" indent="-228600">
              <a:lnSpc>
                <a:spcPts val="2620"/>
              </a:lnSpc>
              <a:spcBef>
                <a:spcPts val="51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 b="1">
                <a:latin typeface="Calibri"/>
                <a:cs typeface="Calibri"/>
              </a:rPr>
              <a:t>2) </a:t>
            </a:r>
            <a:r>
              <a:rPr dirty="0" sz="2400" spc="-15">
                <a:latin typeface="Calibri"/>
                <a:cs typeface="Calibri"/>
              </a:rPr>
              <a:t>Characterize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0">
                <a:latin typeface="Calibri"/>
                <a:cs typeface="Calibri"/>
              </a:rPr>
              <a:t>task by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ranking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performance </a:t>
            </a:r>
            <a:r>
              <a:rPr dirty="0" sz="2400" spc="-270">
                <a:solidFill>
                  <a:srgbClr val="C00000"/>
                </a:solidFill>
                <a:latin typeface="Calibri"/>
                <a:cs typeface="Calibri"/>
              </a:rPr>
              <a:t>of 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anchor</a:t>
            </a:r>
            <a:r>
              <a:rPr dirty="0" sz="2400" spc="-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6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 b="1">
                <a:latin typeface="Calibri"/>
                <a:cs typeface="Calibri"/>
              </a:rPr>
              <a:t>3) </a:t>
            </a:r>
            <a:r>
              <a:rPr dirty="0" sz="2400" spc="-45">
                <a:latin typeface="Calibri"/>
                <a:cs typeface="Calibri"/>
              </a:rPr>
              <a:t>Tasks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similar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rankings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10">
                <a:latin typeface="Calibri"/>
                <a:cs typeface="Calibri"/>
              </a:rPr>
              <a:t>considered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similar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666739"/>
            <a:ext cx="59074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How </a:t>
            </a:r>
            <a:r>
              <a:rPr dirty="0" sz="2800" spc="-5" b="1">
                <a:latin typeface="Calibri"/>
                <a:cs typeface="Calibri"/>
              </a:rPr>
              <a:t>do </a:t>
            </a:r>
            <a:r>
              <a:rPr dirty="0" sz="2800" spc="-15" b="1">
                <a:latin typeface="Calibri"/>
                <a:cs typeface="Calibri"/>
              </a:rPr>
              <a:t>we </a:t>
            </a:r>
            <a:r>
              <a:rPr dirty="0" sz="2800" spc="-5" b="1">
                <a:latin typeface="Calibri"/>
                <a:cs typeface="Calibri"/>
              </a:rPr>
              <a:t>select the anchor</a:t>
            </a:r>
            <a:r>
              <a:rPr dirty="0" sz="2800" spc="35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models?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2731" y="4228624"/>
          <a:ext cx="4550410" cy="1180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9269"/>
                <a:gridCol w="489264"/>
                <a:gridCol w="489264"/>
                <a:gridCol w="489264"/>
                <a:gridCol w="489264"/>
                <a:gridCol w="489264"/>
                <a:gridCol w="1165676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51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Anchor</a:t>
                      </a:r>
                      <a:r>
                        <a:rPr dirty="0" sz="14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Model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Performance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ranking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151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Similarity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42570">
                        <a:lnSpc>
                          <a:spcPct val="100000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114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Cambria Math"/>
                          <a:cs typeface="Cambria Math"/>
                        </a:rPr>
                        <a:t>𝐴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r" marR="149860">
                        <a:lnSpc>
                          <a:spcPts val="1510"/>
                        </a:lnSpc>
                      </a:pPr>
                      <a:r>
                        <a:rPr dirty="0" sz="1400" spc="-4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𝐴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605"/>
                        </a:lnSpc>
                      </a:pPr>
                      <a:r>
                        <a:rPr dirty="0" sz="1400" spc="8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12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10"/>
                        </a:lnSpc>
                      </a:pPr>
                      <a:r>
                        <a:rPr dirty="0" sz="1400" spc="4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6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10"/>
                        </a:lnSpc>
                      </a:pPr>
                      <a:r>
                        <a:rPr dirty="0" sz="1400" spc="-7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04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10"/>
                        </a:lnSpc>
                      </a:pPr>
                      <a:r>
                        <a:rPr dirty="0" sz="1400" spc="-1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5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510"/>
                        </a:lnSpc>
                      </a:pPr>
                      <a:r>
                        <a:rPr dirty="0" sz="1400" spc="-204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307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1480">
                        <a:lnSpc>
                          <a:spcPts val="1510"/>
                        </a:lnSpc>
                      </a:pPr>
                      <a:r>
                        <a:rPr dirty="0" sz="1400" spc="-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1.</a:t>
                      </a:r>
                      <a:r>
                        <a:rPr dirty="0" sz="1400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marR="149860">
                        <a:lnSpc>
                          <a:spcPts val="1495"/>
                        </a:lnSpc>
                      </a:pPr>
                      <a:r>
                        <a:rPr dirty="0" sz="1400" spc="-4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𝐵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95"/>
                        </a:lnSpc>
                      </a:pPr>
                      <a:r>
                        <a:rPr dirty="0" sz="1400" spc="8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12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95"/>
                        </a:lnSpc>
                      </a:pPr>
                      <a:r>
                        <a:rPr dirty="0" sz="1400" spc="-7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04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95"/>
                        </a:lnSpc>
                      </a:pPr>
                      <a:r>
                        <a:rPr dirty="0" sz="1400" spc="4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6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95"/>
                        </a:lnSpc>
                      </a:pPr>
                      <a:r>
                        <a:rPr dirty="0" sz="1400" spc="-1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495"/>
                        </a:lnSpc>
                      </a:pPr>
                      <a:r>
                        <a:rPr dirty="0" sz="1400" spc="-204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307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1480">
                        <a:lnSpc>
                          <a:spcPts val="1495"/>
                        </a:lnSpc>
                      </a:pPr>
                      <a:r>
                        <a:rPr dirty="0" sz="14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</a:t>
                      </a:r>
                      <a:r>
                        <a:rPr dirty="0" sz="1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marR="156210">
                        <a:lnSpc>
                          <a:spcPts val="1505"/>
                        </a:lnSpc>
                      </a:pPr>
                      <a:r>
                        <a:rPr dirty="0" sz="1400" spc="-4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𝐶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05"/>
                        </a:lnSpc>
                      </a:pPr>
                      <a:r>
                        <a:rPr dirty="0" sz="1400" spc="-204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307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05"/>
                        </a:lnSpc>
                      </a:pPr>
                      <a:r>
                        <a:rPr dirty="0" sz="1400" spc="8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12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05"/>
                        </a:lnSpc>
                      </a:pPr>
                      <a:r>
                        <a:rPr dirty="0" sz="1400" spc="-1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5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505"/>
                        </a:lnSpc>
                      </a:pPr>
                      <a:r>
                        <a:rPr dirty="0" sz="1400" spc="-7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-104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ts val="1505"/>
                        </a:lnSpc>
                      </a:pPr>
                      <a:r>
                        <a:rPr dirty="0" sz="1400" spc="4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6666" sz="1500" spc="6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6666" sz="15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82270">
                        <a:lnSpc>
                          <a:spcPts val="1505"/>
                        </a:lnSpc>
                      </a:pPr>
                      <a:r>
                        <a:rPr dirty="0" sz="1400" spc="-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-0.</a:t>
                      </a:r>
                      <a:r>
                        <a:rPr dirty="0" sz="140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954320" y="3831844"/>
            <a:ext cx="210502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latin typeface="Arial"/>
                <a:cs typeface="Arial"/>
              </a:rPr>
              <a:t>Task </a:t>
            </a:r>
            <a:r>
              <a:rPr dirty="0" sz="1600" spc="-5" b="1">
                <a:latin typeface="Arial"/>
                <a:cs typeface="Arial"/>
              </a:rPr>
              <a:t>Similarity</a:t>
            </a:r>
            <a:r>
              <a:rPr dirty="0" sz="1600" spc="2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Metric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05118" y="4760467"/>
            <a:ext cx="3032125" cy="6654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dirty="0" sz="1800" spc="-55">
                <a:solidFill>
                  <a:srgbClr val="E88651"/>
                </a:solidFill>
                <a:latin typeface="Arial"/>
                <a:cs typeface="Arial"/>
              </a:rPr>
              <a:t>Task </a:t>
            </a:r>
            <a:r>
              <a:rPr dirty="0" sz="1800">
                <a:solidFill>
                  <a:srgbClr val="E88651"/>
                </a:solidFill>
                <a:latin typeface="Cambria Math"/>
                <a:cs typeface="Cambria Math"/>
              </a:rPr>
              <a:t>𝐴 </a:t>
            </a:r>
            <a:r>
              <a:rPr dirty="0" sz="1800">
                <a:latin typeface="Arial"/>
                <a:cs typeface="Arial"/>
              </a:rPr>
              <a:t>is </a:t>
            </a:r>
            <a:r>
              <a:rPr dirty="0" sz="1800" spc="-5">
                <a:latin typeface="Arial"/>
                <a:cs typeface="Arial"/>
              </a:rPr>
              <a:t>similar to </a:t>
            </a:r>
            <a:r>
              <a:rPr dirty="0" sz="1800" spc="-55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r>
              <a:rPr dirty="0" sz="180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𝐵</a:t>
            </a:r>
            <a:endParaRPr sz="1800">
              <a:latin typeface="Cambria Math"/>
              <a:cs typeface="Cambria Math"/>
            </a:endParaRPr>
          </a:p>
          <a:p>
            <a:pPr marL="21590">
              <a:lnSpc>
                <a:spcPct val="100000"/>
              </a:lnSpc>
              <a:spcBef>
                <a:spcPts val="359"/>
              </a:spcBef>
            </a:pPr>
            <a:r>
              <a:rPr dirty="0" sz="1800" spc="-55">
                <a:solidFill>
                  <a:srgbClr val="E88651"/>
                </a:solidFill>
                <a:latin typeface="Arial"/>
                <a:cs typeface="Arial"/>
              </a:rPr>
              <a:t>Task </a:t>
            </a:r>
            <a:r>
              <a:rPr dirty="0" sz="1800">
                <a:solidFill>
                  <a:srgbClr val="E88651"/>
                </a:solidFill>
                <a:latin typeface="Cambria Math"/>
                <a:cs typeface="Cambria Math"/>
              </a:rPr>
              <a:t>𝐴 </a:t>
            </a:r>
            <a:r>
              <a:rPr dirty="0" sz="1800">
                <a:latin typeface="Arial"/>
                <a:cs typeface="Arial"/>
              </a:rPr>
              <a:t>is </a:t>
            </a:r>
            <a:r>
              <a:rPr dirty="0" sz="1800" spc="-5">
                <a:latin typeface="Arial"/>
                <a:cs typeface="Arial"/>
              </a:rPr>
              <a:t>not similar to </a:t>
            </a:r>
            <a:r>
              <a:rPr dirty="0" sz="1800" spc="-55">
                <a:solidFill>
                  <a:srgbClr val="4F81BD"/>
                </a:solidFill>
                <a:latin typeface="Arial"/>
                <a:cs typeface="Arial"/>
              </a:rPr>
              <a:t>Task</a:t>
            </a:r>
            <a:r>
              <a:rPr dirty="0" sz="1800" spc="10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F81BD"/>
                </a:solidFill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4739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6563" y="1347723"/>
            <a:ext cx="447103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5"/>
              <a:t>Selecting the anchor</a:t>
            </a:r>
            <a:r>
              <a:rPr dirty="0" sz="2800" spc="-20"/>
              <a:t> </a:t>
            </a:r>
            <a:r>
              <a:rPr dirty="0" sz="2800" spc="-5"/>
              <a:t>models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267713" y="1776475"/>
            <a:ext cx="5270500" cy="471360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5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>
                <a:latin typeface="Calibri"/>
                <a:cs typeface="Calibri"/>
              </a:rPr>
              <a:t>1) Select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5">
                <a:latin typeface="Calibri"/>
                <a:cs typeface="Calibri"/>
              </a:rPr>
              <a:t>small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520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>
                <a:latin typeface="Calibri"/>
                <a:cs typeface="Calibri"/>
              </a:rPr>
              <a:t>E.g., node classification on </a:t>
            </a:r>
            <a:r>
              <a:rPr dirty="0" sz="2000" spc="-15">
                <a:latin typeface="Calibri"/>
                <a:cs typeface="Calibri"/>
              </a:rPr>
              <a:t>Cora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100800"/>
              </a:lnSpc>
              <a:spcBef>
                <a:spcPts val="484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>
                <a:latin typeface="Calibri"/>
                <a:cs typeface="Calibri"/>
              </a:rPr>
              <a:t>2) Randomly </a:t>
            </a:r>
            <a:r>
              <a:rPr dirty="0" sz="2400" spc="-5" b="1">
                <a:latin typeface="Calibri"/>
                <a:cs typeface="Calibri"/>
              </a:rPr>
              <a:t>sample </a:t>
            </a:r>
            <a:r>
              <a:rPr dirty="0" sz="2400">
                <a:latin typeface="Cambria Math"/>
                <a:cs typeface="Cambria Math"/>
              </a:rPr>
              <a:t>𝑵 </a:t>
            </a:r>
            <a:r>
              <a:rPr dirty="0" sz="2400" spc="-5" b="1">
                <a:latin typeface="Calibri"/>
                <a:cs typeface="Calibri"/>
              </a:rPr>
              <a:t>models </a:t>
            </a:r>
            <a:r>
              <a:rPr dirty="0" sz="2400" spc="-10" b="1">
                <a:latin typeface="Calibri"/>
                <a:cs typeface="Calibri"/>
              </a:rPr>
              <a:t>from </a:t>
            </a:r>
            <a:r>
              <a:rPr dirty="0" sz="2400" spc="-125" b="1">
                <a:latin typeface="Calibri"/>
                <a:cs typeface="Calibri"/>
              </a:rPr>
              <a:t>our  </a:t>
            </a:r>
            <a:r>
              <a:rPr dirty="0" sz="2400" spc="-5" b="1">
                <a:latin typeface="Calibri"/>
                <a:cs typeface="Calibri"/>
              </a:rPr>
              <a:t>design space</a:t>
            </a:r>
            <a:r>
              <a:rPr dirty="0" sz="2400" spc="-5">
                <a:latin typeface="Calibri"/>
                <a:cs typeface="Calibri"/>
              </a:rPr>
              <a:t>, </a:t>
            </a:r>
            <a:r>
              <a:rPr dirty="0" sz="2400">
                <a:latin typeface="Calibri"/>
                <a:cs typeface="Calibri"/>
              </a:rPr>
              <a:t>run </a:t>
            </a:r>
            <a:r>
              <a:rPr dirty="0" sz="2400" spc="-5">
                <a:latin typeface="Calibri"/>
                <a:cs typeface="Calibri"/>
              </a:rPr>
              <a:t>on 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>
                <a:latin typeface="Calibri"/>
                <a:cs typeface="Calibri"/>
              </a:rPr>
              <a:t>E.g.,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 spc="-5">
                <a:latin typeface="Calibri"/>
                <a:cs typeface="Calibri"/>
              </a:rPr>
              <a:t>sample 100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models</a:t>
            </a:r>
            <a:endParaRPr sz="2000">
              <a:latin typeface="Calibri"/>
              <a:cs typeface="Calibri"/>
            </a:endParaRPr>
          </a:p>
          <a:p>
            <a:pPr marL="241300" marR="33020" indent="-228600">
              <a:lnSpc>
                <a:spcPct val="100800"/>
              </a:lnSpc>
              <a:spcBef>
                <a:spcPts val="459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5">
                <a:latin typeface="Calibri"/>
                <a:cs typeface="Calibri"/>
              </a:rPr>
              <a:t>3) Sort these models based on their  performance, </a:t>
            </a:r>
            <a:r>
              <a:rPr dirty="0" sz="2400" spc="-10">
                <a:latin typeface="Calibri"/>
                <a:cs typeface="Calibri"/>
              </a:rPr>
              <a:t>evenly </a:t>
            </a:r>
            <a:r>
              <a:rPr dirty="0" sz="2400" spc="-5">
                <a:latin typeface="Calibri"/>
                <a:cs typeface="Calibri"/>
              </a:rPr>
              <a:t>select </a:t>
            </a:r>
            <a:r>
              <a:rPr dirty="0" sz="2400">
                <a:latin typeface="Cambria Math"/>
                <a:cs typeface="Cambria Math"/>
              </a:rPr>
              <a:t>𝑀 </a:t>
            </a:r>
            <a:r>
              <a:rPr dirty="0" sz="2400" spc="-5">
                <a:latin typeface="Calibri"/>
                <a:cs typeface="Calibri"/>
              </a:rPr>
              <a:t>models as  the anchor models, whose </a:t>
            </a:r>
            <a:r>
              <a:rPr dirty="0" sz="2400" spc="-10" b="1">
                <a:latin typeface="Calibri"/>
                <a:cs typeface="Calibri"/>
              </a:rPr>
              <a:t>performance  </a:t>
            </a:r>
            <a:r>
              <a:rPr dirty="0" sz="2400" spc="-20" b="1">
                <a:latin typeface="Calibri"/>
                <a:cs typeface="Calibri"/>
              </a:rPr>
              <a:t>range </a:t>
            </a:r>
            <a:r>
              <a:rPr dirty="0" sz="2400" spc="-10" b="1">
                <a:latin typeface="Calibri"/>
                <a:cs typeface="Calibri"/>
              </a:rPr>
              <a:t>from </a:t>
            </a:r>
            <a:r>
              <a:rPr dirty="0" sz="2400" spc="-5" b="1">
                <a:latin typeface="Calibri"/>
                <a:cs typeface="Calibri"/>
              </a:rPr>
              <a:t>the </a:t>
            </a:r>
            <a:r>
              <a:rPr dirty="0" sz="2400" spc="-20" b="1">
                <a:latin typeface="Calibri"/>
                <a:cs typeface="Calibri"/>
              </a:rPr>
              <a:t>worst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the</a:t>
            </a:r>
            <a:r>
              <a:rPr dirty="0" sz="240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best</a:t>
            </a:r>
            <a:endParaRPr sz="2400">
              <a:latin typeface="Calibri"/>
              <a:cs typeface="Calibri"/>
            </a:endParaRPr>
          </a:p>
          <a:p>
            <a:pPr lvl="1" marL="460375" indent="-182880">
              <a:lnSpc>
                <a:spcPct val="100000"/>
              </a:lnSpc>
              <a:spcBef>
                <a:spcPts val="515"/>
              </a:spcBef>
              <a:buClr>
                <a:srgbClr val="6BB76D"/>
              </a:buClr>
              <a:buFont typeface="Malgun Gothic"/>
              <a:buChar char="▪"/>
              <a:tabLst>
                <a:tab pos="460375" algn="l"/>
              </a:tabLst>
            </a:pPr>
            <a:r>
              <a:rPr dirty="0" sz="2000" spc="-5">
                <a:latin typeface="Calibri"/>
                <a:cs typeface="Calibri"/>
              </a:rPr>
              <a:t>E.g., </a:t>
            </a:r>
            <a:r>
              <a:rPr dirty="0" sz="2000" spc="-15">
                <a:latin typeface="Calibri"/>
                <a:cs typeface="Calibri"/>
              </a:rPr>
              <a:t>we </a:t>
            </a:r>
            <a:r>
              <a:rPr dirty="0" sz="2000" spc="-5">
                <a:latin typeface="Calibri"/>
                <a:cs typeface="Calibri"/>
              </a:rPr>
              <a:t>sample 12 models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our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experiments</a:t>
            </a:r>
            <a:endParaRPr sz="2000">
              <a:latin typeface="Calibri"/>
              <a:cs typeface="Calibri"/>
            </a:endParaRPr>
          </a:p>
          <a:p>
            <a:pPr marL="241300" marR="84455" indent="-228600">
              <a:lnSpc>
                <a:spcPct val="100800"/>
              </a:lnSpc>
              <a:spcBef>
                <a:spcPts val="459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10" b="1">
                <a:latin typeface="Calibri"/>
                <a:cs typeface="Calibri"/>
              </a:rPr>
              <a:t>Intuition: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a bad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model in one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task </a:t>
            </a:r>
            <a:r>
              <a:rPr dirty="0" sz="2400" spc="-95">
                <a:solidFill>
                  <a:srgbClr val="C00000"/>
                </a:solidFill>
                <a:latin typeface="Calibri"/>
                <a:cs typeface="Calibri"/>
              </a:rPr>
              <a:t>could  </a:t>
            </a:r>
            <a:r>
              <a:rPr dirty="0" sz="2400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great </a:t>
            </a:r>
            <a:r>
              <a:rPr dirty="0" sz="2400" spc="-20">
                <a:solidFill>
                  <a:srgbClr val="C00000"/>
                </a:solidFill>
                <a:latin typeface="Calibri"/>
                <a:cs typeface="Calibri"/>
              </a:rPr>
              <a:t>for </a:t>
            </a:r>
            <a:r>
              <a:rPr dirty="0" sz="2400" spc="-5">
                <a:solidFill>
                  <a:srgbClr val="C00000"/>
                </a:solidFill>
                <a:latin typeface="Calibri"/>
                <a:cs typeface="Calibri"/>
              </a:rPr>
              <a:t>another</a:t>
            </a:r>
            <a:r>
              <a:rPr dirty="0" sz="2400" spc="-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64016" y="2726315"/>
            <a:ext cx="184785" cy="2515870"/>
          </a:xfrm>
          <a:custGeom>
            <a:avLst/>
            <a:gdLst/>
            <a:ahLst/>
            <a:cxnLst/>
            <a:rect l="l" t="t" r="r" b="b"/>
            <a:pathLst>
              <a:path w="184784" h="2515870">
                <a:moveTo>
                  <a:pt x="0" y="0"/>
                </a:moveTo>
                <a:lnTo>
                  <a:pt x="184298" y="0"/>
                </a:lnTo>
                <a:lnTo>
                  <a:pt x="184298" y="2515803"/>
                </a:lnTo>
                <a:lnTo>
                  <a:pt x="0" y="2515803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64016" y="2726315"/>
            <a:ext cx="184785" cy="2515870"/>
          </a:xfrm>
          <a:custGeom>
            <a:avLst/>
            <a:gdLst/>
            <a:ahLst/>
            <a:cxnLst/>
            <a:rect l="l" t="t" r="r" b="b"/>
            <a:pathLst>
              <a:path w="184784" h="2515870">
                <a:moveTo>
                  <a:pt x="0" y="0"/>
                </a:moveTo>
                <a:lnTo>
                  <a:pt x="184298" y="0"/>
                </a:lnTo>
                <a:lnTo>
                  <a:pt x="184298" y="2515804"/>
                </a:lnTo>
                <a:lnTo>
                  <a:pt x="0" y="251580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D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99708" y="2856942"/>
            <a:ext cx="260350" cy="2385695"/>
          </a:xfrm>
          <a:custGeom>
            <a:avLst/>
            <a:gdLst/>
            <a:ahLst/>
            <a:cxnLst/>
            <a:rect l="l" t="t" r="r" b="b"/>
            <a:pathLst>
              <a:path w="260350" h="2385695">
                <a:moveTo>
                  <a:pt x="259907" y="2385183"/>
                </a:moveTo>
                <a:lnTo>
                  <a:pt x="209322" y="2383480"/>
                </a:lnTo>
                <a:lnTo>
                  <a:pt x="168015" y="2378839"/>
                </a:lnTo>
                <a:lnTo>
                  <a:pt x="140164" y="2371955"/>
                </a:lnTo>
                <a:lnTo>
                  <a:pt x="129952" y="2363525"/>
                </a:lnTo>
                <a:lnTo>
                  <a:pt x="129954" y="1214250"/>
                </a:lnTo>
                <a:lnTo>
                  <a:pt x="119742" y="1205819"/>
                </a:lnTo>
                <a:lnTo>
                  <a:pt x="91891" y="1198934"/>
                </a:lnTo>
                <a:lnTo>
                  <a:pt x="50584" y="1194293"/>
                </a:lnTo>
                <a:lnTo>
                  <a:pt x="0" y="1192591"/>
                </a:lnTo>
                <a:lnTo>
                  <a:pt x="50584" y="1190889"/>
                </a:lnTo>
                <a:lnTo>
                  <a:pt x="91891" y="1186247"/>
                </a:lnTo>
                <a:lnTo>
                  <a:pt x="119742" y="1179363"/>
                </a:lnTo>
                <a:lnTo>
                  <a:pt x="129954" y="1170933"/>
                </a:lnTo>
                <a:lnTo>
                  <a:pt x="129954" y="21658"/>
                </a:lnTo>
                <a:lnTo>
                  <a:pt x="140167" y="13227"/>
                </a:lnTo>
                <a:lnTo>
                  <a:pt x="168017" y="6343"/>
                </a:lnTo>
                <a:lnTo>
                  <a:pt x="209325" y="1702"/>
                </a:lnTo>
                <a:lnTo>
                  <a:pt x="259909" y="0"/>
                </a:lnTo>
              </a:path>
            </a:pathLst>
          </a:custGeom>
          <a:ln w="15875">
            <a:solidFill>
              <a:srgbClr val="4A7EB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30362" y="3705859"/>
            <a:ext cx="877569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𝑁 =</a:t>
            </a:r>
            <a:r>
              <a:rPr dirty="0" sz="1800" spc="1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100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25"/>
              </a:lnSpc>
            </a:pPr>
            <a:r>
              <a:rPr dirty="0" sz="1800" spc="-25"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48315" y="2688215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6" y="0"/>
                </a:moveTo>
                <a:lnTo>
                  <a:pt x="185056" y="76200"/>
                </a:lnTo>
                <a:lnTo>
                  <a:pt x="242208" y="47625"/>
                </a:lnTo>
                <a:lnTo>
                  <a:pt x="197756" y="47625"/>
                </a:lnTo>
                <a:lnTo>
                  <a:pt x="197756" y="28575"/>
                </a:lnTo>
                <a:lnTo>
                  <a:pt x="242204" y="28575"/>
                </a:lnTo>
                <a:lnTo>
                  <a:pt x="185056" y="0"/>
                </a:lnTo>
                <a:close/>
              </a:path>
              <a:path w="261620" h="76200">
                <a:moveTo>
                  <a:pt x="185056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85056" y="47625"/>
                </a:lnTo>
                <a:lnTo>
                  <a:pt x="185056" y="28575"/>
                </a:lnTo>
                <a:close/>
              </a:path>
              <a:path w="261620" h="76200">
                <a:moveTo>
                  <a:pt x="242204" y="28575"/>
                </a:moveTo>
                <a:lnTo>
                  <a:pt x="197756" y="28575"/>
                </a:lnTo>
                <a:lnTo>
                  <a:pt x="197756" y="47625"/>
                </a:lnTo>
                <a:lnTo>
                  <a:pt x="242208" y="47625"/>
                </a:lnTo>
                <a:lnTo>
                  <a:pt x="261256" y="38101"/>
                </a:lnTo>
                <a:lnTo>
                  <a:pt x="242204" y="28575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48315" y="2971243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6" y="47624"/>
                </a:moveTo>
                <a:lnTo>
                  <a:pt x="185056" y="76200"/>
                </a:lnTo>
                <a:lnTo>
                  <a:pt x="242206" y="47625"/>
                </a:lnTo>
                <a:lnTo>
                  <a:pt x="185056" y="47624"/>
                </a:lnTo>
                <a:close/>
              </a:path>
              <a:path w="261620" h="76200">
                <a:moveTo>
                  <a:pt x="185056" y="28574"/>
                </a:moveTo>
                <a:lnTo>
                  <a:pt x="185056" y="47624"/>
                </a:lnTo>
                <a:lnTo>
                  <a:pt x="197756" y="47625"/>
                </a:lnTo>
                <a:lnTo>
                  <a:pt x="197756" y="28575"/>
                </a:lnTo>
                <a:lnTo>
                  <a:pt x="185056" y="28574"/>
                </a:lnTo>
                <a:close/>
              </a:path>
              <a:path w="261620" h="76200">
                <a:moveTo>
                  <a:pt x="185056" y="0"/>
                </a:moveTo>
                <a:lnTo>
                  <a:pt x="185056" y="28574"/>
                </a:lnTo>
                <a:lnTo>
                  <a:pt x="197756" y="28575"/>
                </a:lnTo>
                <a:lnTo>
                  <a:pt x="197756" y="47625"/>
                </a:lnTo>
                <a:lnTo>
                  <a:pt x="242209" y="47623"/>
                </a:lnTo>
                <a:lnTo>
                  <a:pt x="261256" y="38100"/>
                </a:lnTo>
                <a:lnTo>
                  <a:pt x="185056" y="0"/>
                </a:lnTo>
                <a:close/>
              </a:path>
              <a:path w="261620" h="76200">
                <a:moveTo>
                  <a:pt x="0" y="28573"/>
                </a:moveTo>
                <a:lnTo>
                  <a:pt x="0" y="47623"/>
                </a:lnTo>
                <a:lnTo>
                  <a:pt x="185056" y="47624"/>
                </a:lnTo>
                <a:lnTo>
                  <a:pt x="185056" y="28574"/>
                </a:lnTo>
                <a:lnTo>
                  <a:pt x="0" y="2857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530069" y="1936467"/>
            <a:ext cx="1276985" cy="56007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190"/>
              </a:spcBef>
            </a:pPr>
            <a:r>
              <a:rPr dirty="0" sz="1750" spc="0">
                <a:latin typeface="Arial"/>
                <a:cs typeface="Arial"/>
              </a:rPr>
              <a:t>Sorted by  </a:t>
            </a:r>
            <a:r>
              <a:rPr dirty="0" sz="1750" spc="5">
                <a:latin typeface="Arial"/>
                <a:cs typeface="Arial"/>
              </a:rPr>
              <a:t>pe</a:t>
            </a:r>
            <a:r>
              <a:rPr dirty="0" sz="1750" spc="-15">
                <a:latin typeface="Arial"/>
                <a:cs typeface="Arial"/>
              </a:rPr>
              <a:t>r</a:t>
            </a:r>
            <a:r>
              <a:rPr dirty="0" sz="1750" spc="-25">
                <a:latin typeface="Arial"/>
                <a:cs typeface="Arial"/>
              </a:rPr>
              <a:t>f</a:t>
            </a:r>
            <a:r>
              <a:rPr dirty="0" sz="1750" spc="20">
                <a:latin typeface="Arial"/>
                <a:cs typeface="Arial"/>
              </a:rPr>
              <a:t>o</a:t>
            </a:r>
            <a:r>
              <a:rPr dirty="0" sz="1750" spc="-15">
                <a:latin typeface="Arial"/>
                <a:cs typeface="Arial"/>
              </a:rPr>
              <a:t>r</a:t>
            </a:r>
            <a:r>
              <a:rPr dirty="0" sz="1750" spc="35">
                <a:latin typeface="Arial"/>
                <a:cs typeface="Arial"/>
              </a:rPr>
              <a:t>m</a:t>
            </a:r>
            <a:r>
              <a:rPr dirty="0" sz="1750" spc="-40">
                <a:latin typeface="Arial"/>
                <a:cs typeface="Arial"/>
              </a:rPr>
              <a:t>a</a:t>
            </a:r>
            <a:r>
              <a:rPr dirty="0" sz="1750" spc="-15">
                <a:latin typeface="Arial"/>
                <a:cs typeface="Arial"/>
              </a:rPr>
              <a:t>n</a:t>
            </a:r>
            <a:r>
              <a:rPr dirty="0" sz="1750" spc="50">
                <a:latin typeface="Arial"/>
                <a:cs typeface="Arial"/>
              </a:rPr>
              <a:t>c</a:t>
            </a:r>
            <a:r>
              <a:rPr dirty="0" sz="1750" spc="-40">
                <a:latin typeface="Arial"/>
                <a:cs typeface="Arial"/>
              </a:rPr>
              <a:t>e</a:t>
            </a:r>
            <a:endParaRPr sz="17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8151" y="3689067"/>
            <a:ext cx="25400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spc="40">
                <a:solidFill>
                  <a:srgbClr val="4F81BD"/>
                </a:solidFill>
                <a:latin typeface="Arial"/>
                <a:cs typeface="Arial"/>
              </a:rPr>
              <a:t>…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48315" y="5197488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6" y="47624"/>
                </a:moveTo>
                <a:lnTo>
                  <a:pt x="185056" y="76199"/>
                </a:lnTo>
                <a:lnTo>
                  <a:pt x="242206" y="47624"/>
                </a:lnTo>
                <a:lnTo>
                  <a:pt x="185056" y="47624"/>
                </a:lnTo>
                <a:close/>
              </a:path>
              <a:path w="261620" h="76200">
                <a:moveTo>
                  <a:pt x="185056" y="28574"/>
                </a:moveTo>
                <a:lnTo>
                  <a:pt x="185056" y="47624"/>
                </a:lnTo>
                <a:lnTo>
                  <a:pt x="197756" y="47624"/>
                </a:lnTo>
                <a:lnTo>
                  <a:pt x="197756" y="28575"/>
                </a:lnTo>
                <a:lnTo>
                  <a:pt x="185056" y="28574"/>
                </a:lnTo>
                <a:close/>
              </a:path>
              <a:path w="261620" h="76200">
                <a:moveTo>
                  <a:pt x="185056" y="0"/>
                </a:moveTo>
                <a:lnTo>
                  <a:pt x="185056" y="28574"/>
                </a:lnTo>
                <a:lnTo>
                  <a:pt x="197756" y="28575"/>
                </a:lnTo>
                <a:lnTo>
                  <a:pt x="197756" y="47624"/>
                </a:lnTo>
                <a:lnTo>
                  <a:pt x="242209" y="47623"/>
                </a:lnTo>
                <a:lnTo>
                  <a:pt x="261256" y="38099"/>
                </a:lnTo>
                <a:lnTo>
                  <a:pt x="185056" y="0"/>
                </a:lnTo>
                <a:close/>
              </a:path>
              <a:path w="261620" h="76200">
                <a:moveTo>
                  <a:pt x="0" y="28573"/>
                </a:moveTo>
                <a:lnTo>
                  <a:pt x="0" y="47623"/>
                </a:lnTo>
                <a:lnTo>
                  <a:pt x="185056" y="47624"/>
                </a:lnTo>
                <a:lnTo>
                  <a:pt x="185056" y="28574"/>
                </a:lnTo>
                <a:lnTo>
                  <a:pt x="0" y="2857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62794" y="4889540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7" y="47624"/>
                </a:moveTo>
                <a:lnTo>
                  <a:pt x="185056" y="76200"/>
                </a:lnTo>
                <a:lnTo>
                  <a:pt x="242206" y="47625"/>
                </a:lnTo>
                <a:lnTo>
                  <a:pt x="185057" y="47624"/>
                </a:lnTo>
                <a:close/>
              </a:path>
              <a:path w="261620" h="76200">
                <a:moveTo>
                  <a:pt x="185057" y="28574"/>
                </a:moveTo>
                <a:lnTo>
                  <a:pt x="185057" y="47624"/>
                </a:lnTo>
                <a:lnTo>
                  <a:pt x="197756" y="47625"/>
                </a:lnTo>
                <a:lnTo>
                  <a:pt x="197758" y="28575"/>
                </a:lnTo>
                <a:lnTo>
                  <a:pt x="185057" y="28574"/>
                </a:lnTo>
                <a:close/>
              </a:path>
              <a:path w="261620" h="76200">
                <a:moveTo>
                  <a:pt x="185058" y="0"/>
                </a:moveTo>
                <a:lnTo>
                  <a:pt x="185057" y="28574"/>
                </a:lnTo>
                <a:lnTo>
                  <a:pt x="197758" y="28575"/>
                </a:lnTo>
                <a:lnTo>
                  <a:pt x="197756" y="47625"/>
                </a:lnTo>
                <a:lnTo>
                  <a:pt x="242209" y="47623"/>
                </a:lnTo>
                <a:lnTo>
                  <a:pt x="261256" y="38100"/>
                </a:lnTo>
                <a:lnTo>
                  <a:pt x="185058" y="0"/>
                </a:lnTo>
                <a:close/>
              </a:path>
              <a:path w="261620" h="76200">
                <a:moveTo>
                  <a:pt x="0" y="28573"/>
                </a:moveTo>
                <a:lnTo>
                  <a:pt x="0" y="47623"/>
                </a:lnTo>
                <a:lnTo>
                  <a:pt x="185057" y="47624"/>
                </a:lnTo>
                <a:lnTo>
                  <a:pt x="185057" y="28574"/>
                </a:lnTo>
                <a:lnTo>
                  <a:pt x="0" y="2857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37526" y="4775708"/>
            <a:ext cx="396240" cy="610870"/>
          </a:xfrm>
          <a:prstGeom prst="rect">
            <a:avLst/>
          </a:prstGeom>
        </p:spPr>
        <p:txBody>
          <a:bodyPr wrap="square" lIns="0" tIns="311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dirty="0" baseline="12345" sz="2700" spc="-217">
                <a:latin typeface="Cambria Math"/>
                <a:cs typeface="Cambria Math"/>
              </a:rPr>
              <a:t>𝑀</a:t>
            </a:r>
            <a:r>
              <a:rPr dirty="0" sz="1300" spc="-50">
                <a:latin typeface="Cambria Math"/>
                <a:cs typeface="Cambria Math"/>
              </a:rPr>
              <a:t>##</a:t>
            </a:r>
            <a:endParaRPr sz="13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baseline="12345" sz="2700" spc="-217">
                <a:latin typeface="Cambria Math"/>
                <a:cs typeface="Cambria Math"/>
              </a:rPr>
              <a:t>𝑀</a:t>
            </a:r>
            <a:r>
              <a:rPr dirty="0" sz="1300" spc="-95">
                <a:latin typeface="Cambria Math"/>
                <a:cs typeface="Cambria Math"/>
              </a:rPr>
              <a:t>#&amp;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51909" y="3299991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6" y="0"/>
                </a:moveTo>
                <a:lnTo>
                  <a:pt x="185056" y="76200"/>
                </a:lnTo>
                <a:lnTo>
                  <a:pt x="242208" y="47625"/>
                </a:lnTo>
                <a:lnTo>
                  <a:pt x="197756" y="47625"/>
                </a:lnTo>
                <a:lnTo>
                  <a:pt x="197756" y="28575"/>
                </a:lnTo>
                <a:lnTo>
                  <a:pt x="242204" y="28575"/>
                </a:lnTo>
                <a:lnTo>
                  <a:pt x="185056" y="0"/>
                </a:lnTo>
                <a:close/>
              </a:path>
              <a:path w="261620" h="76200">
                <a:moveTo>
                  <a:pt x="185056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85056" y="47625"/>
                </a:lnTo>
                <a:lnTo>
                  <a:pt x="185056" y="28575"/>
                </a:lnTo>
                <a:close/>
              </a:path>
              <a:path w="261620" h="76200">
                <a:moveTo>
                  <a:pt x="242204" y="28575"/>
                </a:moveTo>
                <a:lnTo>
                  <a:pt x="197756" y="28575"/>
                </a:lnTo>
                <a:lnTo>
                  <a:pt x="197756" y="47625"/>
                </a:lnTo>
                <a:lnTo>
                  <a:pt x="242208" y="47625"/>
                </a:lnTo>
                <a:lnTo>
                  <a:pt x="261256" y="38101"/>
                </a:lnTo>
                <a:lnTo>
                  <a:pt x="242204" y="28575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153062" y="4575799"/>
            <a:ext cx="261620" cy="76200"/>
          </a:xfrm>
          <a:custGeom>
            <a:avLst/>
            <a:gdLst/>
            <a:ahLst/>
            <a:cxnLst/>
            <a:rect l="l" t="t" r="r" b="b"/>
            <a:pathLst>
              <a:path w="261620" h="76200">
                <a:moveTo>
                  <a:pt x="185056" y="47624"/>
                </a:moveTo>
                <a:lnTo>
                  <a:pt x="185056" y="76199"/>
                </a:lnTo>
                <a:lnTo>
                  <a:pt x="242206" y="47624"/>
                </a:lnTo>
                <a:lnTo>
                  <a:pt x="185056" y="47624"/>
                </a:lnTo>
                <a:close/>
              </a:path>
              <a:path w="261620" h="76200">
                <a:moveTo>
                  <a:pt x="185056" y="28574"/>
                </a:moveTo>
                <a:lnTo>
                  <a:pt x="185056" y="47624"/>
                </a:lnTo>
                <a:lnTo>
                  <a:pt x="197756" y="47624"/>
                </a:lnTo>
                <a:lnTo>
                  <a:pt x="197756" y="28574"/>
                </a:lnTo>
                <a:lnTo>
                  <a:pt x="185056" y="28574"/>
                </a:lnTo>
                <a:close/>
              </a:path>
              <a:path w="261620" h="76200">
                <a:moveTo>
                  <a:pt x="185056" y="0"/>
                </a:moveTo>
                <a:lnTo>
                  <a:pt x="185056" y="28574"/>
                </a:lnTo>
                <a:lnTo>
                  <a:pt x="197756" y="28574"/>
                </a:lnTo>
                <a:lnTo>
                  <a:pt x="197756" y="47624"/>
                </a:lnTo>
                <a:lnTo>
                  <a:pt x="242209" y="47623"/>
                </a:lnTo>
                <a:lnTo>
                  <a:pt x="261256" y="38099"/>
                </a:lnTo>
                <a:lnTo>
                  <a:pt x="185056" y="0"/>
                </a:lnTo>
                <a:close/>
              </a:path>
              <a:path w="261620" h="76200">
                <a:moveTo>
                  <a:pt x="0" y="28573"/>
                </a:moveTo>
                <a:lnTo>
                  <a:pt x="0" y="47623"/>
                </a:lnTo>
                <a:lnTo>
                  <a:pt x="185056" y="47624"/>
                </a:lnTo>
                <a:lnTo>
                  <a:pt x="185056" y="28574"/>
                </a:lnTo>
                <a:lnTo>
                  <a:pt x="0" y="28573"/>
                </a:lnTo>
                <a:close/>
              </a:path>
            </a:pathLst>
          </a:custGeom>
          <a:solidFill>
            <a:srgbClr val="4A7E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594804" y="2535428"/>
            <a:ext cx="308610" cy="9461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409"/>
              </a:spcBef>
            </a:pPr>
            <a:r>
              <a:rPr dirty="0" sz="1800" spc="-100">
                <a:latin typeface="Cambria Math"/>
                <a:cs typeface="Cambria Math"/>
              </a:rPr>
              <a:t>𝑀</a:t>
            </a:r>
            <a:r>
              <a:rPr dirty="0" baseline="-14957" sz="1950" spc="-150">
                <a:latin typeface="Cambria Math"/>
                <a:cs typeface="Cambria Math"/>
              </a:rPr>
              <a:t>#</a:t>
            </a:r>
            <a:endParaRPr baseline="-14957" sz="1950">
              <a:latin typeface="Cambria Math"/>
              <a:cs typeface="Cambria Math"/>
            </a:endParaRPr>
          </a:p>
          <a:p>
            <a:pPr marL="17780">
              <a:lnSpc>
                <a:spcPct val="100000"/>
              </a:lnSpc>
              <a:spcBef>
                <a:spcPts val="310"/>
              </a:spcBef>
            </a:pPr>
            <a:r>
              <a:rPr dirty="0" sz="1800" spc="-100">
                <a:latin typeface="Cambria Math"/>
                <a:cs typeface="Cambria Math"/>
              </a:rPr>
              <a:t>𝑀</a:t>
            </a:r>
            <a:r>
              <a:rPr dirty="0" baseline="-17094" sz="1950" spc="-217">
                <a:latin typeface="Cambria Math"/>
                <a:cs typeface="Cambria Math"/>
              </a:rPr>
              <a:t>&amp;</a:t>
            </a:r>
            <a:endParaRPr baseline="-17094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00" spc="165">
                <a:latin typeface="Cambria Math"/>
                <a:cs typeface="Cambria Math"/>
              </a:rPr>
              <a:t>𝑀</a:t>
            </a:r>
            <a:r>
              <a:rPr dirty="0" baseline="-14957" sz="1950" spc="247">
                <a:latin typeface="Cambria Math"/>
                <a:cs typeface="Cambria Math"/>
              </a:rPr>
              <a:t>'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8549588" y="4440428"/>
            <a:ext cx="2203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𝑀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26182" y="4549647"/>
            <a:ext cx="2190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95">
                <a:latin typeface="Cambria Math"/>
                <a:cs typeface="Cambria Math"/>
              </a:rPr>
              <a:t>#"</a:t>
            </a:r>
            <a:endParaRPr sz="13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647395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8418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/>
              <a:t>We </a:t>
            </a:r>
            <a:r>
              <a:rPr dirty="0" spc="-5"/>
              <a:t>collect </a:t>
            </a:r>
            <a:r>
              <a:rPr dirty="0"/>
              <a:t>32 </a:t>
            </a:r>
            <a:r>
              <a:rPr dirty="0" spc="-15"/>
              <a:t>tasks</a:t>
            </a:r>
            <a:r>
              <a:rPr dirty="0" spc="-15" b="0">
                <a:latin typeface="Calibri"/>
                <a:cs typeface="Calibri"/>
              </a:rPr>
              <a:t>: </a:t>
            </a:r>
            <a:r>
              <a:rPr dirty="0" b="0">
                <a:latin typeface="Calibri"/>
                <a:cs typeface="Calibri"/>
              </a:rPr>
              <a:t>node / </a:t>
            </a:r>
            <a:r>
              <a:rPr dirty="0" spc="-15" b="0">
                <a:latin typeface="Calibri"/>
                <a:cs typeface="Calibri"/>
              </a:rPr>
              <a:t>graph</a:t>
            </a:r>
            <a:r>
              <a:rPr dirty="0" spc="105" b="0">
                <a:latin typeface="Calibri"/>
                <a:cs typeface="Calibri"/>
              </a:rPr>
              <a:t> </a:t>
            </a:r>
            <a:r>
              <a:rPr dirty="0" spc="-10" b="0">
                <a:latin typeface="Calibri"/>
                <a:cs typeface="Calibri"/>
              </a:rPr>
              <a:t>classification</a:t>
            </a:r>
          </a:p>
        </p:txBody>
      </p:sp>
      <p:sp>
        <p:nvSpPr>
          <p:cNvPr id="4" name="object 4"/>
          <p:cNvSpPr/>
          <p:nvPr/>
        </p:nvSpPr>
        <p:spPr>
          <a:xfrm>
            <a:off x="816885" y="1909114"/>
            <a:ext cx="1966780" cy="47891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45932" y="2310491"/>
            <a:ext cx="279400" cy="696595"/>
          </a:xfrm>
          <a:custGeom>
            <a:avLst/>
            <a:gdLst/>
            <a:ahLst/>
            <a:cxnLst/>
            <a:rect l="l" t="t" r="r" b="b"/>
            <a:pathLst>
              <a:path w="279400" h="696594">
                <a:moveTo>
                  <a:pt x="0" y="696433"/>
                </a:moveTo>
                <a:lnTo>
                  <a:pt x="54263" y="691419"/>
                </a:lnTo>
                <a:lnTo>
                  <a:pt x="98574" y="677747"/>
                </a:lnTo>
                <a:lnTo>
                  <a:pt x="128450" y="657468"/>
                </a:lnTo>
                <a:lnTo>
                  <a:pt x="139405" y="632636"/>
                </a:lnTo>
                <a:lnTo>
                  <a:pt x="139404" y="412013"/>
                </a:lnTo>
                <a:lnTo>
                  <a:pt x="150360" y="387180"/>
                </a:lnTo>
                <a:lnTo>
                  <a:pt x="180235" y="366902"/>
                </a:lnTo>
                <a:lnTo>
                  <a:pt x="224547" y="353229"/>
                </a:lnTo>
                <a:lnTo>
                  <a:pt x="278809" y="348216"/>
                </a:lnTo>
                <a:lnTo>
                  <a:pt x="224547" y="343203"/>
                </a:lnTo>
                <a:lnTo>
                  <a:pt x="180235" y="329530"/>
                </a:lnTo>
                <a:lnTo>
                  <a:pt x="150360" y="309252"/>
                </a:lnTo>
                <a:lnTo>
                  <a:pt x="139404" y="284419"/>
                </a:lnTo>
                <a:lnTo>
                  <a:pt x="139404" y="63797"/>
                </a:lnTo>
                <a:lnTo>
                  <a:pt x="128449" y="38964"/>
                </a:lnTo>
                <a:lnTo>
                  <a:pt x="98574" y="18685"/>
                </a:lnTo>
                <a:lnTo>
                  <a:pt x="54262" y="5013"/>
                </a:lnTo>
                <a:lnTo>
                  <a:pt x="0" y="0"/>
                </a:lnTo>
              </a:path>
            </a:pathLst>
          </a:custGeom>
          <a:ln w="1587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5931" y="3107933"/>
            <a:ext cx="279400" cy="1508125"/>
          </a:xfrm>
          <a:custGeom>
            <a:avLst/>
            <a:gdLst/>
            <a:ahLst/>
            <a:cxnLst/>
            <a:rect l="l" t="t" r="r" b="b"/>
            <a:pathLst>
              <a:path w="279400" h="1508125">
                <a:moveTo>
                  <a:pt x="0" y="1508051"/>
                </a:moveTo>
                <a:lnTo>
                  <a:pt x="54262" y="1503037"/>
                </a:lnTo>
                <a:lnTo>
                  <a:pt x="98573" y="1489365"/>
                </a:lnTo>
                <a:lnTo>
                  <a:pt x="128449" y="1469086"/>
                </a:lnTo>
                <a:lnTo>
                  <a:pt x="139404" y="1444254"/>
                </a:lnTo>
                <a:lnTo>
                  <a:pt x="139404" y="817822"/>
                </a:lnTo>
                <a:lnTo>
                  <a:pt x="150359" y="792989"/>
                </a:lnTo>
                <a:lnTo>
                  <a:pt x="180235" y="772711"/>
                </a:lnTo>
                <a:lnTo>
                  <a:pt x="224546" y="759038"/>
                </a:lnTo>
                <a:lnTo>
                  <a:pt x="278809" y="754025"/>
                </a:lnTo>
                <a:lnTo>
                  <a:pt x="224546" y="749012"/>
                </a:lnTo>
                <a:lnTo>
                  <a:pt x="180235" y="735339"/>
                </a:lnTo>
                <a:lnTo>
                  <a:pt x="150359" y="715061"/>
                </a:lnTo>
                <a:lnTo>
                  <a:pt x="139404" y="690228"/>
                </a:lnTo>
                <a:lnTo>
                  <a:pt x="139404" y="63796"/>
                </a:lnTo>
                <a:lnTo>
                  <a:pt x="128449" y="38964"/>
                </a:lnTo>
                <a:lnTo>
                  <a:pt x="98573" y="18685"/>
                </a:lnTo>
                <a:lnTo>
                  <a:pt x="54262" y="5013"/>
                </a:lnTo>
                <a:lnTo>
                  <a:pt x="0" y="0"/>
                </a:lnTo>
              </a:path>
            </a:pathLst>
          </a:custGeom>
          <a:ln w="1587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5930" y="4716993"/>
            <a:ext cx="279400" cy="696595"/>
          </a:xfrm>
          <a:custGeom>
            <a:avLst/>
            <a:gdLst/>
            <a:ahLst/>
            <a:cxnLst/>
            <a:rect l="l" t="t" r="r" b="b"/>
            <a:pathLst>
              <a:path w="279400" h="696595">
                <a:moveTo>
                  <a:pt x="0" y="696433"/>
                </a:moveTo>
                <a:lnTo>
                  <a:pt x="54263" y="691419"/>
                </a:lnTo>
                <a:lnTo>
                  <a:pt x="98574" y="677747"/>
                </a:lnTo>
                <a:lnTo>
                  <a:pt x="128450" y="657468"/>
                </a:lnTo>
                <a:lnTo>
                  <a:pt x="139405" y="632636"/>
                </a:lnTo>
                <a:lnTo>
                  <a:pt x="139404" y="412013"/>
                </a:lnTo>
                <a:lnTo>
                  <a:pt x="150360" y="387180"/>
                </a:lnTo>
                <a:lnTo>
                  <a:pt x="180235" y="366902"/>
                </a:lnTo>
                <a:lnTo>
                  <a:pt x="224547" y="353229"/>
                </a:lnTo>
                <a:lnTo>
                  <a:pt x="278809" y="348216"/>
                </a:lnTo>
                <a:lnTo>
                  <a:pt x="224547" y="343203"/>
                </a:lnTo>
                <a:lnTo>
                  <a:pt x="180235" y="329530"/>
                </a:lnTo>
                <a:lnTo>
                  <a:pt x="150360" y="309252"/>
                </a:lnTo>
                <a:lnTo>
                  <a:pt x="139404" y="284419"/>
                </a:lnTo>
                <a:lnTo>
                  <a:pt x="139404" y="63797"/>
                </a:lnTo>
                <a:lnTo>
                  <a:pt x="128449" y="38964"/>
                </a:lnTo>
                <a:lnTo>
                  <a:pt x="98574" y="18685"/>
                </a:lnTo>
                <a:lnTo>
                  <a:pt x="54262" y="5013"/>
                </a:lnTo>
                <a:lnTo>
                  <a:pt x="0" y="0"/>
                </a:lnTo>
              </a:path>
            </a:pathLst>
          </a:custGeom>
          <a:ln w="1587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28696" y="5527749"/>
            <a:ext cx="279400" cy="1126490"/>
          </a:xfrm>
          <a:custGeom>
            <a:avLst/>
            <a:gdLst/>
            <a:ahLst/>
            <a:cxnLst/>
            <a:rect l="l" t="t" r="r" b="b"/>
            <a:pathLst>
              <a:path w="279400" h="1126490">
                <a:moveTo>
                  <a:pt x="0" y="1126460"/>
                </a:moveTo>
                <a:lnTo>
                  <a:pt x="54262" y="1121446"/>
                </a:lnTo>
                <a:lnTo>
                  <a:pt x="98573" y="1107774"/>
                </a:lnTo>
                <a:lnTo>
                  <a:pt x="128449" y="1087495"/>
                </a:lnTo>
                <a:lnTo>
                  <a:pt x="139404" y="1062663"/>
                </a:lnTo>
                <a:lnTo>
                  <a:pt x="139404" y="627027"/>
                </a:lnTo>
                <a:lnTo>
                  <a:pt x="150359" y="602194"/>
                </a:lnTo>
                <a:lnTo>
                  <a:pt x="180235" y="581915"/>
                </a:lnTo>
                <a:lnTo>
                  <a:pt x="224546" y="568243"/>
                </a:lnTo>
                <a:lnTo>
                  <a:pt x="278809" y="563230"/>
                </a:lnTo>
                <a:lnTo>
                  <a:pt x="224546" y="558216"/>
                </a:lnTo>
                <a:lnTo>
                  <a:pt x="180235" y="544544"/>
                </a:lnTo>
                <a:lnTo>
                  <a:pt x="150359" y="524265"/>
                </a:lnTo>
                <a:lnTo>
                  <a:pt x="139404" y="499433"/>
                </a:lnTo>
                <a:lnTo>
                  <a:pt x="139404" y="63797"/>
                </a:lnTo>
                <a:lnTo>
                  <a:pt x="128449" y="38964"/>
                </a:lnTo>
                <a:lnTo>
                  <a:pt x="98573" y="18685"/>
                </a:lnTo>
                <a:lnTo>
                  <a:pt x="54262" y="5013"/>
                </a:lnTo>
                <a:lnTo>
                  <a:pt x="0" y="0"/>
                </a:lnTo>
              </a:path>
            </a:pathLst>
          </a:custGeom>
          <a:ln w="15875">
            <a:solidFill>
              <a:srgbClr val="0070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58460" y="1941067"/>
            <a:ext cx="4957445" cy="4631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sz="1800" spc="-110">
                <a:latin typeface="Arial"/>
                <a:cs typeface="Arial"/>
              </a:rPr>
              <a:t>(We </a:t>
            </a:r>
            <a:r>
              <a:rPr dirty="0" sz="1800" spc="-35">
                <a:latin typeface="Arial"/>
                <a:cs typeface="Arial"/>
              </a:rPr>
              <a:t>include </a:t>
            </a:r>
            <a:r>
              <a:rPr dirty="0" sz="1800" spc="-45">
                <a:latin typeface="Arial"/>
                <a:cs typeface="Arial"/>
              </a:rPr>
              <a:t>link </a:t>
            </a:r>
            <a:r>
              <a:rPr dirty="0" sz="1800" spc="-20">
                <a:latin typeface="Arial"/>
                <a:cs typeface="Arial"/>
              </a:rPr>
              <a:t>prediction </a:t>
            </a:r>
            <a:r>
              <a:rPr dirty="0" sz="1800" spc="-45">
                <a:latin typeface="Arial"/>
                <a:cs typeface="Arial"/>
              </a:rPr>
              <a:t>results </a:t>
            </a:r>
            <a:r>
              <a:rPr dirty="0" sz="1800" spc="-55">
                <a:latin typeface="Arial"/>
                <a:cs typeface="Arial"/>
              </a:rPr>
              <a:t>in </a:t>
            </a:r>
            <a:r>
              <a:rPr dirty="0" sz="1800" spc="-25">
                <a:latin typeface="Arial"/>
                <a:cs typeface="Arial"/>
              </a:rPr>
              <a:t>the</a:t>
            </a:r>
            <a:r>
              <a:rPr dirty="0" sz="1800" spc="290">
                <a:latin typeface="Arial"/>
                <a:cs typeface="Arial"/>
              </a:rPr>
              <a:t> </a:t>
            </a:r>
            <a:r>
              <a:rPr dirty="0" sz="1800" spc="-40">
                <a:latin typeface="Arial"/>
                <a:cs typeface="Arial"/>
              </a:rPr>
              <a:t>Appendix)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dirty="0" sz="1750" spc="25">
                <a:latin typeface="Arial"/>
                <a:cs typeface="Arial"/>
              </a:rPr>
              <a:t>6 </a:t>
            </a:r>
            <a:r>
              <a:rPr dirty="0" sz="1750" spc="-5">
                <a:latin typeface="Arial"/>
                <a:cs typeface="Arial"/>
              </a:rPr>
              <a:t>Real-world </a:t>
            </a:r>
            <a:r>
              <a:rPr dirty="0" sz="1750" spc="0">
                <a:latin typeface="Arial"/>
                <a:cs typeface="Arial"/>
              </a:rPr>
              <a:t>node </a:t>
            </a:r>
            <a:r>
              <a:rPr dirty="0" sz="1750" spc="-15">
                <a:latin typeface="Arial"/>
                <a:cs typeface="Arial"/>
              </a:rPr>
              <a:t>classification</a:t>
            </a:r>
            <a:r>
              <a:rPr dirty="0" sz="1750" spc="-5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tasks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24765">
              <a:lnSpc>
                <a:spcPts val="2095"/>
              </a:lnSpc>
            </a:pPr>
            <a:r>
              <a:rPr dirty="0" sz="1750" spc="25">
                <a:latin typeface="Arial"/>
                <a:cs typeface="Arial"/>
              </a:rPr>
              <a:t>12 </a:t>
            </a:r>
            <a:r>
              <a:rPr dirty="0" sz="1750" spc="-5">
                <a:latin typeface="Arial"/>
                <a:cs typeface="Arial"/>
              </a:rPr>
              <a:t>Synthetic </a:t>
            </a:r>
            <a:r>
              <a:rPr dirty="0" sz="1750" spc="0">
                <a:latin typeface="Arial"/>
                <a:cs typeface="Arial"/>
              </a:rPr>
              <a:t>node </a:t>
            </a:r>
            <a:r>
              <a:rPr dirty="0" sz="1750" spc="-15">
                <a:latin typeface="Arial"/>
                <a:cs typeface="Arial"/>
              </a:rPr>
              <a:t>classification</a:t>
            </a:r>
            <a:r>
              <a:rPr dirty="0" sz="1750" spc="-2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tasks</a:t>
            </a:r>
            <a:endParaRPr sz="1750">
              <a:latin typeface="Arial"/>
              <a:cs typeface="Arial"/>
            </a:endParaRPr>
          </a:p>
          <a:p>
            <a:pPr marL="24765">
              <a:lnSpc>
                <a:spcPts val="2155"/>
              </a:lnSpc>
            </a:pPr>
            <a:r>
              <a:rPr dirty="0" sz="1800" spc="-25">
                <a:latin typeface="Arial"/>
                <a:cs typeface="Arial"/>
              </a:rPr>
              <a:t>Predict </a:t>
            </a:r>
            <a:r>
              <a:rPr dirty="0" sz="1800" spc="-20">
                <a:latin typeface="Arial"/>
                <a:cs typeface="Arial"/>
              </a:rPr>
              <a:t>node </a:t>
            </a:r>
            <a:r>
              <a:rPr dirty="0" sz="1800" spc="-25">
                <a:latin typeface="Arial"/>
                <a:cs typeface="Arial"/>
              </a:rPr>
              <a:t>properties:</a:t>
            </a:r>
            <a:endParaRPr sz="1800">
              <a:latin typeface="Arial"/>
              <a:cs typeface="Arial"/>
            </a:endParaRPr>
          </a:p>
          <a:p>
            <a:pPr marL="310515" indent="-285750">
              <a:lnSpc>
                <a:spcPct val="100000"/>
              </a:lnSpc>
              <a:spcBef>
                <a:spcPts val="50"/>
              </a:spcBef>
              <a:buChar char="-"/>
              <a:tabLst>
                <a:tab pos="309880" algn="l"/>
                <a:tab pos="311150" algn="l"/>
              </a:tabLst>
            </a:pPr>
            <a:r>
              <a:rPr dirty="0" sz="1800" spc="-40">
                <a:latin typeface="Arial"/>
                <a:cs typeface="Arial"/>
              </a:rPr>
              <a:t>Clustering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30">
                <a:latin typeface="Arial"/>
                <a:cs typeface="Arial"/>
              </a:rPr>
              <a:t>coefficient</a:t>
            </a:r>
            <a:endParaRPr sz="1800">
              <a:latin typeface="Arial"/>
              <a:cs typeface="Arial"/>
            </a:endParaRPr>
          </a:p>
          <a:p>
            <a:pPr marL="310515" indent="-285750">
              <a:lnSpc>
                <a:spcPct val="100000"/>
              </a:lnSpc>
              <a:spcBef>
                <a:spcPts val="20"/>
              </a:spcBef>
              <a:buChar char="-"/>
              <a:tabLst>
                <a:tab pos="309880" algn="l"/>
                <a:tab pos="311150" algn="l"/>
              </a:tabLst>
            </a:pPr>
            <a:r>
              <a:rPr dirty="0" sz="1800" spc="-55">
                <a:latin typeface="Arial"/>
                <a:cs typeface="Arial"/>
              </a:rPr>
              <a:t>PageRank</a:t>
            </a:r>
            <a:endParaRPr sz="1800">
              <a:latin typeface="Arial"/>
              <a:cs typeface="Arial"/>
            </a:endParaRPr>
          </a:p>
          <a:p>
            <a:pPr marL="12700" marR="1144270" indent="12065">
              <a:lnSpc>
                <a:spcPct val="312000"/>
              </a:lnSpc>
              <a:spcBef>
                <a:spcPts val="250"/>
              </a:spcBef>
            </a:pPr>
            <a:r>
              <a:rPr dirty="0" sz="1750" spc="25">
                <a:latin typeface="Arial"/>
                <a:cs typeface="Arial"/>
              </a:rPr>
              <a:t>6 </a:t>
            </a:r>
            <a:r>
              <a:rPr dirty="0" sz="1750" spc="-5">
                <a:latin typeface="Arial"/>
                <a:cs typeface="Arial"/>
              </a:rPr>
              <a:t>Real-world </a:t>
            </a:r>
            <a:r>
              <a:rPr dirty="0" sz="1750">
                <a:latin typeface="Arial"/>
                <a:cs typeface="Arial"/>
              </a:rPr>
              <a:t>graph </a:t>
            </a:r>
            <a:r>
              <a:rPr dirty="0" sz="1750" spc="-15">
                <a:latin typeface="Arial"/>
                <a:cs typeface="Arial"/>
              </a:rPr>
              <a:t>classification </a:t>
            </a:r>
            <a:r>
              <a:rPr dirty="0" sz="1750">
                <a:latin typeface="Arial"/>
                <a:cs typeface="Arial"/>
              </a:rPr>
              <a:t>tasks  </a:t>
            </a:r>
            <a:r>
              <a:rPr dirty="0" sz="1750" spc="25">
                <a:latin typeface="Arial"/>
                <a:cs typeface="Arial"/>
              </a:rPr>
              <a:t>8 </a:t>
            </a:r>
            <a:r>
              <a:rPr dirty="0" sz="1750" spc="-5">
                <a:latin typeface="Arial"/>
                <a:cs typeface="Arial"/>
              </a:rPr>
              <a:t>Synthetic </a:t>
            </a:r>
            <a:r>
              <a:rPr dirty="0" sz="1750" spc="0">
                <a:latin typeface="Arial"/>
                <a:cs typeface="Arial"/>
              </a:rPr>
              <a:t>node </a:t>
            </a:r>
            <a:r>
              <a:rPr dirty="0" sz="1750" spc="-15">
                <a:latin typeface="Arial"/>
                <a:cs typeface="Arial"/>
              </a:rPr>
              <a:t>classification</a:t>
            </a:r>
            <a:r>
              <a:rPr dirty="0" sz="1750" spc="-20">
                <a:latin typeface="Arial"/>
                <a:cs typeface="Arial"/>
              </a:rPr>
              <a:t> </a:t>
            </a:r>
            <a:r>
              <a:rPr dirty="0" sz="1750">
                <a:latin typeface="Arial"/>
                <a:cs typeface="Arial"/>
              </a:rPr>
              <a:t>tasks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ts val="2120"/>
              </a:lnSpc>
            </a:pPr>
            <a:r>
              <a:rPr dirty="0" sz="1800" spc="-25">
                <a:latin typeface="Arial"/>
                <a:cs typeface="Arial"/>
              </a:rPr>
              <a:t>Predict graph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properties: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297815" algn="l"/>
              </a:tabLst>
            </a:pPr>
            <a:r>
              <a:rPr dirty="0" sz="1800" spc="60">
                <a:latin typeface="Arial"/>
                <a:cs typeface="Arial"/>
              </a:rPr>
              <a:t>-	</a:t>
            </a:r>
            <a:r>
              <a:rPr dirty="0" sz="1800" spc="-60">
                <a:latin typeface="Arial"/>
                <a:cs typeface="Arial"/>
              </a:rPr>
              <a:t>Average </a:t>
            </a:r>
            <a:r>
              <a:rPr dirty="0" sz="1800" spc="-10">
                <a:latin typeface="Arial"/>
                <a:cs typeface="Arial"/>
              </a:rPr>
              <a:t>path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 spc="-35">
                <a:latin typeface="Arial"/>
                <a:cs typeface="Arial"/>
              </a:rPr>
              <a:t>length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618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7939"/>
            <a:ext cx="521335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0"/>
              <a:t>Evaluating </a:t>
            </a:r>
            <a:r>
              <a:rPr dirty="0" sz="3000"/>
              <a:t>a design</a:t>
            </a:r>
            <a:r>
              <a:rPr dirty="0" sz="3000" spc="-30"/>
              <a:t> </a:t>
            </a:r>
            <a:r>
              <a:rPr dirty="0" sz="3000" spc="-5"/>
              <a:t>dimension</a:t>
            </a:r>
            <a:r>
              <a:rPr dirty="0" sz="3000" spc="-5" b="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9837" y="4035238"/>
            <a:ext cx="1238885" cy="306070"/>
          </a:xfrm>
          <a:custGeom>
            <a:avLst/>
            <a:gdLst/>
            <a:ahLst/>
            <a:cxnLst/>
            <a:rect l="l" t="t" r="r" b="b"/>
            <a:pathLst>
              <a:path w="1238884" h="306070">
                <a:moveTo>
                  <a:pt x="1140842" y="0"/>
                </a:moveTo>
                <a:lnTo>
                  <a:pt x="1136488" y="12414"/>
                </a:lnTo>
                <a:lnTo>
                  <a:pt x="1154193" y="20098"/>
                </a:lnTo>
                <a:lnTo>
                  <a:pt x="1169419" y="30734"/>
                </a:lnTo>
                <a:lnTo>
                  <a:pt x="1200336" y="80035"/>
                </a:lnTo>
                <a:lnTo>
                  <a:pt x="1209364" y="125301"/>
                </a:lnTo>
                <a:lnTo>
                  <a:pt x="1210492" y="151395"/>
                </a:lnTo>
                <a:lnTo>
                  <a:pt x="1209359" y="178370"/>
                </a:lnTo>
                <a:lnTo>
                  <a:pt x="1200290" y="224885"/>
                </a:lnTo>
                <a:lnTo>
                  <a:pt x="1182091" y="261213"/>
                </a:lnTo>
                <a:lnTo>
                  <a:pt x="1136972" y="293438"/>
                </a:lnTo>
                <a:lnTo>
                  <a:pt x="1140842" y="305854"/>
                </a:lnTo>
                <a:lnTo>
                  <a:pt x="1182560" y="286284"/>
                </a:lnTo>
                <a:lnTo>
                  <a:pt x="1213233" y="252406"/>
                </a:lnTo>
                <a:lnTo>
                  <a:pt x="1232098" y="207039"/>
                </a:lnTo>
                <a:lnTo>
                  <a:pt x="1238385" y="153007"/>
                </a:lnTo>
                <a:lnTo>
                  <a:pt x="1236808" y="124968"/>
                </a:lnTo>
                <a:lnTo>
                  <a:pt x="1224192" y="75269"/>
                </a:lnTo>
                <a:lnTo>
                  <a:pt x="1199171" y="34810"/>
                </a:lnTo>
                <a:lnTo>
                  <a:pt x="1163016" y="8006"/>
                </a:lnTo>
                <a:lnTo>
                  <a:pt x="1140842" y="0"/>
                </a:lnTo>
                <a:close/>
              </a:path>
              <a:path w="1238884" h="306070">
                <a:moveTo>
                  <a:pt x="97544" y="0"/>
                </a:moveTo>
                <a:lnTo>
                  <a:pt x="55926" y="19609"/>
                </a:lnTo>
                <a:lnTo>
                  <a:pt x="25232" y="53609"/>
                </a:lnTo>
                <a:lnTo>
                  <a:pt x="6308" y="99055"/>
                </a:lnTo>
                <a:lnTo>
                  <a:pt x="0" y="153007"/>
                </a:lnTo>
                <a:lnTo>
                  <a:pt x="1572" y="181106"/>
                </a:lnTo>
                <a:lnTo>
                  <a:pt x="14148" y="230806"/>
                </a:lnTo>
                <a:lnTo>
                  <a:pt x="39108" y="271134"/>
                </a:lnTo>
                <a:lnTo>
                  <a:pt x="75305" y="297858"/>
                </a:lnTo>
                <a:lnTo>
                  <a:pt x="97544" y="305854"/>
                </a:lnTo>
                <a:lnTo>
                  <a:pt x="101414" y="293438"/>
                </a:lnTo>
                <a:lnTo>
                  <a:pt x="83986" y="285719"/>
                </a:lnTo>
                <a:lnTo>
                  <a:pt x="68946" y="274978"/>
                </a:lnTo>
                <a:lnTo>
                  <a:pt x="46031" y="244425"/>
                </a:lnTo>
                <a:lnTo>
                  <a:pt x="32427" y="202867"/>
                </a:lnTo>
                <a:lnTo>
                  <a:pt x="27893" y="151395"/>
                </a:lnTo>
                <a:lnTo>
                  <a:pt x="29026" y="125301"/>
                </a:lnTo>
                <a:lnTo>
                  <a:pt x="38095" y="80035"/>
                </a:lnTo>
                <a:lnTo>
                  <a:pt x="56325" y="44323"/>
                </a:lnTo>
                <a:lnTo>
                  <a:pt x="101897" y="12414"/>
                </a:lnTo>
                <a:lnTo>
                  <a:pt x="9754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805940"/>
            <a:ext cx="7091680" cy="4546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ts val="29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“Is </a:t>
            </a:r>
            <a:r>
              <a:rPr dirty="0" sz="2600" spc="-10">
                <a:latin typeface="Calibri"/>
                <a:cs typeface="Calibri"/>
              </a:rPr>
              <a:t>BatchNorm </a:t>
            </a:r>
            <a:r>
              <a:rPr dirty="0" sz="2600" spc="-15">
                <a:latin typeface="Calibri"/>
                <a:cs typeface="Calibri"/>
              </a:rPr>
              <a:t>generally </a:t>
            </a:r>
            <a:r>
              <a:rPr dirty="0" sz="2600" spc="-10">
                <a:latin typeface="Calibri"/>
                <a:cs typeface="Calibri"/>
              </a:rPr>
              <a:t>useful </a:t>
            </a:r>
            <a:r>
              <a:rPr dirty="0" sz="2600" spc="-25">
                <a:latin typeface="Calibri"/>
                <a:cs typeface="Calibri"/>
              </a:rPr>
              <a:t>for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GNNs?”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b="1">
                <a:latin typeface="Calibri"/>
                <a:cs typeface="Calibri"/>
              </a:rPr>
              <a:t>The </a:t>
            </a:r>
            <a:r>
              <a:rPr dirty="0" sz="3000" spc="-5" b="1">
                <a:latin typeface="Calibri"/>
                <a:cs typeface="Calibri"/>
              </a:rPr>
              <a:t>common</a:t>
            </a:r>
            <a:r>
              <a:rPr dirty="0" sz="3000" spc="-65" b="1">
                <a:latin typeface="Calibri"/>
                <a:cs typeface="Calibri"/>
              </a:rPr>
              <a:t> </a:t>
            </a:r>
            <a:r>
              <a:rPr dirty="0" sz="3000" spc="-15" b="1">
                <a:latin typeface="Calibri"/>
                <a:cs typeface="Calibri"/>
              </a:rPr>
              <a:t>practice: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4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(1) Pick </a:t>
            </a:r>
            <a:r>
              <a:rPr dirty="0" sz="2600" b="1">
                <a:latin typeface="Calibri"/>
                <a:cs typeface="Calibri"/>
              </a:rPr>
              <a:t>one </a:t>
            </a:r>
            <a:r>
              <a:rPr dirty="0" sz="2600" spc="-5" b="1">
                <a:latin typeface="Calibri"/>
                <a:cs typeface="Calibri"/>
              </a:rPr>
              <a:t>model </a:t>
            </a:r>
            <a:r>
              <a:rPr dirty="0" sz="2600">
                <a:latin typeface="Calibri"/>
                <a:cs typeface="Calibri"/>
              </a:rPr>
              <a:t>(e.g., a </a:t>
            </a:r>
            <a:r>
              <a:rPr dirty="0" sz="2600" spc="-15">
                <a:latin typeface="Calibri"/>
                <a:cs typeface="Calibri"/>
              </a:rPr>
              <a:t>5-layer </a:t>
            </a:r>
            <a:r>
              <a:rPr dirty="0" sz="2600" spc="-5">
                <a:latin typeface="Calibri"/>
                <a:cs typeface="Calibri"/>
              </a:rPr>
              <a:t>64-dim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GCN)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910"/>
              </a:lnSpc>
              <a:spcBef>
                <a:spcPts val="2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latin typeface="Calibri"/>
                <a:cs typeface="Calibri"/>
              </a:rPr>
              <a:t>(2) </a:t>
            </a:r>
            <a:r>
              <a:rPr dirty="0" sz="2600" spc="-10" b="1">
                <a:latin typeface="Calibri"/>
                <a:cs typeface="Calibri"/>
              </a:rPr>
              <a:t>Compare two </a:t>
            </a:r>
            <a:r>
              <a:rPr dirty="0" sz="2600" spc="-5" b="1">
                <a:latin typeface="Calibri"/>
                <a:cs typeface="Calibri"/>
              </a:rPr>
              <a:t>models</a:t>
            </a:r>
            <a:r>
              <a:rPr dirty="0" sz="2600" spc="-5">
                <a:latin typeface="Calibri"/>
                <a:cs typeface="Calibri"/>
              </a:rPr>
              <a:t>,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5">
                <a:latin typeface="Calibri"/>
                <a:cs typeface="Calibri"/>
              </a:rPr>
              <a:t>BN </a:t>
            </a:r>
            <a:r>
              <a:rPr dirty="0" sz="2600">
                <a:latin typeface="Calibri"/>
                <a:cs typeface="Calibri"/>
              </a:rPr>
              <a:t>= </a:t>
            </a:r>
            <a:r>
              <a:rPr dirty="0" sz="2600" spc="-45">
                <a:latin typeface="Calibri"/>
                <a:cs typeface="Calibri"/>
              </a:rPr>
              <a:t>True </a:t>
            </a:r>
            <a:r>
              <a:rPr dirty="0" sz="2600">
                <a:latin typeface="Calibri"/>
                <a:cs typeface="Calibri"/>
              </a:rPr>
              <a:t>/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105">
                <a:latin typeface="Calibri"/>
                <a:cs typeface="Calibri"/>
              </a:rPr>
              <a:t>False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Our</a:t>
            </a:r>
            <a:r>
              <a:rPr dirty="0" sz="30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approach:</a:t>
            </a:r>
            <a:endParaRPr sz="3000">
              <a:latin typeface="Calibri"/>
              <a:cs typeface="Calibri"/>
            </a:endParaRPr>
          </a:p>
          <a:p>
            <a:pPr lvl="1" marL="625475" marR="292735" indent="-274320">
              <a:lnSpc>
                <a:spcPts val="2810"/>
              </a:lnSpc>
              <a:spcBef>
                <a:spcPts val="7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  <a:tab pos="2228215" algn="l"/>
                <a:tab pos="5289550" algn="l"/>
                <a:tab pos="6522084" algn="l"/>
              </a:tabLst>
            </a:pPr>
            <a:r>
              <a:rPr dirty="0" sz="2600" spc="-10">
                <a:latin typeface="Calibri"/>
                <a:cs typeface="Calibri"/>
              </a:rPr>
              <a:t>Note that </a:t>
            </a:r>
            <a:r>
              <a:rPr dirty="0" sz="2600" spc="-15" b="1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2600" spc="-20" b="1">
                <a:solidFill>
                  <a:srgbClr val="C00000"/>
                </a:solidFill>
                <a:latin typeface="Calibri"/>
                <a:cs typeface="Calibri"/>
              </a:rPr>
              <a:t>have</a:t>
            </a:r>
            <a:r>
              <a:rPr dirty="0" sz="260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dirty="0" sz="2600" spc="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C00000"/>
                </a:solidFill>
                <a:latin typeface="Cambria Math"/>
                <a:cs typeface="Cambria Math"/>
              </a:rPr>
              <a:t>315K	</a:t>
            </a:r>
            <a:r>
              <a:rPr dirty="0" sz="2600" spc="-10">
                <a:solidFill>
                  <a:srgbClr val="C00000"/>
                </a:solidFill>
                <a:latin typeface="Cambria Math"/>
                <a:cs typeface="Cambria Math"/>
              </a:rPr>
              <a:t>models	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∗  </a:t>
            </a:r>
            <a:r>
              <a:rPr dirty="0" sz="2600" spc="-5">
                <a:solidFill>
                  <a:srgbClr val="C00000"/>
                </a:solidFill>
                <a:latin typeface="Cambria Math"/>
                <a:cs typeface="Cambria Math"/>
              </a:rPr>
              <a:t>32</a:t>
            </a:r>
            <a:r>
              <a:rPr dirty="0" sz="2600" spc="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600" spc="-10">
                <a:solidFill>
                  <a:srgbClr val="C00000"/>
                </a:solidFill>
                <a:latin typeface="Cambria Math"/>
                <a:cs typeface="Cambria Math"/>
              </a:rPr>
              <a:t>(tasks)	</a:t>
            </a:r>
            <a:r>
              <a:rPr dirty="0" sz="2600">
                <a:solidFill>
                  <a:srgbClr val="C00000"/>
                </a:solidFill>
                <a:latin typeface="Cambria Math"/>
                <a:cs typeface="Cambria Math"/>
              </a:rPr>
              <a:t>≈ </a:t>
            </a:r>
            <a:r>
              <a:rPr dirty="0" sz="2600" spc="-10">
                <a:solidFill>
                  <a:srgbClr val="C00000"/>
                </a:solidFill>
                <a:latin typeface="Cambria Math"/>
                <a:cs typeface="Cambria Math"/>
              </a:rPr>
              <a:t>𝟏𝟎𝐌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model-task</a:t>
            </a:r>
            <a:r>
              <a:rPr dirty="0" sz="2600" spc="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combinations</a:t>
            </a:r>
            <a:endParaRPr sz="2600">
              <a:latin typeface="Calibri"/>
              <a:cs typeface="Calibri"/>
            </a:endParaRPr>
          </a:p>
          <a:p>
            <a:pPr lvl="1" marL="625475" marR="749300" indent="-274320">
              <a:lnSpc>
                <a:spcPts val="2810"/>
              </a:lnSpc>
              <a:spcBef>
                <a:spcPts val="5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(1) Sample </a:t>
            </a:r>
            <a:r>
              <a:rPr dirty="0" sz="2600" spc="-10" b="1">
                <a:latin typeface="Calibri"/>
                <a:cs typeface="Calibri"/>
              </a:rPr>
              <a:t>from 10M </a:t>
            </a:r>
            <a:r>
              <a:rPr dirty="0" sz="2600" spc="-5" b="1">
                <a:latin typeface="Calibri"/>
                <a:cs typeface="Calibri"/>
              </a:rPr>
              <a:t>possible </a:t>
            </a:r>
            <a:r>
              <a:rPr dirty="0" sz="2600" spc="-50" b="1">
                <a:latin typeface="Calibri"/>
                <a:cs typeface="Calibri"/>
              </a:rPr>
              <a:t>model-task  </a:t>
            </a:r>
            <a:r>
              <a:rPr dirty="0" sz="2600" spc="-5" b="1">
                <a:latin typeface="Calibri"/>
                <a:cs typeface="Calibri"/>
              </a:rPr>
              <a:t>combinations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ts val="2955"/>
              </a:lnSpc>
              <a:spcBef>
                <a:spcPts val="2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(2) Rank the models </a:t>
            </a:r>
            <a:r>
              <a:rPr dirty="0" sz="2600">
                <a:latin typeface="Calibri"/>
                <a:cs typeface="Calibri"/>
              </a:rPr>
              <a:t>with </a:t>
            </a:r>
            <a:r>
              <a:rPr dirty="0" sz="2600" spc="-5">
                <a:latin typeface="Calibri"/>
                <a:cs typeface="Calibri"/>
              </a:rPr>
              <a:t>BN </a:t>
            </a:r>
            <a:r>
              <a:rPr dirty="0" sz="2600">
                <a:latin typeface="Calibri"/>
                <a:cs typeface="Calibri"/>
              </a:rPr>
              <a:t>= </a:t>
            </a:r>
            <a:r>
              <a:rPr dirty="0" sz="2600" spc="-45">
                <a:latin typeface="Calibri"/>
                <a:cs typeface="Calibri"/>
              </a:rPr>
              <a:t>True </a:t>
            </a:r>
            <a:r>
              <a:rPr dirty="0" sz="2600">
                <a:latin typeface="Calibri"/>
                <a:cs typeface="Calibri"/>
              </a:rPr>
              <a:t>/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False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435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>
                <a:latin typeface="Calibri"/>
                <a:cs typeface="Calibri"/>
              </a:rPr>
              <a:t>How do </a:t>
            </a:r>
            <a:r>
              <a:rPr dirty="0" sz="3000" spc="-15">
                <a:latin typeface="Calibri"/>
                <a:cs typeface="Calibri"/>
              </a:rPr>
              <a:t>we </a:t>
            </a:r>
            <a:r>
              <a:rPr dirty="0" sz="3000" spc="-25">
                <a:latin typeface="Calibri"/>
                <a:cs typeface="Calibri"/>
              </a:rPr>
              <a:t>make </a:t>
            </a:r>
            <a:r>
              <a:rPr dirty="0" sz="3000" spc="-5">
                <a:latin typeface="Calibri"/>
                <a:cs typeface="Calibri"/>
              </a:rPr>
              <a:t>it </a:t>
            </a:r>
            <a:r>
              <a:rPr dirty="0" sz="3000" spc="-5" b="1">
                <a:solidFill>
                  <a:srgbClr val="C00000"/>
                </a:solidFill>
                <a:latin typeface="Calibri"/>
                <a:cs typeface="Calibri"/>
              </a:rPr>
              <a:t>scalable </a:t>
            </a:r>
            <a:r>
              <a:rPr dirty="0" sz="3000" b="1">
                <a:solidFill>
                  <a:srgbClr val="C00000"/>
                </a:solidFill>
                <a:latin typeface="Calibri"/>
                <a:cs typeface="Calibri"/>
              </a:rPr>
              <a:t>&amp;</a:t>
            </a:r>
            <a:r>
              <a:rPr dirty="0" sz="3000" spc="-10" b="1">
                <a:solidFill>
                  <a:srgbClr val="C00000"/>
                </a:solidFill>
                <a:latin typeface="Calibri"/>
                <a:cs typeface="Calibri"/>
              </a:rPr>
              <a:t> convincing?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618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063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Evaluating </a:t>
            </a:r>
            <a:r>
              <a:rPr dirty="0"/>
              <a:t>a </a:t>
            </a:r>
            <a:r>
              <a:rPr dirty="0" spc="-5"/>
              <a:t>design dimension</a:t>
            </a:r>
            <a:r>
              <a:rPr dirty="0" spc="-5" b="0">
                <a:latin typeface="Calibri"/>
                <a:cs typeface="Calibri"/>
              </a:rPr>
              <a:t>: </a:t>
            </a:r>
            <a:r>
              <a:rPr dirty="0" spc="-15" b="0">
                <a:solidFill>
                  <a:srgbClr val="C00000"/>
                </a:solidFill>
                <a:latin typeface="Calibri"/>
                <a:cs typeface="Calibri"/>
              </a:rPr>
              <a:t>controlled  random</a:t>
            </a:r>
            <a:r>
              <a:rPr dirty="0" spc="-4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C00000"/>
                </a:solidFill>
                <a:latin typeface="Calibri"/>
                <a:cs typeface="Calibri"/>
              </a:rPr>
              <a:t>search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60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4872" y="4495658"/>
          <a:ext cx="6173470" cy="185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117"/>
                <a:gridCol w="737434"/>
                <a:gridCol w="263623"/>
                <a:gridCol w="1083932"/>
                <a:gridCol w="1339069"/>
                <a:gridCol w="890326"/>
                <a:gridCol w="890327"/>
              </a:tblGrid>
              <a:tr h="177800">
                <a:tc gridSpan="5"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GNN Design</a:t>
                      </a:r>
                      <a:r>
                        <a:rPr dirty="0" sz="11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20675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GNN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1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BatchNorm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Activation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Message</a:t>
                      </a:r>
                      <a:r>
                        <a:rPr dirty="0" sz="11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layers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Layer</a:t>
                      </a:r>
                      <a:r>
                        <a:rPr dirty="0" sz="11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Connectivity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10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level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010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dataset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skip_sum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CiteSeer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skip_sum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node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CiteSeer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skip_cat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graph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BZR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skip_cat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graph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BZR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 gridSpan="7"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prelu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stack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graph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1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free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prelu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…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stack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graph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1100" spc="-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free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56563" y="2414523"/>
            <a:ext cx="7526020" cy="20396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87020" marR="518159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a)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Sample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random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model-task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configurations</a:t>
            </a:r>
            <a:r>
              <a:rPr dirty="0" sz="2800" spc="-15">
                <a:latin typeface="Calibri"/>
                <a:cs typeface="Calibri"/>
              </a:rPr>
              <a:t>,  </a:t>
            </a:r>
            <a:r>
              <a:rPr dirty="0" sz="2800" spc="-5">
                <a:latin typeface="Calibri"/>
                <a:cs typeface="Calibri"/>
              </a:rPr>
              <a:t>perturb </a:t>
            </a:r>
            <a:r>
              <a:rPr dirty="0" sz="2800" spc="-5">
                <a:latin typeface="Consolas"/>
                <a:cs typeface="Consolas"/>
              </a:rPr>
              <a:t>BatchNorm </a:t>
            </a:r>
            <a:r>
              <a:rPr dirty="0" sz="2800">
                <a:latin typeface="Consolas"/>
                <a:cs typeface="Consolas"/>
              </a:rPr>
              <a:t>= </a:t>
            </a:r>
            <a:r>
              <a:rPr dirty="0" sz="2800" spc="-5">
                <a:latin typeface="Consolas"/>
                <a:cs typeface="Consolas"/>
              </a:rPr>
              <a:t>[True,</a:t>
            </a:r>
            <a:r>
              <a:rPr dirty="0" sz="2800" spc="-75">
                <a:latin typeface="Consolas"/>
                <a:cs typeface="Consolas"/>
              </a:rPr>
              <a:t> </a:t>
            </a:r>
            <a:r>
              <a:rPr dirty="0" sz="2800" spc="-5">
                <a:latin typeface="Consolas"/>
                <a:cs typeface="Consolas"/>
              </a:rPr>
              <a:t>False]</a:t>
            </a:r>
            <a:endParaRPr sz="2800">
              <a:latin typeface="Consolas"/>
              <a:cs typeface="Consolas"/>
            </a:endParaRPr>
          </a:p>
          <a:p>
            <a:pPr marL="287020" marR="5080" indent="-274320">
              <a:lnSpc>
                <a:spcPts val="3290"/>
              </a:lnSpc>
              <a:spcBef>
                <a:spcPts val="80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Here </a:t>
            </a:r>
            <a:r>
              <a:rPr dirty="0" sz="2800" spc="-15" b="1">
                <a:latin typeface="Calibri"/>
                <a:cs typeface="Calibri"/>
              </a:rPr>
              <a:t>we control </a:t>
            </a:r>
            <a:r>
              <a:rPr dirty="0" sz="2800" spc="-5" b="1">
                <a:latin typeface="Calibri"/>
                <a:cs typeface="Calibri"/>
              </a:rPr>
              <a:t>the </a:t>
            </a:r>
            <a:r>
              <a:rPr dirty="0" sz="2800" spc="-10" b="1">
                <a:latin typeface="Calibri"/>
                <a:cs typeface="Calibri"/>
              </a:rPr>
              <a:t>computational </a:t>
            </a:r>
            <a:r>
              <a:rPr dirty="0" sz="2800" spc="-15" b="1">
                <a:latin typeface="Calibri"/>
                <a:cs typeface="Calibri"/>
              </a:rPr>
              <a:t>budget </a:t>
            </a:r>
            <a:r>
              <a:rPr dirty="0" sz="2800" spc="-20" b="1">
                <a:latin typeface="Calibri"/>
                <a:cs typeface="Calibri"/>
              </a:rPr>
              <a:t>for </a:t>
            </a:r>
            <a:r>
              <a:rPr dirty="0" sz="2800" spc="-5" b="1">
                <a:latin typeface="Calibri"/>
                <a:cs typeface="Calibri"/>
              </a:rPr>
              <a:t>all  the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5" b="1">
                <a:latin typeface="Calibri"/>
                <a:cs typeface="Calibri"/>
              </a:rPr>
              <a:t>models</a:t>
            </a:r>
            <a:endParaRPr sz="2800">
              <a:latin typeface="Calibri"/>
              <a:cs typeface="Calibri"/>
            </a:endParaRPr>
          </a:p>
          <a:p>
            <a:pPr lvl="1" marL="2521585" indent="-228600">
              <a:lnSpc>
                <a:spcPct val="100000"/>
              </a:lnSpc>
              <a:spcBef>
                <a:spcPts val="250"/>
              </a:spcBef>
              <a:buAutoNum type="alphaLcParenBoth"/>
              <a:tabLst>
                <a:tab pos="2522220" algn="l"/>
              </a:tabLst>
            </a:pPr>
            <a:r>
              <a:rPr dirty="0" sz="1200" spc="-5" b="1">
                <a:latin typeface="Arial"/>
                <a:cs typeface="Arial"/>
              </a:rPr>
              <a:t>Controlled Random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Search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6188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6563" y="1309116"/>
            <a:ext cx="7155815" cy="1223645"/>
          </a:xfrm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287020" marR="5080" indent="-274320">
              <a:lnSpc>
                <a:spcPts val="2900"/>
              </a:lnSpc>
              <a:spcBef>
                <a:spcPts val="38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>
                <a:solidFill>
                  <a:srgbClr val="C00000"/>
                </a:solidFill>
              </a:rPr>
              <a:t>b) </a:t>
            </a:r>
            <a:r>
              <a:rPr dirty="0" sz="2600" spc="-5">
                <a:solidFill>
                  <a:srgbClr val="C00000"/>
                </a:solidFill>
              </a:rPr>
              <a:t>Rank </a:t>
            </a:r>
            <a:r>
              <a:rPr dirty="0" sz="2600" spc="-5" b="0">
                <a:latin typeface="Consolas"/>
                <a:cs typeface="Consolas"/>
              </a:rPr>
              <a:t>BatchNorm </a:t>
            </a:r>
            <a:r>
              <a:rPr dirty="0" sz="2600" b="0">
                <a:latin typeface="Consolas"/>
                <a:cs typeface="Consolas"/>
              </a:rPr>
              <a:t>= </a:t>
            </a:r>
            <a:r>
              <a:rPr dirty="0" sz="2600" spc="-5" b="0">
                <a:latin typeface="Consolas"/>
                <a:cs typeface="Consolas"/>
              </a:rPr>
              <a:t>[True, False] </a:t>
            </a:r>
            <a:r>
              <a:rPr dirty="0" sz="2600" spc="-10" b="0">
                <a:latin typeface="Calibri"/>
                <a:cs typeface="Calibri"/>
              </a:rPr>
              <a:t>by </a:t>
            </a:r>
            <a:r>
              <a:rPr dirty="0" sz="2600" spc="-100" b="0">
                <a:latin typeface="Calibri"/>
                <a:cs typeface="Calibri"/>
              </a:rPr>
              <a:t>their  </a:t>
            </a:r>
            <a:r>
              <a:rPr dirty="0" sz="2600" spc="-10" b="0">
                <a:latin typeface="Calibri"/>
                <a:cs typeface="Calibri"/>
              </a:rPr>
              <a:t>performance </a:t>
            </a:r>
            <a:r>
              <a:rPr dirty="0" sz="2600" spc="-10" b="0">
                <a:latin typeface="华文楷体"/>
                <a:cs typeface="华文楷体"/>
              </a:rPr>
              <a:t>（</a:t>
            </a:r>
            <a:r>
              <a:rPr dirty="0" sz="2600" spc="-10" b="0">
                <a:latin typeface="Calibri"/>
                <a:cs typeface="Calibri"/>
              </a:rPr>
              <a:t>lower ranking </a:t>
            </a:r>
            <a:r>
              <a:rPr dirty="0" sz="2600" b="0">
                <a:latin typeface="Calibri"/>
                <a:cs typeface="Calibri"/>
              </a:rPr>
              <a:t>is </a:t>
            </a:r>
            <a:r>
              <a:rPr dirty="0" sz="2600" spc="-15" b="0">
                <a:latin typeface="Calibri"/>
                <a:cs typeface="Calibri"/>
              </a:rPr>
              <a:t>better</a:t>
            </a:r>
            <a:r>
              <a:rPr dirty="0" sz="2600" spc="-15" b="0">
                <a:latin typeface="华文楷体"/>
                <a:cs typeface="华文楷体"/>
              </a:rPr>
              <a:t>）</a:t>
            </a:r>
            <a:endParaRPr sz="2600">
              <a:latin typeface="华文楷体"/>
              <a:cs typeface="华文楷体"/>
            </a:endParaRPr>
          </a:p>
          <a:p>
            <a:pPr marL="287020" indent="-274320">
              <a:lnSpc>
                <a:spcPct val="100000"/>
              </a:lnSpc>
              <a:spcBef>
                <a:spcPts val="2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>
                <a:solidFill>
                  <a:srgbClr val="C00000"/>
                </a:solidFill>
              </a:rPr>
              <a:t>c) Plot </a:t>
            </a:r>
            <a:r>
              <a:rPr dirty="0" sz="2600" spc="-30">
                <a:solidFill>
                  <a:srgbClr val="C00000"/>
                </a:solidFill>
              </a:rPr>
              <a:t>Average </a:t>
            </a:r>
            <a:r>
              <a:rPr dirty="0" sz="2600">
                <a:solidFill>
                  <a:srgbClr val="C00000"/>
                </a:solidFill>
              </a:rPr>
              <a:t>/ </a:t>
            </a:r>
            <a:r>
              <a:rPr dirty="0" sz="2600" spc="-5">
                <a:solidFill>
                  <a:srgbClr val="C00000"/>
                </a:solidFill>
              </a:rPr>
              <a:t>Distribution </a:t>
            </a:r>
            <a:r>
              <a:rPr dirty="0" sz="2600">
                <a:solidFill>
                  <a:srgbClr val="C00000"/>
                </a:solidFill>
              </a:rPr>
              <a:t>of </a:t>
            </a:r>
            <a:r>
              <a:rPr dirty="0" sz="2600" spc="-5">
                <a:solidFill>
                  <a:srgbClr val="C00000"/>
                </a:solidFill>
              </a:rPr>
              <a:t>the </a:t>
            </a:r>
            <a:r>
              <a:rPr dirty="0" sz="2600" spc="-10">
                <a:solidFill>
                  <a:srgbClr val="C00000"/>
                </a:solidFill>
              </a:rPr>
              <a:t>ranking</a:t>
            </a:r>
            <a:r>
              <a:rPr dirty="0" sz="2600" spc="0">
                <a:solidFill>
                  <a:srgbClr val="C00000"/>
                </a:solidFill>
              </a:rPr>
              <a:t> </a:t>
            </a:r>
            <a:r>
              <a:rPr dirty="0" sz="2600" b="0"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0883" y="2467356"/>
            <a:ext cx="45504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5">
                <a:latin typeface="Consolas"/>
                <a:cs typeface="Consolas"/>
              </a:rPr>
              <a:t>BatchNorm </a:t>
            </a:r>
            <a:r>
              <a:rPr dirty="0" sz="2600">
                <a:latin typeface="Consolas"/>
                <a:cs typeface="Consolas"/>
              </a:rPr>
              <a:t>= </a:t>
            </a:r>
            <a:r>
              <a:rPr dirty="0" sz="2600" spc="-5">
                <a:latin typeface="Consolas"/>
                <a:cs typeface="Consolas"/>
              </a:rPr>
              <a:t>[True,</a:t>
            </a:r>
            <a:r>
              <a:rPr dirty="0" sz="2600" spc="-114">
                <a:latin typeface="Consolas"/>
                <a:cs typeface="Consolas"/>
              </a:rPr>
              <a:t> </a:t>
            </a:r>
            <a:r>
              <a:rPr dirty="0" sz="2600" spc="-5">
                <a:latin typeface="Consolas"/>
                <a:cs typeface="Consolas"/>
              </a:rPr>
              <a:t>False]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5515355"/>
            <a:ext cx="6953884" cy="77533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87020" marR="5080" indent="-274320">
              <a:lnSpc>
                <a:spcPts val="2780"/>
              </a:lnSpc>
              <a:spcBef>
                <a:spcPts val="4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600" spc="-5" b="1">
                <a:solidFill>
                  <a:srgbClr val="C00000"/>
                </a:solidFill>
                <a:latin typeface="Calibri"/>
                <a:cs typeface="Calibri"/>
              </a:rPr>
              <a:t>Summary: </a:t>
            </a:r>
            <a:r>
              <a:rPr dirty="0" sz="2600" spc="-10" b="1">
                <a:latin typeface="Calibri"/>
                <a:cs typeface="Calibri"/>
              </a:rPr>
              <a:t>Convincingly </a:t>
            </a:r>
            <a:r>
              <a:rPr dirty="0" sz="2600" spc="-15" b="1">
                <a:latin typeface="Calibri"/>
                <a:cs typeface="Calibri"/>
              </a:rPr>
              <a:t>evaluate any </a:t>
            </a:r>
            <a:r>
              <a:rPr dirty="0" sz="2600" spc="-5" b="1">
                <a:latin typeface="Calibri"/>
                <a:cs typeface="Calibri"/>
              </a:rPr>
              <a:t>new  </a:t>
            </a:r>
            <a:r>
              <a:rPr dirty="0" sz="2600" spc="-80" b="1">
                <a:latin typeface="Calibri"/>
                <a:cs typeface="Calibri"/>
              </a:rPr>
              <a:t>design </a:t>
            </a:r>
            <a:r>
              <a:rPr dirty="0" sz="2600" spc="-5" b="1">
                <a:latin typeface="Calibri"/>
                <a:cs typeface="Calibri"/>
              </a:rPr>
              <a:t>dimension</a:t>
            </a:r>
            <a:r>
              <a:rPr dirty="0" sz="2600" spc="-5">
                <a:latin typeface="Calibri"/>
                <a:cs typeface="Calibri"/>
              </a:rPr>
              <a:t>, </a:t>
            </a:r>
            <a:r>
              <a:rPr dirty="0" sz="2600">
                <a:latin typeface="Calibri"/>
                <a:cs typeface="Calibri"/>
              </a:rPr>
              <a:t>e.g., a </a:t>
            </a:r>
            <a:r>
              <a:rPr dirty="0" sz="2600" spc="-10">
                <a:latin typeface="Calibri"/>
                <a:cs typeface="Calibri"/>
              </a:rPr>
              <a:t>new </a:t>
            </a:r>
            <a:r>
              <a:rPr dirty="0" sz="2600" spc="-5">
                <a:latin typeface="Calibri"/>
                <a:cs typeface="Calibri"/>
              </a:rPr>
              <a:t>GNN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layer</a:t>
            </a:r>
            <a:endParaRPr sz="26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84450" y="3422650"/>
          <a:ext cx="2750820" cy="185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731"/>
                <a:gridCol w="1690436"/>
              </a:tblGrid>
              <a:tr h="177800">
                <a:tc gridSpan="2">
                  <a:txBody>
                    <a:bodyPr/>
                    <a:lstStyle/>
                    <a:p>
                      <a:pPr marL="646430">
                        <a:lnSpc>
                          <a:spcPts val="1295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Experimental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 b="1">
                          <a:latin typeface="Arial"/>
                          <a:cs typeface="Arial"/>
                        </a:rPr>
                        <a:t>Results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Val.</a:t>
                      </a:r>
                      <a:r>
                        <a:rPr dirty="0" sz="11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Accuracy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Design Choice</a:t>
                      </a:r>
                      <a:r>
                        <a:rPr dirty="0" sz="11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latin typeface="Arial"/>
                          <a:cs typeface="Arial"/>
                        </a:rPr>
                        <a:t>Ranking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0.75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0.54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1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(a</a:t>
                      </a:r>
                      <a:r>
                        <a:rPr dirty="0" sz="11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tie)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0.88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1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(a</a:t>
                      </a:r>
                      <a:r>
                        <a:rPr dirty="0" sz="11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">
                          <a:latin typeface="Arial"/>
                          <a:cs typeface="Arial"/>
                        </a:rPr>
                        <a:t>tie)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0.89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 spc="-5">
                          <a:latin typeface="Arial"/>
                          <a:cs typeface="Arial"/>
                        </a:rPr>
                        <a:t>0.36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5"/>
                        </a:lnSpc>
                      </a:pPr>
                      <a:r>
                        <a:rPr dirty="0" sz="1100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56912" y="3169411"/>
            <a:ext cx="1518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(c) Ranking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915" y="3151123"/>
            <a:ext cx="30137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(b) </a:t>
            </a:r>
            <a:r>
              <a:rPr dirty="0" sz="1200" spc="-5" b="1">
                <a:latin typeface="Arial"/>
                <a:cs typeface="Arial"/>
              </a:rPr>
              <a:t>Rank Design Choices </a:t>
            </a:r>
            <a:r>
              <a:rPr dirty="0" sz="1200" b="1">
                <a:latin typeface="Arial"/>
                <a:cs typeface="Arial"/>
              </a:rPr>
              <a:t>by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Performance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36601" y="3371880"/>
            <a:ext cx="1833829" cy="1920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16326" y="3420585"/>
          <a:ext cx="1440180" cy="185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0559"/>
              </a:tblGrid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GNN Design</a:t>
                      </a:r>
                      <a:r>
                        <a:rPr dirty="0" sz="11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Space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BatchNorm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True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Arial"/>
                          <a:cs typeface="Arial"/>
                        </a:rPr>
                        <a:t>False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8147304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82128"/>
            <a:ext cx="7631430" cy="4438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D00"/>
              </a:buClr>
              <a:buSzPct val="80000"/>
              <a:buChar char="▪"/>
              <a:tabLst>
                <a:tab pos="332105" algn="l"/>
                <a:tab pos="332740" algn="l"/>
              </a:tabLst>
            </a:pPr>
            <a:r>
              <a:rPr dirty="0" baseline="1010" sz="4125" spc="-60" b="0">
                <a:latin typeface="Arial"/>
                <a:cs typeface="Arial"/>
              </a:rPr>
              <a:t>Certain </a:t>
            </a:r>
            <a:r>
              <a:rPr dirty="0" baseline="1010" sz="4125" spc="-37" b="0">
                <a:latin typeface="Arial"/>
                <a:cs typeface="Arial"/>
              </a:rPr>
              <a:t>design </a:t>
            </a:r>
            <a:r>
              <a:rPr dirty="0" baseline="1010" sz="4125" spc="-15" b="0">
                <a:latin typeface="Arial"/>
                <a:cs typeface="Arial"/>
              </a:rPr>
              <a:t>choices </a:t>
            </a:r>
            <a:r>
              <a:rPr dirty="0" baseline="1010" sz="4125" spc="-44" b="0">
                <a:latin typeface="Arial"/>
                <a:cs typeface="Arial"/>
              </a:rPr>
              <a:t>exhibit </a:t>
            </a:r>
            <a:r>
              <a:rPr dirty="0" baseline="1010" sz="4125" spc="-67" b="0">
                <a:solidFill>
                  <a:srgbClr val="C00000"/>
                </a:solidFill>
                <a:latin typeface="Arial"/>
                <a:cs typeface="Arial"/>
              </a:rPr>
              <a:t>clear</a:t>
            </a:r>
            <a:r>
              <a:rPr dirty="0" baseline="1010" sz="4125" spc="397" b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10" sz="4125" spc="-44" b="0">
                <a:solidFill>
                  <a:srgbClr val="C00000"/>
                </a:solidFill>
                <a:latin typeface="Arial"/>
                <a:cs typeface="Arial"/>
              </a:rPr>
              <a:t>advantages</a:t>
            </a:r>
            <a:endParaRPr baseline="1010" sz="4125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0830" y="2976821"/>
            <a:ext cx="8842339" cy="2559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02372" y="2994158"/>
            <a:ext cx="798195" cy="2322195"/>
          </a:xfrm>
          <a:custGeom>
            <a:avLst/>
            <a:gdLst/>
            <a:ahLst/>
            <a:cxnLst/>
            <a:rect l="l" t="t" r="r" b="b"/>
            <a:pathLst>
              <a:path w="798194" h="2322195">
                <a:moveTo>
                  <a:pt x="0" y="0"/>
                </a:moveTo>
                <a:lnTo>
                  <a:pt x="797674" y="0"/>
                </a:lnTo>
                <a:lnTo>
                  <a:pt x="797674" y="2322120"/>
                </a:lnTo>
                <a:lnTo>
                  <a:pt x="0" y="232212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04487" y="2994158"/>
            <a:ext cx="695960" cy="2322195"/>
          </a:xfrm>
          <a:custGeom>
            <a:avLst/>
            <a:gdLst/>
            <a:ahLst/>
            <a:cxnLst/>
            <a:rect l="l" t="t" r="r" b="b"/>
            <a:pathLst>
              <a:path w="695960" h="2322195">
                <a:moveTo>
                  <a:pt x="0" y="0"/>
                </a:moveTo>
                <a:lnTo>
                  <a:pt x="695877" y="0"/>
                </a:lnTo>
                <a:lnTo>
                  <a:pt x="695877" y="2322119"/>
                </a:lnTo>
                <a:lnTo>
                  <a:pt x="0" y="2322119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33750" y="2994158"/>
            <a:ext cx="695960" cy="2322195"/>
          </a:xfrm>
          <a:custGeom>
            <a:avLst/>
            <a:gdLst/>
            <a:ahLst/>
            <a:cxnLst/>
            <a:rect l="l" t="t" r="r" b="b"/>
            <a:pathLst>
              <a:path w="695960" h="2322195">
                <a:moveTo>
                  <a:pt x="0" y="0"/>
                </a:moveTo>
                <a:lnTo>
                  <a:pt x="695877" y="0"/>
                </a:lnTo>
                <a:lnTo>
                  <a:pt x="695877" y="2322118"/>
                </a:lnTo>
                <a:lnTo>
                  <a:pt x="0" y="232211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00699" y="2246595"/>
            <a:ext cx="2948940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950" spc="-15">
                <a:solidFill>
                  <a:srgbClr val="C00000"/>
                </a:solidFill>
                <a:latin typeface="Arial"/>
                <a:cs typeface="Arial"/>
              </a:rPr>
              <a:t>GNNs </a:t>
            </a:r>
            <a:r>
              <a:rPr dirty="0" sz="1950" spc="-50">
                <a:solidFill>
                  <a:srgbClr val="C00000"/>
                </a:solidFill>
                <a:latin typeface="Arial"/>
                <a:cs typeface="Arial"/>
              </a:rPr>
              <a:t>are </a:t>
            </a:r>
            <a:r>
              <a:rPr dirty="0" sz="1950" spc="-15">
                <a:solidFill>
                  <a:srgbClr val="C00000"/>
                </a:solidFill>
                <a:latin typeface="Arial"/>
                <a:cs typeface="Arial"/>
              </a:rPr>
              <a:t>hard </a:t>
            </a:r>
            <a:r>
              <a:rPr dirty="0" sz="1950" spc="3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1950" spc="13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C00000"/>
                </a:solidFill>
                <a:latin typeface="Arial"/>
                <a:cs typeface="Arial"/>
              </a:rPr>
              <a:t>optimize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7187" y="5571963"/>
            <a:ext cx="2505710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950" spc="-15">
                <a:solidFill>
                  <a:srgbClr val="C00000"/>
                </a:solidFill>
                <a:latin typeface="Arial"/>
                <a:cs typeface="Arial"/>
              </a:rPr>
              <a:t>GNNs </a:t>
            </a:r>
            <a:r>
              <a:rPr dirty="0" sz="1950" spc="-20">
                <a:solidFill>
                  <a:srgbClr val="C00000"/>
                </a:solidFill>
                <a:latin typeface="Arial"/>
                <a:cs typeface="Arial"/>
              </a:rPr>
              <a:t>experience  </a:t>
            </a:r>
            <a:r>
              <a:rPr dirty="0" sz="1950" spc="-10">
                <a:solidFill>
                  <a:srgbClr val="C00000"/>
                </a:solidFill>
                <a:latin typeface="Arial"/>
                <a:cs typeface="Arial"/>
              </a:rPr>
              <a:t>underfitting more</a:t>
            </a:r>
            <a:r>
              <a:rPr dirty="0" sz="1950" spc="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often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5691" y="2246595"/>
            <a:ext cx="2527935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950" spc="-45">
                <a:solidFill>
                  <a:srgbClr val="C00000"/>
                </a:solidFill>
                <a:latin typeface="Arial"/>
                <a:cs typeface="Arial"/>
              </a:rPr>
              <a:t>This </a:t>
            </a:r>
            <a:r>
              <a:rPr dirty="0" sz="1950" spc="-4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our </a:t>
            </a:r>
            <a:r>
              <a:rPr dirty="0" sz="1950">
                <a:solidFill>
                  <a:srgbClr val="C00000"/>
                </a:solidFill>
                <a:latin typeface="Arial"/>
                <a:cs typeface="Arial"/>
              </a:rPr>
              <a:t>new</a:t>
            </a:r>
            <a:r>
              <a:rPr dirty="0" sz="1950" spc="14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C00000"/>
                </a:solidFill>
                <a:latin typeface="Arial"/>
                <a:cs typeface="Arial"/>
              </a:rPr>
              <a:t>finding!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31940" y="5571963"/>
            <a:ext cx="2439670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Sum </a:t>
            </a:r>
            <a:r>
              <a:rPr dirty="0" sz="1950" spc="-4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1950" spc="25">
                <a:solidFill>
                  <a:srgbClr val="C00000"/>
                </a:solidFill>
                <a:latin typeface="Arial"/>
                <a:cs typeface="Arial"/>
              </a:rPr>
              <a:t>most  </a:t>
            </a:r>
            <a:r>
              <a:rPr dirty="0" sz="1950" spc="-35">
                <a:solidFill>
                  <a:srgbClr val="C00000"/>
                </a:solidFill>
                <a:latin typeface="Arial"/>
                <a:cs typeface="Arial"/>
              </a:rPr>
              <a:t>expressive</a:t>
            </a:r>
            <a:r>
              <a:rPr dirty="0" sz="195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C00000"/>
                </a:solidFill>
                <a:latin typeface="Arial"/>
                <a:cs typeface="Arial"/>
              </a:rPr>
              <a:t>aggregator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218554" y="2976821"/>
            <a:ext cx="695960" cy="2322195"/>
          </a:xfrm>
          <a:custGeom>
            <a:avLst/>
            <a:gdLst/>
            <a:ahLst/>
            <a:cxnLst/>
            <a:rect l="l" t="t" r="r" b="b"/>
            <a:pathLst>
              <a:path w="695959" h="2322195">
                <a:moveTo>
                  <a:pt x="0" y="0"/>
                </a:moveTo>
                <a:lnTo>
                  <a:pt x="695877" y="0"/>
                </a:lnTo>
                <a:lnTo>
                  <a:pt x="695877" y="2322118"/>
                </a:lnTo>
                <a:lnTo>
                  <a:pt x="0" y="232211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8147304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82128"/>
            <a:ext cx="7631430" cy="4438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D00"/>
              </a:buClr>
              <a:buSzPct val="80000"/>
              <a:buChar char="▪"/>
              <a:tabLst>
                <a:tab pos="332105" algn="l"/>
                <a:tab pos="332740" algn="l"/>
              </a:tabLst>
            </a:pPr>
            <a:r>
              <a:rPr dirty="0" baseline="1010" sz="4125" spc="-60" b="0">
                <a:latin typeface="Arial"/>
                <a:cs typeface="Arial"/>
              </a:rPr>
              <a:t>Certain </a:t>
            </a:r>
            <a:r>
              <a:rPr dirty="0" baseline="1010" sz="4125" spc="-37" b="0">
                <a:latin typeface="Arial"/>
                <a:cs typeface="Arial"/>
              </a:rPr>
              <a:t>design </a:t>
            </a:r>
            <a:r>
              <a:rPr dirty="0" baseline="1010" sz="4125" spc="-15" b="0">
                <a:latin typeface="Arial"/>
                <a:cs typeface="Arial"/>
              </a:rPr>
              <a:t>choices </a:t>
            </a:r>
            <a:r>
              <a:rPr dirty="0" baseline="1010" sz="4125" spc="-44" b="0">
                <a:latin typeface="Arial"/>
                <a:cs typeface="Arial"/>
              </a:rPr>
              <a:t>exhibit </a:t>
            </a:r>
            <a:r>
              <a:rPr dirty="0" baseline="1010" sz="4125" spc="-67" b="0">
                <a:solidFill>
                  <a:srgbClr val="C00000"/>
                </a:solidFill>
                <a:latin typeface="Arial"/>
                <a:cs typeface="Arial"/>
              </a:rPr>
              <a:t>clear</a:t>
            </a:r>
            <a:r>
              <a:rPr dirty="0" baseline="1010" sz="4125" spc="397" b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10" sz="4125" spc="-44" b="0">
                <a:solidFill>
                  <a:srgbClr val="C00000"/>
                </a:solidFill>
                <a:latin typeface="Arial"/>
                <a:cs typeface="Arial"/>
              </a:rPr>
              <a:t>advantages</a:t>
            </a:r>
            <a:endParaRPr baseline="1010" sz="4125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97" y="2855180"/>
            <a:ext cx="4659538" cy="2665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78916" y="2932951"/>
            <a:ext cx="4206918" cy="25873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098" y="2918414"/>
            <a:ext cx="6815455" cy="2398395"/>
          </a:xfrm>
          <a:custGeom>
            <a:avLst/>
            <a:gdLst/>
            <a:ahLst/>
            <a:cxnLst/>
            <a:rect l="l" t="t" r="r" b="b"/>
            <a:pathLst>
              <a:path w="6815455" h="2398395">
                <a:moveTo>
                  <a:pt x="0" y="0"/>
                </a:moveTo>
                <a:lnTo>
                  <a:pt x="6815180" y="0"/>
                </a:lnTo>
                <a:lnTo>
                  <a:pt x="6815180" y="2397862"/>
                </a:lnTo>
                <a:lnTo>
                  <a:pt x="0" y="239786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26815" y="2182587"/>
            <a:ext cx="4671695" cy="62928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0"/>
              </a:spcBef>
            </a:pPr>
            <a:r>
              <a:rPr dirty="0" sz="1950" spc="-10">
                <a:latin typeface="Arial"/>
                <a:cs typeface="Arial"/>
              </a:rPr>
              <a:t>Optimal </a:t>
            </a:r>
            <a:r>
              <a:rPr dirty="0" sz="1950">
                <a:latin typeface="Arial"/>
                <a:cs typeface="Arial"/>
              </a:rPr>
              <a:t>number </a:t>
            </a:r>
            <a:r>
              <a:rPr dirty="0" sz="1950" spc="-5">
                <a:latin typeface="Arial"/>
                <a:cs typeface="Arial"/>
              </a:rPr>
              <a:t>of </a:t>
            </a:r>
            <a:r>
              <a:rPr dirty="0" sz="1950" spc="-45">
                <a:latin typeface="Arial"/>
                <a:cs typeface="Arial"/>
              </a:rPr>
              <a:t>layers </a:t>
            </a:r>
            <a:r>
              <a:rPr dirty="0" sz="1950" spc="-40">
                <a:latin typeface="Arial"/>
                <a:cs typeface="Arial"/>
              </a:rPr>
              <a:t>is </a:t>
            </a:r>
            <a:r>
              <a:rPr dirty="0" sz="1950" spc="-15">
                <a:latin typeface="Arial"/>
                <a:cs typeface="Arial"/>
              </a:rPr>
              <a:t>hard </a:t>
            </a:r>
            <a:r>
              <a:rPr dirty="0" sz="1950" spc="30">
                <a:latin typeface="Arial"/>
                <a:cs typeface="Arial"/>
              </a:rPr>
              <a:t>to </a:t>
            </a:r>
            <a:r>
              <a:rPr dirty="0" sz="1950">
                <a:latin typeface="Arial"/>
                <a:cs typeface="Arial"/>
              </a:rPr>
              <a:t>decide  </a:t>
            </a:r>
            <a:r>
              <a:rPr dirty="0" sz="1950" spc="-30">
                <a:solidFill>
                  <a:srgbClr val="C00000"/>
                </a:solidFill>
                <a:latin typeface="Arial"/>
                <a:cs typeface="Arial"/>
              </a:rPr>
              <a:t>Highly </a:t>
            </a:r>
            <a:r>
              <a:rPr dirty="0" sz="1950" spc="0">
                <a:solidFill>
                  <a:srgbClr val="C00000"/>
                </a:solidFill>
                <a:latin typeface="Arial"/>
                <a:cs typeface="Arial"/>
              </a:rPr>
              <a:t>dependent on </a:t>
            </a: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950" spc="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8446" y="5492715"/>
            <a:ext cx="2586355" cy="12388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Skip </a:t>
            </a:r>
            <a:r>
              <a:rPr dirty="0" sz="1950" spc="0">
                <a:solidFill>
                  <a:srgbClr val="C00000"/>
                </a:solidFill>
                <a:latin typeface="Arial"/>
                <a:cs typeface="Arial"/>
              </a:rPr>
              <a:t>connection </a:t>
            </a:r>
            <a:r>
              <a:rPr dirty="0" sz="1950" spc="-30">
                <a:solidFill>
                  <a:srgbClr val="C00000"/>
                </a:solidFill>
                <a:latin typeface="Arial"/>
                <a:cs typeface="Arial"/>
              </a:rPr>
              <a:t>enable  hierarchical </a:t>
            </a:r>
            <a:r>
              <a:rPr dirty="0" sz="1950" spc="0">
                <a:solidFill>
                  <a:srgbClr val="C00000"/>
                </a:solidFill>
                <a:latin typeface="Arial"/>
                <a:cs typeface="Arial"/>
              </a:rPr>
              <a:t>node  </a:t>
            </a:r>
            <a:r>
              <a:rPr dirty="0" sz="1950" spc="-20">
                <a:solidFill>
                  <a:srgbClr val="C00000"/>
                </a:solidFill>
                <a:latin typeface="Arial"/>
                <a:cs typeface="Arial"/>
              </a:rPr>
              <a:t>representation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3505" y="2918414"/>
            <a:ext cx="695960" cy="2398395"/>
          </a:xfrm>
          <a:custGeom>
            <a:avLst/>
            <a:gdLst/>
            <a:ahLst/>
            <a:cxnLst/>
            <a:rect l="l" t="t" r="r" b="b"/>
            <a:pathLst>
              <a:path w="695959" h="2398395">
                <a:moveTo>
                  <a:pt x="0" y="0"/>
                </a:moveTo>
                <a:lnTo>
                  <a:pt x="695877" y="0"/>
                </a:lnTo>
                <a:lnTo>
                  <a:pt x="695877" y="2397862"/>
                </a:lnTo>
                <a:lnTo>
                  <a:pt x="0" y="239786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63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2711"/>
            <a:ext cx="8147304" cy="502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82128"/>
            <a:ext cx="7631430" cy="4438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5"/>
              </a:spcBef>
              <a:buClr>
                <a:srgbClr val="F0AD00"/>
              </a:buClr>
              <a:buSzPct val="80000"/>
              <a:buChar char="▪"/>
              <a:tabLst>
                <a:tab pos="332105" algn="l"/>
                <a:tab pos="332740" algn="l"/>
              </a:tabLst>
            </a:pPr>
            <a:r>
              <a:rPr dirty="0" baseline="1010" sz="4125" spc="-60" b="0">
                <a:latin typeface="Arial"/>
                <a:cs typeface="Arial"/>
              </a:rPr>
              <a:t>Certain </a:t>
            </a:r>
            <a:r>
              <a:rPr dirty="0" baseline="1010" sz="4125" spc="-37" b="0">
                <a:latin typeface="Arial"/>
                <a:cs typeface="Arial"/>
              </a:rPr>
              <a:t>design </a:t>
            </a:r>
            <a:r>
              <a:rPr dirty="0" baseline="1010" sz="4125" spc="-15" b="0">
                <a:latin typeface="Arial"/>
                <a:cs typeface="Arial"/>
              </a:rPr>
              <a:t>choices </a:t>
            </a:r>
            <a:r>
              <a:rPr dirty="0" baseline="1010" sz="4125" spc="-44" b="0">
                <a:latin typeface="Arial"/>
                <a:cs typeface="Arial"/>
              </a:rPr>
              <a:t>exhibit </a:t>
            </a:r>
            <a:r>
              <a:rPr dirty="0" baseline="1010" sz="4125" spc="-67" b="0">
                <a:solidFill>
                  <a:srgbClr val="C00000"/>
                </a:solidFill>
                <a:latin typeface="Arial"/>
                <a:cs typeface="Arial"/>
              </a:rPr>
              <a:t>clear</a:t>
            </a:r>
            <a:r>
              <a:rPr dirty="0" baseline="1010" sz="4125" spc="397" b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10" sz="4125" spc="-44" b="0">
                <a:solidFill>
                  <a:srgbClr val="C00000"/>
                </a:solidFill>
                <a:latin typeface="Arial"/>
                <a:cs typeface="Arial"/>
              </a:rPr>
              <a:t>advantages</a:t>
            </a:r>
            <a:endParaRPr baseline="1010" sz="412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309" y="2295363"/>
            <a:ext cx="5867400" cy="62928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0"/>
              </a:spcBef>
            </a:pPr>
            <a:r>
              <a:rPr dirty="0" sz="1950" spc="-10">
                <a:latin typeface="Arial"/>
                <a:cs typeface="Arial"/>
              </a:rPr>
              <a:t>Optimal </a:t>
            </a:r>
            <a:r>
              <a:rPr dirty="0" sz="1950" spc="15">
                <a:latin typeface="Arial"/>
                <a:cs typeface="Arial"/>
              </a:rPr>
              <a:t>batch </a:t>
            </a:r>
            <a:r>
              <a:rPr dirty="0" sz="1950" spc="-50">
                <a:latin typeface="Arial"/>
                <a:cs typeface="Arial"/>
              </a:rPr>
              <a:t>size </a:t>
            </a:r>
            <a:r>
              <a:rPr dirty="0" sz="1950">
                <a:latin typeface="Arial"/>
                <a:cs typeface="Arial"/>
              </a:rPr>
              <a:t>and </a:t>
            </a:r>
            <a:r>
              <a:rPr dirty="0" sz="1950" spc="-30">
                <a:latin typeface="Arial"/>
                <a:cs typeface="Arial"/>
              </a:rPr>
              <a:t>learning </a:t>
            </a:r>
            <a:r>
              <a:rPr dirty="0" sz="1950" spc="-20">
                <a:latin typeface="Arial"/>
                <a:cs typeface="Arial"/>
              </a:rPr>
              <a:t>rate </a:t>
            </a:r>
            <a:r>
              <a:rPr dirty="0" sz="1950" spc="-40">
                <a:latin typeface="Arial"/>
                <a:cs typeface="Arial"/>
              </a:rPr>
              <a:t>is </a:t>
            </a:r>
            <a:r>
              <a:rPr dirty="0" sz="1950" spc="-15">
                <a:latin typeface="Arial"/>
                <a:cs typeface="Arial"/>
              </a:rPr>
              <a:t>hard </a:t>
            </a:r>
            <a:r>
              <a:rPr dirty="0" sz="1950" spc="30">
                <a:latin typeface="Arial"/>
                <a:cs typeface="Arial"/>
              </a:rPr>
              <a:t>to </a:t>
            </a:r>
            <a:r>
              <a:rPr dirty="0" sz="1950">
                <a:latin typeface="Arial"/>
                <a:cs typeface="Arial"/>
              </a:rPr>
              <a:t>decide  </a:t>
            </a:r>
            <a:r>
              <a:rPr dirty="0" sz="1950" spc="-30">
                <a:solidFill>
                  <a:srgbClr val="C00000"/>
                </a:solidFill>
                <a:latin typeface="Arial"/>
                <a:cs typeface="Arial"/>
              </a:rPr>
              <a:t>Highly </a:t>
            </a:r>
            <a:r>
              <a:rPr dirty="0" sz="1950" spc="0">
                <a:solidFill>
                  <a:srgbClr val="C00000"/>
                </a:solidFill>
                <a:latin typeface="Arial"/>
                <a:cs typeface="Arial"/>
              </a:rPr>
              <a:t>dependent on </a:t>
            </a:r>
            <a:r>
              <a:rPr dirty="0" sz="1950" spc="-5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950" spc="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C00000"/>
                </a:solidFill>
                <a:latin typeface="Arial"/>
                <a:cs typeface="Arial"/>
              </a:rPr>
              <a:t>task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5407" y="5593299"/>
            <a:ext cx="3289300" cy="934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20">
                <a:latin typeface="Arial"/>
                <a:cs typeface="Arial"/>
              </a:rPr>
              <a:t>Explanation: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950">
                <a:solidFill>
                  <a:srgbClr val="C00000"/>
                </a:solidFill>
                <a:latin typeface="Arial"/>
                <a:cs typeface="Arial"/>
              </a:rPr>
              <a:t>Adam </a:t>
            </a:r>
            <a:r>
              <a:rPr dirty="0" sz="1950" spc="-4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dirty="0" sz="1950" spc="-10">
                <a:solidFill>
                  <a:srgbClr val="C00000"/>
                </a:solidFill>
                <a:latin typeface="Arial"/>
                <a:cs typeface="Arial"/>
              </a:rPr>
              <a:t>more</a:t>
            </a:r>
            <a:r>
              <a:rPr dirty="0" sz="19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5">
                <a:solidFill>
                  <a:srgbClr val="C00000"/>
                </a:solidFill>
                <a:latin typeface="Arial"/>
                <a:cs typeface="Arial"/>
              </a:rPr>
              <a:t>robust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950" spc="-15">
                <a:solidFill>
                  <a:srgbClr val="C00000"/>
                </a:solidFill>
                <a:latin typeface="Arial"/>
                <a:cs typeface="Arial"/>
              </a:rPr>
              <a:t>More </a:t>
            </a:r>
            <a:r>
              <a:rPr dirty="0" sz="1950" spc="-20">
                <a:solidFill>
                  <a:srgbClr val="C00000"/>
                </a:solidFill>
                <a:latin typeface="Arial"/>
                <a:cs typeface="Arial"/>
              </a:rPr>
              <a:t>training </a:t>
            </a:r>
            <a:r>
              <a:rPr dirty="0" sz="1950" spc="5">
                <a:solidFill>
                  <a:srgbClr val="C00000"/>
                </a:solidFill>
                <a:latin typeface="Arial"/>
                <a:cs typeface="Arial"/>
              </a:rPr>
              <a:t>epochs </a:t>
            </a:r>
            <a:r>
              <a:rPr dirty="0" sz="1950" spc="-4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sz="1950" spc="10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950" spc="0">
                <a:solidFill>
                  <a:srgbClr val="C00000"/>
                </a:solidFill>
                <a:latin typeface="Arial"/>
                <a:cs typeface="Arial"/>
              </a:rPr>
              <a:t>better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3505" y="3031826"/>
            <a:ext cx="695960" cy="2398395"/>
          </a:xfrm>
          <a:custGeom>
            <a:avLst/>
            <a:gdLst/>
            <a:ahLst/>
            <a:cxnLst/>
            <a:rect l="l" t="t" r="r" b="b"/>
            <a:pathLst>
              <a:path w="695959" h="2398395">
                <a:moveTo>
                  <a:pt x="0" y="0"/>
                </a:moveTo>
                <a:lnTo>
                  <a:pt x="695877" y="0"/>
                </a:lnTo>
                <a:lnTo>
                  <a:pt x="695877" y="2397862"/>
                </a:lnTo>
                <a:lnTo>
                  <a:pt x="0" y="239786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4010" y="3016604"/>
            <a:ext cx="8013420" cy="24617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6948" y="3016603"/>
            <a:ext cx="4104640" cy="2413635"/>
          </a:xfrm>
          <a:custGeom>
            <a:avLst/>
            <a:gdLst/>
            <a:ahLst/>
            <a:cxnLst/>
            <a:rect l="l" t="t" r="r" b="b"/>
            <a:pathLst>
              <a:path w="4104640" h="2413635">
                <a:moveTo>
                  <a:pt x="0" y="0"/>
                </a:moveTo>
                <a:lnTo>
                  <a:pt x="4104167" y="0"/>
                </a:lnTo>
                <a:lnTo>
                  <a:pt x="4104167" y="2413085"/>
                </a:lnTo>
                <a:lnTo>
                  <a:pt x="0" y="241308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96044" y="3001888"/>
            <a:ext cx="695960" cy="2413635"/>
          </a:xfrm>
          <a:custGeom>
            <a:avLst/>
            <a:gdLst/>
            <a:ahLst/>
            <a:cxnLst/>
            <a:rect l="l" t="t" r="r" b="b"/>
            <a:pathLst>
              <a:path w="695960" h="2413635">
                <a:moveTo>
                  <a:pt x="0" y="0"/>
                </a:moveTo>
                <a:lnTo>
                  <a:pt x="695877" y="0"/>
                </a:lnTo>
                <a:lnTo>
                  <a:pt x="695877" y="2413085"/>
                </a:lnTo>
                <a:lnTo>
                  <a:pt x="0" y="241308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71070" y="2967968"/>
            <a:ext cx="695960" cy="2413635"/>
          </a:xfrm>
          <a:custGeom>
            <a:avLst/>
            <a:gdLst/>
            <a:ahLst/>
            <a:cxnLst/>
            <a:rect l="l" t="t" r="r" b="b"/>
            <a:pathLst>
              <a:path w="695959" h="2413635">
                <a:moveTo>
                  <a:pt x="0" y="0"/>
                </a:moveTo>
                <a:lnTo>
                  <a:pt x="695877" y="0"/>
                </a:lnTo>
                <a:lnTo>
                  <a:pt x="695877" y="2413085"/>
                </a:lnTo>
                <a:lnTo>
                  <a:pt x="0" y="241308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8808"/>
            <a:ext cx="787908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97445" cy="153035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45339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Best </a:t>
            </a:r>
            <a:r>
              <a:rPr dirty="0" spc="-5"/>
              <a:t>GNN designs </a:t>
            </a:r>
            <a:r>
              <a:rPr dirty="0"/>
              <a:t>in </a:t>
            </a:r>
            <a:r>
              <a:rPr dirty="0" spc="-20"/>
              <a:t>different </a:t>
            </a:r>
            <a:r>
              <a:rPr dirty="0" spc="-15"/>
              <a:t>tasks </a:t>
            </a:r>
            <a:r>
              <a:rPr dirty="0" spc="-15">
                <a:solidFill>
                  <a:srgbClr val="C00000"/>
                </a:solidFill>
              </a:rPr>
              <a:t>vary  </a:t>
            </a:r>
            <a:r>
              <a:rPr dirty="0" spc="-10">
                <a:solidFill>
                  <a:srgbClr val="C00000"/>
                </a:solidFill>
              </a:rPr>
              <a:t>significantly</a:t>
            </a:r>
          </a:p>
          <a:p>
            <a:pPr lvl="1" marL="625475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SzPct val="101818"/>
              <a:buChar char="▪"/>
              <a:tabLst>
                <a:tab pos="625475" algn="l"/>
              </a:tabLst>
            </a:pPr>
            <a:r>
              <a:rPr dirty="0" baseline="1010" sz="4125" spc="-37">
                <a:latin typeface="Arial"/>
                <a:cs typeface="Arial"/>
              </a:rPr>
              <a:t>Motivate </a:t>
            </a:r>
            <a:r>
              <a:rPr dirty="0" baseline="1010" sz="4125" spc="0">
                <a:latin typeface="Arial"/>
                <a:cs typeface="Arial"/>
              </a:rPr>
              <a:t>that </a:t>
            </a:r>
            <a:r>
              <a:rPr dirty="0" baseline="1010" sz="4125" spc="-22">
                <a:solidFill>
                  <a:srgbClr val="C00000"/>
                </a:solidFill>
                <a:latin typeface="Arial"/>
                <a:cs typeface="Arial"/>
              </a:rPr>
              <a:t>studying </a:t>
            </a:r>
            <a:r>
              <a:rPr dirty="0" baseline="1010" sz="4125" spc="-12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dirty="0" baseline="1010" sz="4125" spc="-7">
                <a:solidFill>
                  <a:srgbClr val="C00000"/>
                </a:solidFill>
                <a:latin typeface="Arial"/>
                <a:cs typeface="Arial"/>
              </a:rPr>
              <a:t>task </a:t>
            </a:r>
            <a:r>
              <a:rPr dirty="0" baseline="1010" sz="4125" spc="-15">
                <a:solidFill>
                  <a:srgbClr val="C00000"/>
                </a:solidFill>
                <a:latin typeface="Arial"/>
                <a:cs typeface="Arial"/>
              </a:rPr>
              <a:t>space </a:t>
            </a:r>
            <a:r>
              <a:rPr dirty="0" baseline="1010" sz="4125" spc="-97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dirty="0" baseline="1010" sz="4125" spc="46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1010" sz="4125" spc="-44">
                <a:solidFill>
                  <a:srgbClr val="C00000"/>
                </a:solidFill>
                <a:latin typeface="Arial"/>
                <a:cs typeface="Arial"/>
              </a:rPr>
              <a:t>crucial</a:t>
            </a:r>
            <a:endParaRPr baseline="1010" sz="4125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6659" y="2865605"/>
            <a:ext cx="6918287" cy="1783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44110" y="2988285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30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29955" y="2988284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29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115801" y="2988283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29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9052" y="4824972"/>
            <a:ext cx="6685480" cy="17837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25983" y="4947650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29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35994" y="4952037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29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178333" y="4947650"/>
            <a:ext cx="671830" cy="1285875"/>
          </a:xfrm>
          <a:custGeom>
            <a:avLst/>
            <a:gdLst/>
            <a:ahLst/>
            <a:cxnLst/>
            <a:rect l="l" t="t" r="r" b="b"/>
            <a:pathLst>
              <a:path w="671829" h="1285875">
                <a:moveTo>
                  <a:pt x="0" y="0"/>
                </a:moveTo>
                <a:lnTo>
                  <a:pt x="671552" y="0"/>
                </a:lnTo>
                <a:lnTo>
                  <a:pt x="671552" y="1285874"/>
                </a:lnTo>
                <a:lnTo>
                  <a:pt x="0" y="1285874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8808"/>
            <a:ext cx="787908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22148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Build </a:t>
            </a:r>
            <a:r>
              <a:rPr dirty="0"/>
              <a:t>a </a:t>
            </a:r>
            <a:r>
              <a:rPr dirty="0" spc="-5"/>
              <a:t>GNN </a:t>
            </a:r>
            <a:r>
              <a:rPr dirty="0" spc="-10"/>
              <a:t>task</a:t>
            </a:r>
            <a:r>
              <a:rPr dirty="0" spc="-60"/>
              <a:t> </a:t>
            </a:r>
            <a:r>
              <a:rPr dirty="0" spc="-5"/>
              <a:t>space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2297452"/>
            <a:ext cx="4548002" cy="42862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10" y="5471667"/>
            <a:ext cx="184658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latin typeface="Arial"/>
                <a:cs typeface="Arial"/>
              </a:rPr>
              <a:t>Pairwise </a:t>
            </a:r>
            <a:r>
              <a:rPr dirty="0" sz="1600" spc="-5">
                <a:latin typeface="Arial"/>
                <a:cs typeface="Arial"/>
              </a:rPr>
              <a:t>similarities  </a:t>
            </a:r>
            <a:r>
              <a:rPr dirty="0" sz="1600" spc="5">
                <a:latin typeface="Arial"/>
                <a:cs typeface="Arial"/>
              </a:rPr>
              <a:t>between </a:t>
            </a:r>
            <a:r>
              <a:rPr dirty="0" sz="1600" spc="-20">
                <a:latin typeface="Arial"/>
                <a:cs typeface="Arial"/>
              </a:rPr>
              <a:t>GNN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0">
                <a:latin typeface="Arial"/>
                <a:cs typeface="Arial"/>
              </a:rPr>
              <a:t>tasks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99496" y="2229632"/>
          <a:ext cx="3782060" cy="1180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347"/>
                <a:gridCol w="406278"/>
                <a:gridCol w="406278"/>
                <a:gridCol w="406278"/>
                <a:gridCol w="406278"/>
                <a:gridCol w="406278"/>
                <a:gridCol w="967961"/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ts val="1245"/>
                        </a:lnSpc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Anchor</a:t>
                      </a:r>
                      <a:r>
                        <a:rPr dirty="0" sz="12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Model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 marL="635">
                        <a:lnSpc>
                          <a:spcPts val="1430"/>
                        </a:lnSpc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Performance</a:t>
                      </a:r>
                      <a:r>
                        <a:rPr dirty="0" sz="120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5">
                          <a:latin typeface="Arial"/>
                          <a:cs typeface="Arial"/>
                        </a:rPr>
                        <a:t>ranking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675" indent="2540">
                        <a:lnSpc>
                          <a:spcPts val="1255"/>
                        </a:lnSpc>
                      </a:pPr>
                      <a:r>
                        <a:rPr dirty="0" sz="1200" spc="-5">
                          <a:latin typeface="Arial"/>
                          <a:cs typeface="Arial"/>
                        </a:rPr>
                        <a:t>Similarity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93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1200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200" spc="-35"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200" spc="-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Cambria Math"/>
                          <a:cs typeface="Cambria Math"/>
                        </a:rPr>
                        <a:t>𝐴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r" marR="108585">
                        <a:lnSpc>
                          <a:spcPts val="1270"/>
                        </a:lnSpc>
                      </a:pPr>
                      <a:r>
                        <a:rPr dirty="0" sz="1200" spc="-3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200" spc="-9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𝐴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ts val="1370"/>
                        </a:lnSpc>
                      </a:pPr>
                      <a:r>
                        <a:rPr dirty="0" sz="1200" spc="-95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E88651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0200">
                        <a:lnSpc>
                          <a:spcPts val="1270"/>
                        </a:lnSpc>
                      </a:pPr>
                      <a:r>
                        <a:rPr dirty="0" sz="1200" spc="-5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200">
                          <a:solidFill>
                            <a:srgbClr val="E88651"/>
                          </a:solidFill>
                          <a:latin typeface="Arial"/>
                          <a:cs typeface="Arial"/>
                        </a:rPr>
                        <a:t>.0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marR="107950">
                        <a:lnSpc>
                          <a:spcPts val="1260"/>
                        </a:lnSpc>
                      </a:pPr>
                      <a:r>
                        <a:rPr dirty="0" sz="1200" spc="-3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200" spc="-9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𝐵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ts val="1260"/>
                        </a:lnSpc>
                      </a:pPr>
                      <a:r>
                        <a:rPr dirty="0" sz="1200" spc="-9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60"/>
                        </a:lnSpc>
                      </a:pPr>
                      <a:r>
                        <a:rPr dirty="0" sz="1200" spc="-7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60"/>
                        </a:lnSpc>
                      </a:pPr>
                      <a:r>
                        <a:rPr dirty="0" sz="1200" spc="-7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60"/>
                        </a:lnSpc>
                      </a:pPr>
                      <a:r>
                        <a:rPr dirty="0" sz="1200" spc="-7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60"/>
                        </a:lnSpc>
                      </a:pPr>
                      <a:r>
                        <a:rPr dirty="0" sz="1200" spc="-7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30200">
                        <a:lnSpc>
                          <a:spcPts val="1260"/>
                        </a:lnSpc>
                      </a:pPr>
                      <a:r>
                        <a:rPr dirty="0" sz="12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.8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r" marR="113664">
                        <a:lnSpc>
                          <a:spcPts val="1270"/>
                        </a:lnSpc>
                      </a:pPr>
                      <a:r>
                        <a:rPr dirty="0" sz="1200" spc="-3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200" spc="-9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𝐶</a:t>
                      </a:r>
                      <a:endParaRPr sz="12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%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ts val="1270"/>
                        </a:lnSpc>
                      </a:pPr>
                      <a:r>
                        <a:rPr dirty="0" sz="1200" spc="-95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$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ts val="1270"/>
                        </a:lnSpc>
                      </a:pPr>
                      <a:r>
                        <a:rPr dirty="0" sz="1200" spc="-7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𝑀</a:t>
                      </a:r>
                      <a:r>
                        <a:rPr dirty="0" baseline="-15432" sz="135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baseline="-15432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4800">
                        <a:lnSpc>
                          <a:spcPts val="1270"/>
                        </a:lnSpc>
                      </a:pPr>
                      <a:r>
                        <a:rPr dirty="0" sz="120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 spc="-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20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.4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384586" y="1777492"/>
            <a:ext cx="36525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Arial"/>
                <a:cs typeface="Arial"/>
              </a:rPr>
              <a:t>Recall how we </a:t>
            </a:r>
            <a:r>
              <a:rPr dirty="0" sz="1600" spc="-5" b="1">
                <a:latin typeface="Arial"/>
                <a:cs typeface="Arial"/>
              </a:rPr>
              <a:t>compute task</a:t>
            </a:r>
            <a:r>
              <a:rPr dirty="0" sz="1600" spc="5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similarity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40956" y="4043680"/>
            <a:ext cx="2087852" cy="24784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182708" y="4407916"/>
            <a:ext cx="1618615" cy="14763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2700" marR="150495">
              <a:lnSpc>
                <a:spcPts val="1900"/>
              </a:lnSpc>
              <a:spcBef>
                <a:spcPts val="180"/>
              </a:spcBef>
            </a:pP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Task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similarity  computation</a:t>
            </a:r>
            <a:r>
              <a:rPr dirty="0" sz="16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is  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cheap</a:t>
            </a:r>
            <a:r>
              <a:rPr dirty="0" sz="1600" spc="-5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algn="just" marL="12700">
              <a:lnSpc>
                <a:spcPts val="1825"/>
              </a:lnSpc>
            </a:pPr>
            <a:r>
              <a:rPr dirty="0" sz="1600" spc="-5">
                <a:latin typeface="Arial"/>
                <a:cs typeface="Arial"/>
              </a:rPr>
              <a:t>Using </a:t>
            </a:r>
            <a:r>
              <a:rPr dirty="0" sz="1600" spc="-5" b="1">
                <a:latin typeface="Arial"/>
                <a:cs typeface="Arial"/>
              </a:rPr>
              <a:t>12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spc="-5" b="1">
                <a:latin typeface="Arial"/>
                <a:cs typeface="Arial"/>
              </a:rPr>
              <a:t>anchor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1920"/>
              </a:lnSpc>
              <a:spcBef>
                <a:spcPts val="50"/>
              </a:spcBef>
            </a:pPr>
            <a:r>
              <a:rPr dirty="0" sz="1600" spc="-5" b="1">
                <a:latin typeface="Arial"/>
                <a:cs typeface="Arial"/>
              </a:rPr>
              <a:t>models </a:t>
            </a:r>
            <a:r>
              <a:rPr dirty="0" sz="1600" spc="-5">
                <a:latin typeface="Arial"/>
                <a:cs typeface="Arial"/>
              </a:rPr>
              <a:t>is </a:t>
            </a:r>
            <a:r>
              <a:rPr dirty="0" sz="1600">
                <a:latin typeface="Arial"/>
                <a:cs typeface="Arial"/>
              </a:rPr>
              <a:t>a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good  approximation!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8808"/>
            <a:ext cx="787908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694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Proposed </a:t>
            </a:r>
            <a:r>
              <a:rPr dirty="0" spc="-5"/>
              <a:t>GNN </a:t>
            </a:r>
            <a:r>
              <a:rPr dirty="0" spc="-10"/>
              <a:t>task </a:t>
            </a:r>
            <a:r>
              <a:rPr dirty="0" spc="-5"/>
              <a:t>space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5">
                <a:solidFill>
                  <a:srgbClr val="C00000"/>
                </a:solidFill>
              </a:rPr>
              <a:t>informative</a:t>
            </a:r>
          </a:p>
        </p:txBody>
      </p:sp>
      <p:sp>
        <p:nvSpPr>
          <p:cNvPr id="4" name="object 4"/>
          <p:cNvSpPr/>
          <p:nvPr/>
        </p:nvSpPr>
        <p:spPr>
          <a:xfrm>
            <a:off x="1091550" y="2297452"/>
            <a:ext cx="4548001" cy="42862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18319" y="2453613"/>
            <a:ext cx="766445" cy="719455"/>
          </a:xfrm>
          <a:custGeom>
            <a:avLst/>
            <a:gdLst/>
            <a:ahLst/>
            <a:cxnLst/>
            <a:rect l="l" t="t" r="r" b="b"/>
            <a:pathLst>
              <a:path w="766445" h="719455">
                <a:moveTo>
                  <a:pt x="0" y="0"/>
                </a:moveTo>
                <a:lnTo>
                  <a:pt x="766429" y="0"/>
                </a:lnTo>
                <a:lnTo>
                  <a:pt x="766429" y="718995"/>
                </a:lnTo>
                <a:lnTo>
                  <a:pt x="0" y="71899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4F81B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50555" y="2997020"/>
            <a:ext cx="2114550" cy="2065020"/>
          </a:xfrm>
          <a:custGeom>
            <a:avLst/>
            <a:gdLst/>
            <a:ahLst/>
            <a:cxnLst/>
            <a:rect l="l" t="t" r="r" b="b"/>
            <a:pathLst>
              <a:path w="2114550" h="2065020">
                <a:moveTo>
                  <a:pt x="0" y="0"/>
                </a:moveTo>
                <a:lnTo>
                  <a:pt x="2114541" y="0"/>
                </a:lnTo>
                <a:lnTo>
                  <a:pt x="2114541" y="2064898"/>
                </a:lnTo>
                <a:lnTo>
                  <a:pt x="0" y="206489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598345" y="4806188"/>
            <a:ext cx="3389629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Group</a:t>
            </a:r>
            <a:r>
              <a:rPr dirty="0" sz="1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2: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dirty="0" sz="1800" spc="-40">
                <a:solidFill>
                  <a:srgbClr val="C00000"/>
                </a:solidFill>
                <a:latin typeface="Calibri"/>
                <a:cs typeface="Calibri"/>
              </a:rPr>
              <a:t>Tasks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rely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on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18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9400"/>
              </a:lnSpc>
              <a:spcBef>
                <a:spcPts val="35"/>
              </a:spcBef>
            </a:pPr>
            <a:r>
              <a:rPr dirty="0" sz="1800">
                <a:latin typeface="Calibri"/>
                <a:cs typeface="Calibri"/>
              </a:rPr>
              <a:t>Nodes </a:t>
            </a:r>
            <a:r>
              <a:rPr dirty="0" sz="1800" spc="-15">
                <a:latin typeface="Calibri"/>
                <a:cs typeface="Calibri"/>
              </a:rPr>
              <a:t>have </a:t>
            </a:r>
            <a:r>
              <a:rPr dirty="0" sz="1800" spc="-20">
                <a:latin typeface="Calibri"/>
                <a:cs typeface="Calibri"/>
              </a:rPr>
              <a:t>few </a:t>
            </a:r>
            <a:r>
              <a:rPr dirty="0" sz="1800" spc="-15">
                <a:latin typeface="Calibri"/>
                <a:cs typeface="Calibri"/>
              </a:rPr>
              <a:t>features  </a:t>
            </a:r>
            <a:r>
              <a:rPr dirty="0" sz="1800" spc="-5">
                <a:latin typeface="Calibri"/>
                <a:cs typeface="Calibri"/>
              </a:rPr>
              <a:t>Predictions </a:t>
            </a:r>
            <a:r>
              <a:rPr dirty="0" sz="1800" spc="-15">
                <a:latin typeface="Calibri"/>
                <a:cs typeface="Calibri"/>
              </a:rPr>
              <a:t>are </a:t>
            </a:r>
            <a:r>
              <a:rPr dirty="0" sz="1800" spc="-5">
                <a:latin typeface="Calibri"/>
                <a:cs typeface="Calibri"/>
              </a:rPr>
              <a:t>highly </a:t>
            </a:r>
            <a:r>
              <a:rPr dirty="0" sz="1800" spc="-5">
                <a:solidFill>
                  <a:srgbClr val="C00000"/>
                </a:solidFill>
                <a:latin typeface="Calibri"/>
                <a:cs typeface="Calibri"/>
              </a:rPr>
              <a:t>dependent </a:t>
            </a:r>
            <a:r>
              <a:rPr dirty="0" sz="1800">
                <a:solidFill>
                  <a:srgbClr val="C00000"/>
                </a:solidFill>
                <a:latin typeface="Calibri"/>
                <a:cs typeface="Calibri"/>
              </a:rPr>
              <a:t>on 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graph</a:t>
            </a:r>
            <a:r>
              <a:rPr dirty="0" sz="1800" spc="-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structure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Calibri"/>
                <a:cs typeface="Calibri"/>
              </a:rPr>
              <a:t>Predicting </a:t>
            </a:r>
            <a:r>
              <a:rPr dirty="0" sz="1800" spc="-10">
                <a:latin typeface="Calibri"/>
                <a:cs typeface="Calibri"/>
              </a:rPr>
              <a:t>clustering coefficients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46258" y="4781958"/>
            <a:ext cx="195580" cy="374015"/>
          </a:xfrm>
          <a:custGeom>
            <a:avLst/>
            <a:gdLst/>
            <a:ahLst/>
            <a:cxnLst/>
            <a:rect l="l" t="t" r="r" b="b"/>
            <a:pathLst>
              <a:path w="195579" h="374014">
                <a:moveTo>
                  <a:pt x="152292" y="310093"/>
                </a:moveTo>
                <a:lnTo>
                  <a:pt x="126786" y="322977"/>
                </a:lnTo>
                <a:lnTo>
                  <a:pt x="195149" y="373815"/>
                </a:lnTo>
                <a:lnTo>
                  <a:pt x="194935" y="321429"/>
                </a:lnTo>
                <a:lnTo>
                  <a:pt x="158018" y="321429"/>
                </a:lnTo>
                <a:lnTo>
                  <a:pt x="152292" y="310093"/>
                </a:lnTo>
                <a:close/>
              </a:path>
              <a:path w="195579" h="374014">
                <a:moveTo>
                  <a:pt x="169295" y="301505"/>
                </a:moveTo>
                <a:lnTo>
                  <a:pt x="152292" y="310093"/>
                </a:lnTo>
                <a:lnTo>
                  <a:pt x="158018" y="321429"/>
                </a:lnTo>
                <a:lnTo>
                  <a:pt x="175021" y="312840"/>
                </a:lnTo>
                <a:lnTo>
                  <a:pt x="169295" y="301505"/>
                </a:lnTo>
                <a:close/>
              </a:path>
              <a:path w="195579" h="374014">
                <a:moveTo>
                  <a:pt x="194801" y="288621"/>
                </a:moveTo>
                <a:lnTo>
                  <a:pt x="169295" y="301505"/>
                </a:lnTo>
                <a:lnTo>
                  <a:pt x="175021" y="312840"/>
                </a:lnTo>
                <a:lnTo>
                  <a:pt x="158018" y="321429"/>
                </a:lnTo>
                <a:lnTo>
                  <a:pt x="194935" y="321429"/>
                </a:lnTo>
                <a:lnTo>
                  <a:pt x="194801" y="288621"/>
                </a:lnTo>
                <a:close/>
              </a:path>
              <a:path w="195579" h="374014">
                <a:moveTo>
                  <a:pt x="17002" y="0"/>
                </a:moveTo>
                <a:lnTo>
                  <a:pt x="0" y="8589"/>
                </a:lnTo>
                <a:lnTo>
                  <a:pt x="152292" y="310093"/>
                </a:lnTo>
                <a:lnTo>
                  <a:pt x="169295" y="301505"/>
                </a:lnTo>
                <a:lnTo>
                  <a:pt x="1700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76070" y="2038604"/>
            <a:ext cx="3117850" cy="193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0" b="1">
                <a:solidFill>
                  <a:srgbClr val="4F81BD"/>
                </a:solidFill>
                <a:latin typeface="Calibri"/>
                <a:cs typeface="Calibri"/>
              </a:rPr>
              <a:t>Group</a:t>
            </a:r>
            <a:r>
              <a:rPr dirty="0" sz="1800" spc="-85" b="1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F81BD"/>
                </a:solidFill>
                <a:latin typeface="Calibri"/>
                <a:cs typeface="Calibri"/>
              </a:rPr>
              <a:t>1: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dirty="0" sz="1800" spc="-40">
                <a:solidFill>
                  <a:srgbClr val="4F81BD"/>
                </a:solidFill>
                <a:latin typeface="Calibri"/>
                <a:cs typeface="Calibri"/>
              </a:rPr>
              <a:t>Tasks </a:t>
            </a:r>
            <a:r>
              <a:rPr dirty="0" sz="1800" spc="-10">
                <a:solidFill>
                  <a:srgbClr val="4F81BD"/>
                </a:solidFill>
                <a:latin typeface="Calibri"/>
                <a:cs typeface="Calibri"/>
              </a:rPr>
              <a:t>rely </a:t>
            </a:r>
            <a:r>
              <a:rPr dirty="0" sz="1800">
                <a:solidFill>
                  <a:srgbClr val="4F81BD"/>
                </a:solidFill>
                <a:latin typeface="Calibri"/>
                <a:cs typeface="Calibri"/>
              </a:rPr>
              <a:t>on </a:t>
            </a:r>
            <a:r>
              <a:rPr dirty="0" sz="1800" spc="-15" b="1">
                <a:solidFill>
                  <a:srgbClr val="4F81BD"/>
                </a:solidFill>
                <a:latin typeface="Calibri"/>
                <a:cs typeface="Calibri"/>
              </a:rPr>
              <a:t>feature</a:t>
            </a:r>
            <a:r>
              <a:rPr dirty="0" sz="1800" spc="10" b="1">
                <a:solidFill>
                  <a:srgbClr val="4F81B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F81BD"/>
                </a:solidFill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2700" marR="168275">
              <a:lnSpc>
                <a:spcPct val="994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Node/graph </a:t>
            </a:r>
            <a:r>
              <a:rPr dirty="0" sz="1800" spc="-5">
                <a:latin typeface="Calibri"/>
                <a:cs typeface="Calibri"/>
              </a:rPr>
              <a:t>classification </a:t>
            </a:r>
            <a:r>
              <a:rPr dirty="0" sz="1800" spc="-10">
                <a:latin typeface="Calibri"/>
                <a:cs typeface="Calibri"/>
              </a:rPr>
              <a:t>tasks,  where </a:t>
            </a:r>
            <a:r>
              <a:rPr dirty="0" sz="1800" spc="-5">
                <a:solidFill>
                  <a:srgbClr val="0070C0"/>
                </a:solidFill>
                <a:latin typeface="Calibri"/>
                <a:cs typeface="Calibri"/>
              </a:rPr>
              <a:t>input </a:t>
            </a:r>
            <a:r>
              <a:rPr dirty="0" sz="1800" spc="-10">
                <a:solidFill>
                  <a:srgbClr val="0070C0"/>
                </a:solidFill>
                <a:latin typeface="Calibri"/>
                <a:cs typeface="Calibri"/>
              </a:rPr>
              <a:t>graphs </a:t>
            </a:r>
            <a:r>
              <a:rPr dirty="0" sz="1800" spc="-15">
                <a:solidFill>
                  <a:srgbClr val="0070C0"/>
                </a:solidFill>
                <a:latin typeface="Calibri"/>
                <a:cs typeface="Calibri"/>
              </a:rPr>
              <a:t>have </a:t>
            </a:r>
            <a:r>
              <a:rPr dirty="0" sz="1800" spc="-5">
                <a:solidFill>
                  <a:srgbClr val="0070C0"/>
                </a:solidFill>
                <a:latin typeface="Calibri"/>
                <a:cs typeface="Calibri"/>
              </a:rPr>
              <a:t>high-  dimensional</a:t>
            </a:r>
            <a:r>
              <a:rPr dirty="0" sz="1800" spc="-5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0070C0"/>
                </a:solidFill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298450" marR="389255" indent="-285750">
              <a:lnSpc>
                <a:spcPts val="2090"/>
              </a:lnSpc>
              <a:spcBef>
                <a:spcPts val="17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Cora graph </a:t>
            </a:r>
            <a:r>
              <a:rPr dirty="0" sz="1800" spc="-5">
                <a:latin typeface="Calibri"/>
                <a:cs typeface="Calibri"/>
              </a:rPr>
              <a:t>has 1000+ dim  </a:t>
            </a:r>
            <a:r>
              <a:rPr dirty="0" sz="1800">
                <a:latin typeface="Calibri"/>
                <a:cs typeface="Calibri"/>
              </a:rPr>
              <a:t>node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feature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83829" y="2565182"/>
            <a:ext cx="1960245" cy="230504"/>
          </a:xfrm>
          <a:custGeom>
            <a:avLst/>
            <a:gdLst/>
            <a:ahLst/>
            <a:cxnLst/>
            <a:rect l="l" t="t" r="r" b="b"/>
            <a:pathLst>
              <a:path w="1960245" h="230505">
                <a:moveTo>
                  <a:pt x="1883162" y="28441"/>
                </a:moveTo>
                <a:lnTo>
                  <a:pt x="0" y="211340"/>
                </a:lnTo>
                <a:lnTo>
                  <a:pt x="1841" y="230301"/>
                </a:lnTo>
                <a:lnTo>
                  <a:pt x="1885003" y="47401"/>
                </a:lnTo>
                <a:lnTo>
                  <a:pt x="1883162" y="28441"/>
                </a:lnTo>
                <a:close/>
              </a:path>
              <a:path w="1960245" h="230505">
                <a:moveTo>
                  <a:pt x="1951229" y="27213"/>
                </a:moveTo>
                <a:lnTo>
                  <a:pt x="1895803" y="27213"/>
                </a:lnTo>
                <a:lnTo>
                  <a:pt x="1897645" y="46173"/>
                </a:lnTo>
                <a:lnTo>
                  <a:pt x="1885003" y="47401"/>
                </a:lnTo>
                <a:lnTo>
                  <a:pt x="1887766" y="75843"/>
                </a:lnTo>
                <a:lnTo>
                  <a:pt x="1959926" y="30554"/>
                </a:lnTo>
                <a:lnTo>
                  <a:pt x="1951229" y="27213"/>
                </a:lnTo>
                <a:close/>
              </a:path>
              <a:path w="1960245" h="230505">
                <a:moveTo>
                  <a:pt x="1895803" y="27213"/>
                </a:moveTo>
                <a:lnTo>
                  <a:pt x="1883162" y="28441"/>
                </a:lnTo>
                <a:lnTo>
                  <a:pt x="1885003" y="47401"/>
                </a:lnTo>
                <a:lnTo>
                  <a:pt x="1897645" y="46173"/>
                </a:lnTo>
                <a:lnTo>
                  <a:pt x="1895803" y="27213"/>
                </a:lnTo>
                <a:close/>
              </a:path>
              <a:path w="1960245" h="230505">
                <a:moveTo>
                  <a:pt x="1880400" y="0"/>
                </a:moveTo>
                <a:lnTo>
                  <a:pt x="1883162" y="28441"/>
                </a:lnTo>
                <a:lnTo>
                  <a:pt x="1895803" y="27213"/>
                </a:lnTo>
                <a:lnTo>
                  <a:pt x="1951229" y="27213"/>
                </a:lnTo>
                <a:lnTo>
                  <a:pt x="1880400" y="0"/>
                </a:lnTo>
                <a:close/>
              </a:path>
            </a:pathLst>
          </a:custGeom>
          <a:solidFill>
            <a:srgbClr val="4F81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2841" y="5462523"/>
            <a:ext cx="184658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latin typeface="Arial"/>
                <a:cs typeface="Arial"/>
              </a:rPr>
              <a:t>Pairwise </a:t>
            </a:r>
            <a:r>
              <a:rPr dirty="0" sz="1600" spc="-5">
                <a:latin typeface="Arial"/>
                <a:cs typeface="Arial"/>
              </a:rPr>
              <a:t>similarities  </a:t>
            </a:r>
            <a:r>
              <a:rPr dirty="0" sz="1600" spc="5">
                <a:latin typeface="Arial"/>
                <a:cs typeface="Arial"/>
              </a:rPr>
              <a:t>between </a:t>
            </a:r>
            <a:r>
              <a:rPr dirty="0" sz="1600" spc="-20">
                <a:latin typeface="Arial"/>
                <a:cs typeface="Arial"/>
              </a:rPr>
              <a:t>GNN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 spc="0">
                <a:latin typeface="Arial"/>
                <a:cs typeface="Arial"/>
              </a:rPr>
              <a:t>tasks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2533068" y="2009139"/>
            <a:ext cx="794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4F81BD"/>
                </a:solidFill>
                <a:latin typeface="Arial"/>
                <a:cs typeface="Arial"/>
              </a:rPr>
              <a:t>Group</a:t>
            </a:r>
            <a:r>
              <a:rPr dirty="0" sz="1600" spc="-95" b="1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4F81BD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95723" y="2685795"/>
            <a:ext cx="7943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C0504D"/>
                </a:solidFill>
                <a:latin typeface="Arial"/>
                <a:cs typeface="Arial"/>
              </a:rPr>
              <a:t>Group</a:t>
            </a:r>
            <a:r>
              <a:rPr dirty="0" sz="1600" spc="-95" b="1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C0504D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8808"/>
            <a:ext cx="7879080" cy="49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694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/>
              <a:t>Proposed </a:t>
            </a:r>
            <a:r>
              <a:rPr dirty="0" spc="-5"/>
              <a:t>GNN </a:t>
            </a:r>
            <a:r>
              <a:rPr dirty="0" spc="-10"/>
              <a:t>task </a:t>
            </a:r>
            <a:r>
              <a:rPr dirty="0" spc="-5"/>
              <a:t>space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 spc="-15">
                <a:solidFill>
                  <a:srgbClr val="C00000"/>
                </a:solidFill>
              </a:rPr>
              <a:t>informative</a:t>
            </a:r>
          </a:p>
        </p:txBody>
      </p:sp>
      <p:sp>
        <p:nvSpPr>
          <p:cNvPr id="4" name="object 4"/>
          <p:cNvSpPr/>
          <p:nvPr/>
        </p:nvSpPr>
        <p:spPr>
          <a:xfrm>
            <a:off x="3170044" y="2053435"/>
            <a:ext cx="4571999" cy="31203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90185" y="3776093"/>
            <a:ext cx="215900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350" spc="825">
                <a:solidFill>
                  <a:srgbClr val="C55A11"/>
                </a:solidFill>
                <a:latin typeface="Cambria Math"/>
                <a:cs typeface="Cambria Math"/>
              </a:rPr>
              <a:t>!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54699" y="4009699"/>
            <a:ext cx="222885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350" spc="625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5285" y="4059757"/>
            <a:ext cx="205104" cy="3860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350" spc="-45">
                <a:solidFill>
                  <a:srgbClr val="4472C4"/>
                </a:solidFill>
                <a:latin typeface="Cambria Math"/>
                <a:cs typeface="Cambria Math"/>
              </a:rPr>
              <a:t>#</a:t>
            </a:r>
            <a:endParaRPr sz="23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94618" y="3993601"/>
            <a:ext cx="680720" cy="76200"/>
          </a:xfrm>
          <a:custGeom>
            <a:avLst/>
            <a:gdLst/>
            <a:ahLst/>
            <a:cxnLst/>
            <a:rect l="l" t="t" r="r" b="b"/>
            <a:pathLst>
              <a:path w="680719" h="76200">
                <a:moveTo>
                  <a:pt x="604130" y="0"/>
                </a:moveTo>
                <a:lnTo>
                  <a:pt x="604130" y="76200"/>
                </a:lnTo>
                <a:lnTo>
                  <a:pt x="661280" y="47625"/>
                </a:lnTo>
                <a:lnTo>
                  <a:pt x="616830" y="47625"/>
                </a:lnTo>
                <a:lnTo>
                  <a:pt x="616830" y="28575"/>
                </a:lnTo>
                <a:lnTo>
                  <a:pt x="661280" y="28575"/>
                </a:lnTo>
                <a:lnTo>
                  <a:pt x="604130" y="0"/>
                </a:lnTo>
                <a:close/>
              </a:path>
              <a:path w="680719" h="76200">
                <a:moveTo>
                  <a:pt x="60413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04130" y="47625"/>
                </a:lnTo>
                <a:lnTo>
                  <a:pt x="604130" y="28575"/>
                </a:lnTo>
                <a:close/>
              </a:path>
              <a:path w="680719" h="76200">
                <a:moveTo>
                  <a:pt x="661280" y="28575"/>
                </a:moveTo>
                <a:lnTo>
                  <a:pt x="616830" y="28575"/>
                </a:lnTo>
                <a:lnTo>
                  <a:pt x="616830" y="47625"/>
                </a:lnTo>
                <a:lnTo>
                  <a:pt x="661280" y="47625"/>
                </a:lnTo>
                <a:lnTo>
                  <a:pt x="680330" y="38100"/>
                </a:lnTo>
                <a:lnTo>
                  <a:pt x="66128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73358" y="3666235"/>
            <a:ext cx="5041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" b="1">
                <a:latin typeface="Arial"/>
                <a:cs typeface="Arial"/>
              </a:rPr>
              <a:t>P</a:t>
            </a:r>
            <a:r>
              <a:rPr dirty="0" sz="1800" spc="10" b="1">
                <a:latin typeface="Arial"/>
                <a:cs typeface="Arial"/>
              </a:rPr>
              <a:t>C</a:t>
            </a:r>
            <a:r>
              <a:rPr dirty="0" sz="1800" spc="-70" b="1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542" y="4634484"/>
            <a:ext cx="28867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Similar </a:t>
            </a:r>
            <a:r>
              <a:rPr dirty="0" sz="2000" spc="5">
                <a:solidFill>
                  <a:srgbClr val="C00000"/>
                </a:solidFill>
                <a:latin typeface="Arial"/>
                <a:cs typeface="Arial"/>
              </a:rPr>
              <a:t>tasks 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have </a:t>
            </a:r>
            <a:r>
              <a:rPr dirty="0" sz="2000" spc="-5">
                <a:solidFill>
                  <a:srgbClr val="C00000"/>
                </a:solidFill>
                <a:latin typeface="Arial"/>
                <a:cs typeface="Arial"/>
              </a:rPr>
              <a:t>similar  </a:t>
            </a:r>
            <a:r>
              <a:rPr dirty="0" sz="2000" spc="25">
                <a:solidFill>
                  <a:srgbClr val="C00000"/>
                </a:solidFill>
                <a:latin typeface="Arial"/>
                <a:cs typeface="Arial"/>
              </a:rPr>
              <a:t>best</a:t>
            </a:r>
            <a:r>
              <a:rPr dirty="0" sz="2000" spc="-7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0">
                <a:solidFill>
                  <a:srgbClr val="C00000"/>
                </a:solidFill>
                <a:latin typeface="Arial"/>
                <a:cs typeface="Arial"/>
              </a:rPr>
              <a:t>architectures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536912" y="5472060"/>
          <a:ext cx="527177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201"/>
                <a:gridCol w="657647"/>
                <a:gridCol w="920705"/>
                <a:gridCol w="895539"/>
                <a:gridCol w="986471"/>
                <a:gridCol w="1052235"/>
                <a:gridCol w="657647"/>
              </a:tblGrid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6">
                  <a:txBody>
                    <a:bodyPr/>
                    <a:lstStyle/>
                    <a:p>
                      <a:pPr marL="736600">
                        <a:lnSpc>
                          <a:spcPts val="1445"/>
                        </a:lnSpc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Best GNN Designs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Found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in Different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 b="1">
                          <a:latin typeface="Arial"/>
                          <a:cs typeface="Arial"/>
                        </a:rPr>
                        <a:t>Tasks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Pre</a:t>
                      </a:r>
                      <a:r>
                        <a:rPr dirty="0" sz="140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layers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MP</a:t>
                      </a:r>
                      <a:r>
                        <a:rPr dirty="0" sz="140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layers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Post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layers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9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Connectivity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395"/>
                        </a:lnSpc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AGG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ts val="1650"/>
                        </a:lnSpc>
                      </a:pPr>
                      <a:r>
                        <a:rPr dirty="0" sz="1400" spc="-4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3792AA"/>
                          </a:solidFill>
                          <a:latin typeface="Cambria Math"/>
                          <a:cs typeface="Cambria Math"/>
                        </a:rPr>
                        <a:t>𝐴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4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4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4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dirty="0" sz="14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skip-sum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650"/>
                        </a:lnSpc>
                      </a:pPr>
                      <a:r>
                        <a:rPr dirty="0" sz="14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C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8895">
                        <a:lnSpc>
                          <a:spcPts val="1485"/>
                        </a:lnSpc>
                      </a:pPr>
                      <a:r>
                        <a:rPr dirty="0" sz="1400" spc="-4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𝐵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dirty="0" sz="1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dirty="0" sz="1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dirty="0" sz="14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85"/>
                        </a:lnSpc>
                      </a:pPr>
                      <a:r>
                        <a:rPr dirty="0" sz="14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skip-sum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485"/>
                        </a:lnSpc>
                      </a:pPr>
                      <a:r>
                        <a:rPr dirty="0" sz="14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C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ts val="1570"/>
                        </a:lnSpc>
                      </a:pPr>
                      <a:r>
                        <a:rPr dirty="0" sz="1400" spc="-45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1400" spc="-95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F0AD00"/>
                          </a:solidFill>
                          <a:latin typeface="Cambria Math"/>
                          <a:cs typeface="Cambria Math"/>
                        </a:rPr>
                        <a:t>𝐶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5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skip-cat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70"/>
                        </a:lnSpc>
                      </a:pPr>
                      <a:r>
                        <a:rPr dirty="0" sz="1400" spc="-5">
                          <a:solidFill>
                            <a:srgbClr val="F0AD00"/>
                          </a:solidFill>
                          <a:latin typeface="Arial"/>
                          <a:cs typeface="Arial"/>
                        </a:rPr>
                        <a:t>mean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C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047518" y="4376174"/>
            <a:ext cx="367665" cy="295910"/>
          </a:xfrm>
          <a:custGeom>
            <a:avLst/>
            <a:gdLst/>
            <a:ahLst/>
            <a:cxnLst/>
            <a:rect l="l" t="t" r="r" b="b"/>
            <a:pathLst>
              <a:path w="367664" h="295910">
                <a:moveTo>
                  <a:pt x="35833" y="218354"/>
                </a:moveTo>
                <a:lnTo>
                  <a:pt x="0" y="295647"/>
                </a:lnTo>
                <a:lnTo>
                  <a:pt x="83333" y="277938"/>
                </a:lnTo>
                <a:lnTo>
                  <a:pt x="71832" y="263511"/>
                </a:lnTo>
                <a:lnTo>
                  <a:pt x="55590" y="263511"/>
                </a:lnTo>
                <a:lnTo>
                  <a:pt x="43714" y="248615"/>
                </a:lnTo>
                <a:lnTo>
                  <a:pt x="53645" y="240698"/>
                </a:lnTo>
                <a:lnTo>
                  <a:pt x="35833" y="218354"/>
                </a:lnTo>
                <a:close/>
              </a:path>
              <a:path w="367664" h="295910">
                <a:moveTo>
                  <a:pt x="53645" y="240698"/>
                </a:moveTo>
                <a:lnTo>
                  <a:pt x="43714" y="248615"/>
                </a:lnTo>
                <a:lnTo>
                  <a:pt x="55590" y="263511"/>
                </a:lnTo>
                <a:lnTo>
                  <a:pt x="65520" y="255594"/>
                </a:lnTo>
                <a:lnTo>
                  <a:pt x="53645" y="240698"/>
                </a:lnTo>
                <a:close/>
              </a:path>
              <a:path w="367664" h="295910">
                <a:moveTo>
                  <a:pt x="65520" y="255594"/>
                </a:moveTo>
                <a:lnTo>
                  <a:pt x="55590" y="263511"/>
                </a:lnTo>
                <a:lnTo>
                  <a:pt x="71832" y="263511"/>
                </a:lnTo>
                <a:lnTo>
                  <a:pt x="65520" y="255594"/>
                </a:lnTo>
                <a:close/>
              </a:path>
              <a:path w="367664" h="295910">
                <a:moveTo>
                  <a:pt x="355568" y="0"/>
                </a:moveTo>
                <a:lnTo>
                  <a:pt x="53645" y="240698"/>
                </a:lnTo>
                <a:lnTo>
                  <a:pt x="65520" y="255594"/>
                </a:lnTo>
                <a:lnTo>
                  <a:pt x="367444" y="14895"/>
                </a:lnTo>
                <a:lnTo>
                  <a:pt x="35556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20931" y="5478410"/>
            <a:ext cx="238125" cy="688340"/>
          </a:xfrm>
          <a:custGeom>
            <a:avLst/>
            <a:gdLst/>
            <a:ahLst/>
            <a:cxnLst/>
            <a:rect l="l" t="t" r="r" b="b"/>
            <a:pathLst>
              <a:path w="238125" h="688339">
                <a:moveTo>
                  <a:pt x="45438" y="69849"/>
                </a:moveTo>
                <a:lnTo>
                  <a:pt x="27263" y="75555"/>
                </a:lnTo>
                <a:lnTo>
                  <a:pt x="219593" y="688231"/>
                </a:lnTo>
                <a:lnTo>
                  <a:pt x="237768" y="682525"/>
                </a:lnTo>
                <a:lnTo>
                  <a:pt x="45438" y="69849"/>
                </a:lnTo>
                <a:close/>
              </a:path>
              <a:path w="238125" h="688339">
                <a:moveTo>
                  <a:pt x="13528" y="0"/>
                </a:moveTo>
                <a:lnTo>
                  <a:pt x="0" y="84113"/>
                </a:lnTo>
                <a:lnTo>
                  <a:pt x="27263" y="75555"/>
                </a:lnTo>
                <a:lnTo>
                  <a:pt x="23459" y="63437"/>
                </a:lnTo>
                <a:lnTo>
                  <a:pt x="41634" y="57732"/>
                </a:lnTo>
                <a:lnTo>
                  <a:pt x="69266" y="57732"/>
                </a:lnTo>
                <a:lnTo>
                  <a:pt x="13528" y="0"/>
                </a:lnTo>
                <a:close/>
              </a:path>
              <a:path w="238125" h="688339">
                <a:moveTo>
                  <a:pt x="41634" y="57732"/>
                </a:moveTo>
                <a:lnTo>
                  <a:pt x="23459" y="63437"/>
                </a:lnTo>
                <a:lnTo>
                  <a:pt x="27263" y="75555"/>
                </a:lnTo>
                <a:lnTo>
                  <a:pt x="45438" y="69849"/>
                </a:lnTo>
                <a:lnTo>
                  <a:pt x="41634" y="57732"/>
                </a:lnTo>
                <a:close/>
              </a:path>
              <a:path w="238125" h="688339">
                <a:moveTo>
                  <a:pt x="69266" y="57732"/>
                </a:moveTo>
                <a:lnTo>
                  <a:pt x="41634" y="57732"/>
                </a:lnTo>
                <a:lnTo>
                  <a:pt x="45438" y="69849"/>
                </a:lnTo>
                <a:lnTo>
                  <a:pt x="72702" y="61291"/>
                </a:lnTo>
                <a:lnTo>
                  <a:pt x="69266" y="57732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92290" y="1996948"/>
            <a:ext cx="23945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dirty="0" sz="1600" spc="-20" b="1">
                <a:solidFill>
                  <a:srgbClr val="C0504D"/>
                </a:solidFill>
                <a:latin typeface="Arial"/>
                <a:cs typeface="Arial"/>
              </a:rPr>
              <a:t>Group</a:t>
            </a:r>
            <a:r>
              <a:rPr dirty="0" sz="1600" b="1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C0504D"/>
                </a:solidFill>
                <a:latin typeface="Arial"/>
                <a:cs typeface="Arial"/>
              </a:rPr>
              <a:t>2	</a:t>
            </a:r>
            <a:r>
              <a:rPr dirty="0" sz="1600" spc="-20" b="1">
                <a:solidFill>
                  <a:srgbClr val="4F81BD"/>
                </a:solidFill>
                <a:latin typeface="Arial"/>
                <a:cs typeface="Arial"/>
              </a:rPr>
              <a:t>Group</a:t>
            </a:r>
            <a:r>
              <a:rPr dirty="0" sz="1600" spc="-95" b="1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1600" spc="-5" b="1">
                <a:solidFill>
                  <a:srgbClr val="4F81BD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0520"/>
            <a:ext cx="7711440" cy="518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7717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Case </a:t>
            </a:r>
            <a:r>
              <a:rPr dirty="0" spc="-10"/>
              <a:t>study</a:t>
            </a:r>
            <a:r>
              <a:rPr dirty="0" spc="-10" b="0">
                <a:latin typeface="Calibri"/>
                <a:cs typeface="Calibri"/>
              </a:rPr>
              <a:t>: </a:t>
            </a:r>
            <a:r>
              <a:rPr dirty="0" spc="-20" b="0">
                <a:latin typeface="Calibri"/>
                <a:cs typeface="Calibri"/>
              </a:rPr>
              <a:t>generalize </a:t>
            </a:r>
            <a:r>
              <a:rPr dirty="0" spc="-15" b="0">
                <a:latin typeface="Calibri"/>
                <a:cs typeface="Calibri"/>
              </a:rPr>
              <a:t>best </a:t>
            </a:r>
            <a:r>
              <a:rPr dirty="0" spc="-5" b="0">
                <a:latin typeface="Calibri"/>
                <a:cs typeface="Calibri"/>
              </a:rPr>
              <a:t>models </a:t>
            </a:r>
            <a:r>
              <a:rPr dirty="0" spc="-15" b="0">
                <a:latin typeface="Calibri"/>
                <a:cs typeface="Calibri"/>
              </a:rPr>
              <a:t>to</a:t>
            </a:r>
            <a:r>
              <a:rPr dirty="0" spc="50" b="0">
                <a:latin typeface="Calibri"/>
                <a:cs typeface="Calibri"/>
              </a:rPr>
              <a:t> </a:t>
            </a:r>
            <a:r>
              <a:rPr dirty="0" spc="-5">
                <a:solidFill>
                  <a:srgbClr val="C00000"/>
                </a:solidFill>
              </a:rPr>
              <a:t>unseen</a:t>
            </a:r>
          </a:p>
          <a:p>
            <a:pPr marL="332740">
              <a:lnSpc>
                <a:spcPts val="3815"/>
              </a:lnSpc>
            </a:pPr>
            <a:r>
              <a:rPr dirty="0" b="0">
                <a:latin typeface="Calibri"/>
                <a:cs typeface="Calibri"/>
              </a:rPr>
              <a:t>OGB </a:t>
            </a:r>
            <a:r>
              <a:rPr dirty="0" spc="-5" b="0">
                <a:latin typeface="Calibri"/>
                <a:cs typeface="Calibri"/>
              </a:rPr>
              <a:t>ogbg-molhiv</a:t>
            </a:r>
            <a:r>
              <a:rPr dirty="0" spc="-15" b="0">
                <a:latin typeface="Calibri"/>
                <a:cs typeface="Calibri"/>
              </a:rPr>
              <a:t> task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5704" y="2414523"/>
            <a:ext cx="7873365" cy="36601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107440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Arial"/>
              <a:buChar char="▪"/>
              <a:tabLst>
                <a:tab pos="1108075" algn="l"/>
              </a:tabLst>
            </a:pPr>
            <a:r>
              <a:rPr dirty="0" sz="2800" spc="-5" b="1">
                <a:latin typeface="Calibri"/>
                <a:cs typeface="Calibri"/>
              </a:rPr>
              <a:t>ogbg-molhiv is unique </a:t>
            </a:r>
            <a:r>
              <a:rPr dirty="0" sz="2800" spc="-15" b="1">
                <a:latin typeface="Calibri"/>
                <a:cs typeface="Calibri"/>
              </a:rPr>
              <a:t>from </a:t>
            </a:r>
            <a:r>
              <a:rPr dirty="0" sz="2800" spc="-5" b="1">
                <a:latin typeface="Calibri"/>
                <a:cs typeface="Calibri"/>
              </a:rPr>
              <a:t>other </a:t>
            </a:r>
            <a:r>
              <a:rPr dirty="0" sz="2800" spc="-10" b="1">
                <a:latin typeface="Calibri"/>
                <a:cs typeface="Calibri"/>
              </a:rPr>
              <a:t>tasks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>
                <a:latin typeface="Calibri"/>
                <a:cs typeface="Calibri"/>
              </a:rPr>
              <a:t>20x  </a:t>
            </a:r>
            <a:r>
              <a:rPr dirty="0" sz="2800" spc="-50">
                <a:latin typeface="Calibri"/>
                <a:cs typeface="Calibri"/>
              </a:rPr>
              <a:t>larger, </a:t>
            </a:r>
            <a:r>
              <a:rPr dirty="0" sz="2800" spc="-5">
                <a:latin typeface="Calibri"/>
                <a:cs typeface="Calibri"/>
              </a:rPr>
              <a:t>imbalanced </a:t>
            </a:r>
            <a:r>
              <a:rPr dirty="0" sz="2800">
                <a:latin typeface="Calibri"/>
                <a:cs typeface="Calibri"/>
              </a:rPr>
              <a:t>(1.4% </a:t>
            </a:r>
            <a:r>
              <a:rPr dirty="0" sz="2800" spc="-10">
                <a:latin typeface="Calibri"/>
                <a:cs typeface="Calibri"/>
              </a:rPr>
              <a:t>positive)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requires  out-of-distribution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generalization</a:t>
            </a:r>
            <a:endParaRPr sz="2800">
              <a:latin typeface="Calibri"/>
              <a:cs typeface="Calibri"/>
            </a:endParaRPr>
          </a:p>
          <a:p>
            <a:pPr marL="332740" marR="735330" indent="-320040">
              <a:lnSpc>
                <a:spcPct val="100000"/>
              </a:lnSpc>
              <a:spcBef>
                <a:spcPts val="54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15" b="1">
                <a:latin typeface="Calibri"/>
                <a:cs typeface="Calibri"/>
              </a:rPr>
              <a:t>Concrete </a:t>
            </a:r>
            <a:r>
              <a:rPr dirty="0" sz="3000" spc="-20" b="1">
                <a:latin typeface="Calibri"/>
                <a:cs typeface="Calibri"/>
              </a:rPr>
              <a:t>steps for </a:t>
            </a:r>
            <a:r>
              <a:rPr dirty="0" sz="3000" spc="-5" b="1">
                <a:latin typeface="Calibri"/>
                <a:cs typeface="Calibri"/>
              </a:rPr>
              <a:t>applying </a:t>
            </a:r>
            <a:r>
              <a:rPr dirty="0" sz="3000" spc="-20" b="1">
                <a:latin typeface="Calibri"/>
                <a:cs typeface="Calibri"/>
              </a:rPr>
              <a:t>to </a:t>
            </a:r>
            <a:r>
              <a:rPr dirty="0" sz="3000" b="1">
                <a:latin typeface="Calibri"/>
                <a:cs typeface="Calibri"/>
              </a:rPr>
              <a:t>a </a:t>
            </a:r>
            <a:r>
              <a:rPr dirty="0" sz="3000" spc="-10" b="1">
                <a:latin typeface="Calibri"/>
                <a:cs typeface="Calibri"/>
              </a:rPr>
              <a:t>novel</a:t>
            </a:r>
            <a:r>
              <a:rPr dirty="0" sz="3000" spc="5" b="1">
                <a:latin typeface="Calibri"/>
                <a:cs typeface="Calibri"/>
              </a:rPr>
              <a:t> </a:t>
            </a:r>
            <a:r>
              <a:rPr dirty="0" sz="3000" spc="-10" b="1">
                <a:latin typeface="Calibri"/>
                <a:cs typeface="Calibri"/>
              </a:rPr>
              <a:t>task:</a:t>
            </a:r>
            <a:endParaRPr sz="30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latin typeface="Calibri"/>
                <a:cs typeface="Calibri"/>
              </a:rPr>
              <a:t>Step </a:t>
            </a:r>
            <a:r>
              <a:rPr dirty="0" sz="2600" spc="-5" b="1">
                <a:latin typeface="Calibri"/>
                <a:cs typeface="Calibri"/>
              </a:rPr>
              <a:t>1: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Run 12 anchor models </a:t>
            </a:r>
            <a:r>
              <a:rPr dirty="0" sz="2600">
                <a:latin typeface="Calibri"/>
                <a:cs typeface="Calibri"/>
              </a:rPr>
              <a:t>on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new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task</a:t>
            </a:r>
            <a:endParaRPr sz="2600">
              <a:latin typeface="Calibri"/>
              <a:cs typeface="Calibri"/>
            </a:endParaRPr>
          </a:p>
          <a:p>
            <a:pPr lvl="1" marL="625475" marR="1263015" indent="-274320">
              <a:lnSpc>
                <a:spcPts val="3100"/>
              </a:lnSpc>
              <a:spcBef>
                <a:spcPts val="6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latin typeface="Calibri"/>
                <a:cs typeface="Calibri"/>
              </a:rPr>
              <a:t>Step </a:t>
            </a:r>
            <a:r>
              <a:rPr dirty="0" sz="2600" spc="-5" b="1">
                <a:latin typeface="Calibri"/>
                <a:cs typeface="Calibri"/>
              </a:rPr>
              <a:t>2: </a:t>
            </a:r>
            <a:r>
              <a:rPr dirty="0" sz="2600" spc="-10">
                <a:latin typeface="Calibri"/>
                <a:cs typeface="Calibri"/>
              </a:rPr>
              <a:t>Compute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similarity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between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600" spc="-195">
                <a:solidFill>
                  <a:srgbClr val="C00000"/>
                </a:solidFill>
                <a:latin typeface="Calibri"/>
                <a:cs typeface="Calibri"/>
              </a:rPr>
              <a:t>new  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task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and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existing</a:t>
            </a:r>
            <a:r>
              <a:rPr dirty="0" sz="2600" spc="-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tasks</a:t>
            </a:r>
            <a:endParaRPr sz="26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10" b="1">
                <a:latin typeface="Calibri"/>
                <a:cs typeface="Calibri"/>
              </a:rPr>
              <a:t>Step </a:t>
            </a:r>
            <a:r>
              <a:rPr dirty="0" sz="2600" spc="-5" b="1">
                <a:latin typeface="Calibri"/>
                <a:cs typeface="Calibri"/>
              </a:rPr>
              <a:t>3: </a:t>
            </a:r>
            <a:r>
              <a:rPr dirty="0" sz="2600" spc="-15">
                <a:latin typeface="Calibri"/>
                <a:cs typeface="Calibri"/>
              </a:rPr>
              <a:t>Recommend </a:t>
            </a: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best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designs</a:t>
            </a:r>
            <a:r>
              <a:rPr dirty="0" sz="2600" spc="-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from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8479" y="6045708"/>
            <a:ext cx="442023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5">
                <a:solidFill>
                  <a:srgbClr val="C00000"/>
                </a:solidFill>
                <a:latin typeface="Calibri"/>
                <a:cs typeface="Calibri"/>
              </a:rPr>
              <a:t>existing tasks </a:t>
            </a:r>
            <a:r>
              <a:rPr dirty="0" sz="2600">
                <a:solidFill>
                  <a:srgbClr val="C00000"/>
                </a:solidFill>
                <a:latin typeface="Calibri"/>
                <a:cs typeface="Calibri"/>
              </a:rPr>
              <a:t>with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260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600" spc="-5">
                <a:solidFill>
                  <a:srgbClr val="C00000"/>
                </a:solidFill>
                <a:latin typeface="Calibri"/>
                <a:cs typeface="Calibri"/>
              </a:rPr>
              <a:t>similarity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83008" y="4161803"/>
            <a:ext cx="1958788" cy="24742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44264" y="6090708"/>
            <a:ext cx="508634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" b="1">
                <a:solidFill>
                  <a:srgbClr val="4472C4"/>
                </a:solidFill>
                <a:latin typeface="Calibri"/>
                <a:cs typeface="Calibri"/>
              </a:rPr>
              <a:t>Task</a:t>
            </a:r>
            <a:r>
              <a:rPr dirty="0" sz="1350" spc="-90" b="1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dirty="0" sz="1350" spc="585">
                <a:solidFill>
                  <a:srgbClr val="4472C4"/>
                </a:solidFill>
                <a:latin typeface="Cambria Math"/>
                <a:cs typeface="Cambria Math"/>
              </a:rPr>
              <a:t>!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1820" y="4286561"/>
            <a:ext cx="4978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" b="1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r>
              <a:rPr dirty="0" sz="135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50" spc="355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74779" y="4402356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70" h="52070">
                <a:moveTo>
                  <a:pt x="25773" y="0"/>
                </a:moveTo>
                <a:lnTo>
                  <a:pt x="15741" y="2025"/>
                </a:lnTo>
                <a:lnTo>
                  <a:pt x="7548" y="7548"/>
                </a:lnTo>
                <a:lnTo>
                  <a:pt x="2025" y="15741"/>
                </a:lnTo>
                <a:lnTo>
                  <a:pt x="0" y="25773"/>
                </a:lnTo>
                <a:lnTo>
                  <a:pt x="2025" y="35805"/>
                </a:lnTo>
                <a:lnTo>
                  <a:pt x="7548" y="43997"/>
                </a:lnTo>
                <a:lnTo>
                  <a:pt x="15741" y="49521"/>
                </a:lnTo>
                <a:lnTo>
                  <a:pt x="25773" y="51546"/>
                </a:lnTo>
                <a:lnTo>
                  <a:pt x="35805" y="49521"/>
                </a:lnTo>
                <a:lnTo>
                  <a:pt x="43997" y="43997"/>
                </a:lnTo>
                <a:lnTo>
                  <a:pt x="49521" y="35805"/>
                </a:lnTo>
                <a:lnTo>
                  <a:pt x="51546" y="25773"/>
                </a:lnTo>
                <a:lnTo>
                  <a:pt x="49521" y="15741"/>
                </a:lnTo>
                <a:lnTo>
                  <a:pt x="43997" y="7548"/>
                </a:lnTo>
                <a:lnTo>
                  <a:pt x="35805" y="2025"/>
                </a:lnTo>
                <a:lnTo>
                  <a:pt x="2577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68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0520"/>
            <a:ext cx="7711440" cy="5181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0638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Our </a:t>
            </a:r>
            <a:r>
              <a:rPr dirty="0" spc="-10"/>
              <a:t>task </a:t>
            </a:r>
            <a:r>
              <a:rPr dirty="0" spc="-5"/>
              <a:t>space </a:t>
            </a:r>
            <a:r>
              <a:rPr dirty="0" spc="-10"/>
              <a:t>can </a:t>
            </a:r>
            <a:r>
              <a:rPr dirty="0" spc="-5">
                <a:solidFill>
                  <a:srgbClr val="C00000"/>
                </a:solidFill>
              </a:rPr>
              <a:t>guide </a:t>
            </a:r>
            <a:r>
              <a:rPr dirty="0" spc="-15">
                <a:solidFill>
                  <a:srgbClr val="C00000"/>
                </a:solidFill>
              </a:rPr>
              <a:t>best </a:t>
            </a:r>
            <a:r>
              <a:rPr dirty="0" spc="-5">
                <a:solidFill>
                  <a:srgbClr val="C00000"/>
                </a:solidFill>
              </a:rPr>
              <a:t>model </a:t>
            </a:r>
            <a:r>
              <a:rPr dirty="0" spc="-25">
                <a:solidFill>
                  <a:srgbClr val="C00000"/>
                </a:solidFill>
              </a:rPr>
              <a:t>transfer  </a:t>
            </a:r>
            <a:r>
              <a:rPr dirty="0" spc="-15">
                <a:solidFill>
                  <a:srgbClr val="C00000"/>
                </a:solidFill>
              </a:rPr>
              <a:t>to </a:t>
            </a:r>
            <a:r>
              <a:rPr dirty="0" spc="-10">
                <a:solidFill>
                  <a:srgbClr val="C00000"/>
                </a:solidFill>
              </a:rPr>
              <a:t>novel</a:t>
            </a:r>
            <a:r>
              <a:rPr dirty="0" spc="-70">
                <a:solidFill>
                  <a:srgbClr val="C00000"/>
                </a:solidFill>
              </a:rPr>
              <a:t> </a:t>
            </a:r>
            <a:r>
              <a:rPr dirty="0" spc="-15">
                <a:solidFill>
                  <a:srgbClr val="C00000"/>
                </a:solidFill>
              </a:rPr>
              <a:t>tasks!</a:t>
            </a:r>
          </a:p>
        </p:txBody>
      </p:sp>
      <p:sp>
        <p:nvSpPr>
          <p:cNvPr id="4" name="object 4"/>
          <p:cNvSpPr/>
          <p:nvPr/>
        </p:nvSpPr>
        <p:spPr>
          <a:xfrm>
            <a:off x="351038" y="3839896"/>
            <a:ext cx="1958788" cy="24742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2293" y="5768802"/>
            <a:ext cx="508634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" b="1">
                <a:solidFill>
                  <a:srgbClr val="4472C4"/>
                </a:solidFill>
                <a:latin typeface="Calibri"/>
                <a:cs typeface="Calibri"/>
              </a:rPr>
              <a:t>Task</a:t>
            </a:r>
            <a:r>
              <a:rPr dirty="0" sz="1350" spc="-90" b="1">
                <a:solidFill>
                  <a:srgbClr val="4472C4"/>
                </a:solidFill>
                <a:latin typeface="Calibri"/>
                <a:cs typeface="Calibri"/>
              </a:rPr>
              <a:t> </a:t>
            </a:r>
            <a:r>
              <a:rPr dirty="0" sz="1350" spc="585">
                <a:solidFill>
                  <a:srgbClr val="4472C4"/>
                </a:solidFill>
                <a:latin typeface="Cambria Math"/>
                <a:cs typeface="Cambria Math"/>
              </a:rPr>
              <a:t>!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9850" y="3964654"/>
            <a:ext cx="4978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" b="1">
                <a:solidFill>
                  <a:srgbClr val="C00000"/>
                </a:solidFill>
                <a:latin typeface="Calibri"/>
                <a:cs typeface="Calibri"/>
              </a:rPr>
              <a:t>Task</a:t>
            </a:r>
            <a:r>
              <a:rPr dirty="0" sz="135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350" spc="355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42808" y="4080448"/>
            <a:ext cx="52069" cy="52069"/>
          </a:xfrm>
          <a:custGeom>
            <a:avLst/>
            <a:gdLst/>
            <a:ahLst/>
            <a:cxnLst/>
            <a:rect l="l" t="t" r="r" b="b"/>
            <a:pathLst>
              <a:path w="52069" h="52070">
                <a:moveTo>
                  <a:pt x="25773" y="0"/>
                </a:moveTo>
                <a:lnTo>
                  <a:pt x="15741" y="2025"/>
                </a:lnTo>
                <a:lnTo>
                  <a:pt x="7548" y="7548"/>
                </a:lnTo>
                <a:lnTo>
                  <a:pt x="2025" y="15741"/>
                </a:lnTo>
                <a:lnTo>
                  <a:pt x="0" y="25773"/>
                </a:lnTo>
                <a:lnTo>
                  <a:pt x="2025" y="35805"/>
                </a:lnTo>
                <a:lnTo>
                  <a:pt x="7548" y="43997"/>
                </a:lnTo>
                <a:lnTo>
                  <a:pt x="15741" y="49521"/>
                </a:lnTo>
                <a:lnTo>
                  <a:pt x="25773" y="51546"/>
                </a:lnTo>
                <a:lnTo>
                  <a:pt x="35806" y="49521"/>
                </a:lnTo>
                <a:lnTo>
                  <a:pt x="43998" y="43997"/>
                </a:lnTo>
                <a:lnTo>
                  <a:pt x="49522" y="35805"/>
                </a:lnTo>
                <a:lnTo>
                  <a:pt x="51548" y="25773"/>
                </a:lnTo>
                <a:lnTo>
                  <a:pt x="49522" y="15741"/>
                </a:lnTo>
                <a:lnTo>
                  <a:pt x="43998" y="7548"/>
                </a:lnTo>
                <a:lnTo>
                  <a:pt x="35806" y="2025"/>
                </a:lnTo>
                <a:lnTo>
                  <a:pt x="2577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63749" y="4014446"/>
          <a:ext cx="6035040" cy="1924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2855"/>
                <a:gridCol w="1903888"/>
                <a:gridCol w="1865232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 marR="73025" indent="257175">
                        <a:lnSpc>
                          <a:spcPct val="101400"/>
                        </a:lnSpc>
                        <a:spcBef>
                          <a:spcPts val="10"/>
                        </a:spcBef>
                      </a:pPr>
                      <a:r>
                        <a:rPr dirty="0" sz="1400" spc="-3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Task </a:t>
                      </a:r>
                      <a:r>
                        <a:rPr dirty="0" sz="1400" spc="-5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𝑨</a:t>
                      </a:r>
                      <a:r>
                        <a:rPr dirty="0" sz="1400" spc="-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: graph-  </a:t>
                      </a:r>
                      <a:r>
                        <a:rPr dirty="0" sz="1400" spc="-1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scalefree-const-path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 marR="191135" indent="149860">
                        <a:lnSpc>
                          <a:spcPct val="101400"/>
                        </a:lnSpc>
                        <a:spcBef>
                          <a:spcPts val="10"/>
                        </a:spcBef>
                      </a:pPr>
                      <a:r>
                        <a:rPr dirty="0" sz="1400" spc="-30" b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Task </a:t>
                      </a:r>
                      <a:r>
                        <a:rPr dirty="0" sz="1400">
                          <a:solidFill>
                            <a:srgbClr val="0070C0"/>
                          </a:solidFill>
                          <a:latin typeface="Cambria Math"/>
                          <a:cs typeface="Cambria Math"/>
                        </a:rPr>
                        <a:t>𝑩</a:t>
                      </a:r>
                      <a:r>
                        <a:rPr dirty="0" sz="1400" b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: </a:t>
                      </a:r>
                      <a:r>
                        <a:rPr dirty="0" sz="1400" spc="-5" b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node-  </a:t>
                      </a:r>
                      <a:r>
                        <a:rPr dirty="0" sz="1400" spc="-10" b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CoauthorPhysics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400" spc="-5">
                          <a:latin typeface="Arial"/>
                          <a:cs typeface="Arial"/>
                        </a:rPr>
                        <a:t>Best</a:t>
                      </a:r>
                      <a:r>
                        <a:rPr dirty="0" sz="140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design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our design</a:t>
                      </a:r>
                      <a:r>
                        <a:rPr dirty="0" sz="140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latin typeface="Arial"/>
                          <a:cs typeface="Arial"/>
                        </a:rPr>
                        <a:t>space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635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4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(1, 8, 3, skipcat,</a:t>
                      </a:r>
                      <a:r>
                        <a:rPr dirty="0" sz="1400" spc="-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sum)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dirty="0" sz="1400" spc="-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(1, 4, 2, skipcat,</a:t>
                      </a:r>
                      <a:r>
                        <a:rPr dirty="0" sz="1400" spc="-50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5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max)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130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84175" marR="381000" indent="112395">
                        <a:lnSpc>
                          <a:spcPct val="101400"/>
                        </a:lnSpc>
                        <a:spcBef>
                          <a:spcPts val="35"/>
                        </a:spcBef>
                      </a:pPr>
                      <a:r>
                        <a:rPr dirty="0" sz="1400" spc="-30" b="1">
                          <a:latin typeface="Arial"/>
                          <a:cs typeface="Arial"/>
                        </a:rPr>
                        <a:t>Task </a:t>
                      </a:r>
                      <a:r>
                        <a:rPr dirty="0" sz="1400" spc="-5" b="1">
                          <a:latin typeface="Arial"/>
                          <a:cs typeface="Arial"/>
                        </a:rPr>
                        <a:t>Similarity  with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ogbg-molhiv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600" spc="-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0.47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dirty="0" sz="1600" spc="-5" b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-0.61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0033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2555" marR="119380" indent="233679">
                        <a:lnSpc>
                          <a:spcPct val="101400"/>
                        </a:lnSpc>
                        <a:spcBef>
                          <a:spcPts val="40"/>
                        </a:spcBef>
                      </a:pPr>
                      <a:r>
                        <a:rPr dirty="0" sz="1400" spc="-5" b="1">
                          <a:latin typeface="Arial"/>
                          <a:cs typeface="Arial"/>
                        </a:rPr>
                        <a:t>Performance after  transfer to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ogbg-molhiv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08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600" spc="-5" b="1" i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0.785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600" spc="-5" b="1" i="1">
                          <a:solidFill>
                            <a:srgbClr val="0070C0"/>
                          </a:solidFill>
                          <a:latin typeface="Arial"/>
                          <a:cs typeface="Arial"/>
                        </a:rPr>
                        <a:t>0.736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8578" y="2647188"/>
            <a:ext cx="520192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925">
              <a:lnSpc>
                <a:spcPct val="100000"/>
              </a:lnSpc>
              <a:spcBef>
                <a:spcPts val="100"/>
              </a:spcBef>
            </a:pPr>
            <a:r>
              <a:rPr dirty="0" sz="2000" spc="-40">
                <a:solidFill>
                  <a:srgbClr val="C00000"/>
                </a:solidFill>
                <a:latin typeface="Arial"/>
                <a:cs typeface="Arial"/>
              </a:rPr>
              <a:t>Transfer </a:t>
            </a:r>
            <a:r>
              <a:rPr dirty="0" sz="2000" spc="5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dirty="0" sz="2000" spc="25">
                <a:solidFill>
                  <a:srgbClr val="C00000"/>
                </a:solidFill>
                <a:latin typeface="Arial"/>
                <a:cs typeface="Arial"/>
              </a:rPr>
              <a:t>best </a:t>
            </a:r>
            <a:r>
              <a:rPr dirty="0" sz="2000" spc="15">
                <a:solidFill>
                  <a:srgbClr val="C00000"/>
                </a:solidFill>
                <a:latin typeface="Arial"/>
                <a:cs typeface="Arial"/>
              </a:rPr>
              <a:t>model </a:t>
            </a:r>
            <a:r>
              <a:rPr dirty="0" sz="2000" spc="10">
                <a:solidFill>
                  <a:srgbClr val="C00000"/>
                </a:solidFill>
                <a:latin typeface="Arial"/>
                <a:cs typeface="Arial"/>
              </a:rPr>
              <a:t>from </a:t>
            </a:r>
            <a:r>
              <a:rPr dirty="0" sz="2000" spc="-75">
                <a:solidFill>
                  <a:srgbClr val="C00000"/>
                </a:solidFill>
                <a:latin typeface="Arial"/>
                <a:cs typeface="Arial"/>
              </a:rPr>
              <a:t>Task </a:t>
            </a:r>
            <a:r>
              <a:rPr dirty="0" sz="2000" spc="-40">
                <a:solidFill>
                  <a:srgbClr val="C00000"/>
                </a:solidFill>
                <a:latin typeface="Arial"/>
                <a:cs typeface="Arial"/>
              </a:rPr>
              <a:t>A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achieves  </a:t>
            </a:r>
            <a:r>
              <a:rPr dirty="0" sz="2000" spc="-95">
                <a:solidFill>
                  <a:srgbClr val="C00000"/>
                </a:solidFill>
                <a:latin typeface="Arial"/>
                <a:cs typeface="Arial"/>
              </a:rPr>
              <a:t>SOTA </a:t>
            </a:r>
            <a:r>
              <a:rPr dirty="0" sz="2000" spc="10">
                <a:solidFill>
                  <a:srgbClr val="C00000"/>
                </a:solidFill>
                <a:latin typeface="Arial"/>
                <a:cs typeface="Arial"/>
              </a:rPr>
              <a:t>on 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OGB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40">
                <a:solidFill>
                  <a:srgbClr val="4F81BD"/>
                </a:solidFill>
                <a:latin typeface="Arial"/>
                <a:cs typeface="Arial"/>
              </a:rPr>
              <a:t>Transfer </a:t>
            </a:r>
            <a:r>
              <a:rPr dirty="0" sz="2000" spc="5">
                <a:solidFill>
                  <a:srgbClr val="4F81BD"/>
                </a:solidFill>
                <a:latin typeface="Arial"/>
                <a:cs typeface="Arial"/>
              </a:rPr>
              <a:t>the </a:t>
            </a:r>
            <a:r>
              <a:rPr dirty="0" sz="2000" spc="25">
                <a:solidFill>
                  <a:srgbClr val="4F81BD"/>
                </a:solidFill>
                <a:latin typeface="Arial"/>
                <a:cs typeface="Arial"/>
              </a:rPr>
              <a:t>best </a:t>
            </a:r>
            <a:r>
              <a:rPr dirty="0" sz="2000" spc="15">
                <a:solidFill>
                  <a:srgbClr val="4F81BD"/>
                </a:solidFill>
                <a:latin typeface="Arial"/>
                <a:cs typeface="Arial"/>
              </a:rPr>
              <a:t>model </a:t>
            </a:r>
            <a:r>
              <a:rPr dirty="0" sz="2000" spc="10">
                <a:solidFill>
                  <a:srgbClr val="4F81BD"/>
                </a:solidFill>
                <a:latin typeface="Arial"/>
                <a:cs typeface="Arial"/>
              </a:rPr>
              <a:t>from 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Task </a:t>
            </a:r>
            <a:r>
              <a:rPr dirty="0" sz="2000" spc="30">
                <a:solidFill>
                  <a:srgbClr val="4F81BD"/>
                </a:solidFill>
                <a:latin typeface="Arial"/>
                <a:cs typeface="Arial"/>
              </a:rPr>
              <a:t>B</a:t>
            </a:r>
            <a:r>
              <a:rPr dirty="0" sz="2000" spc="-80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000" spc="10">
                <a:solidFill>
                  <a:srgbClr val="4F81BD"/>
                </a:solidFill>
                <a:latin typeface="Arial"/>
                <a:cs typeface="Arial"/>
              </a:rPr>
              <a:t>performs  </a:t>
            </a:r>
            <a:r>
              <a:rPr dirty="0" sz="2000" spc="15">
                <a:solidFill>
                  <a:srgbClr val="4F81BD"/>
                </a:solidFill>
                <a:latin typeface="Arial"/>
                <a:cs typeface="Arial"/>
              </a:rPr>
              <a:t>badly </a:t>
            </a:r>
            <a:r>
              <a:rPr dirty="0" sz="2000" spc="10">
                <a:solidFill>
                  <a:srgbClr val="4F81BD"/>
                </a:solidFill>
                <a:latin typeface="Arial"/>
                <a:cs typeface="Arial"/>
              </a:rPr>
              <a:t>on</a:t>
            </a:r>
            <a:r>
              <a:rPr dirty="0" sz="2000" spc="-105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4F81BD"/>
                </a:solidFill>
                <a:latin typeface="Arial"/>
                <a:cs typeface="Arial"/>
              </a:rPr>
              <a:t>OGB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9350" y="6043676"/>
            <a:ext cx="2383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Arial"/>
                <a:cs typeface="Arial"/>
              </a:rPr>
              <a:t>Previous </a:t>
            </a:r>
            <a:r>
              <a:rPr dirty="0" sz="1800" spc="-30" b="1" i="1">
                <a:latin typeface="Arial"/>
                <a:cs typeface="Arial"/>
              </a:rPr>
              <a:t>SOTA:</a:t>
            </a:r>
            <a:r>
              <a:rPr dirty="0" sz="1800" spc="-90" b="1" i="1">
                <a:latin typeface="Arial"/>
                <a:cs typeface="Arial"/>
              </a:rPr>
              <a:t> </a:t>
            </a:r>
            <a:r>
              <a:rPr dirty="0" sz="1800" spc="-5" b="1" i="1">
                <a:latin typeface="Arial"/>
                <a:cs typeface="Arial"/>
              </a:rPr>
              <a:t>0.771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8578" y="2287523"/>
            <a:ext cx="11271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5" b="1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dirty="0" sz="2000" spc="-30" b="1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nd</a:t>
            </a:r>
            <a:r>
              <a:rPr dirty="0" sz="2000" spc="-45" b="1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dirty="0" sz="2000" spc="-20" b="1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dirty="0" sz="2000" spc="-75" b="1">
                <a:solidFill>
                  <a:srgbClr val="C00000"/>
                </a:solidFill>
                <a:latin typeface="Arial"/>
                <a:cs typeface="Arial"/>
              </a:rPr>
              <a:t>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103" y="2634995"/>
            <a:ext cx="3062605" cy="106807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We </a:t>
            </a:r>
            <a:r>
              <a:rPr dirty="0" sz="2000" spc="0" b="1">
                <a:solidFill>
                  <a:srgbClr val="C00000"/>
                </a:solidFill>
                <a:latin typeface="Arial"/>
                <a:cs typeface="Arial"/>
              </a:rPr>
              <a:t>pick </a:t>
            </a:r>
            <a:r>
              <a:rPr dirty="0" sz="2000" spc="-5" b="1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2000" spc="-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5" b="1">
                <a:solidFill>
                  <a:srgbClr val="C00000"/>
                </a:solidFill>
                <a:latin typeface="Arial"/>
                <a:cs typeface="Arial"/>
              </a:rPr>
              <a:t>tasks: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</a:pPr>
            <a:r>
              <a:rPr dirty="0" sz="2000" spc="-75">
                <a:solidFill>
                  <a:srgbClr val="C00000"/>
                </a:solidFill>
                <a:latin typeface="Arial"/>
                <a:cs typeface="Arial"/>
              </a:rPr>
              <a:t>Task </a:t>
            </a:r>
            <a:r>
              <a:rPr dirty="0" sz="2000" spc="-20">
                <a:solidFill>
                  <a:srgbClr val="C00000"/>
                </a:solidFill>
                <a:latin typeface="Arial"/>
                <a:cs typeface="Arial"/>
              </a:rPr>
              <a:t>A: </a:t>
            </a:r>
            <a:r>
              <a:rPr dirty="0" sz="2000" spc="-10">
                <a:solidFill>
                  <a:srgbClr val="C00000"/>
                </a:solidFill>
                <a:latin typeface="Arial"/>
                <a:cs typeface="Arial"/>
              </a:rPr>
              <a:t>Similar </a:t>
            </a:r>
            <a:r>
              <a:rPr dirty="0" sz="2000" spc="5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dirty="0" sz="2000" spc="-15">
                <a:solidFill>
                  <a:srgbClr val="C00000"/>
                </a:solidFill>
                <a:latin typeface="Arial"/>
                <a:cs typeface="Arial"/>
              </a:rPr>
              <a:t>OGB  </a:t>
            </a:r>
            <a:r>
              <a:rPr dirty="0" sz="2000" spc="-75">
                <a:solidFill>
                  <a:srgbClr val="4F81BD"/>
                </a:solidFill>
                <a:latin typeface="Arial"/>
                <a:cs typeface="Arial"/>
              </a:rPr>
              <a:t>Task </a:t>
            </a:r>
            <a:r>
              <a:rPr dirty="0" sz="2000" spc="10">
                <a:solidFill>
                  <a:srgbClr val="4F81BD"/>
                </a:solidFill>
                <a:latin typeface="Arial"/>
                <a:cs typeface="Arial"/>
              </a:rPr>
              <a:t>B: </a:t>
            </a:r>
            <a:r>
              <a:rPr dirty="0" sz="2000" spc="30">
                <a:solidFill>
                  <a:srgbClr val="4F81BD"/>
                </a:solidFill>
                <a:latin typeface="Arial"/>
                <a:cs typeface="Arial"/>
              </a:rPr>
              <a:t>Not </a:t>
            </a:r>
            <a:r>
              <a:rPr dirty="0" sz="2000" spc="-5">
                <a:solidFill>
                  <a:srgbClr val="4F81BD"/>
                </a:solidFill>
                <a:latin typeface="Arial"/>
                <a:cs typeface="Arial"/>
              </a:rPr>
              <a:t>similar </a:t>
            </a:r>
            <a:r>
              <a:rPr dirty="0" sz="2000" spc="50">
                <a:solidFill>
                  <a:srgbClr val="4F81BD"/>
                </a:solidFill>
                <a:latin typeface="Arial"/>
                <a:cs typeface="Arial"/>
              </a:rPr>
              <a:t>to</a:t>
            </a:r>
            <a:r>
              <a:rPr dirty="0" sz="2000" spc="-45">
                <a:solidFill>
                  <a:srgbClr val="4F81BD"/>
                </a:solidFill>
                <a:latin typeface="Arial"/>
                <a:cs typeface="Arial"/>
              </a:rPr>
              <a:t> </a:t>
            </a:r>
            <a:r>
              <a:rPr dirty="0" sz="2000" spc="-15">
                <a:solidFill>
                  <a:srgbClr val="4F81BD"/>
                </a:solidFill>
                <a:latin typeface="Arial"/>
                <a:cs typeface="Arial"/>
              </a:rPr>
              <a:t>OGB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28167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25856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latin typeface="Calibri"/>
                <a:cs typeface="Calibri"/>
              </a:rPr>
              <a:t>The </a:t>
            </a:r>
            <a:r>
              <a:rPr dirty="0" spc="-25" b="0">
                <a:latin typeface="Calibri"/>
                <a:cs typeface="Calibri"/>
              </a:rPr>
              <a:t>first </a:t>
            </a:r>
            <a:r>
              <a:rPr dirty="0" spc="-20" b="0">
                <a:latin typeface="Calibri"/>
                <a:cs typeface="Calibri"/>
              </a:rPr>
              <a:t>systematic investigation</a:t>
            </a:r>
            <a:r>
              <a:rPr dirty="0" spc="25" b="0">
                <a:latin typeface="Calibri"/>
                <a:cs typeface="Calibri"/>
              </a:rPr>
              <a:t> </a:t>
            </a:r>
            <a:r>
              <a:rPr dirty="0" spc="-5" b="0">
                <a:latin typeface="Calibri"/>
                <a:cs typeface="Calibri"/>
              </a:rPr>
              <a:t>of: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pc="-10"/>
              <a:t>General </a:t>
            </a:r>
            <a:r>
              <a:rPr dirty="0" spc="-5"/>
              <a:t>guidelines </a:t>
            </a:r>
            <a:r>
              <a:rPr dirty="0" spc="-20"/>
              <a:t>for </a:t>
            </a:r>
            <a:r>
              <a:rPr dirty="0"/>
              <a:t>GNN</a:t>
            </a:r>
            <a:r>
              <a:rPr dirty="0" spc="-35"/>
              <a:t> </a:t>
            </a:r>
            <a:r>
              <a:rPr dirty="0" spc="-5"/>
              <a:t>design</a:t>
            </a: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pc="-10"/>
              <a:t>Understandings </a:t>
            </a:r>
            <a:r>
              <a:rPr dirty="0" spc="-5"/>
              <a:t>of </a:t>
            </a:r>
            <a:r>
              <a:rPr dirty="0"/>
              <a:t>GNN</a:t>
            </a:r>
            <a:r>
              <a:rPr dirty="0" spc="-25"/>
              <a:t> </a:t>
            </a:r>
            <a:r>
              <a:rPr dirty="0" spc="-15"/>
              <a:t>tasks</a:t>
            </a: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pc="-25"/>
              <a:t>Transferring </a:t>
            </a:r>
            <a:r>
              <a:rPr dirty="0" spc="-15"/>
              <a:t>best </a:t>
            </a:r>
            <a:r>
              <a:rPr dirty="0"/>
              <a:t>GNN </a:t>
            </a:r>
            <a:r>
              <a:rPr dirty="0" spc="-5"/>
              <a:t>designs </a:t>
            </a:r>
            <a:r>
              <a:rPr dirty="0" spc="-10"/>
              <a:t>across</a:t>
            </a:r>
            <a:r>
              <a:rPr dirty="0" spc="-5"/>
              <a:t> </a:t>
            </a:r>
            <a:r>
              <a:rPr dirty="0" spc="-10"/>
              <a:t>tasks</a:t>
            </a: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Arial"/>
              <a:buChar char="▪"/>
              <a:tabLst>
                <a:tab pos="287020" algn="l"/>
              </a:tabLst>
            </a:pPr>
            <a:r>
              <a:rPr dirty="0" spc="-15">
                <a:solidFill>
                  <a:srgbClr val="C00000"/>
                </a:solidFill>
              </a:rPr>
              <a:t>GraphGym: </a:t>
            </a:r>
            <a:r>
              <a:rPr dirty="0" spc="-20" b="0">
                <a:latin typeface="Calibri"/>
                <a:cs typeface="Calibri"/>
              </a:rPr>
              <a:t>Easy-to-use </a:t>
            </a:r>
            <a:r>
              <a:rPr dirty="0" spc="-10">
                <a:solidFill>
                  <a:srgbClr val="C00000"/>
                </a:solidFill>
              </a:rPr>
              <a:t>code </a:t>
            </a:r>
            <a:r>
              <a:rPr dirty="0" spc="-15">
                <a:solidFill>
                  <a:srgbClr val="C00000"/>
                </a:solidFill>
              </a:rPr>
              <a:t>platform </a:t>
            </a:r>
            <a:r>
              <a:rPr dirty="0" spc="-20">
                <a:solidFill>
                  <a:srgbClr val="C00000"/>
                </a:solidFill>
              </a:rPr>
              <a:t>for</a:t>
            </a:r>
            <a:r>
              <a:rPr dirty="0" spc="50">
                <a:solidFill>
                  <a:srgbClr val="C00000"/>
                </a:solidFill>
              </a:rPr>
              <a:t> </a:t>
            </a:r>
            <a:r>
              <a:rPr dirty="0">
                <a:solidFill>
                  <a:srgbClr val="C00000"/>
                </a:solidFill>
              </a:rPr>
              <a:t>GNN</a:t>
            </a:r>
          </a:p>
        </p:txBody>
      </p:sp>
      <p:sp>
        <p:nvSpPr>
          <p:cNvPr id="5" name="object 5"/>
          <p:cNvSpPr/>
          <p:nvPr/>
        </p:nvSpPr>
        <p:spPr>
          <a:xfrm>
            <a:off x="124045" y="4309884"/>
            <a:ext cx="3047376" cy="2410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7362" y="4297646"/>
            <a:ext cx="2778193" cy="17411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91311" y="4122536"/>
            <a:ext cx="124904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b="1">
                <a:latin typeface="Arial"/>
                <a:cs typeface="Arial"/>
              </a:rPr>
              <a:t>(a) </a:t>
            </a:r>
            <a:r>
              <a:rPr dirty="0" sz="900" spc="0" b="1">
                <a:latin typeface="Arial"/>
                <a:cs typeface="Arial"/>
              </a:rPr>
              <a:t>GNN </a:t>
            </a:r>
            <a:r>
              <a:rPr dirty="0" sz="900" b="1">
                <a:latin typeface="Arial"/>
                <a:cs typeface="Arial"/>
              </a:rPr>
              <a:t>Design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Space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8436" y="4122536"/>
            <a:ext cx="112458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0" b="1">
                <a:latin typeface="Arial"/>
                <a:cs typeface="Arial"/>
              </a:rPr>
              <a:t>(b) GNN </a:t>
            </a:r>
            <a:r>
              <a:rPr dirty="0" sz="900" spc="-15" b="1">
                <a:latin typeface="Arial"/>
                <a:cs typeface="Arial"/>
              </a:rPr>
              <a:t>Task</a:t>
            </a:r>
            <a:r>
              <a:rPr dirty="0" sz="900" spc="-6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Space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87151" y="6035553"/>
          <a:ext cx="2748280" cy="645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706"/>
                <a:gridCol w="486788"/>
                <a:gridCol w="473482"/>
                <a:gridCol w="521559"/>
                <a:gridCol w="556330"/>
                <a:gridCol w="347706"/>
              </a:tblGrid>
              <a:tr h="114300">
                <a:tc gridSpan="6">
                  <a:txBody>
                    <a:bodyPr/>
                    <a:lstStyle/>
                    <a:p>
                      <a:pPr marL="356235">
                        <a:lnSpc>
                          <a:spcPts val="800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Best </a:t>
                      </a:r>
                      <a:r>
                        <a:rPr dirty="0" sz="750" spc="0" b="1">
                          <a:latin typeface="Arial"/>
                          <a:cs typeface="Arial"/>
                        </a:rPr>
                        <a:t>GNN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Designs </a:t>
                      </a:r>
                      <a:r>
                        <a:rPr dirty="0" sz="750" spc="0" b="1">
                          <a:latin typeface="Arial"/>
                          <a:cs typeface="Arial"/>
                        </a:rPr>
                        <a:t>Found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in Different</a:t>
                      </a:r>
                      <a:r>
                        <a:rPr dirty="0" sz="75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Tasks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Pre</a:t>
                      </a:r>
                      <a:r>
                        <a:rPr dirty="0" sz="7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layers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MP</a:t>
                      </a:r>
                      <a:r>
                        <a:rPr dirty="0" sz="75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layers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Post</a:t>
                      </a:r>
                      <a:r>
                        <a:rPr dirty="0" sz="7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layers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onne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ivi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800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AGG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18415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750" spc="-8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260">
                          <a:solidFill>
                            <a:srgbClr val="C55A11"/>
                          </a:solidFill>
                          <a:latin typeface="Cambria Math"/>
                          <a:cs typeface="Cambria Math"/>
                        </a:rPr>
                        <a:t>!</a:t>
                      </a:r>
                      <a:endParaRPr sz="7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skip-sum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55A11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15875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750" spc="-8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200">
                          <a:solidFill>
                            <a:srgbClr val="C00000"/>
                          </a:solidFill>
                          <a:latin typeface="Cambria Math"/>
                          <a:cs typeface="Cambria Math"/>
                        </a:rPr>
                        <a:t>"</a:t>
                      </a:r>
                      <a:endParaRPr sz="7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skip-sum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18415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750" spc="-8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15">
                          <a:solidFill>
                            <a:srgbClr val="4472C4"/>
                          </a:solidFill>
                          <a:latin typeface="Cambria Math"/>
                          <a:cs typeface="Cambria Math"/>
                        </a:rPr>
                        <a:t>#</a:t>
                      </a:r>
                      <a:endParaRPr sz="750">
                        <a:latin typeface="Cambria Math"/>
                        <a:cs typeface="Cambria Math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skip-cat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800"/>
                        </a:lnSpc>
                      </a:pPr>
                      <a:r>
                        <a:rPr dirty="0" sz="750">
                          <a:solidFill>
                            <a:srgbClr val="4472C4"/>
                          </a:solidFill>
                          <a:latin typeface="Arial"/>
                          <a:cs typeface="Arial"/>
                        </a:rPr>
                        <a:t>mean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527157" y="5222954"/>
            <a:ext cx="13589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475">
                <a:solidFill>
                  <a:srgbClr val="C55A11"/>
                </a:solidFill>
                <a:latin typeface="Cambria Math"/>
                <a:cs typeface="Cambria Math"/>
              </a:rPr>
              <a:t>!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25540" y="5336711"/>
            <a:ext cx="13970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360">
                <a:solidFill>
                  <a:srgbClr val="C00000"/>
                </a:solidFill>
                <a:latin typeface="Cambria Math"/>
                <a:cs typeface="Cambria Math"/>
              </a:rPr>
              <a:t>"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5265" y="5355283"/>
            <a:ext cx="129539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20">
                <a:solidFill>
                  <a:srgbClr val="4472C4"/>
                </a:solidFill>
                <a:latin typeface="Cambria Math"/>
                <a:cs typeface="Cambria Math"/>
              </a:rPr>
              <a:t>#</a:t>
            </a:r>
            <a:endParaRPr sz="1350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184182" y="4333567"/>
          <a:ext cx="2817495" cy="920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330"/>
                <a:gridCol w="243394"/>
                <a:gridCol w="139082"/>
                <a:gridCol w="472880"/>
                <a:gridCol w="556330"/>
                <a:gridCol w="347706"/>
                <a:gridCol w="486788"/>
              </a:tblGrid>
              <a:tr h="114300">
                <a:tc gridSpan="5">
                  <a:txBody>
                    <a:bodyPr/>
                    <a:lstStyle/>
                    <a:p>
                      <a:pPr marL="541655">
                        <a:lnSpc>
                          <a:spcPts val="825"/>
                        </a:lnSpc>
                      </a:pPr>
                      <a:r>
                        <a:rPr dirty="0" sz="750" spc="0" b="1">
                          <a:latin typeface="Arial"/>
                          <a:cs typeface="Arial"/>
                        </a:rPr>
                        <a:t>GNN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75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Space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6034">
                        <a:lnSpc>
                          <a:spcPts val="825"/>
                        </a:lnSpc>
                      </a:pPr>
                      <a:r>
                        <a:rPr dirty="0" sz="750" spc="0" b="1">
                          <a:latin typeface="Arial"/>
                          <a:cs typeface="Arial"/>
                        </a:rPr>
                        <a:t>GNN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Task</a:t>
                      </a:r>
                      <a:r>
                        <a:rPr dirty="0" sz="750" spc="-8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Space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BatchNorm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Act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MP</a:t>
                      </a:r>
                      <a:r>
                        <a:rPr dirty="0" sz="75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layers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onne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ivi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level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dataset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 marL="635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True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relu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skip_sum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node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CiteSeer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False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relu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skip_sum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node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CiteSeer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 marL="635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True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relu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skip_cat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graph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BZR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False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relu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skip_cat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graph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BZR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14300">
                <a:tc gridSpan="7"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6193841" y="5611095"/>
          <a:ext cx="1513205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700"/>
                <a:gridCol w="936875"/>
              </a:tblGrid>
              <a:tr h="114300">
                <a:tc gridSpan="2">
                  <a:txBody>
                    <a:bodyPr/>
                    <a:lstStyle/>
                    <a:p>
                      <a:pPr marL="253365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Experimental</a:t>
                      </a:r>
                      <a:r>
                        <a:rPr dirty="0" sz="750" spc="-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latin typeface="Arial"/>
                          <a:cs typeface="Arial"/>
                        </a:rPr>
                        <a:t>Results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Val.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890"/>
                        </a:lnSpc>
                        <a:spcBef>
                          <a:spcPts val="1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Accuracy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7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Choice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890"/>
                        </a:lnSpc>
                        <a:spcBef>
                          <a:spcPts val="10"/>
                        </a:spcBef>
                      </a:pPr>
                      <a:r>
                        <a:rPr dirty="0" sz="750">
                          <a:latin typeface="Arial"/>
                          <a:cs typeface="Arial"/>
                        </a:rPr>
                        <a:t>Ranking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0.75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1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0.54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2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0.88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1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(a</a:t>
                      </a:r>
                      <a:r>
                        <a:rPr dirty="0" sz="7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tie)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CBAD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>
                          <a:latin typeface="Arial"/>
                          <a:cs typeface="Arial"/>
                        </a:rPr>
                        <a:t>0.86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spc="0">
                          <a:latin typeface="Arial"/>
                          <a:cs typeface="Arial"/>
                        </a:rPr>
                        <a:t>1 </a:t>
                      </a:r>
                      <a:r>
                        <a:rPr dirty="0" sz="750">
                          <a:latin typeface="Arial"/>
                          <a:cs typeface="Arial"/>
                        </a:rPr>
                        <a:t>(a</a:t>
                      </a:r>
                      <a:r>
                        <a:rPr dirty="0" sz="7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-5">
                          <a:latin typeface="Arial"/>
                          <a:cs typeface="Arial"/>
                        </a:rPr>
                        <a:t>tie)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DD7EE"/>
                    </a:solidFill>
                  </a:tcPr>
                </a:tc>
              </a:tr>
              <a:tr h="114300">
                <a:tc gridSpan="2">
                  <a:txBody>
                    <a:bodyPr/>
                    <a:lstStyle/>
                    <a:p>
                      <a:pPr algn="ctr">
                        <a:lnSpc>
                          <a:spcPts val="825"/>
                        </a:lnSpc>
                      </a:pPr>
                      <a:r>
                        <a:rPr dirty="0" sz="750" b="1">
                          <a:latin typeface="Arial"/>
                          <a:cs typeface="Arial"/>
                        </a:rPr>
                        <a:t>…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6863925" y="4132209"/>
            <a:ext cx="155321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5" b="1">
                <a:latin typeface="Arial"/>
                <a:cs typeface="Arial"/>
              </a:rPr>
              <a:t>(c) </a:t>
            </a:r>
            <a:r>
              <a:rPr dirty="0" sz="800" spc="10" b="1">
                <a:latin typeface="Arial"/>
                <a:cs typeface="Arial"/>
              </a:rPr>
              <a:t>Controlled </a:t>
            </a:r>
            <a:r>
              <a:rPr dirty="0" sz="800" spc="15" b="1">
                <a:latin typeface="Arial"/>
                <a:cs typeface="Arial"/>
              </a:rPr>
              <a:t>Random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Search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06766" y="5295309"/>
            <a:ext cx="1069340" cy="153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5" b="1">
                <a:latin typeface="Arial"/>
                <a:cs typeface="Arial"/>
              </a:rPr>
              <a:t>(e) </a:t>
            </a:r>
            <a:r>
              <a:rPr dirty="0" sz="800" spc="10" b="1">
                <a:latin typeface="Arial"/>
                <a:cs typeface="Arial"/>
              </a:rPr>
              <a:t>Ranking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Analysis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6329" y="5299952"/>
            <a:ext cx="1276985" cy="278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36854" marR="5080" indent="-224790">
              <a:lnSpc>
                <a:spcPct val="102800"/>
              </a:lnSpc>
              <a:spcBef>
                <a:spcPts val="110"/>
              </a:spcBef>
            </a:pPr>
            <a:r>
              <a:rPr dirty="0" sz="800" spc="5" b="1">
                <a:latin typeface="Arial"/>
                <a:cs typeface="Arial"/>
              </a:rPr>
              <a:t>(d) </a:t>
            </a:r>
            <a:r>
              <a:rPr dirty="0" sz="800" spc="15" b="1">
                <a:latin typeface="Arial"/>
                <a:cs typeface="Arial"/>
              </a:rPr>
              <a:t>Rank </a:t>
            </a:r>
            <a:r>
              <a:rPr dirty="0" sz="800" spc="10" b="1">
                <a:latin typeface="Arial"/>
                <a:cs typeface="Arial"/>
              </a:rPr>
              <a:t>Design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Choices  </a:t>
            </a:r>
            <a:r>
              <a:rPr dirty="0" sz="800" spc="15" b="1">
                <a:latin typeface="Arial"/>
                <a:cs typeface="Arial"/>
              </a:rPr>
              <a:t>by</a:t>
            </a:r>
            <a:r>
              <a:rPr dirty="0" sz="800" spc="-55" b="1">
                <a:latin typeface="Arial"/>
                <a:cs typeface="Arial"/>
              </a:rPr>
              <a:t> </a:t>
            </a:r>
            <a:r>
              <a:rPr dirty="0" sz="800" spc="10" b="1">
                <a:latin typeface="Arial"/>
                <a:cs typeface="Arial"/>
              </a:rPr>
              <a:t>Performance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16112" y="5527712"/>
            <a:ext cx="1062591" cy="11143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3/18/21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</a:t>
            </a:r>
            <a:r>
              <a:rPr dirty="0" spc="40"/>
              <a:t> </a:t>
            </a:r>
            <a:r>
              <a:rPr dirty="0" spc="-5"/>
              <a:t>Graphs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71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2026-10-21T00:03:51Z</dcterms:created>
  <dcterms:modified xsi:type="dcterms:W3CDTF">2026-10-21T00:03:51Z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2021-03-18T00:00:00Z</vt:filetime>
  </property>
  <property fmtid="{D5CDD505-2E9C-101B-9397-08002B2CF9AE}" pid="3" name="LastSaved">
    <vt:filetime>2026-10-20T00:00:00Z</vt:filetime>
  </property>
</Properties>
</file>