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75671" y="1790700"/>
            <a:ext cx="3714115" cy="4424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901305" cy="1491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348740"/>
            <a:ext cx="7279005" cy="1491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6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1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3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4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5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7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0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2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88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png"/><Relationship Id="rId3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jpg"/><Relationship Id="rId4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jpg"/><Relationship Id="rId4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3.png"/><Relationship Id="rId3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3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2480" y="2572511"/>
            <a:ext cx="5324856" cy="16885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18044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20724"/>
            <a:ext cx="7569834" cy="1391285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FF0000"/>
                </a:solidFill>
                <a:latin typeface="Calibri"/>
                <a:cs typeface="Calibri"/>
              </a:rPr>
              <a:t>Main </a:t>
            </a:r>
            <a:r>
              <a:rPr dirty="0" spc="-10" b="1">
                <a:solidFill>
                  <a:srgbClr val="FF0000"/>
                </a:solidFill>
                <a:latin typeface="Calibri"/>
                <a:cs typeface="Calibri"/>
              </a:rPr>
              <a:t>question </a:t>
            </a:r>
            <a:r>
              <a:rPr dirty="0" spc="-20" b="1">
                <a:solidFill>
                  <a:srgbClr val="FF0000"/>
                </a:solidFill>
                <a:latin typeface="Calibri"/>
                <a:cs typeface="Calibri"/>
              </a:rPr>
              <a:t>today: </a:t>
            </a:r>
            <a:r>
              <a:rPr dirty="0" spc="-10"/>
              <a:t>Given </a:t>
            </a:r>
            <a:r>
              <a:rPr dirty="0"/>
              <a:t>a </a:t>
            </a:r>
            <a:r>
              <a:rPr dirty="0" spc="-10"/>
              <a:t>network </a:t>
            </a:r>
            <a:r>
              <a:rPr dirty="0" spc="-5"/>
              <a:t>with  labels on some nodes, how </a:t>
            </a:r>
            <a:r>
              <a:rPr dirty="0"/>
              <a:t>do </a:t>
            </a:r>
            <a:r>
              <a:rPr dirty="0" spc="-15"/>
              <a:t>we </a:t>
            </a:r>
            <a:r>
              <a:rPr dirty="0" spc="-5"/>
              <a:t>assign  labels </a:t>
            </a:r>
            <a:r>
              <a:rPr dirty="0" spc="-15"/>
              <a:t>to </a:t>
            </a:r>
            <a:r>
              <a:rPr dirty="0"/>
              <a:t>all </a:t>
            </a:r>
            <a:r>
              <a:rPr dirty="0" spc="-5"/>
              <a:t>other nodes </a:t>
            </a:r>
            <a:r>
              <a:rPr dirty="0"/>
              <a:t>in the</a:t>
            </a:r>
            <a:r>
              <a:rPr dirty="0" spc="25"/>
              <a:t> </a:t>
            </a:r>
            <a:r>
              <a:rPr dirty="0" spc="-10"/>
              <a:t>network?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72740"/>
            <a:ext cx="7979409" cy="31559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32740" marR="5080" indent="-320040">
              <a:lnSpc>
                <a:spcPct val="90200"/>
              </a:lnSpc>
              <a:spcBef>
                <a:spcPts val="4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Example: </a:t>
            </a:r>
            <a:r>
              <a:rPr dirty="0" sz="3200">
                <a:latin typeface="Calibri"/>
                <a:cs typeface="Calibri"/>
              </a:rPr>
              <a:t>In a </a:t>
            </a:r>
            <a:r>
              <a:rPr dirty="0" sz="3200" spc="-10">
                <a:latin typeface="Calibri"/>
                <a:cs typeface="Calibri"/>
              </a:rPr>
              <a:t>network, </a:t>
            </a:r>
            <a:r>
              <a:rPr dirty="0" sz="3200" spc="-5">
                <a:latin typeface="Calibri"/>
                <a:cs typeface="Calibri"/>
              </a:rPr>
              <a:t>some nodes </a:t>
            </a:r>
            <a:r>
              <a:rPr dirty="0" sz="3200" spc="-20">
                <a:latin typeface="Calibri"/>
                <a:cs typeface="Calibri"/>
              </a:rPr>
              <a:t>are  </a:t>
            </a:r>
            <a:r>
              <a:rPr dirty="0" sz="3200" spc="-25">
                <a:latin typeface="Calibri"/>
                <a:cs typeface="Calibri"/>
              </a:rPr>
              <a:t>fraudsters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some other nodes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5">
                <a:latin typeface="Calibri"/>
                <a:cs typeface="Calibri"/>
              </a:rPr>
              <a:t>fully  </a:t>
            </a:r>
            <a:r>
              <a:rPr dirty="0" sz="3200" spc="-15">
                <a:latin typeface="Calibri"/>
                <a:cs typeface="Calibri"/>
              </a:rPr>
              <a:t>trusted. </a:t>
            </a:r>
            <a:r>
              <a:rPr dirty="0" sz="3200" spc="-5" b="1">
                <a:latin typeface="Calibri"/>
                <a:cs typeface="Calibri"/>
              </a:rPr>
              <a:t>How do </a:t>
            </a:r>
            <a:r>
              <a:rPr dirty="0" sz="3200" spc="-15" b="1">
                <a:latin typeface="Calibri"/>
                <a:cs typeface="Calibri"/>
              </a:rPr>
              <a:t>you </a:t>
            </a:r>
            <a:r>
              <a:rPr dirty="0" sz="3200" spc="-5" b="1">
                <a:latin typeface="Calibri"/>
                <a:cs typeface="Calibri"/>
              </a:rPr>
              <a:t>find the other </a:t>
            </a:r>
            <a:r>
              <a:rPr dirty="0" sz="3200" spc="-25" b="1">
                <a:latin typeface="Calibri"/>
                <a:cs typeface="Calibri"/>
              </a:rPr>
              <a:t>fraudsters 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spc="-15" b="1">
                <a:latin typeface="Calibri"/>
                <a:cs typeface="Calibri"/>
              </a:rPr>
              <a:t>trustworthy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nodes?</a:t>
            </a:r>
            <a:endParaRPr sz="3200">
              <a:latin typeface="Calibri"/>
              <a:cs typeface="Calibri"/>
            </a:endParaRPr>
          </a:p>
          <a:p>
            <a:pPr marL="332740" marR="307340" indent="-320040">
              <a:lnSpc>
                <a:spcPts val="3500"/>
              </a:lnSpc>
              <a:spcBef>
                <a:spcPts val="34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already </a:t>
            </a:r>
            <a:r>
              <a:rPr dirty="0" sz="3200" spc="-5">
                <a:latin typeface="Calibri"/>
                <a:cs typeface="Calibri"/>
              </a:rPr>
              <a:t>discussed node embeddings </a:t>
            </a:r>
            <a:r>
              <a:rPr dirty="0" sz="3200">
                <a:latin typeface="Calibri"/>
                <a:cs typeface="Calibri"/>
              </a:rPr>
              <a:t>as a  </a:t>
            </a:r>
            <a:r>
              <a:rPr dirty="0" sz="3200" spc="-5">
                <a:latin typeface="Calibri"/>
                <a:cs typeface="Calibri"/>
              </a:rPr>
              <a:t>method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solve </a:t>
            </a:r>
            <a:r>
              <a:rPr dirty="0" sz="3200">
                <a:latin typeface="Calibri"/>
                <a:cs typeface="Calibri"/>
              </a:rPr>
              <a:t>this in </a:t>
            </a:r>
            <a:r>
              <a:rPr dirty="0" sz="3200" spc="-10">
                <a:latin typeface="Calibri"/>
                <a:cs typeface="Calibri"/>
              </a:rPr>
              <a:t>Lecture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566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6883" y="2820592"/>
            <a:ext cx="299720" cy="513080"/>
          </a:xfrm>
          <a:custGeom>
            <a:avLst/>
            <a:gdLst/>
            <a:ahLst/>
            <a:cxnLst/>
            <a:rect l="l" t="t" r="r" b="b"/>
            <a:pathLst>
              <a:path w="299720" h="513079">
                <a:moveTo>
                  <a:pt x="299663" y="0"/>
                </a:moveTo>
                <a:lnTo>
                  <a:pt x="0" y="51252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1861" y="2195988"/>
            <a:ext cx="573405" cy="325755"/>
          </a:xfrm>
          <a:custGeom>
            <a:avLst/>
            <a:gdLst/>
            <a:ahLst/>
            <a:cxnLst/>
            <a:rect l="l" t="t" r="r" b="b"/>
            <a:pathLst>
              <a:path w="573405" h="325755">
                <a:moveTo>
                  <a:pt x="0" y="0"/>
                </a:moveTo>
                <a:lnTo>
                  <a:pt x="572835" y="32551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28982" y="2380532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54762" y="3425504"/>
            <a:ext cx="985519" cy="125095"/>
          </a:xfrm>
          <a:custGeom>
            <a:avLst/>
            <a:gdLst/>
            <a:ahLst/>
            <a:cxnLst/>
            <a:rect l="l" t="t" r="r" b="b"/>
            <a:pathLst>
              <a:path w="985519" h="125095">
                <a:moveTo>
                  <a:pt x="0" y="0"/>
                </a:moveTo>
                <a:lnTo>
                  <a:pt x="985201" y="12501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05723" y="3371454"/>
            <a:ext cx="671195" cy="179070"/>
          </a:xfrm>
          <a:custGeom>
            <a:avLst/>
            <a:gdLst/>
            <a:ahLst/>
            <a:cxnLst/>
            <a:rect l="l" t="t" r="r" b="b"/>
            <a:pathLst>
              <a:path w="671195" h="179070">
                <a:moveTo>
                  <a:pt x="0" y="179068"/>
                </a:moveTo>
                <a:lnTo>
                  <a:pt x="670665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01197" y="2782491"/>
            <a:ext cx="283845" cy="513080"/>
          </a:xfrm>
          <a:custGeom>
            <a:avLst/>
            <a:gdLst/>
            <a:ahLst/>
            <a:cxnLst/>
            <a:rect l="l" t="t" r="r" b="b"/>
            <a:pathLst>
              <a:path w="283844" h="513079">
                <a:moveTo>
                  <a:pt x="283499" y="0"/>
                </a:moveTo>
                <a:lnTo>
                  <a:pt x="0" y="512519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70628" y="2246390"/>
            <a:ext cx="252729" cy="1120140"/>
          </a:xfrm>
          <a:custGeom>
            <a:avLst/>
            <a:gdLst/>
            <a:ahLst/>
            <a:cxnLst/>
            <a:rect l="l" t="t" r="r" b="b"/>
            <a:pathLst>
              <a:path w="252730" h="1120139">
                <a:moveTo>
                  <a:pt x="252213" y="111958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99944" y="2192336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3" y="32916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9281" y="3556000"/>
            <a:ext cx="353695" cy="431165"/>
          </a:xfrm>
          <a:custGeom>
            <a:avLst/>
            <a:gdLst/>
            <a:ahLst/>
            <a:cxnLst/>
            <a:rect l="l" t="t" r="r" b="b"/>
            <a:pathLst>
              <a:path w="353694" h="431164">
                <a:moveTo>
                  <a:pt x="353284" y="0"/>
                </a:moveTo>
                <a:lnTo>
                  <a:pt x="0" y="43076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01197" y="3556000"/>
            <a:ext cx="401955" cy="443230"/>
          </a:xfrm>
          <a:custGeom>
            <a:avLst/>
            <a:gdLst/>
            <a:ahLst/>
            <a:cxnLst/>
            <a:rect l="l" t="t" r="r" b="b"/>
            <a:pathLst>
              <a:path w="401955" h="443229">
                <a:moveTo>
                  <a:pt x="0" y="0"/>
                </a:moveTo>
                <a:lnTo>
                  <a:pt x="401387" y="44314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94196" y="2234086"/>
            <a:ext cx="592455" cy="325755"/>
          </a:xfrm>
          <a:custGeom>
            <a:avLst/>
            <a:gdLst/>
            <a:ahLst/>
            <a:cxnLst/>
            <a:rect l="l" t="t" r="r" b="b"/>
            <a:pathLst>
              <a:path w="592454" h="325755">
                <a:moveTo>
                  <a:pt x="0" y="0"/>
                </a:moveTo>
                <a:lnTo>
                  <a:pt x="592347" y="325515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22746" y="2418633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37097" y="3463604"/>
            <a:ext cx="1008380" cy="125095"/>
          </a:xfrm>
          <a:custGeom>
            <a:avLst/>
            <a:gdLst/>
            <a:ahLst/>
            <a:cxnLst/>
            <a:rect l="l" t="t" r="r" b="b"/>
            <a:pathLst>
              <a:path w="1008379" h="125095">
                <a:moveTo>
                  <a:pt x="0" y="0"/>
                </a:moveTo>
                <a:lnTo>
                  <a:pt x="1008063" y="12501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88060" y="3409552"/>
            <a:ext cx="690245" cy="179070"/>
          </a:xfrm>
          <a:custGeom>
            <a:avLst/>
            <a:gdLst/>
            <a:ahLst/>
            <a:cxnLst/>
            <a:rect l="l" t="t" r="r" b="b"/>
            <a:pathLst>
              <a:path w="690245" h="179070">
                <a:moveTo>
                  <a:pt x="0" y="179069"/>
                </a:moveTo>
                <a:lnTo>
                  <a:pt x="69017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83049" y="3594102"/>
            <a:ext cx="361950" cy="431165"/>
          </a:xfrm>
          <a:custGeom>
            <a:avLst/>
            <a:gdLst/>
            <a:ahLst/>
            <a:cxnLst/>
            <a:rect l="l" t="t" r="r" b="b"/>
            <a:pathLst>
              <a:path w="361950" h="431164">
                <a:moveTo>
                  <a:pt x="361367" y="0"/>
                </a:moveTo>
                <a:lnTo>
                  <a:pt x="0" y="43076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86883" y="3594101"/>
            <a:ext cx="421005" cy="443230"/>
          </a:xfrm>
          <a:custGeom>
            <a:avLst/>
            <a:gdLst/>
            <a:ahLst/>
            <a:cxnLst/>
            <a:rect l="l" t="t" r="r" b="b"/>
            <a:pathLst>
              <a:path w="421004" h="443229">
                <a:moveTo>
                  <a:pt x="0" y="0"/>
                </a:moveTo>
                <a:lnTo>
                  <a:pt x="420897" y="44314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43329" y="2192336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48524" y="2230437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43328" y="2782492"/>
            <a:ext cx="550545" cy="637540"/>
          </a:xfrm>
          <a:custGeom>
            <a:avLst/>
            <a:gdLst/>
            <a:ahLst/>
            <a:cxnLst/>
            <a:rect l="l" t="t" r="r" b="b"/>
            <a:pathLst>
              <a:path w="550544" h="637539">
                <a:moveTo>
                  <a:pt x="550199" y="63753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48524" y="2820590"/>
            <a:ext cx="550545" cy="637540"/>
          </a:xfrm>
          <a:custGeom>
            <a:avLst/>
            <a:gdLst/>
            <a:ahLst/>
            <a:cxnLst/>
            <a:rect l="l" t="t" r="r" b="b"/>
            <a:pathLst>
              <a:path w="550545" h="637539">
                <a:moveTo>
                  <a:pt x="550199" y="637536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05141" y="2230437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1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5216" y="341375"/>
            <a:ext cx="708050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87748" y="187729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987748" y="187729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31131" y="24674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31131" y="24674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39961" y="33659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39961" y="33659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89000" y="324095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89000" y="324095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46100" y="201144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6100" y="201144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59062" y="24674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59062" y="24674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22823" y="30564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222823" y="30564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6400" y="39867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06400" y="39867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431131" y="399914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431131" y="399914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92944" y="191539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292944" y="191539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36326" y="25055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36326" y="25055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45157" y="340407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545157" y="340407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94195" y="32790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94195" y="32790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851295" y="204954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851295" y="204954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964257" y="25055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964257" y="25055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11595" y="40248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711595" y="40248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736326" y="40372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736326" y="40372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965447" y="2965704"/>
            <a:ext cx="1773936" cy="3108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006470" y="3037361"/>
            <a:ext cx="1578610" cy="114300"/>
          </a:xfrm>
          <a:custGeom>
            <a:avLst/>
            <a:gdLst/>
            <a:ahLst/>
            <a:cxnLst/>
            <a:rect l="l" t="t" r="r" b="b"/>
            <a:pathLst>
              <a:path w="1578610" h="114300">
                <a:moveTo>
                  <a:pt x="1463831" y="76199"/>
                </a:moveTo>
                <a:lnTo>
                  <a:pt x="1463831" y="114300"/>
                </a:lnTo>
                <a:lnTo>
                  <a:pt x="1540031" y="76200"/>
                </a:lnTo>
                <a:lnTo>
                  <a:pt x="1463831" y="76199"/>
                </a:lnTo>
                <a:close/>
              </a:path>
              <a:path w="1578610" h="114300">
                <a:moveTo>
                  <a:pt x="1463831" y="68579"/>
                </a:moveTo>
                <a:lnTo>
                  <a:pt x="1463831" y="76199"/>
                </a:lnTo>
                <a:lnTo>
                  <a:pt x="1482883" y="76200"/>
                </a:lnTo>
                <a:lnTo>
                  <a:pt x="1482883" y="68579"/>
                </a:lnTo>
                <a:lnTo>
                  <a:pt x="1463831" y="68579"/>
                </a:lnTo>
                <a:close/>
              </a:path>
              <a:path w="1578610" h="114300">
                <a:moveTo>
                  <a:pt x="1463831" y="60959"/>
                </a:moveTo>
                <a:lnTo>
                  <a:pt x="1463831" y="68579"/>
                </a:lnTo>
                <a:lnTo>
                  <a:pt x="1482883" y="68579"/>
                </a:lnTo>
                <a:lnTo>
                  <a:pt x="1482883" y="76200"/>
                </a:lnTo>
                <a:lnTo>
                  <a:pt x="1540033" y="76198"/>
                </a:lnTo>
                <a:lnTo>
                  <a:pt x="1570511" y="60960"/>
                </a:lnTo>
                <a:lnTo>
                  <a:pt x="1463831" y="60959"/>
                </a:lnTo>
                <a:close/>
              </a:path>
              <a:path w="1578610" h="114300">
                <a:moveTo>
                  <a:pt x="0" y="68578"/>
                </a:moveTo>
                <a:lnTo>
                  <a:pt x="0" y="76198"/>
                </a:lnTo>
                <a:lnTo>
                  <a:pt x="1463831" y="76199"/>
                </a:lnTo>
                <a:lnTo>
                  <a:pt x="1463831" y="68579"/>
                </a:lnTo>
                <a:lnTo>
                  <a:pt x="0" y="68578"/>
                </a:lnTo>
                <a:close/>
              </a:path>
              <a:path w="1578610" h="114300">
                <a:moveTo>
                  <a:pt x="1463831" y="38099"/>
                </a:moveTo>
                <a:lnTo>
                  <a:pt x="1463831" y="60959"/>
                </a:lnTo>
                <a:lnTo>
                  <a:pt x="1482883" y="60960"/>
                </a:lnTo>
                <a:lnTo>
                  <a:pt x="1482883" y="38100"/>
                </a:lnTo>
                <a:lnTo>
                  <a:pt x="1463831" y="38099"/>
                </a:lnTo>
                <a:close/>
              </a:path>
              <a:path w="1578610" h="114300">
                <a:moveTo>
                  <a:pt x="1463831" y="0"/>
                </a:moveTo>
                <a:lnTo>
                  <a:pt x="1463831" y="38099"/>
                </a:lnTo>
                <a:lnTo>
                  <a:pt x="1482883" y="38100"/>
                </a:lnTo>
                <a:lnTo>
                  <a:pt x="1482883" y="60960"/>
                </a:lnTo>
                <a:lnTo>
                  <a:pt x="1570513" y="60958"/>
                </a:lnTo>
                <a:lnTo>
                  <a:pt x="1578131" y="57150"/>
                </a:lnTo>
                <a:lnTo>
                  <a:pt x="1463831" y="0"/>
                </a:lnTo>
                <a:close/>
              </a:path>
              <a:path w="1578610" h="114300">
                <a:moveTo>
                  <a:pt x="0" y="38098"/>
                </a:moveTo>
                <a:lnTo>
                  <a:pt x="0" y="60958"/>
                </a:lnTo>
                <a:lnTo>
                  <a:pt x="1463831" y="60959"/>
                </a:lnTo>
                <a:lnTo>
                  <a:pt x="1463831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85140" y="1555496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68387" y="1543303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1308" y="2890520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258242" y="2637535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93293" y="3615944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373919" y="2421116"/>
            <a:ext cx="627379" cy="627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473440" y="321154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473440" y="321154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554227" y="4500372"/>
            <a:ext cx="6734175" cy="235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240" indent="-320040">
              <a:lnSpc>
                <a:spcPts val="3829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96875" algn="l"/>
              </a:tabLst>
            </a:pP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 spc="-5">
                <a:latin typeface="Calibri"/>
                <a:cs typeface="Calibri"/>
              </a:rPr>
              <a:t>labels of some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marL="3962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96875" algn="l"/>
              </a:tabLst>
            </a:pPr>
            <a:r>
              <a:rPr dirty="0" sz="3200" spc="-25">
                <a:latin typeface="Calibri"/>
                <a:cs typeface="Calibri"/>
              </a:rPr>
              <a:t>Let’s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5">
                <a:latin typeface="Calibri"/>
                <a:cs typeface="Calibri"/>
              </a:rPr>
              <a:t>labels of unlabeled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marL="396240" marR="541655" indent="-320040">
              <a:lnSpc>
                <a:spcPts val="3790"/>
              </a:lnSpc>
              <a:spcBef>
                <a:spcPts val="21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96875" algn="l"/>
              </a:tabLst>
            </a:pPr>
            <a:r>
              <a:rPr dirty="0" sz="3200">
                <a:latin typeface="Calibri"/>
                <a:cs typeface="Calibri"/>
              </a:rPr>
              <a:t>This is </a:t>
            </a:r>
            <a:r>
              <a:rPr dirty="0" sz="3200" spc="-10">
                <a:latin typeface="Calibri"/>
                <a:cs typeface="Calibri"/>
              </a:rPr>
              <a:t>called </a:t>
            </a:r>
            <a:r>
              <a:rPr dirty="0" sz="3200" spc="-5">
                <a:latin typeface="Calibri"/>
                <a:cs typeface="Calibri"/>
              </a:rPr>
              <a:t>semi-supervised </a:t>
            </a:r>
            <a:r>
              <a:rPr dirty="0" sz="3200">
                <a:latin typeface="Calibri"/>
                <a:cs typeface="Calibri"/>
              </a:rPr>
              <a:t>node  </a:t>
            </a:r>
            <a:r>
              <a:rPr dirty="0" sz="3200" spc="-10"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18044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160780"/>
            <a:ext cx="8093075" cy="2134870"/>
          </a:xfrm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332740" marR="5080" indent="-320040">
              <a:lnSpc>
                <a:spcPct val="90300"/>
              </a:lnSpc>
              <a:spcBef>
                <a:spcPts val="45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FF0000"/>
                </a:solidFill>
                <a:latin typeface="Calibri"/>
                <a:cs typeface="Calibri"/>
              </a:rPr>
              <a:t>Main </a:t>
            </a:r>
            <a:r>
              <a:rPr dirty="0" sz="3000" spc="-10" b="1">
                <a:solidFill>
                  <a:srgbClr val="FF0000"/>
                </a:solidFill>
                <a:latin typeface="Calibri"/>
                <a:cs typeface="Calibri"/>
              </a:rPr>
              <a:t>question </a:t>
            </a:r>
            <a:r>
              <a:rPr dirty="0" sz="3000" spc="-20" b="1">
                <a:solidFill>
                  <a:srgbClr val="FF0000"/>
                </a:solidFill>
                <a:latin typeface="Calibri"/>
                <a:cs typeface="Calibri"/>
              </a:rPr>
              <a:t>today: </a:t>
            </a:r>
            <a:r>
              <a:rPr dirty="0" sz="3000" spc="-15"/>
              <a:t>Given </a:t>
            </a:r>
            <a:r>
              <a:rPr dirty="0" sz="3000"/>
              <a:t>a </a:t>
            </a:r>
            <a:r>
              <a:rPr dirty="0" sz="3000" spc="-10"/>
              <a:t>network </a:t>
            </a:r>
            <a:r>
              <a:rPr dirty="0" sz="3000" spc="-5"/>
              <a:t>with labels  </a:t>
            </a:r>
            <a:r>
              <a:rPr dirty="0" sz="3000"/>
              <a:t>on some </a:t>
            </a:r>
            <a:r>
              <a:rPr dirty="0" sz="3000" spc="-5"/>
              <a:t>nodes, how do </a:t>
            </a:r>
            <a:r>
              <a:rPr dirty="0" sz="3000" spc="-15"/>
              <a:t>we </a:t>
            </a:r>
            <a:r>
              <a:rPr dirty="0" sz="3000" spc="-5"/>
              <a:t>assign labels </a:t>
            </a:r>
            <a:r>
              <a:rPr dirty="0" sz="3000" spc="-20"/>
              <a:t>to </a:t>
            </a:r>
            <a:r>
              <a:rPr dirty="0" sz="3000" spc="-5"/>
              <a:t>all  other nodes in the</a:t>
            </a:r>
            <a:r>
              <a:rPr dirty="0" sz="3000" spc="-65"/>
              <a:t> </a:t>
            </a:r>
            <a:r>
              <a:rPr dirty="0" sz="3000" spc="-10"/>
              <a:t>network?</a:t>
            </a:r>
            <a:endParaRPr sz="3000">
              <a:latin typeface="Calibri"/>
              <a:cs typeface="Calibri"/>
            </a:endParaRPr>
          </a:p>
          <a:p>
            <a:pPr marL="332740" marR="198755" indent="-320040">
              <a:lnSpc>
                <a:spcPts val="3220"/>
              </a:lnSpc>
              <a:spcBef>
                <a:spcPts val="11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70" b="1">
                <a:latin typeface="Calibri"/>
                <a:cs typeface="Calibri"/>
              </a:rPr>
              <a:t>Today </a:t>
            </a:r>
            <a:r>
              <a:rPr dirty="0" sz="3000" spc="-15" b="1">
                <a:latin typeface="Calibri"/>
                <a:cs typeface="Calibri"/>
              </a:rPr>
              <a:t>we </a:t>
            </a:r>
            <a:r>
              <a:rPr dirty="0" sz="3000" b="1">
                <a:latin typeface="Calibri"/>
                <a:cs typeface="Calibri"/>
              </a:rPr>
              <a:t>will </a:t>
            </a:r>
            <a:r>
              <a:rPr dirty="0" sz="3000" spc="-5" b="1">
                <a:latin typeface="Calibri"/>
                <a:cs typeface="Calibri"/>
              </a:rPr>
              <a:t>discuss an </a:t>
            </a:r>
            <a:r>
              <a:rPr dirty="0" sz="3000" spc="-15" b="1">
                <a:latin typeface="Calibri"/>
                <a:cs typeface="Calibri"/>
              </a:rPr>
              <a:t>alternative framework: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30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passing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159564"/>
            <a:ext cx="8171815" cy="350329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6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Intuition: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Correlations </a:t>
            </a:r>
            <a:r>
              <a:rPr dirty="0" sz="3000" spc="-20">
                <a:latin typeface="Calibri"/>
                <a:cs typeface="Calibri"/>
              </a:rPr>
              <a:t>exist </a:t>
            </a:r>
            <a:r>
              <a:rPr dirty="0" sz="3000" spc="-5">
                <a:latin typeface="Calibri"/>
                <a:cs typeface="Calibri"/>
              </a:rPr>
              <a:t>in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networks.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In other </a:t>
            </a:r>
            <a:r>
              <a:rPr dirty="0" sz="2600" spc="-15">
                <a:latin typeface="Calibri"/>
                <a:cs typeface="Calibri"/>
              </a:rPr>
              <a:t>words: </a:t>
            </a:r>
            <a:r>
              <a:rPr dirty="0" sz="2600" spc="-5">
                <a:latin typeface="Calibri"/>
                <a:cs typeface="Calibri"/>
              </a:rPr>
              <a:t>Similar nodes </a:t>
            </a:r>
            <a:r>
              <a:rPr dirty="0" sz="2600" spc="-10">
                <a:latin typeface="Calibri"/>
                <a:cs typeface="Calibri"/>
              </a:rPr>
              <a:t>are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connected</a:t>
            </a:r>
            <a:endParaRPr sz="2600">
              <a:latin typeface="Calibri"/>
              <a:cs typeface="Calibri"/>
            </a:endParaRPr>
          </a:p>
          <a:p>
            <a:pPr lvl="1" marL="625475" marR="5080" indent="-274320">
              <a:lnSpc>
                <a:spcPts val="278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25" b="1">
                <a:latin typeface="Calibri"/>
                <a:cs typeface="Calibri"/>
              </a:rPr>
              <a:t>Key </a:t>
            </a:r>
            <a:r>
              <a:rPr dirty="0" sz="2600" spc="-5" b="1">
                <a:latin typeface="Calibri"/>
                <a:cs typeface="Calibri"/>
              </a:rPr>
              <a:t>concept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0" b="1">
                <a:solidFill>
                  <a:srgbClr val="D60093"/>
                </a:solidFill>
                <a:latin typeface="Calibri"/>
                <a:cs typeface="Calibri"/>
              </a:rPr>
              <a:t>collective </a:t>
            </a:r>
            <a:r>
              <a:rPr dirty="0" sz="2600" spc="-5" b="1">
                <a:solidFill>
                  <a:srgbClr val="D60093"/>
                </a:solidFill>
                <a:latin typeface="Calibri"/>
                <a:cs typeface="Calibri"/>
              </a:rPr>
              <a:t>classification</a:t>
            </a:r>
            <a:r>
              <a:rPr dirty="0" sz="2600" spc="-5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z="2600" spc="-10">
                <a:latin typeface="Calibri"/>
                <a:cs typeface="Calibri"/>
              </a:rPr>
              <a:t>Idea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60">
                <a:latin typeface="Calibri"/>
                <a:cs typeface="Calibri"/>
              </a:rPr>
              <a:t>assigning  </a:t>
            </a:r>
            <a:r>
              <a:rPr dirty="0" sz="2600" spc="-5">
                <a:latin typeface="Calibri"/>
                <a:cs typeface="Calibri"/>
              </a:rPr>
              <a:t>labels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all </a:t>
            </a: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>
                <a:latin typeface="Calibri"/>
                <a:cs typeface="Calibri"/>
              </a:rPr>
              <a:t>in a </a:t>
            </a:r>
            <a:r>
              <a:rPr dirty="0" sz="2600" spc="-10">
                <a:latin typeface="Calibri"/>
                <a:cs typeface="Calibri"/>
              </a:rPr>
              <a:t>network </a:t>
            </a:r>
            <a:r>
              <a:rPr dirty="0" sz="2600" spc="-15">
                <a:latin typeface="Calibri"/>
                <a:cs typeface="Calibri"/>
              </a:rPr>
              <a:t>together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26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1">
                <a:latin typeface="Calibri"/>
                <a:cs typeface="Calibri"/>
              </a:rPr>
              <a:t>We </a:t>
            </a:r>
            <a:r>
              <a:rPr dirty="0" sz="3000" b="1">
                <a:latin typeface="Calibri"/>
                <a:cs typeface="Calibri"/>
              </a:rPr>
              <a:t>will look </a:t>
            </a:r>
            <a:r>
              <a:rPr dirty="0" sz="3000" spc="-20" b="1">
                <a:latin typeface="Calibri"/>
                <a:cs typeface="Calibri"/>
              </a:rPr>
              <a:t>at </a:t>
            </a:r>
            <a:r>
              <a:rPr dirty="0" sz="3000" spc="-10" b="1">
                <a:latin typeface="Calibri"/>
                <a:cs typeface="Calibri"/>
              </a:rPr>
              <a:t>three </a:t>
            </a:r>
            <a:r>
              <a:rPr dirty="0" sz="3000" spc="-5" b="1">
                <a:latin typeface="Calibri"/>
                <a:cs typeface="Calibri"/>
              </a:rPr>
              <a:t>techniques </a:t>
            </a:r>
            <a:r>
              <a:rPr dirty="0" sz="3000" spc="-20" b="1">
                <a:latin typeface="Calibri"/>
                <a:cs typeface="Calibri"/>
              </a:rPr>
              <a:t>today: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solidFill>
                  <a:srgbClr val="FF0000"/>
                </a:solidFill>
                <a:latin typeface="Calibri"/>
                <a:cs typeface="Calibri"/>
              </a:rPr>
              <a:t>Relational</a:t>
            </a:r>
            <a:r>
              <a:rPr dirty="0" sz="2600" spc="-8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20" b="1">
                <a:solidFill>
                  <a:srgbClr val="0000FF"/>
                </a:solidFill>
                <a:latin typeface="Calibri"/>
                <a:cs typeface="Calibri"/>
              </a:rPr>
              <a:t>Iterative</a:t>
            </a:r>
            <a:r>
              <a:rPr dirty="0" sz="2600" spc="-8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00FF"/>
                </a:solidFill>
                <a:latin typeface="Calibri"/>
                <a:cs typeface="Calibri"/>
              </a:rPr>
              <a:t>classification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008000"/>
                </a:solidFill>
                <a:latin typeface="Calibri"/>
                <a:cs typeface="Calibri"/>
              </a:rPr>
              <a:t>Belief</a:t>
            </a:r>
            <a:r>
              <a:rPr dirty="0" sz="2600" spc="-9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8000"/>
                </a:solidFill>
                <a:latin typeface="Calibri"/>
                <a:cs typeface="Calibri"/>
              </a:rPr>
              <a:t>propagation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66876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186295" cy="19735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492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Individual </a:t>
            </a:r>
            <a:r>
              <a:rPr dirty="0" sz="3200" spc="-15">
                <a:latin typeface="Calibri"/>
                <a:cs typeface="Calibri"/>
              </a:rPr>
              <a:t>behaviors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correlated </a:t>
            </a:r>
            <a:r>
              <a:rPr dirty="0" sz="3200">
                <a:latin typeface="Calibri"/>
                <a:cs typeface="Calibri"/>
              </a:rPr>
              <a:t>in the  </a:t>
            </a:r>
            <a:r>
              <a:rPr dirty="0" sz="3200" spc="-15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Correlation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nearby nodes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  </a:t>
            </a:r>
            <a:r>
              <a:rPr dirty="0" sz="3200" spc="-10">
                <a:latin typeface="Calibri"/>
                <a:cs typeface="Calibri"/>
              </a:rPr>
              <a:t>color </a:t>
            </a:r>
            <a:r>
              <a:rPr dirty="0" sz="3200" spc="-5">
                <a:latin typeface="Calibri"/>
                <a:cs typeface="Calibri"/>
              </a:rPr>
              <a:t>(belonging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class)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11051" y="5466594"/>
            <a:ext cx="414020" cy="570230"/>
          </a:xfrm>
          <a:custGeom>
            <a:avLst/>
            <a:gdLst/>
            <a:ahLst/>
            <a:cxnLst/>
            <a:rect l="l" t="t" r="r" b="b"/>
            <a:pathLst>
              <a:path w="414020" h="570229">
                <a:moveTo>
                  <a:pt x="0" y="0"/>
                </a:moveTo>
                <a:lnTo>
                  <a:pt x="413675" y="5700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73253" y="3940563"/>
            <a:ext cx="592455" cy="325755"/>
          </a:xfrm>
          <a:custGeom>
            <a:avLst/>
            <a:gdLst/>
            <a:ahLst/>
            <a:cxnLst/>
            <a:rect l="l" t="t" r="r" b="b"/>
            <a:pathLst>
              <a:path w="592454" h="325754">
                <a:moveTo>
                  <a:pt x="0" y="0"/>
                </a:moveTo>
                <a:lnTo>
                  <a:pt x="592347" y="325515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1803" y="4125112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6154" y="5170082"/>
            <a:ext cx="1008380" cy="125095"/>
          </a:xfrm>
          <a:custGeom>
            <a:avLst/>
            <a:gdLst/>
            <a:ahLst/>
            <a:cxnLst/>
            <a:rect l="l" t="t" r="r" b="b"/>
            <a:pathLst>
              <a:path w="1008379" h="125095">
                <a:moveTo>
                  <a:pt x="0" y="0"/>
                </a:moveTo>
                <a:lnTo>
                  <a:pt x="1008063" y="12501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67115" y="5116030"/>
            <a:ext cx="690245" cy="179070"/>
          </a:xfrm>
          <a:custGeom>
            <a:avLst/>
            <a:gdLst/>
            <a:ahLst/>
            <a:cxnLst/>
            <a:rect l="l" t="t" r="r" b="b"/>
            <a:pathLst>
              <a:path w="690245" h="179070">
                <a:moveTo>
                  <a:pt x="0" y="179069"/>
                </a:moveTo>
                <a:lnTo>
                  <a:pt x="69017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65938" y="4527071"/>
            <a:ext cx="299720" cy="513080"/>
          </a:xfrm>
          <a:custGeom>
            <a:avLst/>
            <a:gdLst/>
            <a:ahLst/>
            <a:cxnLst/>
            <a:rect l="l" t="t" r="r" b="b"/>
            <a:pathLst>
              <a:path w="299720" h="513079">
                <a:moveTo>
                  <a:pt x="299663" y="0"/>
                </a:moveTo>
                <a:lnTo>
                  <a:pt x="0" y="51252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65939" y="5300578"/>
            <a:ext cx="421005" cy="443230"/>
          </a:xfrm>
          <a:custGeom>
            <a:avLst/>
            <a:gdLst/>
            <a:ahLst/>
            <a:cxnLst/>
            <a:rect l="l" t="t" r="r" b="b"/>
            <a:pathLst>
              <a:path w="421004" h="443229">
                <a:moveTo>
                  <a:pt x="0" y="0"/>
                </a:moveTo>
                <a:lnTo>
                  <a:pt x="420897" y="44314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27581" y="3936916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27578" y="4527069"/>
            <a:ext cx="581025" cy="651510"/>
          </a:xfrm>
          <a:custGeom>
            <a:avLst/>
            <a:gdLst/>
            <a:ahLst/>
            <a:cxnLst/>
            <a:rect l="l" t="t" r="r" b="b"/>
            <a:pathLst>
              <a:path w="581025" h="651510">
                <a:moveTo>
                  <a:pt x="580559" y="650997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84197" y="3936916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1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72000" y="362187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72000" y="362187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15383" y="421202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15383" y="421202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65600" y="56995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65600" y="56995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73250" y="498553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73250" y="498553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30350" y="375601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30350" y="375601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43313" y="421202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43313" y="421202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55573" y="589204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55573" y="589204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54573" y="512401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54573" y="512401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52495" y="491802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52495" y="491802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42492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5212"/>
            <a:ext cx="71494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Main types </a:t>
            </a:r>
            <a:r>
              <a:rPr dirty="0" b="1">
                <a:latin typeface="Calibri"/>
                <a:cs typeface="Calibri"/>
              </a:rPr>
              <a:t>of </a:t>
            </a:r>
            <a:r>
              <a:rPr dirty="0" spc="-5" b="1">
                <a:latin typeface="Calibri"/>
                <a:cs typeface="Calibri"/>
              </a:rPr>
              <a:t>dependencies </a:t>
            </a:r>
            <a:r>
              <a:rPr dirty="0" spc="-10" b="1">
                <a:latin typeface="Calibri"/>
                <a:cs typeface="Calibri"/>
              </a:rPr>
              <a:t>that </a:t>
            </a:r>
            <a:r>
              <a:rPr dirty="0" spc="-5" b="1">
                <a:latin typeface="Calibri"/>
                <a:cs typeface="Calibri"/>
              </a:rPr>
              <a:t>lead </a:t>
            </a:r>
            <a:r>
              <a:rPr dirty="0" spc="-15" b="1">
                <a:latin typeface="Calibri"/>
                <a:cs typeface="Calibri"/>
              </a:rPr>
              <a:t>to  </a:t>
            </a:r>
            <a:r>
              <a:rPr dirty="0" spc="-10" b="1">
                <a:latin typeface="Calibri"/>
                <a:cs typeface="Calibri"/>
              </a:rPr>
              <a:t>correlation:</a:t>
            </a:r>
          </a:p>
        </p:txBody>
      </p:sp>
      <p:sp>
        <p:nvSpPr>
          <p:cNvPr id="4" name="object 4"/>
          <p:cNvSpPr/>
          <p:nvPr/>
        </p:nvSpPr>
        <p:spPr>
          <a:xfrm>
            <a:off x="2221109" y="3216925"/>
            <a:ext cx="1374648" cy="765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21109" y="5065539"/>
            <a:ext cx="1374648" cy="765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79833" y="4076462"/>
            <a:ext cx="457200" cy="915035"/>
          </a:xfrm>
          <a:custGeom>
            <a:avLst/>
            <a:gdLst/>
            <a:ahLst/>
            <a:cxnLst/>
            <a:rect l="l" t="t" r="r" b="b"/>
            <a:pathLst>
              <a:path w="457200" h="915035">
                <a:moveTo>
                  <a:pt x="228600" y="914401"/>
                </a:moveTo>
                <a:lnTo>
                  <a:pt x="457200" y="685801"/>
                </a:lnTo>
                <a:lnTo>
                  <a:pt x="306322" y="685801"/>
                </a:lnTo>
                <a:lnTo>
                  <a:pt x="306322" y="0"/>
                </a:lnTo>
                <a:lnTo>
                  <a:pt x="150877" y="0"/>
                </a:lnTo>
                <a:lnTo>
                  <a:pt x="150877" y="685801"/>
                </a:lnTo>
                <a:lnTo>
                  <a:pt x="0" y="685801"/>
                </a:lnTo>
                <a:lnTo>
                  <a:pt x="228600" y="91440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74148" y="3216417"/>
            <a:ext cx="1374648" cy="765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74148" y="5065018"/>
            <a:ext cx="1374648" cy="7650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32872" y="4075941"/>
            <a:ext cx="457200" cy="914400"/>
          </a:xfrm>
          <a:custGeom>
            <a:avLst/>
            <a:gdLst/>
            <a:ahLst/>
            <a:cxnLst/>
            <a:rect l="l" t="t" r="r" b="b"/>
            <a:pathLst>
              <a:path w="457200" h="914400">
                <a:moveTo>
                  <a:pt x="228600" y="914401"/>
                </a:moveTo>
                <a:lnTo>
                  <a:pt x="457200" y="685801"/>
                </a:lnTo>
                <a:lnTo>
                  <a:pt x="306322" y="685801"/>
                </a:lnTo>
                <a:lnTo>
                  <a:pt x="306322" y="0"/>
                </a:lnTo>
                <a:lnTo>
                  <a:pt x="150877" y="0"/>
                </a:lnTo>
                <a:lnTo>
                  <a:pt x="150877" y="685801"/>
                </a:lnTo>
                <a:lnTo>
                  <a:pt x="0" y="685801"/>
                </a:lnTo>
                <a:lnTo>
                  <a:pt x="228600" y="91440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01284" y="2771139"/>
            <a:ext cx="42037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8805" algn="l"/>
              </a:tabLst>
            </a:pPr>
            <a:r>
              <a:rPr dirty="0" sz="2200" spc="-5">
                <a:solidFill>
                  <a:srgbClr val="0000FF"/>
                </a:solidFill>
                <a:latin typeface="Calibri"/>
                <a:cs typeface="Calibri"/>
              </a:rPr>
              <a:t>Homophily	</a:t>
            </a:r>
            <a:r>
              <a:rPr dirty="0" sz="2200" spc="-10">
                <a:solidFill>
                  <a:srgbClr val="0000FF"/>
                </a:solidFill>
                <a:latin typeface="Calibri"/>
                <a:cs typeface="Calibri"/>
              </a:rPr>
              <a:t>Influence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6974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20724"/>
            <a:ext cx="5829935" cy="1391285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D60093"/>
                </a:solidFill>
                <a:latin typeface="Calibri"/>
                <a:cs typeface="Calibri"/>
              </a:rPr>
              <a:t>Homophily</a:t>
            </a:r>
            <a:r>
              <a:rPr dirty="0" spc="-5"/>
              <a:t>: </a:t>
            </a:r>
            <a:r>
              <a:rPr dirty="0"/>
              <a:t>The </a:t>
            </a:r>
            <a:r>
              <a:rPr dirty="0" spc="-10"/>
              <a:t>tendency </a:t>
            </a:r>
            <a:r>
              <a:rPr dirty="0"/>
              <a:t>of  individuals </a:t>
            </a:r>
            <a:r>
              <a:rPr dirty="0" spc="-15"/>
              <a:t>to </a:t>
            </a:r>
            <a:r>
              <a:rPr dirty="0" spc="-10"/>
              <a:t>associate </a:t>
            </a:r>
            <a:r>
              <a:rPr dirty="0"/>
              <a:t>and bond </a:t>
            </a:r>
            <a:r>
              <a:rPr dirty="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with similar</a:t>
            </a:r>
            <a:r>
              <a:rPr dirty="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others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588260"/>
            <a:ext cx="5874385" cy="412813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i="1">
                <a:latin typeface="Calibri"/>
                <a:cs typeface="Calibri"/>
              </a:rPr>
              <a:t>“Birds </a:t>
            </a:r>
            <a:r>
              <a:rPr dirty="0" sz="2800" i="1">
                <a:latin typeface="Calibri"/>
                <a:cs typeface="Calibri"/>
              </a:rPr>
              <a:t>of a </a:t>
            </a:r>
            <a:r>
              <a:rPr dirty="0" sz="2800" spc="-10" i="1">
                <a:latin typeface="Calibri"/>
                <a:cs typeface="Calibri"/>
              </a:rPr>
              <a:t>feather </a:t>
            </a:r>
            <a:r>
              <a:rPr dirty="0" sz="2800" spc="-5" i="1">
                <a:latin typeface="Calibri"/>
                <a:cs typeface="Calibri"/>
              </a:rPr>
              <a:t>flock</a:t>
            </a:r>
            <a:r>
              <a:rPr dirty="0" sz="2800" spc="-40" i="1">
                <a:latin typeface="Calibri"/>
                <a:cs typeface="Calibri"/>
              </a:rPr>
              <a:t> </a:t>
            </a:r>
            <a:r>
              <a:rPr dirty="0" sz="2800" spc="0" i="1">
                <a:latin typeface="Calibri"/>
                <a:cs typeface="Calibri"/>
              </a:rPr>
              <a:t>together”</a:t>
            </a:r>
            <a:endParaRPr sz="2800">
              <a:latin typeface="Calibri"/>
              <a:cs typeface="Calibri"/>
            </a:endParaRPr>
          </a:p>
          <a:p>
            <a:pPr marL="287020" marR="88900" indent="-274320">
              <a:lnSpc>
                <a:spcPct val="902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It has been observed 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vast </a:t>
            </a:r>
            <a:r>
              <a:rPr dirty="0" sz="2800" spc="-30">
                <a:latin typeface="Calibri"/>
                <a:cs typeface="Calibri"/>
              </a:rPr>
              <a:t>array </a:t>
            </a:r>
            <a:r>
              <a:rPr dirty="0" sz="2800" spc="-215">
                <a:latin typeface="Calibri"/>
                <a:cs typeface="Calibri"/>
              </a:rPr>
              <a:t>of  </a:t>
            </a:r>
            <a:r>
              <a:rPr dirty="0" sz="2800" spc="-10">
                <a:latin typeface="Calibri"/>
                <a:cs typeface="Calibri"/>
              </a:rPr>
              <a:t>network studies, </a:t>
            </a:r>
            <a:r>
              <a:rPr dirty="0" sz="2800" spc="-5">
                <a:latin typeface="Calibri"/>
                <a:cs typeface="Calibri"/>
              </a:rPr>
              <a:t>based on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variety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15">
                <a:latin typeface="Calibri"/>
                <a:cs typeface="Calibri"/>
              </a:rPr>
              <a:t>attributes </a:t>
            </a:r>
            <a:r>
              <a:rPr dirty="0" sz="2800">
                <a:latin typeface="Calibri"/>
                <a:cs typeface="Calibri"/>
              </a:rPr>
              <a:t>(e.g., </a:t>
            </a:r>
            <a:r>
              <a:rPr dirty="0" sz="2800" spc="-15">
                <a:latin typeface="Calibri"/>
                <a:cs typeface="Calibri"/>
              </a:rPr>
              <a:t>age, </a:t>
            </a:r>
            <a:r>
              <a:rPr dirty="0" sz="2800" spc="-45">
                <a:latin typeface="Calibri"/>
                <a:cs typeface="Calibri"/>
              </a:rPr>
              <a:t>gender,  </a:t>
            </a:r>
            <a:r>
              <a:rPr dirty="0" sz="2800" spc="-20">
                <a:latin typeface="Calibri"/>
                <a:cs typeface="Calibri"/>
              </a:rPr>
              <a:t>organizational </a:t>
            </a:r>
            <a:r>
              <a:rPr dirty="0" sz="2800" spc="-15">
                <a:latin typeface="Calibri"/>
                <a:cs typeface="Calibri"/>
              </a:rPr>
              <a:t>role,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etc.)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90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5">
                <a:latin typeface="Calibri"/>
                <a:cs typeface="Calibri"/>
              </a:rPr>
              <a:t>Researchers </a:t>
            </a:r>
            <a:r>
              <a:rPr dirty="0" sz="2800" spc="-5">
                <a:latin typeface="Calibri"/>
                <a:cs typeface="Calibri"/>
              </a:rPr>
              <a:t>who </a:t>
            </a:r>
            <a:r>
              <a:rPr dirty="0" sz="2800" spc="-15">
                <a:latin typeface="Calibri"/>
                <a:cs typeface="Calibri"/>
              </a:rPr>
              <a:t>focus </a:t>
            </a:r>
            <a:r>
              <a:rPr dirty="0" sz="2800" spc="-5">
                <a:latin typeface="Calibri"/>
                <a:cs typeface="Calibri"/>
              </a:rPr>
              <a:t>on  the same </a:t>
            </a:r>
            <a:r>
              <a:rPr dirty="0" sz="2800" spc="-15">
                <a:latin typeface="Calibri"/>
                <a:cs typeface="Calibri"/>
              </a:rPr>
              <a:t>research area are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more </a:t>
            </a:r>
            <a:r>
              <a:rPr dirty="0" sz="2800" spc="-20">
                <a:solidFill>
                  <a:srgbClr val="0000FF"/>
                </a:solidFill>
                <a:latin typeface="Calibri"/>
                <a:cs typeface="Calibri"/>
              </a:rPr>
              <a:t>likely 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establish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connection </a:t>
            </a:r>
            <a:r>
              <a:rPr dirty="0" sz="2800" spc="-10">
                <a:latin typeface="Calibri"/>
                <a:cs typeface="Calibri"/>
              </a:rPr>
              <a:t>(meeting </a:t>
            </a:r>
            <a:r>
              <a:rPr dirty="0" sz="2800" spc="-15">
                <a:latin typeface="Calibri"/>
                <a:cs typeface="Calibri"/>
              </a:rPr>
              <a:t>at  </a:t>
            </a:r>
            <a:r>
              <a:rPr dirty="0" sz="2800" spc="-20">
                <a:latin typeface="Calibri"/>
                <a:cs typeface="Calibri"/>
              </a:rPr>
              <a:t>conferences, </a:t>
            </a:r>
            <a:r>
              <a:rPr dirty="0" sz="2800" spc="-15">
                <a:latin typeface="Calibri"/>
                <a:cs typeface="Calibri"/>
              </a:rPr>
              <a:t>interacting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academic  </a:t>
            </a:r>
            <a:r>
              <a:rPr dirty="0" sz="2800" spc="-15">
                <a:latin typeface="Calibri"/>
                <a:cs typeface="Calibri"/>
              </a:rPr>
              <a:t>talks,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etc.)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1365" y="2829145"/>
            <a:ext cx="1374648" cy="765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61365" y="4677759"/>
            <a:ext cx="1374648" cy="765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20089" y="3688681"/>
            <a:ext cx="457200" cy="915035"/>
          </a:xfrm>
          <a:custGeom>
            <a:avLst/>
            <a:gdLst/>
            <a:ahLst/>
            <a:cxnLst/>
            <a:rect l="l" t="t" r="r" b="b"/>
            <a:pathLst>
              <a:path w="457200" h="915035">
                <a:moveTo>
                  <a:pt x="228600" y="914401"/>
                </a:moveTo>
                <a:lnTo>
                  <a:pt x="457200" y="685801"/>
                </a:lnTo>
                <a:lnTo>
                  <a:pt x="306322" y="685801"/>
                </a:lnTo>
                <a:lnTo>
                  <a:pt x="306322" y="0"/>
                </a:lnTo>
                <a:lnTo>
                  <a:pt x="150877" y="0"/>
                </a:lnTo>
                <a:lnTo>
                  <a:pt x="150877" y="685801"/>
                </a:lnTo>
                <a:lnTo>
                  <a:pt x="0" y="685801"/>
                </a:lnTo>
                <a:lnTo>
                  <a:pt x="228600" y="91440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241540" y="2380995"/>
            <a:ext cx="1297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 b="1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dirty="0" sz="2200" spc="-5" b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dirty="0" sz="2200" spc="-10" b="1">
                <a:solidFill>
                  <a:srgbClr val="0000FF"/>
                </a:solidFill>
                <a:latin typeface="Calibri"/>
                <a:cs typeface="Calibri"/>
              </a:rPr>
              <a:t>ph</a:t>
            </a:r>
            <a:r>
              <a:rPr dirty="0" sz="2200" spc="-5" b="1">
                <a:solidFill>
                  <a:srgbClr val="0000FF"/>
                </a:solidFill>
                <a:latin typeface="Calibri"/>
                <a:cs typeface="Calibri"/>
              </a:rPr>
              <a:t>il</a:t>
            </a: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47336" y="1936466"/>
            <a:ext cx="4896664" cy="324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5114544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9211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Example </a:t>
            </a:r>
            <a:r>
              <a:rPr dirty="0" b="1">
                <a:latin typeface="Calibri"/>
                <a:cs typeface="Calibri"/>
              </a:rPr>
              <a:t>of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homophily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Online </a:t>
            </a:r>
            <a:r>
              <a:rPr dirty="0" spc="-5"/>
              <a:t>social</a:t>
            </a:r>
            <a:r>
              <a:rPr dirty="0" spc="-40"/>
              <a:t> </a:t>
            </a:r>
            <a:r>
              <a:rPr dirty="0" spc="-15"/>
              <a:t>network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332227"/>
            <a:ext cx="4417060" cy="39370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people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Edges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friendship</a:t>
            </a:r>
            <a:endParaRPr sz="2800">
              <a:latin typeface="Calibri"/>
              <a:cs typeface="Calibri"/>
            </a:endParaRPr>
          </a:p>
          <a:p>
            <a:pPr marL="625475" marR="608330" indent="-274320">
              <a:lnSpc>
                <a:spcPct val="100699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0">
                <a:latin typeface="Calibri"/>
                <a:cs typeface="Calibri"/>
              </a:rPr>
              <a:t>color </a:t>
            </a:r>
            <a:r>
              <a:rPr dirty="0" sz="2800">
                <a:latin typeface="Calibri"/>
                <a:cs typeface="Calibri"/>
              </a:rPr>
              <a:t>= </a:t>
            </a:r>
            <a:r>
              <a:rPr dirty="0" sz="2800" spc="-95">
                <a:solidFill>
                  <a:srgbClr val="008000"/>
                </a:solidFill>
                <a:latin typeface="Calibri"/>
                <a:cs typeface="Calibri"/>
              </a:rPr>
              <a:t>interests 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(sports, arts,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 etc.)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People </a:t>
            </a: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same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ct val="100299"/>
              </a:lnSpc>
              <a:spcBef>
                <a:spcPts val="60"/>
              </a:spcBef>
            </a:pPr>
            <a:r>
              <a:rPr dirty="0" sz="3200" spc="-20">
                <a:latin typeface="Calibri"/>
                <a:cs typeface="Calibri"/>
              </a:rPr>
              <a:t>interest are </a:t>
            </a:r>
            <a:r>
              <a:rPr dirty="0" sz="3200" spc="-15">
                <a:latin typeface="Calibri"/>
                <a:cs typeface="Calibri"/>
              </a:rPr>
              <a:t>more </a:t>
            </a:r>
            <a:r>
              <a:rPr dirty="0" sz="3200" spc="-5">
                <a:latin typeface="Calibri"/>
                <a:cs typeface="Calibri"/>
              </a:rPr>
              <a:t>closely 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>
                <a:latin typeface="Calibri"/>
                <a:cs typeface="Calibri"/>
              </a:rPr>
              <a:t>due </a:t>
            </a:r>
            <a:r>
              <a:rPr dirty="0" sz="3200" spc="-15">
                <a:latin typeface="Calibri"/>
                <a:cs typeface="Calibri"/>
              </a:rPr>
              <a:t>to  </a:t>
            </a:r>
            <a:r>
              <a:rPr dirty="0" sz="3200" spc="-5">
                <a:latin typeface="Calibri"/>
                <a:cs typeface="Calibri"/>
              </a:rPr>
              <a:t>homophily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4200" y="6037579"/>
            <a:ext cx="297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(Easley and Kleinberg,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2010)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221894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6183630" cy="328295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55600" marR="334010" indent="-34290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55600" algn="l"/>
              </a:tabLst>
            </a:pP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Influence</a:t>
            </a:r>
            <a:r>
              <a:rPr dirty="0" spc="-5"/>
              <a:t>: Social connections </a:t>
            </a:r>
            <a:r>
              <a:rPr dirty="0" spc="-10"/>
              <a:t>can  </a:t>
            </a:r>
            <a:r>
              <a:rPr dirty="0" spc="-5"/>
              <a:t>influence </a:t>
            </a:r>
            <a:r>
              <a:rPr dirty="0"/>
              <a:t>the individual  </a:t>
            </a:r>
            <a:r>
              <a:rPr dirty="0" spc="-15"/>
              <a:t>characteristics </a:t>
            </a:r>
            <a:r>
              <a:rPr dirty="0" spc="-5"/>
              <a:t>of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5"/>
              <a:t>person.</a:t>
            </a:r>
          </a:p>
          <a:p>
            <a:pPr lvl="1" marL="648335" marR="5080" indent="-34290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48335" algn="l"/>
              </a:tabLst>
            </a:pPr>
            <a:r>
              <a:rPr dirty="0" sz="2800" spc="-10" b="1"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I </a:t>
            </a:r>
            <a:r>
              <a:rPr dirty="0" sz="2800" spc="-10">
                <a:latin typeface="Calibri"/>
                <a:cs typeface="Calibri"/>
              </a:rPr>
              <a:t>recommend </a:t>
            </a:r>
            <a:r>
              <a:rPr dirty="0" sz="2800" spc="-30">
                <a:latin typeface="Calibri"/>
                <a:cs typeface="Calibri"/>
              </a:rPr>
              <a:t>my </a:t>
            </a:r>
            <a:r>
              <a:rPr dirty="0" sz="2800" spc="-5">
                <a:latin typeface="Calibri"/>
                <a:cs typeface="Calibri"/>
              </a:rPr>
              <a:t>musical  </a:t>
            </a:r>
            <a:r>
              <a:rPr dirty="0" sz="2800" spc="-20">
                <a:latin typeface="Calibri"/>
                <a:cs typeface="Calibri"/>
              </a:rPr>
              <a:t>preferences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30">
                <a:latin typeface="Calibri"/>
                <a:cs typeface="Calibri"/>
              </a:rPr>
              <a:t>my </a:t>
            </a:r>
            <a:r>
              <a:rPr dirty="0" sz="2800" spc="-5">
                <a:latin typeface="Calibri"/>
                <a:cs typeface="Calibri"/>
              </a:rPr>
              <a:t>friends, </a:t>
            </a:r>
            <a:r>
              <a:rPr dirty="0" sz="2800" spc="-10">
                <a:latin typeface="Calibri"/>
                <a:cs typeface="Calibri"/>
              </a:rPr>
              <a:t>until </a:t>
            </a:r>
            <a:r>
              <a:rPr dirty="0" sz="2800" spc="-5">
                <a:latin typeface="Calibri"/>
                <a:cs typeface="Calibri"/>
              </a:rPr>
              <a:t>one of  them </a:t>
            </a:r>
            <a:r>
              <a:rPr dirty="0" sz="2800" spc="-25">
                <a:latin typeface="Calibri"/>
                <a:cs typeface="Calibri"/>
              </a:rPr>
              <a:t>grows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like </a:t>
            </a:r>
            <a:r>
              <a:rPr dirty="0" sz="2800" spc="-30">
                <a:latin typeface="Calibri"/>
                <a:cs typeface="Calibri"/>
              </a:rPr>
              <a:t>my </a:t>
            </a:r>
            <a:r>
              <a:rPr dirty="0" sz="2800" spc="-5">
                <a:latin typeface="Calibri"/>
                <a:cs typeface="Calibri"/>
              </a:rPr>
              <a:t>same </a:t>
            </a:r>
            <a:r>
              <a:rPr dirty="0" sz="2800" spc="-25">
                <a:latin typeface="Calibri"/>
                <a:cs typeface="Calibri"/>
              </a:rPr>
              <a:t>favorite  </a:t>
            </a:r>
            <a:r>
              <a:rPr dirty="0" sz="2800" spc="-15">
                <a:latin typeface="Calibri"/>
                <a:cs typeface="Calibri"/>
              </a:rPr>
              <a:t>genres!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63816" y="2829051"/>
            <a:ext cx="1374648" cy="765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63816" y="4677652"/>
            <a:ext cx="1374648" cy="765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2540" y="3688575"/>
            <a:ext cx="457200" cy="914400"/>
          </a:xfrm>
          <a:custGeom>
            <a:avLst/>
            <a:gdLst/>
            <a:ahLst/>
            <a:cxnLst/>
            <a:rect l="l" t="t" r="r" b="b"/>
            <a:pathLst>
              <a:path w="457200" h="914400">
                <a:moveTo>
                  <a:pt x="228600" y="914401"/>
                </a:moveTo>
                <a:lnTo>
                  <a:pt x="457200" y="685801"/>
                </a:lnTo>
                <a:lnTo>
                  <a:pt x="306322" y="685801"/>
                </a:lnTo>
                <a:lnTo>
                  <a:pt x="306322" y="0"/>
                </a:lnTo>
                <a:lnTo>
                  <a:pt x="150877" y="0"/>
                </a:lnTo>
                <a:lnTo>
                  <a:pt x="150877" y="685801"/>
                </a:lnTo>
                <a:lnTo>
                  <a:pt x="0" y="685801"/>
                </a:lnTo>
                <a:lnTo>
                  <a:pt x="228600" y="91440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17695" y="2384044"/>
            <a:ext cx="11029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2200" spc="-20" b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dirty="0" sz="2200" spc="-5" b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sz="2200" spc="-10" b="1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dirty="0" sz="2200" spc="0" b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2200" spc="-10" b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2200" b="1">
                <a:solidFill>
                  <a:srgbClr val="0000FF"/>
                </a:solidFill>
                <a:latin typeface="Calibri"/>
                <a:cs typeface="Calibri"/>
              </a:rPr>
              <a:t>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804062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How </a:t>
            </a:r>
            <a:r>
              <a:rPr dirty="0"/>
              <a:t>do </a:t>
            </a:r>
            <a:r>
              <a:rPr dirty="0" spc="-15"/>
              <a:t>we </a:t>
            </a:r>
            <a:r>
              <a:rPr dirty="0" spc="-20">
                <a:solidFill>
                  <a:srgbClr val="0000FF"/>
                </a:solidFill>
              </a:rPr>
              <a:t>leverage </a:t>
            </a:r>
            <a:r>
              <a:rPr dirty="0">
                <a:solidFill>
                  <a:srgbClr val="0000FF"/>
                </a:solidFill>
              </a:rPr>
              <a:t>this </a:t>
            </a:r>
            <a:r>
              <a:rPr dirty="0" spc="-15">
                <a:solidFill>
                  <a:srgbClr val="0000FF"/>
                </a:solidFill>
              </a:rPr>
              <a:t>correlation </a:t>
            </a:r>
            <a:r>
              <a:rPr dirty="0" spc="-5"/>
              <a:t>observed  </a:t>
            </a:r>
            <a:r>
              <a:rPr dirty="0"/>
              <a:t>in </a:t>
            </a:r>
            <a:r>
              <a:rPr dirty="0" spc="-15"/>
              <a:t>networks to </a:t>
            </a:r>
            <a:r>
              <a:rPr dirty="0" spc="-5"/>
              <a:t>help </a:t>
            </a:r>
            <a:r>
              <a:rPr dirty="0" spc="-10"/>
              <a:t>predict </a:t>
            </a:r>
            <a:r>
              <a:rPr dirty="0"/>
              <a:t>node</a:t>
            </a:r>
            <a:r>
              <a:rPr dirty="0" spc="40"/>
              <a:t> </a:t>
            </a:r>
            <a:r>
              <a:rPr dirty="0" spc="-5"/>
              <a:t>labels?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5865876"/>
            <a:ext cx="85299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do </a:t>
            </a: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predict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labels </a:t>
            </a:r>
            <a:r>
              <a:rPr dirty="0" sz="3200" spc="-25">
                <a:solidFill>
                  <a:srgbClr val="D60093"/>
                </a:solidFill>
                <a:latin typeface="Calibri"/>
                <a:cs typeface="Calibri"/>
              </a:rPr>
              <a:t>for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nodes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in</a:t>
            </a:r>
            <a:r>
              <a:rPr dirty="0" sz="3200" spc="5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grey?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88538" y="45542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26740" y="46365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482094" y="29723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02075" y="38348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26237" y="307898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385811" y="50022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705271" y="36855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575280" y="5007355"/>
            <a:ext cx="81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Label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64887" y="2513330"/>
            <a:ext cx="5174615" cy="59118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Label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70"/>
              </a:spcBef>
            </a:pPr>
            <a:r>
              <a:rPr dirty="0" sz="160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844470" y="3495547"/>
            <a:ext cx="831850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Label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30282" y="5229859"/>
            <a:ext cx="81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Label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404616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767955" cy="46158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8419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Similar nodes </a:t>
            </a:r>
            <a:r>
              <a:rPr dirty="0" sz="3200" spc="-15" b="1">
                <a:latin typeface="Calibri"/>
                <a:cs typeface="Calibri"/>
              </a:rPr>
              <a:t>are </a:t>
            </a:r>
            <a:r>
              <a:rPr dirty="0" sz="3200" spc="-5" b="1">
                <a:latin typeface="Calibri"/>
                <a:cs typeface="Calibri"/>
              </a:rPr>
              <a:t>typically close </a:t>
            </a:r>
            <a:r>
              <a:rPr dirty="0" sz="3200" spc="-15" b="1">
                <a:latin typeface="Calibri"/>
                <a:cs typeface="Calibri"/>
              </a:rPr>
              <a:t>together </a:t>
            </a:r>
            <a:r>
              <a:rPr dirty="0" sz="3200" b="1">
                <a:latin typeface="Calibri"/>
                <a:cs typeface="Calibri"/>
              </a:rPr>
              <a:t>or  </a:t>
            </a:r>
            <a:r>
              <a:rPr dirty="0" sz="3200" spc="-10" b="1">
                <a:latin typeface="Calibri"/>
                <a:cs typeface="Calibri"/>
              </a:rPr>
              <a:t>directly connected </a:t>
            </a:r>
            <a:r>
              <a:rPr dirty="0" sz="3200" b="1">
                <a:latin typeface="Calibri"/>
                <a:cs typeface="Calibri"/>
              </a:rPr>
              <a:t>in </a:t>
            </a:r>
            <a:r>
              <a:rPr dirty="0" sz="3200" spc="-5" b="1">
                <a:latin typeface="Calibri"/>
                <a:cs typeface="Calibri"/>
              </a:rPr>
              <a:t>the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network: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15" b="1">
                <a:solidFill>
                  <a:srgbClr val="FF0000"/>
                </a:solidFill>
                <a:latin typeface="Calibri"/>
                <a:cs typeface="Calibri"/>
              </a:rPr>
              <a:t>Guilt-by-association</a:t>
            </a:r>
            <a:r>
              <a:rPr dirty="0" sz="3200" spc="-15">
                <a:latin typeface="Calibri"/>
                <a:cs typeface="Calibri"/>
              </a:rPr>
              <a:t>: </a:t>
            </a:r>
            <a:r>
              <a:rPr dirty="0" sz="3200">
                <a:latin typeface="Calibri"/>
                <a:cs typeface="Calibri"/>
              </a:rPr>
              <a:t>If I am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700">
                <a:latin typeface="Calibri"/>
                <a:cs typeface="Calibri"/>
              </a:rPr>
              <a:t>a  </a:t>
            </a:r>
            <a:r>
              <a:rPr dirty="0" sz="3200" spc="-5">
                <a:latin typeface="Calibri"/>
                <a:cs typeface="Calibri"/>
              </a:rPr>
              <a:t>node with label </a:t>
            </a:r>
            <a:r>
              <a:rPr dirty="0" sz="3200" spc="30">
                <a:latin typeface="Cambria Math"/>
                <a:cs typeface="Cambria Math"/>
              </a:rPr>
              <a:t>𝑋</a:t>
            </a:r>
            <a:r>
              <a:rPr dirty="0" sz="3200" spc="30">
                <a:latin typeface="Calibri"/>
                <a:cs typeface="Calibri"/>
              </a:rPr>
              <a:t>, </a:t>
            </a: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>
                <a:latin typeface="Calibri"/>
                <a:cs typeface="Calibri"/>
              </a:rPr>
              <a:t>I am </a:t>
            </a:r>
            <a:r>
              <a:rPr dirty="0" sz="3200" spc="-20">
                <a:latin typeface="Calibri"/>
                <a:cs typeface="Calibri"/>
              </a:rPr>
              <a:t>likely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0">
                <a:latin typeface="Calibri"/>
                <a:cs typeface="Calibri"/>
              </a:rPr>
              <a:t>have  </a:t>
            </a:r>
            <a:r>
              <a:rPr dirty="0" sz="3200" spc="-5">
                <a:latin typeface="Calibri"/>
                <a:cs typeface="Calibri"/>
              </a:rPr>
              <a:t>label </a:t>
            </a:r>
            <a:r>
              <a:rPr dirty="0" sz="3200">
                <a:latin typeface="Cambria Math"/>
                <a:cs typeface="Cambria Math"/>
              </a:rPr>
              <a:t>𝑋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well.</a:t>
            </a:r>
            <a:endParaRPr sz="3200">
              <a:latin typeface="Calibri"/>
              <a:cs typeface="Calibri"/>
            </a:endParaRPr>
          </a:p>
          <a:p>
            <a:pPr lvl="1" marL="625475" marR="17145" indent="-274320">
              <a:lnSpc>
                <a:spcPct val="100800"/>
              </a:lnSpc>
              <a:spcBef>
                <a:spcPts val="7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Example: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Malicious/benign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web page: 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Malicious </a:t>
            </a:r>
            <a:r>
              <a:rPr dirty="0" sz="3200" spc="-15">
                <a:latin typeface="Calibri"/>
                <a:cs typeface="Calibri"/>
              </a:rPr>
              <a:t>web </a:t>
            </a:r>
            <a:r>
              <a:rPr dirty="0" sz="3200" spc="-5">
                <a:latin typeface="Calibri"/>
                <a:cs typeface="Calibri"/>
              </a:rPr>
              <a:t>pages </a:t>
            </a:r>
            <a:r>
              <a:rPr dirty="0" sz="3200">
                <a:latin typeface="Calibri"/>
                <a:cs typeface="Calibri"/>
              </a:rPr>
              <a:t>link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one </a:t>
            </a:r>
            <a:r>
              <a:rPr dirty="0" sz="3200" spc="-5">
                <a:latin typeface="Calibri"/>
                <a:cs typeface="Calibri"/>
              </a:rPr>
              <a:t>another </a:t>
            </a:r>
            <a:r>
              <a:rPr dirty="0" sz="3200" spc="-15">
                <a:latin typeface="Calibri"/>
                <a:cs typeface="Calibri"/>
              </a:rPr>
              <a:t>to  </a:t>
            </a:r>
            <a:r>
              <a:rPr dirty="0" sz="3200" spc="-10">
                <a:latin typeface="Calibri"/>
                <a:cs typeface="Calibri"/>
              </a:rPr>
              <a:t>increase </a:t>
            </a:r>
            <a:r>
              <a:rPr dirty="0" sz="3200" spc="-25">
                <a:latin typeface="Calibri"/>
                <a:cs typeface="Calibri"/>
              </a:rPr>
              <a:t>visibility, </a:t>
            </a:r>
            <a:r>
              <a:rPr dirty="0" sz="3200" spc="-5">
                <a:latin typeface="Calibri"/>
                <a:cs typeface="Calibri"/>
              </a:rPr>
              <a:t>look </a:t>
            </a:r>
            <a:r>
              <a:rPr dirty="0" sz="3200" spc="-10">
                <a:latin typeface="Calibri"/>
                <a:cs typeface="Calibri"/>
              </a:rPr>
              <a:t>credible,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rank  </a:t>
            </a:r>
            <a:r>
              <a:rPr dirty="0" sz="3200" spc="-5">
                <a:latin typeface="Calibri"/>
                <a:cs typeface="Calibri"/>
              </a:rPr>
              <a:t>higher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search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engines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40766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624445" cy="27597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1051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Classification </a:t>
            </a:r>
            <a:r>
              <a:rPr dirty="0" sz="3200" spc="-5" b="1">
                <a:latin typeface="Calibri"/>
                <a:cs typeface="Calibri"/>
              </a:rPr>
              <a:t>label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network  </a:t>
            </a:r>
            <a:r>
              <a:rPr dirty="0" sz="3200" spc="-20">
                <a:latin typeface="Calibri"/>
                <a:cs typeface="Calibri"/>
              </a:rPr>
              <a:t>may </a:t>
            </a:r>
            <a:r>
              <a:rPr dirty="0" sz="3200" spc="-5">
                <a:latin typeface="Calibri"/>
                <a:cs typeface="Calibri"/>
              </a:rPr>
              <a:t>depend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20">
                <a:solidFill>
                  <a:srgbClr val="FF0000"/>
                </a:solidFill>
                <a:latin typeface="Calibri"/>
                <a:cs typeface="Calibri"/>
              </a:rPr>
              <a:t>Features </a:t>
            </a:r>
            <a:r>
              <a:rPr dirty="0" sz="3200" spc="-5">
                <a:latin typeface="Calibri"/>
                <a:cs typeface="Calibri"/>
              </a:rPr>
              <a:t>of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7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Labels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40">
                <a:latin typeface="Cambria Math"/>
                <a:cs typeface="Cambria Math"/>
              </a:rPr>
              <a:t>𝑣</a:t>
            </a:r>
            <a:r>
              <a:rPr dirty="0" sz="3200" spc="-40">
                <a:latin typeface="Calibri"/>
                <a:cs typeface="Calibri"/>
              </a:rPr>
              <a:t>’s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neighborhood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20">
                <a:solidFill>
                  <a:srgbClr val="008000"/>
                </a:solidFill>
                <a:latin typeface="Calibri"/>
                <a:cs typeface="Calibri"/>
              </a:rPr>
              <a:t>Features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40">
                <a:latin typeface="Cambria Math"/>
                <a:cs typeface="Cambria Math"/>
              </a:rPr>
              <a:t>𝑣</a:t>
            </a:r>
            <a:r>
              <a:rPr dirty="0" sz="3200" spc="-40">
                <a:latin typeface="Calibri"/>
                <a:cs typeface="Calibri"/>
              </a:rPr>
              <a:t>’s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60">
                <a:solidFill>
                  <a:srgbClr val="008000"/>
                </a:solidFill>
                <a:latin typeface="Calibri"/>
                <a:cs typeface="Calibri"/>
              </a:rPr>
              <a:t>neighborhood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926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75671" y="1306068"/>
            <a:ext cx="11036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>
                <a:latin typeface="Calibri"/>
                <a:cs typeface="Calibri"/>
              </a:rPr>
              <a:t>Gi</a:t>
            </a:r>
            <a:r>
              <a:rPr dirty="0" spc="-35" b="1">
                <a:latin typeface="Calibri"/>
                <a:cs typeface="Calibri"/>
              </a:rPr>
              <a:t>v</a:t>
            </a:r>
            <a:r>
              <a:rPr dirty="0" b="1">
                <a:latin typeface="Calibri"/>
                <a:cs typeface="Calibri"/>
              </a:rPr>
              <a:t>e</a:t>
            </a:r>
            <a:r>
              <a:rPr dirty="0" spc="-5" b="1">
                <a:latin typeface="Calibri"/>
                <a:cs typeface="Calibri"/>
              </a:rPr>
              <a:t>n</a:t>
            </a:r>
            <a:r>
              <a:rPr dirty="0"/>
              <a:t>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7650" indent="-2349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7650" algn="l"/>
              </a:tabLst>
            </a:pPr>
            <a:r>
              <a:rPr dirty="0" spc="-15"/>
              <a:t>Graph</a:t>
            </a:r>
          </a:p>
          <a:p>
            <a:pPr marL="247650" indent="-2349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47650" algn="l"/>
              </a:tabLst>
            </a:pPr>
            <a:r>
              <a:rPr dirty="0" spc="-25"/>
              <a:t>Few </a:t>
            </a:r>
            <a:r>
              <a:rPr dirty="0" spc="-5"/>
              <a:t>labeled</a:t>
            </a:r>
            <a:r>
              <a:rPr dirty="0" spc="-10"/>
              <a:t> </a:t>
            </a:r>
            <a:r>
              <a:rPr dirty="0" spc="-5"/>
              <a:t>nodes</a:t>
            </a: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12700" marR="5080">
              <a:lnSpc>
                <a:spcPts val="3790"/>
              </a:lnSpc>
              <a:spcBef>
                <a:spcPts val="5"/>
              </a:spcBef>
            </a:pPr>
            <a:r>
              <a:rPr dirty="0" spc="-5" b="1">
                <a:latin typeface="Calibri"/>
                <a:cs typeface="Calibri"/>
              </a:rPr>
              <a:t>Find</a:t>
            </a:r>
            <a:r>
              <a:rPr dirty="0" spc="-5"/>
              <a:t>: class </a:t>
            </a:r>
            <a:r>
              <a:rPr dirty="0" spc="-20"/>
              <a:t>(</a:t>
            </a:r>
            <a:r>
              <a:rPr dirty="0" spc="-20">
                <a:solidFill>
                  <a:srgbClr val="FF0000"/>
                </a:solidFill>
              </a:rPr>
              <a:t>red</a:t>
            </a:r>
            <a:r>
              <a:rPr dirty="0" spc="-20"/>
              <a:t>/</a:t>
            </a:r>
            <a:r>
              <a:rPr dirty="0" spc="-20">
                <a:solidFill>
                  <a:srgbClr val="008000"/>
                </a:solidFill>
              </a:rPr>
              <a:t>green</a:t>
            </a:r>
            <a:r>
              <a:rPr dirty="0" spc="-20"/>
              <a:t>)  </a:t>
            </a:r>
            <a:r>
              <a:rPr dirty="0" spc="-5"/>
              <a:t>of </a:t>
            </a:r>
            <a:r>
              <a:rPr dirty="0" spc="-10"/>
              <a:t>remaining</a:t>
            </a:r>
            <a:r>
              <a:rPr dirty="0" spc="-20"/>
              <a:t> </a:t>
            </a:r>
            <a:r>
              <a:rPr dirty="0" spc="-5"/>
              <a:t>nodes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</a:p>
          <a:p>
            <a:pPr marL="12700" marR="137795">
              <a:lnSpc>
                <a:spcPct val="100299"/>
              </a:lnSpc>
            </a:pPr>
            <a:r>
              <a:rPr dirty="0" spc="-5" b="1">
                <a:latin typeface="Calibri"/>
                <a:cs typeface="Calibri"/>
              </a:rPr>
              <a:t>Main assumption</a:t>
            </a:r>
            <a:r>
              <a:rPr dirty="0" spc="-5"/>
              <a:t>:  </a:t>
            </a:r>
            <a:r>
              <a:rPr dirty="0" spc="-15"/>
              <a:t>There </a:t>
            </a:r>
            <a:r>
              <a:rPr dirty="0"/>
              <a:t>is </a:t>
            </a:r>
            <a:r>
              <a:rPr dirty="0" spc="-5"/>
              <a:t>homophily </a:t>
            </a:r>
            <a:r>
              <a:rPr dirty="0"/>
              <a:t>in  the</a:t>
            </a:r>
            <a:r>
              <a:rPr dirty="0" spc="-95"/>
              <a:t> </a:t>
            </a:r>
            <a:r>
              <a:rPr dirty="0" spc="-10"/>
              <a:t>network</a:t>
            </a:r>
          </a:p>
        </p:txBody>
      </p:sp>
      <p:sp>
        <p:nvSpPr>
          <p:cNvPr id="5" name="object 5"/>
          <p:cNvSpPr/>
          <p:nvPr/>
        </p:nvSpPr>
        <p:spPr>
          <a:xfrm>
            <a:off x="3039864" y="4333175"/>
            <a:ext cx="414020" cy="570230"/>
          </a:xfrm>
          <a:custGeom>
            <a:avLst/>
            <a:gdLst/>
            <a:ahLst/>
            <a:cxnLst/>
            <a:rect l="l" t="t" r="r" b="b"/>
            <a:pathLst>
              <a:path w="414020" h="570229">
                <a:moveTo>
                  <a:pt x="0" y="0"/>
                </a:moveTo>
                <a:lnTo>
                  <a:pt x="413675" y="5700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02066" y="2807145"/>
            <a:ext cx="592455" cy="325755"/>
          </a:xfrm>
          <a:custGeom>
            <a:avLst/>
            <a:gdLst/>
            <a:ahLst/>
            <a:cxnLst/>
            <a:rect l="l" t="t" r="r" b="b"/>
            <a:pathLst>
              <a:path w="592455" h="325755">
                <a:moveTo>
                  <a:pt x="0" y="0"/>
                </a:moveTo>
                <a:lnTo>
                  <a:pt x="592347" y="325515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30615" y="2991694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44967" y="4036664"/>
            <a:ext cx="1008380" cy="125095"/>
          </a:xfrm>
          <a:custGeom>
            <a:avLst/>
            <a:gdLst/>
            <a:ahLst/>
            <a:cxnLst/>
            <a:rect l="l" t="t" r="r" b="b"/>
            <a:pathLst>
              <a:path w="1008380" h="125095">
                <a:moveTo>
                  <a:pt x="0" y="0"/>
                </a:moveTo>
                <a:lnTo>
                  <a:pt x="1008063" y="12501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95928" y="3982613"/>
            <a:ext cx="690245" cy="179070"/>
          </a:xfrm>
          <a:custGeom>
            <a:avLst/>
            <a:gdLst/>
            <a:ahLst/>
            <a:cxnLst/>
            <a:rect l="l" t="t" r="r" b="b"/>
            <a:pathLst>
              <a:path w="690245" h="179070">
                <a:moveTo>
                  <a:pt x="0" y="179069"/>
                </a:moveTo>
                <a:lnTo>
                  <a:pt x="69017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94751" y="3393653"/>
            <a:ext cx="299720" cy="513080"/>
          </a:xfrm>
          <a:custGeom>
            <a:avLst/>
            <a:gdLst/>
            <a:ahLst/>
            <a:cxnLst/>
            <a:rect l="l" t="t" r="r" b="b"/>
            <a:pathLst>
              <a:path w="299719" h="513079">
                <a:moveTo>
                  <a:pt x="299663" y="0"/>
                </a:moveTo>
                <a:lnTo>
                  <a:pt x="0" y="51252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94752" y="4167160"/>
            <a:ext cx="421005" cy="443230"/>
          </a:xfrm>
          <a:custGeom>
            <a:avLst/>
            <a:gdLst/>
            <a:ahLst/>
            <a:cxnLst/>
            <a:rect l="l" t="t" r="r" b="b"/>
            <a:pathLst>
              <a:path w="421005" h="443229">
                <a:moveTo>
                  <a:pt x="0" y="0"/>
                </a:moveTo>
                <a:lnTo>
                  <a:pt x="420897" y="44314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56393" y="2803498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56392" y="3393652"/>
            <a:ext cx="581025" cy="651510"/>
          </a:xfrm>
          <a:custGeom>
            <a:avLst/>
            <a:gdLst/>
            <a:ahLst/>
            <a:cxnLst/>
            <a:rect l="l" t="t" r="r" b="b"/>
            <a:pathLst>
              <a:path w="581025" h="651510">
                <a:moveTo>
                  <a:pt x="580559" y="650997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13010" y="2803498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1" y="32916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00812" y="248845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00812" y="248845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44196" y="307860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44196" y="307860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94413" y="456609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94413" y="456609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02063" y="385211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02063" y="385211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59164" y="262260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2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6" y="233607"/>
                </a:lnTo>
                <a:lnTo>
                  <a:pt x="365759" y="184547"/>
                </a:lnTo>
                <a:lnTo>
                  <a:pt x="359226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2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59164" y="262260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72125" y="307860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72125" y="307860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84386" y="475862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84386" y="475862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783386" y="399059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83386" y="399059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81308" y="378460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81308" y="378460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31262" y="2155951"/>
            <a:ext cx="1932939" cy="240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  <a:p>
            <a:pPr algn="ctr" marL="170180">
              <a:lnSpc>
                <a:spcPct val="100000"/>
              </a:lnSpc>
              <a:spcBef>
                <a:spcPts val="127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95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3526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Example</a:t>
            </a:r>
            <a:r>
              <a:rPr dirty="0" spc="-8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task</a:t>
            </a:r>
            <a:r>
              <a:rPr dirty="0" spc="-10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2329997" y="2821487"/>
            <a:ext cx="880110" cy="378460"/>
          </a:xfrm>
          <a:custGeom>
            <a:avLst/>
            <a:gdLst/>
            <a:ahLst/>
            <a:cxnLst/>
            <a:rect l="l" t="t" r="r" b="b"/>
            <a:pathLst>
              <a:path w="880110" h="378460">
                <a:moveTo>
                  <a:pt x="758308" y="0"/>
                </a:moveTo>
                <a:lnTo>
                  <a:pt x="753149" y="0"/>
                </a:lnTo>
                <a:lnTo>
                  <a:pt x="753149" y="15081"/>
                </a:lnTo>
                <a:lnTo>
                  <a:pt x="756126" y="15081"/>
                </a:lnTo>
                <a:lnTo>
                  <a:pt x="769731" y="16017"/>
                </a:lnTo>
                <a:lnTo>
                  <a:pt x="808289" y="38775"/>
                </a:lnTo>
                <a:lnTo>
                  <a:pt x="817443" y="79573"/>
                </a:lnTo>
                <a:lnTo>
                  <a:pt x="817195" y="86927"/>
                </a:lnTo>
                <a:lnTo>
                  <a:pt x="816450" y="95100"/>
                </a:lnTo>
                <a:lnTo>
                  <a:pt x="815210" y="104092"/>
                </a:lnTo>
                <a:lnTo>
                  <a:pt x="813474" y="113902"/>
                </a:lnTo>
                <a:lnTo>
                  <a:pt x="811738" y="123390"/>
                </a:lnTo>
                <a:lnTo>
                  <a:pt x="810497" y="131414"/>
                </a:lnTo>
                <a:lnTo>
                  <a:pt x="809753" y="137975"/>
                </a:lnTo>
                <a:lnTo>
                  <a:pt x="809505" y="143073"/>
                </a:lnTo>
                <a:lnTo>
                  <a:pt x="810125" y="151128"/>
                </a:lnTo>
                <a:lnTo>
                  <a:pt x="836431" y="183796"/>
                </a:lnTo>
                <a:lnTo>
                  <a:pt x="843041" y="186729"/>
                </a:lnTo>
                <a:lnTo>
                  <a:pt x="843041" y="190300"/>
                </a:lnTo>
                <a:lnTo>
                  <a:pt x="811985" y="218603"/>
                </a:lnTo>
                <a:lnTo>
                  <a:pt x="809505" y="233956"/>
                </a:lnTo>
                <a:lnTo>
                  <a:pt x="809753" y="239054"/>
                </a:lnTo>
                <a:lnTo>
                  <a:pt x="810497" y="245615"/>
                </a:lnTo>
                <a:lnTo>
                  <a:pt x="811738" y="253639"/>
                </a:lnTo>
                <a:lnTo>
                  <a:pt x="813474" y="263127"/>
                </a:lnTo>
                <a:lnTo>
                  <a:pt x="815210" y="272937"/>
                </a:lnTo>
                <a:lnTo>
                  <a:pt x="816450" y="281929"/>
                </a:lnTo>
                <a:lnTo>
                  <a:pt x="817195" y="290102"/>
                </a:lnTo>
                <a:lnTo>
                  <a:pt x="817443" y="297456"/>
                </a:lnTo>
                <a:lnTo>
                  <a:pt x="816426" y="314107"/>
                </a:lnTo>
                <a:lnTo>
                  <a:pt x="792253" y="354910"/>
                </a:lnTo>
                <a:lnTo>
                  <a:pt x="756126" y="363338"/>
                </a:lnTo>
                <a:lnTo>
                  <a:pt x="753149" y="363338"/>
                </a:lnTo>
                <a:lnTo>
                  <a:pt x="753149" y="378419"/>
                </a:lnTo>
                <a:lnTo>
                  <a:pt x="758308" y="378419"/>
                </a:lnTo>
                <a:lnTo>
                  <a:pt x="780155" y="376788"/>
                </a:lnTo>
                <a:lnTo>
                  <a:pt x="828059" y="357087"/>
                </a:lnTo>
                <a:lnTo>
                  <a:pt x="849732" y="313834"/>
                </a:lnTo>
                <a:lnTo>
                  <a:pt x="851176" y="293885"/>
                </a:lnTo>
                <a:lnTo>
                  <a:pt x="850885" y="285365"/>
                </a:lnTo>
                <a:lnTo>
                  <a:pt x="850010" y="276274"/>
                </a:lnTo>
                <a:lnTo>
                  <a:pt x="848553" y="266612"/>
                </a:lnTo>
                <a:lnTo>
                  <a:pt x="846513" y="256381"/>
                </a:lnTo>
                <a:lnTo>
                  <a:pt x="844473" y="246731"/>
                </a:lnTo>
                <a:lnTo>
                  <a:pt x="843016" y="238819"/>
                </a:lnTo>
                <a:lnTo>
                  <a:pt x="842142" y="232642"/>
                </a:lnTo>
                <a:lnTo>
                  <a:pt x="841851" y="228202"/>
                </a:lnTo>
                <a:lnTo>
                  <a:pt x="841851" y="219075"/>
                </a:lnTo>
                <a:lnTo>
                  <a:pt x="879751" y="196650"/>
                </a:lnTo>
                <a:lnTo>
                  <a:pt x="879751" y="180379"/>
                </a:lnTo>
                <a:lnTo>
                  <a:pt x="841851" y="157956"/>
                </a:lnTo>
                <a:lnTo>
                  <a:pt x="841851" y="148827"/>
                </a:lnTo>
                <a:lnTo>
                  <a:pt x="842142" y="144387"/>
                </a:lnTo>
                <a:lnTo>
                  <a:pt x="843059" y="137975"/>
                </a:lnTo>
                <a:lnTo>
                  <a:pt x="844473" y="130298"/>
                </a:lnTo>
                <a:lnTo>
                  <a:pt x="846513" y="120650"/>
                </a:lnTo>
                <a:lnTo>
                  <a:pt x="848553" y="110417"/>
                </a:lnTo>
                <a:lnTo>
                  <a:pt x="850010" y="100756"/>
                </a:lnTo>
                <a:lnTo>
                  <a:pt x="850885" y="91664"/>
                </a:lnTo>
                <a:lnTo>
                  <a:pt x="851176" y="83144"/>
                </a:lnTo>
                <a:lnTo>
                  <a:pt x="849732" y="63803"/>
                </a:lnTo>
                <a:lnTo>
                  <a:pt x="828059" y="21332"/>
                </a:lnTo>
                <a:lnTo>
                  <a:pt x="780155" y="1630"/>
                </a:lnTo>
                <a:lnTo>
                  <a:pt x="758308" y="0"/>
                </a:lnTo>
                <a:close/>
              </a:path>
              <a:path w="880110" h="378460">
                <a:moveTo>
                  <a:pt x="126602" y="0"/>
                </a:moveTo>
                <a:lnTo>
                  <a:pt x="121443" y="0"/>
                </a:lnTo>
                <a:lnTo>
                  <a:pt x="99596" y="1630"/>
                </a:lnTo>
                <a:lnTo>
                  <a:pt x="51692" y="21332"/>
                </a:lnTo>
                <a:lnTo>
                  <a:pt x="30019" y="63691"/>
                </a:lnTo>
                <a:lnTo>
                  <a:pt x="28575" y="82946"/>
                </a:lnTo>
                <a:lnTo>
                  <a:pt x="28866" y="91466"/>
                </a:lnTo>
                <a:lnTo>
                  <a:pt x="29740" y="100557"/>
                </a:lnTo>
                <a:lnTo>
                  <a:pt x="31198" y="110219"/>
                </a:lnTo>
                <a:lnTo>
                  <a:pt x="33238" y="120450"/>
                </a:lnTo>
                <a:lnTo>
                  <a:pt x="35277" y="130099"/>
                </a:lnTo>
                <a:lnTo>
                  <a:pt x="36734" y="138012"/>
                </a:lnTo>
                <a:lnTo>
                  <a:pt x="37609" y="144189"/>
                </a:lnTo>
                <a:lnTo>
                  <a:pt x="37900" y="148629"/>
                </a:lnTo>
                <a:lnTo>
                  <a:pt x="37900" y="157756"/>
                </a:lnTo>
                <a:lnTo>
                  <a:pt x="0" y="180181"/>
                </a:lnTo>
                <a:lnTo>
                  <a:pt x="0" y="196452"/>
                </a:lnTo>
                <a:lnTo>
                  <a:pt x="37900" y="218875"/>
                </a:lnTo>
                <a:lnTo>
                  <a:pt x="37900" y="228004"/>
                </a:lnTo>
                <a:lnTo>
                  <a:pt x="37609" y="232444"/>
                </a:lnTo>
                <a:lnTo>
                  <a:pt x="36691" y="238856"/>
                </a:lnTo>
                <a:lnTo>
                  <a:pt x="35277" y="246533"/>
                </a:lnTo>
                <a:lnTo>
                  <a:pt x="33238" y="256181"/>
                </a:lnTo>
                <a:lnTo>
                  <a:pt x="31198" y="266414"/>
                </a:lnTo>
                <a:lnTo>
                  <a:pt x="29740" y="276075"/>
                </a:lnTo>
                <a:lnTo>
                  <a:pt x="28866" y="285166"/>
                </a:lnTo>
                <a:lnTo>
                  <a:pt x="28575" y="293687"/>
                </a:lnTo>
                <a:lnTo>
                  <a:pt x="30019" y="313723"/>
                </a:lnTo>
                <a:lnTo>
                  <a:pt x="51692" y="357087"/>
                </a:lnTo>
                <a:lnTo>
                  <a:pt x="99596" y="376788"/>
                </a:lnTo>
                <a:lnTo>
                  <a:pt x="121443" y="378419"/>
                </a:lnTo>
                <a:lnTo>
                  <a:pt x="126602" y="378419"/>
                </a:lnTo>
                <a:lnTo>
                  <a:pt x="126602" y="363338"/>
                </a:lnTo>
                <a:lnTo>
                  <a:pt x="123625" y="363338"/>
                </a:lnTo>
                <a:lnTo>
                  <a:pt x="110020" y="362401"/>
                </a:lnTo>
                <a:lnTo>
                  <a:pt x="71462" y="339544"/>
                </a:lnTo>
                <a:lnTo>
                  <a:pt x="62308" y="297258"/>
                </a:lnTo>
                <a:lnTo>
                  <a:pt x="62556" y="289903"/>
                </a:lnTo>
                <a:lnTo>
                  <a:pt x="63301" y="281730"/>
                </a:lnTo>
                <a:lnTo>
                  <a:pt x="64541" y="272739"/>
                </a:lnTo>
                <a:lnTo>
                  <a:pt x="66277" y="262929"/>
                </a:lnTo>
                <a:lnTo>
                  <a:pt x="68013" y="253441"/>
                </a:lnTo>
                <a:lnTo>
                  <a:pt x="69253" y="245417"/>
                </a:lnTo>
                <a:lnTo>
                  <a:pt x="69998" y="238856"/>
                </a:lnTo>
                <a:lnTo>
                  <a:pt x="70246" y="233758"/>
                </a:lnTo>
                <a:lnTo>
                  <a:pt x="69626" y="225703"/>
                </a:lnTo>
                <a:lnTo>
                  <a:pt x="43320" y="193035"/>
                </a:lnTo>
                <a:lnTo>
                  <a:pt x="36710" y="190102"/>
                </a:lnTo>
                <a:lnTo>
                  <a:pt x="36710" y="186531"/>
                </a:lnTo>
                <a:lnTo>
                  <a:pt x="67765" y="158228"/>
                </a:lnTo>
                <a:lnTo>
                  <a:pt x="70246" y="142875"/>
                </a:lnTo>
                <a:lnTo>
                  <a:pt x="69998" y="137777"/>
                </a:lnTo>
                <a:lnTo>
                  <a:pt x="69253" y="131216"/>
                </a:lnTo>
                <a:lnTo>
                  <a:pt x="68013" y="123192"/>
                </a:lnTo>
                <a:lnTo>
                  <a:pt x="66277" y="113704"/>
                </a:lnTo>
                <a:lnTo>
                  <a:pt x="64541" y="103894"/>
                </a:lnTo>
                <a:lnTo>
                  <a:pt x="63301" y="94902"/>
                </a:lnTo>
                <a:lnTo>
                  <a:pt x="62556" y="86729"/>
                </a:lnTo>
                <a:lnTo>
                  <a:pt x="62308" y="79375"/>
                </a:lnTo>
                <a:lnTo>
                  <a:pt x="63325" y="63419"/>
                </a:lnTo>
                <a:lnTo>
                  <a:pt x="87498" y="23508"/>
                </a:lnTo>
                <a:lnTo>
                  <a:pt x="123625" y="15081"/>
                </a:lnTo>
                <a:lnTo>
                  <a:pt x="126602" y="15081"/>
                </a:lnTo>
                <a:lnTo>
                  <a:pt x="126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24227"/>
            <a:ext cx="8020684" cy="440563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6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Let </a:t>
            </a:r>
            <a:r>
              <a:rPr dirty="0" sz="3200">
                <a:latin typeface="Cambria Math"/>
                <a:cs typeface="Cambria Math"/>
              </a:rPr>
              <a:t>𝑨 </a:t>
            </a:r>
            <a:r>
              <a:rPr dirty="0" sz="3200">
                <a:latin typeface="Calibri"/>
                <a:cs typeface="Calibri"/>
              </a:rPr>
              <a:t>be a </a:t>
            </a:r>
            <a:r>
              <a:rPr dirty="0" sz="3200" spc="10">
                <a:latin typeface="Cambria Math"/>
                <a:cs typeface="Cambria Math"/>
              </a:rPr>
              <a:t>𝑛×𝑛 </a:t>
            </a:r>
            <a:r>
              <a:rPr dirty="0" sz="3200" spc="-5">
                <a:latin typeface="Calibri"/>
                <a:cs typeface="Calibri"/>
              </a:rPr>
              <a:t>adjacency matrix </a:t>
            </a:r>
            <a:r>
              <a:rPr dirty="0" sz="3200" spc="-15">
                <a:latin typeface="Calibri"/>
                <a:cs typeface="Calibri"/>
              </a:rPr>
              <a:t>over </a:t>
            </a:r>
            <a:r>
              <a:rPr dirty="0" sz="3200">
                <a:latin typeface="Cambria Math"/>
                <a:cs typeface="Cambria Math"/>
              </a:rPr>
              <a:t>𝑛</a:t>
            </a:r>
            <a:r>
              <a:rPr dirty="0" sz="3200" spc="160">
                <a:latin typeface="Cambria Math"/>
                <a:cs typeface="Cambria Math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5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849755" algn="l"/>
                <a:tab pos="2609850" algn="l"/>
              </a:tabLst>
            </a:pPr>
            <a:r>
              <a:rPr dirty="0" sz="3200" spc="-10">
                <a:latin typeface="Calibri"/>
                <a:cs typeface="Calibri"/>
              </a:rPr>
              <a:t>Let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Y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	0,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1	</a:t>
            </a:r>
            <a:r>
              <a:rPr dirty="0" baseline="28985" sz="3450" spc="1245">
                <a:latin typeface="Cambria Math"/>
                <a:cs typeface="Cambria Math"/>
              </a:rPr>
              <a:t>!</a:t>
            </a:r>
            <a:r>
              <a:rPr dirty="0" baseline="28985" sz="3450" spc="150">
                <a:latin typeface="Cambria Math"/>
                <a:cs typeface="Cambria Math"/>
              </a:rPr>
              <a:t> </a:t>
            </a:r>
            <a:r>
              <a:rPr dirty="0" sz="3200">
                <a:latin typeface="Calibri"/>
                <a:cs typeface="Calibri"/>
              </a:rPr>
              <a:t>be a </a:t>
            </a:r>
            <a:r>
              <a:rPr dirty="0" sz="3200" spc="-15">
                <a:latin typeface="Calibri"/>
                <a:cs typeface="Calibri"/>
              </a:rPr>
              <a:t>vector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labels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14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1784985" algn="l"/>
              </a:tabLst>
            </a:pPr>
            <a:r>
              <a:rPr dirty="0" sz="2800" spc="175">
                <a:latin typeface="Cambria Math"/>
                <a:cs typeface="Cambria Math"/>
              </a:rPr>
              <a:t>Y</a:t>
            </a:r>
            <a:r>
              <a:rPr dirty="0" baseline="-16666" sz="3000" spc="262">
                <a:latin typeface="Cambria Math"/>
                <a:cs typeface="Cambria Math"/>
              </a:rPr>
              <a:t>!</a:t>
            </a:r>
            <a:r>
              <a:rPr dirty="0" baseline="-16666" sz="3000" spc="35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1	</a:t>
            </a:r>
            <a:r>
              <a:rPr dirty="0" sz="2800" spc="-5">
                <a:latin typeface="Calibri"/>
                <a:cs typeface="Calibri"/>
              </a:rPr>
              <a:t>belongs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Class</a:t>
            </a:r>
            <a:r>
              <a:rPr dirty="0" sz="2800" spc="-4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1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1784985" algn="l"/>
              </a:tabLst>
            </a:pPr>
            <a:r>
              <a:rPr dirty="0" sz="2800" spc="175">
                <a:latin typeface="Cambria Math"/>
                <a:cs typeface="Cambria Math"/>
              </a:rPr>
              <a:t>Y</a:t>
            </a:r>
            <a:r>
              <a:rPr dirty="0" baseline="-16666" sz="3000" spc="262">
                <a:latin typeface="Cambria Math"/>
                <a:cs typeface="Cambria Math"/>
              </a:rPr>
              <a:t>!</a:t>
            </a:r>
            <a:r>
              <a:rPr dirty="0" baseline="-16666" sz="3000" spc="35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0	</a:t>
            </a:r>
            <a:r>
              <a:rPr dirty="0" sz="2800" spc="-5">
                <a:latin typeface="Calibri"/>
                <a:cs typeface="Calibri"/>
              </a:rPr>
              <a:t>belongs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dirty="0" sz="28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15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solidFill>
                  <a:srgbClr val="0D0D0D"/>
                </a:solidFill>
                <a:latin typeface="Calibri"/>
                <a:cs typeface="Calibri"/>
              </a:rPr>
              <a:t>There are </a:t>
            </a:r>
            <a:r>
              <a:rPr dirty="0" sz="2800" spc="-5">
                <a:solidFill>
                  <a:srgbClr val="9D9DA2"/>
                </a:solidFill>
                <a:latin typeface="Calibri"/>
                <a:cs typeface="Calibri"/>
              </a:rPr>
              <a:t>unlabeled </a:t>
            </a:r>
            <a:r>
              <a:rPr dirty="0" sz="2800" spc="-5">
                <a:latin typeface="Calibri"/>
                <a:cs typeface="Calibri"/>
              </a:rPr>
              <a:t>node needs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classified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14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9253E"/>
                </a:solidFill>
                <a:latin typeface="Calibri"/>
                <a:cs typeface="Calibri"/>
              </a:rPr>
              <a:t>Goal: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 spc="-5" b="1">
                <a:solidFill>
                  <a:srgbClr val="9D9DA2"/>
                </a:solidFill>
                <a:latin typeface="Calibri"/>
                <a:cs typeface="Calibri"/>
              </a:rPr>
              <a:t>unlabeled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likely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5" b="1">
                <a:solidFill>
                  <a:srgbClr val="479249"/>
                </a:solidFill>
                <a:latin typeface="Calibri"/>
                <a:cs typeface="Calibri"/>
              </a:rPr>
              <a:t>Class </a:t>
            </a:r>
            <a:r>
              <a:rPr dirty="0" sz="3200" b="1">
                <a:solidFill>
                  <a:srgbClr val="479249"/>
                </a:solidFill>
                <a:latin typeface="Calibri"/>
                <a:cs typeface="Calibri"/>
              </a:rPr>
              <a:t>1</a:t>
            </a:r>
            <a:r>
              <a:rPr dirty="0" sz="3200">
                <a:latin typeface="Calibri"/>
                <a:cs typeface="Calibri"/>
              </a:rPr>
              <a:t>, and </a:t>
            </a: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 spc="-20">
                <a:latin typeface="Calibri"/>
                <a:cs typeface="Calibri"/>
              </a:rPr>
              <a:t>are likely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839724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5458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solidFill>
                  <a:srgbClr val="0000FF"/>
                </a:solidFill>
                <a:latin typeface="Calibri"/>
                <a:cs typeface="Calibri"/>
              </a:rPr>
              <a:t>Many</a:t>
            </a:r>
            <a:r>
              <a:rPr dirty="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applications: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5486400" cy="36195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Document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Part </a:t>
            </a:r>
            <a:r>
              <a:rPr dirty="0" sz="2800" spc="-5">
                <a:latin typeface="Calibri"/>
                <a:cs typeface="Calibri"/>
              </a:rPr>
              <a:t>of speech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tagging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Link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Optical </a:t>
            </a:r>
            <a:r>
              <a:rPr dirty="0" sz="2800" spc="-15">
                <a:latin typeface="Calibri"/>
                <a:cs typeface="Calibri"/>
              </a:rPr>
              <a:t>character recognition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Image/3D 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segmentation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Entity resolution </a:t>
            </a:r>
            <a:r>
              <a:rPr dirty="0" sz="2800" spc="-5">
                <a:latin typeface="Calibri"/>
                <a:cs typeface="Calibri"/>
              </a:rPr>
              <a:t>in sensor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Spam and </a:t>
            </a:r>
            <a:r>
              <a:rPr dirty="0" sz="2800" spc="-15">
                <a:latin typeface="Calibri"/>
                <a:cs typeface="Calibri"/>
              </a:rPr>
              <a:t>fraud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detection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56615"/>
            <a:ext cx="8138159" cy="475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525524"/>
            <a:ext cx="6879590" cy="139128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FF0000"/>
                </a:solidFill>
                <a:latin typeface="Calibri"/>
                <a:cs typeface="Calibri"/>
              </a:rPr>
              <a:t>Intuition</a:t>
            </a:r>
            <a:r>
              <a:rPr dirty="0" spc="-10">
                <a:solidFill>
                  <a:srgbClr val="FF0000"/>
                </a:solidFill>
              </a:rPr>
              <a:t>: </a:t>
            </a:r>
            <a:r>
              <a:rPr dirty="0" spc="-5"/>
              <a:t>Simultaneous </a:t>
            </a:r>
            <a:r>
              <a:rPr dirty="0" spc="-10"/>
              <a:t>classification </a:t>
            </a:r>
            <a:r>
              <a:rPr dirty="0" spc="-5"/>
              <a:t>of  </a:t>
            </a:r>
            <a:r>
              <a:rPr dirty="0" spc="-20"/>
              <a:t>interlinked </a:t>
            </a:r>
            <a:r>
              <a:rPr dirty="0" spc="-5"/>
              <a:t>nodes using</a:t>
            </a:r>
            <a:r>
              <a:rPr dirty="0" spc="30"/>
              <a:t> </a:t>
            </a:r>
            <a:r>
              <a:rPr dirty="0" spc="-10"/>
              <a:t>correlations</a:t>
            </a:r>
          </a:p>
          <a:p>
            <a:pPr marL="332740" indent="-32004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Probabilistic</a:t>
            </a:r>
            <a:r>
              <a:rPr dirty="0" spc="-50"/>
              <a:t> </a:t>
            </a:r>
            <a:r>
              <a:rPr dirty="0" spc="-15"/>
              <a:t>framework</a:t>
            </a:r>
          </a:p>
        </p:txBody>
      </p:sp>
      <p:sp>
        <p:nvSpPr>
          <p:cNvPr id="4" name="object 4"/>
          <p:cNvSpPr/>
          <p:nvPr/>
        </p:nvSpPr>
        <p:spPr>
          <a:xfrm>
            <a:off x="630936" y="4803647"/>
            <a:ext cx="2529840" cy="691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9160" y="4840223"/>
            <a:ext cx="1993391" cy="658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4316" y="4820896"/>
            <a:ext cx="2442065" cy="60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5794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10" h="1181734">
                <a:moveTo>
                  <a:pt x="0" y="0"/>
                </a:moveTo>
                <a:lnTo>
                  <a:pt x="2442066" y="0"/>
                </a:lnTo>
                <a:lnTo>
                  <a:pt x="2442066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5794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10" h="1181734">
                <a:moveTo>
                  <a:pt x="0" y="0"/>
                </a:moveTo>
                <a:lnTo>
                  <a:pt x="2442066" y="0"/>
                </a:lnTo>
                <a:lnTo>
                  <a:pt x="2442066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2619" y="5475223"/>
            <a:ext cx="2448560" cy="6381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43535" marR="744220" indent="-228600">
              <a:lnSpc>
                <a:spcPts val="2300"/>
              </a:lnSpc>
              <a:spcBef>
                <a:spcPts val="360"/>
              </a:spcBef>
              <a:buChar char="•"/>
              <a:tabLst>
                <a:tab pos="344170" algn="l"/>
              </a:tabLst>
            </a:pPr>
            <a:r>
              <a:rPr dirty="0" sz="2100" spc="-5">
                <a:latin typeface="Calibri"/>
                <a:cs typeface="Calibri"/>
              </a:rPr>
              <a:t>Assign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initial  labels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13759" y="4803647"/>
            <a:ext cx="2529840" cy="6918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19855" y="4840223"/>
            <a:ext cx="2520696" cy="6583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58272" y="4820896"/>
            <a:ext cx="2442065" cy="6048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8272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10" h="1181734">
                <a:moveTo>
                  <a:pt x="0" y="0"/>
                </a:moveTo>
                <a:lnTo>
                  <a:pt x="2442065" y="0"/>
                </a:lnTo>
                <a:lnTo>
                  <a:pt x="2442065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58272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10" h="1181734">
                <a:moveTo>
                  <a:pt x="0" y="0"/>
                </a:moveTo>
                <a:lnTo>
                  <a:pt x="2442066" y="0"/>
                </a:lnTo>
                <a:lnTo>
                  <a:pt x="2442066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455097" y="5475223"/>
            <a:ext cx="2448560" cy="9429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43535" marR="423545" indent="-228600">
              <a:lnSpc>
                <a:spcPct val="93300"/>
              </a:lnSpc>
              <a:spcBef>
                <a:spcPts val="265"/>
              </a:spcBef>
              <a:buChar char="•"/>
              <a:tabLst>
                <a:tab pos="344170" algn="l"/>
              </a:tabLst>
            </a:pPr>
            <a:r>
              <a:rPr dirty="0" sz="2100" spc="-10">
                <a:latin typeface="Calibri"/>
                <a:cs typeface="Calibri"/>
              </a:rPr>
              <a:t>Capture  correlations  </a:t>
            </a:r>
            <a:r>
              <a:rPr dirty="0" sz="2100" spc="-5">
                <a:latin typeface="Calibri"/>
                <a:cs typeface="Calibri"/>
              </a:rPr>
              <a:t>between</a:t>
            </a:r>
            <a:r>
              <a:rPr dirty="0" sz="2100" spc="-10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nodes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99632" y="4803647"/>
            <a:ext cx="2529840" cy="6918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90488" y="4840223"/>
            <a:ext cx="2545080" cy="6583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42227" y="4820896"/>
            <a:ext cx="2442066" cy="6048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42227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09" h="1181734">
                <a:moveTo>
                  <a:pt x="0" y="0"/>
                </a:moveTo>
                <a:lnTo>
                  <a:pt x="2442066" y="0"/>
                </a:lnTo>
                <a:lnTo>
                  <a:pt x="2442066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42227" y="5425695"/>
            <a:ext cx="2442210" cy="1181735"/>
          </a:xfrm>
          <a:custGeom>
            <a:avLst/>
            <a:gdLst/>
            <a:ahLst/>
            <a:cxnLst/>
            <a:rect l="l" t="t" r="r" b="b"/>
            <a:pathLst>
              <a:path w="2442209" h="1181734">
                <a:moveTo>
                  <a:pt x="0" y="0"/>
                </a:moveTo>
                <a:lnTo>
                  <a:pt x="2442066" y="0"/>
                </a:lnTo>
                <a:lnTo>
                  <a:pt x="2442066" y="1181722"/>
                </a:lnTo>
                <a:lnTo>
                  <a:pt x="0" y="1181722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239052" y="5475223"/>
            <a:ext cx="2448560" cy="9429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43535" marR="267970" indent="-228600">
              <a:lnSpc>
                <a:spcPct val="93300"/>
              </a:lnSpc>
              <a:spcBef>
                <a:spcPts val="265"/>
              </a:spcBef>
              <a:buChar char="•"/>
              <a:tabLst>
                <a:tab pos="344170" algn="l"/>
              </a:tabLst>
            </a:pPr>
            <a:r>
              <a:rPr dirty="0" sz="2100" spc="-15">
                <a:latin typeface="Calibri"/>
                <a:cs typeface="Calibri"/>
              </a:rPr>
              <a:t>Propagate  </a:t>
            </a:r>
            <a:r>
              <a:rPr dirty="0" sz="2100" spc="-10">
                <a:latin typeface="Calibri"/>
                <a:cs typeface="Calibri"/>
              </a:rPr>
              <a:t>correlations  </a:t>
            </a:r>
            <a:r>
              <a:rPr dirty="0" sz="2100" spc="-5">
                <a:latin typeface="Calibri"/>
                <a:cs typeface="Calibri"/>
              </a:rPr>
              <a:t>through</a:t>
            </a:r>
            <a:r>
              <a:rPr dirty="0" sz="2100" spc="-7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network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41231" y="3837266"/>
            <a:ext cx="583565" cy="376555"/>
          </a:xfrm>
          <a:custGeom>
            <a:avLst/>
            <a:gdLst/>
            <a:ahLst/>
            <a:cxnLst/>
            <a:rect l="l" t="t" r="r" b="b"/>
            <a:pathLst>
              <a:path w="583564" h="376554">
                <a:moveTo>
                  <a:pt x="583032" y="3539"/>
                </a:moveTo>
                <a:lnTo>
                  <a:pt x="552474" y="3539"/>
                </a:lnTo>
                <a:lnTo>
                  <a:pt x="552474" y="372832"/>
                </a:lnTo>
                <a:lnTo>
                  <a:pt x="583032" y="372832"/>
                </a:lnTo>
                <a:lnTo>
                  <a:pt x="583032" y="3539"/>
                </a:lnTo>
                <a:close/>
              </a:path>
              <a:path w="583564" h="376554">
                <a:moveTo>
                  <a:pt x="120054" y="0"/>
                </a:moveTo>
                <a:lnTo>
                  <a:pt x="68833" y="24135"/>
                </a:lnTo>
                <a:lnTo>
                  <a:pt x="31055" y="65980"/>
                </a:lnTo>
                <a:lnTo>
                  <a:pt x="7763" y="121915"/>
                </a:lnTo>
                <a:lnTo>
                  <a:pt x="0" y="188316"/>
                </a:lnTo>
                <a:lnTo>
                  <a:pt x="1934" y="222901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3"/>
                </a:lnTo>
                <a:lnTo>
                  <a:pt x="35724" y="154216"/>
                </a:lnTo>
                <a:lnTo>
                  <a:pt x="46886" y="98505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18108" y="2848356"/>
            <a:ext cx="8101965" cy="2411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61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>
                <a:solidFill>
                  <a:srgbClr val="0000FF"/>
                </a:solidFill>
                <a:latin typeface="Calibri"/>
                <a:cs typeface="Calibri"/>
              </a:rPr>
              <a:t>Markov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Assumption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i="1">
                <a:latin typeface="Calibri"/>
                <a:cs typeface="Calibri"/>
              </a:rPr>
              <a:t>the </a:t>
            </a:r>
            <a:r>
              <a:rPr dirty="0" sz="3200" spc="-5" i="1">
                <a:latin typeface="Calibri"/>
                <a:cs typeface="Calibri"/>
              </a:rPr>
              <a:t>label </a:t>
            </a:r>
            <a:r>
              <a:rPr dirty="0" sz="320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  </a:t>
            </a:r>
            <a:r>
              <a:rPr dirty="0" sz="3200" spc="-5" i="1">
                <a:latin typeface="Calibri"/>
                <a:cs typeface="Calibri"/>
              </a:rPr>
              <a:t>of one node</a:t>
            </a:r>
            <a:r>
              <a:rPr dirty="0" sz="3200" spc="-125" i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  <a:p>
            <a:pPr marL="332740">
              <a:lnSpc>
                <a:spcPts val="3445"/>
              </a:lnSpc>
            </a:pPr>
            <a:r>
              <a:rPr dirty="0" sz="3200" spc="-5" i="1">
                <a:latin typeface="Calibri"/>
                <a:cs typeface="Calibri"/>
              </a:rPr>
              <a:t>depends on </a:t>
            </a:r>
            <a:r>
              <a:rPr dirty="0" sz="3200" i="1">
                <a:latin typeface="Calibri"/>
                <a:cs typeface="Calibri"/>
              </a:rPr>
              <a:t>the </a:t>
            </a:r>
            <a:r>
              <a:rPr dirty="0" sz="3200" spc="-5" i="1">
                <a:latin typeface="Calibri"/>
                <a:cs typeface="Calibri"/>
              </a:rPr>
              <a:t>labels of </a:t>
            </a:r>
            <a:r>
              <a:rPr dirty="0" sz="3200" i="1">
                <a:latin typeface="Calibri"/>
                <a:cs typeface="Calibri"/>
              </a:rPr>
              <a:t>its </a:t>
            </a:r>
            <a:r>
              <a:rPr dirty="0" sz="3200" spc="-5" i="1">
                <a:latin typeface="Calibri"/>
                <a:cs typeface="Calibri"/>
              </a:rPr>
              <a:t>neighbors</a:t>
            </a:r>
            <a:r>
              <a:rPr dirty="0" sz="3200" spc="30" i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𝑁</a:t>
            </a:r>
            <a:r>
              <a:rPr dirty="0" baseline="-18518" sz="3150">
                <a:latin typeface="Cambria Math"/>
                <a:cs typeface="Cambria Math"/>
              </a:rPr>
              <a:t>𝑣</a:t>
            </a:r>
            <a:endParaRPr baseline="-18518" sz="3150">
              <a:latin typeface="Cambria Math"/>
              <a:cs typeface="Cambria Math"/>
            </a:endParaRPr>
          </a:p>
          <a:p>
            <a:pPr marL="2426335">
              <a:lnSpc>
                <a:spcPts val="3454"/>
              </a:lnSpc>
              <a:tabLst>
                <a:tab pos="4355465" algn="l"/>
              </a:tabLst>
            </a:pPr>
            <a:r>
              <a:rPr dirty="0" sz="3200" spc="10">
                <a:latin typeface="Cambria Math"/>
                <a:cs typeface="Cambria Math"/>
              </a:rPr>
              <a:t>𝑃(𝑌</a:t>
            </a:r>
            <a:r>
              <a:rPr dirty="0" baseline="-15700" sz="3450" spc="15">
                <a:latin typeface="Cambria Math"/>
                <a:cs typeface="Cambria Math"/>
              </a:rPr>
              <a:t>"</a:t>
            </a:r>
            <a:r>
              <a:rPr dirty="0" sz="3200" spc="10">
                <a:latin typeface="Cambria Math"/>
                <a:cs typeface="Cambria Math"/>
              </a:rPr>
              <a:t>)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𝑃	</a:t>
            </a:r>
            <a:r>
              <a:rPr dirty="0" sz="320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</a:t>
            </a:r>
            <a:r>
              <a:rPr dirty="0" baseline="-15700" sz="3450" spc="419">
                <a:latin typeface="Cambria Math"/>
                <a:cs typeface="Cambria Math"/>
              </a:rPr>
              <a:t> </a:t>
            </a:r>
            <a:r>
              <a:rPr dirty="0" sz="3200" spc="90">
                <a:latin typeface="Cambria Math"/>
                <a:cs typeface="Cambria Math"/>
              </a:rPr>
              <a:t>𝑁</a:t>
            </a:r>
            <a:r>
              <a:rPr dirty="0" baseline="-15700" sz="3450" spc="135">
                <a:latin typeface="Cambria Math"/>
                <a:cs typeface="Cambria Math"/>
              </a:rPr>
              <a:t>"</a:t>
            </a:r>
            <a:r>
              <a:rPr dirty="0" sz="3200" spc="9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62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Collective </a:t>
            </a:r>
            <a:r>
              <a:rPr dirty="0" sz="3200" spc="-10">
                <a:latin typeface="Calibri"/>
                <a:cs typeface="Calibri"/>
              </a:rPr>
              <a:t>classification </a:t>
            </a:r>
            <a:r>
              <a:rPr dirty="0" sz="3200" spc="-15">
                <a:latin typeface="Calibri"/>
                <a:cs typeface="Calibri"/>
              </a:rPr>
              <a:t>involves </a:t>
            </a:r>
            <a:r>
              <a:rPr dirty="0" sz="3200">
                <a:latin typeface="Calibri"/>
                <a:cs typeface="Calibri"/>
              </a:rPr>
              <a:t>3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steps:</a:t>
            </a:r>
            <a:endParaRPr sz="320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2130"/>
              </a:spcBef>
              <a:tabLst>
                <a:tab pos="3006090" algn="l"/>
                <a:tab pos="5777865" algn="l"/>
              </a:tabLst>
            </a:pPr>
            <a:r>
              <a:rPr dirty="0" sz="2100" spc="-5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dirty="0" sz="2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FFFFFF"/>
                </a:solidFill>
                <a:latin typeface="Calibri"/>
                <a:cs typeface="Calibri"/>
              </a:rPr>
              <a:t>Classifier	</a:t>
            </a:r>
            <a:r>
              <a:rPr dirty="0" sz="2100" spc="-1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2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5">
                <a:solidFill>
                  <a:srgbClr val="FFFFFF"/>
                </a:solidFill>
                <a:latin typeface="Calibri"/>
                <a:cs typeface="Calibri"/>
              </a:rPr>
              <a:t>Classifier	Collective</a:t>
            </a:r>
            <a:r>
              <a:rPr dirty="0" sz="2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5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2"/>
              </a:rPr>
              <a:t>http://cs224w.stanford.edu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4108" y="1139444"/>
            <a:ext cx="59810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Local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Classifier</a:t>
            </a:r>
            <a:r>
              <a:rPr dirty="0" sz="2400" spc="-5" b="1">
                <a:latin typeface="Calibri"/>
                <a:cs typeface="Calibri"/>
              </a:rPr>
              <a:t>: </a:t>
            </a:r>
            <a:r>
              <a:rPr dirty="0" sz="2400" spc="-5"/>
              <a:t>Used </a:t>
            </a:r>
            <a:r>
              <a:rPr dirty="0" sz="2400" spc="-20"/>
              <a:t>for </a:t>
            </a:r>
            <a:r>
              <a:rPr dirty="0" sz="2400" spc="-5"/>
              <a:t>initial label</a:t>
            </a:r>
            <a:r>
              <a:rPr dirty="0" sz="2400" spc="25"/>
              <a:t> </a:t>
            </a:r>
            <a:r>
              <a:rPr dirty="0" sz="2400" spc="-5"/>
              <a:t>assignment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2564" y="1507236"/>
            <a:ext cx="5284470" cy="113220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</a:tabLst>
            </a:pPr>
            <a:r>
              <a:rPr dirty="0" sz="2000" spc="-5">
                <a:latin typeface="Calibri"/>
                <a:cs typeface="Calibri"/>
              </a:rPr>
              <a:t>Predicts label based on node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attributes/features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</a:tabLst>
            </a:pPr>
            <a:r>
              <a:rPr dirty="0" sz="2000" spc="-10">
                <a:latin typeface="Calibri"/>
                <a:cs typeface="Calibri"/>
              </a:rPr>
              <a:t>Standard </a:t>
            </a:r>
            <a:r>
              <a:rPr dirty="0" sz="2000" spc="-5">
                <a:latin typeface="Calibri"/>
                <a:cs typeface="Calibri"/>
              </a:rPr>
              <a:t>classification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task</a:t>
            </a:r>
            <a:endParaRPr sz="20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</a:tabLst>
            </a:pPr>
            <a:r>
              <a:rPr dirty="0" sz="2000" spc="-5">
                <a:latin typeface="Calibri"/>
                <a:cs typeface="Calibri"/>
              </a:rPr>
              <a:t>Does not use </a:t>
            </a:r>
            <a:r>
              <a:rPr dirty="0" sz="2000" spc="-10">
                <a:latin typeface="Calibri"/>
                <a:cs typeface="Calibri"/>
              </a:rPr>
              <a:t>network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928" y="4867655"/>
            <a:ext cx="2481072" cy="637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320" y="4913376"/>
            <a:ext cx="2301240" cy="594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8600" y="4886945"/>
            <a:ext cx="2393688" cy="5471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8600" y="4976367"/>
            <a:ext cx="23939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900" spc="-5">
                <a:solidFill>
                  <a:srgbClr val="FFFFFF"/>
                </a:solidFill>
                <a:latin typeface="Calibri"/>
                <a:cs typeface="Calibri"/>
              </a:rPr>
              <a:t>Collective</a:t>
            </a:r>
            <a:r>
              <a:rPr dirty="0" sz="19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5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00" y="5455884"/>
            <a:ext cx="2393950" cy="1069340"/>
          </a:xfrm>
          <a:custGeom>
            <a:avLst/>
            <a:gdLst/>
            <a:ahLst/>
            <a:cxnLst/>
            <a:rect l="l" t="t" r="r" b="b"/>
            <a:pathLst>
              <a:path w="2393950" h="1069340">
                <a:moveTo>
                  <a:pt x="0" y="0"/>
                </a:moveTo>
                <a:lnTo>
                  <a:pt x="2393688" y="0"/>
                </a:lnTo>
                <a:lnTo>
                  <a:pt x="2393688" y="1069177"/>
                </a:lnTo>
                <a:lnTo>
                  <a:pt x="0" y="1069177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8600" y="5455884"/>
            <a:ext cx="2393950" cy="1069340"/>
          </a:xfrm>
          <a:custGeom>
            <a:avLst/>
            <a:gdLst/>
            <a:ahLst/>
            <a:cxnLst/>
            <a:rect l="l" t="t" r="r" b="b"/>
            <a:pathLst>
              <a:path w="2393950" h="1069340">
                <a:moveTo>
                  <a:pt x="0" y="0"/>
                </a:moveTo>
                <a:lnTo>
                  <a:pt x="2393688" y="0"/>
                </a:lnTo>
                <a:lnTo>
                  <a:pt x="2393688" y="1069177"/>
                </a:lnTo>
                <a:lnTo>
                  <a:pt x="0" y="106917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5425" y="5506720"/>
            <a:ext cx="2400300" cy="8483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75590" marR="461645" indent="-171450">
              <a:lnSpc>
                <a:spcPct val="92100"/>
              </a:lnSpc>
              <a:spcBef>
                <a:spcPts val="280"/>
              </a:spcBef>
              <a:buChar char="•"/>
              <a:tabLst>
                <a:tab pos="276225" algn="l"/>
              </a:tabLst>
            </a:pPr>
            <a:r>
              <a:rPr dirty="0" sz="1900" spc="-15">
                <a:latin typeface="Calibri"/>
                <a:cs typeface="Calibri"/>
              </a:rPr>
              <a:t>Propagate  </a:t>
            </a:r>
            <a:r>
              <a:rPr dirty="0" sz="1900" spc="-10">
                <a:latin typeface="Calibri"/>
                <a:cs typeface="Calibri"/>
              </a:rPr>
              <a:t>correlations  through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5">
                <a:latin typeface="Calibri"/>
                <a:cs typeface="Calibri"/>
              </a:rPr>
              <a:t>network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2023" y="1127760"/>
            <a:ext cx="2474976" cy="780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1752" y="1179575"/>
            <a:ext cx="2255520" cy="725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6765" y="1146660"/>
            <a:ext cx="2385522" cy="691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6765" y="1146660"/>
            <a:ext cx="2385695" cy="691515"/>
          </a:xfrm>
          <a:prstGeom prst="rect">
            <a:avLst/>
          </a:prstGeom>
          <a:ln w="6350">
            <a:solidFill>
              <a:srgbClr val="F0AD00"/>
            </a:solidFill>
          </a:ln>
        </p:spPr>
        <p:txBody>
          <a:bodyPr wrap="square" lIns="0" tIns="12382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975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765" y="1837860"/>
            <a:ext cx="2385695" cy="1054100"/>
          </a:xfrm>
          <a:custGeom>
            <a:avLst/>
            <a:gdLst/>
            <a:ahLst/>
            <a:cxnLst/>
            <a:rect l="l" t="t" r="r" b="b"/>
            <a:pathLst>
              <a:path w="2385695" h="1054100">
                <a:moveTo>
                  <a:pt x="0" y="0"/>
                </a:moveTo>
                <a:lnTo>
                  <a:pt x="2385522" y="0"/>
                </a:lnTo>
                <a:lnTo>
                  <a:pt x="2385522" y="1054079"/>
                </a:lnTo>
                <a:lnTo>
                  <a:pt x="0" y="1054079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6765" y="1837860"/>
            <a:ext cx="2385695" cy="1054100"/>
          </a:xfrm>
          <a:custGeom>
            <a:avLst/>
            <a:gdLst/>
            <a:ahLst/>
            <a:cxnLst/>
            <a:rect l="l" t="t" r="r" b="b"/>
            <a:pathLst>
              <a:path w="2385695" h="1054100">
                <a:moveTo>
                  <a:pt x="0" y="0"/>
                </a:moveTo>
                <a:lnTo>
                  <a:pt x="2385522" y="0"/>
                </a:lnTo>
                <a:lnTo>
                  <a:pt x="2385522" y="1054080"/>
                </a:lnTo>
                <a:lnTo>
                  <a:pt x="0" y="105408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6765" y="1901444"/>
            <a:ext cx="2385695" cy="7239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56235" marR="475615" indent="-228600">
              <a:lnSpc>
                <a:spcPts val="2620"/>
              </a:lnSpc>
              <a:spcBef>
                <a:spcPts val="405"/>
              </a:spcBef>
              <a:buChar char="•"/>
              <a:tabLst>
                <a:tab pos="356870" algn="l"/>
              </a:tabLst>
            </a:pPr>
            <a:r>
              <a:rPr dirty="0" sz="2400" spc="-5">
                <a:latin typeface="Calibri"/>
                <a:cs typeface="Calibri"/>
              </a:rPr>
              <a:t>Assign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initial  </a:t>
            </a:r>
            <a:r>
              <a:rPr dirty="0" sz="2400" spc="-5">
                <a:latin typeface="Calibri"/>
                <a:cs typeface="Calibri"/>
              </a:rPr>
              <a:t>labels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8600" y="2996183"/>
            <a:ext cx="2438400" cy="664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9936" y="3048000"/>
            <a:ext cx="2395728" cy="612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2141" y="3015170"/>
            <a:ext cx="2350146" cy="5759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68966" y="3015170"/>
            <a:ext cx="2357120" cy="576580"/>
          </a:xfrm>
          <a:prstGeom prst="rect">
            <a:avLst/>
          </a:prstGeom>
          <a:ln w="6350">
            <a:solidFill>
              <a:srgbClr val="F0AD00"/>
            </a:solidFill>
          </a:ln>
        </p:spPr>
        <p:txBody>
          <a:bodyPr wrap="square" lIns="0" tIns="107950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85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2141" y="3591169"/>
            <a:ext cx="2350770" cy="1125855"/>
          </a:xfrm>
          <a:custGeom>
            <a:avLst/>
            <a:gdLst/>
            <a:ahLst/>
            <a:cxnLst/>
            <a:rect l="l" t="t" r="r" b="b"/>
            <a:pathLst>
              <a:path w="2350770" h="1125854">
                <a:moveTo>
                  <a:pt x="0" y="0"/>
                </a:moveTo>
                <a:lnTo>
                  <a:pt x="2350146" y="0"/>
                </a:lnTo>
                <a:lnTo>
                  <a:pt x="2350146" y="1125448"/>
                </a:lnTo>
                <a:lnTo>
                  <a:pt x="0" y="1125448"/>
                </a:lnTo>
                <a:lnTo>
                  <a:pt x="0" y="0"/>
                </a:lnTo>
                <a:close/>
              </a:path>
            </a:pathLst>
          </a:custGeom>
          <a:solidFill>
            <a:srgbClr val="F9E3CB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2141" y="3591169"/>
            <a:ext cx="2350770" cy="1125855"/>
          </a:xfrm>
          <a:custGeom>
            <a:avLst/>
            <a:gdLst/>
            <a:ahLst/>
            <a:cxnLst/>
            <a:rect l="l" t="t" r="r" b="b"/>
            <a:pathLst>
              <a:path w="2350770" h="1125854">
                <a:moveTo>
                  <a:pt x="0" y="0"/>
                </a:moveTo>
                <a:lnTo>
                  <a:pt x="2350146" y="0"/>
                </a:lnTo>
                <a:lnTo>
                  <a:pt x="2350146" y="1125449"/>
                </a:lnTo>
                <a:lnTo>
                  <a:pt x="0" y="112544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9E3C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68966" y="3646932"/>
            <a:ext cx="2357120" cy="88836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38455" marR="417195" indent="-228600">
              <a:lnSpc>
                <a:spcPct val="91500"/>
              </a:lnSpc>
              <a:spcBef>
                <a:spcPts val="305"/>
              </a:spcBef>
              <a:buChar char="•"/>
              <a:tabLst>
                <a:tab pos="338455" algn="l"/>
              </a:tabLst>
            </a:pPr>
            <a:r>
              <a:rPr dirty="0" sz="2000" spc="-10">
                <a:latin typeface="Calibri"/>
                <a:cs typeface="Calibri"/>
              </a:rPr>
              <a:t>Capture  correlations  between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8614" y="2993237"/>
            <a:ext cx="5904865" cy="134366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Relational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Classifier</a:t>
            </a:r>
            <a:r>
              <a:rPr dirty="0" sz="2400" spc="-5" b="1">
                <a:latin typeface="Calibri"/>
                <a:cs typeface="Calibri"/>
              </a:rPr>
              <a:t>: </a:t>
            </a:r>
            <a:r>
              <a:rPr dirty="0" sz="2400" spc="-10">
                <a:latin typeface="Calibri"/>
                <a:cs typeface="Calibri"/>
              </a:rPr>
              <a:t>Capture correlations</a:t>
            </a:r>
            <a:endParaRPr sz="2400">
              <a:latin typeface="Calibri"/>
              <a:cs typeface="Calibri"/>
            </a:endParaRPr>
          </a:p>
          <a:p>
            <a:pPr marL="812800" marR="5080" indent="-3429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dirty="0" sz="2000" spc="-5">
                <a:latin typeface="Calibri"/>
                <a:cs typeface="Calibri"/>
              </a:rPr>
              <a:t>Learns </a:t>
            </a:r>
            <a:r>
              <a:rPr dirty="0" sz="2000">
                <a:latin typeface="Calibri"/>
                <a:cs typeface="Calibri"/>
              </a:rPr>
              <a:t>a classifier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 spc="-5">
                <a:latin typeface="Calibri"/>
                <a:cs typeface="Calibri"/>
              </a:rPr>
              <a:t>label one node based on the  labels </a:t>
            </a:r>
            <a:r>
              <a:rPr dirty="0" sz="2000" spc="-10">
                <a:latin typeface="Calibri"/>
                <a:cs typeface="Calibri"/>
              </a:rPr>
              <a:t>and/or attributes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neighbors</a:t>
            </a:r>
            <a:endParaRPr sz="200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dirty="0" sz="2000" spc="-5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where network information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used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0039" y="4764125"/>
            <a:ext cx="6146800" cy="164846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Collective </a:t>
            </a: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Inference</a:t>
            </a:r>
            <a:r>
              <a:rPr dirty="0" sz="2400" spc="-15" b="1">
                <a:latin typeface="Calibri"/>
                <a:cs typeface="Calibri"/>
              </a:rPr>
              <a:t>: </a:t>
            </a:r>
            <a:r>
              <a:rPr dirty="0" sz="2400" spc="-20">
                <a:latin typeface="Calibri"/>
                <a:cs typeface="Calibri"/>
              </a:rPr>
              <a:t>Propagate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correlation</a:t>
            </a:r>
            <a:endParaRPr sz="240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dirty="0" sz="2000" spc="-5">
                <a:latin typeface="Calibri"/>
                <a:cs typeface="Calibri"/>
              </a:rPr>
              <a:t>Apply relational </a:t>
            </a:r>
            <a:r>
              <a:rPr dirty="0" sz="2000">
                <a:latin typeface="Calibri"/>
                <a:cs typeface="Calibri"/>
              </a:rPr>
              <a:t>classifier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each </a:t>
            </a:r>
            <a:r>
              <a:rPr dirty="0" sz="2000" spc="-5">
                <a:latin typeface="Calibri"/>
                <a:cs typeface="Calibri"/>
              </a:rPr>
              <a:t>node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iteratively</a:t>
            </a:r>
            <a:endParaRPr sz="2000">
              <a:latin typeface="Calibri"/>
              <a:cs typeface="Calibri"/>
            </a:endParaRPr>
          </a:p>
          <a:p>
            <a:pPr marL="812800" marR="5080" indent="-342900">
              <a:lnSpc>
                <a:spcPct val="1000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dirty="0" sz="2000" spc="-15">
                <a:latin typeface="Calibri"/>
                <a:cs typeface="Calibri"/>
              </a:rPr>
              <a:t>Iterate </a:t>
            </a:r>
            <a:r>
              <a:rPr dirty="0" sz="2000" spc="-5">
                <a:latin typeface="Calibri"/>
                <a:cs typeface="Calibri"/>
              </a:rPr>
              <a:t>until the </a:t>
            </a:r>
            <a:r>
              <a:rPr dirty="0" sz="2000" spc="-10">
                <a:latin typeface="Calibri"/>
                <a:cs typeface="Calibri"/>
              </a:rPr>
              <a:t>inconsistency between </a:t>
            </a:r>
            <a:r>
              <a:rPr dirty="0" sz="2000" spc="-5">
                <a:latin typeface="Calibri"/>
                <a:cs typeface="Calibri"/>
              </a:rPr>
              <a:t>neighboring  labels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minimized</a:t>
            </a:r>
            <a:endParaRPr sz="200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buFont typeface="Arial"/>
              <a:buChar char="•"/>
              <a:tabLst>
                <a:tab pos="812165" algn="l"/>
                <a:tab pos="812800" algn="l"/>
              </a:tabLst>
            </a:pPr>
            <a:r>
              <a:rPr dirty="0" sz="2000" spc="-10">
                <a:latin typeface="Calibri"/>
                <a:cs typeface="Calibri"/>
              </a:rPr>
              <a:t>Network structure </a:t>
            </a:r>
            <a:r>
              <a:rPr dirty="0" sz="2000" spc="-15">
                <a:latin typeface="Calibri"/>
                <a:cs typeface="Calibri"/>
              </a:rPr>
              <a:t>affects </a:t>
            </a:r>
            <a:r>
              <a:rPr dirty="0" sz="2000" spc="-5">
                <a:latin typeface="Calibri"/>
                <a:cs typeface="Calibri"/>
              </a:rPr>
              <a:t>the final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6927" y="356615"/>
            <a:ext cx="8141208" cy="4754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2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974591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How </a:t>
            </a:r>
            <a:r>
              <a:rPr dirty="0" spc="-15"/>
              <a:t>to </a:t>
            </a:r>
            <a:r>
              <a:rPr dirty="0" spc="-10"/>
              <a:t>predict </a:t>
            </a:r>
            <a:r>
              <a:rPr dirty="0"/>
              <a:t>the </a:t>
            </a:r>
            <a:r>
              <a:rPr dirty="0" spc="-5"/>
              <a:t>labels </a:t>
            </a:r>
            <a:r>
              <a:rPr dirty="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 </a:t>
            </a:r>
            <a:r>
              <a:rPr dirty="0" sz="3200" spc="-25"/>
              <a:t>for </a:t>
            </a:r>
            <a:r>
              <a:rPr dirty="0" sz="3200"/>
              <a:t>the </a:t>
            </a:r>
            <a:r>
              <a:rPr dirty="0" sz="3200" spc="-5"/>
              <a:t>unlabeled  nodes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/>
              <a:t>(in </a:t>
            </a:r>
            <a:r>
              <a:rPr dirty="0" sz="3200" spc="-20"/>
              <a:t>grey</a:t>
            </a:r>
            <a:r>
              <a:rPr dirty="0" sz="3200" spc="50"/>
              <a:t> </a:t>
            </a:r>
            <a:r>
              <a:rPr dirty="0" sz="3200" spc="-5"/>
              <a:t>color)?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Each </a:t>
            </a:r>
            <a:r>
              <a:rPr dirty="0"/>
              <a:t>node </a:t>
            </a:r>
            <a:r>
              <a:rPr dirty="0">
                <a:latin typeface="Cambria Math"/>
                <a:cs typeface="Cambria Math"/>
              </a:rPr>
              <a:t>𝑣 </a:t>
            </a:r>
            <a:r>
              <a:rPr dirty="0"/>
              <a:t>has a </a:t>
            </a:r>
            <a:r>
              <a:rPr dirty="0" spc="-25"/>
              <a:t>feature </a:t>
            </a:r>
            <a:r>
              <a:rPr dirty="0" spc="-15"/>
              <a:t>vector</a:t>
            </a:r>
            <a:r>
              <a:rPr dirty="0" spc="75"/>
              <a:t> </a:t>
            </a:r>
            <a:r>
              <a:rPr dirty="0" spc="-114">
                <a:latin typeface="Cambria Math"/>
                <a:cs typeface="Cambria Math"/>
              </a:rPr>
              <a:t>𝑓</a:t>
            </a:r>
            <a:r>
              <a:rPr dirty="0" baseline="-15700" sz="3450" spc="-172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7773670" cy="149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Labels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some nodes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>
                <a:latin typeface="Calibri"/>
                <a:cs typeface="Calibri"/>
              </a:rPr>
              <a:t>(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1 </a:t>
            </a:r>
            <a:r>
              <a:rPr dirty="0" sz="3200" spc="-25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dirty="0" sz="3200" spc="10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8000"/>
                </a:solidFill>
                <a:latin typeface="Calibri"/>
                <a:cs typeface="Calibri"/>
              </a:rPr>
              <a:t>green</a:t>
            </a:r>
            <a:r>
              <a:rPr dirty="0" sz="3200" spc="-15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  <a:spcBef>
                <a:spcPts val="70"/>
              </a:spcBef>
            </a:pP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0 </a:t>
            </a:r>
            <a:r>
              <a:rPr dirty="0" sz="3200" spc="-25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3200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red</a:t>
            </a:r>
            <a:r>
              <a:rPr dirty="0" sz="3200" spc="-15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 b="1">
                <a:solidFill>
                  <a:srgbClr val="0070C0"/>
                </a:solidFill>
                <a:latin typeface="Calibri"/>
                <a:cs typeface="Calibri"/>
              </a:rPr>
              <a:t>Task: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Find </a:t>
            </a:r>
            <a:r>
              <a:rPr dirty="0" sz="3200" spc="10">
                <a:solidFill>
                  <a:srgbClr val="0070C0"/>
                </a:solidFill>
                <a:latin typeface="Cambria Math"/>
                <a:cs typeface="Cambria Math"/>
              </a:rPr>
              <a:t>𝑃(𝑌</a:t>
            </a:r>
            <a:r>
              <a:rPr dirty="0" baseline="-15700" sz="3450" spc="15">
                <a:solidFill>
                  <a:srgbClr val="0070C0"/>
                </a:solidFill>
                <a:latin typeface="Cambria Math"/>
                <a:cs typeface="Cambria Math"/>
              </a:rPr>
              <a:t>"</a:t>
            </a:r>
            <a:r>
              <a:rPr dirty="0" sz="3200" spc="10">
                <a:solidFill>
                  <a:srgbClr val="0070C0"/>
                </a:solidFill>
                <a:latin typeface="Cambria Math"/>
                <a:cs typeface="Cambria Math"/>
              </a:rPr>
              <a:t>)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given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all </a:t>
            </a:r>
            <a:r>
              <a:rPr dirty="0" sz="3200" spc="-25">
                <a:solidFill>
                  <a:srgbClr val="0070C0"/>
                </a:solidFill>
                <a:latin typeface="Calibri"/>
                <a:cs typeface="Calibri"/>
              </a:rPr>
              <a:t>features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dirty="0" sz="3200" spc="12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149" y="4268723"/>
            <a:ext cx="14027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89076" y="5294806"/>
            <a:ext cx="716915" cy="450850"/>
          </a:xfrm>
          <a:custGeom>
            <a:avLst/>
            <a:gdLst/>
            <a:ahLst/>
            <a:cxnLst/>
            <a:rect l="l" t="t" r="r" b="b"/>
            <a:pathLst>
              <a:path w="716914" h="450850">
                <a:moveTo>
                  <a:pt x="716547" y="45053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74581" y="5247092"/>
            <a:ext cx="657225" cy="357505"/>
          </a:xfrm>
          <a:custGeom>
            <a:avLst/>
            <a:gdLst/>
            <a:ahLst/>
            <a:cxnLst/>
            <a:rect l="l" t="t" r="r" b="b"/>
            <a:pathLst>
              <a:path w="657225" h="357504">
                <a:moveTo>
                  <a:pt x="0" y="357044"/>
                </a:moveTo>
                <a:lnTo>
                  <a:pt x="65717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51293" y="5301145"/>
            <a:ext cx="309880" cy="668020"/>
          </a:xfrm>
          <a:custGeom>
            <a:avLst/>
            <a:gdLst/>
            <a:ahLst/>
            <a:cxnLst/>
            <a:rect l="l" t="t" r="r" b="b"/>
            <a:pathLst>
              <a:path w="309880" h="668020">
                <a:moveTo>
                  <a:pt x="0" y="667391"/>
                </a:moveTo>
                <a:lnTo>
                  <a:pt x="30977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4173" y="6153084"/>
            <a:ext cx="830580" cy="8255"/>
          </a:xfrm>
          <a:custGeom>
            <a:avLst/>
            <a:gdLst/>
            <a:ahLst/>
            <a:cxnLst/>
            <a:rect l="l" t="t" r="r" b="b"/>
            <a:pathLst>
              <a:path w="830579" h="8254">
                <a:moveTo>
                  <a:pt x="0" y="0"/>
                </a:moveTo>
                <a:lnTo>
                  <a:pt x="830511" y="7988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43952" y="5116597"/>
            <a:ext cx="833119" cy="48260"/>
          </a:xfrm>
          <a:custGeom>
            <a:avLst/>
            <a:gdLst/>
            <a:ahLst/>
            <a:cxnLst/>
            <a:rect l="l" t="t" r="r" b="b"/>
            <a:pathLst>
              <a:path w="833120" h="48260">
                <a:moveTo>
                  <a:pt x="0" y="0"/>
                </a:moveTo>
                <a:lnTo>
                  <a:pt x="832929" y="47715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47565" y="5348859"/>
            <a:ext cx="312420" cy="628015"/>
          </a:xfrm>
          <a:custGeom>
            <a:avLst/>
            <a:gdLst/>
            <a:ahLst/>
            <a:cxnLst/>
            <a:rect l="l" t="t" r="r" b="b"/>
            <a:pathLst>
              <a:path w="312420" h="628014">
                <a:moveTo>
                  <a:pt x="0" y="627664"/>
                </a:moveTo>
                <a:lnTo>
                  <a:pt x="312196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90387" y="5247091"/>
            <a:ext cx="628015" cy="783590"/>
          </a:xfrm>
          <a:custGeom>
            <a:avLst/>
            <a:gdLst/>
            <a:ahLst/>
            <a:cxnLst/>
            <a:rect l="l" t="t" r="r" b="b"/>
            <a:pathLst>
              <a:path w="628014" h="783589">
                <a:moveTo>
                  <a:pt x="627861" y="78348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80610" y="5294806"/>
            <a:ext cx="1250315" cy="728345"/>
          </a:xfrm>
          <a:custGeom>
            <a:avLst/>
            <a:gdLst/>
            <a:ahLst/>
            <a:cxnLst/>
            <a:rect l="l" t="t" r="r" b="b"/>
            <a:pathLst>
              <a:path w="1250314" h="728345">
                <a:moveTo>
                  <a:pt x="1249835" y="0"/>
                </a:moveTo>
                <a:lnTo>
                  <a:pt x="0" y="72778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30444" y="5745341"/>
            <a:ext cx="975360" cy="415925"/>
          </a:xfrm>
          <a:custGeom>
            <a:avLst/>
            <a:gdLst/>
            <a:ahLst/>
            <a:cxnLst/>
            <a:rect l="l" t="t" r="r" b="b"/>
            <a:pathLst>
              <a:path w="975360" h="415925">
                <a:moveTo>
                  <a:pt x="975179" y="0"/>
                </a:moveTo>
                <a:lnTo>
                  <a:pt x="0" y="4157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71384" y="5270948"/>
            <a:ext cx="758825" cy="474980"/>
          </a:xfrm>
          <a:custGeom>
            <a:avLst/>
            <a:gdLst/>
            <a:ahLst/>
            <a:cxnLst/>
            <a:rect l="l" t="t" r="r" b="b"/>
            <a:pathLst>
              <a:path w="758825" h="474979">
                <a:moveTo>
                  <a:pt x="758504" y="0"/>
                </a:moveTo>
                <a:lnTo>
                  <a:pt x="0" y="47439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71383" y="5745341"/>
            <a:ext cx="1284605" cy="133350"/>
          </a:xfrm>
          <a:custGeom>
            <a:avLst/>
            <a:gdLst/>
            <a:ahLst/>
            <a:cxnLst/>
            <a:rect l="l" t="t" r="r" b="b"/>
            <a:pathLst>
              <a:path w="1284604" h="133350">
                <a:moveTo>
                  <a:pt x="1284055" y="133307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88917" y="5325002"/>
            <a:ext cx="370840" cy="804545"/>
          </a:xfrm>
          <a:custGeom>
            <a:avLst/>
            <a:gdLst/>
            <a:ahLst/>
            <a:cxnLst/>
            <a:rect l="l" t="t" r="r" b="b"/>
            <a:pathLst>
              <a:path w="370839" h="804545">
                <a:moveTo>
                  <a:pt x="0" y="804012"/>
                </a:moveTo>
                <a:lnTo>
                  <a:pt x="370287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88520" y="5270948"/>
            <a:ext cx="320675" cy="477520"/>
          </a:xfrm>
          <a:custGeom>
            <a:avLst/>
            <a:gdLst/>
            <a:ahLst/>
            <a:cxnLst/>
            <a:rect l="l" t="t" r="r" b="b"/>
            <a:pathLst>
              <a:path w="320675" h="477520">
                <a:moveTo>
                  <a:pt x="0" y="0"/>
                </a:moveTo>
                <a:lnTo>
                  <a:pt x="320483" y="477205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18231" y="6009142"/>
            <a:ext cx="690880" cy="173990"/>
          </a:xfrm>
          <a:custGeom>
            <a:avLst/>
            <a:gdLst/>
            <a:ahLst/>
            <a:cxnLst/>
            <a:rect l="l" t="t" r="r" b="b"/>
            <a:pathLst>
              <a:path w="690879" h="173989">
                <a:moveTo>
                  <a:pt x="690770" y="0"/>
                </a:moveTo>
                <a:lnTo>
                  <a:pt x="0" y="173924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64684" y="597652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64684" y="597652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78508" y="60264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68413" y="596853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4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68413" y="596853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82237" y="6017259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78192" y="493205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78192" y="493205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992015" y="49809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08821" y="541958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08821" y="541958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022645" y="54686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076880" y="497976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76880" y="497976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833221" y="4389627"/>
            <a:ext cx="137541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0">
                <a:solidFill>
                  <a:srgbClr val="C00000"/>
                </a:solidFill>
                <a:latin typeface="Cambria Math"/>
                <a:cs typeface="Cambria Math"/>
              </a:rPr>
              <a:t>𝑃(𝑌</a:t>
            </a:r>
            <a:r>
              <a:rPr dirty="0" baseline="-16666" sz="3000" spc="75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sz="2800" spc="50">
                <a:solidFill>
                  <a:srgbClr val="C00000"/>
                </a:solidFill>
                <a:latin typeface="Cambria Math"/>
                <a:cs typeface="Cambria Math"/>
              </a:rPr>
              <a:t>) </a:t>
            </a:r>
            <a:r>
              <a:rPr dirty="0" sz="2800" i="1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sz="2800" spc="-13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marL="369570">
              <a:lnSpc>
                <a:spcPct val="100000"/>
              </a:lnSpc>
              <a:spcBef>
                <a:spcPts val="1680"/>
              </a:spcBef>
            </a:pPr>
            <a:r>
              <a:rPr dirty="0" sz="160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06037" y="61290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06037" y="61290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919861" y="61788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55438" y="569410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55438" y="569410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869262" y="57429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105623" y="556079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1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4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1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105623" y="556079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219447" y="56118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76323" y="495590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76323" y="495590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290147" y="50053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85190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945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/>
              <a:t>We </a:t>
            </a:r>
            <a:r>
              <a:rPr dirty="0" spc="-20"/>
              <a:t>focus </a:t>
            </a:r>
            <a:r>
              <a:rPr dirty="0" spc="-5"/>
              <a:t>on semi-supervised </a:t>
            </a:r>
            <a:r>
              <a:rPr dirty="0"/>
              <a:t>node</a:t>
            </a:r>
            <a:r>
              <a:rPr dirty="0" spc="175"/>
              <a:t> </a:t>
            </a:r>
            <a:r>
              <a:rPr dirty="0" spc="-10"/>
              <a:t>classification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Intuition </a:t>
            </a:r>
            <a:r>
              <a:rPr dirty="0"/>
              <a:t>is </a:t>
            </a:r>
            <a:r>
              <a:rPr dirty="0" spc="-5"/>
              <a:t>based on </a:t>
            </a:r>
            <a:r>
              <a:rPr dirty="0" spc="-5" b="1">
                <a:latin typeface="Calibri"/>
                <a:cs typeface="Calibri"/>
              </a:rPr>
              <a:t>homophily</a:t>
            </a:r>
            <a:r>
              <a:rPr dirty="0" spc="-5"/>
              <a:t>: </a:t>
            </a:r>
            <a:r>
              <a:rPr dirty="0"/>
              <a:t>Similar</a:t>
            </a:r>
            <a:r>
              <a:rPr dirty="0" spc="35"/>
              <a:t> </a:t>
            </a:r>
            <a:r>
              <a:rPr dirty="0" spc="-5"/>
              <a:t>nodes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6557645" cy="30302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>
              <a:lnSpc>
                <a:spcPts val="3790"/>
              </a:lnSpc>
              <a:spcBef>
                <a:spcPts val="265"/>
              </a:spcBef>
            </a:pP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5">
                <a:latin typeface="Calibri"/>
                <a:cs typeface="Calibri"/>
              </a:rPr>
              <a:t>typically close </a:t>
            </a:r>
            <a:r>
              <a:rPr dirty="0" sz="3200" spc="-10">
                <a:latin typeface="Calibri"/>
                <a:cs typeface="Calibri"/>
              </a:rPr>
              <a:t>together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10">
                <a:latin typeface="Calibri"/>
                <a:cs typeface="Calibri"/>
              </a:rPr>
              <a:t>directly  connected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Three techniques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b="1">
                <a:latin typeface="Calibri"/>
                <a:cs typeface="Calibri"/>
              </a:rPr>
              <a:t>will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introduce: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Relational</a:t>
            </a:r>
            <a:r>
              <a:rPr dirty="0" sz="28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 b="1">
                <a:solidFill>
                  <a:srgbClr val="0000FF"/>
                </a:solidFill>
                <a:latin typeface="Calibri"/>
                <a:cs typeface="Calibri"/>
              </a:rPr>
              <a:t>Iterative</a:t>
            </a:r>
            <a:r>
              <a:rPr dirty="0" sz="28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Belief</a:t>
            </a:r>
            <a:r>
              <a:rPr dirty="0" sz="2800" spc="-6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5048" y="2542032"/>
            <a:ext cx="6403848" cy="1694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64743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4456430" cy="247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Relational</a:t>
            </a:r>
            <a:r>
              <a:rPr dirty="0" sz="32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classifiers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solidFill>
                  <a:srgbClr val="A6A6A6"/>
                </a:solidFill>
                <a:latin typeface="Calibri"/>
                <a:cs typeface="Calibri"/>
              </a:rPr>
              <a:t>Iterative</a:t>
            </a:r>
            <a:r>
              <a:rPr dirty="0" sz="3200" spc="-5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A6A6A6"/>
                </a:solidFill>
                <a:latin typeface="Calibri"/>
                <a:cs typeface="Calibri"/>
              </a:rPr>
              <a:t>Loopy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belief</a:t>
            </a:r>
            <a:r>
              <a:rPr dirty="0" sz="3200" spc="-7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A6A6A6"/>
                </a:solidFill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424940"/>
            <a:ext cx="7712075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Basic idea: </a:t>
            </a:r>
            <a:r>
              <a:rPr dirty="0" spc="-5"/>
              <a:t>Class </a:t>
            </a:r>
            <a:r>
              <a:rPr dirty="0" spc="-10"/>
              <a:t>probability </a:t>
            </a:r>
            <a:r>
              <a:rPr dirty="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 </a:t>
            </a:r>
            <a:r>
              <a:rPr dirty="0" sz="3200" spc="-5"/>
              <a:t>of node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/>
              <a:t>is a  </a:t>
            </a:r>
            <a:r>
              <a:rPr dirty="0" sz="3200" spc="-15"/>
              <a:t>weighted </a:t>
            </a:r>
            <a:r>
              <a:rPr dirty="0" sz="3200" spc="-30"/>
              <a:t>average </a:t>
            </a:r>
            <a:r>
              <a:rPr dirty="0" sz="3200" spc="-5"/>
              <a:t>of class probabilities of </a:t>
            </a:r>
            <a:r>
              <a:rPr dirty="0" sz="3200"/>
              <a:t>its  </a:t>
            </a:r>
            <a:r>
              <a:rPr dirty="0" sz="3200" spc="-10"/>
              <a:t>neighbors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For </a:t>
            </a:r>
            <a:r>
              <a:rPr dirty="0" spc="-5" b="1">
                <a:solidFill>
                  <a:srgbClr val="008000"/>
                </a:solidFill>
                <a:latin typeface="Calibri"/>
                <a:cs typeface="Calibri"/>
              </a:rPr>
              <a:t>labeled nodes </a:t>
            </a:r>
            <a:r>
              <a:rPr dirty="0" spc="35">
                <a:latin typeface="Cambria Math"/>
                <a:cs typeface="Cambria Math"/>
              </a:rPr>
              <a:t>𝑣</a:t>
            </a:r>
            <a:r>
              <a:rPr dirty="0" spc="35"/>
              <a:t>, </a:t>
            </a:r>
            <a:r>
              <a:rPr dirty="0" spc="-10"/>
              <a:t>initialize </a:t>
            </a:r>
            <a:r>
              <a:rPr dirty="0" spc="-5"/>
              <a:t>label </a:t>
            </a:r>
            <a:r>
              <a:rPr dirty="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</a:t>
            </a:r>
            <a:r>
              <a:rPr dirty="0" baseline="-15700" sz="3450" spc="262">
                <a:latin typeface="Cambria Math"/>
                <a:cs typeface="Cambria Math"/>
              </a:rPr>
              <a:t> </a:t>
            </a:r>
            <a:r>
              <a:rPr dirty="0" sz="3200" spc="-5"/>
              <a:t>with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149" y="3381755"/>
            <a:ext cx="35617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ground-truth </a:t>
            </a:r>
            <a:r>
              <a:rPr dirty="0" sz="3200" spc="-5">
                <a:latin typeface="Calibri"/>
                <a:cs typeface="Calibri"/>
              </a:rPr>
              <a:t>label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55">
                <a:latin typeface="Cambria Math"/>
                <a:cs typeface="Cambria Math"/>
              </a:rPr>
              <a:t>𝑌</a:t>
            </a:r>
            <a:r>
              <a:rPr dirty="0" baseline="28985" sz="3450" spc="82">
                <a:latin typeface="Cambria Math"/>
                <a:cs typeface="Cambria Math"/>
              </a:rPr>
              <a:t>∗</a:t>
            </a:r>
            <a:endParaRPr baseline="28985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578352"/>
            <a:ext cx="7299325" cy="2258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4305">
              <a:lnSpc>
                <a:spcPts val="2500"/>
              </a:lnSpc>
              <a:spcBef>
                <a:spcPts val="100"/>
              </a:spcBef>
            </a:pPr>
            <a:r>
              <a:rPr dirty="0" sz="2300" spc="390"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56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5" b="1">
                <a:solidFill>
                  <a:srgbClr val="595959"/>
                </a:solidFill>
                <a:latin typeface="Calibri"/>
                <a:cs typeface="Calibri"/>
              </a:rPr>
              <a:t>unlabeled nodes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 spc="-10">
                <a:latin typeface="Calibri"/>
                <a:cs typeface="Calibri"/>
              </a:rPr>
              <a:t>initialize </a:t>
            </a:r>
            <a:r>
              <a:rPr dirty="0" sz="3200" spc="-70">
                <a:latin typeface="Cambria Math"/>
                <a:cs typeface="Cambria Math"/>
              </a:rPr>
              <a:t>𝑌</a:t>
            </a:r>
            <a:r>
              <a:rPr dirty="0" baseline="-15700" sz="3450" spc="-104">
                <a:latin typeface="Cambria Math"/>
                <a:cs typeface="Cambria Math"/>
              </a:rPr>
              <a:t>"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9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0.5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Update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>
                <a:latin typeface="Calibri"/>
                <a:cs typeface="Calibri"/>
              </a:rPr>
              <a:t>in a </a:t>
            </a:r>
            <a:r>
              <a:rPr dirty="0" sz="3200" spc="-15">
                <a:latin typeface="Calibri"/>
                <a:cs typeface="Calibri"/>
              </a:rPr>
              <a:t>random order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until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ts val="3790"/>
              </a:lnSpc>
              <a:spcBef>
                <a:spcPts val="240"/>
              </a:spcBef>
            </a:pPr>
            <a:r>
              <a:rPr dirty="0" sz="3200" spc="-20">
                <a:latin typeface="Calibri"/>
                <a:cs typeface="Calibri"/>
              </a:rPr>
              <a:t>convergence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5">
                <a:latin typeface="Calibri"/>
                <a:cs typeface="Calibri"/>
              </a:rPr>
              <a:t>until maximum number </a:t>
            </a:r>
            <a:r>
              <a:rPr dirty="0" sz="3200">
                <a:latin typeface="Calibri"/>
                <a:cs typeface="Calibri"/>
              </a:rPr>
              <a:t>of  </a:t>
            </a:r>
            <a:r>
              <a:rPr dirty="0" sz="3200" spc="-15">
                <a:latin typeface="Calibri"/>
                <a:cs typeface="Calibri"/>
              </a:rPr>
              <a:t>iterations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reached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168" y="362711"/>
            <a:ext cx="7748016" cy="463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7751064" cy="463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073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1">
                <a:solidFill>
                  <a:srgbClr val="0000FF"/>
                </a:solidFill>
                <a:latin typeface="Calibri"/>
                <a:cs typeface="Calibri"/>
              </a:rPr>
              <a:t>Update </a:t>
            </a:r>
            <a:r>
              <a:rPr dirty="0" spc="-25"/>
              <a:t>for </a:t>
            </a:r>
            <a:r>
              <a:rPr dirty="0" spc="-5"/>
              <a:t>each </a:t>
            </a:r>
            <a:r>
              <a:rPr dirty="0"/>
              <a:t>node </a:t>
            </a:r>
            <a:r>
              <a:rPr dirty="0">
                <a:latin typeface="Cambria Math"/>
                <a:cs typeface="Cambria Math"/>
              </a:rPr>
              <a:t>𝑣 </a:t>
            </a:r>
            <a:r>
              <a:rPr dirty="0"/>
              <a:t>and </a:t>
            </a:r>
            <a:r>
              <a:rPr dirty="0" spc="-5"/>
              <a:t>label </a:t>
            </a:r>
            <a:r>
              <a:rPr dirty="0">
                <a:latin typeface="Cambria Math"/>
                <a:cs typeface="Cambria Math"/>
              </a:rPr>
              <a:t>𝑐 </a:t>
            </a:r>
            <a:r>
              <a:rPr dirty="0"/>
              <a:t>(e.g. </a:t>
            </a:r>
            <a:r>
              <a:rPr dirty="0">
                <a:latin typeface="Cambria Math"/>
                <a:cs typeface="Cambria Math"/>
              </a:rPr>
              <a:t>0 </a:t>
            </a:r>
            <a:r>
              <a:rPr dirty="0" spc="-5"/>
              <a:t>or</a:t>
            </a:r>
            <a:r>
              <a:rPr dirty="0" spc="280"/>
              <a:t> </a:t>
            </a:r>
            <a:r>
              <a:rPr dirty="0">
                <a:latin typeface="Cambria Math"/>
                <a:cs typeface="Cambria Math"/>
              </a:rPr>
              <a:t>1</a:t>
            </a:r>
            <a:r>
              <a:rPr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1485458" y="4352738"/>
            <a:ext cx="1109345" cy="306070"/>
          </a:xfrm>
          <a:custGeom>
            <a:avLst/>
            <a:gdLst/>
            <a:ahLst/>
            <a:cxnLst/>
            <a:rect l="l" t="t" r="r" b="b"/>
            <a:pathLst>
              <a:path w="1109345" h="306070">
                <a:moveTo>
                  <a:pt x="1011428" y="0"/>
                </a:moveTo>
                <a:lnTo>
                  <a:pt x="1007074" y="12414"/>
                </a:lnTo>
                <a:lnTo>
                  <a:pt x="1024779" y="20097"/>
                </a:lnTo>
                <a:lnTo>
                  <a:pt x="1040005" y="30733"/>
                </a:lnTo>
                <a:lnTo>
                  <a:pt x="1070922" y="80034"/>
                </a:lnTo>
                <a:lnTo>
                  <a:pt x="1079951" y="125300"/>
                </a:lnTo>
                <a:lnTo>
                  <a:pt x="1081079" y="151395"/>
                </a:lnTo>
                <a:lnTo>
                  <a:pt x="1079946" y="178370"/>
                </a:lnTo>
                <a:lnTo>
                  <a:pt x="1070876" y="224885"/>
                </a:lnTo>
                <a:lnTo>
                  <a:pt x="1052677" y="261213"/>
                </a:lnTo>
                <a:lnTo>
                  <a:pt x="1007558" y="293438"/>
                </a:lnTo>
                <a:lnTo>
                  <a:pt x="1011428" y="305854"/>
                </a:lnTo>
                <a:lnTo>
                  <a:pt x="1053146" y="286284"/>
                </a:lnTo>
                <a:lnTo>
                  <a:pt x="1083820" y="252406"/>
                </a:lnTo>
                <a:lnTo>
                  <a:pt x="1102684" y="207039"/>
                </a:lnTo>
                <a:lnTo>
                  <a:pt x="1108971" y="153007"/>
                </a:lnTo>
                <a:lnTo>
                  <a:pt x="1107394" y="124968"/>
                </a:lnTo>
                <a:lnTo>
                  <a:pt x="1094778" y="75269"/>
                </a:lnTo>
                <a:lnTo>
                  <a:pt x="1069757" y="34810"/>
                </a:lnTo>
                <a:lnTo>
                  <a:pt x="1033601" y="8006"/>
                </a:lnTo>
                <a:lnTo>
                  <a:pt x="1011428" y="0"/>
                </a:lnTo>
                <a:close/>
              </a:path>
              <a:path w="1109345" h="306070">
                <a:moveTo>
                  <a:pt x="97543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7" y="99055"/>
                </a:lnTo>
                <a:lnTo>
                  <a:pt x="0" y="153007"/>
                </a:lnTo>
                <a:lnTo>
                  <a:pt x="1571" y="181106"/>
                </a:lnTo>
                <a:lnTo>
                  <a:pt x="14147" y="230806"/>
                </a:lnTo>
                <a:lnTo>
                  <a:pt x="39107" y="271133"/>
                </a:lnTo>
                <a:lnTo>
                  <a:pt x="75303" y="297857"/>
                </a:lnTo>
                <a:lnTo>
                  <a:pt x="97543" y="305854"/>
                </a:lnTo>
                <a:lnTo>
                  <a:pt x="101413" y="293438"/>
                </a:lnTo>
                <a:lnTo>
                  <a:pt x="83985" y="285719"/>
                </a:lnTo>
                <a:lnTo>
                  <a:pt x="68945" y="274978"/>
                </a:lnTo>
                <a:lnTo>
                  <a:pt x="46031" y="244425"/>
                </a:lnTo>
                <a:lnTo>
                  <a:pt x="32426" y="202867"/>
                </a:lnTo>
                <a:lnTo>
                  <a:pt x="27891" y="151395"/>
                </a:lnTo>
                <a:lnTo>
                  <a:pt x="29025" y="125300"/>
                </a:lnTo>
                <a:lnTo>
                  <a:pt x="38095" y="80034"/>
                </a:lnTo>
                <a:lnTo>
                  <a:pt x="56324" y="44322"/>
                </a:lnTo>
                <a:lnTo>
                  <a:pt x="101897" y="12414"/>
                </a:lnTo>
                <a:lnTo>
                  <a:pt x="97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3381755"/>
            <a:ext cx="8444230" cy="313055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625475" marR="5080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If </a:t>
            </a:r>
            <a:r>
              <a:rPr dirty="0" sz="2600" spc="-10">
                <a:latin typeface="Calibri"/>
                <a:cs typeface="Calibri"/>
              </a:rPr>
              <a:t>edges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15">
                <a:latin typeface="Calibri"/>
                <a:cs typeface="Calibri"/>
              </a:rPr>
              <a:t>strength/weight </a:t>
            </a:r>
            <a:r>
              <a:rPr dirty="0" sz="2600" spc="-10">
                <a:latin typeface="Calibri"/>
                <a:cs typeface="Calibri"/>
              </a:rPr>
              <a:t>information, </a:t>
            </a:r>
            <a:r>
              <a:rPr dirty="0" sz="2400" spc="130">
                <a:solidFill>
                  <a:srgbClr val="D60093"/>
                </a:solidFill>
                <a:latin typeface="Cambria Math"/>
                <a:cs typeface="Cambria Math"/>
              </a:rPr>
              <a:t>𝐴</a:t>
            </a:r>
            <a:r>
              <a:rPr dirty="0" baseline="-15432" sz="2700" spc="195">
                <a:solidFill>
                  <a:srgbClr val="D60093"/>
                </a:solidFill>
                <a:latin typeface="Cambria Math"/>
                <a:cs typeface="Cambria Math"/>
              </a:rPr>
              <a:t>!,# </a:t>
            </a:r>
            <a:r>
              <a:rPr dirty="0" sz="2600" spc="-10">
                <a:latin typeface="Calibri"/>
                <a:cs typeface="Calibri"/>
              </a:rPr>
              <a:t>can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10">
                <a:latin typeface="Calibri"/>
                <a:cs typeface="Calibri"/>
              </a:rPr>
              <a:t>the  </a:t>
            </a:r>
            <a:r>
              <a:rPr dirty="0" sz="2600" spc="-10">
                <a:latin typeface="Calibri"/>
                <a:cs typeface="Calibri"/>
              </a:rPr>
              <a:t>edge weight between </a:t>
            </a:r>
            <a:r>
              <a:rPr dirty="0" sz="2600">
                <a:latin typeface="Cambria Math"/>
                <a:cs typeface="Cambria Math"/>
              </a:rPr>
              <a:t>𝑣 </a:t>
            </a:r>
            <a:r>
              <a:rPr dirty="0" sz="2600" spc="-5">
                <a:latin typeface="Calibri"/>
                <a:cs typeface="Calibri"/>
              </a:rPr>
              <a:t>and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𝑢</a:t>
            </a:r>
            <a:endParaRPr sz="2600">
              <a:latin typeface="Cambria Math"/>
              <a:cs typeface="Cambria Math"/>
            </a:endParaRPr>
          </a:p>
          <a:p>
            <a:pPr marL="625475" indent="-274320">
              <a:lnSpc>
                <a:spcPct val="100000"/>
              </a:lnSpc>
              <a:spcBef>
                <a:spcPts val="5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974725" algn="l"/>
                <a:tab pos="2079625" algn="l"/>
              </a:tabLst>
            </a:pPr>
            <a:r>
              <a:rPr dirty="0" sz="2600">
                <a:latin typeface="Cambria Math"/>
                <a:cs typeface="Cambria Math"/>
              </a:rPr>
              <a:t>𝑃	</a:t>
            </a:r>
            <a:r>
              <a:rPr dirty="0" sz="2600" spc="40">
                <a:latin typeface="Cambria Math"/>
                <a:cs typeface="Cambria Math"/>
              </a:rPr>
              <a:t>𝑌</a:t>
            </a:r>
            <a:r>
              <a:rPr dirty="0" baseline="-16081" sz="2850" spc="60">
                <a:latin typeface="Cambria Math"/>
                <a:cs typeface="Cambria Math"/>
              </a:rPr>
              <a:t>!</a:t>
            </a:r>
            <a:r>
              <a:rPr dirty="0" baseline="-16081" sz="2850" spc="32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𝑐	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 probability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node </a:t>
            </a:r>
            <a:r>
              <a:rPr dirty="0" sz="2600">
                <a:latin typeface="Cambria Math"/>
                <a:cs typeface="Cambria Math"/>
              </a:rPr>
              <a:t>𝑣 </a:t>
            </a:r>
            <a:r>
              <a:rPr dirty="0" sz="2600" spc="-10">
                <a:latin typeface="Calibri"/>
                <a:cs typeface="Calibri"/>
              </a:rPr>
              <a:t>having </a:t>
            </a:r>
            <a:r>
              <a:rPr dirty="0" sz="2600" spc="-5">
                <a:latin typeface="Calibri"/>
                <a:cs typeface="Calibri"/>
              </a:rPr>
              <a:t>label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𝑐</a:t>
            </a:r>
            <a:endParaRPr sz="26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5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FF0000"/>
                </a:solidFill>
                <a:latin typeface="Calibri"/>
                <a:cs typeface="Calibri"/>
              </a:rPr>
              <a:t>Challenges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Convergence </a:t>
            </a:r>
            <a:r>
              <a:rPr dirty="0" sz="2800" spc="-5">
                <a:latin typeface="Calibri"/>
                <a:cs typeface="Calibri"/>
              </a:rPr>
              <a:t>is not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guaranteed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Model cannot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65419" y="2294018"/>
            <a:ext cx="1022985" cy="282575"/>
          </a:xfrm>
          <a:custGeom>
            <a:avLst/>
            <a:gdLst/>
            <a:ahLst/>
            <a:cxnLst/>
            <a:rect l="l" t="t" r="r" b="b"/>
            <a:pathLst>
              <a:path w="1022985" h="282575">
                <a:moveTo>
                  <a:pt x="932907" y="0"/>
                </a:moveTo>
                <a:lnTo>
                  <a:pt x="928889" y="11459"/>
                </a:lnTo>
                <a:lnTo>
                  <a:pt x="945232" y="18552"/>
                </a:lnTo>
                <a:lnTo>
                  <a:pt x="959287" y="28370"/>
                </a:lnTo>
                <a:lnTo>
                  <a:pt x="987825" y="73878"/>
                </a:lnTo>
                <a:lnTo>
                  <a:pt x="996159" y="115662"/>
                </a:lnTo>
                <a:lnTo>
                  <a:pt x="997201" y="139749"/>
                </a:lnTo>
                <a:lnTo>
                  <a:pt x="996155" y="164650"/>
                </a:lnTo>
                <a:lnTo>
                  <a:pt x="987783" y="207587"/>
                </a:lnTo>
                <a:lnTo>
                  <a:pt x="959305" y="253826"/>
                </a:lnTo>
                <a:lnTo>
                  <a:pt x="929336" y="270866"/>
                </a:lnTo>
                <a:lnTo>
                  <a:pt x="932907" y="282327"/>
                </a:lnTo>
                <a:lnTo>
                  <a:pt x="971417" y="264263"/>
                </a:lnTo>
                <a:lnTo>
                  <a:pt x="999731" y="232990"/>
                </a:lnTo>
                <a:lnTo>
                  <a:pt x="1017144" y="191113"/>
                </a:lnTo>
                <a:lnTo>
                  <a:pt x="1022949" y="141237"/>
                </a:lnTo>
                <a:lnTo>
                  <a:pt x="1021493" y="115355"/>
                </a:lnTo>
                <a:lnTo>
                  <a:pt x="1009847" y="69479"/>
                </a:lnTo>
                <a:lnTo>
                  <a:pt x="986751" y="32133"/>
                </a:lnTo>
                <a:lnTo>
                  <a:pt x="953376" y="7390"/>
                </a:lnTo>
                <a:lnTo>
                  <a:pt x="932907" y="0"/>
                </a:lnTo>
                <a:close/>
              </a:path>
              <a:path w="102298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29588" y="2203195"/>
            <a:ext cx="1610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1369695" algn="l"/>
              </a:tabLst>
            </a:pP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𝑃	</a:t>
            </a:r>
            <a:r>
              <a:rPr dirty="0" sz="2400" spc="-390">
                <a:solidFill>
                  <a:srgbClr val="D60093"/>
                </a:solidFill>
                <a:latin typeface="Cambria Math"/>
                <a:cs typeface="Cambria Math"/>
              </a:rPr>
              <a:t>𝑌</a:t>
            </a:r>
            <a:r>
              <a:rPr dirty="0" baseline="-15432" sz="2700" spc="750">
                <a:solidFill>
                  <a:srgbClr val="D60093"/>
                </a:solidFill>
                <a:latin typeface="Cambria Math"/>
                <a:cs typeface="Cambria Math"/>
              </a:rPr>
              <a:t>!</a:t>
            </a:r>
            <a:r>
              <a:rPr dirty="0" baseline="-15432" sz="2700" spc="27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=</a:t>
            </a:r>
            <a:r>
              <a:rPr dirty="0" sz="2400" spc="12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𝑐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5639" y="2433320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 h="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47503" y="2646233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7" y="0"/>
                </a:moveTo>
                <a:lnTo>
                  <a:pt x="401853" y="8595"/>
                </a:lnTo>
                <a:lnTo>
                  <a:pt x="414110" y="13914"/>
                </a:lnTo>
                <a:lnTo>
                  <a:pt x="424651" y="21277"/>
                </a:lnTo>
                <a:lnTo>
                  <a:pt x="446055" y="55409"/>
                </a:lnTo>
                <a:lnTo>
                  <a:pt x="453087" y="104811"/>
                </a:lnTo>
                <a:lnTo>
                  <a:pt x="452302" y="123487"/>
                </a:lnTo>
                <a:lnTo>
                  <a:pt x="440529" y="169217"/>
                </a:lnTo>
                <a:lnTo>
                  <a:pt x="414253" y="197806"/>
                </a:lnTo>
                <a:lnTo>
                  <a:pt x="402187" y="203150"/>
                </a:lnTo>
                <a:lnTo>
                  <a:pt x="404867" y="211744"/>
                </a:lnTo>
                <a:lnTo>
                  <a:pt x="445322" y="187708"/>
                </a:lnTo>
                <a:lnTo>
                  <a:pt x="468044" y="143335"/>
                </a:lnTo>
                <a:lnTo>
                  <a:pt x="472398" y="105928"/>
                </a:lnTo>
                <a:lnTo>
                  <a:pt x="471306" y="86516"/>
                </a:lnTo>
                <a:lnTo>
                  <a:pt x="454929" y="37114"/>
                </a:lnTo>
                <a:lnTo>
                  <a:pt x="420218" y="5542"/>
                </a:lnTo>
                <a:lnTo>
                  <a:pt x="404867" y="0"/>
                </a:lnTo>
                <a:close/>
              </a:path>
              <a:path w="4724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98748" y="1816100"/>
            <a:ext cx="1611630" cy="107442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1345"/>
              </a:spcBef>
            </a:pP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dirty="0" baseline="18518" sz="3600">
                <a:solidFill>
                  <a:srgbClr val="D60093"/>
                </a:solidFill>
                <a:latin typeface="Cambria Math"/>
                <a:cs typeface="Cambria Math"/>
              </a:rPr>
              <a:t>∑  </a:t>
            </a:r>
            <a:r>
              <a:rPr dirty="0" sz="1800" spc="175">
                <a:solidFill>
                  <a:srgbClr val="D60093"/>
                </a:solidFill>
                <a:latin typeface="Cambria Math"/>
                <a:cs typeface="Cambria Math"/>
              </a:rPr>
              <a:t>!,#</a:t>
            </a:r>
            <a:r>
              <a:rPr dirty="0" sz="1800" spc="-3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1800" spc="-245">
                <a:solidFill>
                  <a:srgbClr val="D60093"/>
                </a:solidFill>
                <a:latin typeface="Cambria Math"/>
                <a:cs typeface="Cambria Math"/>
              </a:rPr>
              <a:t>∈%  </a:t>
            </a:r>
            <a:r>
              <a:rPr dirty="0" baseline="16203" sz="3600" spc="195">
                <a:solidFill>
                  <a:srgbClr val="D60093"/>
                </a:solidFill>
                <a:latin typeface="Cambria Math"/>
                <a:cs typeface="Cambria Math"/>
              </a:rPr>
              <a:t>𝐴</a:t>
            </a:r>
            <a:r>
              <a:rPr dirty="0" baseline="6172" sz="2700" spc="195">
                <a:solidFill>
                  <a:srgbClr val="D60093"/>
                </a:solidFill>
                <a:latin typeface="Cambria Math"/>
                <a:cs typeface="Cambria Math"/>
              </a:rPr>
              <a:t>!,#</a:t>
            </a:r>
            <a:endParaRPr baseline="6172" sz="27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0508" y="2741609"/>
            <a:ext cx="472440" cy="212090"/>
          </a:xfrm>
          <a:custGeom>
            <a:avLst/>
            <a:gdLst/>
            <a:ahLst/>
            <a:cxnLst/>
            <a:rect l="l" t="t" r="r" b="b"/>
            <a:pathLst>
              <a:path w="472439" h="212089">
                <a:moveTo>
                  <a:pt x="404867" y="0"/>
                </a:moveTo>
                <a:lnTo>
                  <a:pt x="401853" y="8595"/>
                </a:lnTo>
                <a:lnTo>
                  <a:pt x="414110" y="13914"/>
                </a:lnTo>
                <a:lnTo>
                  <a:pt x="424651" y="21277"/>
                </a:lnTo>
                <a:lnTo>
                  <a:pt x="446054" y="55409"/>
                </a:lnTo>
                <a:lnTo>
                  <a:pt x="453086" y="104811"/>
                </a:lnTo>
                <a:lnTo>
                  <a:pt x="452301" y="123487"/>
                </a:lnTo>
                <a:lnTo>
                  <a:pt x="440529" y="169217"/>
                </a:lnTo>
                <a:lnTo>
                  <a:pt x="414252" y="197806"/>
                </a:lnTo>
                <a:lnTo>
                  <a:pt x="402187" y="203150"/>
                </a:lnTo>
                <a:lnTo>
                  <a:pt x="404867" y="211744"/>
                </a:lnTo>
                <a:lnTo>
                  <a:pt x="445322" y="187708"/>
                </a:lnTo>
                <a:lnTo>
                  <a:pt x="468043" y="143335"/>
                </a:lnTo>
                <a:lnTo>
                  <a:pt x="472396" y="105928"/>
                </a:lnTo>
                <a:lnTo>
                  <a:pt x="471305" y="86516"/>
                </a:lnTo>
                <a:lnTo>
                  <a:pt x="454929" y="37114"/>
                </a:lnTo>
                <a:lnTo>
                  <a:pt x="420218" y="5542"/>
                </a:lnTo>
                <a:lnTo>
                  <a:pt x="404867" y="0"/>
                </a:lnTo>
                <a:close/>
              </a:path>
              <a:path w="4724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40046" y="2065020"/>
            <a:ext cx="2672715" cy="90741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1185"/>
              </a:spcBef>
              <a:tabLst>
                <a:tab pos="770255" algn="l"/>
              </a:tabLst>
            </a:pPr>
            <a:r>
              <a:rPr dirty="0" sz="2400" spc="2180">
                <a:solidFill>
                  <a:srgbClr val="D60093"/>
                </a:solidFill>
                <a:latin typeface="Cambria Math"/>
                <a:cs typeface="Cambria Math"/>
              </a:rPr>
              <a:t>(	</a:t>
            </a:r>
            <a:r>
              <a:rPr dirty="0" sz="2400" spc="130">
                <a:solidFill>
                  <a:srgbClr val="D60093"/>
                </a:solidFill>
                <a:latin typeface="Cambria Math"/>
                <a:cs typeface="Cambria Math"/>
              </a:rPr>
              <a:t>𝐴</a:t>
            </a:r>
            <a:r>
              <a:rPr dirty="0" baseline="-15432" sz="2700" spc="195">
                <a:solidFill>
                  <a:srgbClr val="D60093"/>
                </a:solidFill>
                <a:latin typeface="Cambria Math"/>
                <a:cs typeface="Cambria Math"/>
              </a:rPr>
              <a:t>!,# </a:t>
            </a:r>
            <a:r>
              <a:rPr dirty="0" sz="2400" spc="-75">
                <a:solidFill>
                  <a:srgbClr val="D60093"/>
                </a:solidFill>
                <a:latin typeface="Cambria Math"/>
                <a:cs typeface="Cambria Math"/>
              </a:rPr>
              <a:t>𝑃(𝑌</a:t>
            </a:r>
            <a:r>
              <a:rPr dirty="0" baseline="-15432" sz="2700" spc="-112">
                <a:solidFill>
                  <a:srgbClr val="D60093"/>
                </a:solidFill>
                <a:latin typeface="Cambria Math"/>
                <a:cs typeface="Cambria Math"/>
              </a:rPr>
              <a:t>#  </a:t>
            </a:r>
            <a:r>
              <a:rPr dirty="0" sz="2400">
                <a:solidFill>
                  <a:srgbClr val="D60093"/>
                </a:solidFill>
                <a:latin typeface="Cambria Math"/>
                <a:cs typeface="Cambria Math"/>
              </a:rPr>
              <a:t>=</a:t>
            </a:r>
            <a:r>
              <a:rPr dirty="0" sz="2400" spc="-5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 spc="25">
                <a:solidFill>
                  <a:srgbClr val="D60093"/>
                </a:solidFill>
                <a:latin typeface="Cambria Math"/>
                <a:cs typeface="Cambria Math"/>
              </a:rPr>
              <a:t>𝑐)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800" spc="175">
                <a:solidFill>
                  <a:srgbClr val="D60093"/>
                </a:solidFill>
                <a:latin typeface="Cambria Math"/>
                <a:cs typeface="Cambria Math"/>
              </a:rPr>
              <a:t>!,#</a:t>
            </a:r>
            <a:r>
              <a:rPr dirty="0" sz="1800" spc="24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1800" spc="-245">
                <a:solidFill>
                  <a:srgbClr val="D60093"/>
                </a:solidFill>
                <a:latin typeface="Cambria Math"/>
                <a:cs typeface="Cambria Math"/>
              </a:rPr>
              <a:t>∈%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4610" y="4229489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54012" y="4121527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5797" y="4175581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78677" y="5573823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34030" y="3991034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57594" y="4283542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80466" y="4121528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25113" y="4229489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0475" y="4705122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984696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7208" y="4705122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54867" y="4038748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9303" y="3984696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4184" y="5111315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68808"/>
            <a:ext cx="4879848" cy="490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159764"/>
            <a:ext cx="22320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solidFill>
                  <a:srgbClr val="0000FF"/>
                </a:solidFill>
                <a:latin typeface="Calibri"/>
                <a:cs typeface="Calibri"/>
              </a:rPr>
              <a:t>Initialization</a:t>
            </a:r>
            <a:r>
              <a:rPr dirty="0" spc="-1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18108" y="1655571"/>
            <a:ext cx="7489825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25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All </a:t>
            </a:r>
            <a:r>
              <a:rPr dirty="0" sz="2800" spc="-10">
                <a:latin typeface="Calibri"/>
                <a:cs typeface="Calibri"/>
              </a:rPr>
              <a:t>labeled </a:t>
            </a:r>
            <a:r>
              <a:rPr dirty="0" sz="2800" spc="-5">
                <a:latin typeface="Calibri"/>
                <a:cs typeface="Calibri"/>
              </a:rPr>
              <a:t>nodes with their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410"/>
              </a:lnSpc>
              <a:spcBef>
                <a:spcPts val="3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All unlabeled nodes </a:t>
            </a:r>
            <a:r>
              <a:rPr dirty="0" sz="2800" spc="-5">
                <a:latin typeface="Cambria Math"/>
                <a:cs typeface="Cambria Math"/>
              </a:rPr>
              <a:t>0.5 </a:t>
            </a:r>
            <a:r>
              <a:rPr dirty="0" sz="2800" spc="-5">
                <a:latin typeface="Calibri"/>
                <a:cs typeface="Calibri"/>
              </a:rPr>
              <a:t>(belonging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class </a:t>
            </a:r>
            <a:r>
              <a:rPr dirty="0" sz="2800">
                <a:latin typeface="Cambria Math"/>
                <a:cs typeface="Cambria Math"/>
              </a:rPr>
              <a:t>1 </a:t>
            </a:r>
            <a:r>
              <a:rPr dirty="0" sz="2800" spc="-5">
                <a:latin typeface="Calibri"/>
                <a:cs typeface="Calibri"/>
              </a:rPr>
              <a:t>with 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0.5</a:t>
            </a:r>
            <a:r>
              <a:rPr dirty="0" sz="2800" spc="-5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108" y="2936748"/>
            <a:ext cx="33839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Let </a:t>
            </a:r>
            <a:r>
              <a:rPr dirty="0" sz="3200" spc="-20">
                <a:latin typeface="Cambria Math"/>
                <a:cs typeface="Cambria Math"/>
              </a:rPr>
              <a:t>𝑃</a:t>
            </a:r>
            <a:r>
              <a:rPr dirty="0" baseline="-15700" sz="3450" spc="-30">
                <a:latin typeface="Cambria Math"/>
                <a:cs typeface="Cambria Math"/>
              </a:rPr>
              <a:t>$</a:t>
            </a:r>
            <a:r>
              <a:rPr dirty="0" baseline="-33625" sz="2850" spc="-30">
                <a:latin typeface="Cambria Math"/>
                <a:cs typeface="Cambria Math"/>
              </a:rPr>
              <a:t>"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315">
                <a:latin typeface="Cambria Math"/>
                <a:cs typeface="Cambria Math"/>
              </a:rPr>
              <a:t>𝑃(𝑌</a:t>
            </a:r>
            <a:r>
              <a:rPr dirty="0" baseline="-15700" sz="3450" spc="-472">
                <a:latin typeface="Cambria Math"/>
                <a:cs typeface="Cambria Math"/>
              </a:rPr>
              <a:t>%  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5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1)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74715" y="53892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3"/>
                </a:lnTo>
                <a:lnTo>
                  <a:pt x="182879" y="369095"/>
                </a:lnTo>
                <a:lnTo>
                  <a:pt x="231496" y="362503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74715" y="53892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12917" y="547267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1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4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1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12917" y="547267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31502" y="5511291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368270" y="38064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68270" y="38064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8251" y="466955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8251" y="466955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12413" y="39144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12413" y="39144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71987" y="58372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71987" y="583724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30645" y="479627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0645" y="479627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849232" y="483463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76237" y="3697223"/>
            <a:ext cx="1085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35">
                <a:latin typeface="Cambria Math"/>
                <a:cs typeface="Cambria Math"/>
              </a:rPr>
              <a:t>!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2593" y="3457797"/>
            <a:ext cx="781050" cy="65595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900" spc="125">
                <a:latin typeface="Cambria Math"/>
                <a:cs typeface="Cambria Math"/>
              </a:rPr>
              <a:t>𝑃</a:t>
            </a:r>
            <a:r>
              <a:rPr dirty="0" baseline="-15873" sz="2100" spc="187">
                <a:latin typeface="Cambria Math"/>
                <a:cs typeface="Cambria Math"/>
              </a:rPr>
              <a:t>!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5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marL="426720">
              <a:lnSpc>
                <a:spcPct val="100000"/>
              </a:lnSpc>
              <a:spcBef>
                <a:spcPts val="345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64355" y="5347662"/>
            <a:ext cx="781050" cy="7302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715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sz="1900" spc="75">
                <a:latin typeface="Cambria Math"/>
                <a:cs typeface="Cambria Math"/>
              </a:rPr>
              <a:t>𝑃</a:t>
            </a:r>
            <a:r>
              <a:rPr dirty="0" baseline="-15873" sz="2100" spc="112">
                <a:latin typeface="Cambria Math"/>
                <a:cs typeface="Cambria Math"/>
              </a:rPr>
              <a:t>!</a:t>
            </a:r>
            <a:r>
              <a:rPr dirty="0" baseline="-32828" sz="1650" spc="112">
                <a:latin typeface="Cambria Math"/>
                <a:cs typeface="Cambria Math"/>
              </a:rPr>
              <a:t>"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8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86124" y="5754650"/>
            <a:ext cx="781050" cy="820419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4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dirty="0" sz="1900" spc="-5">
                <a:latin typeface="Cambria Math"/>
                <a:cs typeface="Cambria Math"/>
              </a:rPr>
              <a:t>𝑃</a:t>
            </a:r>
            <a:r>
              <a:rPr dirty="0" baseline="-15873" sz="2100" spc="-7">
                <a:latin typeface="Cambria Math"/>
                <a:cs typeface="Cambria Math"/>
              </a:rPr>
              <a:t>!</a:t>
            </a:r>
            <a:r>
              <a:rPr dirty="0" baseline="-32828" sz="1650" spc="-7">
                <a:latin typeface="Cambria Math"/>
                <a:cs typeface="Cambria Math"/>
              </a:rPr>
              <a:t>#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6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09704" y="5373623"/>
            <a:ext cx="1085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90">
                <a:latin typeface="Cambria Math"/>
                <a:cs typeface="Cambria Math"/>
              </a:rPr>
              <a:t>$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06060" y="5186679"/>
            <a:ext cx="7810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25">
                <a:latin typeface="Cambria Math"/>
                <a:cs typeface="Cambria Math"/>
              </a:rPr>
              <a:t>𝑃</a:t>
            </a:r>
            <a:r>
              <a:rPr dirty="0" baseline="-15873" sz="2100" spc="187">
                <a:latin typeface="Cambria Math"/>
                <a:cs typeface="Cambria Math"/>
              </a:rPr>
              <a:t>!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5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0283" y="5161788"/>
            <a:ext cx="1892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latin typeface="Cambria Math"/>
                <a:cs typeface="Cambria Math"/>
              </a:rPr>
              <a:t>!</a:t>
            </a:r>
            <a:r>
              <a:rPr dirty="0" baseline="-15151" sz="1650" spc="-487">
                <a:latin typeface="Cambria Math"/>
                <a:cs typeface="Cambria Math"/>
              </a:rPr>
              <a:t>%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6966" y="4623201"/>
            <a:ext cx="963930" cy="74168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75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  <a:tabLst>
                <a:tab pos="373380" algn="l"/>
              </a:tabLst>
            </a:pPr>
            <a:r>
              <a:rPr dirty="0" sz="1900">
                <a:latin typeface="Cambria Math"/>
                <a:cs typeface="Cambria Math"/>
              </a:rPr>
              <a:t>𝑃	=</a:t>
            </a:r>
            <a:r>
              <a:rPr dirty="0" sz="1900" spc="1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00922" y="6059423"/>
            <a:ext cx="1085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5">
                <a:latin typeface="Cambria Math"/>
                <a:cs typeface="Cambria Math"/>
              </a:rPr>
              <a:t>&amp;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97278" y="5872479"/>
            <a:ext cx="96393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25">
                <a:latin typeface="Cambria Math"/>
                <a:cs typeface="Cambria Math"/>
              </a:rPr>
              <a:t>𝑃</a:t>
            </a:r>
            <a:r>
              <a:rPr dirty="0" baseline="-15873" sz="2100" spc="187">
                <a:latin typeface="Cambria Math"/>
                <a:cs typeface="Cambria Math"/>
              </a:rPr>
              <a:t>!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5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76862" y="3662172"/>
            <a:ext cx="1892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latin typeface="Cambria Math"/>
                <a:cs typeface="Cambria Math"/>
              </a:rPr>
              <a:t>!</a:t>
            </a:r>
            <a:r>
              <a:rPr dirty="0" baseline="-15151" sz="1650" spc="577">
                <a:latin typeface="Cambria Math"/>
                <a:cs typeface="Cambria Math"/>
              </a:rPr>
              <a:t>'</a:t>
            </a:r>
            <a:endParaRPr baseline="-15151" sz="165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53545" y="3417792"/>
            <a:ext cx="963930" cy="80264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  <a:tabLst>
                <a:tab pos="373380" algn="l"/>
              </a:tabLst>
            </a:pPr>
            <a:r>
              <a:rPr dirty="0" sz="1900">
                <a:latin typeface="Cambria Math"/>
                <a:cs typeface="Cambria Math"/>
              </a:rPr>
              <a:t>𝑃	=</a:t>
            </a:r>
            <a:r>
              <a:rPr dirty="0" sz="1900" spc="1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  <a:p>
            <a:pPr algn="ctr" marR="72390">
              <a:lnSpc>
                <a:spcPct val="100000"/>
              </a:lnSpc>
              <a:spcBef>
                <a:spcPts val="875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591449" y="45205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591449" y="45205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302349" y="4504649"/>
            <a:ext cx="963930" cy="674370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algn="ctr" marR="11430">
              <a:lnSpc>
                <a:spcPct val="100000"/>
              </a:lnSpc>
              <a:spcBef>
                <a:spcPts val="515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dirty="0" sz="1900" spc="65">
                <a:latin typeface="Cambria Math"/>
                <a:cs typeface="Cambria Math"/>
              </a:rPr>
              <a:t>𝑃</a:t>
            </a:r>
            <a:r>
              <a:rPr dirty="0" baseline="-15873" sz="2100" spc="97">
                <a:latin typeface="Cambria Math"/>
                <a:cs typeface="Cambria Math"/>
              </a:rPr>
              <a:t>!</a:t>
            </a:r>
            <a:r>
              <a:rPr dirty="0" baseline="-32828" sz="1650" spc="97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987106" y="366965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987106" y="366965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596019" y="3253962"/>
            <a:ext cx="963930" cy="72263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900" spc="65">
                <a:latin typeface="Cambria Math"/>
                <a:cs typeface="Cambria Math"/>
              </a:rPr>
              <a:t>𝑃</a:t>
            </a:r>
            <a:r>
              <a:rPr dirty="0" baseline="-15873" sz="2100" spc="97">
                <a:latin typeface="Cambria Math"/>
                <a:cs typeface="Cambria Math"/>
              </a:rPr>
              <a:t>!</a:t>
            </a:r>
            <a:r>
              <a:rPr dirty="0" baseline="-32828" sz="1650" spc="97">
                <a:latin typeface="Cambria Math"/>
                <a:cs typeface="Cambria Math"/>
              </a:rPr>
              <a:t>(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  <a:p>
            <a:pPr algn="ctr" marL="18415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68808"/>
            <a:ext cx="8193024" cy="490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43084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/>
              <a:t>Update </a:t>
            </a:r>
            <a:r>
              <a:rPr dirty="0" sz="2800" spc="-25"/>
              <a:t>for </a:t>
            </a:r>
            <a:r>
              <a:rPr dirty="0" sz="2800" spc="-5"/>
              <a:t>the </a:t>
            </a:r>
            <a:r>
              <a:rPr dirty="0" sz="2800" spc="-15"/>
              <a:t>1</a:t>
            </a:r>
            <a:r>
              <a:rPr dirty="0" baseline="23391" sz="2850" spc="-22"/>
              <a:t>st</a:t>
            </a:r>
            <a:r>
              <a:rPr dirty="0" baseline="23391" sz="2850" spc="0"/>
              <a:t> </a:t>
            </a:r>
            <a:r>
              <a:rPr dirty="0" sz="2800" spc="-20"/>
              <a:t>Iteration:</a:t>
            </a:r>
            <a:endParaRPr sz="2800"/>
          </a:p>
        </p:txBody>
      </p:sp>
      <p:sp>
        <p:nvSpPr>
          <p:cNvPr id="18" name="object 18"/>
          <p:cNvSpPr txBox="1"/>
          <p:nvPr/>
        </p:nvSpPr>
        <p:spPr>
          <a:xfrm>
            <a:off x="956563" y="1868931"/>
            <a:ext cx="38684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libri"/>
                <a:cs typeface="Calibri"/>
              </a:rPr>
              <a:t>3, </a:t>
            </a:r>
            <a:r>
              <a:rPr dirty="0" sz="2600" spc="35">
                <a:latin typeface="Cambria Math"/>
                <a:cs typeface="Cambria Math"/>
              </a:rPr>
              <a:t>𝑁</a:t>
            </a:r>
            <a:r>
              <a:rPr dirty="0" baseline="-16081" sz="2850" spc="52">
                <a:latin typeface="Cambria Math"/>
                <a:cs typeface="Cambria Math"/>
              </a:rPr>
              <a:t>)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{1, 2, </a:t>
            </a:r>
            <a:r>
              <a:rPr dirty="0" sz="2600" spc="-170">
                <a:latin typeface="Cambria Math"/>
                <a:cs typeface="Cambria Math"/>
              </a:rPr>
              <a:t>4}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33754" y="1946655"/>
            <a:ext cx="8464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56027" y="2018671"/>
            <a:ext cx="1316990" cy="223520"/>
          </a:xfrm>
          <a:custGeom>
            <a:avLst/>
            <a:gdLst/>
            <a:ahLst/>
            <a:cxnLst/>
            <a:rect l="l" t="t" r="r" b="b"/>
            <a:pathLst>
              <a:path w="1316990" h="223519">
                <a:moveTo>
                  <a:pt x="1245528" y="0"/>
                </a:moveTo>
                <a:lnTo>
                  <a:pt x="1242347" y="9071"/>
                </a:lnTo>
                <a:lnTo>
                  <a:pt x="1255285" y="14686"/>
                </a:lnTo>
                <a:lnTo>
                  <a:pt x="1266411" y="22458"/>
                </a:lnTo>
                <a:lnTo>
                  <a:pt x="1289004" y="58487"/>
                </a:lnTo>
                <a:lnTo>
                  <a:pt x="1296427" y="110634"/>
                </a:lnTo>
                <a:lnTo>
                  <a:pt x="1295598" y="130347"/>
                </a:lnTo>
                <a:lnTo>
                  <a:pt x="1283172" y="178617"/>
                </a:lnTo>
                <a:lnTo>
                  <a:pt x="1255435" y="208795"/>
                </a:lnTo>
                <a:lnTo>
                  <a:pt x="1242700" y="214435"/>
                </a:lnTo>
                <a:lnTo>
                  <a:pt x="1245528" y="223508"/>
                </a:lnTo>
                <a:lnTo>
                  <a:pt x="1288230" y="198135"/>
                </a:lnTo>
                <a:lnTo>
                  <a:pt x="1312215" y="151297"/>
                </a:lnTo>
                <a:lnTo>
                  <a:pt x="1316810" y="111812"/>
                </a:lnTo>
                <a:lnTo>
                  <a:pt x="1315658" y="91322"/>
                </a:lnTo>
                <a:lnTo>
                  <a:pt x="1298371" y="39175"/>
                </a:lnTo>
                <a:lnTo>
                  <a:pt x="1261732" y="5850"/>
                </a:lnTo>
                <a:lnTo>
                  <a:pt x="1245528" y="0"/>
                </a:lnTo>
                <a:close/>
              </a:path>
              <a:path w="1316990" h="223519">
                <a:moveTo>
                  <a:pt x="71282" y="0"/>
                </a:moveTo>
                <a:lnTo>
                  <a:pt x="28656" y="25438"/>
                </a:lnTo>
                <a:lnTo>
                  <a:pt x="4609" y="72386"/>
                </a:lnTo>
                <a:lnTo>
                  <a:pt x="0" y="111812"/>
                </a:lnTo>
                <a:lnTo>
                  <a:pt x="1148" y="132346"/>
                </a:lnTo>
                <a:lnTo>
                  <a:pt x="18379" y="184449"/>
                </a:lnTo>
                <a:lnTo>
                  <a:pt x="55030" y="217664"/>
                </a:lnTo>
                <a:lnTo>
                  <a:pt x="71282" y="223508"/>
                </a:lnTo>
                <a:lnTo>
                  <a:pt x="74109" y="214435"/>
                </a:lnTo>
                <a:lnTo>
                  <a:pt x="61373" y="208795"/>
                </a:lnTo>
                <a:lnTo>
                  <a:pt x="50382" y="200945"/>
                </a:lnTo>
                <a:lnTo>
                  <a:pt x="27838" y="164339"/>
                </a:lnTo>
                <a:lnTo>
                  <a:pt x="20382" y="110634"/>
                </a:lnTo>
                <a:lnTo>
                  <a:pt x="21210" y="91565"/>
                </a:lnTo>
                <a:lnTo>
                  <a:pt x="33637" y="44476"/>
                </a:lnTo>
                <a:lnTo>
                  <a:pt x="61572" y="14686"/>
                </a:lnTo>
                <a:lnTo>
                  <a:pt x="74462" y="9071"/>
                </a:lnTo>
                <a:lnTo>
                  <a:pt x="712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522257" y="1946655"/>
            <a:ext cx="23012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0 + 0 +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0.5 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/3 =</a:t>
            </a:r>
            <a:r>
              <a:rPr dirty="0" sz="1900" spc="9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0.17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31069" y="4463742"/>
            <a:ext cx="1047750" cy="7302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715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63991" y="4525504"/>
            <a:ext cx="1229995" cy="77533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ctr" marL="33020">
              <a:lnSpc>
                <a:spcPct val="100000"/>
              </a:lnSpc>
              <a:spcBef>
                <a:spcPts val="875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20259" y="2527204"/>
            <a:ext cx="1229995" cy="8089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z="1900" spc="-5"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latin typeface="Cambria Math"/>
                <a:cs typeface="Cambria Math"/>
              </a:rPr>
              <a:t>(</a:t>
            </a:r>
            <a:r>
              <a:rPr dirty="0" sz="1900" spc="-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  <a:p>
            <a:pPr algn="ctr" marR="72390">
              <a:lnSpc>
                <a:spcPct val="100000"/>
              </a:lnSpc>
              <a:spcBef>
                <a:spcPts val="894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158766" y="3673347"/>
            <a:ext cx="122999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latin typeface="Cambria Math"/>
                <a:cs typeface="Cambria Math"/>
              </a:rPr>
              <a:t>)</a:t>
            </a:r>
            <a:r>
              <a:rPr dirty="0" sz="1900" spc="-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105694" y="2819908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63910" y="2380698"/>
            <a:ext cx="378460" cy="276225"/>
          </a:xfrm>
          <a:custGeom>
            <a:avLst/>
            <a:gdLst/>
            <a:ahLst/>
            <a:cxnLst/>
            <a:rect l="l" t="t" r="r" b="b"/>
            <a:pathLst>
              <a:path w="378459" h="276225">
                <a:moveTo>
                  <a:pt x="23158" y="154487"/>
                </a:moveTo>
                <a:lnTo>
                  <a:pt x="0" y="252868"/>
                </a:lnTo>
                <a:lnTo>
                  <a:pt x="98380" y="276026"/>
                </a:lnTo>
                <a:lnTo>
                  <a:pt x="79574" y="245642"/>
                </a:lnTo>
                <a:lnTo>
                  <a:pt x="177763" y="184872"/>
                </a:lnTo>
                <a:lnTo>
                  <a:pt x="41964" y="184872"/>
                </a:lnTo>
                <a:lnTo>
                  <a:pt x="23158" y="154487"/>
                </a:lnTo>
                <a:close/>
              </a:path>
              <a:path w="378459" h="276225">
                <a:moveTo>
                  <a:pt x="340673" y="0"/>
                </a:moveTo>
                <a:lnTo>
                  <a:pt x="41964" y="184872"/>
                </a:lnTo>
                <a:lnTo>
                  <a:pt x="177763" y="184872"/>
                </a:lnTo>
                <a:lnTo>
                  <a:pt x="378283" y="60770"/>
                </a:lnTo>
                <a:lnTo>
                  <a:pt x="34067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63910" y="2380699"/>
            <a:ext cx="378460" cy="276225"/>
          </a:xfrm>
          <a:custGeom>
            <a:avLst/>
            <a:gdLst/>
            <a:ahLst/>
            <a:cxnLst/>
            <a:rect l="l" t="t" r="r" b="b"/>
            <a:pathLst>
              <a:path w="378459" h="276225">
                <a:moveTo>
                  <a:pt x="98380" y="276026"/>
                </a:moveTo>
                <a:lnTo>
                  <a:pt x="79574" y="245641"/>
                </a:lnTo>
                <a:lnTo>
                  <a:pt x="378284" y="60769"/>
                </a:lnTo>
                <a:lnTo>
                  <a:pt x="340673" y="0"/>
                </a:lnTo>
                <a:lnTo>
                  <a:pt x="41964" y="184871"/>
                </a:lnTo>
                <a:lnTo>
                  <a:pt x="23159" y="154487"/>
                </a:lnTo>
                <a:lnTo>
                  <a:pt x="0" y="252867"/>
                </a:lnTo>
                <a:lnTo>
                  <a:pt x="98380" y="276026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56029" y="3741847"/>
            <a:ext cx="1225550" cy="73596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5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68808"/>
            <a:ext cx="8226552" cy="490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43084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/>
              <a:t>Update </a:t>
            </a:r>
            <a:r>
              <a:rPr dirty="0" sz="2800" spc="-25"/>
              <a:t>for </a:t>
            </a:r>
            <a:r>
              <a:rPr dirty="0" sz="2800" spc="-5"/>
              <a:t>the </a:t>
            </a:r>
            <a:r>
              <a:rPr dirty="0" sz="2800" spc="-15"/>
              <a:t>1</a:t>
            </a:r>
            <a:r>
              <a:rPr dirty="0" baseline="23391" sz="2850" spc="-22"/>
              <a:t>st</a:t>
            </a:r>
            <a:r>
              <a:rPr dirty="0" baseline="23391" sz="2850" spc="0"/>
              <a:t> </a:t>
            </a:r>
            <a:r>
              <a:rPr dirty="0" sz="2800" spc="-20"/>
              <a:t>Iteration:</a:t>
            </a:r>
            <a:endParaRPr sz="2800"/>
          </a:p>
        </p:txBody>
      </p:sp>
      <p:sp>
        <p:nvSpPr>
          <p:cNvPr id="18" name="object 18"/>
          <p:cNvSpPr txBox="1"/>
          <p:nvPr/>
        </p:nvSpPr>
        <p:spPr>
          <a:xfrm>
            <a:off x="956563" y="1868931"/>
            <a:ext cx="417385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libri"/>
                <a:cs typeface="Calibri"/>
              </a:rPr>
              <a:t>4, </a:t>
            </a:r>
            <a:r>
              <a:rPr dirty="0" sz="2600" spc="-90">
                <a:latin typeface="Cambria Math"/>
                <a:cs typeface="Cambria Math"/>
              </a:rPr>
              <a:t>𝑁</a:t>
            </a:r>
            <a:r>
              <a:rPr dirty="0" baseline="-16081" sz="2850" spc="-135">
                <a:latin typeface="Cambria Math"/>
                <a:cs typeface="Cambria Math"/>
              </a:rPr>
              <a:t>1 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{1, 3, 5,</a:t>
            </a:r>
            <a:r>
              <a:rPr dirty="0" sz="2600" spc="-330">
                <a:latin typeface="Cambria Math"/>
                <a:cs typeface="Cambria Math"/>
              </a:rPr>
              <a:t> </a:t>
            </a:r>
            <a:r>
              <a:rPr dirty="0" sz="2600" spc="-170">
                <a:latin typeface="Cambria Math"/>
                <a:cs typeface="Cambria Math"/>
              </a:rPr>
              <a:t>6}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654385" y="5664106"/>
            <a:ext cx="1732914" cy="188595"/>
          </a:xfrm>
          <a:custGeom>
            <a:avLst/>
            <a:gdLst/>
            <a:ahLst/>
            <a:cxnLst/>
            <a:rect l="l" t="t" r="r" b="b"/>
            <a:pathLst>
              <a:path w="1732914" h="188595">
                <a:moveTo>
                  <a:pt x="1672546" y="0"/>
                </a:moveTo>
                <a:lnTo>
                  <a:pt x="1669867" y="7639"/>
                </a:lnTo>
                <a:lnTo>
                  <a:pt x="1680762" y="12368"/>
                </a:lnTo>
                <a:lnTo>
                  <a:pt x="1690132" y="18913"/>
                </a:lnTo>
                <a:lnTo>
                  <a:pt x="1712631" y="62470"/>
                </a:lnTo>
                <a:lnTo>
                  <a:pt x="1715409" y="93166"/>
                </a:lnTo>
                <a:lnTo>
                  <a:pt x="1714711" y="109766"/>
                </a:lnTo>
                <a:lnTo>
                  <a:pt x="1704247" y="150415"/>
                </a:lnTo>
                <a:lnTo>
                  <a:pt x="1670165" y="180577"/>
                </a:lnTo>
                <a:lnTo>
                  <a:pt x="1672546" y="188217"/>
                </a:lnTo>
                <a:lnTo>
                  <a:pt x="1708507" y="166851"/>
                </a:lnTo>
                <a:lnTo>
                  <a:pt x="1728704" y="127409"/>
                </a:lnTo>
                <a:lnTo>
                  <a:pt x="1732573" y="94158"/>
                </a:lnTo>
                <a:lnTo>
                  <a:pt x="1731602" y="76903"/>
                </a:lnTo>
                <a:lnTo>
                  <a:pt x="1717046" y="32990"/>
                </a:lnTo>
                <a:lnTo>
                  <a:pt x="1686192" y="4926"/>
                </a:lnTo>
                <a:lnTo>
                  <a:pt x="1672546" y="0"/>
                </a:lnTo>
                <a:close/>
              </a:path>
              <a:path w="1732914" h="188595">
                <a:moveTo>
                  <a:pt x="60027" y="0"/>
                </a:moveTo>
                <a:lnTo>
                  <a:pt x="24132" y="21421"/>
                </a:lnTo>
                <a:lnTo>
                  <a:pt x="3882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6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9" y="180577"/>
                </a:lnTo>
                <a:lnTo>
                  <a:pt x="51684" y="175827"/>
                </a:lnTo>
                <a:lnTo>
                  <a:pt x="42428" y="169217"/>
                </a:lnTo>
                <a:lnTo>
                  <a:pt x="19955" y="124841"/>
                </a:lnTo>
                <a:lnTo>
                  <a:pt x="17165" y="93166"/>
                </a:lnTo>
                <a:lnTo>
                  <a:pt x="17862" y="77108"/>
                </a:lnTo>
                <a:lnTo>
                  <a:pt x="28327" y="37454"/>
                </a:lnTo>
                <a:lnTo>
                  <a:pt x="62706" y="7639"/>
                </a:lnTo>
                <a:lnTo>
                  <a:pt x="600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83225" y="4114565"/>
            <a:ext cx="883285" cy="1438910"/>
          </a:xfrm>
          <a:custGeom>
            <a:avLst/>
            <a:gdLst/>
            <a:ahLst/>
            <a:cxnLst/>
            <a:rect l="l" t="t" r="r" b="b"/>
            <a:pathLst>
              <a:path w="883285" h="1438910">
                <a:moveTo>
                  <a:pt x="864588" y="0"/>
                </a:moveTo>
                <a:lnTo>
                  <a:pt x="794043" y="18140"/>
                </a:lnTo>
                <a:lnTo>
                  <a:pt x="816216" y="31242"/>
                </a:lnTo>
                <a:lnTo>
                  <a:pt x="0" y="1412546"/>
                </a:lnTo>
                <a:lnTo>
                  <a:pt x="44343" y="1438748"/>
                </a:lnTo>
                <a:lnTo>
                  <a:pt x="860558" y="57444"/>
                </a:lnTo>
                <a:lnTo>
                  <a:pt x="879361" y="57444"/>
                </a:lnTo>
                <a:lnTo>
                  <a:pt x="864588" y="0"/>
                </a:lnTo>
                <a:close/>
              </a:path>
              <a:path w="883285" h="1438910">
                <a:moveTo>
                  <a:pt x="879361" y="57444"/>
                </a:moveTo>
                <a:lnTo>
                  <a:pt x="860558" y="57444"/>
                </a:lnTo>
                <a:lnTo>
                  <a:pt x="882731" y="70545"/>
                </a:lnTo>
                <a:lnTo>
                  <a:pt x="879361" y="57444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83225" y="4114565"/>
            <a:ext cx="883285" cy="1438910"/>
          </a:xfrm>
          <a:custGeom>
            <a:avLst/>
            <a:gdLst/>
            <a:ahLst/>
            <a:cxnLst/>
            <a:rect l="l" t="t" r="r" b="b"/>
            <a:pathLst>
              <a:path w="883285" h="1438910">
                <a:moveTo>
                  <a:pt x="882730" y="70545"/>
                </a:moveTo>
                <a:lnTo>
                  <a:pt x="860558" y="57443"/>
                </a:lnTo>
                <a:lnTo>
                  <a:pt x="44342" y="1438748"/>
                </a:lnTo>
                <a:lnTo>
                  <a:pt x="0" y="1412546"/>
                </a:lnTo>
                <a:lnTo>
                  <a:pt x="816216" y="31241"/>
                </a:lnTo>
                <a:lnTo>
                  <a:pt x="794043" y="18139"/>
                </a:lnTo>
                <a:lnTo>
                  <a:pt x="864588" y="0"/>
                </a:lnTo>
                <a:lnTo>
                  <a:pt x="882730" y="70545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325323" y="6154420"/>
            <a:ext cx="29641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latin typeface="Arial"/>
                <a:cs typeface="Arial"/>
              </a:rPr>
              <a:t>After Node </a:t>
            </a: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3 </a:t>
            </a:r>
            <a:r>
              <a:rPr dirty="0" sz="2200" spc="-5">
                <a:latin typeface="Arial"/>
                <a:cs typeface="Arial"/>
              </a:rPr>
              <a:t>is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updated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30999" y="306679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31069" y="4463742"/>
            <a:ext cx="2499360" cy="16465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R="1438275">
              <a:lnSpc>
                <a:spcPct val="100000"/>
              </a:lnSpc>
              <a:spcBef>
                <a:spcPts val="715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 marR="1443355">
              <a:lnSpc>
                <a:spcPct val="100000"/>
              </a:lnSpc>
              <a:spcBef>
                <a:spcPts val="73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marL="296545">
              <a:lnSpc>
                <a:spcPts val="1910"/>
              </a:lnSpc>
              <a:spcBef>
                <a:spcPts val="1500"/>
              </a:spcBef>
            </a:pPr>
            <a:r>
              <a:rPr dirty="0" sz="1600" spc="2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6203" sz="1800" spc="37">
                <a:solidFill>
                  <a:srgbClr val="FF0000"/>
                </a:solidFill>
                <a:latin typeface="Cambria Math"/>
                <a:cs typeface="Cambria Math"/>
              </a:rPr>
              <a:t>!</a:t>
            </a:r>
            <a:r>
              <a:rPr dirty="0" sz="1600" spc="25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  <a:p>
            <a:pPr marL="296545">
              <a:lnSpc>
                <a:spcPts val="1895"/>
              </a:lnSpc>
              <a:tabLst>
                <a:tab pos="589280" algn="l"/>
              </a:tabLst>
            </a:pPr>
            <a:r>
              <a:rPr dirty="0" sz="1600">
                <a:solidFill>
                  <a:srgbClr val="FF0000"/>
                </a:solidFill>
                <a:latin typeface="Cambria Math"/>
                <a:cs typeface="Cambria Math"/>
              </a:rPr>
              <a:t>=	0 + </a:t>
            </a:r>
            <a:r>
              <a:rPr dirty="0" sz="1600" spc="-5">
                <a:solidFill>
                  <a:srgbClr val="FF0000"/>
                </a:solidFill>
                <a:latin typeface="Cambria Math"/>
                <a:cs typeface="Cambria Math"/>
              </a:rPr>
              <a:t>0.17 </a:t>
            </a:r>
            <a:r>
              <a:rPr dirty="0" sz="160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dirty="0" sz="1600" spc="-5">
                <a:solidFill>
                  <a:srgbClr val="FF0000"/>
                </a:solidFill>
                <a:latin typeface="Cambria Math"/>
                <a:cs typeface="Cambria Math"/>
              </a:rPr>
              <a:t>0.5 </a:t>
            </a:r>
            <a:r>
              <a:rPr dirty="0" sz="1600">
                <a:solidFill>
                  <a:srgbClr val="FF0000"/>
                </a:solidFill>
                <a:latin typeface="Cambria Math"/>
                <a:cs typeface="Cambria Math"/>
              </a:rPr>
              <a:t>+ 1</a:t>
            </a:r>
            <a:r>
              <a:rPr dirty="0" sz="1600" spc="25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FF0000"/>
                </a:solidFill>
                <a:latin typeface="Cambria Math"/>
                <a:cs typeface="Cambria Math"/>
              </a:rPr>
              <a:t>/4</a:t>
            </a:r>
            <a:endParaRPr sz="1600">
              <a:latin typeface="Cambria Math"/>
              <a:cs typeface="Cambria Math"/>
            </a:endParaRPr>
          </a:p>
          <a:p>
            <a:pPr marL="296545">
              <a:lnSpc>
                <a:spcPts val="1910"/>
              </a:lnSpc>
            </a:pPr>
            <a:r>
              <a:rPr dirty="0" sz="1600">
                <a:solidFill>
                  <a:srgbClr val="FF0000"/>
                </a:solidFill>
                <a:latin typeface="Cambria Math"/>
                <a:cs typeface="Cambria Math"/>
              </a:rPr>
              <a:t>=  </a:t>
            </a:r>
            <a:r>
              <a:rPr dirty="0" sz="1600" spc="-5">
                <a:solidFill>
                  <a:srgbClr val="FF0000"/>
                </a:solidFill>
                <a:latin typeface="Cambria Math"/>
                <a:cs typeface="Cambria Math"/>
              </a:rPr>
              <a:t>0.42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6029" y="3741847"/>
            <a:ext cx="1225550" cy="73596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5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3991" y="4525504"/>
            <a:ext cx="1229995" cy="77533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ctr" marL="33020">
              <a:lnSpc>
                <a:spcPct val="100000"/>
              </a:lnSpc>
              <a:spcBef>
                <a:spcPts val="875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81891" y="277520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20259" y="2662936"/>
            <a:ext cx="12299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6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710034" y="367334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487750" y="2326989"/>
            <a:ext cx="1363345" cy="762635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0.17</a:t>
            </a:r>
            <a:endParaRPr sz="1900">
              <a:latin typeface="Cambria Math"/>
              <a:cs typeface="Cambria Math"/>
            </a:endParaRPr>
          </a:p>
          <a:p>
            <a:pPr algn="ctr" marL="635">
              <a:lnSpc>
                <a:spcPct val="100000"/>
              </a:lnSpc>
              <a:spcBef>
                <a:spcPts val="73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  <p:sp>
        <p:nvSpPr>
          <p:cNvPr id="52" name="object 52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43084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/>
              <a:t>Update </a:t>
            </a:r>
            <a:r>
              <a:rPr dirty="0" sz="2800" spc="-25"/>
              <a:t>for </a:t>
            </a:r>
            <a:r>
              <a:rPr dirty="0" sz="2800" spc="-5"/>
              <a:t>the </a:t>
            </a:r>
            <a:r>
              <a:rPr dirty="0" sz="2800" spc="-15"/>
              <a:t>1</a:t>
            </a:r>
            <a:r>
              <a:rPr dirty="0" baseline="23391" sz="2850" spc="-22"/>
              <a:t>st</a:t>
            </a:r>
            <a:r>
              <a:rPr dirty="0" baseline="23391" sz="2850" spc="0"/>
              <a:t> </a:t>
            </a:r>
            <a:r>
              <a:rPr dirty="0" sz="2800" spc="-20"/>
              <a:t>Iteration: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618336" y="3783002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34201" y="4258635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50934" y="3538207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50934" y="4258635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48594" y="3592260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93029" y="3538207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77910" y="4664826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47737" y="3675039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89523" y="3729093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2403" y="5127335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27756" y="3544546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1321" y="3837054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74192" y="3675039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18839" y="3783002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2168" y="368808"/>
            <a:ext cx="8199120" cy="490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68441" y="494278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68441" y="494278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06643" y="502618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06643" y="502618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61996" y="335999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61996" y="335999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1977" y="422306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1977" y="422306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06139" y="34679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06139" y="34679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424725" y="3505708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65713" y="539076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4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65713" y="5390760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24372" y="4349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24372" y="4349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942958" y="4386579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24795" y="4902654"/>
            <a:ext cx="1047750" cy="7302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715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46563" y="5312209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9755" y="1868931"/>
            <a:ext cx="4780915" cy="387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3444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9408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libri"/>
                <a:cs typeface="Calibri"/>
              </a:rPr>
              <a:t>5, </a:t>
            </a:r>
            <a:r>
              <a:rPr dirty="0" sz="2600" spc="-90">
                <a:latin typeface="Cambria Math"/>
                <a:cs typeface="Cambria Math"/>
              </a:rPr>
              <a:t>𝑁</a:t>
            </a:r>
            <a:r>
              <a:rPr dirty="0" baseline="-16081" sz="2850" spc="-135">
                <a:latin typeface="Cambria Math"/>
                <a:cs typeface="Cambria Math"/>
              </a:rPr>
              <a:t>2  </a:t>
            </a:r>
            <a:r>
              <a:rPr dirty="0" sz="2600">
                <a:latin typeface="Cambria Math"/>
                <a:cs typeface="Cambria Math"/>
              </a:rPr>
              <a:t>= </a:t>
            </a:r>
            <a:r>
              <a:rPr dirty="0" sz="2600" spc="-5">
                <a:latin typeface="Cambria Math"/>
                <a:cs typeface="Cambria Math"/>
              </a:rPr>
              <a:t>{4, 6, 7,</a:t>
            </a:r>
            <a:r>
              <a:rPr dirty="0" sz="2600" spc="-340">
                <a:latin typeface="Cambria Math"/>
                <a:cs typeface="Cambria Math"/>
              </a:rPr>
              <a:t> </a:t>
            </a:r>
            <a:r>
              <a:rPr dirty="0" sz="2600" spc="-165">
                <a:latin typeface="Cambria Math"/>
                <a:cs typeface="Cambria Math"/>
              </a:rPr>
              <a:t>8}</a:t>
            </a: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650">
              <a:latin typeface="Times New Roman"/>
              <a:cs typeface="Times New Roman"/>
            </a:endParaRPr>
          </a:p>
          <a:p>
            <a:pPr algn="ctr" marR="139700">
              <a:lnSpc>
                <a:spcPct val="100000"/>
              </a:lnSpc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182880">
              <a:lnSpc>
                <a:spcPct val="100000"/>
              </a:lnSpc>
              <a:spcBef>
                <a:spcPts val="994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>
              <a:latin typeface="Times New Roman"/>
              <a:cs typeface="Times New Roman"/>
            </a:endParaRPr>
          </a:p>
          <a:p>
            <a:pPr marL="56324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 marR="3547745">
              <a:lnSpc>
                <a:spcPct val="100000"/>
              </a:lnSpc>
              <a:spcBef>
                <a:spcPts val="750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5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  <a:p>
            <a:pPr algn="ctr" marR="1493520">
              <a:lnSpc>
                <a:spcPct val="100000"/>
              </a:lnSpc>
              <a:spcBef>
                <a:spcPts val="135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  <a:p>
            <a:pPr algn="ctr" marR="1526540">
              <a:lnSpc>
                <a:spcPct val="100000"/>
              </a:lnSpc>
              <a:spcBef>
                <a:spcPts val="919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415217" y="2651865"/>
            <a:ext cx="335915" cy="200025"/>
          </a:xfrm>
          <a:custGeom>
            <a:avLst/>
            <a:gdLst/>
            <a:ahLst/>
            <a:cxnLst/>
            <a:rect l="l" t="t" r="r" b="b"/>
            <a:pathLst>
              <a:path w="335914" h="200025">
                <a:moveTo>
                  <a:pt x="271658" y="0"/>
                </a:moveTo>
                <a:lnTo>
                  <a:pt x="268812" y="8116"/>
                </a:lnTo>
                <a:lnTo>
                  <a:pt x="280387" y="13140"/>
                </a:lnTo>
                <a:lnTo>
                  <a:pt x="290343" y="20095"/>
                </a:lnTo>
                <a:lnTo>
                  <a:pt x="314247" y="66374"/>
                </a:lnTo>
                <a:lnTo>
                  <a:pt x="317199" y="98988"/>
                </a:lnTo>
                <a:lnTo>
                  <a:pt x="316457" y="116627"/>
                </a:lnTo>
                <a:lnTo>
                  <a:pt x="305339" y="159816"/>
                </a:lnTo>
                <a:lnTo>
                  <a:pt x="269128" y="191863"/>
                </a:lnTo>
                <a:lnTo>
                  <a:pt x="271658" y="199981"/>
                </a:lnTo>
                <a:lnTo>
                  <a:pt x="309865" y="177280"/>
                </a:lnTo>
                <a:lnTo>
                  <a:pt x="331325" y="135372"/>
                </a:lnTo>
                <a:lnTo>
                  <a:pt x="335436" y="100042"/>
                </a:lnTo>
                <a:lnTo>
                  <a:pt x="334405" y="81709"/>
                </a:lnTo>
                <a:lnTo>
                  <a:pt x="318938" y="35052"/>
                </a:lnTo>
                <a:lnTo>
                  <a:pt x="286156" y="5234"/>
                </a:lnTo>
                <a:lnTo>
                  <a:pt x="271658" y="0"/>
                </a:lnTo>
                <a:close/>
              </a:path>
              <a:path w="335914" h="200025">
                <a:moveTo>
                  <a:pt x="63778" y="0"/>
                </a:moveTo>
                <a:lnTo>
                  <a:pt x="25639" y="22760"/>
                </a:lnTo>
                <a:lnTo>
                  <a:pt x="4124" y="64767"/>
                </a:lnTo>
                <a:lnTo>
                  <a:pt x="0" y="100042"/>
                </a:lnTo>
                <a:lnTo>
                  <a:pt x="1027" y="118416"/>
                </a:lnTo>
                <a:lnTo>
                  <a:pt x="16445" y="165035"/>
                </a:lnTo>
                <a:lnTo>
                  <a:pt x="49237" y="194753"/>
                </a:lnTo>
                <a:lnTo>
                  <a:pt x="63778" y="199981"/>
                </a:lnTo>
                <a:lnTo>
                  <a:pt x="66309" y="191863"/>
                </a:lnTo>
                <a:lnTo>
                  <a:pt x="54913" y="186816"/>
                </a:lnTo>
                <a:lnTo>
                  <a:pt x="45079" y="179793"/>
                </a:lnTo>
                <a:lnTo>
                  <a:pt x="24908" y="147041"/>
                </a:lnTo>
                <a:lnTo>
                  <a:pt x="18237" y="98988"/>
                </a:lnTo>
                <a:lnTo>
                  <a:pt x="18978" y="81927"/>
                </a:lnTo>
                <a:lnTo>
                  <a:pt x="30096" y="39795"/>
                </a:lnTo>
                <a:lnTo>
                  <a:pt x="66625" y="8116"/>
                </a:lnTo>
                <a:lnTo>
                  <a:pt x="637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520627" y="2918565"/>
            <a:ext cx="1837689" cy="200025"/>
          </a:xfrm>
          <a:custGeom>
            <a:avLst/>
            <a:gdLst/>
            <a:ahLst/>
            <a:cxnLst/>
            <a:rect l="l" t="t" r="r" b="b"/>
            <a:pathLst>
              <a:path w="1837690" h="200025">
                <a:moveTo>
                  <a:pt x="1773623" y="0"/>
                </a:moveTo>
                <a:lnTo>
                  <a:pt x="1770776" y="8116"/>
                </a:lnTo>
                <a:lnTo>
                  <a:pt x="1782352" y="13140"/>
                </a:lnTo>
                <a:lnTo>
                  <a:pt x="1792308" y="20095"/>
                </a:lnTo>
                <a:lnTo>
                  <a:pt x="1816212" y="66374"/>
                </a:lnTo>
                <a:lnTo>
                  <a:pt x="1819164" y="98988"/>
                </a:lnTo>
                <a:lnTo>
                  <a:pt x="1818423" y="116627"/>
                </a:lnTo>
                <a:lnTo>
                  <a:pt x="1807305" y="159816"/>
                </a:lnTo>
                <a:lnTo>
                  <a:pt x="1771092" y="191863"/>
                </a:lnTo>
                <a:lnTo>
                  <a:pt x="1773623" y="199981"/>
                </a:lnTo>
                <a:lnTo>
                  <a:pt x="1811831" y="177279"/>
                </a:lnTo>
                <a:lnTo>
                  <a:pt x="1833290" y="135372"/>
                </a:lnTo>
                <a:lnTo>
                  <a:pt x="1837401" y="100042"/>
                </a:lnTo>
                <a:lnTo>
                  <a:pt x="1836370" y="81709"/>
                </a:lnTo>
                <a:lnTo>
                  <a:pt x="1820904" y="35052"/>
                </a:lnTo>
                <a:lnTo>
                  <a:pt x="1788122" y="5234"/>
                </a:lnTo>
                <a:lnTo>
                  <a:pt x="1773623" y="0"/>
                </a:lnTo>
                <a:close/>
              </a:path>
              <a:path w="1837690" h="200025">
                <a:moveTo>
                  <a:pt x="63778" y="0"/>
                </a:moveTo>
                <a:lnTo>
                  <a:pt x="25639" y="22760"/>
                </a:lnTo>
                <a:lnTo>
                  <a:pt x="4124" y="64767"/>
                </a:lnTo>
                <a:lnTo>
                  <a:pt x="0" y="100042"/>
                </a:lnTo>
                <a:lnTo>
                  <a:pt x="1027" y="118415"/>
                </a:lnTo>
                <a:lnTo>
                  <a:pt x="16445" y="165033"/>
                </a:lnTo>
                <a:lnTo>
                  <a:pt x="49237" y="194753"/>
                </a:lnTo>
                <a:lnTo>
                  <a:pt x="63778" y="199981"/>
                </a:lnTo>
                <a:lnTo>
                  <a:pt x="66309" y="191863"/>
                </a:lnTo>
                <a:lnTo>
                  <a:pt x="54913" y="186816"/>
                </a:lnTo>
                <a:lnTo>
                  <a:pt x="45079" y="179793"/>
                </a:lnTo>
                <a:lnTo>
                  <a:pt x="24908" y="147041"/>
                </a:lnTo>
                <a:lnTo>
                  <a:pt x="18237" y="98988"/>
                </a:lnTo>
                <a:lnTo>
                  <a:pt x="18978" y="81927"/>
                </a:lnTo>
                <a:lnTo>
                  <a:pt x="30096" y="39795"/>
                </a:lnTo>
                <a:lnTo>
                  <a:pt x="66625" y="8116"/>
                </a:lnTo>
                <a:lnTo>
                  <a:pt x="637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244920" y="2325116"/>
            <a:ext cx="3326129" cy="1053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>
              <a:lnSpc>
                <a:spcPts val="21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After nodes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3 </a:t>
            </a:r>
            <a:r>
              <a:rPr dirty="0" sz="1800" spc="-5"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FF0000"/>
                </a:solidFill>
                <a:latin typeface="Arial"/>
                <a:cs typeface="Arial"/>
              </a:rPr>
              <a:t>4 </a:t>
            </a:r>
            <a:r>
              <a:rPr dirty="0" sz="1800" spc="-5">
                <a:latin typeface="Arial"/>
                <a:cs typeface="Arial"/>
              </a:rPr>
              <a:t>are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updated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0"/>
              </a:lnSpc>
            </a:pPr>
            <a:r>
              <a:rPr dirty="0" sz="1700">
                <a:solidFill>
                  <a:srgbClr val="FF0000"/>
                </a:solidFill>
                <a:latin typeface="Cambria Math"/>
                <a:cs typeface="Cambria Math"/>
              </a:rPr>
              <a:t>𝑃</a:t>
            </a:r>
            <a:r>
              <a:rPr dirty="0" sz="1700" spc="26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700" spc="-30">
                <a:solidFill>
                  <a:srgbClr val="FF0000"/>
                </a:solidFill>
                <a:latin typeface="Cambria Math"/>
                <a:cs typeface="Cambria Math"/>
              </a:rPr>
              <a:t>𝑌</a:t>
            </a:r>
            <a:r>
              <a:rPr dirty="0" baseline="-16203" sz="1800" spc="-44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endParaRPr baseline="-16203" sz="1800">
              <a:latin typeface="Cambria Math"/>
              <a:cs typeface="Cambria Math"/>
            </a:endParaRPr>
          </a:p>
          <a:p>
            <a:pPr marL="34290">
              <a:lnSpc>
                <a:spcPts val="1970"/>
              </a:lnSpc>
              <a:spcBef>
                <a:spcPts val="70"/>
              </a:spcBef>
              <a:tabLst>
                <a:tab pos="346075" algn="l"/>
              </a:tabLst>
            </a:pPr>
            <a:r>
              <a:rPr dirty="0" sz="1700">
                <a:solidFill>
                  <a:srgbClr val="FF0000"/>
                </a:solidFill>
                <a:latin typeface="Cambria Math"/>
                <a:cs typeface="Cambria Math"/>
              </a:rPr>
              <a:t>=	1 + </a:t>
            </a:r>
            <a:r>
              <a:rPr dirty="0" sz="1700" spc="-5">
                <a:solidFill>
                  <a:srgbClr val="FF0000"/>
                </a:solidFill>
                <a:latin typeface="Cambria Math"/>
                <a:cs typeface="Cambria Math"/>
              </a:rPr>
              <a:t>0.5 </a:t>
            </a:r>
            <a:r>
              <a:rPr dirty="0" sz="1700">
                <a:solidFill>
                  <a:srgbClr val="FF0000"/>
                </a:solidFill>
                <a:latin typeface="Cambria Math"/>
                <a:cs typeface="Cambria Math"/>
              </a:rPr>
              <a:t>+ 1 + </a:t>
            </a:r>
            <a:r>
              <a:rPr dirty="0" sz="1700" spc="-5">
                <a:solidFill>
                  <a:srgbClr val="FF0000"/>
                </a:solidFill>
                <a:latin typeface="Cambria Math"/>
                <a:cs typeface="Cambria Math"/>
              </a:rPr>
              <a:t>0.42</a:t>
            </a:r>
            <a:r>
              <a:rPr dirty="0" sz="1700" spc="24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700">
                <a:solidFill>
                  <a:srgbClr val="FF0000"/>
                </a:solidFill>
                <a:latin typeface="Cambria Math"/>
                <a:cs typeface="Cambria Math"/>
              </a:rPr>
              <a:t>/4</a:t>
            </a:r>
            <a:endParaRPr sz="1700">
              <a:latin typeface="Cambria Math"/>
              <a:cs typeface="Cambria Math"/>
            </a:endParaRPr>
          </a:p>
          <a:p>
            <a:pPr marL="34290">
              <a:lnSpc>
                <a:spcPts val="1970"/>
              </a:lnSpc>
            </a:pPr>
            <a:r>
              <a:rPr dirty="0" sz="17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700" spc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700" spc="-5">
                <a:solidFill>
                  <a:srgbClr val="FF0000"/>
                </a:solidFill>
                <a:latin typeface="Cambria Math"/>
                <a:cs typeface="Cambria Math"/>
              </a:rPr>
              <a:t>0.73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57308" y="3396996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5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95675" y="3284728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solidFill>
                  <a:srgbClr val="FF0000"/>
                </a:solidFill>
                <a:latin typeface="Cambria Math"/>
                <a:cs typeface="Cambria Math"/>
              </a:rPr>
              <a:t>𝑃(𝑌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) =</a:t>
            </a:r>
            <a:r>
              <a:rPr dirty="0" sz="1900" spc="25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0.17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685175" y="407408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85175" y="407408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080832" y="32231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80832" y="32231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199420" y="32618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85817" y="4112259"/>
            <a:ext cx="136334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0.42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16264" y="4899659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60219" y="4787391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713691" y="3007126"/>
            <a:ext cx="449580" cy="464820"/>
          </a:xfrm>
          <a:custGeom>
            <a:avLst/>
            <a:gdLst/>
            <a:ahLst/>
            <a:cxnLst/>
            <a:rect l="l" t="t" r="r" b="b"/>
            <a:pathLst>
              <a:path w="449579" h="464820">
                <a:moveTo>
                  <a:pt x="0" y="355710"/>
                </a:moveTo>
                <a:lnTo>
                  <a:pt x="2401" y="464456"/>
                </a:lnTo>
                <a:lnTo>
                  <a:pt x="111146" y="462055"/>
                </a:lnTo>
                <a:lnTo>
                  <a:pt x="83360" y="435469"/>
                </a:lnTo>
                <a:lnTo>
                  <a:pt x="134235" y="382296"/>
                </a:lnTo>
                <a:lnTo>
                  <a:pt x="27786" y="382296"/>
                </a:lnTo>
                <a:lnTo>
                  <a:pt x="0" y="355710"/>
                </a:lnTo>
                <a:close/>
              </a:path>
              <a:path w="449579" h="464820">
                <a:moveTo>
                  <a:pt x="393566" y="0"/>
                </a:moveTo>
                <a:lnTo>
                  <a:pt x="27786" y="382296"/>
                </a:lnTo>
                <a:lnTo>
                  <a:pt x="134235" y="382296"/>
                </a:lnTo>
                <a:lnTo>
                  <a:pt x="449140" y="53172"/>
                </a:lnTo>
                <a:lnTo>
                  <a:pt x="39356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713691" y="3007125"/>
            <a:ext cx="449580" cy="464820"/>
          </a:xfrm>
          <a:custGeom>
            <a:avLst/>
            <a:gdLst/>
            <a:ahLst/>
            <a:cxnLst/>
            <a:rect l="l" t="t" r="r" b="b"/>
            <a:pathLst>
              <a:path w="449579" h="464820">
                <a:moveTo>
                  <a:pt x="0" y="355710"/>
                </a:moveTo>
                <a:lnTo>
                  <a:pt x="27786" y="382297"/>
                </a:lnTo>
                <a:lnTo>
                  <a:pt x="393567" y="0"/>
                </a:lnTo>
                <a:lnTo>
                  <a:pt x="449140" y="53172"/>
                </a:lnTo>
                <a:lnTo>
                  <a:pt x="83360" y="435469"/>
                </a:lnTo>
                <a:lnTo>
                  <a:pt x="111147" y="462055"/>
                </a:lnTo>
                <a:lnTo>
                  <a:pt x="2401" y="464456"/>
                </a:lnTo>
                <a:lnTo>
                  <a:pt x="0" y="355710"/>
                </a:lnTo>
                <a:close/>
              </a:path>
            </a:pathLst>
          </a:custGeom>
          <a:ln w="5714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2168" y="362711"/>
            <a:ext cx="586740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After </a:t>
            </a:r>
            <a:r>
              <a:rPr dirty="0" spc="-20"/>
              <a:t>Iteration </a:t>
            </a:r>
            <a:r>
              <a:rPr dirty="0"/>
              <a:t>1 (a </a:t>
            </a:r>
            <a:r>
              <a:rPr dirty="0" spc="-15"/>
              <a:t>round </a:t>
            </a:r>
            <a:r>
              <a:rPr dirty="0" spc="-5"/>
              <a:t>of </a:t>
            </a:r>
            <a:r>
              <a:rPr dirty="0" spc="-10"/>
              <a:t>updates </a:t>
            </a:r>
            <a:r>
              <a:rPr dirty="0" spc="-25"/>
              <a:t>for </a:t>
            </a:r>
            <a:r>
              <a:rPr dirty="0"/>
              <a:t>all  </a:t>
            </a:r>
            <a:r>
              <a:rPr dirty="0" spc="-5"/>
              <a:t>unlabeled</a:t>
            </a:r>
            <a:r>
              <a:rPr dirty="0" spc="-30"/>
              <a:t> </a:t>
            </a:r>
            <a:r>
              <a:rPr dirty="0" spc="-5"/>
              <a:t>nodes)</a:t>
            </a:r>
          </a:p>
        </p:txBody>
      </p:sp>
      <p:sp>
        <p:nvSpPr>
          <p:cNvPr id="17" name="object 17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330999" y="306679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31069" y="4412407"/>
            <a:ext cx="1047750" cy="8426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120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7342" y="3741847"/>
            <a:ext cx="1042669" cy="73596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solidFill>
                  <a:srgbClr val="FF0000"/>
                </a:solidFill>
                <a:latin typeface="Cambria Math"/>
                <a:cs typeface="Cambria Math"/>
              </a:rPr>
              <a:t>*</a:t>
            </a:r>
            <a:r>
              <a:rPr dirty="0" sz="1900" spc="-1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7317" y="4525504"/>
            <a:ext cx="1363345" cy="775335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875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900" spc="4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solidFill>
                  <a:srgbClr val="FF0000"/>
                </a:solidFill>
                <a:latin typeface="Cambria Math"/>
                <a:cs typeface="Cambria Math"/>
              </a:rPr>
              <a:t>'</a:t>
            </a:r>
            <a:r>
              <a:rPr dirty="0" sz="1900" spc="4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0.91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5216" y="277520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53584" y="2662936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solidFill>
                  <a:srgbClr val="FF0000"/>
                </a:solidFill>
                <a:latin typeface="Cambria Math"/>
                <a:cs typeface="Cambria Math"/>
              </a:rPr>
              <a:t>𝑃(𝑌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) =</a:t>
            </a:r>
            <a:r>
              <a:rPr dirty="0" sz="1900" spc="25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0.73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87750" y="2437383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0.17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105694" y="2819908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  <p:sp>
        <p:nvSpPr>
          <p:cNvPr id="47" name="object 47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92091" y="3673347"/>
            <a:ext cx="136334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0.42</a:t>
            </a:r>
            <a:endParaRPr sz="19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32231"/>
            <a:ext cx="5974080" cy="527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6708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0000"/>
                </a:solidFill>
              </a:rPr>
              <a:t>After </a:t>
            </a:r>
            <a:r>
              <a:rPr dirty="0" spc="-20">
                <a:solidFill>
                  <a:srgbClr val="FF0000"/>
                </a:solidFill>
              </a:rPr>
              <a:t>Iteration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object 18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31502" y="4624323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330999" y="306679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1069" y="4412407"/>
            <a:ext cx="1047750" cy="8426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120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7317" y="4985511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4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solidFill>
                  <a:srgbClr val="FF0000"/>
                </a:solidFill>
                <a:latin typeface="Cambria Math"/>
                <a:cs typeface="Cambria Math"/>
              </a:rPr>
              <a:t>'</a:t>
            </a:r>
            <a:r>
              <a:rPr dirty="0" sz="1900" spc="4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0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0.95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5216" y="277520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53584" y="2662936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solidFill>
                  <a:srgbClr val="FF0000"/>
                </a:solidFill>
                <a:latin typeface="Cambria Math"/>
                <a:cs typeface="Cambria Math"/>
              </a:rPr>
              <a:t>𝑃(𝑌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) =</a:t>
            </a:r>
            <a:r>
              <a:rPr dirty="0" sz="1900" spc="25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0.85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487750" y="2326989"/>
            <a:ext cx="1363345" cy="762635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0.14</a:t>
            </a:r>
            <a:endParaRPr sz="1900">
              <a:latin typeface="Cambria Math"/>
              <a:cs typeface="Cambria Math"/>
            </a:endParaRPr>
          </a:p>
          <a:p>
            <a:pPr algn="ctr" marL="635">
              <a:lnSpc>
                <a:spcPct val="100000"/>
              </a:lnSpc>
              <a:spcBef>
                <a:spcPts val="73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92091" y="3673347"/>
            <a:ext cx="136334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0.47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2365" y="3741847"/>
            <a:ext cx="1219200" cy="10718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 marL="33655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32231"/>
            <a:ext cx="5900928" cy="527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6708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0000"/>
                </a:solidFill>
              </a:rPr>
              <a:t>After </a:t>
            </a:r>
            <a:r>
              <a:rPr dirty="0" spc="-20">
                <a:solidFill>
                  <a:srgbClr val="FF0000"/>
                </a:solidFill>
              </a:rPr>
              <a:t>Iteration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object 18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31502" y="4624323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330999" y="306679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1069" y="4412407"/>
            <a:ext cx="1047750" cy="8426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120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5216" y="277520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53584" y="2662936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solidFill>
                  <a:srgbClr val="FF0000"/>
                </a:solidFill>
                <a:latin typeface="Cambria Math"/>
                <a:cs typeface="Cambria Math"/>
              </a:rPr>
              <a:t>𝑃(𝑌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) =</a:t>
            </a:r>
            <a:r>
              <a:rPr dirty="0" sz="1900" spc="25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0.86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487750" y="2326989"/>
            <a:ext cx="1363345" cy="762635"/>
          </a:xfrm>
          <a:prstGeom prst="rect">
            <a:avLst/>
          </a:prstGeom>
        </p:spPr>
        <p:txBody>
          <a:bodyPr wrap="square" lIns="0" tIns="1231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70"/>
              </a:spcBef>
            </a:pP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solidFill>
                  <a:srgbClr val="FF0000"/>
                </a:solidFill>
                <a:latin typeface="Cambria Math"/>
                <a:cs typeface="Cambria Math"/>
              </a:rPr>
              <a:t>"</a:t>
            </a:r>
            <a:r>
              <a:rPr dirty="0" sz="1900" spc="0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14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0.16</a:t>
            </a:r>
            <a:endParaRPr sz="1900">
              <a:latin typeface="Cambria Math"/>
              <a:cs typeface="Cambria Math"/>
            </a:endParaRPr>
          </a:p>
          <a:p>
            <a:pPr algn="ctr" marL="635">
              <a:lnSpc>
                <a:spcPct val="100000"/>
              </a:lnSpc>
              <a:spcBef>
                <a:spcPts val="73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58766" y="3673347"/>
            <a:ext cx="122999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0.5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2365" y="3741847"/>
            <a:ext cx="1219200" cy="10718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 marL="33655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97317" y="4927063"/>
            <a:ext cx="1363345" cy="70358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0.95</a:t>
            </a:r>
            <a:endParaRPr sz="1900">
              <a:latin typeface="Cambria Math"/>
              <a:cs typeface="Cambria Math"/>
            </a:endParaRPr>
          </a:p>
          <a:p>
            <a:pPr algn="ctr" marR="3810">
              <a:lnSpc>
                <a:spcPct val="100000"/>
              </a:lnSpc>
              <a:spcBef>
                <a:spcPts val="434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80466" y="3236066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57594" y="339808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4012" y="3236066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5797" y="3290119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78677" y="4688361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34030" y="310557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5113" y="3344028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4610" y="3344028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40475" y="3819661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7208" y="3099234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7208" y="381966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54867" y="3153286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99303" y="3099234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84184" y="422585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32231"/>
            <a:ext cx="5931408" cy="527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6708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0000"/>
                </a:solidFill>
              </a:rPr>
              <a:t>After </a:t>
            </a:r>
            <a:r>
              <a:rPr dirty="0" spc="-20">
                <a:solidFill>
                  <a:srgbClr val="FF0000"/>
                </a:solidFill>
              </a:rPr>
              <a:t>Iteration</a:t>
            </a:r>
            <a:r>
              <a:rPr dirty="0" spc="-4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object 18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74715" y="450381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2917" y="458720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831502" y="4624323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68270" y="292102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8251" y="378408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12413" y="30289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330999" y="306679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71987" y="495178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30645" y="391081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849232" y="3947667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48755" y="2390806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31069" y="4412407"/>
            <a:ext cx="1047750" cy="8426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120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52837" y="4873297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5216" y="277520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53584" y="2662936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54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0.86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91449" y="36351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87106" y="278419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144738" y="4466844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45" name="object 45"/>
          <p:cNvSpPr txBox="1"/>
          <p:nvPr/>
        </p:nvSpPr>
        <p:spPr>
          <a:xfrm>
            <a:off x="7788694" y="4354576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92091" y="3673347"/>
            <a:ext cx="1363345" cy="746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) </a:t>
            </a:r>
            <a:r>
              <a:rPr dirty="0" sz="190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dirty="0" sz="1900" spc="15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900" spc="-5">
                <a:solidFill>
                  <a:srgbClr val="FF0000"/>
                </a:solidFill>
                <a:latin typeface="Cambria Math"/>
                <a:cs typeface="Cambria Math"/>
              </a:rPr>
              <a:t>0.51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2365" y="3741847"/>
            <a:ext cx="1219200" cy="11176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 marL="33655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97317" y="4846630"/>
            <a:ext cx="1363345" cy="85979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0.95</a:t>
            </a:r>
            <a:endParaRPr sz="1900">
              <a:latin typeface="Cambria Math"/>
              <a:cs typeface="Cambria Math"/>
            </a:endParaRPr>
          </a:p>
          <a:p>
            <a:pPr algn="ctr" marR="4445">
              <a:lnSpc>
                <a:spcPct val="100000"/>
              </a:lnSpc>
              <a:spcBef>
                <a:spcPts val="103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96459" y="2270251"/>
            <a:ext cx="1219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87750" y="2110633"/>
            <a:ext cx="1363345" cy="97853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R="73025">
              <a:lnSpc>
                <a:spcPct val="100000"/>
              </a:lnSpc>
              <a:spcBef>
                <a:spcPts val="30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900" spc="0">
                <a:latin typeface="Cambria Math"/>
                <a:cs typeface="Cambria Math"/>
              </a:rPr>
              <a:t>𝑃(𝑌</a:t>
            </a:r>
            <a:r>
              <a:rPr dirty="0" baseline="-15873" sz="2100" spc="0">
                <a:latin typeface="Cambria Math"/>
                <a:cs typeface="Cambria Math"/>
              </a:rPr>
              <a:t>"</a:t>
            </a:r>
            <a:r>
              <a:rPr dirty="0" sz="1900" spc="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14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0.16</a:t>
            </a:r>
            <a:endParaRPr sz="1900">
              <a:latin typeface="Cambria Math"/>
              <a:cs typeface="Cambria Math"/>
            </a:endParaRPr>
          </a:p>
          <a:p>
            <a:pPr algn="ctr" marL="635">
              <a:lnSpc>
                <a:spcPct val="100000"/>
              </a:lnSpc>
              <a:spcBef>
                <a:spcPts val="73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51906" y="4047014"/>
            <a:ext cx="848360" cy="1322070"/>
          </a:xfrm>
          <a:custGeom>
            <a:avLst/>
            <a:gdLst/>
            <a:ahLst/>
            <a:cxnLst/>
            <a:rect l="l" t="t" r="r" b="b"/>
            <a:pathLst>
              <a:path w="848360" h="1322070">
                <a:moveTo>
                  <a:pt x="847812" y="1321801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29034" y="4209030"/>
            <a:ext cx="737870" cy="1106170"/>
          </a:xfrm>
          <a:custGeom>
            <a:avLst/>
            <a:gdLst/>
            <a:ahLst/>
            <a:cxnLst/>
            <a:rect l="l" t="t" r="r" b="b"/>
            <a:pathLst>
              <a:path w="737870" h="1106170">
                <a:moveTo>
                  <a:pt x="0" y="1105733"/>
                </a:moveTo>
                <a:lnTo>
                  <a:pt x="737699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5451" y="4047014"/>
            <a:ext cx="1368425" cy="732790"/>
          </a:xfrm>
          <a:custGeom>
            <a:avLst/>
            <a:gdLst/>
            <a:ahLst/>
            <a:cxnLst/>
            <a:rect l="l" t="t" r="r" b="b"/>
            <a:pathLst>
              <a:path w="1368425" h="732789">
                <a:moveTo>
                  <a:pt x="0" y="732572"/>
                </a:moveTo>
                <a:lnTo>
                  <a:pt x="1367823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67236" y="4101067"/>
            <a:ext cx="655955" cy="1297305"/>
          </a:xfrm>
          <a:custGeom>
            <a:avLst/>
            <a:gdLst/>
            <a:ahLst/>
            <a:cxnLst/>
            <a:rect l="l" t="t" r="r" b="b"/>
            <a:pathLst>
              <a:path w="655955" h="1297304">
                <a:moveTo>
                  <a:pt x="0" y="1297089"/>
                </a:moveTo>
                <a:lnTo>
                  <a:pt x="655354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50116" y="5499310"/>
            <a:ext cx="1396365" cy="83820"/>
          </a:xfrm>
          <a:custGeom>
            <a:avLst/>
            <a:gdLst/>
            <a:ahLst/>
            <a:cxnLst/>
            <a:rect l="l" t="t" r="r" b="b"/>
            <a:pathLst>
              <a:path w="1396364" h="83820">
                <a:moveTo>
                  <a:pt x="0" y="83394"/>
                </a:moveTo>
                <a:lnTo>
                  <a:pt x="1396038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05470" y="3916521"/>
            <a:ext cx="1478915" cy="108585"/>
          </a:xfrm>
          <a:custGeom>
            <a:avLst/>
            <a:gdLst/>
            <a:ahLst/>
            <a:cxnLst/>
            <a:rect l="l" t="t" r="r" b="b"/>
            <a:pathLst>
              <a:path w="1478914" h="108585">
                <a:moveTo>
                  <a:pt x="0" y="0"/>
                </a:moveTo>
                <a:lnTo>
                  <a:pt x="1478383" y="107962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96553" y="4154976"/>
            <a:ext cx="2240915" cy="1297305"/>
          </a:xfrm>
          <a:custGeom>
            <a:avLst/>
            <a:gdLst/>
            <a:ahLst/>
            <a:cxnLst/>
            <a:rect l="l" t="t" r="r" b="b"/>
            <a:pathLst>
              <a:path w="2240915" h="1297304">
                <a:moveTo>
                  <a:pt x="2240865" y="0"/>
                </a:moveTo>
                <a:lnTo>
                  <a:pt x="0" y="1297233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96050" y="4154977"/>
            <a:ext cx="1067435" cy="476250"/>
          </a:xfrm>
          <a:custGeom>
            <a:avLst/>
            <a:gdLst/>
            <a:ahLst/>
            <a:cxnLst/>
            <a:rect l="l" t="t" r="r" b="b"/>
            <a:pathLst>
              <a:path w="1067435" h="476250">
                <a:moveTo>
                  <a:pt x="1066839" y="47563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11915" y="4630610"/>
            <a:ext cx="1751330" cy="869315"/>
          </a:xfrm>
          <a:custGeom>
            <a:avLst/>
            <a:gdLst/>
            <a:ahLst/>
            <a:cxnLst/>
            <a:rect l="l" t="t" r="r" b="b"/>
            <a:pathLst>
              <a:path w="1751329" h="869314">
                <a:moveTo>
                  <a:pt x="1750974" y="0"/>
                </a:moveTo>
                <a:lnTo>
                  <a:pt x="0" y="86870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28648" y="3910182"/>
            <a:ext cx="1083945" cy="720725"/>
          </a:xfrm>
          <a:custGeom>
            <a:avLst/>
            <a:gdLst/>
            <a:ahLst/>
            <a:cxnLst/>
            <a:rect l="l" t="t" r="r" b="b"/>
            <a:pathLst>
              <a:path w="1083945" h="720725">
                <a:moveTo>
                  <a:pt x="1083463" y="0"/>
                </a:moveTo>
                <a:lnTo>
                  <a:pt x="0" y="720427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28648" y="4630610"/>
            <a:ext cx="1773555" cy="276225"/>
          </a:xfrm>
          <a:custGeom>
            <a:avLst/>
            <a:gdLst/>
            <a:ahLst/>
            <a:cxnLst/>
            <a:rect l="l" t="t" r="r" b="b"/>
            <a:pathLst>
              <a:path w="1773554" h="276225">
                <a:moveTo>
                  <a:pt x="1773438" y="27569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6307" y="3964235"/>
            <a:ext cx="715645" cy="1798955"/>
          </a:xfrm>
          <a:custGeom>
            <a:avLst/>
            <a:gdLst/>
            <a:ahLst/>
            <a:cxnLst/>
            <a:rect l="l" t="t" r="r" b="b"/>
            <a:pathLst>
              <a:path w="715645" h="1798954">
                <a:moveTo>
                  <a:pt x="0" y="1798499"/>
                </a:moveTo>
                <a:lnTo>
                  <a:pt x="715120" y="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70743" y="3910182"/>
            <a:ext cx="485140" cy="866140"/>
          </a:xfrm>
          <a:custGeom>
            <a:avLst/>
            <a:gdLst/>
            <a:ahLst/>
            <a:cxnLst/>
            <a:rect l="l" t="t" r="r" b="b"/>
            <a:pathLst>
              <a:path w="485140" h="866139">
                <a:moveTo>
                  <a:pt x="0" y="0"/>
                </a:moveTo>
                <a:lnTo>
                  <a:pt x="484907" y="865630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55623" y="5036802"/>
            <a:ext cx="1200150" cy="780415"/>
          </a:xfrm>
          <a:custGeom>
            <a:avLst/>
            <a:gdLst/>
            <a:ahLst/>
            <a:cxnLst/>
            <a:rect l="l" t="t" r="r" b="b"/>
            <a:pathLst>
              <a:path w="1200150" h="780414">
                <a:moveTo>
                  <a:pt x="1200027" y="0"/>
                </a:moveTo>
                <a:lnTo>
                  <a:pt x="0" y="77998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168" y="368808"/>
            <a:ext cx="4959096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22284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/>
              <a:t>All </a:t>
            </a:r>
            <a:r>
              <a:rPr dirty="0" sz="2600" spc="-15"/>
              <a:t>scores stabilize after </a:t>
            </a:r>
            <a:r>
              <a:rPr dirty="0" sz="2600"/>
              <a:t>4 </a:t>
            </a:r>
            <a:r>
              <a:rPr dirty="0" sz="2600" spc="-15"/>
              <a:t>iterations. </a:t>
            </a:r>
            <a:r>
              <a:rPr dirty="0" sz="2600" spc="-50"/>
              <a:t>We </a:t>
            </a:r>
            <a:r>
              <a:rPr dirty="0" sz="2600" spc="-20"/>
              <a:t>therefore</a:t>
            </a:r>
            <a:r>
              <a:rPr dirty="0" sz="2600" spc="110"/>
              <a:t> </a:t>
            </a:r>
            <a:r>
              <a:rPr dirty="0" sz="2600" spc="-10"/>
              <a:t>predict:</a:t>
            </a:r>
            <a:endParaRPr sz="2600"/>
          </a:p>
        </p:txBody>
      </p:sp>
      <p:sp>
        <p:nvSpPr>
          <p:cNvPr id="18" name="object 18"/>
          <p:cNvSpPr/>
          <p:nvPr/>
        </p:nvSpPr>
        <p:spPr>
          <a:xfrm>
            <a:off x="3546154" y="531476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1"/>
                </a:lnTo>
                <a:lnTo>
                  <a:pt x="53564" y="315041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4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1"/>
                </a:lnTo>
                <a:lnTo>
                  <a:pt x="340791" y="277691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46154" y="5314763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84356" y="539815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84356" y="539815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02942" y="5435091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39710" y="373197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39710" y="373197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9692" y="459503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9692" y="459503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83853" y="383993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83853" y="383993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402439" y="3877564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43427" y="576273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43427" y="576273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02086" y="47217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802086" y="472175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920672" y="4758435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20195" y="3201574"/>
            <a:ext cx="1047750" cy="83566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900" spc="-60">
                <a:latin typeface="Cambria Math"/>
                <a:cs typeface="Cambria Math"/>
              </a:rPr>
              <a:t>𝑃(𝑌</a:t>
            </a:r>
            <a:r>
              <a:rPr dirty="0" baseline="-15873" sz="2100" spc="-89">
                <a:latin typeface="Cambria Math"/>
                <a:cs typeface="Cambria Math"/>
              </a:rPr>
              <a:t>#</a:t>
            </a:r>
            <a:r>
              <a:rPr dirty="0" sz="1900" spc="-60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6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 marR="34925">
              <a:lnSpc>
                <a:spcPct val="100000"/>
              </a:lnSpc>
              <a:spcBef>
                <a:spcPts val="990"/>
              </a:spcBef>
            </a:pPr>
            <a:r>
              <a:rPr dirty="0" sz="160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02509" y="5223175"/>
            <a:ext cx="1047750" cy="842644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120"/>
              </a:spcBef>
            </a:pPr>
            <a:r>
              <a:rPr dirty="0" sz="160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900" spc="-30">
                <a:latin typeface="Cambria Math"/>
                <a:cs typeface="Cambria Math"/>
              </a:rPr>
              <a:t>𝑃(𝑌</a:t>
            </a:r>
            <a:r>
              <a:rPr dirty="0" baseline="-15873" sz="2100" spc="-44">
                <a:latin typeface="Cambria Math"/>
                <a:cs typeface="Cambria Math"/>
              </a:rPr>
              <a:t>$</a:t>
            </a:r>
            <a:r>
              <a:rPr dirty="0" sz="1900" spc="-3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24278" y="5684065"/>
            <a:ext cx="1047750" cy="814705"/>
          </a:xfrm>
          <a:prstGeom prst="rect">
            <a:avLst/>
          </a:prstGeom>
        </p:spPr>
        <p:txBody>
          <a:bodyPr wrap="square" lIns="0" tIns="12954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1020"/>
              </a:spcBef>
            </a:pP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dirty="0" sz="1900" spc="-135">
                <a:latin typeface="Cambria Math"/>
                <a:cs typeface="Cambria Math"/>
              </a:rPr>
              <a:t>𝑃(𝑌</a:t>
            </a:r>
            <a:r>
              <a:rPr dirty="0" baseline="-15873" sz="2100" spc="-202">
                <a:latin typeface="Cambria Math"/>
                <a:cs typeface="Cambria Math"/>
              </a:rPr>
              <a:t>%</a:t>
            </a:r>
            <a:r>
              <a:rPr dirty="0" sz="1900" spc="-135">
                <a:latin typeface="Cambria Math"/>
                <a:cs typeface="Cambria Math"/>
              </a:rPr>
              <a:t>) 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-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86656" y="3585972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5">
                <a:latin typeface="Cambria Math"/>
                <a:cs typeface="Cambria Math"/>
              </a:rPr>
              <a:t>(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5024" y="3473703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54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0.86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20823" y="3360420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50">
                <a:latin typeface="Cambria Math"/>
                <a:cs typeface="Cambria Math"/>
              </a:rPr>
              <a:t>"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59189" y="3248151"/>
            <a:ext cx="13633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54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0.16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662889" y="444606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62889" y="444606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058548" y="359514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58548" y="359514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0" y="184547"/>
                </a:moveTo>
                <a:lnTo>
                  <a:pt x="6532" y="135487"/>
                </a:lnTo>
                <a:lnTo>
                  <a:pt x="24968" y="91402"/>
                </a:lnTo>
                <a:lnTo>
                  <a:pt x="53564" y="54052"/>
                </a:lnTo>
                <a:lnTo>
                  <a:pt x="90576" y="25196"/>
                </a:lnTo>
                <a:lnTo>
                  <a:pt x="134263" y="6592"/>
                </a:lnTo>
                <a:lnTo>
                  <a:pt x="182880" y="0"/>
                </a:lnTo>
                <a:lnTo>
                  <a:pt x="231496" y="6592"/>
                </a:lnTo>
                <a:lnTo>
                  <a:pt x="275183" y="25196"/>
                </a:lnTo>
                <a:lnTo>
                  <a:pt x="312195" y="54052"/>
                </a:lnTo>
                <a:lnTo>
                  <a:pt x="340791" y="91402"/>
                </a:lnTo>
                <a:lnTo>
                  <a:pt x="359227" y="135487"/>
                </a:lnTo>
                <a:lnTo>
                  <a:pt x="365760" y="184547"/>
                </a:lnTo>
                <a:lnTo>
                  <a:pt x="359227" y="233607"/>
                </a:lnTo>
                <a:lnTo>
                  <a:pt x="340791" y="277692"/>
                </a:lnTo>
                <a:lnTo>
                  <a:pt x="312195" y="315042"/>
                </a:lnTo>
                <a:lnTo>
                  <a:pt x="275183" y="343898"/>
                </a:lnTo>
                <a:lnTo>
                  <a:pt x="231496" y="362502"/>
                </a:lnTo>
                <a:lnTo>
                  <a:pt x="182880" y="369095"/>
                </a:lnTo>
                <a:lnTo>
                  <a:pt x="134263" y="362502"/>
                </a:lnTo>
                <a:lnTo>
                  <a:pt x="90576" y="343898"/>
                </a:lnTo>
                <a:lnTo>
                  <a:pt x="53564" y="315042"/>
                </a:lnTo>
                <a:lnTo>
                  <a:pt x="24968" y="277692"/>
                </a:lnTo>
                <a:lnTo>
                  <a:pt x="6532" y="233607"/>
                </a:lnTo>
                <a:lnTo>
                  <a:pt x="0" y="18454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177133" y="3633723"/>
            <a:ext cx="1289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47" name="object 47"/>
          <p:cNvSpPr txBox="1"/>
          <p:nvPr/>
        </p:nvSpPr>
        <p:spPr>
          <a:xfrm>
            <a:off x="8216178" y="5277611"/>
            <a:ext cx="1289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5">
                <a:latin typeface="Cambria Math"/>
                <a:cs typeface="Cambria Math"/>
              </a:rPr>
              <a:t>&amp;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60134" y="5165344"/>
            <a:ext cx="10420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5">
                <a:latin typeface="Cambria Math"/>
                <a:cs typeface="Cambria Math"/>
              </a:rPr>
              <a:t>𝑃(𝑌 </a:t>
            </a:r>
            <a:r>
              <a:rPr dirty="0" sz="1900">
                <a:latin typeface="Cambria Math"/>
                <a:cs typeface="Cambria Math"/>
              </a:rPr>
              <a:t>) =</a:t>
            </a:r>
            <a:r>
              <a:rPr dirty="0" sz="1900" spc="21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0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3804" y="4552615"/>
            <a:ext cx="1219200" cy="11176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735"/>
              </a:spcBef>
            </a:pPr>
            <a:r>
              <a:rPr dirty="0" sz="1600">
                <a:latin typeface="Calibri"/>
                <a:cs typeface="Calibri"/>
              </a:rPr>
              <a:t>9</a:t>
            </a:r>
            <a:endParaRPr sz="1600">
              <a:latin typeface="Calibri"/>
              <a:cs typeface="Calibri"/>
            </a:endParaRPr>
          </a:p>
          <a:p>
            <a:pPr algn="ctr" marL="33655">
              <a:lnSpc>
                <a:spcPct val="100000"/>
              </a:lnSpc>
              <a:spcBef>
                <a:spcPts val="755"/>
              </a:spcBef>
            </a:pPr>
            <a:r>
              <a:rPr dirty="0" sz="1900" spc="-15">
                <a:latin typeface="Cambria Math"/>
                <a:cs typeface="Cambria Math"/>
              </a:rPr>
              <a:t>𝑃(𝑌</a:t>
            </a:r>
            <a:r>
              <a:rPr dirty="0" baseline="-15873" sz="2100" spc="-22">
                <a:latin typeface="Cambria Math"/>
                <a:cs typeface="Cambria Math"/>
              </a:rPr>
              <a:t>*</a:t>
            </a:r>
            <a:r>
              <a:rPr dirty="0" sz="1900" spc="-1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68756" y="5657398"/>
            <a:ext cx="1363345" cy="85979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1900" spc="40">
                <a:latin typeface="Cambria Math"/>
                <a:cs typeface="Cambria Math"/>
              </a:rPr>
              <a:t>𝑃(𝑌</a:t>
            </a:r>
            <a:r>
              <a:rPr dirty="0" baseline="-15873" sz="2100" spc="60">
                <a:latin typeface="Cambria Math"/>
                <a:cs typeface="Cambria Math"/>
              </a:rPr>
              <a:t>'</a:t>
            </a:r>
            <a:r>
              <a:rPr dirty="0" sz="1900" spc="40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0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0.95</a:t>
            </a:r>
            <a:endParaRPr sz="1900">
              <a:latin typeface="Cambria Math"/>
              <a:cs typeface="Cambria Math"/>
            </a:endParaRPr>
          </a:p>
          <a:p>
            <a:pPr algn="ctr" marR="4445">
              <a:lnSpc>
                <a:spcPct val="100000"/>
              </a:lnSpc>
              <a:spcBef>
                <a:spcPts val="103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63531" y="4484116"/>
            <a:ext cx="1363345" cy="109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75"/>
              </a:spcBef>
            </a:pPr>
            <a:r>
              <a:rPr dirty="0" sz="1900" spc="-5">
                <a:latin typeface="Cambria Math"/>
                <a:cs typeface="Cambria Math"/>
              </a:rPr>
              <a:t>𝑃(𝑌</a:t>
            </a:r>
            <a:r>
              <a:rPr dirty="0" baseline="-15873" sz="2100" spc="-7">
                <a:latin typeface="Cambria Math"/>
                <a:cs typeface="Cambria Math"/>
              </a:rPr>
              <a:t>)</a:t>
            </a:r>
            <a:r>
              <a:rPr dirty="0" sz="1900" spc="-5">
                <a:latin typeface="Cambria Math"/>
                <a:cs typeface="Cambria Math"/>
              </a:rPr>
              <a:t>) </a:t>
            </a:r>
            <a:r>
              <a:rPr dirty="0" sz="1900">
                <a:latin typeface="Cambria Math"/>
                <a:cs typeface="Cambria Math"/>
              </a:rPr>
              <a:t>=</a:t>
            </a:r>
            <a:r>
              <a:rPr dirty="0" sz="1900" spc="150">
                <a:latin typeface="Cambria Math"/>
                <a:cs typeface="Cambria Math"/>
              </a:rPr>
              <a:t> </a:t>
            </a:r>
            <a:r>
              <a:rPr dirty="0" sz="1900" spc="-5">
                <a:latin typeface="Cambria Math"/>
                <a:cs typeface="Cambria Math"/>
              </a:rPr>
              <a:t>0.51</a:t>
            </a:r>
            <a:endParaRPr sz="1900">
              <a:latin typeface="Cambria Math"/>
              <a:cs typeface="Cambria Math"/>
            </a:endParaRPr>
          </a:p>
          <a:p>
            <a:pPr algn="ctr" marR="33655">
              <a:lnSpc>
                <a:spcPct val="100000"/>
              </a:lnSpc>
              <a:spcBef>
                <a:spcPts val="555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56563" y="1715516"/>
            <a:ext cx="6867525" cy="166560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Nodes 4, 5, 8, </a:t>
            </a:r>
            <a:r>
              <a:rPr dirty="0" sz="2400" b="1">
                <a:solidFill>
                  <a:srgbClr val="008000"/>
                </a:solidFill>
                <a:latin typeface="Calibri"/>
                <a:cs typeface="Calibri"/>
              </a:rPr>
              <a:t>9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belong </a:t>
            </a: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class </a:t>
            </a:r>
            <a:r>
              <a:rPr dirty="0" sz="2400" b="1">
                <a:solidFill>
                  <a:srgbClr val="008000"/>
                </a:solidFill>
                <a:latin typeface="Calibri"/>
                <a:cs typeface="Calibri"/>
              </a:rPr>
              <a:t>1 </a:t>
            </a:r>
            <a:r>
              <a:rPr dirty="0" sz="2400" spc="-235">
                <a:latin typeface="Calibri"/>
                <a:cs typeface="Calibri"/>
              </a:rPr>
              <a:t>(</a:t>
            </a:r>
            <a:r>
              <a:rPr dirty="0" sz="2400" spc="-235">
                <a:latin typeface="Cambria Math"/>
                <a:cs typeface="Cambria Math"/>
              </a:rPr>
              <a:t>𝑃</a:t>
            </a:r>
            <a:r>
              <a:rPr dirty="0" baseline="-15432" sz="2700" spc="-352">
                <a:latin typeface="Cambria Math"/>
                <a:cs typeface="Cambria Math"/>
              </a:rPr>
              <a:t>&amp;</a:t>
            </a:r>
            <a:r>
              <a:rPr dirty="0" baseline="-33730" sz="2100" spc="-352">
                <a:latin typeface="Cambria Math"/>
                <a:cs typeface="Cambria Math"/>
              </a:rPr>
              <a:t>+     </a:t>
            </a:r>
            <a:r>
              <a:rPr dirty="0" baseline="-33730" sz="2100" spc="-2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&gt;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0.5</a:t>
            </a:r>
            <a:r>
              <a:rPr dirty="0" sz="2400" spc="-5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Nodes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3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belong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class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0 </a:t>
            </a:r>
            <a:r>
              <a:rPr dirty="0" sz="2400" spc="-235">
                <a:latin typeface="Calibri"/>
                <a:cs typeface="Calibri"/>
              </a:rPr>
              <a:t>(</a:t>
            </a:r>
            <a:r>
              <a:rPr dirty="0" sz="2400" spc="-235">
                <a:latin typeface="Cambria Math"/>
                <a:cs typeface="Cambria Math"/>
              </a:rPr>
              <a:t>𝑃</a:t>
            </a:r>
            <a:r>
              <a:rPr dirty="0" baseline="-15432" sz="2700" spc="-352">
                <a:latin typeface="Cambria Math"/>
                <a:cs typeface="Cambria Math"/>
              </a:rPr>
              <a:t>&amp;</a:t>
            </a:r>
            <a:r>
              <a:rPr dirty="0" baseline="-33730" sz="2100" spc="-352">
                <a:latin typeface="Cambria Math"/>
                <a:cs typeface="Cambria Math"/>
              </a:rPr>
              <a:t>+     </a:t>
            </a:r>
            <a:r>
              <a:rPr dirty="0" baseline="-33730" sz="2100" spc="-2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&lt;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0.5</a:t>
            </a:r>
            <a:r>
              <a:rPr dirty="0" sz="2400" spc="-5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algn="r" marR="5080">
              <a:lnSpc>
                <a:spcPts val="1930"/>
              </a:lnSpc>
              <a:spcBef>
                <a:spcPts val="1465"/>
              </a:spcBef>
            </a:pP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Con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ve</a:t>
            </a: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rg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algn="ctr" marL="173990">
              <a:lnSpc>
                <a:spcPts val="1930"/>
              </a:lnSpc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Converged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64743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4456430" cy="247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Relational</a:t>
            </a:r>
            <a:r>
              <a:rPr dirty="0" sz="3200" spc="-7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classifiers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Iterative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A6A6A6"/>
                </a:solidFill>
                <a:latin typeface="Calibri"/>
                <a:cs typeface="Calibri"/>
              </a:rPr>
              <a:t>Loopy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belief</a:t>
            </a:r>
            <a:r>
              <a:rPr dirty="0" sz="3200" spc="-7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A6A6A6"/>
                </a:solidFill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38886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72540"/>
            <a:ext cx="7660005" cy="29514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8102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Relational classifiers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do not use node  </a:t>
            </a:r>
            <a:r>
              <a:rPr dirty="0" sz="3200" spc="-15" b="1">
                <a:solidFill>
                  <a:srgbClr val="FF0000"/>
                </a:solidFill>
                <a:latin typeface="Calibri"/>
                <a:cs typeface="Calibri"/>
              </a:rPr>
              <a:t>attributes</a:t>
            </a:r>
            <a:r>
              <a:rPr dirty="0" sz="3200" spc="-15" b="1">
                <a:latin typeface="Calibri"/>
                <a:cs typeface="Calibri"/>
              </a:rPr>
              <a:t>. </a:t>
            </a: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0" b="1">
                <a:latin typeface="Calibri"/>
                <a:cs typeface="Calibri"/>
              </a:rPr>
              <a:t>can </a:t>
            </a:r>
            <a:r>
              <a:rPr dirty="0" sz="3200" spc="-5" b="1">
                <a:latin typeface="Calibri"/>
                <a:cs typeface="Calibri"/>
              </a:rPr>
              <a:t>one </a:t>
            </a:r>
            <a:r>
              <a:rPr dirty="0" sz="3200" spc="-25" b="1">
                <a:latin typeface="Calibri"/>
                <a:cs typeface="Calibri"/>
              </a:rPr>
              <a:t>leverage</a:t>
            </a:r>
            <a:r>
              <a:rPr dirty="0" sz="3200" spc="3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them?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Font typeface="Arial"/>
              <a:buChar char="▪"/>
            </a:pPr>
            <a:endParaRPr sz="320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2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Main idea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3200" spc="-25" b="1">
                <a:solidFill>
                  <a:srgbClr val="008000"/>
                </a:solidFill>
                <a:latin typeface="Calibri"/>
                <a:cs typeface="Calibri"/>
              </a:rPr>
              <a:t>iterative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classification: </a:t>
            </a:r>
            <a:r>
              <a:rPr dirty="0" sz="3200" spc="-5">
                <a:latin typeface="Calibri"/>
                <a:cs typeface="Calibri"/>
              </a:rPr>
              <a:t>Classify  node </a:t>
            </a:r>
            <a:r>
              <a:rPr dirty="0" sz="3200">
                <a:latin typeface="Cambria Math"/>
                <a:cs typeface="Cambria Math"/>
              </a:rPr>
              <a:t>𝑣 </a:t>
            </a:r>
            <a:r>
              <a:rPr dirty="0" sz="3200" spc="-5">
                <a:latin typeface="Calibri"/>
                <a:cs typeface="Calibri"/>
              </a:rPr>
              <a:t>based on </a:t>
            </a:r>
            <a:r>
              <a:rPr dirty="0" sz="3200">
                <a:latin typeface="Calibri"/>
                <a:cs typeface="Calibri"/>
              </a:rPr>
              <a:t>its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attributes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𝒇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𝒗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as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well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as 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labels </a:t>
            </a: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𝒛</a:t>
            </a:r>
            <a:r>
              <a:rPr dirty="0" baseline="-15700" sz="3450" spc="-7">
                <a:solidFill>
                  <a:srgbClr val="0000FF"/>
                </a:solidFill>
                <a:latin typeface="Cambria Math"/>
                <a:cs typeface="Cambria Math"/>
              </a:rPr>
              <a:t>𝒗 </a:t>
            </a:r>
            <a:r>
              <a:rPr dirty="0" sz="3200" spc="-5">
                <a:latin typeface="Calibri"/>
                <a:cs typeface="Calibri"/>
              </a:rPr>
              <a:t>of neighbor </a:t>
            </a:r>
            <a:r>
              <a:rPr dirty="0" sz="3200" spc="-10">
                <a:latin typeface="Calibri"/>
                <a:cs typeface="Calibri"/>
              </a:rPr>
              <a:t>set</a:t>
            </a:r>
            <a:r>
              <a:rPr dirty="0" sz="3200" spc="11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𝑵</a:t>
            </a:r>
            <a:r>
              <a:rPr dirty="0" baseline="-15700" sz="3450">
                <a:latin typeface="Cambria Math"/>
                <a:cs typeface="Cambria Math"/>
              </a:rPr>
              <a:t>𝒗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38886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4828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Input: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Graph</a:t>
            </a:r>
          </a:p>
        </p:txBody>
      </p:sp>
      <p:sp>
        <p:nvSpPr>
          <p:cNvPr id="4" name="object 4"/>
          <p:cNvSpPr/>
          <p:nvPr/>
        </p:nvSpPr>
        <p:spPr>
          <a:xfrm>
            <a:off x="1452721" y="4930672"/>
            <a:ext cx="1134745" cy="376555"/>
          </a:xfrm>
          <a:custGeom>
            <a:avLst/>
            <a:gdLst/>
            <a:ahLst/>
            <a:cxnLst/>
            <a:rect l="l" t="t" r="r" b="b"/>
            <a:pathLst>
              <a:path w="1134745" h="376554">
                <a:moveTo>
                  <a:pt x="1014578" y="0"/>
                </a:moveTo>
                <a:lnTo>
                  <a:pt x="1009220" y="15279"/>
                </a:lnTo>
                <a:lnTo>
                  <a:pt x="1031011" y="24736"/>
                </a:lnTo>
                <a:lnTo>
                  <a:pt x="1049751" y="37826"/>
                </a:lnTo>
                <a:lnTo>
                  <a:pt x="1078078" y="74909"/>
                </a:lnTo>
                <a:lnTo>
                  <a:pt x="1094747" y="124940"/>
                </a:lnTo>
                <a:lnTo>
                  <a:pt x="1100303" y="186331"/>
                </a:lnTo>
                <a:lnTo>
                  <a:pt x="1098908" y="219533"/>
                </a:lnTo>
                <a:lnTo>
                  <a:pt x="1087746" y="276782"/>
                </a:lnTo>
                <a:lnTo>
                  <a:pt x="1065347" y="321493"/>
                </a:lnTo>
                <a:lnTo>
                  <a:pt x="1031266" y="351655"/>
                </a:lnTo>
                <a:lnTo>
                  <a:pt x="1009816" y="361156"/>
                </a:lnTo>
                <a:lnTo>
                  <a:pt x="1014578" y="376435"/>
                </a:lnTo>
                <a:lnTo>
                  <a:pt x="1065924" y="352349"/>
                </a:lnTo>
                <a:lnTo>
                  <a:pt x="1103676" y="310653"/>
                </a:lnTo>
                <a:lnTo>
                  <a:pt x="1126894" y="254818"/>
                </a:lnTo>
                <a:lnTo>
                  <a:pt x="1134633" y="188316"/>
                </a:lnTo>
                <a:lnTo>
                  <a:pt x="1132692" y="153807"/>
                </a:lnTo>
                <a:lnTo>
                  <a:pt x="1117164" y="92638"/>
                </a:lnTo>
                <a:lnTo>
                  <a:pt x="1086369" y="42843"/>
                </a:lnTo>
                <a:lnTo>
                  <a:pt x="1041870" y="9853"/>
                </a:lnTo>
                <a:lnTo>
                  <a:pt x="1014578" y="0"/>
                </a:lnTo>
                <a:close/>
              </a:path>
              <a:path w="1134745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26259"/>
            <a:ext cx="8277859" cy="44678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mbria Math"/>
                <a:cs typeface="Cambria Math"/>
              </a:rPr>
              <a:t>𝑓</a:t>
            </a:r>
            <a:r>
              <a:rPr dirty="0" baseline="-16666" sz="3000">
                <a:latin typeface="Cambria Math"/>
                <a:cs typeface="Cambria Math"/>
              </a:rPr>
              <a:t>!  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 spc="-15">
                <a:latin typeface="Calibri"/>
                <a:cs typeface="Calibri"/>
              </a:rPr>
              <a:t>vector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27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625475" indent="-274320">
              <a:lnSpc>
                <a:spcPts val="3329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Some nodes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labeled </a:t>
            </a:r>
            <a:r>
              <a:rPr dirty="0" sz="2800" spc="-5">
                <a:latin typeface="Calibri"/>
                <a:cs typeface="Calibri"/>
              </a:rPr>
              <a:t>with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40">
                <a:latin typeface="Cambria Math"/>
                <a:cs typeface="Cambria Math"/>
              </a:rPr>
              <a:t>𝑌</a:t>
            </a:r>
            <a:r>
              <a:rPr dirty="0" baseline="-15277" sz="3000" spc="60">
                <a:latin typeface="Cambria Math"/>
                <a:cs typeface="Cambria Math"/>
              </a:rPr>
              <a:t>!</a:t>
            </a:r>
            <a:endParaRPr baseline="-15277" sz="3000">
              <a:latin typeface="Cambria Math"/>
              <a:cs typeface="Cambria Math"/>
            </a:endParaRPr>
          </a:p>
          <a:p>
            <a:pPr marL="332740" indent="-320040">
              <a:lnSpc>
                <a:spcPts val="378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 b="1">
                <a:latin typeface="Calibri"/>
                <a:cs typeface="Calibri"/>
              </a:rPr>
              <a:t>Task: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5">
                <a:latin typeface="Calibri"/>
                <a:cs typeface="Calibri"/>
              </a:rPr>
              <a:t>label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unlabeled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B0F0"/>
                </a:solidFill>
                <a:latin typeface="Calibri"/>
                <a:cs typeface="Calibri"/>
              </a:rPr>
              <a:t>Approach: </a:t>
            </a:r>
            <a:r>
              <a:rPr dirty="0" sz="3200" spc="-50" b="1">
                <a:solidFill>
                  <a:srgbClr val="00B0F0"/>
                </a:solidFill>
                <a:latin typeface="Calibri"/>
                <a:cs typeface="Calibri"/>
              </a:rPr>
              <a:t>Train </a:t>
            </a:r>
            <a:r>
              <a:rPr dirty="0" sz="3200" spc="-10" b="1">
                <a:solidFill>
                  <a:srgbClr val="00B0F0"/>
                </a:solidFill>
                <a:latin typeface="Calibri"/>
                <a:cs typeface="Calibri"/>
              </a:rPr>
              <a:t>two</a:t>
            </a:r>
            <a:r>
              <a:rPr dirty="0" sz="3200" spc="30" b="1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B0F0"/>
                </a:solidFill>
                <a:latin typeface="Calibri"/>
                <a:cs typeface="Calibri"/>
              </a:rPr>
              <a:t>classifiers:</a:t>
            </a:r>
            <a:endParaRPr sz="3200">
              <a:latin typeface="Calibri"/>
              <a:cs typeface="Calibri"/>
            </a:endParaRPr>
          </a:p>
          <a:p>
            <a:pPr marL="332740" marR="896619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30">
                <a:solidFill>
                  <a:srgbClr val="D60093"/>
                </a:solidFill>
                <a:latin typeface="Cambria Math"/>
                <a:cs typeface="Cambria Math"/>
              </a:rPr>
              <a:t>𝜙</a:t>
            </a:r>
            <a:r>
              <a:rPr dirty="0" baseline="-15700" sz="3450" spc="-195">
                <a:solidFill>
                  <a:srgbClr val="D60093"/>
                </a:solidFill>
                <a:latin typeface="Cambria Math"/>
                <a:cs typeface="Cambria Math"/>
              </a:rPr>
              <a:t>%</a:t>
            </a:r>
            <a:r>
              <a:rPr dirty="0" sz="3200" spc="-130">
                <a:solidFill>
                  <a:srgbClr val="D60093"/>
                </a:solidFill>
                <a:latin typeface="Cambria Math"/>
                <a:cs typeface="Cambria Math"/>
              </a:rPr>
              <a:t>(𝑓</a:t>
            </a:r>
            <a:r>
              <a:rPr dirty="0" baseline="-15700" sz="3450" spc="-195">
                <a:solidFill>
                  <a:srgbClr val="D60093"/>
                </a:solidFill>
                <a:latin typeface="Cambria Math"/>
                <a:cs typeface="Cambria Math"/>
              </a:rPr>
              <a:t>"</a:t>
            </a:r>
            <a:r>
              <a:rPr dirty="0" sz="3200" spc="-130">
                <a:solidFill>
                  <a:srgbClr val="D60093"/>
                </a:solidFill>
                <a:latin typeface="Cambria Math"/>
                <a:cs typeface="Cambria Math"/>
              </a:rPr>
              <a:t>) </a:t>
            </a:r>
            <a:r>
              <a:rPr dirty="0" sz="3200">
                <a:solidFill>
                  <a:srgbClr val="D60093"/>
                </a:solidFill>
                <a:latin typeface="Calibri"/>
                <a:cs typeface="Calibri"/>
              </a:rPr>
              <a:t>=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>
                <a:latin typeface="Calibri"/>
                <a:cs typeface="Calibri"/>
              </a:rPr>
              <a:t>node </a:t>
            </a:r>
            <a:r>
              <a:rPr dirty="0" sz="3200" spc="-5">
                <a:latin typeface="Calibri"/>
                <a:cs typeface="Calibri"/>
              </a:rPr>
              <a:t>label based </a:t>
            </a:r>
            <a:r>
              <a:rPr dirty="0" sz="3200">
                <a:latin typeface="Calibri"/>
                <a:cs typeface="Calibri"/>
              </a:rPr>
              <a:t>on node  </a:t>
            </a:r>
            <a:r>
              <a:rPr dirty="0" sz="3200" spc="-25">
                <a:latin typeface="Calibri"/>
                <a:cs typeface="Calibri"/>
              </a:rPr>
              <a:t>feature </a:t>
            </a:r>
            <a:r>
              <a:rPr dirty="0" sz="3200" spc="-15">
                <a:latin typeface="Calibri"/>
                <a:cs typeface="Calibri"/>
              </a:rPr>
              <a:t>vector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14">
                <a:latin typeface="Cambria Math"/>
                <a:cs typeface="Cambria Math"/>
              </a:rPr>
              <a:t>𝑓</a:t>
            </a:r>
            <a:r>
              <a:rPr dirty="0" baseline="-15700" sz="3450" spc="-172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  <a:p>
            <a:pPr marL="332740" indent="-320040">
              <a:lnSpc>
                <a:spcPts val="376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967105" algn="l"/>
                <a:tab pos="2096770" algn="l"/>
              </a:tabLst>
            </a:pPr>
            <a:r>
              <a:rPr dirty="0" sz="3200" spc="385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5700" sz="3450" spc="577">
                <a:solidFill>
                  <a:srgbClr val="0000FF"/>
                </a:solidFill>
                <a:latin typeface="Cambria Math"/>
                <a:cs typeface="Cambria Math"/>
              </a:rPr>
              <a:t>'	</a:t>
            </a:r>
            <a:r>
              <a:rPr dirty="0" sz="3200" spc="-30">
                <a:solidFill>
                  <a:srgbClr val="0000FF"/>
                </a:solidFill>
                <a:latin typeface="Cambria Math"/>
                <a:cs typeface="Cambria Math"/>
              </a:rPr>
              <a:t>𝑓</a:t>
            </a:r>
            <a:r>
              <a:rPr dirty="0" baseline="-15700" sz="3450" spc="-44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r>
              <a:rPr dirty="0" sz="3200" spc="-3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200" spc="-1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155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5700" sz="3450" spc="232">
                <a:solidFill>
                  <a:srgbClr val="0000FF"/>
                </a:solidFill>
                <a:latin typeface="Cambria Math"/>
                <a:cs typeface="Cambria Math"/>
              </a:rPr>
              <a:t>"	</a:t>
            </a:r>
            <a:r>
              <a:rPr dirty="0" sz="3200">
                <a:latin typeface="Calibri"/>
                <a:cs typeface="Calibri"/>
              </a:rPr>
              <a:t>=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5">
                <a:latin typeface="Calibri"/>
                <a:cs typeface="Calibri"/>
              </a:rPr>
              <a:t>label based on node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feature</a:t>
            </a:r>
            <a:endParaRPr sz="3200">
              <a:latin typeface="Calibri"/>
              <a:cs typeface="Calibri"/>
            </a:endParaRPr>
          </a:p>
          <a:p>
            <a:pPr marL="332740" marR="1193800">
              <a:lnSpc>
                <a:spcPts val="3790"/>
              </a:lnSpc>
              <a:spcBef>
                <a:spcPts val="155"/>
              </a:spcBef>
            </a:pPr>
            <a:r>
              <a:rPr dirty="0" sz="3200" spc="-15">
                <a:latin typeface="Calibri"/>
                <a:cs typeface="Calibri"/>
              </a:rPr>
              <a:t>vector </a:t>
            </a:r>
            <a:r>
              <a:rPr dirty="0" sz="3200" spc="-114">
                <a:latin typeface="Cambria Math"/>
                <a:cs typeface="Cambria Math"/>
              </a:rPr>
              <a:t>𝑓</a:t>
            </a:r>
            <a:r>
              <a:rPr dirty="0" baseline="-15700" sz="3450" spc="-172">
                <a:latin typeface="Cambria Math"/>
                <a:cs typeface="Cambria Math"/>
              </a:rPr>
              <a:t>" </a:t>
            </a:r>
            <a:r>
              <a:rPr dirty="0" sz="3200">
                <a:latin typeface="Calibri"/>
                <a:cs typeface="Calibri"/>
              </a:rPr>
              <a:t>and summary </a:t>
            </a:r>
            <a:r>
              <a:rPr dirty="0" sz="3200" spc="155">
                <a:latin typeface="Cambria Math"/>
                <a:cs typeface="Cambria Math"/>
              </a:rPr>
              <a:t>𝑧</a:t>
            </a:r>
            <a:r>
              <a:rPr dirty="0" baseline="-15700" sz="3450" spc="232">
                <a:latin typeface="Cambria Math"/>
                <a:cs typeface="Cambria Math"/>
              </a:rPr>
              <a:t>" </a:t>
            </a:r>
            <a:r>
              <a:rPr dirty="0" sz="3200" spc="-5">
                <a:latin typeface="Calibri"/>
                <a:cs typeface="Calibri"/>
              </a:rPr>
              <a:t>of labels of </a:t>
            </a:r>
            <a:r>
              <a:rPr dirty="0" sz="3200" spc="-105">
                <a:latin typeface="Cambria Math"/>
                <a:cs typeface="Cambria Math"/>
              </a:rPr>
              <a:t>𝑣</a:t>
            </a:r>
            <a:r>
              <a:rPr dirty="0" sz="3200" spc="-105">
                <a:latin typeface="Calibri"/>
                <a:cs typeface="Calibri"/>
              </a:rPr>
              <a:t>’s  </a:t>
            </a:r>
            <a:r>
              <a:rPr dirty="0" sz="3200" spc="-10">
                <a:latin typeface="Calibri"/>
                <a:cs typeface="Calibri"/>
              </a:rPr>
              <a:t>neighbors.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8000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0132"/>
            <a:ext cx="7771765" cy="891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10"/>
              </a:lnSpc>
              <a:spcBef>
                <a:spcPts val="100"/>
              </a:spcBef>
            </a:pP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How </a:t>
            </a:r>
            <a:r>
              <a:rPr dirty="0" sz="3000" b="1">
                <a:solidFill>
                  <a:srgbClr val="60B5CC"/>
                </a:solidFill>
                <a:latin typeface="Calibri"/>
                <a:cs typeface="Calibri"/>
              </a:rPr>
              <a:t>do </a:t>
            </a:r>
            <a:r>
              <a:rPr dirty="0" sz="3000" spc="-15" b="1">
                <a:solidFill>
                  <a:srgbClr val="60B5CC"/>
                </a:solidFill>
                <a:latin typeface="Calibri"/>
                <a:cs typeface="Calibri"/>
              </a:rPr>
              <a:t>we compute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the summary </a:t>
            </a:r>
            <a:r>
              <a:rPr dirty="0" sz="3000">
                <a:solidFill>
                  <a:srgbClr val="60B5CC"/>
                </a:solidFill>
                <a:latin typeface="Cambria Math"/>
                <a:cs typeface="Cambria Math"/>
              </a:rPr>
              <a:t>𝒛</a:t>
            </a:r>
            <a:r>
              <a:rPr dirty="0" baseline="-15151" sz="3300">
                <a:solidFill>
                  <a:srgbClr val="60B5CC"/>
                </a:solidFill>
                <a:latin typeface="Cambria Math"/>
                <a:cs typeface="Cambria Math"/>
              </a:rPr>
              <a:t>𝒗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of labels</a:t>
            </a:r>
            <a:r>
              <a:rPr dirty="0" sz="3000" spc="10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of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ts val="3410"/>
              </a:lnSpc>
            </a:pPr>
            <a:r>
              <a:rPr dirty="0" sz="3000" spc="-60">
                <a:solidFill>
                  <a:srgbClr val="60B5CC"/>
                </a:solidFill>
                <a:latin typeface="Cambria Math"/>
                <a:cs typeface="Cambria Math"/>
              </a:rPr>
              <a:t>𝒗</a:t>
            </a:r>
            <a:r>
              <a:rPr dirty="0" sz="3000" spc="-60" b="1">
                <a:solidFill>
                  <a:srgbClr val="60B5CC"/>
                </a:solidFill>
                <a:latin typeface="Calibri"/>
                <a:cs typeface="Calibri"/>
              </a:rPr>
              <a:t>’s </a:t>
            </a:r>
            <a:r>
              <a:rPr dirty="0" sz="3000" spc="-5" b="1">
                <a:solidFill>
                  <a:srgbClr val="60B5CC"/>
                </a:solidFill>
                <a:latin typeface="Calibri"/>
                <a:cs typeface="Calibri"/>
              </a:rPr>
              <a:t>neighbors</a:t>
            </a:r>
            <a:r>
              <a:rPr dirty="0" sz="3000" spc="-3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000" spc="25">
                <a:solidFill>
                  <a:srgbClr val="60B5CC"/>
                </a:solidFill>
                <a:latin typeface="Cambria Math"/>
                <a:cs typeface="Cambria Math"/>
              </a:rPr>
              <a:t>𝑵</a:t>
            </a:r>
            <a:r>
              <a:rPr dirty="0" baseline="-15151" sz="3300" spc="37">
                <a:solidFill>
                  <a:srgbClr val="60B5CC"/>
                </a:solidFill>
                <a:latin typeface="Cambria Math"/>
                <a:cs typeface="Cambria Math"/>
              </a:rPr>
              <a:t>𝒗</a:t>
            </a:r>
            <a:r>
              <a:rPr dirty="0" sz="3000" spc="25" b="1">
                <a:solidFill>
                  <a:srgbClr val="60B5CC"/>
                </a:solidFill>
                <a:latin typeface="Calibri"/>
                <a:cs typeface="Calibri"/>
              </a:rPr>
              <a:t>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065332"/>
            <a:ext cx="7811770" cy="220789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56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Ideas: </a:t>
            </a:r>
            <a:r>
              <a:rPr dirty="0" sz="3000">
                <a:latin typeface="Cambria Math"/>
                <a:cs typeface="Cambria Math"/>
              </a:rPr>
              <a:t>𝒛</a:t>
            </a:r>
            <a:r>
              <a:rPr dirty="0" baseline="-15151" sz="3300">
                <a:latin typeface="Cambria Math"/>
                <a:cs typeface="Cambria Math"/>
              </a:rPr>
              <a:t>𝒗 </a:t>
            </a:r>
            <a:r>
              <a:rPr dirty="0" sz="3000" b="1">
                <a:latin typeface="Calibri"/>
                <a:cs typeface="Calibri"/>
              </a:rPr>
              <a:t>=</a:t>
            </a:r>
            <a:r>
              <a:rPr dirty="0" sz="3000" spc="15" b="1"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vector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2965"/>
              </a:lnSpc>
              <a:spcBef>
                <a:spcPts val="3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5">
                <a:latin typeface="Calibri"/>
                <a:cs typeface="Calibri"/>
              </a:rPr>
              <a:t>Histogram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number (or </a:t>
            </a:r>
            <a:r>
              <a:rPr dirty="0" sz="2600" spc="-10">
                <a:latin typeface="Calibri"/>
                <a:cs typeface="Calibri"/>
              </a:rPr>
              <a:t>fraction)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each label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425">
                <a:latin typeface="Calibri"/>
                <a:cs typeface="Calibri"/>
              </a:rPr>
              <a:t>in</a:t>
            </a:r>
            <a:endParaRPr sz="2600">
              <a:latin typeface="Calibri"/>
              <a:cs typeface="Calibri"/>
            </a:endParaRPr>
          </a:p>
          <a:p>
            <a:pPr marL="625475">
              <a:lnSpc>
                <a:spcPts val="2965"/>
              </a:lnSpc>
            </a:pPr>
            <a:r>
              <a:rPr dirty="0" sz="2600" spc="150">
                <a:latin typeface="Cambria Math"/>
                <a:cs typeface="Cambria Math"/>
              </a:rPr>
              <a:t>𝑁</a:t>
            </a:r>
            <a:r>
              <a:rPr dirty="0" baseline="-16081" sz="2850" spc="225">
                <a:latin typeface="Cambria Math"/>
                <a:cs typeface="Cambria Math"/>
              </a:rPr>
              <a:t>!</a:t>
            </a:r>
            <a:endParaRPr baseline="-16081" sz="285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Most common </a:t>
            </a:r>
            <a:r>
              <a:rPr dirty="0" sz="2600" spc="-5">
                <a:latin typeface="Calibri"/>
                <a:cs typeface="Calibri"/>
              </a:rPr>
              <a:t>label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150">
                <a:latin typeface="Cambria Math"/>
                <a:cs typeface="Cambria Math"/>
              </a:rPr>
              <a:t>𝑁</a:t>
            </a:r>
            <a:r>
              <a:rPr dirty="0" baseline="-16081" sz="2850" spc="225">
                <a:latin typeface="Cambria Math"/>
                <a:cs typeface="Cambria Math"/>
              </a:rPr>
              <a:t>!</a:t>
            </a:r>
            <a:endParaRPr baseline="-16081" sz="285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Number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5">
                <a:latin typeface="Calibri"/>
                <a:cs typeface="Calibri"/>
              </a:rPr>
              <a:t>labels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150">
                <a:latin typeface="Cambria Math"/>
                <a:cs typeface="Cambria Math"/>
              </a:rPr>
              <a:t>𝑁</a:t>
            </a:r>
            <a:r>
              <a:rPr dirty="0" baseline="-16081" sz="2850" spc="225">
                <a:latin typeface="Cambria Math"/>
                <a:cs typeface="Cambria Math"/>
              </a:rPr>
              <a:t>!</a:t>
            </a:r>
            <a:endParaRPr baseline="-16081" sz="285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74491" y="427854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74491" y="427854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74491" y="603406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74491" y="603406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2000" y="50895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09"/>
                </a:lnTo>
                <a:lnTo>
                  <a:pt x="156793" y="665987"/>
                </a:lnTo>
                <a:lnTo>
                  <a:pt x="193814" y="688664"/>
                </a:lnTo>
                <a:lnTo>
                  <a:pt x="233564" y="706899"/>
                </a:lnTo>
                <a:lnTo>
                  <a:pt x="275700" y="720348"/>
                </a:lnTo>
                <a:lnTo>
                  <a:pt x="319879" y="728669"/>
                </a:lnTo>
                <a:lnTo>
                  <a:pt x="365760" y="731519"/>
                </a:lnTo>
                <a:lnTo>
                  <a:pt x="411640" y="728669"/>
                </a:lnTo>
                <a:lnTo>
                  <a:pt x="455819" y="720348"/>
                </a:lnTo>
                <a:lnTo>
                  <a:pt x="497955" y="706899"/>
                </a:lnTo>
                <a:lnTo>
                  <a:pt x="537705" y="688664"/>
                </a:lnTo>
                <a:lnTo>
                  <a:pt x="574726" y="665987"/>
                </a:lnTo>
                <a:lnTo>
                  <a:pt x="608675" y="639209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72000" y="50895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31857" y="510147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3"/>
                </a:lnTo>
                <a:lnTo>
                  <a:pt x="65531" y="156792"/>
                </a:lnTo>
                <a:lnTo>
                  <a:pt x="42854" y="193813"/>
                </a:lnTo>
                <a:lnTo>
                  <a:pt x="24619" y="233563"/>
                </a:lnTo>
                <a:lnTo>
                  <a:pt x="11170" y="275699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09"/>
                </a:lnTo>
                <a:lnTo>
                  <a:pt x="156793" y="665987"/>
                </a:lnTo>
                <a:lnTo>
                  <a:pt x="193814" y="688664"/>
                </a:lnTo>
                <a:lnTo>
                  <a:pt x="233564" y="706899"/>
                </a:lnTo>
                <a:lnTo>
                  <a:pt x="275700" y="720348"/>
                </a:lnTo>
                <a:lnTo>
                  <a:pt x="319879" y="728669"/>
                </a:lnTo>
                <a:lnTo>
                  <a:pt x="365760" y="731519"/>
                </a:lnTo>
                <a:lnTo>
                  <a:pt x="411640" y="728669"/>
                </a:lnTo>
                <a:lnTo>
                  <a:pt x="455819" y="720348"/>
                </a:lnTo>
                <a:lnTo>
                  <a:pt x="497955" y="706899"/>
                </a:lnTo>
                <a:lnTo>
                  <a:pt x="537705" y="688664"/>
                </a:lnTo>
                <a:lnTo>
                  <a:pt x="574726" y="665987"/>
                </a:lnTo>
                <a:lnTo>
                  <a:pt x="608675" y="639209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699"/>
                </a:lnTo>
                <a:lnTo>
                  <a:pt x="706900" y="233563"/>
                </a:lnTo>
                <a:lnTo>
                  <a:pt x="688665" y="193813"/>
                </a:lnTo>
                <a:lnTo>
                  <a:pt x="665988" y="156792"/>
                </a:lnTo>
                <a:lnTo>
                  <a:pt x="639210" y="122843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31857" y="510147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97389" y="5010066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50"/>
                </a:moveTo>
                <a:lnTo>
                  <a:pt x="34970" y="57150"/>
                </a:lnTo>
                <a:lnTo>
                  <a:pt x="28575" y="63545"/>
                </a:lnTo>
                <a:lnTo>
                  <a:pt x="28573" y="1031894"/>
                </a:lnTo>
                <a:lnTo>
                  <a:pt x="34970" y="1038291"/>
                </a:lnTo>
                <a:lnTo>
                  <a:pt x="50751" y="1038291"/>
                </a:lnTo>
                <a:lnTo>
                  <a:pt x="57148" y="103189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5"/>
                </a:lnTo>
                <a:lnTo>
                  <a:pt x="34970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89688" y="4627984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4" y="806612"/>
                </a:lnTo>
                <a:lnTo>
                  <a:pt x="1436123" y="792802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50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2"/>
                </a:lnTo>
                <a:lnTo>
                  <a:pt x="1428484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50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40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06010" y="5439073"/>
            <a:ext cx="1482725" cy="961390"/>
          </a:xfrm>
          <a:custGeom>
            <a:avLst/>
            <a:gdLst/>
            <a:ahLst/>
            <a:cxnLst/>
            <a:rect l="l" t="t" r="r" b="b"/>
            <a:pathLst>
              <a:path w="1482725" h="961389">
                <a:moveTo>
                  <a:pt x="48850" y="878296"/>
                </a:moveTo>
                <a:lnTo>
                  <a:pt x="0" y="960756"/>
                </a:lnTo>
                <a:lnTo>
                  <a:pt x="95277" y="950360"/>
                </a:lnTo>
                <a:lnTo>
                  <a:pt x="87540" y="938350"/>
                </a:lnTo>
                <a:lnTo>
                  <a:pt x="61158" y="938350"/>
                </a:lnTo>
                <a:lnTo>
                  <a:pt x="52316" y="936437"/>
                </a:lnTo>
                <a:lnTo>
                  <a:pt x="43769" y="923171"/>
                </a:lnTo>
                <a:lnTo>
                  <a:pt x="45683" y="914329"/>
                </a:lnTo>
                <a:lnTo>
                  <a:pt x="64326" y="902318"/>
                </a:lnTo>
                <a:lnTo>
                  <a:pt x="48850" y="878296"/>
                </a:lnTo>
                <a:close/>
              </a:path>
              <a:path w="1482725" h="961389">
                <a:moveTo>
                  <a:pt x="64326" y="902318"/>
                </a:moveTo>
                <a:lnTo>
                  <a:pt x="45683" y="914329"/>
                </a:lnTo>
                <a:lnTo>
                  <a:pt x="43769" y="923171"/>
                </a:lnTo>
                <a:lnTo>
                  <a:pt x="52316" y="936437"/>
                </a:lnTo>
                <a:lnTo>
                  <a:pt x="61158" y="938350"/>
                </a:lnTo>
                <a:lnTo>
                  <a:pt x="79801" y="926339"/>
                </a:lnTo>
                <a:lnTo>
                  <a:pt x="64326" y="902318"/>
                </a:lnTo>
                <a:close/>
              </a:path>
              <a:path w="1482725" h="961389">
                <a:moveTo>
                  <a:pt x="79801" y="926339"/>
                </a:moveTo>
                <a:lnTo>
                  <a:pt x="61158" y="938350"/>
                </a:lnTo>
                <a:lnTo>
                  <a:pt x="87540" y="938350"/>
                </a:lnTo>
                <a:lnTo>
                  <a:pt x="79801" y="926339"/>
                </a:lnTo>
                <a:close/>
              </a:path>
              <a:path w="1482725" h="961389">
                <a:moveTo>
                  <a:pt x="1464884" y="0"/>
                </a:moveTo>
                <a:lnTo>
                  <a:pt x="64326" y="902318"/>
                </a:lnTo>
                <a:lnTo>
                  <a:pt x="79801" y="926339"/>
                </a:lnTo>
                <a:lnTo>
                  <a:pt x="1480360" y="24022"/>
                </a:lnTo>
                <a:lnTo>
                  <a:pt x="1482272" y="15180"/>
                </a:lnTo>
                <a:lnTo>
                  <a:pt x="1473725" y="1913"/>
                </a:lnTo>
                <a:lnTo>
                  <a:pt x="146488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89162" y="5423607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7" y="28771"/>
                </a:lnTo>
                <a:lnTo>
                  <a:pt x="1285617" y="35224"/>
                </a:lnTo>
                <a:lnTo>
                  <a:pt x="1285476" y="51005"/>
                </a:lnTo>
                <a:lnTo>
                  <a:pt x="1279022" y="57345"/>
                </a:lnTo>
                <a:lnTo>
                  <a:pt x="1256843" y="57345"/>
                </a:lnTo>
                <a:lnTo>
                  <a:pt x="1256590" y="85721"/>
                </a:lnTo>
                <a:lnTo>
                  <a:pt x="1314633" y="57345"/>
                </a:lnTo>
                <a:lnTo>
                  <a:pt x="1279022" y="57345"/>
                </a:lnTo>
                <a:lnTo>
                  <a:pt x="1315038" y="57147"/>
                </a:lnTo>
                <a:lnTo>
                  <a:pt x="1342694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5" y="57147"/>
                </a:lnTo>
                <a:lnTo>
                  <a:pt x="1279022" y="57345"/>
                </a:lnTo>
                <a:lnTo>
                  <a:pt x="1285476" y="51005"/>
                </a:lnTo>
                <a:lnTo>
                  <a:pt x="1285617" y="35224"/>
                </a:lnTo>
                <a:lnTo>
                  <a:pt x="1279277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8" y="45967"/>
                </a:lnTo>
                <a:lnTo>
                  <a:pt x="1256845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636776" y="5842508"/>
            <a:ext cx="600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latin typeface="Cambria Math"/>
                <a:cs typeface="Cambria Math"/>
              </a:rPr>
              <a:t>𝒇</a:t>
            </a:r>
            <a:r>
              <a:rPr dirty="0" baseline="-14957" sz="1950" spc="15">
                <a:latin typeface="Cambria Math"/>
                <a:cs typeface="Cambria Math"/>
              </a:rPr>
              <a:t>𝒗</a:t>
            </a:r>
            <a:r>
              <a:rPr dirty="0" sz="1800" spc="10" b="1" i="1">
                <a:latin typeface="Corbel"/>
                <a:cs typeface="Corbel"/>
              </a:rPr>
              <a:t>,</a:t>
            </a:r>
            <a:r>
              <a:rPr dirty="0" sz="1800" spc="-90" b="1" i="1">
                <a:latin typeface="Corbel"/>
                <a:cs typeface="Corbel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𝒛</a:t>
            </a:r>
            <a:r>
              <a:rPr dirty="0" baseline="-14957" sz="1950" spc="-7">
                <a:latin typeface="Cambria Math"/>
                <a:cs typeface="Cambria Math"/>
              </a:rPr>
              <a:t>𝒗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504" y="353568"/>
            <a:ext cx="7616952" cy="387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032"/>
            <a:ext cx="720534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0070C0"/>
                </a:solidFill>
                <a:latin typeface="Calibri"/>
                <a:cs typeface="Calibri"/>
              </a:rPr>
              <a:t>Phase 1: Classify based on node </a:t>
            </a:r>
            <a:r>
              <a:rPr dirty="0" sz="2700" spc="-10" b="1">
                <a:solidFill>
                  <a:srgbClr val="0070C0"/>
                </a:solidFill>
                <a:latin typeface="Calibri"/>
                <a:cs typeface="Calibri"/>
              </a:rPr>
              <a:t>attributes</a:t>
            </a:r>
            <a:r>
              <a:rPr dirty="0" sz="2700" spc="3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0070C0"/>
                </a:solidFill>
                <a:latin typeface="Calibri"/>
                <a:cs typeface="Calibri"/>
              </a:rPr>
              <a:t>alone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691132"/>
            <a:ext cx="7749540" cy="105283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87020" marR="5080" indent="-274320">
              <a:lnSpc>
                <a:spcPts val="23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2400" spc="-5" b="1">
                <a:solidFill>
                  <a:srgbClr val="0070C0"/>
                </a:solidFill>
                <a:latin typeface="Calibri"/>
                <a:cs typeface="Calibri"/>
              </a:rPr>
              <a:t>set</a:t>
            </a:r>
            <a:r>
              <a:rPr dirty="0" sz="2400" spc="-5">
                <a:latin typeface="Calibri"/>
                <a:cs typeface="Calibri"/>
              </a:rPr>
              <a:t>, </a:t>
            </a:r>
            <a:r>
              <a:rPr dirty="0" sz="2400" spc="-15">
                <a:latin typeface="Calibri"/>
                <a:cs typeface="Calibri"/>
              </a:rPr>
              <a:t>train </a:t>
            </a:r>
            <a:r>
              <a:rPr dirty="0" sz="2400" spc="-5">
                <a:latin typeface="Calibri"/>
                <a:cs typeface="Calibri"/>
              </a:rPr>
              <a:t>classifier (e.g., linear </a:t>
            </a:r>
            <a:r>
              <a:rPr dirty="0" sz="2400" spc="-25">
                <a:latin typeface="Calibri"/>
                <a:cs typeface="Calibri"/>
              </a:rPr>
              <a:t>classifier, </a:t>
            </a:r>
            <a:r>
              <a:rPr dirty="0" sz="2400" spc="-75">
                <a:latin typeface="Calibri"/>
                <a:cs typeface="Calibri"/>
              </a:rPr>
              <a:t>neural  </a:t>
            </a:r>
            <a:r>
              <a:rPr dirty="0" sz="2400" spc="-10">
                <a:latin typeface="Calibri"/>
                <a:cs typeface="Calibri"/>
              </a:rPr>
              <a:t>networks,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…):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60">
                <a:solidFill>
                  <a:srgbClr val="D60093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89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r>
              <a:rPr dirty="0" sz="2400" spc="60">
                <a:solidFill>
                  <a:srgbClr val="D60093"/>
                </a:solidFill>
                <a:latin typeface="Cambria Math"/>
                <a:cs typeface="Cambria Math"/>
              </a:rPr>
              <a:t>(𝑓</a:t>
            </a:r>
            <a:r>
              <a:rPr dirty="0" baseline="-15432" sz="2700" spc="89">
                <a:solidFill>
                  <a:srgbClr val="D60093"/>
                </a:solidFill>
                <a:latin typeface="Cambria Math"/>
                <a:cs typeface="Cambria Math"/>
              </a:rPr>
              <a:t>!</a:t>
            </a:r>
            <a:r>
              <a:rPr dirty="0" sz="2400" spc="60">
                <a:solidFill>
                  <a:srgbClr val="D60093"/>
                </a:solidFill>
                <a:latin typeface="Cambria Math"/>
                <a:cs typeface="Cambria Math"/>
              </a:rPr>
              <a:t>)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predict </a:t>
            </a:r>
            <a:r>
              <a:rPr dirty="0" sz="2400" spc="50">
                <a:latin typeface="Cambria Math"/>
                <a:cs typeface="Cambria Math"/>
              </a:rPr>
              <a:t>𝑌</a:t>
            </a:r>
            <a:r>
              <a:rPr dirty="0" baseline="-15432" sz="2700" spc="75">
                <a:latin typeface="Cambria Math"/>
                <a:cs typeface="Cambria Math"/>
              </a:rPr>
              <a:t>! </a:t>
            </a:r>
            <a:r>
              <a:rPr dirty="0" sz="2400" spc="-5">
                <a:latin typeface="Calibri"/>
                <a:cs typeface="Calibri"/>
              </a:rPr>
              <a:t>based 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10">
                <a:latin typeface="Cambria Math"/>
                <a:cs typeface="Cambria Math"/>
              </a:rPr>
              <a:t>𝑓</a:t>
            </a:r>
            <a:r>
              <a:rPr dirty="0" baseline="-15432" sz="2700" spc="15">
                <a:latin typeface="Cambria Math"/>
                <a:cs typeface="Cambria Math"/>
              </a:rPr>
              <a:t>!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9559" y="2809638"/>
            <a:ext cx="848994" cy="282575"/>
          </a:xfrm>
          <a:custGeom>
            <a:avLst/>
            <a:gdLst/>
            <a:ahLst/>
            <a:cxnLst/>
            <a:rect l="l" t="t" r="r" b="b"/>
            <a:pathLst>
              <a:path w="848994" h="282575">
                <a:moveTo>
                  <a:pt x="758473" y="0"/>
                </a:moveTo>
                <a:lnTo>
                  <a:pt x="754454" y="11459"/>
                </a:lnTo>
                <a:lnTo>
                  <a:pt x="770797" y="18552"/>
                </a:lnTo>
                <a:lnTo>
                  <a:pt x="784852" y="28370"/>
                </a:lnTo>
                <a:lnTo>
                  <a:pt x="813390" y="73878"/>
                </a:lnTo>
                <a:lnTo>
                  <a:pt x="821725" y="115662"/>
                </a:lnTo>
                <a:lnTo>
                  <a:pt x="822766" y="139749"/>
                </a:lnTo>
                <a:lnTo>
                  <a:pt x="821720" y="164650"/>
                </a:lnTo>
                <a:lnTo>
                  <a:pt x="813348" y="207587"/>
                </a:lnTo>
                <a:lnTo>
                  <a:pt x="784871" y="253826"/>
                </a:lnTo>
                <a:lnTo>
                  <a:pt x="754901" y="270866"/>
                </a:lnTo>
                <a:lnTo>
                  <a:pt x="758473" y="282327"/>
                </a:lnTo>
                <a:lnTo>
                  <a:pt x="796982" y="264263"/>
                </a:lnTo>
                <a:lnTo>
                  <a:pt x="825296" y="232990"/>
                </a:lnTo>
                <a:lnTo>
                  <a:pt x="842709" y="191113"/>
                </a:lnTo>
                <a:lnTo>
                  <a:pt x="848513" y="141237"/>
                </a:lnTo>
                <a:lnTo>
                  <a:pt x="847058" y="115355"/>
                </a:lnTo>
                <a:lnTo>
                  <a:pt x="835412" y="69479"/>
                </a:lnTo>
                <a:lnTo>
                  <a:pt x="812316" y="32133"/>
                </a:lnTo>
                <a:lnTo>
                  <a:pt x="778941" y="7390"/>
                </a:lnTo>
                <a:lnTo>
                  <a:pt x="758473" y="0"/>
                </a:lnTo>
                <a:close/>
              </a:path>
              <a:path w="84899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6563" y="2721355"/>
            <a:ext cx="790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605915" algn="l"/>
              </a:tabLst>
            </a:pPr>
            <a:r>
              <a:rPr dirty="0" sz="2400" spc="125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187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r>
              <a:rPr dirty="0" baseline="-15432" sz="2700" spc="60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 spc="30">
                <a:solidFill>
                  <a:srgbClr val="0000FF"/>
                </a:solidFill>
                <a:latin typeface="Cambria Math"/>
                <a:cs typeface="Cambria Math"/>
              </a:rPr>
              <a:t>𝑓</a:t>
            </a:r>
            <a:r>
              <a:rPr dirty="0" baseline="-15432" sz="2700" spc="44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sz="2400" spc="3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400" spc="-13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 spc="215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322">
                <a:solidFill>
                  <a:srgbClr val="0000FF"/>
                </a:solidFill>
                <a:latin typeface="Cambria Math"/>
                <a:cs typeface="Cambria Math"/>
              </a:rPr>
              <a:t>!	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0">
                <a:latin typeface="Calibri"/>
                <a:cs typeface="Calibri"/>
              </a:rPr>
              <a:t>predict </a:t>
            </a:r>
            <a:r>
              <a:rPr dirty="0" sz="2400" spc="50">
                <a:latin typeface="Cambria Math"/>
                <a:cs typeface="Cambria Math"/>
              </a:rPr>
              <a:t>𝑌</a:t>
            </a:r>
            <a:r>
              <a:rPr dirty="0" baseline="-15432" sz="2700" spc="75">
                <a:latin typeface="Cambria Math"/>
                <a:cs typeface="Cambria Math"/>
              </a:rPr>
              <a:t>! </a:t>
            </a:r>
            <a:r>
              <a:rPr dirty="0" sz="2400" spc="-5">
                <a:latin typeface="Calibri"/>
                <a:cs typeface="Calibri"/>
              </a:rPr>
              <a:t>based on </a:t>
            </a:r>
            <a:r>
              <a:rPr dirty="0" sz="2400" spc="10">
                <a:latin typeface="Cambria Math"/>
                <a:cs typeface="Cambria Math"/>
              </a:rPr>
              <a:t>𝑓</a:t>
            </a:r>
            <a:r>
              <a:rPr dirty="0" baseline="-15432" sz="2700" spc="15">
                <a:latin typeface="Cambria Math"/>
                <a:cs typeface="Cambria Math"/>
              </a:rPr>
              <a:t>!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summary </a:t>
            </a:r>
            <a:r>
              <a:rPr dirty="0" sz="2400" spc="215">
                <a:latin typeface="Cambria Math"/>
                <a:cs typeface="Cambria Math"/>
              </a:rPr>
              <a:t>𝑧</a:t>
            </a:r>
            <a:r>
              <a:rPr dirty="0" baseline="-15432" sz="2700" spc="322">
                <a:latin typeface="Cambria Math"/>
                <a:cs typeface="Cambria Math"/>
              </a:rPr>
              <a:t>!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labels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18108" y="2871385"/>
            <a:ext cx="8125459" cy="375856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625475">
              <a:lnSpc>
                <a:spcPct val="100000"/>
              </a:lnSpc>
              <a:spcBef>
                <a:spcPts val="1195"/>
              </a:spcBef>
            </a:pP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30">
                <a:latin typeface="Cambria Math"/>
                <a:cs typeface="Cambria Math"/>
              </a:rPr>
              <a:t>𝑣</a:t>
            </a:r>
            <a:r>
              <a:rPr dirty="0" sz="2400" spc="-30">
                <a:latin typeface="Calibri"/>
                <a:cs typeface="Calibri"/>
              </a:rPr>
              <a:t>’s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neighbors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23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008000"/>
                </a:solidFill>
                <a:latin typeface="Calibri"/>
                <a:cs typeface="Calibri"/>
              </a:rPr>
              <a:t>Phase 2: </a:t>
            </a:r>
            <a:r>
              <a:rPr dirty="0" sz="2700" spc="-25" b="1">
                <a:solidFill>
                  <a:srgbClr val="008000"/>
                </a:solidFill>
                <a:latin typeface="Calibri"/>
                <a:cs typeface="Calibri"/>
              </a:rPr>
              <a:t>Iterate </a:t>
            </a:r>
            <a:r>
              <a:rPr dirty="0" sz="2700" spc="-5" b="1">
                <a:solidFill>
                  <a:srgbClr val="008000"/>
                </a:solidFill>
                <a:latin typeface="Calibri"/>
                <a:cs typeface="Calibri"/>
              </a:rPr>
              <a:t>till</a:t>
            </a:r>
            <a:r>
              <a:rPr dirty="0" sz="2700" spc="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008000"/>
                </a:solidFill>
                <a:latin typeface="Calibri"/>
                <a:cs typeface="Calibri"/>
              </a:rPr>
              <a:t>convergence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ts val="2590"/>
              </a:lnSpc>
              <a:spcBef>
                <a:spcPts val="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test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set</a:t>
            </a:r>
            <a:r>
              <a:rPr dirty="0" sz="2400" spc="-5">
                <a:latin typeface="Calibri"/>
                <a:cs typeface="Calibri"/>
              </a:rPr>
              <a:t>, set labels </a:t>
            </a:r>
            <a:r>
              <a:rPr dirty="0" sz="2400" spc="50">
                <a:latin typeface="Cambria Math"/>
                <a:cs typeface="Cambria Math"/>
              </a:rPr>
              <a:t>𝑌</a:t>
            </a:r>
            <a:r>
              <a:rPr dirty="0" baseline="-15432" sz="2700" spc="75">
                <a:latin typeface="Cambria Math"/>
                <a:cs typeface="Cambria Math"/>
              </a:rPr>
              <a:t>! </a:t>
            </a:r>
            <a:r>
              <a:rPr dirty="0" sz="2400" spc="-5">
                <a:latin typeface="Calibri"/>
                <a:cs typeface="Calibri"/>
              </a:rPr>
              <a:t>based on the classifier </a:t>
            </a:r>
            <a:r>
              <a:rPr dirty="0" sz="2400" spc="85">
                <a:solidFill>
                  <a:srgbClr val="D60093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127">
                <a:solidFill>
                  <a:srgbClr val="D60093"/>
                </a:solidFill>
                <a:latin typeface="Cambria Math"/>
                <a:cs typeface="Cambria Math"/>
              </a:rPr>
              <a:t>)</a:t>
            </a:r>
            <a:r>
              <a:rPr dirty="0" sz="2400" spc="85">
                <a:latin typeface="Calibri"/>
                <a:cs typeface="Calibri"/>
              </a:rPr>
              <a:t>,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compute</a:t>
            </a:r>
            <a:endParaRPr sz="2400">
              <a:latin typeface="Calibri"/>
              <a:cs typeface="Calibri"/>
            </a:endParaRPr>
          </a:p>
          <a:p>
            <a:pPr marL="625475">
              <a:lnSpc>
                <a:spcPts val="2545"/>
              </a:lnSpc>
            </a:pPr>
            <a:r>
              <a:rPr dirty="0" sz="2400" spc="215">
                <a:latin typeface="Cambria Math"/>
                <a:cs typeface="Cambria Math"/>
              </a:rPr>
              <a:t>𝑧</a:t>
            </a:r>
            <a:r>
              <a:rPr dirty="0" baseline="-15432" sz="2700" spc="322">
                <a:latin typeface="Cambria Math"/>
                <a:cs typeface="Cambria Math"/>
              </a:rPr>
              <a:t>!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solidFill>
                  <a:srgbClr val="0000FF"/>
                </a:solidFill>
                <a:latin typeface="Calibri"/>
                <a:cs typeface="Calibri"/>
              </a:rPr>
              <a:t>predict </a:t>
            </a:r>
            <a:r>
              <a:rPr dirty="0" sz="2400" spc="-5">
                <a:solidFill>
                  <a:srgbClr val="0000FF"/>
                </a:solidFill>
                <a:latin typeface="Calibri"/>
                <a:cs typeface="Calibri"/>
              </a:rPr>
              <a:t>the labels with</a:t>
            </a:r>
            <a:r>
              <a:rPr dirty="0" sz="2400" spc="-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125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187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lvl="1" marL="625475" indent="-274320">
              <a:lnSpc>
                <a:spcPts val="2830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Repeat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each node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  <a:p>
            <a:pPr lvl="2" marL="890905" indent="-228600">
              <a:lnSpc>
                <a:spcPct val="100000"/>
              </a:lnSpc>
              <a:spcBef>
                <a:spcPts val="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Update </a:t>
            </a:r>
            <a:r>
              <a:rPr dirty="0" sz="2000" spc="175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4814" sz="2250" spc="262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2000" spc="-5">
                <a:latin typeface="Calibri"/>
                <a:cs typeface="Calibri"/>
              </a:rPr>
              <a:t>based on </a:t>
            </a:r>
            <a:r>
              <a:rPr dirty="0" sz="2000" spc="15">
                <a:latin typeface="Cambria Math"/>
                <a:cs typeface="Cambria Math"/>
              </a:rPr>
              <a:t>𝑌</a:t>
            </a:r>
            <a:r>
              <a:rPr dirty="0" baseline="-14814" sz="2250" spc="22">
                <a:latin typeface="Cambria Math"/>
                <a:cs typeface="Cambria Math"/>
              </a:rPr>
              <a:t>"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>
                <a:latin typeface="Cambria Math"/>
                <a:cs typeface="Cambria Math"/>
              </a:rPr>
              <a:t>𝑢  ∈</a:t>
            </a:r>
            <a:r>
              <a:rPr dirty="0" sz="2000" spc="-229">
                <a:latin typeface="Cambria Math"/>
                <a:cs typeface="Cambria Math"/>
              </a:rPr>
              <a:t> </a:t>
            </a:r>
            <a:r>
              <a:rPr dirty="0" sz="2000" spc="114">
                <a:latin typeface="Cambria Math"/>
                <a:cs typeface="Cambria Math"/>
              </a:rPr>
              <a:t>𝑁</a:t>
            </a:r>
            <a:r>
              <a:rPr dirty="0" baseline="-14814" sz="2250" spc="172">
                <a:latin typeface="Cambria Math"/>
                <a:cs typeface="Cambria Math"/>
              </a:rPr>
              <a:t>!</a:t>
            </a:r>
            <a:endParaRPr baseline="-14814" sz="2250">
              <a:latin typeface="Cambria Math"/>
              <a:cs typeface="Cambria Math"/>
            </a:endParaRPr>
          </a:p>
          <a:p>
            <a:pPr lvl="2" marL="890905" indent="-228600">
              <a:lnSpc>
                <a:spcPct val="100000"/>
              </a:lnSpc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Update </a:t>
            </a:r>
            <a:r>
              <a:rPr dirty="0" sz="2000" spc="35">
                <a:latin typeface="Cambria Math"/>
                <a:cs typeface="Cambria Math"/>
              </a:rPr>
              <a:t>𝑌</a:t>
            </a:r>
            <a:r>
              <a:rPr dirty="0" baseline="-14814" sz="2250" spc="52">
                <a:latin typeface="Cambria Math"/>
                <a:cs typeface="Cambria Math"/>
              </a:rPr>
              <a:t>! </a:t>
            </a:r>
            <a:r>
              <a:rPr dirty="0" sz="2000" spc="-5">
                <a:latin typeface="Calibri"/>
                <a:cs typeface="Calibri"/>
              </a:rPr>
              <a:t>based on the new </a:t>
            </a:r>
            <a:r>
              <a:rPr dirty="0" sz="2000" spc="175">
                <a:latin typeface="Cambria Math"/>
                <a:cs typeface="Cambria Math"/>
              </a:rPr>
              <a:t>𝑧</a:t>
            </a:r>
            <a:r>
              <a:rPr dirty="0" baseline="-14814" sz="2250" spc="262">
                <a:latin typeface="Cambria Math"/>
                <a:cs typeface="Cambria Math"/>
              </a:rPr>
              <a:t>!</a:t>
            </a:r>
            <a:r>
              <a:rPr dirty="0" baseline="-14814" sz="2250" spc="165">
                <a:latin typeface="Cambria Math"/>
                <a:cs typeface="Cambria Math"/>
              </a:rPr>
              <a:t> </a:t>
            </a:r>
            <a:r>
              <a:rPr dirty="0" sz="2000" spc="-10">
                <a:latin typeface="Calibri"/>
                <a:cs typeface="Calibri"/>
              </a:rPr>
              <a:t>(</a:t>
            </a:r>
            <a:r>
              <a:rPr dirty="0" sz="2000" spc="-10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4814" sz="2250" spc="-15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r>
              <a:rPr dirty="0" sz="2000" spc="-1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lvl="1" marL="625475" marR="5080" indent="-274320">
              <a:lnSpc>
                <a:spcPct val="8000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20">
                <a:latin typeface="Calibri"/>
                <a:cs typeface="Calibri"/>
              </a:rPr>
              <a:t>Iterate </a:t>
            </a:r>
            <a:r>
              <a:rPr dirty="0" sz="2400" spc="-10">
                <a:latin typeface="Calibri"/>
                <a:cs typeface="Calibri"/>
              </a:rPr>
              <a:t>until </a:t>
            </a:r>
            <a:r>
              <a:rPr dirty="0" sz="2400" spc="-5">
                <a:latin typeface="Calibri"/>
                <a:cs typeface="Calibri"/>
              </a:rPr>
              <a:t>class labels </a:t>
            </a:r>
            <a:r>
              <a:rPr dirty="0" sz="2400" spc="-15">
                <a:latin typeface="Calibri"/>
                <a:cs typeface="Calibri"/>
              </a:rPr>
              <a:t>stabilize </a:t>
            </a:r>
            <a:r>
              <a:rPr dirty="0" sz="2400" spc="-5">
                <a:latin typeface="Calibri"/>
                <a:cs typeface="Calibri"/>
              </a:rPr>
              <a:t>or </a:t>
            </a:r>
            <a:r>
              <a:rPr dirty="0" sz="2400" spc="-10">
                <a:latin typeface="Calibri"/>
                <a:cs typeface="Calibri"/>
              </a:rPr>
              <a:t>max </a:t>
            </a:r>
            <a:r>
              <a:rPr dirty="0" sz="2400" spc="-5">
                <a:latin typeface="Calibri"/>
                <a:cs typeface="Calibri"/>
              </a:rPr>
              <a:t>number of </a:t>
            </a:r>
            <a:r>
              <a:rPr dirty="0" sz="2400" spc="-60">
                <a:latin typeface="Calibri"/>
                <a:cs typeface="Calibri"/>
              </a:rPr>
              <a:t>iterations  </a:t>
            </a:r>
            <a:r>
              <a:rPr dirty="0" sz="2400" spc="-5">
                <a:latin typeface="Calibri"/>
                <a:cs typeface="Calibri"/>
              </a:rPr>
              <a:t>is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reached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Note: </a:t>
            </a:r>
            <a:r>
              <a:rPr dirty="0" sz="2400" spc="-15">
                <a:latin typeface="Calibri"/>
                <a:cs typeface="Calibri"/>
              </a:rPr>
              <a:t>Convergence </a:t>
            </a:r>
            <a:r>
              <a:rPr dirty="0" sz="2400" spc="-5">
                <a:latin typeface="Calibri"/>
                <a:cs typeface="Calibri"/>
              </a:rPr>
              <a:t>is not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guaranteed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8150352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7409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latin typeface="Calibri"/>
                <a:cs typeface="Calibri"/>
              </a:rPr>
              <a:t>Input: </a:t>
            </a:r>
            <a:r>
              <a:rPr dirty="0" spc="-15"/>
              <a:t>Graph </a:t>
            </a:r>
            <a:r>
              <a:rPr dirty="0" spc="-5"/>
              <a:t>of </a:t>
            </a:r>
            <a:r>
              <a:rPr dirty="0" spc="-15"/>
              <a:t>web </a:t>
            </a:r>
            <a:r>
              <a:rPr dirty="0" spc="-10"/>
              <a:t>pages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162556"/>
            <a:ext cx="7653020" cy="4030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Node: </a:t>
            </a:r>
            <a:r>
              <a:rPr dirty="0" sz="3200" spc="-40">
                <a:latin typeface="Calibri"/>
                <a:cs typeface="Calibri"/>
              </a:rPr>
              <a:t>Web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page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6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Edge: </a:t>
            </a:r>
            <a:r>
              <a:rPr dirty="0" sz="3200" spc="-15">
                <a:latin typeface="Calibri"/>
                <a:cs typeface="Calibri"/>
              </a:rPr>
              <a:t>Hyper-link </a:t>
            </a:r>
            <a:r>
              <a:rPr dirty="0" sz="3200" spc="-10">
                <a:latin typeface="Calibri"/>
                <a:cs typeface="Calibri"/>
              </a:rPr>
              <a:t>between </a:t>
            </a:r>
            <a:r>
              <a:rPr dirty="0" sz="3200" spc="-15">
                <a:latin typeface="Calibri"/>
                <a:cs typeface="Calibri"/>
              </a:rPr>
              <a:t>web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pages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Directed edge: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page points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another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Node </a:t>
            </a:r>
            <a:r>
              <a:rPr dirty="0" sz="3200" spc="-20" b="1">
                <a:latin typeface="Calibri"/>
                <a:cs typeface="Calibri"/>
              </a:rPr>
              <a:t>features: </a:t>
            </a:r>
            <a:r>
              <a:rPr dirty="0" sz="3200" spc="-25">
                <a:latin typeface="Calibri"/>
                <a:cs typeface="Calibri"/>
              </a:rPr>
              <a:t>Webpage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description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25">
                <a:latin typeface="Calibri"/>
                <a:cs typeface="Calibri"/>
              </a:rPr>
              <a:t>simplicity,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only </a:t>
            </a:r>
            <a:r>
              <a:rPr dirty="0" sz="2800" spc="-10">
                <a:latin typeface="Calibri"/>
                <a:cs typeface="Calibri"/>
              </a:rPr>
              <a:t>consider </a:t>
            </a:r>
            <a:r>
              <a:rPr dirty="0" sz="2800">
                <a:latin typeface="Calibri"/>
                <a:cs typeface="Calibri"/>
              </a:rPr>
              <a:t>2 </a:t>
            </a:r>
            <a:r>
              <a:rPr dirty="0" sz="2800" spc="-5">
                <a:latin typeface="Calibri"/>
                <a:cs typeface="Calibri"/>
              </a:rPr>
              <a:t>binary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85"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8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 b="1">
                <a:latin typeface="Calibri"/>
                <a:cs typeface="Calibri"/>
              </a:rPr>
              <a:t>Task: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topic </a:t>
            </a:r>
            <a:r>
              <a:rPr dirty="0" sz="3200">
                <a:latin typeface="Calibri"/>
                <a:cs typeface="Calibri"/>
              </a:rPr>
              <a:t>of the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webpage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26136"/>
            <a:ext cx="7955280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053591"/>
            <a:ext cx="7859395" cy="1348740"/>
          </a:xfrm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7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">
                <a:solidFill>
                  <a:srgbClr val="FF0000"/>
                </a:solidFill>
              </a:rPr>
              <a:t>Baseline</a:t>
            </a:r>
            <a:r>
              <a:rPr dirty="0" sz="3100" spc="-5"/>
              <a:t>: </a:t>
            </a:r>
            <a:r>
              <a:rPr dirty="0" sz="3100" spc="-15"/>
              <a:t>train </a:t>
            </a:r>
            <a:r>
              <a:rPr dirty="0" sz="3100"/>
              <a:t>a </a:t>
            </a:r>
            <a:r>
              <a:rPr dirty="0" sz="3100" spc="-5"/>
              <a:t>classifier </a:t>
            </a:r>
            <a:r>
              <a:rPr dirty="0" sz="3100"/>
              <a:t>(e.g., </a:t>
            </a:r>
            <a:r>
              <a:rPr dirty="0" sz="3100" spc="-5"/>
              <a:t>linear classifier)  </a:t>
            </a:r>
            <a:r>
              <a:rPr dirty="0" sz="3100" spc="-20"/>
              <a:t>to </a:t>
            </a:r>
            <a:r>
              <a:rPr dirty="0" sz="3100"/>
              <a:t>classify </a:t>
            </a:r>
            <a:r>
              <a:rPr dirty="0" sz="3100" spc="-10"/>
              <a:t>pages </a:t>
            </a:r>
            <a:r>
              <a:rPr dirty="0" sz="3100" spc="-5"/>
              <a:t>based </a:t>
            </a:r>
            <a:r>
              <a:rPr dirty="0" sz="3100"/>
              <a:t>on </a:t>
            </a:r>
            <a:r>
              <a:rPr dirty="0" sz="3100" spc="-5"/>
              <a:t>binary node  </a:t>
            </a:r>
            <a:r>
              <a:rPr dirty="0" sz="3100" spc="-15"/>
              <a:t>attributes.</a:t>
            </a:r>
            <a:endParaRPr sz="3100"/>
          </a:p>
        </p:txBody>
      </p:sp>
      <p:sp>
        <p:nvSpPr>
          <p:cNvPr id="4" name="object 4"/>
          <p:cNvSpPr/>
          <p:nvPr/>
        </p:nvSpPr>
        <p:spPr>
          <a:xfrm>
            <a:off x="2225039" y="305454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2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25039" y="305454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07456" y="3241548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5039" y="481007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2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25039" y="481007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07456" y="4997196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22549" y="38655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22549" y="386559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04965" y="4052315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82406" y="387747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82406" y="387747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64822" y="4064508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47938" y="3786065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49"/>
                </a:moveTo>
                <a:lnTo>
                  <a:pt x="34970" y="57149"/>
                </a:lnTo>
                <a:lnTo>
                  <a:pt x="28575" y="63546"/>
                </a:lnTo>
                <a:lnTo>
                  <a:pt x="28573" y="1031895"/>
                </a:lnTo>
                <a:lnTo>
                  <a:pt x="34970" y="1038292"/>
                </a:lnTo>
                <a:lnTo>
                  <a:pt x="50751" y="1038292"/>
                </a:lnTo>
                <a:lnTo>
                  <a:pt x="57148" y="1031895"/>
                </a:lnTo>
                <a:lnTo>
                  <a:pt x="57150" y="63546"/>
                </a:lnTo>
                <a:lnTo>
                  <a:pt x="50753" y="57149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4"/>
                </a:lnTo>
                <a:lnTo>
                  <a:pt x="28574" y="85724"/>
                </a:lnTo>
                <a:lnTo>
                  <a:pt x="28575" y="63546"/>
                </a:lnTo>
                <a:lnTo>
                  <a:pt x="34970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49"/>
                </a:moveTo>
                <a:lnTo>
                  <a:pt x="50753" y="57149"/>
                </a:lnTo>
                <a:lnTo>
                  <a:pt x="57150" y="63546"/>
                </a:lnTo>
                <a:lnTo>
                  <a:pt x="57149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40237" y="3403983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80"/>
                </a:lnTo>
                <a:lnTo>
                  <a:pt x="1482310" y="827374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7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4" y="806612"/>
                </a:lnTo>
                <a:lnTo>
                  <a:pt x="1436123" y="792803"/>
                </a:lnTo>
                <a:lnTo>
                  <a:pt x="1433624" y="784109"/>
                </a:lnTo>
                <a:lnTo>
                  <a:pt x="1414217" y="773372"/>
                </a:lnTo>
                <a:close/>
              </a:path>
              <a:path w="1482725" h="827404">
                <a:moveTo>
                  <a:pt x="1428050" y="748369"/>
                </a:moveTo>
                <a:lnTo>
                  <a:pt x="1414217" y="773372"/>
                </a:lnTo>
                <a:lnTo>
                  <a:pt x="1433624" y="784109"/>
                </a:lnTo>
                <a:lnTo>
                  <a:pt x="1436123" y="792803"/>
                </a:lnTo>
                <a:lnTo>
                  <a:pt x="1428484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50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40" y="2500"/>
                </a:lnTo>
                <a:lnTo>
                  <a:pt x="0" y="16310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7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56560" y="4215074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0"/>
                </a:lnTo>
                <a:lnTo>
                  <a:pt x="87540" y="938349"/>
                </a:lnTo>
                <a:lnTo>
                  <a:pt x="61158" y="938349"/>
                </a:lnTo>
                <a:lnTo>
                  <a:pt x="52316" y="936437"/>
                </a:lnTo>
                <a:lnTo>
                  <a:pt x="43769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69" y="923170"/>
                </a:lnTo>
                <a:lnTo>
                  <a:pt x="52316" y="936437"/>
                </a:lnTo>
                <a:lnTo>
                  <a:pt x="61158" y="938349"/>
                </a:lnTo>
                <a:lnTo>
                  <a:pt x="79801" y="926338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1" y="926338"/>
                </a:moveTo>
                <a:lnTo>
                  <a:pt x="61158" y="938349"/>
                </a:lnTo>
                <a:lnTo>
                  <a:pt x="87540" y="938349"/>
                </a:lnTo>
                <a:lnTo>
                  <a:pt x="79801" y="926338"/>
                </a:lnTo>
                <a:close/>
              </a:path>
              <a:path w="1482725" h="960754">
                <a:moveTo>
                  <a:pt x="1464884" y="0"/>
                </a:moveTo>
                <a:lnTo>
                  <a:pt x="64326" y="902317"/>
                </a:lnTo>
                <a:lnTo>
                  <a:pt x="79801" y="926338"/>
                </a:lnTo>
                <a:lnTo>
                  <a:pt x="1480360" y="24020"/>
                </a:lnTo>
                <a:lnTo>
                  <a:pt x="1482272" y="15179"/>
                </a:lnTo>
                <a:lnTo>
                  <a:pt x="1473725" y="1912"/>
                </a:lnTo>
                <a:lnTo>
                  <a:pt x="146488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39711" y="4199606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7" y="35225"/>
                </a:lnTo>
                <a:lnTo>
                  <a:pt x="1285476" y="51007"/>
                </a:lnTo>
                <a:lnTo>
                  <a:pt x="1279022" y="57345"/>
                </a:lnTo>
                <a:lnTo>
                  <a:pt x="1256843" y="57345"/>
                </a:lnTo>
                <a:lnTo>
                  <a:pt x="1256590" y="85721"/>
                </a:lnTo>
                <a:lnTo>
                  <a:pt x="1314633" y="57345"/>
                </a:lnTo>
                <a:lnTo>
                  <a:pt x="1279022" y="57345"/>
                </a:lnTo>
                <a:lnTo>
                  <a:pt x="1315038" y="57147"/>
                </a:lnTo>
                <a:lnTo>
                  <a:pt x="1342694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5" y="57147"/>
                </a:lnTo>
                <a:lnTo>
                  <a:pt x="1279022" y="57345"/>
                </a:lnTo>
                <a:lnTo>
                  <a:pt x="1285476" y="51007"/>
                </a:lnTo>
                <a:lnTo>
                  <a:pt x="1285617" y="35225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3"/>
                </a:moveTo>
                <a:lnTo>
                  <a:pt x="140" y="23732"/>
                </a:lnTo>
                <a:lnTo>
                  <a:pt x="0" y="39513"/>
                </a:lnTo>
                <a:lnTo>
                  <a:pt x="6338" y="45967"/>
                </a:lnTo>
                <a:lnTo>
                  <a:pt x="1256845" y="57147"/>
                </a:lnTo>
                <a:lnTo>
                  <a:pt x="1257101" y="28573"/>
                </a:lnTo>
                <a:lnTo>
                  <a:pt x="6595" y="17393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493519" y="3267905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9270" y="326790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93519" y="5008595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9270" y="500859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5962" y="4703795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1712" y="4703795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74217" y="4715210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9967" y="471521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70993" y="2666492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57500" y="5586476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43589" y="3498596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41118" y="3510788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61409" y="4636315"/>
            <a:ext cx="768985" cy="824230"/>
          </a:xfrm>
          <a:custGeom>
            <a:avLst/>
            <a:gdLst/>
            <a:ahLst/>
            <a:cxnLst/>
            <a:rect l="l" t="t" r="r" b="b"/>
            <a:pathLst>
              <a:path w="768985" h="824229">
                <a:moveTo>
                  <a:pt x="288947" y="180985"/>
                </a:moveTo>
                <a:lnTo>
                  <a:pt x="62302" y="180985"/>
                </a:lnTo>
                <a:lnTo>
                  <a:pt x="643980" y="823768"/>
                </a:lnTo>
                <a:lnTo>
                  <a:pt x="768584" y="711009"/>
                </a:lnTo>
                <a:lnTo>
                  <a:pt x="288947" y="180985"/>
                </a:lnTo>
                <a:close/>
              </a:path>
              <a:path w="768985" h="824229">
                <a:moveTo>
                  <a:pt x="11845" y="0"/>
                </a:moveTo>
                <a:lnTo>
                  <a:pt x="0" y="237364"/>
                </a:lnTo>
                <a:lnTo>
                  <a:pt x="62302" y="180985"/>
                </a:lnTo>
                <a:lnTo>
                  <a:pt x="288947" y="180985"/>
                </a:lnTo>
                <a:lnTo>
                  <a:pt x="186907" y="68225"/>
                </a:lnTo>
                <a:lnTo>
                  <a:pt x="249209" y="11845"/>
                </a:lnTo>
                <a:lnTo>
                  <a:pt x="118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295195" y="5456427"/>
            <a:ext cx="40379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FF0000"/>
                </a:solidFill>
                <a:latin typeface="Arial"/>
                <a:cs typeface="Arial"/>
              </a:rPr>
              <a:t>Wrong! </a:t>
            </a:r>
            <a:r>
              <a:rPr dirty="0" sz="2800">
                <a:solidFill>
                  <a:srgbClr val="FF0000"/>
                </a:solidFill>
                <a:latin typeface="Arial"/>
                <a:cs typeface="Arial"/>
              </a:rPr>
              <a:t>Can we</a:t>
            </a:r>
            <a:r>
              <a:rPr dirty="0" sz="2800" spc="-5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0000"/>
                </a:solidFill>
                <a:latin typeface="Arial"/>
                <a:cs typeface="Arial"/>
              </a:rPr>
              <a:t>improve?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2243" y="4277867"/>
            <a:ext cx="21043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">
                <a:solidFill>
                  <a:srgbClr val="FF0000"/>
                </a:solidFill>
                <a:latin typeface="Arial"/>
                <a:cs typeface="Arial"/>
              </a:rPr>
              <a:t>Node</a:t>
            </a:r>
            <a:r>
              <a:rPr dirty="0" sz="26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600" spc="-5">
                <a:solidFill>
                  <a:srgbClr val="FF0000"/>
                </a:solidFill>
                <a:latin typeface="Arial"/>
                <a:cs typeface="Arial"/>
              </a:rPr>
              <a:t>attribute</a:t>
            </a:r>
            <a:endParaRPr sz="2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76424" y="3658525"/>
            <a:ext cx="539115" cy="616585"/>
          </a:xfrm>
          <a:custGeom>
            <a:avLst/>
            <a:gdLst/>
            <a:ahLst/>
            <a:cxnLst/>
            <a:rect l="l" t="t" r="r" b="b"/>
            <a:pathLst>
              <a:path w="539114" h="616585">
                <a:moveTo>
                  <a:pt x="522283" y="0"/>
                </a:moveTo>
                <a:lnTo>
                  <a:pt x="352378" y="16517"/>
                </a:lnTo>
                <a:lnTo>
                  <a:pt x="398984" y="54865"/>
                </a:lnTo>
                <a:lnTo>
                  <a:pt x="0" y="539784"/>
                </a:lnTo>
                <a:lnTo>
                  <a:pt x="93212" y="616478"/>
                </a:lnTo>
                <a:lnTo>
                  <a:pt x="492196" y="131558"/>
                </a:lnTo>
                <a:lnTo>
                  <a:pt x="535074" y="131558"/>
                </a:lnTo>
                <a:lnTo>
                  <a:pt x="522283" y="0"/>
                </a:lnTo>
                <a:close/>
              </a:path>
              <a:path w="539114" h="616585">
                <a:moveTo>
                  <a:pt x="535074" y="131558"/>
                </a:moveTo>
                <a:lnTo>
                  <a:pt x="492196" y="131558"/>
                </a:lnTo>
                <a:lnTo>
                  <a:pt x="538802" y="169905"/>
                </a:lnTo>
                <a:lnTo>
                  <a:pt x="535074" y="131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235471" y="3233420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1235471" y="4986020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91732" y="4684267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22706" y="4693411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197355"/>
            <a:ext cx="7251065" cy="723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75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5"/>
              <a:t>Each </a:t>
            </a:r>
            <a:r>
              <a:rPr dirty="0" sz="2400" spc="-5"/>
              <a:t>node </a:t>
            </a:r>
            <a:r>
              <a:rPr dirty="0" sz="2400" spc="-10"/>
              <a:t>maintains </a:t>
            </a:r>
            <a:r>
              <a:rPr dirty="0" sz="2400" spc="-15">
                <a:solidFill>
                  <a:srgbClr val="FF0000"/>
                </a:solidFill>
              </a:rPr>
              <a:t>vectors </a:t>
            </a:r>
            <a:r>
              <a:rPr dirty="0" sz="2400" spc="-5">
                <a:latin typeface="Cambria Math"/>
                <a:cs typeface="Cambria Math"/>
              </a:rPr>
              <a:t>𝒛</a:t>
            </a:r>
            <a:r>
              <a:rPr dirty="0" baseline="-15432" sz="2700" spc="-7">
                <a:latin typeface="Cambria Math"/>
                <a:cs typeface="Cambria Math"/>
              </a:rPr>
              <a:t>𝒗 </a:t>
            </a:r>
            <a:r>
              <a:rPr dirty="0" sz="2400" spc="-5">
                <a:solidFill>
                  <a:srgbClr val="FF0000"/>
                </a:solidFill>
              </a:rPr>
              <a:t>of neighborhood</a:t>
            </a:r>
            <a:r>
              <a:rPr dirty="0" sz="2400" spc="90">
                <a:solidFill>
                  <a:srgbClr val="FF0000"/>
                </a:solidFill>
              </a:rPr>
              <a:t> </a:t>
            </a:r>
            <a:r>
              <a:rPr dirty="0" sz="2400" spc="-5">
                <a:solidFill>
                  <a:srgbClr val="FF0000"/>
                </a:solidFill>
              </a:rPr>
              <a:t>labels</a:t>
            </a:r>
            <a:r>
              <a:rPr dirty="0" sz="2400" spc="-5"/>
              <a:t>:</a:t>
            </a:r>
            <a:endParaRPr sz="2400">
              <a:latin typeface="Cambria Math"/>
              <a:cs typeface="Cambria Math"/>
            </a:endParaRPr>
          </a:p>
          <a:p>
            <a:pPr marL="332740">
              <a:lnSpc>
                <a:spcPts val="2750"/>
              </a:lnSpc>
            </a:pPr>
            <a:r>
              <a:rPr dirty="0" sz="2400">
                <a:latin typeface="Cambria Math"/>
                <a:cs typeface="Cambria Math"/>
              </a:rPr>
              <a:t>𝐼 </a:t>
            </a:r>
            <a:r>
              <a:rPr dirty="0" sz="2400"/>
              <a:t>= </a:t>
            </a:r>
            <a:r>
              <a:rPr dirty="0" sz="2400" spc="-5" b="1">
                <a:latin typeface="Calibri"/>
                <a:cs typeface="Calibri"/>
              </a:rPr>
              <a:t>Incoming </a:t>
            </a:r>
            <a:r>
              <a:rPr dirty="0" sz="2400" spc="-5"/>
              <a:t>neighbor label </a:t>
            </a:r>
            <a:r>
              <a:rPr dirty="0" sz="2400" spc="-15"/>
              <a:t>information</a:t>
            </a:r>
            <a:r>
              <a:rPr dirty="0" sz="2400" spc="90"/>
              <a:t> </a:t>
            </a:r>
            <a:r>
              <a:rPr dirty="0" sz="2400" spc="-15"/>
              <a:t>vector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2168" y="326136"/>
            <a:ext cx="7949183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74835" y="33468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74835" y="33468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57251" y="3534155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74835" y="510240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899"/>
                </a:lnTo>
                <a:lnTo>
                  <a:pt x="275700" y="720348"/>
                </a:lnTo>
                <a:lnTo>
                  <a:pt x="319879" y="728669"/>
                </a:lnTo>
                <a:lnTo>
                  <a:pt x="365759" y="731519"/>
                </a:lnTo>
                <a:lnTo>
                  <a:pt x="411640" y="728669"/>
                </a:lnTo>
                <a:lnTo>
                  <a:pt x="455819" y="720348"/>
                </a:lnTo>
                <a:lnTo>
                  <a:pt x="497955" y="706899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74835" y="510240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57251" y="5289803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72344" y="415793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72344" y="415793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54760" y="4344923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32202" y="41698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32202" y="41698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14619" y="4357115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7734" y="4078404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3" y="1031895"/>
                </a:lnTo>
                <a:lnTo>
                  <a:pt x="34970" y="1038292"/>
                </a:lnTo>
                <a:lnTo>
                  <a:pt x="50753" y="1038292"/>
                </a:lnTo>
                <a:lnTo>
                  <a:pt x="57148" y="1031895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90034" y="3696323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5"/>
                </a:moveTo>
                <a:lnTo>
                  <a:pt x="1386550" y="823379"/>
                </a:lnTo>
                <a:lnTo>
                  <a:pt x="1482309" y="827373"/>
                </a:lnTo>
                <a:lnTo>
                  <a:pt x="1469767" y="809111"/>
                </a:lnTo>
                <a:lnTo>
                  <a:pt x="1419790" y="809111"/>
                </a:lnTo>
                <a:lnTo>
                  <a:pt x="1400383" y="798375"/>
                </a:lnTo>
                <a:close/>
              </a:path>
              <a:path w="1482725" h="827404">
                <a:moveTo>
                  <a:pt x="1414216" y="773371"/>
                </a:moveTo>
                <a:lnTo>
                  <a:pt x="1400383" y="798375"/>
                </a:lnTo>
                <a:lnTo>
                  <a:pt x="1419790" y="809111"/>
                </a:lnTo>
                <a:lnTo>
                  <a:pt x="1428483" y="806611"/>
                </a:lnTo>
                <a:lnTo>
                  <a:pt x="1436123" y="792802"/>
                </a:lnTo>
                <a:lnTo>
                  <a:pt x="1433622" y="784108"/>
                </a:lnTo>
                <a:lnTo>
                  <a:pt x="1414216" y="773371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1"/>
                </a:lnTo>
                <a:lnTo>
                  <a:pt x="1433622" y="784108"/>
                </a:lnTo>
                <a:lnTo>
                  <a:pt x="1436123" y="792802"/>
                </a:lnTo>
                <a:lnTo>
                  <a:pt x="1428483" y="806611"/>
                </a:lnTo>
                <a:lnTo>
                  <a:pt x="1419790" y="809111"/>
                </a:lnTo>
                <a:lnTo>
                  <a:pt x="1469767" y="809111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09"/>
                </a:lnTo>
                <a:lnTo>
                  <a:pt x="2500" y="25002"/>
                </a:lnTo>
                <a:lnTo>
                  <a:pt x="1400383" y="798375"/>
                </a:lnTo>
                <a:lnTo>
                  <a:pt x="1414216" y="773371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06355" y="4507412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0"/>
                </a:lnTo>
                <a:lnTo>
                  <a:pt x="87540" y="938349"/>
                </a:lnTo>
                <a:lnTo>
                  <a:pt x="61159" y="938349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49"/>
                </a:lnTo>
                <a:lnTo>
                  <a:pt x="79802" y="926338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38"/>
                </a:moveTo>
                <a:lnTo>
                  <a:pt x="61159" y="938349"/>
                </a:lnTo>
                <a:lnTo>
                  <a:pt x="87540" y="938349"/>
                </a:lnTo>
                <a:lnTo>
                  <a:pt x="79802" y="926338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38"/>
                </a:lnTo>
                <a:lnTo>
                  <a:pt x="1480360" y="24020"/>
                </a:lnTo>
                <a:lnTo>
                  <a:pt x="1482274" y="15179"/>
                </a:lnTo>
                <a:lnTo>
                  <a:pt x="1473727" y="1912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89506" y="4491945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5"/>
                </a:lnTo>
                <a:lnTo>
                  <a:pt x="1285477" y="51007"/>
                </a:lnTo>
                <a:lnTo>
                  <a:pt x="1279023" y="57346"/>
                </a:lnTo>
                <a:lnTo>
                  <a:pt x="1256844" y="57346"/>
                </a:lnTo>
                <a:lnTo>
                  <a:pt x="1256591" y="85722"/>
                </a:lnTo>
                <a:lnTo>
                  <a:pt x="1314632" y="57346"/>
                </a:lnTo>
                <a:lnTo>
                  <a:pt x="1279023" y="57346"/>
                </a:lnTo>
                <a:lnTo>
                  <a:pt x="1315038" y="57148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8"/>
                </a:lnTo>
                <a:lnTo>
                  <a:pt x="1279023" y="57346"/>
                </a:lnTo>
                <a:lnTo>
                  <a:pt x="1285477" y="51007"/>
                </a:lnTo>
                <a:lnTo>
                  <a:pt x="1285618" y="35225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3"/>
                </a:moveTo>
                <a:lnTo>
                  <a:pt x="140" y="23733"/>
                </a:lnTo>
                <a:lnTo>
                  <a:pt x="0" y="39514"/>
                </a:lnTo>
                <a:lnTo>
                  <a:pt x="6339" y="45967"/>
                </a:lnTo>
                <a:lnTo>
                  <a:pt x="1256846" y="57148"/>
                </a:lnTo>
                <a:lnTo>
                  <a:pt x="1257101" y="28573"/>
                </a:lnTo>
                <a:lnTo>
                  <a:pt x="6595" y="17393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06985" y="3333289"/>
          <a:ext cx="605155" cy="975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ts val="213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ts val="213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09191" y="4819974"/>
          <a:ext cx="605155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23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57785">
                        <a:lnSpc>
                          <a:spcPts val="2135"/>
                        </a:lnSpc>
                        <a:spcBef>
                          <a:spcPts val="2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2135"/>
                        </a:lnSpc>
                        <a:spcBef>
                          <a:spcPts val="2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511682" y="5529129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97432" y="5529129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4416328" y="4952307"/>
          <a:ext cx="605155" cy="1003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22860">
                        <a:lnSpc>
                          <a:spcPts val="214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14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615209" y="4966425"/>
          <a:ext cx="605155" cy="1010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r" marR="546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52705">
                        <a:lnSpc>
                          <a:spcPts val="214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214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012234" y="6095491"/>
            <a:ext cx="33483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Include network</a:t>
            </a:r>
            <a:r>
              <a:rPr dirty="0" sz="2400" spc="-1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2785" y="5909564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68873" y="3821684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66401" y="3833876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3040" y="3663188"/>
            <a:ext cx="112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8108" y="1858772"/>
            <a:ext cx="7433309" cy="1757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2690"/>
              </a:lnSpc>
              <a:spcBef>
                <a:spcPts val="100"/>
              </a:spcBef>
            </a:pPr>
            <a:r>
              <a:rPr dirty="0" sz="2400" spc="25">
                <a:latin typeface="Cambria Math"/>
                <a:cs typeface="Cambria Math"/>
              </a:rPr>
              <a:t>𝑂</a:t>
            </a:r>
            <a:r>
              <a:rPr dirty="0" sz="2400" spc="25">
                <a:latin typeface="Calibri"/>
                <a:cs typeface="Calibri"/>
              </a:rPr>
              <a:t>= </a:t>
            </a:r>
            <a:r>
              <a:rPr dirty="0" sz="2400" spc="-10" b="1">
                <a:latin typeface="Calibri"/>
                <a:cs typeface="Calibri"/>
              </a:rPr>
              <a:t>Outgoing </a:t>
            </a:r>
            <a:r>
              <a:rPr dirty="0" sz="2400" spc="-5">
                <a:latin typeface="Calibri"/>
                <a:cs typeface="Calibri"/>
              </a:rPr>
              <a:t>neighbor label </a:t>
            </a:r>
            <a:r>
              <a:rPr dirty="0" sz="2400" spc="-15">
                <a:latin typeface="Calibri"/>
                <a:cs typeface="Calibri"/>
              </a:rPr>
              <a:t>information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vector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555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  <a:tab pos="1101090" algn="l"/>
              </a:tabLst>
            </a:pPr>
            <a:r>
              <a:rPr dirty="0" sz="2400" spc="150">
                <a:latin typeface="Cambria Math"/>
                <a:cs typeface="Cambria Math"/>
              </a:rPr>
              <a:t>𝐼</a:t>
            </a:r>
            <a:r>
              <a:rPr dirty="0" baseline="-15432" sz="2700" spc="225">
                <a:latin typeface="Cambria Math"/>
                <a:cs typeface="Cambria Math"/>
              </a:rPr>
              <a:t>-</a:t>
            </a:r>
            <a:r>
              <a:rPr dirty="0" baseline="-15432" sz="2700" spc="8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	1 </a:t>
            </a:r>
            <a:r>
              <a:rPr dirty="0" sz="2400" spc="-5">
                <a:latin typeface="Calibri"/>
                <a:cs typeface="Calibri"/>
              </a:rPr>
              <a:t>if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10">
                <a:latin typeface="Calibri"/>
                <a:cs typeface="Calibri"/>
              </a:rPr>
              <a:t>least </a:t>
            </a:r>
            <a:r>
              <a:rPr dirty="0" sz="2400" spc="-5">
                <a:latin typeface="Calibri"/>
                <a:cs typeface="Calibri"/>
              </a:rPr>
              <a:t>one of the </a:t>
            </a:r>
            <a:r>
              <a:rPr dirty="0" sz="2400" spc="-10">
                <a:latin typeface="Calibri"/>
                <a:cs typeface="Calibri"/>
              </a:rPr>
              <a:t>incoming pages </a:t>
            </a:r>
            <a:r>
              <a:rPr dirty="0" sz="2400" spc="-5">
                <a:latin typeface="Calibri"/>
                <a:cs typeface="Calibri"/>
              </a:rPr>
              <a:t>is labelled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</a:t>
            </a:r>
            <a:r>
              <a:rPr dirty="0" sz="2400" spc="-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32740">
              <a:lnSpc>
                <a:spcPts val="2750"/>
              </a:lnSpc>
            </a:pPr>
            <a:r>
              <a:rPr dirty="0" sz="2400" spc="-5">
                <a:latin typeface="Calibri"/>
                <a:cs typeface="Calibri"/>
              </a:rPr>
              <a:t>Similar definitions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40">
                <a:latin typeface="Cambria Math"/>
                <a:cs typeface="Cambria Math"/>
              </a:rPr>
              <a:t>𝐼</a:t>
            </a:r>
            <a:r>
              <a:rPr dirty="0" baseline="-15432" sz="2700" spc="60">
                <a:latin typeface="Cambria Math"/>
                <a:cs typeface="Cambria Math"/>
              </a:rPr>
              <a:t>)</a:t>
            </a:r>
            <a:r>
              <a:rPr dirty="0" sz="2400" spc="40">
                <a:latin typeface="Calibri"/>
                <a:cs typeface="Calibri"/>
              </a:rPr>
              <a:t>, </a:t>
            </a:r>
            <a:r>
              <a:rPr dirty="0" sz="2400" spc="125">
                <a:latin typeface="Cambria Math"/>
                <a:cs typeface="Cambria Math"/>
              </a:rPr>
              <a:t>𝑂</a:t>
            </a:r>
            <a:r>
              <a:rPr dirty="0" baseline="-15432" sz="2700" spc="187">
                <a:latin typeface="Cambria Math"/>
                <a:cs typeface="Cambria Math"/>
              </a:rPr>
              <a:t>-</a:t>
            </a:r>
            <a:r>
              <a:rPr dirty="0" sz="2400" spc="125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20">
                <a:latin typeface="Calibri"/>
                <a:cs typeface="Calibri"/>
              </a:rPr>
              <a:t> </a:t>
            </a:r>
            <a:r>
              <a:rPr dirty="0" sz="2400" spc="60">
                <a:latin typeface="Cambria Math"/>
                <a:cs typeface="Cambria Math"/>
              </a:rPr>
              <a:t>𝑂</a:t>
            </a:r>
            <a:r>
              <a:rPr dirty="0" baseline="-15432" sz="2700" spc="89"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1290320">
              <a:lnSpc>
                <a:spcPct val="100000"/>
              </a:lnSpc>
              <a:spcBef>
                <a:spcPts val="91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625475">
              <a:lnSpc>
                <a:spcPct val="100000"/>
              </a:lnSpc>
              <a:spcBef>
                <a:spcPts val="405"/>
              </a:spcBef>
            </a:pPr>
            <a:r>
              <a:rPr dirty="0" sz="1800" spc="-70">
                <a:latin typeface="Cambria Math"/>
                <a:cs typeface="Cambria Math"/>
              </a:rPr>
              <a:t>𝑓</a:t>
            </a:r>
            <a:r>
              <a:rPr dirty="0" baseline="-14957" sz="1950" spc="-104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82024" y="5324347"/>
            <a:ext cx="112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49957" y="4976876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45127" y="5525515"/>
            <a:ext cx="180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38634" y="4848859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50331" y="4976876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2931" y="3791203"/>
            <a:ext cx="13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8469" y="3836923"/>
            <a:ext cx="339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r>
              <a:rPr dirty="0" sz="1300" spc="-15">
                <a:latin typeface="Cambria Math"/>
                <a:cs typeface="Cambria Math"/>
              </a:rPr>
              <a:t> </a:t>
            </a:r>
            <a:r>
              <a:rPr dirty="0" baseline="-37037" sz="2700">
                <a:latin typeface="Cambria Math"/>
                <a:cs typeface="Cambria Math"/>
              </a:rPr>
              <a:t>𝑂</a:t>
            </a:r>
            <a:endParaRPr baseline="-37037" sz="27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0222" y="5196332"/>
            <a:ext cx="393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864" sz="2700" spc="127">
                <a:latin typeface="Cambria Math"/>
                <a:cs typeface="Cambria Math"/>
              </a:rPr>
              <a:t>𝑧</a:t>
            </a:r>
            <a:r>
              <a:rPr dirty="0" baseline="-57692" sz="1950" spc="127">
                <a:latin typeface="Cambria Math"/>
                <a:cs typeface="Cambria Math"/>
              </a:rPr>
              <a:t>"</a:t>
            </a:r>
            <a:r>
              <a:rPr dirty="0" baseline="-57692" sz="1950" spc="11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13374" y="5440171"/>
            <a:ext cx="13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18911" y="5552440"/>
            <a:ext cx="31813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9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  <a:p>
            <a:pPr marL="149860">
              <a:lnSpc>
                <a:spcPts val="1789"/>
              </a:lnSpc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30623" y="5324347"/>
            <a:ext cx="363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160" algn="l"/>
              </a:tabLst>
            </a:pPr>
            <a:r>
              <a:rPr dirty="0" baseline="-27777" sz="2700">
                <a:latin typeface="Cambria Math"/>
                <a:cs typeface="Cambria Math"/>
              </a:rPr>
              <a:t>𝑧	</a:t>
            </a: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36160" y="5546344"/>
            <a:ext cx="300990" cy="4102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15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  <a:p>
            <a:pPr marL="133350">
              <a:lnSpc>
                <a:spcPts val="1814"/>
              </a:lnSpc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1449" y="3688276"/>
            <a:ext cx="1499235" cy="304800"/>
          </a:xfrm>
          <a:prstGeom prst="rect">
            <a:avLst/>
          </a:prstGeom>
          <a:solidFill>
            <a:srgbClr val="8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95"/>
              </a:lnSpc>
            </a:pPr>
            <a:r>
              <a:rPr dirty="0" sz="2000" spc="-35" b="1">
                <a:solidFill>
                  <a:srgbClr val="F2F2F2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2F2F2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29149" y="3712972"/>
            <a:ext cx="3329940" cy="88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0AD00"/>
                </a:solidFill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80"/>
              </a:spcBef>
              <a:buClr>
                <a:srgbClr val="F0AD00"/>
              </a:buClr>
              <a:buSzPct val="80000"/>
              <a:buAutoNum type="arabicPeriod" startAt="2"/>
              <a:tabLst>
                <a:tab pos="621665" algn="l"/>
                <a:tab pos="622300" algn="l"/>
              </a:tabLst>
            </a:pPr>
            <a:r>
              <a:rPr dirty="0" sz="2000" spc="-5" b="1">
                <a:latin typeface="Calibri"/>
                <a:cs typeface="Calibri"/>
              </a:rPr>
              <a:t>Apply classifier </a:t>
            </a:r>
            <a:r>
              <a:rPr dirty="0" sz="2000" spc="-15" b="1">
                <a:latin typeface="Calibri"/>
                <a:cs typeface="Calibri"/>
              </a:rPr>
              <a:t>to test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 startAt="2"/>
              <a:tabLst>
                <a:tab pos="621665" algn="l"/>
                <a:tab pos="622300" algn="l"/>
              </a:tabLst>
            </a:pPr>
            <a:r>
              <a:rPr dirty="0" sz="2000" spc="-20" b="1"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1884" y="4584925"/>
            <a:ext cx="3073400" cy="6343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55"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marL="622300" indent="-60960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</a:t>
            </a:r>
            <a:r>
              <a:rPr dirty="0" sz="1600" spc="-5" b="1">
                <a:latin typeface="Calibri"/>
                <a:cs typeface="Calibri"/>
              </a:rPr>
              <a:t>label</a:t>
            </a:r>
            <a:r>
              <a:rPr dirty="0" sz="1600" spc="-110" b="1">
                <a:latin typeface="Calibri"/>
                <a:cs typeface="Calibri"/>
              </a:rPr>
              <a:t> </a:t>
            </a:r>
            <a:r>
              <a:rPr dirty="0" sz="1800" spc="-40">
                <a:latin typeface="Cambria Math"/>
                <a:cs typeface="Cambria Math"/>
              </a:rPr>
              <a:t>𝑌</a:t>
            </a:r>
            <a:r>
              <a:rPr dirty="0" baseline="-17094" sz="1950" spc="-60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168" y="326136"/>
            <a:ext cx="5705856" cy="496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5704" y="1130300"/>
            <a:ext cx="61652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/>
              <a:t>On </a:t>
            </a:r>
            <a:r>
              <a:rPr dirty="0" sz="2400"/>
              <a:t>a </a:t>
            </a:r>
            <a:r>
              <a:rPr dirty="0" sz="2400" spc="-15"/>
              <a:t>different </a:t>
            </a:r>
            <a:r>
              <a:rPr dirty="0" sz="2400" spc="-10" b="1">
                <a:latin typeface="Calibri"/>
                <a:cs typeface="Calibri"/>
              </a:rPr>
              <a:t>training </a:t>
            </a:r>
            <a:r>
              <a:rPr dirty="0" sz="2400" spc="-5" b="1">
                <a:latin typeface="Calibri"/>
                <a:cs typeface="Calibri"/>
              </a:rPr>
              <a:t>set</a:t>
            </a:r>
            <a:r>
              <a:rPr dirty="0" sz="2400" spc="-5"/>
              <a:t>, </a:t>
            </a:r>
            <a:r>
              <a:rPr dirty="0" sz="2400" spc="-15"/>
              <a:t>train two</a:t>
            </a:r>
            <a:r>
              <a:rPr dirty="0" sz="2400"/>
              <a:t> </a:t>
            </a:r>
            <a:r>
              <a:rPr dirty="0" sz="2400" spc="-10"/>
              <a:t>classifiers: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159" y="1488947"/>
            <a:ext cx="5171440" cy="7086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</a:tabLst>
            </a:pPr>
            <a:r>
              <a:rPr dirty="0" sz="2000" spc="-5">
                <a:latin typeface="Calibri"/>
                <a:cs typeface="Calibri"/>
              </a:rPr>
              <a:t>Node </a:t>
            </a:r>
            <a:r>
              <a:rPr dirty="0" sz="2000" spc="-10">
                <a:latin typeface="Calibri"/>
                <a:cs typeface="Calibri"/>
              </a:rPr>
              <a:t>attribute vector </a:t>
            </a:r>
            <a:r>
              <a:rPr dirty="0" sz="2000" spc="-5">
                <a:latin typeface="Calibri"/>
                <a:cs typeface="Calibri"/>
              </a:rPr>
              <a:t>only (</a:t>
            </a:r>
            <a:r>
              <a:rPr dirty="0" sz="2000" spc="-5">
                <a:solidFill>
                  <a:srgbClr val="008000"/>
                </a:solidFill>
                <a:latin typeface="Calibri"/>
                <a:cs typeface="Calibri"/>
              </a:rPr>
              <a:t>green </a:t>
            </a:r>
            <a:r>
              <a:rPr dirty="0" sz="2000" spc="-5">
                <a:latin typeface="Calibri"/>
                <a:cs typeface="Calibri"/>
              </a:rPr>
              <a:t>circles):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25">
                <a:latin typeface="Cambria Math"/>
                <a:cs typeface="Cambria Math"/>
              </a:rPr>
              <a:t>𝜙</a:t>
            </a:r>
            <a:r>
              <a:rPr dirty="0" baseline="-14814" sz="2250" spc="37">
                <a:latin typeface="Cambria Math"/>
                <a:cs typeface="Cambria Math"/>
              </a:rPr>
              <a:t>$</a:t>
            </a:r>
            <a:endParaRPr baseline="-14814" sz="225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</a:tabLst>
            </a:pPr>
            <a:r>
              <a:rPr dirty="0" sz="2000" spc="-5">
                <a:latin typeface="Calibri"/>
                <a:cs typeface="Calibri"/>
              </a:rPr>
              <a:t>Node </a:t>
            </a:r>
            <a:r>
              <a:rPr dirty="0" sz="2000" spc="-10">
                <a:latin typeface="Calibri"/>
                <a:cs typeface="Calibri"/>
              </a:rPr>
              <a:t>attribute </a:t>
            </a:r>
            <a:r>
              <a:rPr dirty="0" sz="2000" spc="-5">
                <a:latin typeface="Calibri"/>
                <a:cs typeface="Calibri"/>
              </a:rPr>
              <a:t>and link </a:t>
            </a:r>
            <a:r>
              <a:rPr dirty="0" sz="2000" spc="-15">
                <a:latin typeface="Calibri"/>
                <a:cs typeface="Calibri"/>
              </a:rPr>
              <a:t>vectors </a:t>
            </a:r>
            <a:r>
              <a:rPr dirty="0" sz="2000" spc="-5">
                <a:latin typeface="Calibri"/>
                <a:cs typeface="Calibri"/>
              </a:rPr>
              <a:t>(</a:t>
            </a:r>
            <a:r>
              <a:rPr dirty="0" sz="2000" spc="-5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dirty="0" sz="2000" spc="-5">
                <a:latin typeface="Calibri"/>
                <a:cs typeface="Calibri"/>
              </a:rPr>
              <a:t>circles):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35">
                <a:latin typeface="Cambria Math"/>
                <a:cs typeface="Cambria Math"/>
              </a:rPr>
              <a:t>𝜙</a:t>
            </a:r>
            <a:r>
              <a:rPr dirty="0" baseline="-14814" sz="2250" spc="-52">
                <a:latin typeface="Cambria Math"/>
                <a:cs typeface="Cambria Math"/>
              </a:rPr>
              <a:t>#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6824" y="3908066"/>
            <a:ext cx="1633855" cy="1216025"/>
          </a:xfrm>
          <a:custGeom>
            <a:avLst/>
            <a:gdLst/>
            <a:ahLst/>
            <a:cxnLst/>
            <a:rect l="l" t="t" r="r" b="b"/>
            <a:pathLst>
              <a:path w="1633855" h="1216025">
                <a:moveTo>
                  <a:pt x="1556131" y="39601"/>
                </a:moveTo>
                <a:lnTo>
                  <a:pt x="1326" y="1193072"/>
                </a:lnTo>
                <a:lnTo>
                  <a:pt x="0" y="1202020"/>
                </a:lnTo>
                <a:lnTo>
                  <a:pt x="9402" y="1214695"/>
                </a:lnTo>
                <a:lnTo>
                  <a:pt x="18351" y="1216021"/>
                </a:lnTo>
                <a:lnTo>
                  <a:pt x="1573157" y="62550"/>
                </a:lnTo>
                <a:lnTo>
                  <a:pt x="1556131" y="39601"/>
                </a:lnTo>
                <a:close/>
              </a:path>
              <a:path w="1633855" h="1216025">
                <a:moveTo>
                  <a:pt x="1620126" y="26386"/>
                </a:moveTo>
                <a:lnTo>
                  <a:pt x="1573943" y="26386"/>
                </a:lnTo>
                <a:lnTo>
                  <a:pt x="1582892" y="27712"/>
                </a:lnTo>
                <a:lnTo>
                  <a:pt x="1592294" y="40387"/>
                </a:lnTo>
                <a:lnTo>
                  <a:pt x="1590968" y="49336"/>
                </a:lnTo>
                <a:lnTo>
                  <a:pt x="1573157" y="62550"/>
                </a:lnTo>
                <a:lnTo>
                  <a:pt x="1590182" y="85500"/>
                </a:lnTo>
                <a:lnTo>
                  <a:pt x="1620126" y="26386"/>
                </a:lnTo>
                <a:close/>
              </a:path>
              <a:path w="1633855" h="1216025">
                <a:moveTo>
                  <a:pt x="1573943" y="26386"/>
                </a:moveTo>
                <a:lnTo>
                  <a:pt x="1556131" y="39601"/>
                </a:lnTo>
                <a:lnTo>
                  <a:pt x="1573157" y="62550"/>
                </a:lnTo>
                <a:lnTo>
                  <a:pt x="1590968" y="49336"/>
                </a:lnTo>
                <a:lnTo>
                  <a:pt x="1592294" y="40387"/>
                </a:lnTo>
                <a:lnTo>
                  <a:pt x="1582892" y="27712"/>
                </a:lnTo>
                <a:lnTo>
                  <a:pt x="1573943" y="26386"/>
                </a:lnTo>
                <a:close/>
              </a:path>
              <a:path w="1633855" h="1216025">
                <a:moveTo>
                  <a:pt x="1633492" y="0"/>
                </a:moveTo>
                <a:lnTo>
                  <a:pt x="1539105" y="16652"/>
                </a:lnTo>
                <a:lnTo>
                  <a:pt x="1556131" y="39601"/>
                </a:lnTo>
                <a:lnTo>
                  <a:pt x="1573943" y="26386"/>
                </a:lnTo>
                <a:lnTo>
                  <a:pt x="1620126" y="26386"/>
                </a:lnTo>
                <a:lnTo>
                  <a:pt x="16334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56086" y="4000908"/>
            <a:ext cx="85725" cy="1107440"/>
          </a:xfrm>
          <a:custGeom>
            <a:avLst/>
            <a:gdLst/>
            <a:ahLst/>
            <a:cxnLst/>
            <a:rect l="l" t="t" r="r" b="b"/>
            <a:pathLst>
              <a:path w="85725" h="1107439">
                <a:moveTo>
                  <a:pt x="28574" y="1021278"/>
                </a:moveTo>
                <a:lnTo>
                  <a:pt x="0" y="1021278"/>
                </a:lnTo>
                <a:lnTo>
                  <a:pt x="42862" y="1107003"/>
                </a:lnTo>
                <a:lnTo>
                  <a:pt x="71437" y="1049853"/>
                </a:lnTo>
                <a:lnTo>
                  <a:pt x="34971" y="1049853"/>
                </a:lnTo>
                <a:lnTo>
                  <a:pt x="28575" y="1043456"/>
                </a:lnTo>
                <a:lnTo>
                  <a:pt x="28574" y="1021278"/>
                </a:lnTo>
                <a:close/>
              </a:path>
              <a:path w="85725" h="1107439">
                <a:moveTo>
                  <a:pt x="50751" y="0"/>
                </a:moveTo>
                <a:lnTo>
                  <a:pt x="34970" y="0"/>
                </a:lnTo>
                <a:lnTo>
                  <a:pt x="28573" y="6395"/>
                </a:lnTo>
                <a:lnTo>
                  <a:pt x="28575" y="1043456"/>
                </a:lnTo>
                <a:lnTo>
                  <a:pt x="34971" y="1049853"/>
                </a:lnTo>
                <a:lnTo>
                  <a:pt x="50753" y="1049853"/>
                </a:lnTo>
                <a:lnTo>
                  <a:pt x="57150" y="1043456"/>
                </a:lnTo>
                <a:lnTo>
                  <a:pt x="57148" y="6395"/>
                </a:lnTo>
                <a:lnTo>
                  <a:pt x="50751" y="0"/>
                </a:lnTo>
                <a:close/>
              </a:path>
              <a:path w="85725" h="1107439">
                <a:moveTo>
                  <a:pt x="85725" y="1021278"/>
                </a:moveTo>
                <a:lnTo>
                  <a:pt x="57149" y="1021278"/>
                </a:lnTo>
                <a:lnTo>
                  <a:pt x="57150" y="1043456"/>
                </a:lnTo>
                <a:lnTo>
                  <a:pt x="50753" y="1049853"/>
                </a:lnTo>
                <a:lnTo>
                  <a:pt x="71437" y="1049853"/>
                </a:lnTo>
                <a:lnTo>
                  <a:pt x="85725" y="1021278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50420" y="3606574"/>
            <a:ext cx="1235075" cy="85725"/>
          </a:xfrm>
          <a:custGeom>
            <a:avLst/>
            <a:gdLst/>
            <a:ahLst/>
            <a:cxnLst/>
            <a:rect l="l" t="t" r="r" b="b"/>
            <a:pathLst>
              <a:path w="1235075" h="85725">
                <a:moveTo>
                  <a:pt x="1148841" y="0"/>
                </a:moveTo>
                <a:lnTo>
                  <a:pt x="1148841" y="85725"/>
                </a:lnTo>
                <a:lnTo>
                  <a:pt x="1205991" y="57150"/>
                </a:lnTo>
                <a:lnTo>
                  <a:pt x="1171020" y="57150"/>
                </a:lnTo>
                <a:lnTo>
                  <a:pt x="1177416" y="50754"/>
                </a:lnTo>
                <a:lnTo>
                  <a:pt x="1177415" y="34970"/>
                </a:lnTo>
                <a:lnTo>
                  <a:pt x="1171020" y="28575"/>
                </a:lnTo>
                <a:lnTo>
                  <a:pt x="1205991" y="28575"/>
                </a:lnTo>
                <a:lnTo>
                  <a:pt x="1148841" y="0"/>
                </a:lnTo>
                <a:close/>
              </a:path>
              <a:path w="1235075" h="85725">
                <a:moveTo>
                  <a:pt x="1148841" y="28575"/>
                </a:moveTo>
                <a:lnTo>
                  <a:pt x="6396" y="28575"/>
                </a:lnTo>
                <a:lnTo>
                  <a:pt x="0" y="34970"/>
                </a:lnTo>
                <a:lnTo>
                  <a:pt x="1" y="50754"/>
                </a:lnTo>
                <a:lnTo>
                  <a:pt x="6396" y="57150"/>
                </a:lnTo>
                <a:lnTo>
                  <a:pt x="1148841" y="57150"/>
                </a:lnTo>
                <a:lnTo>
                  <a:pt x="1148841" y="28575"/>
                </a:lnTo>
                <a:close/>
              </a:path>
              <a:path w="1235075" h="85725">
                <a:moveTo>
                  <a:pt x="1205991" y="28575"/>
                </a:moveTo>
                <a:lnTo>
                  <a:pt x="1171020" y="28575"/>
                </a:lnTo>
                <a:lnTo>
                  <a:pt x="1177415" y="34970"/>
                </a:lnTo>
                <a:lnTo>
                  <a:pt x="1177416" y="50754"/>
                </a:lnTo>
                <a:lnTo>
                  <a:pt x="1171020" y="57150"/>
                </a:lnTo>
                <a:lnTo>
                  <a:pt x="1205991" y="57150"/>
                </a:lnTo>
                <a:lnTo>
                  <a:pt x="1234566" y="42862"/>
                </a:lnTo>
                <a:lnTo>
                  <a:pt x="1205991" y="2857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07885" y="4000908"/>
            <a:ext cx="85725" cy="1111250"/>
          </a:xfrm>
          <a:custGeom>
            <a:avLst/>
            <a:gdLst/>
            <a:ahLst/>
            <a:cxnLst/>
            <a:rect l="l" t="t" r="r" b="b"/>
            <a:pathLst>
              <a:path w="85725" h="1111250">
                <a:moveTo>
                  <a:pt x="28574" y="1025354"/>
                </a:moveTo>
                <a:lnTo>
                  <a:pt x="0" y="1025354"/>
                </a:lnTo>
                <a:lnTo>
                  <a:pt x="42862" y="1111079"/>
                </a:lnTo>
                <a:lnTo>
                  <a:pt x="71437" y="1053929"/>
                </a:lnTo>
                <a:lnTo>
                  <a:pt x="34970" y="1053929"/>
                </a:lnTo>
                <a:lnTo>
                  <a:pt x="28575" y="1047532"/>
                </a:lnTo>
                <a:lnTo>
                  <a:pt x="28574" y="1025354"/>
                </a:lnTo>
                <a:close/>
              </a:path>
              <a:path w="85725" h="1111250">
                <a:moveTo>
                  <a:pt x="50751" y="0"/>
                </a:moveTo>
                <a:lnTo>
                  <a:pt x="34970" y="0"/>
                </a:lnTo>
                <a:lnTo>
                  <a:pt x="28573" y="6395"/>
                </a:lnTo>
                <a:lnTo>
                  <a:pt x="28575" y="1047532"/>
                </a:lnTo>
                <a:lnTo>
                  <a:pt x="34970" y="1053929"/>
                </a:lnTo>
                <a:lnTo>
                  <a:pt x="50753" y="1053929"/>
                </a:lnTo>
                <a:lnTo>
                  <a:pt x="57150" y="1047532"/>
                </a:lnTo>
                <a:lnTo>
                  <a:pt x="57148" y="6395"/>
                </a:lnTo>
                <a:lnTo>
                  <a:pt x="50751" y="0"/>
                </a:lnTo>
                <a:close/>
              </a:path>
              <a:path w="85725" h="1111250">
                <a:moveTo>
                  <a:pt x="85725" y="1025354"/>
                </a:moveTo>
                <a:lnTo>
                  <a:pt x="57149" y="1025354"/>
                </a:lnTo>
                <a:lnTo>
                  <a:pt x="57150" y="1047532"/>
                </a:lnTo>
                <a:lnTo>
                  <a:pt x="50753" y="1053929"/>
                </a:lnTo>
                <a:lnTo>
                  <a:pt x="71437" y="1053929"/>
                </a:lnTo>
                <a:lnTo>
                  <a:pt x="85725" y="102535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57579" y="3908066"/>
            <a:ext cx="1450975" cy="1327150"/>
          </a:xfrm>
          <a:custGeom>
            <a:avLst/>
            <a:gdLst/>
            <a:ahLst/>
            <a:cxnLst/>
            <a:rect l="l" t="t" r="r" b="b"/>
            <a:pathLst>
              <a:path w="1450975" h="1327150">
                <a:moveTo>
                  <a:pt x="72917" y="47285"/>
                </a:moveTo>
                <a:lnTo>
                  <a:pt x="53639" y="68378"/>
                </a:lnTo>
                <a:lnTo>
                  <a:pt x="1430722" y="1326921"/>
                </a:lnTo>
                <a:lnTo>
                  <a:pt x="1439759" y="1326514"/>
                </a:lnTo>
                <a:lnTo>
                  <a:pt x="1450406" y="1314865"/>
                </a:lnTo>
                <a:lnTo>
                  <a:pt x="1449999" y="1305827"/>
                </a:lnTo>
                <a:lnTo>
                  <a:pt x="72917" y="47285"/>
                </a:lnTo>
                <a:close/>
              </a:path>
              <a:path w="1450975" h="1327150">
                <a:moveTo>
                  <a:pt x="0" y="0"/>
                </a:moveTo>
                <a:lnTo>
                  <a:pt x="34362" y="89471"/>
                </a:lnTo>
                <a:lnTo>
                  <a:pt x="53639" y="68378"/>
                </a:lnTo>
                <a:lnTo>
                  <a:pt x="37266" y="53414"/>
                </a:lnTo>
                <a:lnTo>
                  <a:pt x="36860" y="44377"/>
                </a:lnTo>
                <a:lnTo>
                  <a:pt x="47506" y="32727"/>
                </a:lnTo>
                <a:lnTo>
                  <a:pt x="56544" y="32321"/>
                </a:lnTo>
                <a:lnTo>
                  <a:pt x="86592" y="32321"/>
                </a:lnTo>
                <a:lnTo>
                  <a:pt x="92194" y="26192"/>
                </a:lnTo>
                <a:lnTo>
                  <a:pt x="0" y="0"/>
                </a:lnTo>
                <a:close/>
              </a:path>
              <a:path w="1450975" h="1327150">
                <a:moveTo>
                  <a:pt x="56544" y="32321"/>
                </a:moveTo>
                <a:lnTo>
                  <a:pt x="47506" y="32727"/>
                </a:lnTo>
                <a:lnTo>
                  <a:pt x="36860" y="44377"/>
                </a:lnTo>
                <a:lnTo>
                  <a:pt x="37266" y="53414"/>
                </a:lnTo>
                <a:lnTo>
                  <a:pt x="53639" y="68378"/>
                </a:lnTo>
                <a:lnTo>
                  <a:pt x="72917" y="47285"/>
                </a:lnTo>
                <a:lnTo>
                  <a:pt x="56544" y="32321"/>
                </a:lnTo>
                <a:close/>
              </a:path>
              <a:path w="1450975" h="1327150">
                <a:moveTo>
                  <a:pt x="86592" y="32321"/>
                </a:moveTo>
                <a:lnTo>
                  <a:pt x="56544" y="32321"/>
                </a:lnTo>
                <a:lnTo>
                  <a:pt x="72917" y="47285"/>
                </a:lnTo>
                <a:lnTo>
                  <a:pt x="86592" y="32321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59620" y="5151372"/>
          <a:ext cx="605155" cy="998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49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7145">
                        <a:lnSpc>
                          <a:spcPts val="2125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125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314585" y="2647700"/>
          <a:ext cx="605155" cy="97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L="2286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627460" y="2518041"/>
          <a:ext cx="605155" cy="969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ts val="2140"/>
                        </a:lnSpc>
                        <a:spcBef>
                          <a:spcPts val="1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  <a:spcBef>
                          <a:spcPts val="1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1053439" y="2550626"/>
            <a:ext cx="1231900" cy="457200"/>
          </a:xfrm>
          <a:custGeom>
            <a:avLst/>
            <a:gdLst/>
            <a:ahLst/>
            <a:cxnLst/>
            <a:rect l="l" t="t" r="r" b="b"/>
            <a:pathLst>
              <a:path w="1231900" h="457200">
                <a:moveTo>
                  <a:pt x="0" y="228600"/>
                </a:moveTo>
                <a:lnTo>
                  <a:pt x="14206" y="179559"/>
                </a:lnTo>
                <a:lnTo>
                  <a:pt x="54822" y="134185"/>
                </a:lnTo>
                <a:lnTo>
                  <a:pt x="118842" y="93591"/>
                </a:lnTo>
                <a:lnTo>
                  <a:pt x="158689" y="75436"/>
                </a:lnTo>
                <a:lnTo>
                  <a:pt x="203259" y="58895"/>
                </a:lnTo>
                <a:lnTo>
                  <a:pt x="252178" y="44106"/>
                </a:lnTo>
                <a:lnTo>
                  <a:pt x="305068" y="31210"/>
                </a:lnTo>
                <a:lnTo>
                  <a:pt x="361555" y="20346"/>
                </a:lnTo>
                <a:lnTo>
                  <a:pt x="421262" y="11654"/>
                </a:lnTo>
                <a:lnTo>
                  <a:pt x="483814" y="5272"/>
                </a:lnTo>
                <a:lnTo>
                  <a:pt x="548835" y="1341"/>
                </a:lnTo>
                <a:lnTo>
                  <a:pt x="615950" y="0"/>
                </a:lnTo>
                <a:lnTo>
                  <a:pt x="683065" y="1341"/>
                </a:lnTo>
                <a:lnTo>
                  <a:pt x="748086" y="5272"/>
                </a:lnTo>
                <a:lnTo>
                  <a:pt x="810638" y="11654"/>
                </a:lnTo>
                <a:lnTo>
                  <a:pt x="870345" y="20346"/>
                </a:lnTo>
                <a:lnTo>
                  <a:pt x="926832" y="31210"/>
                </a:lnTo>
                <a:lnTo>
                  <a:pt x="979722" y="44106"/>
                </a:lnTo>
                <a:lnTo>
                  <a:pt x="1028641" y="58895"/>
                </a:lnTo>
                <a:lnTo>
                  <a:pt x="1073211" y="75436"/>
                </a:lnTo>
                <a:lnTo>
                  <a:pt x="1113058" y="93591"/>
                </a:lnTo>
                <a:lnTo>
                  <a:pt x="1147805" y="113221"/>
                </a:lnTo>
                <a:lnTo>
                  <a:pt x="1200499" y="156344"/>
                </a:lnTo>
                <a:lnTo>
                  <a:pt x="1228286" y="203691"/>
                </a:lnTo>
                <a:lnTo>
                  <a:pt x="1231901" y="228600"/>
                </a:lnTo>
                <a:lnTo>
                  <a:pt x="1228286" y="253508"/>
                </a:lnTo>
                <a:lnTo>
                  <a:pt x="1200499" y="300855"/>
                </a:lnTo>
                <a:lnTo>
                  <a:pt x="1147805" y="343978"/>
                </a:lnTo>
                <a:lnTo>
                  <a:pt x="1113058" y="363608"/>
                </a:lnTo>
                <a:lnTo>
                  <a:pt x="1073211" y="381763"/>
                </a:lnTo>
                <a:lnTo>
                  <a:pt x="1028641" y="398304"/>
                </a:lnTo>
                <a:lnTo>
                  <a:pt x="979722" y="413093"/>
                </a:lnTo>
                <a:lnTo>
                  <a:pt x="926832" y="425989"/>
                </a:lnTo>
                <a:lnTo>
                  <a:pt x="870345" y="436853"/>
                </a:lnTo>
                <a:lnTo>
                  <a:pt x="810638" y="445545"/>
                </a:lnTo>
                <a:lnTo>
                  <a:pt x="748086" y="451927"/>
                </a:lnTo>
                <a:lnTo>
                  <a:pt x="683065" y="455858"/>
                </a:lnTo>
                <a:lnTo>
                  <a:pt x="615950" y="457200"/>
                </a:lnTo>
                <a:lnTo>
                  <a:pt x="548835" y="455858"/>
                </a:lnTo>
                <a:lnTo>
                  <a:pt x="483814" y="451927"/>
                </a:lnTo>
                <a:lnTo>
                  <a:pt x="421262" y="445545"/>
                </a:lnTo>
                <a:lnTo>
                  <a:pt x="361555" y="436853"/>
                </a:lnTo>
                <a:lnTo>
                  <a:pt x="305068" y="425989"/>
                </a:lnTo>
                <a:lnTo>
                  <a:pt x="252178" y="413093"/>
                </a:lnTo>
                <a:lnTo>
                  <a:pt x="203259" y="398304"/>
                </a:lnTo>
                <a:lnTo>
                  <a:pt x="158689" y="381763"/>
                </a:lnTo>
                <a:lnTo>
                  <a:pt x="118842" y="363608"/>
                </a:lnTo>
                <a:lnTo>
                  <a:pt x="84095" y="343978"/>
                </a:lnTo>
                <a:lnTo>
                  <a:pt x="31401" y="300855"/>
                </a:lnTo>
                <a:lnTo>
                  <a:pt x="3614" y="253508"/>
                </a:lnTo>
                <a:lnTo>
                  <a:pt x="0" y="22860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60848" y="2410565"/>
            <a:ext cx="1231900" cy="457200"/>
          </a:xfrm>
          <a:custGeom>
            <a:avLst/>
            <a:gdLst/>
            <a:ahLst/>
            <a:cxnLst/>
            <a:rect l="l" t="t" r="r" b="b"/>
            <a:pathLst>
              <a:path w="1231900" h="457200">
                <a:moveTo>
                  <a:pt x="0" y="228600"/>
                </a:moveTo>
                <a:lnTo>
                  <a:pt x="14206" y="179559"/>
                </a:lnTo>
                <a:lnTo>
                  <a:pt x="54822" y="134185"/>
                </a:lnTo>
                <a:lnTo>
                  <a:pt x="118842" y="93591"/>
                </a:lnTo>
                <a:lnTo>
                  <a:pt x="158689" y="75436"/>
                </a:lnTo>
                <a:lnTo>
                  <a:pt x="203259" y="58895"/>
                </a:lnTo>
                <a:lnTo>
                  <a:pt x="252178" y="44106"/>
                </a:lnTo>
                <a:lnTo>
                  <a:pt x="305068" y="31210"/>
                </a:lnTo>
                <a:lnTo>
                  <a:pt x="361555" y="20346"/>
                </a:lnTo>
                <a:lnTo>
                  <a:pt x="421262" y="11654"/>
                </a:lnTo>
                <a:lnTo>
                  <a:pt x="483814" y="5272"/>
                </a:lnTo>
                <a:lnTo>
                  <a:pt x="548835" y="1341"/>
                </a:lnTo>
                <a:lnTo>
                  <a:pt x="615950" y="0"/>
                </a:lnTo>
                <a:lnTo>
                  <a:pt x="683065" y="1341"/>
                </a:lnTo>
                <a:lnTo>
                  <a:pt x="748086" y="5272"/>
                </a:lnTo>
                <a:lnTo>
                  <a:pt x="810638" y="11654"/>
                </a:lnTo>
                <a:lnTo>
                  <a:pt x="870345" y="20346"/>
                </a:lnTo>
                <a:lnTo>
                  <a:pt x="926832" y="31210"/>
                </a:lnTo>
                <a:lnTo>
                  <a:pt x="979722" y="44106"/>
                </a:lnTo>
                <a:lnTo>
                  <a:pt x="1028641" y="58895"/>
                </a:lnTo>
                <a:lnTo>
                  <a:pt x="1073211" y="75436"/>
                </a:lnTo>
                <a:lnTo>
                  <a:pt x="1113058" y="93591"/>
                </a:lnTo>
                <a:lnTo>
                  <a:pt x="1147805" y="113221"/>
                </a:lnTo>
                <a:lnTo>
                  <a:pt x="1200499" y="156344"/>
                </a:lnTo>
                <a:lnTo>
                  <a:pt x="1228286" y="203691"/>
                </a:lnTo>
                <a:lnTo>
                  <a:pt x="1231901" y="228600"/>
                </a:lnTo>
                <a:lnTo>
                  <a:pt x="1228286" y="253508"/>
                </a:lnTo>
                <a:lnTo>
                  <a:pt x="1200499" y="300855"/>
                </a:lnTo>
                <a:lnTo>
                  <a:pt x="1147805" y="343978"/>
                </a:lnTo>
                <a:lnTo>
                  <a:pt x="1113058" y="363608"/>
                </a:lnTo>
                <a:lnTo>
                  <a:pt x="1073211" y="381763"/>
                </a:lnTo>
                <a:lnTo>
                  <a:pt x="1028641" y="398304"/>
                </a:lnTo>
                <a:lnTo>
                  <a:pt x="979722" y="413093"/>
                </a:lnTo>
                <a:lnTo>
                  <a:pt x="926832" y="425989"/>
                </a:lnTo>
                <a:lnTo>
                  <a:pt x="870345" y="436853"/>
                </a:lnTo>
                <a:lnTo>
                  <a:pt x="810638" y="445545"/>
                </a:lnTo>
                <a:lnTo>
                  <a:pt x="748086" y="451927"/>
                </a:lnTo>
                <a:lnTo>
                  <a:pt x="683065" y="455858"/>
                </a:lnTo>
                <a:lnTo>
                  <a:pt x="615950" y="457200"/>
                </a:lnTo>
                <a:lnTo>
                  <a:pt x="548835" y="455858"/>
                </a:lnTo>
                <a:lnTo>
                  <a:pt x="483814" y="451927"/>
                </a:lnTo>
                <a:lnTo>
                  <a:pt x="421262" y="445545"/>
                </a:lnTo>
                <a:lnTo>
                  <a:pt x="361555" y="436853"/>
                </a:lnTo>
                <a:lnTo>
                  <a:pt x="305068" y="425989"/>
                </a:lnTo>
                <a:lnTo>
                  <a:pt x="252178" y="413093"/>
                </a:lnTo>
                <a:lnTo>
                  <a:pt x="203259" y="398304"/>
                </a:lnTo>
                <a:lnTo>
                  <a:pt x="158689" y="381763"/>
                </a:lnTo>
                <a:lnTo>
                  <a:pt x="118842" y="363608"/>
                </a:lnTo>
                <a:lnTo>
                  <a:pt x="84095" y="343978"/>
                </a:lnTo>
                <a:lnTo>
                  <a:pt x="31401" y="300855"/>
                </a:lnTo>
                <a:lnTo>
                  <a:pt x="3614" y="253508"/>
                </a:lnTo>
                <a:lnTo>
                  <a:pt x="0" y="22860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98394" y="2452236"/>
            <a:ext cx="993140" cy="1304290"/>
          </a:xfrm>
          <a:custGeom>
            <a:avLst/>
            <a:gdLst/>
            <a:ahLst/>
            <a:cxnLst/>
            <a:rect l="l" t="t" r="r" b="b"/>
            <a:pathLst>
              <a:path w="993139" h="1304289">
                <a:moveTo>
                  <a:pt x="0" y="651901"/>
                </a:moveTo>
                <a:lnTo>
                  <a:pt x="1645" y="598435"/>
                </a:lnTo>
                <a:lnTo>
                  <a:pt x="6496" y="546159"/>
                </a:lnTo>
                <a:lnTo>
                  <a:pt x="14424" y="495242"/>
                </a:lnTo>
                <a:lnTo>
                  <a:pt x="25303" y="445850"/>
                </a:lnTo>
                <a:lnTo>
                  <a:pt x="39004" y="398152"/>
                </a:lnTo>
                <a:lnTo>
                  <a:pt x="55399" y="352315"/>
                </a:lnTo>
                <a:lnTo>
                  <a:pt x="74361" y="308507"/>
                </a:lnTo>
                <a:lnTo>
                  <a:pt x="95762" y="266896"/>
                </a:lnTo>
                <a:lnTo>
                  <a:pt x="119475" y="227650"/>
                </a:lnTo>
                <a:lnTo>
                  <a:pt x="145371" y="190937"/>
                </a:lnTo>
                <a:lnTo>
                  <a:pt x="173323" y="156924"/>
                </a:lnTo>
                <a:lnTo>
                  <a:pt x="203204" y="125779"/>
                </a:lnTo>
                <a:lnTo>
                  <a:pt x="234884" y="97669"/>
                </a:lnTo>
                <a:lnTo>
                  <a:pt x="268238" y="72764"/>
                </a:lnTo>
                <a:lnTo>
                  <a:pt x="303136" y="51229"/>
                </a:lnTo>
                <a:lnTo>
                  <a:pt x="339451" y="33234"/>
                </a:lnTo>
                <a:lnTo>
                  <a:pt x="377056" y="18945"/>
                </a:lnTo>
                <a:lnTo>
                  <a:pt x="415823" y="8532"/>
                </a:lnTo>
                <a:lnTo>
                  <a:pt x="455623" y="2161"/>
                </a:lnTo>
                <a:lnTo>
                  <a:pt x="496330" y="0"/>
                </a:lnTo>
                <a:lnTo>
                  <a:pt x="537037" y="2161"/>
                </a:lnTo>
                <a:lnTo>
                  <a:pt x="576837" y="8532"/>
                </a:lnTo>
                <a:lnTo>
                  <a:pt x="615604" y="18945"/>
                </a:lnTo>
                <a:lnTo>
                  <a:pt x="653209" y="33234"/>
                </a:lnTo>
                <a:lnTo>
                  <a:pt x="689524" y="51229"/>
                </a:lnTo>
                <a:lnTo>
                  <a:pt x="724422" y="72764"/>
                </a:lnTo>
                <a:lnTo>
                  <a:pt x="757776" y="97669"/>
                </a:lnTo>
                <a:lnTo>
                  <a:pt x="789456" y="125779"/>
                </a:lnTo>
                <a:lnTo>
                  <a:pt x="819337" y="156924"/>
                </a:lnTo>
                <a:lnTo>
                  <a:pt x="847289" y="190937"/>
                </a:lnTo>
                <a:lnTo>
                  <a:pt x="873185" y="227650"/>
                </a:lnTo>
                <a:lnTo>
                  <a:pt x="896897" y="266896"/>
                </a:lnTo>
                <a:lnTo>
                  <a:pt x="918299" y="308507"/>
                </a:lnTo>
                <a:lnTo>
                  <a:pt x="937261" y="352315"/>
                </a:lnTo>
                <a:lnTo>
                  <a:pt x="953656" y="398152"/>
                </a:lnTo>
                <a:lnTo>
                  <a:pt x="967357" y="445850"/>
                </a:lnTo>
                <a:lnTo>
                  <a:pt x="978236" y="495242"/>
                </a:lnTo>
                <a:lnTo>
                  <a:pt x="986164" y="546159"/>
                </a:lnTo>
                <a:lnTo>
                  <a:pt x="991015" y="598435"/>
                </a:lnTo>
                <a:lnTo>
                  <a:pt x="992661" y="651901"/>
                </a:lnTo>
                <a:lnTo>
                  <a:pt x="991015" y="705367"/>
                </a:lnTo>
                <a:lnTo>
                  <a:pt x="986164" y="757643"/>
                </a:lnTo>
                <a:lnTo>
                  <a:pt x="978236" y="808561"/>
                </a:lnTo>
                <a:lnTo>
                  <a:pt x="967357" y="857952"/>
                </a:lnTo>
                <a:lnTo>
                  <a:pt x="953656" y="905651"/>
                </a:lnTo>
                <a:lnTo>
                  <a:pt x="937261" y="951487"/>
                </a:lnTo>
                <a:lnTo>
                  <a:pt x="918299" y="995295"/>
                </a:lnTo>
                <a:lnTo>
                  <a:pt x="896897" y="1036906"/>
                </a:lnTo>
                <a:lnTo>
                  <a:pt x="873185" y="1076152"/>
                </a:lnTo>
                <a:lnTo>
                  <a:pt x="847289" y="1112865"/>
                </a:lnTo>
                <a:lnTo>
                  <a:pt x="819337" y="1146878"/>
                </a:lnTo>
                <a:lnTo>
                  <a:pt x="789456" y="1178023"/>
                </a:lnTo>
                <a:lnTo>
                  <a:pt x="757776" y="1206133"/>
                </a:lnTo>
                <a:lnTo>
                  <a:pt x="724422" y="1231039"/>
                </a:lnTo>
                <a:lnTo>
                  <a:pt x="689524" y="1252573"/>
                </a:lnTo>
                <a:lnTo>
                  <a:pt x="653209" y="1270568"/>
                </a:lnTo>
                <a:lnTo>
                  <a:pt x="615604" y="1284857"/>
                </a:lnTo>
                <a:lnTo>
                  <a:pt x="576837" y="1295270"/>
                </a:lnTo>
                <a:lnTo>
                  <a:pt x="537037" y="1301641"/>
                </a:lnTo>
                <a:lnTo>
                  <a:pt x="496330" y="1303803"/>
                </a:lnTo>
                <a:lnTo>
                  <a:pt x="455623" y="1301641"/>
                </a:lnTo>
                <a:lnTo>
                  <a:pt x="415823" y="1295270"/>
                </a:lnTo>
                <a:lnTo>
                  <a:pt x="377056" y="1284857"/>
                </a:lnTo>
                <a:lnTo>
                  <a:pt x="339451" y="1270568"/>
                </a:lnTo>
                <a:lnTo>
                  <a:pt x="303136" y="1252573"/>
                </a:lnTo>
                <a:lnTo>
                  <a:pt x="268238" y="1231039"/>
                </a:lnTo>
                <a:lnTo>
                  <a:pt x="234884" y="1206133"/>
                </a:lnTo>
                <a:lnTo>
                  <a:pt x="203204" y="1178023"/>
                </a:lnTo>
                <a:lnTo>
                  <a:pt x="173323" y="1146878"/>
                </a:lnTo>
                <a:lnTo>
                  <a:pt x="145371" y="1112865"/>
                </a:lnTo>
                <a:lnTo>
                  <a:pt x="119475" y="1076152"/>
                </a:lnTo>
                <a:lnTo>
                  <a:pt x="95762" y="1036906"/>
                </a:lnTo>
                <a:lnTo>
                  <a:pt x="74361" y="995295"/>
                </a:lnTo>
                <a:lnTo>
                  <a:pt x="55399" y="951487"/>
                </a:lnTo>
                <a:lnTo>
                  <a:pt x="39004" y="905651"/>
                </a:lnTo>
                <a:lnTo>
                  <a:pt x="25303" y="857952"/>
                </a:lnTo>
                <a:lnTo>
                  <a:pt x="14424" y="808561"/>
                </a:lnTo>
                <a:lnTo>
                  <a:pt x="6496" y="757643"/>
                </a:lnTo>
                <a:lnTo>
                  <a:pt x="1645" y="705367"/>
                </a:lnTo>
                <a:lnTo>
                  <a:pt x="0" y="651901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81577" y="2435710"/>
            <a:ext cx="889635" cy="1158240"/>
          </a:xfrm>
          <a:custGeom>
            <a:avLst/>
            <a:gdLst/>
            <a:ahLst/>
            <a:cxnLst/>
            <a:rect l="l" t="t" r="r" b="b"/>
            <a:pathLst>
              <a:path w="889635" h="1158239">
                <a:moveTo>
                  <a:pt x="0" y="579070"/>
                </a:moveTo>
                <a:lnTo>
                  <a:pt x="1817" y="526363"/>
                </a:lnTo>
                <a:lnTo>
                  <a:pt x="7164" y="474981"/>
                </a:lnTo>
                <a:lnTo>
                  <a:pt x="15883" y="425130"/>
                </a:lnTo>
                <a:lnTo>
                  <a:pt x="27819" y="377014"/>
                </a:lnTo>
                <a:lnTo>
                  <a:pt x="42813" y="330836"/>
                </a:lnTo>
                <a:lnTo>
                  <a:pt x="60710" y="286802"/>
                </a:lnTo>
                <a:lnTo>
                  <a:pt x="81351" y="245116"/>
                </a:lnTo>
                <a:lnTo>
                  <a:pt x="104580" y="205982"/>
                </a:lnTo>
                <a:lnTo>
                  <a:pt x="130240" y="169605"/>
                </a:lnTo>
                <a:lnTo>
                  <a:pt x="158174" y="136190"/>
                </a:lnTo>
                <a:lnTo>
                  <a:pt x="188224" y="105940"/>
                </a:lnTo>
                <a:lnTo>
                  <a:pt x="220235" y="79060"/>
                </a:lnTo>
                <a:lnTo>
                  <a:pt x="254049" y="55754"/>
                </a:lnTo>
                <a:lnTo>
                  <a:pt x="289508" y="36228"/>
                </a:lnTo>
                <a:lnTo>
                  <a:pt x="326457" y="20684"/>
                </a:lnTo>
                <a:lnTo>
                  <a:pt x="364738" y="9329"/>
                </a:lnTo>
                <a:lnTo>
                  <a:pt x="404194" y="2366"/>
                </a:lnTo>
                <a:lnTo>
                  <a:pt x="444668" y="0"/>
                </a:lnTo>
                <a:lnTo>
                  <a:pt x="485141" y="2366"/>
                </a:lnTo>
                <a:lnTo>
                  <a:pt x="524597" y="9329"/>
                </a:lnTo>
                <a:lnTo>
                  <a:pt x="562878" y="20684"/>
                </a:lnTo>
                <a:lnTo>
                  <a:pt x="599827" y="36228"/>
                </a:lnTo>
                <a:lnTo>
                  <a:pt x="635286" y="55754"/>
                </a:lnTo>
                <a:lnTo>
                  <a:pt x="669100" y="79060"/>
                </a:lnTo>
                <a:lnTo>
                  <a:pt x="701111" y="105940"/>
                </a:lnTo>
                <a:lnTo>
                  <a:pt x="731161" y="136190"/>
                </a:lnTo>
                <a:lnTo>
                  <a:pt x="759095" y="169605"/>
                </a:lnTo>
                <a:lnTo>
                  <a:pt x="784755" y="205982"/>
                </a:lnTo>
                <a:lnTo>
                  <a:pt x="807984" y="245116"/>
                </a:lnTo>
                <a:lnTo>
                  <a:pt x="828625" y="286802"/>
                </a:lnTo>
                <a:lnTo>
                  <a:pt x="846522" y="330836"/>
                </a:lnTo>
                <a:lnTo>
                  <a:pt x="861516" y="377014"/>
                </a:lnTo>
                <a:lnTo>
                  <a:pt x="873452" y="425130"/>
                </a:lnTo>
                <a:lnTo>
                  <a:pt x="882171" y="474981"/>
                </a:lnTo>
                <a:lnTo>
                  <a:pt x="887518" y="526363"/>
                </a:lnTo>
                <a:lnTo>
                  <a:pt x="889336" y="579070"/>
                </a:lnTo>
                <a:lnTo>
                  <a:pt x="887518" y="631777"/>
                </a:lnTo>
                <a:lnTo>
                  <a:pt x="882171" y="683159"/>
                </a:lnTo>
                <a:lnTo>
                  <a:pt x="873452" y="733010"/>
                </a:lnTo>
                <a:lnTo>
                  <a:pt x="861516" y="781126"/>
                </a:lnTo>
                <a:lnTo>
                  <a:pt x="846522" y="827304"/>
                </a:lnTo>
                <a:lnTo>
                  <a:pt x="828625" y="871338"/>
                </a:lnTo>
                <a:lnTo>
                  <a:pt x="807984" y="913024"/>
                </a:lnTo>
                <a:lnTo>
                  <a:pt x="784755" y="952158"/>
                </a:lnTo>
                <a:lnTo>
                  <a:pt x="759095" y="988535"/>
                </a:lnTo>
                <a:lnTo>
                  <a:pt x="731161" y="1021950"/>
                </a:lnTo>
                <a:lnTo>
                  <a:pt x="701111" y="1052200"/>
                </a:lnTo>
                <a:lnTo>
                  <a:pt x="669100" y="1079080"/>
                </a:lnTo>
                <a:lnTo>
                  <a:pt x="635286" y="1102386"/>
                </a:lnTo>
                <a:lnTo>
                  <a:pt x="599827" y="1121912"/>
                </a:lnTo>
                <a:lnTo>
                  <a:pt x="562878" y="1137456"/>
                </a:lnTo>
                <a:lnTo>
                  <a:pt x="524597" y="1148811"/>
                </a:lnTo>
                <a:lnTo>
                  <a:pt x="485141" y="1155774"/>
                </a:lnTo>
                <a:lnTo>
                  <a:pt x="444668" y="1158141"/>
                </a:lnTo>
                <a:lnTo>
                  <a:pt x="404194" y="1155774"/>
                </a:lnTo>
                <a:lnTo>
                  <a:pt x="364738" y="1148811"/>
                </a:lnTo>
                <a:lnTo>
                  <a:pt x="326457" y="1137456"/>
                </a:lnTo>
                <a:lnTo>
                  <a:pt x="289508" y="1121912"/>
                </a:lnTo>
                <a:lnTo>
                  <a:pt x="254049" y="1102386"/>
                </a:lnTo>
                <a:lnTo>
                  <a:pt x="220235" y="1079080"/>
                </a:lnTo>
                <a:lnTo>
                  <a:pt x="188224" y="1052200"/>
                </a:lnTo>
                <a:lnTo>
                  <a:pt x="158174" y="1021950"/>
                </a:lnTo>
                <a:lnTo>
                  <a:pt x="130240" y="988535"/>
                </a:lnTo>
                <a:lnTo>
                  <a:pt x="104580" y="952158"/>
                </a:lnTo>
                <a:lnTo>
                  <a:pt x="81351" y="913024"/>
                </a:lnTo>
                <a:lnTo>
                  <a:pt x="60710" y="871338"/>
                </a:lnTo>
                <a:lnTo>
                  <a:pt x="42813" y="827304"/>
                </a:lnTo>
                <a:lnTo>
                  <a:pt x="27819" y="781126"/>
                </a:lnTo>
                <a:lnTo>
                  <a:pt x="15883" y="733010"/>
                </a:lnTo>
                <a:lnTo>
                  <a:pt x="7164" y="683159"/>
                </a:lnTo>
                <a:lnTo>
                  <a:pt x="1817" y="631777"/>
                </a:lnTo>
                <a:lnTo>
                  <a:pt x="0" y="579070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33187" y="328367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33187" y="328367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15603" y="347014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240" y="51079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899"/>
                </a:lnTo>
                <a:lnTo>
                  <a:pt x="275700" y="720348"/>
                </a:lnTo>
                <a:lnTo>
                  <a:pt x="319879" y="728669"/>
                </a:lnTo>
                <a:lnTo>
                  <a:pt x="365759" y="731519"/>
                </a:lnTo>
                <a:lnTo>
                  <a:pt x="411640" y="728669"/>
                </a:lnTo>
                <a:lnTo>
                  <a:pt x="455819" y="720348"/>
                </a:lnTo>
                <a:lnTo>
                  <a:pt x="497955" y="706899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240" y="51079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39657" y="529590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33187" y="51079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899"/>
                </a:lnTo>
                <a:lnTo>
                  <a:pt x="275700" y="720348"/>
                </a:lnTo>
                <a:lnTo>
                  <a:pt x="319879" y="728669"/>
                </a:lnTo>
                <a:lnTo>
                  <a:pt x="365759" y="731519"/>
                </a:lnTo>
                <a:lnTo>
                  <a:pt x="411640" y="728669"/>
                </a:lnTo>
                <a:lnTo>
                  <a:pt x="455819" y="720348"/>
                </a:lnTo>
                <a:lnTo>
                  <a:pt x="497955" y="706899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933187" y="510791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15603" y="529590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884987" y="328367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84987" y="328367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167403" y="347014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84987" y="511198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84987" y="511198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167403" y="529894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1953" y="5065612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228600"/>
                </a:moveTo>
                <a:lnTo>
                  <a:pt x="16324" y="167829"/>
                </a:lnTo>
                <a:lnTo>
                  <a:pt x="62394" y="113221"/>
                </a:lnTo>
                <a:lnTo>
                  <a:pt x="95223" y="88909"/>
                </a:lnTo>
                <a:lnTo>
                  <a:pt x="133854" y="66955"/>
                </a:lnTo>
                <a:lnTo>
                  <a:pt x="177743" y="47631"/>
                </a:lnTo>
                <a:lnTo>
                  <a:pt x="226347" y="31210"/>
                </a:lnTo>
                <a:lnTo>
                  <a:pt x="279119" y="17964"/>
                </a:lnTo>
                <a:lnTo>
                  <a:pt x="335516" y="8165"/>
                </a:lnTo>
                <a:lnTo>
                  <a:pt x="394994" y="2086"/>
                </a:lnTo>
                <a:lnTo>
                  <a:pt x="457007" y="0"/>
                </a:lnTo>
                <a:lnTo>
                  <a:pt x="519020" y="2086"/>
                </a:lnTo>
                <a:lnTo>
                  <a:pt x="578498" y="8165"/>
                </a:lnTo>
                <a:lnTo>
                  <a:pt x="634895" y="17964"/>
                </a:lnTo>
                <a:lnTo>
                  <a:pt x="687667" y="31210"/>
                </a:lnTo>
                <a:lnTo>
                  <a:pt x="736271" y="47631"/>
                </a:lnTo>
                <a:lnTo>
                  <a:pt x="780160" y="66955"/>
                </a:lnTo>
                <a:lnTo>
                  <a:pt x="818791" y="88909"/>
                </a:lnTo>
                <a:lnTo>
                  <a:pt x="851620" y="113221"/>
                </a:lnTo>
                <a:lnTo>
                  <a:pt x="897690" y="167829"/>
                </a:lnTo>
                <a:lnTo>
                  <a:pt x="914015" y="228600"/>
                </a:lnTo>
                <a:lnTo>
                  <a:pt x="909843" y="259619"/>
                </a:lnTo>
                <a:lnTo>
                  <a:pt x="878101" y="317581"/>
                </a:lnTo>
                <a:lnTo>
                  <a:pt x="818791" y="368290"/>
                </a:lnTo>
                <a:lnTo>
                  <a:pt x="780160" y="390244"/>
                </a:lnTo>
                <a:lnTo>
                  <a:pt x="736271" y="409568"/>
                </a:lnTo>
                <a:lnTo>
                  <a:pt x="687667" y="425989"/>
                </a:lnTo>
                <a:lnTo>
                  <a:pt x="634895" y="439235"/>
                </a:lnTo>
                <a:lnTo>
                  <a:pt x="578498" y="449034"/>
                </a:lnTo>
                <a:lnTo>
                  <a:pt x="519020" y="455113"/>
                </a:lnTo>
                <a:lnTo>
                  <a:pt x="457007" y="457200"/>
                </a:lnTo>
                <a:lnTo>
                  <a:pt x="394994" y="455113"/>
                </a:lnTo>
                <a:lnTo>
                  <a:pt x="335516" y="449034"/>
                </a:lnTo>
                <a:lnTo>
                  <a:pt x="279119" y="439235"/>
                </a:lnTo>
                <a:lnTo>
                  <a:pt x="226347" y="425989"/>
                </a:lnTo>
                <a:lnTo>
                  <a:pt x="177743" y="409568"/>
                </a:lnTo>
                <a:lnTo>
                  <a:pt x="133854" y="390244"/>
                </a:lnTo>
                <a:lnTo>
                  <a:pt x="95223" y="368290"/>
                </a:lnTo>
                <a:lnTo>
                  <a:pt x="62394" y="343978"/>
                </a:lnTo>
                <a:lnTo>
                  <a:pt x="16324" y="289370"/>
                </a:lnTo>
                <a:lnTo>
                  <a:pt x="0" y="22860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9683" y="5090352"/>
            <a:ext cx="788670" cy="1164590"/>
          </a:xfrm>
          <a:custGeom>
            <a:avLst/>
            <a:gdLst/>
            <a:ahLst/>
            <a:cxnLst/>
            <a:rect l="l" t="t" r="r" b="b"/>
            <a:pathLst>
              <a:path w="788669" h="1164589">
                <a:moveTo>
                  <a:pt x="0" y="582092"/>
                </a:moveTo>
                <a:lnTo>
                  <a:pt x="1804" y="526032"/>
                </a:lnTo>
                <a:lnTo>
                  <a:pt x="7109" y="471480"/>
                </a:lnTo>
                <a:lnTo>
                  <a:pt x="15747" y="418680"/>
                </a:lnTo>
                <a:lnTo>
                  <a:pt x="27555" y="367876"/>
                </a:lnTo>
                <a:lnTo>
                  <a:pt x="42366" y="319311"/>
                </a:lnTo>
                <a:lnTo>
                  <a:pt x="60016" y="273229"/>
                </a:lnTo>
                <a:lnTo>
                  <a:pt x="80340" y="229875"/>
                </a:lnTo>
                <a:lnTo>
                  <a:pt x="103171" y="189491"/>
                </a:lnTo>
                <a:lnTo>
                  <a:pt x="128346" y="152323"/>
                </a:lnTo>
                <a:lnTo>
                  <a:pt x="155698" y="118615"/>
                </a:lnTo>
                <a:lnTo>
                  <a:pt x="185063" y="88609"/>
                </a:lnTo>
                <a:lnTo>
                  <a:pt x="216275" y="62550"/>
                </a:lnTo>
                <a:lnTo>
                  <a:pt x="249169" y="40682"/>
                </a:lnTo>
                <a:lnTo>
                  <a:pt x="283580" y="23250"/>
                </a:lnTo>
                <a:lnTo>
                  <a:pt x="356291" y="2664"/>
                </a:lnTo>
                <a:lnTo>
                  <a:pt x="394261" y="0"/>
                </a:lnTo>
                <a:lnTo>
                  <a:pt x="432231" y="2664"/>
                </a:lnTo>
                <a:lnTo>
                  <a:pt x="504942" y="23250"/>
                </a:lnTo>
                <a:lnTo>
                  <a:pt x="539353" y="40682"/>
                </a:lnTo>
                <a:lnTo>
                  <a:pt x="572247" y="62550"/>
                </a:lnTo>
                <a:lnTo>
                  <a:pt x="603459" y="88609"/>
                </a:lnTo>
                <a:lnTo>
                  <a:pt x="632824" y="118615"/>
                </a:lnTo>
                <a:lnTo>
                  <a:pt x="660176" y="152323"/>
                </a:lnTo>
                <a:lnTo>
                  <a:pt x="685351" y="189491"/>
                </a:lnTo>
                <a:lnTo>
                  <a:pt x="708182" y="229875"/>
                </a:lnTo>
                <a:lnTo>
                  <a:pt x="728506" y="273229"/>
                </a:lnTo>
                <a:lnTo>
                  <a:pt x="746156" y="319311"/>
                </a:lnTo>
                <a:lnTo>
                  <a:pt x="760967" y="367876"/>
                </a:lnTo>
                <a:lnTo>
                  <a:pt x="772775" y="418680"/>
                </a:lnTo>
                <a:lnTo>
                  <a:pt x="781413" y="471480"/>
                </a:lnTo>
                <a:lnTo>
                  <a:pt x="786718" y="526032"/>
                </a:lnTo>
                <a:lnTo>
                  <a:pt x="788523" y="582092"/>
                </a:lnTo>
                <a:lnTo>
                  <a:pt x="786718" y="638151"/>
                </a:lnTo>
                <a:lnTo>
                  <a:pt x="781413" y="692703"/>
                </a:lnTo>
                <a:lnTo>
                  <a:pt x="772775" y="745503"/>
                </a:lnTo>
                <a:lnTo>
                  <a:pt x="760967" y="796307"/>
                </a:lnTo>
                <a:lnTo>
                  <a:pt x="746156" y="844872"/>
                </a:lnTo>
                <a:lnTo>
                  <a:pt x="728506" y="890954"/>
                </a:lnTo>
                <a:lnTo>
                  <a:pt x="708182" y="934308"/>
                </a:lnTo>
                <a:lnTo>
                  <a:pt x="685351" y="974692"/>
                </a:lnTo>
                <a:lnTo>
                  <a:pt x="660176" y="1011860"/>
                </a:lnTo>
                <a:lnTo>
                  <a:pt x="632824" y="1045568"/>
                </a:lnTo>
                <a:lnTo>
                  <a:pt x="603459" y="1075574"/>
                </a:lnTo>
                <a:lnTo>
                  <a:pt x="572247" y="1101633"/>
                </a:lnTo>
                <a:lnTo>
                  <a:pt x="539353" y="1123501"/>
                </a:lnTo>
                <a:lnTo>
                  <a:pt x="504942" y="1140933"/>
                </a:lnTo>
                <a:lnTo>
                  <a:pt x="432231" y="1161519"/>
                </a:lnTo>
                <a:lnTo>
                  <a:pt x="394261" y="1164184"/>
                </a:lnTo>
                <a:lnTo>
                  <a:pt x="356291" y="1161519"/>
                </a:lnTo>
                <a:lnTo>
                  <a:pt x="283580" y="1140933"/>
                </a:lnTo>
                <a:lnTo>
                  <a:pt x="249169" y="1123501"/>
                </a:lnTo>
                <a:lnTo>
                  <a:pt x="216275" y="1101633"/>
                </a:lnTo>
                <a:lnTo>
                  <a:pt x="185063" y="1075574"/>
                </a:lnTo>
                <a:lnTo>
                  <a:pt x="155698" y="1045568"/>
                </a:lnTo>
                <a:lnTo>
                  <a:pt x="128346" y="1011860"/>
                </a:lnTo>
                <a:lnTo>
                  <a:pt x="103171" y="974692"/>
                </a:lnTo>
                <a:lnTo>
                  <a:pt x="80340" y="934308"/>
                </a:lnTo>
                <a:lnTo>
                  <a:pt x="60016" y="890954"/>
                </a:lnTo>
                <a:lnTo>
                  <a:pt x="42366" y="844872"/>
                </a:lnTo>
                <a:lnTo>
                  <a:pt x="27555" y="796307"/>
                </a:lnTo>
                <a:lnTo>
                  <a:pt x="15747" y="745503"/>
                </a:lnTo>
                <a:lnTo>
                  <a:pt x="7109" y="692703"/>
                </a:lnTo>
                <a:lnTo>
                  <a:pt x="1804" y="638151"/>
                </a:lnTo>
                <a:lnTo>
                  <a:pt x="0" y="582092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2720058" y="5196071"/>
          <a:ext cx="605155" cy="998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36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36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7145">
                        <a:lnSpc>
                          <a:spcPts val="214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214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2522794" y="5099298"/>
            <a:ext cx="955675" cy="457200"/>
          </a:xfrm>
          <a:custGeom>
            <a:avLst/>
            <a:gdLst/>
            <a:ahLst/>
            <a:cxnLst/>
            <a:rect l="l" t="t" r="r" b="b"/>
            <a:pathLst>
              <a:path w="955675" h="457200">
                <a:moveTo>
                  <a:pt x="0" y="228600"/>
                </a:moveTo>
                <a:lnTo>
                  <a:pt x="17058" y="167829"/>
                </a:lnTo>
                <a:lnTo>
                  <a:pt x="65199" y="113221"/>
                </a:lnTo>
                <a:lnTo>
                  <a:pt x="99503" y="88909"/>
                </a:lnTo>
                <a:lnTo>
                  <a:pt x="139871" y="66955"/>
                </a:lnTo>
                <a:lnTo>
                  <a:pt x="185733" y="47631"/>
                </a:lnTo>
                <a:lnTo>
                  <a:pt x="236521" y="31210"/>
                </a:lnTo>
                <a:lnTo>
                  <a:pt x="291665" y="17964"/>
                </a:lnTo>
                <a:lnTo>
                  <a:pt x="350597" y="8165"/>
                </a:lnTo>
                <a:lnTo>
                  <a:pt x="412748" y="2086"/>
                </a:lnTo>
                <a:lnTo>
                  <a:pt x="477549" y="0"/>
                </a:lnTo>
                <a:lnTo>
                  <a:pt x="542350" y="2086"/>
                </a:lnTo>
                <a:lnTo>
                  <a:pt x="604501" y="8165"/>
                </a:lnTo>
                <a:lnTo>
                  <a:pt x="663433" y="17964"/>
                </a:lnTo>
                <a:lnTo>
                  <a:pt x="718577" y="31210"/>
                </a:lnTo>
                <a:lnTo>
                  <a:pt x="769365" y="47631"/>
                </a:lnTo>
                <a:lnTo>
                  <a:pt x="815227" y="66955"/>
                </a:lnTo>
                <a:lnTo>
                  <a:pt x="855595" y="88909"/>
                </a:lnTo>
                <a:lnTo>
                  <a:pt x="889899" y="113221"/>
                </a:lnTo>
                <a:lnTo>
                  <a:pt x="917570" y="139618"/>
                </a:lnTo>
                <a:lnTo>
                  <a:pt x="950739" y="197580"/>
                </a:lnTo>
                <a:lnTo>
                  <a:pt x="955099" y="228600"/>
                </a:lnTo>
                <a:lnTo>
                  <a:pt x="950739" y="259619"/>
                </a:lnTo>
                <a:lnTo>
                  <a:pt x="917570" y="317581"/>
                </a:lnTo>
                <a:lnTo>
                  <a:pt x="889899" y="343978"/>
                </a:lnTo>
                <a:lnTo>
                  <a:pt x="855595" y="368290"/>
                </a:lnTo>
                <a:lnTo>
                  <a:pt x="815227" y="390244"/>
                </a:lnTo>
                <a:lnTo>
                  <a:pt x="769365" y="409568"/>
                </a:lnTo>
                <a:lnTo>
                  <a:pt x="718577" y="425989"/>
                </a:lnTo>
                <a:lnTo>
                  <a:pt x="663433" y="439235"/>
                </a:lnTo>
                <a:lnTo>
                  <a:pt x="604501" y="449034"/>
                </a:lnTo>
                <a:lnTo>
                  <a:pt x="542350" y="455113"/>
                </a:lnTo>
                <a:lnTo>
                  <a:pt x="477549" y="457200"/>
                </a:lnTo>
                <a:lnTo>
                  <a:pt x="412748" y="455113"/>
                </a:lnTo>
                <a:lnTo>
                  <a:pt x="350597" y="449034"/>
                </a:lnTo>
                <a:lnTo>
                  <a:pt x="291665" y="439235"/>
                </a:lnTo>
                <a:lnTo>
                  <a:pt x="236521" y="425989"/>
                </a:lnTo>
                <a:lnTo>
                  <a:pt x="185733" y="409568"/>
                </a:lnTo>
                <a:lnTo>
                  <a:pt x="139871" y="390244"/>
                </a:lnTo>
                <a:lnTo>
                  <a:pt x="99503" y="368290"/>
                </a:lnTo>
                <a:lnTo>
                  <a:pt x="65199" y="343978"/>
                </a:lnTo>
                <a:lnTo>
                  <a:pt x="37528" y="317581"/>
                </a:lnTo>
                <a:lnTo>
                  <a:pt x="4359" y="259619"/>
                </a:lnTo>
                <a:lnTo>
                  <a:pt x="0" y="22860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30121" y="5135050"/>
            <a:ext cx="788670" cy="1164590"/>
          </a:xfrm>
          <a:custGeom>
            <a:avLst/>
            <a:gdLst/>
            <a:ahLst/>
            <a:cxnLst/>
            <a:rect l="l" t="t" r="r" b="b"/>
            <a:pathLst>
              <a:path w="788670" h="1164589">
                <a:moveTo>
                  <a:pt x="0" y="582092"/>
                </a:moveTo>
                <a:lnTo>
                  <a:pt x="1804" y="526032"/>
                </a:lnTo>
                <a:lnTo>
                  <a:pt x="7109" y="471480"/>
                </a:lnTo>
                <a:lnTo>
                  <a:pt x="15747" y="418680"/>
                </a:lnTo>
                <a:lnTo>
                  <a:pt x="27555" y="367876"/>
                </a:lnTo>
                <a:lnTo>
                  <a:pt x="42366" y="319311"/>
                </a:lnTo>
                <a:lnTo>
                  <a:pt x="60016" y="273229"/>
                </a:lnTo>
                <a:lnTo>
                  <a:pt x="80340" y="229875"/>
                </a:lnTo>
                <a:lnTo>
                  <a:pt x="103171" y="189491"/>
                </a:lnTo>
                <a:lnTo>
                  <a:pt x="128346" y="152323"/>
                </a:lnTo>
                <a:lnTo>
                  <a:pt x="155698" y="118615"/>
                </a:lnTo>
                <a:lnTo>
                  <a:pt x="185063" y="88609"/>
                </a:lnTo>
                <a:lnTo>
                  <a:pt x="216275" y="62550"/>
                </a:lnTo>
                <a:lnTo>
                  <a:pt x="249169" y="40682"/>
                </a:lnTo>
                <a:lnTo>
                  <a:pt x="283580" y="23250"/>
                </a:lnTo>
                <a:lnTo>
                  <a:pt x="356291" y="2664"/>
                </a:lnTo>
                <a:lnTo>
                  <a:pt x="394261" y="0"/>
                </a:lnTo>
                <a:lnTo>
                  <a:pt x="432231" y="2664"/>
                </a:lnTo>
                <a:lnTo>
                  <a:pt x="504942" y="23250"/>
                </a:lnTo>
                <a:lnTo>
                  <a:pt x="539353" y="40682"/>
                </a:lnTo>
                <a:lnTo>
                  <a:pt x="572247" y="62550"/>
                </a:lnTo>
                <a:lnTo>
                  <a:pt x="603459" y="88609"/>
                </a:lnTo>
                <a:lnTo>
                  <a:pt x="632824" y="118615"/>
                </a:lnTo>
                <a:lnTo>
                  <a:pt x="660176" y="152323"/>
                </a:lnTo>
                <a:lnTo>
                  <a:pt x="685351" y="189491"/>
                </a:lnTo>
                <a:lnTo>
                  <a:pt x="708182" y="229875"/>
                </a:lnTo>
                <a:lnTo>
                  <a:pt x="728506" y="273229"/>
                </a:lnTo>
                <a:lnTo>
                  <a:pt x="746156" y="319311"/>
                </a:lnTo>
                <a:lnTo>
                  <a:pt x="760967" y="367876"/>
                </a:lnTo>
                <a:lnTo>
                  <a:pt x="772775" y="418680"/>
                </a:lnTo>
                <a:lnTo>
                  <a:pt x="781413" y="471480"/>
                </a:lnTo>
                <a:lnTo>
                  <a:pt x="786718" y="526032"/>
                </a:lnTo>
                <a:lnTo>
                  <a:pt x="788523" y="582092"/>
                </a:lnTo>
                <a:lnTo>
                  <a:pt x="786718" y="638151"/>
                </a:lnTo>
                <a:lnTo>
                  <a:pt x="781413" y="692703"/>
                </a:lnTo>
                <a:lnTo>
                  <a:pt x="772775" y="745503"/>
                </a:lnTo>
                <a:lnTo>
                  <a:pt x="760967" y="796307"/>
                </a:lnTo>
                <a:lnTo>
                  <a:pt x="746156" y="844872"/>
                </a:lnTo>
                <a:lnTo>
                  <a:pt x="728506" y="890954"/>
                </a:lnTo>
                <a:lnTo>
                  <a:pt x="708182" y="934308"/>
                </a:lnTo>
                <a:lnTo>
                  <a:pt x="685351" y="974692"/>
                </a:lnTo>
                <a:lnTo>
                  <a:pt x="660176" y="1011860"/>
                </a:lnTo>
                <a:lnTo>
                  <a:pt x="632824" y="1045568"/>
                </a:lnTo>
                <a:lnTo>
                  <a:pt x="603459" y="1075574"/>
                </a:lnTo>
                <a:lnTo>
                  <a:pt x="572247" y="1101633"/>
                </a:lnTo>
                <a:lnTo>
                  <a:pt x="539353" y="1123501"/>
                </a:lnTo>
                <a:lnTo>
                  <a:pt x="504942" y="1140933"/>
                </a:lnTo>
                <a:lnTo>
                  <a:pt x="432231" y="1161519"/>
                </a:lnTo>
                <a:lnTo>
                  <a:pt x="394261" y="1164184"/>
                </a:lnTo>
                <a:lnTo>
                  <a:pt x="356291" y="1161519"/>
                </a:lnTo>
                <a:lnTo>
                  <a:pt x="283580" y="1140933"/>
                </a:lnTo>
                <a:lnTo>
                  <a:pt x="249169" y="1123501"/>
                </a:lnTo>
                <a:lnTo>
                  <a:pt x="216275" y="1101633"/>
                </a:lnTo>
                <a:lnTo>
                  <a:pt x="185063" y="1075574"/>
                </a:lnTo>
                <a:lnTo>
                  <a:pt x="155698" y="1045568"/>
                </a:lnTo>
                <a:lnTo>
                  <a:pt x="128346" y="1011860"/>
                </a:lnTo>
                <a:lnTo>
                  <a:pt x="103171" y="974692"/>
                </a:lnTo>
                <a:lnTo>
                  <a:pt x="80340" y="934308"/>
                </a:lnTo>
                <a:lnTo>
                  <a:pt x="60016" y="890954"/>
                </a:lnTo>
                <a:lnTo>
                  <a:pt x="42366" y="844872"/>
                </a:lnTo>
                <a:lnTo>
                  <a:pt x="27555" y="796307"/>
                </a:lnTo>
                <a:lnTo>
                  <a:pt x="15747" y="745503"/>
                </a:lnTo>
                <a:lnTo>
                  <a:pt x="7109" y="692703"/>
                </a:lnTo>
                <a:lnTo>
                  <a:pt x="1804" y="638151"/>
                </a:lnTo>
                <a:lnTo>
                  <a:pt x="0" y="582092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771509" y="5204840"/>
          <a:ext cx="605155" cy="998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7145">
                        <a:lnSpc>
                          <a:spcPts val="214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14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4619978" y="5104620"/>
            <a:ext cx="961390" cy="457200"/>
          </a:xfrm>
          <a:custGeom>
            <a:avLst/>
            <a:gdLst/>
            <a:ahLst/>
            <a:cxnLst/>
            <a:rect l="l" t="t" r="r" b="b"/>
            <a:pathLst>
              <a:path w="961389" h="457200">
                <a:moveTo>
                  <a:pt x="0" y="228600"/>
                </a:moveTo>
                <a:lnTo>
                  <a:pt x="17167" y="167829"/>
                </a:lnTo>
                <a:lnTo>
                  <a:pt x="65616" y="113221"/>
                </a:lnTo>
                <a:lnTo>
                  <a:pt x="100140" y="88909"/>
                </a:lnTo>
                <a:lnTo>
                  <a:pt x="140766" y="66955"/>
                </a:lnTo>
                <a:lnTo>
                  <a:pt x="186921" y="47631"/>
                </a:lnTo>
                <a:lnTo>
                  <a:pt x="238034" y="31210"/>
                </a:lnTo>
                <a:lnTo>
                  <a:pt x="293532" y="17964"/>
                </a:lnTo>
                <a:lnTo>
                  <a:pt x="352841" y="8165"/>
                </a:lnTo>
                <a:lnTo>
                  <a:pt x="415390" y="2086"/>
                </a:lnTo>
                <a:lnTo>
                  <a:pt x="480606" y="0"/>
                </a:lnTo>
                <a:lnTo>
                  <a:pt x="545821" y="2086"/>
                </a:lnTo>
                <a:lnTo>
                  <a:pt x="608370" y="8165"/>
                </a:lnTo>
                <a:lnTo>
                  <a:pt x="667679" y="17964"/>
                </a:lnTo>
                <a:lnTo>
                  <a:pt x="723177" y="31210"/>
                </a:lnTo>
                <a:lnTo>
                  <a:pt x="774289" y="47631"/>
                </a:lnTo>
                <a:lnTo>
                  <a:pt x="820445" y="66955"/>
                </a:lnTo>
                <a:lnTo>
                  <a:pt x="861071" y="88909"/>
                </a:lnTo>
                <a:lnTo>
                  <a:pt x="895595" y="113221"/>
                </a:lnTo>
                <a:lnTo>
                  <a:pt x="923443" y="139618"/>
                </a:lnTo>
                <a:lnTo>
                  <a:pt x="956824" y="197580"/>
                </a:lnTo>
                <a:lnTo>
                  <a:pt x="961212" y="228600"/>
                </a:lnTo>
                <a:lnTo>
                  <a:pt x="956824" y="259619"/>
                </a:lnTo>
                <a:lnTo>
                  <a:pt x="923443" y="317581"/>
                </a:lnTo>
                <a:lnTo>
                  <a:pt x="895595" y="343978"/>
                </a:lnTo>
                <a:lnTo>
                  <a:pt x="861071" y="368290"/>
                </a:lnTo>
                <a:lnTo>
                  <a:pt x="820445" y="390244"/>
                </a:lnTo>
                <a:lnTo>
                  <a:pt x="774289" y="409568"/>
                </a:lnTo>
                <a:lnTo>
                  <a:pt x="723177" y="425989"/>
                </a:lnTo>
                <a:lnTo>
                  <a:pt x="667679" y="439235"/>
                </a:lnTo>
                <a:lnTo>
                  <a:pt x="608370" y="449034"/>
                </a:lnTo>
                <a:lnTo>
                  <a:pt x="545821" y="455113"/>
                </a:lnTo>
                <a:lnTo>
                  <a:pt x="480606" y="457200"/>
                </a:lnTo>
                <a:lnTo>
                  <a:pt x="415390" y="455113"/>
                </a:lnTo>
                <a:lnTo>
                  <a:pt x="352841" y="449034"/>
                </a:lnTo>
                <a:lnTo>
                  <a:pt x="293532" y="439235"/>
                </a:lnTo>
                <a:lnTo>
                  <a:pt x="238034" y="425989"/>
                </a:lnTo>
                <a:lnTo>
                  <a:pt x="186921" y="409568"/>
                </a:lnTo>
                <a:lnTo>
                  <a:pt x="140766" y="390244"/>
                </a:lnTo>
                <a:lnTo>
                  <a:pt x="100140" y="368290"/>
                </a:lnTo>
                <a:lnTo>
                  <a:pt x="65616" y="343978"/>
                </a:lnTo>
                <a:lnTo>
                  <a:pt x="37768" y="317581"/>
                </a:lnTo>
                <a:lnTo>
                  <a:pt x="4387" y="259619"/>
                </a:lnTo>
                <a:lnTo>
                  <a:pt x="0" y="22860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681573" y="5143821"/>
            <a:ext cx="788670" cy="1164590"/>
          </a:xfrm>
          <a:custGeom>
            <a:avLst/>
            <a:gdLst/>
            <a:ahLst/>
            <a:cxnLst/>
            <a:rect l="l" t="t" r="r" b="b"/>
            <a:pathLst>
              <a:path w="788670" h="1164589">
                <a:moveTo>
                  <a:pt x="0" y="582092"/>
                </a:moveTo>
                <a:lnTo>
                  <a:pt x="1804" y="526032"/>
                </a:lnTo>
                <a:lnTo>
                  <a:pt x="7109" y="471480"/>
                </a:lnTo>
                <a:lnTo>
                  <a:pt x="15747" y="418680"/>
                </a:lnTo>
                <a:lnTo>
                  <a:pt x="27555" y="367876"/>
                </a:lnTo>
                <a:lnTo>
                  <a:pt x="42366" y="319311"/>
                </a:lnTo>
                <a:lnTo>
                  <a:pt x="60016" y="273229"/>
                </a:lnTo>
                <a:lnTo>
                  <a:pt x="80340" y="229875"/>
                </a:lnTo>
                <a:lnTo>
                  <a:pt x="103171" y="189491"/>
                </a:lnTo>
                <a:lnTo>
                  <a:pt x="128346" y="152323"/>
                </a:lnTo>
                <a:lnTo>
                  <a:pt x="155698" y="118615"/>
                </a:lnTo>
                <a:lnTo>
                  <a:pt x="185063" y="88609"/>
                </a:lnTo>
                <a:lnTo>
                  <a:pt x="216275" y="62550"/>
                </a:lnTo>
                <a:lnTo>
                  <a:pt x="249169" y="40682"/>
                </a:lnTo>
                <a:lnTo>
                  <a:pt x="283580" y="23250"/>
                </a:lnTo>
                <a:lnTo>
                  <a:pt x="356291" y="2664"/>
                </a:lnTo>
                <a:lnTo>
                  <a:pt x="394261" y="0"/>
                </a:lnTo>
                <a:lnTo>
                  <a:pt x="432231" y="2664"/>
                </a:lnTo>
                <a:lnTo>
                  <a:pt x="504942" y="23250"/>
                </a:lnTo>
                <a:lnTo>
                  <a:pt x="539353" y="40682"/>
                </a:lnTo>
                <a:lnTo>
                  <a:pt x="572247" y="62550"/>
                </a:lnTo>
                <a:lnTo>
                  <a:pt x="603459" y="88609"/>
                </a:lnTo>
                <a:lnTo>
                  <a:pt x="632824" y="118615"/>
                </a:lnTo>
                <a:lnTo>
                  <a:pt x="660176" y="152323"/>
                </a:lnTo>
                <a:lnTo>
                  <a:pt x="685351" y="189491"/>
                </a:lnTo>
                <a:lnTo>
                  <a:pt x="708182" y="229875"/>
                </a:lnTo>
                <a:lnTo>
                  <a:pt x="728506" y="273229"/>
                </a:lnTo>
                <a:lnTo>
                  <a:pt x="746156" y="319311"/>
                </a:lnTo>
                <a:lnTo>
                  <a:pt x="760967" y="367876"/>
                </a:lnTo>
                <a:lnTo>
                  <a:pt x="772775" y="418680"/>
                </a:lnTo>
                <a:lnTo>
                  <a:pt x="781413" y="471480"/>
                </a:lnTo>
                <a:lnTo>
                  <a:pt x="786718" y="526032"/>
                </a:lnTo>
                <a:lnTo>
                  <a:pt x="788523" y="582092"/>
                </a:lnTo>
                <a:lnTo>
                  <a:pt x="786718" y="638151"/>
                </a:lnTo>
                <a:lnTo>
                  <a:pt x="781413" y="692703"/>
                </a:lnTo>
                <a:lnTo>
                  <a:pt x="772775" y="745503"/>
                </a:lnTo>
                <a:lnTo>
                  <a:pt x="760967" y="796307"/>
                </a:lnTo>
                <a:lnTo>
                  <a:pt x="746156" y="844872"/>
                </a:lnTo>
                <a:lnTo>
                  <a:pt x="728506" y="890954"/>
                </a:lnTo>
                <a:lnTo>
                  <a:pt x="708182" y="934308"/>
                </a:lnTo>
                <a:lnTo>
                  <a:pt x="685351" y="974692"/>
                </a:lnTo>
                <a:lnTo>
                  <a:pt x="660176" y="1011860"/>
                </a:lnTo>
                <a:lnTo>
                  <a:pt x="632824" y="1045568"/>
                </a:lnTo>
                <a:lnTo>
                  <a:pt x="603459" y="1075574"/>
                </a:lnTo>
                <a:lnTo>
                  <a:pt x="572247" y="1101633"/>
                </a:lnTo>
                <a:lnTo>
                  <a:pt x="539353" y="1123501"/>
                </a:lnTo>
                <a:lnTo>
                  <a:pt x="504942" y="1140933"/>
                </a:lnTo>
                <a:lnTo>
                  <a:pt x="432231" y="1161519"/>
                </a:lnTo>
                <a:lnTo>
                  <a:pt x="394261" y="1164184"/>
                </a:lnTo>
                <a:lnTo>
                  <a:pt x="356291" y="1161519"/>
                </a:lnTo>
                <a:lnTo>
                  <a:pt x="283580" y="1140933"/>
                </a:lnTo>
                <a:lnTo>
                  <a:pt x="249169" y="1123501"/>
                </a:lnTo>
                <a:lnTo>
                  <a:pt x="216275" y="1101633"/>
                </a:lnTo>
                <a:lnTo>
                  <a:pt x="185063" y="1075574"/>
                </a:lnTo>
                <a:lnTo>
                  <a:pt x="155698" y="1045568"/>
                </a:lnTo>
                <a:lnTo>
                  <a:pt x="128346" y="1011860"/>
                </a:lnTo>
                <a:lnTo>
                  <a:pt x="103171" y="974692"/>
                </a:lnTo>
                <a:lnTo>
                  <a:pt x="80340" y="934308"/>
                </a:lnTo>
                <a:lnTo>
                  <a:pt x="60016" y="890954"/>
                </a:lnTo>
                <a:lnTo>
                  <a:pt x="42366" y="844872"/>
                </a:lnTo>
                <a:lnTo>
                  <a:pt x="27555" y="796307"/>
                </a:lnTo>
                <a:lnTo>
                  <a:pt x="15747" y="745503"/>
                </a:lnTo>
                <a:lnTo>
                  <a:pt x="7109" y="692703"/>
                </a:lnTo>
                <a:lnTo>
                  <a:pt x="1804" y="638151"/>
                </a:lnTo>
                <a:lnTo>
                  <a:pt x="0" y="582092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91649" y="2593340"/>
            <a:ext cx="200025" cy="10560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  <a:p>
            <a:pPr marL="1905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26136"/>
            <a:ext cx="5705856" cy="496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6037" y="1249171"/>
            <a:ext cx="5958840" cy="812165"/>
          </a:xfrm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1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/>
              <a:t>On the </a:t>
            </a:r>
            <a:r>
              <a:rPr dirty="0" sz="2400" spc="-15" b="1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dirty="0" sz="2400" spc="-7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set</a:t>
            </a:r>
            <a:r>
              <a:rPr dirty="0" sz="2400" spc="-5"/>
              <a:t>: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300" spc="-5">
                <a:latin typeface="Calibri"/>
                <a:cs typeface="Calibri"/>
              </a:rPr>
              <a:t>Use </a:t>
            </a:r>
            <a:r>
              <a:rPr dirty="0" sz="2300" spc="-10">
                <a:latin typeface="Calibri"/>
                <a:cs typeface="Calibri"/>
              </a:rPr>
              <a:t>trained </a:t>
            </a:r>
            <a:r>
              <a:rPr dirty="0" sz="2300" spc="-5">
                <a:latin typeface="Calibri"/>
                <a:cs typeface="Calibri"/>
              </a:rPr>
              <a:t>node </a:t>
            </a:r>
            <a:r>
              <a:rPr dirty="0" sz="2400" spc="-20">
                <a:latin typeface="Calibri"/>
                <a:cs typeface="Calibri"/>
              </a:rPr>
              <a:t>feature </a:t>
            </a:r>
            <a:r>
              <a:rPr dirty="0" sz="2300" spc="-10">
                <a:latin typeface="Calibri"/>
                <a:cs typeface="Calibri"/>
              </a:rPr>
              <a:t>vector </a:t>
            </a:r>
            <a:r>
              <a:rPr dirty="0" sz="2300" spc="-5">
                <a:latin typeface="Calibri"/>
                <a:cs typeface="Calibri"/>
              </a:rPr>
              <a:t>classifier</a:t>
            </a:r>
            <a:r>
              <a:rPr dirty="0" sz="2300" spc="35">
                <a:latin typeface="Calibri"/>
                <a:cs typeface="Calibri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𝜙</a:t>
            </a:r>
            <a:r>
              <a:rPr dirty="0" baseline="-15432" sz="2700" spc="-7"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812" y="2002027"/>
            <a:ext cx="10293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>
                <a:latin typeface="Calibri"/>
                <a:cs typeface="Calibri"/>
              </a:rPr>
              <a:t>to </a:t>
            </a:r>
            <a:r>
              <a:rPr dirty="0" sz="2300" spc="-5">
                <a:latin typeface="Calibri"/>
                <a:cs typeface="Calibri"/>
              </a:rPr>
              <a:t>set</a:t>
            </a:r>
            <a:r>
              <a:rPr dirty="0" sz="2300" spc="-95">
                <a:latin typeface="Calibri"/>
                <a:cs typeface="Calibri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𝑌</a:t>
            </a:r>
            <a:r>
              <a:rPr dirty="0" baseline="-15432" sz="2700" spc="75">
                <a:latin typeface="Cambria Math"/>
                <a:cs typeface="Cambria Math"/>
              </a:rPr>
              <a:t>!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3836" y="345937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39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899" y="497955"/>
                </a:lnTo>
                <a:lnTo>
                  <a:pt x="720349" y="455819"/>
                </a:lnTo>
                <a:lnTo>
                  <a:pt x="728669" y="411640"/>
                </a:lnTo>
                <a:lnTo>
                  <a:pt x="731519" y="365760"/>
                </a:lnTo>
                <a:lnTo>
                  <a:pt x="728669" y="319879"/>
                </a:lnTo>
                <a:lnTo>
                  <a:pt x="720349" y="275700"/>
                </a:lnTo>
                <a:lnTo>
                  <a:pt x="706899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39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43836" y="345937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26252" y="364693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3836" y="521490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39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899" y="497955"/>
                </a:lnTo>
                <a:lnTo>
                  <a:pt x="720349" y="455819"/>
                </a:lnTo>
                <a:lnTo>
                  <a:pt x="728669" y="411640"/>
                </a:lnTo>
                <a:lnTo>
                  <a:pt x="731519" y="365759"/>
                </a:lnTo>
                <a:lnTo>
                  <a:pt x="728669" y="319879"/>
                </a:lnTo>
                <a:lnTo>
                  <a:pt x="720349" y="275700"/>
                </a:lnTo>
                <a:lnTo>
                  <a:pt x="706899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39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43836" y="521490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26252" y="5402579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41345" y="427042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41345" y="427042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23761" y="445770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01204" y="428230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01204" y="428230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783619" y="4469891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66735" y="4190898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3" y="1031894"/>
                </a:lnTo>
                <a:lnTo>
                  <a:pt x="34970" y="1038291"/>
                </a:lnTo>
                <a:lnTo>
                  <a:pt x="50751" y="1038291"/>
                </a:lnTo>
                <a:lnTo>
                  <a:pt x="57148" y="103189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59034" y="3808816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5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1" y="809113"/>
                </a:lnTo>
                <a:lnTo>
                  <a:pt x="1400383" y="798375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5"/>
                </a:lnTo>
                <a:lnTo>
                  <a:pt x="1419791" y="809113"/>
                </a:lnTo>
                <a:lnTo>
                  <a:pt x="1428484" y="806612"/>
                </a:lnTo>
                <a:lnTo>
                  <a:pt x="1436124" y="792802"/>
                </a:lnTo>
                <a:lnTo>
                  <a:pt x="1433624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50" y="748369"/>
                </a:moveTo>
                <a:lnTo>
                  <a:pt x="1414216" y="773372"/>
                </a:lnTo>
                <a:lnTo>
                  <a:pt x="1433624" y="784109"/>
                </a:lnTo>
                <a:lnTo>
                  <a:pt x="1436124" y="792802"/>
                </a:lnTo>
                <a:lnTo>
                  <a:pt x="1428484" y="806612"/>
                </a:lnTo>
                <a:lnTo>
                  <a:pt x="1419791" y="809113"/>
                </a:lnTo>
                <a:lnTo>
                  <a:pt x="1469769" y="809113"/>
                </a:lnTo>
                <a:lnTo>
                  <a:pt x="1428050" y="748369"/>
                </a:lnTo>
                <a:close/>
              </a:path>
              <a:path w="1482725" h="827404">
                <a:moveTo>
                  <a:pt x="16334" y="0"/>
                </a:moveTo>
                <a:lnTo>
                  <a:pt x="7640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5"/>
                </a:lnTo>
                <a:lnTo>
                  <a:pt x="1414216" y="773372"/>
                </a:lnTo>
                <a:lnTo>
                  <a:pt x="1633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5356" y="4619905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0"/>
                </a:lnTo>
                <a:lnTo>
                  <a:pt x="87540" y="938349"/>
                </a:lnTo>
                <a:lnTo>
                  <a:pt x="61159" y="938349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49"/>
                </a:lnTo>
                <a:lnTo>
                  <a:pt x="79802" y="926338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38"/>
                </a:moveTo>
                <a:lnTo>
                  <a:pt x="61159" y="938349"/>
                </a:lnTo>
                <a:lnTo>
                  <a:pt x="87540" y="938349"/>
                </a:lnTo>
                <a:lnTo>
                  <a:pt x="79802" y="926338"/>
                </a:lnTo>
                <a:close/>
              </a:path>
              <a:path w="1482725" h="960754">
                <a:moveTo>
                  <a:pt x="1464884" y="0"/>
                </a:moveTo>
                <a:lnTo>
                  <a:pt x="64326" y="902317"/>
                </a:lnTo>
                <a:lnTo>
                  <a:pt x="79802" y="926338"/>
                </a:lnTo>
                <a:lnTo>
                  <a:pt x="1480360" y="24020"/>
                </a:lnTo>
                <a:lnTo>
                  <a:pt x="1482272" y="15179"/>
                </a:lnTo>
                <a:lnTo>
                  <a:pt x="1473725" y="1912"/>
                </a:lnTo>
                <a:lnTo>
                  <a:pt x="146488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58508" y="4604438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7" y="35225"/>
                </a:lnTo>
                <a:lnTo>
                  <a:pt x="1285476" y="51007"/>
                </a:lnTo>
                <a:lnTo>
                  <a:pt x="1279023" y="57346"/>
                </a:lnTo>
                <a:lnTo>
                  <a:pt x="1256844" y="57346"/>
                </a:lnTo>
                <a:lnTo>
                  <a:pt x="1256591" y="85722"/>
                </a:lnTo>
                <a:lnTo>
                  <a:pt x="1314632" y="57346"/>
                </a:lnTo>
                <a:lnTo>
                  <a:pt x="1279023" y="57346"/>
                </a:lnTo>
                <a:lnTo>
                  <a:pt x="1315038" y="57148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8"/>
                </a:lnTo>
                <a:lnTo>
                  <a:pt x="1279023" y="57346"/>
                </a:lnTo>
                <a:lnTo>
                  <a:pt x="1285476" y="51007"/>
                </a:lnTo>
                <a:lnTo>
                  <a:pt x="1285617" y="35225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3"/>
                </a:moveTo>
                <a:lnTo>
                  <a:pt x="140" y="23733"/>
                </a:lnTo>
                <a:lnTo>
                  <a:pt x="0" y="39514"/>
                </a:lnTo>
                <a:lnTo>
                  <a:pt x="6339" y="45967"/>
                </a:lnTo>
                <a:lnTo>
                  <a:pt x="1256846" y="57148"/>
                </a:lnTo>
                <a:lnTo>
                  <a:pt x="1257101" y="28573"/>
                </a:lnTo>
                <a:lnTo>
                  <a:pt x="6595" y="17393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2316" y="3672738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8066" y="367273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316" y="5413428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8066" y="541342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34759" y="5108628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20509" y="510862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93014" y="5120041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78764" y="512004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48980" y="2593463"/>
            <a:ext cx="2694940" cy="304800"/>
          </a:xfrm>
          <a:custGeom>
            <a:avLst/>
            <a:gdLst/>
            <a:ahLst/>
            <a:cxnLst/>
            <a:rect l="l" t="t" r="r" b="b"/>
            <a:pathLst>
              <a:path w="2694940" h="304800">
                <a:moveTo>
                  <a:pt x="0" y="0"/>
                </a:moveTo>
                <a:lnTo>
                  <a:pt x="2694940" y="0"/>
                </a:lnTo>
                <a:lnTo>
                  <a:pt x="269494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726680" y="2263139"/>
            <a:ext cx="33299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FFFFFF"/>
                </a:solidFill>
                <a:latin typeface="Calibri"/>
                <a:cs typeface="Calibri"/>
              </a:rPr>
              <a:t>to test</a:t>
            </a:r>
            <a:r>
              <a:rPr dirty="0" sz="2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20" b="1"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6019415" y="3185893"/>
            <a:ext cx="3073400" cy="6343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55"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marL="622300" indent="-60960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</a:t>
            </a:r>
            <a:r>
              <a:rPr dirty="0" sz="1600" spc="-5" b="1">
                <a:latin typeface="Calibri"/>
                <a:cs typeface="Calibri"/>
              </a:rPr>
              <a:t>label</a:t>
            </a:r>
            <a:r>
              <a:rPr dirty="0" sz="1600" spc="-110" b="1">
                <a:latin typeface="Calibri"/>
                <a:cs typeface="Calibri"/>
              </a:rPr>
              <a:t> </a:t>
            </a:r>
            <a:r>
              <a:rPr dirty="0" sz="1800" spc="-40">
                <a:latin typeface="Cambria Math"/>
                <a:cs typeface="Cambria Math"/>
              </a:rPr>
              <a:t>𝑌</a:t>
            </a:r>
            <a:r>
              <a:rPr dirty="0" baseline="-17094" sz="1950" spc="-60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1689" y="3074923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8198" y="5991859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84285" y="3903979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81814" y="391617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8626" y="3660140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651" y="5370067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61068" y="5077459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94246" y="5104891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26136"/>
            <a:ext cx="5705856" cy="496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6578" y="344834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699" y="11170"/>
                </a:lnTo>
                <a:lnTo>
                  <a:pt x="233563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3" y="706900"/>
                </a:lnTo>
                <a:lnTo>
                  <a:pt x="275699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39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899" y="497955"/>
                </a:lnTo>
                <a:lnTo>
                  <a:pt x="720348" y="455819"/>
                </a:lnTo>
                <a:lnTo>
                  <a:pt x="728669" y="411640"/>
                </a:lnTo>
                <a:lnTo>
                  <a:pt x="731519" y="365760"/>
                </a:lnTo>
                <a:lnTo>
                  <a:pt x="728669" y="319879"/>
                </a:lnTo>
                <a:lnTo>
                  <a:pt x="720348" y="275700"/>
                </a:lnTo>
                <a:lnTo>
                  <a:pt x="706899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39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66578" y="344834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8994" y="3637788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6578" y="520386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699" y="11170"/>
                </a:lnTo>
                <a:lnTo>
                  <a:pt x="233563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6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6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3" y="706900"/>
                </a:lnTo>
                <a:lnTo>
                  <a:pt x="275699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39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6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899" y="497956"/>
                </a:lnTo>
                <a:lnTo>
                  <a:pt x="720348" y="455819"/>
                </a:lnTo>
                <a:lnTo>
                  <a:pt x="728669" y="411640"/>
                </a:lnTo>
                <a:lnTo>
                  <a:pt x="731519" y="365759"/>
                </a:lnTo>
                <a:lnTo>
                  <a:pt x="728669" y="319879"/>
                </a:lnTo>
                <a:lnTo>
                  <a:pt x="720348" y="275700"/>
                </a:lnTo>
                <a:lnTo>
                  <a:pt x="706899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39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66578" y="520386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48994" y="5390388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64087" y="42593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64087" y="42593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46503" y="4448555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23946" y="427126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60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59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2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7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60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7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59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8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6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23946" y="427126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806362" y="4460747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89477" y="4179860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3" y="1031895"/>
                </a:lnTo>
                <a:lnTo>
                  <a:pt x="34970" y="1038291"/>
                </a:lnTo>
                <a:lnTo>
                  <a:pt x="50753" y="1038291"/>
                </a:lnTo>
                <a:lnTo>
                  <a:pt x="57148" y="1031895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81777" y="3797778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80"/>
                </a:lnTo>
                <a:lnTo>
                  <a:pt x="1482309" y="827374"/>
                </a:lnTo>
                <a:lnTo>
                  <a:pt x="1469767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3" y="806612"/>
                </a:lnTo>
                <a:lnTo>
                  <a:pt x="1436123" y="792803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3"/>
                </a:lnTo>
                <a:lnTo>
                  <a:pt x="1428483" y="806612"/>
                </a:lnTo>
                <a:lnTo>
                  <a:pt x="1419790" y="809113"/>
                </a:lnTo>
                <a:lnTo>
                  <a:pt x="1469767" y="809113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10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98098" y="4608868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1"/>
                </a:lnTo>
                <a:lnTo>
                  <a:pt x="87540" y="938350"/>
                </a:lnTo>
                <a:lnTo>
                  <a:pt x="61159" y="938350"/>
                </a:lnTo>
                <a:lnTo>
                  <a:pt x="52317" y="936438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8"/>
                </a:lnTo>
                <a:lnTo>
                  <a:pt x="61159" y="938350"/>
                </a:lnTo>
                <a:lnTo>
                  <a:pt x="79802" y="926340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40"/>
                </a:moveTo>
                <a:lnTo>
                  <a:pt x="61159" y="938350"/>
                </a:lnTo>
                <a:lnTo>
                  <a:pt x="87540" y="938350"/>
                </a:lnTo>
                <a:lnTo>
                  <a:pt x="79802" y="926340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40"/>
                </a:lnTo>
                <a:lnTo>
                  <a:pt x="1480360" y="24022"/>
                </a:lnTo>
                <a:lnTo>
                  <a:pt x="1482274" y="15180"/>
                </a:lnTo>
                <a:lnTo>
                  <a:pt x="1473727" y="1913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81250" y="4593402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4"/>
                </a:lnTo>
                <a:lnTo>
                  <a:pt x="1285476" y="51005"/>
                </a:lnTo>
                <a:lnTo>
                  <a:pt x="1279023" y="57345"/>
                </a:lnTo>
                <a:lnTo>
                  <a:pt x="1256844" y="57345"/>
                </a:lnTo>
                <a:lnTo>
                  <a:pt x="1256591" y="85721"/>
                </a:lnTo>
                <a:lnTo>
                  <a:pt x="1314634" y="57345"/>
                </a:lnTo>
                <a:lnTo>
                  <a:pt x="1279023" y="57345"/>
                </a:lnTo>
                <a:lnTo>
                  <a:pt x="1315039" y="57147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7"/>
                </a:lnTo>
                <a:lnTo>
                  <a:pt x="1279023" y="57345"/>
                </a:lnTo>
                <a:lnTo>
                  <a:pt x="1285476" y="51005"/>
                </a:lnTo>
                <a:lnTo>
                  <a:pt x="1285618" y="35224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9" y="45967"/>
                </a:lnTo>
                <a:lnTo>
                  <a:pt x="1256846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35059" y="3661700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0809" y="36617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059" y="5402390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0809" y="540239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7502" y="5097590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3252" y="509759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5755" y="5109004"/>
            <a:ext cx="28575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1505" y="5109004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D4D4D6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37087" y="4923861"/>
            <a:ext cx="768985" cy="824230"/>
          </a:xfrm>
          <a:custGeom>
            <a:avLst/>
            <a:gdLst/>
            <a:ahLst/>
            <a:cxnLst/>
            <a:rect l="l" t="t" r="r" b="b"/>
            <a:pathLst>
              <a:path w="768985" h="824229">
                <a:moveTo>
                  <a:pt x="288948" y="180985"/>
                </a:moveTo>
                <a:lnTo>
                  <a:pt x="62303" y="180985"/>
                </a:lnTo>
                <a:lnTo>
                  <a:pt x="643980" y="823769"/>
                </a:lnTo>
                <a:lnTo>
                  <a:pt x="768586" y="711010"/>
                </a:lnTo>
                <a:lnTo>
                  <a:pt x="288948" y="180985"/>
                </a:lnTo>
                <a:close/>
              </a:path>
              <a:path w="768985" h="824229">
                <a:moveTo>
                  <a:pt x="11846" y="0"/>
                </a:moveTo>
                <a:lnTo>
                  <a:pt x="0" y="237364"/>
                </a:lnTo>
                <a:lnTo>
                  <a:pt x="62303" y="180985"/>
                </a:lnTo>
                <a:lnTo>
                  <a:pt x="288948" y="180985"/>
                </a:lnTo>
                <a:lnTo>
                  <a:pt x="186908" y="68225"/>
                </a:lnTo>
                <a:lnTo>
                  <a:pt x="249210" y="11845"/>
                </a:lnTo>
                <a:lnTo>
                  <a:pt x="118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273167" y="5738876"/>
            <a:ext cx="3558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  <a:latin typeface="Arial"/>
                <a:cs typeface="Arial"/>
              </a:rPr>
              <a:t>Wrong </a:t>
            </a: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prediction </a:t>
            </a:r>
            <a:r>
              <a:rPr dirty="0" sz="24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2400" spc="-5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110">
                <a:solidFill>
                  <a:srgbClr val="FF0000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165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9488" y="3053588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5996" y="597357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42084" y="388569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48980" y="2593463"/>
            <a:ext cx="2694940" cy="304800"/>
          </a:xfrm>
          <a:custGeom>
            <a:avLst/>
            <a:gdLst/>
            <a:ahLst/>
            <a:cxnLst/>
            <a:rect l="l" t="t" r="r" b="b"/>
            <a:pathLst>
              <a:path w="2694940" h="304800">
                <a:moveTo>
                  <a:pt x="0" y="0"/>
                </a:moveTo>
                <a:lnTo>
                  <a:pt x="2694940" y="0"/>
                </a:lnTo>
                <a:lnTo>
                  <a:pt x="269494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726680" y="2263139"/>
            <a:ext cx="33299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FFFFFF"/>
                </a:solidFill>
                <a:latin typeface="Calibri"/>
                <a:cs typeface="Calibri"/>
              </a:rPr>
              <a:t>to test</a:t>
            </a:r>
            <a:r>
              <a:rPr dirty="0" sz="20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20" b="1"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4939614" y="3185893"/>
            <a:ext cx="4153535" cy="10121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701800" indent="-60960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AutoNum type="arabicPeriod"/>
              <a:tabLst>
                <a:tab pos="1701800" algn="l"/>
                <a:tab pos="1702435" algn="l"/>
              </a:tabLst>
            </a:pPr>
            <a:r>
              <a:rPr dirty="0" sz="1600" spc="-10" b="1"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55"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marL="1701800" indent="-60960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AutoNum type="arabicPeriod"/>
              <a:tabLst>
                <a:tab pos="1701800" algn="l"/>
                <a:tab pos="1702435" algn="l"/>
              </a:tabLst>
            </a:pPr>
            <a:r>
              <a:rPr dirty="0" sz="1600" spc="-10" b="1">
                <a:latin typeface="Calibri"/>
                <a:cs typeface="Calibri"/>
              </a:rPr>
              <a:t>Update </a:t>
            </a:r>
            <a:r>
              <a:rPr dirty="0" sz="1600" spc="-5" b="1">
                <a:latin typeface="Calibri"/>
                <a:cs typeface="Calibri"/>
              </a:rPr>
              <a:t>label</a:t>
            </a:r>
            <a:r>
              <a:rPr dirty="0" sz="1600" spc="-110" b="1">
                <a:latin typeface="Calibri"/>
                <a:cs typeface="Calibri"/>
              </a:rPr>
              <a:t> </a:t>
            </a:r>
            <a:r>
              <a:rPr dirty="0" sz="1800" spc="-40">
                <a:latin typeface="Cambria Math"/>
                <a:cs typeface="Cambria Math"/>
              </a:rPr>
              <a:t>𝑌</a:t>
            </a:r>
            <a:r>
              <a:rPr dirty="0" baseline="-17094" sz="1950" spc="-60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76037" y="1222756"/>
            <a:ext cx="7405370" cy="964565"/>
          </a:xfrm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3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/>
              <a:t>On the </a:t>
            </a:r>
            <a:r>
              <a:rPr dirty="0" sz="2800" spc="-20" b="1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dirty="0" sz="2800" spc="-4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set</a:t>
            </a:r>
            <a:r>
              <a:rPr dirty="0" sz="2800" spc="-10"/>
              <a:t>: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Use </a:t>
            </a:r>
            <a:r>
              <a:rPr dirty="0" sz="2400" spc="-10">
                <a:latin typeface="Calibri"/>
                <a:cs typeface="Calibri"/>
              </a:rPr>
              <a:t>trained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400" spc="-15">
                <a:latin typeface="Calibri"/>
                <a:cs typeface="Calibri"/>
              </a:rPr>
              <a:t>vector </a:t>
            </a:r>
            <a:r>
              <a:rPr dirty="0" sz="2400" spc="-5">
                <a:latin typeface="Calibri"/>
                <a:cs typeface="Calibri"/>
              </a:rPr>
              <a:t>classifier </a:t>
            </a:r>
            <a:r>
              <a:rPr dirty="0" sz="2800" spc="80">
                <a:solidFill>
                  <a:srgbClr val="D60093"/>
                </a:solidFill>
                <a:latin typeface="Cambria Math"/>
                <a:cs typeface="Cambria Math"/>
              </a:rPr>
              <a:t>𝜙</a:t>
            </a:r>
            <a:r>
              <a:rPr dirty="0" baseline="-16666" sz="3000" spc="120">
                <a:solidFill>
                  <a:srgbClr val="D60093"/>
                </a:solidFill>
                <a:latin typeface="Cambria Math"/>
                <a:cs typeface="Cambria Math"/>
              </a:rPr>
              <a:t>(</a:t>
            </a:r>
            <a:r>
              <a:rPr dirty="0" sz="2400" spc="80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set</a:t>
            </a:r>
            <a:r>
              <a:rPr dirty="0" sz="2400" spc="-355">
                <a:latin typeface="Calibri"/>
                <a:cs typeface="Calibri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𝑌</a:t>
            </a:r>
            <a:r>
              <a:rPr dirty="0" baseline="-16666" sz="3000" spc="-15">
                <a:latin typeface="Cambria Math"/>
                <a:cs typeface="Cambria Math"/>
              </a:rPr>
              <a:t>!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8626" y="3660140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651" y="5370067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61068" y="5077459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94246" y="5104891"/>
            <a:ext cx="200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26136"/>
            <a:ext cx="6105144" cy="496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704" y="1305051"/>
            <a:ext cx="374967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Update </a:t>
            </a:r>
            <a:r>
              <a:rPr dirty="0" sz="2800" spc="235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5277" sz="3000" spc="352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all</a:t>
            </a:r>
            <a:r>
              <a:rPr dirty="0" sz="2800" spc="-1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31221" y="320497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31221" y="496062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8"/>
                </a:lnTo>
                <a:lnTo>
                  <a:pt x="92309" y="122843"/>
                </a:lnTo>
                <a:lnTo>
                  <a:pt x="65531" y="156792"/>
                </a:lnTo>
                <a:lnTo>
                  <a:pt x="42854" y="193813"/>
                </a:lnTo>
                <a:lnTo>
                  <a:pt x="24619" y="233563"/>
                </a:lnTo>
                <a:lnTo>
                  <a:pt x="11170" y="275699"/>
                </a:lnTo>
                <a:lnTo>
                  <a:pt x="2849" y="319878"/>
                </a:lnTo>
                <a:lnTo>
                  <a:pt x="0" y="365758"/>
                </a:lnTo>
                <a:lnTo>
                  <a:pt x="2849" y="411638"/>
                </a:lnTo>
                <a:lnTo>
                  <a:pt x="11170" y="455818"/>
                </a:lnTo>
                <a:lnTo>
                  <a:pt x="24619" y="497954"/>
                </a:lnTo>
                <a:lnTo>
                  <a:pt x="42854" y="537704"/>
                </a:lnTo>
                <a:lnTo>
                  <a:pt x="65532" y="574725"/>
                </a:lnTo>
                <a:lnTo>
                  <a:pt x="92309" y="608674"/>
                </a:lnTo>
                <a:lnTo>
                  <a:pt x="122844" y="639209"/>
                </a:lnTo>
                <a:lnTo>
                  <a:pt x="156793" y="665986"/>
                </a:lnTo>
                <a:lnTo>
                  <a:pt x="193814" y="688664"/>
                </a:lnTo>
                <a:lnTo>
                  <a:pt x="233564" y="706898"/>
                </a:lnTo>
                <a:lnTo>
                  <a:pt x="275700" y="720348"/>
                </a:lnTo>
                <a:lnTo>
                  <a:pt x="319879" y="728668"/>
                </a:lnTo>
                <a:lnTo>
                  <a:pt x="365759" y="731518"/>
                </a:lnTo>
                <a:lnTo>
                  <a:pt x="411640" y="728668"/>
                </a:lnTo>
                <a:lnTo>
                  <a:pt x="455819" y="720348"/>
                </a:lnTo>
                <a:lnTo>
                  <a:pt x="497955" y="706898"/>
                </a:lnTo>
                <a:lnTo>
                  <a:pt x="537705" y="688664"/>
                </a:lnTo>
                <a:lnTo>
                  <a:pt x="574726" y="665986"/>
                </a:lnTo>
                <a:lnTo>
                  <a:pt x="608675" y="639209"/>
                </a:lnTo>
                <a:lnTo>
                  <a:pt x="639210" y="608674"/>
                </a:lnTo>
                <a:lnTo>
                  <a:pt x="665988" y="574725"/>
                </a:lnTo>
                <a:lnTo>
                  <a:pt x="688665" y="537704"/>
                </a:lnTo>
                <a:lnTo>
                  <a:pt x="706900" y="497954"/>
                </a:lnTo>
                <a:lnTo>
                  <a:pt x="720349" y="455818"/>
                </a:lnTo>
                <a:lnTo>
                  <a:pt x="728670" y="411638"/>
                </a:lnTo>
                <a:lnTo>
                  <a:pt x="731519" y="365758"/>
                </a:lnTo>
                <a:lnTo>
                  <a:pt x="728670" y="319878"/>
                </a:lnTo>
                <a:lnTo>
                  <a:pt x="720349" y="275699"/>
                </a:lnTo>
                <a:lnTo>
                  <a:pt x="706900" y="233563"/>
                </a:lnTo>
                <a:lnTo>
                  <a:pt x="688665" y="193813"/>
                </a:lnTo>
                <a:lnTo>
                  <a:pt x="665988" y="156792"/>
                </a:lnTo>
                <a:lnTo>
                  <a:pt x="639210" y="122843"/>
                </a:lnTo>
                <a:lnTo>
                  <a:pt x="608675" y="92308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28730" y="401574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88589" y="402793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71704" y="3747752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49"/>
                </a:moveTo>
                <a:lnTo>
                  <a:pt x="34971" y="57149"/>
                </a:lnTo>
                <a:lnTo>
                  <a:pt x="28575" y="63545"/>
                </a:lnTo>
                <a:lnTo>
                  <a:pt x="28575" y="1031894"/>
                </a:lnTo>
                <a:lnTo>
                  <a:pt x="34970" y="1038291"/>
                </a:lnTo>
                <a:lnTo>
                  <a:pt x="50753" y="1038291"/>
                </a:lnTo>
                <a:lnTo>
                  <a:pt x="57150" y="1031894"/>
                </a:lnTo>
                <a:lnTo>
                  <a:pt x="57150" y="63545"/>
                </a:lnTo>
                <a:lnTo>
                  <a:pt x="50753" y="57149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49"/>
                </a:moveTo>
                <a:lnTo>
                  <a:pt x="50753" y="57149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64004" y="3365670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3" y="806612"/>
                </a:lnTo>
                <a:lnTo>
                  <a:pt x="1436123" y="792802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2"/>
                </a:lnTo>
                <a:lnTo>
                  <a:pt x="1428483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80325" y="4176759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1"/>
                </a:lnTo>
                <a:lnTo>
                  <a:pt x="87540" y="938350"/>
                </a:lnTo>
                <a:lnTo>
                  <a:pt x="61159" y="938350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50"/>
                </a:lnTo>
                <a:lnTo>
                  <a:pt x="79802" y="926340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40"/>
                </a:moveTo>
                <a:lnTo>
                  <a:pt x="61159" y="938350"/>
                </a:lnTo>
                <a:lnTo>
                  <a:pt x="87540" y="938350"/>
                </a:lnTo>
                <a:lnTo>
                  <a:pt x="79802" y="926340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40"/>
                </a:lnTo>
                <a:lnTo>
                  <a:pt x="1480360" y="24022"/>
                </a:lnTo>
                <a:lnTo>
                  <a:pt x="1482274" y="15180"/>
                </a:lnTo>
                <a:lnTo>
                  <a:pt x="1473727" y="1913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3476" y="4161293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4"/>
                </a:lnTo>
                <a:lnTo>
                  <a:pt x="1285476" y="51005"/>
                </a:lnTo>
                <a:lnTo>
                  <a:pt x="1279023" y="57345"/>
                </a:lnTo>
                <a:lnTo>
                  <a:pt x="1256844" y="57345"/>
                </a:lnTo>
                <a:lnTo>
                  <a:pt x="1256591" y="85721"/>
                </a:lnTo>
                <a:lnTo>
                  <a:pt x="1314634" y="57345"/>
                </a:lnTo>
                <a:lnTo>
                  <a:pt x="1279023" y="57345"/>
                </a:lnTo>
                <a:lnTo>
                  <a:pt x="1315040" y="57147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7"/>
                </a:lnTo>
                <a:lnTo>
                  <a:pt x="1279023" y="57345"/>
                </a:lnTo>
                <a:lnTo>
                  <a:pt x="1285476" y="51005"/>
                </a:lnTo>
                <a:lnTo>
                  <a:pt x="1285618" y="35224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9" y="45966"/>
                </a:lnTo>
                <a:lnTo>
                  <a:pt x="1256846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12130" y="2993875"/>
          <a:ext cx="72898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9"/>
                <a:gridCol w="285750"/>
                <a:gridCol w="339722"/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875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75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105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05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41166" y="4532811"/>
          <a:ext cx="72898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9"/>
                <a:gridCol w="285750"/>
                <a:gridCol w="339722"/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875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ts val="1875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105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ts val="2105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2131988" y="2660395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8496" y="5580379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4583" y="3492500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02112" y="350469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508451" y="4628198"/>
          <a:ext cx="72898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9"/>
                <a:gridCol w="285750"/>
                <a:gridCol w="339722"/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88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8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10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0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538693" y="4625175"/>
          <a:ext cx="72898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279"/>
                <a:gridCol w="285750"/>
                <a:gridCol w="339722"/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88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8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210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00"/>
                        </a:lnSpc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762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B w="76200">
                      <a:solidFill>
                        <a:srgbClr val="007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0070C0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762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1212740" y="3017011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93511" y="3129280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8195" y="1562100"/>
            <a:ext cx="295719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dirty="0" sz="2000" spc="-4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test</a:t>
            </a:r>
            <a:endParaRPr sz="20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20" b="1"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3230" y="2552682"/>
            <a:ext cx="2212975" cy="241300"/>
          </a:xfrm>
          <a:prstGeom prst="rect">
            <a:avLst/>
          </a:prstGeom>
          <a:solidFill>
            <a:srgbClr val="8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20"/>
              </a:lnSpc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Update relational</a:t>
            </a:r>
            <a:r>
              <a:rPr dirty="0" sz="1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07511" y="2527300"/>
            <a:ext cx="2222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Cambria Math"/>
                <a:cs typeface="Cambria Math"/>
              </a:rPr>
              <a:t>𝒛</a:t>
            </a:r>
            <a:r>
              <a:rPr dirty="0" baseline="-16203" sz="1800">
                <a:latin typeface="Cambria Math"/>
                <a:cs typeface="Cambria Math"/>
              </a:rPr>
              <a:t>𝒗</a:t>
            </a:r>
            <a:endParaRPr baseline="-16203"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40930" y="2484853"/>
            <a:ext cx="1950720" cy="6343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600" b="1">
                <a:solidFill>
                  <a:srgbClr val="60B5CC"/>
                </a:solidFill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621665" algn="l"/>
              </a:tabLst>
            </a:pPr>
            <a:r>
              <a:rPr dirty="0" sz="1600" b="1">
                <a:solidFill>
                  <a:srgbClr val="60B5CC"/>
                </a:solidFill>
                <a:latin typeface="Calibri"/>
                <a:cs typeface="Calibri"/>
              </a:rPr>
              <a:t>2.	</a:t>
            </a:r>
            <a:r>
              <a:rPr dirty="0" sz="1600" spc="-10" b="1">
                <a:latin typeface="Calibri"/>
                <a:cs typeface="Calibri"/>
              </a:rPr>
              <a:t>Update </a:t>
            </a:r>
            <a:r>
              <a:rPr dirty="0" sz="1600" spc="-5" b="1">
                <a:latin typeface="Calibri"/>
                <a:cs typeface="Calibri"/>
              </a:rPr>
              <a:t>label</a:t>
            </a:r>
            <a:r>
              <a:rPr dirty="0" sz="1600" spc="-110" b="1">
                <a:latin typeface="Calibri"/>
                <a:cs typeface="Calibri"/>
              </a:rPr>
              <a:t> </a:t>
            </a:r>
            <a:r>
              <a:rPr dirty="0" sz="1800" spc="-40">
                <a:latin typeface="Cambria Math"/>
                <a:cs typeface="Cambria Math"/>
              </a:rPr>
              <a:t>𝑌</a:t>
            </a:r>
            <a:r>
              <a:rPr dirty="0" baseline="-14957" sz="1950" spc="-60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7225" y="3312667"/>
            <a:ext cx="402590" cy="683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baseline="-20061" sz="2700" spc="127">
                <a:latin typeface="Cambria Math"/>
                <a:cs typeface="Cambria Math"/>
              </a:rPr>
              <a:t>𝑧</a:t>
            </a:r>
            <a:r>
              <a:rPr dirty="0" baseline="-42735" sz="1950" spc="127">
                <a:latin typeface="Cambria Math"/>
                <a:cs typeface="Cambria Math"/>
              </a:rPr>
              <a:t>"</a:t>
            </a:r>
            <a:r>
              <a:rPr dirty="0" baseline="-42735" sz="1950" spc="-16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  <a:p>
            <a:pPr marL="234315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31790" y="4964684"/>
            <a:ext cx="224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Cambria Math"/>
                <a:cs typeface="Cambria Math"/>
              </a:rPr>
              <a:t>𝑧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80980" y="5092700"/>
            <a:ext cx="13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86517" y="5204967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98234" y="5086603"/>
            <a:ext cx="136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03771" y="5195823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68836" y="4318396"/>
            <a:ext cx="833755" cy="796925"/>
          </a:xfrm>
          <a:custGeom>
            <a:avLst/>
            <a:gdLst/>
            <a:ahLst/>
            <a:cxnLst/>
            <a:rect l="l" t="t" r="r" b="b"/>
            <a:pathLst>
              <a:path w="833754" h="796925">
                <a:moveTo>
                  <a:pt x="596910" y="744097"/>
                </a:moveTo>
                <a:lnTo>
                  <a:pt x="577549" y="745755"/>
                </a:lnTo>
                <a:lnTo>
                  <a:pt x="581880" y="796370"/>
                </a:lnTo>
                <a:lnTo>
                  <a:pt x="604641" y="794421"/>
                </a:lnTo>
                <a:lnTo>
                  <a:pt x="652932" y="778761"/>
                </a:lnTo>
                <a:lnTo>
                  <a:pt x="698397" y="749651"/>
                </a:lnTo>
                <a:lnTo>
                  <a:pt x="704056" y="744597"/>
                </a:lnTo>
                <a:lnTo>
                  <a:pt x="594923" y="744597"/>
                </a:lnTo>
                <a:lnTo>
                  <a:pt x="596910" y="744097"/>
                </a:lnTo>
                <a:close/>
              </a:path>
              <a:path w="833754" h="796925">
                <a:moveTo>
                  <a:pt x="598952" y="743922"/>
                </a:moveTo>
                <a:lnTo>
                  <a:pt x="596910" y="744097"/>
                </a:lnTo>
                <a:lnTo>
                  <a:pt x="594923" y="744597"/>
                </a:lnTo>
                <a:lnTo>
                  <a:pt x="598952" y="743922"/>
                </a:lnTo>
                <a:close/>
              </a:path>
              <a:path w="833754" h="796925">
                <a:moveTo>
                  <a:pt x="704811" y="743922"/>
                </a:moveTo>
                <a:lnTo>
                  <a:pt x="598952" y="743922"/>
                </a:lnTo>
                <a:lnTo>
                  <a:pt x="594923" y="744597"/>
                </a:lnTo>
                <a:lnTo>
                  <a:pt x="704056" y="744597"/>
                </a:lnTo>
                <a:lnTo>
                  <a:pt x="704811" y="743922"/>
                </a:lnTo>
                <a:close/>
              </a:path>
              <a:path w="833754" h="796925">
                <a:moveTo>
                  <a:pt x="614378" y="739706"/>
                </a:moveTo>
                <a:lnTo>
                  <a:pt x="596910" y="744097"/>
                </a:lnTo>
                <a:lnTo>
                  <a:pt x="598952" y="743922"/>
                </a:lnTo>
                <a:lnTo>
                  <a:pt x="704811" y="743922"/>
                </a:lnTo>
                <a:lnTo>
                  <a:pt x="708746" y="740407"/>
                </a:lnTo>
                <a:lnTo>
                  <a:pt x="612675" y="740407"/>
                </a:lnTo>
                <a:lnTo>
                  <a:pt x="614378" y="739706"/>
                </a:lnTo>
                <a:close/>
              </a:path>
              <a:path w="833754" h="796925">
                <a:moveTo>
                  <a:pt x="616159" y="739258"/>
                </a:moveTo>
                <a:lnTo>
                  <a:pt x="614378" y="739706"/>
                </a:lnTo>
                <a:lnTo>
                  <a:pt x="612675" y="740407"/>
                </a:lnTo>
                <a:lnTo>
                  <a:pt x="616159" y="739258"/>
                </a:lnTo>
                <a:close/>
              </a:path>
              <a:path w="833754" h="796925">
                <a:moveTo>
                  <a:pt x="710033" y="739258"/>
                </a:moveTo>
                <a:lnTo>
                  <a:pt x="616159" y="739258"/>
                </a:lnTo>
                <a:lnTo>
                  <a:pt x="612675" y="740407"/>
                </a:lnTo>
                <a:lnTo>
                  <a:pt x="708746" y="740407"/>
                </a:lnTo>
                <a:lnTo>
                  <a:pt x="710033" y="739258"/>
                </a:lnTo>
                <a:close/>
              </a:path>
              <a:path w="833754" h="796925">
                <a:moveTo>
                  <a:pt x="154398" y="100608"/>
                </a:moveTo>
                <a:lnTo>
                  <a:pt x="148121" y="150929"/>
                </a:lnTo>
                <a:lnTo>
                  <a:pt x="186448" y="153207"/>
                </a:lnTo>
                <a:lnTo>
                  <a:pt x="255104" y="155719"/>
                </a:lnTo>
                <a:lnTo>
                  <a:pt x="328580" y="157336"/>
                </a:lnTo>
                <a:lnTo>
                  <a:pt x="402929" y="157877"/>
                </a:lnTo>
                <a:lnTo>
                  <a:pt x="438420" y="159485"/>
                </a:lnTo>
                <a:lnTo>
                  <a:pt x="508684" y="172460"/>
                </a:lnTo>
                <a:lnTo>
                  <a:pt x="575899" y="197031"/>
                </a:lnTo>
                <a:lnTo>
                  <a:pt x="637531" y="231353"/>
                </a:lnTo>
                <a:lnTo>
                  <a:pt x="691070" y="273418"/>
                </a:lnTo>
                <a:lnTo>
                  <a:pt x="734119" y="321048"/>
                </a:lnTo>
                <a:lnTo>
                  <a:pt x="764537" y="371927"/>
                </a:lnTo>
                <a:lnTo>
                  <a:pt x="780762" y="424818"/>
                </a:lnTo>
                <a:lnTo>
                  <a:pt x="782937" y="450670"/>
                </a:lnTo>
                <a:lnTo>
                  <a:pt x="781809" y="478430"/>
                </a:lnTo>
                <a:lnTo>
                  <a:pt x="772634" y="533391"/>
                </a:lnTo>
                <a:lnTo>
                  <a:pt x="755258" y="585918"/>
                </a:lnTo>
                <a:lnTo>
                  <a:pt x="731038" y="633971"/>
                </a:lnTo>
                <a:lnTo>
                  <a:pt x="701499" y="675530"/>
                </a:lnTo>
                <a:lnTo>
                  <a:pt x="668366" y="708677"/>
                </a:lnTo>
                <a:lnTo>
                  <a:pt x="633576" y="731794"/>
                </a:lnTo>
                <a:lnTo>
                  <a:pt x="614378" y="739706"/>
                </a:lnTo>
                <a:lnTo>
                  <a:pt x="616159" y="739258"/>
                </a:lnTo>
                <a:lnTo>
                  <a:pt x="710033" y="739258"/>
                </a:lnTo>
                <a:lnTo>
                  <a:pt x="719281" y="730998"/>
                </a:lnTo>
                <a:lnTo>
                  <a:pt x="756920" y="686889"/>
                </a:lnTo>
                <a:lnTo>
                  <a:pt x="788328" y="635288"/>
                </a:lnTo>
                <a:lnTo>
                  <a:pt x="812444" y="577952"/>
                </a:lnTo>
                <a:lnTo>
                  <a:pt x="828029" y="516587"/>
                </a:lnTo>
                <a:lnTo>
                  <a:pt x="833688" y="452898"/>
                </a:lnTo>
                <a:lnTo>
                  <a:pt x="833107" y="435829"/>
                </a:lnTo>
                <a:lnTo>
                  <a:pt x="824000" y="386588"/>
                </a:lnTo>
                <a:lnTo>
                  <a:pt x="796136" y="322870"/>
                </a:lnTo>
                <a:lnTo>
                  <a:pt x="753386" y="264538"/>
                </a:lnTo>
                <a:lnTo>
                  <a:pt x="698562" y="213012"/>
                </a:lnTo>
                <a:lnTo>
                  <a:pt x="667393" y="190258"/>
                </a:lnTo>
                <a:lnTo>
                  <a:pt x="634105" y="169776"/>
                </a:lnTo>
                <a:lnTo>
                  <a:pt x="598976" y="151776"/>
                </a:lnTo>
                <a:lnTo>
                  <a:pt x="562284" y="136480"/>
                </a:lnTo>
                <a:lnTo>
                  <a:pt x="524302" y="124122"/>
                </a:lnTo>
                <a:lnTo>
                  <a:pt x="485307" y="114941"/>
                </a:lnTo>
                <a:lnTo>
                  <a:pt x="445573" y="109192"/>
                </a:lnTo>
                <a:lnTo>
                  <a:pt x="405385" y="107135"/>
                </a:lnTo>
                <a:lnTo>
                  <a:pt x="328964" y="106537"/>
                </a:lnTo>
                <a:lnTo>
                  <a:pt x="256406" y="104936"/>
                </a:lnTo>
                <a:lnTo>
                  <a:pt x="188503" y="102449"/>
                </a:lnTo>
                <a:lnTo>
                  <a:pt x="157085" y="100920"/>
                </a:lnTo>
                <a:lnTo>
                  <a:pt x="154398" y="100608"/>
                </a:lnTo>
                <a:close/>
              </a:path>
              <a:path w="833754" h="796925">
                <a:moveTo>
                  <a:pt x="166949" y="0"/>
                </a:moveTo>
                <a:lnTo>
                  <a:pt x="0" y="107158"/>
                </a:lnTo>
                <a:lnTo>
                  <a:pt x="135507" y="252046"/>
                </a:lnTo>
                <a:lnTo>
                  <a:pt x="148121" y="150929"/>
                </a:lnTo>
                <a:lnTo>
                  <a:pt x="123137" y="148115"/>
                </a:lnTo>
                <a:lnTo>
                  <a:pt x="128910" y="97643"/>
                </a:lnTo>
                <a:lnTo>
                  <a:pt x="154768" y="97643"/>
                </a:lnTo>
                <a:lnTo>
                  <a:pt x="166949" y="0"/>
                </a:lnTo>
                <a:close/>
              </a:path>
              <a:path w="833754" h="796925">
                <a:moveTo>
                  <a:pt x="128910" y="97643"/>
                </a:moveTo>
                <a:lnTo>
                  <a:pt x="123137" y="148115"/>
                </a:lnTo>
                <a:lnTo>
                  <a:pt x="148121" y="150929"/>
                </a:lnTo>
                <a:lnTo>
                  <a:pt x="154398" y="100608"/>
                </a:lnTo>
                <a:lnTo>
                  <a:pt x="128910" y="97643"/>
                </a:lnTo>
                <a:close/>
              </a:path>
              <a:path w="833754" h="796925">
                <a:moveTo>
                  <a:pt x="154768" y="97643"/>
                </a:moveTo>
                <a:lnTo>
                  <a:pt x="128910" y="97643"/>
                </a:lnTo>
                <a:lnTo>
                  <a:pt x="154398" y="100608"/>
                </a:lnTo>
                <a:lnTo>
                  <a:pt x="154768" y="97643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2168" y="326136"/>
            <a:ext cx="6102096" cy="496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5704" y="1305051"/>
            <a:ext cx="451802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Re-classify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all nodes with</a:t>
            </a:r>
            <a:r>
              <a:rPr dirty="0" sz="28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155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5277" sz="3000" spc="232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31221" y="320497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8"/>
                </a:lnTo>
                <a:lnTo>
                  <a:pt x="92309" y="122843"/>
                </a:lnTo>
                <a:lnTo>
                  <a:pt x="65531" y="156792"/>
                </a:lnTo>
                <a:lnTo>
                  <a:pt x="42854" y="193813"/>
                </a:lnTo>
                <a:lnTo>
                  <a:pt x="24619" y="233563"/>
                </a:lnTo>
                <a:lnTo>
                  <a:pt x="11170" y="275699"/>
                </a:lnTo>
                <a:lnTo>
                  <a:pt x="2849" y="319878"/>
                </a:lnTo>
                <a:lnTo>
                  <a:pt x="0" y="365758"/>
                </a:lnTo>
                <a:lnTo>
                  <a:pt x="2849" y="411638"/>
                </a:lnTo>
                <a:lnTo>
                  <a:pt x="11170" y="455818"/>
                </a:lnTo>
                <a:lnTo>
                  <a:pt x="24619" y="497954"/>
                </a:lnTo>
                <a:lnTo>
                  <a:pt x="42854" y="537704"/>
                </a:lnTo>
                <a:lnTo>
                  <a:pt x="65532" y="574725"/>
                </a:lnTo>
                <a:lnTo>
                  <a:pt x="92309" y="608674"/>
                </a:lnTo>
                <a:lnTo>
                  <a:pt x="122844" y="639209"/>
                </a:lnTo>
                <a:lnTo>
                  <a:pt x="156793" y="665986"/>
                </a:lnTo>
                <a:lnTo>
                  <a:pt x="193814" y="688664"/>
                </a:lnTo>
                <a:lnTo>
                  <a:pt x="233564" y="706898"/>
                </a:lnTo>
                <a:lnTo>
                  <a:pt x="275700" y="720348"/>
                </a:lnTo>
                <a:lnTo>
                  <a:pt x="319879" y="728668"/>
                </a:lnTo>
                <a:lnTo>
                  <a:pt x="365759" y="731518"/>
                </a:lnTo>
                <a:lnTo>
                  <a:pt x="411640" y="728668"/>
                </a:lnTo>
                <a:lnTo>
                  <a:pt x="455819" y="720348"/>
                </a:lnTo>
                <a:lnTo>
                  <a:pt x="497955" y="706898"/>
                </a:lnTo>
                <a:lnTo>
                  <a:pt x="537705" y="688664"/>
                </a:lnTo>
                <a:lnTo>
                  <a:pt x="574726" y="665986"/>
                </a:lnTo>
                <a:lnTo>
                  <a:pt x="608675" y="639209"/>
                </a:lnTo>
                <a:lnTo>
                  <a:pt x="639210" y="608674"/>
                </a:lnTo>
                <a:lnTo>
                  <a:pt x="665988" y="574725"/>
                </a:lnTo>
                <a:lnTo>
                  <a:pt x="688665" y="537704"/>
                </a:lnTo>
                <a:lnTo>
                  <a:pt x="706900" y="497954"/>
                </a:lnTo>
                <a:lnTo>
                  <a:pt x="720349" y="455818"/>
                </a:lnTo>
                <a:lnTo>
                  <a:pt x="728670" y="411638"/>
                </a:lnTo>
                <a:lnTo>
                  <a:pt x="731519" y="365758"/>
                </a:lnTo>
                <a:lnTo>
                  <a:pt x="728670" y="319878"/>
                </a:lnTo>
                <a:lnTo>
                  <a:pt x="720349" y="275699"/>
                </a:lnTo>
                <a:lnTo>
                  <a:pt x="706900" y="233563"/>
                </a:lnTo>
                <a:lnTo>
                  <a:pt x="688665" y="193813"/>
                </a:lnTo>
                <a:lnTo>
                  <a:pt x="665988" y="156792"/>
                </a:lnTo>
                <a:lnTo>
                  <a:pt x="639210" y="122843"/>
                </a:lnTo>
                <a:lnTo>
                  <a:pt x="608675" y="92308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28730" y="401574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88589" y="402793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71704" y="3747752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49"/>
                </a:moveTo>
                <a:lnTo>
                  <a:pt x="34971" y="57149"/>
                </a:lnTo>
                <a:lnTo>
                  <a:pt x="28575" y="63545"/>
                </a:lnTo>
                <a:lnTo>
                  <a:pt x="28575" y="1031894"/>
                </a:lnTo>
                <a:lnTo>
                  <a:pt x="34970" y="1038291"/>
                </a:lnTo>
                <a:lnTo>
                  <a:pt x="50753" y="1038291"/>
                </a:lnTo>
                <a:lnTo>
                  <a:pt x="57150" y="1031894"/>
                </a:lnTo>
                <a:lnTo>
                  <a:pt x="57150" y="63545"/>
                </a:lnTo>
                <a:lnTo>
                  <a:pt x="50753" y="57149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49"/>
                </a:moveTo>
                <a:lnTo>
                  <a:pt x="50753" y="57149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64004" y="3365670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3" y="806612"/>
                </a:lnTo>
                <a:lnTo>
                  <a:pt x="1436123" y="792802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2"/>
                </a:lnTo>
                <a:lnTo>
                  <a:pt x="1428483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80325" y="4176759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1"/>
                </a:lnTo>
                <a:lnTo>
                  <a:pt x="87540" y="938350"/>
                </a:lnTo>
                <a:lnTo>
                  <a:pt x="61159" y="938350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50"/>
                </a:lnTo>
                <a:lnTo>
                  <a:pt x="79802" y="926340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40"/>
                </a:moveTo>
                <a:lnTo>
                  <a:pt x="61159" y="938350"/>
                </a:lnTo>
                <a:lnTo>
                  <a:pt x="87540" y="938350"/>
                </a:lnTo>
                <a:lnTo>
                  <a:pt x="79802" y="926340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40"/>
                </a:lnTo>
                <a:lnTo>
                  <a:pt x="1480360" y="24022"/>
                </a:lnTo>
                <a:lnTo>
                  <a:pt x="1482274" y="15180"/>
                </a:lnTo>
                <a:lnTo>
                  <a:pt x="1473727" y="1913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3476" y="4161293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4"/>
                </a:lnTo>
                <a:lnTo>
                  <a:pt x="1285476" y="51005"/>
                </a:lnTo>
                <a:lnTo>
                  <a:pt x="1279023" y="57345"/>
                </a:lnTo>
                <a:lnTo>
                  <a:pt x="1256844" y="57345"/>
                </a:lnTo>
                <a:lnTo>
                  <a:pt x="1256591" y="85721"/>
                </a:lnTo>
                <a:lnTo>
                  <a:pt x="1314634" y="57345"/>
                </a:lnTo>
                <a:lnTo>
                  <a:pt x="1279023" y="57345"/>
                </a:lnTo>
                <a:lnTo>
                  <a:pt x="1315040" y="57147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7"/>
                </a:lnTo>
                <a:lnTo>
                  <a:pt x="1279023" y="57345"/>
                </a:lnTo>
                <a:lnTo>
                  <a:pt x="1285476" y="51005"/>
                </a:lnTo>
                <a:lnTo>
                  <a:pt x="1285618" y="35224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9" y="45966"/>
                </a:lnTo>
                <a:lnTo>
                  <a:pt x="1256846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03565" y="3640622"/>
            <a:ext cx="1042669" cy="467359"/>
          </a:xfrm>
          <a:custGeom>
            <a:avLst/>
            <a:gdLst/>
            <a:ahLst/>
            <a:cxnLst/>
            <a:rect l="l" t="t" r="r" b="b"/>
            <a:pathLst>
              <a:path w="1042669" h="467360">
                <a:moveTo>
                  <a:pt x="50700" y="211246"/>
                </a:moveTo>
                <a:lnTo>
                  <a:pt x="0" y="214438"/>
                </a:lnTo>
                <a:lnTo>
                  <a:pt x="671" y="225139"/>
                </a:lnTo>
                <a:lnTo>
                  <a:pt x="3037" y="238883"/>
                </a:lnTo>
                <a:lnTo>
                  <a:pt x="19097" y="278061"/>
                </a:lnTo>
                <a:lnTo>
                  <a:pt x="45631" y="312991"/>
                </a:lnTo>
                <a:lnTo>
                  <a:pt x="95479" y="355580"/>
                </a:lnTo>
                <a:lnTo>
                  <a:pt x="158194" y="392385"/>
                </a:lnTo>
                <a:lnTo>
                  <a:pt x="193594" y="408506"/>
                </a:lnTo>
                <a:lnTo>
                  <a:pt x="231284" y="422968"/>
                </a:lnTo>
                <a:lnTo>
                  <a:pt x="270956" y="435641"/>
                </a:lnTo>
                <a:lnTo>
                  <a:pt x="312299" y="446382"/>
                </a:lnTo>
                <a:lnTo>
                  <a:pt x="355002" y="455033"/>
                </a:lnTo>
                <a:lnTo>
                  <a:pt x="398746" y="461437"/>
                </a:lnTo>
                <a:lnTo>
                  <a:pt x="443215" y="465425"/>
                </a:lnTo>
                <a:lnTo>
                  <a:pt x="488092" y="466825"/>
                </a:lnTo>
                <a:lnTo>
                  <a:pt x="511326" y="466186"/>
                </a:lnTo>
                <a:lnTo>
                  <a:pt x="557464" y="460940"/>
                </a:lnTo>
                <a:lnTo>
                  <a:pt x="624564" y="444065"/>
                </a:lnTo>
                <a:lnTo>
                  <a:pt x="668273" y="427168"/>
                </a:lnTo>
                <a:lnTo>
                  <a:pt x="690652" y="416048"/>
                </a:lnTo>
                <a:lnTo>
                  <a:pt x="489626" y="416048"/>
                </a:lnTo>
                <a:lnTo>
                  <a:pt x="447708" y="414825"/>
                </a:lnTo>
                <a:lnTo>
                  <a:pt x="406061" y="411167"/>
                </a:lnTo>
                <a:lnTo>
                  <a:pt x="365048" y="405236"/>
                </a:lnTo>
                <a:lnTo>
                  <a:pt x="325027" y="397201"/>
                </a:lnTo>
                <a:lnTo>
                  <a:pt x="286366" y="387235"/>
                </a:lnTo>
                <a:lnTo>
                  <a:pt x="249428" y="375519"/>
                </a:lnTo>
                <a:lnTo>
                  <a:pt x="182198" y="347614"/>
                </a:lnTo>
                <a:lnTo>
                  <a:pt x="126321" y="315214"/>
                </a:lnTo>
                <a:lnTo>
                  <a:pt x="84733" y="280562"/>
                </a:lnTo>
                <a:lnTo>
                  <a:pt x="59143" y="245557"/>
                </a:lnTo>
                <a:lnTo>
                  <a:pt x="51372" y="221959"/>
                </a:lnTo>
                <a:lnTo>
                  <a:pt x="50700" y="211246"/>
                </a:lnTo>
                <a:close/>
              </a:path>
              <a:path w="1042669" h="467360">
                <a:moveTo>
                  <a:pt x="888975" y="152232"/>
                </a:moveTo>
                <a:lnTo>
                  <a:pt x="870518" y="185936"/>
                </a:lnTo>
                <a:lnTo>
                  <a:pt x="847121" y="220633"/>
                </a:lnTo>
                <a:lnTo>
                  <a:pt x="820428" y="253564"/>
                </a:lnTo>
                <a:lnTo>
                  <a:pt x="790785" y="284382"/>
                </a:lnTo>
                <a:lnTo>
                  <a:pt x="758542" y="312746"/>
                </a:lnTo>
                <a:lnTo>
                  <a:pt x="724059" y="338322"/>
                </a:lnTo>
                <a:lnTo>
                  <a:pt x="687701" y="360787"/>
                </a:lnTo>
                <a:lnTo>
                  <a:pt x="649834" y="379832"/>
                </a:lnTo>
                <a:lnTo>
                  <a:pt x="610822" y="395160"/>
                </a:lnTo>
                <a:lnTo>
                  <a:pt x="570351" y="406612"/>
                </a:lnTo>
                <a:lnTo>
                  <a:pt x="530047" y="413600"/>
                </a:lnTo>
                <a:lnTo>
                  <a:pt x="489626" y="416048"/>
                </a:lnTo>
                <a:lnTo>
                  <a:pt x="690652" y="416048"/>
                </a:lnTo>
                <a:lnTo>
                  <a:pt x="750664" y="381599"/>
                </a:lnTo>
                <a:lnTo>
                  <a:pt x="788718" y="353612"/>
                </a:lnTo>
                <a:lnTo>
                  <a:pt x="824259" y="322593"/>
                </a:lnTo>
                <a:lnTo>
                  <a:pt x="856967" y="288856"/>
                </a:lnTo>
                <a:lnTo>
                  <a:pt x="886516" y="252705"/>
                </a:lnTo>
                <a:lnTo>
                  <a:pt x="912576" y="214426"/>
                </a:lnTo>
                <a:lnTo>
                  <a:pt x="935650" y="172772"/>
                </a:lnTo>
                <a:lnTo>
                  <a:pt x="941240" y="154795"/>
                </a:lnTo>
                <a:lnTo>
                  <a:pt x="888206" y="154795"/>
                </a:lnTo>
                <a:lnTo>
                  <a:pt x="888975" y="152232"/>
                </a:lnTo>
                <a:close/>
              </a:path>
              <a:path w="1042669" h="467360">
                <a:moveTo>
                  <a:pt x="1011490" y="116499"/>
                </a:moveTo>
                <a:lnTo>
                  <a:pt x="899688" y="116499"/>
                </a:lnTo>
                <a:lnTo>
                  <a:pt x="948348" y="131091"/>
                </a:lnTo>
                <a:lnTo>
                  <a:pt x="941520" y="153861"/>
                </a:lnTo>
                <a:lnTo>
                  <a:pt x="1042144" y="176904"/>
                </a:lnTo>
                <a:lnTo>
                  <a:pt x="1011490" y="116499"/>
                </a:lnTo>
                <a:close/>
              </a:path>
              <a:path w="1042669" h="467360">
                <a:moveTo>
                  <a:pt x="890289" y="149832"/>
                </a:moveTo>
                <a:lnTo>
                  <a:pt x="888975" y="152232"/>
                </a:lnTo>
                <a:lnTo>
                  <a:pt x="888206" y="154795"/>
                </a:lnTo>
                <a:lnTo>
                  <a:pt x="890289" y="149832"/>
                </a:lnTo>
                <a:close/>
              </a:path>
              <a:path w="1042669" h="467360">
                <a:moveTo>
                  <a:pt x="923925" y="149832"/>
                </a:moveTo>
                <a:lnTo>
                  <a:pt x="890289" y="149832"/>
                </a:lnTo>
                <a:lnTo>
                  <a:pt x="888206" y="154795"/>
                </a:lnTo>
                <a:lnTo>
                  <a:pt x="941240" y="154795"/>
                </a:lnTo>
                <a:lnTo>
                  <a:pt x="941520" y="153861"/>
                </a:lnTo>
                <a:lnTo>
                  <a:pt x="923925" y="149832"/>
                </a:lnTo>
                <a:close/>
              </a:path>
              <a:path w="1042669" h="467360">
                <a:moveTo>
                  <a:pt x="899688" y="116499"/>
                </a:moveTo>
                <a:lnTo>
                  <a:pt x="891894" y="142496"/>
                </a:lnTo>
                <a:lnTo>
                  <a:pt x="941520" y="153861"/>
                </a:lnTo>
                <a:lnTo>
                  <a:pt x="948348" y="131091"/>
                </a:lnTo>
                <a:lnTo>
                  <a:pt x="899688" y="116499"/>
                </a:lnTo>
                <a:close/>
              </a:path>
              <a:path w="1042669" h="467360">
                <a:moveTo>
                  <a:pt x="891894" y="142496"/>
                </a:moveTo>
                <a:lnTo>
                  <a:pt x="888975" y="152232"/>
                </a:lnTo>
                <a:lnTo>
                  <a:pt x="890289" y="149832"/>
                </a:lnTo>
                <a:lnTo>
                  <a:pt x="923925" y="149832"/>
                </a:lnTo>
                <a:lnTo>
                  <a:pt x="891894" y="142496"/>
                </a:lnTo>
                <a:close/>
              </a:path>
              <a:path w="1042669" h="467360">
                <a:moveTo>
                  <a:pt x="952368" y="0"/>
                </a:moveTo>
                <a:lnTo>
                  <a:pt x="794553" y="120205"/>
                </a:lnTo>
                <a:lnTo>
                  <a:pt x="891894" y="142496"/>
                </a:lnTo>
                <a:lnTo>
                  <a:pt x="899688" y="116499"/>
                </a:lnTo>
                <a:lnTo>
                  <a:pt x="1011490" y="116499"/>
                </a:lnTo>
                <a:lnTo>
                  <a:pt x="952368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99872" y="4418835"/>
            <a:ext cx="1045210" cy="460375"/>
          </a:xfrm>
          <a:custGeom>
            <a:avLst/>
            <a:gdLst/>
            <a:ahLst/>
            <a:cxnLst/>
            <a:rect l="l" t="t" r="r" b="b"/>
            <a:pathLst>
              <a:path w="1045210" h="460375">
                <a:moveTo>
                  <a:pt x="894792" y="317930"/>
                </a:moveTo>
                <a:lnTo>
                  <a:pt x="797417" y="340941"/>
                </a:lnTo>
                <a:lnTo>
                  <a:pt x="956062" y="460048"/>
                </a:lnTo>
                <a:lnTo>
                  <a:pt x="1014076" y="343740"/>
                </a:lnTo>
                <a:lnTo>
                  <a:pt x="902522" y="343740"/>
                </a:lnTo>
                <a:lnTo>
                  <a:pt x="894792" y="317930"/>
                </a:lnTo>
                <a:close/>
              </a:path>
              <a:path w="1045210" h="460375">
                <a:moveTo>
                  <a:pt x="944316" y="306227"/>
                </a:moveTo>
                <a:lnTo>
                  <a:pt x="894792" y="317930"/>
                </a:lnTo>
                <a:lnTo>
                  <a:pt x="902522" y="343740"/>
                </a:lnTo>
                <a:lnTo>
                  <a:pt x="951186" y="329164"/>
                </a:lnTo>
                <a:lnTo>
                  <a:pt x="944316" y="306227"/>
                </a:lnTo>
                <a:close/>
              </a:path>
              <a:path w="1045210" h="460375">
                <a:moveTo>
                  <a:pt x="1044609" y="282526"/>
                </a:moveTo>
                <a:lnTo>
                  <a:pt x="944316" y="306227"/>
                </a:lnTo>
                <a:lnTo>
                  <a:pt x="951186" y="329164"/>
                </a:lnTo>
                <a:lnTo>
                  <a:pt x="902522" y="343740"/>
                </a:lnTo>
                <a:lnTo>
                  <a:pt x="1014076" y="343740"/>
                </a:lnTo>
                <a:lnTo>
                  <a:pt x="1044609" y="282526"/>
                </a:lnTo>
                <a:close/>
              </a:path>
              <a:path w="1045210" h="460375">
                <a:moveTo>
                  <a:pt x="892534" y="310395"/>
                </a:moveTo>
                <a:lnTo>
                  <a:pt x="894792" y="317930"/>
                </a:lnTo>
                <a:lnTo>
                  <a:pt x="916133" y="312887"/>
                </a:lnTo>
                <a:lnTo>
                  <a:pt x="893926" y="312887"/>
                </a:lnTo>
                <a:lnTo>
                  <a:pt x="892534" y="310395"/>
                </a:lnTo>
                <a:close/>
              </a:path>
              <a:path w="1045210" h="460375">
                <a:moveTo>
                  <a:pt x="891738" y="307734"/>
                </a:moveTo>
                <a:lnTo>
                  <a:pt x="892534" y="310395"/>
                </a:lnTo>
                <a:lnTo>
                  <a:pt x="893926" y="312887"/>
                </a:lnTo>
                <a:lnTo>
                  <a:pt x="891738" y="307734"/>
                </a:lnTo>
                <a:close/>
              </a:path>
              <a:path w="1045210" h="460375">
                <a:moveTo>
                  <a:pt x="937936" y="307734"/>
                </a:moveTo>
                <a:lnTo>
                  <a:pt x="891738" y="307734"/>
                </a:lnTo>
                <a:lnTo>
                  <a:pt x="893926" y="312887"/>
                </a:lnTo>
                <a:lnTo>
                  <a:pt x="916133" y="312887"/>
                </a:lnTo>
                <a:lnTo>
                  <a:pt x="937936" y="307734"/>
                </a:lnTo>
                <a:close/>
              </a:path>
              <a:path w="1045210" h="460375">
                <a:moveTo>
                  <a:pt x="694775" y="50775"/>
                </a:moveTo>
                <a:lnTo>
                  <a:pt x="491469" y="50775"/>
                </a:lnTo>
                <a:lnTo>
                  <a:pt x="511778" y="51407"/>
                </a:lnTo>
                <a:lnTo>
                  <a:pt x="532109" y="53188"/>
                </a:lnTo>
                <a:lnTo>
                  <a:pt x="572634" y="60079"/>
                </a:lnTo>
                <a:lnTo>
                  <a:pt x="613304" y="71363"/>
                </a:lnTo>
                <a:lnTo>
                  <a:pt x="652513" y="86469"/>
                </a:lnTo>
                <a:lnTo>
                  <a:pt x="690562" y="105234"/>
                </a:lnTo>
                <a:lnTo>
                  <a:pt x="727083" y="127365"/>
                </a:lnTo>
                <a:lnTo>
                  <a:pt x="761712" y="152556"/>
                </a:lnTo>
                <a:lnTo>
                  <a:pt x="794085" y="180484"/>
                </a:lnTo>
                <a:lnTo>
                  <a:pt x="823841" y="210825"/>
                </a:lnTo>
                <a:lnTo>
                  <a:pt x="850626" y="243236"/>
                </a:lnTo>
                <a:lnTo>
                  <a:pt x="874099" y="277374"/>
                </a:lnTo>
                <a:lnTo>
                  <a:pt x="892534" y="310395"/>
                </a:lnTo>
                <a:lnTo>
                  <a:pt x="891738" y="307734"/>
                </a:lnTo>
                <a:lnTo>
                  <a:pt x="937936" y="307734"/>
                </a:lnTo>
                <a:lnTo>
                  <a:pt x="944316" y="306227"/>
                </a:lnTo>
                <a:lnTo>
                  <a:pt x="915890" y="248493"/>
                </a:lnTo>
                <a:lnTo>
                  <a:pt x="889715" y="210789"/>
                </a:lnTo>
                <a:lnTo>
                  <a:pt x="860035" y="175178"/>
                </a:lnTo>
                <a:lnTo>
                  <a:pt x="827191" y="141954"/>
                </a:lnTo>
                <a:lnTo>
                  <a:pt x="791509" y="111412"/>
                </a:lnTo>
                <a:lnTo>
                  <a:pt x="753313" y="83860"/>
                </a:lnTo>
                <a:lnTo>
                  <a:pt x="712919" y="59618"/>
                </a:lnTo>
                <a:lnTo>
                  <a:pt x="694775" y="50775"/>
                </a:lnTo>
                <a:close/>
              </a:path>
              <a:path w="1045210" h="460375">
                <a:moveTo>
                  <a:pt x="489941" y="0"/>
                </a:moveTo>
                <a:lnTo>
                  <a:pt x="444897" y="1398"/>
                </a:lnTo>
                <a:lnTo>
                  <a:pt x="400262" y="5384"/>
                </a:lnTo>
                <a:lnTo>
                  <a:pt x="356354" y="11786"/>
                </a:lnTo>
                <a:lnTo>
                  <a:pt x="313493" y="20436"/>
                </a:lnTo>
                <a:lnTo>
                  <a:pt x="271993" y="31174"/>
                </a:lnTo>
                <a:lnTo>
                  <a:pt x="232172" y="43844"/>
                </a:lnTo>
                <a:lnTo>
                  <a:pt x="194341" y="58303"/>
                </a:lnTo>
                <a:lnTo>
                  <a:pt x="158808" y="74420"/>
                </a:lnTo>
                <a:lnTo>
                  <a:pt x="95858" y="111215"/>
                </a:lnTo>
                <a:lnTo>
                  <a:pt x="45821" y="153795"/>
                </a:lnTo>
                <a:lnTo>
                  <a:pt x="19182" y="188727"/>
                </a:lnTo>
                <a:lnTo>
                  <a:pt x="3050" y="227924"/>
                </a:lnTo>
                <a:lnTo>
                  <a:pt x="0" y="252392"/>
                </a:lnTo>
                <a:lnTo>
                  <a:pt x="50699" y="255584"/>
                </a:lnTo>
                <a:lnTo>
                  <a:pt x="51374" y="244872"/>
                </a:lnTo>
                <a:lnTo>
                  <a:pt x="52988" y="237244"/>
                </a:lnTo>
                <a:lnTo>
                  <a:pt x="84861" y="186301"/>
                </a:lnTo>
                <a:lnTo>
                  <a:pt x="126622" y="151640"/>
                </a:lnTo>
                <a:lnTo>
                  <a:pt x="182739" y="119231"/>
                </a:lnTo>
                <a:lnTo>
                  <a:pt x="250254" y="91316"/>
                </a:lnTo>
                <a:lnTo>
                  <a:pt x="287348" y="79598"/>
                </a:lnTo>
                <a:lnTo>
                  <a:pt x="326172" y="69629"/>
                </a:lnTo>
                <a:lnTo>
                  <a:pt x="366361" y="61592"/>
                </a:lnTo>
                <a:lnTo>
                  <a:pt x="407549" y="55660"/>
                </a:lnTo>
                <a:lnTo>
                  <a:pt x="449372" y="52000"/>
                </a:lnTo>
                <a:lnTo>
                  <a:pt x="491469" y="50775"/>
                </a:lnTo>
                <a:lnTo>
                  <a:pt x="694775" y="50775"/>
                </a:lnTo>
                <a:lnTo>
                  <a:pt x="670643" y="39014"/>
                </a:lnTo>
                <a:lnTo>
                  <a:pt x="626802" y="22390"/>
                </a:lnTo>
                <a:lnTo>
                  <a:pt x="582377" y="10222"/>
                </a:lnTo>
                <a:lnTo>
                  <a:pt x="536442" y="2574"/>
                </a:lnTo>
                <a:lnTo>
                  <a:pt x="513246" y="628"/>
                </a:lnTo>
                <a:lnTo>
                  <a:pt x="489941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70706" y="4344516"/>
            <a:ext cx="833755" cy="796925"/>
          </a:xfrm>
          <a:custGeom>
            <a:avLst/>
            <a:gdLst/>
            <a:ahLst/>
            <a:cxnLst/>
            <a:rect l="l" t="t" r="r" b="b"/>
            <a:pathLst>
              <a:path w="833754" h="796925">
                <a:moveTo>
                  <a:pt x="596911" y="744097"/>
                </a:moveTo>
                <a:lnTo>
                  <a:pt x="577547" y="745755"/>
                </a:lnTo>
                <a:lnTo>
                  <a:pt x="581879" y="796370"/>
                </a:lnTo>
                <a:lnTo>
                  <a:pt x="604641" y="794421"/>
                </a:lnTo>
                <a:lnTo>
                  <a:pt x="652931" y="778761"/>
                </a:lnTo>
                <a:lnTo>
                  <a:pt x="698395" y="749651"/>
                </a:lnTo>
                <a:lnTo>
                  <a:pt x="704055" y="744597"/>
                </a:lnTo>
                <a:lnTo>
                  <a:pt x="594923" y="744597"/>
                </a:lnTo>
                <a:lnTo>
                  <a:pt x="596911" y="744097"/>
                </a:lnTo>
                <a:close/>
              </a:path>
              <a:path w="833754" h="796925">
                <a:moveTo>
                  <a:pt x="598951" y="743922"/>
                </a:moveTo>
                <a:lnTo>
                  <a:pt x="596911" y="744097"/>
                </a:lnTo>
                <a:lnTo>
                  <a:pt x="594923" y="744597"/>
                </a:lnTo>
                <a:lnTo>
                  <a:pt x="598951" y="743922"/>
                </a:lnTo>
                <a:close/>
              </a:path>
              <a:path w="833754" h="796925">
                <a:moveTo>
                  <a:pt x="704810" y="743922"/>
                </a:moveTo>
                <a:lnTo>
                  <a:pt x="598951" y="743922"/>
                </a:lnTo>
                <a:lnTo>
                  <a:pt x="594923" y="744597"/>
                </a:lnTo>
                <a:lnTo>
                  <a:pt x="704055" y="744597"/>
                </a:lnTo>
                <a:lnTo>
                  <a:pt x="704810" y="743922"/>
                </a:lnTo>
                <a:close/>
              </a:path>
              <a:path w="833754" h="796925">
                <a:moveTo>
                  <a:pt x="614375" y="739706"/>
                </a:moveTo>
                <a:lnTo>
                  <a:pt x="596911" y="744097"/>
                </a:lnTo>
                <a:lnTo>
                  <a:pt x="598951" y="743922"/>
                </a:lnTo>
                <a:lnTo>
                  <a:pt x="704810" y="743922"/>
                </a:lnTo>
                <a:lnTo>
                  <a:pt x="708746" y="740407"/>
                </a:lnTo>
                <a:lnTo>
                  <a:pt x="612674" y="740407"/>
                </a:lnTo>
                <a:lnTo>
                  <a:pt x="614375" y="739706"/>
                </a:lnTo>
                <a:close/>
              </a:path>
              <a:path w="833754" h="796925">
                <a:moveTo>
                  <a:pt x="616159" y="739258"/>
                </a:moveTo>
                <a:lnTo>
                  <a:pt x="614375" y="739706"/>
                </a:lnTo>
                <a:lnTo>
                  <a:pt x="612674" y="740407"/>
                </a:lnTo>
                <a:lnTo>
                  <a:pt x="616159" y="739258"/>
                </a:lnTo>
                <a:close/>
              </a:path>
              <a:path w="833754" h="796925">
                <a:moveTo>
                  <a:pt x="710032" y="739258"/>
                </a:moveTo>
                <a:lnTo>
                  <a:pt x="616159" y="739258"/>
                </a:lnTo>
                <a:lnTo>
                  <a:pt x="612674" y="740407"/>
                </a:lnTo>
                <a:lnTo>
                  <a:pt x="708746" y="740407"/>
                </a:lnTo>
                <a:lnTo>
                  <a:pt x="710032" y="739258"/>
                </a:lnTo>
                <a:close/>
              </a:path>
              <a:path w="833754" h="796925">
                <a:moveTo>
                  <a:pt x="154398" y="100608"/>
                </a:moveTo>
                <a:lnTo>
                  <a:pt x="148120" y="150929"/>
                </a:lnTo>
                <a:lnTo>
                  <a:pt x="186447" y="153207"/>
                </a:lnTo>
                <a:lnTo>
                  <a:pt x="255103" y="155719"/>
                </a:lnTo>
                <a:lnTo>
                  <a:pt x="328579" y="157336"/>
                </a:lnTo>
                <a:lnTo>
                  <a:pt x="402927" y="157877"/>
                </a:lnTo>
                <a:lnTo>
                  <a:pt x="438420" y="159485"/>
                </a:lnTo>
                <a:lnTo>
                  <a:pt x="508683" y="172460"/>
                </a:lnTo>
                <a:lnTo>
                  <a:pt x="575899" y="197031"/>
                </a:lnTo>
                <a:lnTo>
                  <a:pt x="637529" y="231353"/>
                </a:lnTo>
                <a:lnTo>
                  <a:pt x="691069" y="273418"/>
                </a:lnTo>
                <a:lnTo>
                  <a:pt x="734118" y="321048"/>
                </a:lnTo>
                <a:lnTo>
                  <a:pt x="764537" y="371927"/>
                </a:lnTo>
                <a:lnTo>
                  <a:pt x="780762" y="424818"/>
                </a:lnTo>
                <a:lnTo>
                  <a:pt x="782937" y="450670"/>
                </a:lnTo>
                <a:lnTo>
                  <a:pt x="781809" y="478430"/>
                </a:lnTo>
                <a:lnTo>
                  <a:pt x="772634" y="533391"/>
                </a:lnTo>
                <a:lnTo>
                  <a:pt x="755257" y="585918"/>
                </a:lnTo>
                <a:lnTo>
                  <a:pt x="731038" y="633971"/>
                </a:lnTo>
                <a:lnTo>
                  <a:pt x="701499" y="675530"/>
                </a:lnTo>
                <a:lnTo>
                  <a:pt x="668366" y="708677"/>
                </a:lnTo>
                <a:lnTo>
                  <a:pt x="633576" y="731794"/>
                </a:lnTo>
                <a:lnTo>
                  <a:pt x="614375" y="739706"/>
                </a:lnTo>
                <a:lnTo>
                  <a:pt x="616159" y="739258"/>
                </a:lnTo>
                <a:lnTo>
                  <a:pt x="710032" y="739258"/>
                </a:lnTo>
                <a:lnTo>
                  <a:pt x="719281" y="730998"/>
                </a:lnTo>
                <a:lnTo>
                  <a:pt x="756918" y="686889"/>
                </a:lnTo>
                <a:lnTo>
                  <a:pt x="788327" y="635288"/>
                </a:lnTo>
                <a:lnTo>
                  <a:pt x="812444" y="577952"/>
                </a:lnTo>
                <a:lnTo>
                  <a:pt x="828028" y="516587"/>
                </a:lnTo>
                <a:lnTo>
                  <a:pt x="833687" y="452898"/>
                </a:lnTo>
                <a:lnTo>
                  <a:pt x="833107" y="435829"/>
                </a:lnTo>
                <a:lnTo>
                  <a:pt x="824000" y="386588"/>
                </a:lnTo>
                <a:lnTo>
                  <a:pt x="796136" y="322870"/>
                </a:lnTo>
                <a:lnTo>
                  <a:pt x="753385" y="264537"/>
                </a:lnTo>
                <a:lnTo>
                  <a:pt x="698562" y="213012"/>
                </a:lnTo>
                <a:lnTo>
                  <a:pt x="667393" y="190258"/>
                </a:lnTo>
                <a:lnTo>
                  <a:pt x="634104" y="169776"/>
                </a:lnTo>
                <a:lnTo>
                  <a:pt x="598976" y="151776"/>
                </a:lnTo>
                <a:lnTo>
                  <a:pt x="562283" y="136480"/>
                </a:lnTo>
                <a:lnTo>
                  <a:pt x="524302" y="124122"/>
                </a:lnTo>
                <a:lnTo>
                  <a:pt x="485306" y="114941"/>
                </a:lnTo>
                <a:lnTo>
                  <a:pt x="445573" y="109192"/>
                </a:lnTo>
                <a:lnTo>
                  <a:pt x="405384" y="107135"/>
                </a:lnTo>
                <a:lnTo>
                  <a:pt x="328963" y="106537"/>
                </a:lnTo>
                <a:lnTo>
                  <a:pt x="256406" y="104936"/>
                </a:lnTo>
                <a:lnTo>
                  <a:pt x="188502" y="102448"/>
                </a:lnTo>
                <a:lnTo>
                  <a:pt x="157085" y="100920"/>
                </a:lnTo>
                <a:lnTo>
                  <a:pt x="154398" y="100608"/>
                </a:lnTo>
                <a:close/>
              </a:path>
              <a:path w="833754" h="796925">
                <a:moveTo>
                  <a:pt x="166949" y="0"/>
                </a:moveTo>
                <a:lnTo>
                  <a:pt x="0" y="107158"/>
                </a:lnTo>
                <a:lnTo>
                  <a:pt x="135506" y="252046"/>
                </a:lnTo>
                <a:lnTo>
                  <a:pt x="148120" y="150929"/>
                </a:lnTo>
                <a:lnTo>
                  <a:pt x="123137" y="148115"/>
                </a:lnTo>
                <a:lnTo>
                  <a:pt x="128908" y="97643"/>
                </a:lnTo>
                <a:lnTo>
                  <a:pt x="154768" y="97643"/>
                </a:lnTo>
                <a:lnTo>
                  <a:pt x="166949" y="0"/>
                </a:lnTo>
                <a:close/>
              </a:path>
              <a:path w="833754" h="796925">
                <a:moveTo>
                  <a:pt x="128908" y="97643"/>
                </a:moveTo>
                <a:lnTo>
                  <a:pt x="123137" y="148115"/>
                </a:lnTo>
                <a:lnTo>
                  <a:pt x="148120" y="150929"/>
                </a:lnTo>
                <a:lnTo>
                  <a:pt x="154398" y="100608"/>
                </a:lnTo>
                <a:lnTo>
                  <a:pt x="128908" y="97643"/>
                </a:lnTo>
                <a:close/>
              </a:path>
              <a:path w="833754" h="796925">
                <a:moveTo>
                  <a:pt x="154768" y="97643"/>
                </a:moveTo>
                <a:lnTo>
                  <a:pt x="128908" y="97643"/>
                </a:lnTo>
                <a:lnTo>
                  <a:pt x="154398" y="100608"/>
                </a:lnTo>
                <a:lnTo>
                  <a:pt x="154768" y="97643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30028" y="3975006"/>
            <a:ext cx="1336675" cy="482600"/>
          </a:xfrm>
          <a:custGeom>
            <a:avLst/>
            <a:gdLst/>
            <a:ahLst/>
            <a:cxnLst/>
            <a:rect l="l" t="t" r="r" b="b"/>
            <a:pathLst>
              <a:path w="1336675" h="482600">
                <a:moveTo>
                  <a:pt x="0" y="241144"/>
                </a:moveTo>
                <a:lnTo>
                  <a:pt x="13572" y="192545"/>
                </a:lnTo>
                <a:lnTo>
                  <a:pt x="52497" y="147280"/>
                </a:lnTo>
                <a:lnTo>
                  <a:pt x="114090" y="106318"/>
                </a:lnTo>
                <a:lnTo>
                  <a:pt x="152547" y="87754"/>
                </a:lnTo>
                <a:lnTo>
                  <a:pt x="195664" y="70629"/>
                </a:lnTo>
                <a:lnTo>
                  <a:pt x="243104" y="55065"/>
                </a:lnTo>
                <a:lnTo>
                  <a:pt x="294532" y="41183"/>
                </a:lnTo>
                <a:lnTo>
                  <a:pt x="349612" y="29104"/>
                </a:lnTo>
                <a:lnTo>
                  <a:pt x="408008" y="18950"/>
                </a:lnTo>
                <a:lnTo>
                  <a:pt x="469385" y="10841"/>
                </a:lnTo>
                <a:lnTo>
                  <a:pt x="533407" y="4899"/>
                </a:lnTo>
                <a:lnTo>
                  <a:pt x="599737" y="1245"/>
                </a:lnTo>
                <a:lnTo>
                  <a:pt x="668040" y="0"/>
                </a:lnTo>
                <a:lnTo>
                  <a:pt x="736343" y="1245"/>
                </a:lnTo>
                <a:lnTo>
                  <a:pt x="802673" y="4899"/>
                </a:lnTo>
                <a:lnTo>
                  <a:pt x="866695" y="10841"/>
                </a:lnTo>
                <a:lnTo>
                  <a:pt x="928071" y="18950"/>
                </a:lnTo>
                <a:lnTo>
                  <a:pt x="986468" y="29104"/>
                </a:lnTo>
                <a:lnTo>
                  <a:pt x="1041548" y="41183"/>
                </a:lnTo>
                <a:lnTo>
                  <a:pt x="1092976" y="55065"/>
                </a:lnTo>
                <a:lnTo>
                  <a:pt x="1140416" y="70629"/>
                </a:lnTo>
                <a:lnTo>
                  <a:pt x="1183533" y="87754"/>
                </a:lnTo>
                <a:lnTo>
                  <a:pt x="1221990" y="106318"/>
                </a:lnTo>
                <a:lnTo>
                  <a:pt x="1255452" y="126200"/>
                </a:lnTo>
                <a:lnTo>
                  <a:pt x="1306047" y="169435"/>
                </a:lnTo>
                <a:lnTo>
                  <a:pt x="1332632" y="216488"/>
                </a:lnTo>
                <a:lnTo>
                  <a:pt x="1336081" y="241144"/>
                </a:lnTo>
                <a:lnTo>
                  <a:pt x="1332632" y="265800"/>
                </a:lnTo>
                <a:lnTo>
                  <a:pt x="1306047" y="312853"/>
                </a:lnTo>
                <a:lnTo>
                  <a:pt x="1255452" y="356088"/>
                </a:lnTo>
                <a:lnTo>
                  <a:pt x="1221990" y="375970"/>
                </a:lnTo>
                <a:lnTo>
                  <a:pt x="1183533" y="394534"/>
                </a:lnTo>
                <a:lnTo>
                  <a:pt x="1140416" y="411659"/>
                </a:lnTo>
                <a:lnTo>
                  <a:pt x="1092976" y="427223"/>
                </a:lnTo>
                <a:lnTo>
                  <a:pt x="1041548" y="441105"/>
                </a:lnTo>
                <a:lnTo>
                  <a:pt x="986468" y="453184"/>
                </a:lnTo>
                <a:lnTo>
                  <a:pt x="928071" y="463338"/>
                </a:lnTo>
                <a:lnTo>
                  <a:pt x="866695" y="471447"/>
                </a:lnTo>
                <a:lnTo>
                  <a:pt x="802673" y="477389"/>
                </a:lnTo>
                <a:lnTo>
                  <a:pt x="736343" y="481044"/>
                </a:lnTo>
                <a:lnTo>
                  <a:pt x="668040" y="482289"/>
                </a:lnTo>
                <a:lnTo>
                  <a:pt x="599737" y="481044"/>
                </a:lnTo>
                <a:lnTo>
                  <a:pt x="533407" y="477389"/>
                </a:lnTo>
                <a:lnTo>
                  <a:pt x="469385" y="471447"/>
                </a:lnTo>
                <a:lnTo>
                  <a:pt x="408008" y="463338"/>
                </a:lnTo>
                <a:lnTo>
                  <a:pt x="349612" y="453184"/>
                </a:lnTo>
                <a:lnTo>
                  <a:pt x="294532" y="441105"/>
                </a:lnTo>
                <a:lnTo>
                  <a:pt x="243104" y="427223"/>
                </a:lnTo>
                <a:lnTo>
                  <a:pt x="195664" y="411659"/>
                </a:lnTo>
                <a:lnTo>
                  <a:pt x="152547" y="394534"/>
                </a:lnTo>
                <a:lnTo>
                  <a:pt x="114090" y="375970"/>
                </a:lnTo>
                <a:lnTo>
                  <a:pt x="80628" y="356088"/>
                </a:lnTo>
                <a:lnTo>
                  <a:pt x="30033" y="312853"/>
                </a:lnTo>
                <a:lnTo>
                  <a:pt x="3449" y="265800"/>
                </a:lnTo>
                <a:lnTo>
                  <a:pt x="0" y="241144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624094" y="1507236"/>
            <a:ext cx="3366135" cy="155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1665" indent="-608965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dirty="0" sz="2000" spc="-4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test</a:t>
            </a:r>
            <a:endParaRPr sz="2000">
              <a:latin typeface="Calibri"/>
              <a:cs typeface="Calibri"/>
            </a:endParaRPr>
          </a:p>
          <a:p>
            <a:pPr marL="621665" indent="-608965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20" b="1"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  <a:p>
            <a:pPr lvl="1" marL="915035" indent="-610235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AutoNum type="arabicPeriod"/>
              <a:tabLst>
                <a:tab pos="914400" algn="l"/>
                <a:tab pos="915035" algn="l"/>
              </a:tabLst>
            </a:pPr>
            <a:r>
              <a:rPr dirty="0" sz="1600" spc="-10" b="1"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55"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marL="304800">
              <a:lnSpc>
                <a:spcPct val="100000"/>
              </a:lnSpc>
              <a:spcBef>
                <a:spcPts val="600"/>
              </a:spcBef>
            </a:pPr>
            <a:r>
              <a:rPr dirty="0" sz="1600" b="1">
                <a:solidFill>
                  <a:srgbClr val="60B5CC"/>
                </a:solidFill>
                <a:latin typeface="Calibri"/>
                <a:cs typeface="Calibri"/>
              </a:rPr>
              <a:t>2.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39128" y="2791446"/>
            <a:ext cx="1121410" cy="279400"/>
          </a:xfrm>
          <a:prstGeom prst="rect">
            <a:avLst/>
          </a:prstGeom>
          <a:solidFill>
            <a:srgbClr val="800000"/>
          </a:solidFill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16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98384" y="2767076"/>
            <a:ext cx="219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95">
                <a:latin typeface="Cambria Math"/>
                <a:cs typeface="Cambria Math"/>
              </a:rPr>
              <a:t>𝑌</a:t>
            </a:r>
            <a:r>
              <a:rPr dirty="0" baseline="-14957" sz="1950" spc="32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1206036" y="2869050"/>
          <a:ext cx="605155" cy="963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ts val="212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ts val="212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197831" y="4676479"/>
          <a:ext cx="605155" cy="963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49"/>
                <a:gridCol w="304800"/>
              </a:tblGrid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ts val="212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ts val="212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125940" y="4707066"/>
          <a:ext cx="605155" cy="963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933609" y="3172459"/>
            <a:ext cx="180340" cy="683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7116" y="2879851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7888" y="2989072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15">
                <a:latin typeface="Cambria Math"/>
                <a:cs typeface="Cambria Math"/>
              </a:rPr>
              <a:t>"</a:t>
            </a:r>
            <a:endParaRPr sz="1300">
              <a:latin typeface="Cambria Math"/>
              <a:cs typeface="Cambria Math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7170181" y="4681968"/>
          <a:ext cx="605155" cy="963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ts val="212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0"/>
                        </a:lnSpc>
                        <a:spcBef>
                          <a:spcPts val="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L="19050">
                        <a:lnSpc>
                          <a:spcPts val="2140"/>
                        </a:lnSpc>
                        <a:spcBef>
                          <a:spcPts val="1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  <a:spcBef>
                          <a:spcPts val="1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1118950" y="2751711"/>
            <a:ext cx="813435" cy="1165225"/>
          </a:xfrm>
          <a:custGeom>
            <a:avLst/>
            <a:gdLst/>
            <a:ahLst/>
            <a:cxnLst/>
            <a:rect l="l" t="t" r="r" b="b"/>
            <a:pathLst>
              <a:path w="813435" h="1165225">
                <a:moveTo>
                  <a:pt x="0" y="582433"/>
                </a:moveTo>
                <a:lnTo>
                  <a:pt x="1860" y="526341"/>
                </a:lnTo>
                <a:lnTo>
                  <a:pt x="7328" y="471757"/>
                </a:lnTo>
                <a:lnTo>
                  <a:pt x="16233" y="418926"/>
                </a:lnTo>
                <a:lnTo>
                  <a:pt x="28405" y="368092"/>
                </a:lnTo>
                <a:lnTo>
                  <a:pt x="43673" y="319498"/>
                </a:lnTo>
                <a:lnTo>
                  <a:pt x="61868" y="273389"/>
                </a:lnTo>
                <a:lnTo>
                  <a:pt x="82818" y="230009"/>
                </a:lnTo>
                <a:lnTo>
                  <a:pt x="106354" y="189603"/>
                </a:lnTo>
                <a:lnTo>
                  <a:pt x="132305" y="152413"/>
                </a:lnTo>
                <a:lnTo>
                  <a:pt x="160501" y="118684"/>
                </a:lnTo>
                <a:lnTo>
                  <a:pt x="190771" y="88661"/>
                </a:lnTo>
                <a:lnTo>
                  <a:pt x="222946" y="62587"/>
                </a:lnTo>
                <a:lnTo>
                  <a:pt x="256855" y="40706"/>
                </a:lnTo>
                <a:lnTo>
                  <a:pt x="292327" y="23263"/>
                </a:lnTo>
                <a:lnTo>
                  <a:pt x="329193" y="10502"/>
                </a:lnTo>
                <a:lnTo>
                  <a:pt x="367281" y="2666"/>
                </a:lnTo>
                <a:lnTo>
                  <a:pt x="406423" y="0"/>
                </a:lnTo>
                <a:lnTo>
                  <a:pt x="445564" y="2666"/>
                </a:lnTo>
                <a:lnTo>
                  <a:pt x="483652" y="10502"/>
                </a:lnTo>
                <a:lnTo>
                  <a:pt x="520518" y="23263"/>
                </a:lnTo>
                <a:lnTo>
                  <a:pt x="555990" y="40706"/>
                </a:lnTo>
                <a:lnTo>
                  <a:pt x="589899" y="62587"/>
                </a:lnTo>
                <a:lnTo>
                  <a:pt x="622074" y="88661"/>
                </a:lnTo>
                <a:lnTo>
                  <a:pt x="652344" y="118684"/>
                </a:lnTo>
                <a:lnTo>
                  <a:pt x="680540" y="152413"/>
                </a:lnTo>
                <a:lnTo>
                  <a:pt x="706491" y="189603"/>
                </a:lnTo>
                <a:lnTo>
                  <a:pt x="730027" y="230009"/>
                </a:lnTo>
                <a:lnTo>
                  <a:pt x="750977" y="273389"/>
                </a:lnTo>
                <a:lnTo>
                  <a:pt x="769172" y="319498"/>
                </a:lnTo>
                <a:lnTo>
                  <a:pt x="784440" y="368092"/>
                </a:lnTo>
                <a:lnTo>
                  <a:pt x="796612" y="418926"/>
                </a:lnTo>
                <a:lnTo>
                  <a:pt x="805517" y="471757"/>
                </a:lnTo>
                <a:lnTo>
                  <a:pt x="810985" y="526341"/>
                </a:lnTo>
                <a:lnTo>
                  <a:pt x="812846" y="582433"/>
                </a:lnTo>
                <a:lnTo>
                  <a:pt x="810985" y="638525"/>
                </a:lnTo>
                <a:lnTo>
                  <a:pt x="805517" y="693109"/>
                </a:lnTo>
                <a:lnTo>
                  <a:pt x="796612" y="745940"/>
                </a:lnTo>
                <a:lnTo>
                  <a:pt x="784440" y="796774"/>
                </a:lnTo>
                <a:lnTo>
                  <a:pt x="769172" y="845368"/>
                </a:lnTo>
                <a:lnTo>
                  <a:pt x="750977" y="891477"/>
                </a:lnTo>
                <a:lnTo>
                  <a:pt x="730027" y="934857"/>
                </a:lnTo>
                <a:lnTo>
                  <a:pt x="706491" y="975263"/>
                </a:lnTo>
                <a:lnTo>
                  <a:pt x="680540" y="1012453"/>
                </a:lnTo>
                <a:lnTo>
                  <a:pt x="652344" y="1046182"/>
                </a:lnTo>
                <a:lnTo>
                  <a:pt x="622074" y="1076205"/>
                </a:lnTo>
                <a:lnTo>
                  <a:pt x="589899" y="1102279"/>
                </a:lnTo>
                <a:lnTo>
                  <a:pt x="555990" y="1124160"/>
                </a:lnTo>
                <a:lnTo>
                  <a:pt x="520518" y="1141603"/>
                </a:lnTo>
                <a:lnTo>
                  <a:pt x="483652" y="1154364"/>
                </a:lnTo>
                <a:lnTo>
                  <a:pt x="445564" y="1162200"/>
                </a:lnTo>
                <a:lnTo>
                  <a:pt x="406423" y="1164867"/>
                </a:lnTo>
                <a:lnTo>
                  <a:pt x="367281" y="1162200"/>
                </a:lnTo>
                <a:lnTo>
                  <a:pt x="329193" y="1154364"/>
                </a:lnTo>
                <a:lnTo>
                  <a:pt x="292327" y="1141603"/>
                </a:lnTo>
                <a:lnTo>
                  <a:pt x="256855" y="1124160"/>
                </a:lnTo>
                <a:lnTo>
                  <a:pt x="222946" y="1102279"/>
                </a:lnTo>
                <a:lnTo>
                  <a:pt x="190771" y="1076205"/>
                </a:lnTo>
                <a:lnTo>
                  <a:pt x="160501" y="1046182"/>
                </a:lnTo>
                <a:lnTo>
                  <a:pt x="132305" y="1012453"/>
                </a:lnTo>
                <a:lnTo>
                  <a:pt x="106354" y="975263"/>
                </a:lnTo>
                <a:lnTo>
                  <a:pt x="82818" y="934857"/>
                </a:lnTo>
                <a:lnTo>
                  <a:pt x="61868" y="891477"/>
                </a:lnTo>
                <a:lnTo>
                  <a:pt x="43673" y="845368"/>
                </a:lnTo>
                <a:lnTo>
                  <a:pt x="28405" y="796774"/>
                </a:lnTo>
                <a:lnTo>
                  <a:pt x="16233" y="745940"/>
                </a:lnTo>
                <a:lnTo>
                  <a:pt x="7328" y="693109"/>
                </a:lnTo>
                <a:lnTo>
                  <a:pt x="1860" y="638525"/>
                </a:lnTo>
                <a:lnTo>
                  <a:pt x="0" y="582433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96058" y="4572489"/>
            <a:ext cx="813435" cy="1165225"/>
          </a:xfrm>
          <a:custGeom>
            <a:avLst/>
            <a:gdLst/>
            <a:ahLst/>
            <a:cxnLst/>
            <a:rect l="l" t="t" r="r" b="b"/>
            <a:pathLst>
              <a:path w="813435" h="1165225">
                <a:moveTo>
                  <a:pt x="0" y="582433"/>
                </a:moveTo>
                <a:lnTo>
                  <a:pt x="1860" y="526341"/>
                </a:lnTo>
                <a:lnTo>
                  <a:pt x="7328" y="471757"/>
                </a:lnTo>
                <a:lnTo>
                  <a:pt x="16233" y="418926"/>
                </a:lnTo>
                <a:lnTo>
                  <a:pt x="28405" y="368092"/>
                </a:lnTo>
                <a:lnTo>
                  <a:pt x="43673" y="319498"/>
                </a:lnTo>
                <a:lnTo>
                  <a:pt x="61868" y="273389"/>
                </a:lnTo>
                <a:lnTo>
                  <a:pt x="82818" y="230009"/>
                </a:lnTo>
                <a:lnTo>
                  <a:pt x="106354" y="189603"/>
                </a:lnTo>
                <a:lnTo>
                  <a:pt x="132305" y="152413"/>
                </a:lnTo>
                <a:lnTo>
                  <a:pt x="160501" y="118684"/>
                </a:lnTo>
                <a:lnTo>
                  <a:pt x="190771" y="88661"/>
                </a:lnTo>
                <a:lnTo>
                  <a:pt x="222946" y="62587"/>
                </a:lnTo>
                <a:lnTo>
                  <a:pt x="256855" y="40706"/>
                </a:lnTo>
                <a:lnTo>
                  <a:pt x="292327" y="23263"/>
                </a:lnTo>
                <a:lnTo>
                  <a:pt x="329193" y="10502"/>
                </a:lnTo>
                <a:lnTo>
                  <a:pt x="367281" y="2666"/>
                </a:lnTo>
                <a:lnTo>
                  <a:pt x="406423" y="0"/>
                </a:lnTo>
                <a:lnTo>
                  <a:pt x="445564" y="2666"/>
                </a:lnTo>
                <a:lnTo>
                  <a:pt x="483652" y="10502"/>
                </a:lnTo>
                <a:lnTo>
                  <a:pt x="520518" y="23263"/>
                </a:lnTo>
                <a:lnTo>
                  <a:pt x="555990" y="40706"/>
                </a:lnTo>
                <a:lnTo>
                  <a:pt x="589899" y="62587"/>
                </a:lnTo>
                <a:lnTo>
                  <a:pt x="622074" y="88661"/>
                </a:lnTo>
                <a:lnTo>
                  <a:pt x="652344" y="118684"/>
                </a:lnTo>
                <a:lnTo>
                  <a:pt x="680540" y="152413"/>
                </a:lnTo>
                <a:lnTo>
                  <a:pt x="706491" y="189603"/>
                </a:lnTo>
                <a:lnTo>
                  <a:pt x="730027" y="230009"/>
                </a:lnTo>
                <a:lnTo>
                  <a:pt x="750977" y="273389"/>
                </a:lnTo>
                <a:lnTo>
                  <a:pt x="769172" y="319498"/>
                </a:lnTo>
                <a:lnTo>
                  <a:pt x="784440" y="368092"/>
                </a:lnTo>
                <a:lnTo>
                  <a:pt x="796612" y="418926"/>
                </a:lnTo>
                <a:lnTo>
                  <a:pt x="805517" y="471757"/>
                </a:lnTo>
                <a:lnTo>
                  <a:pt x="810985" y="526341"/>
                </a:lnTo>
                <a:lnTo>
                  <a:pt x="812846" y="582433"/>
                </a:lnTo>
                <a:lnTo>
                  <a:pt x="810985" y="638525"/>
                </a:lnTo>
                <a:lnTo>
                  <a:pt x="805517" y="693109"/>
                </a:lnTo>
                <a:lnTo>
                  <a:pt x="796612" y="745940"/>
                </a:lnTo>
                <a:lnTo>
                  <a:pt x="784440" y="796774"/>
                </a:lnTo>
                <a:lnTo>
                  <a:pt x="769172" y="845368"/>
                </a:lnTo>
                <a:lnTo>
                  <a:pt x="750977" y="891477"/>
                </a:lnTo>
                <a:lnTo>
                  <a:pt x="730027" y="934857"/>
                </a:lnTo>
                <a:lnTo>
                  <a:pt x="706491" y="975263"/>
                </a:lnTo>
                <a:lnTo>
                  <a:pt x="680540" y="1012453"/>
                </a:lnTo>
                <a:lnTo>
                  <a:pt x="652344" y="1046182"/>
                </a:lnTo>
                <a:lnTo>
                  <a:pt x="622074" y="1076205"/>
                </a:lnTo>
                <a:lnTo>
                  <a:pt x="589899" y="1102279"/>
                </a:lnTo>
                <a:lnTo>
                  <a:pt x="555990" y="1124160"/>
                </a:lnTo>
                <a:lnTo>
                  <a:pt x="520518" y="1141603"/>
                </a:lnTo>
                <a:lnTo>
                  <a:pt x="483652" y="1154364"/>
                </a:lnTo>
                <a:lnTo>
                  <a:pt x="445564" y="1162200"/>
                </a:lnTo>
                <a:lnTo>
                  <a:pt x="406423" y="1164867"/>
                </a:lnTo>
                <a:lnTo>
                  <a:pt x="367281" y="1162200"/>
                </a:lnTo>
                <a:lnTo>
                  <a:pt x="329193" y="1154364"/>
                </a:lnTo>
                <a:lnTo>
                  <a:pt x="292327" y="1141603"/>
                </a:lnTo>
                <a:lnTo>
                  <a:pt x="256855" y="1124160"/>
                </a:lnTo>
                <a:lnTo>
                  <a:pt x="222946" y="1102279"/>
                </a:lnTo>
                <a:lnTo>
                  <a:pt x="190771" y="1076205"/>
                </a:lnTo>
                <a:lnTo>
                  <a:pt x="160501" y="1046182"/>
                </a:lnTo>
                <a:lnTo>
                  <a:pt x="132305" y="1012453"/>
                </a:lnTo>
                <a:lnTo>
                  <a:pt x="106354" y="975263"/>
                </a:lnTo>
                <a:lnTo>
                  <a:pt x="82818" y="934857"/>
                </a:lnTo>
                <a:lnTo>
                  <a:pt x="61868" y="891477"/>
                </a:lnTo>
                <a:lnTo>
                  <a:pt x="43673" y="845368"/>
                </a:lnTo>
                <a:lnTo>
                  <a:pt x="28405" y="796774"/>
                </a:lnTo>
                <a:lnTo>
                  <a:pt x="16233" y="745940"/>
                </a:lnTo>
                <a:lnTo>
                  <a:pt x="7328" y="693109"/>
                </a:lnTo>
                <a:lnTo>
                  <a:pt x="1860" y="638525"/>
                </a:lnTo>
                <a:lnTo>
                  <a:pt x="0" y="582433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70081" y="4611387"/>
            <a:ext cx="813435" cy="1165225"/>
          </a:xfrm>
          <a:custGeom>
            <a:avLst/>
            <a:gdLst/>
            <a:ahLst/>
            <a:cxnLst/>
            <a:rect l="l" t="t" r="r" b="b"/>
            <a:pathLst>
              <a:path w="813435" h="1165225">
                <a:moveTo>
                  <a:pt x="0" y="582433"/>
                </a:moveTo>
                <a:lnTo>
                  <a:pt x="1860" y="526341"/>
                </a:lnTo>
                <a:lnTo>
                  <a:pt x="7328" y="471757"/>
                </a:lnTo>
                <a:lnTo>
                  <a:pt x="16233" y="418926"/>
                </a:lnTo>
                <a:lnTo>
                  <a:pt x="28405" y="368092"/>
                </a:lnTo>
                <a:lnTo>
                  <a:pt x="43673" y="319498"/>
                </a:lnTo>
                <a:lnTo>
                  <a:pt x="61868" y="273389"/>
                </a:lnTo>
                <a:lnTo>
                  <a:pt x="82818" y="230009"/>
                </a:lnTo>
                <a:lnTo>
                  <a:pt x="106354" y="189603"/>
                </a:lnTo>
                <a:lnTo>
                  <a:pt x="132305" y="152413"/>
                </a:lnTo>
                <a:lnTo>
                  <a:pt x="160501" y="118684"/>
                </a:lnTo>
                <a:lnTo>
                  <a:pt x="190771" y="88661"/>
                </a:lnTo>
                <a:lnTo>
                  <a:pt x="222946" y="62587"/>
                </a:lnTo>
                <a:lnTo>
                  <a:pt x="256855" y="40706"/>
                </a:lnTo>
                <a:lnTo>
                  <a:pt x="292327" y="23263"/>
                </a:lnTo>
                <a:lnTo>
                  <a:pt x="329193" y="10502"/>
                </a:lnTo>
                <a:lnTo>
                  <a:pt x="367281" y="2666"/>
                </a:lnTo>
                <a:lnTo>
                  <a:pt x="406423" y="0"/>
                </a:lnTo>
                <a:lnTo>
                  <a:pt x="445564" y="2666"/>
                </a:lnTo>
                <a:lnTo>
                  <a:pt x="483652" y="10502"/>
                </a:lnTo>
                <a:lnTo>
                  <a:pt x="520518" y="23263"/>
                </a:lnTo>
                <a:lnTo>
                  <a:pt x="555990" y="40706"/>
                </a:lnTo>
                <a:lnTo>
                  <a:pt x="589899" y="62587"/>
                </a:lnTo>
                <a:lnTo>
                  <a:pt x="622074" y="88661"/>
                </a:lnTo>
                <a:lnTo>
                  <a:pt x="652344" y="118684"/>
                </a:lnTo>
                <a:lnTo>
                  <a:pt x="680540" y="152413"/>
                </a:lnTo>
                <a:lnTo>
                  <a:pt x="706491" y="189603"/>
                </a:lnTo>
                <a:lnTo>
                  <a:pt x="730027" y="230009"/>
                </a:lnTo>
                <a:lnTo>
                  <a:pt x="750977" y="273389"/>
                </a:lnTo>
                <a:lnTo>
                  <a:pt x="769172" y="319498"/>
                </a:lnTo>
                <a:lnTo>
                  <a:pt x="784440" y="368092"/>
                </a:lnTo>
                <a:lnTo>
                  <a:pt x="796612" y="418926"/>
                </a:lnTo>
                <a:lnTo>
                  <a:pt x="805517" y="471757"/>
                </a:lnTo>
                <a:lnTo>
                  <a:pt x="810985" y="526341"/>
                </a:lnTo>
                <a:lnTo>
                  <a:pt x="812846" y="582433"/>
                </a:lnTo>
                <a:lnTo>
                  <a:pt x="810985" y="638525"/>
                </a:lnTo>
                <a:lnTo>
                  <a:pt x="805517" y="693109"/>
                </a:lnTo>
                <a:lnTo>
                  <a:pt x="796612" y="745940"/>
                </a:lnTo>
                <a:lnTo>
                  <a:pt x="784440" y="796774"/>
                </a:lnTo>
                <a:lnTo>
                  <a:pt x="769172" y="845368"/>
                </a:lnTo>
                <a:lnTo>
                  <a:pt x="750977" y="891477"/>
                </a:lnTo>
                <a:lnTo>
                  <a:pt x="730027" y="934857"/>
                </a:lnTo>
                <a:lnTo>
                  <a:pt x="706491" y="975263"/>
                </a:lnTo>
                <a:lnTo>
                  <a:pt x="680540" y="1012453"/>
                </a:lnTo>
                <a:lnTo>
                  <a:pt x="652344" y="1046182"/>
                </a:lnTo>
                <a:lnTo>
                  <a:pt x="622074" y="1076205"/>
                </a:lnTo>
                <a:lnTo>
                  <a:pt x="589899" y="1102279"/>
                </a:lnTo>
                <a:lnTo>
                  <a:pt x="555990" y="1124160"/>
                </a:lnTo>
                <a:lnTo>
                  <a:pt x="520518" y="1141603"/>
                </a:lnTo>
                <a:lnTo>
                  <a:pt x="483652" y="1154364"/>
                </a:lnTo>
                <a:lnTo>
                  <a:pt x="445564" y="1162200"/>
                </a:lnTo>
                <a:lnTo>
                  <a:pt x="406423" y="1164867"/>
                </a:lnTo>
                <a:lnTo>
                  <a:pt x="367281" y="1162200"/>
                </a:lnTo>
                <a:lnTo>
                  <a:pt x="329193" y="1154364"/>
                </a:lnTo>
                <a:lnTo>
                  <a:pt x="292327" y="1141603"/>
                </a:lnTo>
                <a:lnTo>
                  <a:pt x="256855" y="1124160"/>
                </a:lnTo>
                <a:lnTo>
                  <a:pt x="222946" y="1102279"/>
                </a:lnTo>
                <a:lnTo>
                  <a:pt x="190771" y="1076205"/>
                </a:lnTo>
                <a:lnTo>
                  <a:pt x="160501" y="1046182"/>
                </a:lnTo>
                <a:lnTo>
                  <a:pt x="132305" y="1012453"/>
                </a:lnTo>
                <a:lnTo>
                  <a:pt x="106354" y="975263"/>
                </a:lnTo>
                <a:lnTo>
                  <a:pt x="82818" y="934857"/>
                </a:lnTo>
                <a:lnTo>
                  <a:pt x="61868" y="891477"/>
                </a:lnTo>
                <a:lnTo>
                  <a:pt x="43673" y="845368"/>
                </a:lnTo>
                <a:lnTo>
                  <a:pt x="28405" y="796774"/>
                </a:lnTo>
                <a:lnTo>
                  <a:pt x="16233" y="745940"/>
                </a:lnTo>
                <a:lnTo>
                  <a:pt x="7328" y="693109"/>
                </a:lnTo>
                <a:lnTo>
                  <a:pt x="1860" y="638525"/>
                </a:lnTo>
                <a:lnTo>
                  <a:pt x="0" y="582433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025393" y="4595393"/>
            <a:ext cx="813435" cy="1165225"/>
          </a:xfrm>
          <a:custGeom>
            <a:avLst/>
            <a:gdLst/>
            <a:ahLst/>
            <a:cxnLst/>
            <a:rect l="l" t="t" r="r" b="b"/>
            <a:pathLst>
              <a:path w="813434" h="1165225">
                <a:moveTo>
                  <a:pt x="0" y="582433"/>
                </a:moveTo>
                <a:lnTo>
                  <a:pt x="1860" y="526341"/>
                </a:lnTo>
                <a:lnTo>
                  <a:pt x="7328" y="471757"/>
                </a:lnTo>
                <a:lnTo>
                  <a:pt x="16233" y="418926"/>
                </a:lnTo>
                <a:lnTo>
                  <a:pt x="28405" y="368092"/>
                </a:lnTo>
                <a:lnTo>
                  <a:pt x="43673" y="319498"/>
                </a:lnTo>
                <a:lnTo>
                  <a:pt x="61868" y="273389"/>
                </a:lnTo>
                <a:lnTo>
                  <a:pt x="82818" y="230009"/>
                </a:lnTo>
                <a:lnTo>
                  <a:pt x="106354" y="189603"/>
                </a:lnTo>
                <a:lnTo>
                  <a:pt x="132305" y="152413"/>
                </a:lnTo>
                <a:lnTo>
                  <a:pt x="160501" y="118684"/>
                </a:lnTo>
                <a:lnTo>
                  <a:pt x="190771" y="88661"/>
                </a:lnTo>
                <a:lnTo>
                  <a:pt x="222946" y="62587"/>
                </a:lnTo>
                <a:lnTo>
                  <a:pt x="256855" y="40706"/>
                </a:lnTo>
                <a:lnTo>
                  <a:pt x="292327" y="23263"/>
                </a:lnTo>
                <a:lnTo>
                  <a:pt x="329193" y="10502"/>
                </a:lnTo>
                <a:lnTo>
                  <a:pt x="367281" y="2666"/>
                </a:lnTo>
                <a:lnTo>
                  <a:pt x="406423" y="0"/>
                </a:lnTo>
                <a:lnTo>
                  <a:pt x="445564" y="2666"/>
                </a:lnTo>
                <a:lnTo>
                  <a:pt x="483652" y="10502"/>
                </a:lnTo>
                <a:lnTo>
                  <a:pt x="520518" y="23263"/>
                </a:lnTo>
                <a:lnTo>
                  <a:pt x="555990" y="40706"/>
                </a:lnTo>
                <a:lnTo>
                  <a:pt x="589899" y="62587"/>
                </a:lnTo>
                <a:lnTo>
                  <a:pt x="622074" y="88661"/>
                </a:lnTo>
                <a:lnTo>
                  <a:pt x="652344" y="118684"/>
                </a:lnTo>
                <a:lnTo>
                  <a:pt x="680540" y="152413"/>
                </a:lnTo>
                <a:lnTo>
                  <a:pt x="706491" y="189603"/>
                </a:lnTo>
                <a:lnTo>
                  <a:pt x="730027" y="230009"/>
                </a:lnTo>
                <a:lnTo>
                  <a:pt x="750977" y="273389"/>
                </a:lnTo>
                <a:lnTo>
                  <a:pt x="769172" y="319498"/>
                </a:lnTo>
                <a:lnTo>
                  <a:pt x="784440" y="368092"/>
                </a:lnTo>
                <a:lnTo>
                  <a:pt x="796612" y="418926"/>
                </a:lnTo>
                <a:lnTo>
                  <a:pt x="805517" y="471757"/>
                </a:lnTo>
                <a:lnTo>
                  <a:pt x="810985" y="526341"/>
                </a:lnTo>
                <a:lnTo>
                  <a:pt x="812846" y="582433"/>
                </a:lnTo>
                <a:lnTo>
                  <a:pt x="810985" y="638525"/>
                </a:lnTo>
                <a:lnTo>
                  <a:pt x="805517" y="693109"/>
                </a:lnTo>
                <a:lnTo>
                  <a:pt x="796612" y="745940"/>
                </a:lnTo>
                <a:lnTo>
                  <a:pt x="784440" y="796774"/>
                </a:lnTo>
                <a:lnTo>
                  <a:pt x="769172" y="845368"/>
                </a:lnTo>
                <a:lnTo>
                  <a:pt x="750977" y="891477"/>
                </a:lnTo>
                <a:lnTo>
                  <a:pt x="730027" y="934857"/>
                </a:lnTo>
                <a:lnTo>
                  <a:pt x="706491" y="975263"/>
                </a:lnTo>
                <a:lnTo>
                  <a:pt x="680540" y="1012453"/>
                </a:lnTo>
                <a:lnTo>
                  <a:pt x="652344" y="1046182"/>
                </a:lnTo>
                <a:lnTo>
                  <a:pt x="622074" y="1076205"/>
                </a:lnTo>
                <a:lnTo>
                  <a:pt x="589899" y="1102279"/>
                </a:lnTo>
                <a:lnTo>
                  <a:pt x="555990" y="1124160"/>
                </a:lnTo>
                <a:lnTo>
                  <a:pt x="520518" y="1141603"/>
                </a:lnTo>
                <a:lnTo>
                  <a:pt x="483652" y="1154364"/>
                </a:lnTo>
                <a:lnTo>
                  <a:pt x="445564" y="1162200"/>
                </a:lnTo>
                <a:lnTo>
                  <a:pt x="406423" y="1164867"/>
                </a:lnTo>
                <a:lnTo>
                  <a:pt x="367281" y="1162200"/>
                </a:lnTo>
                <a:lnTo>
                  <a:pt x="329193" y="1154364"/>
                </a:lnTo>
                <a:lnTo>
                  <a:pt x="292327" y="1141603"/>
                </a:lnTo>
                <a:lnTo>
                  <a:pt x="256855" y="1124160"/>
                </a:lnTo>
                <a:lnTo>
                  <a:pt x="222946" y="1102279"/>
                </a:lnTo>
                <a:lnTo>
                  <a:pt x="190771" y="1076205"/>
                </a:lnTo>
                <a:lnTo>
                  <a:pt x="160501" y="1046182"/>
                </a:lnTo>
                <a:lnTo>
                  <a:pt x="132305" y="1012453"/>
                </a:lnTo>
                <a:lnTo>
                  <a:pt x="106354" y="975263"/>
                </a:lnTo>
                <a:lnTo>
                  <a:pt x="82818" y="934857"/>
                </a:lnTo>
                <a:lnTo>
                  <a:pt x="61868" y="891477"/>
                </a:lnTo>
                <a:lnTo>
                  <a:pt x="43673" y="845368"/>
                </a:lnTo>
                <a:lnTo>
                  <a:pt x="28405" y="796774"/>
                </a:lnTo>
                <a:lnTo>
                  <a:pt x="16233" y="745940"/>
                </a:lnTo>
                <a:lnTo>
                  <a:pt x="7328" y="693109"/>
                </a:lnTo>
                <a:lnTo>
                  <a:pt x="1860" y="638525"/>
                </a:lnTo>
                <a:lnTo>
                  <a:pt x="0" y="582433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131988" y="2660395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2018496" y="4960620"/>
            <a:ext cx="5561965" cy="1386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484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977389">
              <a:lnSpc>
                <a:spcPct val="100000"/>
              </a:lnSpc>
              <a:spcBef>
                <a:spcPts val="790"/>
              </a:spcBef>
            </a:pPr>
            <a:r>
              <a:rPr dirty="0" sz="2400">
                <a:solidFill>
                  <a:srgbClr val="FF0000"/>
                </a:solidFill>
                <a:latin typeface="Arial"/>
                <a:cs typeface="Arial"/>
              </a:rPr>
              <a:t>Now </a:t>
            </a:r>
            <a:r>
              <a:rPr dirty="0" sz="2400" spc="-15">
                <a:solidFill>
                  <a:srgbClr val="FF0000"/>
                </a:solidFill>
                <a:latin typeface="Arial"/>
                <a:cs typeface="Arial"/>
              </a:rPr>
              <a:t>it’s </a:t>
            </a:r>
            <a:r>
              <a:rPr dirty="0" sz="2400">
                <a:solidFill>
                  <a:srgbClr val="FF0000"/>
                </a:solidFill>
                <a:latin typeface="Arial"/>
                <a:cs typeface="Arial"/>
              </a:rPr>
              <a:t>correct</a:t>
            </a:r>
            <a:r>
              <a:rPr dirty="0" sz="24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"/>
                <a:cs typeface="Arial"/>
              </a:rPr>
              <a:t>prediction!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04583" y="3492500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02112" y="350469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1704" y="3747752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49"/>
                </a:moveTo>
                <a:lnTo>
                  <a:pt x="34971" y="57149"/>
                </a:lnTo>
                <a:lnTo>
                  <a:pt x="28575" y="63545"/>
                </a:lnTo>
                <a:lnTo>
                  <a:pt x="28575" y="1031894"/>
                </a:lnTo>
                <a:lnTo>
                  <a:pt x="34970" y="1038291"/>
                </a:lnTo>
                <a:lnTo>
                  <a:pt x="50753" y="1038291"/>
                </a:lnTo>
                <a:lnTo>
                  <a:pt x="57150" y="1031894"/>
                </a:lnTo>
                <a:lnTo>
                  <a:pt x="57150" y="63545"/>
                </a:lnTo>
                <a:lnTo>
                  <a:pt x="50753" y="57149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49"/>
                </a:moveTo>
                <a:lnTo>
                  <a:pt x="50753" y="57149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64004" y="3365670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3" y="806612"/>
                </a:lnTo>
                <a:lnTo>
                  <a:pt x="1436123" y="792802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2"/>
                </a:lnTo>
                <a:lnTo>
                  <a:pt x="1428483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0325" y="4176759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1"/>
                </a:lnTo>
                <a:lnTo>
                  <a:pt x="87540" y="938350"/>
                </a:lnTo>
                <a:lnTo>
                  <a:pt x="61159" y="938350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50"/>
                </a:lnTo>
                <a:lnTo>
                  <a:pt x="79802" y="926340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40"/>
                </a:moveTo>
                <a:lnTo>
                  <a:pt x="61159" y="938350"/>
                </a:lnTo>
                <a:lnTo>
                  <a:pt x="87540" y="938350"/>
                </a:lnTo>
                <a:lnTo>
                  <a:pt x="79802" y="926340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40"/>
                </a:lnTo>
                <a:lnTo>
                  <a:pt x="1480360" y="24022"/>
                </a:lnTo>
                <a:lnTo>
                  <a:pt x="1482274" y="15180"/>
                </a:lnTo>
                <a:lnTo>
                  <a:pt x="1473727" y="1913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63476" y="4161293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4"/>
                </a:lnTo>
                <a:lnTo>
                  <a:pt x="1285476" y="51005"/>
                </a:lnTo>
                <a:lnTo>
                  <a:pt x="1279023" y="57345"/>
                </a:lnTo>
                <a:lnTo>
                  <a:pt x="1256844" y="57345"/>
                </a:lnTo>
                <a:lnTo>
                  <a:pt x="1256591" y="85721"/>
                </a:lnTo>
                <a:lnTo>
                  <a:pt x="1314634" y="57345"/>
                </a:lnTo>
                <a:lnTo>
                  <a:pt x="1279023" y="57345"/>
                </a:lnTo>
                <a:lnTo>
                  <a:pt x="1315040" y="57147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7"/>
                </a:lnTo>
                <a:lnTo>
                  <a:pt x="1279023" y="57345"/>
                </a:lnTo>
                <a:lnTo>
                  <a:pt x="1285476" y="51005"/>
                </a:lnTo>
                <a:lnTo>
                  <a:pt x="1285618" y="35224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9" y="45966"/>
                </a:lnTo>
                <a:lnTo>
                  <a:pt x="1256846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2168" y="326136"/>
            <a:ext cx="5815583" cy="387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1840" y="1203452"/>
            <a:ext cx="45713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/>
              <a:t>Continue until</a:t>
            </a:r>
            <a:r>
              <a:rPr dirty="0" sz="3000" spc="-15"/>
              <a:t> </a:t>
            </a:r>
            <a:r>
              <a:rPr dirty="0" sz="3000" spc="-25"/>
              <a:t>convergence</a:t>
            </a:r>
            <a:endParaRPr sz="3000"/>
          </a:p>
        </p:txBody>
      </p:sp>
      <p:sp>
        <p:nvSpPr>
          <p:cNvPr id="8" name="object 8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31221" y="320497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31221" y="496062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8"/>
                </a:lnTo>
                <a:lnTo>
                  <a:pt x="92309" y="122843"/>
                </a:lnTo>
                <a:lnTo>
                  <a:pt x="65531" y="156792"/>
                </a:lnTo>
                <a:lnTo>
                  <a:pt x="42854" y="193813"/>
                </a:lnTo>
                <a:lnTo>
                  <a:pt x="24619" y="233563"/>
                </a:lnTo>
                <a:lnTo>
                  <a:pt x="11170" y="275699"/>
                </a:lnTo>
                <a:lnTo>
                  <a:pt x="2849" y="319878"/>
                </a:lnTo>
                <a:lnTo>
                  <a:pt x="0" y="365758"/>
                </a:lnTo>
                <a:lnTo>
                  <a:pt x="2849" y="411638"/>
                </a:lnTo>
                <a:lnTo>
                  <a:pt x="11170" y="455818"/>
                </a:lnTo>
                <a:lnTo>
                  <a:pt x="24619" y="497954"/>
                </a:lnTo>
                <a:lnTo>
                  <a:pt x="42854" y="537704"/>
                </a:lnTo>
                <a:lnTo>
                  <a:pt x="65532" y="574725"/>
                </a:lnTo>
                <a:lnTo>
                  <a:pt x="92309" y="608674"/>
                </a:lnTo>
                <a:lnTo>
                  <a:pt x="122844" y="639209"/>
                </a:lnTo>
                <a:lnTo>
                  <a:pt x="156793" y="665986"/>
                </a:lnTo>
                <a:lnTo>
                  <a:pt x="193814" y="688664"/>
                </a:lnTo>
                <a:lnTo>
                  <a:pt x="233564" y="706898"/>
                </a:lnTo>
                <a:lnTo>
                  <a:pt x="275700" y="720348"/>
                </a:lnTo>
                <a:lnTo>
                  <a:pt x="319879" y="728668"/>
                </a:lnTo>
                <a:lnTo>
                  <a:pt x="365759" y="731518"/>
                </a:lnTo>
                <a:lnTo>
                  <a:pt x="411640" y="728668"/>
                </a:lnTo>
                <a:lnTo>
                  <a:pt x="455819" y="720348"/>
                </a:lnTo>
                <a:lnTo>
                  <a:pt x="497955" y="706898"/>
                </a:lnTo>
                <a:lnTo>
                  <a:pt x="537705" y="688664"/>
                </a:lnTo>
                <a:lnTo>
                  <a:pt x="574726" y="665986"/>
                </a:lnTo>
                <a:lnTo>
                  <a:pt x="608675" y="639209"/>
                </a:lnTo>
                <a:lnTo>
                  <a:pt x="639210" y="608674"/>
                </a:lnTo>
                <a:lnTo>
                  <a:pt x="665988" y="574725"/>
                </a:lnTo>
                <a:lnTo>
                  <a:pt x="688665" y="537704"/>
                </a:lnTo>
                <a:lnTo>
                  <a:pt x="706900" y="497954"/>
                </a:lnTo>
                <a:lnTo>
                  <a:pt x="720349" y="455818"/>
                </a:lnTo>
                <a:lnTo>
                  <a:pt x="728670" y="411638"/>
                </a:lnTo>
                <a:lnTo>
                  <a:pt x="731519" y="365758"/>
                </a:lnTo>
                <a:lnTo>
                  <a:pt x="728670" y="319878"/>
                </a:lnTo>
                <a:lnTo>
                  <a:pt x="720349" y="275699"/>
                </a:lnTo>
                <a:lnTo>
                  <a:pt x="706900" y="233563"/>
                </a:lnTo>
                <a:lnTo>
                  <a:pt x="688665" y="193813"/>
                </a:lnTo>
                <a:lnTo>
                  <a:pt x="665988" y="156792"/>
                </a:lnTo>
                <a:lnTo>
                  <a:pt x="639210" y="122843"/>
                </a:lnTo>
                <a:lnTo>
                  <a:pt x="608675" y="92308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28730" y="401574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88589" y="402793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36867" y="2983594"/>
          <a:ext cx="763270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86"/>
                <a:gridCol w="304800"/>
                <a:gridCol w="61903"/>
              </a:tblGrid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212740" y="2940811"/>
            <a:ext cx="200025" cy="10560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  <a:p>
            <a:pPr marL="1905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28070" y="3637443"/>
            <a:ext cx="702310" cy="403225"/>
          </a:xfrm>
          <a:custGeom>
            <a:avLst/>
            <a:gdLst/>
            <a:ahLst/>
            <a:cxnLst/>
            <a:rect l="l" t="t" r="r" b="b"/>
            <a:pathLst>
              <a:path w="702310" h="403225">
                <a:moveTo>
                  <a:pt x="0" y="201612"/>
                </a:moveTo>
                <a:lnTo>
                  <a:pt x="17892" y="137887"/>
                </a:lnTo>
                <a:lnTo>
                  <a:pt x="67715" y="82542"/>
                </a:lnTo>
                <a:lnTo>
                  <a:pt x="102794" y="59050"/>
                </a:lnTo>
                <a:lnTo>
                  <a:pt x="143688" y="38899"/>
                </a:lnTo>
                <a:lnTo>
                  <a:pt x="189675" y="22503"/>
                </a:lnTo>
                <a:lnTo>
                  <a:pt x="240031" y="10278"/>
                </a:lnTo>
                <a:lnTo>
                  <a:pt x="294034" y="2638"/>
                </a:lnTo>
                <a:lnTo>
                  <a:pt x="350962" y="0"/>
                </a:lnTo>
                <a:lnTo>
                  <a:pt x="407890" y="2638"/>
                </a:lnTo>
                <a:lnTo>
                  <a:pt x="461893" y="10278"/>
                </a:lnTo>
                <a:lnTo>
                  <a:pt x="512249" y="22503"/>
                </a:lnTo>
                <a:lnTo>
                  <a:pt x="558236" y="38899"/>
                </a:lnTo>
                <a:lnTo>
                  <a:pt x="599130" y="59050"/>
                </a:lnTo>
                <a:lnTo>
                  <a:pt x="634209" y="82542"/>
                </a:lnTo>
                <a:lnTo>
                  <a:pt x="662751" y="108959"/>
                </a:lnTo>
                <a:lnTo>
                  <a:pt x="697331" y="168909"/>
                </a:lnTo>
                <a:lnTo>
                  <a:pt x="701925" y="201612"/>
                </a:lnTo>
                <a:lnTo>
                  <a:pt x="697331" y="234315"/>
                </a:lnTo>
                <a:lnTo>
                  <a:pt x="662751" y="294265"/>
                </a:lnTo>
                <a:lnTo>
                  <a:pt x="634209" y="320682"/>
                </a:lnTo>
                <a:lnTo>
                  <a:pt x="599130" y="344174"/>
                </a:lnTo>
                <a:lnTo>
                  <a:pt x="558236" y="364325"/>
                </a:lnTo>
                <a:lnTo>
                  <a:pt x="512249" y="380721"/>
                </a:lnTo>
                <a:lnTo>
                  <a:pt x="461893" y="392946"/>
                </a:lnTo>
                <a:lnTo>
                  <a:pt x="407890" y="400586"/>
                </a:lnTo>
                <a:lnTo>
                  <a:pt x="350962" y="403225"/>
                </a:lnTo>
                <a:lnTo>
                  <a:pt x="294034" y="400586"/>
                </a:lnTo>
                <a:lnTo>
                  <a:pt x="240031" y="392946"/>
                </a:lnTo>
                <a:lnTo>
                  <a:pt x="189675" y="380721"/>
                </a:lnTo>
                <a:lnTo>
                  <a:pt x="143688" y="364325"/>
                </a:lnTo>
                <a:lnTo>
                  <a:pt x="102794" y="344174"/>
                </a:lnTo>
                <a:lnTo>
                  <a:pt x="67715" y="320682"/>
                </a:lnTo>
                <a:lnTo>
                  <a:pt x="39173" y="294265"/>
                </a:lnTo>
                <a:lnTo>
                  <a:pt x="4593" y="234315"/>
                </a:lnTo>
                <a:lnTo>
                  <a:pt x="0" y="201612"/>
                </a:lnTo>
                <a:close/>
              </a:path>
            </a:pathLst>
          </a:custGeom>
          <a:ln w="508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58782" y="4269740"/>
            <a:ext cx="952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C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hange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75463" y="4040668"/>
            <a:ext cx="403860" cy="405130"/>
          </a:xfrm>
          <a:custGeom>
            <a:avLst/>
            <a:gdLst/>
            <a:ahLst/>
            <a:cxnLst/>
            <a:rect l="l" t="t" r="r" b="b"/>
            <a:pathLst>
              <a:path w="403860" h="405129">
                <a:moveTo>
                  <a:pt x="277992" y="90008"/>
                </a:moveTo>
                <a:lnTo>
                  <a:pt x="7410" y="361477"/>
                </a:lnTo>
                <a:lnTo>
                  <a:pt x="1844" y="369889"/>
                </a:lnTo>
                <a:lnTo>
                  <a:pt x="0" y="379450"/>
                </a:lnTo>
                <a:lnTo>
                  <a:pt x="1875" y="389006"/>
                </a:lnTo>
                <a:lnTo>
                  <a:pt x="7468" y="397399"/>
                </a:lnTo>
                <a:lnTo>
                  <a:pt x="15880" y="402964"/>
                </a:lnTo>
                <a:lnTo>
                  <a:pt x="25440" y="404809"/>
                </a:lnTo>
                <a:lnTo>
                  <a:pt x="34995" y="402933"/>
                </a:lnTo>
                <a:lnTo>
                  <a:pt x="43389" y="397339"/>
                </a:lnTo>
                <a:lnTo>
                  <a:pt x="313972" y="125870"/>
                </a:lnTo>
                <a:lnTo>
                  <a:pt x="277992" y="90008"/>
                </a:lnTo>
                <a:close/>
              </a:path>
              <a:path w="403860" h="405129">
                <a:moveTo>
                  <a:pt x="382170" y="64549"/>
                </a:moveTo>
                <a:lnTo>
                  <a:pt x="313872" y="64549"/>
                </a:lnTo>
                <a:lnTo>
                  <a:pt x="323433" y="66393"/>
                </a:lnTo>
                <a:lnTo>
                  <a:pt x="331845" y="71959"/>
                </a:lnTo>
                <a:lnTo>
                  <a:pt x="337438" y="80352"/>
                </a:lnTo>
                <a:lnTo>
                  <a:pt x="339313" y="89907"/>
                </a:lnTo>
                <a:lnTo>
                  <a:pt x="337469" y="99468"/>
                </a:lnTo>
                <a:lnTo>
                  <a:pt x="331904" y="107880"/>
                </a:lnTo>
                <a:lnTo>
                  <a:pt x="313972" y="125870"/>
                </a:lnTo>
                <a:lnTo>
                  <a:pt x="349952" y="161733"/>
                </a:lnTo>
                <a:lnTo>
                  <a:pt x="382170" y="64549"/>
                </a:lnTo>
                <a:close/>
              </a:path>
              <a:path w="403860" h="405129">
                <a:moveTo>
                  <a:pt x="313872" y="64549"/>
                </a:moveTo>
                <a:lnTo>
                  <a:pt x="304317" y="66424"/>
                </a:lnTo>
                <a:lnTo>
                  <a:pt x="295923" y="72017"/>
                </a:lnTo>
                <a:lnTo>
                  <a:pt x="277992" y="90008"/>
                </a:lnTo>
                <a:lnTo>
                  <a:pt x="313972" y="125870"/>
                </a:lnTo>
                <a:lnTo>
                  <a:pt x="331904" y="107880"/>
                </a:lnTo>
                <a:lnTo>
                  <a:pt x="337469" y="99468"/>
                </a:lnTo>
                <a:lnTo>
                  <a:pt x="339313" y="89907"/>
                </a:lnTo>
                <a:lnTo>
                  <a:pt x="337438" y="80352"/>
                </a:lnTo>
                <a:lnTo>
                  <a:pt x="331845" y="71959"/>
                </a:lnTo>
                <a:lnTo>
                  <a:pt x="323433" y="66393"/>
                </a:lnTo>
                <a:lnTo>
                  <a:pt x="313872" y="64549"/>
                </a:lnTo>
                <a:close/>
              </a:path>
              <a:path w="403860" h="405129">
                <a:moveTo>
                  <a:pt x="403570" y="0"/>
                </a:moveTo>
                <a:lnTo>
                  <a:pt x="242013" y="54146"/>
                </a:lnTo>
                <a:lnTo>
                  <a:pt x="277992" y="90008"/>
                </a:lnTo>
                <a:lnTo>
                  <a:pt x="295923" y="72017"/>
                </a:lnTo>
                <a:lnTo>
                  <a:pt x="304317" y="66424"/>
                </a:lnTo>
                <a:lnTo>
                  <a:pt x="313872" y="64549"/>
                </a:lnTo>
                <a:lnTo>
                  <a:pt x="382170" y="64549"/>
                </a:lnTo>
                <a:lnTo>
                  <a:pt x="403570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520131" y="4530342"/>
          <a:ext cx="763270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86"/>
                <a:gridCol w="304800"/>
                <a:gridCol w="61903"/>
              </a:tblGrid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1504149" y="4838667"/>
            <a:ext cx="702310" cy="403225"/>
          </a:xfrm>
          <a:custGeom>
            <a:avLst/>
            <a:gdLst/>
            <a:ahLst/>
            <a:cxnLst/>
            <a:rect l="l" t="t" r="r" b="b"/>
            <a:pathLst>
              <a:path w="702310" h="403225">
                <a:moveTo>
                  <a:pt x="0" y="201612"/>
                </a:moveTo>
                <a:lnTo>
                  <a:pt x="17892" y="137887"/>
                </a:lnTo>
                <a:lnTo>
                  <a:pt x="67715" y="82542"/>
                </a:lnTo>
                <a:lnTo>
                  <a:pt x="102794" y="59050"/>
                </a:lnTo>
                <a:lnTo>
                  <a:pt x="143688" y="38899"/>
                </a:lnTo>
                <a:lnTo>
                  <a:pt x="189675" y="22503"/>
                </a:lnTo>
                <a:lnTo>
                  <a:pt x="240031" y="10278"/>
                </a:lnTo>
                <a:lnTo>
                  <a:pt x="294034" y="2638"/>
                </a:lnTo>
                <a:lnTo>
                  <a:pt x="350962" y="0"/>
                </a:lnTo>
                <a:lnTo>
                  <a:pt x="407890" y="2638"/>
                </a:lnTo>
                <a:lnTo>
                  <a:pt x="461893" y="10278"/>
                </a:lnTo>
                <a:lnTo>
                  <a:pt x="512249" y="22503"/>
                </a:lnTo>
                <a:lnTo>
                  <a:pt x="558236" y="38899"/>
                </a:lnTo>
                <a:lnTo>
                  <a:pt x="599130" y="59050"/>
                </a:lnTo>
                <a:lnTo>
                  <a:pt x="634209" y="82542"/>
                </a:lnTo>
                <a:lnTo>
                  <a:pt x="662751" y="108959"/>
                </a:lnTo>
                <a:lnTo>
                  <a:pt x="697331" y="168909"/>
                </a:lnTo>
                <a:lnTo>
                  <a:pt x="701925" y="201612"/>
                </a:lnTo>
                <a:lnTo>
                  <a:pt x="697331" y="234315"/>
                </a:lnTo>
                <a:lnTo>
                  <a:pt x="662751" y="294265"/>
                </a:lnTo>
                <a:lnTo>
                  <a:pt x="634209" y="320682"/>
                </a:lnTo>
                <a:lnTo>
                  <a:pt x="599130" y="344174"/>
                </a:lnTo>
                <a:lnTo>
                  <a:pt x="558236" y="364325"/>
                </a:lnTo>
                <a:lnTo>
                  <a:pt x="512249" y="380721"/>
                </a:lnTo>
                <a:lnTo>
                  <a:pt x="461893" y="392946"/>
                </a:lnTo>
                <a:lnTo>
                  <a:pt x="407890" y="400586"/>
                </a:lnTo>
                <a:lnTo>
                  <a:pt x="350962" y="403225"/>
                </a:lnTo>
                <a:lnTo>
                  <a:pt x="294034" y="400586"/>
                </a:lnTo>
                <a:lnTo>
                  <a:pt x="240031" y="392946"/>
                </a:lnTo>
                <a:lnTo>
                  <a:pt x="189675" y="380721"/>
                </a:lnTo>
                <a:lnTo>
                  <a:pt x="143688" y="364325"/>
                </a:lnTo>
                <a:lnTo>
                  <a:pt x="102794" y="344174"/>
                </a:lnTo>
                <a:lnTo>
                  <a:pt x="67715" y="320682"/>
                </a:lnTo>
                <a:lnTo>
                  <a:pt x="39173" y="294265"/>
                </a:lnTo>
                <a:lnTo>
                  <a:pt x="4593" y="234315"/>
                </a:lnTo>
                <a:lnTo>
                  <a:pt x="0" y="201612"/>
                </a:lnTo>
                <a:close/>
              </a:path>
            </a:pathLst>
          </a:custGeom>
          <a:ln w="508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80295" y="1670812"/>
            <a:ext cx="3253740" cy="128968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5">
                <a:latin typeface="Calibri"/>
                <a:cs typeface="Calibri"/>
              </a:rPr>
              <a:t>Update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800" spc="235">
                <a:latin typeface="Cambria Math"/>
                <a:cs typeface="Cambria Math"/>
              </a:rPr>
              <a:t>𝑧</a:t>
            </a:r>
            <a:r>
              <a:rPr dirty="0" baseline="-16666" sz="3000" spc="352">
                <a:latin typeface="Cambria Math"/>
                <a:cs typeface="Cambria Math"/>
              </a:rPr>
              <a:t>!</a:t>
            </a:r>
            <a:endParaRPr baseline="-16666" sz="30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423035" algn="l"/>
              </a:tabLst>
            </a:pPr>
            <a:r>
              <a:rPr dirty="0" sz="2600" spc="-15">
                <a:latin typeface="Calibri"/>
                <a:cs typeface="Calibri"/>
              </a:rPr>
              <a:t>Update	</a:t>
            </a:r>
            <a:r>
              <a:rPr dirty="0" sz="2800" spc="75">
                <a:latin typeface="Cambria Math"/>
                <a:cs typeface="Cambria Math"/>
              </a:rPr>
              <a:t>𝑌</a:t>
            </a:r>
            <a:r>
              <a:rPr dirty="0" baseline="-16666" sz="3000" spc="112">
                <a:latin typeface="Cambria Math"/>
                <a:cs typeface="Cambria Math"/>
              </a:rPr>
              <a:t>!</a:t>
            </a:r>
            <a:r>
              <a:rPr dirty="0" sz="2600" spc="75">
                <a:latin typeface="Calibri"/>
                <a:cs typeface="Calibri"/>
              </a:rPr>
              <a:t>= </a:t>
            </a:r>
            <a:r>
              <a:rPr dirty="0" sz="2400" spc="65">
                <a:solidFill>
                  <a:srgbClr val="0000FF"/>
                </a:solidFill>
                <a:latin typeface="Cambria Math"/>
                <a:cs typeface="Cambria Math"/>
              </a:rPr>
              <a:t>𝜙</a:t>
            </a:r>
            <a:r>
              <a:rPr dirty="0" baseline="-15432" sz="2700" spc="97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r>
              <a:rPr dirty="0" sz="2400" spc="65">
                <a:solidFill>
                  <a:srgbClr val="0000FF"/>
                </a:solidFill>
                <a:latin typeface="Cambria Math"/>
                <a:cs typeface="Cambria Math"/>
              </a:rPr>
              <a:t>(𝑓</a:t>
            </a:r>
            <a:r>
              <a:rPr dirty="0" baseline="-15432" sz="2700" spc="97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sz="2400" spc="65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2400" spc="-31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 spc="165">
                <a:solidFill>
                  <a:srgbClr val="0000FF"/>
                </a:solidFill>
                <a:latin typeface="Cambria Math"/>
                <a:cs typeface="Cambria Math"/>
              </a:rPr>
              <a:t>𝑧</a:t>
            </a:r>
            <a:r>
              <a:rPr dirty="0" baseline="-15432" sz="2700" spc="247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sz="2400" spc="165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1564005">
              <a:lnSpc>
                <a:spcPct val="100000"/>
              </a:lnSpc>
              <a:spcBef>
                <a:spcPts val="4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18496" y="5580379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04583" y="3492500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02112" y="3504691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540320" y="4635017"/>
          <a:ext cx="775335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360"/>
                <a:gridCol w="304800"/>
                <a:gridCol w="61903"/>
              </a:tblGrid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600117" y="4635017"/>
          <a:ext cx="775335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359"/>
                <a:gridCol w="304800"/>
                <a:gridCol w="61904"/>
              </a:tblGrid>
              <a:tr h="2921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0070C0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76200">
                      <a:solidFill>
                        <a:srgbClr val="0070C0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0070C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4D4D6"/>
                      </a:solidFill>
                      <a:prstDash val="solid"/>
                    </a:lnL>
                    <a:lnR w="76200">
                      <a:solidFill>
                        <a:srgbClr val="0070C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6596009" y="4943340"/>
            <a:ext cx="702310" cy="403225"/>
          </a:xfrm>
          <a:custGeom>
            <a:avLst/>
            <a:gdLst/>
            <a:ahLst/>
            <a:cxnLst/>
            <a:rect l="l" t="t" r="r" b="b"/>
            <a:pathLst>
              <a:path w="702309" h="403225">
                <a:moveTo>
                  <a:pt x="0" y="201612"/>
                </a:moveTo>
                <a:lnTo>
                  <a:pt x="17892" y="137887"/>
                </a:lnTo>
                <a:lnTo>
                  <a:pt x="67715" y="82542"/>
                </a:lnTo>
                <a:lnTo>
                  <a:pt x="102794" y="59050"/>
                </a:lnTo>
                <a:lnTo>
                  <a:pt x="143688" y="38899"/>
                </a:lnTo>
                <a:lnTo>
                  <a:pt x="189675" y="22503"/>
                </a:lnTo>
                <a:lnTo>
                  <a:pt x="240031" y="10278"/>
                </a:lnTo>
                <a:lnTo>
                  <a:pt x="294034" y="2638"/>
                </a:lnTo>
                <a:lnTo>
                  <a:pt x="350962" y="0"/>
                </a:lnTo>
                <a:lnTo>
                  <a:pt x="407890" y="2638"/>
                </a:lnTo>
                <a:lnTo>
                  <a:pt x="461893" y="10278"/>
                </a:lnTo>
                <a:lnTo>
                  <a:pt x="512249" y="22503"/>
                </a:lnTo>
                <a:lnTo>
                  <a:pt x="558236" y="38899"/>
                </a:lnTo>
                <a:lnTo>
                  <a:pt x="599130" y="59050"/>
                </a:lnTo>
                <a:lnTo>
                  <a:pt x="634209" y="82542"/>
                </a:lnTo>
                <a:lnTo>
                  <a:pt x="662751" y="108959"/>
                </a:lnTo>
                <a:lnTo>
                  <a:pt x="697331" y="168909"/>
                </a:lnTo>
                <a:lnTo>
                  <a:pt x="701925" y="201612"/>
                </a:lnTo>
                <a:lnTo>
                  <a:pt x="697331" y="234315"/>
                </a:lnTo>
                <a:lnTo>
                  <a:pt x="662751" y="294265"/>
                </a:lnTo>
                <a:lnTo>
                  <a:pt x="634209" y="320682"/>
                </a:lnTo>
                <a:lnTo>
                  <a:pt x="599130" y="344174"/>
                </a:lnTo>
                <a:lnTo>
                  <a:pt x="558236" y="364325"/>
                </a:lnTo>
                <a:lnTo>
                  <a:pt x="512249" y="380721"/>
                </a:lnTo>
                <a:lnTo>
                  <a:pt x="461893" y="392946"/>
                </a:lnTo>
                <a:lnTo>
                  <a:pt x="407890" y="400586"/>
                </a:lnTo>
                <a:lnTo>
                  <a:pt x="350962" y="403225"/>
                </a:lnTo>
                <a:lnTo>
                  <a:pt x="294034" y="400586"/>
                </a:lnTo>
                <a:lnTo>
                  <a:pt x="240031" y="392946"/>
                </a:lnTo>
                <a:lnTo>
                  <a:pt x="189675" y="380721"/>
                </a:lnTo>
                <a:lnTo>
                  <a:pt x="143688" y="364325"/>
                </a:lnTo>
                <a:lnTo>
                  <a:pt x="102794" y="344174"/>
                </a:lnTo>
                <a:lnTo>
                  <a:pt x="67715" y="320682"/>
                </a:lnTo>
                <a:lnTo>
                  <a:pt x="39173" y="294265"/>
                </a:lnTo>
                <a:lnTo>
                  <a:pt x="4593" y="234315"/>
                </a:lnTo>
                <a:lnTo>
                  <a:pt x="0" y="201612"/>
                </a:lnTo>
                <a:close/>
              </a:path>
            </a:pathLst>
          </a:custGeom>
          <a:ln w="508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24094" y="1507236"/>
            <a:ext cx="2957195" cy="92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1665" indent="-608965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dirty="0" sz="2000" spc="-4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test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600" b="1">
                <a:solidFill>
                  <a:srgbClr val="F0AD00"/>
                </a:solidFill>
                <a:latin typeface="Calibri"/>
                <a:cs typeface="Calibri"/>
              </a:rPr>
              <a:t>3.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6246393" y="2143746"/>
            <a:ext cx="702310" cy="304800"/>
          </a:xfrm>
          <a:prstGeom prst="rect">
            <a:avLst/>
          </a:prstGeom>
          <a:solidFill>
            <a:srgbClr val="8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90"/>
              </a:lnSpc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2000" spc="-3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000" spc="-45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3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16828" y="2427280"/>
            <a:ext cx="3073400" cy="6400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455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55"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marL="622300" indent="-609600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1600" spc="-10" b="1">
                <a:latin typeface="Calibri"/>
                <a:cs typeface="Calibri"/>
              </a:rPr>
              <a:t>Update </a:t>
            </a:r>
            <a:r>
              <a:rPr dirty="0" sz="1600" spc="-5" b="1">
                <a:latin typeface="Calibri"/>
                <a:cs typeface="Calibri"/>
              </a:rPr>
              <a:t>label</a:t>
            </a:r>
            <a:r>
              <a:rPr dirty="0" sz="1600" spc="240" b="1">
                <a:latin typeface="Calibri"/>
                <a:cs typeface="Calibri"/>
              </a:rPr>
              <a:t> </a:t>
            </a:r>
            <a:r>
              <a:rPr dirty="0" sz="1800" spc="-40">
                <a:latin typeface="Cambria Math"/>
                <a:cs typeface="Cambria Math"/>
              </a:rPr>
              <a:t>𝑌</a:t>
            </a:r>
            <a:r>
              <a:rPr dirty="0" baseline="-14957" sz="1950" spc="-60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1704" y="3747752"/>
            <a:ext cx="85725" cy="1038860"/>
          </a:xfrm>
          <a:custGeom>
            <a:avLst/>
            <a:gdLst/>
            <a:ahLst/>
            <a:cxnLst/>
            <a:rect l="l" t="t" r="r" b="b"/>
            <a:pathLst>
              <a:path w="85725" h="1038860">
                <a:moveTo>
                  <a:pt x="50753" y="57149"/>
                </a:moveTo>
                <a:lnTo>
                  <a:pt x="34971" y="57149"/>
                </a:lnTo>
                <a:lnTo>
                  <a:pt x="28575" y="63545"/>
                </a:lnTo>
                <a:lnTo>
                  <a:pt x="28575" y="1031894"/>
                </a:lnTo>
                <a:lnTo>
                  <a:pt x="34970" y="1038291"/>
                </a:lnTo>
                <a:lnTo>
                  <a:pt x="50753" y="1038291"/>
                </a:lnTo>
                <a:lnTo>
                  <a:pt x="57150" y="1031894"/>
                </a:lnTo>
                <a:lnTo>
                  <a:pt x="57150" y="63545"/>
                </a:lnTo>
                <a:lnTo>
                  <a:pt x="50753" y="57149"/>
                </a:lnTo>
                <a:close/>
              </a:path>
              <a:path w="85725" h="1038860">
                <a:moveTo>
                  <a:pt x="42862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63545"/>
                </a:lnTo>
                <a:lnTo>
                  <a:pt x="34971" y="57149"/>
                </a:lnTo>
                <a:lnTo>
                  <a:pt x="71437" y="57149"/>
                </a:lnTo>
                <a:lnTo>
                  <a:pt x="42862" y="0"/>
                </a:lnTo>
                <a:close/>
              </a:path>
              <a:path w="85725" h="1038860">
                <a:moveTo>
                  <a:pt x="71437" y="57149"/>
                </a:moveTo>
                <a:lnTo>
                  <a:pt x="50753" y="57149"/>
                </a:lnTo>
                <a:lnTo>
                  <a:pt x="57150" y="63545"/>
                </a:lnTo>
                <a:lnTo>
                  <a:pt x="57150" y="85724"/>
                </a:lnTo>
                <a:lnTo>
                  <a:pt x="85725" y="85724"/>
                </a:lnTo>
                <a:lnTo>
                  <a:pt x="71437" y="57149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64004" y="3365670"/>
            <a:ext cx="1482725" cy="827405"/>
          </a:xfrm>
          <a:custGeom>
            <a:avLst/>
            <a:gdLst/>
            <a:ahLst/>
            <a:cxnLst/>
            <a:rect l="l" t="t" r="r" b="b"/>
            <a:pathLst>
              <a:path w="1482725" h="827404">
                <a:moveTo>
                  <a:pt x="1400383" y="798376"/>
                </a:moveTo>
                <a:lnTo>
                  <a:pt x="1386550" y="823379"/>
                </a:lnTo>
                <a:lnTo>
                  <a:pt x="1482310" y="827373"/>
                </a:lnTo>
                <a:lnTo>
                  <a:pt x="1469769" y="809113"/>
                </a:lnTo>
                <a:lnTo>
                  <a:pt x="1419790" y="809113"/>
                </a:lnTo>
                <a:lnTo>
                  <a:pt x="1400383" y="798376"/>
                </a:lnTo>
                <a:close/>
              </a:path>
              <a:path w="1482725" h="827404">
                <a:moveTo>
                  <a:pt x="1414216" y="773372"/>
                </a:moveTo>
                <a:lnTo>
                  <a:pt x="1400383" y="798376"/>
                </a:lnTo>
                <a:lnTo>
                  <a:pt x="1419790" y="809113"/>
                </a:lnTo>
                <a:lnTo>
                  <a:pt x="1428483" y="806612"/>
                </a:lnTo>
                <a:lnTo>
                  <a:pt x="1436123" y="792802"/>
                </a:lnTo>
                <a:lnTo>
                  <a:pt x="1433622" y="784109"/>
                </a:lnTo>
                <a:lnTo>
                  <a:pt x="1414216" y="773372"/>
                </a:lnTo>
                <a:close/>
              </a:path>
              <a:path w="1482725" h="827404">
                <a:moveTo>
                  <a:pt x="1428048" y="748369"/>
                </a:moveTo>
                <a:lnTo>
                  <a:pt x="1414216" y="773372"/>
                </a:lnTo>
                <a:lnTo>
                  <a:pt x="1433622" y="784109"/>
                </a:lnTo>
                <a:lnTo>
                  <a:pt x="1436123" y="792802"/>
                </a:lnTo>
                <a:lnTo>
                  <a:pt x="1428483" y="806612"/>
                </a:lnTo>
                <a:lnTo>
                  <a:pt x="1419790" y="809113"/>
                </a:lnTo>
                <a:lnTo>
                  <a:pt x="1469769" y="809113"/>
                </a:lnTo>
                <a:lnTo>
                  <a:pt x="1428048" y="748369"/>
                </a:lnTo>
                <a:close/>
              </a:path>
              <a:path w="1482725" h="827404">
                <a:moveTo>
                  <a:pt x="16333" y="0"/>
                </a:moveTo>
                <a:lnTo>
                  <a:pt x="7639" y="2500"/>
                </a:lnTo>
                <a:lnTo>
                  <a:pt x="0" y="16309"/>
                </a:lnTo>
                <a:lnTo>
                  <a:pt x="2500" y="25003"/>
                </a:lnTo>
                <a:lnTo>
                  <a:pt x="1400383" y="798376"/>
                </a:lnTo>
                <a:lnTo>
                  <a:pt x="1414216" y="773372"/>
                </a:lnTo>
                <a:lnTo>
                  <a:pt x="1633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80325" y="4176759"/>
            <a:ext cx="1482725" cy="960755"/>
          </a:xfrm>
          <a:custGeom>
            <a:avLst/>
            <a:gdLst/>
            <a:ahLst/>
            <a:cxnLst/>
            <a:rect l="l" t="t" r="r" b="b"/>
            <a:pathLst>
              <a:path w="1482725" h="960754">
                <a:moveTo>
                  <a:pt x="48850" y="878296"/>
                </a:moveTo>
                <a:lnTo>
                  <a:pt x="0" y="960756"/>
                </a:lnTo>
                <a:lnTo>
                  <a:pt x="95277" y="950361"/>
                </a:lnTo>
                <a:lnTo>
                  <a:pt x="87540" y="938350"/>
                </a:lnTo>
                <a:lnTo>
                  <a:pt x="61159" y="938350"/>
                </a:lnTo>
                <a:lnTo>
                  <a:pt x="52317" y="936437"/>
                </a:lnTo>
                <a:lnTo>
                  <a:pt x="43770" y="923170"/>
                </a:lnTo>
                <a:lnTo>
                  <a:pt x="45683" y="914328"/>
                </a:lnTo>
                <a:lnTo>
                  <a:pt x="64326" y="902317"/>
                </a:lnTo>
                <a:lnTo>
                  <a:pt x="48850" y="878296"/>
                </a:lnTo>
                <a:close/>
              </a:path>
              <a:path w="1482725" h="960754">
                <a:moveTo>
                  <a:pt x="64326" y="902317"/>
                </a:moveTo>
                <a:lnTo>
                  <a:pt x="45683" y="914328"/>
                </a:lnTo>
                <a:lnTo>
                  <a:pt x="43770" y="923170"/>
                </a:lnTo>
                <a:lnTo>
                  <a:pt x="52317" y="936437"/>
                </a:lnTo>
                <a:lnTo>
                  <a:pt x="61159" y="938350"/>
                </a:lnTo>
                <a:lnTo>
                  <a:pt x="79802" y="926340"/>
                </a:lnTo>
                <a:lnTo>
                  <a:pt x="64326" y="902317"/>
                </a:lnTo>
                <a:close/>
              </a:path>
              <a:path w="1482725" h="960754">
                <a:moveTo>
                  <a:pt x="79802" y="926340"/>
                </a:moveTo>
                <a:lnTo>
                  <a:pt x="61159" y="938350"/>
                </a:lnTo>
                <a:lnTo>
                  <a:pt x="87540" y="938350"/>
                </a:lnTo>
                <a:lnTo>
                  <a:pt x="79802" y="926340"/>
                </a:lnTo>
                <a:close/>
              </a:path>
              <a:path w="1482725" h="960754">
                <a:moveTo>
                  <a:pt x="1464885" y="0"/>
                </a:moveTo>
                <a:lnTo>
                  <a:pt x="64326" y="902317"/>
                </a:lnTo>
                <a:lnTo>
                  <a:pt x="79802" y="926340"/>
                </a:lnTo>
                <a:lnTo>
                  <a:pt x="1480360" y="24022"/>
                </a:lnTo>
                <a:lnTo>
                  <a:pt x="1482274" y="15180"/>
                </a:lnTo>
                <a:lnTo>
                  <a:pt x="1473727" y="1913"/>
                </a:lnTo>
                <a:lnTo>
                  <a:pt x="1464885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63476" y="4161293"/>
            <a:ext cx="1343025" cy="85725"/>
          </a:xfrm>
          <a:custGeom>
            <a:avLst/>
            <a:gdLst/>
            <a:ahLst/>
            <a:cxnLst/>
            <a:rect l="l" t="t" r="r" b="b"/>
            <a:pathLst>
              <a:path w="1343025" h="85725">
                <a:moveTo>
                  <a:pt x="1257357" y="0"/>
                </a:moveTo>
                <a:lnTo>
                  <a:pt x="1257101" y="28573"/>
                </a:lnTo>
                <a:lnTo>
                  <a:pt x="1279278" y="28771"/>
                </a:lnTo>
                <a:lnTo>
                  <a:pt x="1285618" y="35224"/>
                </a:lnTo>
                <a:lnTo>
                  <a:pt x="1285476" y="51005"/>
                </a:lnTo>
                <a:lnTo>
                  <a:pt x="1279023" y="57345"/>
                </a:lnTo>
                <a:lnTo>
                  <a:pt x="1256844" y="57345"/>
                </a:lnTo>
                <a:lnTo>
                  <a:pt x="1256591" y="85721"/>
                </a:lnTo>
                <a:lnTo>
                  <a:pt x="1314634" y="57345"/>
                </a:lnTo>
                <a:lnTo>
                  <a:pt x="1279023" y="57345"/>
                </a:lnTo>
                <a:lnTo>
                  <a:pt x="1315040" y="57147"/>
                </a:lnTo>
                <a:lnTo>
                  <a:pt x="1342696" y="43627"/>
                </a:lnTo>
                <a:lnTo>
                  <a:pt x="1257357" y="0"/>
                </a:lnTo>
                <a:close/>
              </a:path>
              <a:path w="1343025" h="85725">
                <a:moveTo>
                  <a:pt x="1257101" y="28573"/>
                </a:moveTo>
                <a:lnTo>
                  <a:pt x="1256846" y="57147"/>
                </a:lnTo>
                <a:lnTo>
                  <a:pt x="1279023" y="57345"/>
                </a:lnTo>
                <a:lnTo>
                  <a:pt x="1285476" y="51005"/>
                </a:lnTo>
                <a:lnTo>
                  <a:pt x="1285618" y="35224"/>
                </a:lnTo>
                <a:lnTo>
                  <a:pt x="1279278" y="28771"/>
                </a:lnTo>
                <a:lnTo>
                  <a:pt x="1257101" y="28573"/>
                </a:lnTo>
                <a:close/>
              </a:path>
              <a:path w="1343025" h="85725">
                <a:moveTo>
                  <a:pt x="6595" y="17392"/>
                </a:moveTo>
                <a:lnTo>
                  <a:pt x="140" y="23732"/>
                </a:lnTo>
                <a:lnTo>
                  <a:pt x="0" y="39513"/>
                </a:lnTo>
                <a:lnTo>
                  <a:pt x="6339" y="45966"/>
                </a:lnTo>
                <a:lnTo>
                  <a:pt x="1256846" y="57147"/>
                </a:lnTo>
                <a:lnTo>
                  <a:pt x="1257101" y="28573"/>
                </a:lnTo>
                <a:lnTo>
                  <a:pt x="6595" y="17392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2168" y="326136"/>
            <a:ext cx="7751064" cy="387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3233" y="1209547"/>
            <a:ext cx="24504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/>
              <a:t>Stop</a:t>
            </a:r>
            <a:r>
              <a:rPr dirty="0" sz="3000" spc="-75"/>
              <a:t> </a:t>
            </a:r>
            <a:r>
              <a:rPr dirty="0" sz="3000" spc="-20"/>
              <a:t>iteration</a:t>
            </a:r>
            <a:endParaRPr sz="3000"/>
          </a:p>
        </p:txBody>
      </p:sp>
      <p:sp>
        <p:nvSpPr>
          <p:cNvPr id="8" name="object 8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48806" y="301623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31221" y="320497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20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7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19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48806" y="477175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19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31221" y="496062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1"/>
                </a:lnTo>
                <a:lnTo>
                  <a:pt x="122844" y="92308"/>
                </a:lnTo>
                <a:lnTo>
                  <a:pt x="92309" y="122843"/>
                </a:lnTo>
                <a:lnTo>
                  <a:pt x="65531" y="156792"/>
                </a:lnTo>
                <a:lnTo>
                  <a:pt x="42854" y="193813"/>
                </a:lnTo>
                <a:lnTo>
                  <a:pt x="24619" y="233563"/>
                </a:lnTo>
                <a:lnTo>
                  <a:pt x="11170" y="275699"/>
                </a:lnTo>
                <a:lnTo>
                  <a:pt x="2849" y="319878"/>
                </a:lnTo>
                <a:lnTo>
                  <a:pt x="0" y="365758"/>
                </a:lnTo>
                <a:lnTo>
                  <a:pt x="2849" y="411638"/>
                </a:lnTo>
                <a:lnTo>
                  <a:pt x="11170" y="455818"/>
                </a:lnTo>
                <a:lnTo>
                  <a:pt x="24619" y="497954"/>
                </a:lnTo>
                <a:lnTo>
                  <a:pt x="42854" y="537704"/>
                </a:lnTo>
                <a:lnTo>
                  <a:pt x="65532" y="574725"/>
                </a:lnTo>
                <a:lnTo>
                  <a:pt x="92309" y="608674"/>
                </a:lnTo>
                <a:lnTo>
                  <a:pt x="122844" y="639209"/>
                </a:lnTo>
                <a:lnTo>
                  <a:pt x="156793" y="665986"/>
                </a:lnTo>
                <a:lnTo>
                  <a:pt x="193814" y="688664"/>
                </a:lnTo>
                <a:lnTo>
                  <a:pt x="233564" y="706898"/>
                </a:lnTo>
                <a:lnTo>
                  <a:pt x="275700" y="720348"/>
                </a:lnTo>
                <a:lnTo>
                  <a:pt x="319879" y="728668"/>
                </a:lnTo>
                <a:lnTo>
                  <a:pt x="365759" y="731518"/>
                </a:lnTo>
                <a:lnTo>
                  <a:pt x="411640" y="728668"/>
                </a:lnTo>
                <a:lnTo>
                  <a:pt x="455819" y="720348"/>
                </a:lnTo>
                <a:lnTo>
                  <a:pt x="497955" y="706898"/>
                </a:lnTo>
                <a:lnTo>
                  <a:pt x="537705" y="688664"/>
                </a:lnTo>
                <a:lnTo>
                  <a:pt x="574726" y="665986"/>
                </a:lnTo>
                <a:lnTo>
                  <a:pt x="608675" y="639209"/>
                </a:lnTo>
                <a:lnTo>
                  <a:pt x="639210" y="608674"/>
                </a:lnTo>
                <a:lnTo>
                  <a:pt x="665988" y="574725"/>
                </a:lnTo>
                <a:lnTo>
                  <a:pt x="688665" y="537704"/>
                </a:lnTo>
                <a:lnTo>
                  <a:pt x="706900" y="497954"/>
                </a:lnTo>
                <a:lnTo>
                  <a:pt x="720349" y="455818"/>
                </a:lnTo>
                <a:lnTo>
                  <a:pt x="728670" y="411638"/>
                </a:lnTo>
                <a:lnTo>
                  <a:pt x="731519" y="365758"/>
                </a:lnTo>
                <a:lnTo>
                  <a:pt x="728670" y="319878"/>
                </a:lnTo>
                <a:lnTo>
                  <a:pt x="720349" y="275699"/>
                </a:lnTo>
                <a:lnTo>
                  <a:pt x="706900" y="233563"/>
                </a:lnTo>
                <a:lnTo>
                  <a:pt x="688665" y="193813"/>
                </a:lnTo>
                <a:lnTo>
                  <a:pt x="665988" y="156792"/>
                </a:lnTo>
                <a:lnTo>
                  <a:pt x="639210" y="122843"/>
                </a:lnTo>
                <a:lnTo>
                  <a:pt x="608675" y="92308"/>
                </a:lnTo>
                <a:lnTo>
                  <a:pt x="574726" y="65531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46314" y="3827284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28730" y="401574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365759" y="0"/>
                </a:moveTo>
                <a:lnTo>
                  <a:pt x="319879" y="2849"/>
                </a:lnTo>
                <a:lnTo>
                  <a:pt x="275700" y="11170"/>
                </a:lnTo>
                <a:lnTo>
                  <a:pt x="233564" y="24619"/>
                </a:lnTo>
                <a:lnTo>
                  <a:pt x="193814" y="42854"/>
                </a:lnTo>
                <a:lnTo>
                  <a:pt x="156793" y="65532"/>
                </a:lnTo>
                <a:lnTo>
                  <a:pt x="122844" y="92309"/>
                </a:lnTo>
                <a:lnTo>
                  <a:pt x="92309" y="122844"/>
                </a:lnTo>
                <a:lnTo>
                  <a:pt x="65531" y="156793"/>
                </a:lnTo>
                <a:lnTo>
                  <a:pt x="42854" y="193814"/>
                </a:lnTo>
                <a:lnTo>
                  <a:pt x="24619" y="233564"/>
                </a:lnTo>
                <a:lnTo>
                  <a:pt x="11170" y="275700"/>
                </a:lnTo>
                <a:lnTo>
                  <a:pt x="2849" y="319879"/>
                </a:lnTo>
                <a:lnTo>
                  <a:pt x="0" y="365760"/>
                </a:lnTo>
                <a:lnTo>
                  <a:pt x="2849" y="411640"/>
                </a:lnTo>
                <a:lnTo>
                  <a:pt x="11170" y="455819"/>
                </a:lnTo>
                <a:lnTo>
                  <a:pt x="24619" y="497955"/>
                </a:lnTo>
                <a:lnTo>
                  <a:pt x="42854" y="537705"/>
                </a:lnTo>
                <a:lnTo>
                  <a:pt x="65531" y="574726"/>
                </a:lnTo>
                <a:lnTo>
                  <a:pt x="92309" y="608675"/>
                </a:lnTo>
                <a:lnTo>
                  <a:pt x="122844" y="639210"/>
                </a:lnTo>
                <a:lnTo>
                  <a:pt x="156793" y="665988"/>
                </a:lnTo>
                <a:lnTo>
                  <a:pt x="193814" y="688665"/>
                </a:lnTo>
                <a:lnTo>
                  <a:pt x="233564" y="706900"/>
                </a:lnTo>
                <a:lnTo>
                  <a:pt x="275700" y="720349"/>
                </a:lnTo>
                <a:lnTo>
                  <a:pt x="319879" y="728670"/>
                </a:lnTo>
                <a:lnTo>
                  <a:pt x="365759" y="731519"/>
                </a:lnTo>
                <a:lnTo>
                  <a:pt x="411640" y="728670"/>
                </a:lnTo>
                <a:lnTo>
                  <a:pt x="455819" y="720349"/>
                </a:lnTo>
                <a:lnTo>
                  <a:pt x="497955" y="706900"/>
                </a:lnTo>
                <a:lnTo>
                  <a:pt x="537705" y="688665"/>
                </a:lnTo>
                <a:lnTo>
                  <a:pt x="574726" y="665988"/>
                </a:lnTo>
                <a:lnTo>
                  <a:pt x="608675" y="639210"/>
                </a:lnTo>
                <a:lnTo>
                  <a:pt x="639210" y="608675"/>
                </a:lnTo>
                <a:lnTo>
                  <a:pt x="665988" y="574726"/>
                </a:lnTo>
                <a:lnTo>
                  <a:pt x="688665" y="537705"/>
                </a:lnTo>
                <a:lnTo>
                  <a:pt x="706900" y="497955"/>
                </a:lnTo>
                <a:lnTo>
                  <a:pt x="720349" y="455819"/>
                </a:lnTo>
                <a:lnTo>
                  <a:pt x="728670" y="411640"/>
                </a:lnTo>
                <a:lnTo>
                  <a:pt x="731520" y="365760"/>
                </a:lnTo>
                <a:lnTo>
                  <a:pt x="728670" y="319879"/>
                </a:lnTo>
                <a:lnTo>
                  <a:pt x="720349" y="275700"/>
                </a:lnTo>
                <a:lnTo>
                  <a:pt x="706900" y="233564"/>
                </a:lnTo>
                <a:lnTo>
                  <a:pt x="688665" y="193814"/>
                </a:lnTo>
                <a:lnTo>
                  <a:pt x="665987" y="156793"/>
                </a:lnTo>
                <a:lnTo>
                  <a:pt x="639210" y="122844"/>
                </a:lnTo>
                <a:lnTo>
                  <a:pt x="608675" y="92309"/>
                </a:lnTo>
                <a:lnTo>
                  <a:pt x="574726" y="65532"/>
                </a:lnTo>
                <a:lnTo>
                  <a:pt x="537705" y="42854"/>
                </a:lnTo>
                <a:lnTo>
                  <a:pt x="497955" y="24619"/>
                </a:lnTo>
                <a:lnTo>
                  <a:pt x="455819" y="11170"/>
                </a:lnTo>
                <a:lnTo>
                  <a:pt x="411640" y="2849"/>
                </a:lnTo>
                <a:lnTo>
                  <a:pt x="36575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06172" y="383915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365760"/>
                </a:moveTo>
                <a:lnTo>
                  <a:pt x="2849" y="319879"/>
                </a:lnTo>
                <a:lnTo>
                  <a:pt x="11170" y="275700"/>
                </a:lnTo>
                <a:lnTo>
                  <a:pt x="24619" y="233564"/>
                </a:lnTo>
                <a:lnTo>
                  <a:pt x="42854" y="193814"/>
                </a:lnTo>
                <a:lnTo>
                  <a:pt x="65531" y="156793"/>
                </a:lnTo>
                <a:lnTo>
                  <a:pt x="92309" y="122844"/>
                </a:lnTo>
                <a:lnTo>
                  <a:pt x="122844" y="92309"/>
                </a:lnTo>
                <a:lnTo>
                  <a:pt x="156793" y="65531"/>
                </a:lnTo>
                <a:lnTo>
                  <a:pt x="193814" y="42854"/>
                </a:lnTo>
                <a:lnTo>
                  <a:pt x="233564" y="24619"/>
                </a:lnTo>
                <a:lnTo>
                  <a:pt x="275700" y="11170"/>
                </a:lnTo>
                <a:lnTo>
                  <a:pt x="319879" y="2849"/>
                </a:lnTo>
                <a:lnTo>
                  <a:pt x="365760" y="0"/>
                </a:lnTo>
                <a:lnTo>
                  <a:pt x="411640" y="2849"/>
                </a:lnTo>
                <a:lnTo>
                  <a:pt x="455819" y="11170"/>
                </a:lnTo>
                <a:lnTo>
                  <a:pt x="497955" y="24619"/>
                </a:lnTo>
                <a:lnTo>
                  <a:pt x="537705" y="42854"/>
                </a:lnTo>
                <a:lnTo>
                  <a:pt x="574726" y="65531"/>
                </a:lnTo>
                <a:lnTo>
                  <a:pt x="608675" y="92309"/>
                </a:lnTo>
                <a:lnTo>
                  <a:pt x="639210" y="122844"/>
                </a:lnTo>
                <a:lnTo>
                  <a:pt x="665988" y="156793"/>
                </a:lnTo>
                <a:lnTo>
                  <a:pt x="688665" y="193814"/>
                </a:lnTo>
                <a:lnTo>
                  <a:pt x="706900" y="233564"/>
                </a:lnTo>
                <a:lnTo>
                  <a:pt x="720349" y="275700"/>
                </a:lnTo>
                <a:lnTo>
                  <a:pt x="728670" y="319879"/>
                </a:lnTo>
                <a:lnTo>
                  <a:pt x="731520" y="365760"/>
                </a:lnTo>
                <a:lnTo>
                  <a:pt x="728670" y="411640"/>
                </a:lnTo>
                <a:lnTo>
                  <a:pt x="720349" y="455819"/>
                </a:lnTo>
                <a:lnTo>
                  <a:pt x="706900" y="497955"/>
                </a:lnTo>
                <a:lnTo>
                  <a:pt x="688665" y="537705"/>
                </a:lnTo>
                <a:lnTo>
                  <a:pt x="665988" y="574726"/>
                </a:lnTo>
                <a:lnTo>
                  <a:pt x="639210" y="608675"/>
                </a:lnTo>
                <a:lnTo>
                  <a:pt x="608675" y="639210"/>
                </a:lnTo>
                <a:lnTo>
                  <a:pt x="574726" y="665988"/>
                </a:lnTo>
                <a:lnTo>
                  <a:pt x="537705" y="688665"/>
                </a:lnTo>
                <a:lnTo>
                  <a:pt x="497955" y="706900"/>
                </a:lnTo>
                <a:lnTo>
                  <a:pt x="455819" y="720349"/>
                </a:lnTo>
                <a:lnTo>
                  <a:pt x="411640" y="728670"/>
                </a:lnTo>
                <a:lnTo>
                  <a:pt x="365760" y="731520"/>
                </a:lnTo>
                <a:lnTo>
                  <a:pt x="319879" y="728670"/>
                </a:lnTo>
                <a:lnTo>
                  <a:pt x="275700" y="720349"/>
                </a:lnTo>
                <a:lnTo>
                  <a:pt x="233564" y="706900"/>
                </a:lnTo>
                <a:lnTo>
                  <a:pt x="193814" y="688665"/>
                </a:lnTo>
                <a:lnTo>
                  <a:pt x="156793" y="665988"/>
                </a:lnTo>
                <a:lnTo>
                  <a:pt x="122844" y="639210"/>
                </a:lnTo>
                <a:lnTo>
                  <a:pt x="92309" y="608675"/>
                </a:lnTo>
                <a:lnTo>
                  <a:pt x="65531" y="574726"/>
                </a:lnTo>
                <a:lnTo>
                  <a:pt x="42854" y="537705"/>
                </a:lnTo>
                <a:lnTo>
                  <a:pt x="24619" y="497955"/>
                </a:lnTo>
                <a:lnTo>
                  <a:pt x="11170" y="455819"/>
                </a:lnTo>
                <a:lnTo>
                  <a:pt x="2849" y="411640"/>
                </a:lnTo>
                <a:lnTo>
                  <a:pt x="0" y="36576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888589" y="4027932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282435" y="4620197"/>
            <a:ext cx="815340" cy="1076325"/>
          </a:xfrm>
          <a:custGeom>
            <a:avLst/>
            <a:gdLst/>
            <a:ahLst/>
            <a:cxnLst/>
            <a:rect l="l" t="t" r="r" b="b"/>
            <a:pathLst>
              <a:path w="815339" h="1076325">
                <a:moveTo>
                  <a:pt x="335623" y="230952"/>
                </a:moveTo>
                <a:lnTo>
                  <a:pt x="86981" y="230952"/>
                </a:lnTo>
                <a:lnTo>
                  <a:pt x="640761" y="1076168"/>
                </a:lnTo>
                <a:lnTo>
                  <a:pt x="814726" y="962188"/>
                </a:lnTo>
                <a:lnTo>
                  <a:pt x="335623" y="230952"/>
                </a:lnTo>
                <a:close/>
              </a:path>
              <a:path w="815339" h="1076325">
                <a:moveTo>
                  <a:pt x="59983" y="0"/>
                </a:moveTo>
                <a:lnTo>
                  <a:pt x="0" y="287942"/>
                </a:lnTo>
                <a:lnTo>
                  <a:pt x="86981" y="230952"/>
                </a:lnTo>
                <a:lnTo>
                  <a:pt x="335623" y="230952"/>
                </a:lnTo>
                <a:lnTo>
                  <a:pt x="260944" y="116972"/>
                </a:lnTo>
                <a:lnTo>
                  <a:pt x="347925" y="59982"/>
                </a:lnTo>
                <a:lnTo>
                  <a:pt x="599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262488" y="5763259"/>
            <a:ext cx="18059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Arial"/>
                <a:cs typeface="Arial"/>
              </a:rPr>
              <a:t>Correct</a:t>
            </a:r>
            <a:r>
              <a:rPr dirty="0" sz="2400" spc="-11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FF"/>
                </a:solidFill>
                <a:latin typeface="Arial"/>
                <a:cs typeface="Arial"/>
              </a:rPr>
              <a:t>Now!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5624094" y="1507236"/>
            <a:ext cx="3366135" cy="1559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35" b="1">
                <a:solidFill>
                  <a:srgbClr val="7F7F7F"/>
                </a:solidFill>
                <a:latin typeface="Calibri"/>
                <a:cs typeface="Calibri"/>
              </a:rPr>
              <a:t>Train</a:t>
            </a:r>
            <a:r>
              <a:rPr dirty="0" sz="2000" spc="-55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  <a:p>
            <a:pPr marL="621665" indent="-608965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Apply classifier </a:t>
            </a:r>
            <a:r>
              <a:rPr dirty="0" sz="2000" spc="-15" b="1">
                <a:solidFill>
                  <a:srgbClr val="7F7F7F"/>
                </a:solidFill>
                <a:latin typeface="Calibri"/>
                <a:cs typeface="Calibri"/>
              </a:rPr>
              <a:t>to test</a:t>
            </a:r>
            <a:r>
              <a:rPr dirty="0" sz="2000" spc="-3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7F7F7F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  <a:p>
            <a:pPr marL="621665" indent="-608965">
              <a:lnSpc>
                <a:spcPct val="100000"/>
              </a:lnSpc>
              <a:buClr>
                <a:srgbClr val="F0AD00"/>
              </a:buClr>
              <a:buSzPct val="80000"/>
              <a:buAutoNum type="arabicPeriod"/>
              <a:tabLst>
                <a:tab pos="621665" algn="l"/>
                <a:tab pos="622300" algn="l"/>
              </a:tabLst>
            </a:pPr>
            <a:r>
              <a:rPr dirty="0" sz="2000" spc="-20" b="1">
                <a:solidFill>
                  <a:srgbClr val="7F7F7F"/>
                </a:solidFill>
                <a:latin typeface="Calibri"/>
                <a:cs typeface="Calibri"/>
              </a:rPr>
              <a:t>Iterate</a:t>
            </a:r>
            <a:endParaRPr sz="2000">
              <a:latin typeface="Calibri"/>
              <a:cs typeface="Calibri"/>
            </a:endParaRPr>
          </a:p>
          <a:p>
            <a:pPr lvl="1" marL="915035" indent="-610235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AutoNum type="arabicPeriod"/>
              <a:tabLst>
                <a:tab pos="914400" algn="l"/>
                <a:tab pos="915035" algn="l"/>
              </a:tabLst>
            </a:pPr>
            <a:r>
              <a:rPr dirty="0" sz="1600" spc="-10" b="1">
                <a:solidFill>
                  <a:srgbClr val="7F7F7F"/>
                </a:solidFill>
                <a:latin typeface="Calibri"/>
                <a:cs typeface="Calibri"/>
              </a:rPr>
              <a:t>Update relational features</a:t>
            </a:r>
            <a:r>
              <a:rPr dirty="0" sz="1600" spc="-4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1600" spc="-55">
                <a:solidFill>
                  <a:srgbClr val="7F7F7F"/>
                </a:solidFill>
                <a:latin typeface="Cambria Math"/>
                <a:cs typeface="Cambria Math"/>
              </a:rPr>
              <a:t>𝑧</a:t>
            </a:r>
            <a:r>
              <a:rPr dirty="0" baseline="-16203" sz="1800" spc="-82">
                <a:solidFill>
                  <a:srgbClr val="7F7F7F"/>
                </a:solidFill>
                <a:latin typeface="Cambria Math"/>
                <a:cs typeface="Cambria Math"/>
              </a:rPr>
              <a:t>#</a:t>
            </a:r>
            <a:endParaRPr baseline="-16203" sz="1800">
              <a:latin typeface="Cambria Math"/>
              <a:cs typeface="Cambria Math"/>
            </a:endParaRPr>
          </a:p>
          <a:p>
            <a:pPr lvl="1" marL="915035" indent="-610235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AutoNum type="arabicPeriod"/>
              <a:tabLst>
                <a:tab pos="914400" algn="l"/>
                <a:tab pos="915035" algn="l"/>
              </a:tabLst>
            </a:pPr>
            <a:r>
              <a:rPr dirty="0" sz="1600" spc="-10" b="1">
                <a:solidFill>
                  <a:srgbClr val="7F7F7F"/>
                </a:solidFill>
                <a:latin typeface="Calibri"/>
                <a:cs typeface="Calibri"/>
              </a:rPr>
              <a:t>Update </a:t>
            </a:r>
            <a:r>
              <a:rPr dirty="0" sz="1600" spc="-5" b="1">
                <a:solidFill>
                  <a:srgbClr val="7F7F7F"/>
                </a:solidFill>
                <a:latin typeface="Calibri"/>
                <a:cs typeface="Calibri"/>
              </a:rPr>
              <a:t>label</a:t>
            </a:r>
            <a:r>
              <a:rPr dirty="0" sz="1600" spc="240" b="1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7F7F7F"/>
                </a:solidFill>
                <a:latin typeface="Cambria Math"/>
                <a:cs typeface="Cambria Math"/>
              </a:rPr>
              <a:t>𝑌</a:t>
            </a:r>
            <a:r>
              <a:rPr dirty="0" baseline="-14957" sz="1950" spc="-60">
                <a:solidFill>
                  <a:srgbClr val="7F7F7F"/>
                </a:solidFill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585416" y="2983594"/>
          <a:ext cx="60515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55880">
                        <a:lnSpc>
                          <a:spcPts val="214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  <a:spcBef>
                          <a:spcPts val="1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1212740" y="2940811"/>
            <a:ext cx="200025" cy="10560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800" spc="-355">
                <a:latin typeface="Cambria Math"/>
                <a:cs typeface="Cambria Math"/>
              </a:rPr>
              <a:t>𝑓</a:t>
            </a:r>
            <a:r>
              <a:rPr dirty="0" baseline="-17094" sz="1950" spc="322">
                <a:latin typeface="Cambria Math"/>
                <a:cs typeface="Cambria Math"/>
              </a:rPr>
              <a:t>"</a:t>
            </a:r>
            <a:endParaRPr baseline="-17094" sz="195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Cambria Math"/>
                <a:cs typeface="Cambria Math"/>
              </a:rPr>
              <a:t>𝐼</a:t>
            </a:r>
            <a:endParaRPr sz="1800">
              <a:latin typeface="Cambria Math"/>
              <a:cs typeface="Cambria Math"/>
            </a:endParaRPr>
          </a:p>
          <a:p>
            <a:pPr marL="1905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latin typeface="Cambria Math"/>
                <a:cs typeface="Cambria Math"/>
              </a:rPr>
              <a:t>𝑂</a:t>
            </a:r>
            <a:endParaRPr sz="1800">
              <a:latin typeface="Cambria Math"/>
              <a:cs typeface="Cambria Math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568680" y="4530342"/>
          <a:ext cx="60515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49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8415">
                        <a:lnSpc>
                          <a:spcPts val="213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13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641688" y="1717548"/>
            <a:ext cx="4655185" cy="124904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287020" marR="5080" indent="-274320">
              <a:lnSpc>
                <a:spcPts val="2810"/>
              </a:lnSpc>
              <a:spcBef>
                <a:spcPts val="4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After </a:t>
            </a:r>
            <a:r>
              <a:rPr dirty="0" sz="2600" spc="-20">
                <a:latin typeface="Calibri"/>
                <a:cs typeface="Calibri"/>
              </a:rPr>
              <a:t>convergence </a:t>
            </a:r>
            <a:r>
              <a:rPr dirty="0" sz="2600">
                <a:latin typeface="Calibri"/>
                <a:cs typeface="Calibri"/>
              </a:rPr>
              <a:t>or </a:t>
            </a:r>
            <a:r>
              <a:rPr dirty="0" sz="2600" spc="-5">
                <a:latin typeface="Calibri"/>
                <a:cs typeface="Calibri"/>
              </a:rPr>
              <a:t>when  </a:t>
            </a:r>
            <a:r>
              <a:rPr dirty="0" sz="2600" spc="-10">
                <a:latin typeface="Calibri"/>
                <a:cs typeface="Calibri"/>
              </a:rPr>
              <a:t>maximum </a:t>
            </a:r>
            <a:r>
              <a:rPr dirty="0" sz="2600" spc="-15">
                <a:latin typeface="Calibri"/>
                <a:cs typeface="Calibri"/>
              </a:rPr>
              <a:t>iterations </a:t>
            </a:r>
            <a:r>
              <a:rPr dirty="0" sz="2600" spc="-10">
                <a:latin typeface="Calibri"/>
                <a:cs typeface="Calibri"/>
              </a:rPr>
              <a:t>are reached</a:t>
            </a:r>
            <a:endParaRPr sz="2600">
              <a:latin typeface="Calibri"/>
              <a:cs typeface="Calibri"/>
            </a:endParaRPr>
          </a:p>
          <a:p>
            <a:pPr marL="1502410">
              <a:lnSpc>
                <a:spcPct val="100000"/>
              </a:lnSpc>
              <a:spcBef>
                <a:spcPts val="15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8496" y="5583428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4583" y="3498596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02112" y="3507740"/>
            <a:ext cx="1702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Ground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truth: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600743" y="4635017"/>
          <a:ext cx="60515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2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8415">
                        <a:lnSpc>
                          <a:spcPts val="2135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ts val="2135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660539" y="4635017"/>
          <a:ext cx="60515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/>
                <a:gridCol w="304800"/>
              </a:tblGrid>
              <a:tr h="3048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marL="18415">
                        <a:lnSpc>
                          <a:spcPts val="2135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D4D4D6"/>
                      </a:solidFill>
                      <a:prstDash val="solid"/>
                    </a:lnL>
                    <a:lnR w="12700">
                      <a:solidFill>
                        <a:srgbClr val="D4D4D6"/>
                      </a:solidFill>
                      <a:prstDash val="solid"/>
                    </a:lnR>
                    <a:lnT w="12700">
                      <a:solidFill>
                        <a:srgbClr val="D4D4D6"/>
                      </a:solidFill>
                      <a:prstDash val="solid"/>
                    </a:lnT>
                    <a:lnB w="12700">
                      <a:solidFill>
                        <a:srgbClr val="D4D4D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01584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1">
                <a:latin typeface="Calibri"/>
                <a:cs typeface="Calibri"/>
              </a:rPr>
              <a:t>We </a:t>
            </a:r>
            <a:r>
              <a:rPr dirty="0" spc="-25" b="1">
                <a:latin typeface="Calibri"/>
                <a:cs typeface="Calibri"/>
              </a:rPr>
              <a:t>talked </a:t>
            </a:r>
            <a:r>
              <a:rPr dirty="0" spc="-5" b="1">
                <a:latin typeface="Calibri"/>
                <a:cs typeface="Calibri"/>
              </a:rPr>
              <a:t>about </a:t>
            </a:r>
            <a:r>
              <a:rPr dirty="0" b="1">
                <a:latin typeface="Calibri"/>
                <a:cs typeface="Calibri"/>
              </a:rPr>
              <a:t>2 </a:t>
            </a:r>
            <a:r>
              <a:rPr dirty="0" spc="-10" b="1">
                <a:latin typeface="Calibri"/>
                <a:cs typeface="Calibri"/>
              </a:rPr>
              <a:t>approaches </a:t>
            </a:r>
            <a:r>
              <a:rPr dirty="0" spc="-15" b="1">
                <a:latin typeface="Calibri"/>
                <a:cs typeface="Calibri"/>
              </a:rPr>
              <a:t>to </a:t>
            </a:r>
            <a:r>
              <a:rPr dirty="0" spc="-10" b="1">
                <a:latin typeface="Calibri"/>
                <a:cs typeface="Calibri"/>
              </a:rPr>
              <a:t>collective  classification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Relational</a:t>
            </a:r>
            <a:r>
              <a:rPr dirty="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754620" cy="32442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Iteratively </a:t>
            </a:r>
            <a:r>
              <a:rPr dirty="0" sz="2800" spc="-15">
                <a:latin typeface="Calibri"/>
                <a:cs typeface="Calibri"/>
              </a:rPr>
              <a:t>update </a:t>
            </a:r>
            <a:r>
              <a:rPr dirty="0" sz="2800" spc="-10">
                <a:latin typeface="Calibri"/>
                <a:cs typeface="Calibri"/>
              </a:rPr>
              <a:t>probabilities </a:t>
            </a:r>
            <a:r>
              <a:rPr dirty="0" sz="2800" spc="-5">
                <a:latin typeface="Calibri"/>
                <a:cs typeface="Calibri"/>
              </a:rPr>
              <a:t>of node </a:t>
            </a:r>
            <a:r>
              <a:rPr dirty="0" sz="2800" spc="-65">
                <a:latin typeface="Calibri"/>
                <a:cs typeface="Calibri"/>
              </a:rPr>
              <a:t>belonging 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label class based on its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  <a:p>
            <a:pPr marL="332740" marR="3729354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Iterative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 lvl="1" marL="625475" marR="384810" indent="-27432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Improve over </a:t>
            </a:r>
            <a:r>
              <a:rPr dirty="0" sz="2800" spc="-10">
                <a:latin typeface="Calibri"/>
                <a:cs typeface="Calibri"/>
              </a:rPr>
              <a:t>collective classification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5">
                <a:latin typeface="Calibri"/>
                <a:cs typeface="Calibri"/>
              </a:rPr>
              <a:t>handle  </a:t>
            </a:r>
            <a:r>
              <a:rPr dirty="0" sz="2800" spc="-20">
                <a:latin typeface="Calibri"/>
                <a:cs typeface="Calibri"/>
              </a:rPr>
              <a:t>attribute/feature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Classify node </a:t>
            </a:r>
            <a:r>
              <a:rPr dirty="0" sz="2800">
                <a:latin typeface="Cambria Math"/>
                <a:cs typeface="Cambria Math"/>
              </a:rPr>
              <a:t>𝑖 </a:t>
            </a:r>
            <a:r>
              <a:rPr dirty="0" sz="2800" spc="-5">
                <a:latin typeface="Calibri"/>
                <a:cs typeface="Calibri"/>
              </a:rPr>
              <a:t>based on its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features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 spc="-15">
                <a:latin typeface="Calibri"/>
                <a:cs typeface="Calibri"/>
              </a:rPr>
              <a:t>well</a:t>
            </a:r>
            <a:r>
              <a:rPr dirty="0" sz="2800" spc="15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algn="ctr" marR="3745865">
              <a:lnSpc>
                <a:spcPct val="100000"/>
              </a:lnSpc>
              <a:spcBef>
                <a:spcPts val="25"/>
              </a:spcBef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labels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527" y="2621279"/>
            <a:ext cx="5626608" cy="1847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64743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4552950" cy="247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Relational</a:t>
            </a:r>
            <a:r>
              <a:rPr dirty="0" sz="3200" spc="-7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classifiers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solidFill>
                  <a:srgbClr val="A6A6A6"/>
                </a:solidFill>
                <a:latin typeface="Calibri"/>
                <a:cs typeface="Calibri"/>
              </a:rPr>
              <a:t>Iterative</a:t>
            </a:r>
            <a:r>
              <a:rPr dirty="0" sz="3200" spc="-5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A6A6A6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Loopy belief</a:t>
            </a:r>
            <a:r>
              <a:rPr dirty="0" sz="3200" spc="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19963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649" y="1291844"/>
            <a:ext cx="8590280" cy="2311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/>
              <a:t>Belief </a:t>
            </a:r>
            <a:r>
              <a:rPr dirty="0" sz="3000" spc="-15"/>
              <a:t>Propagation </a:t>
            </a:r>
            <a:r>
              <a:rPr dirty="0" sz="3000" spc="-5"/>
              <a:t>is </a:t>
            </a:r>
            <a:r>
              <a:rPr dirty="0" sz="3000"/>
              <a:t>a </a:t>
            </a:r>
            <a:r>
              <a:rPr dirty="0" sz="3000" spc="-5"/>
              <a:t>dynamic </a:t>
            </a:r>
            <a:r>
              <a:rPr dirty="0" sz="3000" spc="-15"/>
              <a:t>programming  </a:t>
            </a:r>
            <a:r>
              <a:rPr dirty="0" sz="3000" spc="-10"/>
              <a:t>approach </a:t>
            </a:r>
            <a:r>
              <a:rPr dirty="0" sz="3000" spc="-20"/>
              <a:t>to </a:t>
            </a: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answering probability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queries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in a 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3000"/>
              <a:t>(e.g. </a:t>
            </a:r>
            <a:r>
              <a:rPr dirty="0" sz="3000" spc="-10"/>
              <a:t>probability </a:t>
            </a:r>
            <a:r>
              <a:rPr dirty="0" sz="3000"/>
              <a:t>of </a:t>
            </a:r>
            <a:r>
              <a:rPr dirty="0" sz="3000" spc="-5"/>
              <a:t>node </a:t>
            </a:r>
            <a:r>
              <a:rPr dirty="0" sz="3000">
                <a:latin typeface="Cambria Math"/>
                <a:cs typeface="Cambria Math"/>
              </a:rPr>
              <a:t>𝑣 </a:t>
            </a:r>
            <a:r>
              <a:rPr dirty="0" sz="3000" spc="-5"/>
              <a:t>belonging </a:t>
            </a:r>
            <a:r>
              <a:rPr dirty="0" sz="3000" spc="-20"/>
              <a:t>to </a:t>
            </a:r>
            <a:r>
              <a:rPr dirty="0" sz="3000" spc="-5"/>
              <a:t>class</a:t>
            </a:r>
            <a:r>
              <a:rPr dirty="0" sz="3000" spc="114"/>
              <a:t> </a:t>
            </a:r>
            <a:r>
              <a:rPr dirty="0" sz="3000"/>
              <a:t>1)</a:t>
            </a:r>
            <a:endParaRPr sz="3000">
              <a:latin typeface="Cambria Math"/>
              <a:cs typeface="Cambria Math"/>
            </a:endParaRPr>
          </a:p>
          <a:p>
            <a:pPr marL="332740" marR="44577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5"/>
              <a:t>Iterative </a:t>
            </a:r>
            <a:r>
              <a:rPr dirty="0" sz="3000" spc="-15"/>
              <a:t>process </a:t>
            </a:r>
            <a:r>
              <a:rPr dirty="0" sz="3000" spc="-5"/>
              <a:t>in which neighbor nodes </a:t>
            </a:r>
            <a:r>
              <a:rPr dirty="0" sz="3000" spc="-15"/>
              <a:t>“talk” </a:t>
            </a:r>
            <a:r>
              <a:rPr dirty="0" sz="3000" spc="-20"/>
              <a:t>to  </a:t>
            </a:r>
            <a:r>
              <a:rPr dirty="0" sz="3000" spc="-5"/>
              <a:t>each </a:t>
            </a:r>
            <a:r>
              <a:rPr dirty="0" sz="3000" spc="-50"/>
              <a:t>other,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passing</a:t>
            </a:r>
            <a:r>
              <a:rPr dirty="0" sz="3000" spc="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messages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649" y="5863844"/>
            <a:ext cx="80378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When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consensus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reached</a:t>
            </a:r>
            <a:r>
              <a:rPr dirty="0" sz="3000" spc="-10" b="1">
                <a:latin typeface="Calibri"/>
                <a:cs typeface="Calibri"/>
              </a:rPr>
              <a:t>, </a:t>
            </a:r>
            <a:r>
              <a:rPr dirty="0" sz="3000" spc="-15" b="1">
                <a:latin typeface="Calibri"/>
                <a:cs typeface="Calibri"/>
              </a:rPr>
              <a:t>calculate </a:t>
            </a:r>
            <a:r>
              <a:rPr dirty="0" sz="3000" spc="-5" b="1">
                <a:latin typeface="Calibri"/>
                <a:cs typeface="Calibri"/>
              </a:rPr>
              <a:t>final</a:t>
            </a:r>
            <a:r>
              <a:rPr dirty="0" sz="300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belief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334" y="3657600"/>
            <a:ext cx="8402133" cy="22628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7200" y="3690256"/>
            <a:ext cx="8360409" cy="2202180"/>
          </a:xfrm>
          <a:prstGeom prst="rect">
            <a:avLst/>
          </a:prstGeom>
          <a:ln w="57150">
            <a:solidFill>
              <a:srgbClr val="CF5B1B"/>
            </a:solidFill>
          </a:ln>
        </p:spPr>
        <p:txBody>
          <a:bodyPr wrap="square" lIns="0" tIns="264160" rIns="0" bIns="0" rtlCol="0" vert="horz">
            <a:spAutoFit/>
          </a:bodyPr>
          <a:lstStyle/>
          <a:p>
            <a:pPr marL="128905" marR="4070350">
              <a:lnSpc>
                <a:spcPct val="99600"/>
              </a:lnSpc>
              <a:spcBef>
                <a:spcPts val="2080"/>
              </a:spcBef>
            </a:pP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“I (node v)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believe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you  (node u)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belong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to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class 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1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with likelihood</a:t>
            </a:r>
            <a:r>
              <a:rPr dirty="0" sz="2800" spc="-5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…”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283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73034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5" b="1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dirty="0" spc="-55"/>
              <a:t>: </a:t>
            </a:r>
            <a:r>
              <a:rPr dirty="0" spc="-5"/>
              <a:t>Count </a:t>
            </a:r>
            <a:r>
              <a:rPr dirty="0"/>
              <a:t>the </a:t>
            </a:r>
            <a:r>
              <a:rPr dirty="0" spc="-5"/>
              <a:t>number </a:t>
            </a:r>
            <a:r>
              <a:rPr dirty="0"/>
              <a:t>of </a:t>
            </a:r>
            <a:r>
              <a:rPr dirty="0" spc="-5"/>
              <a:t>nodes </a:t>
            </a:r>
            <a:r>
              <a:rPr dirty="0"/>
              <a:t>in a</a:t>
            </a:r>
            <a:r>
              <a:rPr dirty="0" spc="100"/>
              <a:t> </a:t>
            </a:r>
            <a:r>
              <a:rPr dirty="0" spc="-15"/>
              <a:t>graph</a:t>
            </a:r>
            <a:r>
              <a:rPr dirty="0" spc="-15">
                <a:solidFill>
                  <a:srgbClr val="FF0000"/>
                </a:solidFill>
              </a:rPr>
              <a:t>*</a:t>
            </a:r>
          </a:p>
          <a:p>
            <a:pPr marL="332740" marR="9144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1">
                <a:solidFill>
                  <a:srgbClr val="FF0000"/>
                </a:solidFill>
                <a:latin typeface="Calibri"/>
                <a:cs typeface="Calibri"/>
              </a:rPr>
              <a:t>Condition: </a:t>
            </a:r>
            <a:r>
              <a:rPr dirty="0" spc="-15"/>
              <a:t>Each </a:t>
            </a:r>
            <a:r>
              <a:rPr dirty="0"/>
              <a:t>node </a:t>
            </a:r>
            <a:r>
              <a:rPr dirty="0" spc="-10"/>
              <a:t>can </a:t>
            </a:r>
            <a:r>
              <a:rPr dirty="0"/>
              <a:t>only </a:t>
            </a:r>
            <a:r>
              <a:rPr dirty="0" spc="-20"/>
              <a:t>interact </a:t>
            </a:r>
            <a:r>
              <a:rPr dirty="0" spc="-5"/>
              <a:t>(pass  </a:t>
            </a:r>
            <a:r>
              <a:rPr dirty="0" spc="-10"/>
              <a:t>message) </a:t>
            </a:r>
            <a:r>
              <a:rPr dirty="0" spc="-5"/>
              <a:t>with </a:t>
            </a:r>
            <a:r>
              <a:rPr dirty="0"/>
              <a:t>its</a:t>
            </a:r>
            <a:r>
              <a:rPr dirty="0" spc="-5"/>
              <a:t> </a:t>
            </a:r>
            <a:r>
              <a:rPr dirty="0" spc="-10"/>
              <a:t>neighbors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37763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</a:t>
            </a:r>
            <a:r>
              <a:rPr dirty="0" sz="3200" spc="-10">
                <a:latin typeface="Calibri"/>
                <a:cs typeface="Calibri"/>
              </a:rPr>
              <a:t>: path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2725" y="5558028"/>
            <a:ext cx="379285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*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Potential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issues when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0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graph  contains</a:t>
            </a:r>
            <a:r>
              <a:rPr dirty="0" sz="2000" spc="-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cycles.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008000"/>
                </a:solidFill>
                <a:latin typeface="Arial"/>
                <a:cs typeface="Arial"/>
              </a:rPr>
              <a:t>We’ll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get back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it</a:t>
            </a:r>
            <a:r>
              <a:rPr dirty="0" sz="20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later!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73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773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22072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632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632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07972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348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348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79572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064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064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051172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914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4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1407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36172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36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3608" y="45306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88373" y="46050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94458" y="4754521"/>
            <a:ext cx="996950" cy="0"/>
          </a:xfrm>
          <a:custGeom>
            <a:avLst/>
            <a:gdLst/>
            <a:ahLst/>
            <a:cxnLst/>
            <a:rect l="l" t="t" r="r" b="b"/>
            <a:pathLst>
              <a:path w="996950" h="0">
                <a:moveTo>
                  <a:pt x="0" y="0"/>
                </a:moveTo>
                <a:lnTo>
                  <a:pt x="99695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42257" y="4754521"/>
            <a:ext cx="1035050" cy="0"/>
          </a:xfrm>
          <a:custGeom>
            <a:avLst/>
            <a:gdLst/>
            <a:ahLst/>
            <a:cxnLst/>
            <a:rect l="l" t="t" r="r" b="b"/>
            <a:pathLst>
              <a:path w="1035050" h="0">
                <a:moveTo>
                  <a:pt x="0" y="0"/>
                </a:moveTo>
                <a:lnTo>
                  <a:pt x="103505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28157" y="4754521"/>
            <a:ext cx="1035050" cy="0"/>
          </a:xfrm>
          <a:custGeom>
            <a:avLst/>
            <a:gdLst/>
            <a:ahLst/>
            <a:cxnLst/>
            <a:rect l="l" t="t" r="r" b="b"/>
            <a:pathLst>
              <a:path w="1035050" h="0">
                <a:moveTo>
                  <a:pt x="0" y="0"/>
                </a:moveTo>
                <a:lnTo>
                  <a:pt x="103505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614057" y="4754521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 h="0">
                <a:moveTo>
                  <a:pt x="0" y="0"/>
                </a:moveTo>
                <a:lnTo>
                  <a:pt x="92075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85658" y="4754521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 h="0">
                <a:moveTo>
                  <a:pt x="0" y="0"/>
                </a:moveTo>
                <a:lnTo>
                  <a:pt x="92075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43554" y="6077904"/>
            <a:ext cx="935355" cy="85725"/>
          </a:xfrm>
          <a:custGeom>
            <a:avLst/>
            <a:gdLst/>
            <a:ahLst/>
            <a:cxnLst/>
            <a:rect l="l" t="t" r="r" b="b"/>
            <a:pathLst>
              <a:path w="9353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935354" h="85725">
                <a:moveTo>
                  <a:pt x="85725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9353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935354" h="85725">
                <a:moveTo>
                  <a:pt x="928640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928640" y="57149"/>
                </a:lnTo>
                <a:lnTo>
                  <a:pt x="935036" y="50753"/>
                </a:lnTo>
                <a:lnTo>
                  <a:pt x="935037" y="34970"/>
                </a:lnTo>
                <a:lnTo>
                  <a:pt x="92864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57654" y="6077904"/>
            <a:ext cx="1049655" cy="85725"/>
          </a:xfrm>
          <a:custGeom>
            <a:avLst/>
            <a:gdLst/>
            <a:ahLst/>
            <a:cxnLst/>
            <a:rect l="l" t="t" r="r" b="b"/>
            <a:pathLst>
              <a:path w="10496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1049654" h="85725">
                <a:moveTo>
                  <a:pt x="85725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10496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1049654" h="85725">
                <a:moveTo>
                  <a:pt x="1042940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1042940" y="57149"/>
                </a:lnTo>
                <a:lnTo>
                  <a:pt x="1049336" y="50753"/>
                </a:lnTo>
                <a:lnTo>
                  <a:pt x="1049337" y="34970"/>
                </a:lnTo>
                <a:lnTo>
                  <a:pt x="104294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71754" y="6077904"/>
            <a:ext cx="1049655" cy="85725"/>
          </a:xfrm>
          <a:custGeom>
            <a:avLst/>
            <a:gdLst/>
            <a:ahLst/>
            <a:cxnLst/>
            <a:rect l="l" t="t" r="r" b="b"/>
            <a:pathLst>
              <a:path w="10496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4"/>
                </a:lnTo>
                <a:lnTo>
                  <a:pt x="85724" y="28574"/>
                </a:lnTo>
                <a:lnTo>
                  <a:pt x="85725" y="0"/>
                </a:lnTo>
                <a:close/>
              </a:path>
              <a:path w="1049654" h="85725">
                <a:moveTo>
                  <a:pt x="85725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10496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1049654" h="85725">
                <a:moveTo>
                  <a:pt x="1042940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1042940" y="57149"/>
                </a:lnTo>
                <a:lnTo>
                  <a:pt x="1049336" y="50753"/>
                </a:lnTo>
                <a:lnTo>
                  <a:pt x="1049337" y="34970"/>
                </a:lnTo>
                <a:lnTo>
                  <a:pt x="104294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23955" y="6077904"/>
            <a:ext cx="1011555" cy="85725"/>
          </a:xfrm>
          <a:custGeom>
            <a:avLst/>
            <a:gdLst/>
            <a:ahLst/>
            <a:cxnLst/>
            <a:rect l="l" t="t" r="r" b="b"/>
            <a:pathLst>
              <a:path w="1011555" h="85725">
                <a:moveTo>
                  <a:pt x="85724" y="0"/>
                </a:moveTo>
                <a:lnTo>
                  <a:pt x="0" y="42862"/>
                </a:lnTo>
                <a:lnTo>
                  <a:pt x="85724" y="85724"/>
                </a:lnTo>
                <a:lnTo>
                  <a:pt x="85724" y="57149"/>
                </a:lnTo>
                <a:lnTo>
                  <a:pt x="63545" y="57149"/>
                </a:lnTo>
                <a:lnTo>
                  <a:pt x="57149" y="50753"/>
                </a:lnTo>
                <a:lnTo>
                  <a:pt x="57150" y="34970"/>
                </a:lnTo>
                <a:lnTo>
                  <a:pt x="63546" y="28574"/>
                </a:lnTo>
                <a:lnTo>
                  <a:pt x="85724" y="28574"/>
                </a:lnTo>
                <a:lnTo>
                  <a:pt x="85724" y="0"/>
                </a:lnTo>
                <a:close/>
              </a:path>
              <a:path w="1011555" h="85725">
                <a:moveTo>
                  <a:pt x="85724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0" y="34970"/>
                </a:lnTo>
                <a:lnTo>
                  <a:pt x="57149" y="50753"/>
                </a:lnTo>
                <a:lnTo>
                  <a:pt x="63546" y="57149"/>
                </a:lnTo>
                <a:lnTo>
                  <a:pt x="85724" y="57149"/>
                </a:lnTo>
                <a:lnTo>
                  <a:pt x="85724" y="28574"/>
                </a:lnTo>
                <a:close/>
              </a:path>
              <a:path w="1011555" h="85725">
                <a:moveTo>
                  <a:pt x="85724" y="57149"/>
                </a:moveTo>
                <a:lnTo>
                  <a:pt x="63546" y="57149"/>
                </a:lnTo>
                <a:lnTo>
                  <a:pt x="85724" y="57149"/>
                </a:lnTo>
                <a:close/>
              </a:path>
              <a:path w="1011555" h="85725">
                <a:moveTo>
                  <a:pt x="1004840" y="28574"/>
                </a:moveTo>
                <a:lnTo>
                  <a:pt x="85724" y="28574"/>
                </a:lnTo>
                <a:lnTo>
                  <a:pt x="85724" y="57149"/>
                </a:lnTo>
                <a:lnTo>
                  <a:pt x="1004840" y="57149"/>
                </a:lnTo>
                <a:lnTo>
                  <a:pt x="1011236" y="50753"/>
                </a:lnTo>
                <a:lnTo>
                  <a:pt x="1011237" y="34970"/>
                </a:lnTo>
                <a:lnTo>
                  <a:pt x="100484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15154" y="6077904"/>
            <a:ext cx="935355" cy="85725"/>
          </a:xfrm>
          <a:custGeom>
            <a:avLst/>
            <a:gdLst/>
            <a:ahLst/>
            <a:cxnLst/>
            <a:rect l="l" t="t" r="r" b="b"/>
            <a:pathLst>
              <a:path w="9353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5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935354" h="85725">
                <a:moveTo>
                  <a:pt x="85725" y="28574"/>
                </a:moveTo>
                <a:lnTo>
                  <a:pt x="71437" y="28574"/>
                </a:lnTo>
                <a:lnTo>
                  <a:pt x="63545" y="28574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9353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935354" h="85725">
                <a:moveTo>
                  <a:pt x="928640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928640" y="57149"/>
                </a:lnTo>
                <a:lnTo>
                  <a:pt x="935036" y="50753"/>
                </a:lnTo>
                <a:lnTo>
                  <a:pt x="935037" y="34970"/>
                </a:lnTo>
                <a:lnTo>
                  <a:pt x="92864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5216" y="347472"/>
            <a:ext cx="68762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711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5" b="1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dirty="0" spc="-55"/>
              <a:t>: </a:t>
            </a:r>
            <a:r>
              <a:rPr dirty="0" spc="-5"/>
              <a:t>Count </a:t>
            </a:r>
            <a:r>
              <a:rPr dirty="0"/>
              <a:t>the </a:t>
            </a:r>
            <a:r>
              <a:rPr dirty="0" spc="-5"/>
              <a:t>number </a:t>
            </a:r>
            <a:r>
              <a:rPr dirty="0"/>
              <a:t>of </a:t>
            </a:r>
            <a:r>
              <a:rPr dirty="0" spc="-5"/>
              <a:t>nodes </a:t>
            </a:r>
            <a:r>
              <a:rPr dirty="0"/>
              <a:t>in a</a:t>
            </a:r>
            <a:r>
              <a:rPr dirty="0" spc="85"/>
              <a:t> </a:t>
            </a:r>
            <a:r>
              <a:rPr dirty="0" spc="-15"/>
              <a:t>graph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1">
                <a:solidFill>
                  <a:srgbClr val="008000"/>
                </a:solidFill>
                <a:latin typeface="Calibri"/>
                <a:cs typeface="Calibri"/>
              </a:rPr>
              <a:t>Algorithm</a:t>
            </a:r>
            <a:r>
              <a:rPr dirty="0" spc="-10"/>
              <a:t>:</a:t>
            </a:r>
          </a:p>
        </p:txBody>
      </p:sp>
      <p:sp>
        <p:nvSpPr>
          <p:cNvPr id="9" name="object 9"/>
          <p:cNvSpPr/>
          <p:nvPr/>
        </p:nvSpPr>
        <p:spPr>
          <a:xfrm>
            <a:off x="37068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068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927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927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643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643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359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359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209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209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31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73104" y="58969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17870" y="2332227"/>
            <a:ext cx="7642225" cy="393827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3251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325755" algn="l"/>
              </a:tabLst>
            </a:pPr>
            <a:r>
              <a:rPr dirty="0" sz="2800" spc="-10">
                <a:latin typeface="Calibri"/>
                <a:cs typeface="Calibri"/>
              </a:rPr>
              <a:t>Define </a:t>
            </a:r>
            <a:r>
              <a:rPr dirty="0" sz="2800" spc="-5">
                <a:latin typeface="Calibri"/>
                <a:cs typeface="Calibri"/>
              </a:rPr>
              <a:t>an </a:t>
            </a:r>
            <a:r>
              <a:rPr dirty="0" sz="2800" spc="-10">
                <a:latin typeface="Calibri"/>
                <a:cs typeface="Calibri"/>
              </a:rPr>
              <a:t>ordering </a:t>
            </a:r>
            <a:r>
              <a:rPr dirty="0" sz="2800" spc="-5">
                <a:latin typeface="Calibri"/>
                <a:cs typeface="Calibri"/>
              </a:rPr>
              <a:t>of nodes </a:t>
            </a:r>
            <a:r>
              <a:rPr dirty="0" sz="2800" spc="-10">
                <a:latin typeface="Calibri"/>
                <a:cs typeface="Calibri"/>
              </a:rPr>
              <a:t>(that results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 </a:t>
            </a:r>
            <a:r>
              <a:rPr dirty="0" sz="2800" spc="-65">
                <a:latin typeface="Calibri"/>
                <a:cs typeface="Calibri"/>
              </a:rPr>
              <a:t>path)</a:t>
            </a:r>
            <a:endParaRPr sz="2800">
              <a:latin typeface="Calibri"/>
              <a:cs typeface="Calibri"/>
            </a:endParaRPr>
          </a:p>
          <a:p>
            <a:pPr marL="3251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325755" algn="l"/>
              </a:tabLst>
            </a:pPr>
            <a:r>
              <a:rPr dirty="0" sz="2800" spc="-20">
                <a:latin typeface="Calibri"/>
                <a:cs typeface="Calibri"/>
              </a:rPr>
              <a:t>Edge </a:t>
            </a:r>
            <a:r>
              <a:rPr dirty="0" sz="2800" spc="-10">
                <a:latin typeface="Calibri"/>
                <a:cs typeface="Calibri"/>
              </a:rPr>
              <a:t>directions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according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order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lvl="1" marL="590550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91185" algn="l"/>
              </a:tabLst>
            </a:pPr>
            <a:r>
              <a:rPr dirty="0" sz="2400" spc="-15">
                <a:latin typeface="Calibri"/>
                <a:cs typeface="Calibri"/>
              </a:rPr>
              <a:t>Edge </a:t>
            </a:r>
            <a:r>
              <a:rPr dirty="0" sz="2400" spc="-10">
                <a:latin typeface="Calibri"/>
                <a:cs typeface="Calibri"/>
              </a:rPr>
              <a:t>direction </a:t>
            </a:r>
            <a:r>
              <a:rPr dirty="0" sz="2400" spc="-5">
                <a:latin typeface="Calibri"/>
                <a:cs typeface="Calibri"/>
              </a:rPr>
              <a:t>defines the </a:t>
            </a:r>
            <a:r>
              <a:rPr dirty="0" sz="2400" spc="-10">
                <a:latin typeface="Calibri"/>
                <a:cs typeface="Calibri"/>
              </a:rPr>
              <a:t>order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message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passing</a:t>
            </a:r>
            <a:endParaRPr sz="2400">
              <a:latin typeface="Calibri"/>
              <a:cs typeface="Calibri"/>
            </a:endParaRPr>
          </a:p>
          <a:p>
            <a:pPr marL="3251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325755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mbria Math"/>
                <a:cs typeface="Cambria Math"/>
              </a:rPr>
              <a:t>𝑖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>
                <a:latin typeface="Cambria Math"/>
                <a:cs typeface="Cambria Math"/>
              </a:rPr>
              <a:t>1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6</a:t>
            </a:r>
            <a:endParaRPr sz="2800">
              <a:latin typeface="Cambria Math"/>
              <a:cs typeface="Cambria Math"/>
            </a:endParaRPr>
          </a:p>
          <a:p>
            <a:pPr lvl="1" marL="590550" marR="242570" indent="-228600">
              <a:lnSpc>
                <a:spcPts val="2780"/>
              </a:lnSpc>
              <a:spcBef>
                <a:spcPts val="810"/>
              </a:spcBef>
              <a:buClr>
                <a:srgbClr val="E66C7D"/>
              </a:buClr>
              <a:buFont typeface="Malgun Gothic"/>
              <a:buChar char="▪"/>
              <a:tabLst>
                <a:tab pos="591185" algn="l"/>
              </a:tabLst>
            </a:pPr>
            <a:r>
              <a:rPr dirty="0" sz="2400" spc="-10">
                <a:latin typeface="Calibri"/>
                <a:cs typeface="Calibri"/>
              </a:rPr>
              <a:t>Compute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𝑖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mbria Math"/>
                <a:cs typeface="Cambria Math"/>
              </a:rPr>
              <a:t>𝑖 + 1 </a:t>
            </a:r>
            <a:r>
              <a:rPr dirty="0" sz="2400" spc="-5">
                <a:latin typeface="Calibri"/>
                <a:cs typeface="Calibri"/>
              </a:rPr>
              <a:t>(number </a:t>
            </a:r>
            <a:r>
              <a:rPr dirty="0" sz="2400" spc="-260">
                <a:latin typeface="Calibri"/>
                <a:cs typeface="Calibri"/>
              </a:rPr>
              <a:t>of 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5">
                <a:latin typeface="Calibri"/>
                <a:cs typeface="Calibri"/>
              </a:rPr>
              <a:t>counted </a:t>
            </a:r>
            <a:r>
              <a:rPr dirty="0" sz="2400" spc="-5">
                <a:latin typeface="Calibri"/>
                <a:cs typeface="Calibri"/>
              </a:rPr>
              <a:t>so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far)</a:t>
            </a:r>
            <a:endParaRPr sz="2400">
              <a:latin typeface="Calibri"/>
              <a:cs typeface="Calibri"/>
            </a:endParaRPr>
          </a:p>
          <a:p>
            <a:pPr lvl="1" marL="5905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Malgun Gothic"/>
              <a:buChar char="▪"/>
              <a:tabLst>
                <a:tab pos="591185" algn="l"/>
              </a:tabLst>
            </a:pPr>
            <a:r>
              <a:rPr dirty="0" sz="2400" spc="-15">
                <a:latin typeface="Calibri"/>
                <a:cs typeface="Calibri"/>
              </a:rPr>
              <a:t>Pass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mbria Math"/>
                <a:cs typeface="Cambria Math"/>
              </a:rPr>
              <a:t>𝑖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mbria Math"/>
                <a:cs typeface="Cambria Math"/>
              </a:rPr>
              <a:t>𝑖 +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459865" algn="l"/>
                <a:tab pos="2945765" algn="l"/>
                <a:tab pos="4431665" algn="l"/>
                <a:tab pos="5803265" algn="l"/>
                <a:tab pos="7174865" algn="l"/>
              </a:tabLst>
            </a:pPr>
            <a:r>
              <a:rPr dirty="0" sz="1800">
                <a:latin typeface="Arial"/>
                <a:cs typeface="Arial"/>
              </a:rPr>
              <a:t>6	5	4	3	2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04393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50520"/>
            <a:ext cx="5928360" cy="554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9865" y="1166875"/>
            <a:ext cx="7368540" cy="1125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0" b="1">
                <a:solidFill>
                  <a:srgbClr val="0000FF"/>
                </a:solidFill>
                <a:latin typeface="Calibri"/>
                <a:cs typeface="Calibri"/>
              </a:rPr>
              <a:t>Task</a:t>
            </a:r>
            <a:r>
              <a:rPr dirty="0" sz="2400" spc="-40"/>
              <a:t>: </a:t>
            </a:r>
            <a:r>
              <a:rPr dirty="0" sz="2400" spc="-10"/>
              <a:t>Count </a:t>
            </a:r>
            <a:r>
              <a:rPr dirty="0" sz="2400" spc="-5"/>
              <a:t>the number of nodes in </a:t>
            </a:r>
            <a:r>
              <a:rPr dirty="0" sz="2400"/>
              <a:t>a</a:t>
            </a:r>
            <a:r>
              <a:rPr dirty="0" sz="2400" spc="50"/>
              <a:t> </a:t>
            </a:r>
            <a:r>
              <a:rPr dirty="0" sz="2400" spc="-15"/>
              <a:t>graph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dirty="0" sz="2400" spc="-5" b="1">
                <a:solidFill>
                  <a:srgbClr val="FF0000"/>
                </a:solidFill>
                <a:latin typeface="Calibri"/>
                <a:cs typeface="Calibri"/>
              </a:rPr>
              <a:t>Condition: </a:t>
            </a:r>
            <a:r>
              <a:rPr dirty="0" sz="2400" spc="-15"/>
              <a:t>Each </a:t>
            </a:r>
            <a:r>
              <a:rPr dirty="0" sz="2400" spc="-5"/>
              <a:t>node </a:t>
            </a:r>
            <a:r>
              <a:rPr dirty="0" sz="2400" spc="-10"/>
              <a:t>can </a:t>
            </a:r>
            <a:r>
              <a:rPr dirty="0" sz="2400" spc="-5"/>
              <a:t>only </a:t>
            </a:r>
            <a:r>
              <a:rPr dirty="0" sz="2400" spc="-15"/>
              <a:t>interact </a:t>
            </a:r>
            <a:r>
              <a:rPr dirty="0" sz="2400" spc="-5"/>
              <a:t>(pass </a:t>
            </a:r>
            <a:r>
              <a:rPr dirty="0" sz="2400" spc="-10"/>
              <a:t>message) </a:t>
            </a:r>
            <a:r>
              <a:rPr dirty="0" sz="2400" spc="-5"/>
              <a:t>with  its</a:t>
            </a:r>
            <a:r>
              <a:rPr dirty="0" sz="2400" spc="-75"/>
              <a:t> </a:t>
            </a:r>
            <a:r>
              <a:rPr dirty="0" sz="2400" spc="-10"/>
              <a:t>neighbors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865" y="2270251"/>
            <a:ext cx="6341745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008000"/>
                </a:solidFill>
                <a:latin typeface="Calibri"/>
                <a:cs typeface="Calibri"/>
              </a:rPr>
              <a:t>Solution: </a:t>
            </a: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listens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its  </a:t>
            </a:r>
            <a:r>
              <a:rPr dirty="0" sz="2400" spc="-25">
                <a:latin typeface="Calibri"/>
                <a:cs typeface="Calibri"/>
              </a:rPr>
              <a:t>neighbor, </a:t>
            </a:r>
            <a:r>
              <a:rPr dirty="0" sz="2400" spc="-10">
                <a:latin typeface="Calibri"/>
                <a:cs typeface="Calibri"/>
              </a:rPr>
              <a:t>updates </a:t>
            </a:r>
            <a:r>
              <a:rPr dirty="0" sz="2400" spc="-5">
                <a:latin typeface="Calibri"/>
                <a:cs typeface="Calibri"/>
              </a:rPr>
              <a:t>it,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5">
                <a:latin typeface="Calibri"/>
                <a:cs typeface="Calibri"/>
              </a:rPr>
              <a:t>passes it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forward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10">
                <a:solidFill>
                  <a:srgbClr val="D60093"/>
                </a:solidFill>
                <a:latin typeface="Cambria Math"/>
                <a:cs typeface="Cambria Math"/>
              </a:rPr>
              <a:t>𝑚</a:t>
            </a:r>
            <a:r>
              <a:rPr dirty="0" sz="2400" spc="1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06068" y="4525690"/>
            <a:ext cx="935355" cy="85725"/>
          </a:xfrm>
          <a:custGeom>
            <a:avLst/>
            <a:gdLst/>
            <a:ahLst/>
            <a:cxnLst/>
            <a:rect l="l" t="t" r="r" b="b"/>
            <a:pathLst>
              <a:path w="9353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5" y="57148"/>
                </a:lnTo>
                <a:lnTo>
                  <a:pt x="57150" y="50753"/>
                </a:lnTo>
                <a:lnTo>
                  <a:pt x="57151" y="34970"/>
                </a:lnTo>
                <a:lnTo>
                  <a:pt x="63546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935354" h="85725">
                <a:moveTo>
                  <a:pt x="85725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1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9353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935354" h="85725">
                <a:moveTo>
                  <a:pt x="928640" y="28573"/>
                </a:moveTo>
                <a:lnTo>
                  <a:pt x="85725" y="28574"/>
                </a:lnTo>
                <a:lnTo>
                  <a:pt x="85725" y="57149"/>
                </a:lnTo>
                <a:lnTo>
                  <a:pt x="928640" y="57148"/>
                </a:lnTo>
                <a:lnTo>
                  <a:pt x="935036" y="50753"/>
                </a:lnTo>
                <a:lnTo>
                  <a:pt x="935037" y="34970"/>
                </a:lnTo>
                <a:lnTo>
                  <a:pt x="928640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0169" y="4525690"/>
            <a:ext cx="1049655" cy="85725"/>
          </a:xfrm>
          <a:custGeom>
            <a:avLst/>
            <a:gdLst/>
            <a:ahLst/>
            <a:cxnLst/>
            <a:rect l="l" t="t" r="r" b="b"/>
            <a:pathLst>
              <a:path w="10496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4" y="57148"/>
                </a:lnTo>
                <a:lnTo>
                  <a:pt x="57148" y="50753"/>
                </a:lnTo>
                <a:lnTo>
                  <a:pt x="57150" y="34970"/>
                </a:lnTo>
                <a:lnTo>
                  <a:pt x="63545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1049654" h="85725">
                <a:moveTo>
                  <a:pt x="85725" y="28574"/>
                </a:moveTo>
                <a:lnTo>
                  <a:pt x="71436" y="28574"/>
                </a:lnTo>
                <a:lnTo>
                  <a:pt x="63545" y="28574"/>
                </a:lnTo>
                <a:lnTo>
                  <a:pt x="57150" y="34970"/>
                </a:lnTo>
                <a:lnTo>
                  <a:pt x="57148" y="50753"/>
                </a:lnTo>
                <a:lnTo>
                  <a:pt x="63545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1049654" h="85725">
                <a:moveTo>
                  <a:pt x="85725" y="57149"/>
                </a:moveTo>
                <a:lnTo>
                  <a:pt x="63545" y="57149"/>
                </a:lnTo>
                <a:lnTo>
                  <a:pt x="85725" y="57149"/>
                </a:lnTo>
                <a:close/>
              </a:path>
              <a:path w="1049654" h="85725">
                <a:moveTo>
                  <a:pt x="1042940" y="28573"/>
                </a:moveTo>
                <a:lnTo>
                  <a:pt x="85725" y="28574"/>
                </a:lnTo>
                <a:lnTo>
                  <a:pt x="85725" y="57149"/>
                </a:lnTo>
                <a:lnTo>
                  <a:pt x="1042940" y="57148"/>
                </a:lnTo>
                <a:lnTo>
                  <a:pt x="1049336" y="50753"/>
                </a:lnTo>
                <a:lnTo>
                  <a:pt x="1049337" y="34970"/>
                </a:lnTo>
                <a:lnTo>
                  <a:pt x="1042940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4269" y="4525690"/>
            <a:ext cx="1049655" cy="85725"/>
          </a:xfrm>
          <a:custGeom>
            <a:avLst/>
            <a:gdLst/>
            <a:ahLst/>
            <a:cxnLst/>
            <a:rect l="l" t="t" r="r" b="b"/>
            <a:pathLst>
              <a:path w="10496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4" y="57148"/>
                </a:lnTo>
                <a:lnTo>
                  <a:pt x="57148" y="50753"/>
                </a:lnTo>
                <a:lnTo>
                  <a:pt x="57150" y="34970"/>
                </a:lnTo>
                <a:lnTo>
                  <a:pt x="63545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1049654" h="85725">
                <a:moveTo>
                  <a:pt x="85725" y="28574"/>
                </a:moveTo>
                <a:lnTo>
                  <a:pt x="71436" y="28574"/>
                </a:lnTo>
                <a:lnTo>
                  <a:pt x="63545" y="28574"/>
                </a:lnTo>
                <a:lnTo>
                  <a:pt x="57150" y="34970"/>
                </a:lnTo>
                <a:lnTo>
                  <a:pt x="57148" y="50753"/>
                </a:lnTo>
                <a:lnTo>
                  <a:pt x="63545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1049654" h="85725">
                <a:moveTo>
                  <a:pt x="85725" y="57149"/>
                </a:moveTo>
                <a:lnTo>
                  <a:pt x="63545" y="57149"/>
                </a:lnTo>
                <a:lnTo>
                  <a:pt x="85725" y="57149"/>
                </a:lnTo>
                <a:close/>
              </a:path>
              <a:path w="1049654" h="85725">
                <a:moveTo>
                  <a:pt x="1042940" y="28573"/>
                </a:moveTo>
                <a:lnTo>
                  <a:pt x="85725" y="28574"/>
                </a:lnTo>
                <a:lnTo>
                  <a:pt x="85725" y="57149"/>
                </a:lnTo>
                <a:lnTo>
                  <a:pt x="1042940" y="57148"/>
                </a:lnTo>
                <a:lnTo>
                  <a:pt x="1049336" y="50753"/>
                </a:lnTo>
                <a:lnTo>
                  <a:pt x="1049337" y="34970"/>
                </a:lnTo>
                <a:lnTo>
                  <a:pt x="1042940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86468" y="4525690"/>
            <a:ext cx="1011555" cy="85725"/>
          </a:xfrm>
          <a:custGeom>
            <a:avLst/>
            <a:gdLst/>
            <a:ahLst/>
            <a:cxnLst/>
            <a:rect l="l" t="t" r="r" b="b"/>
            <a:pathLst>
              <a:path w="1011555" h="85725">
                <a:moveTo>
                  <a:pt x="85724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5" y="57148"/>
                </a:lnTo>
                <a:lnTo>
                  <a:pt x="57149" y="50753"/>
                </a:lnTo>
                <a:lnTo>
                  <a:pt x="57151" y="34970"/>
                </a:lnTo>
                <a:lnTo>
                  <a:pt x="63546" y="28574"/>
                </a:lnTo>
                <a:lnTo>
                  <a:pt x="85724" y="28574"/>
                </a:lnTo>
                <a:lnTo>
                  <a:pt x="85724" y="0"/>
                </a:lnTo>
                <a:close/>
              </a:path>
              <a:path w="1011555" h="85725">
                <a:moveTo>
                  <a:pt x="85724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1" y="34970"/>
                </a:lnTo>
                <a:lnTo>
                  <a:pt x="57149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4" y="28574"/>
                </a:lnTo>
                <a:close/>
              </a:path>
              <a:path w="1011555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1011555" h="85725">
                <a:moveTo>
                  <a:pt x="1004841" y="28573"/>
                </a:moveTo>
                <a:lnTo>
                  <a:pt x="85724" y="28574"/>
                </a:lnTo>
                <a:lnTo>
                  <a:pt x="85725" y="57149"/>
                </a:lnTo>
                <a:lnTo>
                  <a:pt x="1004841" y="57148"/>
                </a:lnTo>
                <a:lnTo>
                  <a:pt x="1011235" y="50753"/>
                </a:lnTo>
                <a:lnTo>
                  <a:pt x="1011236" y="34970"/>
                </a:lnTo>
                <a:lnTo>
                  <a:pt x="1004841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77668" y="4525690"/>
            <a:ext cx="935355" cy="85725"/>
          </a:xfrm>
          <a:custGeom>
            <a:avLst/>
            <a:gdLst/>
            <a:ahLst/>
            <a:cxnLst/>
            <a:rect l="l" t="t" r="r" b="b"/>
            <a:pathLst>
              <a:path w="935354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5" y="57148"/>
                </a:lnTo>
                <a:lnTo>
                  <a:pt x="57150" y="50753"/>
                </a:lnTo>
                <a:lnTo>
                  <a:pt x="57151" y="34970"/>
                </a:lnTo>
                <a:lnTo>
                  <a:pt x="63546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935354" h="85725">
                <a:moveTo>
                  <a:pt x="85725" y="28574"/>
                </a:moveTo>
                <a:lnTo>
                  <a:pt x="71437" y="28574"/>
                </a:lnTo>
                <a:lnTo>
                  <a:pt x="63546" y="28574"/>
                </a:lnTo>
                <a:lnTo>
                  <a:pt x="57151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935354" h="85725">
                <a:moveTo>
                  <a:pt x="85725" y="57149"/>
                </a:moveTo>
                <a:lnTo>
                  <a:pt x="63546" y="57149"/>
                </a:lnTo>
                <a:lnTo>
                  <a:pt x="85725" y="57149"/>
                </a:lnTo>
                <a:close/>
              </a:path>
              <a:path w="935354" h="85725">
                <a:moveTo>
                  <a:pt x="928640" y="28573"/>
                </a:moveTo>
                <a:lnTo>
                  <a:pt x="85725" y="28574"/>
                </a:lnTo>
                <a:lnTo>
                  <a:pt x="85725" y="57149"/>
                </a:lnTo>
                <a:lnTo>
                  <a:pt x="928640" y="57148"/>
                </a:lnTo>
                <a:lnTo>
                  <a:pt x="935036" y="50753"/>
                </a:lnTo>
                <a:lnTo>
                  <a:pt x="935037" y="34970"/>
                </a:lnTo>
                <a:lnTo>
                  <a:pt x="928640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693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693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14084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552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552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99984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268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268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71584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984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984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043184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834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83418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328184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56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4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4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49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4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5619" y="43447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80383" y="44190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14802" y="4803812"/>
            <a:ext cx="2163445" cy="875030"/>
          </a:xfrm>
          <a:custGeom>
            <a:avLst/>
            <a:gdLst/>
            <a:ahLst/>
            <a:cxnLst/>
            <a:rect l="l" t="t" r="r" b="b"/>
            <a:pathLst>
              <a:path w="2163445" h="875029">
                <a:moveTo>
                  <a:pt x="2052929" y="214603"/>
                </a:moveTo>
                <a:lnTo>
                  <a:pt x="110053" y="214603"/>
                </a:lnTo>
                <a:lnTo>
                  <a:pt x="67215" y="223251"/>
                </a:lnTo>
                <a:lnTo>
                  <a:pt x="32233" y="246837"/>
                </a:lnTo>
                <a:lnTo>
                  <a:pt x="8648" y="281818"/>
                </a:lnTo>
                <a:lnTo>
                  <a:pt x="0" y="324656"/>
                </a:lnTo>
                <a:lnTo>
                  <a:pt x="0" y="764862"/>
                </a:lnTo>
                <a:lnTo>
                  <a:pt x="8648" y="807700"/>
                </a:lnTo>
                <a:lnTo>
                  <a:pt x="32233" y="842682"/>
                </a:lnTo>
                <a:lnTo>
                  <a:pt x="67215" y="866268"/>
                </a:lnTo>
                <a:lnTo>
                  <a:pt x="110053" y="874916"/>
                </a:lnTo>
                <a:lnTo>
                  <a:pt x="2052929" y="874916"/>
                </a:lnTo>
                <a:lnTo>
                  <a:pt x="2095767" y="866268"/>
                </a:lnTo>
                <a:lnTo>
                  <a:pt x="2130748" y="842682"/>
                </a:lnTo>
                <a:lnTo>
                  <a:pt x="2154333" y="807700"/>
                </a:lnTo>
                <a:lnTo>
                  <a:pt x="2162982" y="764862"/>
                </a:lnTo>
                <a:lnTo>
                  <a:pt x="2162982" y="324656"/>
                </a:lnTo>
                <a:lnTo>
                  <a:pt x="2154333" y="281818"/>
                </a:lnTo>
                <a:lnTo>
                  <a:pt x="2130748" y="246837"/>
                </a:lnTo>
                <a:lnTo>
                  <a:pt x="2095767" y="223251"/>
                </a:lnTo>
                <a:lnTo>
                  <a:pt x="2052929" y="214603"/>
                </a:lnTo>
                <a:close/>
              </a:path>
              <a:path w="2163445" h="875029">
                <a:moveTo>
                  <a:pt x="676428" y="0"/>
                </a:moveTo>
                <a:lnTo>
                  <a:pt x="360497" y="214603"/>
                </a:lnTo>
                <a:lnTo>
                  <a:pt x="901242" y="214603"/>
                </a:lnTo>
                <a:lnTo>
                  <a:pt x="67642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4802" y="4803813"/>
            <a:ext cx="2163445" cy="875030"/>
          </a:xfrm>
          <a:custGeom>
            <a:avLst/>
            <a:gdLst/>
            <a:ahLst/>
            <a:cxnLst/>
            <a:rect l="l" t="t" r="r" b="b"/>
            <a:pathLst>
              <a:path w="2163445" h="875029">
                <a:moveTo>
                  <a:pt x="0" y="324656"/>
                </a:moveTo>
                <a:lnTo>
                  <a:pt x="8648" y="281818"/>
                </a:lnTo>
                <a:lnTo>
                  <a:pt x="32233" y="246836"/>
                </a:lnTo>
                <a:lnTo>
                  <a:pt x="67215" y="223251"/>
                </a:lnTo>
                <a:lnTo>
                  <a:pt x="110053" y="214602"/>
                </a:lnTo>
                <a:lnTo>
                  <a:pt x="360497" y="214602"/>
                </a:lnTo>
                <a:lnTo>
                  <a:pt x="676429" y="0"/>
                </a:lnTo>
                <a:lnTo>
                  <a:pt x="901243" y="214602"/>
                </a:lnTo>
                <a:lnTo>
                  <a:pt x="2052930" y="214602"/>
                </a:lnTo>
                <a:lnTo>
                  <a:pt x="2095767" y="223251"/>
                </a:lnTo>
                <a:lnTo>
                  <a:pt x="2130749" y="246836"/>
                </a:lnTo>
                <a:lnTo>
                  <a:pt x="2154334" y="281818"/>
                </a:lnTo>
                <a:lnTo>
                  <a:pt x="2162983" y="324656"/>
                </a:lnTo>
                <a:lnTo>
                  <a:pt x="2162983" y="489732"/>
                </a:lnTo>
                <a:lnTo>
                  <a:pt x="2162983" y="764863"/>
                </a:lnTo>
                <a:lnTo>
                  <a:pt x="2154334" y="807700"/>
                </a:lnTo>
                <a:lnTo>
                  <a:pt x="2130749" y="842682"/>
                </a:lnTo>
                <a:lnTo>
                  <a:pt x="2095767" y="866268"/>
                </a:lnTo>
                <a:lnTo>
                  <a:pt x="2052930" y="874916"/>
                </a:lnTo>
                <a:lnTo>
                  <a:pt x="901243" y="874916"/>
                </a:lnTo>
                <a:lnTo>
                  <a:pt x="360497" y="874916"/>
                </a:lnTo>
                <a:lnTo>
                  <a:pt x="110053" y="874916"/>
                </a:lnTo>
                <a:lnTo>
                  <a:pt x="67215" y="866268"/>
                </a:lnTo>
                <a:lnTo>
                  <a:pt x="32233" y="842682"/>
                </a:lnTo>
                <a:lnTo>
                  <a:pt x="8648" y="807700"/>
                </a:lnTo>
                <a:lnTo>
                  <a:pt x="0" y="764863"/>
                </a:lnTo>
                <a:lnTo>
                  <a:pt x="0" y="489732"/>
                </a:lnTo>
                <a:lnTo>
                  <a:pt x="0" y="3246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5776" y="5033772"/>
            <a:ext cx="1405890" cy="43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85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Update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belief:</a:t>
            </a:r>
            <a:endParaRPr sz="1400">
              <a:latin typeface="Arial"/>
              <a:cs typeface="Arial"/>
            </a:endParaRPr>
          </a:p>
          <a:p>
            <a:pPr marL="546735">
              <a:lnSpc>
                <a:spcPts val="1725"/>
              </a:lnSpc>
            </a:pPr>
            <a:r>
              <a:rPr dirty="0" sz="1600">
                <a:latin typeface="Cambria Math"/>
                <a:cs typeface="Cambria Math"/>
              </a:rPr>
              <a:t>5 + 1 =</a:t>
            </a:r>
            <a:r>
              <a:rPr dirty="0" sz="1600" spc="8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6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69203" y="5734488"/>
            <a:ext cx="3069590" cy="64643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58419" rIns="0" bIns="0" rtlCol="0" vert="horz">
            <a:spAutoFit/>
          </a:bodyPr>
          <a:lstStyle/>
          <a:p>
            <a:pPr marL="91440" marR="113030">
              <a:lnSpc>
                <a:spcPts val="2110"/>
              </a:lnSpc>
              <a:spcBef>
                <a:spcPts val="459"/>
              </a:spcBef>
            </a:pPr>
            <a:r>
              <a:rPr dirty="0" sz="1800" spc="-5">
                <a:latin typeface="Arial"/>
                <a:cs typeface="Arial"/>
              </a:rPr>
              <a:t>Update belief: </a:t>
            </a:r>
            <a:r>
              <a:rPr dirty="0" sz="1800">
                <a:latin typeface="Cambria Math"/>
                <a:cs typeface="Cambria Math"/>
              </a:rPr>
              <a:t>𝑚 + 1 </a:t>
            </a:r>
            <a:r>
              <a:rPr dirty="0" sz="1800" spc="-5">
                <a:latin typeface="Arial"/>
                <a:cs typeface="Arial"/>
              </a:rPr>
              <a:t>nodes  before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75897" y="4905516"/>
            <a:ext cx="353060" cy="732155"/>
          </a:xfrm>
          <a:custGeom>
            <a:avLst/>
            <a:gdLst/>
            <a:ahLst/>
            <a:cxnLst/>
            <a:rect l="l" t="t" r="r" b="b"/>
            <a:pathLst>
              <a:path w="353059" h="732154">
                <a:moveTo>
                  <a:pt x="88172" y="731990"/>
                </a:moveTo>
                <a:lnTo>
                  <a:pt x="88172" y="176345"/>
                </a:lnTo>
                <a:lnTo>
                  <a:pt x="0" y="176345"/>
                </a:lnTo>
                <a:lnTo>
                  <a:pt x="176346" y="0"/>
                </a:lnTo>
                <a:lnTo>
                  <a:pt x="352692" y="176345"/>
                </a:lnTo>
                <a:lnTo>
                  <a:pt x="264519" y="176345"/>
                </a:lnTo>
                <a:lnTo>
                  <a:pt x="264519" y="731990"/>
                </a:lnTo>
                <a:lnTo>
                  <a:pt x="88172" y="731990"/>
                </a:lnTo>
                <a:close/>
              </a:path>
            </a:pathLst>
          </a:custGeom>
          <a:ln w="571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01702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699335" y="678835"/>
                </a:moveTo>
                <a:lnTo>
                  <a:pt x="392311" y="678835"/>
                </a:lnTo>
                <a:lnTo>
                  <a:pt x="0" y="919257"/>
                </a:lnTo>
                <a:lnTo>
                  <a:pt x="699335" y="678835"/>
                </a:lnTo>
                <a:close/>
              </a:path>
              <a:path w="1416050" h="919479">
                <a:moveTo>
                  <a:pt x="1302585" y="0"/>
                </a:moveTo>
                <a:lnTo>
                  <a:pt x="300770" y="0"/>
                </a:lnTo>
                <a:lnTo>
                  <a:pt x="256730" y="8891"/>
                </a:lnTo>
                <a:lnTo>
                  <a:pt x="220766" y="33138"/>
                </a:lnTo>
                <a:lnTo>
                  <a:pt x="196519" y="69101"/>
                </a:lnTo>
                <a:lnTo>
                  <a:pt x="187628" y="113140"/>
                </a:lnTo>
                <a:lnTo>
                  <a:pt x="187629" y="565696"/>
                </a:lnTo>
                <a:lnTo>
                  <a:pt x="196519" y="609733"/>
                </a:lnTo>
                <a:lnTo>
                  <a:pt x="220766" y="645696"/>
                </a:lnTo>
                <a:lnTo>
                  <a:pt x="256730" y="669944"/>
                </a:lnTo>
                <a:lnTo>
                  <a:pt x="300770" y="678835"/>
                </a:lnTo>
                <a:lnTo>
                  <a:pt x="1302585" y="678835"/>
                </a:lnTo>
                <a:lnTo>
                  <a:pt x="1346624" y="669944"/>
                </a:lnTo>
                <a:lnTo>
                  <a:pt x="1382587" y="645696"/>
                </a:lnTo>
                <a:lnTo>
                  <a:pt x="1406834" y="609733"/>
                </a:lnTo>
                <a:lnTo>
                  <a:pt x="1415725" y="565696"/>
                </a:lnTo>
                <a:lnTo>
                  <a:pt x="1415726" y="113140"/>
                </a:lnTo>
                <a:lnTo>
                  <a:pt x="1406834" y="69101"/>
                </a:lnTo>
                <a:lnTo>
                  <a:pt x="1382587" y="33138"/>
                </a:lnTo>
                <a:lnTo>
                  <a:pt x="1346624" y="8891"/>
                </a:lnTo>
                <a:lnTo>
                  <a:pt x="1302585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01701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187628" y="113141"/>
                </a:moveTo>
                <a:lnTo>
                  <a:pt x="196519" y="69101"/>
                </a:lnTo>
                <a:lnTo>
                  <a:pt x="220767" y="33138"/>
                </a:lnTo>
                <a:lnTo>
                  <a:pt x="256730" y="8891"/>
                </a:lnTo>
                <a:lnTo>
                  <a:pt x="300769" y="0"/>
                </a:lnTo>
                <a:lnTo>
                  <a:pt x="392311" y="0"/>
                </a:lnTo>
                <a:lnTo>
                  <a:pt x="699336" y="0"/>
                </a:lnTo>
                <a:lnTo>
                  <a:pt x="1302585" y="0"/>
                </a:lnTo>
                <a:lnTo>
                  <a:pt x="1346625" y="8891"/>
                </a:lnTo>
                <a:lnTo>
                  <a:pt x="1382588" y="33138"/>
                </a:lnTo>
                <a:lnTo>
                  <a:pt x="1406835" y="69101"/>
                </a:lnTo>
                <a:lnTo>
                  <a:pt x="1415726" y="113141"/>
                </a:lnTo>
                <a:lnTo>
                  <a:pt x="1415726" y="395986"/>
                </a:lnTo>
                <a:lnTo>
                  <a:pt x="1415726" y="565696"/>
                </a:lnTo>
                <a:lnTo>
                  <a:pt x="1406835" y="609733"/>
                </a:lnTo>
                <a:lnTo>
                  <a:pt x="1382588" y="645696"/>
                </a:lnTo>
                <a:lnTo>
                  <a:pt x="1346625" y="669943"/>
                </a:lnTo>
                <a:lnTo>
                  <a:pt x="1302585" y="678835"/>
                </a:lnTo>
                <a:lnTo>
                  <a:pt x="699336" y="678835"/>
                </a:lnTo>
                <a:lnTo>
                  <a:pt x="0" y="919258"/>
                </a:lnTo>
                <a:lnTo>
                  <a:pt x="392311" y="678835"/>
                </a:lnTo>
                <a:lnTo>
                  <a:pt x="300769" y="678835"/>
                </a:lnTo>
                <a:lnTo>
                  <a:pt x="256730" y="669943"/>
                </a:lnTo>
                <a:lnTo>
                  <a:pt x="220767" y="645696"/>
                </a:lnTo>
                <a:lnTo>
                  <a:pt x="196519" y="609733"/>
                </a:lnTo>
                <a:lnTo>
                  <a:pt x="187628" y="565693"/>
                </a:lnTo>
                <a:lnTo>
                  <a:pt x="187628" y="395986"/>
                </a:lnTo>
                <a:lnTo>
                  <a:pt x="187628" y="1131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706600" y="3706876"/>
            <a:ext cx="10725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1 </a:t>
            </a:r>
            <a:r>
              <a:rPr dirty="0" sz="1600" spc="-5">
                <a:latin typeface="Arial"/>
                <a:cs typeface="Arial"/>
              </a:rPr>
              <a:t>node  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26209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699336" y="678835"/>
                </a:moveTo>
                <a:lnTo>
                  <a:pt x="392311" y="678835"/>
                </a:lnTo>
                <a:lnTo>
                  <a:pt x="0" y="919257"/>
                </a:lnTo>
                <a:lnTo>
                  <a:pt x="699336" y="678835"/>
                </a:lnTo>
                <a:close/>
              </a:path>
              <a:path w="1416050" h="919479">
                <a:moveTo>
                  <a:pt x="1302585" y="0"/>
                </a:moveTo>
                <a:lnTo>
                  <a:pt x="300770" y="0"/>
                </a:lnTo>
                <a:lnTo>
                  <a:pt x="256730" y="8891"/>
                </a:lnTo>
                <a:lnTo>
                  <a:pt x="220767" y="33138"/>
                </a:lnTo>
                <a:lnTo>
                  <a:pt x="196520" y="69101"/>
                </a:lnTo>
                <a:lnTo>
                  <a:pt x="187629" y="113140"/>
                </a:lnTo>
                <a:lnTo>
                  <a:pt x="187630" y="565696"/>
                </a:lnTo>
                <a:lnTo>
                  <a:pt x="196520" y="609733"/>
                </a:lnTo>
                <a:lnTo>
                  <a:pt x="220767" y="645696"/>
                </a:lnTo>
                <a:lnTo>
                  <a:pt x="256730" y="669944"/>
                </a:lnTo>
                <a:lnTo>
                  <a:pt x="300770" y="678835"/>
                </a:lnTo>
                <a:lnTo>
                  <a:pt x="1302585" y="678835"/>
                </a:lnTo>
                <a:lnTo>
                  <a:pt x="1346625" y="669944"/>
                </a:lnTo>
                <a:lnTo>
                  <a:pt x="1382588" y="645696"/>
                </a:lnTo>
                <a:lnTo>
                  <a:pt x="1406836" y="609733"/>
                </a:lnTo>
                <a:lnTo>
                  <a:pt x="1415726" y="565696"/>
                </a:lnTo>
                <a:lnTo>
                  <a:pt x="1415727" y="113140"/>
                </a:lnTo>
                <a:lnTo>
                  <a:pt x="1406836" y="69101"/>
                </a:lnTo>
                <a:lnTo>
                  <a:pt x="1382588" y="33138"/>
                </a:lnTo>
                <a:lnTo>
                  <a:pt x="1346625" y="8891"/>
                </a:lnTo>
                <a:lnTo>
                  <a:pt x="1302585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26210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187628" y="113141"/>
                </a:moveTo>
                <a:lnTo>
                  <a:pt x="196519" y="69101"/>
                </a:lnTo>
                <a:lnTo>
                  <a:pt x="220767" y="33138"/>
                </a:lnTo>
                <a:lnTo>
                  <a:pt x="256730" y="8891"/>
                </a:lnTo>
                <a:lnTo>
                  <a:pt x="300769" y="0"/>
                </a:lnTo>
                <a:lnTo>
                  <a:pt x="392311" y="0"/>
                </a:lnTo>
                <a:lnTo>
                  <a:pt x="699336" y="0"/>
                </a:lnTo>
                <a:lnTo>
                  <a:pt x="1302585" y="0"/>
                </a:lnTo>
                <a:lnTo>
                  <a:pt x="1346625" y="8891"/>
                </a:lnTo>
                <a:lnTo>
                  <a:pt x="1382588" y="33138"/>
                </a:lnTo>
                <a:lnTo>
                  <a:pt x="1406835" y="69101"/>
                </a:lnTo>
                <a:lnTo>
                  <a:pt x="1415726" y="113141"/>
                </a:lnTo>
                <a:lnTo>
                  <a:pt x="1415726" y="395986"/>
                </a:lnTo>
                <a:lnTo>
                  <a:pt x="1415726" y="565696"/>
                </a:lnTo>
                <a:lnTo>
                  <a:pt x="1406835" y="609733"/>
                </a:lnTo>
                <a:lnTo>
                  <a:pt x="1382588" y="645696"/>
                </a:lnTo>
                <a:lnTo>
                  <a:pt x="1346625" y="669943"/>
                </a:lnTo>
                <a:lnTo>
                  <a:pt x="1302585" y="678835"/>
                </a:lnTo>
                <a:lnTo>
                  <a:pt x="699336" y="678835"/>
                </a:lnTo>
                <a:lnTo>
                  <a:pt x="0" y="919258"/>
                </a:lnTo>
                <a:lnTo>
                  <a:pt x="392311" y="678835"/>
                </a:lnTo>
                <a:lnTo>
                  <a:pt x="300769" y="678835"/>
                </a:lnTo>
                <a:lnTo>
                  <a:pt x="256730" y="669943"/>
                </a:lnTo>
                <a:lnTo>
                  <a:pt x="220767" y="645696"/>
                </a:lnTo>
                <a:lnTo>
                  <a:pt x="196519" y="609733"/>
                </a:lnTo>
                <a:lnTo>
                  <a:pt x="187628" y="565693"/>
                </a:lnTo>
                <a:lnTo>
                  <a:pt x="187628" y="395986"/>
                </a:lnTo>
                <a:lnTo>
                  <a:pt x="187628" y="1131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331108" y="3706876"/>
            <a:ext cx="10725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2 </a:t>
            </a:r>
            <a:r>
              <a:rPr dirty="0" sz="1600" spc="-5">
                <a:latin typeface="Arial"/>
                <a:cs typeface="Arial"/>
              </a:rPr>
              <a:t>node  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557755" y="3627582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699336" y="678835"/>
                </a:moveTo>
                <a:lnTo>
                  <a:pt x="392311" y="678835"/>
                </a:lnTo>
                <a:lnTo>
                  <a:pt x="0" y="919257"/>
                </a:lnTo>
                <a:lnTo>
                  <a:pt x="699336" y="678835"/>
                </a:lnTo>
                <a:close/>
              </a:path>
              <a:path w="1416050" h="919479">
                <a:moveTo>
                  <a:pt x="1302585" y="0"/>
                </a:moveTo>
                <a:lnTo>
                  <a:pt x="300770" y="0"/>
                </a:lnTo>
                <a:lnTo>
                  <a:pt x="256730" y="8891"/>
                </a:lnTo>
                <a:lnTo>
                  <a:pt x="220767" y="33138"/>
                </a:lnTo>
                <a:lnTo>
                  <a:pt x="196520" y="69101"/>
                </a:lnTo>
                <a:lnTo>
                  <a:pt x="187629" y="113140"/>
                </a:lnTo>
                <a:lnTo>
                  <a:pt x="187630" y="565696"/>
                </a:lnTo>
                <a:lnTo>
                  <a:pt x="196520" y="609733"/>
                </a:lnTo>
                <a:lnTo>
                  <a:pt x="220767" y="645696"/>
                </a:lnTo>
                <a:lnTo>
                  <a:pt x="256730" y="669944"/>
                </a:lnTo>
                <a:lnTo>
                  <a:pt x="300770" y="678835"/>
                </a:lnTo>
                <a:lnTo>
                  <a:pt x="1302585" y="678835"/>
                </a:lnTo>
                <a:lnTo>
                  <a:pt x="1346625" y="669944"/>
                </a:lnTo>
                <a:lnTo>
                  <a:pt x="1382588" y="645696"/>
                </a:lnTo>
                <a:lnTo>
                  <a:pt x="1406836" y="609733"/>
                </a:lnTo>
                <a:lnTo>
                  <a:pt x="1415726" y="565696"/>
                </a:lnTo>
                <a:lnTo>
                  <a:pt x="1415727" y="113140"/>
                </a:lnTo>
                <a:lnTo>
                  <a:pt x="1406836" y="69101"/>
                </a:lnTo>
                <a:lnTo>
                  <a:pt x="1382588" y="33138"/>
                </a:lnTo>
                <a:lnTo>
                  <a:pt x="1346625" y="8891"/>
                </a:lnTo>
                <a:lnTo>
                  <a:pt x="1302585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57756" y="3627582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187628" y="113141"/>
                </a:moveTo>
                <a:lnTo>
                  <a:pt x="196519" y="69101"/>
                </a:lnTo>
                <a:lnTo>
                  <a:pt x="220767" y="33138"/>
                </a:lnTo>
                <a:lnTo>
                  <a:pt x="256730" y="8891"/>
                </a:lnTo>
                <a:lnTo>
                  <a:pt x="300769" y="0"/>
                </a:lnTo>
                <a:lnTo>
                  <a:pt x="392311" y="0"/>
                </a:lnTo>
                <a:lnTo>
                  <a:pt x="699336" y="0"/>
                </a:lnTo>
                <a:lnTo>
                  <a:pt x="1302585" y="0"/>
                </a:lnTo>
                <a:lnTo>
                  <a:pt x="1346625" y="8891"/>
                </a:lnTo>
                <a:lnTo>
                  <a:pt x="1382588" y="33138"/>
                </a:lnTo>
                <a:lnTo>
                  <a:pt x="1406835" y="69101"/>
                </a:lnTo>
                <a:lnTo>
                  <a:pt x="1415726" y="113141"/>
                </a:lnTo>
                <a:lnTo>
                  <a:pt x="1415726" y="395986"/>
                </a:lnTo>
                <a:lnTo>
                  <a:pt x="1415726" y="565696"/>
                </a:lnTo>
                <a:lnTo>
                  <a:pt x="1406835" y="609733"/>
                </a:lnTo>
                <a:lnTo>
                  <a:pt x="1382588" y="645696"/>
                </a:lnTo>
                <a:lnTo>
                  <a:pt x="1346625" y="669943"/>
                </a:lnTo>
                <a:lnTo>
                  <a:pt x="1302585" y="678835"/>
                </a:lnTo>
                <a:lnTo>
                  <a:pt x="699336" y="678835"/>
                </a:lnTo>
                <a:lnTo>
                  <a:pt x="0" y="919258"/>
                </a:lnTo>
                <a:lnTo>
                  <a:pt x="392311" y="678835"/>
                </a:lnTo>
                <a:lnTo>
                  <a:pt x="300769" y="678835"/>
                </a:lnTo>
                <a:lnTo>
                  <a:pt x="256730" y="669943"/>
                </a:lnTo>
                <a:lnTo>
                  <a:pt x="220767" y="645696"/>
                </a:lnTo>
                <a:lnTo>
                  <a:pt x="196519" y="609733"/>
                </a:lnTo>
                <a:lnTo>
                  <a:pt x="187628" y="565693"/>
                </a:lnTo>
                <a:lnTo>
                  <a:pt x="187628" y="395986"/>
                </a:lnTo>
                <a:lnTo>
                  <a:pt x="187628" y="1131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862654" y="3700779"/>
            <a:ext cx="107251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latin typeface="Cambria Math"/>
                <a:cs typeface="Cambria Math"/>
              </a:rPr>
              <a:t>𝑚 = 3 </a:t>
            </a:r>
            <a:r>
              <a:rPr dirty="0" sz="1600" spc="-5">
                <a:latin typeface="Arial"/>
                <a:cs typeface="Arial"/>
              </a:rPr>
              <a:t>node  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99470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699336" y="678835"/>
                </a:moveTo>
                <a:lnTo>
                  <a:pt x="392311" y="678835"/>
                </a:lnTo>
                <a:lnTo>
                  <a:pt x="0" y="919257"/>
                </a:lnTo>
                <a:lnTo>
                  <a:pt x="699336" y="678835"/>
                </a:lnTo>
                <a:close/>
              </a:path>
              <a:path w="1416050" h="919479">
                <a:moveTo>
                  <a:pt x="1302585" y="0"/>
                </a:moveTo>
                <a:lnTo>
                  <a:pt x="300770" y="0"/>
                </a:lnTo>
                <a:lnTo>
                  <a:pt x="256730" y="8891"/>
                </a:lnTo>
                <a:lnTo>
                  <a:pt x="220767" y="33138"/>
                </a:lnTo>
                <a:lnTo>
                  <a:pt x="196520" y="69101"/>
                </a:lnTo>
                <a:lnTo>
                  <a:pt x="187629" y="113140"/>
                </a:lnTo>
                <a:lnTo>
                  <a:pt x="187630" y="565696"/>
                </a:lnTo>
                <a:lnTo>
                  <a:pt x="196520" y="609733"/>
                </a:lnTo>
                <a:lnTo>
                  <a:pt x="220767" y="645696"/>
                </a:lnTo>
                <a:lnTo>
                  <a:pt x="256730" y="669944"/>
                </a:lnTo>
                <a:lnTo>
                  <a:pt x="300770" y="678835"/>
                </a:lnTo>
                <a:lnTo>
                  <a:pt x="1302585" y="678835"/>
                </a:lnTo>
                <a:lnTo>
                  <a:pt x="1346625" y="669944"/>
                </a:lnTo>
                <a:lnTo>
                  <a:pt x="1382588" y="645696"/>
                </a:lnTo>
                <a:lnTo>
                  <a:pt x="1406836" y="609733"/>
                </a:lnTo>
                <a:lnTo>
                  <a:pt x="1415726" y="565696"/>
                </a:lnTo>
                <a:lnTo>
                  <a:pt x="1415727" y="113140"/>
                </a:lnTo>
                <a:lnTo>
                  <a:pt x="1406836" y="69101"/>
                </a:lnTo>
                <a:lnTo>
                  <a:pt x="1382588" y="33138"/>
                </a:lnTo>
                <a:lnTo>
                  <a:pt x="1346625" y="8891"/>
                </a:lnTo>
                <a:lnTo>
                  <a:pt x="1302585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99471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187628" y="113141"/>
                </a:moveTo>
                <a:lnTo>
                  <a:pt x="196519" y="69101"/>
                </a:lnTo>
                <a:lnTo>
                  <a:pt x="220767" y="33138"/>
                </a:lnTo>
                <a:lnTo>
                  <a:pt x="256730" y="8891"/>
                </a:lnTo>
                <a:lnTo>
                  <a:pt x="300769" y="0"/>
                </a:lnTo>
                <a:lnTo>
                  <a:pt x="392311" y="0"/>
                </a:lnTo>
                <a:lnTo>
                  <a:pt x="699336" y="0"/>
                </a:lnTo>
                <a:lnTo>
                  <a:pt x="1302585" y="0"/>
                </a:lnTo>
                <a:lnTo>
                  <a:pt x="1346625" y="8891"/>
                </a:lnTo>
                <a:lnTo>
                  <a:pt x="1382588" y="33138"/>
                </a:lnTo>
                <a:lnTo>
                  <a:pt x="1406835" y="69101"/>
                </a:lnTo>
                <a:lnTo>
                  <a:pt x="1415726" y="113141"/>
                </a:lnTo>
                <a:lnTo>
                  <a:pt x="1415726" y="395986"/>
                </a:lnTo>
                <a:lnTo>
                  <a:pt x="1415726" y="565696"/>
                </a:lnTo>
                <a:lnTo>
                  <a:pt x="1406835" y="609733"/>
                </a:lnTo>
                <a:lnTo>
                  <a:pt x="1382588" y="645696"/>
                </a:lnTo>
                <a:lnTo>
                  <a:pt x="1346625" y="669943"/>
                </a:lnTo>
                <a:lnTo>
                  <a:pt x="1302585" y="678835"/>
                </a:lnTo>
                <a:lnTo>
                  <a:pt x="699336" y="678835"/>
                </a:lnTo>
                <a:lnTo>
                  <a:pt x="0" y="919258"/>
                </a:lnTo>
                <a:lnTo>
                  <a:pt x="392311" y="678835"/>
                </a:lnTo>
                <a:lnTo>
                  <a:pt x="300769" y="678835"/>
                </a:lnTo>
                <a:lnTo>
                  <a:pt x="256730" y="669943"/>
                </a:lnTo>
                <a:lnTo>
                  <a:pt x="220767" y="645696"/>
                </a:lnTo>
                <a:lnTo>
                  <a:pt x="196519" y="609733"/>
                </a:lnTo>
                <a:lnTo>
                  <a:pt x="187628" y="565693"/>
                </a:lnTo>
                <a:lnTo>
                  <a:pt x="187628" y="395986"/>
                </a:lnTo>
                <a:lnTo>
                  <a:pt x="187628" y="1131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404369" y="3706876"/>
            <a:ext cx="10725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4 </a:t>
            </a:r>
            <a:r>
              <a:rPr dirty="0" sz="1600" spc="-5">
                <a:latin typeface="Arial"/>
                <a:cs typeface="Arial"/>
              </a:rPr>
              <a:t>node  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07291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699336" y="678835"/>
                </a:moveTo>
                <a:lnTo>
                  <a:pt x="392311" y="678835"/>
                </a:lnTo>
                <a:lnTo>
                  <a:pt x="0" y="919257"/>
                </a:lnTo>
                <a:lnTo>
                  <a:pt x="699336" y="678835"/>
                </a:lnTo>
                <a:close/>
              </a:path>
              <a:path w="1416050" h="919479">
                <a:moveTo>
                  <a:pt x="1302585" y="0"/>
                </a:moveTo>
                <a:lnTo>
                  <a:pt x="300770" y="0"/>
                </a:lnTo>
                <a:lnTo>
                  <a:pt x="256730" y="8891"/>
                </a:lnTo>
                <a:lnTo>
                  <a:pt x="220767" y="33138"/>
                </a:lnTo>
                <a:lnTo>
                  <a:pt x="196520" y="69101"/>
                </a:lnTo>
                <a:lnTo>
                  <a:pt x="187629" y="113140"/>
                </a:lnTo>
                <a:lnTo>
                  <a:pt x="187630" y="565696"/>
                </a:lnTo>
                <a:lnTo>
                  <a:pt x="196520" y="609733"/>
                </a:lnTo>
                <a:lnTo>
                  <a:pt x="220767" y="645696"/>
                </a:lnTo>
                <a:lnTo>
                  <a:pt x="256730" y="669944"/>
                </a:lnTo>
                <a:lnTo>
                  <a:pt x="300770" y="678835"/>
                </a:lnTo>
                <a:lnTo>
                  <a:pt x="1302585" y="678835"/>
                </a:lnTo>
                <a:lnTo>
                  <a:pt x="1346625" y="669944"/>
                </a:lnTo>
                <a:lnTo>
                  <a:pt x="1382588" y="645696"/>
                </a:lnTo>
                <a:lnTo>
                  <a:pt x="1406836" y="609733"/>
                </a:lnTo>
                <a:lnTo>
                  <a:pt x="1415726" y="565696"/>
                </a:lnTo>
                <a:lnTo>
                  <a:pt x="1415727" y="113140"/>
                </a:lnTo>
                <a:lnTo>
                  <a:pt x="1406836" y="69101"/>
                </a:lnTo>
                <a:lnTo>
                  <a:pt x="1382588" y="33138"/>
                </a:lnTo>
                <a:lnTo>
                  <a:pt x="1346625" y="8891"/>
                </a:lnTo>
                <a:lnTo>
                  <a:pt x="1302585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607292" y="3634228"/>
            <a:ext cx="1416050" cy="919480"/>
          </a:xfrm>
          <a:custGeom>
            <a:avLst/>
            <a:gdLst/>
            <a:ahLst/>
            <a:cxnLst/>
            <a:rect l="l" t="t" r="r" b="b"/>
            <a:pathLst>
              <a:path w="1416050" h="919479">
                <a:moveTo>
                  <a:pt x="187628" y="113141"/>
                </a:moveTo>
                <a:lnTo>
                  <a:pt x="196519" y="69101"/>
                </a:lnTo>
                <a:lnTo>
                  <a:pt x="220767" y="33138"/>
                </a:lnTo>
                <a:lnTo>
                  <a:pt x="256730" y="8891"/>
                </a:lnTo>
                <a:lnTo>
                  <a:pt x="300769" y="0"/>
                </a:lnTo>
                <a:lnTo>
                  <a:pt x="392311" y="0"/>
                </a:lnTo>
                <a:lnTo>
                  <a:pt x="699336" y="0"/>
                </a:lnTo>
                <a:lnTo>
                  <a:pt x="1302585" y="0"/>
                </a:lnTo>
                <a:lnTo>
                  <a:pt x="1346625" y="8891"/>
                </a:lnTo>
                <a:lnTo>
                  <a:pt x="1382588" y="33138"/>
                </a:lnTo>
                <a:lnTo>
                  <a:pt x="1406835" y="69101"/>
                </a:lnTo>
                <a:lnTo>
                  <a:pt x="1415726" y="113141"/>
                </a:lnTo>
                <a:lnTo>
                  <a:pt x="1415726" y="395986"/>
                </a:lnTo>
                <a:lnTo>
                  <a:pt x="1415726" y="565696"/>
                </a:lnTo>
                <a:lnTo>
                  <a:pt x="1406835" y="609733"/>
                </a:lnTo>
                <a:lnTo>
                  <a:pt x="1382588" y="645696"/>
                </a:lnTo>
                <a:lnTo>
                  <a:pt x="1346625" y="669943"/>
                </a:lnTo>
                <a:lnTo>
                  <a:pt x="1302585" y="678835"/>
                </a:lnTo>
                <a:lnTo>
                  <a:pt x="699336" y="678835"/>
                </a:lnTo>
                <a:lnTo>
                  <a:pt x="0" y="919258"/>
                </a:lnTo>
                <a:lnTo>
                  <a:pt x="392311" y="678835"/>
                </a:lnTo>
                <a:lnTo>
                  <a:pt x="300769" y="678835"/>
                </a:lnTo>
                <a:lnTo>
                  <a:pt x="256730" y="669943"/>
                </a:lnTo>
                <a:lnTo>
                  <a:pt x="220767" y="645696"/>
                </a:lnTo>
                <a:lnTo>
                  <a:pt x="196519" y="609733"/>
                </a:lnTo>
                <a:lnTo>
                  <a:pt x="187628" y="565693"/>
                </a:lnTo>
                <a:lnTo>
                  <a:pt x="187628" y="395986"/>
                </a:lnTo>
                <a:lnTo>
                  <a:pt x="187628" y="1131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912190" y="3706876"/>
            <a:ext cx="10725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5 </a:t>
            </a:r>
            <a:r>
              <a:rPr dirty="0" sz="1600" spc="-5">
                <a:latin typeface="Arial"/>
                <a:cs typeface="Arial"/>
              </a:rPr>
              <a:t>node  before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85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2828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/>
              <a:t>We </a:t>
            </a:r>
            <a:r>
              <a:rPr dirty="0" spc="-10"/>
              <a:t>can </a:t>
            </a:r>
            <a:r>
              <a:rPr dirty="0" spc="-15"/>
              <a:t>perform </a:t>
            </a:r>
            <a:r>
              <a:rPr dirty="0" spc="-10"/>
              <a:t>message </a:t>
            </a:r>
            <a:r>
              <a:rPr dirty="0" spc="-5"/>
              <a:t>passing not only on  </a:t>
            </a:r>
            <a:r>
              <a:rPr dirty="0"/>
              <a:t>a </a:t>
            </a:r>
            <a:r>
              <a:rPr dirty="0" spc="-10"/>
              <a:t>path </a:t>
            </a:r>
            <a:r>
              <a:rPr dirty="0" spc="-15"/>
              <a:t>graph, </a:t>
            </a:r>
            <a:r>
              <a:rPr dirty="0"/>
              <a:t>but </a:t>
            </a:r>
            <a:r>
              <a:rPr dirty="0" spc="-5"/>
              <a:t>also on </a:t>
            </a:r>
            <a:r>
              <a:rPr dirty="0"/>
              <a:t>a </a:t>
            </a:r>
            <a:r>
              <a:rPr dirty="0" spc="-15"/>
              <a:t>tree-structured  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4859020" cy="10102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Define </a:t>
            </a:r>
            <a:r>
              <a:rPr dirty="0" sz="3200" spc="-15">
                <a:latin typeface="Calibri"/>
                <a:cs typeface="Calibri"/>
              </a:rPr>
              <a:t>order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message  </a:t>
            </a:r>
            <a:r>
              <a:rPr dirty="0" sz="3200" spc="-5">
                <a:latin typeface="Calibri"/>
                <a:cs typeface="Calibri"/>
              </a:rPr>
              <a:t>passing </a:t>
            </a:r>
            <a:r>
              <a:rPr dirty="0" sz="3200" spc="-20">
                <a:latin typeface="Calibri"/>
                <a:cs typeface="Calibri"/>
              </a:rPr>
              <a:t>from </a:t>
            </a:r>
            <a:r>
              <a:rPr dirty="0" sz="3200" spc="-15" b="1">
                <a:latin typeface="Calibri"/>
                <a:cs typeface="Calibri"/>
              </a:rPr>
              <a:t>leaves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root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48448" y="29820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48448" y="298201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93213" y="30566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8346" y="382002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08346" y="382002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53110" y="38948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67098" y="3820028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67098" y="3820028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211862" y="38948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48448" y="473832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4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48448" y="473832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93213" y="48122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097340" y="4738328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97340" y="4738328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242106" y="48122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06786" y="557151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06786" y="557151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451551" y="56443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10182" y="563707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10182" y="563707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154947" y="57114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676908" y="3429689"/>
            <a:ext cx="697230" cy="472440"/>
          </a:xfrm>
          <a:custGeom>
            <a:avLst/>
            <a:gdLst/>
            <a:ahLst/>
            <a:cxnLst/>
            <a:rect l="l" t="t" r="r" b="b"/>
            <a:pathLst>
              <a:path w="697229" h="472439">
                <a:moveTo>
                  <a:pt x="617788" y="35831"/>
                </a:moveTo>
                <a:lnTo>
                  <a:pt x="1755" y="448419"/>
                </a:lnTo>
                <a:lnTo>
                  <a:pt x="0" y="457293"/>
                </a:lnTo>
                <a:lnTo>
                  <a:pt x="8782" y="470406"/>
                </a:lnTo>
                <a:lnTo>
                  <a:pt x="17656" y="472161"/>
                </a:lnTo>
                <a:lnTo>
                  <a:pt x="633689" y="59574"/>
                </a:lnTo>
                <a:lnTo>
                  <a:pt x="617788" y="35831"/>
                </a:lnTo>
                <a:close/>
              </a:path>
              <a:path w="697229" h="472439">
                <a:moveTo>
                  <a:pt x="683608" y="23489"/>
                </a:moveTo>
                <a:lnTo>
                  <a:pt x="636215" y="23489"/>
                </a:lnTo>
                <a:lnTo>
                  <a:pt x="645090" y="25245"/>
                </a:lnTo>
                <a:lnTo>
                  <a:pt x="653872" y="38357"/>
                </a:lnTo>
                <a:lnTo>
                  <a:pt x="652117" y="47232"/>
                </a:lnTo>
                <a:lnTo>
                  <a:pt x="633689" y="59574"/>
                </a:lnTo>
                <a:lnTo>
                  <a:pt x="649591" y="83315"/>
                </a:lnTo>
                <a:lnTo>
                  <a:pt x="683608" y="23489"/>
                </a:lnTo>
                <a:close/>
              </a:path>
              <a:path w="697229" h="472439">
                <a:moveTo>
                  <a:pt x="636215" y="23489"/>
                </a:moveTo>
                <a:lnTo>
                  <a:pt x="617788" y="35831"/>
                </a:lnTo>
                <a:lnTo>
                  <a:pt x="633689" y="59574"/>
                </a:lnTo>
                <a:lnTo>
                  <a:pt x="652117" y="47232"/>
                </a:lnTo>
                <a:lnTo>
                  <a:pt x="653872" y="38357"/>
                </a:lnTo>
                <a:lnTo>
                  <a:pt x="645090" y="25245"/>
                </a:lnTo>
                <a:lnTo>
                  <a:pt x="636215" y="23489"/>
                </a:lnTo>
                <a:close/>
              </a:path>
              <a:path w="697229" h="472439">
                <a:moveTo>
                  <a:pt x="696964" y="0"/>
                </a:moveTo>
                <a:lnTo>
                  <a:pt x="601887" y="12090"/>
                </a:lnTo>
                <a:lnTo>
                  <a:pt x="617788" y="35831"/>
                </a:lnTo>
                <a:lnTo>
                  <a:pt x="636215" y="23489"/>
                </a:lnTo>
                <a:lnTo>
                  <a:pt x="683608" y="23489"/>
                </a:lnTo>
                <a:lnTo>
                  <a:pt x="69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73873" y="3429688"/>
            <a:ext cx="775970" cy="472440"/>
          </a:xfrm>
          <a:custGeom>
            <a:avLst/>
            <a:gdLst/>
            <a:ahLst/>
            <a:cxnLst/>
            <a:rect l="l" t="t" r="r" b="b"/>
            <a:pathLst>
              <a:path w="775970" h="472439">
                <a:moveTo>
                  <a:pt x="80848" y="31881"/>
                </a:moveTo>
                <a:lnTo>
                  <a:pt x="66138" y="56379"/>
                </a:lnTo>
                <a:lnTo>
                  <a:pt x="758658" y="472210"/>
                </a:lnTo>
                <a:lnTo>
                  <a:pt x="767435" y="470019"/>
                </a:lnTo>
                <a:lnTo>
                  <a:pt x="775559" y="456490"/>
                </a:lnTo>
                <a:lnTo>
                  <a:pt x="773369" y="447713"/>
                </a:lnTo>
                <a:lnTo>
                  <a:pt x="80848" y="31881"/>
                </a:lnTo>
                <a:close/>
              </a:path>
              <a:path w="775970" h="472439">
                <a:moveTo>
                  <a:pt x="0" y="0"/>
                </a:moveTo>
                <a:lnTo>
                  <a:pt x="51428" y="80877"/>
                </a:lnTo>
                <a:lnTo>
                  <a:pt x="66138" y="56379"/>
                </a:lnTo>
                <a:lnTo>
                  <a:pt x="47125" y="44963"/>
                </a:lnTo>
                <a:lnTo>
                  <a:pt x="44933" y="36186"/>
                </a:lnTo>
                <a:lnTo>
                  <a:pt x="53058" y="22655"/>
                </a:lnTo>
                <a:lnTo>
                  <a:pt x="61835" y="20464"/>
                </a:lnTo>
                <a:lnTo>
                  <a:pt x="87703" y="20464"/>
                </a:lnTo>
                <a:lnTo>
                  <a:pt x="95558" y="7383"/>
                </a:lnTo>
                <a:lnTo>
                  <a:pt x="0" y="0"/>
                </a:lnTo>
                <a:close/>
              </a:path>
              <a:path w="775970" h="472439">
                <a:moveTo>
                  <a:pt x="61835" y="20464"/>
                </a:moveTo>
                <a:lnTo>
                  <a:pt x="53058" y="22655"/>
                </a:lnTo>
                <a:lnTo>
                  <a:pt x="44933" y="36186"/>
                </a:lnTo>
                <a:lnTo>
                  <a:pt x="47125" y="44963"/>
                </a:lnTo>
                <a:lnTo>
                  <a:pt x="66138" y="56379"/>
                </a:lnTo>
                <a:lnTo>
                  <a:pt x="80848" y="31881"/>
                </a:lnTo>
                <a:lnTo>
                  <a:pt x="61835" y="20464"/>
                </a:lnTo>
                <a:close/>
              </a:path>
              <a:path w="775970" h="472439">
                <a:moveTo>
                  <a:pt x="87703" y="20464"/>
                </a:moveTo>
                <a:lnTo>
                  <a:pt x="61835" y="20464"/>
                </a:lnTo>
                <a:lnTo>
                  <a:pt x="80848" y="31881"/>
                </a:lnTo>
                <a:lnTo>
                  <a:pt x="87703" y="20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17051" y="4267703"/>
            <a:ext cx="775970" cy="552450"/>
          </a:xfrm>
          <a:custGeom>
            <a:avLst/>
            <a:gdLst/>
            <a:ahLst/>
            <a:cxnLst/>
            <a:rect l="l" t="t" r="r" b="b"/>
            <a:pathLst>
              <a:path w="775970" h="552450">
                <a:moveTo>
                  <a:pt x="697205" y="37780"/>
                </a:moveTo>
                <a:lnTo>
                  <a:pt x="1534" y="529068"/>
                </a:lnTo>
                <a:lnTo>
                  <a:pt x="0" y="537983"/>
                </a:lnTo>
                <a:lnTo>
                  <a:pt x="9103" y="550873"/>
                </a:lnTo>
                <a:lnTo>
                  <a:pt x="18018" y="552409"/>
                </a:lnTo>
                <a:lnTo>
                  <a:pt x="713688" y="61121"/>
                </a:lnTo>
                <a:lnTo>
                  <a:pt x="697205" y="37780"/>
                </a:lnTo>
                <a:close/>
              </a:path>
              <a:path w="775970" h="552450">
                <a:moveTo>
                  <a:pt x="762070" y="24985"/>
                </a:moveTo>
                <a:lnTo>
                  <a:pt x="715322" y="24985"/>
                </a:lnTo>
                <a:lnTo>
                  <a:pt x="724237" y="26521"/>
                </a:lnTo>
                <a:lnTo>
                  <a:pt x="733341" y="39411"/>
                </a:lnTo>
                <a:lnTo>
                  <a:pt x="731805" y="48327"/>
                </a:lnTo>
                <a:lnTo>
                  <a:pt x="713688" y="61121"/>
                </a:lnTo>
                <a:lnTo>
                  <a:pt x="730172" y="84462"/>
                </a:lnTo>
                <a:lnTo>
                  <a:pt x="762070" y="24985"/>
                </a:lnTo>
                <a:close/>
              </a:path>
              <a:path w="775970" h="552450">
                <a:moveTo>
                  <a:pt x="715322" y="24985"/>
                </a:moveTo>
                <a:lnTo>
                  <a:pt x="697205" y="37780"/>
                </a:lnTo>
                <a:lnTo>
                  <a:pt x="713688" y="61121"/>
                </a:lnTo>
                <a:lnTo>
                  <a:pt x="731805" y="48327"/>
                </a:lnTo>
                <a:lnTo>
                  <a:pt x="733341" y="39411"/>
                </a:lnTo>
                <a:lnTo>
                  <a:pt x="724237" y="26521"/>
                </a:lnTo>
                <a:lnTo>
                  <a:pt x="715322" y="24985"/>
                </a:lnTo>
                <a:close/>
              </a:path>
              <a:path w="775970" h="552450">
                <a:moveTo>
                  <a:pt x="775470" y="0"/>
                </a:moveTo>
                <a:lnTo>
                  <a:pt x="680721" y="14438"/>
                </a:lnTo>
                <a:lnTo>
                  <a:pt x="697205" y="37780"/>
                </a:lnTo>
                <a:lnTo>
                  <a:pt x="715322" y="24985"/>
                </a:lnTo>
                <a:lnTo>
                  <a:pt x="762070" y="24985"/>
                </a:lnTo>
                <a:lnTo>
                  <a:pt x="775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92523" y="4267703"/>
            <a:ext cx="887730" cy="553085"/>
          </a:xfrm>
          <a:custGeom>
            <a:avLst/>
            <a:gdLst/>
            <a:ahLst/>
            <a:cxnLst/>
            <a:rect l="l" t="t" r="r" b="b"/>
            <a:pathLst>
              <a:path w="887729" h="553085">
                <a:moveTo>
                  <a:pt x="80488" y="32779"/>
                </a:moveTo>
                <a:lnTo>
                  <a:pt x="65507" y="57111"/>
                </a:lnTo>
                <a:lnTo>
                  <a:pt x="870071" y="552489"/>
                </a:lnTo>
                <a:lnTo>
                  <a:pt x="878873" y="550396"/>
                </a:lnTo>
                <a:lnTo>
                  <a:pt x="887147" y="536957"/>
                </a:lnTo>
                <a:lnTo>
                  <a:pt x="885054" y="528157"/>
                </a:lnTo>
                <a:lnTo>
                  <a:pt x="80488" y="32779"/>
                </a:lnTo>
                <a:close/>
              </a:path>
              <a:path w="887729" h="553085">
                <a:moveTo>
                  <a:pt x="0" y="0"/>
                </a:moveTo>
                <a:lnTo>
                  <a:pt x="50525" y="81443"/>
                </a:lnTo>
                <a:lnTo>
                  <a:pt x="65507" y="57111"/>
                </a:lnTo>
                <a:lnTo>
                  <a:pt x="46621" y="45483"/>
                </a:lnTo>
                <a:lnTo>
                  <a:pt x="44528" y="36682"/>
                </a:lnTo>
                <a:lnTo>
                  <a:pt x="52802" y="23244"/>
                </a:lnTo>
                <a:lnTo>
                  <a:pt x="61603" y="21151"/>
                </a:lnTo>
                <a:lnTo>
                  <a:pt x="87648" y="21151"/>
                </a:lnTo>
                <a:lnTo>
                  <a:pt x="95470" y="8446"/>
                </a:lnTo>
                <a:lnTo>
                  <a:pt x="0" y="0"/>
                </a:lnTo>
                <a:close/>
              </a:path>
              <a:path w="887729" h="553085">
                <a:moveTo>
                  <a:pt x="61603" y="21151"/>
                </a:moveTo>
                <a:lnTo>
                  <a:pt x="52802" y="23244"/>
                </a:lnTo>
                <a:lnTo>
                  <a:pt x="44528" y="36682"/>
                </a:lnTo>
                <a:lnTo>
                  <a:pt x="46621" y="45483"/>
                </a:lnTo>
                <a:lnTo>
                  <a:pt x="65507" y="57111"/>
                </a:lnTo>
                <a:lnTo>
                  <a:pt x="80488" y="32779"/>
                </a:lnTo>
                <a:lnTo>
                  <a:pt x="61603" y="21151"/>
                </a:lnTo>
                <a:close/>
              </a:path>
              <a:path w="887729" h="553085">
                <a:moveTo>
                  <a:pt x="87648" y="21151"/>
                </a:moveTo>
                <a:lnTo>
                  <a:pt x="61603" y="21151"/>
                </a:lnTo>
                <a:lnTo>
                  <a:pt x="80488" y="32779"/>
                </a:lnTo>
                <a:lnTo>
                  <a:pt x="87648" y="21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75340" y="5186004"/>
            <a:ext cx="699135" cy="467359"/>
          </a:xfrm>
          <a:custGeom>
            <a:avLst/>
            <a:gdLst/>
            <a:ahLst/>
            <a:cxnLst/>
            <a:rect l="l" t="t" r="r" b="b"/>
            <a:pathLst>
              <a:path w="699135" h="467360">
                <a:moveTo>
                  <a:pt x="619144" y="35359"/>
                </a:moveTo>
                <a:lnTo>
                  <a:pt x="1808" y="443501"/>
                </a:lnTo>
                <a:lnTo>
                  <a:pt x="0" y="452365"/>
                </a:lnTo>
                <a:lnTo>
                  <a:pt x="8703" y="465530"/>
                </a:lnTo>
                <a:lnTo>
                  <a:pt x="17567" y="467338"/>
                </a:lnTo>
                <a:lnTo>
                  <a:pt x="634903" y="59196"/>
                </a:lnTo>
                <a:lnTo>
                  <a:pt x="619144" y="35359"/>
                </a:lnTo>
                <a:close/>
              </a:path>
              <a:path w="699135" h="467360">
                <a:moveTo>
                  <a:pt x="685199" y="23127"/>
                </a:moveTo>
                <a:lnTo>
                  <a:pt x="637645" y="23127"/>
                </a:lnTo>
                <a:lnTo>
                  <a:pt x="646508" y="24936"/>
                </a:lnTo>
                <a:lnTo>
                  <a:pt x="655212" y="38101"/>
                </a:lnTo>
                <a:lnTo>
                  <a:pt x="653404" y="46964"/>
                </a:lnTo>
                <a:lnTo>
                  <a:pt x="634903" y="59196"/>
                </a:lnTo>
                <a:lnTo>
                  <a:pt x="650662" y="83032"/>
                </a:lnTo>
                <a:lnTo>
                  <a:pt x="685199" y="23127"/>
                </a:lnTo>
                <a:close/>
              </a:path>
              <a:path w="699135" h="467360">
                <a:moveTo>
                  <a:pt x="637645" y="23127"/>
                </a:moveTo>
                <a:lnTo>
                  <a:pt x="619144" y="35359"/>
                </a:lnTo>
                <a:lnTo>
                  <a:pt x="634903" y="59196"/>
                </a:lnTo>
                <a:lnTo>
                  <a:pt x="653404" y="46964"/>
                </a:lnTo>
                <a:lnTo>
                  <a:pt x="655212" y="38101"/>
                </a:lnTo>
                <a:lnTo>
                  <a:pt x="646508" y="24936"/>
                </a:lnTo>
                <a:lnTo>
                  <a:pt x="637645" y="23127"/>
                </a:lnTo>
                <a:close/>
              </a:path>
              <a:path w="699135" h="467360">
                <a:moveTo>
                  <a:pt x="698533" y="0"/>
                </a:moveTo>
                <a:lnTo>
                  <a:pt x="603384" y="11522"/>
                </a:lnTo>
                <a:lnTo>
                  <a:pt x="619144" y="35359"/>
                </a:lnTo>
                <a:lnTo>
                  <a:pt x="637645" y="23127"/>
                </a:lnTo>
                <a:lnTo>
                  <a:pt x="685199" y="23127"/>
                </a:lnTo>
                <a:lnTo>
                  <a:pt x="698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73873" y="5186005"/>
            <a:ext cx="718820" cy="533400"/>
          </a:xfrm>
          <a:custGeom>
            <a:avLst/>
            <a:gdLst/>
            <a:ahLst/>
            <a:cxnLst/>
            <a:rect l="l" t="t" r="r" b="b"/>
            <a:pathLst>
              <a:path w="718820" h="533400">
                <a:moveTo>
                  <a:pt x="77521" y="39286"/>
                </a:moveTo>
                <a:lnTo>
                  <a:pt x="60589" y="62304"/>
                </a:lnTo>
                <a:lnTo>
                  <a:pt x="700224" y="532812"/>
                </a:lnTo>
                <a:lnTo>
                  <a:pt x="709167" y="531449"/>
                </a:lnTo>
                <a:lnTo>
                  <a:pt x="718519" y="518736"/>
                </a:lnTo>
                <a:lnTo>
                  <a:pt x="717156" y="509793"/>
                </a:lnTo>
                <a:lnTo>
                  <a:pt x="77521" y="39286"/>
                </a:lnTo>
                <a:close/>
              </a:path>
              <a:path w="718820" h="533400">
                <a:moveTo>
                  <a:pt x="0" y="0"/>
                </a:moveTo>
                <a:lnTo>
                  <a:pt x="43657" y="85322"/>
                </a:lnTo>
                <a:lnTo>
                  <a:pt x="60589" y="62304"/>
                </a:lnTo>
                <a:lnTo>
                  <a:pt x="42722" y="49161"/>
                </a:lnTo>
                <a:lnTo>
                  <a:pt x="41361" y="40219"/>
                </a:lnTo>
                <a:lnTo>
                  <a:pt x="50712" y="27506"/>
                </a:lnTo>
                <a:lnTo>
                  <a:pt x="59655" y="26144"/>
                </a:lnTo>
                <a:lnTo>
                  <a:pt x="87188" y="26144"/>
                </a:lnTo>
                <a:lnTo>
                  <a:pt x="94453" y="16267"/>
                </a:lnTo>
                <a:lnTo>
                  <a:pt x="0" y="0"/>
                </a:lnTo>
                <a:close/>
              </a:path>
              <a:path w="718820" h="533400">
                <a:moveTo>
                  <a:pt x="59655" y="26144"/>
                </a:moveTo>
                <a:lnTo>
                  <a:pt x="50712" y="27506"/>
                </a:lnTo>
                <a:lnTo>
                  <a:pt x="41361" y="40219"/>
                </a:lnTo>
                <a:lnTo>
                  <a:pt x="42722" y="49161"/>
                </a:lnTo>
                <a:lnTo>
                  <a:pt x="60589" y="62304"/>
                </a:lnTo>
                <a:lnTo>
                  <a:pt x="77521" y="39286"/>
                </a:lnTo>
                <a:lnTo>
                  <a:pt x="59655" y="26144"/>
                </a:lnTo>
                <a:close/>
              </a:path>
              <a:path w="718820" h="533400">
                <a:moveTo>
                  <a:pt x="87188" y="26144"/>
                </a:moveTo>
                <a:lnTo>
                  <a:pt x="59655" y="26144"/>
                </a:lnTo>
                <a:lnTo>
                  <a:pt x="77521" y="39286"/>
                </a:lnTo>
                <a:lnTo>
                  <a:pt x="87188" y="26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04393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50520"/>
            <a:ext cx="6193536" cy="554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77020" y="262278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7020" y="262278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21786" y="269697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6918" y="34608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6918" y="34608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81683" y="3535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5669" y="346079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95669" y="346079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40434" y="3535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77020" y="43791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77020" y="43791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21786" y="4452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25914" y="43791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25914" y="43791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35357" y="521228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5"/>
                </a:lnTo>
                <a:lnTo>
                  <a:pt x="99388" y="409447"/>
                </a:lnTo>
                <a:lnTo>
                  <a:pt x="137679" y="430085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5"/>
                </a:lnTo>
                <a:lnTo>
                  <a:pt x="351462" y="409447"/>
                </a:lnTo>
                <a:lnTo>
                  <a:pt x="384824" y="382115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49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35357" y="521228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080123" y="52877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38754" y="527784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5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5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38754" y="527784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783519" y="53517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05481" y="3070461"/>
            <a:ext cx="697230" cy="472440"/>
          </a:xfrm>
          <a:custGeom>
            <a:avLst/>
            <a:gdLst/>
            <a:ahLst/>
            <a:cxnLst/>
            <a:rect l="l" t="t" r="r" b="b"/>
            <a:pathLst>
              <a:path w="697229" h="472439">
                <a:moveTo>
                  <a:pt x="617788" y="35832"/>
                </a:moveTo>
                <a:lnTo>
                  <a:pt x="1755" y="448419"/>
                </a:lnTo>
                <a:lnTo>
                  <a:pt x="0" y="457293"/>
                </a:lnTo>
                <a:lnTo>
                  <a:pt x="8782" y="470406"/>
                </a:lnTo>
                <a:lnTo>
                  <a:pt x="17656" y="472161"/>
                </a:lnTo>
                <a:lnTo>
                  <a:pt x="633689" y="59574"/>
                </a:lnTo>
                <a:lnTo>
                  <a:pt x="617788" y="35832"/>
                </a:lnTo>
                <a:close/>
              </a:path>
              <a:path w="697229" h="472439">
                <a:moveTo>
                  <a:pt x="683607" y="23491"/>
                </a:moveTo>
                <a:lnTo>
                  <a:pt x="636215" y="23491"/>
                </a:lnTo>
                <a:lnTo>
                  <a:pt x="645090" y="25246"/>
                </a:lnTo>
                <a:lnTo>
                  <a:pt x="653872" y="38357"/>
                </a:lnTo>
                <a:lnTo>
                  <a:pt x="652117" y="47232"/>
                </a:lnTo>
                <a:lnTo>
                  <a:pt x="633689" y="59574"/>
                </a:lnTo>
                <a:lnTo>
                  <a:pt x="649591" y="83315"/>
                </a:lnTo>
                <a:lnTo>
                  <a:pt x="683607" y="23491"/>
                </a:lnTo>
                <a:close/>
              </a:path>
              <a:path w="697229" h="472439">
                <a:moveTo>
                  <a:pt x="636215" y="23491"/>
                </a:moveTo>
                <a:lnTo>
                  <a:pt x="617788" y="35832"/>
                </a:lnTo>
                <a:lnTo>
                  <a:pt x="633689" y="59574"/>
                </a:lnTo>
                <a:lnTo>
                  <a:pt x="652117" y="47232"/>
                </a:lnTo>
                <a:lnTo>
                  <a:pt x="653872" y="38357"/>
                </a:lnTo>
                <a:lnTo>
                  <a:pt x="645090" y="25246"/>
                </a:lnTo>
                <a:lnTo>
                  <a:pt x="636215" y="23491"/>
                </a:lnTo>
                <a:close/>
              </a:path>
              <a:path w="697229" h="472439">
                <a:moveTo>
                  <a:pt x="696964" y="0"/>
                </a:moveTo>
                <a:lnTo>
                  <a:pt x="601887" y="12090"/>
                </a:lnTo>
                <a:lnTo>
                  <a:pt x="617788" y="35832"/>
                </a:lnTo>
                <a:lnTo>
                  <a:pt x="636215" y="23491"/>
                </a:lnTo>
                <a:lnTo>
                  <a:pt x="683607" y="23491"/>
                </a:lnTo>
                <a:lnTo>
                  <a:pt x="69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002445" y="3070461"/>
            <a:ext cx="775970" cy="472440"/>
          </a:xfrm>
          <a:custGeom>
            <a:avLst/>
            <a:gdLst/>
            <a:ahLst/>
            <a:cxnLst/>
            <a:rect l="l" t="t" r="r" b="b"/>
            <a:pathLst>
              <a:path w="775970" h="472439">
                <a:moveTo>
                  <a:pt x="80848" y="31880"/>
                </a:moveTo>
                <a:lnTo>
                  <a:pt x="66138" y="56378"/>
                </a:lnTo>
                <a:lnTo>
                  <a:pt x="758658" y="472210"/>
                </a:lnTo>
                <a:lnTo>
                  <a:pt x="767435" y="470018"/>
                </a:lnTo>
                <a:lnTo>
                  <a:pt x="775559" y="456488"/>
                </a:lnTo>
                <a:lnTo>
                  <a:pt x="773369" y="447711"/>
                </a:lnTo>
                <a:lnTo>
                  <a:pt x="80848" y="31880"/>
                </a:lnTo>
                <a:close/>
              </a:path>
              <a:path w="775970" h="472439">
                <a:moveTo>
                  <a:pt x="0" y="0"/>
                </a:moveTo>
                <a:lnTo>
                  <a:pt x="51428" y="80876"/>
                </a:lnTo>
                <a:lnTo>
                  <a:pt x="66138" y="56378"/>
                </a:lnTo>
                <a:lnTo>
                  <a:pt x="47124" y="44961"/>
                </a:lnTo>
                <a:lnTo>
                  <a:pt x="44933" y="36184"/>
                </a:lnTo>
                <a:lnTo>
                  <a:pt x="53058" y="22655"/>
                </a:lnTo>
                <a:lnTo>
                  <a:pt x="61835" y="20463"/>
                </a:lnTo>
                <a:lnTo>
                  <a:pt x="87703" y="20463"/>
                </a:lnTo>
                <a:lnTo>
                  <a:pt x="95558" y="7382"/>
                </a:lnTo>
                <a:lnTo>
                  <a:pt x="0" y="0"/>
                </a:lnTo>
                <a:close/>
              </a:path>
              <a:path w="775970" h="472439">
                <a:moveTo>
                  <a:pt x="61835" y="20463"/>
                </a:moveTo>
                <a:lnTo>
                  <a:pt x="53058" y="22655"/>
                </a:lnTo>
                <a:lnTo>
                  <a:pt x="44933" y="36184"/>
                </a:lnTo>
                <a:lnTo>
                  <a:pt x="47124" y="44961"/>
                </a:lnTo>
                <a:lnTo>
                  <a:pt x="66138" y="56378"/>
                </a:lnTo>
                <a:lnTo>
                  <a:pt x="80848" y="31880"/>
                </a:lnTo>
                <a:lnTo>
                  <a:pt x="61835" y="20463"/>
                </a:lnTo>
                <a:close/>
              </a:path>
              <a:path w="775970" h="472439">
                <a:moveTo>
                  <a:pt x="87703" y="20463"/>
                </a:moveTo>
                <a:lnTo>
                  <a:pt x="61835" y="20463"/>
                </a:lnTo>
                <a:lnTo>
                  <a:pt x="80848" y="31880"/>
                </a:lnTo>
                <a:lnTo>
                  <a:pt x="87703" y="20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45622" y="3908474"/>
            <a:ext cx="775970" cy="552450"/>
          </a:xfrm>
          <a:custGeom>
            <a:avLst/>
            <a:gdLst/>
            <a:ahLst/>
            <a:cxnLst/>
            <a:rect l="l" t="t" r="r" b="b"/>
            <a:pathLst>
              <a:path w="775970" h="552450">
                <a:moveTo>
                  <a:pt x="697206" y="37781"/>
                </a:moveTo>
                <a:lnTo>
                  <a:pt x="1535" y="529068"/>
                </a:lnTo>
                <a:lnTo>
                  <a:pt x="0" y="537983"/>
                </a:lnTo>
                <a:lnTo>
                  <a:pt x="9104" y="550875"/>
                </a:lnTo>
                <a:lnTo>
                  <a:pt x="18020" y="552409"/>
                </a:lnTo>
                <a:lnTo>
                  <a:pt x="713690" y="61122"/>
                </a:lnTo>
                <a:lnTo>
                  <a:pt x="697206" y="37781"/>
                </a:lnTo>
                <a:close/>
              </a:path>
              <a:path w="775970" h="552450">
                <a:moveTo>
                  <a:pt x="762071" y="24987"/>
                </a:moveTo>
                <a:lnTo>
                  <a:pt x="715323" y="24987"/>
                </a:lnTo>
                <a:lnTo>
                  <a:pt x="724237" y="26521"/>
                </a:lnTo>
                <a:lnTo>
                  <a:pt x="733342" y="39413"/>
                </a:lnTo>
                <a:lnTo>
                  <a:pt x="731807" y="48328"/>
                </a:lnTo>
                <a:lnTo>
                  <a:pt x="713690" y="61122"/>
                </a:lnTo>
                <a:lnTo>
                  <a:pt x="730173" y="84463"/>
                </a:lnTo>
                <a:lnTo>
                  <a:pt x="762071" y="24987"/>
                </a:lnTo>
                <a:close/>
              </a:path>
              <a:path w="775970" h="552450">
                <a:moveTo>
                  <a:pt x="715323" y="24987"/>
                </a:moveTo>
                <a:lnTo>
                  <a:pt x="697206" y="37781"/>
                </a:lnTo>
                <a:lnTo>
                  <a:pt x="713690" y="61122"/>
                </a:lnTo>
                <a:lnTo>
                  <a:pt x="731807" y="48328"/>
                </a:lnTo>
                <a:lnTo>
                  <a:pt x="733342" y="39413"/>
                </a:lnTo>
                <a:lnTo>
                  <a:pt x="724237" y="26521"/>
                </a:lnTo>
                <a:lnTo>
                  <a:pt x="715323" y="24987"/>
                </a:lnTo>
                <a:close/>
              </a:path>
              <a:path w="775970" h="552450">
                <a:moveTo>
                  <a:pt x="775472" y="0"/>
                </a:moveTo>
                <a:lnTo>
                  <a:pt x="680722" y="14439"/>
                </a:lnTo>
                <a:lnTo>
                  <a:pt x="697206" y="37781"/>
                </a:lnTo>
                <a:lnTo>
                  <a:pt x="715323" y="24987"/>
                </a:lnTo>
                <a:lnTo>
                  <a:pt x="762071" y="24987"/>
                </a:lnTo>
                <a:lnTo>
                  <a:pt x="775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921094" y="3908474"/>
            <a:ext cx="887730" cy="553085"/>
          </a:xfrm>
          <a:custGeom>
            <a:avLst/>
            <a:gdLst/>
            <a:ahLst/>
            <a:cxnLst/>
            <a:rect l="l" t="t" r="r" b="b"/>
            <a:pathLst>
              <a:path w="887729" h="553085">
                <a:moveTo>
                  <a:pt x="80487" y="32779"/>
                </a:moveTo>
                <a:lnTo>
                  <a:pt x="65506" y="57111"/>
                </a:lnTo>
                <a:lnTo>
                  <a:pt x="870071" y="552489"/>
                </a:lnTo>
                <a:lnTo>
                  <a:pt x="878873" y="550396"/>
                </a:lnTo>
                <a:lnTo>
                  <a:pt x="887147" y="536958"/>
                </a:lnTo>
                <a:lnTo>
                  <a:pt x="885054" y="528157"/>
                </a:lnTo>
                <a:lnTo>
                  <a:pt x="80487" y="32779"/>
                </a:lnTo>
                <a:close/>
              </a:path>
              <a:path w="887729" h="553085">
                <a:moveTo>
                  <a:pt x="0" y="0"/>
                </a:moveTo>
                <a:lnTo>
                  <a:pt x="50524" y="81445"/>
                </a:lnTo>
                <a:lnTo>
                  <a:pt x="65506" y="57111"/>
                </a:lnTo>
                <a:lnTo>
                  <a:pt x="46621" y="45483"/>
                </a:lnTo>
                <a:lnTo>
                  <a:pt x="44527" y="36683"/>
                </a:lnTo>
                <a:lnTo>
                  <a:pt x="52802" y="23244"/>
                </a:lnTo>
                <a:lnTo>
                  <a:pt x="61602" y="21151"/>
                </a:lnTo>
                <a:lnTo>
                  <a:pt x="87647" y="21151"/>
                </a:lnTo>
                <a:lnTo>
                  <a:pt x="95469" y="8446"/>
                </a:lnTo>
                <a:lnTo>
                  <a:pt x="0" y="0"/>
                </a:lnTo>
                <a:close/>
              </a:path>
              <a:path w="887729" h="553085">
                <a:moveTo>
                  <a:pt x="61602" y="21151"/>
                </a:moveTo>
                <a:lnTo>
                  <a:pt x="52802" y="23244"/>
                </a:lnTo>
                <a:lnTo>
                  <a:pt x="44527" y="36683"/>
                </a:lnTo>
                <a:lnTo>
                  <a:pt x="46621" y="45483"/>
                </a:lnTo>
                <a:lnTo>
                  <a:pt x="65506" y="57111"/>
                </a:lnTo>
                <a:lnTo>
                  <a:pt x="80487" y="32779"/>
                </a:lnTo>
                <a:lnTo>
                  <a:pt x="61602" y="21151"/>
                </a:lnTo>
                <a:close/>
              </a:path>
              <a:path w="887729" h="553085">
                <a:moveTo>
                  <a:pt x="87647" y="21151"/>
                </a:moveTo>
                <a:lnTo>
                  <a:pt x="61602" y="21151"/>
                </a:lnTo>
                <a:lnTo>
                  <a:pt x="80487" y="32779"/>
                </a:lnTo>
                <a:lnTo>
                  <a:pt x="87647" y="21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303912" y="4826777"/>
            <a:ext cx="699135" cy="467359"/>
          </a:xfrm>
          <a:custGeom>
            <a:avLst/>
            <a:gdLst/>
            <a:ahLst/>
            <a:cxnLst/>
            <a:rect l="l" t="t" r="r" b="b"/>
            <a:pathLst>
              <a:path w="699135" h="467360">
                <a:moveTo>
                  <a:pt x="619143" y="35358"/>
                </a:moveTo>
                <a:lnTo>
                  <a:pt x="1808" y="443500"/>
                </a:lnTo>
                <a:lnTo>
                  <a:pt x="0" y="452365"/>
                </a:lnTo>
                <a:lnTo>
                  <a:pt x="8703" y="465529"/>
                </a:lnTo>
                <a:lnTo>
                  <a:pt x="17567" y="467337"/>
                </a:lnTo>
                <a:lnTo>
                  <a:pt x="634903" y="59194"/>
                </a:lnTo>
                <a:lnTo>
                  <a:pt x="619143" y="35358"/>
                </a:lnTo>
                <a:close/>
              </a:path>
              <a:path w="699135" h="467360">
                <a:moveTo>
                  <a:pt x="685199" y="23126"/>
                </a:moveTo>
                <a:lnTo>
                  <a:pt x="637645" y="23126"/>
                </a:lnTo>
                <a:lnTo>
                  <a:pt x="646508" y="24935"/>
                </a:lnTo>
                <a:lnTo>
                  <a:pt x="655212" y="38100"/>
                </a:lnTo>
                <a:lnTo>
                  <a:pt x="653403" y="46963"/>
                </a:lnTo>
                <a:lnTo>
                  <a:pt x="634903" y="59194"/>
                </a:lnTo>
                <a:lnTo>
                  <a:pt x="650662" y="83031"/>
                </a:lnTo>
                <a:lnTo>
                  <a:pt x="685199" y="23126"/>
                </a:lnTo>
                <a:close/>
              </a:path>
              <a:path w="699135" h="467360">
                <a:moveTo>
                  <a:pt x="637645" y="23126"/>
                </a:moveTo>
                <a:lnTo>
                  <a:pt x="619143" y="35358"/>
                </a:lnTo>
                <a:lnTo>
                  <a:pt x="634903" y="59194"/>
                </a:lnTo>
                <a:lnTo>
                  <a:pt x="653403" y="46963"/>
                </a:lnTo>
                <a:lnTo>
                  <a:pt x="655212" y="38100"/>
                </a:lnTo>
                <a:lnTo>
                  <a:pt x="646508" y="24935"/>
                </a:lnTo>
                <a:lnTo>
                  <a:pt x="637645" y="23126"/>
                </a:lnTo>
                <a:close/>
              </a:path>
              <a:path w="699135" h="467360">
                <a:moveTo>
                  <a:pt x="698533" y="0"/>
                </a:moveTo>
                <a:lnTo>
                  <a:pt x="603384" y="11522"/>
                </a:lnTo>
                <a:lnTo>
                  <a:pt x="619143" y="35358"/>
                </a:lnTo>
                <a:lnTo>
                  <a:pt x="637645" y="23126"/>
                </a:lnTo>
                <a:lnTo>
                  <a:pt x="685199" y="23126"/>
                </a:lnTo>
                <a:lnTo>
                  <a:pt x="698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02445" y="4826777"/>
            <a:ext cx="718820" cy="533400"/>
          </a:xfrm>
          <a:custGeom>
            <a:avLst/>
            <a:gdLst/>
            <a:ahLst/>
            <a:cxnLst/>
            <a:rect l="l" t="t" r="r" b="b"/>
            <a:pathLst>
              <a:path w="718820" h="533400">
                <a:moveTo>
                  <a:pt x="77520" y="39286"/>
                </a:moveTo>
                <a:lnTo>
                  <a:pt x="60588" y="62304"/>
                </a:lnTo>
                <a:lnTo>
                  <a:pt x="700224" y="532811"/>
                </a:lnTo>
                <a:lnTo>
                  <a:pt x="709167" y="531449"/>
                </a:lnTo>
                <a:lnTo>
                  <a:pt x="718519" y="518736"/>
                </a:lnTo>
                <a:lnTo>
                  <a:pt x="717156" y="509794"/>
                </a:lnTo>
                <a:lnTo>
                  <a:pt x="77520" y="39286"/>
                </a:lnTo>
                <a:close/>
              </a:path>
              <a:path w="718820" h="533400">
                <a:moveTo>
                  <a:pt x="0" y="0"/>
                </a:moveTo>
                <a:lnTo>
                  <a:pt x="43657" y="85322"/>
                </a:lnTo>
                <a:lnTo>
                  <a:pt x="60588" y="62304"/>
                </a:lnTo>
                <a:lnTo>
                  <a:pt x="42722" y="49162"/>
                </a:lnTo>
                <a:lnTo>
                  <a:pt x="41360" y="40219"/>
                </a:lnTo>
                <a:lnTo>
                  <a:pt x="50712" y="27506"/>
                </a:lnTo>
                <a:lnTo>
                  <a:pt x="59654" y="26144"/>
                </a:lnTo>
                <a:lnTo>
                  <a:pt x="87187" y="26144"/>
                </a:lnTo>
                <a:lnTo>
                  <a:pt x="94452" y="16267"/>
                </a:lnTo>
                <a:lnTo>
                  <a:pt x="0" y="0"/>
                </a:lnTo>
                <a:close/>
              </a:path>
              <a:path w="718820" h="533400">
                <a:moveTo>
                  <a:pt x="59654" y="26144"/>
                </a:moveTo>
                <a:lnTo>
                  <a:pt x="50712" y="27506"/>
                </a:lnTo>
                <a:lnTo>
                  <a:pt x="41360" y="40219"/>
                </a:lnTo>
                <a:lnTo>
                  <a:pt x="42722" y="49162"/>
                </a:lnTo>
                <a:lnTo>
                  <a:pt x="60588" y="62304"/>
                </a:lnTo>
                <a:lnTo>
                  <a:pt x="77520" y="39286"/>
                </a:lnTo>
                <a:lnTo>
                  <a:pt x="59654" y="26144"/>
                </a:lnTo>
                <a:close/>
              </a:path>
              <a:path w="718820" h="533400">
                <a:moveTo>
                  <a:pt x="87187" y="26144"/>
                </a:moveTo>
                <a:lnTo>
                  <a:pt x="59654" y="26144"/>
                </a:lnTo>
                <a:lnTo>
                  <a:pt x="77520" y="39286"/>
                </a:lnTo>
                <a:lnTo>
                  <a:pt x="87187" y="26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93331" y="4766636"/>
            <a:ext cx="2395855" cy="349885"/>
          </a:xfrm>
          <a:custGeom>
            <a:avLst/>
            <a:gdLst/>
            <a:ahLst/>
            <a:cxnLst/>
            <a:rect l="l" t="t" r="r" b="b"/>
            <a:pathLst>
              <a:path w="2395854" h="349885">
                <a:moveTo>
                  <a:pt x="1832162" y="0"/>
                </a:moveTo>
                <a:lnTo>
                  <a:pt x="58303" y="0"/>
                </a:lnTo>
                <a:lnTo>
                  <a:pt x="35609" y="4581"/>
                </a:lnTo>
                <a:lnTo>
                  <a:pt x="17076" y="17076"/>
                </a:lnTo>
                <a:lnTo>
                  <a:pt x="4581" y="35609"/>
                </a:lnTo>
                <a:lnTo>
                  <a:pt x="0" y="58303"/>
                </a:lnTo>
                <a:lnTo>
                  <a:pt x="0" y="291517"/>
                </a:lnTo>
                <a:lnTo>
                  <a:pt x="4581" y="314211"/>
                </a:lnTo>
                <a:lnTo>
                  <a:pt x="17076" y="332744"/>
                </a:lnTo>
                <a:lnTo>
                  <a:pt x="35609" y="345239"/>
                </a:lnTo>
                <a:lnTo>
                  <a:pt x="58303" y="349821"/>
                </a:lnTo>
                <a:lnTo>
                  <a:pt x="1832162" y="349821"/>
                </a:lnTo>
                <a:lnTo>
                  <a:pt x="1854856" y="345239"/>
                </a:lnTo>
                <a:lnTo>
                  <a:pt x="1873389" y="332744"/>
                </a:lnTo>
                <a:lnTo>
                  <a:pt x="1885884" y="314211"/>
                </a:lnTo>
                <a:lnTo>
                  <a:pt x="1890466" y="291517"/>
                </a:lnTo>
                <a:lnTo>
                  <a:pt x="2291848" y="291517"/>
                </a:lnTo>
                <a:lnTo>
                  <a:pt x="1890466" y="204062"/>
                </a:lnTo>
                <a:lnTo>
                  <a:pt x="1890466" y="58303"/>
                </a:lnTo>
                <a:lnTo>
                  <a:pt x="1885884" y="35609"/>
                </a:lnTo>
                <a:lnTo>
                  <a:pt x="1873389" y="17076"/>
                </a:lnTo>
                <a:lnTo>
                  <a:pt x="1854856" y="4581"/>
                </a:lnTo>
                <a:lnTo>
                  <a:pt x="1832162" y="0"/>
                </a:lnTo>
                <a:close/>
              </a:path>
              <a:path w="2395854" h="349885">
                <a:moveTo>
                  <a:pt x="2291848" y="291517"/>
                </a:moveTo>
                <a:lnTo>
                  <a:pt x="1890466" y="291517"/>
                </a:lnTo>
                <a:lnTo>
                  <a:pt x="2395390" y="314077"/>
                </a:lnTo>
                <a:lnTo>
                  <a:pt x="2291848" y="291517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93331" y="4766636"/>
            <a:ext cx="2395855" cy="349885"/>
          </a:xfrm>
          <a:custGeom>
            <a:avLst/>
            <a:gdLst/>
            <a:ahLst/>
            <a:cxnLst/>
            <a:rect l="l" t="t" r="r" b="b"/>
            <a:pathLst>
              <a:path w="2395854" h="349885">
                <a:moveTo>
                  <a:pt x="0" y="58304"/>
                </a:moveTo>
                <a:lnTo>
                  <a:pt x="4581" y="35609"/>
                </a:lnTo>
                <a:lnTo>
                  <a:pt x="17076" y="17076"/>
                </a:lnTo>
                <a:lnTo>
                  <a:pt x="35609" y="4581"/>
                </a:lnTo>
                <a:lnTo>
                  <a:pt x="58303" y="0"/>
                </a:lnTo>
                <a:lnTo>
                  <a:pt x="1102772" y="0"/>
                </a:lnTo>
                <a:lnTo>
                  <a:pt x="1575388" y="0"/>
                </a:lnTo>
                <a:lnTo>
                  <a:pt x="1832162" y="0"/>
                </a:lnTo>
                <a:lnTo>
                  <a:pt x="1854856" y="4581"/>
                </a:lnTo>
                <a:lnTo>
                  <a:pt x="1873389" y="17076"/>
                </a:lnTo>
                <a:lnTo>
                  <a:pt x="1885884" y="35609"/>
                </a:lnTo>
                <a:lnTo>
                  <a:pt x="1890466" y="58304"/>
                </a:lnTo>
                <a:lnTo>
                  <a:pt x="1890466" y="204063"/>
                </a:lnTo>
                <a:lnTo>
                  <a:pt x="2395390" y="314077"/>
                </a:lnTo>
                <a:lnTo>
                  <a:pt x="1890466" y="291518"/>
                </a:lnTo>
                <a:lnTo>
                  <a:pt x="1885884" y="314212"/>
                </a:lnTo>
                <a:lnTo>
                  <a:pt x="1873389" y="332745"/>
                </a:lnTo>
                <a:lnTo>
                  <a:pt x="1854856" y="345240"/>
                </a:lnTo>
                <a:lnTo>
                  <a:pt x="1832162" y="349822"/>
                </a:lnTo>
                <a:lnTo>
                  <a:pt x="1575388" y="349822"/>
                </a:lnTo>
                <a:lnTo>
                  <a:pt x="1102772" y="349822"/>
                </a:lnTo>
                <a:lnTo>
                  <a:pt x="58303" y="349822"/>
                </a:lnTo>
                <a:lnTo>
                  <a:pt x="35609" y="345240"/>
                </a:lnTo>
                <a:lnTo>
                  <a:pt x="17076" y="332745"/>
                </a:lnTo>
                <a:lnTo>
                  <a:pt x="4581" y="314212"/>
                </a:lnTo>
                <a:lnTo>
                  <a:pt x="0" y="291518"/>
                </a:lnTo>
                <a:lnTo>
                  <a:pt x="0" y="204063"/>
                </a:lnTo>
                <a:lnTo>
                  <a:pt x="0" y="583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89147" y="4764532"/>
            <a:ext cx="16700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1</a:t>
            </a:r>
            <a:r>
              <a:rPr dirty="0" sz="1600" spc="114">
                <a:latin typeface="Cambria Math"/>
                <a:cs typeface="Cambria Math"/>
              </a:rPr>
              <a:t> </a:t>
            </a:r>
            <a:r>
              <a:rPr dirty="0" sz="1600" spc="-5">
                <a:latin typeface="Arial"/>
                <a:cs typeface="Arial"/>
              </a:rPr>
              <a:t>descendant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38729" y="4877399"/>
            <a:ext cx="2409825" cy="349885"/>
          </a:xfrm>
          <a:custGeom>
            <a:avLst/>
            <a:gdLst/>
            <a:ahLst/>
            <a:cxnLst/>
            <a:rect l="l" t="t" r="r" b="b"/>
            <a:pathLst>
              <a:path w="2409825" h="349885">
                <a:moveTo>
                  <a:pt x="2409362" y="291518"/>
                </a:moveTo>
                <a:lnTo>
                  <a:pt x="425450" y="291518"/>
                </a:lnTo>
                <a:lnTo>
                  <a:pt x="430031" y="314213"/>
                </a:lnTo>
                <a:lnTo>
                  <a:pt x="442526" y="332745"/>
                </a:lnTo>
                <a:lnTo>
                  <a:pt x="461059" y="345240"/>
                </a:lnTo>
                <a:lnTo>
                  <a:pt x="483754" y="349822"/>
                </a:lnTo>
                <a:lnTo>
                  <a:pt x="2351058" y="349822"/>
                </a:lnTo>
                <a:lnTo>
                  <a:pt x="2373753" y="345240"/>
                </a:lnTo>
                <a:lnTo>
                  <a:pt x="2392285" y="332745"/>
                </a:lnTo>
                <a:lnTo>
                  <a:pt x="2404780" y="314213"/>
                </a:lnTo>
                <a:lnTo>
                  <a:pt x="2409362" y="291518"/>
                </a:lnTo>
                <a:close/>
              </a:path>
              <a:path w="2409825" h="349885">
                <a:moveTo>
                  <a:pt x="2351058" y="0"/>
                </a:moveTo>
                <a:lnTo>
                  <a:pt x="483754" y="0"/>
                </a:lnTo>
                <a:lnTo>
                  <a:pt x="461059" y="4582"/>
                </a:lnTo>
                <a:lnTo>
                  <a:pt x="442526" y="17077"/>
                </a:lnTo>
                <a:lnTo>
                  <a:pt x="430031" y="35610"/>
                </a:lnTo>
                <a:lnTo>
                  <a:pt x="425450" y="58305"/>
                </a:lnTo>
                <a:lnTo>
                  <a:pt x="425450" y="204063"/>
                </a:lnTo>
                <a:lnTo>
                  <a:pt x="0" y="235419"/>
                </a:lnTo>
                <a:lnTo>
                  <a:pt x="425450" y="291519"/>
                </a:lnTo>
                <a:lnTo>
                  <a:pt x="2409362" y="291518"/>
                </a:lnTo>
                <a:lnTo>
                  <a:pt x="2409362" y="58305"/>
                </a:lnTo>
                <a:lnTo>
                  <a:pt x="2404780" y="35610"/>
                </a:lnTo>
                <a:lnTo>
                  <a:pt x="2392285" y="17077"/>
                </a:lnTo>
                <a:lnTo>
                  <a:pt x="2373753" y="4582"/>
                </a:lnTo>
                <a:lnTo>
                  <a:pt x="2351058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38729" y="4877399"/>
            <a:ext cx="2409825" cy="349885"/>
          </a:xfrm>
          <a:custGeom>
            <a:avLst/>
            <a:gdLst/>
            <a:ahLst/>
            <a:cxnLst/>
            <a:rect l="l" t="t" r="r" b="b"/>
            <a:pathLst>
              <a:path w="2409825" h="349885">
                <a:moveTo>
                  <a:pt x="425450" y="58304"/>
                </a:moveTo>
                <a:lnTo>
                  <a:pt x="430031" y="35609"/>
                </a:lnTo>
                <a:lnTo>
                  <a:pt x="442527" y="17077"/>
                </a:lnTo>
                <a:lnTo>
                  <a:pt x="461059" y="4581"/>
                </a:lnTo>
                <a:lnTo>
                  <a:pt x="483754" y="0"/>
                </a:lnTo>
                <a:lnTo>
                  <a:pt x="756102" y="0"/>
                </a:lnTo>
                <a:lnTo>
                  <a:pt x="1252080" y="0"/>
                </a:lnTo>
                <a:lnTo>
                  <a:pt x="2351058" y="0"/>
                </a:lnTo>
                <a:lnTo>
                  <a:pt x="2373752" y="4581"/>
                </a:lnTo>
                <a:lnTo>
                  <a:pt x="2392285" y="17077"/>
                </a:lnTo>
                <a:lnTo>
                  <a:pt x="2404781" y="35609"/>
                </a:lnTo>
                <a:lnTo>
                  <a:pt x="2409363" y="58304"/>
                </a:lnTo>
                <a:lnTo>
                  <a:pt x="2409363" y="204063"/>
                </a:lnTo>
                <a:lnTo>
                  <a:pt x="2409363" y="291519"/>
                </a:lnTo>
                <a:lnTo>
                  <a:pt x="2404781" y="314212"/>
                </a:lnTo>
                <a:lnTo>
                  <a:pt x="2392285" y="332744"/>
                </a:lnTo>
                <a:lnTo>
                  <a:pt x="2373752" y="345240"/>
                </a:lnTo>
                <a:lnTo>
                  <a:pt x="2351058" y="349822"/>
                </a:lnTo>
                <a:lnTo>
                  <a:pt x="1252080" y="349822"/>
                </a:lnTo>
                <a:lnTo>
                  <a:pt x="756102" y="349822"/>
                </a:lnTo>
                <a:lnTo>
                  <a:pt x="483754" y="349822"/>
                </a:lnTo>
                <a:lnTo>
                  <a:pt x="461059" y="345240"/>
                </a:lnTo>
                <a:lnTo>
                  <a:pt x="442527" y="332744"/>
                </a:lnTo>
                <a:lnTo>
                  <a:pt x="430031" y="314212"/>
                </a:lnTo>
                <a:lnTo>
                  <a:pt x="425450" y="291517"/>
                </a:lnTo>
                <a:lnTo>
                  <a:pt x="0" y="235419"/>
                </a:lnTo>
                <a:lnTo>
                  <a:pt x="425450" y="204063"/>
                </a:lnTo>
                <a:lnTo>
                  <a:pt x="425450" y="583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959996" y="4452620"/>
            <a:ext cx="1670050" cy="694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600">
                <a:latin typeface="Cambria Math"/>
                <a:cs typeface="Cambria Math"/>
              </a:rPr>
              <a:t>𝑚 = 1</a:t>
            </a:r>
            <a:r>
              <a:rPr dirty="0" sz="1600" spc="114">
                <a:latin typeface="Cambria Math"/>
                <a:cs typeface="Cambria Math"/>
              </a:rPr>
              <a:t> </a:t>
            </a:r>
            <a:r>
              <a:rPr dirty="0" sz="1600" spc="-5">
                <a:latin typeface="Arial"/>
                <a:cs typeface="Arial"/>
              </a:rPr>
              <a:t>descendant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21625" y="4009306"/>
            <a:ext cx="2348230" cy="558800"/>
          </a:xfrm>
          <a:custGeom>
            <a:avLst/>
            <a:gdLst/>
            <a:ahLst/>
            <a:cxnLst/>
            <a:rect l="l" t="t" r="r" b="b"/>
            <a:pathLst>
              <a:path w="2348229" h="558800">
                <a:moveTo>
                  <a:pt x="2069894" y="0"/>
                </a:moveTo>
                <a:lnTo>
                  <a:pt x="93088" y="0"/>
                </a:lnTo>
                <a:lnTo>
                  <a:pt x="56853" y="7315"/>
                </a:lnTo>
                <a:lnTo>
                  <a:pt x="27264" y="27265"/>
                </a:lnTo>
                <a:lnTo>
                  <a:pt x="7315" y="56854"/>
                </a:lnTo>
                <a:lnTo>
                  <a:pt x="0" y="93088"/>
                </a:lnTo>
                <a:lnTo>
                  <a:pt x="0" y="465430"/>
                </a:lnTo>
                <a:lnTo>
                  <a:pt x="7315" y="501662"/>
                </a:lnTo>
                <a:lnTo>
                  <a:pt x="27264" y="531251"/>
                </a:lnTo>
                <a:lnTo>
                  <a:pt x="56853" y="551201"/>
                </a:lnTo>
                <a:lnTo>
                  <a:pt x="93088" y="558516"/>
                </a:lnTo>
                <a:lnTo>
                  <a:pt x="2069894" y="558516"/>
                </a:lnTo>
                <a:lnTo>
                  <a:pt x="2106128" y="551201"/>
                </a:lnTo>
                <a:lnTo>
                  <a:pt x="2135717" y="531251"/>
                </a:lnTo>
                <a:lnTo>
                  <a:pt x="2155667" y="501662"/>
                </a:lnTo>
                <a:lnTo>
                  <a:pt x="2162982" y="465428"/>
                </a:lnTo>
                <a:lnTo>
                  <a:pt x="2318352" y="465428"/>
                </a:lnTo>
                <a:lnTo>
                  <a:pt x="2162982" y="325801"/>
                </a:lnTo>
                <a:lnTo>
                  <a:pt x="2162982" y="93088"/>
                </a:lnTo>
                <a:lnTo>
                  <a:pt x="2155667" y="56854"/>
                </a:lnTo>
                <a:lnTo>
                  <a:pt x="2135717" y="27265"/>
                </a:lnTo>
                <a:lnTo>
                  <a:pt x="2106128" y="7315"/>
                </a:lnTo>
                <a:lnTo>
                  <a:pt x="2069894" y="0"/>
                </a:lnTo>
                <a:close/>
              </a:path>
              <a:path w="2348229" h="558800">
                <a:moveTo>
                  <a:pt x="2318352" y="465428"/>
                </a:moveTo>
                <a:lnTo>
                  <a:pt x="2162982" y="465428"/>
                </a:lnTo>
                <a:lnTo>
                  <a:pt x="2347917" y="491998"/>
                </a:lnTo>
                <a:lnTo>
                  <a:pt x="2318352" y="465428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421625" y="4009306"/>
            <a:ext cx="2348230" cy="558800"/>
          </a:xfrm>
          <a:custGeom>
            <a:avLst/>
            <a:gdLst/>
            <a:ahLst/>
            <a:cxnLst/>
            <a:rect l="l" t="t" r="r" b="b"/>
            <a:pathLst>
              <a:path w="2348229" h="558800">
                <a:moveTo>
                  <a:pt x="0" y="93088"/>
                </a:moveTo>
                <a:lnTo>
                  <a:pt x="7315" y="56854"/>
                </a:lnTo>
                <a:lnTo>
                  <a:pt x="27264" y="27265"/>
                </a:lnTo>
                <a:lnTo>
                  <a:pt x="56854" y="7315"/>
                </a:lnTo>
                <a:lnTo>
                  <a:pt x="93088" y="0"/>
                </a:lnTo>
                <a:lnTo>
                  <a:pt x="1261740" y="0"/>
                </a:lnTo>
                <a:lnTo>
                  <a:pt x="1802486" y="0"/>
                </a:lnTo>
                <a:lnTo>
                  <a:pt x="2069895" y="0"/>
                </a:lnTo>
                <a:lnTo>
                  <a:pt x="2106129" y="7315"/>
                </a:lnTo>
                <a:lnTo>
                  <a:pt x="2135718" y="27265"/>
                </a:lnTo>
                <a:lnTo>
                  <a:pt x="2155667" y="56854"/>
                </a:lnTo>
                <a:lnTo>
                  <a:pt x="2162983" y="93088"/>
                </a:lnTo>
                <a:lnTo>
                  <a:pt x="2162983" y="325801"/>
                </a:lnTo>
                <a:lnTo>
                  <a:pt x="2347918" y="491997"/>
                </a:lnTo>
                <a:lnTo>
                  <a:pt x="2162983" y="465430"/>
                </a:lnTo>
                <a:lnTo>
                  <a:pt x="2155667" y="501662"/>
                </a:lnTo>
                <a:lnTo>
                  <a:pt x="2135718" y="531252"/>
                </a:lnTo>
                <a:lnTo>
                  <a:pt x="2106129" y="551201"/>
                </a:lnTo>
                <a:lnTo>
                  <a:pt x="2069895" y="558517"/>
                </a:lnTo>
                <a:lnTo>
                  <a:pt x="1802486" y="558517"/>
                </a:lnTo>
                <a:lnTo>
                  <a:pt x="1261740" y="558517"/>
                </a:lnTo>
                <a:lnTo>
                  <a:pt x="93088" y="558517"/>
                </a:lnTo>
                <a:lnTo>
                  <a:pt x="56854" y="551201"/>
                </a:lnTo>
                <a:lnTo>
                  <a:pt x="27264" y="531252"/>
                </a:lnTo>
                <a:lnTo>
                  <a:pt x="7315" y="501662"/>
                </a:lnTo>
                <a:lnTo>
                  <a:pt x="0" y="465428"/>
                </a:lnTo>
                <a:lnTo>
                  <a:pt x="0" y="325801"/>
                </a:lnTo>
                <a:lnTo>
                  <a:pt x="0" y="930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527629" y="4018788"/>
            <a:ext cx="1588135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95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Update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belief:</a:t>
            </a:r>
            <a:endParaRPr sz="1400">
              <a:latin typeface="Arial"/>
              <a:cs typeface="Arial"/>
            </a:endParaRPr>
          </a:p>
          <a:p>
            <a:pPr marL="373380">
              <a:lnSpc>
                <a:spcPts val="1735"/>
              </a:lnSpc>
            </a:pPr>
            <a:r>
              <a:rPr dirty="0" sz="1600">
                <a:latin typeface="Cambria Math"/>
                <a:cs typeface="Cambria Math"/>
              </a:rPr>
              <a:t>1 + 1 + 1 =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3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49909" y="1205484"/>
            <a:ext cx="51777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Update </a:t>
            </a:r>
            <a:r>
              <a:rPr dirty="0" spc="-15"/>
              <a:t>beliefs </a:t>
            </a:r>
            <a:r>
              <a:rPr dirty="0"/>
              <a:t>in </a:t>
            </a:r>
            <a:r>
              <a:rPr dirty="0" spc="-15"/>
              <a:t>tree</a:t>
            </a:r>
            <a:r>
              <a:rPr dirty="0" spc="0"/>
              <a:t> </a:t>
            </a:r>
            <a:r>
              <a:rPr dirty="0" spc="-15"/>
              <a:t>structure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04393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50520"/>
            <a:ext cx="6193536" cy="554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77020" y="262278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7020" y="262278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21786" y="269697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6918" y="34608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4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6918" y="34608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81683" y="3535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5669" y="346079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95669" y="3460799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40434" y="3535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77020" y="43791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77020" y="43791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921786" y="4452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25914" y="43791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25914" y="43791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870679" y="4452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35357" y="521228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5"/>
                </a:lnTo>
                <a:lnTo>
                  <a:pt x="99388" y="409447"/>
                </a:lnTo>
                <a:lnTo>
                  <a:pt x="137679" y="430085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5"/>
                </a:lnTo>
                <a:lnTo>
                  <a:pt x="351462" y="409447"/>
                </a:lnTo>
                <a:lnTo>
                  <a:pt x="384824" y="382115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49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5357" y="521228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080123" y="52877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38754" y="527784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5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5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38754" y="5277844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83519" y="53517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05481" y="3070461"/>
            <a:ext cx="697230" cy="472440"/>
          </a:xfrm>
          <a:custGeom>
            <a:avLst/>
            <a:gdLst/>
            <a:ahLst/>
            <a:cxnLst/>
            <a:rect l="l" t="t" r="r" b="b"/>
            <a:pathLst>
              <a:path w="697229" h="472439">
                <a:moveTo>
                  <a:pt x="617788" y="35832"/>
                </a:moveTo>
                <a:lnTo>
                  <a:pt x="1755" y="448419"/>
                </a:lnTo>
                <a:lnTo>
                  <a:pt x="0" y="457293"/>
                </a:lnTo>
                <a:lnTo>
                  <a:pt x="8782" y="470406"/>
                </a:lnTo>
                <a:lnTo>
                  <a:pt x="17656" y="472161"/>
                </a:lnTo>
                <a:lnTo>
                  <a:pt x="633689" y="59574"/>
                </a:lnTo>
                <a:lnTo>
                  <a:pt x="617788" y="35832"/>
                </a:lnTo>
                <a:close/>
              </a:path>
              <a:path w="697229" h="472439">
                <a:moveTo>
                  <a:pt x="683607" y="23491"/>
                </a:moveTo>
                <a:lnTo>
                  <a:pt x="636215" y="23491"/>
                </a:lnTo>
                <a:lnTo>
                  <a:pt x="645090" y="25246"/>
                </a:lnTo>
                <a:lnTo>
                  <a:pt x="653872" y="38357"/>
                </a:lnTo>
                <a:lnTo>
                  <a:pt x="652117" y="47232"/>
                </a:lnTo>
                <a:lnTo>
                  <a:pt x="633689" y="59574"/>
                </a:lnTo>
                <a:lnTo>
                  <a:pt x="649591" y="83315"/>
                </a:lnTo>
                <a:lnTo>
                  <a:pt x="683607" y="23491"/>
                </a:lnTo>
                <a:close/>
              </a:path>
              <a:path w="697229" h="472439">
                <a:moveTo>
                  <a:pt x="636215" y="23491"/>
                </a:moveTo>
                <a:lnTo>
                  <a:pt x="617788" y="35832"/>
                </a:lnTo>
                <a:lnTo>
                  <a:pt x="633689" y="59574"/>
                </a:lnTo>
                <a:lnTo>
                  <a:pt x="652117" y="47232"/>
                </a:lnTo>
                <a:lnTo>
                  <a:pt x="653872" y="38357"/>
                </a:lnTo>
                <a:lnTo>
                  <a:pt x="645090" y="25246"/>
                </a:lnTo>
                <a:lnTo>
                  <a:pt x="636215" y="23491"/>
                </a:lnTo>
                <a:close/>
              </a:path>
              <a:path w="697229" h="472439">
                <a:moveTo>
                  <a:pt x="696964" y="0"/>
                </a:moveTo>
                <a:lnTo>
                  <a:pt x="601887" y="12090"/>
                </a:lnTo>
                <a:lnTo>
                  <a:pt x="617788" y="35832"/>
                </a:lnTo>
                <a:lnTo>
                  <a:pt x="636215" y="23491"/>
                </a:lnTo>
                <a:lnTo>
                  <a:pt x="683607" y="23491"/>
                </a:lnTo>
                <a:lnTo>
                  <a:pt x="696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02445" y="3070461"/>
            <a:ext cx="775970" cy="472440"/>
          </a:xfrm>
          <a:custGeom>
            <a:avLst/>
            <a:gdLst/>
            <a:ahLst/>
            <a:cxnLst/>
            <a:rect l="l" t="t" r="r" b="b"/>
            <a:pathLst>
              <a:path w="775970" h="472439">
                <a:moveTo>
                  <a:pt x="80848" y="31880"/>
                </a:moveTo>
                <a:lnTo>
                  <a:pt x="66138" y="56378"/>
                </a:lnTo>
                <a:lnTo>
                  <a:pt x="758658" y="472210"/>
                </a:lnTo>
                <a:lnTo>
                  <a:pt x="767435" y="470018"/>
                </a:lnTo>
                <a:lnTo>
                  <a:pt x="775559" y="456488"/>
                </a:lnTo>
                <a:lnTo>
                  <a:pt x="773369" y="447711"/>
                </a:lnTo>
                <a:lnTo>
                  <a:pt x="80848" y="31880"/>
                </a:lnTo>
                <a:close/>
              </a:path>
              <a:path w="775970" h="472439">
                <a:moveTo>
                  <a:pt x="0" y="0"/>
                </a:moveTo>
                <a:lnTo>
                  <a:pt x="51428" y="80876"/>
                </a:lnTo>
                <a:lnTo>
                  <a:pt x="66138" y="56378"/>
                </a:lnTo>
                <a:lnTo>
                  <a:pt x="47124" y="44961"/>
                </a:lnTo>
                <a:lnTo>
                  <a:pt x="44933" y="36184"/>
                </a:lnTo>
                <a:lnTo>
                  <a:pt x="53058" y="22655"/>
                </a:lnTo>
                <a:lnTo>
                  <a:pt x="61835" y="20463"/>
                </a:lnTo>
                <a:lnTo>
                  <a:pt x="87703" y="20463"/>
                </a:lnTo>
                <a:lnTo>
                  <a:pt x="95558" y="7382"/>
                </a:lnTo>
                <a:lnTo>
                  <a:pt x="0" y="0"/>
                </a:lnTo>
                <a:close/>
              </a:path>
              <a:path w="775970" h="472439">
                <a:moveTo>
                  <a:pt x="61835" y="20463"/>
                </a:moveTo>
                <a:lnTo>
                  <a:pt x="53058" y="22655"/>
                </a:lnTo>
                <a:lnTo>
                  <a:pt x="44933" y="36184"/>
                </a:lnTo>
                <a:lnTo>
                  <a:pt x="47124" y="44961"/>
                </a:lnTo>
                <a:lnTo>
                  <a:pt x="66138" y="56378"/>
                </a:lnTo>
                <a:lnTo>
                  <a:pt x="80848" y="31880"/>
                </a:lnTo>
                <a:lnTo>
                  <a:pt x="61835" y="20463"/>
                </a:lnTo>
                <a:close/>
              </a:path>
              <a:path w="775970" h="472439">
                <a:moveTo>
                  <a:pt x="87703" y="20463"/>
                </a:moveTo>
                <a:lnTo>
                  <a:pt x="61835" y="20463"/>
                </a:lnTo>
                <a:lnTo>
                  <a:pt x="80848" y="31880"/>
                </a:lnTo>
                <a:lnTo>
                  <a:pt x="87703" y="20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145622" y="3908474"/>
            <a:ext cx="775970" cy="552450"/>
          </a:xfrm>
          <a:custGeom>
            <a:avLst/>
            <a:gdLst/>
            <a:ahLst/>
            <a:cxnLst/>
            <a:rect l="l" t="t" r="r" b="b"/>
            <a:pathLst>
              <a:path w="775970" h="552450">
                <a:moveTo>
                  <a:pt x="697206" y="37781"/>
                </a:moveTo>
                <a:lnTo>
                  <a:pt x="1535" y="529068"/>
                </a:lnTo>
                <a:lnTo>
                  <a:pt x="0" y="537983"/>
                </a:lnTo>
                <a:lnTo>
                  <a:pt x="9104" y="550875"/>
                </a:lnTo>
                <a:lnTo>
                  <a:pt x="18020" y="552409"/>
                </a:lnTo>
                <a:lnTo>
                  <a:pt x="713690" y="61122"/>
                </a:lnTo>
                <a:lnTo>
                  <a:pt x="697206" y="37781"/>
                </a:lnTo>
                <a:close/>
              </a:path>
              <a:path w="775970" h="552450">
                <a:moveTo>
                  <a:pt x="762071" y="24987"/>
                </a:moveTo>
                <a:lnTo>
                  <a:pt x="715323" y="24987"/>
                </a:lnTo>
                <a:lnTo>
                  <a:pt x="724237" y="26521"/>
                </a:lnTo>
                <a:lnTo>
                  <a:pt x="733342" y="39413"/>
                </a:lnTo>
                <a:lnTo>
                  <a:pt x="731807" y="48328"/>
                </a:lnTo>
                <a:lnTo>
                  <a:pt x="713690" y="61122"/>
                </a:lnTo>
                <a:lnTo>
                  <a:pt x="730173" y="84463"/>
                </a:lnTo>
                <a:lnTo>
                  <a:pt x="762071" y="24987"/>
                </a:lnTo>
                <a:close/>
              </a:path>
              <a:path w="775970" h="552450">
                <a:moveTo>
                  <a:pt x="715323" y="24987"/>
                </a:moveTo>
                <a:lnTo>
                  <a:pt x="697206" y="37781"/>
                </a:lnTo>
                <a:lnTo>
                  <a:pt x="713690" y="61122"/>
                </a:lnTo>
                <a:lnTo>
                  <a:pt x="731807" y="48328"/>
                </a:lnTo>
                <a:lnTo>
                  <a:pt x="733342" y="39413"/>
                </a:lnTo>
                <a:lnTo>
                  <a:pt x="724237" y="26521"/>
                </a:lnTo>
                <a:lnTo>
                  <a:pt x="715323" y="24987"/>
                </a:lnTo>
                <a:close/>
              </a:path>
              <a:path w="775970" h="552450">
                <a:moveTo>
                  <a:pt x="775472" y="0"/>
                </a:moveTo>
                <a:lnTo>
                  <a:pt x="680722" y="14439"/>
                </a:lnTo>
                <a:lnTo>
                  <a:pt x="697206" y="37781"/>
                </a:lnTo>
                <a:lnTo>
                  <a:pt x="715323" y="24987"/>
                </a:lnTo>
                <a:lnTo>
                  <a:pt x="762071" y="24987"/>
                </a:lnTo>
                <a:lnTo>
                  <a:pt x="775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21094" y="3908474"/>
            <a:ext cx="887730" cy="553085"/>
          </a:xfrm>
          <a:custGeom>
            <a:avLst/>
            <a:gdLst/>
            <a:ahLst/>
            <a:cxnLst/>
            <a:rect l="l" t="t" r="r" b="b"/>
            <a:pathLst>
              <a:path w="887729" h="553085">
                <a:moveTo>
                  <a:pt x="80487" y="32779"/>
                </a:moveTo>
                <a:lnTo>
                  <a:pt x="65506" y="57111"/>
                </a:lnTo>
                <a:lnTo>
                  <a:pt x="870071" y="552489"/>
                </a:lnTo>
                <a:lnTo>
                  <a:pt x="878873" y="550396"/>
                </a:lnTo>
                <a:lnTo>
                  <a:pt x="887147" y="536958"/>
                </a:lnTo>
                <a:lnTo>
                  <a:pt x="885054" y="528157"/>
                </a:lnTo>
                <a:lnTo>
                  <a:pt x="80487" y="32779"/>
                </a:lnTo>
                <a:close/>
              </a:path>
              <a:path w="887729" h="553085">
                <a:moveTo>
                  <a:pt x="0" y="0"/>
                </a:moveTo>
                <a:lnTo>
                  <a:pt x="50524" y="81445"/>
                </a:lnTo>
                <a:lnTo>
                  <a:pt x="65506" y="57111"/>
                </a:lnTo>
                <a:lnTo>
                  <a:pt x="46621" y="45483"/>
                </a:lnTo>
                <a:lnTo>
                  <a:pt x="44527" y="36683"/>
                </a:lnTo>
                <a:lnTo>
                  <a:pt x="52802" y="23244"/>
                </a:lnTo>
                <a:lnTo>
                  <a:pt x="61602" y="21151"/>
                </a:lnTo>
                <a:lnTo>
                  <a:pt x="87647" y="21151"/>
                </a:lnTo>
                <a:lnTo>
                  <a:pt x="95469" y="8446"/>
                </a:lnTo>
                <a:lnTo>
                  <a:pt x="0" y="0"/>
                </a:lnTo>
                <a:close/>
              </a:path>
              <a:path w="887729" h="553085">
                <a:moveTo>
                  <a:pt x="61602" y="21151"/>
                </a:moveTo>
                <a:lnTo>
                  <a:pt x="52802" y="23244"/>
                </a:lnTo>
                <a:lnTo>
                  <a:pt x="44527" y="36683"/>
                </a:lnTo>
                <a:lnTo>
                  <a:pt x="46621" y="45483"/>
                </a:lnTo>
                <a:lnTo>
                  <a:pt x="65506" y="57111"/>
                </a:lnTo>
                <a:lnTo>
                  <a:pt x="80487" y="32779"/>
                </a:lnTo>
                <a:lnTo>
                  <a:pt x="61602" y="21151"/>
                </a:lnTo>
                <a:close/>
              </a:path>
              <a:path w="887729" h="553085">
                <a:moveTo>
                  <a:pt x="87647" y="21151"/>
                </a:moveTo>
                <a:lnTo>
                  <a:pt x="61602" y="21151"/>
                </a:lnTo>
                <a:lnTo>
                  <a:pt x="80487" y="32779"/>
                </a:lnTo>
                <a:lnTo>
                  <a:pt x="87647" y="21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03912" y="4826777"/>
            <a:ext cx="699135" cy="467359"/>
          </a:xfrm>
          <a:custGeom>
            <a:avLst/>
            <a:gdLst/>
            <a:ahLst/>
            <a:cxnLst/>
            <a:rect l="l" t="t" r="r" b="b"/>
            <a:pathLst>
              <a:path w="699135" h="467360">
                <a:moveTo>
                  <a:pt x="619143" y="35358"/>
                </a:moveTo>
                <a:lnTo>
                  <a:pt x="1808" y="443500"/>
                </a:lnTo>
                <a:lnTo>
                  <a:pt x="0" y="452365"/>
                </a:lnTo>
                <a:lnTo>
                  <a:pt x="8703" y="465529"/>
                </a:lnTo>
                <a:lnTo>
                  <a:pt x="17567" y="467337"/>
                </a:lnTo>
                <a:lnTo>
                  <a:pt x="634903" y="59194"/>
                </a:lnTo>
                <a:lnTo>
                  <a:pt x="619143" y="35358"/>
                </a:lnTo>
                <a:close/>
              </a:path>
              <a:path w="699135" h="467360">
                <a:moveTo>
                  <a:pt x="685199" y="23126"/>
                </a:moveTo>
                <a:lnTo>
                  <a:pt x="637645" y="23126"/>
                </a:lnTo>
                <a:lnTo>
                  <a:pt x="646508" y="24935"/>
                </a:lnTo>
                <a:lnTo>
                  <a:pt x="655212" y="38100"/>
                </a:lnTo>
                <a:lnTo>
                  <a:pt x="653403" y="46963"/>
                </a:lnTo>
                <a:lnTo>
                  <a:pt x="634903" y="59194"/>
                </a:lnTo>
                <a:lnTo>
                  <a:pt x="650662" y="83031"/>
                </a:lnTo>
                <a:lnTo>
                  <a:pt x="685199" y="23126"/>
                </a:lnTo>
                <a:close/>
              </a:path>
              <a:path w="699135" h="467360">
                <a:moveTo>
                  <a:pt x="637645" y="23126"/>
                </a:moveTo>
                <a:lnTo>
                  <a:pt x="619143" y="35358"/>
                </a:lnTo>
                <a:lnTo>
                  <a:pt x="634903" y="59194"/>
                </a:lnTo>
                <a:lnTo>
                  <a:pt x="653403" y="46963"/>
                </a:lnTo>
                <a:lnTo>
                  <a:pt x="655212" y="38100"/>
                </a:lnTo>
                <a:lnTo>
                  <a:pt x="646508" y="24935"/>
                </a:lnTo>
                <a:lnTo>
                  <a:pt x="637645" y="23126"/>
                </a:lnTo>
                <a:close/>
              </a:path>
              <a:path w="699135" h="467360">
                <a:moveTo>
                  <a:pt x="698533" y="0"/>
                </a:moveTo>
                <a:lnTo>
                  <a:pt x="603384" y="11522"/>
                </a:lnTo>
                <a:lnTo>
                  <a:pt x="619143" y="35358"/>
                </a:lnTo>
                <a:lnTo>
                  <a:pt x="637645" y="23126"/>
                </a:lnTo>
                <a:lnTo>
                  <a:pt x="685199" y="23126"/>
                </a:lnTo>
                <a:lnTo>
                  <a:pt x="698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02445" y="4826777"/>
            <a:ext cx="718820" cy="533400"/>
          </a:xfrm>
          <a:custGeom>
            <a:avLst/>
            <a:gdLst/>
            <a:ahLst/>
            <a:cxnLst/>
            <a:rect l="l" t="t" r="r" b="b"/>
            <a:pathLst>
              <a:path w="718820" h="533400">
                <a:moveTo>
                  <a:pt x="77520" y="39286"/>
                </a:moveTo>
                <a:lnTo>
                  <a:pt x="60588" y="62304"/>
                </a:lnTo>
                <a:lnTo>
                  <a:pt x="700224" y="532811"/>
                </a:lnTo>
                <a:lnTo>
                  <a:pt x="709167" y="531449"/>
                </a:lnTo>
                <a:lnTo>
                  <a:pt x="718519" y="518736"/>
                </a:lnTo>
                <a:lnTo>
                  <a:pt x="717156" y="509794"/>
                </a:lnTo>
                <a:lnTo>
                  <a:pt x="77520" y="39286"/>
                </a:lnTo>
                <a:close/>
              </a:path>
              <a:path w="718820" h="533400">
                <a:moveTo>
                  <a:pt x="0" y="0"/>
                </a:moveTo>
                <a:lnTo>
                  <a:pt x="43657" y="85322"/>
                </a:lnTo>
                <a:lnTo>
                  <a:pt x="60588" y="62304"/>
                </a:lnTo>
                <a:lnTo>
                  <a:pt x="42722" y="49162"/>
                </a:lnTo>
                <a:lnTo>
                  <a:pt x="41360" y="40219"/>
                </a:lnTo>
                <a:lnTo>
                  <a:pt x="50712" y="27506"/>
                </a:lnTo>
                <a:lnTo>
                  <a:pt x="59654" y="26144"/>
                </a:lnTo>
                <a:lnTo>
                  <a:pt x="87187" y="26144"/>
                </a:lnTo>
                <a:lnTo>
                  <a:pt x="94452" y="16267"/>
                </a:lnTo>
                <a:lnTo>
                  <a:pt x="0" y="0"/>
                </a:lnTo>
                <a:close/>
              </a:path>
              <a:path w="718820" h="533400">
                <a:moveTo>
                  <a:pt x="59654" y="26144"/>
                </a:moveTo>
                <a:lnTo>
                  <a:pt x="50712" y="27506"/>
                </a:lnTo>
                <a:lnTo>
                  <a:pt x="41360" y="40219"/>
                </a:lnTo>
                <a:lnTo>
                  <a:pt x="42722" y="49162"/>
                </a:lnTo>
                <a:lnTo>
                  <a:pt x="60588" y="62304"/>
                </a:lnTo>
                <a:lnTo>
                  <a:pt x="77520" y="39286"/>
                </a:lnTo>
                <a:lnTo>
                  <a:pt x="59654" y="26144"/>
                </a:lnTo>
                <a:close/>
              </a:path>
              <a:path w="718820" h="533400">
                <a:moveTo>
                  <a:pt x="87187" y="26144"/>
                </a:moveTo>
                <a:lnTo>
                  <a:pt x="59654" y="26144"/>
                </a:lnTo>
                <a:lnTo>
                  <a:pt x="77520" y="39286"/>
                </a:lnTo>
                <a:lnTo>
                  <a:pt x="87187" y="26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70190" y="2948588"/>
            <a:ext cx="2395855" cy="349885"/>
          </a:xfrm>
          <a:custGeom>
            <a:avLst/>
            <a:gdLst/>
            <a:ahLst/>
            <a:cxnLst/>
            <a:rect l="l" t="t" r="r" b="b"/>
            <a:pathLst>
              <a:path w="2395854" h="349885">
                <a:moveTo>
                  <a:pt x="1832162" y="0"/>
                </a:moveTo>
                <a:lnTo>
                  <a:pt x="58304" y="0"/>
                </a:lnTo>
                <a:lnTo>
                  <a:pt x="35609" y="4581"/>
                </a:lnTo>
                <a:lnTo>
                  <a:pt x="17076" y="17076"/>
                </a:lnTo>
                <a:lnTo>
                  <a:pt x="4581" y="35609"/>
                </a:lnTo>
                <a:lnTo>
                  <a:pt x="0" y="58303"/>
                </a:lnTo>
                <a:lnTo>
                  <a:pt x="0" y="291518"/>
                </a:lnTo>
                <a:lnTo>
                  <a:pt x="4581" y="314212"/>
                </a:lnTo>
                <a:lnTo>
                  <a:pt x="17076" y="332744"/>
                </a:lnTo>
                <a:lnTo>
                  <a:pt x="35609" y="345239"/>
                </a:lnTo>
                <a:lnTo>
                  <a:pt x="58304" y="349821"/>
                </a:lnTo>
                <a:lnTo>
                  <a:pt x="1832162" y="349821"/>
                </a:lnTo>
                <a:lnTo>
                  <a:pt x="1854857" y="345239"/>
                </a:lnTo>
                <a:lnTo>
                  <a:pt x="1873389" y="332744"/>
                </a:lnTo>
                <a:lnTo>
                  <a:pt x="1885884" y="314212"/>
                </a:lnTo>
                <a:lnTo>
                  <a:pt x="1890466" y="291518"/>
                </a:lnTo>
                <a:lnTo>
                  <a:pt x="2291854" y="291518"/>
                </a:lnTo>
                <a:lnTo>
                  <a:pt x="1890466" y="204062"/>
                </a:lnTo>
                <a:lnTo>
                  <a:pt x="1890466" y="58303"/>
                </a:lnTo>
                <a:lnTo>
                  <a:pt x="1885884" y="35609"/>
                </a:lnTo>
                <a:lnTo>
                  <a:pt x="1873389" y="17076"/>
                </a:lnTo>
                <a:lnTo>
                  <a:pt x="1854857" y="4581"/>
                </a:lnTo>
                <a:lnTo>
                  <a:pt x="1832162" y="0"/>
                </a:lnTo>
                <a:close/>
              </a:path>
              <a:path w="2395854" h="349885">
                <a:moveTo>
                  <a:pt x="2291854" y="291518"/>
                </a:moveTo>
                <a:lnTo>
                  <a:pt x="1890466" y="291518"/>
                </a:lnTo>
                <a:lnTo>
                  <a:pt x="2395391" y="314077"/>
                </a:lnTo>
                <a:lnTo>
                  <a:pt x="2291854" y="291518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70190" y="2948588"/>
            <a:ext cx="2395855" cy="349885"/>
          </a:xfrm>
          <a:custGeom>
            <a:avLst/>
            <a:gdLst/>
            <a:ahLst/>
            <a:cxnLst/>
            <a:rect l="l" t="t" r="r" b="b"/>
            <a:pathLst>
              <a:path w="2395854" h="349885">
                <a:moveTo>
                  <a:pt x="0" y="58304"/>
                </a:moveTo>
                <a:lnTo>
                  <a:pt x="4581" y="35609"/>
                </a:lnTo>
                <a:lnTo>
                  <a:pt x="17076" y="17076"/>
                </a:lnTo>
                <a:lnTo>
                  <a:pt x="35609" y="4581"/>
                </a:lnTo>
                <a:lnTo>
                  <a:pt x="58303" y="0"/>
                </a:lnTo>
                <a:lnTo>
                  <a:pt x="1102772" y="0"/>
                </a:lnTo>
                <a:lnTo>
                  <a:pt x="1575388" y="0"/>
                </a:lnTo>
                <a:lnTo>
                  <a:pt x="1832162" y="0"/>
                </a:lnTo>
                <a:lnTo>
                  <a:pt x="1854856" y="4581"/>
                </a:lnTo>
                <a:lnTo>
                  <a:pt x="1873389" y="17076"/>
                </a:lnTo>
                <a:lnTo>
                  <a:pt x="1885884" y="35609"/>
                </a:lnTo>
                <a:lnTo>
                  <a:pt x="1890466" y="58304"/>
                </a:lnTo>
                <a:lnTo>
                  <a:pt x="1890466" y="204063"/>
                </a:lnTo>
                <a:lnTo>
                  <a:pt x="2395390" y="314077"/>
                </a:lnTo>
                <a:lnTo>
                  <a:pt x="1890466" y="291518"/>
                </a:lnTo>
                <a:lnTo>
                  <a:pt x="1885884" y="314212"/>
                </a:lnTo>
                <a:lnTo>
                  <a:pt x="1873389" y="332745"/>
                </a:lnTo>
                <a:lnTo>
                  <a:pt x="1854856" y="345240"/>
                </a:lnTo>
                <a:lnTo>
                  <a:pt x="1832162" y="349822"/>
                </a:lnTo>
                <a:lnTo>
                  <a:pt x="1575388" y="349822"/>
                </a:lnTo>
                <a:lnTo>
                  <a:pt x="1102772" y="349822"/>
                </a:lnTo>
                <a:lnTo>
                  <a:pt x="58303" y="349822"/>
                </a:lnTo>
                <a:lnTo>
                  <a:pt x="35609" y="345240"/>
                </a:lnTo>
                <a:lnTo>
                  <a:pt x="17076" y="332745"/>
                </a:lnTo>
                <a:lnTo>
                  <a:pt x="4581" y="314212"/>
                </a:lnTo>
                <a:lnTo>
                  <a:pt x="0" y="291518"/>
                </a:lnTo>
                <a:lnTo>
                  <a:pt x="0" y="204063"/>
                </a:lnTo>
                <a:lnTo>
                  <a:pt x="0" y="583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366008" y="2947923"/>
            <a:ext cx="16700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1</a:t>
            </a:r>
            <a:r>
              <a:rPr dirty="0" sz="1600" spc="114">
                <a:latin typeface="Cambria Math"/>
                <a:cs typeface="Cambria Math"/>
              </a:rPr>
              <a:t> </a:t>
            </a:r>
            <a:r>
              <a:rPr dirty="0" sz="1600" spc="-5">
                <a:latin typeface="Arial"/>
                <a:cs typeface="Arial"/>
              </a:rPr>
              <a:t>descendant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84730" y="2821685"/>
            <a:ext cx="2379980" cy="461645"/>
          </a:xfrm>
          <a:custGeom>
            <a:avLst/>
            <a:gdLst/>
            <a:ahLst/>
            <a:cxnLst/>
            <a:rect l="l" t="t" r="r" b="b"/>
            <a:pathLst>
              <a:path w="2379979" h="461645">
                <a:moveTo>
                  <a:pt x="1222579" y="349821"/>
                </a:moveTo>
                <a:lnTo>
                  <a:pt x="726601" y="349821"/>
                </a:lnTo>
                <a:lnTo>
                  <a:pt x="0" y="461562"/>
                </a:lnTo>
                <a:lnTo>
                  <a:pt x="1222579" y="349821"/>
                </a:lnTo>
                <a:close/>
              </a:path>
              <a:path w="2379979" h="461645">
                <a:moveTo>
                  <a:pt x="2321557" y="0"/>
                </a:moveTo>
                <a:lnTo>
                  <a:pt x="454253" y="0"/>
                </a:lnTo>
                <a:lnTo>
                  <a:pt x="431558" y="4581"/>
                </a:lnTo>
                <a:lnTo>
                  <a:pt x="413026" y="17076"/>
                </a:lnTo>
                <a:lnTo>
                  <a:pt x="400530" y="35609"/>
                </a:lnTo>
                <a:lnTo>
                  <a:pt x="395949" y="58304"/>
                </a:lnTo>
                <a:lnTo>
                  <a:pt x="395949" y="291519"/>
                </a:lnTo>
                <a:lnTo>
                  <a:pt x="400530" y="314211"/>
                </a:lnTo>
                <a:lnTo>
                  <a:pt x="413026" y="332744"/>
                </a:lnTo>
                <a:lnTo>
                  <a:pt x="431558" y="345239"/>
                </a:lnTo>
                <a:lnTo>
                  <a:pt x="454253" y="349821"/>
                </a:lnTo>
                <a:lnTo>
                  <a:pt x="2321557" y="349821"/>
                </a:lnTo>
                <a:lnTo>
                  <a:pt x="2362784" y="332744"/>
                </a:lnTo>
                <a:lnTo>
                  <a:pt x="2379861" y="291519"/>
                </a:lnTo>
                <a:lnTo>
                  <a:pt x="2379861" y="58304"/>
                </a:lnTo>
                <a:lnTo>
                  <a:pt x="2375280" y="35609"/>
                </a:lnTo>
                <a:lnTo>
                  <a:pt x="2362784" y="17076"/>
                </a:lnTo>
                <a:lnTo>
                  <a:pt x="2344252" y="4581"/>
                </a:lnTo>
                <a:lnTo>
                  <a:pt x="2321557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84730" y="2821685"/>
            <a:ext cx="2379980" cy="461645"/>
          </a:xfrm>
          <a:custGeom>
            <a:avLst/>
            <a:gdLst/>
            <a:ahLst/>
            <a:cxnLst/>
            <a:rect l="l" t="t" r="r" b="b"/>
            <a:pathLst>
              <a:path w="2379979" h="461645">
                <a:moveTo>
                  <a:pt x="395949" y="58304"/>
                </a:moveTo>
                <a:lnTo>
                  <a:pt x="400531" y="35609"/>
                </a:lnTo>
                <a:lnTo>
                  <a:pt x="413026" y="17077"/>
                </a:lnTo>
                <a:lnTo>
                  <a:pt x="431559" y="4581"/>
                </a:lnTo>
                <a:lnTo>
                  <a:pt x="454254" y="0"/>
                </a:lnTo>
                <a:lnTo>
                  <a:pt x="726601" y="0"/>
                </a:lnTo>
                <a:lnTo>
                  <a:pt x="1222579" y="0"/>
                </a:lnTo>
                <a:lnTo>
                  <a:pt x="2321557" y="0"/>
                </a:lnTo>
                <a:lnTo>
                  <a:pt x="2344252" y="4581"/>
                </a:lnTo>
                <a:lnTo>
                  <a:pt x="2362785" y="17077"/>
                </a:lnTo>
                <a:lnTo>
                  <a:pt x="2375280" y="35609"/>
                </a:lnTo>
                <a:lnTo>
                  <a:pt x="2379862" y="58304"/>
                </a:lnTo>
                <a:lnTo>
                  <a:pt x="2379862" y="204063"/>
                </a:lnTo>
                <a:lnTo>
                  <a:pt x="2379862" y="291519"/>
                </a:lnTo>
                <a:lnTo>
                  <a:pt x="2375280" y="314212"/>
                </a:lnTo>
                <a:lnTo>
                  <a:pt x="2362785" y="332744"/>
                </a:lnTo>
                <a:lnTo>
                  <a:pt x="2344252" y="345240"/>
                </a:lnTo>
                <a:lnTo>
                  <a:pt x="2321557" y="349822"/>
                </a:lnTo>
                <a:lnTo>
                  <a:pt x="1222579" y="349822"/>
                </a:lnTo>
                <a:lnTo>
                  <a:pt x="0" y="461562"/>
                </a:lnTo>
                <a:lnTo>
                  <a:pt x="726601" y="349822"/>
                </a:lnTo>
                <a:lnTo>
                  <a:pt x="454254" y="349822"/>
                </a:lnTo>
                <a:lnTo>
                  <a:pt x="431559" y="345240"/>
                </a:lnTo>
                <a:lnTo>
                  <a:pt x="413026" y="332744"/>
                </a:lnTo>
                <a:lnTo>
                  <a:pt x="400531" y="314212"/>
                </a:lnTo>
                <a:lnTo>
                  <a:pt x="395949" y="291517"/>
                </a:lnTo>
                <a:lnTo>
                  <a:pt x="395949" y="204063"/>
                </a:lnTo>
                <a:lnTo>
                  <a:pt x="395949" y="583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76496" y="2819908"/>
            <a:ext cx="17722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Cambria Math"/>
                <a:cs typeface="Cambria Math"/>
              </a:rPr>
              <a:t>𝑚 = 5</a:t>
            </a:r>
            <a:r>
              <a:rPr dirty="0" sz="1600" spc="125">
                <a:latin typeface="Cambria Math"/>
                <a:cs typeface="Cambria Math"/>
              </a:rPr>
              <a:t> </a:t>
            </a:r>
            <a:r>
              <a:rPr dirty="0" sz="1600" spc="-5">
                <a:latin typeface="Arial"/>
                <a:cs typeface="Arial"/>
              </a:rPr>
              <a:t>descendants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3533" y="1820943"/>
            <a:ext cx="2163445" cy="846455"/>
          </a:xfrm>
          <a:custGeom>
            <a:avLst/>
            <a:gdLst/>
            <a:ahLst/>
            <a:cxnLst/>
            <a:rect l="l" t="t" r="r" b="b"/>
            <a:pathLst>
              <a:path w="2163445" h="846455">
                <a:moveTo>
                  <a:pt x="901244" y="558516"/>
                </a:moveTo>
                <a:lnTo>
                  <a:pt x="360498" y="558516"/>
                </a:lnTo>
                <a:lnTo>
                  <a:pt x="637108" y="845957"/>
                </a:lnTo>
                <a:lnTo>
                  <a:pt x="901244" y="558516"/>
                </a:lnTo>
                <a:close/>
              </a:path>
              <a:path w="2163445" h="846455">
                <a:moveTo>
                  <a:pt x="2069895" y="0"/>
                </a:moveTo>
                <a:lnTo>
                  <a:pt x="93088" y="0"/>
                </a:lnTo>
                <a:lnTo>
                  <a:pt x="56854" y="7315"/>
                </a:lnTo>
                <a:lnTo>
                  <a:pt x="27265" y="27265"/>
                </a:lnTo>
                <a:lnTo>
                  <a:pt x="7315" y="56854"/>
                </a:lnTo>
                <a:lnTo>
                  <a:pt x="0" y="93088"/>
                </a:lnTo>
                <a:lnTo>
                  <a:pt x="0" y="465430"/>
                </a:lnTo>
                <a:lnTo>
                  <a:pt x="7315" y="501662"/>
                </a:lnTo>
                <a:lnTo>
                  <a:pt x="27265" y="531252"/>
                </a:lnTo>
                <a:lnTo>
                  <a:pt x="56854" y="551201"/>
                </a:lnTo>
                <a:lnTo>
                  <a:pt x="93088" y="558516"/>
                </a:lnTo>
                <a:lnTo>
                  <a:pt x="2069895" y="558516"/>
                </a:lnTo>
                <a:lnTo>
                  <a:pt x="2135718" y="531252"/>
                </a:lnTo>
                <a:lnTo>
                  <a:pt x="2162983" y="465430"/>
                </a:lnTo>
                <a:lnTo>
                  <a:pt x="2162983" y="93088"/>
                </a:lnTo>
                <a:lnTo>
                  <a:pt x="2155668" y="56854"/>
                </a:lnTo>
                <a:lnTo>
                  <a:pt x="2135718" y="27265"/>
                </a:lnTo>
                <a:lnTo>
                  <a:pt x="2106129" y="7315"/>
                </a:lnTo>
                <a:lnTo>
                  <a:pt x="2069895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93533" y="1820943"/>
            <a:ext cx="2163445" cy="846455"/>
          </a:xfrm>
          <a:custGeom>
            <a:avLst/>
            <a:gdLst/>
            <a:ahLst/>
            <a:cxnLst/>
            <a:rect l="l" t="t" r="r" b="b"/>
            <a:pathLst>
              <a:path w="2163445" h="846455">
                <a:moveTo>
                  <a:pt x="0" y="93088"/>
                </a:moveTo>
                <a:lnTo>
                  <a:pt x="7315" y="56854"/>
                </a:lnTo>
                <a:lnTo>
                  <a:pt x="27264" y="27265"/>
                </a:lnTo>
                <a:lnTo>
                  <a:pt x="56854" y="7315"/>
                </a:lnTo>
                <a:lnTo>
                  <a:pt x="93088" y="0"/>
                </a:lnTo>
                <a:lnTo>
                  <a:pt x="360497" y="0"/>
                </a:lnTo>
                <a:lnTo>
                  <a:pt x="901243" y="0"/>
                </a:lnTo>
                <a:lnTo>
                  <a:pt x="2069895" y="0"/>
                </a:lnTo>
                <a:lnTo>
                  <a:pt x="2106129" y="7315"/>
                </a:lnTo>
                <a:lnTo>
                  <a:pt x="2135718" y="27265"/>
                </a:lnTo>
                <a:lnTo>
                  <a:pt x="2155667" y="56854"/>
                </a:lnTo>
                <a:lnTo>
                  <a:pt x="2162983" y="93088"/>
                </a:lnTo>
                <a:lnTo>
                  <a:pt x="2162983" y="325801"/>
                </a:lnTo>
                <a:lnTo>
                  <a:pt x="2162983" y="465430"/>
                </a:lnTo>
                <a:lnTo>
                  <a:pt x="2155667" y="501662"/>
                </a:lnTo>
                <a:lnTo>
                  <a:pt x="2135718" y="531252"/>
                </a:lnTo>
                <a:lnTo>
                  <a:pt x="2106129" y="551201"/>
                </a:lnTo>
                <a:lnTo>
                  <a:pt x="2069895" y="558517"/>
                </a:lnTo>
                <a:lnTo>
                  <a:pt x="901243" y="558517"/>
                </a:lnTo>
                <a:lnTo>
                  <a:pt x="637107" y="845957"/>
                </a:lnTo>
                <a:lnTo>
                  <a:pt x="360497" y="558517"/>
                </a:lnTo>
                <a:lnTo>
                  <a:pt x="93088" y="558517"/>
                </a:lnTo>
                <a:lnTo>
                  <a:pt x="56854" y="551201"/>
                </a:lnTo>
                <a:lnTo>
                  <a:pt x="27264" y="531252"/>
                </a:lnTo>
                <a:lnTo>
                  <a:pt x="7315" y="501662"/>
                </a:lnTo>
                <a:lnTo>
                  <a:pt x="0" y="465428"/>
                </a:lnTo>
                <a:lnTo>
                  <a:pt x="0" y="325801"/>
                </a:lnTo>
                <a:lnTo>
                  <a:pt x="0" y="930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299538" y="1830323"/>
            <a:ext cx="1610360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95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Update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belief:</a:t>
            </a:r>
            <a:endParaRPr sz="1400">
              <a:latin typeface="Arial"/>
              <a:cs typeface="Arial"/>
            </a:endParaRPr>
          </a:p>
          <a:p>
            <a:pPr marL="351155">
              <a:lnSpc>
                <a:spcPts val="1735"/>
              </a:lnSpc>
            </a:pPr>
            <a:r>
              <a:rPr dirty="0" sz="1600">
                <a:latin typeface="Cambria Math"/>
                <a:cs typeface="Cambria Math"/>
              </a:rPr>
              <a:t>1 + 5 + 1  =</a:t>
            </a:r>
            <a:r>
              <a:rPr dirty="0" sz="1600" spc="85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7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449909" y="1205484"/>
            <a:ext cx="51777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Update </a:t>
            </a:r>
            <a:r>
              <a:rPr dirty="0" spc="-15"/>
              <a:t>beliefs </a:t>
            </a:r>
            <a:r>
              <a:rPr dirty="0"/>
              <a:t>in </a:t>
            </a:r>
            <a:r>
              <a:rPr dirty="0" spc="-15"/>
              <a:t>tree</a:t>
            </a:r>
            <a:r>
              <a:rPr dirty="0" spc="0"/>
              <a:t> </a:t>
            </a:r>
            <a:r>
              <a:rPr dirty="0" spc="-15"/>
              <a:t>structure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4440" y="3139912"/>
            <a:ext cx="85725" cy="539750"/>
          </a:xfrm>
          <a:custGeom>
            <a:avLst/>
            <a:gdLst/>
            <a:ahLst/>
            <a:cxnLst/>
            <a:rect l="l" t="t" r="r" b="b"/>
            <a:pathLst>
              <a:path w="85725" h="539750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4" y="532800"/>
                </a:lnTo>
                <a:lnTo>
                  <a:pt x="34970" y="539196"/>
                </a:lnTo>
                <a:lnTo>
                  <a:pt x="50752" y="539196"/>
                </a:lnTo>
                <a:lnTo>
                  <a:pt x="57149" y="532800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53975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53975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6720" y="3453080"/>
            <a:ext cx="505459" cy="264795"/>
          </a:xfrm>
          <a:custGeom>
            <a:avLst/>
            <a:gdLst/>
            <a:ahLst/>
            <a:cxnLst/>
            <a:rect l="l" t="t" r="r" b="b"/>
            <a:pathLst>
              <a:path w="505460" h="264795">
                <a:moveTo>
                  <a:pt x="57029" y="187523"/>
                </a:moveTo>
                <a:lnTo>
                  <a:pt x="0" y="264552"/>
                </a:lnTo>
                <a:lnTo>
                  <a:pt x="95841" y="263958"/>
                </a:lnTo>
                <a:lnTo>
                  <a:pt x="88003" y="248521"/>
                </a:lnTo>
                <a:lnTo>
                  <a:pt x="63129" y="248521"/>
                </a:lnTo>
                <a:lnTo>
                  <a:pt x="54528" y="245713"/>
                </a:lnTo>
                <a:lnTo>
                  <a:pt x="47383" y="231641"/>
                </a:lnTo>
                <a:lnTo>
                  <a:pt x="50191" y="223042"/>
                </a:lnTo>
                <a:lnTo>
                  <a:pt x="69966" y="213001"/>
                </a:lnTo>
                <a:lnTo>
                  <a:pt x="57029" y="187523"/>
                </a:lnTo>
                <a:close/>
              </a:path>
              <a:path w="505460" h="264795">
                <a:moveTo>
                  <a:pt x="69966" y="213001"/>
                </a:moveTo>
                <a:lnTo>
                  <a:pt x="50191" y="223042"/>
                </a:lnTo>
                <a:lnTo>
                  <a:pt x="47383" y="231641"/>
                </a:lnTo>
                <a:lnTo>
                  <a:pt x="54528" y="245713"/>
                </a:lnTo>
                <a:lnTo>
                  <a:pt x="63129" y="248521"/>
                </a:lnTo>
                <a:lnTo>
                  <a:pt x="82904" y="238479"/>
                </a:lnTo>
                <a:lnTo>
                  <a:pt x="69966" y="213001"/>
                </a:lnTo>
                <a:close/>
              </a:path>
              <a:path w="505460" h="264795">
                <a:moveTo>
                  <a:pt x="82904" y="238479"/>
                </a:moveTo>
                <a:lnTo>
                  <a:pt x="63129" y="248521"/>
                </a:lnTo>
                <a:lnTo>
                  <a:pt x="88003" y="248521"/>
                </a:lnTo>
                <a:lnTo>
                  <a:pt x="82904" y="238479"/>
                </a:lnTo>
                <a:close/>
              </a:path>
              <a:path w="505460" h="264795">
                <a:moveTo>
                  <a:pt x="489445" y="0"/>
                </a:moveTo>
                <a:lnTo>
                  <a:pt x="69966" y="213001"/>
                </a:lnTo>
                <a:lnTo>
                  <a:pt x="82904" y="238479"/>
                </a:lnTo>
                <a:lnTo>
                  <a:pt x="502382" y="25477"/>
                </a:lnTo>
                <a:lnTo>
                  <a:pt x="505190" y="16878"/>
                </a:lnTo>
                <a:lnTo>
                  <a:pt x="498045" y="2806"/>
                </a:lnTo>
                <a:lnTo>
                  <a:pt x="489445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87817" y="3900428"/>
            <a:ext cx="495300" cy="160655"/>
          </a:xfrm>
          <a:custGeom>
            <a:avLst/>
            <a:gdLst/>
            <a:ahLst/>
            <a:cxnLst/>
            <a:rect l="l" t="t" r="r" b="b"/>
            <a:pathLst>
              <a:path w="495300" h="160654">
                <a:moveTo>
                  <a:pt x="86563" y="27657"/>
                </a:moveTo>
                <a:lnTo>
                  <a:pt x="79380" y="55314"/>
                </a:lnTo>
                <a:lnTo>
                  <a:pt x="483346" y="160232"/>
                </a:lnTo>
                <a:lnTo>
                  <a:pt x="491147" y="155648"/>
                </a:lnTo>
                <a:lnTo>
                  <a:pt x="495113" y="140374"/>
                </a:lnTo>
                <a:lnTo>
                  <a:pt x="490529" y="132574"/>
                </a:lnTo>
                <a:lnTo>
                  <a:pt x="86563" y="27657"/>
                </a:lnTo>
                <a:close/>
              </a:path>
              <a:path w="495300" h="160654">
                <a:moveTo>
                  <a:pt x="93746" y="0"/>
                </a:moveTo>
                <a:lnTo>
                  <a:pt x="0" y="19936"/>
                </a:lnTo>
                <a:lnTo>
                  <a:pt x="72196" y="82971"/>
                </a:lnTo>
                <a:lnTo>
                  <a:pt x="79380" y="55314"/>
                </a:lnTo>
                <a:lnTo>
                  <a:pt x="57914" y="49739"/>
                </a:lnTo>
                <a:lnTo>
                  <a:pt x="53331" y="41940"/>
                </a:lnTo>
                <a:lnTo>
                  <a:pt x="57297" y="26666"/>
                </a:lnTo>
                <a:lnTo>
                  <a:pt x="65097" y="22082"/>
                </a:lnTo>
                <a:lnTo>
                  <a:pt x="88010" y="22082"/>
                </a:lnTo>
                <a:lnTo>
                  <a:pt x="93746" y="0"/>
                </a:lnTo>
                <a:close/>
              </a:path>
              <a:path w="495300" h="160654">
                <a:moveTo>
                  <a:pt x="65097" y="22082"/>
                </a:moveTo>
                <a:lnTo>
                  <a:pt x="57297" y="26666"/>
                </a:lnTo>
                <a:lnTo>
                  <a:pt x="53331" y="41940"/>
                </a:lnTo>
                <a:lnTo>
                  <a:pt x="57914" y="49739"/>
                </a:lnTo>
                <a:lnTo>
                  <a:pt x="79380" y="55314"/>
                </a:lnTo>
                <a:lnTo>
                  <a:pt x="86563" y="27657"/>
                </a:lnTo>
                <a:lnTo>
                  <a:pt x="65097" y="22082"/>
                </a:lnTo>
                <a:close/>
              </a:path>
              <a:path w="495300" h="160654">
                <a:moveTo>
                  <a:pt x="88010" y="22082"/>
                </a:moveTo>
                <a:lnTo>
                  <a:pt x="65097" y="22082"/>
                </a:lnTo>
                <a:lnTo>
                  <a:pt x="86563" y="27657"/>
                </a:lnTo>
                <a:lnTo>
                  <a:pt x="88010" y="2208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52500" y="4188976"/>
            <a:ext cx="268605" cy="527050"/>
          </a:xfrm>
          <a:custGeom>
            <a:avLst/>
            <a:gdLst/>
            <a:ahLst/>
            <a:cxnLst/>
            <a:rect l="l" t="t" r="r" b="b"/>
            <a:pathLst>
              <a:path w="268605" h="527050">
                <a:moveTo>
                  <a:pt x="51280" y="70613"/>
                </a:moveTo>
                <a:lnTo>
                  <a:pt x="25640" y="83227"/>
                </a:lnTo>
                <a:lnTo>
                  <a:pt x="242469" y="523982"/>
                </a:lnTo>
                <a:lnTo>
                  <a:pt x="251033" y="526898"/>
                </a:lnTo>
                <a:lnTo>
                  <a:pt x="265193" y="519932"/>
                </a:lnTo>
                <a:lnTo>
                  <a:pt x="268109" y="511369"/>
                </a:lnTo>
                <a:lnTo>
                  <a:pt x="51280" y="70613"/>
                </a:lnTo>
                <a:close/>
              </a:path>
              <a:path w="268605" h="527050">
                <a:moveTo>
                  <a:pt x="619" y="0"/>
                </a:moveTo>
                <a:lnTo>
                  <a:pt x="0" y="95841"/>
                </a:lnTo>
                <a:lnTo>
                  <a:pt x="25640" y="83227"/>
                </a:lnTo>
                <a:lnTo>
                  <a:pt x="15850" y="63327"/>
                </a:lnTo>
                <a:lnTo>
                  <a:pt x="18766" y="54763"/>
                </a:lnTo>
                <a:lnTo>
                  <a:pt x="32927" y="47797"/>
                </a:lnTo>
                <a:lnTo>
                  <a:pt x="63500" y="47797"/>
                </a:lnTo>
                <a:lnTo>
                  <a:pt x="619" y="0"/>
                </a:lnTo>
                <a:close/>
              </a:path>
              <a:path w="268605" h="527050">
                <a:moveTo>
                  <a:pt x="32927" y="47797"/>
                </a:moveTo>
                <a:lnTo>
                  <a:pt x="18766" y="54763"/>
                </a:lnTo>
                <a:lnTo>
                  <a:pt x="15850" y="63327"/>
                </a:lnTo>
                <a:lnTo>
                  <a:pt x="25640" y="83227"/>
                </a:lnTo>
                <a:lnTo>
                  <a:pt x="51280" y="70613"/>
                </a:lnTo>
                <a:lnTo>
                  <a:pt x="41490" y="50713"/>
                </a:lnTo>
                <a:lnTo>
                  <a:pt x="32927" y="47797"/>
                </a:lnTo>
                <a:close/>
              </a:path>
              <a:path w="268605" h="527050">
                <a:moveTo>
                  <a:pt x="63500" y="47797"/>
                </a:moveTo>
                <a:lnTo>
                  <a:pt x="32927" y="47797"/>
                </a:lnTo>
                <a:lnTo>
                  <a:pt x="41490" y="50713"/>
                </a:lnTo>
                <a:lnTo>
                  <a:pt x="51280" y="70613"/>
                </a:lnTo>
                <a:lnTo>
                  <a:pt x="76921" y="57999"/>
                </a:lnTo>
                <a:lnTo>
                  <a:pt x="63500" y="47797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5216" y="347472"/>
            <a:ext cx="49072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47364" y="1348740"/>
            <a:ext cx="510286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0000"/>
                </a:solidFill>
              </a:rPr>
              <a:t>What message </a:t>
            </a:r>
            <a:r>
              <a:rPr dirty="0" spc="-5">
                <a:solidFill>
                  <a:srgbClr val="FF0000"/>
                </a:solidFill>
              </a:rPr>
              <a:t>will </a:t>
            </a:r>
            <a:r>
              <a:rPr dirty="0">
                <a:solidFill>
                  <a:srgbClr val="FF0000"/>
                </a:solidFill>
                <a:latin typeface="Cambria Math"/>
                <a:cs typeface="Cambria Math"/>
              </a:rPr>
              <a:t>𝑖 </a:t>
            </a:r>
            <a:r>
              <a:rPr dirty="0" spc="-5">
                <a:solidFill>
                  <a:srgbClr val="FF0000"/>
                </a:solidFill>
              </a:rPr>
              <a:t>send </a:t>
            </a:r>
            <a:r>
              <a:rPr dirty="0" spc="-15">
                <a:solidFill>
                  <a:srgbClr val="FF0000"/>
                </a:solidFill>
              </a:rPr>
              <a:t>to</a:t>
            </a:r>
            <a:r>
              <a:rPr dirty="0" spc="130">
                <a:solidFill>
                  <a:srgbClr val="FF0000"/>
                </a:solidFill>
              </a:rPr>
              <a:t> </a:t>
            </a:r>
            <a:r>
              <a:rPr dirty="0" spc="25">
                <a:solidFill>
                  <a:srgbClr val="FF0000"/>
                </a:solidFill>
                <a:latin typeface="Cambria Math"/>
                <a:cs typeface="Cambria Math"/>
              </a:rPr>
              <a:t>𝑗</a:t>
            </a:r>
            <a:r>
              <a:rPr dirty="0" spc="25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47364" y="1830324"/>
            <a:ext cx="5311775" cy="247015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469900" marR="407034" indent="-457200">
              <a:lnSpc>
                <a:spcPct val="101899"/>
              </a:lnSpc>
              <a:spcBef>
                <a:spcPts val="2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5">
                <a:latin typeface="Calibri"/>
                <a:cs typeface="Calibri"/>
              </a:rPr>
              <a:t>depends on </a:t>
            </a:r>
            <a:r>
              <a:rPr dirty="0" sz="3200" spc="-10">
                <a:latin typeface="Calibri"/>
                <a:cs typeface="Calibri"/>
              </a:rPr>
              <a:t>what </a:t>
            </a:r>
            <a:r>
              <a:rPr dirty="0" sz="3200">
                <a:latin typeface="Cambria Math"/>
                <a:cs typeface="Cambria Math"/>
              </a:rPr>
              <a:t>𝑖 </a:t>
            </a:r>
            <a:r>
              <a:rPr dirty="0" sz="3200" spc="-15">
                <a:latin typeface="Calibri"/>
                <a:cs typeface="Calibri"/>
              </a:rPr>
              <a:t>hears  </a:t>
            </a:r>
            <a:r>
              <a:rPr dirty="0" sz="3200" spc="-20">
                <a:latin typeface="Calibri"/>
                <a:cs typeface="Calibri"/>
              </a:rPr>
              <a:t>from </a:t>
            </a:r>
            <a:r>
              <a:rPr dirty="0" sz="3200">
                <a:latin typeface="Calibri"/>
                <a:cs typeface="Calibri"/>
              </a:rPr>
              <a:t>its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neighbors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ts val="379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3200" spc="-15">
                <a:latin typeface="Calibri"/>
                <a:cs typeface="Calibri"/>
              </a:rPr>
              <a:t>Each </a:t>
            </a:r>
            <a:r>
              <a:rPr dirty="0" sz="3200" spc="-5">
                <a:latin typeface="Calibri"/>
                <a:cs typeface="Calibri"/>
              </a:rPr>
              <a:t>neighbor passes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L="469900" marR="5080">
              <a:lnSpc>
                <a:spcPts val="3790"/>
              </a:lnSpc>
              <a:spcBef>
                <a:spcPts val="240"/>
              </a:spcBef>
            </a:pPr>
            <a:r>
              <a:rPr dirty="0" sz="3200" spc="-10">
                <a:latin typeface="Calibri"/>
                <a:cs typeface="Calibri"/>
              </a:rPr>
              <a:t>message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mbria Math"/>
                <a:cs typeface="Cambria Math"/>
              </a:rPr>
              <a:t>𝑖 </a:t>
            </a:r>
            <a:r>
              <a:rPr dirty="0" sz="3200">
                <a:latin typeface="Calibri"/>
                <a:cs typeface="Calibri"/>
              </a:rPr>
              <a:t>its </a:t>
            </a:r>
            <a:r>
              <a:rPr dirty="0" sz="3200" spc="-15">
                <a:latin typeface="Calibri"/>
                <a:cs typeface="Calibri"/>
              </a:rPr>
              <a:t>beliefs </a:t>
            </a:r>
            <a:r>
              <a:rPr dirty="0" sz="3200">
                <a:latin typeface="Calibri"/>
                <a:cs typeface="Calibri"/>
              </a:rPr>
              <a:t>of the  </a:t>
            </a:r>
            <a:r>
              <a:rPr dirty="0" sz="3200" spc="-30">
                <a:solidFill>
                  <a:srgbClr val="FF0000"/>
                </a:solidFill>
                <a:latin typeface="Calibri"/>
                <a:cs typeface="Calibri"/>
              </a:rPr>
              <a:t>state </a:t>
            </a:r>
            <a:r>
              <a:rPr dirty="0" sz="32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32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0000"/>
                </a:solidFill>
                <a:latin typeface="Cambria Math"/>
                <a:cs typeface="Cambria Math"/>
              </a:rPr>
              <a:t>𝑖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20855" y="4837036"/>
            <a:ext cx="5617403" cy="1512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1976" y="367711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69" y="268948"/>
                </a:lnTo>
                <a:lnTo>
                  <a:pt x="450849" y="223837"/>
                </a:lnTo>
                <a:lnTo>
                  <a:pt x="446269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1976" y="367711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54045" y="3751579"/>
            <a:ext cx="98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1976" y="259064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69" y="268948"/>
                </a:lnTo>
                <a:lnTo>
                  <a:pt x="450849" y="223837"/>
                </a:lnTo>
                <a:lnTo>
                  <a:pt x="446269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1976" y="2590646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50934" y="2663444"/>
            <a:ext cx="107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07400" y="3038321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0"/>
                </a:moveTo>
                <a:lnTo>
                  <a:pt x="1" y="6387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76594" y="315220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5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76594" y="315220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22756" y="322732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71678" y="38975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4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71678" y="3897500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16443" y="3971035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𝑢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71106" y="4682721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4" y="4547"/>
                </a:lnTo>
                <a:lnTo>
                  <a:pt x="137679" y="17590"/>
                </a:lnTo>
                <a:lnTo>
                  <a:pt x="99388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8" y="409447"/>
                </a:lnTo>
                <a:lnTo>
                  <a:pt x="137679" y="430084"/>
                </a:lnTo>
                <a:lnTo>
                  <a:pt x="179994" y="443127"/>
                </a:lnTo>
                <a:lnTo>
                  <a:pt x="225425" y="447674"/>
                </a:lnTo>
                <a:lnTo>
                  <a:pt x="270856" y="443127"/>
                </a:lnTo>
                <a:lnTo>
                  <a:pt x="313170" y="430084"/>
                </a:lnTo>
                <a:lnTo>
                  <a:pt x="351462" y="409447"/>
                </a:lnTo>
                <a:lnTo>
                  <a:pt x="384824" y="382114"/>
                </a:lnTo>
                <a:lnTo>
                  <a:pt x="412351" y="348987"/>
                </a:lnTo>
                <a:lnTo>
                  <a:pt x="433135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5" y="136709"/>
                </a:lnTo>
                <a:lnTo>
                  <a:pt x="412351" y="98687"/>
                </a:lnTo>
                <a:lnTo>
                  <a:pt x="384824" y="65560"/>
                </a:lnTo>
                <a:lnTo>
                  <a:pt x="351462" y="38227"/>
                </a:lnTo>
                <a:lnTo>
                  <a:pt x="313170" y="17590"/>
                </a:lnTo>
                <a:lnTo>
                  <a:pt x="270856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71106" y="4682721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818093" y="4757420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32825" y="3534317"/>
            <a:ext cx="810260" cy="367030"/>
          </a:xfrm>
          <a:custGeom>
            <a:avLst/>
            <a:gdLst/>
            <a:ahLst/>
            <a:cxnLst/>
            <a:rect l="l" t="t" r="r" b="b"/>
            <a:pathLst>
              <a:path w="810260" h="367029">
                <a:moveTo>
                  <a:pt x="809794" y="0"/>
                </a:moveTo>
                <a:lnTo>
                  <a:pt x="0" y="3666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32825" y="3900949"/>
            <a:ext cx="739140" cy="220979"/>
          </a:xfrm>
          <a:custGeom>
            <a:avLst/>
            <a:gdLst/>
            <a:ahLst/>
            <a:cxnLst/>
            <a:rect l="l" t="t" r="r" b="b"/>
            <a:pathLst>
              <a:path w="739139" h="220979">
                <a:moveTo>
                  <a:pt x="738853" y="22039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32825" y="3900949"/>
            <a:ext cx="404495" cy="847725"/>
          </a:xfrm>
          <a:custGeom>
            <a:avLst/>
            <a:gdLst/>
            <a:ahLst/>
            <a:cxnLst/>
            <a:rect l="l" t="t" r="r" b="b"/>
            <a:pathLst>
              <a:path w="404494" h="847725">
                <a:moveTo>
                  <a:pt x="404306" y="84733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316093" y="4832274"/>
            <a:ext cx="5627370" cy="15227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14935" rIns="0" bIns="0" rtlCol="0" vert="horz">
            <a:spAutoFit/>
          </a:bodyPr>
          <a:lstStyle/>
          <a:p>
            <a:pPr marL="127635" marR="2888615">
              <a:lnSpc>
                <a:spcPct val="100000"/>
              </a:lnSpc>
              <a:spcBef>
                <a:spcPts val="905"/>
              </a:spcBef>
            </a:pPr>
            <a:r>
              <a:rPr dirty="0" sz="2000">
                <a:latin typeface="Arial"/>
                <a:cs typeface="Arial"/>
              </a:rPr>
              <a:t>I </a:t>
            </a:r>
            <a:r>
              <a:rPr dirty="0" sz="2000" spc="-5">
                <a:latin typeface="Arial"/>
                <a:cs typeface="Arial"/>
              </a:rPr>
              <a:t>(node </a:t>
            </a:r>
            <a:r>
              <a:rPr dirty="0" sz="2000" spc="25">
                <a:latin typeface="Cambria Math"/>
                <a:cs typeface="Cambria Math"/>
              </a:rPr>
              <a:t>𝑖</a:t>
            </a:r>
            <a:r>
              <a:rPr dirty="0" sz="2000" spc="25">
                <a:latin typeface="Arial"/>
                <a:cs typeface="Arial"/>
              </a:rPr>
              <a:t>) </a:t>
            </a:r>
            <a:r>
              <a:rPr dirty="0" sz="2000">
                <a:latin typeface="Arial"/>
                <a:cs typeface="Arial"/>
              </a:rPr>
              <a:t>believe </a:t>
            </a:r>
            <a:r>
              <a:rPr dirty="0" sz="2000" spc="-5">
                <a:latin typeface="Arial"/>
                <a:cs typeface="Arial"/>
              </a:rPr>
              <a:t>that  </a:t>
            </a:r>
            <a:r>
              <a:rPr dirty="0" sz="2000">
                <a:latin typeface="Arial"/>
                <a:cs typeface="Arial"/>
              </a:rPr>
              <a:t>you </a:t>
            </a:r>
            <a:r>
              <a:rPr dirty="0" sz="2000" spc="-5">
                <a:latin typeface="Arial"/>
                <a:cs typeface="Arial"/>
              </a:rPr>
              <a:t>(node </a:t>
            </a:r>
            <a:r>
              <a:rPr dirty="0" sz="2000" spc="10">
                <a:latin typeface="Cambria Math"/>
                <a:cs typeface="Cambria Math"/>
              </a:rPr>
              <a:t>𝑗</a:t>
            </a:r>
            <a:r>
              <a:rPr dirty="0" sz="2000" spc="10">
                <a:latin typeface="Arial"/>
                <a:cs typeface="Arial"/>
              </a:rPr>
              <a:t>) </a:t>
            </a:r>
            <a:r>
              <a:rPr dirty="0" sz="2000">
                <a:latin typeface="Arial"/>
                <a:cs typeface="Arial"/>
              </a:rPr>
              <a:t>belong </a:t>
            </a:r>
            <a:r>
              <a:rPr dirty="0" sz="2000" spc="-5">
                <a:latin typeface="Arial"/>
                <a:cs typeface="Arial"/>
              </a:rPr>
              <a:t>to  </a:t>
            </a:r>
            <a:r>
              <a:rPr dirty="0" sz="2000">
                <a:latin typeface="Arial"/>
                <a:cs typeface="Arial"/>
              </a:rPr>
              <a:t>class </a:t>
            </a:r>
            <a:r>
              <a:rPr dirty="0" sz="2000" spc="-575">
                <a:latin typeface="Cambria Math"/>
                <a:cs typeface="Cambria Math"/>
              </a:rPr>
              <a:t>𝑌</a:t>
            </a:r>
            <a:r>
              <a:rPr dirty="0" baseline="-14814" sz="2250" spc="-862">
                <a:latin typeface="Cambria Math"/>
                <a:cs typeface="Cambria Math"/>
              </a:rPr>
              <a:t>%</a:t>
            </a:r>
            <a:r>
              <a:rPr dirty="0" baseline="-14814" sz="2250" spc="232">
                <a:latin typeface="Cambria Math"/>
                <a:cs typeface="Cambria Math"/>
              </a:rPr>
              <a:t> </a:t>
            </a:r>
            <a:r>
              <a:rPr dirty="0" sz="2000" spc="-5">
                <a:latin typeface="Arial"/>
                <a:cs typeface="Arial"/>
              </a:rPr>
              <a:t>with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probability</a:t>
            </a:r>
            <a:endParaRPr sz="2000">
              <a:latin typeface="Arial"/>
              <a:cs typeface="Arial"/>
            </a:endParaRPr>
          </a:p>
          <a:p>
            <a:pPr marL="127635">
              <a:lnSpc>
                <a:spcPct val="100000"/>
              </a:lnSpc>
              <a:spcBef>
                <a:spcPts val="190"/>
              </a:spcBef>
            </a:pPr>
            <a:r>
              <a:rPr dirty="0" sz="200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1701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91145" cy="50609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5198745" algn="l"/>
              </a:tabLst>
            </a:pPr>
            <a:r>
              <a:rPr dirty="0" sz="3200" spc="-5" b="1" i="1">
                <a:solidFill>
                  <a:srgbClr val="008000"/>
                </a:solidFill>
                <a:latin typeface="Calibri"/>
                <a:cs typeface="Calibri"/>
              </a:rPr>
              <a:t>Label-label</a:t>
            </a:r>
            <a:r>
              <a:rPr dirty="0" sz="3200" spc="10" b="1" i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 i="1">
                <a:solidFill>
                  <a:srgbClr val="008000"/>
                </a:solidFill>
                <a:latin typeface="Calibri"/>
                <a:cs typeface="Calibri"/>
              </a:rPr>
              <a:t>potential</a:t>
            </a:r>
            <a:r>
              <a:rPr dirty="0" sz="3200" spc="10" b="1" i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008000"/>
                </a:solidFill>
                <a:latin typeface="Calibri"/>
                <a:cs typeface="Calibri"/>
              </a:rPr>
              <a:t>matrix	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𝝍</a:t>
            </a:r>
            <a:r>
              <a:rPr dirty="0" sz="3200" spc="-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libri"/>
                <a:cs typeface="Calibri"/>
              </a:rPr>
              <a:t>: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Dependency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between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>
                <a:latin typeface="Calibri"/>
                <a:cs typeface="Calibri"/>
              </a:rPr>
              <a:t>and its </a:t>
            </a:r>
            <a:r>
              <a:rPr dirty="0" sz="3200" spc="-40">
                <a:latin typeface="Calibri"/>
                <a:cs typeface="Calibri"/>
              </a:rPr>
              <a:t>neighbor. </a:t>
            </a:r>
            <a:r>
              <a:rPr dirty="0" sz="3200" spc="-105">
                <a:latin typeface="Cambria Math"/>
                <a:cs typeface="Cambria Math"/>
              </a:rPr>
              <a:t>𝝍(𝑌</a:t>
            </a:r>
            <a:r>
              <a:rPr dirty="0" baseline="-15700" sz="3450" spc="-157">
                <a:latin typeface="Cambria Math"/>
                <a:cs typeface="Cambria Math"/>
              </a:rPr>
              <a:t>(</a:t>
            </a:r>
            <a:r>
              <a:rPr dirty="0" sz="3200" spc="-105">
                <a:latin typeface="Cambria Math"/>
                <a:cs typeface="Cambria Math"/>
              </a:rPr>
              <a:t>, </a:t>
            </a:r>
            <a:r>
              <a:rPr dirty="0" sz="3200" spc="-180">
                <a:latin typeface="Cambria Math"/>
                <a:cs typeface="Cambria Math"/>
              </a:rPr>
              <a:t>𝑌</a:t>
            </a:r>
            <a:r>
              <a:rPr dirty="0" baseline="-15700" sz="3450" spc="-270">
                <a:latin typeface="Cambria Math"/>
                <a:cs typeface="Cambria Math"/>
              </a:rPr>
              <a:t>)</a:t>
            </a:r>
            <a:r>
              <a:rPr dirty="0" sz="3200" spc="-180">
                <a:latin typeface="Cambria Math"/>
                <a:cs typeface="Cambria Math"/>
              </a:rPr>
              <a:t>)</a:t>
            </a:r>
            <a:r>
              <a:rPr dirty="0" sz="3200" spc="10">
                <a:latin typeface="Cambria Math"/>
                <a:cs typeface="Cambria Math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  <a:p>
            <a:pPr marL="332740" marR="24765">
              <a:lnSpc>
                <a:spcPct val="104400"/>
              </a:lnSpc>
              <a:spcBef>
                <a:spcPts val="90"/>
              </a:spcBef>
            </a:pPr>
            <a:r>
              <a:rPr dirty="0" sz="3200" spc="-10">
                <a:latin typeface="Calibri"/>
                <a:cs typeface="Calibri"/>
              </a:rPr>
              <a:t>proportional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probability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>
                <a:latin typeface="Cambria Math"/>
                <a:cs typeface="Cambria Math"/>
              </a:rPr>
              <a:t>𝑗  </a:t>
            </a:r>
            <a:r>
              <a:rPr dirty="0" sz="3200" spc="-5">
                <a:latin typeface="Calibri"/>
                <a:cs typeface="Calibri"/>
              </a:rPr>
              <a:t>being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class </a:t>
            </a:r>
            <a:r>
              <a:rPr dirty="0" sz="3200" spc="-350">
                <a:latin typeface="Cambria Math"/>
                <a:cs typeface="Cambria Math"/>
              </a:rPr>
              <a:t>𝑌</a:t>
            </a:r>
            <a:r>
              <a:rPr dirty="0" baseline="-15700" sz="3450" spc="-525">
                <a:latin typeface="Cambria Math"/>
                <a:cs typeface="Cambria Math"/>
              </a:rPr>
              <a:t>) </a:t>
            </a:r>
            <a:r>
              <a:rPr dirty="0" sz="3200" spc="-10">
                <a:latin typeface="Calibri"/>
                <a:cs typeface="Calibri"/>
              </a:rPr>
              <a:t>given that </a:t>
            </a:r>
            <a:r>
              <a:rPr dirty="0" sz="3200">
                <a:latin typeface="Calibri"/>
                <a:cs typeface="Calibri"/>
              </a:rPr>
              <a:t>it has </a:t>
            </a:r>
            <a:r>
              <a:rPr dirty="0" sz="3200" spc="-5">
                <a:latin typeface="Calibri"/>
                <a:cs typeface="Calibri"/>
              </a:rPr>
              <a:t>neighbor </a:t>
            </a:r>
            <a:r>
              <a:rPr dirty="0" sz="3200">
                <a:latin typeface="Cambria Math"/>
                <a:cs typeface="Cambria Math"/>
              </a:rPr>
              <a:t>𝑖 </a:t>
            </a:r>
            <a:r>
              <a:rPr dirty="0" sz="3200">
                <a:latin typeface="Calibri"/>
                <a:cs typeface="Calibri"/>
              </a:rPr>
              <a:t>in  </a:t>
            </a:r>
            <a:r>
              <a:rPr dirty="0" sz="3200" spc="-5">
                <a:latin typeface="Calibri"/>
                <a:cs typeface="Calibri"/>
              </a:rPr>
              <a:t>class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75">
                <a:latin typeface="Cambria Math"/>
                <a:cs typeface="Cambria Math"/>
              </a:rPr>
              <a:t>𝑌</a:t>
            </a:r>
            <a:r>
              <a:rPr dirty="0" baseline="-15700" sz="3450" spc="-262">
                <a:latin typeface="Cambria Math"/>
                <a:cs typeface="Cambria Math"/>
              </a:rPr>
              <a:t>(</a:t>
            </a:r>
            <a:r>
              <a:rPr dirty="0" sz="3200" spc="-17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376555" indent="-320040">
              <a:lnSpc>
                <a:spcPts val="389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366645" algn="l"/>
              </a:tabLst>
            </a:pPr>
            <a:r>
              <a:rPr dirty="0" sz="3200" spc="-5" b="1" i="1">
                <a:solidFill>
                  <a:srgbClr val="C00000"/>
                </a:solidFill>
                <a:latin typeface="Calibri"/>
                <a:cs typeface="Calibri"/>
              </a:rPr>
              <a:t>Prior</a:t>
            </a:r>
            <a:r>
              <a:rPr dirty="0" sz="3200" b="1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C00000"/>
                </a:solidFill>
                <a:latin typeface="Calibri"/>
                <a:cs typeface="Calibri"/>
              </a:rPr>
              <a:t>belief	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𝝓 </a:t>
            </a:r>
            <a:r>
              <a:rPr dirty="0" sz="3200" i="1">
                <a:latin typeface="Calibri"/>
                <a:cs typeface="Calibri"/>
              </a:rPr>
              <a:t>: </a:t>
            </a:r>
            <a:r>
              <a:rPr dirty="0" sz="3200" spc="-95">
                <a:latin typeface="Cambria Math"/>
                <a:cs typeface="Cambria Math"/>
              </a:rPr>
              <a:t>𝜙(𝑌</a:t>
            </a:r>
            <a:r>
              <a:rPr dirty="0" baseline="-15700" sz="3450" spc="-142">
                <a:latin typeface="Cambria Math"/>
                <a:cs typeface="Cambria Math"/>
              </a:rPr>
              <a:t>(</a:t>
            </a:r>
            <a:r>
              <a:rPr dirty="0" sz="3200" spc="-95">
                <a:latin typeface="Cambria Math"/>
                <a:cs typeface="Cambria Math"/>
              </a:rPr>
              <a:t>)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proportional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probability </a:t>
            </a:r>
            <a:r>
              <a:rPr dirty="0" sz="3200" spc="-5">
                <a:latin typeface="Calibri"/>
                <a:cs typeface="Calibri"/>
              </a:rPr>
              <a:t>of node </a:t>
            </a:r>
            <a:r>
              <a:rPr dirty="0" sz="3200">
                <a:latin typeface="Cambria Math"/>
                <a:cs typeface="Cambria Math"/>
              </a:rPr>
              <a:t>𝑖 </a:t>
            </a:r>
            <a:r>
              <a:rPr dirty="0" sz="3200" spc="-5">
                <a:latin typeface="Calibri"/>
                <a:cs typeface="Calibri"/>
              </a:rPr>
              <a:t>being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class</a:t>
            </a:r>
            <a:r>
              <a:rPr dirty="0" sz="3200" spc="200">
                <a:latin typeface="Calibri"/>
                <a:cs typeface="Calibri"/>
              </a:rPr>
              <a:t> </a:t>
            </a:r>
            <a:r>
              <a:rPr dirty="0" sz="3200" spc="-175">
                <a:latin typeface="Cambria Math"/>
                <a:cs typeface="Cambria Math"/>
              </a:rPr>
              <a:t>𝑌</a:t>
            </a:r>
            <a:r>
              <a:rPr dirty="0" baseline="-15700" sz="3450" spc="-262">
                <a:latin typeface="Cambria Math"/>
                <a:cs typeface="Cambria Math"/>
              </a:rPr>
              <a:t>(</a:t>
            </a:r>
            <a:r>
              <a:rPr dirty="0" sz="3200" spc="-17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7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5">
                <a:solidFill>
                  <a:srgbClr val="0000FF"/>
                </a:solidFill>
                <a:latin typeface="Cambria Math"/>
                <a:cs typeface="Cambria Math"/>
              </a:rPr>
              <a:t>𝑚</a:t>
            </a:r>
            <a:r>
              <a:rPr dirty="0" baseline="-15700" sz="3450" spc="-52">
                <a:solidFill>
                  <a:srgbClr val="0000FF"/>
                </a:solidFill>
                <a:latin typeface="Cambria Math"/>
                <a:cs typeface="Cambria Math"/>
              </a:rPr>
              <a:t>(→)</a:t>
            </a:r>
            <a:r>
              <a:rPr dirty="0" sz="3200" spc="-35">
                <a:solidFill>
                  <a:srgbClr val="0000FF"/>
                </a:solidFill>
                <a:latin typeface="Cambria Math"/>
                <a:cs typeface="Cambria Math"/>
              </a:rPr>
              <a:t>(𝑌</a:t>
            </a:r>
            <a:r>
              <a:rPr dirty="0" baseline="-15700" sz="3450" spc="-52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r>
              <a:rPr dirty="0" sz="3200" spc="-35">
                <a:solidFill>
                  <a:srgbClr val="0000FF"/>
                </a:solidFill>
                <a:latin typeface="Cambria Math"/>
                <a:cs typeface="Cambria Math"/>
              </a:rPr>
              <a:t>)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35">
                <a:latin typeface="Cambria Math"/>
                <a:cs typeface="Cambria Math"/>
              </a:rPr>
              <a:t>𝑖</a:t>
            </a:r>
            <a:r>
              <a:rPr dirty="0" sz="3200" spc="-35">
                <a:latin typeface="Calibri"/>
                <a:cs typeface="Calibri"/>
              </a:rPr>
              <a:t>’s </a:t>
            </a:r>
            <a:r>
              <a:rPr dirty="0" sz="3200" spc="-10">
                <a:latin typeface="Calibri"/>
                <a:cs typeface="Calibri"/>
              </a:rPr>
              <a:t>message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15">
                <a:latin typeface="Calibri"/>
                <a:cs typeface="Calibri"/>
              </a:rPr>
              <a:t>estimate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mbria Math"/>
                <a:cs typeface="Cambria Math"/>
              </a:rPr>
              <a:t>𝑗</a:t>
            </a:r>
            <a:r>
              <a:rPr dirty="0" sz="3200" spc="160">
                <a:latin typeface="Cambria Math"/>
                <a:cs typeface="Cambria Math"/>
              </a:rPr>
              <a:t> </a:t>
            </a:r>
            <a:r>
              <a:rPr dirty="0" sz="3200" spc="-5">
                <a:latin typeface="Calibri"/>
                <a:cs typeface="Calibri"/>
              </a:rPr>
              <a:t>being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360"/>
              </a:spcBef>
            </a:pP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class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80">
                <a:latin typeface="Cambria Math"/>
                <a:cs typeface="Cambria Math"/>
              </a:rPr>
              <a:t>𝑌</a:t>
            </a:r>
            <a:r>
              <a:rPr dirty="0" baseline="-15700" sz="3450" spc="-270">
                <a:latin typeface="Cambria Math"/>
                <a:cs typeface="Cambria Math"/>
              </a:rPr>
              <a:t>)</a:t>
            </a:r>
            <a:r>
              <a:rPr dirty="0" sz="3200" spc="-180" i="1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mbria Math"/>
                <a:cs typeface="Cambria Math"/>
              </a:rPr>
              <a:t>ℒ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-10">
                <a:latin typeface="Calibri"/>
                <a:cs typeface="Calibri"/>
              </a:rPr>
              <a:t>set </a:t>
            </a:r>
            <a:r>
              <a:rPr dirty="0" sz="3200">
                <a:latin typeface="Calibri"/>
                <a:cs typeface="Calibri"/>
              </a:rPr>
              <a:t>of all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classes/labels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50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9919" y="1565148"/>
            <a:ext cx="48113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/>
              <a:t>1.	</a:t>
            </a:r>
            <a:r>
              <a:rPr dirty="0" spc="-10"/>
              <a:t>Initialize </a:t>
            </a:r>
            <a:r>
              <a:rPr dirty="0"/>
              <a:t>all </a:t>
            </a:r>
            <a:r>
              <a:rPr dirty="0" spc="-10"/>
              <a:t>messages </a:t>
            </a:r>
            <a:r>
              <a:rPr dirty="0" spc="-15"/>
              <a:t>to</a:t>
            </a:r>
            <a:r>
              <a:rPr dirty="0"/>
              <a:t> 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9919" y="2010156"/>
            <a:ext cx="41821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6415" algn="l"/>
              </a:tabLst>
            </a:pPr>
            <a:r>
              <a:rPr dirty="0" sz="3200">
                <a:latin typeface="Calibri"/>
                <a:cs typeface="Calibri"/>
              </a:rPr>
              <a:t>2.	</a:t>
            </a:r>
            <a:r>
              <a:rPr dirty="0" sz="3200" spc="-20">
                <a:latin typeface="Calibri"/>
                <a:cs typeface="Calibri"/>
              </a:rPr>
              <a:t>Repeat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each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7284" y="4334764"/>
            <a:ext cx="1393825" cy="7023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0"/>
              </a:spcBef>
            </a:pPr>
            <a:r>
              <a:rPr dirty="0" sz="2200">
                <a:solidFill>
                  <a:srgbClr val="008000"/>
                </a:solidFill>
                <a:latin typeface="Arial"/>
                <a:cs typeface="Arial"/>
              </a:rPr>
              <a:t>Labe</a:t>
            </a:r>
            <a:r>
              <a:rPr dirty="0" sz="2200" spc="-5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dirty="0" sz="2200">
                <a:solidFill>
                  <a:srgbClr val="008000"/>
                </a:solidFill>
                <a:latin typeface="Arial"/>
                <a:cs typeface="Arial"/>
              </a:rPr>
              <a:t>-</a:t>
            </a:r>
            <a:r>
              <a:rPr dirty="0" sz="2200" spc="-5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dirty="0" sz="2200">
                <a:solidFill>
                  <a:srgbClr val="008000"/>
                </a:solidFill>
                <a:latin typeface="Arial"/>
                <a:cs typeface="Arial"/>
              </a:rPr>
              <a:t>abel  </a:t>
            </a:r>
            <a:r>
              <a:rPr dirty="0" sz="2200" spc="-5">
                <a:solidFill>
                  <a:srgbClr val="008000"/>
                </a:solidFill>
                <a:latin typeface="Arial"/>
                <a:cs typeface="Arial"/>
              </a:rPr>
              <a:t>potential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9893" y="6251955"/>
            <a:ext cx="6153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dirty="0" sz="2200" spc="-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2358" y="4042155"/>
            <a:ext cx="2667635" cy="10344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All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messages sent</a:t>
            </a:r>
            <a:r>
              <a:rPr dirty="0" sz="22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by  </a:t>
            </a: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neighbors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from  </a:t>
            </a: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previous</a:t>
            </a:r>
            <a:r>
              <a:rPr dirty="0" sz="2200" spc="-6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round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1565" y="6264147"/>
            <a:ext cx="24034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solidFill>
                  <a:srgbClr val="D60093"/>
                </a:solidFill>
                <a:latin typeface="Arial"/>
                <a:cs typeface="Arial"/>
              </a:rPr>
              <a:t>Sum </a:t>
            </a:r>
            <a:r>
              <a:rPr dirty="0" sz="2200">
                <a:solidFill>
                  <a:srgbClr val="D60093"/>
                </a:solidFill>
                <a:latin typeface="Arial"/>
                <a:cs typeface="Arial"/>
              </a:rPr>
              <a:t>over </a:t>
            </a:r>
            <a:r>
              <a:rPr dirty="0" sz="2200" spc="-5">
                <a:solidFill>
                  <a:srgbClr val="D60093"/>
                </a:solidFill>
                <a:latin typeface="Arial"/>
                <a:cs typeface="Arial"/>
              </a:rPr>
              <a:t>all</a:t>
            </a:r>
            <a:r>
              <a:rPr dirty="0" sz="2200" spc="-65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D60093"/>
                </a:solidFill>
                <a:latin typeface="Arial"/>
                <a:cs typeface="Arial"/>
              </a:rPr>
              <a:t>states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9253" y="1898395"/>
            <a:ext cx="107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1075" y="245922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6413" y="3989323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2071" y="2983483"/>
            <a:ext cx="1759585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72795">
              <a:lnSpc>
                <a:spcPts val="1945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  <a:p>
            <a:pPr algn="r" marR="5080">
              <a:lnSpc>
                <a:spcPts val="1945"/>
              </a:lnSpc>
            </a:pPr>
            <a:r>
              <a:rPr dirty="0" sz="1800">
                <a:latin typeface="Cambria Math"/>
                <a:cs typeface="Cambria Math"/>
              </a:rPr>
              <a:t>𝑢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algn="ctr" marR="848994">
              <a:lnSpc>
                <a:spcPct val="100000"/>
              </a:lnSpc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#→%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%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320" y="2465323"/>
            <a:ext cx="878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%→&amp;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&amp;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025" y="5516372"/>
            <a:ext cx="10287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465">
                <a:latin typeface="Cambria Math"/>
                <a:cs typeface="Cambria Math"/>
              </a:rPr>
              <a:t>𝑚</a:t>
            </a:r>
            <a:r>
              <a:rPr dirty="0" sz="1800" spc="-310">
                <a:latin typeface="Cambria Math"/>
                <a:cs typeface="Cambria Math"/>
              </a:rPr>
              <a:t>&lt;→&gt;        </a:t>
            </a:r>
            <a:r>
              <a:rPr dirty="0" sz="1800" spc="-265">
                <a:latin typeface="Cambria Math"/>
                <a:cs typeface="Cambria Math"/>
              </a:rPr>
              <a:t> </a:t>
            </a:r>
            <a:r>
              <a:rPr dirty="0" baseline="11574" sz="3600" spc="-832">
                <a:latin typeface="Cambria Math"/>
                <a:cs typeface="Cambria Math"/>
              </a:rPr>
              <a:t>𝑌</a:t>
            </a:r>
            <a:r>
              <a:rPr dirty="0" sz="1800" spc="-555">
                <a:latin typeface="Cambria Math"/>
                <a:cs typeface="Cambria Math"/>
              </a:rPr>
              <a:t>&gt;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9339" y="5452364"/>
            <a:ext cx="253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246339" y="5147743"/>
          <a:ext cx="4930140" cy="1144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4006"/>
                <a:gridCol w="1082234"/>
                <a:gridCol w="815938"/>
                <a:gridCol w="1972163"/>
              </a:tblGrid>
              <a:tr h="1003300">
                <a:tc>
                  <a:txBody>
                    <a:bodyPr/>
                    <a:lstStyle/>
                    <a:p>
                      <a:pPr marL="10160">
                        <a:lnSpc>
                          <a:spcPts val="2735"/>
                        </a:lnSpc>
                        <a:spcBef>
                          <a:spcPts val="197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(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  <a:p>
                      <a:pPr marL="414655">
                        <a:lnSpc>
                          <a:spcPts val="2014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&amp;</a:t>
                      </a:r>
                      <a:r>
                        <a:rPr dirty="0" baseline="-13888" sz="2100" spc="89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1800" spc="-35"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ℒ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50190">
                    <a:lnL w="76200">
                      <a:solidFill>
                        <a:srgbClr val="D60093"/>
                      </a:solidFill>
                      <a:prstDash val="solid"/>
                    </a:lnL>
                    <a:lnR w="76200">
                      <a:solidFill>
                        <a:srgbClr val="D60093"/>
                      </a:solidFill>
                      <a:prstDash val="solid"/>
                    </a:lnR>
                    <a:lnT w="76200">
                      <a:solidFill>
                        <a:srgbClr val="D60093"/>
                      </a:solidFill>
                      <a:prstDash val="solid"/>
                    </a:lnT>
                    <a:lnB w="76200">
                      <a:solidFill>
                        <a:srgbClr val="D600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  <a:tabLst>
                          <a:tab pos="340995" algn="l"/>
                        </a:tabLst>
                      </a:pPr>
                      <a:r>
                        <a:rPr dirty="0" sz="2400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𝜓	</a:t>
                      </a:r>
                      <a:r>
                        <a:rPr dirty="0" sz="2400" spc="-340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baseline="-15432" sz="2700" spc="-509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&lt;</a:t>
                      </a:r>
                      <a:r>
                        <a:rPr dirty="0" sz="2400" spc="-340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2400" spc="-220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55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baseline="-15432" sz="2700" spc="-832">
                          <a:solidFill>
                            <a:srgbClr val="008000"/>
                          </a:solidFill>
                          <a:latin typeface="Cambria Math"/>
                          <a:cs typeface="Cambria Math"/>
                        </a:rPr>
                        <a:t>&gt;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50190">
                    <a:lnL w="76200">
                      <a:solidFill>
                        <a:srgbClr val="D60093"/>
                      </a:solidFill>
                      <a:prstDash val="solid"/>
                    </a:lnL>
                    <a:lnR w="76200">
                      <a:solidFill>
                        <a:srgbClr val="008000"/>
                      </a:solidFill>
                      <a:prstDash val="solid"/>
                    </a:lnR>
                    <a:lnT w="76200">
                      <a:solidFill>
                        <a:srgbClr val="008000"/>
                      </a:solidFill>
                      <a:prstDash val="solid"/>
                    </a:lnT>
                    <a:lnB w="7620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70"/>
                        </a:spcBef>
                      </a:pPr>
                      <a:r>
                        <a:rPr dirty="0" sz="2400" spc="-36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𝜙</a:t>
                      </a:r>
                      <a:r>
                        <a:rPr dirty="0" baseline="-15432" sz="2700" spc="-547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&lt;                       </a:t>
                      </a:r>
                      <a:r>
                        <a:rPr dirty="0" baseline="-15432" sz="2700" spc="-54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5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baseline="-15432" sz="2700" spc="-832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&lt;</a:t>
                      </a:r>
                      <a:endParaRPr baseline="-15432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250190">
                    <a:lnL w="76200">
                      <a:solidFill>
                        <a:srgbClr val="008000"/>
                      </a:solidFill>
                      <a:prstDash val="solid"/>
                    </a:lnL>
                    <a:lnR w="76200">
                      <a:solidFill>
                        <a:srgbClr val="FF0000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2475"/>
                        </a:spcBef>
                        <a:tabLst>
                          <a:tab pos="754380" algn="l"/>
                        </a:tabLst>
                      </a:pPr>
                      <a:r>
                        <a:rPr dirty="0" baseline="11574" sz="3600" spc="2722">
                          <a:latin typeface="Cambria Math"/>
                          <a:cs typeface="Cambria Math"/>
                        </a:rPr>
                        <a:t>&lt;	</a:t>
                      </a:r>
                      <a:r>
                        <a:rPr dirty="0" baseline="11574" sz="3600" spc="-472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𝑚</a:t>
                      </a:r>
                      <a:r>
                        <a:rPr dirty="0" sz="1800" spc="-31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@→&lt;        </a:t>
                      </a:r>
                      <a:r>
                        <a:rPr dirty="0" sz="1800" spc="-28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baseline="11574" sz="3600" spc="-832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sz="1800" spc="-55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&lt;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 spc="-85">
                          <a:latin typeface="Cambria Math"/>
                          <a:cs typeface="Cambria Math"/>
                        </a:rPr>
                        <a:t>@∈A</a:t>
                      </a:r>
                      <a:r>
                        <a:rPr dirty="0" baseline="-13888" sz="2100" spc="-127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dirty="0" sz="1800" spc="-85">
                          <a:latin typeface="Cambria Math"/>
                          <a:cs typeface="Cambria Math"/>
                        </a:rPr>
                        <a:t>\C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314325">
                    <a:lnL w="76200">
                      <a:solidFill>
                        <a:srgbClr val="FF0000"/>
                      </a:solidFill>
                      <a:prstDash val="solid"/>
                    </a:lnL>
                    <a:lnR w="76200">
                      <a:solidFill>
                        <a:srgbClr val="0000FF"/>
                      </a:solidFill>
                      <a:prstDash val="solid"/>
                    </a:lnR>
                    <a:lnT w="76200">
                      <a:solidFill>
                        <a:srgbClr val="0000FF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85216" y="347472"/>
            <a:ext cx="49072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92759" y="2372695"/>
            <a:ext cx="85725" cy="539750"/>
          </a:xfrm>
          <a:custGeom>
            <a:avLst/>
            <a:gdLst/>
            <a:ahLst/>
            <a:cxnLst/>
            <a:rect l="l" t="t" r="r" b="b"/>
            <a:pathLst>
              <a:path w="85725" h="539750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4" y="532799"/>
                </a:lnTo>
                <a:lnTo>
                  <a:pt x="34970" y="539196"/>
                </a:lnTo>
                <a:lnTo>
                  <a:pt x="50752" y="539196"/>
                </a:lnTo>
                <a:lnTo>
                  <a:pt x="57149" y="532799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53975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53975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75038" y="2685862"/>
            <a:ext cx="505459" cy="264795"/>
          </a:xfrm>
          <a:custGeom>
            <a:avLst/>
            <a:gdLst/>
            <a:ahLst/>
            <a:cxnLst/>
            <a:rect l="l" t="t" r="r" b="b"/>
            <a:pathLst>
              <a:path w="505460" h="264794">
                <a:moveTo>
                  <a:pt x="57030" y="187523"/>
                </a:moveTo>
                <a:lnTo>
                  <a:pt x="0" y="264552"/>
                </a:lnTo>
                <a:lnTo>
                  <a:pt x="95841" y="263958"/>
                </a:lnTo>
                <a:lnTo>
                  <a:pt x="88003" y="248521"/>
                </a:lnTo>
                <a:lnTo>
                  <a:pt x="63130" y="248521"/>
                </a:lnTo>
                <a:lnTo>
                  <a:pt x="54529" y="245714"/>
                </a:lnTo>
                <a:lnTo>
                  <a:pt x="47384" y="231642"/>
                </a:lnTo>
                <a:lnTo>
                  <a:pt x="50192" y="223042"/>
                </a:lnTo>
                <a:lnTo>
                  <a:pt x="69967" y="213001"/>
                </a:lnTo>
                <a:lnTo>
                  <a:pt x="57030" y="187523"/>
                </a:lnTo>
                <a:close/>
              </a:path>
              <a:path w="505460" h="264794">
                <a:moveTo>
                  <a:pt x="69967" y="213001"/>
                </a:moveTo>
                <a:lnTo>
                  <a:pt x="50192" y="223042"/>
                </a:lnTo>
                <a:lnTo>
                  <a:pt x="47384" y="231642"/>
                </a:lnTo>
                <a:lnTo>
                  <a:pt x="54529" y="245714"/>
                </a:lnTo>
                <a:lnTo>
                  <a:pt x="63130" y="248521"/>
                </a:lnTo>
                <a:lnTo>
                  <a:pt x="82904" y="238480"/>
                </a:lnTo>
                <a:lnTo>
                  <a:pt x="69967" y="213001"/>
                </a:lnTo>
                <a:close/>
              </a:path>
              <a:path w="505460" h="264794">
                <a:moveTo>
                  <a:pt x="82904" y="238480"/>
                </a:moveTo>
                <a:lnTo>
                  <a:pt x="63130" y="248521"/>
                </a:lnTo>
                <a:lnTo>
                  <a:pt x="88003" y="248521"/>
                </a:lnTo>
                <a:lnTo>
                  <a:pt x="82904" y="238480"/>
                </a:lnTo>
                <a:close/>
              </a:path>
              <a:path w="505460" h="264794">
                <a:moveTo>
                  <a:pt x="489446" y="0"/>
                </a:moveTo>
                <a:lnTo>
                  <a:pt x="69967" y="213001"/>
                </a:lnTo>
                <a:lnTo>
                  <a:pt x="82904" y="238480"/>
                </a:lnTo>
                <a:lnTo>
                  <a:pt x="502384" y="25478"/>
                </a:lnTo>
                <a:lnTo>
                  <a:pt x="505192" y="16879"/>
                </a:lnTo>
                <a:lnTo>
                  <a:pt x="498045" y="2807"/>
                </a:lnTo>
                <a:lnTo>
                  <a:pt x="489446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86135" y="3133210"/>
            <a:ext cx="495300" cy="160655"/>
          </a:xfrm>
          <a:custGeom>
            <a:avLst/>
            <a:gdLst/>
            <a:ahLst/>
            <a:cxnLst/>
            <a:rect l="l" t="t" r="r" b="b"/>
            <a:pathLst>
              <a:path w="495300" h="160654">
                <a:moveTo>
                  <a:pt x="86564" y="27658"/>
                </a:moveTo>
                <a:lnTo>
                  <a:pt x="79381" y="55316"/>
                </a:lnTo>
                <a:lnTo>
                  <a:pt x="483348" y="160232"/>
                </a:lnTo>
                <a:lnTo>
                  <a:pt x="491147" y="155648"/>
                </a:lnTo>
                <a:lnTo>
                  <a:pt x="495114" y="140374"/>
                </a:lnTo>
                <a:lnTo>
                  <a:pt x="490531" y="132575"/>
                </a:lnTo>
                <a:lnTo>
                  <a:pt x="86564" y="27658"/>
                </a:lnTo>
                <a:close/>
              </a:path>
              <a:path w="495300" h="160654">
                <a:moveTo>
                  <a:pt x="93747" y="0"/>
                </a:moveTo>
                <a:lnTo>
                  <a:pt x="0" y="19937"/>
                </a:lnTo>
                <a:lnTo>
                  <a:pt x="72198" y="82972"/>
                </a:lnTo>
                <a:lnTo>
                  <a:pt x="79381" y="55316"/>
                </a:lnTo>
                <a:lnTo>
                  <a:pt x="57914" y="49740"/>
                </a:lnTo>
                <a:lnTo>
                  <a:pt x="53331" y="41940"/>
                </a:lnTo>
                <a:lnTo>
                  <a:pt x="57298" y="26666"/>
                </a:lnTo>
                <a:lnTo>
                  <a:pt x="65097" y="22082"/>
                </a:lnTo>
                <a:lnTo>
                  <a:pt x="88012" y="22082"/>
                </a:lnTo>
                <a:lnTo>
                  <a:pt x="93747" y="0"/>
                </a:lnTo>
                <a:close/>
              </a:path>
              <a:path w="495300" h="160654">
                <a:moveTo>
                  <a:pt x="65097" y="22082"/>
                </a:moveTo>
                <a:lnTo>
                  <a:pt x="57298" y="26666"/>
                </a:lnTo>
                <a:lnTo>
                  <a:pt x="53331" y="41940"/>
                </a:lnTo>
                <a:lnTo>
                  <a:pt x="57914" y="49740"/>
                </a:lnTo>
                <a:lnTo>
                  <a:pt x="79381" y="55316"/>
                </a:lnTo>
                <a:lnTo>
                  <a:pt x="86564" y="27658"/>
                </a:lnTo>
                <a:lnTo>
                  <a:pt x="65097" y="22082"/>
                </a:lnTo>
                <a:close/>
              </a:path>
              <a:path w="495300" h="160654">
                <a:moveTo>
                  <a:pt x="88012" y="22082"/>
                </a:moveTo>
                <a:lnTo>
                  <a:pt x="65097" y="22082"/>
                </a:lnTo>
                <a:lnTo>
                  <a:pt x="86564" y="27658"/>
                </a:lnTo>
                <a:lnTo>
                  <a:pt x="88012" y="2208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50819" y="3421758"/>
            <a:ext cx="268605" cy="527050"/>
          </a:xfrm>
          <a:custGeom>
            <a:avLst/>
            <a:gdLst/>
            <a:ahLst/>
            <a:cxnLst/>
            <a:rect l="l" t="t" r="r" b="b"/>
            <a:pathLst>
              <a:path w="268605" h="527050">
                <a:moveTo>
                  <a:pt x="51281" y="70614"/>
                </a:moveTo>
                <a:lnTo>
                  <a:pt x="25640" y="83227"/>
                </a:lnTo>
                <a:lnTo>
                  <a:pt x="242469" y="523984"/>
                </a:lnTo>
                <a:lnTo>
                  <a:pt x="251033" y="526900"/>
                </a:lnTo>
                <a:lnTo>
                  <a:pt x="265193" y="519932"/>
                </a:lnTo>
                <a:lnTo>
                  <a:pt x="268109" y="511369"/>
                </a:lnTo>
                <a:lnTo>
                  <a:pt x="51281" y="70614"/>
                </a:lnTo>
                <a:close/>
              </a:path>
              <a:path w="268605" h="527050">
                <a:moveTo>
                  <a:pt x="619" y="0"/>
                </a:moveTo>
                <a:lnTo>
                  <a:pt x="0" y="95841"/>
                </a:lnTo>
                <a:lnTo>
                  <a:pt x="25640" y="83227"/>
                </a:lnTo>
                <a:lnTo>
                  <a:pt x="15850" y="63327"/>
                </a:lnTo>
                <a:lnTo>
                  <a:pt x="18766" y="54763"/>
                </a:lnTo>
                <a:lnTo>
                  <a:pt x="32927" y="47797"/>
                </a:lnTo>
                <a:lnTo>
                  <a:pt x="63498" y="47797"/>
                </a:lnTo>
                <a:lnTo>
                  <a:pt x="619" y="0"/>
                </a:lnTo>
                <a:close/>
              </a:path>
              <a:path w="268605" h="527050">
                <a:moveTo>
                  <a:pt x="32927" y="47797"/>
                </a:moveTo>
                <a:lnTo>
                  <a:pt x="18766" y="54763"/>
                </a:lnTo>
                <a:lnTo>
                  <a:pt x="15850" y="63327"/>
                </a:lnTo>
                <a:lnTo>
                  <a:pt x="25640" y="83227"/>
                </a:lnTo>
                <a:lnTo>
                  <a:pt x="51281" y="70614"/>
                </a:lnTo>
                <a:lnTo>
                  <a:pt x="41490" y="50713"/>
                </a:lnTo>
                <a:lnTo>
                  <a:pt x="32927" y="47797"/>
                </a:lnTo>
                <a:close/>
              </a:path>
              <a:path w="268605" h="527050">
                <a:moveTo>
                  <a:pt x="63498" y="47797"/>
                </a:moveTo>
                <a:lnTo>
                  <a:pt x="32927" y="47797"/>
                </a:lnTo>
                <a:lnTo>
                  <a:pt x="41490" y="50713"/>
                </a:lnTo>
                <a:lnTo>
                  <a:pt x="51281" y="70614"/>
                </a:lnTo>
                <a:lnTo>
                  <a:pt x="76921" y="58000"/>
                </a:lnTo>
                <a:lnTo>
                  <a:pt x="63498" y="47797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80295" y="290989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80295" y="290989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80295" y="18234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80295" y="18234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05720" y="2271102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0"/>
                </a:moveTo>
                <a:lnTo>
                  <a:pt x="1" y="6387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74914" y="2384985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74914" y="2384985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69998" y="31302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69998" y="31302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69426" y="39155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69426" y="39155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31144" y="2767100"/>
            <a:ext cx="810260" cy="367030"/>
          </a:xfrm>
          <a:custGeom>
            <a:avLst/>
            <a:gdLst/>
            <a:ahLst/>
            <a:cxnLst/>
            <a:rect l="l" t="t" r="r" b="b"/>
            <a:pathLst>
              <a:path w="810260" h="367030">
                <a:moveTo>
                  <a:pt x="809794" y="0"/>
                </a:moveTo>
                <a:lnTo>
                  <a:pt x="0" y="3666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31145" y="3133730"/>
            <a:ext cx="739140" cy="220979"/>
          </a:xfrm>
          <a:custGeom>
            <a:avLst/>
            <a:gdLst/>
            <a:ahLst/>
            <a:cxnLst/>
            <a:rect l="l" t="t" r="r" b="b"/>
            <a:pathLst>
              <a:path w="739139" h="220979">
                <a:moveTo>
                  <a:pt x="738853" y="22039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31144" y="3133730"/>
            <a:ext cx="404495" cy="847725"/>
          </a:xfrm>
          <a:custGeom>
            <a:avLst/>
            <a:gdLst/>
            <a:ahLst/>
            <a:cxnLst/>
            <a:rect l="l" t="t" r="r" b="b"/>
            <a:pathLst>
              <a:path w="404494" h="847725">
                <a:moveTo>
                  <a:pt x="404306" y="84733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48278" y="5499639"/>
            <a:ext cx="452755" cy="368300"/>
          </a:xfrm>
          <a:custGeom>
            <a:avLst/>
            <a:gdLst/>
            <a:ahLst/>
            <a:cxnLst/>
            <a:rect l="l" t="t" r="r" b="b"/>
            <a:pathLst>
              <a:path w="452755" h="368300">
                <a:moveTo>
                  <a:pt x="355603" y="0"/>
                </a:moveTo>
                <a:lnTo>
                  <a:pt x="351882" y="12204"/>
                </a:lnTo>
                <a:lnTo>
                  <a:pt x="368797" y="20976"/>
                </a:lnTo>
                <a:lnTo>
                  <a:pt x="383527" y="33747"/>
                </a:lnTo>
                <a:lnTo>
                  <a:pt x="406427" y="71288"/>
                </a:lnTo>
                <a:lnTo>
                  <a:pt x="420325" y="122299"/>
                </a:lnTo>
                <a:lnTo>
                  <a:pt x="424957" y="184249"/>
                </a:lnTo>
                <a:lnTo>
                  <a:pt x="423799" y="216521"/>
                </a:lnTo>
                <a:lnTo>
                  <a:pt x="414534" y="272890"/>
                </a:lnTo>
                <a:lnTo>
                  <a:pt x="396070" y="317724"/>
                </a:lnTo>
                <a:lnTo>
                  <a:pt x="368797" y="347230"/>
                </a:lnTo>
                <a:lnTo>
                  <a:pt x="351882" y="355997"/>
                </a:lnTo>
                <a:lnTo>
                  <a:pt x="355603" y="368200"/>
                </a:lnTo>
                <a:lnTo>
                  <a:pt x="396717" y="346286"/>
                </a:lnTo>
                <a:lnTo>
                  <a:pt x="427189" y="304949"/>
                </a:lnTo>
                <a:lnTo>
                  <a:pt x="446054" y="249212"/>
                </a:lnTo>
                <a:lnTo>
                  <a:pt x="452342" y="184100"/>
                </a:lnTo>
                <a:lnTo>
                  <a:pt x="450770" y="150372"/>
                </a:lnTo>
                <a:lnTo>
                  <a:pt x="438193" y="89948"/>
                </a:lnTo>
                <a:lnTo>
                  <a:pt x="413283" y="40155"/>
                </a:lnTo>
                <a:lnTo>
                  <a:pt x="377490" y="8529"/>
                </a:lnTo>
                <a:lnTo>
                  <a:pt x="355603" y="0"/>
                </a:lnTo>
                <a:close/>
              </a:path>
              <a:path w="452755" h="368300">
                <a:moveTo>
                  <a:pt x="96738" y="0"/>
                </a:moveTo>
                <a:lnTo>
                  <a:pt x="55624" y="21914"/>
                </a:lnTo>
                <a:lnTo>
                  <a:pt x="25151" y="63252"/>
                </a:lnTo>
                <a:lnTo>
                  <a:pt x="6287" y="118988"/>
                </a:lnTo>
                <a:lnTo>
                  <a:pt x="0" y="184100"/>
                </a:lnTo>
                <a:lnTo>
                  <a:pt x="1571" y="217828"/>
                </a:lnTo>
                <a:lnTo>
                  <a:pt x="14147" y="278253"/>
                </a:lnTo>
                <a:lnTo>
                  <a:pt x="39057" y="328045"/>
                </a:lnTo>
                <a:lnTo>
                  <a:pt x="74851" y="359671"/>
                </a:lnTo>
                <a:lnTo>
                  <a:pt x="96738" y="368200"/>
                </a:lnTo>
                <a:lnTo>
                  <a:pt x="100458" y="355997"/>
                </a:lnTo>
                <a:lnTo>
                  <a:pt x="83543" y="347230"/>
                </a:lnTo>
                <a:lnTo>
                  <a:pt x="68814" y="334472"/>
                </a:lnTo>
                <a:lnTo>
                  <a:pt x="45913" y="296986"/>
                </a:lnTo>
                <a:lnTo>
                  <a:pt x="32016" y="246068"/>
                </a:lnTo>
                <a:lnTo>
                  <a:pt x="27389" y="184100"/>
                </a:lnTo>
                <a:lnTo>
                  <a:pt x="28541" y="151907"/>
                </a:lnTo>
                <a:lnTo>
                  <a:pt x="37806" y="95426"/>
                </a:lnTo>
                <a:lnTo>
                  <a:pt x="56270" y="50518"/>
                </a:lnTo>
                <a:lnTo>
                  <a:pt x="83543" y="20976"/>
                </a:lnTo>
                <a:lnTo>
                  <a:pt x="100458" y="12204"/>
                </a:lnTo>
                <a:lnTo>
                  <a:pt x="96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518188" y="5499639"/>
            <a:ext cx="797560" cy="368300"/>
          </a:xfrm>
          <a:custGeom>
            <a:avLst/>
            <a:gdLst/>
            <a:ahLst/>
            <a:cxnLst/>
            <a:rect l="l" t="t" r="r" b="b"/>
            <a:pathLst>
              <a:path w="797560" h="368300">
                <a:moveTo>
                  <a:pt x="700535" y="0"/>
                </a:moveTo>
                <a:lnTo>
                  <a:pt x="696814" y="12204"/>
                </a:lnTo>
                <a:lnTo>
                  <a:pt x="713729" y="20976"/>
                </a:lnTo>
                <a:lnTo>
                  <a:pt x="728459" y="33747"/>
                </a:lnTo>
                <a:lnTo>
                  <a:pt x="751359" y="71288"/>
                </a:lnTo>
                <a:lnTo>
                  <a:pt x="765257" y="122299"/>
                </a:lnTo>
                <a:lnTo>
                  <a:pt x="769889" y="184249"/>
                </a:lnTo>
                <a:lnTo>
                  <a:pt x="768731" y="216521"/>
                </a:lnTo>
                <a:lnTo>
                  <a:pt x="759466" y="272890"/>
                </a:lnTo>
                <a:lnTo>
                  <a:pt x="741002" y="317724"/>
                </a:lnTo>
                <a:lnTo>
                  <a:pt x="713729" y="347230"/>
                </a:lnTo>
                <a:lnTo>
                  <a:pt x="696814" y="355997"/>
                </a:lnTo>
                <a:lnTo>
                  <a:pt x="700535" y="368200"/>
                </a:lnTo>
                <a:lnTo>
                  <a:pt x="741649" y="346286"/>
                </a:lnTo>
                <a:lnTo>
                  <a:pt x="772121" y="304949"/>
                </a:lnTo>
                <a:lnTo>
                  <a:pt x="790985" y="249212"/>
                </a:lnTo>
                <a:lnTo>
                  <a:pt x="797272" y="184100"/>
                </a:lnTo>
                <a:lnTo>
                  <a:pt x="795701" y="150372"/>
                </a:lnTo>
                <a:lnTo>
                  <a:pt x="783125" y="89948"/>
                </a:lnTo>
                <a:lnTo>
                  <a:pt x="758215" y="40155"/>
                </a:lnTo>
                <a:lnTo>
                  <a:pt x="722422" y="8529"/>
                </a:lnTo>
                <a:lnTo>
                  <a:pt x="700535" y="0"/>
                </a:lnTo>
                <a:close/>
              </a:path>
              <a:path w="797560" h="368300">
                <a:moveTo>
                  <a:pt x="96738" y="0"/>
                </a:moveTo>
                <a:lnTo>
                  <a:pt x="55624" y="21914"/>
                </a:lnTo>
                <a:lnTo>
                  <a:pt x="25151" y="63252"/>
                </a:lnTo>
                <a:lnTo>
                  <a:pt x="6287" y="118988"/>
                </a:lnTo>
                <a:lnTo>
                  <a:pt x="0" y="184100"/>
                </a:lnTo>
                <a:lnTo>
                  <a:pt x="1571" y="217828"/>
                </a:lnTo>
                <a:lnTo>
                  <a:pt x="14147" y="278253"/>
                </a:lnTo>
                <a:lnTo>
                  <a:pt x="39057" y="328045"/>
                </a:lnTo>
                <a:lnTo>
                  <a:pt x="74851" y="359671"/>
                </a:lnTo>
                <a:lnTo>
                  <a:pt x="96738" y="368200"/>
                </a:lnTo>
                <a:lnTo>
                  <a:pt x="100458" y="355997"/>
                </a:lnTo>
                <a:lnTo>
                  <a:pt x="83543" y="347230"/>
                </a:lnTo>
                <a:lnTo>
                  <a:pt x="68814" y="334472"/>
                </a:lnTo>
                <a:lnTo>
                  <a:pt x="45913" y="296986"/>
                </a:lnTo>
                <a:lnTo>
                  <a:pt x="32015" y="246068"/>
                </a:lnTo>
                <a:lnTo>
                  <a:pt x="27389" y="184100"/>
                </a:lnTo>
                <a:lnTo>
                  <a:pt x="28541" y="151907"/>
                </a:lnTo>
                <a:lnTo>
                  <a:pt x="37806" y="95426"/>
                </a:lnTo>
                <a:lnTo>
                  <a:pt x="56270" y="50518"/>
                </a:lnTo>
                <a:lnTo>
                  <a:pt x="83543" y="20976"/>
                </a:lnTo>
                <a:lnTo>
                  <a:pt x="100458" y="12204"/>
                </a:lnTo>
                <a:lnTo>
                  <a:pt x="9673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675030" y="5542603"/>
            <a:ext cx="431800" cy="282575"/>
          </a:xfrm>
          <a:custGeom>
            <a:avLst/>
            <a:gdLst/>
            <a:ahLst/>
            <a:cxnLst/>
            <a:rect l="l" t="t" r="r" b="b"/>
            <a:pathLst>
              <a:path w="431800" h="282575">
                <a:moveTo>
                  <a:pt x="341596" y="0"/>
                </a:moveTo>
                <a:lnTo>
                  <a:pt x="337578" y="11459"/>
                </a:lnTo>
                <a:lnTo>
                  <a:pt x="353921" y="18552"/>
                </a:lnTo>
                <a:lnTo>
                  <a:pt x="367976" y="28370"/>
                </a:lnTo>
                <a:lnTo>
                  <a:pt x="396514" y="73879"/>
                </a:lnTo>
                <a:lnTo>
                  <a:pt x="404848" y="115662"/>
                </a:lnTo>
                <a:lnTo>
                  <a:pt x="405890" y="139749"/>
                </a:lnTo>
                <a:lnTo>
                  <a:pt x="404844" y="164650"/>
                </a:lnTo>
                <a:lnTo>
                  <a:pt x="396472" y="207587"/>
                </a:lnTo>
                <a:lnTo>
                  <a:pt x="367995" y="253826"/>
                </a:lnTo>
                <a:lnTo>
                  <a:pt x="338025" y="270866"/>
                </a:lnTo>
                <a:lnTo>
                  <a:pt x="341596" y="282326"/>
                </a:lnTo>
                <a:lnTo>
                  <a:pt x="380106" y="264262"/>
                </a:lnTo>
                <a:lnTo>
                  <a:pt x="408420" y="232990"/>
                </a:lnTo>
                <a:lnTo>
                  <a:pt x="425834" y="191113"/>
                </a:lnTo>
                <a:lnTo>
                  <a:pt x="431638" y="141237"/>
                </a:lnTo>
                <a:lnTo>
                  <a:pt x="430182" y="115355"/>
                </a:lnTo>
                <a:lnTo>
                  <a:pt x="418536" y="69479"/>
                </a:lnTo>
                <a:lnTo>
                  <a:pt x="395440" y="32132"/>
                </a:lnTo>
                <a:lnTo>
                  <a:pt x="362065" y="7389"/>
                </a:lnTo>
                <a:lnTo>
                  <a:pt x="341596" y="0"/>
                </a:lnTo>
                <a:close/>
              </a:path>
              <a:path w="431800" h="282575">
                <a:moveTo>
                  <a:pt x="90041" y="0"/>
                </a:moveTo>
                <a:lnTo>
                  <a:pt x="51625" y="18100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5"/>
                </a:lnTo>
                <a:lnTo>
                  <a:pt x="90041" y="282326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47405" y="5542603"/>
            <a:ext cx="431800" cy="282575"/>
          </a:xfrm>
          <a:custGeom>
            <a:avLst/>
            <a:gdLst/>
            <a:ahLst/>
            <a:cxnLst/>
            <a:rect l="l" t="t" r="r" b="b"/>
            <a:pathLst>
              <a:path w="431800" h="282575">
                <a:moveTo>
                  <a:pt x="341595" y="0"/>
                </a:moveTo>
                <a:lnTo>
                  <a:pt x="337577" y="11459"/>
                </a:lnTo>
                <a:lnTo>
                  <a:pt x="353920" y="18552"/>
                </a:lnTo>
                <a:lnTo>
                  <a:pt x="367975" y="28370"/>
                </a:lnTo>
                <a:lnTo>
                  <a:pt x="396513" y="73879"/>
                </a:lnTo>
                <a:lnTo>
                  <a:pt x="404847" y="115662"/>
                </a:lnTo>
                <a:lnTo>
                  <a:pt x="405889" y="139749"/>
                </a:lnTo>
                <a:lnTo>
                  <a:pt x="404842" y="164650"/>
                </a:lnTo>
                <a:lnTo>
                  <a:pt x="396470" y="207587"/>
                </a:lnTo>
                <a:lnTo>
                  <a:pt x="367993" y="253826"/>
                </a:lnTo>
                <a:lnTo>
                  <a:pt x="338023" y="270866"/>
                </a:lnTo>
                <a:lnTo>
                  <a:pt x="341595" y="282326"/>
                </a:lnTo>
                <a:lnTo>
                  <a:pt x="380105" y="264262"/>
                </a:lnTo>
                <a:lnTo>
                  <a:pt x="408419" y="232990"/>
                </a:lnTo>
                <a:lnTo>
                  <a:pt x="425832" y="191113"/>
                </a:lnTo>
                <a:lnTo>
                  <a:pt x="431636" y="141237"/>
                </a:lnTo>
                <a:lnTo>
                  <a:pt x="430180" y="115355"/>
                </a:lnTo>
                <a:lnTo>
                  <a:pt x="418535" y="69479"/>
                </a:lnTo>
                <a:lnTo>
                  <a:pt x="395439" y="32132"/>
                </a:lnTo>
                <a:lnTo>
                  <a:pt x="362063" y="7389"/>
                </a:lnTo>
                <a:lnTo>
                  <a:pt x="341595" y="0"/>
                </a:lnTo>
                <a:close/>
              </a:path>
              <a:path w="431800" h="282575">
                <a:moveTo>
                  <a:pt x="90040" y="0"/>
                </a:moveTo>
                <a:lnTo>
                  <a:pt x="51623" y="18100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5"/>
                </a:lnTo>
                <a:lnTo>
                  <a:pt x="90040" y="282326"/>
                </a:lnTo>
                <a:lnTo>
                  <a:pt x="93611" y="270866"/>
                </a:lnTo>
                <a:lnTo>
                  <a:pt x="77524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9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093118" y="5452364"/>
            <a:ext cx="1102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-370">
                <a:latin typeface="Cambria Math"/>
                <a:cs typeface="Cambria Math"/>
              </a:rPr>
              <a:t>∀𝑌</a:t>
            </a:r>
            <a:r>
              <a:rPr dirty="0" baseline="-15432" sz="2700" spc="-555">
                <a:latin typeface="Cambria Math"/>
                <a:cs typeface="Cambria Math"/>
              </a:rPr>
              <a:t>&gt;                     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-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9072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99721" y="1900047"/>
            <a:ext cx="575945" cy="376555"/>
          </a:xfrm>
          <a:custGeom>
            <a:avLst/>
            <a:gdLst/>
            <a:ahLst/>
            <a:cxnLst/>
            <a:rect l="l" t="t" r="r" b="b"/>
            <a:pathLst>
              <a:path w="575945" h="376555">
                <a:moveTo>
                  <a:pt x="455461" y="0"/>
                </a:moveTo>
                <a:lnTo>
                  <a:pt x="450103" y="15279"/>
                </a:lnTo>
                <a:lnTo>
                  <a:pt x="471894" y="24736"/>
                </a:lnTo>
                <a:lnTo>
                  <a:pt x="490634" y="37826"/>
                </a:lnTo>
                <a:lnTo>
                  <a:pt x="518961" y="74909"/>
                </a:lnTo>
                <a:lnTo>
                  <a:pt x="535630" y="124940"/>
                </a:lnTo>
                <a:lnTo>
                  <a:pt x="541186" y="186331"/>
                </a:lnTo>
                <a:lnTo>
                  <a:pt x="539791" y="219533"/>
                </a:lnTo>
                <a:lnTo>
                  <a:pt x="528629" y="276782"/>
                </a:lnTo>
                <a:lnTo>
                  <a:pt x="506230" y="321493"/>
                </a:lnTo>
                <a:lnTo>
                  <a:pt x="472148" y="351655"/>
                </a:lnTo>
                <a:lnTo>
                  <a:pt x="450698" y="361156"/>
                </a:lnTo>
                <a:lnTo>
                  <a:pt x="455461" y="376435"/>
                </a:lnTo>
                <a:lnTo>
                  <a:pt x="506806" y="352350"/>
                </a:lnTo>
                <a:lnTo>
                  <a:pt x="544559" y="310653"/>
                </a:lnTo>
                <a:lnTo>
                  <a:pt x="567776" y="254818"/>
                </a:lnTo>
                <a:lnTo>
                  <a:pt x="575515" y="188316"/>
                </a:lnTo>
                <a:lnTo>
                  <a:pt x="573574" y="153807"/>
                </a:lnTo>
                <a:lnTo>
                  <a:pt x="558047" y="92638"/>
                </a:lnTo>
                <a:lnTo>
                  <a:pt x="527252" y="42843"/>
                </a:lnTo>
                <a:lnTo>
                  <a:pt x="482752" y="9853"/>
                </a:lnTo>
                <a:lnTo>
                  <a:pt x="455461" y="0"/>
                </a:lnTo>
                <a:close/>
              </a:path>
              <a:path w="57594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21216" y="1303020"/>
            <a:ext cx="424878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After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convergence:</a:t>
            </a:r>
          </a:p>
          <a:p>
            <a:pPr marL="12700" marR="5080" indent="92075">
              <a:lnSpc>
                <a:spcPts val="3910"/>
              </a:lnSpc>
              <a:spcBef>
                <a:spcPts val="45"/>
              </a:spcBef>
              <a:tabLst>
                <a:tab pos="610870" algn="l"/>
                <a:tab pos="1178560" algn="l"/>
              </a:tabLst>
            </a:pPr>
            <a:r>
              <a:rPr dirty="0" spc="-130">
                <a:latin typeface="Cambria Math"/>
                <a:cs typeface="Cambria Math"/>
              </a:rPr>
              <a:t>𝑏</a:t>
            </a:r>
            <a:r>
              <a:rPr dirty="0" baseline="-15700" sz="3450" spc="-195">
                <a:latin typeface="Cambria Math"/>
                <a:cs typeface="Cambria Math"/>
              </a:rPr>
              <a:t>(	</a:t>
            </a:r>
            <a:r>
              <a:rPr dirty="0" sz="3200" spc="-340">
                <a:latin typeface="Cambria Math"/>
                <a:cs typeface="Cambria Math"/>
              </a:rPr>
              <a:t>𝑌</a:t>
            </a:r>
            <a:r>
              <a:rPr dirty="0" baseline="-15700" sz="3450" spc="-509">
                <a:latin typeface="Cambria Math"/>
                <a:cs typeface="Cambria Math"/>
              </a:rPr>
              <a:t>(	</a:t>
            </a:r>
            <a:r>
              <a:rPr dirty="0" sz="3200"/>
              <a:t>= </a:t>
            </a:r>
            <a:r>
              <a:rPr dirty="0" sz="3200" spc="-5"/>
              <a:t>node </a:t>
            </a:r>
            <a:r>
              <a:rPr dirty="0" sz="3200" spc="-35">
                <a:latin typeface="Cambria Math"/>
                <a:cs typeface="Cambria Math"/>
              </a:rPr>
              <a:t>𝑖</a:t>
            </a:r>
            <a:r>
              <a:rPr dirty="0" sz="3200" spc="-35"/>
              <a:t>’s </a:t>
            </a:r>
            <a:r>
              <a:rPr dirty="0" sz="3200" spc="-10"/>
              <a:t>belief</a:t>
            </a:r>
            <a:r>
              <a:rPr dirty="0" sz="3200" spc="-15"/>
              <a:t> </a:t>
            </a:r>
            <a:r>
              <a:rPr dirty="0" sz="3200" spc="-5"/>
              <a:t>of </a:t>
            </a:r>
            <a:r>
              <a:rPr dirty="0" sz="3200"/>
              <a:t> </a:t>
            </a:r>
            <a:r>
              <a:rPr dirty="0" sz="3200" spc="-5"/>
              <a:t>being </a:t>
            </a:r>
            <a:r>
              <a:rPr dirty="0" sz="3200"/>
              <a:t>in </a:t>
            </a:r>
            <a:r>
              <a:rPr dirty="0" sz="3200" spc="-5"/>
              <a:t>class</a:t>
            </a:r>
            <a:r>
              <a:rPr dirty="0" sz="3200" spc="-40"/>
              <a:t> </a:t>
            </a:r>
            <a:r>
              <a:rPr dirty="0" sz="3200" spc="-340">
                <a:latin typeface="Cambria Math"/>
                <a:cs typeface="Cambria Math"/>
              </a:rPr>
              <a:t>𝑌</a:t>
            </a:r>
            <a:r>
              <a:rPr dirty="0" baseline="-15700" sz="3450" spc="-509">
                <a:latin typeface="Cambria Math"/>
                <a:cs typeface="Cambria Math"/>
              </a:rPr>
              <a:t>(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3814" y="4767579"/>
            <a:ext cx="6153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dirty="0" sz="2200" spc="-5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9420" y="4417059"/>
            <a:ext cx="2325370" cy="7023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50"/>
              </a:spcBef>
            </a:pP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All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messages</a:t>
            </a:r>
            <a:r>
              <a:rPr dirty="0" sz="22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from  </a:t>
            </a: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8110" y="5416136"/>
            <a:ext cx="575945" cy="376555"/>
          </a:xfrm>
          <a:custGeom>
            <a:avLst/>
            <a:gdLst/>
            <a:ahLst/>
            <a:cxnLst/>
            <a:rect l="l" t="t" r="r" b="b"/>
            <a:pathLst>
              <a:path w="575944" h="376554">
                <a:moveTo>
                  <a:pt x="455461" y="0"/>
                </a:moveTo>
                <a:lnTo>
                  <a:pt x="450103" y="15280"/>
                </a:lnTo>
                <a:lnTo>
                  <a:pt x="471894" y="24737"/>
                </a:lnTo>
                <a:lnTo>
                  <a:pt x="490634" y="37828"/>
                </a:lnTo>
                <a:lnTo>
                  <a:pt x="518961" y="74910"/>
                </a:lnTo>
                <a:lnTo>
                  <a:pt x="535629" y="124941"/>
                </a:lnTo>
                <a:lnTo>
                  <a:pt x="541186" y="186333"/>
                </a:lnTo>
                <a:lnTo>
                  <a:pt x="539790" y="219534"/>
                </a:lnTo>
                <a:lnTo>
                  <a:pt x="528628" y="276783"/>
                </a:lnTo>
                <a:lnTo>
                  <a:pt x="506230" y="321494"/>
                </a:lnTo>
                <a:lnTo>
                  <a:pt x="472148" y="351656"/>
                </a:lnTo>
                <a:lnTo>
                  <a:pt x="450698" y="361156"/>
                </a:lnTo>
                <a:lnTo>
                  <a:pt x="455461" y="376436"/>
                </a:lnTo>
                <a:lnTo>
                  <a:pt x="506806" y="352351"/>
                </a:lnTo>
                <a:lnTo>
                  <a:pt x="544559" y="310654"/>
                </a:lnTo>
                <a:lnTo>
                  <a:pt x="567776" y="254819"/>
                </a:lnTo>
                <a:lnTo>
                  <a:pt x="575515" y="188317"/>
                </a:lnTo>
                <a:lnTo>
                  <a:pt x="573574" y="153808"/>
                </a:lnTo>
                <a:lnTo>
                  <a:pt x="558047" y="92640"/>
                </a:lnTo>
                <a:lnTo>
                  <a:pt x="527252" y="42844"/>
                </a:lnTo>
                <a:lnTo>
                  <a:pt x="482752" y="9853"/>
                </a:lnTo>
                <a:lnTo>
                  <a:pt x="455461" y="0"/>
                </a:lnTo>
                <a:close/>
              </a:path>
              <a:path w="575944" h="376554">
                <a:moveTo>
                  <a:pt x="120054" y="0"/>
                </a:moveTo>
                <a:lnTo>
                  <a:pt x="68832" y="24135"/>
                </a:lnTo>
                <a:lnTo>
                  <a:pt x="31055" y="65981"/>
                </a:lnTo>
                <a:lnTo>
                  <a:pt x="7763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70"/>
                </a:lnTo>
                <a:lnTo>
                  <a:pt x="48133" y="333704"/>
                </a:lnTo>
                <a:lnTo>
                  <a:pt x="92682" y="366595"/>
                </a:lnTo>
                <a:lnTo>
                  <a:pt x="120054" y="376436"/>
                </a:lnTo>
                <a:lnTo>
                  <a:pt x="124816" y="361156"/>
                </a:lnTo>
                <a:lnTo>
                  <a:pt x="103366" y="351656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4"/>
                </a:lnTo>
                <a:lnTo>
                  <a:pt x="34329" y="186333"/>
                </a:lnTo>
                <a:lnTo>
                  <a:pt x="35724" y="154217"/>
                </a:lnTo>
                <a:lnTo>
                  <a:pt x="46886" y="98506"/>
                </a:lnTo>
                <a:lnTo>
                  <a:pt x="69322" y="54552"/>
                </a:lnTo>
                <a:lnTo>
                  <a:pt x="103701" y="24737"/>
                </a:lnTo>
                <a:lnTo>
                  <a:pt x="125411" y="15280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21680" y="5301996"/>
            <a:ext cx="14274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8795" algn="l"/>
                <a:tab pos="1109980" algn="l"/>
              </a:tabLst>
            </a:pPr>
            <a:r>
              <a:rPr dirty="0" sz="3200" spc="-105">
                <a:latin typeface="Cambria Math"/>
                <a:cs typeface="Cambria Math"/>
              </a:rPr>
              <a:t>𝑏</a:t>
            </a:r>
            <a:r>
              <a:rPr dirty="0" baseline="-15700" sz="3450" spc="-225">
                <a:latin typeface="Cambria Math"/>
                <a:cs typeface="Cambria Math"/>
              </a:rPr>
              <a:t>(</a:t>
            </a:r>
            <a:r>
              <a:rPr dirty="0" baseline="-15700" sz="3450">
                <a:latin typeface="Cambria Math"/>
                <a:cs typeface="Cambria Math"/>
              </a:rPr>
              <a:t>	</a:t>
            </a:r>
            <a:r>
              <a:rPr dirty="0" sz="3200" spc="-530">
                <a:latin typeface="Cambria Math"/>
                <a:cs typeface="Cambria Math"/>
              </a:rPr>
              <a:t>𝑌</a:t>
            </a:r>
            <a:r>
              <a:rPr dirty="0" baseline="-15700" sz="3450" spc="-225">
                <a:latin typeface="Cambria Math"/>
                <a:cs typeface="Cambria Math"/>
              </a:rPr>
              <a:t>(</a:t>
            </a:r>
            <a:r>
              <a:rPr dirty="0" baseline="-15700" sz="3450"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93704" y="5416136"/>
            <a:ext cx="575945" cy="376555"/>
          </a:xfrm>
          <a:custGeom>
            <a:avLst/>
            <a:gdLst/>
            <a:ahLst/>
            <a:cxnLst/>
            <a:rect l="l" t="t" r="r" b="b"/>
            <a:pathLst>
              <a:path w="575945" h="376554">
                <a:moveTo>
                  <a:pt x="455462" y="0"/>
                </a:moveTo>
                <a:lnTo>
                  <a:pt x="450104" y="15280"/>
                </a:lnTo>
                <a:lnTo>
                  <a:pt x="471895" y="24737"/>
                </a:lnTo>
                <a:lnTo>
                  <a:pt x="490635" y="37828"/>
                </a:lnTo>
                <a:lnTo>
                  <a:pt x="518962" y="74910"/>
                </a:lnTo>
                <a:lnTo>
                  <a:pt x="535631" y="124941"/>
                </a:lnTo>
                <a:lnTo>
                  <a:pt x="541187" y="186333"/>
                </a:lnTo>
                <a:lnTo>
                  <a:pt x="539792" y="219534"/>
                </a:lnTo>
                <a:lnTo>
                  <a:pt x="528629" y="276783"/>
                </a:lnTo>
                <a:lnTo>
                  <a:pt x="506231" y="321494"/>
                </a:lnTo>
                <a:lnTo>
                  <a:pt x="472149" y="351656"/>
                </a:lnTo>
                <a:lnTo>
                  <a:pt x="450700" y="361156"/>
                </a:lnTo>
                <a:lnTo>
                  <a:pt x="455462" y="376436"/>
                </a:lnTo>
                <a:lnTo>
                  <a:pt x="506807" y="352351"/>
                </a:lnTo>
                <a:lnTo>
                  <a:pt x="544560" y="310654"/>
                </a:lnTo>
                <a:lnTo>
                  <a:pt x="567777" y="254819"/>
                </a:lnTo>
                <a:lnTo>
                  <a:pt x="575517" y="188317"/>
                </a:lnTo>
                <a:lnTo>
                  <a:pt x="573576" y="153808"/>
                </a:lnTo>
                <a:lnTo>
                  <a:pt x="558048" y="92640"/>
                </a:lnTo>
                <a:lnTo>
                  <a:pt x="527253" y="42844"/>
                </a:lnTo>
                <a:lnTo>
                  <a:pt x="482753" y="9853"/>
                </a:lnTo>
                <a:lnTo>
                  <a:pt x="455462" y="0"/>
                </a:lnTo>
                <a:close/>
              </a:path>
              <a:path w="575945" h="376554">
                <a:moveTo>
                  <a:pt x="120055" y="0"/>
                </a:moveTo>
                <a:lnTo>
                  <a:pt x="68833" y="24135"/>
                </a:lnTo>
                <a:lnTo>
                  <a:pt x="31056" y="65981"/>
                </a:lnTo>
                <a:lnTo>
                  <a:pt x="7764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70"/>
                </a:lnTo>
                <a:lnTo>
                  <a:pt x="48133" y="333704"/>
                </a:lnTo>
                <a:lnTo>
                  <a:pt x="92683" y="366595"/>
                </a:lnTo>
                <a:lnTo>
                  <a:pt x="120055" y="376436"/>
                </a:lnTo>
                <a:lnTo>
                  <a:pt x="124818" y="361156"/>
                </a:lnTo>
                <a:lnTo>
                  <a:pt x="103368" y="351656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4"/>
                </a:lnTo>
                <a:lnTo>
                  <a:pt x="34330" y="186333"/>
                </a:lnTo>
                <a:lnTo>
                  <a:pt x="35725" y="154217"/>
                </a:lnTo>
                <a:lnTo>
                  <a:pt x="46887" y="98506"/>
                </a:lnTo>
                <a:lnTo>
                  <a:pt x="69323" y="54552"/>
                </a:lnTo>
                <a:lnTo>
                  <a:pt x="103702" y="24737"/>
                </a:lnTo>
                <a:lnTo>
                  <a:pt x="125412" y="15280"/>
                </a:lnTo>
                <a:lnTo>
                  <a:pt x="12005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94258" y="5416136"/>
            <a:ext cx="575945" cy="376555"/>
          </a:xfrm>
          <a:custGeom>
            <a:avLst/>
            <a:gdLst/>
            <a:ahLst/>
            <a:cxnLst/>
            <a:rect l="l" t="t" r="r" b="b"/>
            <a:pathLst>
              <a:path w="575945" h="376554">
                <a:moveTo>
                  <a:pt x="455461" y="0"/>
                </a:moveTo>
                <a:lnTo>
                  <a:pt x="450104" y="15280"/>
                </a:lnTo>
                <a:lnTo>
                  <a:pt x="471895" y="24737"/>
                </a:lnTo>
                <a:lnTo>
                  <a:pt x="490635" y="37828"/>
                </a:lnTo>
                <a:lnTo>
                  <a:pt x="518961" y="74910"/>
                </a:lnTo>
                <a:lnTo>
                  <a:pt x="535630" y="124941"/>
                </a:lnTo>
                <a:lnTo>
                  <a:pt x="541186" y="186333"/>
                </a:lnTo>
                <a:lnTo>
                  <a:pt x="539791" y="219534"/>
                </a:lnTo>
                <a:lnTo>
                  <a:pt x="528629" y="276783"/>
                </a:lnTo>
                <a:lnTo>
                  <a:pt x="506230" y="321494"/>
                </a:lnTo>
                <a:lnTo>
                  <a:pt x="472149" y="351656"/>
                </a:lnTo>
                <a:lnTo>
                  <a:pt x="450698" y="361156"/>
                </a:lnTo>
                <a:lnTo>
                  <a:pt x="455461" y="376436"/>
                </a:lnTo>
                <a:lnTo>
                  <a:pt x="506807" y="352351"/>
                </a:lnTo>
                <a:lnTo>
                  <a:pt x="544560" y="310654"/>
                </a:lnTo>
                <a:lnTo>
                  <a:pt x="567777" y="254819"/>
                </a:lnTo>
                <a:lnTo>
                  <a:pt x="575517" y="188317"/>
                </a:lnTo>
                <a:lnTo>
                  <a:pt x="573576" y="153808"/>
                </a:lnTo>
                <a:lnTo>
                  <a:pt x="558048" y="92640"/>
                </a:lnTo>
                <a:lnTo>
                  <a:pt x="527252" y="42844"/>
                </a:lnTo>
                <a:lnTo>
                  <a:pt x="482752" y="9853"/>
                </a:lnTo>
                <a:lnTo>
                  <a:pt x="455461" y="0"/>
                </a:lnTo>
                <a:close/>
              </a:path>
              <a:path w="575945" h="376554">
                <a:moveTo>
                  <a:pt x="120054" y="0"/>
                </a:moveTo>
                <a:lnTo>
                  <a:pt x="68833" y="24135"/>
                </a:lnTo>
                <a:lnTo>
                  <a:pt x="31055" y="65981"/>
                </a:lnTo>
                <a:lnTo>
                  <a:pt x="7763" y="121915"/>
                </a:lnTo>
                <a:lnTo>
                  <a:pt x="0" y="188317"/>
                </a:lnTo>
                <a:lnTo>
                  <a:pt x="1934" y="222901"/>
                </a:lnTo>
                <a:lnTo>
                  <a:pt x="17412" y="284070"/>
                </a:lnTo>
                <a:lnTo>
                  <a:pt x="48133" y="333704"/>
                </a:lnTo>
                <a:lnTo>
                  <a:pt x="92682" y="366595"/>
                </a:lnTo>
                <a:lnTo>
                  <a:pt x="120054" y="376436"/>
                </a:lnTo>
                <a:lnTo>
                  <a:pt x="124816" y="361156"/>
                </a:lnTo>
                <a:lnTo>
                  <a:pt x="103367" y="351656"/>
                </a:lnTo>
                <a:lnTo>
                  <a:pt x="84856" y="338435"/>
                </a:lnTo>
                <a:lnTo>
                  <a:pt x="56654" y="300831"/>
                </a:lnTo>
                <a:lnTo>
                  <a:pt x="39910" y="249684"/>
                </a:lnTo>
                <a:lnTo>
                  <a:pt x="34329" y="186333"/>
                </a:lnTo>
                <a:lnTo>
                  <a:pt x="35724" y="154217"/>
                </a:lnTo>
                <a:lnTo>
                  <a:pt x="46887" y="98506"/>
                </a:lnTo>
                <a:lnTo>
                  <a:pt x="69323" y="54552"/>
                </a:lnTo>
                <a:lnTo>
                  <a:pt x="103702" y="24737"/>
                </a:lnTo>
                <a:lnTo>
                  <a:pt x="125412" y="15280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633533" y="5167191"/>
          <a:ext cx="3844925" cy="884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495"/>
                <a:gridCol w="579096"/>
                <a:gridCol w="1821457"/>
                <a:gridCol w="478281"/>
                <a:gridCol w="314770"/>
              </a:tblGrid>
              <a:tr h="74930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3200" spc="-7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𝜙</a:t>
                      </a:r>
                      <a:r>
                        <a:rPr dirty="0" baseline="-15700" sz="3450" spc="-112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(</a:t>
                      </a:r>
                      <a:endParaRPr baseline="-15700" sz="3450">
                        <a:latin typeface="Cambria Math"/>
                        <a:cs typeface="Cambria Math"/>
                      </a:endParaRPr>
                    </a:p>
                  </a:txBody>
                  <a:tcPr marL="0" marR="0" marB="0" marT="80645">
                    <a:lnL w="76200">
                      <a:solidFill>
                        <a:srgbClr val="FF0000"/>
                      </a:solidFill>
                      <a:prstDash val="solid"/>
                    </a:lnL>
                    <a:lnT w="76200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3200" spc="-34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baseline="-15700" sz="3450" spc="-509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(</a:t>
                      </a:r>
                      <a:endParaRPr baseline="-15700" sz="3450">
                        <a:latin typeface="Cambria Math"/>
                        <a:cs typeface="Cambria Math"/>
                      </a:endParaRPr>
                    </a:p>
                  </a:txBody>
                  <a:tcPr marL="0" marR="0" marB="0" marT="80645">
                    <a:lnR w="76200">
                      <a:solidFill>
                        <a:srgbClr val="0000FF"/>
                      </a:solidFill>
                      <a:prstDash val="solid"/>
                    </a:lnR>
                    <a:lnT w="76200">
                      <a:solidFill>
                        <a:srgbClr val="FF0000"/>
                      </a:solidFill>
                      <a:prstDash val="solid"/>
                    </a:lnT>
                    <a:lnB w="762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baseline="11284" sz="4800" spc="127">
                          <a:latin typeface="Cambria Math"/>
                          <a:cs typeface="Cambria Math"/>
                        </a:rPr>
                        <a:t>Π</a:t>
                      </a:r>
                      <a:r>
                        <a:rPr dirty="0" sz="2300" spc="85">
                          <a:latin typeface="Cambria Math"/>
                          <a:cs typeface="Cambria Math"/>
                        </a:rPr>
                        <a:t>)∈,</a:t>
                      </a:r>
                      <a:r>
                        <a:rPr dirty="0" baseline="-14619" sz="2850" spc="127">
                          <a:latin typeface="Cambria Math"/>
                          <a:cs typeface="Cambria Math"/>
                        </a:rPr>
                        <a:t>8</a:t>
                      </a:r>
                      <a:r>
                        <a:rPr dirty="0" baseline="11284" sz="4800" spc="127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𝑚</a:t>
                      </a:r>
                      <a:r>
                        <a:rPr dirty="0" sz="2300" spc="8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)→(</a:t>
                      </a:r>
                      <a:endParaRPr sz="2300">
                        <a:latin typeface="Cambria Math"/>
                        <a:cs typeface="Cambria Math"/>
                      </a:endParaRPr>
                    </a:p>
                  </a:txBody>
                  <a:tcPr marL="0" marR="0" marB="0" marT="163195">
                    <a:lnL w="76200">
                      <a:solidFill>
                        <a:srgbClr val="0000FF"/>
                      </a:solidFill>
                      <a:prstDash val="solid"/>
                    </a:lnL>
                    <a:lnT w="76200">
                      <a:solidFill>
                        <a:srgbClr val="0000FF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3200" spc="-34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𝑌</a:t>
                      </a:r>
                      <a:r>
                        <a:rPr dirty="0" baseline="-15700" sz="3450" spc="-509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(</a:t>
                      </a:r>
                      <a:endParaRPr baseline="-15700" sz="3450">
                        <a:latin typeface="Cambria Math"/>
                        <a:cs typeface="Cambria Math"/>
                      </a:endParaRPr>
                    </a:p>
                  </a:txBody>
                  <a:tcPr marL="0" marR="0" marB="0" marT="80645">
                    <a:lnT w="76200">
                      <a:solidFill>
                        <a:srgbClr val="0000FF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3200">
                          <a:latin typeface="Cambria Math"/>
                          <a:cs typeface="Cambria Math"/>
                        </a:rPr>
                        <a:t>,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80645">
                    <a:lnR w="76200">
                      <a:solidFill>
                        <a:srgbClr val="0000FF"/>
                      </a:solidFill>
                      <a:prstDash val="solid"/>
                    </a:lnR>
                    <a:lnT w="76200">
                      <a:solidFill>
                        <a:srgbClr val="0000FF"/>
                      </a:solidFill>
                      <a:prstDash val="solid"/>
                    </a:lnT>
                    <a:lnB w="76200">
                      <a:solidFill>
                        <a:srgbClr val="0000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446777" y="5301996"/>
            <a:ext cx="13995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∀ </a:t>
            </a:r>
            <a:r>
              <a:rPr dirty="0" sz="3200" spc="-340">
                <a:latin typeface="Cambria Math"/>
                <a:cs typeface="Cambria Math"/>
              </a:rPr>
              <a:t>𝑌</a:t>
            </a:r>
            <a:r>
              <a:rPr dirty="0" baseline="-15700" sz="3450" spc="-509">
                <a:latin typeface="Cambria Math"/>
                <a:cs typeface="Cambria Math"/>
              </a:rPr>
              <a:t>(     </a:t>
            </a:r>
            <a:r>
              <a:rPr dirty="0" sz="3200">
                <a:latin typeface="Cambria Math"/>
                <a:cs typeface="Cambria Math"/>
              </a:rPr>
              <a:t>∈</a:t>
            </a:r>
            <a:r>
              <a:rPr dirty="0" sz="3200" spc="5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ℒ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92759" y="2372695"/>
            <a:ext cx="85725" cy="539750"/>
          </a:xfrm>
          <a:custGeom>
            <a:avLst/>
            <a:gdLst/>
            <a:ahLst/>
            <a:cxnLst/>
            <a:rect l="l" t="t" r="r" b="b"/>
            <a:pathLst>
              <a:path w="85725" h="539750">
                <a:moveTo>
                  <a:pt x="50753" y="57150"/>
                </a:moveTo>
                <a:lnTo>
                  <a:pt x="34971" y="57150"/>
                </a:lnTo>
                <a:lnTo>
                  <a:pt x="28575" y="63546"/>
                </a:lnTo>
                <a:lnTo>
                  <a:pt x="28574" y="532799"/>
                </a:lnTo>
                <a:lnTo>
                  <a:pt x="34970" y="539196"/>
                </a:lnTo>
                <a:lnTo>
                  <a:pt x="50752" y="539196"/>
                </a:lnTo>
                <a:lnTo>
                  <a:pt x="57149" y="532799"/>
                </a:lnTo>
                <a:lnTo>
                  <a:pt x="57150" y="63546"/>
                </a:lnTo>
                <a:lnTo>
                  <a:pt x="50753" y="57150"/>
                </a:lnTo>
                <a:close/>
              </a:path>
              <a:path w="85725" h="539750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6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539750">
                <a:moveTo>
                  <a:pt x="71437" y="57150"/>
                </a:moveTo>
                <a:lnTo>
                  <a:pt x="50753" y="57150"/>
                </a:lnTo>
                <a:lnTo>
                  <a:pt x="57150" y="63546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75038" y="2685862"/>
            <a:ext cx="505459" cy="264795"/>
          </a:xfrm>
          <a:custGeom>
            <a:avLst/>
            <a:gdLst/>
            <a:ahLst/>
            <a:cxnLst/>
            <a:rect l="l" t="t" r="r" b="b"/>
            <a:pathLst>
              <a:path w="505460" h="264794">
                <a:moveTo>
                  <a:pt x="57030" y="187523"/>
                </a:moveTo>
                <a:lnTo>
                  <a:pt x="0" y="264552"/>
                </a:lnTo>
                <a:lnTo>
                  <a:pt x="95841" y="263958"/>
                </a:lnTo>
                <a:lnTo>
                  <a:pt x="88003" y="248521"/>
                </a:lnTo>
                <a:lnTo>
                  <a:pt x="63130" y="248521"/>
                </a:lnTo>
                <a:lnTo>
                  <a:pt x="54529" y="245714"/>
                </a:lnTo>
                <a:lnTo>
                  <a:pt x="47384" y="231642"/>
                </a:lnTo>
                <a:lnTo>
                  <a:pt x="50192" y="223042"/>
                </a:lnTo>
                <a:lnTo>
                  <a:pt x="69967" y="213001"/>
                </a:lnTo>
                <a:lnTo>
                  <a:pt x="57030" y="187523"/>
                </a:lnTo>
                <a:close/>
              </a:path>
              <a:path w="505460" h="264794">
                <a:moveTo>
                  <a:pt x="69967" y="213001"/>
                </a:moveTo>
                <a:lnTo>
                  <a:pt x="50192" y="223042"/>
                </a:lnTo>
                <a:lnTo>
                  <a:pt x="47384" y="231642"/>
                </a:lnTo>
                <a:lnTo>
                  <a:pt x="54529" y="245714"/>
                </a:lnTo>
                <a:lnTo>
                  <a:pt x="63130" y="248521"/>
                </a:lnTo>
                <a:lnTo>
                  <a:pt x="82904" y="238480"/>
                </a:lnTo>
                <a:lnTo>
                  <a:pt x="69967" y="213001"/>
                </a:lnTo>
                <a:close/>
              </a:path>
              <a:path w="505460" h="264794">
                <a:moveTo>
                  <a:pt x="82904" y="238480"/>
                </a:moveTo>
                <a:lnTo>
                  <a:pt x="63130" y="248521"/>
                </a:lnTo>
                <a:lnTo>
                  <a:pt x="88003" y="248521"/>
                </a:lnTo>
                <a:lnTo>
                  <a:pt x="82904" y="238480"/>
                </a:lnTo>
                <a:close/>
              </a:path>
              <a:path w="505460" h="264794">
                <a:moveTo>
                  <a:pt x="489446" y="0"/>
                </a:moveTo>
                <a:lnTo>
                  <a:pt x="69967" y="213001"/>
                </a:lnTo>
                <a:lnTo>
                  <a:pt x="82904" y="238480"/>
                </a:lnTo>
                <a:lnTo>
                  <a:pt x="502384" y="25478"/>
                </a:lnTo>
                <a:lnTo>
                  <a:pt x="505192" y="16879"/>
                </a:lnTo>
                <a:lnTo>
                  <a:pt x="498045" y="2807"/>
                </a:lnTo>
                <a:lnTo>
                  <a:pt x="489446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86135" y="3133210"/>
            <a:ext cx="495300" cy="160655"/>
          </a:xfrm>
          <a:custGeom>
            <a:avLst/>
            <a:gdLst/>
            <a:ahLst/>
            <a:cxnLst/>
            <a:rect l="l" t="t" r="r" b="b"/>
            <a:pathLst>
              <a:path w="495300" h="160654">
                <a:moveTo>
                  <a:pt x="86564" y="27658"/>
                </a:moveTo>
                <a:lnTo>
                  <a:pt x="79381" y="55316"/>
                </a:lnTo>
                <a:lnTo>
                  <a:pt x="483348" y="160232"/>
                </a:lnTo>
                <a:lnTo>
                  <a:pt x="491147" y="155648"/>
                </a:lnTo>
                <a:lnTo>
                  <a:pt x="495114" y="140374"/>
                </a:lnTo>
                <a:lnTo>
                  <a:pt x="490531" y="132575"/>
                </a:lnTo>
                <a:lnTo>
                  <a:pt x="86564" y="27658"/>
                </a:lnTo>
                <a:close/>
              </a:path>
              <a:path w="495300" h="160654">
                <a:moveTo>
                  <a:pt x="93747" y="0"/>
                </a:moveTo>
                <a:lnTo>
                  <a:pt x="0" y="19937"/>
                </a:lnTo>
                <a:lnTo>
                  <a:pt x="72198" y="82972"/>
                </a:lnTo>
                <a:lnTo>
                  <a:pt x="79381" y="55316"/>
                </a:lnTo>
                <a:lnTo>
                  <a:pt x="57914" y="49740"/>
                </a:lnTo>
                <a:lnTo>
                  <a:pt x="53331" y="41940"/>
                </a:lnTo>
                <a:lnTo>
                  <a:pt x="57298" y="26666"/>
                </a:lnTo>
                <a:lnTo>
                  <a:pt x="65097" y="22082"/>
                </a:lnTo>
                <a:lnTo>
                  <a:pt x="88012" y="22082"/>
                </a:lnTo>
                <a:lnTo>
                  <a:pt x="93747" y="0"/>
                </a:lnTo>
                <a:close/>
              </a:path>
              <a:path w="495300" h="160654">
                <a:moveTo>
                  <a:pt x="65097" y="22082"/>
                </a:moveTo>
                <a:lnTo>
                  <a:pt x="57298" y="26666"/>
                </a:lnTo>
                <a:lnTo>
                  <a:pt x="53331" y="41940"/>
                </a:lnTo>
                <a:lnTo>
                  <a:pt x="57914" y="49740"/>
                </a:lnTo>
                <a:lnTo>
                  <a:pt x="79381" y="55316"/>
                </a:lnTo>
                <a:lnTo>
                  <a:pt x="86564" y="27658"/>
                </a:lnTo>
                <a:lnTo>
                  <a:pt x="65097" y="22082"/>
                </a:lnTo>
                <a:close/>
              </a:path>
              <a:path w="495300" h="160654">
                <a:moveTo>
                  <a:pt x="88012" y="22082"/>
                </a:moveTo>
                <a:lnTo>
                  <a:pt x="65097" y="22082"/>
                </a:lnTo>
                <a:lnTo>
                  <a:pt x="86564" y="27658"/>
                </a:lnTo>
                <a:lnTo>
                  <a:pt x="88012" y="2208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50819" y="3421758"/>
            <a:ext cx="268605" cy="527050"/>
          </a:xfrm>
          <a:custGeom>
            <a:avLst/>
            <a:gdLst/>
            <a:ahLst/>
            <a:cxnLst/>
            <a:rect l="l" t="t" r="r" b="b"/>
            <a:pathLst>
              <a:path w="268605" h="527050">
                <a:moveTo>
                  <a:pt x="51281" y="70614"/>
                </a:moveTo>
                <a:lnTo>
                  <a:pt x="25640" y="83227"/>
                </a:lnTo>
                <a:lnTo>
                  <a:pt x="242469" y="523984"/>
                </a:lnTo>
                <a:lnTo>
                  <a:pt x="251033" y="526900"/>
                </a:lnTo>
                <a:lnTo>
                  <a:pt x="265193" y="519932"/>
                </a:lnTo>
                <a:lnTo>
                  <a:pt x="268109" y="511369"/>
                </a:lnTo>
                <a:lnTo>
                  <a:pt x="51281" y="70614"/>
                </a:lnTo>
                <a:close/>
              </a:path>
              <a:path w="268605" h="527050">
                <a:moveTo>
                  <a:pt x="619" y="0"/>
                </a:moveTo>
                <a:lnTo>
                  <a:pt x="0" y="95841"/>
                </a:lnTo>
                <a:lnTo>
                  <a:pt x="25640" y="83227"/>
                </a:lnTo>
                <a:lnTo>
                  <a:pt x="15850" y="63327"/>
                </a:lnTo>
                <a:lnTo>
                  <a:pt x="18766" y="54763"/>
                </a:lnTo>
                <a:lnTo>
                  <a:pt x="32927" y="47797"/>
                </a:lnTo>
                <a:lnTo>
                  <a:pt x="63498" y="47797"/>
                </a:lnTo>
                <a:lnTo>
                  <a:pt x="619" y="0"/>
                </a:lnTo>
                <a:close/>
              </a:path>
              <a:path w="268605" h="527050">
                <a:moveTo>
                  <a:pt x="32927" y="47797"/>
                </a:moveTo>
                <a:lnTo>
                  <a:pt x="18766" y="54763"/>
                </a:lnTo>
                <a:lnTo>
                  <a:pt x="15850" y="63327"/>
                </a:lnTo>
                <a:lnTo>
                  <a:pt x="25640" y="83227"/>
                </a:lnTo>
                <a:lnTo>
                  <a:pt x="51281" y="70614"/>
                </a:lnTo>
                <a:lnTo>
                  <a:pt x="41490" y="50713"/>
                </a:lnTo>
                <a:lnTo>
                  <a:pt x="32927" y="47797"/>
                </a:lnTo>
                <a:close/>
              </a:path>
              <a:path w="268605" h="527050">
                <a:moveTo>
                  <a:pt x="63498" y="47797"/>
                </a:moveTo>
                <a:lnTo>
                  <a:pt x="32927" y="47797"/>
                </a:lnTo>
                <a:lnTo>
                  <a:pt x="41490" y="50713"/>
                </a:lnTo>
                <a:lnTo>
                  <a:pt x="51281" y="70614"/>
                </a:lnTo>
                <a:lnTo>
                  <a:pt x="76921" y="58000"/>
                </a:lnTo>
                <a:lnTo>
                  <a:pt x="63498" y="47797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80295" y="290989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0295" y="290989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80295" y="18234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9" y="98687"/>
                </a:lnTo>
                <a:lnTo>
                  <a:pt x="17715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5" y="310965"/>
                </a:lnTo>
                <a:lnTo>
                  <a:pt x="38499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80295" y="1823427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249253" y="1898395"/>
            <a:ext cx="107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05720" y="2271102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0"/>
                </a:moveTo>
                <a:lnTo>
                  <a:pt x="1" y="6387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74914" y="2384985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74914" y="2384985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421075" y="245922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69998" y="31302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269998" y="3130283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69426" y="39155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225425" y="0"/>
                </a:moveTo>
                <a:lnTo>
                  <a:pt x="179993" y="4547"/>
                </a:lnTo>
                <a:lnTo>
                  <a:pt x="137679" y="17590"/>
                </a:lnTo>
                <a:lnTo>
                  <a:pt x="99387" y="38227"/>
                </a:lnTo>
                <a:lnTo>
                  <a:pt x="66025" y="65560"/>
                </a:lnTo>
                <a:lnTo>
                  <a:pt x="38498" y="98687"/>
                </a:lnTo>
                <a:lnTo>
                  <a:pt x="17714" y="136709"/>
                </a:lnTo>
                <a:lnTo>
                  <a:pt x="4579" y="178726"/>
                </a:lnTo>
                <a:lnTo>
                  <a:pt x="0" y="223837"/>
                </a:lnTo>
                <a:lnTo>
                  <a:pt x="4579" y="268948"/>
                </a:lnTo>
                <a:lnTo>
                  <a:pt x="17714" y="310965"/>
                </a:lnTo>
                <a:lnTo>
                  <a:pt x="38498" y="348987"/>
                </a:lnTo>
                <a:lnTo>
                  <a:pt x="66025" y="382114"/>
                </a:lnTo>
                <a:lnTo>
                  <a:pt x="99387" y="409447"/>
                </a:lnTo>
                <a:lnTo>
                  <a:pt x="137679" y="430084"/>
                </a:lnTo>
                <a:lnTo>
                  <a:pt x="179993" y="443127"/>
                </a:lnTo>
                <a:lnTo>
                  <a:pt x="225425" y="447675"/>
                </a:lnTo>
                <a:lnTo>
                  <a:pt x="270855" y="443127"/>
                </a:lnTo>
                <a:lnTo>
                  <a:pt x="313170" y="430084"/>
                </a:lnTo>
                <a:lnTo>
                  <a:pt x="351461" y="409447"/>
                </a:lnTo>
                <a:lnTo>
                  <a:pt x="384824" y="382114"/>
                </a:lnTo>
                <a:lnTo>
                  <a:pt x="412350" y="348987"/>
                </a:lnTo>
                <a:lnTo>
                  <a:pt x="433134" y="310965"/>
                </a:lnTo>
                <a:lnTo>
                  <a:pt x="446270" y="268948"/>
                </a:lnTo>
                <a:lnTo>
                  <a:pt x="450850" y="223837"/>
                </a:lnTo>
                <a:lnTo>
                  <a:pt x="446270" y="178726"/>
                </a:lnTo>
                <a:lnTo>
                  <a:pt x="433134" y="136709"/>
                </a:lnTo>
                <a:lnTo>
                  <a:pt x="412350" y="98687"/>
                </a:lnTo>
                <a:lnTo>
                  <a:pt x="384824" y="65560"/>
                </a:lnTo>
                <a:lnTo>
                  <a:pt x="351461" y="38227"/>
                </a:lnTo>
                <a:lnTo>
                  <a:pt x="313170" y="17590"/>
                </a:lnTo>
                <a:lnTo>
                  <a:pt x="270855" y="4547"/>
                </a:lnTo>
                <a:lnTo>
                  <a:pt x="225425" y="0"/>
                </a:lnTo>
                <a:close/>
              </a:path>
            </a:pathLst>
          </a:custGeom>
          <a:solidFill>
            <a:srgbClr val="BEBE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69426" y="3915502"/>
            <a:ext cx="450850" cy="447675"/>
          </a:xfrm>
          <a:custGeom>
            <a:avLst/>
            <a:gdLst/>
            <a:ahLst/>
            <a:cxnLst/>
            <a:rect l="l" t="t" r="r" b="b"/>
            <a:pathLst>
              <a:path w="450850" h="447675">
                <a:moveTo>
                  <a:pt x="0" y="223837"/>
                </a:moveTo>
                <a:lnTo>
                  <a:pt x="4579" y="178726"/>
                </a:lnTo>
                <a:lnTo>
                  <a:pt x="17715" y="136709"/>
                </a:lnTo>
                <a:lnTo>
                  <a:pt x="38499" y="98687"/>
                </a:lnTo>
                <a:lnTo>
                  <a:pt x="66025" y="65560"/>
                </a:lnTo>
                <a:lnTo>
                  <a:pt x="99387" y="38227"/>
                </a:lnTo>
                <a:lnTo>
                  <a:pt x="137679" y="17590"/>
                </a:lnTo>
                <a:lnTo>
                  <a:pt x="179993" y="4547"/>
                </a:lnTo>
                <a:lnTo>
                  <a:pt x="225425" y="0"/>
                </a:lnTo>
                <a:lnTo>
                  <a:pt x="270856" y="4547"/>
                </a:lnTo>
                <a:lnTo>
                  <a:pt x="313170" y="17590"/>
                </a:lnTo>
                <a:lnTo>
                  <a:pt x="351462" y="38227"/>
                </a:lnTo>
                <a:lnTo>
                  <a:pt x="384824" y="65560"/>
                </a:lnTo>
                <a:lnTo>
                  <a:pt x="412350" y="98687"/>
                </a:lnTo>
                <a:lnTo>
                  <a:pt x="433134" y="136709"/>
                </a:lnTo>
                <a:lnTo>
                  <a:pt x="446270" y="178726"/>
                </a:lnTo>
                <a:lnTo>
                  <a:pt x="450850" y="223837"/>
                </a:lnTo>
                <a:lnTo>
                  <a:pt x="446270" y="268948"/>
                </a:lnTo>
                <a:lnTo>
                  <a:pt x="433134" y="310965"/>
                </a:lnTo>
                <a:lnTo>
                  <a:pt x="412350" y="348987"/>
                </a:lnTo>
                <a:lnTo>
                  <a:pt x="384824" y="382114"/>
                </a:lnTo>
                <a:lnTo>
                  <a:pt x="351462" y="409447"/>
                </a:lnTo>
                <a:lnTo>
                  <a:pt x="313170" y="430084"/>
                </a:lnTo>
                <a:lnTo>
                  <a:pt x="270856" y="443127"/>
                </a:lnTo>
                <a:lnTo>
                  <a:pt x="225425" y="447675"/>
                </a:lnTo>
                <a:lnTo>
                  <a:pt x="179993" y="443127"/>
                </a:lnTo>
                <a:lnTo>
                  <a:pt x="137679" y="430084"/>
                </a:lnTo>
                <a:lnTo>
                  <a:pt x="99387" y="409447"/>
                </a:lnTo>
                <a:lnTo>
                  <a:pt x="66025" y="382114"/>
                </a:lnTo>
                <a:lnTo>
                  <a:pt x="38499" y="348987"/>
                </a:lnTo>
                <a:lnTo>
                  <a:pt x="17715" y="310965"/>
                </a:lnTo>
                <a:lnTo>
                  <a:pt x="4579" y="268948"/>
                </a:lnTo>
                <a:lnTo>
                  <a:pt x="0" y="2238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1144" y="2767100"/>
            <a:ext cx="810260" cy="367030"/>
          </a:xfrm>
          <a:custGeom>
            <a:avLst/>
            <a:gdLst/>
            <a:ahLst/>
            <a:cxnLst/>
            <a:rect l="l" t="t" r="r" b="b"/>
            <a:pathLst>
              <a:path w="810260" h="367030">
                <a:moveTo>
                  <a:pt x="809794" y="0"/>
                </a:moveTo>
                <a:lnTo>
                  <a:pt x="0" y="36663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1145" y="3133730"/>
            <a:ext cx="739140" cy="220979"/>
          </a:xfrm>
          <a:custGeom>
            <a:avLst/>
            <a:gdLst/>
            <a:ahLst/>
            <a:cxnLst/>
            <a:rect l="l" t="t" r="r" b="b"/>
            <a:pathLst>
              <a:path w="739139" h="220979">
                <a:moveTo>
                  <a:pt x="738853" y="22039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31144" y="3133730"/>
            <a:ext cx="404495" cy="847725"/>
          </a:xfrm>
          <a:custGeom>
            <a:avLst/>
            <a:gdLst/>
            <a:ahLst/>
            <a:cxnLst/>
            <a:rect l="l" t="t" r="r" b="b"/>
            <a:pathLst>
              <a:path w="404494" h="847725">
                <a:moveTo>
                  <a:pt x="404306" y="84733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12071" y="2983483"/>
            <a:ext cx="175958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72795">
              <a:lnSpc>
                <a:spcPts val="1945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  <a:p>
            <a:pPr algn="r" marR="5080">
              <a:lnSpc>
                <a:spcPts val="1945"/>
              </a:lnSpc>
            </a:pPr>
            <a:r>
              <a:rPr dirty="0" sz="1800">
                <a:latin typeface="Cambria Math"/>
                <a:cs typeface="Cambria Math"/>
              </a:rPr>
              <a:t>𝑢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algn="ctr" marR="848994">
              <a:lnSpc>
                <a:spcPts val="2090"/>
              </a:lnSpc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#→%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%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algn="r" marR="410209">
              <a:lnSpc>
                <a:spcPts val="2090"/>
              </a:lnSpc>
            </a:pPr>
            <a:r>
              <a:rPr dirty="0" sz="180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261320" y="2465323"/>
            <a:ext cx="878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%→&amp;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&amp;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0520"/>
            <a:ext cx="8253983" cy="539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345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Now </a:t>
            </a:r>
            <a:r>
              <a:rPr dirty="0" spc="-15"/>
              <a:t>we </a:t>
            </a:r>
            <a:r>
              <a:rPr dirty="0" spc="-5"/>
              <a:t>consider </a:t>
            </a:r>
            <a:r>
              <a:rPr dirty="0"/>
              <a:t>a </a:t>
            </a:r>
            <a:r>
              <a:rPr dirty="0" spc="-15"/>
              <a:t>graph </a:t>
            </a:r>
            <a:r>
              <a:rPr dirty="0" spc="-5"/>
              <a:t>with</a:t>
            </a:r>
            <a:r>
              <a:rPr dirty="0" spc="-10"/>
              <a:t> cycles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There </a:t>
            </a:r>
            <a:r>
              <a:rPr dirty="0"/>
              <a:t>is no </a:t>
            </a:r>
            <a:r>
              <a:rPr dirty="0" spc="-10"/>
              <a:t>longer </a:t>
            </a:r>
            <a:r>
              <a:rPr dirty="0"/>
              <a:t>an </a:t>
            </a:r>
            <a:r>
              <a:rPr dirty="0" spc="-10"/>
              <a:t>ordering </a:t>
            </a:r>
            <a:r>
              <a:rPr dirty="0" spc="-5"/>
              <a:t>of</a:t>
            </a:r>
            <a:r>
              <a:rPr dirty="0" spc="35"/>
              <a:t> </a:t>
            </a:r>
            <a:r>
              <a:rPr dirty="0" spc="-5"/>
              <a:t>nodes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7896225" cy="20269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4544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>
                <a:latin typeface="Calibri"/>
                <a:cs typeface="Calibri"/>
              </a:rPr>
              <a:t>apply the </a:t>
            </a:r>
            <a:r>
              <a:rPr dirty="0" sz="3200" spc="-5">
                <a:latin typeface="Calibri"/>
                <a:cs typeface="Calibri"/>
              </a:rPr>
              <a:t>same algorithm </a:t>
            </a:r>
            <a:r>
              <a:rPr dirty="0" sz="3200">
                <a:latin typeface="Calibri"/>
                <a:cs typeface="Calibri"/>
              </a:rPr>
              <a:t>as in </a:t>
            </a:r>
            <a:r>
              <a:rPr dirty="0" sz="3200" spc="-10">
                <a:latin typeface="Calibri"/>
                <a:cs typeface="Calibri"/>
              </a:rPr>
              <a:t>previous  </a:t>
            </a:r>
            <a:r>
              <a:rPr dirty="0" sz="3200" spc="-5">
                <a:latin typeface="Calibri"/>
                <a:cs typeface="Calibri"/>
              </a:rPr>
              <a:t>slides: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Start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10">
                <a:latin typeface="Calibri"/>
                <a:cs typeface="Calibri"/>
              </a:rPr>
              <a:t>arbitrary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Follow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5">
                <a:latin typeface="Calibri"/>
                <a:cs typeface="Calibri"/>
              </a:rPr>
              <a:t>to update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neighboring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0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768400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9663" y="1121663"/>
            <a:ext cx="5233416" cy="8321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359" y="1051560"/>
            <a:ext cx="5504688" cy="9479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1139825"/>
            <a:ext cx="5121275" cy="717550"/>
          </a:xfrm>
          <a:prstGeom prst="rect"/>
          <a:ln w="9525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120"/>
              </a:spcBef>
            </a:pPr>
            <a:r>
              <a:rPr dirty="0" spc="-15" b="1">
                <a:latin typeface="Calibri"/>
                <a:cs typeface="Calibri"/>
              </a:rPr>
              <a:t>What </a:t>
            </a:r>
            <a:r>
              <a:rPr dirty="0" b="1">
                <a:latin typeface="Calibri"/>
                <a:cs typeface="Calibri"/>
              </a:rPr>
              <a:t>if </a:t>
            </a:r>
            <a:r>
              <a:rPr dirty="0" spc="-5" b="1">
                <a:latin typeface="Calibri"/>
                <a:cs typeface="Calibri"/>
              </a:rPr>
              <a:t>our </a:t>
            </a:r>
            <a:r>
              <a:rPr dirty="0" spc="-20" b="1">
                <a:latin typeface="Calibri"/>
                <a:cs typeface="Calibri"/>
              </a:rPr>
              <a:t>graph </a:t>
            </a:r>
            <a:r>
              <a:rPr dirty="0" spc="-5" b="1">
                <a:latin typeface="Calibri"/>
                <a:cs typeface="Calibri"/>
              </a:rPr>
              <a:t>has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cycles?</a:t>
            </a:r>
          </a:p>
        </p:txBody>
      </p:sp>
      <p:sp>
        <p:nvSpPr>
          <p:cNvPr id="6" name="object 6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7" y="536706"/>
                </a:lnTo>
                <a:lnTo>
                  <a:pt x="227224" y="549574"/>
                </a:lnTo>
                <a:lnTo>
                  <a:pt x="277018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554037"/>
                </a:moveTo>
                <a:lnTo>
                  <a:pt x="227224" y="549573"/>
                </a:lnTo>
                <a:lnTo>
                  <a:pt x="180357" y="536706"/>
                </a:lnTo>
                <a:lnTo>
                  <a:pt x="137201" y="516215"/>
                </a:lnTo>
                <a:lnTo>
                  <a:pt x="98539" y="488885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2"/>
                </a:lnTo>
                <a:lnTo>
                  <a:pt x="0" y="277018"/>
                </a:lnTo>
                <a:lnTo>
                  <a:pt x="4463" y="227224"/>
                </a:lnTo>
                <a:lnTo>
                  <a:pt x="17330" y="180357"/>
                </a:lnTo>
                <a:lnTo>
                  <a:pt x="37821" y="137201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0"/>
                </a:lnTo>
                <a:lnTo>
                  <a:pt x="227224" y="4463"/>
                </a:lnTo>
                <a:lnTo>
                  <a:pt x="277018" y="0"/>
                </a:lnTo>
                <a:lnTo>
                  <a:pt x="326812" y="4463"/>
                </a:lnTo>
                <a:lnTo>
                  <a:pt x="373679" y="17330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1"/>
                </a:lnTo>
                <a:lnTo>
                  <a:pt x="536706" y="180357"/>
                </a:lnTo>
                <a:lnTo>
                  <a:pt x="549573" y="227224"/>
                </a:lnTo>
                <a:lnTo>
                  <a:pt x="554037" y="277018"/>
                </a:lnTo>
                <a:lnTo>
                  <a:pt x="549573" y="326812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5"/>
                </a:lnTo>
                <a:lnTo>
                  <a:pt x="416835" y="516215"/>
                </a:lnTo>
                <a:lnTo>
                  <a:pt x="373679" y="536706"/>
                </a:lnTo>
                <a:lnTo>
                  <a:pt x="326812" y="549573"/>
                </a:lnTo>
                <a:lnTo>
                  <a:pt x="277018" y="5540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16917" y="4296155"/>
            <a:ext cx="171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𝑢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4262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20" y="0"/>
                </a:moveTo>
                <a:lnTo>
                  <a:pt x="227225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5" y="549574"/>
                </a:lnTo>
                <a:lnTo>
                  <a:pt x="277020" y="554038"/>
                </a:lnTo>
                <a:lnTo>
                  <a:pt x="326814" y="549574"/>
                </a:lnTo>
                <a:lnTo>
                  <a:pt x="373680" y="536706"/>
                </a:lnTo>
                <a:lnTo>
                  <a:pt x="416836" y="516216"/>
                </a:lnTo>
                <a:lnTo>
                  <a:pt x="455499" y="488886"/>
                </a:lnTo>
                <a:lnTo>
                  <a:pt x="488887" y="455498"/>
                </a:lnTo>
                <a:lnTo>
                  <a:pt x="516217" y="416835"/>
                </a:lnTo>
                <a:lnTo>
                  <a:pt x="536707" y="373679"/>
                </a:lnTo>
                <a:lnTo>
                  <a:pt x="549575" y="326813"/>
                </a:lnTo>
                <a:lnTo>
                  <a:pt x="554038" y="277019"/>
                </a:lnTo>
                <a:lnTo>
                  <a:pt x="549575" y="227224"/>
                </a:lnTo>
                <a:lnTo>
                  <a:pt x="536707" y="180358"/>
                </a:lnTo>
                <a:lnTo>
                  <a:pt x="516217" y="137202"/>
                </a:lnTo>
                <a:lnTo>
                  <a:pt x="488887" y="98539"/>
                </a:lnTo>
                <a:lnTo>
                  <a:pt x="455499" y="65151"/>
                </a:lnTo>
                <a:lnTo>
                  <a:pt x="416836" y="37821"/>
                </a:lnTo>
                <a:lnTo>
                  <a:pt x="373680" y="17331"/>
                </a:lnTo>
                <a:lnTo>
                  <a:pt x="326814" y="4463"/>
                </a:lnTo>
                <a:lnTo>
                  <a:pt x="27702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4263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554038"/>
                </a:moveTo>
                <a:lnTo>
                  <a:pt x="326813" y="549574"/>
                </a:lnTo>
                <a:lnTo>
                  <a:pt x="373679" y="536707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7" y="373679"/>
                </a:lnTo>
                <a:lnTo>
                  <a:pt x="549574" y="326813"/>
                </a:lnTo>
                <a:lnTo>
                  <a:pt x="554038" y="277019"/>
                </a:lnTo>
                <a:lnTo>
                  <a:pt x="549574" y="227224"/>
                </a:lnTo>
                <a:lnTo>
                  <a:pt x="536707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7"/>
                </a:lnTo>
                <a:lnTo>
                  <a:pt x="227224" y="549574"/>
                </a:lnTo>
                <a:lnTo>
                  <a:pt x="277019" y="55403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20411" y="5871971"/>
            <a:ext cx="1638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00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1" y="373680"/>
                </a:lnTo>
                <a:lnTo>
                  <a:pt x="37821" y="416836"/>
                </a:lnTo>
                <a:lnTo>
                  <a:pt x="65151" y="455499"/>
                </a:lnTo>
                <a:lnTo>
                  <a:pt x="98539" y="488887"/>
                </a:lnTo>
                <a:lnTo>
                  <a:pt x="137202" y="516217"/>
                </a:lnTo>
                <a:lnTo>
                  <a:pt x="180357" y="536707"/>
                </a:lnTo>
                <a:lnTo>
                  <a:pt x="227224" y="549575"/>
                </a:lnTo>
                <a:lnTo>
                  <a:pt x="277018" y="554038"/>
                </a:lnTo>
                <a:lnTo>
                  <a:pt x="326813" y="549575"/>
                </a:lnTo>
                <a:lnTo>
                  <a:pt x="373679" y="536707"/>
                </a:lnTo>
                <a:lnTo>
                  <a:pt x="416835" y="516217"/>
                </a:lnTo>
                <a:lnTo>
                  <a:pt x="455498" y="488887"/>
                </a:lnTo>
                <a:lnTo>
                  <a:pt x="488886" y="455499"/>
                </a:lnTo>
                <a:lnTo>
                  <a:pt x="516216" y="416836"/>
                </a:lnTo>
                <a:lnTo>
                  <a:pt x="536706" y="373680"/>
                </a:lnTo>
                <a:lnTo>
                  <a:pt x="549574" y="326814"/>
                </a:lnTo>
                <a:lnTo>
                  <a:pt x="554037" y="277020"/>
                </a:lnTo>
                <a:lnTo>
                  <a:pt x="549574" y="227225"/>
                </a:lnTo>
                <a:lnTo>
                  <a:pt x="536706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52799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11803" y="3326891"/>
            <a:ext cx="165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𝑘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09800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7" y="0"/>
                </a:moveTo>
                <a:lnTo>
                  <a:pt x="227223" y="4463"/>
                </a:lnTo>
                <a:lnTo>
                  <a:pt x="180356" y="17331"/>
                </a:lnTo>
                <a:lnTo>
                  <a:pt x="137201" y="37821"/>
                </a:lnTo>
                <a:lnTo>
                  <a:pt x="98538" y="65151"/>
                </a:lnTo>
                <a:lnTo>
                  <a:pt x="65150" y="98539"/>
                </a:lnTo>
                <a:lnTo>
                  <a:pt x="37820" y="137202"/>
                </a:lnTo>
                <a:lnTo>
                  <a:pt x="17330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0" y="373680"/>
                </a:lnTo>
                <a:lnTo>
                  <a:pt x="37820" y="416836"/>
                </a:lnTo>
                <a:lnTo>
                  <a:pt x="65150" y="455499"/>
                </a:lnTo>
                <a:lnTo>
                  <a:pt x="98538" y="488887"/>
                </a:lnTo>
                <a:lnTo>
                  <a:pt x="137201" y="516217"/>
                </a:lnTo>
                <a:lnTo>
                  <a:pt x="180356" y="536707"/>
                </a:lnTo>
                <a:lnTo>
                  <a:pt x="227223" y="549575"/>
                </a:lnTo>
                <a:lnTo>
                  <a:pt x="277017" y="554038"/>
                </a:lnTo>
                <a:lnTo>
                  <a:pt x="326811" y="549575"/>
                </a:lnTo>
                <a:lnTo>
                  <a:pt x="373678" y="536707"/>
                </a:lnTo>
                <a:lnTo>
                  <a:pt x="416834" y="516217"/>
                </a:lnTo>
                <a:lnTo>
                  <a:pt x="455497" y="488887"/>
                </a:lnTo>
                <a:lnTo>
                  <a:pt x="488884" y="455499"/>
                </a:lnTo>
                <a:lnTo>
                  <a:pt x="516215" y="416836"/>
                </a:lnTo>
                <a:lnTo>
                  <a:pt x="536705" y="373680"/>
                </a:lnTo>
                <a:lnTo>
                  <a:pt x="549573" y="326814"/>
                </a:lnTo>
                <a:lnTo>
                  <a:pt x="554036" y="277020"/>
                </a:lnTo>
                <a:lnTo>
                  <a:pt x="549573" y="227225"/>
                </a:lnTo>
                <a:lnTo>
                  <a:pt x="536705" y="180358"/>
                </a:lnTo>
                <a:lnTo>
                  <a:pt x="516215" y="137202"/>
                </a:lnTo>
                <a:lnTo>
                  <a:pt x="488884" y="98539"/>
                </a:lnTo>
                <a:lnTo>
                  <a:pt x="455497" y="65151"/>
                </a:lnTo>
                <a:lnTo>
                  <a:pt x="416834" y="37821"/>
                </a:lnTo>
                <a:lnTo>
                  <a:pt x="373678" y="17331"/>
                </a:lnTo>
                <a:lnTo>
                  <a:pt x="326811" y="4463"/>
                </a:lnTo>
                <a:lnTo>
                  <a:pt x="277017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09799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8" y="0"/>
                </a:moveTo>
                <a:lnTo>
                  <a:pt x="326812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2"/>
                </a:lnTo>
                <a:lnTo>
                  <a:pt x="536706" y="180358"/>
                </a:lnTo>
                <a:lnTo>
                  <a:pt x="549573" y="227224"/>
                </a:lnTo>
                <a:lnTo>
                  <a:pt x="554037" y="277019"/>
                </a:lnTo>
                <a:lnTo>
                  <a:pt x="549573" y="326813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2" y="549574"/>
                </a:lnTo>
                <a:lnTo>
                  <a:pt x="277018" y="554038"/>
                </a:lnTo>
                <a:lnTo>
                  <a:pt x="227224" y="549574"/>
                </a:lnTo>
                <a:lnTo>
                  <a:pt x="180357" y="536707"/>
                </a:lnTo>
                <a:lnTo>
                  <a:pt x="137201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0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1"/>
                </a:lnTo>
                <a:lnTo>
                  <a:pt x="227224" y="4463"/>
                </a:lnTo>
                <a:lnTo>
                  <a:pt x="277018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94170" y="2129027"/>
            <a:ext cx="1168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4" y="549574"/>
                </a:lnTo>
                <a:lnTo>
                  <a:pt x="277019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425511" y="3284220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10357" y="2501745"/>
            <a:ext cx="581025" cy="765810"/>
          </a:xfrm>
          <a:custGeom>
            <a:avLst/>
            <a:gdLst/>
            <a:ahLst/>
            <a:cxnLst/>
            <a:rect l="l" t="t" r="r" b="b"/>
            <a:pathLst>
              <a:path w="581025" h="765810">
                <a:moveTo>
                  <a:pt x="0" y="765329"/>
                </a:moveTo>
                <a:lnTo>
                  <a:pt x="5805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10357" y="3658839"/>
            <a:ext cx="725170" cy="618490"/>
          </a:xfrm>
          <a:custGeom>
            <a:avLst/>
            <a:gdLst/>
            <a:ahLst/>
            <a:cxnLst/>
            <a:rect l="l" t="t" r="r" b="b"/>
            <a:pathLst>
              <a:path w="725169" h="618489">
                <a:moveTo>
                  <a:pt x="0" y="0"/>
                </a:moveTo>
                <a:lnTo>
                  <a:pt x="725043" y="6180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82699" y="2501746"/>
            <a:ext cx="751840" cy="807085"/>
          </a:xfrm>
          <a:custGeom>
            <a:avLst/>
            <a:gdLst/>
            <a:ahLst/>
            <a:cxnLst/>
            <a:rect l="l" t="t" r="r" b="b"/>
            <a:pathLst>
              <a:path w="751839" h="807085">
                <a:moveTo>
                  <a:pt x="0" y="0"/>
                </a:moveTo>
                <a:lnTo>
                  <a:pt x="751237" y="806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27163" y="3700133"/>
            <a:ext cx="607060" cy="577215"/>
          </a:xfrm>
          <a:custGeom>
            <a:avLst/>
            <a:gdLst/>
            <a:ahLst/>
            <a:cxnLst/>
            <a:rect l="l" t="t" r="r" b="b"/>
            <a:pathLst>
              <a:path w="607060" h="577214">
                <a:moveTo>
                  <a:pt x="0" y="576767"/>
                </a:moveTo>
                <a:lnTo>
                  <a:pt x="6067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31282" y="4771773"/>
            <a:ext cx="0" cy="1002030"/>
          </a:xfrm>
          <a:custGeom>
            <a:avLst/>
            <a:gdLst/>
            <a:ahLst/>
            <a:cxnLst/>
            <a:rect l="l" t="t" r="r" b="b"/>
            <a:pathLst>
              <a:path w="0" h="1002029">
                <a:moveTo>
                  <a:pt x="0" y="0"/>
                </a:moveTo>
                <a:lnTo>
                  <a:pt x="1" y="1002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75069" y="2478531"/>
            <a:ext cx="3565525" cy="249745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 marR="28575">
              <a:lnSpc>
                <a:spcPts val="2710"/>
              </a:lnSpc>
              <a:spcBef>
                <a:spcPts val="730"/>
              </a:spcBef>
            </a:pPr>
            <a:r>
              <a:rPr dirty="0" sz="2800" spc="-10">
                <a:latin typeface="Calibri"/>
                <a:cs typeface="Calibri"/>
              </a:rPr>
              <a:t>Messages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 spc="-25">
                <a:latin typeface="Calibri"/>
                <a:cs typeface="Calibri"/>
              </a:rPr>
              <a:t>different  </a:t>
            </a:r>
            <a:r>
              <a:rPr dirty="0" sz="2800" spc="-10">
                <a:latin typeface="Calibri"/>
                <a:cs typeface="Calibri"/>
              </a:rPr>
              <a:t>subgraphs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705"/>
              </a:lnSpc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longer independent</a:t>
            </a:r>
            <a:r>
              <a:rPr dirty="0" sz="2800" spc="-10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78900"/>
              </a:lnSpc>
              <a:spcBef>
                <a:spcPts val="2750"/>
              </a:spcBef>
            </a:pPr>
            <a:r>
              <a:rPr dirty="0" sz="2800" spc="-5" b="1">
                <a:latin typeface="Calibri"/>
                <a:cs typeface="Calibri"/>
              </a:rPr>
              <a:t>But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5" b="1">
                <a:latin typeface="Calibri"/>
                <a:cs typeface="Calibri"/>
              </a:rPr>
              <a:t>can </a:t>
            </a:r>
            <a:r>
              <a:rPr dirty="0" sz="2800" spc="-10" b="1">
                <a:latin typeface="Calibri"/>
                <a:cs typeface="Calibri"/>
              </a:rPr>
              <a:t>still </a:t>
            </a:r>
            <a:r>
              <a:rPr dirty="0" sz="2800" spc="-5" b="1">
                <a:latin typeface="Calibri"/>
                <a:cs typeface="Calibri"/>
              </a:rPr>
              <a:t>run </a:t>
            </a:r>
            <a:r>
              <a:rPr dirty="0" sz="2800" b="1">
                <a:latin typeface="Calibri"/>
                <a:cs typeface="Calibri"/>
              </a:rPr>
              <a:t>BP</a:t>
            </a:r>
            <a:r>
              <a:rPr dirty="0" sz="2800">
                <a:latin typeface="Calibri"/>
                <a:cs typeface="Calibri"/>
              </a:rPr>
              <a:t>,  but </a:t>
            </a:r>
            <a:r>
              <a:rPr dirty="0" sz="2800" spc="-5">
                <a:latin typeface="Calibri"/>
                <a:cs typeface="Calibri"/>
              </a:rPr>
              <a:t>it will pass </a:t>
            </a:r>
            <a:r>
              <a:rPr dirty="0" sz="2800" spc="-10">
                <a:latin typeface="Calibri"/>
                <a:cs typeface="Calibri"/>
              </a:rPr>
              <a:t>messages 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loops.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7684008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9663" y="1121663"/>
            <a:ext cx="5233416" cy="8321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359" y="1051560"/>
            <a:ext cx="5504688" cy="9479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1139825"/>
            <a:ext cx="5121275" cy="717550"/>
          </a:xfrm>
          <a:prstGeom prst="rect"/>
          <a:ln w="9525">
            <a:solidFill>
              <a:srgbClr val="0000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120"/>
              </a:spcBef>
            </a:pPr>
            <a:r>
              <a:rPr dirty="0" spc="-15" b="1">
                <a:latin typeface="Calibri"/>
                <a:cs typeface="Calibri"/>
              </a:rPr>
              <a:t>What </a:t>
            </a:r>
            <a:r>
              <a:rPr dirty="0" b="1">
                <a:latin typeface="Calibri"/>
                <a:cs typeface="Calibri"/>
              </a:rPr>
              <a:t>if </a:t>
            </a:r>
            <a:r>
              <a:rPr dirty="0" spc="-5" b="1">
                <a:latin typeface="Calibri"/>
                <a:cs typeface="Calibri"/>
              </a:rPr>
              <a:t>our </a:t>
            </a:r>
            <a:r>
              <a:rPr dirty="0" spc="-20" b="1">
                <a:latin typeface="Calibri"/>
                <a:cs typeface="Calibri"/>
              </a:rPr>
              <a:t>graph </a:t>
            </a:r>
            <a:r>
              <a:rPr dirty="0" spc="-5" b="1">
                <a:latin typeface="Calibri"/>
                <a:cs typeface="Calibri"/>
              </a:rPr>
              <a:t>has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cycles?</a:t>
            </a:r>
          </a:p>
        </p:txBody>
      </p:sp>
      <p:sp>
        <p:nvSpPr>
          <p:cNvPr id="6" name="object 6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7" y="536706"/>
                </a:lnTo>
                <a:lnTo>
                  <a:pt x="227224" y="549574"/>
                </a:lnTo>
                <a:lnTo>
                  <a:pt x="277018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554037"/>
                </a:moveTo>
                <a:lnTo>
                  <a:pt x="227224" y="549573"/>
                </a:lnTo>
                <a:lnTo>
                  <a:pt x="180357" y="536706"/>
                </a:lnTo>
                <a:lnTo>
                  <a:pt x="137201" y="516215"/>
                </a:lnTo>
                <a:lnTo>
                  <a:pt x="98539" y="488885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2"/>
                </a:lnTo>
                <a:lnTo>
                  <a:pt x="0" y="277018"/>
                </a:lnTo>
                <a:lnTo>
                  <a:pt x="4463" y="227224"/>
                </a:lnTo>
                <a:lnTo>
                  <a:pt x="17330" y="180357"/>
                </a:lnTo>
                <a:lnTo>
                  <a:pt x="37821" y="137201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0"/>
                </a:lnTo>
                <a:lnTo>
                  <a:pt x="227224" y="4463"/>
                </a:lnTo>
                <a:lnTo>
                  <a:pt x="277018" y="0"/>
                </a:lnTo>
                <a:lnTo>
                  <a:pt x="326812" y="4463"/>
                </a:lnTo>
                <a:lnTo>
                  <a:pt x="373679" y="17330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1"/>
                </a:lnTo>
                <a:lnTo>
                  <a:pt x="536706" y="180357"/>
                </a:lnTo>
                <a:lnTo>
                  <a:pt x="549573" y="227224"/>
                </a:lnTo>
                <a:lnTo>
                  <a:pt x="554037" y="277018"/>
                </a:lnTo>
                <a:lnTo>
                  <a:pt x="549573" y="326812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5"/>
                </a:lnTo>
                <a:lnTo>
                  <a:pt x="416835" y="516215"/>
                </a:lnTo>
                <a:lnTo>
                  <a:pt x="373679" y="536706"/>
                </a:lnTo>
                <a:lnTo>
                  <a:pt x="326812" y="549573"/>
                </a:lnTo>
                <a:lnTo>
                  <a:pt x="277018" y="5540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16917" y="4296155"/>
            <a:ext cx="171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𝑢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4262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20" y="0"/>
                </a:moveTo>
                <a:lnTo>
                  <a:pt x="227225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5" y="549574"/>
                </a:lnTo>
                <a:lnTo>
                  <a:pt x="277020" y="554038"/>
                </a:lnTo>
                <a:lnTo>
                  <a:pt x="326814" y="549574"/>
                </a:lnTo>
                <a:lnTo>
                  <a:pt x="373680" y="536706"/>
                </a:lnTo>
                <a:lnTo>
                  <a:pt x="416836" y="516216"/>
                </a:lnTo>
                <a:lnTo>
                  <a:pt x="455499" y="488886"/>
                </a:lnTo>
                <a:lnTo>
                  <a:pt x="488887" y="455498"/>
                </a:lnTo>
                <a:lnTo>
                  <a:pt x="516217" y="416835"/>
                </a:lnTo>
                <a:lnTo>
                  <a:pt x="536707" y="373679"/>
                </a:lnTo>
                <a:lnTo>
                  <a:pt x="549575" y="326813"/>
                </a:lnTo>
                <a:lnTo>
                  <a:pt x="554038" y="277019"/>
                </a:lnTo>
                <a:lnTo>
                  <a:pt x="549575" y="227224"/>
                </a:lnTo>
                <a:lnTo>
                  <a:pt x="536707" y="180358"/>
                </a:lnTo>
                <a:lnTo>
                  <a:pt x="516217" y="137202"/>
                </a:lnTo>
                <a:lnTo>
                  <a:pt x="488887" y="98539"/>
                </a:lnTo>
                <a:lnTo>
                  <a:pt x="455499" y="65151"/>
                </a:lnTo>
                <a:lnTo>
                  <a:pt x="416836" y="37821"/>
                </a:lnTo>
                <a:lnTo>
                  <a:pt x="373680" y="17331"/>
                </a:lnTo>
                <a:lnTo>
                  <a:pt x="326814" y="4463"/>
                </a:lnTo>
                <a:lnTo>
                  <a:pt x="27702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54263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554038"/>
                </a:moveTo>
                <a:lnTo>
                  <a:pt x="326813" y="549574"/>
                </a:lnTo>
                <a:lnTo>
                  <a:pt x="373679" y="536707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7" y="373679"/>
                </a:lnTo>
                <a:lnTo>
                  <a:pt x="549574" y="326813"/>
                </a:lnTo>
                <a:lnTo>
                  <a:pt x="554038" y="277019"/>
                </a:lnTo>
                <a:lnTo>
                  <a:pt x="549574" y="227224"/>
                </a:lnTo>
                <a:lnTo>
                  <a:pt x="536707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7"/>
                </a:lnTo>
                <a:lnTo>
                  <a:pt x="227224" y="549574"/>
                </a:lnTo>
                <a:lnTo>
                  <a:pt x="277019" y="55403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52800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1" y="373680"/>
                </a:lnTo>
                <a:lnTo>
                  <a:pt x="37821" y="416836"/>
                </a:lnTo>
                <a:lnTo>
                  <a:pt x="65151" y="455499"/>
                </a:lnTo>
                <a:lnTo>
                  <a:pt x="98539" y="488887"/>
                </a:lnTo>
                <a:lnTo>
                  <a:pt x="137202" y="516217"/>
                </a:lnTo>
                <a:lnTo>
                  <a:pt x="180357" y="536707"/>
                </a:lnTo>
                <a:lnTo>
                  <a:pt x="227224" y="549575"/>
                </a:lnTo>
                <a:lnTo>
                  <a:pt x="277018" y="554038"/>
                </a:lnTo>
                <a:lnTo>
                  <a:pt x="326813" y="549575"/>
                </a:lnTo>
                <a:lnTo>
                  <a:pt x="373679" y="536707"/>
                </a:lnTo>
                <a:lnTo>
                  <a:pt x="416835" y="516217"/>
                </a:lnTo>
                <a:lnTo>
                  <a:pt x="455498" y="488887"/>
                </a:lnTo>
                <a:lnTo>
                  <a:pt x="488886" y="455499"/>
                </a:lnTo>
                <a:lnTo>
                  <a:pt x="516216" y="416836"/>
                </a:lnTo>
                <a:lnTo>
                  <a:pt x="536706" y="373680"/>
                </a:lnTo>
                <a:lnTo>
                  <a:pt x="549574" y="326814"/>
                </a:lnTo>
                <a:lnTo>
                  <a:pt x="554037" y="277020"/>
                </a:lnTo>
                <a:lnTo>
                  <a:pt x="549574" y="227225"/>
                </a:lnTo>
                <a:lnTo>
                  <a:pt x="536706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52799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511803" y="3326891"/>
            <a:ext cx="165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𝑘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09800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7" y="0"/>
                </a:moveTo>
                <a:lnTo>
                  <a:pt x="227223" y="4463"/>
                </a:lnTo>
                <a:lnTo>
                  <a:pt x="180356" y="17331"/>
                </a:lnTo>
                <a:lnTo>
                  <a:pt x="137201" y="37821"/>
                </a:lnTo>
                <a:lnTo>
                  <a:pt x="98538" y="65151"/>
                </a:lnTo>
                <a:lnTo>
                  <a:pt x="65150" y="98539"/>
                </a:lnTo>
                <a:lnTo>
                  <a:pt x="37820" y="137202"/>
                </a:lnTo>
                <a:lnTo>
                  <a:pt x="17330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0" y="373680"/>
                </a:lnTo>
                <a:lnTo>
                  <a:pt x="37820" y="416836"/>
                </a:lnTo>
                <a:lnTo>
                  <a:pt x="65150" y="455499"/>
                </a:lnTo>
                <a:lnTo>
                  <a:pt x="98538" y="488887"/>
                </a:lnTo>
                <a:lnTo>
                  <a:pt x="137201" y="516217"/>
                </a:lnTo>
                <a:lnTo>
                  <a:pt x="180356" y="536707"/>
                </a:lnTo>
                <a:lnTo>
                  <a:pt x="227223" y="549575"/>
                </a:lnTo>
                <a:lnTo>
                  <a:pt x="277017" y="554038"/>
                </a:lnTo>
                <a:lnTo>
                  <a:pt x="326811" y="549575"/>
                </a:lnTo>
                <a:lnTo>
                  <a:pt x="373678" y="536707"/>
                </a:lnTo>
                <a:lnTo>
                  <a:pt x="416834" y="516217"/>
                </a:lnTo>
                <a:lnTo>
                  <a:pt x="455497" y="488887"/>
                </a:lnTo>
                <a:lnTo>
                  <a:pt x="488884" y="455499"/>
                </a:lnTo>
                <a:lnTo>
                  <a:pt x="516215" y="416836"/>
                </a:lnTo>
                <a:lnTo>
                  <a:pt x="536705" y="373680"/>
                </a:lnTo>
                <a:lnTo>
                  <a:pt x="549573" y="326814"/>
                </a:lnTo>
                <a:lnTo>
                  <a:pt x="554036" y="277020"/>
                </a:lnTo>
                <a:lnTo>
                  <a:pt x="549573" y="227225"/>
                </a:lnTo>
                <a:lnTo>
                  <a:pt x="536705" y="180358"/>
                </a:lnTo>
                <a:lnTo>
                  <a:pt x="516215" y="137202"/>
                </a:lnTo>
                <a:lnTo>
                  <a:pt x="488884" y="98539"/>
                </a:lnTo>
                <a:lnTo>
                  <a:pt x="455497" y="65151"/>
                </a:lnTo>
                <a:lnTo>
                  <a:pt x="416834" y="37821"/>
                </a:lnTo>
                <a:lnTo>
                  <a:pt x="373678" y="17331"/>
                </a:lnTo>
                <a:lnTo>
                  <a:pt x="326811" y="4463"/>
                </a:lnTo>
                <a:lnTo>
                  <a:pt x="277017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09799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8" y="0"/>
                </a:moveTo>
                <a:lnTo>
                  <a:pt x="326812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2"/>
                </a:lnTo>
                <a:lnTo>
                  <a:pt x="536706" y="180358"/>
                </a:lnTo>
                <a:lnTo>
                  <a:pt x="549573" y="227224"/>
                </a:lnTo>
                <a:lnTo>
                  <a:pt x="554037" y="277019"/>
                </a:lnTo>
                <a:lnTo>
                  <a:pt x="549573" y="326813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2" y="549574"/>
                </a:lnTo>
                <a:lnTo>
                  <a:pt x="277018" y="554038"/>
                </a:lnTo>
                <a:lnTo>
                  <a:pt x="227224" y="549574"/>
                </a:lnTo>
                <a:lnTo>
                  <a:pt x="180357" y="536707"/>
                </a:lnTo>
                <a:lnTo>
                  <a:pt x="137201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0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1"/>
                </a:lnTo>
                <a:lnTo>
                  <a:pt x="227224" y="4463"/>
                </a:lnTo>
                <a:lnTo>
                  <a:pt x="277018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94170" y="2129027"/>
            <a:ext cx="1168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4" y="549574"/>
                </a:lnTo>
                <a:lnTo>
                  <a:pt x="277019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25511" y="3284220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10357" y="2501745"/>
            <a:ext cx="581025" cy="765810"/>
          </a:xfrm>
          <a:custGeom>
            <a:avLst/>
            <a:gdLst/>
            <a:ahLst/>
            <a:cxnLst/>
            <a:rect l="l" t="t" r="r" b="b"/>
            <a:pathLst>
              <a:path w="581025" h="765810">
                <a:moveTo>
                  <a:pt x="0" y="765329"/>
                </a:moveTo>
                <a:lnTo>
                  <a:pt x="5805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10357" y="3658839"/>
            <a:ext cx="725170" cy="618490"/>
          </a:xfrm>
          <a:custGeom>
            <a:avLst/>
            <a:gdLst/>
            <a:ahLst/>
            <a:cxnLst/>
            <a:rect l="l" t="t" r="r" b="b"/>
            <a:pathLst>
              <a:path w="725169" h="618489">
                <a:moveTo>
                  <a:pt x="0" y="0"/>
                </a:moveTo>
                <a:lnTo>
                  <a:pt x="725043" y="6180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82699" y="2501746"/>
            <a:ext cx="751840" cy="807085"/>
          </a:xfrm>
          <a:custGeom>
            <a:avLst/>
            <a:gdLst/>
            <a:ahLst/>
            <a:cxnLst/>
            <a:rect l="l" t="t" r="r" b="b"/>
            <a:pathLst>
              <a:path w="751839" h="807085">
                <a:moveTo>
                  <a:pt x="0" y="0"/>
                </a:moveTo>
                <a:lnTo>
                  <a:pt x="751237" y="806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27163" y="3700133"/>
            <a:ext cx="607060" cy="577215"/>
          </a:xfrm>
          <a:custGeom>
            <a:avLst/>
            <a:gdLst/>
            <a:ahLst/>
            <a:cxnLst/>
            <a:rect l="l" t="t" r="r" b="b"/>
            <a:pathLst>
              <a:path w="607060" h="577214">
                <a:moveTo>
                  <a:pt x="0" y="576767"/>
                </a:moveTo>
                <a:lnTo>
                  <a:pt x="6067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31282" y="4771773"/>
            <a:ext cx="0" cy="1002030"/>
          </a:xfrm>
          <a:custGeom>
            <a:avLst/>
            <a:gdLst/>
            <a:ahLst/>
            <a:cxnLst/>
            <a:rect l="l" t="t" r="r" b="b"/>
            <a:pathLst>
              <a:path w="0" h="1002029">
                <a:moveTo>
                  <a:pt x="0" y="0"/>
                </a:moveTo>
                <a:lnTo>
                  <a:pt x="1" y="1002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23928" y="2461531"/>
            <a:ext cx="544195" cy="704850"/>
          </a:xfrm>
          <a:custGeom>
            <a:avLst/>
            <a:gdLst/>
            <a:ahLst/>
            <a:cxnLst/>
            <a:rect l="l" t="t" r="r" b="b"/>
            <a:pathLst>
              <a:path w="544194" h="704850">
                <a:moveTo>
                  <a:pt x="480212" y="59359"/>
                </a:moveTo>
                <a:lnTo>
                  <a:pt x="0" y="686128"/>
                </a:lnTo>
                <a:lnTo>
                  <a:pt x="1187" y="695096"/>
                </a:lnTo>
                <a:lnTo>
                  <a:pt x="13714" y="704695"/>
                </a:lnTo>
                <a:lnTo>
                  <a:pt x="22682" y="703507"/>
                </a:lnTo>
                <a:lnTo>
                  <a:pt x="502894" y="76738"/>
                </a:lnTo>
                <a:lnTo>
                  <a:pt x="480212" y="59359"/>
                </a:lnTo>
                <a:close/>
              </a:path>
              <a:path w="544194" h="704850">
                <a:moveTo>
                  <a:pt x="535882" y="40566"/>
                </a:moveTo>
                <a:lnTo>
                  <a:pt x="502668" y="40566"/>
                </a:lnTo>
                <a:lnTo>
                  <a:pt x="515195" y="50163"/>
                </a:lnTo>
                <a:lnTo>
                  <a:pt x="516383" y="59132"/>
                </a:lnTo>
                <a:lnTo>
                  <a:pt x="502894" y="76738"/>
                </a:lnTo>
                <a:lnTo>
                  <a:pt x="525576" y="94117"/>
                </a:lnTo>
                <a:lnTo>
                  <a:pt x="535882" y="40566"/>
                </a:lnTo>
                <a:close/>
              </a:path>
              <a:path w="544194" h="704850">
                <a:moveTo>
                  <a:pt x="502668" y="40566"/>
                </a:moveTo>
                <a:lnTo>
                  <a:pt x="493701" y="41753"/>
                </a:lnTo>
                <a:lnTo>
                  <a:pt x="480212" y="59359"/>
                </a:lnTo>
                <a:lnTo>
                  <a:pt x="502894" y="76738"/>
                </a:lnTo>
                <a:lnTo>
                  <a:pt x="516383" y="59132"/>
                </a:lnTo>
                <a:lnTo>
                  <a:pt x="515195" y="50163"/>
                </a:lnTo>
                <a:lnTo>
                  <a:pt x="502668" y="40566"/>
                </a:lnTo>
                <a:close/>
              </a:path>
              <a:path w="544194" h="704850">
                <a:moveTo>
                  <a:pt x="543689" y="0"/>
                </a:moveTo>
                <a:lnTo>
                  <a:pt x="457528" y="41979"/>
                </a:lnTo>
                <a:lnTo>
                  <a:pt x="480212" y="59359"/>
                </a:lnTo>
                <a:lnTo>
                  <a:pt x="493701" y="41753"/>
                </a:lnTo>
                <a:lnTo>
                  <a:pt x="502668" y="40566"/>
                </a:lnTo>
                <a:lnTo>
                  <a:pt x="535882" y="40566"/>
                </a:lnTo>
                <a:lnTo>
                  <a:pt x="54368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23309" y="2456717"/>
            <a:ext cx="662940" cy="729615"/>
          </a:xfrm>
          <a:custGeom>
            <a:avLst/>
            <a:gdLst/>
            <a:ahLst/>
            <a:cxnLst/>
            <a:rect l="l" t="t" r="r" b="b"/>
            <a:pathLst>
              <a:path w="662939" h="729614">
                <a:moveTo>
                  <a:pt x="594667" y="675320"/>
                </a:moveTo>
                <a:lnTo>
                  <a:pt x="573501" y="694517"/>
                </a:lnTo>
                <a:lnTo>
                  <a:pt x="662840" y="729221"/>
                </a:lnTo>
                <a:lnTo>
                  <a:pt x="652472" y="692189"/>
                </a:lnTo>
                <a:lnTo>
                  <a:pt x="618603" y="692189"/>
                </a:lnTo>
                <a:lnTo>
                  <a:pt x="609566" y="691748"/>
                </a:lnTo>
                <a:lnTo>
                  <a:pt x="594667" y="675320"/>
                </a:lnTo>
                <a:close/>
              </a:path>
              <a:path w="662939" h="729614">
                <a:moveTo>
                  <a:pt x="615833" y="656123"/>
                </a:moveTo>
                <a:lnTo>
                  <a:pt x="594667" y="675320"/>
                </a:lnTo>
                <a:lnTo>
                  <a:pt x="609566" y="691748"/>
                </a:lnTo>
                <a:lnTo>
                  <a:pt x="618603" y="692189"/>
                </a:lnTo>
                <a:lnTo>
                  <a:pt x="630292" y="681587"/>
                </a:lnTo>
                <a:lnTo>
                  <a:pt x="630732" y="672551"/>
                </a:lnTo>
                <a:lnTo>
                  <a:pt x="615833" y="656123"/>
                </a:lnTo>
                <a:close/>
              </a:path>
              <a:path w="662939" h="729614">
                <a:moveTo>
                  <a:pt x="637000" y="636926"/>
                </a:moveTo>
                <a:lnTo>
                  <a:pt x="615833" y="656123"/>
                </a:lnTo>
                <a:lnTo>
                  <a:pt x="630732" y="672551"/>
                </a:lnTo>
                <a:lnTo>
                  <a:pt x="630292" y="681587"/>
                </a:lnTo>
                <a:lnTo>
                  <a:pt x="618603" y="692189"/>
                </a:lnTo>
                <a:lnTo>
                  <a:pt x="652472" y="692189"/>
                </a:lnTo>
                <a:lnTo>
                  <a:pt x="637000" y="636926"/>
                </a:lnTo>
                <a:close/>
              </a:path>
              <a:path w="662939" h="729614">
                <a:moveTo>
                  <a:pt x="12131" y="0"/>
                </a:moveTo>
                <a:lnTo>
                  <a:pt x="441" y="10601"/>
                </a:lnTo>
                <a:lnTo>
                  <a:pt x="0" y="19638"/>
                </a:lnTo>
                <a:lnTo>
                  <a:pt x="594667" y="675320"/>
                </a:lnTo>
                <a:lnTo>
                  <a:pt x="615833" y="656123"/>
                </a:lnTo>
                <a:lnTo>
                  <a:pt x="21167" y="441"/>
                </a:lnTo>
                <a:lnTo>
                  <a:pt x="12131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39144" y="3814505"/>
            <a:ext cx="563245" cy="533400"/>
          </a:xfrm>
          <a:custGeom>
            <a:avLst/>
            <a:gdLst/>
            <a:ahLst/>
            <a:cxnLst/>
            <a:rect l="l" t="t" r="r" b="b"/>
            <a:pathLst>
              <a:path w="563245" h="533400">
                <a:moveTo>
                  <a:pt x="32843" y="442935"/>
                </a:moveTo>
                <a:lnTo>
                  <a:pt x="0" y="532975"/>
                </a:lnTo>
                <a:lnTo>
                  <a:pt x="91738" y="505227"/>
                </a:lnTo>
                <a:lnTo>
                  <a:pt x="86512" y="499700"/>
                </a:lnTo>
                <a:lnTo>
                  <a:pt x="55991" y="499700"/>
                </a:lnTo>
                <a:lnTo>
                  <a:pt x="46948" y="499446"/>
                </a:lnTo>
                <a:lnTo>
                  <a:pt x="36106" y="487979"/>
                </a:lnTo>
                <a:lnTo>
                  <a:pt x="36360" y="478936"/>
                </a:lnTo>
                <a:lnTo>
                  <a:pt x="52475" y="463699"/>
                </a:lnTo>
                <a:lnTo>
                  <a:pt x="32843" y="442935"/>
                </a:lnTo>
                <a:close/>
              </a:path>
              <a:path w="563245" h="533400">
                <a:moveTo>
                  <a:pt x="52475" y="463699"/>
                </a:moveTo>
                <a:lnTo>
                  <a:pt x="36360" y="478936"/>
                </a:lnTo>
                <a:lnTo>
                  <a:pt x="36106" y="487979"/>
                </a:lnTo>
                <a:lnTo>
                  <a:pt x="46948" y="499446"/>
                </a:lnTo>
                <a:lnTo>
                  <a:pt x="55991" y="499700"/>
                </a:lnTo>
                <a:lnTo>
                  <a:pt x="72107" y="484463"/>
                </a:lnTo>
                <a:lnTo>
                  <a:pt x="52475" y="463699"/>
                </a:lnTo>
                <a:close/>
              </a:path>
              <a:path w="563245" h="533400">
                <a:moveTo>
                  <a:pt x="72107" y="484463"/>
                </a:moveTo>
                <a:lnTo>
                  <a:pt x="55991" y="499700"/>
                </a:lnTo>
                <a:lnTo>
                  <a:pt x="86512" y="499700"/>
                </a:lnTo>
                <a:lnTo>
                  <a:pt x="72107" y="484463"/>
                </a:lnTo>
                <a:close/>
              </a:path>
              <a:path w="563245" h="533400">
                <a:moveTo>
                  <a:pt x="542923" y="0"/>
                </a:moveTo>
                <a:lnTo>
                  <a:pt x="52475" y="463699"/>
                </a:lnTo>
                <a:lnTo>
                  <a:pt x="72107" y="484463"/>
                </a:lnTo>
                <a:lnTo>
                  <a:pt x="562555" y="20764"/>
                </a:lnTo>
                <a:lnTo>
                  <a:pt x="562808" y="11720"/>
                </a:lnTo>
                <a:lnTo>
                  <a:pt x="551966" y="253"/>
                </a:lnTo>
                <a:lnTo>
                  <a:pt x="542923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04139" y="4799536"/>
            <a:ext cx="85725" cy="918844"/>
          </a:xfrm>
          <a:custGeom>
            <a:avLst/>
            <a:gdLst/>
            <a:ahLst/>
            <a:cxnLst/>
            <a:rect l="l" t="t" r="r" b="b"/>
            <a:pathLst>
              <a:path w="85725" h="918845">
                <a:moveTo>
                  <a:pt x="28575" y="832912"/>
                </a:moveTo>
                <a:lnTo>
                  <a:pt x="0" y="832912"/>
                </a:lnTo>
                <a:lnTo>
                  <a:pt x="42862" y="918637"/>
                </a:lnTo>
                <a:lnTo>
                  <a:pt x="71437" y="861488"/>
                </a:lnTo>
                <a:lnTo>
                  <a:pt x="34971" y="861488"/>
                </a:lnTo>
                <a:lnTo>
                  <a:pt x="28575" y="855091"/>
                </a:lnTo>
                <a:lnTo>
                  <a:pt x="28575" y="832912"/>
                </a:lnTo>
                <a:close/>
              </a:path>
              <a:path w="85725" h="918845">
                <a:moveTo>
                  <a:pt x="57150" y="832912"/>
                </a:moveTo>
                <a:lnTo>
                  <a:pt x="28575" y="832912"/>
                </a:lnTo>
                <a:lnTo>
                  <a:pt x="28575" y="855091"/>
                </a:lnTo>
                <a:lnTo>
                  <a:pt x="34971" y="861488"/>
                </a:lnTo>
                <a:lnTo>
                  <a:pt x="50754" y="861488"/>
                </a:lnTo>
                <a:lnTo>
                  <a:pt x="57150" y="855091"/>
                </a:lnTo>
                <a:lnTo>
                  <a:pt x="57150" y="832912"/>
                </a:lnTo>
                <a:close/>
              </a:path>
              <a:path w="85725" h="918845">
                <a:moveTo>
                  <a:pt x="85725" y="832912"/>
                </a:moveTo>
                <a:lnTo>
                  <a:pt x="57150" y="832912"/>
                </a:lnTo>
                <a:lnTo>
                  <a:pt x="57150" y="855091"/>
                </a:lnTo>
                <a:lnTo>
                  <a:pt x="50754" y="861488"/>
                </a:lnTo>
                <a:lnTo>
                  <a:pt x="71437" y="861488"/>
                </a:lnTo>
                <a:lnTo>
                  <a:pt x="85725" y="832912"/>
                </a:lnTo>
                <a:close/>
              </a:path>
              <a:path w="85725" h="918845">
                <a:moveTo>
                  <a:pt x="50753" y="0"/>
                </a:moveTo>
                <a:lnTo>
                  <a:pt x="34970" y="0"/>
                </a:lnTo>
                <a:lnTo>
                  <a:pt x="28575" y="6395"/>
                </a:lnTo>
                <a:lnTo>
                  <a:pt x="28575" y="832912"/>
                </a:lnTo>
                <a:lnTo>
                  <a:pt x="57150" y="832912"/>
                </a:lnTo>
                <a:lnTo>
                  <a:pt x="57150" y="6395"/>
                </a:lnTo>
                <a:lnTo>
                  <a:pt x="50753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77761" y="3801166"/>
            <a:ext cx="640715" cy="558165"/>
          </a:xfrm>
          <a:custGeom>
            <a:avLst/>
            <a:gdLst/>
            <a:ahLst/>
            <a:cxnLst/>
            <a:rect l="l" t="t" r="r" b="b"/>
            <a:pathLst>
              <a:path w="640714" h="558164">
                <a:moveTo>
                  <a:pt x="74105" y="45402"/>
                </a:moveTo>
                <a:lnTo>
                  <a:pt x="55374" y="66982"/>
                </a:lnTo>
                <a:lnTo>
                  <a:pt x="620882" y="557827"/>
                </a:lnTo>
                <a:lnTo>
                  <a:pt x="629906" y="557189"/>
                </a:lnTo>
                <a:lnTo>
                  <a:pt x="640250" y="545270"/>
                </a:lnTo>
                <a:lnTo>
                  <a:pt x="639612" y="536247"/>
                </a:lnTo>
                <a:lnTo>
                  <a:pt x="74105" y="45402"/>
                </a:lnTo>
                <a:close/>
              </a:path>
              <a:path w="640714" h="558164">
                <a:moveTo>
                  <a:pt x="0" y="0"/>
                </a:moveTo>
                <a:lnTo>
                  <a:pt x="36644" y="88562"/>
                </a:lnTo>
                <a:lnTo>
                  <a:pt x="55374" y="66982"/>
                </a:lnTo>
                <a:lnTo>
                  <a:pt x="38625" y="52444"/>
                </a:lnTo>
                <a:lnTo>
                  <a:pt x="37988" y="43420"/>
                </a:lnTo>
                <a:lnTo>
                  <a:pt x="48332" y="31502"/>
                </a:lnTo>
                <a:lnTo>
                  <a:pt x="57355" y="30864"/>
                </a:lnTo>
                <a:lnTo>
                  <a:pt x="86723" y="30864"/>
                </a:lnTo>
                <a:lnTo>
                  <a:pt x="92835" y="23822"/>
                </a:lnTo>
                <a:lnTo>
                  <a:pt x="0" y="0"/>
                </a:lnTo>
                <a:close/>
              </a:path>
              <a:path w="640714" h="558164">
                <a:moveTo>
                  <a:pt x="57355" y="30864"/>
                </a:moveTo>
                <a:lnTo>
                  <a:pt x="48332" y="31502"/>
                </a:lnTo>
                <a:lnTo>
                  <a:pt x="37988" y="43420"/>
                </a:lnTo>
                <a:lnTo>
                  <a:pt x="38625" y="52444"/>
                </a:lnTo>
                <a:lnTo>
                  <a:pt x="55374" y="66982"/>
                </a:lnTo>
                <a:lnTo>
                  <a:pt x="74105" y="45402"/>
                </a:lnTo>
                <a:lnTo>
                  <a:pt x="57355" y="30864"/>
                </a:lnTo>
                <a:close/>
              </a:path>
              <a:path w="640714" h="558164">
                <a:moveTo>
                  <a:pt x="86723" y="30864"/>
                </a:moveTo>
                <a:lnTo>
                  <a:pt x="57355" y="30864"/>
                </a:lnTo>
                <a:lnTo>
                  <a:pt x="74105" y="45402"/>
                </a:lnTo>
                <a:lnTo>
                  <a:pt x="86723" y="30864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64418" y="2459227"/>
            <a:ext cx="878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%→&amp;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&amp;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3362623" y="2511044"/>
            <a:ext cx="943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Cambria Math"/>
                <a:cs typeface="Cambria Math"/>
              </a:rPr>
              <a:t>𝑚</a:t>
            </a:r>
            <a:r>
              <a:rPr dirty="0" baseline="-14957" sz="1950" spc="-112">
                <a:latin typeface="Cambria Math"/>
                <a:cs typeface="Cambria Math"/>
              </a:rPr>
              <a:t>&amp;→#</a:t>
            </a:r>
            <a:r>
              <a:rPr dirty="0" sz="1800" spc="-75">
                <a:latin typeface="Cambria Math"/>
                <a:cs typeface="Cambria Math"/>
              </a:rPr>
              <a:t>(𝑌</a:t>
            </a:r>
            <a:r>
              <a:rPr dirty="0" baseline="-14957" sz="1950" spc="-112">
                <a:latin typeface="Cambria Math"/>
                <a:cs typeface="Cambria Math"/>
              </a:rPr>
              <a:t>#</a:t>
            </a:r>
            <a:r>
              <a:rPr dirty="0" sz="1800" spc="-7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14120" y="4232655"/>
            <a:ext cx="6953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675" algn="l"/>
              </a:tabLst>
            </a:pPr>
            <a:r>
              <a:rPr dirty="0" sz="1300" spc="25">
                <a:latin typeface="Cambria Math"/>
                <a:cs typeface="Cambria Math"/>
              </a:rPr>
              <a:t>#</a:t>
            </a:r>
            <a:r>
              <a:rPr dirty="0" sz="1300" spc="5">
                <a:latin typeface="Cambria Math"/>
                <a:cs typeface="Cambria Math"/>
              </a:rPr>
              <a:t>→</a:t>
            </a:r>
            <a:r>
              <a:rPr dirty="0" sz="1300" spc="530">
                <a:latin typeface="Cambria Math"/>
                <a:cs typeface="Cambria Math"/>
              </a:rPr>
              <a:t>'</a:t>
            </a:r>
            <a:r>
              <a:rPr dirty="0" sz="1300">
                <a:latin typeface="Cambria Math"/>
                <a:cs typeface="Cambria Math"/>
              </a:rPr>
              <a:t>	</a:t>
            </a:r>
            <a:r>
              <a:rPr dirty="0" sz="1300" spc="530"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22033" y="4120388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865" algn="l"/>
              </a:tabLst>
            </a:pPr>
            <a:r>
              <a:rPr dirty="0" sz="1800">
                <a:latin typeface="Cambria Math"/>
                <a:cs typeface="Cambria Math"/>
              </a:rPr>
              <a:t>𝑚	(𝑌</a:t>
            </a:r>
            <a:r>
              <a:rPr dirty="0" sz="1800" spc="1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79321" y="4117340"/>
            <a:ext cx="217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71409" y="4229608"/>
            <a:ext cx="6038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765" algn="l"/>
              </a:tabLst>
            </a:pPr>
            <a:r>
              <a:rPr dirty="0" sz="1300" spc="555">
                <a:latin typeface="Cambria Math"/>
                <a:cs typeface="Cambria Math"/>
              </a:rPr>
              <a:t>'</a:t>
            </a:r>
            <a:r>
              <a:rPr dirty="0" sz="1300" spc="5">
                <a:latin typeface="Cambria Math"/>
                <a:cs typeface="Cambria Math"/>
              </a:rPr>
              <a:t>→</a:t>
            </a:r>
            <a:r>
              <a:rPr dirty="0" sz="1300" spc="-705">
                <a:latin typeface="Cambria Math"/>
                <a:cs typeface="Cambria Math"/>
              </a:rPr>
              <a:t>%</a:t>
            </a:r>
            <a:r>
              <a:rPr dirty="0" sz="1300">
                <a:latin typeface="Cambria Math"/>
                <a:cs typeface="Cambria Math"/>
              </a:rPr>
              <a:t>	</a:t>
            </a:r>
            <a:r>
              <a:rPr dirty="0" sz="1300" spc="-705">
                <a:latin typeface="Cambria Math"/>
                <a:cs typeface="Cambria Math"/>
              </a:rPr>
              <a:t>%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95831" y="4117340"/>
            <a:ext cx="390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(𝑌</a:t>
            </a:r>
            <a:r>
              <a:rPr dirty="0" sz="1800" spc="-2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20411" y="5104891"/>
            <a:ext cx="1337310" cy="109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5920">
              <a:lnSpc>
                <a:spcPct val="100000"/>
              </a:lnSpc>
              <a:spcBef>
                <a:spcPts val="100"/>
              </a:spcBef>
            </a:pPr>
            <a:r>
              <a:rPr dirty="0" sz="1800" spc="100">
                <a:latin typeface="Cambria Math"/>
                <a:cs typeface="Cambria Math"/>
              </a:rPr>
              <a:t>𝑚</a:t>
            </a:r>
            <a:r>
              <a:rPr dirty="0" baseline="-14957" sz="1950" spc="150">
                <a:latin typeface="Cambria Math"/>
                <a:cs typeface="Cambria Math"/>
              </a:rPr>
              <a:t>'→"</a:t>
            </a:r>
            <a:r>
              <a:rPr dirty="0" sz="1800" spc="100">
                <a:latin typeface="Cambria Math"/>
                <a:cs typeface="Cambria Math"/>
              </a:rPr>
              <a:t>(𝑌</a:t>
            </a:r>
            <a:r>
              <a:rPr dirty="0" baseline="-14957" sz="1950" spc="150">
                <a:latin typeface="Cambria Math"/>
                <a:cs typeface="Cambria Math"/>
              </a:rPr>
              <a:t>"</a:t>
            </a:r>
            <a:r>
              <a:rPr dirty="0" sz="1800" spc="1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75069" y="2478531"/>
            <a:ext cx="3542029" cy="113792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730"/>
              </a:spcBef>
            </a:pPr>
            <a:r>
              <a:rPr dirty="0" sz="2800" spc="-10">
                <a:latin typeface="Calibri"/>
                <a:cs typeface="Calibri"/>
              </a:rPr>
              <a:t>Messages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 spc="-25">
                <a:latin typeface="Calibri"/>
                <a:cs typeface="Calibri"/>
              </a:rPr>
              <a:t>different  </a:t>
            </a:r>
            <a:r>
              <a:rPr dirty="0" sz="2800" spc="-10">
                <a:latin typeface="Calibri"/>
                <a:cs typeface="Calibri"/>
              </a:rPr>
              <a:t>subgraphs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705"/>
              </a:lnSpc>
            </a:pPr>
            <a:r>
              <a:rPr dirty="0" sz="2800" spc="-5" b="1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longer independent</a:t>
            </a:r>
            <a:r>
              <a:rPr dirty="0" sz="2800" spc="-10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75069" y="3850132"/>
            <a:ext cx="3565525" cy="112585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805"/>
              </a:spcBef>
            </a:pPr>
            <a:r>
              <a:rPr dirty="0" sz="2800" spc="-5" b="1">
                <a:latin typeface="Calibri"/>
                <a:cs typeface="Calibri"/>
              </a:rPr>
              <a:t>But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5" b="1">
                <a:latin typeface="Calibri"/>
                <a:cs typeface="Calibri"/>
              </a:rPr>
              <a:t>can </a:t>
            </a:r>
            <a:r>
              <a:rPr dirty="0" sz="2800" spc="-10" b="1">
                <a:latin typeface="Calibri"/>
                <a:cs typeface="Calibri"/>
              </a:rPr>
              <a:t>still </a:t>
            </a:r>
            <a:r>
              <a:rPr dirty="0" sz="2800" spc="-5" b="1">
                <a:latin typeface="Calibri"/>
                <a:cs typeface="Calibri"/>
              </a:rPr>
              <a:t>run </a:t>
            </a:r>
            <a:r>
              <a:rPr dirty="0" sz="2800" b="1">
                <a:latin typeface="Calibri"/>
                <a:cs typeface="Calibri"/>
              </a:rPr>
              <a:t>BP</a:t>
            </a:r>
            <a:r>
              <a:rPr dirty="0" sz="2800">
                <a:latin typeface="Calibri"/>
                <a:cs typeface="Calibri"/>
              </a:rPr>
              <a:t>,  but </a:t>
            </a:r>
            <a:r>
              <a:rPr dirty="0" sz="2800" spc="-5">
                <a:latin typeface="Calibri"/>
                <a:cs typeface="Calibri"/>
              </a:rPr>
              <a:t>it will pass </a:t>
            </a:r>
            <a:r>
              <a:rPr dirty="0" sz="2800" spc="-10">
                <a:latin typeface="Calibri"/>
                <a:cs typeface="Calibri"/>
              </a:rPr>
              <a:t>messages 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loops.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68808"/>
            <a:ext cx="4611624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7" y="536706"/>
                </a:lnTo>
                <a:lnTo>
                  <a:pt x="227224" y="549574"/>
                </a:lnTo>
                <a:lnTo>
                  <a:pt x="277018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54262" y="4195762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554037"/>
                </a:moveTo>
                <a:lnTo>
                  <a:pt x="227224" y="549573"/>
                </a:lnTo>
                <a:lnTo>
                  <a:pt x="180357" y="536706"/>
                </a:lnTo>
                <a:lnTo>
                  <a:pt x="137201" y="516215"/>
                </a:lnTo>
                <a:lnTo>
                  <a:pt x="98539" y="488885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2"/>
                </a:lnTo>
                <a:lnTo>
                  <a:pt x="0" y="277018"/>
                </a:lnTo>
                <a:lnTo>
                  <a:pt x="4463" y="227224"/>
                </a:lnTo>
                <a:lnTo>
                  <a:pt x="17330" y="180357"/>
                </a:lnTo>
                <a:lnTo>
                  <a:pt x="37821" y="137201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0"/>
                </a:lnTo>
                <a:lnTo>
                  <a:pt x="227224" y="4463"/>
                </a:lnTo>
                <a:lnTo>
                  <a:pt x="277018" y="0"/>
                </a:lnTo>
                <a:lnTo>
                  <a:pt x="326812" y="4463"/>
                </a:lnTo>
                <a:lnTo>
                  <a:pt x="373679" y="17330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1"/>
                </a:lnTo>
                <a:lnTo>
                  <a:pt x="536706" y="180357"/>
                </a:lnTo>
                <a:lnTo>
                  <a:pt x="549573" y="227224"/>
                </a:lnTo>
                <a:lnTo>
                  <a:pt x="554037" y="277018"/>
                </a:lnTo>
                <a:lnTo>
                  <a:pt x="549573" y="326812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5"/>
                </a:lnTo>
                <a:lnTo>
                  <a:pt x="416835" y="516215"/>
                </a:lnTo>
                <a:lnTo>
                  <a:pt x="373679" y="536706"/>
                </a:lnTo>
                <a:lnTo>
                  <a:pt x="326812" y="549573"/>
                </a:lnTo>
                <a:lnTo>
                  <a:pt x="277018" y="55403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16917" y="4296155"/>
            <a:ext cx="171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𝑢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54262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20" y="0"/>
                </a:moveTo>
                <a:lnTo>
                  <a:pt x="227225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5" y="549574"/>
                </a:lnTo>
                <a:lnTo>
                  <a:pt x="277020" y="554038"/>
                </a:lnTo>
                <a:lnTo>
                  <a:pt x="326814" y="549574"/>
                </a:lnTo>
                <a:lnTo>
                  <a:pt x="373680" y="536706"/>
                </a:lnTo>
                <a:lnTo>
                  <a:pt x="416836" y="516216"/>
                </a:lnTo>
                <a:lnTo>
                  <a:pt x="455499" y="488886"/>
                </a:lnTo>
                <a:lnTo>
                  <a:pt x="488887" y="455498"/>
                </a:lnTo>
                <a:lnTo>
                  <a:pt x="516217" y="416835"/>
                </a:lnTo>
                <a:lnTo>
                  <a:pt x="536707" y="373679"/>
                </a:lnTo>
                <a:lnTo>
                  <a:pt x="549575" y="326813"/>
                </a:lnTo>
                <a:lnTo>
                  <a:pt x="554038" y="277019"/>
                </a:lnTo>
                <a:lnTo>
                  <a:pt x="549575" y="227224"/>
                </a:lnTo>
                <a:lnTo>
                  <a:pt x="536707" y="180358"/>
                </a:lnTo>
                <a:lnTo>
                  <a:pt x="516217" y="137202"/>
                </a:lnTo>
                <a:lnTo>
                  <a:pt x="488887" y="98539"/>
                </a:lnTo>
                <a:lnTo>
                  <a:pt x="455499" y="65151"/>
                </a:lnTo>
                <a:lnTo>
                  <a:pt x="416836" y="37821"/>
                </a:lnTo>
                <a:lnTo>
                  <a:pt x="373680" y="17331"/>
                </a:lnTo>
                <a:lnTo>
                  <a:pt x="326814" y="4463"/>
                </a:lnTo>
                <a:lnTo>
                  <a:pt x="277020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54263" y="577379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554038"/>
                </a:moveTo>
                <a:lnTo>
                  <a:pt x="326813" y="549574"/>
                </a:lnTo>
                <a:lnTo>
                  <a:pt x="373679" y="536707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7" y="373679"/>
                </a:lnTo>
                <a:lnTo>
                  <a:pt x="549574" y="326813"/>
                </a:lnTo>
                <a:lnTo>
                  <a:pt x="554038" y="277019"/>
                </a:lnTo>
                <a:lnTo>
                  <a:pt x="549574" y="227224"/>
                </a:lnTo>
                <a:lnTo>
                  <a:pt x="536707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7"/>
                </a:lnTo>
                <a:lnTo>
                  <a:pt x="227224" y="549574"/>
                </a:lnTo>
                <a:lnTo>
                  <a:pt x="277019" y="55403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20411" y="5871971"/>
            <a:ext cx="1638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52800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1" y="373680"/>
                </a:lnTo>
                <a:lnTo>
                  <a:pt x="37821" y="416836"/>
                </a:lnTo>
                <a:lnTo>
                  <a:pt x="65151" y="455499"/>
                </a:lnTo>
                <a:lnTo>
                  <a:pt x="98539" y="488887"/>
                </a:lnTo>
                <a:lnTo>
                  <a:pt x="137202" y="516217"/>
                </a:lnTo>
                <a:lnTo>
                  <a:pt x="180357" y="536707"/>
                </a:lnTo>
                <a:lnTo>
                  <a:pt x="227224" y="549575"/>
                </a:lnTo>
                <a:lnTo>
                  <a:pt x="277018" y="554038"/>
                </a:lnTo>
                <a:lnTo>
                  <a:pt x="326813" y="549575"/>
                </a:lnTo>
                <a:lnTo>
                  <a:pt x="373679" y="536707"/>
                </a:lnTo>
                <a:lnTo>
                  <a:pt x="416835" y="516217"/>
                </a:lnTo>
                <a:lnTo>
                  <a:pt x="455498" y="488887"/>
                </a:lnTo>
                <a:lnTo>
                  <a:pt x="488886" y="455499"/>
                </a:lnTo>
                <a:lnTo>
                  <a:pt x="516216" y="416836"/>
                </a:lnTo>
                <a:lnTo>
                  <a:pt x="536706" y="373680"/>
                </a:lnTo>
                <a:lnTo>
                  <a:pt x="549574" y="326814"/>
                </a:lnTo>
                <a:lnTo>
                  <a:pt x="554037" y="277020"/>
                </a:lnTo>
                <a:lnTo>
                  <a:pt x="549574" y="227225"/>
                </a:lnTo>
                <a:lnTo>
                  <a:pt x="536706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52799" y="322723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11803" y="3326891"/>
            <a:ext cx="165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𝑘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09800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7" y="0"/>
                </a:moveTo>
                <a:lnTo>
                  <a:pt x="227223" y="4463"/>
                </a:lnTo>
                <a:lnTo>
                  <a:pt x="180356" y="17331"/>
                </a:lnTo>
                <a:lnTo>
                  <a:pt x="137201" y="37821"/>
                </a:lnTo>
                <a:lnTo>
                  <a:pt x="98538" y="65151"/>
                </a:lnTo>
                <a:lnTo>
                  <a:pt x="65150" y="98539"/>
                </a:lnTo>
                <a:lnTo>
                  <a:pt x="37820" y="137202"/>
                </a:lnTo>
                <a:lnTo>
                  <a:pt x="17330" y="180358"/>
                </a:lnTo>
                <a:lnTo>
                  <a:pt x="4463" y="227225"/>
                </a:lnTo>
                <a:lnTo>
                  <a:pt x="0" y="277020"/>
                </a:lnTo>
                <a:lnTo>
                  <a:pt x="4463" y="326814"/>
                </a:lnTo>
                <a:lnTo>
                  <a:pt x="17330" y="373680"/>
                </a:lnTo>
                <a:lnTo>
                  <a:pt x="37820" y="416836"/>
                </a:lnTo>
                <a:lnTo>
                  <a:pt x="65150" y="455499"/>
                </a:lnTo>
                <a:lnTo>
                  <a:pt x="98538" y="488887"/>
                </a:lnTo>
                <a:lnTo>
                  <a:pt x="137201" y="516217"/>
                </a:lnTo>
                <a:lnTo>
                  <a:pt x="180356" y="536707"/>
                </a:lnTo>
                <a:lnTo>
                  <a:pt x="227223" y="549575"/>
                </a:lnTo>
                <a:lnTo>
                  <a:pt x="277017" y="554038"/>
                </a:lnTo>
                <a:lnTo>
                  <a:pt x="326811" y="549575"/>
                </a:lnTo>
                <a:lnTo>
                  <a:pt x="373678" y="536707"/>
                </a:lnTo>
                <a:lnTo>
                  <a:pt x="416834" y="516217"/>
                </a:lnTo>
                <a:lnTo>
                  <a:pt x="455497" y="488887"/>
                </a:lnTo>
                <a:lnTo>
                  <a:pt x="488884" y="455499"/>
                </a:lnTo>
                <a:lnTo>
                  <a:pt x="516215" y="416836"/>
                </a:lnTo>
                <a:lnTo>
                  <a:pt x="536705" y="373680"/>
                </a:lnTo>
                <a:lnTo>
                  <a:pt x="549573" y="326814"/>
                </a:lnTo>
                <a:lnTo>
                  <a:pt x="554036" y="277020"/>
                </a:lnTo>
                <a:lnTo>
                  <a:pt x="549573" y="227225"/>
                </a:lnTo>
                <a:lnTo>
                  <a:pt x="536705" y="180358"/>
                </a:lnTo>
                <a:lnTo>
                  <a:pt x="516215" y="137202"/>
                </a:lnTo>
                <a:lnTo>
                  <a:pt x="488884" y="98539"/>
                </a:lnTo>
                <a:lnTo>
                  <a:pt x="455497" y="65151"/>
                </a:lnTo>
                <a:lnTo>
                  <a:pt x="416834" y="37821"/>
                </a:lnTo>
                <a:lnTo>
                  <a:pt x="373678" y="17331"/>
                </a:lnTo>
                <a:lnTo>
                  <a:pt x="326811" y="4463"/>
                </a:lnTo>
                <a:lnTo>
                  <a:pt x="277017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09799" y="2028843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8" y="0"/>
                </a:moveTo>
                <a:lnTo>
                  <a:pt x="326812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5" y="98539"/>
                </a:lnTo>
                <a:lnTo>
                  <a:pt x="516215" y="137202"/>
                </a:lnTo>
                <a:lnTo>
                  <a:pt x="536706" y="180358"/>
                </a:lnTo>
                <a:lnTo>
                  <a:pt x="549573" y="227224"/>
                </a:lnTo>
                <a:lnTo>
                  <a:pt x="554037" y="277019"/>
                </a:lnTo>
                <a:lnTo>
                  <a:pt x="549573" y="326813"/>
                </a:lnTo>
                <a:lnTo>
                  <a:pt x="536706" y="373679"/>
                </a:lnTo>
                <a:lnTo>
                  <a:pt x="516215" y="416835"/>
                </a:lnTo>
                <a:lnTo>
                  <a:pt x="488885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2" y="549574"/>
                </a:lnTo>
                <a:lnTo>
                  <a:pt x="277018" y="554038"/>
                </a:lnTo>
                <a:lnTo>
                  <a:pt x="227224" y="549574"/>
                </a:lnTo>
                <a:lnTo>
                  <a:pt x="180357" y="536707"/>
                </a:lnTo>
                <a:lnTo>
                  <a:pt x="137201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0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0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1" y="37821"/>
                </a:lnTo>
                <a:lnTo>
                  <a:pt x="180357" y="17331"/>
                </a:lnTo>
                <a:lnTo>
                  <a:pt x="227224" y="4463"/>
                </a:lnTo>
                <a:lnTo>
                  <a:pt x="277018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94170" y="2129027"/>
            <a:ext cx="1168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8" y="536706"/>
                </a:lnTo>
                <a:lnTo>
                  <a:pt x="227224" y="549574"/>
                </a:lnTo>
                <a:lnTo>
                  <a:pt x="277019" y="554037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37455" y="3185938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9" y="0"/>
                </a:moveTo>
                <a:lnTo>
                  <a:pt x="326813" y="4463"/>
                </a:lnTo>
                <a:lnTo>
                  <a:pt x="373679" y="17331"/>
                </a:lnTo>
                <a:lnTo>
                  <a:pt x="416835" y="37821"/>
                </a:lnTo>
                <a:lnTo>
                  <a:pt x="455498" y="65151"/>
                </a:lnTo>
                <a:lnTo>
                  <a:pt x="488886" y="98539"/>
                </a:lnTo>
                <a:lnTo>
                  <a:pt x="516216" y="137202"/>
                </a:lnTo>
                <a:lnTo>
                  <a:pt x="536707" y="180358"/>
                </a:lnTo>
                <a:lnTo>
                  <a:pt x="549574" y="227224"/>
                </a:lnTo>
                <a:lnTo>
                  <a:pt x="554038" y="277019"/>
                </a:lnTo>
                <a:lnTo>
                  <a:pt x="549574" y="326813"/>
                </a:lnTo>
                <a:lnTo>
                  <a:pt x="536707" y="373679"/>
                </a:lnTo>
                <a:lnTo>
                  <a:pt x="516216" y="416835"/>
                </a:lnTo>
                <a:lnTo>
                  <a:pt x="488886" y="455498"/>
                </a:lnTo>
                <a:lnTo>
                  <a:pt x="455498" y="488886"/>
                </a:lnTo>
                <a:lnTo>
                  <a:pt x="416835" y="516216"/>
                </a:lnTo>
                <a:lnTo>
                  <a:pt x="373679" y="536707"/>
                </a:lnTo>
                <a:lnTo>
                  <a:pt x="326813" y="549574"/>
                </a:lnTo>
                <a:lnTo>
                  <a:pt x="277019" y="554038"/>
                </a:lnTo>
                <a:lnTo>
                  <a:pt x="227224" y="549574"/>
                </a:lnTo>
                <a:lnTo>
                  <a:pt x="180358" y="536707"/>
                </a:lnTo>
                <a:lnTo>
                  <a:pt x="137202" y="516216"/>
                </a:lnTo>
                <a:lnTo>
                  <a:pt x="98539" y="488886"/>
                </a:lnTo>
                <a:lnTo>
                  <a:pt x="65151" y="455498"/>
                </a:lnTo>
                <a:lnTo>
                  <a:pt x="37821" y="416835"/>
                </a:lnTo>
                <a:lnTo>
                  <a:pt x="17331" y="373679"/>
                </a:lnTo>
                <a:lnTo>
                  <a:pt x="4463" y="326813"/>
                </a:lnTo>
                <a:lnTo>
                  <a:pt x="0" y="277019"/>
                </a:lnTo>
                <a:lnTo>
                  <a:pt x="4463" y="227224"/>
                </a:lnTo>
                <a:lnTo>
                  <a:pt x="17331" y="180358"/>
                </a:lnTo>
                <a:lnTo>
                  <a:pt x="37821" y="137202"/>
                </a:lnTo>
                <a:lnTo>
                  <a:pt x="65151" y="98539"/>
                </a:lnTo>
                <a:lnTo>
                  <a:pt x="98539" y="65151"/>
                </a:lnTo>
                <a:lnTo>
                  <a:pt x="137202" y="37821"/>
                </a:lnTo>
                <a:lnTo>
                  <a:pt x="180358" y="17331"/>
                </a:lnTo>
                <a:lnTo>
                  <a:pt x="227224" y="4463"/>
                </a:lnTo>
                <a:lnTo>
                  <a:pt x="277019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25511" y="3284220"/>
            <a:ext cx="1060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10357" y="2501745"/>
            <a:ext cx="581025" cy="765810"/>
          </a:xfrm>
          <a:custGeom>
            <a:avLst/>
            <a:gdLst/>
            <a:ahLst/>
            <a:cxnLst/>
            <a:rect l="l" t="t" r="r" b="b"/>
            <a:pathLst>
              <a:path w="581025" h="765810">
                <a:moveTo>
                  <a:pt x="0" y="765329"/>
                </a:moveTo>
                <a:lnTo>
                  <a:pt x="5805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10357" y="3658839"/>
            <a:ext cx="725170" cy="618490"/>
          </a:xfrm>
          <a:custGeom>
            <a:avLst/>
            <a:gdLst/>
            <a:ahLst/>
            <a:cxnLst/>
            <a:rect l="l" t="t" r="r" b="b"/>
            <a:pathLst>
              <a:path w="725169" h="618489">
                <a:moveTo>
                  <a:pt x="0" y="0"/>
                </a:moveTo>
                <a:lnTo>
                  <a:pt x="725043" y="61806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82699" y="2501746"/>
            <a:ext cx="751840" cy="807085"/>
          </a:xfrm>
          <a:custGeom>
            <a:avLst/>
            <a:gdLst/>
            <a:ahLst/>
            <a:cxnLst/>
            <a:rect l="l" t="t" r="r" b="b"/>
            <a:pathLst>
              <a:path w="751839" h="807085">
                <a:moveTo>
                  <a:pt x="0" y="0"/>
                </a:moveTo>
                <a:lnTo>
                  <a:pt x="751237" y="806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27163" y="3700133"/>
            <a:ext cx="607060" cy="577215"/>
          </a:xfrm>
          <a:custGeom>
            <a:avLst/>
            <a:gdLst/>
            <a:ahLst/>
            <a:cxnLst/>
            <a:rect l="l" t="t" r="r" b="b"/>
            <a:pathLst>
              <a:path w="607060" h="577214">
                <a:moveTo>
                  <a:pt x="0" y="576767"/>
                </a:moveTo>
                <a:lnTo>
                  <a:pt x="6067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31282" y="4771773"/>
            <a:ext cx="0" cy="1002030"/>
          </a:xfrm>
          <a:custGeom>
            <a:avLst/>
            <a:gdLst/>
            <a:ahLst/>
            <a:cxnLst/>
            <a:rect l="l" t="t" r="r" b="b"/>
            <a:pathLst>
              <a:path w="0" h="1002029">
                <a:moveTo>
                  <a:pt x="0" y="0"/>
                </a:moveTo>
                <a:lnTo>
                  <a:pt x="1" y="1002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23928" y="2461531"/>
            <a:ext cx="544195" cy="704850"/>
          </a:xfrm>
          <a:custGeom>
            <a:avLst/>
            <a:gdLst/>
            <a:ahLst/>
            <a:cxnLst/>
            <a:rect l="l" t="t" r="r" b="b"/>
            <a:pathLst>
              <a:path w="544194" h="704850">
                <a:moveTo>
                  <a:pt x="480212" y="59359"/>
                </a:moveTo>
                <a:lnTo>
                  <a:pt x="0" y="686128"/>
                </a:lnTo>
                <a:lnTo>
                  <a:pt x="1187" y="695096"/>
                </a:lnTo>
                <a:lnTo>
                  <a:pt x="13714" y="704695"/>
                </a:lnTo>
                <a:lnTo>
                  <a:pt x="22682" y="703507"/>
                </a:lnTo>
                <a:lnTo>
                  <a:pt x="502894" y="76738"/>
                </a:lnTo>
                <a:lnTo>
                  <a:pt x="480212" y="59359"/>
                </a:lnTo>
                <a:close/>
              </a:path>
              <a:path w="544194" h="704850">
                <a:moveTo>
                  <a:pt x="535882" y="40566"/>
                </a:moveTo>
                <a:lnTo>
                  <a:pt x="502668" y="40566"/>
                </a:lnTo>
                <a:lnTo>
                  <a:pt x="515195" y="50163"/>
                </a:lnTo>
                <a:lnTo>
                  <a:pt x="516383" y="59132"/>
                </a:lnTo>
                <a:lnTo>
                  <a:pt x="502894" y="76738"/>
                </a:lnTo>
                <a:lnTo>
                  <a:pt x="525576" y="94117"/>
                </a:lnTo>
                <a:lnTo>
                  <a:pt x="535882" y="40566"/>
                </a:lnTo>
                <a:close/>
              </a:path>
              <a:path w="544194" h="704850">
                <a:moveTo>
                  <a:pt x="502668" y="40566"/>
                </a:moveTo>
                <a:lnTo>
                  <a:pt x="493701" y="41753"/>
                </a:lnTo>
                <a:lnTo>
                  <a:pt x="480212" y="59359"/>
                </a:lnTo>
                <a:lnTo>
                  <a:pt x="502894" y="76738"/>
                </a:lnTo>
                <a:lnTo>
                  <a:pt x="516383" y="59132"/>
                </a:lnTo>
                <a:lnTo>
                  <a:pt x="515195" y="50163"/>
                </a:lnTo>
                <a:lnTo>
                  <a:pt x="502668" y="40566"/>
                </a:lnTo>
                <a:close/>
              </a:path>
              <a:path w="544194" h="704850">
                <a:moveTo>
                  <a:pt x="543689" y="0"/>
                </a:moveTo>
                <a:lnTo>
                  <a:pt x="457528" y="41979"/>
                </a:lnTo>
                <a:lnTo>
                  <a:pt x="480212" y="59359"/>
                </a:lnTo>
                <a:lnTo>
                  <a:pt x="493701" y="41753"/>
                </a:lnTo>
                <a:lnTo>
                  <a:pt x="502668" y="40566"/>
                </a:lnTo>
                <a:lnTo>
                  <a:pt x="535882" y="40566"/>
                </a:lnTo>
                <a:lnTo>
                  <a:pt x="54368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23309" y="2456717"/>
            <a:ext cx="662940" cy="729615"/>
          </a:xfrm>
          <a:custGeom>
            <a:avLst/>
            <a:gdLst/>
            <a:ahLst/>
            <a:cxnLst/>
            <a:rect l="l" t="t" r="r" b="b"/>
            <a:pathLst>
              <a:path w="662939" h="729614">
                <a:moveTo>
                  <a:pt x="594667" y="675320"/>
                </a:moveTo>
                <a:lnTo>
                  <a:pt x="573501" y="694517"/>
                </a:lnTo>
                <a:lnTo>
                  <a:pt x="662840" y="729221"/>
                </a:lnTo>
                <a:lnTo>
                  <a:pt x="652472" y="692189"/>
                </a:lnTo>
                <a:lnTo>
                  <a:pt x="618603" y="692189"/>
                </a:lnTo>
                <a:lnTo>
                  <a:pt x="609566" y="691748"/>
                </a:lnTo>
                <a:lnTo>
                  <a:pt x="594667" y="675320"/>
                </a:lnTo>
                <a:close/>
              </a:path>
              <a:path w="662939" h="729614">
                <a:moveTo>
                  <a:pt x="615833" y="656123"/>
                </a:moveTo>
                <a:lnTo>
                  <a:pt x="594667" y="675320"/>
                </a:lnTo>
                <a:lnTo>
                  <a:pt x="609566" y="691748"/>
                </a:lnTo>
                <a:lnTo>
                  <a:pt x="618603" y="692189"/>
                </a:lnTo>
                <a:lnTo>
                  <a:pt x="630292" y="681587"/>
                </a:lnTo>
                <a:lnTo>
                  <a:pt x="630732" y="672551"/>
                </a:lnTo>
                <a:lnTo>
                  <a:pt x="615833" y="656123"/>
                </a:lnTo>
                <a:close/>
              </a:path>
              <a:path w="662939" h="729614">
                <a:moveTo>
                  <a:pt x="637000" y="636926"/>
                </a:moveTo>
                <a:lnTo>
                  <a:pt x="615833" y="656123"/>
                </a:lnTo>
                <a:lnTo>
                  <a:pt x="630732" y="672551"/>
                </a:lnTo>
                <a:lnTo>
                  <a:pt x="630292" y="681587"/>
                </a:lnTo>
                <a:lnTo>
                  <a:pt x="618603" y="692189"/>
                </a:lnTo>
                <a:lnTo>
                  <a:pt x="652472" y="692189"/>
                </a:lnTo>
                <a:lnTo>
                  <a:pt x="637000" y="636926"/>
                </a:lnTo>
                <a:close/>
              </a:path>
              <a:path w="662939" h="729614">
                <a:moveTo>
                  <a:pt x="12131" y="0"/>
                </a:moveTo>
                <a:lnTo>
                  <a:pt x="441" y="10601"/>
                </a:lnTo>
                <a:lnTo>
                  <a:pt x="0" y="19638"/>
                </a:lnTo>
                <a:lnTo>
                  <a:pt x="594667" y="675320"/>
                </a:lnTo>
                <a:lnTo>
                  <a:pt x="615833" y="656123"/>
                </a:lnTo>
                <a:lnTo>
                  <a:pt x="21167" y="441"/>
                </a:lnTo>
                <a:lnTo>
                  <a:pt x="12131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39144" y="3814505"/>
            <a:ext cx="563245" cy="533400"/>
          </a:xfrm>
          <a:custGeom>
            <a:avLst/>
            <a:gdLst/>
            <a:ahLst/>
            <a:cxnLst/>
            <a:rect l="l" t="t" r="r" b="b"/>
            <a:pathLst>
              <a:path w="563245" h="533400">
                <a:moveTo>
                  <a:pt x="32843" y="442935"/>
                </a:moveTo>
                <a:lnTo>
                  <a:pt x="0" y="532975"/>
                </a:lnTo>
                <a:lnTo>
                  <a:pt x="91738" y="505227"/>
                </a:lnTo>
                <a:lnTo>
                  <a:pt x="86512" y="499700"/>
                </a:lnTo>
                <a:lnTo>
                  <a:pt x="55991" y="499700"/>
                </a:lnTo>
                <a:lnTo>
                  <a:pt x="46948" y="499446"/>
                </a:lnTo>
                <a:lnTo>
                  <a:pt x="36106" y="487979"/>
                </a:lnTo>
                <a:lnTo>
                  <a:pt x="36360" y="478936"/>
                </a:lnTo>
                <a:lnTo>
                  <a:pt x="52475" y="463699"/>
                </a:lnTo>
                <a:lnTo>
                  <a:pt x="32843" y="442935"/>
                </a:lnTo>
                <a:close/>
              </a:path>
              <a:path w="563245" h="533400">
                <a:moveTo>
                  <a:pt x="52475" y="463699"/>
                </a:moveTo>
                <a:lnTo>
                  <a:pt x="36360" y="478936"/>
                </a:lnTo>
                <a:lnTo>
                  <a:pt x="36106" y="487979"/>
                </a:lnTo>
                <a:lnTo>
                  <a:pt x="46948" y="499446"/>
                </a:lnTo>
                <a:lnTo>
                  <a:pt x="55991" y="499700"/>
                </a:lnTo>
                <a:lnTo>
                  <a:pt x="72107" y="484463"/>
                </a:lnTo>
                <a:lnTo>
                  <a:pt x="52475" y="463699"/>
                </a:lnTo>
                <a:close/>
              </a:path>
              <a:path w="563245" h="533400">
                <a:moveTo>
                  <a:pt x="72107" y="484463"/>
                </a:moveTo>
                <a:lnTo>
                  <a:pt x="55991" y="499700"/>
                </a:lnTo>
                <a:lnTo>
                  <a:pt x="86512" y="499700"/>
                </a:lnTo>
                <a:lnTo>
                  <a:pt x="72107" y="484463"/>
                </a:lnTo>
                <a:close/>
              </a:path>
              <a:path w="563245" h="533400">
                <a:moveTo>
                  <a:pt x="542923" y="0"/>
                </a:moveTo>
                <a:lnTo>
                  <a:pt x="52475" y="463699"/>
                </a:lnTo>
                <a:lnTo>
                  <a:pt x="72107" y="484463"/>
                </a:lnTo>
                <a:lnTo>
                  <a:pt x="562555" y="20764"/>
                </a:lnTo>
                <a:lnTo>
                  <a:pt x="562808" y="11720"/>
                </a:lnTo>
                <a:lnTo>
                  <a:pt x="551966" y="253"/>
                </a:lnTo>
                <a:lnTo>
                  <a:pt x="542923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04139" y="4799536"/>
            <a:ext cx="85725" cy="918844"/>
          </a:xfrm>
          <a:custGeom>
            <a:avLst/>
            <a:gdLst/>
            <a:ahLst/>
            <a:cxnLst/>
            <a:rect l="l" t="t" r="r" b="b"/>
            <a:pathLst>
              <a:path w="85725" h="918845">
                <a:moveTo>
                  <a:pt x="28575" y="832912"/>
                </a:moveTo>
                <a:lnTo>
                  <a:pt x="0" y="832912"/>
                </a:lnTo>
                <a:lnTo>
                  <a:pt x="42862" y="918637"/>
                </a:lnTo>
                <a:lnTo>
                  <a:pt x="71437" y="861488"/>
                </a:lnTo>
                <a:lnTo>
                  <a:pt x="34971" y="861488"/>
                </a:lnTo>
                <a:lnTo>
                  <a:pt x="28575" y="855091"/>
                </a:lnTo>
                <a:lnTo>
                  <a:pt x="28575" y="832912"/>
                </a:lnTo>
                <a:close/>
              </a:path>
              <a:path w="85725" h="918845">
                <a:moveTo>
                  <a:pt x="57150" y="832912"/>
                </a:moveTo>
                <a:lnTo>
                  <a:pt x="28575" y="832912"/>
                </a:lnTo>
                <a:lnTo>
                  <a:pt x="28575" y="855091"/>
                </a:lnTo>
                <a:lnTo>
                  <a:pt x="34971" y="861488"/>
                </a:lnTo>
                <a:lnTo>
                  <a:pt x="50754" y="861488"/>
                </a:lnTo>
                <a:lnTo>
                  <a:pt x="57150" y="855091"/>
                </a:lnTo>
                <a:lnTo>
                  <a:pt x="57150" y="832912"/>
                </a:lnTo>
                <a:close/>
              </a:path>
              <a:path w="85725" h="918845">
                <a:moveTo>
                  <a:pt x="85725" y="832912"/>
                </a:moveTo>
                <a:lnTo>
                  <a:pt x="57150" y="832912"/>
                </a:lnTo>
                <a:lnTo>
                  <a:pt x="57150" y="855091"/>
                </a:lnTo>
                <a:lnTo>
                  <a:pt x="50754" y="861488"/>
                </a:lnTo>
                <a:lnTo>
                  <a:pt x="71437" y="861488"/>
                </a:lnTo>
                <a:lnTo>
                  <a:pt x="85725" y="832912"/>
                </a:lnTo>
                <a:close/>
              </a:path>
              <a:path w="85725" h="918845">
                <a:moveTo>
                  <a:pt x="50753" y="0"/>
                </a:moveTo>
                <a:lnTo>
                  <a:pt x="34970" y="0"/>
                </a:lnTo>
                <a:lnTo>
                  <a:pt x="28575" y="6395"/>
                </a:lnTo>
                <a:lnTo>
                  <a:pt x="28575" y="832912"/>
                </a:lnTo>
                <a:lnTo>
                  <a:pt x="57150" y="832912"/>
                </a:lnTo>
                <a:lnTo>
                  <a:pt x="57150" y="6395"/>
                </a:lnTo>
                <a:lnTo>
                  <a:pt x="50753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77761" y="3801166"/>
            <a:ext cx="640715" cy="558165"/>
          </a:xfrm>
          <a:custGeom>
            <a:avLst/>
            <a:gdLst/>
            <a:ahLst/>
            <a:cxnLst/>
            <a:rect l="l" t="t" r="r" b="b"/>
            <a:pathLst>
              <a:path w="640714" h="558164">
                <a:moveTo>
                  <a:pt x="74105" y="45402"/>
                </a:moveTo>
                <a:lnTo>
                  <a:pt x="55374" y="66982"/>
                </a:lnTo>
                <a:lnTo>
                  <a:pt x="620882" y="557827"/>
                </a:lnTo>
                <a:lnTo>
                  <a:pt x="629906" y="557189"/>
                </a:lnTo>
                <a:lnTo>
                  <a:pt x="640250" y="545270"/>
                </a:lnTo>
                <a:lnTo>
                  <a:pt x="639612" y="536247"/>
                </a:lnTo>
                <a:lnTo>
                  <a:pt x="74105" y="45402"/>
                </a:lnTo>
                <a:close/>
              </a:path>
              <a:path w="640714" h="558164">
                <a:moveTo>
                  <a:pt x="0" y="0"/>
                </a:moveTo>
                <a:lnTo>
                  <a:pt x="36644" y="88562"/>
                </a:lnTo>
                <a:lnTo>
                  <a:pt x="55374" y="66982"/>
                </a:lnTo>
                <a:lnTo>
                  <a:pt x="38625" y="52444"/>
                </a:lnTo>
                <a:lnTo>
                  <a:pt x="37988" y="43420"/>
                </a:lnTo>
                <a:lnTo>
                  <a:pt x="48332" y="31502"/>
                </a:lnTo>
                <a:lnTo>
                  <a:pt x="57355" y="30864"/>
                </a:lnTo>
                <a:lnTo>
                  <a:pt x="86723" y="30864"/>
                </a:lnTo>
                <a:lnTo>
                  <a:pt x="92835" y="23822"/>
                </a:lnTo>
                <a:lnTo>
                  <a:pt x="0" y="0"/>
                </a:lnTo>
                <a:close/>
              </a:path>
              <a:path w="640714" h="558164">
                <a:moveTo>
                  <a:pt x="57355" y="30864"/>
                </a:moveTo>
                <a:lnTo>
                  <a:pt x="48332" y="31502"/>
                </a:lnTo>
                <a:lnTo>
                  <a:pt x="37988" y="43420"/>
                </a:lnTo>
                <a:lnTo>
                  <a:pt x="38625" y="52444"/>
                </a:lnTo>
                <a:lnTo>
                  <a:pt x="55374" y="66982"/>
                </a:lnTo>
                <a:lnTo>
                  <a:pt x="74105" y="45402"/>
                </a:lnTo>
                <a:lnTo>
                  <a:pt x="57355" y="30864"/>
                </a:lnTo>
                <a:close/>
              </a:path>
              <a:path w="640714" h="558164">
                <a:moveTo>
                  <a:pt x="86723" y="30864"/>
                </a:moveTo>
                <a:lnTo>
                  <a:pt x="57355" y="30864"/>
                </a:lnTo>
                <a:lnTo>
                  <a:pt x="74105" y="45402"/>
                </a:lnTo>
                <a:lnTo>
                  <a:pt x="86723" y="30864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64418" y="2459227"/>
            <a:ext cx="878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90">
                <a:latin typeface="Cambria Math"/>
                <a:cs typeface="Cambria Math"/>
              </a:rPr>
              <a:t>𝑚</a:t>
            </a:r>
            <a:r>
              <a:rPr dirty="0" baseline="-14957" sz="1950" spc="-284">
                <a:latin typeface="Cambria Math"/>
                <a:cs typeface="Cambria Math"/>
              </a:rPr>
              <a:t>%→&amp;</a:t>
            </a:r>
            <a:r>
              <a:rPr dirty="0" sz="1800" spc="-190">
                <a:latin typeface="Cambria Math"/>
                <a:cs typeface="Cambria Math"/>
              </a:rPr>
              <a:t>(𝑌</a:t>
            </a:r>
            <a:r>
              <a:rPr dirty="0" baseline="-14957" sz="1950" spc="-284">
                <a:latin typeface="Cambria Math"/>
                <a:cs typeface="Cambria Math"/>
              </a:rPr>
              <a:t>&amp;</a:t>
            </a:r>
            <a:r>
              <a:rPr dirty="0" sz="1800" spc="-19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29" name="object 29"/>
          <p:cNvSpPr txBox="1"/>
          <p:nvPr/>
        </p:nvSpPr>
        <p:spPr>
          <a:xfrm>
            <a:off x="3362623" y="2511044"/>
            <a:ext cx="943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Cambria Math"/>
                <a:cs typeface="Cambria Math"/>
              </a:rPr>
              <a:t>𝑚</a:t>
            </a:r>
            <a:r>
              <a:rPr dirty="0" baseline="-14957" sz="1950" spc="-112">
                <a:latin typeface="Cambria Math"/>
                <a:cs typeface="Cambria Math"/>
              </a:rPr>
              <a:t>&amp;→#</a:t>
            </a:r>
            <a:r>
              <a:rPr dirty="0" sz="1800" spc="-75">
                <a:latin typeface="Cambria Math"/>
                <a:cs typeface="Cambria Math"/>
              </a:rPr>
              <a:t>(𝑌</a:t>
            </a:r>
            <a:r>
              <a:rPr dirty="0" baseline="-14957" sz="1950" spc="-112">
                <a:latin typeface="Cambria Math"/>
                <a:cs typeface="Cambria Math"/>
              </a:rPr>
              <a:t>#</a:t>
            </a:r>
            <a:r>
              <a:rPr dirty="0" sz="1800" spc="-7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2033" y="4120388"/>
            <a:ext cx="9950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0">
                <a:latin typeface="Cambria Math"/>
                <a:cs typeface="Cambria Math"/>
              </a:rPr>
              <a:t>𝑚</a:t>
            </a:r>
            <a:r>
              <a:rPr dirty="0" baseline="-17094" sz="1950" spc="165">
                <a:latin typeface="Cambria Math"/>
                <a:cs typeface="Cambria Math"/>
              </a:rPr>
              <a:t>#→'</a:t>
            </a:r>
            <a:r>
              <a:rPr dirty="0" sz="1800" spc="110">
                <a:latin typeface="Cambria Math"/>
                <a:cs typeface="Cambria Math"/>
              </a:rPr>
              <a:t>(𝑌</a:t>
            </a:r>
            <a:r>
              <a:rPr dirty="0" baseline="-17094" sz="1950" spc="165">
                <a:latin typeface="Cambria Math"/>
                <a:cs typeface="Cambria Math"/>
              </a:rPr>
              <a:t>'</a:t>
            </a:r>
            <a:r>
              <a:rPr dirty="0" sz="1800" spc="11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79321" y="4117340"/>
            <a:ext cx="906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25">
                <a:latin typeface="Cambria Math"/>
                <a:cs typeface="Cambria Math"/>
              </a:rPr>
              <a:t>𝑚</a:t>
            </a:r>
            <a:r>
              <a:rPr dirty="0" baseline="-17094" sz="1950" spc="-187">
                <a:latin typeface="Cambria Math"/>
                <a:cs typeface="Cambria Math"/>
              </a:rPr>
              <a:t>'→%</a:t>
            </a:r>
            <a:r>
              <a:rPr dirty="0" sz="1800" spc="-125">
                <a:latin typeface="Cambria Math"/>
                <a:cs typeface="Cambria Math"/>
              </a:rPr>
              <a:t>(𝑌</a:t>
            </a:r>
            <a:r>
              <a:rPr dirty="0" baseline="-17094" sz="1950" spc="-187">
                <a:latin typeface="Cambria Math"/>
                <a:cs typeface="Cambria Math"/>
              </a:rPr>
              <a:t>%</a:t>
            </a:r>
            <a:r>
              <a:rPr dirty="0" sz="1800" spc="-12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83634" y="5104891"/>
            <a:ext cx="974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>
                <a:latin typeface="Cambria Math"/>
                <a:cs typeface="Cambria Math"/>
              </a:rPr>
              <a:t>𝑚</a:t>
            </a:r>
            <a:r>
              <a:rPr dirty="0" baseline="-14957" sz="1950" spc="150">
                <a:latin typeface="Cambria Math"/>
                <a:cs typeface="Cambria Math"/>
              </a:rPr>
              <a:t>'→"</a:t>
            </a:r>
            <a:r>
              <a:rPr dirty="0" sz="1800" spc="100">
                <a:latin typeface="Cambria Math"/>
                <a:cs typeface="Cambria Math"/>
              </a:rPr>
              <a:t>(𝑌</a:t>
            </a:r>
            <a:r>
              <a:rPr dirty="0" baseline="-14957" sz="1950" spc="150">
                <a:latin typeface="Cambria Math"/>
                <a:cs typeface="Cambria Math"/>
              </a:rPr>
              <a:t>"</a:t>
            </a:r>
            <a:r>
              <a:rPr dirty="0" sz="1800" spc="1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4660965" y="1273555"/>
            <a:ext cx="42964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008000"/>
                </a:solidFill>
                <a:latin typeface="Calibri"/>
                <a:cs typeface="Calibri"/>
              </a:rPr>
              <a:t>Beliefs </a:t>
            </a:r>
            <a:r>
              <a:rPr dirty="0" sz="3000" spc="-25" b="1">
                <a:solidFill>
                  <a:srgbClr val="008000"/>
                </a:solidFill>
                <a:latin typeface="Calibri"/>
                <a:cs typeface="Calibri"/>
              </a:rPr>
              <a:t>may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not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008000"/>
                </a:solidFill>
                <a:latin typeface="Calibri"/>
                <a:cs typeface="Calibri"/>
              </a:rPr>
              <a:t>converge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0965" y="1729740"/>
            <a:ext cx="4328795" cy="46228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625475" marR="5080" indent="-274320">
              <a:lnSpc>
                <a:spcPct val="8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Message </a:t>
            </a:r>
            <a:r>
              <a:rPr dirty="0" sz="2600" spc="35">
                <a:latin typeface="Cambria Math"/>
                <a:cs typeface="Cambria Math"/>
              </a:rPr>
              <a:t>𝑚</a:t>
            </a:r>
            <a:r>
              <a:rPr dirty="0" baseline="-16081" sz="2850" spc="52">
                <a:latin typeface="Cambria Math"/>
                <a:cs typeface="Cambria Math"/>
              </a:rPr>
              <a:t>9→;</a:t>
            </a:r>
            <a:r>
              <a:rPr dirty="0" sz="2600" spc="35">
                <a:latin typeface="Cambria Math"/>
                <a:cs typeface="Cambria Math"/>
              </a:rPr>
              <a:t>(𝑌</a:t>
            </a:r>
            <a:r>
              <a:rPr dirty="0" baseline="-16081" sz="2850" spc="52">
                <a:latin typeface="Cambria Math"/>
                <a:cs typeface="Cambria Math"/>
              </a:rPr>
              <a:t>;</a:t>
            </a:r>
            <a:r>
              <a:rPr dirty="0" sz="2600" spc="35">
                <a:latin typeface="Cambria Math"/>
                <a:cs typeface="Cambria Math"/>
              </a:rPr>
              <a:t>)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10">
                <a:latin typeface="Calibri"/>
                <a:cs typeface="Calibri"/>
              </a:rPr>
              <a:t>based  </a:t>
            </a:r>
            <a:r>
              <a:rPr dirty="0" sz="2600">
                <a:latin typeface="Calibri"/>
                <a:cs typeface="Calibri"/>
              </a:rPr>
              <a:t>on </a:t>
            </a:r>
            <a:r>
              <a:rPr dirty="0" sz="2600" spc="-5">
                <a:latin typeface="Calibri"/>
                <a:cs typeface="Calibri"/>
              </a:rPr>
              <a:t>initial </a:t>
            </a:r>
            <a:r>
              <a:rPr dirty="0" sz="2600" spc="-10">
                <a:latin typeface="Calibri"/>
                <a:cs typeface="Calibri"/>
              </a:rPr>
              <a:t>belief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30">
                <a:latin typeface="Cambria Math"/>
                <a:cs typeface="Cambria Math"/>
              </a:rPr>
              <a:t>𝑖</a:t>
            </a:r>
            <a:r>
              <a:rPr dirty="0" sz="2600" spc="30">
                <a:latin typeface="Calibri"/>
                <a:cs typeface="Calibri"/>
              </a:rPr>
              <a:t>, </a:t>
            </a:r>
            <a:r>
              <a:rPr dirty="0" sz="2600" spc="-5">
                <a:latin typeface="Calibri"/>
                <a:cs typeface="Calibri"/>
              </a:rPr>
              <a:t>not </a:t>
            </a:r>
            <a:r>
              <a:rPr dirty="0" sz="2600">
                <a:latin typeface="Calibri"/>
                <a:cs typeface="Calibri"/>
              </a:rPr>
              <a:t>a  </a:t>
            </a:r>
            <a:r>
              <a:rPr dirty="0" sz="2600" spc="-15" b="1">
                <a:latin typeface="Calibri"/>
                <a:cs typeface="Calibri"/>
              </a:rPr>
              <a:t>separate </a:t>
            </a:r>
            <a:r>
              <a:rPr dirty="0" sz="2600" spc="-5" b="1">
                <a:latin typeface="Calibri"/>
                <a:cs typeface="Calibri"/>
              </a:rPr>
              <a:t>evidence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𝑖</a:t>
            </a:r>
            <a:endParaRPr sz="2600">
              <a:latin typeface="Cambria Math"/>
              <a:cs typeface="Cambria Math"/>
            </a:endParaRPr>
          </a:p>
          <a:p>
            <a:pPr marL="625475" marR="39370" indent="-274320">
              <a:lnSpc>
                <a:spcPct val="8040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initial </a:t>
            </a:r>
            <a:r>
              <a:rPr dirty="0" sz="2600" spc="-10">
                <a:latin typeface="Calibri"/>
                <a:cs typeface="Calibri"/>
              </a:rPr>
              <a:t>belief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>
                <a:latin typeface="Cambria Math"/>
                <a:cs typeface="Cambria Math"/>
              </a:rPr>
              <a:t>𝑖 </a:t>
            </a:r>
            <a:r>
              <a:rPr dirty="0" sz="2600" spc="-70">
                <a:latin typeface="Calibri"/>
                <a:cs typeface="Calibri"/>
              </a:rPr>
              <a:t>(which  </a:t>
            </a:r>
            <a:r>
              <a:rPr dirty="0" sz="2600" spc="-10">
                <a:latin typeface="Calibri"/>
                <a:cs typeface="Calibri"/>
              </a:rPr>
              <a:t>could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0">
                <a:latin typeface="Calibri"/>
                <a:cs typeface="Calibri"/>
              </a:rPr>
              <a:t>incorrect) </a:t>
            </a:r>
            <a:r>
              <a:rPr dirty="0" sz="2600">
                <a:latin typeface="Calibri"/>
                <a:cs typeface="Calibri"/>
              </a:rPr>
              <a:t>is  </a:t>
            </a:r>
            <a:r>
              <a:rPr dirty="0" sz="2600" spc="-20">
                <a:latin typeface="Calibri"/>
                <a:cs typeface="Calibri"/>
              </a:rPr>
              <a:t>reinforced </a:t>
            </a:r>
            <a:r>
              <a:rPr dirty="0" sz="2600" spc="-10">
                <a:latin typeface="Calibri"/>
                <a:cs typeface="Calibri"/>
              </a:rPr>
              <a:t>by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cycle</a:t>
            </a:r>
            <a:endParaRPr sz="2600">
              <a:latin typeface="Calibri"/>
              <a:cs typeface="Calibri"/>
            </a:endParaRPr>
          </a:p>
          <a:p>
            <a:pPr marL="625475">
              <a:lnSpc>
                <a:spcPts val="2495"/>
              </a:lnSpc>
            </a:pPr>
            <a:r>
              <a:rPr dirty="0" sz="2600">
                <a:latin typeface="Cambria Math"/>
                <a:cs typeface="Cambria Math"/>
              </a:rPr>
              <a:t>𝑖  → 𝑗 → 𝑘 → 𝑢 → </a:t>
            </a:r>
            <a:r>
              <a:rPr dirty="0" sz="2600" spc="18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𝑖</a:t>
            </a: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Times New Roman"/>
              <a:cs typeface="Times New Roman"/>
            </a:endParaRPr>
          </a:p>
          <a:p>
            <a:pPr marL="332740" marR="486409" indent="-320040">
              <a:lnSpc>
                <a:spcPct val="79800"/>
              </a:lnSpc>
              <a:spcBef>
                <a:spcPts val="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5">
                <a:latin typeface="Calibri"/>
                <a:cs typeface="Calibri"/>
              </a:rPr>
              <a:t>However, </a:t>
            </a:r>
            <a:r>
              <a:rPr dirty="0" sz="3000" spc="-5">
                <a:latin typeface="Calibri"/>
                <a:cs typeface="Calibri"/>
              </a:rPr>
              <a:t>in </a:t>
            </a:r>
            <a:r>
              <a:rPr dirty="0" sz="3000" spc="-15">
                <a:latin typeface="Calibri"/>
                <a:cs typeface="Calibri"/>
              </a:rPr>
              <a:t>practice,  </a:t>
            </a:r>
            <a:r>
              <a:rPr dirty="0" sz="3000" spc="-5">
                <a:latin typeface="Calibri"/>
                <a:cs typeface="Calibri"/>
              </a:rPr>
              <a:t>Loopy </a:t>
            </a:r>
            <a:r>
              <a:rPr dirty="0" sz="3000">
                <a:latin typeface="Calibri"/>
                <a:cs typeface="Calibri"/>
              </a:rPr>
              <a:t>BP </a:t>
            </a:r>
            <a:r>
              <a:rPr dirty="0" sz="3000" spc="-5">
                <a:latin typeface="Calibri"/>
                <a:cs typeface="Calibri"/>
              </a:rPr>
              <a:t>is </a:t>
            </a:r>
            <a:r>
              <a:rPr dirty="0" sz="3000" spc="-10">
                <a:latin typeface="Calibri"/>
                <a:cs typeface="Calibri"/>
              </a:rPr>
              <a:t>still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good  heuristic </a:t>
            </a:r>
            <a:r>
              <a:rPr dirty="0" sz="3000" spc="-25">
                <a:latin typeface="Calibri"/>
                <a:cs typeface="Calibri"/>
              </a:rPr>
              <a:t>for </a:t>
            </a:r>
            <a:r>
              <a:rPr dirty="0" sz="3000" spc="-15">
                <a:latin typeface="Calibri"/>
                <a:cs typeface="Calibri"/>
              </a:rPr>
              <a:t>complex  graphs </a:t>
            </a:r>
            <a:r>
              <a:rPr dirty="0" sz="3000" spc="-5">
                <a:latin typeface="Calibri"/>
                <a:cs typeface="Calibri"/>
              </a:rPr>
              <a:t>which </a:t>
            </a:r>
            <a:r>
              <a:rPr dirty="0" sz="3000" spc="-20">
                <a:latin typeface="Calibri"/>
                <a:cs typeface="Calibri"/>
              </a:rPr>
              <a:t>contain  </a:t>
            </a:r>
            <a:r>
              <a:rPr dirty="0" sz="3000" spc="-15">
                <a:latin typeface="Calibri"/>
                <a:cs typeface="Calibri"/>
              </a:rPr>
              <a:t>many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branches.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5165" y="5705475"/>
            <a:ext cx="4700905" cy="914400"/>
          </a:xfrm>
          <a:prstGeom prst="rect">
            <a:avLst/>
          </a:prstGeom>
          <a:solidFill>
            <a:srgbClr val="E8B6B5"/>
          </a:solidFill>
          <a:ln w="9525">
            <a:solidFill>
              <a:srgbClr val="C64847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86360" marR="316230">
              <a:lnSpc>
                <a:spcPct val="99400"/>
              </a:lnSpc>
              <a:spcBef>
                <a:spcPts val="240"/>
              </a:spcBef>
            </a:pP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This is </a:t>
            </a:r>
            <a:r>
              <a:rPr dirty="0" sz="1800">
                <a:solidFill>
                  <a:srgbClr val="5A6378"/>
                </a:solidFill>
                <a:latin typeface="Calibri"/>
                <a:cs typeface="Calibri"/>
              </a:rPr>
              <a:t>an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extreme example. Often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in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practice, 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cyclic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influences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are weak.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(As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cycles are 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long </a:t>
            </a:r>
            <a:r>
              <a:rPr dirty="0" sz="1800">
                <a:solidFill>
                  <a:srgbClr val="5A6378"/>
                </a:solidFill>
                <a:latin typeface="Calibri"/>
                <a:cs typeface="Calibri"/>
              </a:rPr>
              <a:t>or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include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at least </a:t>
            </a:r>
            <a:r>
              <a:rPr dirty="0" sz="1800">
                <a:solidFill>
                  <a:srgbClr val="5A6378"/>
                </a:solidFill>
                <a:latin typeface="Calibri"/>
                <a:cs typeface="Calibri"/>
              </a:rPr>
              <a:t>one </a:t>
            </a:r>
            <a:r>
              <a:rPr dirty="0" sz="1800" spc="-5">
                <a:solidFill>
                  <a:srgbClr val="5A6378"/>
                </a:solidFill>
                <a:latin typeface="Calibri"/>
                <a:cs typeface="Calibri"/>
              </a:rPr>
              <a:t>weak</a:t>
            </a:r>
            <a:r>
              <a:rPr dirty="0" sz="1800" spc="75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6378"/>
                </a:solidFill>
                <a:latin typeface="Calibri"/>
                <a:cs typeface="Calibri"/>
              </a:rPr>
              <a:t>correlation.)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91550" y="3328229"/>
            <a:ext cx="1325880" cy="1360805"/>
          </a:xfrm>
          <a:custGeom>
            <a:avLst/>
            <a:gdLst/>
            <a:ahLst/>
            <a:cxnLst/>
            <a:rect l="l" t="t" r="r" b="b"/>
            <a:pathLst>
              <a:path w="1325879" h="1360804">
                <a:moveTo>
                  <a:pt x="37443" y="468124"/>
                </a:moveTo>
                <a:lnTo>
                  <a:pt x="54669" y="422488"/>
                </a:lnTo>
                <a:lnTo>
                  <a:pt x="74668" y="378770"/>
                </a:lnTo>
                <a:lnTo>
                  <a:pt x="97298" y="337042"/>
                </a:lnTo>
                <a:lnTo>
                  <a:pt x="122414" y="297379"/>
                </a:lnTo>
                <a:lnTo>
                  <a:pt x="149875" y="259853"/>
                </a:lnTo>
                <a:lnTo>
                  <a:pt x="179536" y="224539"/>
                </a:lnTo>
                <a:lnTo>
                  <a:pt x="211257" y="191509"/>
                </a:lnTo>
                <a:lnTo>
                  <a:pt x="244892" y="160838"/>
                </a:lnTo>
                <a:lnTo>
                  <a:pt x="280300" y="132598"/>
                </a:lnTo>
                <a:lnTo>
                  <a:pt x="317338" y="106864"/>
                </a:lnTo>
                <a:lnTo>
                  <a:pt x="355862" y="83709"/>
                </a:lnTo>
                <a:lnTo>
                  <a:pt x="395730" y="63205"/>
                </a:lnTo>
                <a:lnTo>
                  <a:pt x="436799" y="45428"/>
                </a:lnTo>
                <a:lnTo>
                  <a:pt x="478925" y="30450"/>
                </a:lnTo>
                <a:lnTo>
                  <a:pt x="521967" y="18344"/>
                </a:lnTo>
                <a:lnTo>
                  <a:pt x="565780" y="9185"/>
                </a:lnTo>
                <a:lnTo>
                  <a:pt x="610222" y="3046"/>
                </a:lnTo>
                <a:lnTo>
                  <a:pt x="655151" y="0"/>
                </a:lnTo>
                <a:lnTo>
                  <a:pt x="700423" y="120"/>
                </a:lnTo>
                <a:lnTo>
                  <a:pt x="745895" y="3481"/>
                </a:lnTo>
                <a:lnTo>
                  <a:pt x="791424" y="10156"/>
                </a:lnTo>
                <a:lnTo>
                  <a:pt x="836868" y="20218"/>
                </a:lnTo>
                <a:lnTo>
                  <a:pt x="882083" y="33741"/>
                </a:lnTo>
                <a:lnTo>
                  <a:pt x="926198" y="50511"/>
                </a:lnTo>
                <a:lnTo>
                  <a:pt x="968388" y="70166"/>
                </a:lnTo>
                <a:lnTo>
                  <a:pt x="1008587" y="92562"/>
                </a:lnTo>
                <a:lnTo>
                  <a:pt x="1046724" y="117553"/>
                </a:lnTo>
                <a:lnTo>
                  <a:pt x="1082731" y="144995"/>
                </a:lnTo>
                <a:lnTo>
                  <a:pt x="1116539" y="174741"/>
                </a:lnTo>
                <a:lnTo>
                  <a:pt x="1148080" y="206647"/>
                </a:lnTo>
                <a:lnTo>
                  <a:pt x="1177285" y="240568"/>
                </a:lnTo>
                <a:lnTo>
                  <a:pt x="1204085" y="276357"/>
                </a:lnTo>
                <a:lnTo>
                  <a:pt x="1228411" y="313870"/>
                </a:lnTo>
                <a:lnTo>
                  <a:pt x="1250195" y="352961"/>
                </a:lnTo>
                <a:lnTo>
                  <a:pt x="1269368" y="393485"/>
                </a:lnTo>
                <a:lnTo>
                  <a:pt x="1285861" y="435298"/>
                </a:lnTo>
                <a:lnTo>
                  <a:pt x="1299606" y="478253"/>
                </a:lnTo>
                <a:lnTo>
                  <a:pt x="1310533" y="522205"/>
                </a:lnTo>
                <a:lnTo>
                  <a:pt x="1318574" y="567009"/>
                </a:lnTo>
                <a:lnTo>
                  <a:pt x="1323661" y="612520"/>
                </a:lnTo>
                <a:lnTo>
                  <a:pt x="1325724" y="658593"/>
                </a:lnTo>
                <a:lnTo>
                  <a:pt x="1324694" y="705081"/>
                </a:lnTo>
                <a:lnTo>
                  <a:pt x="1320504" y="751841"/>
                </a:lnTo>
                <a:lnTo>
                  <a:pt x="1313084" y="798726"/>
                </a:lnTo>
                <a:lnTo>
                  <a:pt x="1302366" y="845591"/>
                </a:lnTo>
                <a:lnTo>
                  <a:pt x="1288280" y="892292"/>
                </a:lnTo>
                <a:lnTo>
                  <a:pt x="1271054" y="937927"/>
                </a:lnTo>
                <a:lnTo>
                  <a:pt x="1251055" y="981646"/>
                </a:lnTo>
                <a:lnTo>
                  <a:pt x="1228426" y="1023373"/>
                </a:lnTo>
                <a:lnTo>
                  <a:pt x="1203309" y="1063036"/>
                </a:lnTo>
                <a:lnTo>
                  <a:pt x="1175849" y="1100562"/>
                </a:lnTo>
                <a:lnTo>
                  <a:pt x="1146187" y="1135876"/>
                </a:lnTo>
                <a:lnTo>
                  <a:pt x="1114467" y="1168906"/>
                </a:lnTo>
                <a:lnTo>
                  <a:pt x="1080831" y="1199577"/>
                </a:lnTo>
                <a:lnTo>
                  <a:pt x="1045423" y="1227817"/>
                </a:lnTo>
                <a:lnTo>
                  <a:pt x="1008385" y="1253551"/>
                </a:lnTo>
                <a:lnTo>
                  <a:pt x="969861" y="1276707"/>
                </a:lnTo>
                <a:lnTo>
                  <a:pt x="929993" y="1297210"/>
                </a:lnTo>
                <a:lnTo>
                  <a:pt x="888925" y="1314988"/>
                </a:lnTo>
                <a:lnTo>
                  <a:pt x="846798" y="1329966"/>
                </a:lnTo>
                <a:lnTo>
                  <a:pt x="803757" y="1342071"/>
                </a:lnTo>
                <a:lnTo>
                  <a:pt x="759943" y="1351230"/>
                </a:lnTo>
                <a:lnTo>
                  <a:pt x="715501" y="1357370"/>
                </a:lnTo>
                <a:lnTo>
                  <a:pt x="670572" y="1360416"/>
                </a:lnTo>
                <a:lnTo>
                  <a:pt x="625300" y="1360295"/>
                </a:lnTo>
                <a:lnTo>
                  <a:pt x="579828" y="1356934"/>
                </a:lnTo>
                <a:lnTo>
                  <a:pt x="534299" y="1350259"/>
                </a:lnTo>
                <a:lnTo>
                  <a:pt x="488855" y="1340197"/>
                </a:lnTo>
                <a:lnTo>
                  <a:pt x="443640" y="1326674"/>
                </a:lnTo>
                <a:lnTo>
                  <a:pt x="399526" y="1309905"/>
                </a:lnTo>
                <a:lnTo>
                  <a:pt x="357335" y="1290249"/>
                </a:lnTo>
                <a:lnTo>
                  <a:pt x="317137" y="1267853"/>
                </a:lnTo>
                <a:lnTo>
                  <a:pt x="279000" y="1242862"/>
                </a:lnTo>
                <a:lnTo>
                  <a:pt x="242993" y="1215420"/>
                </a:lnTo>
                <a:lnTo>
                  <a:pt x="209184" y="1185674"/>
                </a:lnTo>
                <a:lnTo>
                  <a:pt x="177643" y="1153768"/>
                </a:lnTo>
                <a:lnTo>
                  <a:pt x="148438" y="1119848"/>
                </a:lnTo>
                <a:lnTo>
                  <a:pt x="121638" y="1084059"/>
                </a:lnTo>
                <a:lnTo>
                  <a:pt x="97312" y="1046546"/>
                </a:lnTo>
                <a:lnTo>
                  <a:pt x="75528" y="1007454"/>
                </a:lnTo>
                <a:lnTo>
                  <a:pt x="56355" y="966930"/>
                </a:lnTo>
                <a:lnTo>
                  <a:pt x="39862" y="925117"/>
                </a:lnTo>
                <a:lnTo>
                  <a:pt x="26117" y="882163"/>
                </a:lnTo>
                <a:lnTo>
                  <a:pt x="15190" y="838210"/>
                </a:lnTo>
                <a:lnTo>
                  <a:pt x="7149" y="793406"/>
                </a:lnTo>
                <a:lnTo>
                  <a:pt x="2062" y="747895"/>
                </a:lnTo>
                <a:lnTo>
                  <a:pt x="0" y="701823"/>
                </a:lnTo>
                <a:lnTo>
                  <a:pt x="1029" y="655334"/>
                </a:lnTo>
                <a:lnTo>
                  <a:pt x="5219" y="608575"/>
                </a:lnTo>
                <a:lnTo>
                  <a:pt x="12639" y="561689"/>
                </a:lnTo>
                <a:lnTo>
                  <a:pt x="23357" y="514824"/>
                </a:lnTo>
                <a:lnTo>
                  <a:pt x="37443" y="468124"/>
                </a:lnTo>
                <a:close/>
              </a:path>
            </a:pathLst>
          </a:custGeom>
          <a:ln w="38099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5591" y="368808"/>
            <a:ext cx="4611624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52775" y="49863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86075" y="49863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71850" y="49863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00362" y="5014912"/>
            <a:ext cx="246379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20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35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9125" y="5014912"/>
            <a:ext cx="198755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820"/>
              </a:lnSpc>
            </a:pPr>
            <a:r>
              <a:rPr dirty="0" sz="1700">
                <a:latin typeface="Candara"/>
                <a:cs typeface="Candara"/>
              </a:rPr>
              <a:t>2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ts val="2035"/>
              </a:lnSpc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30640" y="4952911"/>
            <a:ext cx="171450" cy="600710"/>
          </a:xfrm>
          <a:custGeom>
            <a:avLst/>
            <a:gdLst/>
            <a:ahLst/>
            <a:cxnLst/>
            <a:rect l="l" t="t" r="r" b="b"/>
            <a:pathLst>
              <a:path w="171450" h="600710">
                <a:moveTo>
                  <a:pt x="85573" y="75615"/>
                </a:moveTo>
                <a:lnTo>
                  <a:pt x="66523" y="108272"/>
                </a:lnTo>
                <a:lnTo>
                  <a:pt x="66522" y="600163"/>
                </a:lnTo>
                <a:lnTo>
                  <a:pt x="104622" y="600163"/>
                </a:lnTo>
                <a:lnTo>
                  <a:pt x="104623" y="108272"/>
                </a:lnTo>
                <a:lnTo>
                  <a:pt x="85573" y="75615"/>
                </a:lnTo>
                <a:close/>
              </a:path>
              <a:path w="171450" h="600710">
                <a:moveTo>
                  <a:pt x="107627" y="37807"/>
                </a:moveTo>
                <a:lnTo>
                  <a:pt x="104623" y="37807"/>
                </a:lnTo>
                <a:lnTo>
                  <a:pt x="104623" y="108273"/>
                </a:lnTo>
                <a:lnTo>
                  <a:pt x="135792" y="161706"/>
                </a:lnTo>
                <a:lnTo>
                  <a:pt x="140822" y="167357"/>
                </a:lnTo>
                <a:lnTo>
                  <a:pt x="147399" y="170530"/>
                </a:lnTo>
                <a:lnTo>
                  <a:pt x="154689" y="171005"/>
                </a:lnTo>
                <a:lnTo>
                  <a:pt x="161848" y="168562"/>
                </a:lnTo>
                <a:lnTo>
                  <a:pt x="167498" y="163532"/>
                </a:lnTo>
                <a:lnTo>
                  <a:pt x="170671" y="156955"/>
                </a:lnTo>
                <a:lnTo>
                  <a:pt x="171146" y="149668"/>
                </a:lnTo>
                <a:lnTo>
                  <a:pt x="168703" y="142509"/>
                </a:lnTo>
                <a:lnTo>
                  <a:pt x="107627" y="37807"/>
                </a:lnTo>
                <a:close/>
              </a:path>
              <a:path w="171450" h="600710">
                <a:moveTo>
                  <a:pt x="85573" y="0"/>
                </a:moveTo>
                <a:lnTo>
                  <a:pt x="2442" y="142509"/>
                </a:lnTo>
                <a:lnTo>
                  <a:pt x="0" y="149668"/>
                </a:lnTo>
                <a:lnTo>
                  <a:pt x="475" y="156956"/>
                </a:lnTo>
                <a:lnTo>
                  <a:pt x="3650" y="163534"/>
                </a:lnTo>
                <a:lnTo>
                  <a:pt x="9303" y="168563"/>
                </a:lnTo>
                <a:lnTo>
                  <a:pt x="16459" y="171005"/>
                </a:lnTo>
                <a:lnTo>
                  <a:pt x="23746" y="170530"/>
                </a:lnTo>
                <a:lnTo>
                  <a:pt x="30323" y="167357"/>
                </a:lnTo>
                <a:lnTo>
                  <a:pt x="35353" y="161706"/>
                </a:lnTo>
                <a:lnTo>
                  <a:pt x="66523" y="108273"/>
                </a:lnTo>
                <a:lnTo>
                  <a:pt x="66523" y="37807"/>
                </a:lnTo>
                <a:lnTo>
                  <a:pt x="107627" y="37807"/>
                </a:lnTo>
                <a:lnTo>
                  <a:pt x="85573" y="0"/>
                </a:lnTo>
                <a:close/>
              </a:path>
              <a:path w="171450" h="600710">
                <a:moveTo>
                  <a:pt x="104623" y="37807"/>
                </a:moveTo>
                <a:lnTo>
                  <a:pt x="66523" y="37807"/>
                </a:lnTo>
                <a:lnTo>
                  <a:pt x="66523" y="108273"/>
                </a:lnTo>
                <a:lnTo>
                  <a:pt x="85573" y="75615"/>
                </a:lnTo>
                <a:lnTo>
                  <a:pt x="69117" y="47406"/>
                </a:lnTo>
                <a:lnTo>
                  <a:pt x="104623" y="47406"/>
                </a:lnTo>
                <a:lnTo>
                  <a:pt x="104623" y="37807"/>
                </a:lnTo>
                <a:close/>
              </a:path>
              <a:path w="171450" h="600710">
                <a:moveTo>
                  <a:pt x="104623" y="47406"/>
                </a:moveTo>
                <a:lnTo>
                  <a:pt x="102028" y="47406"/>
                </a:lnTo>
                <a:lnTo>
                  <a:pt x="85573" y="75615"/>
                </a:lnTo>
                <a:lnTo>
                  <a:pt x="104623" y="108272"/>
                </a:lnTo>
                <a:lnTo>
                  <a:pt x="104623" y="47406"/>
                </a:lnTo>
                <a:close/>
              </a:path>
              <a:path w="171450" h="600710">
                <a:moveTo>
                  <a:pt x="102028" y="47406"/>
                </a:moveTo>
                <a:lnTo>
                  <a:pt x="69117" y="47406"/>
                </a:lnTo>
                <a:lnTo>
                  <a:pt x="85573" y="75615"/>
                </a:lnTo>
                <a:lnTo>
                  <a:pt x="102028" y="47406"/>
                </a:lnTo>
                <a:close/>
              </a:path>
            </a:pathLst>
          </a:custGeom>
          <a:solidFill>
            <a:srgbClr val="84A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05237" y="36941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38537" y="36941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24312" y="36941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52825" y="3722687"/>
            <a:ext cx="246379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20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35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1587" y="3722687"/>
            <a:ext cx="198755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820"/>
              </a:lnSpc>
            </a:pPr>
            <a:r>
              <a:rPr dirty="0" sz="1700">
                <a:latin typeface="Candara"/>
                <a:cs typeface="Candara"/>
              </a:rPr>
              <a:t>2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ts val="2035"/>
              </a:lnSpc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17776" y="3647563"/>
            <a:ext cx="382270" cy="396240"/>
          </a:xfrm>
          <a:custGeom>
            <a:avLst/>
            <a:gdLst/>
            <a:ahLst/>
            <a:cxnLst/>
            <a:rect l="l" t="t" r="r" b="b"/>
            <a:pathLst>
              <a:path w="382270" h="396239">
                <a:moveTo>
                  <a:pt x="54393" y="221232"/>
                </a:moveTo>
                <a:lnTo>
                  <a:pt x="47545" y="223770"/>
                </a:lnTo>
                <a:lnTo>
                  <a:pt x="42149" y="228690"/>
                </a:lnTo>
                <a:lnTo>
                  <a:pt x="38944" y="235543"/>
                </a:lnTo>
                <a:lnTo>
                  <a:pt x="0" y="395862"/>
                </a:lnTo>
                <a:lnTo>
                  <a:pt x="49456" y="381836"/>
                </a:lnTo>
                <a:lnTo>
                  <a:pt x="39945" y="381836"/>
                </a:lnTo>
                <a:lnTo>
                  <a:pt x="12496" y="355413"/>
                </a:lnTo>
                <a:lnTo>
                  <a:pt x="61365" y="304649"/>
                </a:lnTo>
                <a:lnTo>
                  <a:pt x="75967" y="244535"/>
                </a:lnTo>
                <a:lnTo>
                  <a:pt x="76262" y="236977"/>
                </a:lnTo>
                <a:lnTo>
                  <a:pt x="73725" y="230129"/>
                </a:lnTo>
                <a:lnTo>
                  <a:pt x="68804" y="224732"/>
                </a:lnTo>
                <a:lnTo>
                  <a:pt x="61951" y="221527"/>
                </a:lnTo>
                <a:lnTo>
                  <a:pt x="54393" y="221232"/>
                </a:lnTo>
                <a:close/>
              </a:path>
              <a:path w="382270" h="396239">
                <a:moveTo>
                  <a:pt x="61365" y="304649"/>
                </a:moveTo>
                <a:lnTo>
                  <a:pt x="12496" y="355413"/>
                </a:lnTo>
                <a:lnTo>
                  <a:pt x="39945" y="381836"/>
                </a:lnTo>
                <a:lnTo>
                  <a:pt x="48334" y="373122"/>
                </a:lnTo>
                <a:lnTo>
                  <a:pt x="44731" y="373122"/>
                </a:lnTo>
                <a:lnTo>
                  <a:pt x="21022" y="350299"/>
                </a:lnTo>
                <a:lnTo>
                  <a:pt x="52440" y="341388"/>
                </a:lnTo>
                <a:lnTo>
                  <a:pt x="61365" y="304649"/>
                </a:lnTo>
                <a:close/>
              </a:path>
              <a:path w="382270" h="396239">
                <a:moveTo>
                  <a:pt x="155869" y="313611"/>
                </a:moveTo>
                <a:lnTo>
                  <a:pt x="148327" y="314194"/>
                </a:lnTo>
                <a:lnTo>
                  <a:pt x="88813" y="331072"/>
                </a:lnTo>
                <a:lnTo>
                  <a:pt x="39945" y="381836"/>
                </a:lnTo>
                <a:lnTo>
                  <a:pt x="49456" y="381836"/>
                </a:lnTo>
                <a:lnTo>
                  <a:pt x="158723" y="350848"/>
                </a:lnTo>
                <a:lnTo>
                  <a:pt x="165448" y="347385"/>
                </a:lnTo>
                <a:lnTo>
                  <a:pt x="170159" y="341805"/>
                </a:lnTo>
                <a:lnTo>
                  <a:pt x="172435" y="334865"/>
                </a:lnTo>
                <a:lnTo>
                  <a:pt x="171852" y="327323"/>
                </a:lnTo>
                <a:lnTo>
                  <a:pt x="168389" y="320598"/>
                </a:lnTo>
                <a:lnTo>
                  <a:pt x="162809" y="315886"/>
                </a:lnTo>
                <a:lnTo>
                  <a:pt x="155869" y="313611"/>
                </a:lnTo>
                <a:close/>
              </a:path>
              <a:path w="382270" h="396239">
                <a:moveTo>
                  <a:pt x="52440" y="341388"/>
                </a:moveTo>
                <a:lnTo>
                  <a:pt x="21022" y="350299"/>
                </a:lnTo>
                <a:lnTo>
                  <a:pt x="44731" y="373122"/>
                </a:lnTo>
                <a:lnTo>
                  <a:pt x="52440" y="341388"/>
                </a:lnTo>
                <a:close/>
              </a:path>
              <a:path w="382270" h="396239">
                <a:moveTo>
                  <a:pt x="88813" y="331072"/>
                </a:moveTo>
                <a:lnTo>
                  <a:pt x="52440" y="341388"/>
                </a:lnTo>
                <a:lnTo>
                  <a:pt x="44731" y="373122"/>
                </a:lnTo>
                <a:lnTo>
                  <a:pt x="48334" y="373122"/>
                </a:lnTo>
                <a:lnTo>
                  <a:pt x="88813" y="331072"/>
                </a:lnTo>
                <a:close/>
              </a:path>
              <a:path w="382270" h="396239">
                <a:moveTo>
                  <a:pt x="354637" y="0"/>
                </a:moveTo>
                <a:lnTo>
                  <a:pt x="61365" y="304649"/>
                </a:lnTo>
                <a:lnTo>
                  <a:pt x="52440" y="341388"/>
                </a:lnTo>
                <a:lnTo>
                  <a:pt x="88813" y="331072"/>
                </a:lnTo>
                <a:lnTo>
                  <a:pt x="382085" y="26423"/>
                </a:lnTo>
                <a:lnTo>
                  <a:pt x="354637" y="0"/>
                </a:lnTo>
                <a:close/>
              </a:path>
            </a:pathLst>
          </a:custGeom>
          <a:solidFill>
            <a:srgbClr val="84A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90625" y="1219200"/>
            <a:ext cx="219075" cy="259079"/>
          </a:xfrm>
          <a:custGeom>
            <a:avLst/>
            <a:gdLst/>
            <a:ahLst/>
            <a:cxnLst/>
            <a:rect l="l" t="t" r="r" b="b"/>
            <a:pathLst>
              <a:path w="219075" h="259080">
                <a:moveTo>
                  <a:pt x="0" y="259079"/>
                </a:moveTo>
                <a:lnTo>
                  <a:pt x="219075" y="259079"/>
                </a:lnTo>
                <a:lnTo>
                  <a:pt x="219075" y="0"/>
                </a:lnTo>
                <a:lnTo>
                  <a:pt x="0" y="0"/>
                </a:lnTo>
                <a:lnTo>
                  <a:pt x="0" y="259079"/>
                </a:lnTo>
                <a:close/>
              </a:path>
            </a:pathLst>
          </a:custGeom>
          <a:solidFill>
            <a:srgbClr val="168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90625" y="1478280"/>
            <a:ext cx="219075" cy="259079"/>
          </a:xfrm>
          <a:custGeom>
            <a:avLst/>
            <a:gdLst/>
            <a:ahLst/>
            <a:cxnLst/>
            <a:rect l="l" t="t" r="r" b="b"/>
            <a:pathLst>
              <a:path w="219075" h="259080">
                <a:moveTo>
                  <a:pt x="0" y="259079"/>
                </a:moveTo>
                <a:lnTo>
                  <a:pt x="219075" y="259079"/>
                </a:lnTo>
                <a:lnTo>
                  <a:pt x="219075" y="0"/>
                </a:lnTo>
                <a:lnTo>
                  <a:pt x="0" y="0"/>
                </a:lnTo>
                <a:lnTo>
                  <a:pt x="0" y="259079"/>
                </a:lnTo>
                <a:close/>
              </a:path>
            </a:pathLst>
          </a:custGeom>
          <a:solidFill>
            <a:srgbClr val="168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90625" y="12049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23925" y="12049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09700" y="12049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38212" y="1233487"/>
            <a:ext cx="246379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35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20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6975" y="1194816"/>
            <a:ext cx="19875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Candara"/>
                <a:cs typeface="Candara"/>
              </a:rPr>
              <a:t>2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ct val="100000"/>
              </a:lnSpc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91201" y="1676336"/>
            <a:ext cx="382270" cy="396240"/>
          </a:xfrm>
          <a:custGeom>
            <a:avLst/>
            <a:gdLst/>
            <a:ahLst/>
            <a:cxnLst/>
            <a:rect l="l" t="t" r="r" b="b"/>
            <a:pathLst>
              <a:path w="382269" h="396239">
                <a:moveTo>
                  <a:pt x="329643" y="54475"/>
                </a:moveTo>
                <a:lnTo>
                  <a:pt x="293271" y="64790"/>
                </a:lnTo>
                <a:lnTo>
                  <a:pt x="0" y="369439"/>
                </a:lnTo>
                <a:lnTo>
                  <a:pt x="27447" y="395862"/>
                </a:lnTo>
                <a:lnTo>
                  <a:pt x="320719" y="91213"/>
                </a:lnTo>
                <a:lnTo>
                  <a:pt x="329643" y="54475"/>
                </a:lnTo>
                <a:close/>
              </a:path>
              <a:path w="382269" h="396239">
                <a:moveTo>
                  <a:pt x="378677" y="14027"/>
                </a:moveTo>
                <a:lnTo>
                  <a:pt x="342139" y="14027"/>
                </a:lnTo>
                <a:lnTo>
                  <a:pt x="369587" y="40449"/>
                </a:lnTo>
                <a:lnTo>
                  <a:pt x="320719" y="91213"/>
                </a:lnTo>
                <a:lnTo>
                  <a:pt x="306116" y="151326"/>
                </a:lnTo>
                <a:lnTo>
                  <a:pt x="305821" y="158885"/>
                </a:lnTo>
                <a:lnTo>
                  <a:pt x="308359" y="165733"/>
                </a:lnTo>
                <a:lnTo>
                  <a:pt x="313280" y="171130"/>
                </a:lnTo>
                <a:lnTo>
                  <a:pt x="320132" y="174335"/>
                </a:lnTo>
                <a:lnTo>
                  <a:pt x="327691" y="174630"/>
                </a:lnTo>
                <a:lnTo>
                  <a:pt x="334539" y="172092"/>
                </a:lnTo>
                <a:lnTo>
                  <a:pt x="339935" y="167172"/>
                </a:lnTo>
                <a:lnTo>
                  <a:pt x="343141" y="160319"/>
                </a:lnTo>
                <a:lnTo>
                  <a:pt x="378677" y="14027"/>
                </a:lnTo>
                <a:close/>
              </a:path>
              <a:path w="382269" h="396239">
                <a:moveTo>
                  <a:pt x="351191" y="22740"/>
                </a:moveTo>
                <a:lnTo>
                  <a:pt x="337352" y="22740"/>
                </a:lnTo>
                <a:lnTo>
                  <a:pt x="361062" y="45565"/>
                </a:lnTo>
                <a:lnTo>
                  <a:pt x="329643" y="54475"/>
                </a:lnTo>
                <a:lnTo>
                  <a:pt x="320719" y="91213"/>
                </a:lnTo>
                <a:lnTo>
                  <a:pt x="369587" y="40449"/>
                </a:lnTo>
                <a:lnTo>
                  <a:pt x="351191" y="22740"/>
                </a:lnTo>
                <a:close/>
              </a:path>
              <a:path w="382269" h="396239">
                <a:moveTo>
                  <a:pt x="382084" y="0"/>
                </a:moveTo>
                <a:lnTo>
                  <a:pt x="223362" y="45015"/>
                </a:lnTo>
                <a:lnTo>
                  <a:pt x="216637" y="48478"/>
                </a:lnTo>
                <a:lnTo>
                  <a:pt x="211925" y="54057"/>
                </a:lnTo>
                <a:lnTo>
                  <a:pt x="209649" y="60997"/>
                </a:lnTo>
                <a:lnTo>
                  <a:pt x="210231" y="68539"/>
                </a:lnTo>
                <a:lnTo>
                  <a:pt x="213695" y="75264"/>
                </a:lnTo>
                <a:lnTo>
                  <a:pt x="219275" y="79976"/>
                </a:lnTo>
                <a:lnTo>
                  <a:pt x="226215" y="82251"/>
                </a:lnTo>
                <a:lnTo>
                  <a:pt x="233757" y="81668"/>
                </a:lnTo>
                <a:lnTo>
                  <a:pt x="293271" y="64790"/>
                </a:lnTo>
                <a:lnTo>
                  <a:pt x="342139" y="14027"/>
                </a:lnTo>
                <a:lnTo>
                  <a:pt x="378677" y="14027"/>
                </a:lnTo>
                <a:lnTo>
                  <a:pt x="382084" y="0"/>
                </a:lnTo>
                <a:close/>
              </a:path>
              <a:path w="382269" h="396239">
                <a:moveTo>
                  <a:pt x="342139" y="14027"/>
                </a:moveTo>
                <a:lnTo>
                  <a:pt x="293271" y="64790"/>
                </a:lnTo>
                <a:lnTo>
                  <a:pt x="329643" y="54475"/>
                </a:lnTo>
                <a:lnTo>
                  <a:pt x="337352" y="22740"/>
                </a:lnTo>
                <a:lnTo>
                  <a:pt x="351191" y="22740"/>
                </a:lnTo>
                <a:lnTo>
                  <a:pt x="342139" y="14027"/>
                </a:lnTo>
                <a:close/>
              </a:path>
              <a:path w="382269" h="396239">
                <a:moveTo>
                  <a:pt x="337352" y="22740"/>
                </a:moveTo>
                <a:lnTo>
                  <a:pt x="329643" y="54475"/>
                </a:lnTo>
                <a:lnTo>
                  <a:pt x="361062" y="45565"/>
                </a:lnTo>
                <a:lnTo>
                  <a:pt x="337352" y="22740"/>
                </a:lnTo>
                <a:close/>
              </a:path>
            </a:pathLst>
          </a:custGeom>
          <a:solidFill>
            <a:srgbClr val="84A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91400" y="1739388"/>
            <a:ext cx="382270" cy="396240"/>
          </a:xfrm>
          <a:custGeom>
            <a:avLst/>
            <a:gdLst/>
            <a:ahLst/>
            <a:cxnLst/>
            <a:rect l="l" t="t" r="r" b="b"/>
            <a:pathLst>
              <a:path w="382270" h="396239">
                <a:moveTo>
                  <a:pt x="226216" y="313611"/>
                </a:moveTo>
                <a:lnTo>
                  <a:pt x="219277" y="315886"/>
                </a:lnTo>
                <a:lnTo>
                  <a:pt x="213697" y="320598"/>
                </a:lnTo>
                <a:lnTo>
                  <a:pt x="210233" y="327323"/>
                </a:lnTo>
                <a:lnTo>
                  <a:pt x="209650" y="334865"/>
                </a:lnTo>
                <a:lnTo>
                  <a:pt x="211926" y="341805"/>
                </a:lnTo>
                <a:lnTo>
                  <a:pt x="216638" y="347385"/>
                </a:lnTo>
                <a:lnTo>
                  <a:pt x="223363" y="350848"/>
                </a:lnTo>
                <a:lnTo>
                  <a:pt x="382085" y="395862"/>
                </a:lnTo>
                <a:lnTo>
                  <a:pt x="378678" y="381836"/>
                </a:lnTo>
                <a:lnTo>
                  <a:pt x="342140" y="381836"/>
                </a:lnTo>
                <a:lnTo>
                  <a:pt x="293272" y="331072"/>
                </a:lnTo>
                <a:lnTo>
                  <a:pt x="233758" y="314194"/>
                </a:lnTo>
                <a:lnTo>
                  <a:pt x="226216" y="313611"/>
                </a:lnTo>
                <a:close/>
              </a:path>
              <a:path w="382270" h="396239">
                <a:moveTo>
                  <a:pt x="293272" y="331072"/>
                </a:moveTo>
                <a:lnTo>
                  <a:pt x="342140" y="381836"/>
                </a:lnTo>
                <a:lnTo>
                  <a:pt x="351193" y="373122"/>
                </a:lnTo>
                <a:lnTo>
                  <a:pt x="337353" y="373122"/>
                </a:lnTo>
                <a:lnTo>
                  <a:pt x="329645" y="341388"/>
                </a:lnTo>
                <a:lnTo>
                  <a:pt x="293272" y="331072"/>
                </a:lnTo>
                <a:close/>
              </a:path>
              <a:path w="382270" h="396239">
                <a:moveTo>
                  <a:pt x="327692" y="221232"/>
                </a:moveTo>
                <a:lnTo>
                  <a:pt x="320133" y="221527"/>
                </a:lnTo>
                <a:lnTo>
                  <a:pt x="313281" y="224732"/>
                </a:lnTo>
                <a:lnTo>
                  <a:pt x="308361" y="230129"/>
                </a:lnTo>
                <a:lnTo>
                  <a:pt x="305823" y="236977"/>
                </a:lnTo>
                <a:lnTo>
                  <a:pt x="306118" y="244535"/>
                </a:lnTo>
                <a:lnTo>
                  <a:pt x="320720" y="304649"/>
                </a:lnTo>
                <a:lnTo>
                  <a:pt x="369589" y="355413"/>
                </a:lnTo>
                <a:lnTo>
                  <a:pt x="342140" y="381836"/>
                </a:lnTo>
                <a:lnTo>
                  <a:pt x="378678" y="381836"/>
                </a:lnTo>
                <a:lnTo>
                  <a:pt x="343142" y="235543"/>
                </a:lnTo>
                <a:lnTo>
                  <a:pt x="339937" y="228690"/>
                </a:lnTo>
                <a:lnTo>
                  <a:pt x="334540" y="223770"/>
                </a:lnTo>
                <a:lnTo>
                  <a:pt x="327692" y="221232"/>
                </a:lnTo>
                <a:close/>
              </a:path>
              <a:path w="382270" h="396239">
                <a:moveTo>
                  <a:pt x="329645" y="341388"/>
                </a:moveTo>
                <a:lnTo>
                  <a:pt x="337353" y="373122"/>
                </a:lnTo>
                <a:lnTo>
                  <a:pt x="361063" y="350299"/>
                </a:lnTo>
                <a:lnTo>
                  <a:pt x="329645" y="341388"/>
                </a:lnTo>
                <a:close/>
              </a:path>
              <a:path w="382270" h="396239">
                <a:moveTo>
                  <a:pt x="320720" y="304649"/>
                </a:moveTo>
                <a:lnTo>
                  <a:pt x="329645" y="341388"/>
                </a:lnTo>
                <a:lnTo>
                  <a:pt x="361063" y="350299"/>
                </a:lnTo>
                <a:lnTo>
                  <a:pt x="337353" y="373122"/>
                </a:lnTo>
                <a:lnTo>
                  <a:pt x="351193" y="373122"/>
                </a:lnTo>
                <a:lnTo>
                  <a:pt x="369589" y="355413"/>
                </a:lnTo>
                <a:lnTo>
                  <a:pt x="320720" y="304649"/>
                </a:lnTo>
                <a:close/>
              </a:path>
              <a:path w="382270" h="396239">
                <a:moveTo>
                  <a:pt x="27448" y="0"/>
                </a:moveTo>
                <a:lnTo>
                  <a:pt x="0" y="26423"/>
                </a:lnTo>
                <a:lnTo>
                  <a:pt x="293272" y="331072"/>
                </a:lnTo>
                <a:lnTo>
                  <a:pt x="329645" y="341388"/>
                </a:lnTo>
                <a:lnTo>
                  <a:pt x="320720" y="304649"/>
                </a:lnTo>
                <a:lnTo>
                  <a:pt x="27448" y="0"/>
                </a:lnTo>
                <a:close/>
              </a:path>
            </a:pathLst>
          </a:custGeom>
          <a:solidFill>
            <a:srgbClr val="84A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04864" y="3581336"/>
            <a:ext cx="382270" cy="396240"/>
          </a:xfrm>
          <a:custGeom>
            <a:avLst/>
            <a:gdLst/>
            <a:ahLst/>
            <a:cxnLst/>
            <a:rect l="l" t="t" r="r" b="b"/>
            <a:pathLst>
              <a:path w="382269" h="396239">
                <a:moveTo>
                  <a:pt x="52440" y="54475"/>
                </a:moveTo>
                <a:lnTo>
                  <a:pt x="61364" y="91212"/>
                </a:lnTo>
                <a:lnTo>
                  <a:pt x="354636" y="395862"/>
                </a:lnTo>
                <a:lnTo>
                  <a:pt x="382084" y="369439"/>
                </a:lnTo>
                <a:lnTo>
                  <a:pt x="88814" y="64790"/>
                </a:lnTo>
                <a:lnTo>
                  <a:pt x="52440" y="54475"/>
                </a:lnTo>
                <a:close/>
              </a:path>
              <a:path w="382269" h="396239">
                <a:moveTo>
                  <a:pt x="0" y="0"/>
                </a:moveTo>
                <a:lnTo>
                  <a:pt x="38943" y="160319"/>
                </a:lnTo>
                <a:lnTo>
                  <a:pt x="42148" y="167172"/>
                </a:lnTo>
                <a:lnTo>
                  <a:pt x="47545" y="172092"/>
                </a:lnTo>
                <a:lnTo>
                  <a:pt x="54393" y="174630"/>
                </a:lnTo>
                <a:lnTo>
                  <a:pt x="61951" y="174335"/>
                </a:lnTo>
                <a:lnTo>
                  <a:pt x="68803" y="171130"/>
                </a:lnTo>
                <a:lnTo>
                  <a:pt x="73724" y="165733"/>
                </a:lnTo>
                <a:lnTo>
                  <a:pt x="76262" y="158885"/>
                </a:lnTo>
                <a:lnTo>
                  <a:pt x="75966" y="151326"/>
                </a:lnTo>
                <a:lnTo>
                  <a:pt x="61364" y="91212"/>
                </a:lnTo>
                <a:lnTo>
                  <a:pt x="12496" y="40449"/>
                </a:lnTo>
                <a:lnTo>
                  <a:pt x="39945" y="14025"/>
                </a:lnTo>
                <a:lnTo>
                  <a:pt x="49454" y="14025"/>
                </a:lnTo>
                <a:lnTo>
                  <a:pt x="0" y="0"/>
                </a:lnTo>
                <a:close/>
              </a:path>
              <a:path w="382269" h="396239">
                <a:moveTo>
                  <a:pt x="39945" y="14025"/>
                </a:moveTo>
                <a:lnTo>
                  <a:pt x="12496" y="40449"/>
                </a:lnTo>
                <a:lnTo>
                  <a:pt x="61364" y="91212"/>
                </a:lnTo>
                <a:lnTo>
                  <a:pt x="52440" y="54475"/>
                </a:lnTo>
                <a:lnTo>
                  <a:pt x="21022" y="45565"/>
                </a:lnTo>
                <a:lnTo>
                  <a:pt x="44731" y="22740"/>
                </a:lnTo>
                <a:lnTo>
                  <a:pt x="48334" y="22740"/>
                </a:lnTo>
                <a:lnTo>
                  <a:pt x="39945" y="14025"/>
                </a:lnTo>
                <a:close/>
              </a:path>
              <a:path w="382269" h="396239">
                <a:moveTo>
                  <a:pt x="49454" y="14025"/>
                </a:moveTo>
                <a:lnTo>
                  <a:pt x="39945" y="14025"/>
                </a:lnTo>
                <a:lnTo>
                  <a:pt x="88814" y="64790"/>
                </a:lnTo>
                <a:lnTo>
                  <a:pt x="148327" y="81668"/>
                </a:lnTo>
                <a:lnTo>
                  <a:pt x="155869" y="82251"/>
                </a:lnTo>
                <a:lnTo>
                  <a:pt x="162808" y="79976"/>
                </a:lnTo>
                <a:lnTo>
                  <a:pt x="168388" y="75264"/>
                </a:lnTo>
                <a:lnTo>
                  <a:pt x="171852" y="68539"/>
                </a:lnTo>
                <a:lnTo>
                  <a:pt x="172435" y="60997"/>
                </a:lnTo>
                <a:lnTo>
                  <a:pt x="170159" y="54057"/>
                </a:lnTo>
                <a:lnTo>
                  <a:pt x="165447" y="48478"/>
                </a:lnTo>
                <a:lnTo>
                  <a:pt x="158722" y="45015"/>
                </a:lnTo>
                <a:lnTo>
                  <a:pt x="49454" y="14025"/>
                </a:lnTo>
                <a:close/>
              </a:path>
              <a:path w="382269" h="396239">
                <a:moveTo>
                  <a:pt x="48334" y="22740"/>
                </a:moveTo>
                <a:lnTo>
                  <a:pt x="44731" y="22740"/>
                </a:lnTo>
                <a:lnTo>
                  <a:pt x="52440" y="54475"/>
                </a:lnTo>
                <a:lnTo>
                  <a:pt x="88814" y="64790"/>
                </a:lnTo>
                <a:lnTo>
                  <a:pt x="48334" y="22740"/>
                </a:lnTo>
                <a:close/>
              </a:path>
              <a:path w="382269" h="396239">
                <a:moveTo>
                  <a:pt x="44731" y="22740"/>
                </a:moveTo>
                <a:lnTo>
                  <a:pt x="21022" y="45565"/>
                </a:lnTo>
                <a:lnTo>
                  <a:pt x="52440" y="54475"/>
                </a:lnTo>
                <a:lnTo>
                  <a:pt x="44731" y="22740"/>
                </a:lnTo>
                <a:close/>
              </a:path>
            </a:pathLst>
          </a:custGeom>
          <a:solidFill>
            <a:srgbClr val="84A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025" y="1509712"/>
            <a:ext cx="0" cy="551180"/>
          </a:xfrm>
          <a:custGeom>
            <a:avLst/>
            <a:gdLst/>
            <a:ahLst/>
            <a:cxnLst/>
            <a:rect l="l" t="t" r="r" b="b"/>
            <a:pathLst>
              <a:path w="0" h="551180">
                <a:moveTo>
                  <a:pt x="0" y="0"/>
                </a:moveTo>
                <a:lnTo>
                  <a:pt x="0" y="5511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62325" y="1509712"/>
            <a:ext cx="0" cy="551180"/>
          </a:xfrm>
          <a:custGeom>
            <a:avLst/>
            <a:gdLst/>
            <a:ahLst/>
            <a:cxnLst/>
            <a:rect l="l" t="t" r="r" b="b"/>
            <a:pathLst>
              <a:path w="0" h="551180">
                <a:moveTo>
                  <a:pt x="0" y="0"/>
                </a:moveTo>
                <a:lnTo>
                  <a:pt x="0" y="5511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48100" y="1509712"/>
            <a:ext cx="0" cy="551180"/>
          </a:xfrm>
          <a:custGeom>
            <a:avLst/>
            <a:gdLst/>
            <a:ahLst/>
            <a:cxnLst/>
            <a:rect l="l" t="t" r="r" b="b"/>
            <a:pathLst>
              <a:path w="0" h="551180">
                <a:moveTo>
                  <a:pt x="0" y="0"/>
                </a:moveTo>
                <a:lnTo>
                  <a:pt x="0" y="5511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376612" y="1538287"/>
            <a:ext cx="246379" cy="494030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35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30"/>
              </a:lnSpc>
              <a:spcBef>
                <a:spcPts val="25"/>
              </a:spcBef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35375" y="1538287"/>
            <a:ext cx="198755" cy="494030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835"/>
              </a:lnSpc>
            </a:pPr>
            <a:r>
              <a:rPr dirty="0" sz="1700">
                <a:latin typeface="Candara"/>
                <a:cs typeface="Candara"/>
              </a:rPr>
              <a:t>2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ts val="2030"/>
              </a:lnSpc>
              <a:spcBef>
                <a:spcPts val="25"/>
              </a:spcBef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90625" y="3733800"/>
            <a:ext cx="219075" cy="259079"/>
          </a:xfrm>
          <a:custGeom>
            <a:avLst/>
            <a:gdLst/>
            <a:ahLst/>
            <a:cxnLst/>
            <a:rect l="l" t="t" r="r" b="b"/>
            <a:pathLst>
              <a:path w="219075" h="259079">
                <a:moveTo>
                  <a:pt x="0" y="259080"/>
                </a:moveTo>
                <a:lnTo>
                  <a:pt x="219075" y="259080"/>
                </a:lnTo>
                <a:lnTo>
                  <a:pt x="219075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168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90625" y="3992879"/>
            <a:ext cx="219075" cy="259079"/>
          </a:xfrm>
          <a:custGeom>
            <a:avLst/>
            <a:gdLst/>
            <a:ahLst/>
            <a:cxnLst/>
            <a:rect l="l" t="t" r="r" b="b"/>
            <a:pathLst>
              <a:path w="219075" h="259079">
                <a:moveTo>
                  <a:pt x="0" y="259080"/>
                </a:moveTo>
                <a:lnTo>
                  <a:pt x="219075" y="259080"/>
                </a:lnTo>
                <a:lnTo>
                  <a:pt x="219075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solidFill>
            <a:srgbClr val="168B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90625" y="37195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23925" y="37195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409700" y="37195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38212" y="3709415"/>
            <a:ext cx="45720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dirty="0" sz="1700" spc="-15">
                <a:latin typeface="Trebuchet MS"/>
                <a:cs typeface="Trebuchet MS"/>
              </a:rPr>
              <a:t>T</a:t>
            </a:r>
            <a:r>
              <a:rPr dirty="0" sz="1700" spc="300">
                <a:latin typeface="Trebuchet MS"/>
                <a:cs typeface="Trebuchet MS"/>
              </a:rPr>
              <a:t> </a:t>
            </a:r>
            <a:r>
              <a:rPr dirty="0" sz="1700">
                <a:latin typeface="Candara"/>
                <a:cs typeface="Candara"/>
              </a:rPr>
              <a:t>2</a:t>
            </a:r>
            <a:endParaRPr sz="1700">
              <a:latin typeface="Candara"/>
              <a:cs typeface="Candara"/>
            </a:endParaRPr>
          </a:p>
          <a:p>
            <a:pPr marL="59055">
              <a:lnSpc>
                <a:spcPct val="100000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r>
              <a:rPr dirty="0" sz="1700" spc="325">
                <a:latin typeface="Trebuchet MS"/>
                <a:cs typeface="Trebuchet MS"/>
              </a:rPr>
              <a:t> </a:t>
            </a: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42900" y="37290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6200" y="37290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1975" y="3729037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0487" y="3757612"/>
            <a:ext cx="246379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30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25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9250" y="3757612"/>
            <a:ext cx="198755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830"/>
              </a:lnSpc>
            </a:pPr>
            <a:r>
              <a:rPr dirty="0" sz="1700">
                <a:latin typeface="Candara"/>
                <a:cs typeface="Candara"/>
              </a:rPr>
              <a:t>4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ts val="2025"/>
              </a:lnSpc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52487" y="3790632"/>
            <a:ext cx="631190" cy="557530"/>
          </a:xfrm>
          <a:custGeom>
            <a:avLst/>
            <a:gdLst/>
            <a:ahLst/>
            <a:cxnLst/>
            <a:rect l="l" t="t" r="r" b="b"/>
            <a:pathLst>
              <a:path w="631190" h="557529">
                <a:moveTo>
                  <a:pt x="0" y="0"/>
                </a:moveTo>
                <a:lnTo>
                  <a:pt x="630596" y="55753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96578" y="3783012"/>
            <a:ext cx="631190" cy="557530"/>
          </a:xfrm>
          <a:custGeom>
            <a:avLst/>
            <a:gdLst/>
            <a:ahLst/>
            <a:cxnLst/>
            <a:rect l="l" t="t" r="r" b="b"/>
            <a:pathLst>
              <a:path w="631190" h="557529">
                <a:moveTo>
                  <a:pt x="630596" y="0"/>
                </a:moveTo>
                <a:lnTo>
                  <a:pt x="0" y="55753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2425" y="11287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5725" y="11287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1500" y="1128712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0"/>
                </a:moveTo>
                <a:lnTo>
                  <a:pt x="0" y="5467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0012" y="1157287"/>
            <a:ext cx="246379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59055" indent="-2540">
              <a:lnSpc>
                <a:spcPts val="1835"/>
              </a:lnSpc>
            </a:pPr>
            <a:r>
              <a:rPr dirty="0" sz="1700" spc="-15">
                <a:latin typeface="Trebuchet MS"/>
                <a:cs typeface="Trebuchet MS"/>
              </a:rPr>
              <a:t>T</a:t>
            </a:r>
            <a:endParaRPr sz="1700">
              <a:latin typeface="Trebuchet MS"/>
              <a:cs typeface="Trebuchet MS"/>
            </a:endParaRPr>
          </a:p>
          <a:p>
            <a:pPr marL="59055">
              <a:lnSpc>
                <a:spcPts val="2020"/>
              </a:lnSpc>
            </a:pPr>
            <a:r>
              <a:rPr dirty="0" sz="1700" spc="40">
                <a:latin typeface="Trebuchet MS"/>
                <a:cs typeface="Trebuchet MS"/>
              </a:rPr>
              <a:t>F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8775" y="1157287"/>
            <a:ext cx="198755" cy="489584"/>
          </a:xfrm>
          <a:prstGeom prst="rect">
            <a:avLst/>
          </a:prstGeom>
          <a:solidFill>
            <a:srgbClr val="168BBA"/>
          </a:solidFill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ts val="1835"/>
              </a:lnSpc>
            </a:pPr>
            <a:r>
              <a:rPr dirty="0" sz="1700">
                <a:latin typeface="Candara"/>
                <a:cs typeface="Candara"/>
              </a:rPr>
              <a:t>4</a:t>
            </a:r>
            <a:endParaRPr sz="1700">
              <a:latin typeface="Candara"/>
              <a:cs typeface="Candara"/>
            </a:endParaRPr>
          </a:p>
          <a:p>
            <a:pPr marL="38735">
              <a:lnSpc>
                <a:spcPts val="2020"/>
              </a:lnSpc>
            </a:pPr>
            <a:r>
              <a:rPr dirty="0" sz="1700">
                <a:latin typeface="Candara"/>
                <a:cs typeface="Candara"/>
              </a:rPr>
              <a:t>1</a:t>
            </a:r>
            <a:endParaRPr sz="1700">
              <a:latin typeface="Candara"/>
              <a:cs typeface="Candar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62012" y="1190307"/>
            <a:ext cx="631190" cy="557530"/>
          </a:xfrm>
          <a:custGeom>
            <a:avLst/>
            <a:gdLst/>
            <a:ahLst/>
            <a:cxnLst/>
            <a:rect l="l" t="t" r="r" b="b"/>
            <a:pathLst>
              <a:path w="631190" h="557530">
                <a:moveTo>
                  <a:pt x="0" y="0"/>
                </a:moveTo>
                <a:lnTo>
                  <a:pt x="630596" y="55753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906103" y="1182687"/>
            <a:ext cx="631190" cy="557530"/>
          </a:xfrm>
          <a:custGeom>
            <a:avLst/>
            <a:gdLst/>
            <a:ahLst/>
            <a:cxnLst/>
            <a:rect l="l" t="t" r="r" b="b"/>
            <a:pathLst>
              <a:path w="631190" h="557530">
                <a:moveTo>
                  <a:pt x="630596" y="0"/>
                </a:moveTo>
                <a:lnTo>
                  <a:pt x="0" y="55753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163800" y="1215644"/>
            <a:ext cx="4849495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98450" marR="5080" indent="-285750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Messages </a:t>
            </a:r>
            <a:r>
              <a:rPr dirty="0" sz="2400" spc="-5">
                <a:solidFill>
                  <a:srgbClr val="FF0000"/>
                </a:solidFill>
                <a:latin typeface="Calibri"/>
                <a:cs typeface="Calibri"/>
              </a:rPr>
              <a:t>loop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around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dirty="0" sz="2400" spc="-10">
                <a:solidFill>
                  <a:srgbClr val="FF0000"/>
                </a:solidFill>
                <a:latin typeface="Calibri"/>
                <a:cs typeface="Calibri"/>
              </a:rPr>
              <a:t>around</a:t>
            </a:r>
            <a:r>
              <a:rPr dirty="0" sz="2400" spc="-10">
                <a:latin typeface="Calibri"/>
                <a:cs typeface="Calibri"/>
              </a:rPr>
              <a:t>:  </a:t>
            </a:r>
            <a:r>
              <a:rPr dirty="0" sz="2400" spc="-5">
                <a:latin typeface="Calibri"/>
                <a:cs typeface="Calibri"/>
              </a:rPr>
              <a:t>2, 4, 8, 16, 32, </a:t>
            </a:r>
            <a:r>
              <a:rPr dirty="0" sz="2400" spc="-10">
                <a:latin typeface="Calibri"/>
                <a:cs typeface="Calibri"/>
              </a:rPr>
              <a:t>... </a:t>
            </a:r>
            <a:r>
              <a:rPr dirty="0" sz="2400" spc="-15">
                <a:latin typeface="Calibri"/>
                <a:cs typeface="Calibri"/>
              </a:rPr>
              <a:t>More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5">
                <a:latin typeface="Calibri"/>
                <a:cs typeface="Calibri"/>
              </a:rPr>
              <a:t>more  </a:t>
            </a:r>
            <a:r>
              <a:rPr dirty="0" sz="2400" spc="-10">
                <a:latin typeface="Calibri"/>
                <a:cs typeface="Calibri"/>
              </a:rPr>
              <a:t>convinced that </a:t>
            </a:r>
            <a:r>
              <a:rPr dirty="0" sz="2400" spc="-5">
                <a:latin typeface="Calibri"/>
                <a:cs typeface="Calibri"/>
              </a:rPr>
              <a:t>these variables </a:t>
            </a:r>
            <a:r>
              <a:rPr dirty="0" sz="2400" spc="-15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63800" y="2687827"/>
            <a:ext cx="4799330" cy="27711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298450" marR="5080" indent="-285750">
              <a:lnSpc>
                <a:spcPct val="99200"/>
              </a:lnSpc>
              <a:spcBef>
                <a:spcPts val="12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400" spc="-5">
                <a:latin typeface="Calibri"/>
                <a:cs typeface="Calibri"/>
              </a:rPr>
              <a:t>BP </a:t>
            </a:r>
            <a:r>
              <a:rPr dirty="0" sz="2400" spc="-10">
                <a:latin typeface="Calibri"/>
                <a:cs typeface="Calibri"/>
              </a:rPr>
              <a:t>incorrectly </a:t>
            </a:r>
            <a:r>
              <a:rPr dirty="0" sz="2400" spc="-15">
                <a:latin typeface="Calibri"/>
                <a:cs typeface="Calibri"/>
              </a:rPr>
              <a:t>treats </a:t>
            </a:r>
            <a:r>
              <a:rPr dirty="0" sz="2400" spc="-5">
                <a:latin typeface="Calibri"/>
                <a:cs typeface="Calibri"/>
              </a:rPr>
              <a:t>this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FF0000"/>
                </a:solidFill>
                <a:latin typeface="Calibri"/>
                <a:cs typeface="Calibri"/>
              </a:rPr>
              <a:t>separate </a:t>
            </a:r>
            <a:r>
              <a:rPr dirty="0" sz="2400" spc="-5" b="1">
                <a:solidFill>
                  <a:srgbClr val="FF0000"/>
                </a:solidFill>
                <a:latin typeface="Calibri"/>
                <a:cs typeface="Calibri"/>
              </a:rPr>
              <a:t>evidence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5">
                <a:latin typeface="Calibri"/>
                <a:cs typeface="Calibri"/>
              </a:rPr>
              <a:t>the variable  is </a:t>
            </a:r>
            <a:r>
              <a:rPr dirty="0" sz="2400">
                <a:latin typeface="Calibri"/>
                <a:cs typeface="Calibri"/>
              </a:rPr>
              <a:t>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(true).</a:t>
            </a:r>
            <a:endParaRPr sz="2400">
              <a:latin typeface="Calibri"/>
              <a:cs typeface="Calibri"/>
            </a:endParaRPr>
          </a:p>
          <a:p>
            <a:pPr marL="298450" marR="136525" indent="-285750">
              <a:lnSpc>
                <a:spcPct val="1008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400" spc="-5">
                <a:latin typeface="Calibri"/>
                <a:cs typeface="Calibri"/>
              </a:rPr>
              <a:t>Multiplies these </a:t>
            </a:r>
            <a:r>
              <a:rPr dirty="0" sz="2400" spc="-15">
                <a:latin typeface="Calibri"/>
                <a:cs typeface="Calibri"/>
              </a:rPr>
              <a:t>two </a:t>
            </a:r>
            <a:r>
              <a:rPr dirty="0" sz="2400" spc="-10">
                <a:latin typeface="Calibri"/>
                <a:cs typeface="Calibri"/>
              </a:rPr>
              <a:t>messages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-5">
                <a:latin typeface="Calibri"/>
                <a:cs typeface="Calibri"/>
              </a:rPr>
              <a:t>if  they </a:t>
            </a:r>
            <a:r>
              <a:rPr dirty="0" sz="2400" spc="-20">
                <a:latin typeface="Calibri"/>
                <a:cs typeface="Calibri"/>
              </a:rPr>
              <a:t>were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dirty="0" sz="2400" spc="-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2000" spc="-5">
                <a:latin typeface="Calibri"/>
                <a:cs typeface="Calibri"/>
              </a:rPr>
              <a:t>But they don’t actually come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from</a:t>
            </a:r>
            <a:endParaRPr sz="2000">
              <a:latin typeface="Calibri"/>
              <a:cs typeface="Calibri"/>
            </a:endParaRPr>
          </a:p>
          <a:p>
            <a:pPr algn="ctr" marR="23495">
              <a:lnSpc>
                <a:spcPct val="100000"/>
              </a:lnSpc>
            </a:pPr>
            <a:r>
              <a:rPr dirty="0" sz="2000" spc="-10" i="1">
                <a:latin typeface="Calibri"/>
                <a:cs typeface="Calibri"/>
              </a:rPr>
              <a:t>independent </a:t>
            </a:r>
            <a:r>
              <a:rPr dirty="0" sz="2000" spc="-5">
                <a:latin typeface="Calibri"/>
                <a:cs typeface="Calibri"/>
              </a:rPr>
              <a:t>parts of the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graph.</a:t>
            </a:r>
            <a:endParaRPr sz="2000">
              <a:latin typeface="Calibri"/>
              <a:cs typeface="Calibri"/>
            </a:endParaRPr>
          </a:p>
          <a:p>
            <a:pPr lvl="1" marL="755650" indent="-285750">
              <a:lnSpc>
                <a:spcPct val="10000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2000" spc="-5">
                <a:latin typeface="Calibri"/>
                <a:cs typeface="Calibri"/>
              </a:rPr>
              <a:t>One influenced the other (via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cycle).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354975" y="4693479"/>
            <a:ext cx="1325880" cy="1360805"/>
          </a:xfrm>
          <a:custGeom>
            <a:avLst/>
            <a:gdLst/>
            <a:ahLst/>
            <a:cxnLst/>
            <a:rect l="l" t="t" r="r" b="b"/>
            <a:pathLst>
              <a:path w="1325879" h="1360804">
                <a:moveTo>
                  <a:pt x="37443" y="468124"/>
                </a:moveTo>
                <a:lnTo>
                  <a:pt x="54669" y="422488"/>
                </a:lnTo>
                <a:lnTo>
                  <a:pt x="74668" y="378770"/>
                </a:lnTo>
                <a:lnTo>
                  <a:pt x="97298" y="337042"/>
                </a:lnTo>
                <a:lnTo>
                  <a:pt x="122414" y="297379"/>
                </a:lnTo>
                <a:lnTo>
                  <a:pt x="149875" y="259853"/>
                </a:lnTo>
                <a:lnTo>
                  <a:pt x="179536" y="224539"/>
                </a:lnTo>
                <a:lnTo>
                  <a:pt x="211257" y="191509"/>
                </a:lnTo>
                <a:lnTo>
                  <a:pt x="244892" y="160838"/>
                </a:lnTo>
                <a:lnTo>
                  <a:pt x="280300" y="132598"/>
                </a:lnTo>
                <a:lnTo>
                  <a:pt x="317338" y="106864"/>
                </a:lnTo>
                <a:lnTo>
                  <a:pt x="355862" y="83709"/>
                </a:lnTo>
                <a:lnTo>
                  <a:pt x="395730" y="63205"/>
                </a:lnTo>
                <a:lnTo>
                  <a:pt x="436799" y="45428"/>
                </a:lnTo>
                <a:lnTo>
                  <a:pt x="478925" y="30450"/>
                </a:lnTo>
                <a:lnTo>
                  <a:pt x="521967" y="18344"/>
                </a:lnTo>
                <a:lnTo>
                  <a:pt x="565780" y="9185"/>
                </a:lnTo>
                <a:lnTo>
                  <a:pt x="610222" y="3046"/>
                </a:lnTo>
                <a:lnTo>
                  <a:pt x="655151" y="0"/>
                </a:lnTo>
                <a:lnTo>
                  <a:pt x="700423" y="120"/>
                </a:lnTo>
                <a:lnTo>
                  <a:pt x="745895" y="3481"/>
                </a:lnTo>
                <a:lnTo>
                  <a:pt x="791424" y="10156"/>
                </a:lnTo>
                <a:lnTo>
                  <a:pt x="836868" y="20218"/>
                </a:lnTo>
                <a:lnTo>
                  <a:pt x="882083" y="33741"/>
                </a:lnTo>
                <a:lnTo>
                  <a:pt x="926198" y="50511"/>
                </a:lnTo>
                <a:lnTo>
                  <a:pt x="968388" y="70166"/>
                </a:lnTo>
                <a:lnTo>
                  <a:pt x="1008587" y="92562"/>
                </a:lnTo>
                <a:lnTo>
                  <a:pt x="1046724" y="117553"/>
                </a:lnTo>
                <a:lnTo>
                  <a:pt x="1082731" y="144995"/>
                </a:lnTo>
                <a:lnTo>
                  <a:pt x="1116539" y="174741"/>
                </a:lnTo>
                <a:lnTo>
                  <a:pt x="1148080" y="206647"/>
                </a:lnTo>
                <a:lnTo>
                  <a:pt x="1177285" y="240568"/>
                </a:lnTo>
                <a:lnTo>
                  <a:pt x="1204085" y="276357"/>
                </a:lnTo>
                <a:lnTo>
                  <a:pt x="1228411" y="313870"/>
                </a:lnTo>
                <a:lnTo>
                  <a:pt x="1250195" y="352961"/>
                </a:lnTo>
                <a:lnTo>
                  <a:pt x="1269368" y="393485"/>
                </a:lnTo>
                <a:lnTo>
                  <a:pt x="1285861" y="435298"/>
                </a:lnTo>
                <a:lnTo>
                  <a:pt x="1299606" y="478253"/>
                </a:lnTo>
                <a:lnTo>
                  <a:pt x="1310533" y="522205"/>
                </a:lnTo>
                <a:lnTo>
                  <a:pt x="1318574" y="567009"/>
                </a:lnTo>
                <a:lnTo>
                  <a:pt x="1323661" y="612520"/>
                </a:lnTo>
                <a:lnTo>
                  <a:pt x="1325724" y="658593"/>
                </a:lnTo>
                <a:lnTo>
                  <a:pt x="1324694" y="705081"/>
                </a:lnTo>
                <a:lnTo>
                  <a:pt x="1320504" y="751841"/>
                </a:lnTo>
                <a:lnTo>
                  <a:pt x="1313084" y="798726"/>
                </a:lnTo>
                <a:lnTo>
                  <a:pt x="1302366" y="845591"/>
                </a:lnTo>
                <a:lnTo>
                  <a:pt x="1288280" y="892292"/>
                </a:lnTo>
                <a:lnTo>
                  <a:pt x="1271054" y="937927"/>
                </a:lnTo>
                <a:lnTo>
                  <a:pt x="1251055" y="981646"/>
                </a:lnTo>
                <a:lnTo>
                  <a:pt x="1228426" y="1023373"/>
                </a:lnTo>
                <a:lnTo>
                  <a:pt x="1203309" y="1063036"/>
                </a:lnTo>
                <a:lnTo>
                  <a:pt x="1175849" y="1100562"/>
                </a:lnTo>
                <a:lnTo>
                  <a:pt x="1146187" y="1135876"/>
                </a:lnTo>
                <a:lnTo>
                  <a:pt x="1114467" y="1168906"/>
                </a:lnTo>
                <a:lnTo>
                  <a:pt x="1080831" y="1199577"/>
                </a:lnTo>
                <a:lnTo>
                  <a:pt x="1045423" y="1227817"/>
                </a:lnTo>
                <a:lnTo>
                  <a:pt x="1008385" y="1253551"/>
                </a:lnTo>
                <a:lnTo>
                  <a:pt x="969861" y="1276707"/>
                </a:lnTo>
                <a:lnTo>
                  <a:pt x="929993" y="1297210"/>
                </a:lnTo>
                <a:lnTo>
                  <a:pt x="888925" y="1314988"/>
                </a:lnTo>
                <a:lnTo>
                  <a:pt x="846798" y="1329966"/>
                </a:lnTo>
                <a:lnTo>
                  <a:pt x="803757" y="1342071"/>
                </a:lnTo>
                <a:lnTo>
                  <a:pt x="759943" y="1351230"/>
                </a:lnTo>
                <a:lnTo>
                  <a:pt x="715501" y="1357370"/>
                </a:lnTo>
                <a:lnTo>
                  <a:pt x="670572" y="1360416"/>
                </a:lnTo>
                <a:lnTo>
                  <a:pt x="625300" y="1360295"/>
                </a:lnTo>
                <a:lnTo>
                  <a:pt x="579828" y="1356934"/>
                </a:lnTo>
                <a:lnTo>
                  <a:pt x="534299" y="1350259"/>
                </a:lnTo>
                <a:lnTo>
                  <a:pt x="488855" y="1340197"/>
                </a:lnTo>
                <a:lnTo>
                  <a:pt x="443640" y="1326674"/>
                </a:lnTo>
                <a:lnTo>
                  <a:pt x="399526" y="1309905"/>
                </a:lnTo>
                <a:lnTo>
                  <a:pt x="357335" y="1290249"/>
                </a:lnTo>
                <a:lnTo>
                  <a:pt x="317137" y="1267853"/>
                </a:lnTo>
                <a:lnTo>
                  <a:pt x="279000" y="1242862"/>
                </a:lnTo>
                <a:lnTo>
                  <a:pt x="242993" y="1215420"/>
                </a:lnTo>
                <a:lnTo>
                  <a:pt x="209184" y="1185674"/>
                </a:lnTo>
                <a:lnTo>
                  <a:pt x="177643" y="1153768"/>
                </a:lnTo>
                <a:lnTo>
                  <a:pt x="148438" y="1119848"/>
                </a:lnTo>
                <a:lnTo>
                  <a:pt x="121638" y="1084059"/>
                </a:lnTo>
                <a:lnTo>
                  <a:pt x="97312" y="1046546"/>
                </a:lnTo>
                <a:lnTo>
                  <a:pt x="75528" y="1007454"/>
                </a:lnTo>
                <a:lnTo>
                  <a:pt x="56355" y="966930"/>
                </a:lnTo>
                <a:lnTo>
                  <a:pt x="39862" y="925117"/>
                </a:lnTo>
                <a:lnTo>
                  <a:pt x="26117" y="882163"/>
                </a:lnTo>
                <a:lnTo>
                  <a:pt x="15190" y="838210"/>
                </a:lnTo>
                <a:lnTo>
                  <a:pt x="7149" y="793406"/>
                </a:lnTo>
                <a:lnTo>
                  <a:pt x="2062" y="747895"/>
                </a:lnTo>
                <a:lnTo>
                  <a:pt x="0" y="701823"/>
                </a:lnTo>
                <a:lnTo>
                  <a:pt x="1029" y="655334"/>
                </a:lnTo>
                <a:lnTo>
                  <a:pt x="5219" y="608575"/>
                </a:lnTo>
                <a:lnTo>
                  <a:pt x="12639" y="561689"/>
                </a:lnTo>
                <a:lnTo>
                  <a:pt x="23357" y="514824"/>
                </a:lnTo>
                <a:lnTo>
                  <a:pt x="37443" y="468124"/>
                </a:lnTo>
                <a:close/>
              </a:path>
            </a:pathLst>
          </a:custGeom>
          <a:ln w="38099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12802" y="3842445"/>
            <a:ext cx="553085" cy="553085"/>
          </a:xfrm>
          <a:custGeom>
            <a:avLst/>
            <a:gdLst/>
            <a:ahLst/>
            <a:cxnLst/>
            <a:rect l="l" t="t" r="r" b="b"/>
            <a:pathLst>
              <a:path w="553085" h="553085">
                <a:moveTo>
                  <a:pt x="295917" y="0"/>
                </a:moveTo>
                <a:lnTo>
                  <a:pt x="248576" y="746"/>
                </a:lnTo>
                <a:lnTo>
                  <a:pt x="202172" y="9470"/>
                </a:lnTo>
                <a:lnTo>
                  <a:pt x="157792" y="25968"/>
                </a:lnTo>
                <a:lnTo>
                  <a:pt x="116523" y="50034"/>
                </a:lnTo>
                <a:lnTo>
                  <a:pt x="79454" y="81465"/>
                </a:lnTo>
                <a:lnTo>
                  <a:pt x="47671" y="120056"/>
                </a:lnTo>
                <a:lnTo>
                  <a:pt x="23257" y="163684"/>
                </a:lnTo>
                <a:lnTo>
                  <a:pt x="7435" y="209637"/>
                </a:lnTo>
                <a:lnTo>
                  <a:pt x="0" y="256828"/>
                </a:lnTo>
                <a:lnTo>
                  <a:pt x="746" y="304169"/>
                </a:lnTo>
                <a:lnTo>
                  <a:pt x="9470" y="350574"/>
                </a:lnTo>
                <a:lnTo>
                  <a:pt x="25968" y="394954"/>
                </a:lnTo>
                <a:lnTo>
                  <a:pt x="50035" y="436222"/>
                </a:lnTo>
                <a:lnTo>
                  <a:pt x="81466" y="473291"/>
                </a:lnTo>
                <a:lnTo>
                  <a:pt x="120057" y="505074"/>
                </a:lnTo>
                <a:lnTo>
                  <a:pt x="163685" y="529487"/>
                </a:lnTo>
                <a:lnTo>
                  <a:pt x="209637" y="545309"/>
                </a:lnTo>
                <a:lnTo>
                  <a:pt x="256828" y="552745"/>
                </a:lnTo>
                <a:lnTo>
                  <a:pt x="304170" y="551999"/>
                </a:lnTo>
                <a:lnTo>
                  <a:pt x="350574" y="543274"/>
                </a:lnTo>
                <a:lnTo>
                  <a:pt x="394954" y="526777"/>
                </a:lnTo>
                <a:lnTo>
                  <a:pt x="436222" y="502711"/>
                </a:lnTo>
                <a:lnTo>
                  <a:pt x="473291" y="471280"/>
                </a:lnTo>
                <a:lnTo>
                  <a:pt x="505074" y="432689"/>
                </a:lnTo>
                <a:lnTo>
                  <a:pt x="529487" y="389061"/>
                </a:lnTo>
                <a:lnTo>
                  <a:pt x="545310" y="343108"/>
                </a:lnTo>
                <a:lnTo>
                  <a:pt x="552746" y="295917"/>
                </a:lnTo>
                <a:lnTo>
                  <a:pt x="551999" y="248575"/>
                </a:lnTo>
                <a:lnTo>
                  <a:pt x="543275" y="202171"/>
                </a:lnTo>
                <a:lnTo>
                  <a:pt x="526778" y="157791"/>
                </a:lnTo>
                <a:lnTo>
                  <a:pt x="502711" y="116522"/>
                </a:lnTo>
                <a:lnTo>
                  <a:pt x="471280" y="79453"/>
                </a:lnTo>
                <a:lnTo>
                  <a:pt x="432689" y="47671"/>
                </a:lnTo>
                <a:lnTo>
                  <a:pt x="389061" y="23257"/>
                </a:lnTo>
                <a:lnTo>
                  <a:pt x="343108" y="7435"/>
                </a:lnTo>
                <a:lnTo>
                  <a:pt x="295917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01837" y="5955219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4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8"/>
                </a:lnTo>
                <a:lnTo>
                  <a:pt x="4463" y="227224"/>
                </a:lnTo>
                <a:lnTo>
                  <a:pt x="0" y="277019"/>
                </a:lnTo>
                <a:lnTo>
                  <a:pt x="4463" y="326813"/>
                </a:lnTo>
                <a:lnTo>
                  <a:pt x="17331" y="373679"/>
                </a:lnTo>
                <a:lnTo>
                  <a:pt x="37821" y="416835"/>
                </a:lnTo>
                <a:lnTo>
                  <a:pt x="65151" y="455498"/>
                </a:lnTo>
                <a:lnTo>
                  <a:pt x="98539" y="488886"/>
                </a:lnTo>
                <a:lnTo>
                  <a:pt x="137202" y="516216"/>
                </a:lnTo>
                <a:lnTo>
                  <a:pt x="180357" y="536706"/>
                </a:lnTo>
                <a:lnTo>
                  <a:pt x="227224" y="549574"/>
                </a:lnTo>
                <a:lnTo>
                  <a:pt x="277018" y="554038"/>
                </a:lnTo>
                <a:lnTo>
                  <a:pt x="326813" y="549574"/>
                </a:lnTo>
                <a:lnTo>
                  <a:pt x="373679" y="536706"/>
                </a:lnTo>
                <a:lnTo>
                  <a:pt x="416835" y="516216"/>
                </a:lnTo>
                <a:lnTo>
                  <a:pt x="455498" y="488886"/>
                </a:lnTo>
                <a:lnTo>
                  <a:pt x="488886" y="455498"/>
                </a:lnTo>
                <a:lnTo>
                  <a:pt x="516216" y="416835"/>
                </a:lnTo>
                <a:lnTo>
                  <a:pt x="536706" y="373679"/>
                </a:lnTo>
                <a:lnTo>
                  <a:pt x="549574" y="326813"/>
                </a:lnTo>
                <a:lnTo>
                  <a:pt x="554037" y="277019"/>
                </a:lnTo>
                <a:lnTo>
                  <a:pt x="549574" y="227224"/>
                </a:lnTo>
                <a:lnTo>
                  <a:pt x="536706" y="180358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00375" y="2508361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4" h="554355">
                <a:moveTo>
                  <a:pt x="277018" y="0"/>
                </a:moveTo>
                <a:lnTo>
                  <a:pt x="227224" y="4463"/>
                </a:lnTo>
                <a:lnTo>
                  <a:pt x="180357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80"/>
                </a:lnTo>
                <a:lnTo>
                  <a:pt x="37821" y="416836"/>
                </a:lnTo>
                <a:lnTo>
                  <a:pt x="65151" y="455499"/>
                </a:lnTo>
                <a:lnTo>
                  <a:pt x="98539" y="488887"/>
                </a:lnTo>
                <a:lnTo>
                  <a:pt x="137202" y="516217"/>
                </a:lnTo>
                <a:lnTo>
                  <a:pt x="180357" y="536707"/>
                </a:lnTo>
                <a:lnTo>
                  <a:pt x="227224" y="549575"/>
                </a:lnTo>
                <a:lnTo>
                  <a:pt x="277018" y="554038"/>
                </a:lnTo>
                <a:lnTo>
                  <a:pt x="326813" y="549575"/>
                </a:lnTo>
                <a:lnTo>
                  <a:pt x="373679" y="536707"/>
                </a:lnTo>
                <a:lnTo>
                  <a:pt x="416835" y="516217"/>
                </a:lnTo>
                <a:lnTo>
                  <a:pt x="455498" y="488887"/>
                </a:lnTo>
                <a:lnTo>
                  <a:pt x="488886" y="455499"/>
                </a:lnTo>
                <a:lnTo>
                  <a:pt x="516216" y="416836"/>
                </a:lnTo>
                <a:lnTo>
                  <a:pt x="536706" y="373680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8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857375" y="1309974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7" y="0"/>
                </a:moveTo>
                <a:lnTo>
                  <a:pt x="227223" y="4463"/>
                </a:lnTo>
                <a:lnTo>
                  <a:pt x="180356" y="17331"/>
                </a:lnTo>
                <a:lnTo>
                  <a:pt x="137201" y="37821"/>
                </a:lnTo>
                <a:lnTo>
                  <a:pt x="98538" y="65151"/>
                </a:lnTo>
                <a:lnTo>
                  <a:pt x="65150" y="98539"/>
                </a:lnTo>
                <a:lnTo>
                  <a:pt x="37820" y="137202"/>
                </a:lnTo>
                <a:lnTo>
                  <a:pt x="17330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0" y="373679"/>
                </a:lnTo>
                <a:lnTo>
                  <a:pt x="37820" y="416835"/>
                </a:lnTo>
                <a:lnTo>
                  <a:pt x="65150" y="455498"/>
                </a:lnTo>
                <a:lnTo>
                  <a:pt x="98538" y="488886"/>
                </a:lnTo>
                <a:lnTo>
                  <a:pt x="137201" y="516216"/>
                </a:lnTo>
                <a:lnTo>
                  <a:pt x="180356" y="536706"/>
                </a:lnTo>
                <a:lnTo>
                  <a:pt x="227223" y="549574"/>
                </a:lnTo>
                <a:lnTo>
                  <a:pt x="277017" y="554037"/>
                </a:lnTo>
                <a:lnTo>
                  <a:pt x="326811" y="549574"/>
                </a:lnTo>
                <a:lnTo>
                  <a:pt x="373678" y="536706"/>
                </a:lnTo>
                <a:lnTo>
                  <a:pt x="416834" y="516216"/>
                </a:lnTo>
                <a:lnTo>
                  <a:pt x="455497" y="488886"/>
                </a:lnTo>
                <a:lnTo>
                  <a:pt x="488884" y="455498"/>
                </a:lnTo>
                <a:lnTo>
                  <a:pt x="516215" y="416835"/>
                </a:lnTo>
                <a:lnTo>
                  <a:pt x="536705" y="373679"/>
                </a:lnTo>
                <a:lnTo>
                  <a:pt x="549573" y="326813"/>
                </a:lnTo>
                <a:lnTo>
                  <a:pt x="554036" y="277018"/>
                </a:lnTo>
                <a:lnTo>
                  <a:pt x="549573" y="227224"/>
                </a:lnTo>
                <a:lnTo>
                  <a:pt x="536705" y="180357"/>
                </a:lnTo>
                <a:lnTo>
                  <a:pt x="516215" y="137202"/>
                </a:lnTo>
                <a:lnTo>
                  <a:pt x="488884" y="98539"/>
                </a:lnTo>
                <a:lnTo>
                  <a:pt x="455497" y="65151"/>
                </a:lnTo>
                <a:lnTo>
                  <a:pt x="416834" y="37821"/>
                </a:lnTo>
                <a:lnTo>
                  <a:pt x="373678" y="17331"/>
                </a:lnTo>
                <a:lnTo>
                  <a:pt x="326811" y="4463"/>
                </a:lnTo>
                <a:lnTo>
                  <a:pt x="277017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85030" y="2467067"/>
            <a:ext cx="554355" cy="554355"/>
          </a:xfrm>
          <a:custGeom>
            <a:avLst/>
            <a:gdLst/>
            <a:ahLst/>
            <a:cxnLst/>
            <a:rect l="l" t="t" r="r" b="b"/>
            <a:pathLst>
              <a:path w="554355" h="554355">
                <a:moveTo>
                  <a:pt x="277019" y="0"/>
                </a:moveTo>
                <a:lnTo>
                  <a:pt x="227224" y="4463"/>
                </a:lnTo>
                <a:lnTo>
                  <a:pt x="180358" y="17331"/>
                </a:lnTo>
                <a:lnTo>
                  <a:pt x="137202" y="37821"/>
                </a:lnTo>
                <a:lnTo>
                  <a:pt x="98539" y="65151"/>
                </a:lnTo>
                <a:lnTo>
                  <a:pt x="65151" y="98539"/>
                </a:lnTo>
                <a:lnTo>
                  <a:pt x="37821" y="137202"/>
                </a:lnTo>
                <a:lnTo>
                  <a:pt x="17331" y="180357"/>
                </a:lnTo>
                <a:lnTo>
                  <a:pt x="4463" y="227224"/>
                </a:lnTo>
                <a:lnTo>
                  <a:pt x="0" y="277018"/>
                </a:lnTo>
                <a:lnTo>
                  <a:pt x="4463" y="326813"/>
                </a:lnTo>
                <a:lnTo>
                  <a:pt x="17331" y="373680"/>
                </a:lnTo>
                <a:lnTo>
                  <a:pt x="37821" y="416836"/>
                </a:lnTo>
                <a:lnTo>
                  <a:pt x="65151" y="455499"/>
                </a:lnTo>
                <a:lnTo>
                  <a:pt x="98539" y="488887"/>
                </a:lnTo>
                <a:lnTo>
                  <a:pt x="137202" y="516217"/>
                </a:lnTo>
                <a:lnTo>
                  <a:pt x="180358" y="536707"/>
                </a:lnTo>
                <a:lnTo>
                  <a:pt x="227224" y="549575"/>
                </a:lnTo>
                <a:lnTo>
                  <a:pt x="277019" y="554038"/>
                </a:lnTo>
                <a:lnTo>
                  <a:pt x="326813" y="549575"/>
                </a:lnTo>
                <a:lnTo>
                  <a:pt x="373679" y="536707"/>
                </a:lnTo>
                <a:lnTo>
                  <a:pt x="416835" y="516217"/>
                </a:lnTo>
                <a:lnTo>
                  <a:pt x="455498" y="488887"/>
                </a:lnTo>
                <a:lnTo>
                  <a:pt x="488886" y="455499"/>
                </a:lnTo>
                <a:lnTo>
                  <a:pt x="516216" y="416836"/>
                </a:lnTo>
                <a:lnTo>
                  <a:pt x="536706" y="373680"/>
                </a:lnTo>
                <a:lnTo>
                  <a:pt x="549574" y="326813"/>
                </a:lnTo>
                <a:lnTo>
                  <a:pt x="554037" y="277018"/>
                </a:lnTo>
                <a:lnTo>
                  <a:pt x="549574" y="227224"/>
                </a:lnTo>
                <a:lnTo>
                  <a:pt x="536706" y="180357"/>
                </a:lnTo>
                <a:lnTo>
                  <a:pt x="516216" y="137202"/>
                </a:lnTo>
                <a:lnTo>
                  <a:pt x="488886" y="98539"/>
                </a:lnTo>
                <a:lnTo>
                  <a:pt x="455498" y="65151"/>
                </a:lnTo>
                <a:lnTo>
                  <a:pt x="416835" y="37821"/>
                </a:lnTo>
                <a:lnTo>
                  <a:pt x="373679" y="17331"/>
                </a:lnTo>
                <a:lnTo>
                  <a:pt x="326813" y="4463"/>
                </a:lnTo>
                <a:lnTo>
                  <a:pt x="277019" y="0"/>
                </a:lnTo>
                <a:close/>
              </a:path>
            </a:pathLst>
          </a:custGeom>
          <a:solidFill>
            <a:srgbClr val="D4D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57932" y="1782876"/>
            <a:ext cx="581025" cy="765810"/>
          </a:xfrm>
          <a:custGeom>
            <a:avLst/>
            <a:gdLst/>
            <a:ahLst/>
            <a:cxnLst/>
            <a:rect l="l" t="t" r="r" b="b"/>
            <a:pathLst>
              <a:path w="581025" h="765810">
                <a:moveTo>
                  <a:pt x="0" y="765329"/>
                </a:moveTo>
                <a:lnTo>
                  <a:pt x="5805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357932" y="2939968"/>
            <a:ext cx="702945" cy="1022985"/>
          </a:xfrm>
          <a:custGeom>
            <a:avLst/>
            <a:gdLst/>
            <a:ahLst/>
            <a:cxnLst/>
            <a:rect l="l" t="t" r="r" b="b"/>
            <a:pathLst>
              <a:path w="702944" h="1022985">
                <a:moveTo>
                  <a:pt x="0" y="0"/>
                </a:moveTo>
                <a:lnTo>
                  <a:pt x="702542" y="102253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330274" y="1782875"/>
            <a:ext cx="751840" cy="807085"/>
          </a:xfrm>
          <a:custGeom>
            <a:avLst/>
            <a:gdLst/>
            <a:ahLst/>
            <a:cxnLst/>
            <a:rect l="l" t="t" r="r" b="b"/>
            <a:pathLst>
              <a:path w="751839" h="807085">
                <a:moveTo>
                  <a:pt x="0" y="0"/>
                </a:moveTo>
                <a:lnTo>
                  <a:pt x="751237" y="8066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445491" y="2981262"/>
            <a:ext cx="636270" cy="909319"/>
          </a:xfrm>
          <a:custGeom>
            <a:avLst/>
            <a:gdLst/>
            <a:ahLst/>
            <a:cxnLst/>
            <a:rect l="l" t="t" r="r" b="b"/>
            <a:pathLst>
              <a:path w="636269" h="909320">
                <a:moveTo>
                  <a:pt x="0" y="908854"/>
                </a:moveTo>
                <a:lnTo>
                  <a:pt x="6360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78855" y="4391066"/>
            <a:ext cx="61594" cy="1564640"/>
          </a:xfrm>
          <a:custGeom>
            <a:avLst/>
            <a:gdLst/>
            <a:ahLst/>
            <a:cxnLst/>
            <a:rect l="l" t="t" r="r" b="b"/>
            <a:pathLst>
              <a:path w="61594" h="1564639">
                <a:moveTo>
                  <a:pt x="61504" y="0"/>
                </a:moveTo>
                <a:lnTo>
                  <a:pt x="0" y="156415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908415" y="6603951"/>
            <a:ext cx="184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30"/>
              </a:lnSpc>
            </a:pPr>
            <a:r>
              <a:rPr dirty="0" sz="1200" spc="-5">
                <a:solidFill>
                  <a:srgbClr val="898989"/>
                </a:solidFill>
                <a:latin typeface="Corbel"/>
                <a:cs typeface="Corbel"/>
              </a:rPr>
              <a:t>66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66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7726680" cy="5394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4098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1">
                <a:solidFill>
                  <a:srgbClr val="008000"/>
                </a:solidFill>
                <a:latin typeface="Calibri"/>
                <a:cs typeface="Calibri"/>
              </a:rPr>
              <a:t>Advantages</a:t>
            </a:r>
            <a:r>
              <a:rPr dirty="0" spc="-20">
                <a:solidFill>
                  <a:srgbClr val="008000"/>
                </a:solidFill>
              </a:rPr>
              <a:t>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7510780" cy="43935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>
                <a:latin typeface="Calibri"/>
                <a:cs typeface="Calibri"/>
              </a:rPr>
              <a:t>Easy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program </a:t>
            </a:r>
            <a:r>
              <a:rPr dirty="0" sz="2800">
                <a:latin typeface="Calibri"/>
                <a:cs typeface="Calibri"/>
              </a:rPr>
              <a:t>&amp;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parallelize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General: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apply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model with </a:t>
            </a:r>
            <a:r>
              <a:rPr dirty="0" sz="2800" spc="-220">
                <a:latin typeface="Calibri"/>
                <a:cs typeface="Calibri"/>
              </a:rPr>
              <a:t>any  </a:t>
            </a:r>
            <a:r>
              <a:rPr dirty="0" sz="2800" spc="-20">
                <a:latin typeface="Calibri"/>
                <a:cs typeface="Calibri"/>
              </a:rPr>
              <a:t>form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potentials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libri"/>
                <a:cs typeface="Calibri"/>
              </a:rPr>
              <a:t>Potential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higher </a:t>
            </a:r>
            <a:r>
              <a:rPr dirty="0" sz="2400" spc="-10">
                <a:latin typeface="Calibri"/>
                <a:cs typeface="Calibri"/>
              </a:rPr>
              <a:t>order: </a:t>
            </a:r>
            <a:r>
              <a:rPr dirty="0" sz="2400">
                <a:latin typeface="Calibri"/>
                <a:cs typeface="Calibri"/>
              </a:rPr>
              <a:t>e.g. </a:t>
            </a:r>
            <a:r>
              <a:rPr dirty="0" sz="2400" spc="-204">
                <a:latin typeface="Cambria Math"/>
                <a:cs typeface="Cambria Math"/>
              </a:rPr>
              <a:t>𝝍(𝑌</a:t>
            </a:r>
            <a:r>
              <a:rPr dirty="0" baseline="-15432" sz="2700" spc="-307">
                <a:latin typeface="Cambria Math"/>
                <a:cs typeface="Cambria Math"/>
              </a:rPr>
              <a:t>&lt;</a:t>
            </a:r>
            <a:r>
              <a:rPr dirty="0" sz="2400" spc="-204">
                <a:latin typeface="Cambria Math"/>
                <a:cs typeface="Cambria Math"/>
              </a:rPr>
              <a:t>, </a:t>
            </a:r>
            <a:r>
              <a:rPr dirty="0" sz="2400" spc="-340">
                <a:latin typeface="Cambria Math"/>
                <a:cs typeface="Cambria Math"/>
              </a:rPr>
              <a:t>𝑌</a:t>
            </a:r>
            <a:r>
              <a:rPr dirty="0" baseline="-15432" sz="2700" spc="-509">
                <a:latin typeface="Cambria Math"/>
                <a:cs typeface="Cambria Math"/>
              </a:rPr>
              <a:t>&gt;</a:t>
            </a:r>
            <a:r>
              <a:rPr dirty="0" sz="2400" spc="-340">
                <a:latin typeface="Cambria Math"/>
                <a:cs typeface="Cambria Math"/>
              </a:rPr>
              <a:t>,  </a:t>
            </a:r>
            <a:r>
              <a:rPr dirty="0" sz="2400" spc="-270">
                <a:latin typeface="Cambria Math"/>
                <a:cs typeface="Cambria Math"/>
              </a:rPr>
              <a:t>𝑌</a:t>
            </a:r>
            <a:r>
              <a:rPr dirty="0" baseline="-15432" sz="2700" spc="-405">
                <a:latin typeface="Cambria Math"/>
                <a:cs typeface="Cambria Math"/>
              </a:rPr>
              <a:t>@</a:t>
            </a:r>
            <a:r>
              <a:rPr dirty="0" sz="2400" spc="-270">
                <a:latin typeface="Cambria Math"/>
                <a:cs typeface="Cambria Math"/>
              </a:rPr>
              <a:t>,  </a:t>
            </a:r>
            <a:r>
              <a:rPr dirty="0" sz="2400" spc="50">
                <a:latin typeface="Cambria Math"/>
                <a:cs typeface="Cambria Math"/>
              </a:rPr>
              <a:t>𝑌</a:t>
            </a:r>
            <a:r>
              <a:rPr dirty="0" baseline="-15432" sz="2700" spc="75">
                <a:latin typeface="Cambria Math"/>
                <a:cs typeface="Cambria Math"/>
              </a:rPr>
              <a:t>!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2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1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Challenges</a:t>
            </a:r>
            <a:r>
              <a:rPr dirty="0" sz="3200" spc="-1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marR="125095" indent="-274320">
              <a:lnSpc>
                <a:spcPct val="101400"/>
              </a:lnSpc>
              <a:spcBef>
                <a:spcPts val="5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Convergence </a:t>
            </a:r>
            <a:r>
              <a:rPr dirty="0" sz="2800" spc="-5">
                <a:latin typeface="Calibri"/>
                <a:cs typeface="Calibri"/>
              </a:rPr>
              <a:t>is not </a:t>
            </a:r>
            <a:r>
              <a:rPr dirty="0" sz="2800" spc="-20">
                <a:latin typeface="Calibri"/>
                <a:cs typeface="Calibri"/>
              </a:rPr>
              <a:t>guaranteed </a:t>
            </a:r>
            <a:r>
              <a:rPr dirty="0" sz="2800" spc="-5">
                <a:latin typeface="Calibri"/>
                <a:cs typeface="Calibri"/>
              </a:rPr>
              <a:t>(when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75">
                <a:latin typeface="Calibri"/>
                <a:cs typeface="Calibri"/>
              </a:rPr>
              <a:t>stop),  </a:t>
            </a:r>
            <a:r>
              <a:rPr dirty="0" sz="2800" spc="-10">
                <a:latin typeface="Calibri"/>
                <a:cs typeface="Calibri"/>
              </a:rPr>
              <a:t>especially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closed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loops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Potential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functions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(parameters)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Require </a:t>
            </a:r>
            <a:r>
              <a:rPr dirty="0" sz="2800" spc="-10">
                <a:latin typeface="Calibri"/>
                <a:cs typeface="Calibri"/>
              </a:rPr>
              <a:t>training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estimate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/>
              <a:t>We </a:t>
            </a:r>
            <a:r>
              <a:rPr dirty="0" spc="-5"/>
              <a:t>learned how </a:t>
            </a:r>
            <a:r>
              <a:rPr dirty="0" spc="-15"/>
              <a:t>to </a:t>
            </a:r>
            <a:r>
              <a:rPr dirty="0" spc="-20"/>
              <a:t>leverage </a:t>
            </a:r>
            <a:r>
              <a:rPr dirty="0" spc="-15"/>
              <a:t>correlation </a:t>
            </a:r>
            <a:r>
              <a:rPr dirty="0"/>
              <a:t>in  </a:t>
            </a:r>
            <a:r>
              <a:rPr dirty="0" spc="-15"/>
              <a:t>graphs to </a:t>
            </a:r>
            <a:r>
              <a:rPr dirty="0" spc="-30"/>
              <a:t>make </a:t>
            </a:r>
            <a:r>
              <a:rPr dirty="0" spc="-10"/>
              <a:t>prediction </a:t>
            </a:r>
            <a:r>
              <a:rPr dirty="0"/>
              <a:t>on</a:t>
            </a:r>
            <a:r>
              <a:rPr dirty="0" spc="100"/>
              <a:t> </a:t>
            </a:r>
            <a:r>
              <a:rPr dirty="0" spc="-5"/>
              <a:t>nodes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/>
              <a:t>Key</a:t>
            </a:r>
            <a:r>
              <a:rPr dirty="0" spc="-80"/>
              <a:t> </a:t>
            </a:r>
            <a:r>
              <a:rPr dirty="0" spc="-5"/>
              <a:t>techniques: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819907"/>
            <a:ext cx="3888104" cy="155892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Relational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Iterative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Loopy </a:t>
            </a:r>
            <a:r>
              <a:rPr dirty="0" sz="2800" spc="-15">
                <a:latin typeface="Calibri"/>
                <a:cs typeface="Calibri"/>
              </a:rPr>
              <a:t>belief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propagation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2026-10-20T23:47:57Z</dcterms:created>
  <dcterms:modified xsi:type="dcterms:W3CDTF">2026-10-20T23:47:57Z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2021-02-15T00:00:00Z</vt:filetime>
  </property>
  <property fmtid="{D5CDD505-2E9C-101B-9397-08002B2CF9AE}" pid="3" name="LastSaved">
    <vt:filetime>2026-10-20T00:00:00Z</vt:filetime>
  </property>
</Properties>
</file>