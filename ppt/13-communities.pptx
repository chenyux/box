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006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18108" y="2414523"/>
            <a:ext cx="3373754" cy="34436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996696"/>
            <a:ext cx="9144000" cy="1127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8108" y="1348740"/>
            <a:ext cx="8159115" cy="9950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8108" y="2216065"/>
            <a:ext cx="8110220" cy="1998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F006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73615" y="6699893"/>
            <a:ext cx="3002279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54227" y="6699893"/>
            <a:ext cx="343534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5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image" Target="../media/image22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image" Target="../media/image24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png"/><Relationship Id="rId3" Type="http://schemas.openxmlformats.org/officeDocument/2006/relationships/image" Target="../media/image26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Relationship Id="rId3" Type="http://schemas.openxmlformats.org/officeDocument/2006/relationships/image" Target="../media/image28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34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36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8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jpg"/><Relationship Id="rId3" Type="http://schemas.openxmlformats.org/officeDocument/2006/relationships/image" Target="../media/image50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52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3" Type="http://schemas.openxmlformats.org/officeDocument/2006/relationships/image" Target="../media/image57.jpg"/><Relationship Id="rId4" Type="http://schemas.openxmlformats.org/officeDocument/2006/relationships/image" Target="../media/image58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62.jp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3" Type="http://schemas.openxmlformats.org/officeDocument/2006/relationships/image" Target="../media/image64.jp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66.jp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7.jpg"/><Relationship Id="rId3" Type="http://schemas.openxmlformats.org/officeDocument/2006/relationships/image" Target="../media/image68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.pn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8.png"/><Relationship Id="rId3" Type="http://schemas.openxmlformats.org/officeDocument/2006/relationships/image" Target="../media/image89.jp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0.png"/><Relationship Id="rId3" Type="http://schemas.openxmlformats.org/officeDocument/2006/relationships/image" Target="../media/image91.jp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2.png"/><Relationship Id="rId3" Type="http://schemas.openxmlformats.org/officeDocument/2006/relationships/image" Target="../media/image93.jp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98.jp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9.png"/><Relationship Id="rId3" Type="http://schemas.openxmlformats.org/officeDocument/2006/relationships/image" Target="../media/image100.jpg"/><Relationship Id="rId4" Type="http://schemas.openxmlformats.org/officeDocument/2006/relationships/image" Target="../media/image101.jp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2.png"/><Relationship Id="rId3" Type="http://schemas.openxmlformats.org/officeDocument/2006/relationships/image" Target="../media/image103.jp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4.png"/><Relationship Id="rId3" Type="http://schemas.openxmlformats.org/officeDocument/2006/relationships/image" Target="../media/image105.jp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6.jpg"/><Relationship Id="rId3" Type="http://schemas.openxmlformats.org/officeDocument/2006/relationships/image" Target="../media/image107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8.png"/><Relationship Id="rId3" Type="http://schemas.openxmlformats.org/officeDocument/2006/relationships/image" Target="../media/image109.jp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0.png"/><Relationship Id="rId3" Type="http://schemas.openxmlformats.org/officeDocument/2006/relationships/image" Target="../media/image111.png"/><Relationship Id="rId4" Type="http://schemas.openxmlformats.org/officeDocument/2006/relationships/image" Target="../media/image112.png"/><Relationship Id="rId5" Type="http://schemas.openxmlformats.org/officeDocument/2006/relationships/image" Target="../media/image113.png"/><Relationship Id="rId6" Type="http://schemas.openxmlformats.org/officeDocument/2006/relationships/image" Target="../media/image114.jpg"/><Relationship Id="rId7" Type="http://schemas.openxmlformats.org/officeDocument/2006/relationships/image" Target="../media/image115.pn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6.pn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7.png"/><Relationship Id="rId3" Type="http://schemas.openxmlformats.org/officeDocument/2006/relationships/image" Target="../media/image118.png"/><Relationship Id="rId4" Type="http://schemas.openxmlformats.org/officeDocument/2006/relationships/image" Target="../media/image119.png"/><Relationship Id="rId5" Type="http://schemas.openxmlformats.org/officeDocument/2006/relationships/image" Target="../media/image120.png"/><Relationship Id="rId6" Type="http://schemas.openxmlformats.org/officeDocument/2006/relationships/image" Target="../media/image121.png"/><Relationship Id="rId7" Type="http://schemas.openxmlformats.org/officeDocument/2006/relationships/image" Target="../media/image122.pn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3.png"/><Relationship Id="rId3" Type="http://schemas.openxmlformats.org/officeDocument/2006/relationships/image" Target="../media/image124.png"/><Relationship Id="rId4" Type="http://schemas.openxmlformats.org/officeDocument/2006/relationships/image" Target="../media/image125.png"/><Relationship Id="rId5" Type="http://schemas.openxmlformats.org/officeDocument/2006/relationships/image" Target="../media/image126.png"/><Relationship Id="rId6" Type="http://schemas.openxmlformats.org/officeDocument/2006/relationships/image" Target="../media/image127.png"/><Relationship Id="rId7" Type="http://schemas.openxmlformats.org/officeDocument/2006/relationships/image" Target="../media/image128.png"/><Relationship Id="rId8" Type="http://schemas.openxmlformats.org/officeDocument/2006/relationships/image" Target="../media/image129.pn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0.jpg"/><Relationship Id="rId3" Type="http://schemas.openxmlformats.org/officeDocument/2006/relationships/image" Target="../media/image131.jpg"/><Relationship Id="rId4" Type="http://schemas.openxmlformats.org/officeDocument/2006/relationships/image" Target="../media/image132.png"/><Relationship Id="rId5" Type="http://schemas.openxmlformats.org/officeDocument/2006/relationships/image" Target="../media/image133.png"/><Relationship Id="rId6" Type="http://schemas.openxmlformats.org/officeDocument/2006/relationships/image" Target="../media/image134.pn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5.png"/><Relationship Id="rId3" Type="http://schemas.openxmlformats.org/officeDocument/2006/relationships/image" Target="../media/image136.png"/><Relationship Id="rId4" Type="http://schemas.openxmlformats.org/officeDocument/2006/relationships/image" Target="../media/image137.png"/><Relationship Id="rId5" Type="http://schemas.openxmlformats.org/officeDocument/2006/relationships/image" Target="../media/image138.png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9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Relationship Id="rId5" Type="http://schemas.openxmlformats.org/officeDocument/2006/relationships/image" Target="../media/image142.pn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3.png"/><Relationship Id="rId3" Type="http://schemas.openxmlformats.org/officeDocument/2006/relationships/hyperlink" Target="http://cs224w.stanford.edu/" TargetMode="External"/><Relationship Id="rId4" Type="http://schemas.openxmlformats.org/officeDocument/2006/relationships/image" Target="../media/image144.png"/><Relationship Id="rId5" Type="http://schemas.openxmlformats.org/officeDocument/2006/relationships/image" Target="../media/image145.png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6.png"/><Relationship Id="rId3" Type="http://schemas.openxmlformats.org/officeDocument/2006/relationships/hyperlink" Target="http://cs224w.stanford.edu/" TargetMode="Externa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7.png"/><Relationship Id="rId3" Type="http://schemas.openxmlformats.org/officeDocument/2006/relationships/image" Target="../media/image148.png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9.png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0.png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1.png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2.png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3.png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4.png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5.png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6.png"/><Relationship Id="rId3" Type="http://schemas.openxmlformats.org/officeDocument/2006/relationships/image" Target="../media/image157.jpg"/><Relationship Id="rId4" Type="http://schemas.openxmlformats.org/officeDocument/2006/relationships/image" Target="../media/image158.jpg"/><Relationship Id="rId5" Type="http://schemas.openxmlformats.org/officeDocument/2006/relationships/image" Target="../media/image159.png"/><Relationship Id="rId6" Type="http://schemas.openxmlformats.org/officeDocument/2006/relationships/image" Target="../media/image160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7783" y="3078479"/>
            <a:ext cx="6388608" cy="19110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257544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680834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60">
                <a:solidFill>
                  <a:srgbClr val="D60093"/>
                </a:solidFill>
              </a:rPr>
              <a:t>We </a:t>
            </a:r>
            <a:r>
              <a:rPr dirty="0" spc="-10">
                <a:solidFill>
                  <a:srgbClr val="D60093"/>
                </a:solidFill>
              </a:rPr>
              <a:t>often </a:t>
            </a:r>
            <a:r>
              <a:rPr dirty="0" spc="-5">
                <a:solidFill>
                  <a:srgbClr val="D60093"/>
                </a:solidFill>
              </a:rPr>
              <a:t>think </a:t>
            </a:r>
            <a:r>
              <a:rPr dirty="0">
                <a:solidFill>
                  <a:srgbClr val="D60093"/>
                </a:solidFill>
              </a:rPr>
              <a:t>of </a:t>
            </a:r>
            <a:r>
              <a:rPr dirty="0" spc="-10">
                <a:solidFill>
                  <a:srgbClr val="D60093"/>
                </a:solidFill>
              </a:rPr>
              <a:t>networks </a:t>
            </a:r>
            <a:r>
              <a:rPr dirty="0" spc="5">
                <a:solidFill>
                  <a:srgbClr val="D60093"/>
                </a:solidFill>
              </a:rPr>
              <a:t>“looking”  </a:t>
            </a:r>
            <a:r>
              <a:rPr dirty="0" spc="-25">
                <a:solidFill>
                  <a:srgbClr val="D60093"/>
                </a:solidFill>
              </a:rPr>
              <a:t>like</a:t>
            </a:r>
            <a:r>
              <a:rPr dirty="0" spc="-65">
                <a:solidFill>
                  <a:srgbClr val="D60093"/>
                </a:solidFill>
              </a:rPr>
              <a:t> </a:t>
            </a:r>
            <a:r>
              <a:rPr dirty="0" spc="-5">
                <a:solidFill>
                  <a:srgbClr val="D60093"/>
                </a:solidFill>
              </a:rPr>
              <a:t>this: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5743955"/>
            <a:ext cx="6899909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What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led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such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a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conceptual</a:t>
            </a:r>
            <a:r>
              <a:rPr dirty="0" sz="3200" spc="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picture?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14600" y="1952625"/>
            <a:ext cx="3844272" cy="36861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7504176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050405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FF0066"/>
                </a:solidFill>
              </a:rPr>
              <a:t>How does </a:t>
            </a:r>
            <a:r>
              <a:rPr dirty="0" spc="-15">
                <a:solidFill>
                  <a:srgbClr val="FF0066"/>
                </a:solidFill>
              </a:rPr>
              <a:t>information </a:t>
            </a:r>
            <a:r>
              <a:rPr dirty="0" spc="-5">
                <a:solidFill>
                  <a:srgbClr val="FF0066"/>
                </a:solidFill>
              </a:rPr>
              <a:t>flow </a:t>
            </a:r>
            <a:r>
              <a:rPr dirty="0" spc="-10">
                <a:solidFill>
                  <a:srgbClr val="FF0066"/>
                </a:solidFill>
              </a:rPr>
              <a:t>through </a:t>
            </a:r>
            <a:r>
              <a:rPr dirty="0" spc="-5">
                <a:solidFill>
                  <a:srgbClr val="FF0066"/>
                </a:solidFill>
              </a:rPr>
              <a:t>the  </a:t>
            </a:r>
            <a:r>
              <a:rPr dirty="0" spc="-10">
                <a:solidFill>
                  <a:srgbClr val="FF0066"/>
                </a:solidFill>
              </a:rPr>
              <a:t>network?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2332227"/>
            <a:ext cx="7489825" cy="204851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People are “embedded” </a:t>
            </a: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social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network.</a:t>
            </a:r>
            <a:endParaRPr sz="2800">
              <a:latin typeface="Calibri"/>
              <a:cs typeface="Calibri"/>
            </a:endParaRPr>
          </a:p>
          <a:p>
            <a:pPr marL="287020" marR="5080" indent="-274320">
              <a:lnSpc>
                <a:spcPct val="101400"/>
              </a:lnSpc>
              <a:spcBef>
                <a:spcPts val="59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There are </a:t>
            </a:r>
            <a:r>
              <a:rPr dirty="0" sz="2800" spc="-25">
                <a:latin typeface="Calibri"/>
                <a:cs typeface="Calibri"/>
              </a:rPr>
              <a:t>different </a:t>
            </a:r>
            <a:r>
              <a:rPr dirty="0" sz="2800" spc="-10">
                <a:solidFill>
                  <a:srgbClr val="0000FF"/>
                </a:solidFill>
                <a:latin typeface="Calibri"/>
                <a:cs typeface="Calibri"/>
              </a:rPr>
              <a:t>links </a:t>
            </a:r>
            <a:r>
              <a:rPr dirty="0" sz="2800">
                <a:latin typeface="Calibri"/>
                <a:cs typeface="Calibri"/>
              </a:rPr>
              <a:t>(“</a:t>
            </a:r>
            <a:r>
              <a:rPr dirty="0" sz="2800">
                <a:solidFill>
                  <a:srgbClr val="0000FF"/>
                </a:solidFill>
                <a:latin typeface="Calibri"/>
                <a:cs typeface="Calibri"/>
              </a:rPr>
              <a:t>short” </a:t>
            </a:r>
            <a:r>
              <a:rPr dirty="0" sz="2800" spc="-5">
                <a:latin typeface="Calibri"/>
                <a:cs typeface="Calibri"/>
              </a:rPr>
              <a:t>vs. </a:t>
            </a:r>
            <a:r>
              <a:rPr dirty="0" sz="2800" spc="5">
                <a:solidFill>
                  <a:srgbClr val="0000FF"/>
                </a:solidFill>
                <a:latin typeface="Calibri"/>
                <a:cs typeface="Calibri"/>
              </a:rPr>
              <a:t>“long”</a:t>
            </a:r>
            <a:r>
              <a:rPr dirty="0" sz="2800" spc="5">
                <a:latin typeface="Calibri"/>
                <a:cs typeface="Calibri"/>
              </a:rPr>
              <a:t>) </a:t>
            </a: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 spc="-135">
                <a:latin typeface="Calibri"/>
                <a:cs typeface="Calibri"/>
              </a:rPr>
              <a:t>the  </a:t>
            </a:r>
            <a:r>
              <a:rPr dirty="0" sz="2800" spc="-10">
                <a:latin typeface="Calibri"/>
                <a:cs typeface="Calibri"/>
              </a:rPr>
              <a:t>network, through </a:t>
            </a:r>
            <a:r>
              <a:rPr dirty="0" sz="2800" spc="-5">
                <a:latin typeface="Calibri"/>
                <a:cs typeface="Calibri"/>
              </a:rPr>
              <a:t>which </a:t>
            </a:r>
            <a:r>
              <a:rPr dirty="0" sz="2800" spc="-15">
                <a:solidFill>
                  <a:srgbClr val="008000"/>
                </a:solidFill>
                <a:latin typeface="Calibri"/>
                <a:cs typeface="Calibri"/>
              </a:rPr>
              <a:t>information </a:t>
            </a:r>
            <a:r>
              <a:rPr dirty="0" sz="2800" spc="-10">
                <a:solidFill>
                  <a:srgbClr val="008000"/>
                </a:solidFill>
                <a:latin typeface="Calibri"/>
                <a:cs typeface="Calibri"/>
              </a:rPr>
              <a:t>flows</a:t>
            </a:r>
            <a:r>
              <a:rPr dirty="0" sz="2800" spc="-1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127000">
              <a:lnSpc>
                <a:spcPct val="100000"/>
              </a:lnSpc>
              <a:spcBef>
                <a:spcPts val="1620"/>
              </a:spcBef>
            </a:pPr>
            <a:r>
              <a:rPr dirty="0" sz="2400" spc="-5">
                <a:solidFill>
                  <a:srgbClr val="FF0066"/>
                </a:solidFill>
                <a:latin typeface="Arial"/>
                <a:cs typeface="Arial"/>
              </a:rPr>
              <a:t>Social</a:t>
            </a:r>
            <a:r>
              <a:rPr dirty="0" sz="2400" spc="-45">
                <a:solidFill>
                  <a:srgbClr val="FF0066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FF0066"/>
                </a:solidFill>
                <a:latin typeface="Arial"/>
                <a:cs typeface="Arial"/>
              </a:rPr>
              <a:t>network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11453" y="4939423"/>
            <a:ext cx="1550035" cy="127000"/>
          </a:xfrm>
          <a:custGeom>
            <a:avLst/>
            <a:gdLst/>
            <a:ahLst/>
            <a:cxnLst/>
            <a:rect l="l" t="t" r="r" b="b"/>
            <a:pathLst>
              <a:path w="1550035" h="127000">
                <a:moveTo>
                  <a:pt x="0" y="0"/>
                </a:moveTo>
                <a:lnTo>
                  <a:pt x="1549704" y="126559"/>
                </a:lnTo>
              </a:path>
            </a:pathLst>
          </a:custGeom>
          <a:ln w="3810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869341" y="5046812"/>
            <a:ext cx="479425" cy="427355"/>
          </a:xfrm>
          <a:custGeom>
            <a:avLst/>
            <a:gdLst/>
            <a:ahLst/>
            <a:cxnLst/>
            <a:rect l="l" t="t" r="r" b="b"/>
            <a:pathLst>
              <a:path w="479425" h="427354">
                <a:moveTo>
                  <a:pt x="0" y="0"/>
                </a:moveTo>
                <a:lnTo>
                  <a:pt x="479220" y="426800"/>
                </a:lnTo>
              </a:path>
            </a:pathLst>
          </a:custGeom>
          <a:ln w="1016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594008" y="5581002"/>
            <a:ext cx="515620" cy="168910"/>
          </a:xfrm>
          <a:custGeom>
            <a:avLst/>
            <a:gdLst/>
            <a:ahLst/>
            <a:cxnLst/>
            <a:rect l="l" t="t" r="r" b="b"/>
            <a:pathLst>
              <a:path w="515620" h="168910">
                <a:moveTo>
                  <a:pt x="0" y="0"/>
                </a:moveTo>
                <a:lnTo>
                  <a:pt x="515605" y="168400"/>
                </a:lnTo>
              </a:path>
            </a:pathLst>
          </a:custGeom>
          <a:ln w="3810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647859" y="5091294"/>
            <a:ext cx="120014" cy="1012825"/>
          </a:xfrm>
          <a:custGeom>
            <a:avLst/>
            <a:gdLst/>
            <a:ahLst/>
            <a:cxnLst/>
            <a:rect l="l" t="t" r="r" b="b"/>
            <a:pathLst>
              <a:path w="120014" h="1012825">
                <a:moveTo>
                  <a:pt x="119816" y="0"/>
                </a:moveTo>
                <a:lnTo>
                  <a:pt x="0" y="1012474"/>
                </a:lnTo>
              </a:path>
            </a:pathLst>
          </a:custGeom>
          <a:ln w="1016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150446" y="5830704"/>
            <a:ext cx="396240" cy="318135"/>
          </a:xfrm>
          <a:custGeom>
            <a:avLst/>
            <a:gdLst/>
            <a:ahLst/>
            <a:cxnLst/>
            <a:rect l="l" t="t" r="r" b="b"/>
            <a:pathLst>
              <a:path w="396239" h="318135">
                <a:moveTo>
                  <a:pt x="395745" y="317546"/>
                </a:moveTo>
                <a:lnTo>
                  <a:pt x="0" y="0"/>
                </a:lnTo>
              </a:path>
            </a:pathLst>
          </a:custGeom>
          <a:ln w="1016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150447" y="5046812"/>
            <a:ext cx="515620" cy="569595"/>
          </a:xfrm>
          <a:custGeom>
            <a:avLst/>
            <a:gdLst/>
            <a:ahLst/>
            <a:cxnLst/>
            <a:rect l="l" t="t" r="r" b="b"/>
            <a:pathLst>
              <a:path w="515619" h="569595">
                <a:moveTo>
                  <a:pt x="515561" y="0"/>
                </a:moveTo>
                <a:lnTo>
                  <a:pt x="0" y="569113"/>
                </a:lnTo>
              </a:path>
            </a:pathLst>
          </a:custGeom>
          <a:ln w="1016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749525" y="5688391"/>
            <a:ext cx="599440" cy="460375"/>
          </a:xfrm>
          <a:custGeom>
            <a:avLst/>
            <a:gdLst/>
            <a:ahLst/>
            <a:cxnLst/>
            <a:rect l="l" t="t" r="r" b="b"/>
            <a:pathLst>
              <a:path w="599439" h="460375">
                <a:moveTo>
                  <a:pt x="599036" y="0"/>
                </a:moveTo>
                <a:lnTo>
                  <a:pt x="0" y="459858"/>
                </a:lnTo>
              </a:path>
            </a:pathLst>
          </a:custGeom>
          <a:ln w="1016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192558" y="5581003"/>
            <a:ext cx="1114425" cy="142875"/>
          </a:xfrm>
          <a:custGeom>
            <a:avLst/>
            <a:gdLst/>
            <a:ahLst/>
            <a:cxnLst/>
            <a:rect l="l" t="t" r="r" b="b"/>
            <a:pathLst>
              <a:path w="1114425" h="142875">
                <a:moveTo>
                  <a:pt x="0" y="142313"/>
                </a:moveTo>
                <a:lnTo>
                  <a:pt x="1113892" y="0"/>
                </a:lnTo>
              </a:path>
            </a:pathLst>
          </a:custGeom>
          <a:ln w="1016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306450" y="5429131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4" h="304164">
                <a:moveTo>
                  <a:pt x="143779" y="0"/>
                </a:moveTo>
                <a:lnTo>
                  <a:pt x="98334" y="7742"/>
                </a:lnTo>
                <a:lnTo>
                  <a:pt x="58865" y="29302"/>
                </a:lnTo>
                <a:lnTo>
                  <a:pt x="27741" y="62177"/>
                </a:lnTo>
                <a:lnTo>
                  <a:pt x="7329" y="103867"/>
                </a:lnTo>
                <a:lnTo>
                  <a:pt x="0" y="151870"/>
                </a:lnTo>
                <a:lnTo>
                  <a:pt x="7329" y="199873"/>
                </a:lnTo>
                <a:lnTo>
                  <a:pt x="27741" y="241563"/>
                </a:lnTo>
                <a:lnTo>
                  <a:pt x="58865" y="274439"/>
                </a:lnTo>
                <a:lnTo>
                  <a:pt x="98334" y="295999"/>
                </a:lnTo>
                <a:lnTo>
                  <a:pt x="143779" y="303742"/>
                </a:lnTo>
                <a:lnTo>
                  <a:pt x="189224" y="295999"/>
                </a:lnTo>
                <a:lnTo>
                  <a:pt x="228693" y="274439"/>
                </a:lnTo>
                <a:lnTo>
                  <a:pt x="259817" y="241563"/>
                </a:lnTo>
                <a:lnTo>
                  <a:pt x="280228" y="199873"/>
                </a:lnTo>
                <a:lnTo>
                  <a:pt x="287558" y="151870"/>
                </a:lnTo>
                <a:lnTo>
                  <a:pt x="280228" y="103867"/>
                </a:lnTo>
                <a:lnTo>
                  <a:pt x="259817" y="62177"/>
                </a:lnTo>
                <a:lnTo>
                  <a:pt x="228693" y="29302"/>
                </a:lnTo>
                <a:lnTo>
                  <a:pt x="189224" y="7742"/>
                </a:lnTo>
                <a:lnTo>
                  <a:pt x="1437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306450" y="5429131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4" h="304164">
                <a:moveTo>
                  <a:pt x="0" y="151871"/>
                </a:moveTo>
                <a:lnTo>
                  <a:pt x="7329" y="103868"/>
                </a:lnTo>
                <a:lnTo>
                  <a:pt x="27741" y="62177"/>
                </a:lnTo>
                <a:lnTo>
                  <a:pt x="58864" y="29302"/>
                </a:lnTo>
                <a:lnTo>
                  <a:pt x="98333" y="7742"/>
                </a:lnTo>
                <a:lnTo>
                  <a:pt x="143779" y="0"/>
                </a:lnTo>
                <a:lnTo>
                  <a:pt x="189224" y="7742"/>
                </a:lnTo>
                <a:lnTo>
                  <a:pt x="228692" y="29302"/>
                </a:lnTo>
                <a:lnTo>
                  <a:pt x="259816" y="62177"/>
                </a:lnTo>
                <a:lnTo>
                  <a:pt x="280228" y="103868"/>
                </a:lnTo>
                <a:lnTo>
                  <a:pt x="287558" y="151871"/>
                </a:lnTo>
                <a:lnTo>
                  <a:pt x="280228" y="199873"/>
                </a:lnTo>
                <a:lnTo>
                  <a:pt x="259816" y="241564"/>
                </a:lnTo>
                <a:lnTo>
                  <a:pt x="228692" y="274439"/>
                </a:lnTo>
                <a:lnTo>
                  <a:pt x="189224" y="295999"/>
                </a:lnTo>
                <a:lnTo>
                  <a:pt x="143779" y="303742"/>
                </a:lnTo>
                <a:lnTo>
                  <a:pt x="98333" y="295999"/>
                </a:lnTo>
                <a:lnTo>
                  <a:pt x="58864" y="274439"/>
                </a:lnTo>
                <a:lnTo>
                  <a:pt x="27741" y="241564"/>
                </a:lnTo>
                <a:lnTo>
                  <a:pt x="7329" y="199873"/>
                </a:lnTo>
                <a:lnTo>
                  <a:pt x="0" y="151871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905000" y="5571444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5" h="304164">
                <a:moveTo>
                  <a:pt x="143779" y="0"/>
                </a:moveTo>
                <a:lnTo>
                  <a:pt x="98334" y="7742"/>
                </a:lnTo>
                <a:lnTo>
                  <a:pt x="58865" y="29302"/>
                </a:lnTo>
                <a:lnTo>
                  <a:pt x="27741" y="62178"/>
                </a:lnTo>
                <a:lnTo>
                  <a:pt x="7329" y="103868"/>
                </a:lnTo>
                <a:lnTo>
                  <a:pt x="0" y="151871"/>
                </a:lnTo>
                <a:lnTo>
                  <a:pt x="7329" y="199874"/>
                </a:lnTo>
                <a:lnTo>
                  <a:pt x="27741" y="241564"/>
                </a:lnTo>
                <a:lnTo>
                  <a:pt x="58865" y="274440"/>
                </a:lnTo>
                <a:lnTo>
                  <a:pt x="98334" y="295999"/>
                </a:lnTo>
                <a:lnTo>
                  <a:pt x="143779" y="303742"/>
                </a:lnTo>
                <a:lnTo>
                  <a:pt x="189224" y="295999"/>
                </a:lnTo>
                <a:lnTo>
                  <a:pt x="228693" y="274440"/>
                </a:lnTo>
                <a:lnTo>
                  <a:pt x="259817" y="241564"/>
                </a:lnTo>
                <a:lnTo>
                  <a:pt x="280228" y="199874"/>
                </a:lnTo>
                <a:lnTo>
                  <a:pt x="287558" y="151871"/>
                </a:lnTo>
                <a:lnTo>
                  <a:pt x="280228" y="103868"/>
                </a:lnTo>
                <a:lnTo>
                  <a:pt x="259817" y="62178"/>
                </a:lnTo>
                <a:lnTo>
                  <a:pt x="228693" y="29302"/>
                </a:lnTo>
                <a:lnTo>
                  <a:pt x="189224" y="7742"/>
                </a:lnTo>
                <a:lnTo>
                  <a:pt x="1437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905000" y="5571444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5" h="304164">
                <a:moveTo>
                  <a:pt x="0" y="151871"/>
                </a:moveTo>
                <a:lnTo>
                  <a:pt x="7329" y="103868"/>
                </a:lnTo>
                <a:lnTo>
                  <a:pt x="27741" y="62177"/>
                </a:lnTo>
                <a:lnTo>
                  <a:pt x="58864" y="29302"/>
                </a:lnTo>
                <a:lnTo>
                  <a:pt x="98333" y="7742"/>
                </a:lnTo>
                <a:lnTo>
                  <a:pt x="143779" y="0"/>
                </a:lnTo>
                <a:lnTo>
                  <a:pt x="189224" y="7742"/>
                </a:lnTo>
                <a:lnTo>
                  <a:pt x="228692" y="29302"/>
                </a:lnTo>
                <a:lnTo>
                  <a:pt x="259816" y="62177"/>
                </a:lnTo>
                <a:lnTo>
                  <a:pt x="280228" y="103868"/>
                </a:lnTo>
                <a:lnTo>
                  <a:pt x="287558" y="151871"/>
                </a:lnTo>
                <a:lnTo>
                  <a:pt x="280228" y="199873"/>
                </a:lnTo>
                <a:lnTo>
                  <a:pt x="259816" y="241564"/>
                </a:lnTo>
                <a:lnTo>
                  <a:pt x="228692" y="274439"/>
                </a:lnTo>
                <a:lnTo>
                  <a:pt x="189224" y="295999"/>
                </a:lnTo>
                <a:lnTo>
                  <a:pt x="143779" y="303742"/>
                </a:lnTo>
                <a:lnTo>
                  <a:pt x="98333" y="295999"/>
                </a:lnTo>
                <a:lnTo>
                  <a:pt x="58864" y="274439"/>
                </a:lnTo>
                <a:lnTo>
                  <a:pt x="27741" y="241564"/>
                </a:lnTo>
                <a:lnTo>
                  <a:pt x="7329" y="199873"/>
                </a:lnTo>
                <a:lnTo>
                  <a:pt x="0" y="151871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748716" y="5065983"/>
            <a:ext cx="439420" cy="201930"/>
          </a:xfrm>
          <a:custGeom>
            <a:avLst/>
            <a:gdLst/>
            <a:ahLst/>
            <a:cxnLst/>
            <a:rect l="l" t="t" r="r" b="b"/>
            <a:pathLst>
              <a:path w="439420" h="201929">
                <a:moveTo>
                  <a:pt x="0" y="0"/>
                </a:moveTo>
                <a:lnTo>
                  <a:pt x="439240" y="201719"/>
                </a:lnTo>
              </a:path>
            </a:pathLst>
          </a:custGeom>
          <a:ln w="1016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253392" y="5173372"/>
            <a:ext cx="250190" cy="424180"/>
          </a:xfrm>
          <a:custGeom>
            <a:avLst/>
            <a:gdLst/>
            <a:ahLst/>
            <a:cxnLst/>
            <a:rect l="l" t="t" r="r" b="b"/>
            <a:pathLst>
              <a:path w="250189" h="424179">
                <a:moveTo>
                  <a:pt x="0" y="424159"/>
                </a:moveTo>
                <a:lnTo>
                  <a:pt x="249878" y="0"/>
                </a:lnTo>
              </a:path>
            </a:pathLst>
          </a:custGeom>
          <a:ln w="1016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397171" y="5749402"/>
            <a:ext cx="671195" cy="353695"/>
          </a:xfrm>
          <a:custGeom>
            <a:avLst/>
            <a:gdLst/>
            <a:ahLst/>
            <a:cxnLst/>
            <a:rect l="l" t="t" r="r" b="b"/>
            <a:pathLst>
              <a:path w="671195" h="353695">
                <a:moveTo>
                  <a:pt x="0" y="0"/>
                </a:moveTo>
                <a:lnTo>
                  <a:pt x="670969" y="353590"/>
                </a:lnTo>
              </a:path>
            </a:pathLst>
          </a:custGeom>
          <a:ln w="1016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355059" y="5375091"/>
            <a:ext cx="875030" cy="267335"/>
          </a:xfrm>
          <a:custGeom>
            <a:avLst/>
            <a:gdLst/>
            <a:ahLst/>
            <a:cxnLst/>
            <a:rect l="l" t="t" r="r" b="b"/>
            <a:pathLst>
              <a:path w="875029" h="267335">
                <a:moveTo>
                  <a:pt x="0" y="266922"/>
                </a:moveTo>
                <a:lnTo>
                  <a:pt x="875009" y="0"/>
                </a:lnTo>
              </a:path>
            </a:pathLst>
          </a:custGeom>
          <a:ln w="1016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211919" y="5419573"/>
            <a:ext cx="120014" cy="532130"/>
          </a:xfrm>
          <a:custGeom>
            <a:avLst/>
            <a:gdLst/>
            <a:ahLst/>
            <a:cxnLst/>
            <a:rect l="l" t="t" r="r" b="b"/>
            <a:pathLst>
              <a:path w="120014" h="532129">
                <a:moveTo>
                  <a:pt x="0" y="531549"/>
                </a:moveTo>
                <a:lnTo>
                  <a:pt x="119816" y="0"/>
                </a:lnTo>
              </a:path>
            </a:pathLst>
          </a:custGeom>
          <a:ln w="1016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461158" y="4914111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4" h="304164">
                <a:moveTo>
                  <a:pt x="143779" y="0"/>
                </a:moveTo>
                <a:lnTo>
                  <a:pt x="98333" y="7742"/>
                </a:lnTo>
                <a:lnTo>
                  <a:pt x="58864" y="29302"/>
                </a:lnTo>
                <a:lnTo>
                  <a:pt x="27740" y="62178"/>
                </a:lnTo>
                <a:lnTo>
                  <a:pt x="7329" y="103868"/>
                </a:lnTo>
                <a:lnTo>
                  <a:pt x="0" y="151871"/>
                </a:lnTo>
                <a:lnTo>
                  <a:pt x="7329" y="199874"/>
                </a:lnTo>
                <a:lnTo>
                  <a:pt x="27740" y="241564"/>
                </a:lnTo>
                <a:lnTo>
                  <a:pt x="58864" y="274439"/>
                </a:lnTo>
                <a:lnTo>
                  <a:pt x="98333" y="295999"/>
                </a:lnTo>
                <a:lnTo>
                  <a:pt x="143779" y="303742"/>
                </a:lnTo>
                <a:lnTo>
                  <a:pt x="189224" y="295999"/>
                </a:lnTo>
                <a:lnTo>
                  <a:pt x="228692" y="274439"/>
                </a:lnTo>
                <a:lnTo>
                  <a:pt x="259816" y="241564"/>
                </a:lnTo>
                <a:lnTo>
                  <a:pt x="280227" y="199874"/>
                </a:lnTo>
                <a:lnTo>
                  <a:pt x="287557" y="151871"/>
                </a:lnTo>
                <a:lnTo>
                  <a:pt x="280227" y="103868"/>
                </a:lnTo>
                <a:lnTo>
                  <a:pt x="259816" y="62178"/>
                </a:lnTo>
                <a:lnTo>
                  <a:pt x="228692" y="29302"/>
                </a:lnTo>
                <a:lnTo>
                  <a:pt x="189224" y="7742"/>
                </a:lnTo>
                <a:lnTo>
                  <a:pt x="1437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461158" y="4914111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4" h="304164">
                <a:moveTo>
                  <a:pt x="0" y="151871"/>
                </a:moveTo>
                <a:lnTo>
                  <a:pt x="7329" y="103868"/>
                </a:lnTo>
                <a:lnTo>
                  <a:pt x="27741" y="62177"/>
                </a:lnTo>
                <a:lnTo>
                  <a:pt x="58864" y="29302"/>
                </a:lnTo>
                <a:lnTo>
                  <a:pt x="98333" y="7742"/>
                </a:lnTo>
                <a:lnTo>
                  <a:pt x="143779" y="0"/>
                </a:lnTo>
                <a:lnTo>
                  <a:pt x="189224" y="7742"/>
                </a:lnTo>
                <a:lnTo>
                  <a:pt x="228692" y="29302"/>
                </a:lnTo>
                <a:lnTo>
                  <a:pt x="259816" y="62177"/>
                </a:lnTo>
                <a:lnTo>
                  <a:pt x="280228" y="103868"/>
                </a:lnTo>
                <a:lnTo>
                  <a:pt x="287558" y="151871"/>
                </a:lnTo>
                <a:lnTo>
                  <a:pt x="280228" y="199873"/>
                </a:lnTo>
                <a:lnTo>
                  <a:pt x="259816" y="241564"/>
                </a:lnTo>
                <a:lnTo>
                  <a:pt x="228692" y="274439"/>
                </a:lnTo>
                <a:lnTo>
                  <a:pt x="189224" y="295999"/>
                </a:lnTo>
                <a:lnTo>
                  <a:pt x="143779" y="303742"/>
                </a:lnTo>
                <a:lnTo>
                  <a:pt x="98333" y="295999"/>
                </a:lnTo>
                <a:lnTo>
                  <a:pt x="58864" y="274439"/>
                </a:lnTo>
                <a:lnTo>
                  <a:pt x="27741" y="241564"/>
                </a:lnTo>
                <a:lnTo>
                  <a:pt x="7329" y="199873"/>
                </a:lnTo>
                <a:lnTo>
                  <a:pt x="0" y="151871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109613" y="5597531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4" h="304164">
                <a:moveTo>
                  <a:pt x="143777" y="0"/>
                </a:moveTo>
                <a:lnTo>
                  <a:pt x="98332" y="7742"/>
                </a:lnTo>
                <a:lnTo>
                  <a:pt x="58864" y="29302"/>
                </a:lnTo>
                <a:lnTo>
                  <a:pt x="27740" y="62177"/>
                </a:lnTo>
                <a:lnTo>
                  <a:pt x="7329" y="103867"/>
                </a:lnTo>
                <a:lnTo>
                  <a:pt x="0" y="151870"/>
                </a:lnTo>
                <a:lnTo>
                  <a:pt x="7329" y="199873"/>
                </a:lnTo>
                <a:lnTo>
                  <a:pt x="27740" y="241564"/>
                </a:lnTo>
                <a:lnTo>
                  <a:pt x="58864" y="274439"/>
                </a:lnTo>
                <a:lnTo>
                  <a:pt x="98332" y="295999"/>
                </a:lnTo>
                <a:lnTo>
                  <a:pt x="143777" y="303741"/>
                </a:lnTo>
                <a:lnTo>
                  <a:pt x="189223" y="295999"/>
                </a:lnTo>
                <a:lnTo>
                  <a:pt x="228692" y="274439"/>
                </a:lnTo>
                <a:lnTo>
                  <a:pt x="259816" y="241564"/>
                </a:lnTo>
                <a:lnTo>
                  <a:pt x="280227" y="199873"/>
                </a:lnTo>
                <a:lnTo>
                  <a:pt x="287557" y="151870"/>
                </a:lnTo>
                <a:lnTo>
                  <a:pt x="280227" y="103867"/>
                </a:lnTo>
                <a:lnTo>
                  <a:pt x="259816" y="62177"/>
                </a:lnTo>
                <a:lnTo>
                  <a:pt x="228692" y="29302"/>
                </a:lnTo>
                <a:lnTo>
                  <a:pt x="189223" y="7742"/>
                </a:lnTo>
                <a:lnTo>
                  <a:pt x="14377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109613" y="5597531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4" h="304164">
                <a:moveTo>
                  <a:pt x="0" y="151871"/>
                </a:moveTo>
                <a:lnTo>
                  <a:pt x="7329" y="103868"/>
                </a:lnTo>
                <a:lnTo>
                  <a:pt x="27741" y="62177"/>
                </a:lnTo>
                <a:lnTo>
                  <a:pt x="58864" y="29302"/>
                </a:lnTo>
                <a:lnTo>
                  <a:pt x="98333" y="7742"/>
                </a:lnTo>
                <a:lnTo>
                  <a:pt x="143779" y="0"/>
                </a:lnTo>
                <a:lnTo>
                  <a:pt x="189224" y="7742"/>
                </a:lnTo>
                <a:lnTo>
                  <a:pt x="228692" y="29302"/>
                </a:lnTo>
                <a:lnTo>
                  <a:pt x="259816" y="62177"/>
                </a:lnTo>
                <a:lnTo>
                  <a:pt x="280228" y="103868"/>
                </a:lnTo>
                <a:lnTo>
                  <a:pt x="287558" y="151871"/>
                </a:lnTo>
                <a:lnTo>
                  <a:pt x="280228" y="199873"/>
                </a:lnTo>
                <a:lnTo>
                  <a:pt x="259816" y="241564"/>
                </a:lnTo>
                <a:lnTo>
                  <a:pt x="228692" y="274439"/>
                </a:lnTo>
                <a:lnTo>
                  <a:pt x="189224" y="295999"/>
                </a:lnTo>
                <a:lnTo>
                  <a:pt x="143779" y="303742"/>
                </a:lnTo>
                <a:lnTo>
                  <a:pt x="98333" y="295999"/>
                </a:lnTo>
                <a:lnTo>
                  <a:pt x="58864" y="274439"/>
                </a:lnTo>
                <a:lnTo>
                  <a:pt x="27741" y="241564"/>
                </a:lnTo>
                <a:lnTo>
                  <a:pt x="7329" y="199873"/>
                </a:lnTo>
                <a:lnTo>
                  <a:pt x="0" y="151871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187956" y="5115830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4" h="304164">
                <a:moveTo>
                  <a:pt x="143779" y="0"/>
                </a:moveTo>
                <a:lnTo>
                  <a:pt x="98334" y="7742"/>
                </a:lnTo>
                <a:lnTo>
                  <a:pt x="58865" y="29302"/>
                </a:lnTo>
                <a:lnTo>
                  <a:pt x="27741" y="62178"/>
                </a:lnTo>
                <a:lnTo>
                  <a:pt x="7329" y="103868"/>
                </a:lnTo>
                <a:lnTo>
                  <a:pt x="0" y="151871"/>
                </a:lnTo>
                <a:lnTo>
                  <a:pt x="7329" y="199874"/>
                </a:lnTo>
                <a:lnTo>
                  <a:pt x="27741" y="241564"/>
                </a:lnTo>
                <a:lnTo>
                  <a:pt x="58865" y="274439"/>
                </a:lnTo>
                <a:lnTo>
                  <a:pt x="98334" y="295999"/>
                </a:lnTo>
                <a:lnTo>
                  <a:pt x="143779" y="303742"/>
                </a:lnTo>
                <a:lnTo>
                  <a:pt x="189224" y="295999"/>
                </a:lnTo>
                <a:lnTo>
                  <a:pt x="228693" y="274439"/>
                </a:lnTo>
                <a:lnTo>
                  <a:pt x="259817" y="241564"/>
                </a:lnTo>
                <a:lnTo>
                  <a:pt x="280228" y="199874"/>
                </a:lnTo>
                <a:lnTo>
                  <a:pt x="287558" y="151871"/>
                </a:lnTo>
                <a:lnTo>
                  <a:pt x="280228" y="103868"/>
                </a:lnTo>
                <a:lnTo>
                  <a:pt x="259817" y="62178"/>
                </a:lnTo>
                <a:lnTo>
                  <a:pt x="228693" y="29302"/>
                </a:lnTo>
                <a:lnTo>
                  <a:pt x="189224" y="7742"/>
                </a:lnTo>
                <a:lnTo>
                  <a:pt x="1437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187956" y="5115830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4" h="304164">
                <a:moveTo>
                  <a:pt x="0" y="151871"/>
                </a:moveTo>
                <a:lnTo>
                  <a:pt x="7329" y="103868"/>
                </a:lnTo>
                <a:lnTo>
                  <a:pt x="27741" y="62177"/>
                </a:lnTo>
                <a:lnTo>
                  <a:pt x="58864" y="29302"/>
                </a:lnTo>
                <a:lnTo>
                  <a:pt x="98333" y="7742"/>
                </a:lnTo>
                <a:lnTo>
                  <a:pt x="143779" y="0"/>
                </a:lnTo>
                <a:lnTo>
                  <a:pt x="189224" y="7742"/>
                </a:lnTo>
                <a:lnTo>
                  <a:pt x="228692" y="29302"/>
                </a:lnTo>
                <a:lnTo>
                  <a:pt x="259816" y="62177"/>
                </a:lnTo>
                <a:lnTo>
                  <a:pt x="280228" y="103868"/>
                </a:lnTo>
                <a:lnTo>
                  <a:pt x="287558" y="151871"/>
                </a:lnTo>
                <a:lnTo>
                  <a:pt x="280228" y="199873"/>
                </a:lnTo>
                <a:lnTo>
                  <a:pt x="259816" y="241564"/>
                </a:lnTo>
                <a:lnTo>
                  <a:pt x="228692" y="274439"/>
                </a:lnTo>
                <a:lnTo>
                  <a:pt x="189224" y="295999"/>
                </a:lnTo>
                <a:lnTo>
                  <a:pt x="143779" y="303742"/>
                </a:lnTo>
                <a:lnTo>
                  <a:pt x="98333" y="295999"/>
                </a:lnTo>
                <a:lnTo>
                  <a:pt x="58864" y="274439"/>
                </a:lnTo>
                <a:lnTo>
                  <a:pt x="27741" y="241564"/>
                </a:lnTo>
                <a:lnTo>
                  <a:pt x="7329" y="199873"/>
                </a:lnTo>
                <a:lnTo>
                  <a:pt x="0" y="151871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068140" y="5951122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4" h="304164">
                <a:moveTo>
                  <a:pt x="143779" y="0"/>
                </a:moveTo>
                <a:lnTo>
                  <a:pt x="98334" y="7742"/>
                </a:lnTo>
                <a:lnTo>
                  <a:pt x="58865" y="29302"/>
                </a:lnTo>
                <a:lnTo>
                  <a:pt x="27741" y="62178"/>
                </a:lnTo>
                <a:lnTo>
                  <a:pt x="7329" y="103868"/>
                </a:lnTo>
                <a:lnTo>
                  <a:pt x="0" y="151871"/>
                </a:lnTo>
                <a:lnTo>
                  <a:pt x="7329" y="199874"/>
                </a:lnTo>
                <a:lnTo>
                  <a:pt x="27741" y="241564"/>
                </a:lnTo>
                <a:lnTo>
                  <a:pt x="58865" y="274439"/>
                </a:lnTo>
                <a:lnTo>
                  <a:pt x="98334" y="295999"/>
                </a:lnTo>
                <a:lnTo>
                  <a:pt x="143779" y="303742"/>
                </a:lnTo>
                <a:lnTo>
                  <a:pt x="189224" y="295999"/>
                </a:lnTo>
                <a:lnTo>
                  <a:pt x="228693" y="274439"/>
                </a:lnTo>
                <a:lnTo>
                  <a:pt x="259817" y="241564"/>
                </a:lnTo>
                <a:lnTo>
                  <a:pt x="280228" y="199874"/>
                </a:lnTo>
                <a:lnTo>
                  <a:pt x="287558" y="151871"/>
                </a:lnTo>
                <a:lnTo>
                  <a:pt x="280228" y="103868"/>
                </a:lnTo>
                <a:lnTo>
                  <a:pt x="259817" y="62178"/>
                </a:lnTo>
                <a:lnTo>
                  <a:pt x="228693" y="29302"/>
                </a:lnTo>
                <a:lnTo>
                  <a:pt x="189224" y="7742"/>
                </a:lnTo>
                <a:lnTo>
                  <a:pt x="1437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068140" y="5951122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4" h="304164">
                <a:moveTo>
                  <a:pt x="0" y="151871"/>
                </a:moveTo>
                <a:lnTo>
                  <a:pt x="7329" y="103868"/>
                </a:lnTo>
                <a:lnTo>
                  <a:pt x="27741" y="62177"/>
                </a:lnTo>
                <a:lnTo>
                  <a:pt x="58864" y="29302"/>
                </a:lnTo>
                <a:lnTo>
                  <a:pt x="98333" y="7742"/>
                </a:lnTo>
                <a:lnTo>
                  <a:pt x="143779" y="0"/>
                </a:lnTo>
                <a:lnTo>
                  <a:pt x="189224" y="7742"/>
                </a:lnTo>
                <a:lnTo>
                  <a:pt x="228692" y="29302"/>
                </a:lnTo>
                <a:lnTo>
                  <a:pt x="259816" y="62177"/>
                </a:lnTo>
                <a:lnTo>
                  <a:pt x="280228" y="103868"/>
                </a:lnTo>
                <a:lnTo>
                  <a:pt x="287558" y="151871"/>
                </a:lnTo>
                <a:lnTo>
                  <a:pt x="280228" y="199873"/>
                </a:lnTo>
                <a:lnTo>
                  <a:pt x="259816" y="241564"/>
                </a:lnTo>
                <a:lnTo>
                  <a:pt x="228692" y="274439"/>
                </a:lnTo>
                <a:lnTo>
                  <a:pt x="189224" y="295999"/>
                </a:lnTo>
                <a:lnTo>
                  <a:pt x="143779" y="303742"/>
                </a:lnTo>
                <a:lnTo>
                  <a:pt x="98333" y="295999"/>
                </a:lnTo>
                <a:lnTo>
                  <a:pt x="58864" y="274439"/>
                </a:lnTo>
                <a:lnTo>
                  <a:pt x="27741" y="241564"/>
                </a:lnTo>
                <a:lnTo>
                  <a:pt x="7329" y="199873"/>
                </a:lnTo>
                <a:lnTo>
                  <a:pt x="0" y="151871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623896" y="4787553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5" h="304164">
                <a:moveTo>
                  <a:pt x="143779" y="0"/>
                </a:moveTo>
                <a:lnTo>
                  <a:pt x="98333" y="7742"/>
                </a:lnTo>
                <a:lnTo>
                  <a:pt x="58864" y="29302"/>
                </a:lnTo>
                <a:lnTo>
                  <a:pt x="27740" y="62177"/>
                </a:lnTo>
                <a:lnTo>
                  <a:pt x="7329" y="103867"/>
                </a:lnTo>
                <a:lnTo>
                  <a:pt x="0" y="151870"/>
                </a:lnTo>
                <a:lnTo>
                  <a:pt x="7329" y="199873"/>
                </a:lnTo>
                <a:lnTo>
                  <a:pt x="27740" y="241563"/>
                </a:lnTo>
                <a:lnTo>
                  <a:pt x="58864" y="274439"/>
                </a:lnTo>
                <a:lnTo>
                  <a:pt x="98333" y="295999"/>
                </a:lnTo>
                <a:lnTo>
                  <a:pt x="143779" y="303742"/>
                </a:lnTo>
                <a:lnTo>
                  <a:pt x="189224" y="295999"/>
                </a:lnTo>
                <a:lnTo>
                  <a:pt x="228692" y="274439"/>
                </a:lnTo>
                <a:lnTo>
                  <a:pt x="259816" y="241563"/>
                </a:lnTo>
                <a:lnTo>
                  <a:pt x="280227" y="199873"/>
                </a:lnTo>
                <a:lnTo>
                  <a:pt x="287557" y="151870"/>
                </a:lnTo>
                <a:lnTo>
                  <a:pt x="280227" y="103867"/>
                </a:lnTo>
                <a:lnTo>
                  <a:pt x="259816" y="62177"/>
                </a:lnTo>
                <a:lnTo>
                  <a:pt x="228692" y="29302"/>
                </a:lnTo>
                <a:lnTo>
                  <a:pt x="189224" y="7742"/>
                </a:lnTo>
                <a:lnTo>
                  <a:pt x="1437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623896" y="4787553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5" h="304164">
                <a:moveTo>
                  <a:pt x="0" y="151871"/>
                </a:moveTo>
                <a:lnTo>
                  <a:pt x="7329" y="103868"/>
                </a:lnTo>
                <a:lnTo>
                  <a:pt x="27741" y="62177"/>
                </a:lnTo>
                <a:lnTo>
                  <a:pt x="58864" y="29302"/>
                </a:lnTo>
                <a:lnTo>
                  <a:pt x="98333" y="7742"/>
                </a:lnTo>
                <a:lnTo>
                  <a:pt x="143779" y="0"/>
                </a:lnTo>
                <a:lnTo>
                  <a:pt x="189224" y="7742"/>
                </a:lnTo>
                <a:lnTo>
                  <a:pt x="228692" y="29302"/>
                </a:lnTo>
                <a:lnTo>
                  <a:pt x="259816" y="62177"/>
                </a:lnTo>
                <a:lnTo>
                  <a:pt x="280228" y="103868"/>
                </a:lnTo>
                <a:lnTo>
                  <a:pt x="287558" y="151871"/>
                </a:lnTo>
                <a:lnTo>
                  <a:pt x="280228" y="199873"/>
                </a:lnTo>
                <a:lnTo>
                  <a:pt x="259816" y="241564"/>
                </a:lnTo>
                <a:lnTo>
                  <a:pt x="228692" y="274439"/>
                </a:lnTo>
                <a:lnTo>
                  <a:pt x="189224" y="295999"/>
                </a:lnTo>
                <a:lnTo>
                  <a:pt x="143779" y="303742"/>
                </a:lnTo>
                <a:lnTo>
                  <a:pt x="98333" y="295999"/>
                </a:lnTo>
                <a:lnTo>
                  <a:pt x="58864" y="274439"/>
                </a:lnTo>
                <a:lnTo>
                  <a:pt x="27741" y="241564"/>
                </a:lnTo>
                <a:lnTo>
                  <a:pt x="7329" y="199873"/>
                </a:lnTo>
                <a:lnTo>
                  <a:pt x="0" y="151871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504080" y="6103768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5" h="304164">
                <a:moveTo>
                  <a:pt x="143777" y="0"/>
                </a:moveTo>
                <a:lnTo>
                  <a:pt x="98332" y="7742"/>
                </a:lnTo>
                <a:lnTo>
                  <a:pt x="58864" y="29302"/>
                </a:lnTo>
                <a:lnTo>
                  <a:pt x="27740" y="62177"/>
                </a:lnTo>
                <a:lnTo>
                  <a:pt x="7329" y="103867"/>
                </a:lnTo>
                <a:lnTo>
                  <a:pt x="0" y="151870"/>
                </a:lnTo>
                <a:lnTo>
                  <a:pt x="7329" y="199873"/>
                </a:lnTo>
                <a:lnTo>
                  <a:pt x="27740" y="241564"/>
                </a:lnTo>
                <a:lnTo>
                  <a:pt x="58864" y="274439"/>
                </a:lnTo>
                <a:lnTo>
                  <a:pt x="98332" y="295999"/>
                </a:lnTo>
                <a:lnTo>
                  <a:pt x="143777" y="303741"/>
                </a:lnTo>
                <a:lnTo>
                  <a:pt x="189223" y="295999"/>
                </a:lnTo>
                <a:lnTo>
                  <a:pt x="228692" y="274439"/>
                </a:lnTo>
                <a:lnTo>
                  <a:pt x="259816" y="241564"/>
                </a:lnTo>
                <a:lnTo>
                  <a:pt x="280227" y="199873"/>
                </a:lnTo>
                <a:lnTo>
                  <a:pt x="287557" y="151870"/>
                </a:lnTo>
                <a:lnTo>
                  <a:pt x="280227" y="103867"/>
                </a:lnTo>
                <a:lnTo>
                  <a:pt x="259816" y="62177"/>
                </a:lnTo>
                <a:lnTo>
                  <a:pt x="228692" y="29302"/>
                </a:lnTo>
                <a:lnTo>
                  <a:pt x="189223" y="7742"/>
                </a:lnTo>
                <a:lnTo>
                  <a:pt x="14377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504080" y="6103768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5" h="304164">
                <a:moveTo>
                  <a:pt x="0" y="151871"/>
                </a:moveTo>
                <a:lnTo>
                  <a:pt x="7329" y="103868"/>
                </a:lnTo>
                <a:lnTo>
                  <a:pt x="27741" y="62177"/>
                </a:lnTo>
                <a:lnTo>
                  <a:pt x="58864" y="29302"/>
                </a:lnTo>
                <a:lnTo>
                  <a:pt x="98333" y="7742"/>
                </a:lnTo>
                <a:lnTo>
                  <a:pt x="143779" y="0"/>
                </a:lnTo>
                <a:lnTo>
                  <a:pt x="189224" y="7742"/>
                </a:lnTo>
                <a:lnTo>
                  <a:pt x="228692" y="29302"/>
                </a:lnTo>
                <a:lnTo>
                  <a:pt x="259816" y="62177"/>
                </a:lnTo>
                <a:lnTo>
                  <a:pt x="280228" y="103868"/>
                </a:lnTo>
                <a:lnTo>
                  <a:pt x="287558" y="151871"/>
                </a:lnTo>
                <a:lnTo>
                  <a:pt x="280228" y="199873"/>
                </a:lnTo>
                <a:lnTo>
                  <a:pt x="259816" y="241564"/>
                </a:lnTo>
                <a:lnTo>
                  <a:pt x="228692" y="274439"/>
                </a:lnTo>
                <a:lnTo>
                  <a:pt x="189224" y="295999"/>
                </a:lnTo>
                <a:lnTo>
                  <a:pt x="143779" y="303742"/>
                </a:lnTo>
                <a:lnTo>
                  <a:pt x="98333" y="295999"/>
                </a:lnTo>
                <a:lnTo>
                  <a:pt x="58864" y="274439"/>
                </a:lnTo>
                <a:lnTo>
                  <a:pt x="27741" y="241564"/>
                </a:lnTo>
                <a:lnTo>
                  <a:pt x="7329" y="199873"/>
                </a:lnTo>
                <a:lnTo>
                  <a:pt x="0" y="151871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646453" y="4365943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4" h="304164">
                <a:moveTo>
                  <a:pt x="143779" y="0"/>
                </a:moveTo>
                <a:lnTo>
                  <a:pt x="98334" y="7742"/>
                </a:lnTo>
                <a:lnTo>
                  <a:pt x="58865" y="29302"/>
                </a:lnTo>
                <a:lnTo>
                  <a:pt x="27741" y="62178"/>
                </a:lnTo>
                <a:lnTo>
                  <a:pt x="7329" y="103868"/>
                </a:lnTo>
                <a:lnTo>
                  <a:pt x="0" y="151871"/>
                </a:lnTo>
                <a:lnTo>
                  <a:pt x="7329" y="199874"/>
                </a:lnTo>
                <a:lnTo>
                  <a:pt x="27741" y="241564"/>
                </a:lnTo>
                <a:lnTo>
                  <a:pt x="58865" y="274439"/>
                </a:lnTo>
                <a:lnTo>
                  <a:pt x="98334" y="295999"/>
                </a:lnTo>
                <a:lnTo>
                  <a:pt x="143779" y="303742"/>
                </a:lnTo>
                <a:lnTo>
                  <a:pt x="189224" y="295999"/>
                </a:lnTo>
                <a:lnTo>
                  <a:pt x="228693" y="274439"/>
                </a:lnTo>
                <a:lnTo>
                  <a:pt x="259817" y="241564"/>
                </a:lnTo>
                <a:lnTo>
                  <a:pt x="280228" y="199874"/>
                </a:lnTo>
                <a:lnTo>
                  <a:pt x="287558" y="151871"/>
                </a:lnTo>
                <a:lnTo>
                  <a:pt x="280228" y="103868"/>
                </a:lnTo>
                <a:lnTo>
                  <a:pt x="259817" y="62178"/>
                </a:lnTo>
                <a:lnTo>
                  <a:pt x="228693" y="29302"/>
                </a:lnTo>
                <a:lnTo>
                  <a:pt x="189224" y="7742"/>
                </a:lnTo>
                <a:lnTo>
                  <a:pt x="1437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646453" y="4365943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4" h="304164">
                <a:moveTo>
                  <a:pt x="0" y="151871"/>
                </a:moveTo>
                <a:lnTo>
                  <a:pt x="7329" y="103868"/>
                </a:lnTo>
                <a:lnTo>
                  <a:pt x="27741" y="62177"/>
                </a:lnTo>
                <a:lnTo>
                  <a:pt x="58864" y="29302"/>
                </a:lnTo>
                <a:lnTo>
                  <a:pt x="98333" y="7742"/>
                </a:lnTo>
                <a:lnTo>
                  <a:pt x="143779" y="0"/>
                </a:lnTo>
                <a:lnTo>
                  <a:pt x="189224" y="7742"/>
                </a:lnTo>
                <a:lnTo>
                  <a:pt x="228692" y="29302"/>
                </a:lnTo>
                <a:lnTo>
                  <a:pt x="259816" y="62177"/>
                </a:lnTo>
                <a:lnTo>
                  <a:pt x="280228" y="103868"/>
                </a:lnTo>
                <a:lnTo>
                  <a:pt x="287558" y="151871"/>
                </a:lnTo>
                <a:lnTo>
                  <a:pt x="280228" y="199873"/>
                </a:lnTo>
                <a:lnTo>
                  <a:pt x="259816" y="241564"/>
                </a:lnTo>
                <a:lnTo>
                  <a:pt x="228692" y="274439"/>
                </a:lnTo>
                <a:lnTo>
                  <a:pt x="189224" y="295999"/>
                </a:lnTo>
                <a:lnTo>
                  <a:pt x="143779" y="303742"/>
                </a:lnTo>
                <a:lnTo>
                  <a:pt x="98333" y="295999"/>
                </a:lnTo>
                <a:lnTo>
                  <a:pt x="58864" y="274439"/>
                </a:lnTo>
                <a:lnTo>
                  <a:pt x="27741" y="241564"/>
                </a:lnTo>
                <a:lnTo>
                  <a:pt x="7329" y="199873"/>
                </a:lnTo>
                <a:lnTo>
                  <a:pt x="0" y="151871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490186" y="5109266"/>
            <a:ext cx="496570" cy="0"/>
          </a:xfrm>
          <a:custGeom>
            <a:avLst/>
            <a:gdLst/>
            <a:ahLst/>
            <a:cxnLst/>
            <a:rect l="l" t="t" r="r" b="b"/>
            <a:pathLst>
              <a:path w="496570" h="0">
                <a:moveTo>
                  <a:pt x="0" y="0"/>
                </a:moveTo>
                <a:lnTo>
                  <a:pt x="496186" y="1"/>
                </a:lnTo>
              </a:path>
            </a:pathLst>
          </a:custGeom>
          <a:ln w="1016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496720" y="5608694"/>
            <a:ext cx="496570" cy="0"/>
          </a:xfrm>
          <a:custGeom>
            <a:avLst/>
            <a:gdLst/>
            <a:ahLst/>
            <a:cxnLst/>
            <a:rect l="l" t="t" r="r" b="b"/>
            <a:pathLst>
              <a:path w="496570" h="0">
                <a:moveTo>
                  <a:pt x="0" y="0"/>
                </a:moveTo>
                <a:lnTo>
                  <a:pt x="496186" y="1"/>
                </a:lnTo>
              </a:path>
            </a:pathLst>
          </a:custGeom>
          <a:ln w="3810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7284171" y="4294123"/>
            <a:ext cx="1651635" cy="1506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: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person</a:t>
            </a:r>
            <a:endParaRPr sz="2400">
              <a:latin typeface="Arial"/>
              <a:cs typeface="Arial"/>
            </a:endParaRPr>
          </a:p>
          <a:p>
            <a:pPr marL="45720">
              <a:lnSpc>
                <a:spcPct val="100000"/>
              </a:lnSpc>
              <a:spcBef>
                <a:spcPts val="1705"/>
              </a:spcBef>
            </a:pPr>
            <a:r>
              <a:rPr dirty="0" sz="2400">
                <a:latin typeface="Arial"/>
                <a:cs typeface="Arial"/>
              </a:rPr>
              <a:t>: </a:t>
            </a:r>
            <a:r>
              <a:rPr dirty="0" sz="2400" spc="-5">
                <a:latin typeface="Arial"/>
                <a:cs typeface="Arial"/>
              </a:rPr>
              <a:t>“short”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link</a:t>
            </a:r>
            <a:endParaRPr sz="2400">
              <a:latin typeface="Arial"/>
              <a:cs typeface="Arial"/>
            </a:endParaRPr>
          </a:p>
          <a:p>
            <a:pPr marL="60960">
              <a:lnSpc>
                <a:spcPct val="100000"/>
              </a:lnSpc>
              <a:spcBef>
                <a:spcPts val="1320"/>
              </a:spcBef>
            </a:pPr>
            <a:r>
              <a:rPr dirty="0" sz="2400">
                <a:latin typeface="Arial"/>
                <a:cs typeface="Arial"/>
              </a:rPr>
              <a:t>: </a:t>
            </a:r>
            <a:r>
              <a:rPr dirty="0" sz="2400" spc="-5">
                <a:latin typeface="Arial"/>
                <a:cs typeface="Arial"/>
              </a:rPr>
              <a:t>“long”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link</a:t>
            </a:r>
            <a:endParaRPr sz="24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037892" y="4647913"/>
            <a:ext cx="659130" cy="716280"/>
          </a:xfrm>
          <a:custGeom>
            <a:avLst/>
            <a:gdLst/>
            <a:ahLst/>
            <a:cxnLst/>
            <a:rect l="l" t="t" r="r" b="b"/>
            <a:pathLst>
              <a:path w="659130" h="716279">
                <a:moveTo>
                  <a:pt x="0" y="715766"/>
                </a:moveTo>
                <a:lnTo>
                  <a:pt x="658988" y="0"/>
                </a:lnTo>
              </a:path>
            </a:pathLst>
          </a:custGeom>
          <a:ln w="28575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695060" y="4632183"/>
            <a:ext cx="1941195" cy="197485"/>
          </a:xfrm>
          <a:custGeom>
            <a:avLst/>
            <a:gdLst/>
            <a:ahLst/>
            <a:cxnLst/>
            <a:rect l="l" t="t" r="r" b="b"/>
            <a:pathLst>
              <a:path w="1941195" h="197485">
                <a:moveTo>
                  <a:pt x="1854540" y="168778"/>
                </a:moveTo>
                <a:lnTo>
                  <a:pt x="1852378" y="197271"/>
                </a:lnTo>
                <a:lnTo>
                  <a:pt x="1918002" y="170456"/>
                </a:lnTo>
                <a:lnTo>
                  <a:pt x="1876654" y="170456"/>
                </a:lnTo>
                <a:lnTo>
                  <a:pt x="1854540" y="168778"/>
                </a:lnTo>
                <a:close/>
              </a:path>
              <a:path w="1941195" h="197485">
                <a:moveTo>
                  <a:pt x="1856702" y="140286"/>
                </a:moveTo>
                <a:lnTo>
                  <a:pt x="1854540" y="168778"/>
                </a:lnTo>
                <a:lnTo>
                  <a:pt x="1876654" y="170456"/>
                </a:lnTo>
                <a:lnTo>
                  <a:pt x="1883516" y="164562"/>
                </a:lnTo>
                <a:lnTo>
                  <a:pt x="1884711" y="148826"/>
                </a:lnTo>
                <a:lnTo>
                  <a:pt x="1878816" y="141964"/>
                </a:lnTo>
                <a:lnTo>
                  <a:pt x="1856702" y="140286"/>
                </a:lnTo>
                <a:close/>
              </a:path>
              <a:path w="1941195" h="197485">
                <a:moveTo>
                  <a:pt x="1858864" y="111793"/>
                </a:moveTo>
                <a:lnTo>
                  <a:pt x="1856702" y="140286"/>
                </a:lnTo>
                <a:lnTo>
                  <a:pt x="1878816" y="141964"/>
                </a:lnTo>
                <a:lnTo>
                  <a:pt x="1884711" y="148826"/>
                </a:lnTo>
                <a:lnTo>
                  <a:pt x="1883516" y="164562"/>
                </a:lnTo>
                <a:lnTo>
                  <a:pt x="1876654" y="170456"/>
                </a:lnTo>
                <a:lnTo>
                  <a:pt x="1918002" y="170456"/>
                </a:lnTo>
                <a:lnTo>
                  <a:pt x="1941101" y="161018"/>
                </a:lnTo>
                <a:lnTo>
                  <a:pt x="1858864" y="111793"/>
                </a:lnTo>
                <a:close/>
              </a:path>
              <a:path w="1941195" h="197485">
                <a:moveTo>
                  <a:pt x="8056" y="0"/>
                </a:moveTo>
                <a:lnTo>
                  <a:pt x="1195" y="5894"/>
                </a:lnTo>
                <a:lnTo>
                  <a:pt x="0" y="21630"/>
                </a:lnTo>
                <a:lnTo>
                  <a:pt x="5895" y="28493"/>
                </a:lnTo>
                <a:lnTo>
                  <a:pt x="1854540" y="168778"/>
                </a:lnTo>
                <a:lnTo>
                  <a:pt x="1856702" y="140286"/>
                </a:lnTo>
                <a:lnTo>
                  <a:pt x="8056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3385190" y="4373371"/>
            <a:ext cx="1804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Information</a:t>
            </a:r>
            <a:r>
              <a:rPr dirty="0" sz="1800" spc="-70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flow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5782056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6647" y="1205484"/>
            <a:ext cx="721550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FF0066"/>
                </a:solidFill>
              </a:rPr>
              <a:t>How do people find out </a:t>
            </a:r>
            <a:r>
              <a:rPr dirty="0" spc="-10">
                <a:solidFill>
                  <a:srgbClr val="FF0066"/>
                </a:solidFill>
              </a:rPr>
              <a:t>about new</a:t>
            </a:r>
            <a:r>
              <a:rPr dirty="0" spc="15">
                <a:solidFill>
                  <a:srgbClr val="FF0066"/>
                </a:solidFill>
              </a:rPr>
              <a:t> </a:t>
            </a:r>
            <a:r>
              <a:rPr dirty="0" spc="-10">
                <a:solidFill>
                  <a:srgbClr val="FF0066"/>
                </a:solidFill>
              </a:rPr>
              <a:t>jobs?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6647" y="1689608"/>
            <a:ext cx="8484870" cy="338201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77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700" spc="-5">
                <a:latin typeface="Calibri"/>
                <a:cs typeface="Calibri"/>
              </a:rPr>
              <a:t>Mark </a:t>
            </a:r>
            <a:r>
              <a:rPr dirty="0" sz="2700" spc="-40">
                <a:latin typeface="Calibri"/>
                <a:cs typeface="Calibri"/>
              </a:rPr>
              <a:t>Granovetter, </a:t>
            </a:r>
            <a:r>
              <a:rPr dirty="0" sz="2700" spc="-10">
                <a:latin typeface="Calibri"/>
                <a:cs typeface="Calibri"/>
              </a:rPr>
              <a:t>part </a:t>
            </a:r>
            <a:r>
              <a:rPr dirty="0" sz="2700">
                <a:latin typeface="Calibri"/>
                <a:cs typeface="Calibri"/>
              </a:rPr>
              <a:t>of </a:t>
            </a:r>
            <a:r>
              <a:rPr dirty="0" sz="2700" spc="-5">
                <a:latin typeface="Calibri"/>
                <a:cs typeface="Calibri"/>
              </a:rPr>
              <a:t>his PhD </a:t>
            </a:r>
            <a:r>
              <a:rPr dirty="0" sz="2700">
                <a:latin typeface="Calibri"/>
                <a:cs typeface="Calibri"/>
              </a:rPr>
              <a:t>in </a:t>
            </a:r>
            <a:r>
              <a:rPr dirty="0" sz="2700" spc="-10">
                <a:latin typeface="Calibri"/>
                <a:cs typeface="Calibri"/>
              </a:rPr>
              <a:t>1960s</a:t>
            </a:r>
            <a:endParaRPr sz="2700">
              <a:latin typeface="Calibri"/>
              <a:cs typeface="Calibri"/>
            </a:endParaRPr>
          </a:p>
          <a:p>
            <a:pPr marL="625475" indent="-274320">
              <a:lnSpc>
                <a:spcPts val="3220"/>
              </a:lnSpc>
              <a:spcBef>
                <a:spcPts val="67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700" spc="-15">
                <a:latin typeface="Calibri"/>
                <a:cs typeface="Calibri"/>
              </a:rPr>
              <a:t>People </a:t>
            </a:r>
            <a:r>
              <a:rPr dirty="0" sz="2700" spc="-5">
                <a:latin typeface="Calibri"/>
                <a:cs typeface="Calibri"/>
              </a:rPr>
              <a:t>find the </a:t>
            </a:r>
            <a:r>
              <a:rPr dirty="0" sz="2700" spc="-15">
                <a:latin typeface="Calibri"/>
                <a:cs typeface="Calibri"/>
              </a:rPr>
              <a:t>information </a:t>
            </a:r>
            <a:r>
              <a:rPr dirty="0" sz="2700" spc="-10" b="1">
                <a:latin typeface="Calibri"/>
                <a:cs typeface="Calibri"/>
              </a:rPr>
              <a:t>through personal</a:t>
            </a:r>
            <a:r>
              <a:rPr dirty="0" sz="2700" spc="114" b="1">
                <a:latin typeface="Calibri"/>
                <a:cs typeface="Calibri"/>
              </a:rPr>
              <a:t> </a:t>
            </a:r>
            <a:r>
              <a:rPr dirty="0" sz="2700" spc="-15" b="1">
                <a:latin typeface="Calibri"/>
                <a:cs typeface="Calibri"/>
              </a:rPr>
              <a:t>contacts</a:t>
            </a:r>
            <a:endParaRPr sz="2700">
              <a:latin typeface="Calibri"/>
              <a:cs typeface="Calibri"/>
            </a:endParaRPr>
          </a:p>
          <a:p>
            <a:pPr marL="332740" indent="-320040">
              <a:lnSpc>
                <a:spcPts val="382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FF0066"/>
                </a:solidFill>
                <a:latin typeface="Calibri"/>
                <a:cs typeface="Calibri"/>
              </a:rPr>
              <a:t>But: </a:t>
            </a:r>
            <a:r>
              <a:rPr dirty="0" sz="3200" spc="-10">
                <a:latin typeface="Calibri"/>
                <a:cs typeface="Calibri"/>
              </a:rPr>
              <a:t>Contacts </a:t>
            </a:r>
            <a:r>
              <a:rPr dirty="0" sz="3200" spc="-25">
                <a:latin typeface="Calibri"/>
                <a:cs typeface="Calibri"/>
              </a:rPr>
              <a:t>were </a:t>
            </a:r>
            <a:r>
              <a:rPr dirty="0" sz="3200" spc="-10">
                <a:latin typeface="Calibri"/>
                <a:cs typeface="Calibri"/>
              </a:rPr>
              <a:t>often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FF0066"/>
                </a:solidFill>
                <a:latin typeface="Calibri"/>
                <a:cs typeface="Calibri"/>
              </a:rPr>
              <a:t>acquaintances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ct val="100000"/>
              </a:lnSpc>
              <a:spcBef>
                <a:spcPts val="70"/>
              </a:spcBef>
            </a:pPr>
            <a:r>
              <a:rPr dirty="0" sz="3200" spc="-20">
                <a:latin typeface="Calibri"/>
                <a:cs typeface="Calibri"/>
              </a:rPr>
              <a:t>rather </a:t>
            </a:r>
            <a:r>
              <a:rPr dirty="0" sz="3200">
                <a:latin typeface="Calibri"/>
                <a:cs typeface="Calibri"/>
              </a:rPr>
              <a:t>than </a:t>
            </a:r>
            <a:r>
              <a:rPr dirty="0" sz="3200" spc="-5">
                <a:latin typeface="Calibri"/>
                <a:cs typeface="Calibri"/>
              </a:rPr>
              <a:t>close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friends</a:t>
            </a:r>
            <a:endParaRPr sz="3200">
              <a:latin typeface="Calibri"/>
              <a:cs typeface="Calibri"/>
            </a:endParaRPr>
          </a:p>
          <a:p>
            <a:pPr lvl="1" marL="625475" marR="5080" indent="-274320">
              <a:lnSpc>
                <a:spcPts val="3220"/>
              </a:lnSpc>
              <a:spcBef>
                <a:spcPts val="76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700" spc="-5" b="1">
                <a:solidFill>
                  <a:srgbClr val="0000FF"/>
                </a:solidFill>
                <a:latin typeface="Calibri"/>
                <a:cs typeface="Calibri"/>
              </a:rPr>
              <a:t>This is surprising: </a:t>
            </a:r>
            <a:r>
              <a:rPr dirty="0" sz="2700" spc="-5">
                <a:latin typeface="Calibri"/>
                <a:cs typeface="Calibri"/>
              </a:rPr>
              <a:t>One </a:t>
            </a:r>
            <a:r>
              <a:rPr dirty="0" sz="2700" spc="-10">
                <a:latin typeface="Calibri"/>
                <a:cs typeface="Calibri"/>
              </a:rPr>
              <a:t>would </a:t>
            </a:r>
            <a:r>
              <a:rPr dirty="0" sz="2700" spc="-15">
                <a:latin typeface="Calibri"/>
                <a:cs typeface="Calibri"/>
              </a:rPr>
              <a:t>expect </a:t>
            </a:r>
            <a:r>
              <a:rPr dirty="0" sz="2700" spc="-10">
                <a:latin typeface="Calibri"/>
                <a:cs typeface="Calibri"/>
              </a:rPr>
              <a:t>your </a:t>
            </a:r>
            <a:r>
              <a:rPr dirty="0" sz="2700" spc="-5">
                <a:latin typeface="Calibri"/>
                <a:cs typeface="Calibri"/>
              </a:rPr>
              <a:t>friends </a:t>
            </a:r>
            <a:r>
              <a:rPr dirty="0" sz="2700" spc="-20">
                <a:latin typeface="Calibri"/>
                <a:cs typeface="Calibri"/>
              </a:rPr>
              <a:t>to </a:t>
            </a:r>
            <a:r>
              <a:rPr dirty="0" sz="2700" spc="-145">
                <a:latin typeface="Calibri"/>
                <a:cs typeface="Calibri"/>
              </a:rPr>
              <a:t>help  </a:t>
            </a:r>
            <a:r>
              <a:rPr dirty="0" sz="2700" spc="-10">
                <a:latin typeface="Calibri"/>
                <a:cs typeface="Calibri"/>
              </a:rPr>
              <a:t>you </a:t>
            </a:r>
            <a:r>
              <a:rPr dirty="0" sz="2700" spc="-5">
                <a:latin typeface="Calibri"/>
                <a:cs typeface="Calibri"/>
              </a:rPr>
              <a:t>out </a:t>
            </a:r>
            <a:r>
              <a:rPr dirty="0" sz="2700" spc="-10">
                <a:latin typeface="Calibri"/>
                <a:cs typeface="Calibri"/>
              </a:rPr>
              <a:t>more than </a:t>
            </a:r>
            <a:r>
              <a:rPr dirty="0" sz="2700" spc="-15">
                <a:latin typeface="Calibri"/>
                <a:cs typeface="Calibri"/>
              </a:rPr>
              <a:t>casual</a:t>
            </a:r>
            <a:r>
              <a:rPr dirty="0" sz="2700" spc="0">
                <a:latin typeface="Calibri"/>
                <a:cs typeface="Calibri"/>
              </a:rPr>
              <a:t> </a:t>
            </a:r>
            <a:r>
              <a:rPr dirty="0" sz="2700" spc="-15">
                <a:latin typeface="Calibri"/>
                <a:cs typeface="Calibri"/>
              </a:rPr>
              <a:t>acquaintances</a:t>
            </a:r>
            <a:endParaRPr sz="2700">
              <a:latin typeface="Calibri"/>
              <a:cs typeface="Calibri"/>
            </a:endParaRPr>
          </a:p>
          <a:p>
            <a:pPr marL="332740" indent="-320040">
              <a:lnSpc>
                <a:spcPts val="369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5" b="1">
                <a:solidFill>
                  <a:srgbClr val="D60093"/>
                </a:solidFill>
                <a:latin typeface="Calibri"/>
                <a:cs typeface="Calibri"/>
              </a:rPr>
              <a:t>Why 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is it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that acquaintances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are most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 helpful?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30453" y="5252753"/>
            <a:ext cx="1550035" cy="127000"/>
          </a:xfrm>
          <a:custGeom>
            <a:avLst/>
            <a:gdLst/>
            <a:ahLst/>
            <a:cxnLst/>
            <a:rect l="l" t="t" r="r" b="b"/>
            <a:pathLst>
              <a:path w="1550035" h="127000">
                <a:moveTo>
                  <a:pt x="0" y="0"/>
                </a:moveTo>
                <a:lnTo>
                  <a:pt x="1549704" y="126559"/>
                </a:lnTo>
              </a:path>
            </a:pathLst>
          </a:custGeom>
          <a:ln w="3810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488341" y="5360141"/>
            <a:ext cx="479425" cy="427355"/>
          </a:xfrm>
          <a:custGeom>
            <a:avLst/>
            <a:gdLst/>
            <a:ahLst/>
            <a:cxnLst/>
            <a:rect l="l" t="t" r="r" b="b"/>
            <a:pathLst>
              <a:path w="479425" h="427354">
                <a:moveTo>
                  <a:pt x="0" y="0"/>
                </a:moveTo>
                <a:lnTo>
                  <a:pt x="479220" y="426800"/>
                </a:lnTo>
              </a:path>
            </a:pathLst>
          </a:custGeom>
          <a:ln w="1016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213008" y="5894331"/>
            <a:ext cx="515620" cy="168910"/>
          </a:xfrm>
          <a:custGeom>
            <a:avLst/>
            <a:gdLst/>
            <a:ahLst/>
            <a:cxnLst/>
            <a:rect l="l" t="t" r="r" b="b"/>
            <a:pathLst>
              <a:path w="515620" h="168910">
                <a:moveTo>
                  <a:pt x="0" y="0"/>
                </a:moveTo>
                <a:lnTo>
                  <a:pt x="515605" y="168400"/>
                </a:lnTo>
              </a:path>
            </a:pathLst>
          </a:custGeom>
          <a:ln w="3810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266859" y="5404623"/>
            <a:ext cx="120014" cy="1012825"/>
          </a:xfrm>
          <a:custGeom>
            <a:avLst/>
            <a:gdLst/>
            <a:ahLst/>
            <a:cxnLst/>
            <a:rect l="l" t="t" r="r" b="b"/>
            <a:pathLst>
              <a:path w="120014" h="1012825">
                <a:moveTo>
                  <a:pt x="119816" y="0"/>
                </a:moveTo>
                <a:lnTo>
                  <a:pt x="0" y="1012474"/>
                </a:lnTo>
              </a:path>
            </a:pathLst>
          </a:custGeom>
          <a:ln w="1016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769446" y="6144033"/>
            <a:ext cx="396240" cy="318135"/>
          </a:xfrm>
          <a:custGeom>
            <a:avLst/>
            <a:gdLst/>
            <a:ahLst/>
            <a:cxnLst/>
            <a:rect l="l" t="t" r="r" b="b"/>
            <a:pathLst>
              <a:path w="396239" h="318135">
                <a:moveTo>
                  <a:pt x="395745" y="317546"/>
                </a:moveTo>
                <a:lnTo>
                  <a:pt x="0" y="0"/>
                </a:lnTo>
              </a:path>
            </a:pathLst>
          </a:custGeom>
          <a:ln w="1016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769447" y="5360141"/>
            <a:ext cx="515620" cy="569595"/>
          </a:xfrm>
          <a:custGeom>
            <a:avLst/>
            <a:gdLst/>
            <a:ahLst/>
            <a:cxnLst/>
            <a:rect l="l" t="t" r="r" b="b"/>
            <a:pathLst>
              <a:path w="515619" h="569595">
                <a:moveTo>
                  <a:pt x="515561" y="0"/>
                </a:moveTo>
                <a:lnTo>
                  <a:pt x="0" y="569113"/>
                </a:lnTo>
              </a:path>
            </a:pathLst>
          </a:custGeom>
          <a:ln w="1016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368525" y="6001720"/>
            <a:ext cx="599440" cy="460375"/>
          </a:xfrm>
          <a:custGeom>
            <a:avLst/>
            <a:gdLst/>
            <a:ahLst/>
            <a:cxnLst/>
            <a:rect l="l" t="t" r="r" b="b"/>
            <a:pathLst>
              <a:path w="599439" h="460375">
                <a:moveTo>
                  <a:pt x="599036" y="0"/>
                </a:moveTo>
                <a:lnTo>
                  <a:pt x="0" y="459858"/>
                </a:lnTo>
              </a:path>
            </a:pathLst>
          </a:custGeom>
          <a:ln w="1016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811558" y="5894332"/>
            <a:ext cx="1114425" cy="142875"/>
          </a:xfrm>
          <a:custGeom>
            <a:avLst/>
            <a:gdLst/>
            <a:ahLst/>
            <a:cxnLst/>
            <a:rect l="l" t="t" r="r" b="b"/>
            <a:pathLst>
              <a:path w="1114425" h="142875">
                <a:moveTo>
                  <a:pt x="0" y="142313"/>
                </a:moveTo>
                <a:lnTo>
                  <a:pt x="1113892" y="0"/>
                </a:lnTo>
              </a:path>
            </a:pathLst>
          </a:custGeom>
          <a:ln w="1016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925450" y="5742461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5" h="304164">
                <a:moveTo>
                  <a:pt x="143779" y="0"/>
                </a:moveTo>
                <a:lnTo>
                  <a:pt x="98334" y="7742"/>
                </a:lnTo>
                <a:lnTo>
                  <a:pt x="58865" y="29302"/>
                </a:lnTo>
                <a:lnTo>
                  <a:pt x="27741" y="62177"/>
                </a:lnTo>
                <a:lnTo>
                  <a:pt x="7329" y="103867"/>
                </a:lnTo>
                <a:lnTo>
                  <a:pt x="0" y="151870"/>
                </a:lnTo>
                <a:lnTo>
                  <a:pt x="7329" y="199873"/>
                </a:lnTo>
                <a:lnTo>
                  <a:pt x="27741" y="241563"/>
                </a:lnTo>
                <a:lnTo>
                  <a:pt x="58865" y="274439"/>
                </a:lnTo>
                <a:lnTo>
                  <a:pt x="98334" y="295999"/>
                </a:lnTo>
                <a:lnTo>
                  <a:pt x="143779" y="303741"/>
                </a:lnTo>
                <a:lnTo>
                  <a:pt x="189224" y="295999"/>
                </a:lnTo>
                <a:lnTo>
                  <a:pt x="228693" y="274439"/>
                </a:lnTo>
                <a:lnTo>
                  <a:pt x="259817" y="241563"/>
                </a:lnTo>
                <a:lnTo>
                  <a:pt x="280228" y="199873"/>
                </a:lnTo>
                <a:lnTo>
                  <a:pt x="287558" y="151870"/>
                </a:lnTo>
                <a:lnTo>
                  <a:pt x="280228" y="103867"/>
                </a:lnTo>
                <a:lnTo>
                  <a:pt x="259817" y="62177"/>
                </a:lnTo>
                <a:lnTo>
                  <a:pt x="228693" y="29302"/>
                </a:lnTo>
                <a:lnTo>
                  <a:pt x="189224" y="7742"/>
                </a:lnTo>
                <a:lnTo>
                  <a:pt x="1437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925450" y="5742461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5" h="304164">
                <a:moveTo>
                  <a:pt x="0" y="151871"/>
                </a:moveTo>
                <a:lnTo>
                  <a:pt x="7329" y="103868"/>
                </a:lnTo>
                <a:lnTo>
                  <a:pt x="27741" y="62177"/>
                </a:lnTo>
                <a:lnTo>
                  <a:pt x="58864" y="29302"/>
                </a:lnTo>
                <a:lnTo>
                  <a:pt x="98333" y="7742"/>
                </a:lnTo>
                <a:lnTo>
                  <a:pt x="143779" y="0"/>
                </a:lnTo>
                <a:lnTo>
                  <a:pt x="189224" y="7742"/>
                </a:lnTo>
                <a:lnTo>
                  <a:pt x="228692" y="29302"/>
                </a:lnTo>
                <a:lnTo>
                  <a:pt x="259816" y="62177"/>
                </a:lnTo>
                <a:lnTo>
                  <a:pt x="280228" y="103868"/>
                </a:lnTo>
                <a:lnTo>
                  <a:pt x="287558" y="151871"/>
                </a:lnTo>
                <a:lnTo>
                  <a:pt x="280228" y="199873"/>
                </a:lnTo>
                <a:lnTo>
                  <a:pt x="259816" y="241564"/>
                </a:lnTo>
                <a:lnTo>
                  <a:pt x="228692" y="274439"/>
                </a:lnTo>
                <a:lnTo>
                  <a:pt x="189224" y="295999"/>
                </a:lnTo>
                <a:lnTo>
                  <a:pt x="143779" y="303742"/>
                </a:lnTo>
                <a:lnTo>
                  <a:pt x="98333" y="295999"/>
                </a:lnTo>
                <a:lnTo>
                  <a:pt x="58864" y="274439"/>
                </a:lnTo>
                <a:lnTo>
                  <a:pt x="27741" y="241564"/>
                </a:lnTo>
                <a:lnTo>
                  <a:pt x="7329" y="199873"/>
                </a:lnTo>
                <a:lnTo>
                  <a:pt x="0" y="151871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524000" y="5884773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5" h="304164">
                <a:moveTo>
                  <a:pt x="143779" y="0"/>
                </a:moveTo>
                <a:lnTo>
                  <a:pt x="98334" y="7742"/>
                </a:lnTo>
                <a:lnTo>
                  <a:pt x="58865" y="29302"/>
                </a:lnTo>
                <a:lnTo>
                  <a:pt x="27741" y="62177"/>
                </a:lnTo>
                <a:lnTo>
                  <a:pt x="7329" y="103867"/>
                </a:lnTo>
                <a:lnTo>
                  <a:pt x="0" y="151870"/>
                </a:lnTo>
                <a:lnTo>
                  <a:pt x="7329" y="199873"/>
                </a:lnTo>
                <a:lnTo>
                  <a:pt x="27741" y="241564"/>
                </a:lnTo>
                <a:lnTo>
                  <a:pt x="58865" y="274439"/>
                </a:lnTo>
                <a:lnTo>
                  <a:pt x="98334" y="295999"/>
                </a:lnTo>
                <a:lnTo>
                  <a:pt x="143779" y="303741"/>
                </a:lnTo>
                <a:lnTo>
                  <a:pt x="189224" y="295999"/>
                </a:lnTo>
                <a:lnTo>
                  <a:pt x="228693" y="274439"/>
                </a:lnTo>
                <a:lnTo>
                  <a:pt x="259817" y="241564"/>
                </a:lnTo>
                <a:lnTo>
                  <a:pt x="280228" y="199873"/>
                </a:lnTo>
                <a:lnTo>
                  <a:pt x="287558" y="151870"/>
                </a:lnTo>
                <a:lnTo>
                  <a:pt x="280228" y="103867"/>
                </a:lnTo>
                <a:lnTo>
                  <a:pt x="259817" y="62177"/>
                </a:lnTo>
                <a:lnTo>
                  <a:pt x="228693" y="29302"/>
                </a:lnTo>
                <a:lnTo>
                  <a:pt x="189224" y="7742"/>
                </a:lnTo>
                <a:lnTo>
                  <a:pt x="1437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24000" y="5884773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5" h="304164">
                <a:moveTo>
                  <a:pt x="0" y="151871"/>
                </a:moveTo>
                <a:lnTo>
                  <a:pt x="7329" y="103868"/>
                </a:lnTo>
                <a:lnTo>
                  <a:pt x="27741" y="62177"/>
                </a:lnTo>
                <a:lnTo>
                  <a:pt x="58864" y="29302"/>
                </a:lnTo>
                <a:lnTo>
                  <a:pt x="98333" y="7742"/>
                </a:lnTo>
                <a:lnTo>
                  <a:pt x="143779" y="0"/>
                </a:lnTo>
                <a:lnTo>
                  <a:pt x="189224" y="7742"/>
                </a:lnTo>
                <a:lnTo>
                  <a:pt x="228692" y="29302"/>
                </a:lnTo>
                <a:lnTo>
                  <a:pt x="259816" y="62177"/>
                </a:lnTo>
                <a:lnTo>
                  <a:pt x="280228" y="103868"/>
                </a:lnTo>
                <a:lnTo>
                  <a:pt x="287558" y="151871"/>
                </a:lnTo>
                <a:lnTo>
                  <a:pt x="280228" y="199873"/>
                </a:lnTo>
                <a:lnTo>
                  <a:pt x="259816" y="241564"/>
                </a:lnTo>
                <a:lnTo>
                  <a:pt x="228692" y="274439"/>
                </a:lnTo>
                <a:lnTo>
                  <a:pt x="189224" y="295999"/>
                </a:lnTo>
                <a:lnTo>
                  <a:pt x="143779" y="303742"/>
                </a:lnTo>
                <a:lnTo>
                  <a:pt x="98333" y="295999"/>
                </a:lnTo>
                <a:lnTo>
                  <a:pt x="58864" y="274439"/>
                </a:lnTo>
                <a:lnTo>
                  <a:pt x="27741" y="241564"/>
                </a:lnTo>
                <a:lnTo>
                  <a:pt x="7329" y="199873"/>
                </a:lnTo>
                <a:lnTo>
                  <a:pt x="0" y="151871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367716" y="5379312"/>
            <a:ext cx="439420" cy="201930"/>
          </a:xfrm>
          <a:custGeom>
            <a:avLst/>
            <a:gdLst/>
            <a:ahLst/>
            <a:cxnLst/>
            <a:rect l="l" t="t" r="r" b="b"/>
            <a:pathLst>
              <a:path w="439420" h="201929">
                <a:moveTo>
                  <a:pt x="0" y="0"/>
                </a:moveTo>
                <a:lnTo>
                  <a:pt x="439240" y="201719"/>
                </a:lnTo>
              </a:path>
            </a:pathLst>
          </a:custGeom>
          <a:ln w="1016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872392" y="5486701"/>
            <a:ext cx="250190" cy="424180"/>
          </a:xfrm>
          <a:custGeom>
            <a:avLst/>
            <a:gdLst/>
            <a:ahLst/>
            <a:cxnLst/>
            <a:rect l="l" t="t" r="r" b="b"/>
            <a:pathLst>
              <a:path w="250189" h="424179">
                <a:moveTo>
                  <a:pt x="0" y="424159"/>
                </a:moveTo>
                <a:lnTo>
                  <a:pt x="249878" y="0"/>
                </a:lnTo>
              </a:path>
            </a:pathLst>
          </a:custGeom>
          <a:ln w="1016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016171" y="6062731"/>
            <a:ext cx="671195" cy="353695"/>
          </a:xfrm>
          <a:custGeom>
            <a:avLst/>
            <a:gdLst/>
            <a:ahLst/>
            <a:cxnLst/>
            <a:rect l="l" t="t" r="r" b="b"/>
            <a:pathLst>
              <a:path w="671195" h="353695">
                <a:moveTo>
                  <a:pt x="0" y="0"/>
                </a:moveTo>
                <a:lnTo>
                  <a:pt x="670969" y="353590"/>
                </a:lnTo>
              </a:path>
            </a:pathLst>
          </a:custGeom>
          <a:ln w="1016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974059" y="5688420"/>
            <a:ext cx="875030" cy="267335"/>
          </a:xfrm>
          <a:custGeom>
            <a:avLst/>
            <a:gdLst/>
            <a:ahLst/>
            <a:cxnLst/>
            <a:rect l="l" t="t" r="r" b="b"/>
            <a:pathLst>
              <a:path w="875029" h="267335">
                <a:moveTo>
                  <a:pt x="0" y="266922"/>
                </a:moveTo>
                <a:lnTo>
                  <a:pt x="875009" y="0"/>
                </a:lnTo>
              </a:path>
            </a:pathLst>
          </a:custGeom>
          <a:ln w="1016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830919" y="5732902"/>
            <a:ext cx="120014" cy="532130"/>
          </a:xfrm>
          <a:custGeom>
            <a:avLst/>
            <a:gdLst/>
            <a:ahLst/>
            <a:cxnLst/>
            <a:rect l="l" t="t" r="r" b="b"/>
            <a:pathLst>
              <a:path w="120014" h="532129">
                <a:moveTo>
                  <a:pt x="0" y="531549"/>
                </a:moveTo>
                <a:lnTo>
                  <a:pt x="119816" y="0"/>
                </a:lnTo>
              </a:path>
            </a:pathLst>
          </a:custGeom>
          <a:ln w="1016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080158" y="5227440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4" h="304164">
                <a:moveTo>
                  <a:pt x="143779" y="0"/>
                </a:moveTo>
                <a:lnTo>
                  <a:pt x="98333" y="7742"/>
                </a:lnTo>
                <a:lnTo>
                  <a:pt x="58864" y="29302"/>
                </a:lnTo>
                <a:lnTo>
                  <a:pt x="27740" y="62177"/>
                </a:lnTo>
                <a:lnTo>
                  <a:pt x="7329" y="103868"/>
                </a:lnTo>
                <a:lnTo>
                  <a:pt x="0" y="151871"/>
                </a:lnTo>
                <a:lnTo>
                  <a:pt x="7329" y="199874"/>
                </a:lnTo>
                <a:lnTo>
                  <a:pt x="27740" y="241564"/>
                </a:lnTo>
                <a:lnTo>
                  <a:pt x="58864" y="274439"/>
                </a:lnTo>
                <a:lnTo>
                  <a:pt x="98333" y="295999"/>
                </a:lnTo>
                <a:lnTo>
                  <a:pt x="143779" y="303742"/>
                </a:lnTo>
                <a:lnTo>
                  <a:pt x="189224" y="295999"/>
                </a:lnTo>
                <a:lnTo>
                  <a:pt x="228692" y="274439"/>
                </a:lnTo>
                <a:lnTo>
                  <a:pt x="259816" y="241564"/>
                </a:lnTo>
                <a:lnTo>
                  <a:pt x="280227" y="199874"/>
                </a:lnTo>
                <a:lnTo>
                  <a:pt x="287557" y="151871"/>
                </a:lnTo>
                <a:lnTo>
                  <a:pt x="280227" y="103868"/>
                </a:lnTo>
                <a:lnTo>
                  <a:pt x="259816" y="62177"/>
                </a:lnTo>
                <a:lnTo>
                  <a:pt x="228692" y="29302"/>
                </a:lnTo>
                <a:lnTo>
                  <a:pt x="189224" y="7742"/>
                </a:lnTo>
                <a:lnTo>
                  <a:pt x="1437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080158" y="5227440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4" h="304164">
                <a:moveTo>
                  <a:pt x="0" y="151871"/>
                </a:moveTo>
                <a:lnTo>
                  <a:pt x="7329" y="103868"/>
                </a:lnTo>
                <a:lnTo>
                  <a:pt x="27741" y="62177"/>
                </a:lnTo>
                <a:lnTo>
                  <a:pt x="58864" y="29302"/>
                </a:lnTo>
                <a:lnTo>
                  <a:pt x="98333" y="7742"/>
                </a:lnTo>
                <a:lnTo>
                  <a:pt x="143779" y="0"/>
                </a:lnTo>
                <a:lnTo>
                  <a:pt x="189224" y="7742"/>
                </a:lnTo>
                <a:lnTo>
                  <a:pt x="228692" y="29302"/>
                </a:lnTo>
                <a:lnTo>
                  <a:pt x="259816" y="62177"/>
                </a:lnTo>
                <a:lnTo>
                  <a:pt x="280228" y="103868"/>
                </a:lnTo>
                <a:lnTo>
                  <a:pt x="287558" y="151871"/>
                </a:lnTo>
                <a:lnTo>
                  <a:pt x="280228" y="199873"/>
                </a:lnTo>
                <a:lnTo>
                  <a:pt x="259816" y="241564"/>
                </a:lnTo>
                <a:lnTo>
                  <a:pt x="228692" y="274439"/>
                </a:lnTo>
                <a:lnTo>
                  <a:pt x="189224" y="295999"/>
                </a:lnTo>
                <a:lnTo>
                  <a:pt x="143779" y="303742"/>
                </a:lnTo>
                <a:lnTo>
                  <a:pt x="98333" y="295999"/>
                </a:lnTo>
                <a:lnTo>
                  <a:pt x="58864" y="274439"/>
                </a:lnTo>
                <a:lnTo>
                  <a:pt x="27741" y="241564"/>
                </a:lnTo>
                <a:lnTo>
                  <a:pt x="7329" y="199873"/>
                </a:lnTo>
                <a:lnTo>
                  <a:pt x="0" y="151871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728613" y="5910860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4" h="304164">
                <a:moveTo>
                  <a:pt x="143777" y="0"/>
                </a:moveTo>
                <a:lnTo>
                  <a:pt x="98332" y="7742"/>
                </a:lnTo>
                <a:lnTo>
                  <a:pt x="58864" y="29302"/>
                </a:lnTo>
                <a:lnTo>
                  <a:pt x="27740" y="62177"/>
                </a:lnTo>
                <a:lnTo>
                  <a:pt x="7329" y="103867"/>
                </a:lnTo>
                <a:lnTo>
                  <a:pt x="0" y="151870"/>
                </a:lnTo>
                <a:lnTo>
                  <a:pt x="7329" y="199873"/>
                </a:lnTo>
                <a:lnTo>
                  <a:pt x="27740" y="241564"/>
                </a:lnTo>
                <a:lnTo>
                  <a:pt x="58864" y="274439"/>
                </a:lnTo>
                <a:lnTo>
                  <a:pt x="98332" y="295999"/>
                </a:lnTo>
                <a:lnTo>
                  <a:pt x="143777" y="303741"/>
                </a:lnTo>
                <a:lnTo>
                  <a:pt x="189223" y="295999"/>
                </a:lnTo>
                <a:lnTo>
                  <a:pt x="228692" y="274439"/>
                </a:lnTo>
                <a:lnTo>
                  <a:pt x="259816" y="241564"/>
                </a:lnTo>
                <a:lnTo>
                  <a:pt x="280227" y="199873"/>
                </a:lnTo>
                <a:lnTo>
                  <a:pt x="287557" y="151870"/>
                </a:lnTo>
                <a:lnTo>
                  <a:pt x="280227" y="103867"/>
                </a:lnTo>
                <a:lnTo>
                  <a:pt x="259816" y="62177"/>
                </a:lnTo>
                <a:lnTo>
                  <a:pt x="228692" y="29302"/>
                </a:lnTo>
                <a:lnTo>
                  <a:pt x="189223" y="7742"/>
                </a:lnTo>
                <a:lnTo>
                  <a:pt x="14377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728613" y="5910860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4" h="304164">
                <a:moveTo>
                  <a:pt x="0" y="151871"/>
                </a:moveTo>
                <a:lnTo>
                  <a:pt x="7329" y="103868"/>
                </a:lnTo>
                <a:lnTo>
                  <a:pt x="27741" y="62177"/>
                </a:lnTo>
                <a:lnTo>
                  <a:pt x="58864" y="29302"/>
                </a:lnTo>
                <a:lnTo>
                  <a:pt x="98333" y="7742"/>
                </a:lnTo>
                <a:lnTo>
                  <a:pt x="143779" y="0"/>
                </a:lnTo>
                <a:lnTo>
                  <a:pt x="189224" y="7742"/>
                </a:lnTo>
                <a:lnTo>
                  <a:pt x="228692" y="29302"/>
                </a:lnTo>
                <a:lnTo>
                  <a:pt x="259816" y="62177"/>
                </a:lnTo>
                <a:lnTo>
                  <a:pt x="280228" y="103868"/>
                </a:lnTo>
                <a:lnTo>
                  <a:pt x="287558" y="151871"/>
                </a:lnTo>
                <a:lnTo>
                  <a:pt x="280228" y="199873"/>
                </a:lnTo>
                <a:lnTo>
                  <a:pt x="259816" y="241564"/>
                </a:lnTo>
                <a:lnTo>
                  <a:pt x="228692" y="274439"/>
                </a:lnTo>
                <a:lnTo>
                  <a:pt x="189224" y="295999"/>
                </a:lnTo>
                <a:lnTo>
                  <a:pt x="143779" y="303742"/>
                </a:lnTo>
                <a:lnTo>
                  <a:pt x="98333" y="295999"/>
                </a:lnTo>
                <a:lnTo>
                  <a:pt x="58864" y="274439"/>
                </a:lnTo>
                <a:lnTo>
                  <a:pt x="27741" y="241564"/>
                </a:lnTo>
                <a:lnTo>
                  <a:pt x="7329" y="199873"/>
                </a:lnTo>
                <a:lnTo>
                  <a:pt x="0" y="151871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806956" y="5429159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4" h="304164">
                <a:moveTo>
                  <a:pt x="143779" y="0"/>
                </a:moveTo>
                <a:lnTo>
                  <a:pt x="98334" y="7742"/>
                </a:lnTo>
                <a:lnTo>
                  <a:pt x="58865" y="29302"/>
                </a:lnTo>
                <a:lnTo>
                  <a:pt x="27741" y="62177"/>
                </a:lnTo>
                <a:lnTo>
                  <a:pt x="7329" y="103867"/>
                </a:lnTo>
                <a:lnTo>
                  <a:pt x="0" y="151870"/>
                </a:lnTo>
                <a:lnTo>
                  <a:pt x="7329" y="199873"/>
                </a:lnTo>
                <a:lnTo>
                  <a:pt x="27741" y="241563"/>
                </a:lnTo>
                <a:lnTo>
                  <a:pt x="58865" y="274439"/>
                </a:lnTo>
                <a:lnTo>
                  <a:pt x="98334" y="295999"/>
                </a:lnTo>
                <a:lnTo>
                  <a:pt x="143779" y="303741"/>
                </a:lnTo>
                <a:lnTo>
                  <a:pt x="189224" y="295999"/>
                </a:lnTo>
                <a:lnTo>
                  <a:pt x="228693" y="274439"/>
                </a:lnTo>
                <a:lnTo>
                  <a:pt x="259817" y="241563"/>
                </a:lnTo>
                <a:lnTo>
                  <a:pt x="280228" y="199873"/>
                </a:lnTo>
                <a:lnTo>
                  <a:pt x="287558" y="151870"/>
                </a:lnTo>
                <a:lnTo>
                  <a:pt x="280228" y="103867"/>
                </a:lnTo>
                <a:lnTo>
                  <a:pt x="259817" y="62177"/>
                </a:lnTo>
                <a:lnTo>
                  <a:pt x="228693" y="29302"/>
                </a:lnTo>
                <a:lnTo>
                  <a:pt x="189224" y="7742"/>
                </a:lnTo>
                <a:lnTo>
                  <a:pt x="1437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806956" y="5429159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4" h="304164">
                <a:moveTo>
                  <a:pt x="0" y="151871"/>
                </a:moveTo>
                <a:lnTo>
                  <a:pt x="7329" y="103868"/>
                </a:lnTo>
                <a:lnTo>
                  <a:pt x="27741" y="62177"/>
                </a:lnTo>
                <a:lnTo>
                  <a:pt x="58864" y="29302"/>
                </a:lnTo>
                <a:lnTo>
                  <a:pt x="98333" y="7742"/>
                </a:lnTo>
                <a:lnTo>
                  <a:pt x="143779" y="0"/>
                </a:lnTo>
                <a:lnTo>
                  <a:pt x="189224" y="7742"/>
                </a:lnTo>
                <a:lnTo>
                  <a:pt x="228692" y="29302"/>
                </a:lnTo>
                <a:lnTo>
                  <a:pt x="259816" y="62177"/>
                </a:lnTo>
                <a:lnTo>
                  <a:pt x="280228" y="103868"/>
                </a:lnTo>
                <a:lnTo>
                  <a:pt x="287558" y="151871"/>
                </a:lnTo>
                <a:lnTo>
                  <a:pt x="280228" y="199873"/>
                </a:lnTo>
                <a:lnTo>
                  <a:pt x="259816" y="241564"/>
                </a:lnTo>
                <a:lnTo>
                  <a:pt x="228692" y="274439"/>
                </a:lnTo>
                <a:lnTo>
                  <a:pt x="189224" y="295999"/>
                </a:lnTo>
                <a:lnTo>
                  <a:pt x="143779" y="303742"/>
                </a:lnTo>
                <a:lnTo>
                  <a:pt x="98333" y="295999"/>
                </a:lnTo>
                <a:lnTo>
                  <a:pt x="58864" y="274439"/>
                </a:lnTo>
                <a:lnTo>
                  <a:pt x="27741" y="241564"/>
                </a:lnTo>
                <a:lnTo>
                  <a:pt x="7329" y="199873"/>
                </a:lnTo>
                <a:lnTo>
                  <a:pt x="0" y="151871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687140" y="6264450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4" h="304165">
                <a:moveTo>
                  <a:pt x="143779" y="0"/>
                </a:moveTo>
                <a:lnTo>
                  <a:pt x="98334" y="7742"/>
                </a:lnTo>
                <a:lnTo>
                  <a:pt x="58865" y="29302"/>
                </a:lnTo>
                <a:lnTo>
                  <a:pt x="27741" y="62177"/>
                </a:lnTo>
                <a:lnTo>
                  <a:pt x="7329" y="103867"/>
                </a:lnTo>
                <a:lnTo>
                  <a:pt x="0" y="151870"/>
                </a:lnTo>
                <a:lnTo>
                  <a:pt x="7329" y="199873"/>
                </a:lnTo>
                <a:lnTo>
                  <a:pt x="27741" y="241563"/>
                </a:lnTo>
                <a:lnTo>
                  <a:pt x="58865" y="274439"/>
                </a:lnTo>
                <a:lnTo>
                  <a:pt x="98334" y="295999"/>
                </a:lnTo>
                <a:lnTo>
                  <a:pt x="143779" y="303741"/>
                </a:lnTo>
                <a:lnTo>
                  <a:pt x="189224" y="295999"/>
                </a:lnTo>
                <a:lnTo>
                  <a:pt x="228693" y="274439"/>
                </a:lnTo>
                <a:lnTo>
                  <a:pt x="259817" y="241563"/>
                </a:lnTo>
                <a:lnTo>
                  <a:pt x="280228" y="199873"/>
                </a:lnTo>
                <a:lnTo>
                  <a:pt x="287558" y="151870"/>
                </a:lnTo>
                <a:lnTo>
                  <a:pt x="280228" y="103867"/>
                </a:lnTo>
                <a:lnTo>
                  <a:pt x="259817" y="62177"/>
                </a:lnTo>
                <a:lnTo>
                  <a:pt x="228693" y="29302"/>
                </a:lnTo>
                <a:lnTo>
                  <a:pt x="189224" y="7742"/>
                </a:lnTo>
                <a:lnTo>
                  <a:pt x="1437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687140" y="6264450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4" h="304165">
                <a:moveTo>
                  <a:pt x="0" y="151871"/>
                </a:moveTo>
                <a:lnTo>
                  <a:pt x="7329" y="103868"/>
                </a:lnTo>
                <a:lnTo>
                  <a:pt x="27741" y="62177"/>
                </a:lnTo>
                <a:lnTo>
                  <a:pt x="58864" y="29302"/>
                </a:lnTo>
                <a:lnTo>
                  <a:pt x="98333" y="7742"/>
                </a:lnTo>
                <a:lnTo>
                  <a:pt x="143779" y="0"/>
                </a:lnTo>
                <a:lnTo>
                  <a:pt x="189224" y="7742"/>
                </a:lnTo>
                <a:lnTo>
                  <a:pt x="228692" y="29302"/>
                </a:lnTo>
                <a:lnTo>
                  <a:pt x="259816" y="62177"/>
                </a:lnTo>
                <a:lnTo>
                  <a:pt x="280228" y="103868"/>
                </a:lnTo>
                <a:lnTo>
                  <a:pt x="287558" y="151871"/>
                </a:lnTo>
                <a:lnTo>
                  <a:pt x="280228" y="199873"/>
                </a:lnTo>
                <a:lnTo>
                  <a:pt x="259816" y="241564"/>
                </a:lnTo>
                <a:lnTo>
                  <a:pt x="228692" y="274439"/>
                </a:lnTo>
                <a:lnTo>
                  <a:pt x="189224" y="295999"/>
                </a:lnTo>
                <a:lnTo>
                  <a:pt x="143779" y="303742"/>
                </a:lnTo>
                <a:lnTo>
                  <a:pt x="98333" y="295999"/>
                </a:lnTo>
                <a:lnTo>
                  <a:pt x="58864" y="274439"/>
                </a:lnTo>
                <a:lnTo>
                  <a:pt x="27741" y="241564"/>
                </a:lnTo>
                <a:lnTo>
                  <a:pt x="7329" y="199873"/>
                </a:lnTo>
                <a:lnTo>
                  <a:pt x="0" y="151871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242896" y="5100881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5" h="304164">
                <a:moveTo>
                  <a:pt x="143779" y="0"/>
                </a:moveTo>
                <a:lnTo>
                  <a:pt x="98333" y="7742"/>
                </a:lnTo>
                <a:lnTo>
                  <a:pt x="58864" y="29302"/>
                </a:lnTo>
                <a:lnTo>
                  <a:pt x="27740" y="62178"/>
                </a:lnTo>
                <a:lnTo>
                  <a:pt x="7329" y="103868"/>
                </a:lnTo>
                <a:lnTo>
                  <a:pt x="0" y="151871"/>
                </a:lnTo>
                <a:lnTo>
                  <a:pt x="7329" y="199874"/>
                </a:lnTo>
                <a:lnTo>
                  <a:pt x="27740" y="241564"/>
                </a:lnTo>
                <a:lnTo>
                  <a:pt x="58864" y="274439"/>
                </a:lnTo>
                <a:lnTo>
                  <a:pt x="98333" y="295999"/>
                </a:lnTo>
                <a:lnTo>
                  <a:pt x="143779" y="303742"/>
                </a:lnTo>
                <a:lnTo>
                  <a:pt x="189224" y="295999"/>
                </a:lnTo>
                <a:lnTo>
                  <a:pt x="228692" y="274439"/>
                </a:lnTo>
                <a:lnTo>
                  <a:pt x="259816" y="241564"/>
                </a:lnTo>
                <a:lnTo>
                  <a:pt x="280227" y="199874"/>
                </a:lnTo>
                <a:lnTo>
                  <a:pt x="287557" y="151871"/>
                </a:lnTo>
                <a:lnTo>
                  <a:pt x="280227" y="103868"/>
                </a:lnTo>
                <a:lnTo>
                  <a:pt x="259816" y="62178"/>
                </a:lnTo>
                <a:lnTo>
                  <a:pt x="228692" y="29302"/>
                </a:lnTo>
                <a:lnTo>
                  <a:pt x="189224" y="7742"/>
                </a:lnTo>
                <a:lnTo>
                  <a:pt x="1437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242896" y="5100881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5" h="304164">
                <a:moveTo>
                  <a:pt x="0" y="151871"/>
                </a:moveTo>
                <a:lnTo>
                  <a:pt x="7329" y="103868"/>
                </a:lnTo>
                <a:lnTo>
                  <a:pt x="27741" y="62177"/>
                </a:lnTo>
                <a:lnTo>
                  <a:pt x="58864" y="29302"/>
                </a:lnTo>
                <a:lnTo>
                  <a:pt x="98333" y="7742"/>
                </a:lnTo>
                <a:lnTo>
                  <a:pt x="143779" y="0"/>
                </a:lnTo>
                <a:lnTo>
                  <a:pt x="189224" y="7742"/>
                </a:lnTo>
                <a:lnTo>
                  <a:pt x="228692" y="29302"/>
                </a:lnTo>
                <a:lnTo>
                  <a:pt x="259816" y="62177"/>
                </a:lnTo>
                <a:lnTo>
                  <a:pt x="280228" y="103868"/>
                </a:lnTo>
                <a:lnTo>
                  <a:pt x="287558" y="151871"/>
                </a:lnTo>
                <a:lnTo>
                  <a:pt x="280228" y="199873"/>
                </a:lnTo>
                <a:lnTo>
                  <a:pt x="259816" y="241564"/>
                </a:lnTo>
                <a:lnTo>
                  <a:pt x="228692" y="274439"/>
                </a:lnTo>
                <a:lnTo>
                  <a:pt x="189224" y="295999"/>
                </a:lnTo>
                <a:lnTo>
                  <a:pt x="143779" y="303742"/>
                </a:lnTo>
                <a:lnTo>
                  <a:pt x="98333" y="295999"/>
                </a:lnTo>
                <a:lnTo>
                  <a:pt x="58864" y="274439"/>
                </a:lnTo>
                <a:lnTo>
                  <a:pt x="27741" y="241564"/>
                </a:lnTo>
                <a:lnTo>
                  <a:pt x="7329" y="199873"/>
                </a:lnTo>
                <a:lnTo>
                  <a:pt x="0" y="151871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123080" y="6417098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5" h="304165">
                <a:moveTo>
                  <a:pt x="143777" y="0"/>
                </a:moveTo>
                <a:lnTo>
                  <a:pt x="98332" y="7742"/>
                </a:lnTo>
                <a:lnTo>
                  <a:pt x="58864" y="29302"/>
                </a:lnTo>
                <a:lnTo>
                  <a:pt x="27740" y="62177"/>
                </a:lnTo>
                <a:lnTo>
                  <a:pt x="7329" y="103868"/>
                </a:lnTo>
                <a:lnTo>
                  <a:pt x="0" y="151871"/>
                </a:lnTo>
                <a:lnTo>
                  <a:pt x="7329" y="199874"/>
                </a:lnTo>
                <a:lnTo>
                  <a:pt x="27740" y="241564"/>
                </a:lnTo>
                <a:lnTo>
                  <a:pt x="58864" y="274439"/>
                </a:lnTo>
                <a:lnTo>
                  <a:pt x="98332" y="295999"/>
                </a:lnTo>
                <a:lnTo>
                  <a:pt x="143777" y="303741"/>
                </a:lnTo>
                <a:lnTo>
                  <a:pt x="189223" y="295999"/>
                </a:lnTo>
                <a:lnTo>
                  <a:pt x="228692" y="274439"/>
                </a:lnTo>
                <a:lnTo>
                  <a:pt x="259816" y="241564"/>
                </a:lnTo>
                <a:lnTo>
                  <a:pt x="280227" y="199874"/>
                </a:lnTo>
                <a:lnTo>
                  <a:pt x="287557" y="151871"/>
                </a:lnTo>
                <a:lnTo>
                  <a:pt x="280227" y="103868"/>
                </a:lnTo>
                <a:lnTo>
                  <a:pt x="259816" y="62177"/>
                </a:lnTo>
                <a:lnTo>
                  <a:pt x="228692" y="29302"/>
                </a:lnTo>
                <a:lnTo>
                  <a:pt x="189223" y="7742"/>
                </a:lnTo>
                <a:lnTo>
                  <a:pt x="14377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123080" y="6417098"/>
            <a:ext cx="287655" cy="304165"/>
          </a:xfrm>
          <a:custGeom>
            <a:avLst/>
            <a:gdLst/>
            <a:ahLst/>
            <a:cxnLst/>
            <a:rect l="l" t="t" r="r" b="b"/>
            <a:pathLst>
              <a:path w="287655" h="304165">
                <a:moveTo>
                  <a:pt x="0" y="151871"/>
                </a:moveTo>
                <a:lnTo>
                  <a:pt x="7329" y="103868"/>
                </a:lnTo>
                <a:lnTo>
                  <a:pt x="27741" y="62177"/>
                </a:lnTo>
                <a:lnTo>
                  <a:pt x="58864" y="29302"/>
                </a:lnTo>
                <a:lnTo>
                  <a:pt x="98333" y="7742"/>
                </a:lnTo>
                <a:lnTo>
                  <a:pt x="143779" y="0"/>
                </a:lnTo>
                <a:lnTo>
                  <a:pt x="189224" y="7742"/>
                </a:lnTo>
                <a:lnTo>
                  <a:pt x="228692" y="29302"/>
                </a:lnTo>
                <a:lnTo>
                  <a:pt x="259816" y="62177"/>
                </a:lnTo>
                <a:lnTo>
                  <a:pt x="280228" y="103868"/>
                </a:lnTo>
                <a:lnTo>
                  <a:pt x="287558" y="151871"/>
                </a:lnTo>
                <a:lnTo>
                  <a:pt x="280228" y="199873"/>
                </a:lnTo>
                <a:lnTo>
                  <a:pt x="259816" y="241564"/>
                </a:lnTo>
                <a:lnTo>
                  <a:pt x="228692" y="274439"/>
                </a:lnTo>
                <a:lnTo>
                  <a:pt x="189224" y="295999"/>
                </a:lnTo>
                <a:lnTo>
                  <a:pt x="143779" y="303742"/>
                </a:lnTo>
                <a:lnTo>
                  <a:pt x="98333" y="295999"/>
                </a:lnTo>
                <a:lnTo>
                  <a:pt x="58864" y="274439"/>
                </a:lnTo>
                <a:lnTo>
                  <a:pt x="27741" y="241564"/>
                </a:lnTo>
                <a:lnTo>
                  <a:pt x="7329" y="199873"/>
                </a:lnTo>
                <a:lnTo>
                  <a:pt x="0" y="151871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553076" y="5587518"/>
            <a:ext cx="496570" cy="0"/>
          </a:xfrm>
          <a:custGeom>
            <a:avLst/>
            <a:gdLst/>
            <a:ahLst/>
            <a:cxnLst/>
            <a:rect l="l" t="t" r="r" b="b"/>
            <a:pathLst>
              <a:path w="496570" h="0">
                <a:moveTo>
                  <a:pt x="0" y="0"/>
                </a:moveTo>
                <a:lnTo>
                  <a:pt x="496186" y="1"/>
                </a:lnTo>
              </a:path>
            </a:pathLst>
          </a:custGeom>
          <a:ln w="1016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553076" y="6150521"/>
            <a:ext cx="496570" cy="0"/>
          </a:xfrm>
          <a:custGeom>
            <a:avLst/>
            <a:gdLst/>
            <a:ahLst/>
            <a:cxnLst/>
            <a:rect l="l" t="t" r="r" b="b"/>
            <a:pathLst>
              <a:path w="496570" h="0">
                <a:moveTo>
                  <a:pt x="0" y="0"/>
                </a:moveTo>
                <a:lnTo>
                  <a:pt x="496186" y="1"/>
                </a:lnTo>
              </a:path>
            </a:pathLst>
          </a:custGeom>
          <a:ln w="3810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6214093" y="5168900"/>
            <a:ext cx="2773045" cy="1159510"/>
          </a:xfrm>
          <a:prstGeom prst="rect">
            <a:avLst/>
          </a:prstGeom>
        </p:spPr>
        <p:txBody>
          <a:bodyPr wrap="square" lIns="0" tIns="2133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dirty="0" sz="2400">
                <a:latin typeface="Arial"/>
                <a:cs typeface="Arial"/>
              </a:rPr>
              <a:t>: </a:t>
            </a:r>
            <a:r>
              <a:rPr dirty="0" sz="2400" spc="-5">
                <a:latin typeface="Arial"/>
                <a:cs typeface="Arial"/>
              </a:rPr>
              <a:t>“close-friend”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link</a:t>
            </a:r>
            <a:endParaRPr sz="2400">
              <a:latin typeface="Arial"/>
              <a:cs typeface="Arial"/>
            </a:endParaRPr>
          </a:p>
          <a:p>
            <a:pPr marL="29209">
              <a:lnSpc>
                <a:spcPct val="100000"/>
              </a:lnSpc>
              <a:spcBef>
                <a:spcPts val="1580"/>
              </a:spcBef>
            </a:pPr>
            <a:r>
              <a:rPr dirty="0" sz="2400">
                <a:latin typeface="Arial"/>
                <a:cs typeface="Arial"/>
              </a:rPr>
              <a:t>: </a:t>
            </a:r>
            <a:r>
              <a:rPr dirty="0" sz="2400" spc="-5">
                <a:latin typeface="Arial"/>
                <a:cs typeface="Arial"/>
              </a:rPr>
              <a:t>“acquaintance”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link</a:t>
            </a:r>
            <a:endParaRPr sz="2400">
              <a:latin typeface="Arial"/>
              <a:cs typeface="Arial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77017" y="5306059"/>
            <a:ext cx="1229995" cy="112585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dirty="0" sz="2400" spc="-5">
                <a:solidFill>
                  <a:srgbClr val="FF0066"/>
                </a:solidFill>
                <a:latin typeface="Arial"/>
                <a:cs typeface="Arial"/>
              </a:rPr>
              <a:t>P</a:t>
            </a:r>
            <a:r>
              <a:rPr dirty="0" sz="2400">
                <a:solidFill>
                  <a:srgbClr val="FF0066"/>
                </a:solidFill>
                <a:latin typeface="Arial"/>
                <a:cs typeface="Arial"/>
              </a:rPr>
              <a:t>ersonal  </a:t>
            </a:r>
            <a:r>
              <a:rPr dirty="0" sz="2400" spc="-5">
                <a:solidFill>
                  <a:srgbClr val="FF0066"/>
                </a:solidFill>
                <a:latin typeface="Arial"/>
                <a:cs typeface="Arial"/>
              </a:rPr>
              <a:t>contact  network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71856"/>
            <a:ext cx="5327904" cy="4023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86105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40"/>
              <a:t>Two </a:t>
            </a:r>
            <a:r>
              <a:rPr dirty="0" spc="-10"/>
              <a:t>perspectives </a:t>
            </a:r>
            <a:r>
              <a:rPr dirty="0"/>
              <a:t>on</a:t>
            </a:r>
            <a:r>
              <a:rPr dirty="0" spc="25"/>
              <a:t> </a:t>
            </a:r>
            <a:r>
              <a:rPr dirty="0" spc="-10">
                <a:solidFill>
                  <a:srgbClr val="D60093"/>
                </a:solidFill>
              </a:rPr>
              <a:t>friendships</a:t>
            </a:r>
            <a:r>
              <a:rPr dirty="0" spc="-10">
                <a:solidFill>
                  <a:srgbClr val="E66C7D"/>
                </a:solidFill>
              </a:rPr>
              <a:t>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1920747"/>
            <a:ext cx="7441565" cy="182372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87020" marR="5080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Structural: </a:t>
            </a:r>
            <a:r>
              <a:rPr dirty="0" sz="2800" spc="-5">
                <a:latin typeface="Calibri"/>
                <a:cs typeface="Calibri"/>
              </a:rPr>
              <a:t>Friendships span </a:t>
            </a:r>
            <a:r>
              <a:rPr dirty="0" sz="2800" spc="-25">
                <a:latin typeface="Calibri"/>
                <a:cs typeface="Calibri"/>
              </a:rPr>
              <a:t>different </a:t>
            </a:r>
            <a:r>
              <a:rPr dirty="0" sz="2800" spc="-5">
                <a:latin typeface="Calibri"/>
                <a:cs typeface="Calibri"/>
              </a:rPr>
              <a:t>parts of </a:t>
            </a:r>
            <a:r>
              <a:rPr dirty="0" sz="2800" spc="-130">
                <a:latin typeface="Calibri"/>
                <a:cs typeface="Calibri"/>
              </a:rPr>
              <a:t>the  </a:t>
            </a:r>
            <a:r>
              <a:rPr dirty="0" sz="2800" spc="-10">
                <a:latin typeface="Calibri"/>
                <a:cs typeface="Calibri"/>
              </a:rPr>
              <a:t>network</a:t>
            </a:r>
            <a:endParaRPr sz="2800">
              <a:latin typeface="Calibri"/>
              <a:cs typeface="Calibri"/>
            </a:endParaRPr>
          </a:p>
          <a:p>
            <a:pPr marL="287020" marR="97790" indent="-274320">
              <a:lnSpc>
                <a:spcPct val="101400"/>
              </a:lnSpc>
              <a:spcBef>
                <a:spcPts val="6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solidFill>
                  <a:srgbClr val="0000FF"/>
                </a:solidFill>
                <a:latin typeface="Calibri"/>
                <a:cs typeface="Calibri"/>
              </a:rPr>
              <a:t>Interpersonal: </a:t>
            </a:r>
            <a:r>
              <a:rPr dirty="0" sz="2800" spc="-5">
                <a:latin typeface="Calibri"/>
                <a:cs typeface="Calibri"/>
              </a:rPr>
              <a:t>Friendship </a:t>
            </a:r>
            <a:r>
              <a:rPr dirty="0" sz="2800" spc="-10">
                <a:latin typeface="Calibri"/>
                <a:cs typeface="Calibri"/>
              </a:rPr>
              <a:t>between </a:t>
            </a:r>
            <a:r>
              <a:rPr dirty="0" sz="2800" spc="-15">
                <a:latin typeface="Calibri"/>
                <a:cs typeface="Calibri"/>
              </a:rPr>
              <a:t>two </a:t>
            </a:r>
            <a:r>
              <a:rPr dirty="0" sz="2800" spc="-5">
                <a:latin typeface="Calibri"/>
                <a:cs typeface="Calibri"/>
              </a:rPr>
              <a:t>people </a:t>
            </a:r>
            <a:r>
              <a:rPr dirty="0" sz="2800" spc="-295">
                <a:latin typeface="Calibri"/>
                <a:cs typeface="Calibri"/>
              </a:rPr>
              <a:t>is  </a:t>
            </a:r>
            <a:r>
              <a:rPr dirty="0" sz="2800" spc="-5">
                <a:latin typeface="Calibri"/>
                <a:cs typeface="Calibri"/>
              </a:rPr>
              <a:t>either </a:t>
            </a:r>
            <a:r>
              <a:rPr dirty="0" sz="2800" spc="-15" b="1">
                <a:latin typeface="Calibri"/>
                <a:cs typeface="Calibri"/>
              </a:rPr>
              <a:t>strong </a:t>
            </a:r>
            <a:r>
              <a:rPr dirty="0" sz="2800" spc="-5">
                <a:latin typeface="Calibri"/>
                <a:cs typeface="Calibri"/>
              </a:rPr>
              <a:t>or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weak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05977" y="32003"/>
            <a:ext cx="134493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FFFFFF"/>
                </a:solidFill>
                <a:latin typeface="Arial"/>
                <a:cs typeface="Arial"/>
              </a:rPr>
              <a:t>[Granovetter</a:t>
            </a:r>
            <a:r>
              <a:rPr dirty="0" sz="14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FFFFFF"/>
                </a:solidFill>
                <a:latin typeface="Arial"/>
                <a:cs typeface="Arial"/>
              </a:rPr>
              <a:t>‘73]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09915" y="4345429"/>
            <a:ext cx="4148659" cy="19757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201359" y="3951732"/>
            <a:ext cx="12249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008000"/>
                </a:solidFill>
                <a:latin typeface="Arial"/>
                <a:cs typeface="Arial"/>
              </a:rPr>
              <a:t>Structural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06206" y="4000065"/>
            <a:ext cx="2081530" cy="729615"/>
          </a:xfrm>
          <a:custGeom>
            <a:avLst/>
            <a:gdLst/>
            <a:ahLst/>
            <a:cxnLst/>
            <a:rect l="l" t="t" r="r" b="b"/>
            <a:pathLst>
              <a:path w="2081529" h="729614">
                <a:moveTo>
                  <a:pt x="67414" y="648427"/>
                </a:moveTo>
                <a:lnTo>
                  <a:pt x="0" y="716554"/>
                </a:lnTo>
                <a:lnTo>
                  <a:pt x="94950" y="729609"/>
                </a:lnTo>
                <a:lnTo>
                  <a:pt x="88187" y="709672"/>
                </a:lnTo>
                <a:lnTo>
                  <a:pt x="64768" y="709672"/>
                </a:lnTo>
                <a:lnTo>
                  <a:pt x="56657" y="705669"/>
                </a:lnTo>
                <a:lnTo>
                  <a:pt x="51587" y="690723"/>
                </a:lnTo>
                <a:lnTo>
                  <a:pt x="55590" y="682612"/>
                </a:lnTo>
                <a:lnTo>
                  <a:pt x="76592" y="675488"/>
                </a:lnTo>
                <a:lnTo>
                  <a:pt x="67414" y="648427"/>
                </a:lnTo>
                <a:close/>
              </a:path>
              <a:path w="2081529" h="729614">
                <a:moveTo>
                  <a:pt x="76592" y="675488"/>
                </a:moveTo>
                <a:lnTo>
                  <a:pt x="55590" y="682612"/>
                </a:lnTo>
                <a:lnTo>
                  <a:pt x="51587" y="690723"/>
                </a:lnTo>
                <a:lnTo>
                  <a:pt x="56657" y="705669"/>
                </a:lnTo>
                <a:lnTo>
                  <a:pt x="64768" y="709672"/>
                </a:lnTo>
                <a:lnTo>
                  <a:pt x="85771" y="702548"/>
                </a:lnTo>
                <a:lnTo>
                  <a:pt x="76592" y="675488"/>
                </a:lnTo>
                <a:close/>
              </a:path>
              <a:path w="2081529" h="729614">
                <a:moveTo>
                  <a:pt x="85771" y="702548"/>
                </a:moveTo>
                <a:lnTo>
                  <a:pt x="64768" y="709672"/>
                </a:lnTo>
                <a:lnTo>
                  <a:pt x="88187" y="709672"/>
                </a:lnTo>
                <a:lnTo>
                  <a:pt x="85771" y="702548"/>
                </a:lnTo>
                <a:close/>
              </a:path>
              <a:path w="2081529" h="729614">
                <a:moveTo>
                  <a:pt x="2068088" y="0"/>
                </a:moveTo>
                <a:lnTo>
                  <a:pt x="76592" y="675488"/>
                </a:lnTo>
                <a:lnTo>
                  <a:pt x="85771" y="702548"/>
                </a:lnTo>
                <a:lnTo>
                  <a:pt x="2077266" y="27061"/>
                </a:lnTo>
                <a:lnTo>
                  <a:pt x="2081269" y="18948"/>
                </a:lnTo>
                <a:lnTo>
                  <a:pt x="2076199" y="4003"/>
                </a:lnTo>
                <a:lnTo>
                  <a:pt x="2068088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508052" y="3997521"/>
            <a:ext cx="779780" cy="825500"/>
          </a:xfrm>
          <a:custGeom>
            <a:avLst/>
            <a:gdLst/>
            <a:ahLst/>
            <a:cxnLst/>
            <a:rect l="l" t="t" r="r" b="b"/>
            <a:pathLst>
              <a:path w="779779" h="825500">
                <a:moveTo>
                  <a:pt x="27639" y="733360"/>
                </a:moveTo>
                <a:lnTo>
                  <a:pt x="0" y="825131"/>
                </a:lnTo>
                <a:lnTo>
                  <a:pt x="90001" y="792180"/>
                </a:lnTo>
                <a:lnTo>
                  <a:pt x="86599" y="788972"/>
                </a:lnTo>
                <a:lnTo>
                  <a:pt x="44952" y="788972"/>
                </a:lnTo>
                <a:lnTo>
                  <a:pt x="33472" y="778144"/>
                </a:lnTo>
                <a:lnTo>
                  <a:pt x="33207" y="769101"/>
                </a:lnTo>
                <a:lnTo>
                  <a:pt x="48426" y="752967"/>
                </a:lnTo>
                <a:lnTo>
                  <a:pt x="27639" y="733360"/>
                </a:lnTo>
                <a:close/>
              </a:path>
              <a:path w="779779" h="825500">
                <a:moveTo>
                  <a:pt x="48426" y="752967"/>
                </a:moveTo>
                <a:lnTo>
                  <a:pt x="33207" y="769101"/>
                </a:lnTo>
                <a:lnTo>
                  <a:pt x="33472" y="778144"/>
                </a:lnTo>
                <a:lnTo>
                  <a:pt x="44952" y="788972"/>
                </a:lnTo>
                <a:lnTo>
                  <a:pt x="53995" y="788708"/>
                </a:lnTo>
                <a:lnTo>
                  <a:pt x="69213" y="772573"/>
                </a:lnTo>
                <a:lnTo>
                  <a:pt x="48426" y="752967"/>
                </a:lnTo>
                <a:close/>
              </a:path>
              <a:path w="779779" h="825500">
                <a:moveTo>
                  <a:pt x="69213" y="772573"/>
                </a:moveTo>
                <a:lnTo>
                  <a:pt x="53995" y="788708"/>
                </a:lnTo>
                <a:lnTo>
                  <a:pt x="44952" y="788972"/>
                </a:lnTo>
                <a:lnTo>
                  <a:pt x="86599" y="788972"/>
                </a:lnTo>
                <a:lnTo>
                  <a:pt x="69213" y="772573"/>
                </a:lnTo>
                <a:close/>
              </a:path>
              <a:path w="779779" h="825500">
                <a:moveTo>
                  <a:pt x="767424" y="0"/>
                </a:moveTo>
                <a:lnTo>
                  <a:pt x="758381" y="264"/>
                </a:lnTo>
                <a:lnTo>
                  <a:pt x="48426" y="752967"/>
                </a:lnTo>
                <a:lnTo>
                  <a:pt x="69213" y="772573"/>
                </a:lnTo>
                <a:lnTo>
                  <a:pt x="779169" y="19871"/>
                </a:lnTo>
                <a:lnTo>
                  <a:pt x="778904" y="10829"/>
                </a:lnTo>
                <a:lnTo>
                  <a:pt x="76742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418546" y="3808476"/>
            <a:ext cx="16351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0000FF"/>
                </a:solidFill>
                <a:latin typeface="Arial"/>
                <a:cs typeface="Arial"/>
              </a:rPr>
              <a:t>Interpersonal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33582" y="4254500"/>
            <a:ext cx="6057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latin typeface="Arial"/>
                <a:cs typeface="Arial"/>
              </a:rPr>
              <a:t>W</a:t>
            </a:r>
            <a:r>
              <a:rPr dirty="0" sz="1800" spc="-5">
                <a:latin typeface="Arial"/>
                <a:cs typeface="Arial"/>
              </a:rPr>
              <a:t>ea</a:t>
            </a:r>
            <a:r>
              <a:rPr dirty="0" sz="1800">
                <a:latin typeface="Arial"/>
                <a:cs typeface="Arial"/>
              </a:rPr>
              <a:t>k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86377" y="4376420"/>
            <a:ext cx="699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St</a:t>
            </a:r>
            <a:r>
              <a:rPr dirty="0" sz="1800">
                <a:latin typeface="Arial"/>
                <a:cs typeface="Arial"/>
              </a:rPr>
              <a:t>r</a:t>
            </a:r>
            <a:r>
              <a:rPr dirty="0" sz="1800" spc="-5">
                <a:latin typeface="Arial"/>
                <a:cs typeface="Arial"/>
              </a:rPr>
              <a:t>ong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43737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7939"/>
            <a:ext cx="6955155" cy="1308735"/>
          </a:xfrm>
          <a:prstGeom prst="rect"/>
        </p:spPr>
        <p:txBody>
          <a:bodyPr wrap="square" lIns="0" tIns="59055" rIns="0" bIns="0" rtlCol="0" vert="horz">
            <a:spAutoFit/>
          </a:bodyPr>
          <a:lstStyle/>
          <a:p>
            <a:pPr marL="332740" marR="5080" indent="-320040">
              <a:lnSpc>
                <a:spcPts val="3290"/>
              </a:lnSpc>
              <a:spcBef>
                <a:spcPts val="465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20">
                <a:solidFill>
                  <a:srgbClr val="0000FF"/>
                </a:solidFill>
              </a:rPr>
              <a:t>Granovetter </a:t>
            </a:r>
            <a:r>
              <a:rPr dirty="0" sz="3000" spc="-25">
                <a:solidFill>
                  <a:srgbClr val="0000FF"/>
                </a:solidFill>
              </a:rPr>
              <a:t>makes </a:t>
            </a:r>
            <a:r>
              <a:rPr dirty="0" sz="3000">
                <a:solidFill>
                  <a:srgbClr val="0000FF"/>
                </a:solidFill>
              </a:rPr>
              <a:t>a </a:t>
            </a:r>
            <a:r>
              <a:rPr dirty="0" sz="3000" spc="-10">
                <a:solidFill>
                  <a:srgbClr val="0000FF"/>
                </a:solidFill>
              </a:rPr>
              <a:t>connection between  </a:t>
            </a:r>
            <a:r>
              <a:rPr dirty="0" sz="3000" spc="-5">
                <a:solidFill>
                  <a:srgbClr val="0000FF"/>
                </a:solidFill>
              </a:rPr>
              <a:t>the social and </a:t>
            </a:r>
            <a:r>
              <a:rPr dirty="0" sz="3000" spc="-15">
                <a:solidFill>
                  <a:srgbClr val="0000FF"/>
                </a:solidFill>
              </a:rPr>
              <a:t>structural role </a:t>
            </a:r>
            <a:r>
              <a:rPr dirty="0" sz="3000">
                <a:solidFill>
                  <a:srgbClr val="0000FF"/>
                </a:solidFill>
              </a:rPr>
              <a:t>of </a:t>
            </a:r>
            <a:r>
              <a:rPr dirty="0" sz="3000" spc="-5">
                <a:solidFill>
                  <a:srgbClr val="0000FF"/>
                </a:solidFill>
              </a:rPr>
              <a:t>an</a:t>
            </a:r>
            <a:r>
              <a:rPr dirty="0" sz="3000" spc="-35">
                <a:solidFill>
                  <a:srgbClr val="0000FF"/>
                </a:solidFill>
              </a:rPr>
              <a:t> </a:t>
            </a:r>
            <a:r>
              <a:rPr dirty="0" sz="3000" spc="-10">
                <a:solidFill>
                  <a:srgbClr val="0000FF"/>
                </a:solidFill>
              </a:rPr>
              <a:t>edge</a:t>
            </a:r>
            <a:endParaRPr sz="3000"/>
          </a:p>
          <a:p>
            <a:pPr marL="332740" indent="-320040">
              <a:lnSpc>
                <a:spcPts val="316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20">
                <a:solidFill>
                  <a:srgbClr val="CC0066"/>
                </a:solidFill>
              </a:rPr>
              <a:t>First </a:t>
            </a:r>
            <a:r>
              <a:rPr dirty="0" sz="3000" spc="-10">
                <a:solidFill>
                  <a:srgbClr val="CC0066"/>
                </a:solidFill>
              </a:rPr>
              <a:t>point:</a:t>
            </a:r>
            <a:r>
              <a:rPr dirty="0" sz="3000" spc="-35">
                <a:solidFill>
                  <a:srgbClr val="CC0066"/>
                </a:solidFill>
              </a:rPr>
              <a:t> </a:t>
            </a:r>
            <a:r>
              <a:rPr dirty="0" sz="3000" spc="-10"/>
              <a:t>Structure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618108" y="2631948"/>
            <a:ext cx="8041640" cy="277177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625475" marR="353060" indent="-274320">
              <a:lnSpc>
                <a:spcPts val="2780"/>
              </a:lnSpc>
              <a:spcBef>
                <a:spcPts val="47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Structurally </a:t>
            </a:r>
            <a:r>
              <a:rPr dirty="0" sz="2600" spc="-10">
                <a:latin typeface="Calibri"/>
                <a:cs typeface="Calibri"/>
              </a:rPr>
              <a:t>embedded (tightly-connected) edges </a:t>
            </a:r>
            <a:r>
              <a:rPr dirty="0" sz="2600" spc="-190">
                <a:latin typeface="Calibri"/>
                <a:cs typeface="Calibri"/>
              </a:rPr>
              <a:t>are  </a:t>
            </a:r>
            <a:r>
              <a:rPr dirty="0" sz="2600" spc="-5">
                <a:latin typeface="Calibri"/>
                <a:cs typeface="Calibri"/>
              </a:rPr>
              <a:t>also socially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5" b="1">
                <a:latin typeface="Calibri"/>
                <a:cs typeface="Calibri"/>
              </a:rPr>
              <a:t>strong</a:t>
            </a:r>
            <a:endParaRPr sz="2600">
              <a:latin typeface="Calibri"/>
              <a:cs typeface="Calibri"/>
            </a:endParaRPr>
          </a:p>
          <a:p>
            <a:pPr marL="625475" marR="899794" indent="-274320">
              <a:lnSpc>
                <a:spcPts val="2810"/>
              </a:lnSpc>
              <a:spcBef>
                <a:spcPts val="6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0">
                <a:latin typeface="Calibri"/>
                <a:cs typeface="Calibri"/>
              </a:rPr>
              <a:t>Long-range edges </a:t>
            </a:r>
            <a:r>
              <a:rPr dirty="0" sz="2600" spc="-5">
                <a:latin typeface="Calibri"/>
                <a:cs typeface="Calibri"/>
              </a:rPr>
              <a:t>spanning </a:t>
            </a:r>
            <a:r>
              <a:rPr dirty="0" sz="2600" spc="-25">
                <a:latin typeface="Calibri"/>
                <a:cs typeface="Calibri"/>
              </a:rPr>
              <a:t>different </a:t>
            </a:r>
            <a:r>
              <a:rPr dirty="0" sz="2600" spc="-5">
                <a:latin typeface="Calibri"/>
                <a:cs typeface="Calibri"/>
              </a:rPr>
              <a:t>parts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180">
                <a:latin typeface="Calibri"/>
                <a:cs typeface="Calibri"/>
              </a:rPr>
              <a:t>the  </a:t>
            </a:r>
            <a:r>
              <a:rPr dirty="0" sz="2600" spc="-10">
                <a:latin typeface="Calibri"/>
                <a:cs typeface="Calibri"/>
              </a:rPr>
              <a:t>network are </a:t>
            </a:r>
            <a:r>
              <a:rPr dirty="0" sz="2600" spc="-5">
                <a:latin typeface="Calibri"/>
                <a:cs typeface="Calibri"/>
              </a:rPr>
              <a:t>socially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10" b="1">
                <a:solidFill>
                  <a:srgbClr val="68686D"/>
                </a:solidFill>
                <a:latin typeface="Calibri"/>
                <a:cs typeface="Calibri"/>
              </a:rPr>
              <a:t>weak</a:t>
            </a:r>
            <a:endParaRPr sz="2600">
              <a:latin typeface="Calibri"/>
              <a:cs typeface="Calibri"/>
            </a:endParaRPr>
          </a:p>
          <a:p>
            <a:pPr marL="332740" indent="-320040">
              <a:lnSpc>
                <a:spcPts val="3135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solidFill>
                  <a:srgbClr val="CC0066"/>
                </a:solidFill>
                <a:latin typeface="Calibri"/>
                <a:cs typeface="Calibri"/>
              </a:rPr>
              <a:t>Second </a:t>
            </a:r>
            <a:r>
              <a:rPr dirty="0" sz="3000" spc="-10" b="1">
                <a:solidFill>
                  <a:srgbClr val="CC0066"/>
                </a:solidFill>
                <a:latin typeface="Calibri"/>
                <a:cs typeface="Calibri"/>
              </a:rPr>
              <a:t>point:</a:t>
            </a:r>
            <a:r>
              <a:rPr dirty="0" sz="3000" spc="-35" b="1">
                <a:solidFill>
                  <a:srgbClr val="CC0066"/>
                </a:solidFill>
                <a:latin typeface="Calibri"/>
                <a:cs typeface="Calibri"/>
              </a:rPr>
              <a:t> </a:t>
            </a:r>
            <a:r>
              <a:rPr dirty="0" sz="3000" spc="-15" b="1">
                <a:latin typeface="Calibri"/>
                <a:cs typeface="Calibri"/>
              </a:rPr>
              <a:t>Information</a:t>
            </a:r>
            <a:endParaRPr sz="3000">
              <a:latin typeface="Calibri"/>
              <a:cs typeface="Calibri"/>
            </a:endParaRPr>
          </a:p>
          <a:p>
            <a:pPr lvl="1" marL="625475" marR="5080" indent="-274320">
              <a:lnSpc>
                <a:spcPts val="2810"/>
              </a:lnSpc>
              <a:spcBef>
                <a:spcPts val="75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0">
                <a:latin typeface="Calibri"/>
                <a:cs typeface="Calibri"/>
              </a:rPr>
              <a:t>Long-range edges </a:t>
            </a:r>
            <a:r>
              <a:rPr dirty="0" sz="2600" spc="-5">
                <a:latin typeface="Calibri"/>
                <a:cs typeface="Calibri"/>
              </a:rPr>
              <a:t>allow </a:t>
            </a:r>
            <a:r>
              <a:rPr dirty="0" sz="2600" spc="-15">
                <a:latin typeface="Calibri"/>
                <a:cs typeface="Calibri"/>
              </a:rPr>
              <a:t>you to gather </a:t>
            </a:r>
            <a:r>
              <a:rPr dirty="0" sz="2600" spc="-10">
                <a:latin typeface="Calibri"/>
                <a:cs typeface="Calibri"/>
              </a:rPr>
              <a:t>information </a:t>
            </a:r>
            <a:r>
              <a:rPr dirty="0" sz="2600" spc="-110">
                <a:latin typeface="Calibri"/>
                <a:cs typeface="Calibri"/>
              </a:rPr>
              <a:t>from  </a:t>
            </a:r>
            <a:r>
              <a:rPr dirty="0" sz="2600" spc="-25">
                <a:latin typeface="Calibri"/>
                <a:cs typeface="Calibri"/>
              </a:rPr>
              <a:t>different </a:t>
            </a:r>
            <a:r>
              <a:rPr dirty="0" sz="2600" spc="-5">
                <a:latin typeface="Calibri"/>
                <a:cs typeface="Calibri"/>
              </a:rPr>
              <a:t>parts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0">
                <a:latin typeface="Calibri"/>
                <a:cs typeface="Calibri"/>
              </a:rPr>
              <a:t>network </a:t>
            </a:r>
            <a:r>
              <a:rPr dirty="0" sz="2600" spc="-5">
                <a:latin typeface="Calibri"/>
                <a:cs typeface="Calibri"/>
              </a:rPr>
              <a:t>and </a:t>
            </a:r>
            <a:r>
              <a:rPr dirty="0" sz="2600" spc="-20">
                <a:latin typeface="Calibri"/>
                <a:cs typeface="Calibri"/>
              </a:rPr>
              <a:t>get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job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6563" y="5411723"/>
            <a:ext cx="4732020" cy="113538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287020" marR="5080" indent="-274320">
              <a:lnSpc>
                <a:spcPts val="2810"/>
              </a:lnSpc>
              <a:spcBef>
                <a:spcPts val="4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5">
                <a:latin typeface="Calibri"/>
                <a:cs typeface="Calibri"/>
              </a:rPr>
              <a:t>Structurally </a:t>
            </a:r>
            <a:r>
              <a:rPr dirty="0" sz="2600" spc="-10">
                <a:latin typeface="Calibri"/>
                <a:cs typeface="Calibri"/>
              </a:rPr>
              <a:t>embedded edges </a:t>
            </a:r>
            <a:r>
              <a:rPr dirty="0" sz="2600" spc="-204">
                <a:latin typeface="Calibri"/>
                <a:cs typeface="Calibri"/>
              </a:rPr>
              <a:t>are  </a:t>
            </a:r>
            <a:r>
              <a:rPr dirty="0" sz="2600" spc="-10">
                <a:latin typeface="Calibri"/>
                <a:cs typeface="Calibri"/>
              </a:rPr>
              <a:t>heavily redundant </a:t>
            </a:r>
            <a:r>
              <a:rPr dirty="0" sz="2600">
                <a:latin typeface="Calibri"/>
                <a:cs typeface="Calibri"/>
              </a:rPr>
              <a:t>in </a:t>
            </a:r>
            <a:r>
              <a:rPr dirty="0" sz="2600" spc="-10">
                <a:latin typeface="Calibri"/>
                <a:cs typeface="Calibri"/>
              </a:rPr>
              <a:t>terms </a:t>
            </a:r>
            <a:r>
              <a:rPr dirty="0" sz="2600">
                <a:latin typeface="Calibri"/>
                <a:cs typeface="Calibri"/>
              </a:rPr>
              <a:t>of  </a:t>
            </a:r>
            <a:r>
              <a:rPr dirty="0" sz="2600" spc="-10">
                <a:latin typeface="Calibri"/>
                <a:cs typeface="Calibri"/>
              </a:rPr>
              <a:t>information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access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040880" y="5669279"/>
            <a:ext cx="986155" cy="76200"/>
          </a:xfrm>
          <a:custGeom>
            <a:avLst/>
            <a:gdLst/>
            <a:ahLst/>
            <a:cxnLst/>
            <a:rect l="l" t="t" r="r" b="b"/>
            <a:pathLst>
              <a:path w="986154" h="76200">
                <a:moveTo>
                  <a:pt x="0" y="0"/>
                </a:moveTo>
                <a:lnTo>
                  <a:pt x="985574" y="76200"/>
                </a:lnTo>
              </a:path>
            </a:pathLst>
          </a:custGeom>
          <a:ln w="285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014096" y="5733937"/>
            <a:ext cx="304800" cy="257175"/>
          </a:xfrm>
          <a:custGeom>
            <a:avLst/>
            <a:gdLst/>
            <a:ahLst/>
            <a:cxnLst/>
            <a:rect l="l" t="t" r="r" b="b"/>
            <a:pathLst>
              <a:path w="304800" h="257175">
                <a:moveTo>
                  <a:pt x="0" y="0"/>
                </a:moveTo>
                <a:lnTo>
                  <a:pt x="304772" y="256972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474966" y="6055567"/>
            <a:ext cx="328295" cy="101600"/>
          </a:xfrm>
          <a:custGeom>
            <a:avLst/>
            <a:gdLst/>
            <a:ahLst/>
            <a:cxnLst/>
            <a:rect l="l" t="t" r="r" b="b"/>
            <a:pathLst>
              <a:path w="328295" h="101600">
                <a:moveTo>
                  <a:pt x="0" y="0"/>
                </a:moveTo>
                <a:lnTo>
                  <a:pt x="327912" y="101392"/>
                </a:lnTo>
              </a:path>
            </a:pathLst>
          </a:custGeom>
          <a:ln w="285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873240" y="5760719"/>
            <a:ext cx="76200" cy="60960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76200" y="0"/>
                </a:moveTo>
                <a:lnTo>
                  <a:pt x="0" y="60960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556897" y="6205911"/>
            <a:ext cx="252095" cy="191770"/>
          </a:xfrm>
          <a:custGeom>
            <a:avLst/>
            <a:gdLst/>
            <a:ahLst/>
            <a:cxnLst/>
            <a:rect l="l" t="t" r="r" b="b"/>
            <a:pathLst>
              <a:path w="252095" h="191770">
                <a:moveTo>
                  <a:pt x="251684" y="191191"/>
                </a:moveTo>
                <a:lnTo>
                  <a:pt x="0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556897" y="5733937"/>
            <a:ext cx="328295" cy="342900"/>
          </a:xfrm>
          <a:custGeom>
            <a:avLst/>
            <a:gdLst/>
            <a:ahLst/>
            <a:cxnLst/>
            <a:rect l="l" t="t" r="r" b="b"/>
            <a:pathLst>
              <a:path w="328295" h="342900">
                <a:moveTo>
                  <a:pt x="327884" y="0"/>
                </a:moveTo>
                <a:lnTo>
                  <a:pt x="0" y="342657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937898" y="6120225"/>
            <a:ext cx="381000" cy="277495"/>
          </a:xfrm>
          <a:custGeom>
            <a:avLst/>
            <a:gdLst/>
            <a:ahLst/>
            <a:cxnLst/>
            <a:rect l="l" t="t" r="r" b="b"/>
            <a:pathLst>
              <a:path w="381000" h="277495">
                <a:moveTo>
                  <a:pt x="380972" y="0"/>
                </a:moveTo>
                <a:lnTo>
                  <a:pt x="0" y="276876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583680" y="6055567"/>
            <a:ext cx="708660" cy="85725"/>
          </a:xfrm>
          <a:custGeom>
            <a:avLst/>
            <a:gdLst/>
            <a:ahLst/>
            <a:cxnLst/>
            <a:rect l="l" t="t" r="r" b="b"/>
            <a:pathLst>
              <a:path w="708659" h="85725">
                <a:moveTo>
                  <a:pt x="0" y="85685"/>
                </a:moveTo>
                <a:lnTo>
                  <a:pt x="708408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292087" y="5964127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91439" y="0"/>
                </a:moveTo>
                <a:lnTo>
                  <a:pt x="55847" y="7185"/>
                </a:lnTo>
                <a:lnTo>
                  <a:pt x="26782" y="26782"/>
                </a:lnTo>
                <a:lnTo>
                  <a:pt x="7185" y="55847"/>
                </a:lnTo>
                <a:lnTo>
                  <a:pt x="0" y="91440"/>
                </a:lnTo>
                <a:lnTo>
                  <a:pt x="7185" y="127032"/>
                </a:lnTo>
                <a:lnTo>
                  <a:pt x="26782" y="156097"/>
                </a:lnTo>
                <a:lnTo>
                  <a:pt x="55847" y="175694"/>
                </a:lnTo>
                <a:lnTo>
                  <a:pt x="91439" y="182880"/>
                </a:lnTo>
                <a:lnTo>
                  <a:pt x="127032" y="175694"/>
                </a:lnTo>
                <a:lnTo>
                  <a:pt x="156098" y="156097"/>
                </a:lnTo>
                <a:lnTo>
                  <a:pt x="175694" y="127032"/>
                </a:lnTo>
                <a:lnTo>
                  <a:pt x="182879" y="91440"/>
                </a:lnTo>
                <a:lnTo>
                  <a:pt x="175694" y="55847"/>
                </a:lnTo>
                <a:lnTo>
                  <a:pt x="156098" y="26782"/>
                </a:lnTo>
                <a:lnTo>
                  <a:pt x="127032" y="7185"/>
                </a:lnTo>
                <a:lnTo>
                  <a:pt x="914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292087" y="5964127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328758" y="5952235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400800" y="6049812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91439" y="0"/>
                </a:moveTo>
                <a:lnTo>
                  <a:pt x="55847" y="7185"/>
                </a:lnTo>
                <a:lnTo>
                  <a:pt x="26781" y="26782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1" y="156097"/>
                </a:lnTo>
                <a:lnTo>
                  <a:pt x="55847" y="175694"/>
                </a:lnTo>
                <a:lnTo>
                  <a:pt x="91439" y="182879"/>
                </a:lnTo>
                <a:lnTo>
                  <a:pt x="127032" y="175694"/>
                </a:lnTo>
                <a:lnTo>
                  <a:pt x="156097" y="156097"/>
                </a:lnTo>
                <a:lnTo>
                  <a:pt x="175694" y="127032"/>
                </a:lnTo>
                <a:lnTo>
                  <a:pt x="182879" y="91439"/>
                </a:lnTo>
                <a:lnTo>
                  <a:pt x="175694" y="55847"/>
                </a:lnTo>
                <a:lnTo>
                  <a:pt x="156097" y="26782"/>
                </a:lnTo>
                <a:lnTo>
                  <a:pt x="127032" y="7185"/>
                </a:lnTo>
                <a:lnTo>
                  <a:pt x="914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400800" y="6049812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209333" y="5745479"/>
            <a:ext cx="279400" cy="121920"/>
          </a:xfrm>
          <a:custGeom>
            <a:avLst/>
            <a:gdLst/>
            <a:ahLst/>
            <a:cxnLst/>
            <a:rect l="l" t="t" r="r" b="b"/>
            <a:pathLst>
              <a:path w="279400" h="121920">
                <a:moveTo>
                  <a:pt x="0" y="0"/>
                </a:moveTo>
                <a:lnTo>
                  <a:pt x="279346" y="121453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894319" y="5810137"/>
            <a:ext cx="159385" cy="255904"/>
          </a:xfrm>
          <a:custGeom>
            <a:avLst/>
            <a:gdLst/>
            <a:ahLst/>
            <a:cxnLst/>
            <a:rect l="l" t="t" r="r" b="b"/>
            <a:pathLst>
              <a:path w="159384" h="255904">
                <a:moveTo>
                  <a:pt x="0" y="255382"/>
                </a:moveTo>
                <a:lnTo>
                  <a:pt x="158916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985759" y="6156959"/>
            <a:ext cx="426720" cy="213360"/>
          </a:xfrm>
          <a:custGeom>
            <a:avLst/>
            <a:gdLst/>
            <a:ahLst/>
            <a:cxnLst/>
            <a:rect l="l" t="t" r="r" b="b"/>
            <a:pathLst>
              <a:path w="426720" h="213360">
                <a:moveTo>
                  <a:pt x="0" y="0"/>
                </a:moveTo>
                <a:lnTo>
                  <a:pt x="426720" y="212893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958976" y="5931591"/>
            <a:ext cx="556895" cy="161290"/>
          </a:xfrm>
          <a:custGeom>
            <a:avLst/>
            <a:gdLst/>
            <a:ahLst/>
            <a:cxnLst/>
            <a:rect l="l" t="t" r="r" b="b"/>
            <a:pathLst>
              <a:path w="556895" h="161289">
                <a:moveTo>
                  <a:pt x="0" y="160711"/>
                </a:moveTo>
                <a:lnTo>
                  <a:pt x="556484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503919" y="5958372"/>
            <a:ext cx="76200" cy="320040"/>
          </a:xfrm>
          <a:custGeom>
            <a:avLst/>
            <a:gdLst/>
            <a:ahLst/>
            <a:cxnLst/>
            <a:rect l="l" t="t" r="r" b="b"/>
            <a:pathLst>
              <a:path w="76200" h="320039">
                <a:moveTo>
                  <a:pt x="0" y="320040"/>
                </a:moveTo>
                <a:lnTo>
                  <a:pt x="76200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026453" y="565403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91440" y="0"/>
                </a:moveTo>
                <a:lnTo>
                  <a:pt x="55847" y="7185"/>
                </a:lnTo>
                <a:lnTo>
                  <a:pt x="26782" y="26782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2" y="156097"/>
                </a:lnTo>
                <a:lnTo>
                  <a:pt x="55847" y="175694"/>
                </a:lnTo>
                <a:lnTo>
                  <a:pt x="91440" y="182879"/>
                </a:lnTo>
                <a:lnTo>
                  <a:pt x="127032" y="175694"/>
                </a:lnTo>
                <a:lnTo>
                  <a:pt x="156098" y="156097"/>
                </a:lnTo>
                <a:lnTo>
                  <a:pt x="175694" y="127032"/>
                </a:lnTo>
                <a:lnTo>
                  <a:pt x="182879" y="91439"/>
                </a:lnTo>
                <a:lnTo>
                  <a:pt x="175694" y="55847"/>
                </a:lnTo>
                <a:lnTo>
                  <a:pt x="156098" y="26782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026453" y="565403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802880" y="606551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91440" y="0"/>
                </a:moveTo>
                <a:lnTo>
                  <a:pt x="55847" y="7185"/>
                </a:lnTo>
                <a:lnTo>
                  <a:pt x="26781" y="26782"/>
                </a:lnTo>
                <a:lnTo>
                  <a:pt x="7185" y="55847"/>
                </a:lnTo>
                <a:lnTo>
                  <a:pt x="0" y="91440"/>
                </a:lnTo>
                <a:lnTo>
                  <a:pt x="7185" y="127032"/>
                </a:lnTo>
                <a:lnTo>
                  <a:pt x="26781" y="156097"/>
                </a:lnTo>
                <a:lnTo>
                  <a:pt x="55847" y="175694"/>
                </a:lnTo>
                <a:lnTo>
                  <a:pt x="91440" y="182880"/>
                </a:lnTo>
                <a:lnTo>
                  <a:pt x="127032" y="175694"/>
                </a:lnTo>
                <a:lnTo>
                  <a:pt x="156097" y="156097"/>
                </a:lnTo>
                <a:lnTo>
                  <a:pt x="175694" y="127032"/>
                </a:lnTo>
                <a:lnTo>
                  <a:pt x="182879" y="91440"/>
                </a:lnTo>
                <a:lnTo>
                  <a:pt x="175694" y="55847"/>
                </a:lnTo>
                <a:lnTo>
                  <a:pt x="156097" y="26782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802880" y="606551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488680" y="5775492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91440" y="0"/>
                </a:moveTo>
                <a:lnTo>
                  <a:pt x="55847" y="7185"/>
                </a:lnTo>
                <a:lnTo>
                  <a:pt x="26781" y="26782"/>
                </a:lnTo>
                <a:lnTo>
                  <a:pt x="7185" y="55847"/>
                </a:lnTo>
                <a:lnTo>
                  <a:pt x="0" y="91440"/>
                </a:lnTo>
                <a:lnTo>
                  <a:pt x="7185" y="127032"/>
                </a:lnTo>
                <a:lnTo>
                  <a:pt x="26781" y="156097"/>
                </a:lnTo>
                <a:lnTo>
                  <a:pt x="55847" y="175694"/>
                </a:lnTo>
                <a:lnTo>
                  <a:pt x="91440" y="182880"/>
                </a:lnTo>
                <a:lnTo>
                  <a:pt x="127032" y="175694"/>
                </a:lnTo>
                <a:lnTo>
                  <a:pt x="156097" y="156097"/>
                </a:lnTo>
                <a:lnTo>
                  <a:pt x="175694" y="127032"/>
                </a:lnTo>
                <a:lnTo>
                  <a:pt x="182879" y="91440"/>
                </a:lnTo>
                <a:lnTo>
                  <a:pt x="175694" y="55847"/>
                </a:lnTo>
                <a:lnTo>
                  <a:pt x="156097" y="26782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488680" y="5775492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412480" y="6278412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91440" y="0"/>
                </a:moveTo>
                <a:lnTo>
                  <a:pt x="55847" y="7185"/>
                </a:lnTo>
                <a:lnTo>
                  <a:pt x="26781" y="26782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1" y="156097"/>
                </a:lnTo>
                <a:lnTo>
                  <a:pt x="55847" y="175694"/>
                </a:lnTo>
                <a:lnTo>
                  <a:pt x="91440" y="182879"/>
                </a:lnTo>
                <a:lnTo>
                  <a:pt x="127032" y="175694"/>
                </a:lnTo>
                <a:lnTo>
                  <a:pt x="156097" y="156097"/>
                </a:lnTo>
                <a:lnTo>
                  <a:pt x="175694" y="127032"/>
                </a:lnTo>
                <a:lnTo>
                  <a:pt x="182879" y="91439"/>
                </a:lnTo>
                <a:lnTo>
                  <a:pt x="175694" y="55847"/>
                </a:lnTo>
                <a:lnTo>
                  <a:pt x="156097" y="26782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412480" y="6278412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858000" y="557784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91440" y="0"/>
                </a:moveTo>
                <a:lnTo>
                  <a:pt x="55847" y="7185"/>
                </a:lnTo>
                <a:lnTo>
                  <a:pt x="26781" y="26782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1" y="156097"/>
                </a:lnTo>
                <a:lnTo>
                  <a:pt x="55847" y="175694"/>
                </a:lnTo>
                <a:lnTo>
                  <a:pt x="91440" y="182879"/>
                </a:lnTo>
                <a:lnTo>
                  <a:pt x="127032" y="175694"/>
                </a:lnTo>
                <a:lnTo>
                  <a:pt x="156097" y="156097"/>
                </a:lnTo>
                <a:lnTo>
                  <a:pt x="175694" y="127032"/>
                </a:lnTo>
                <a:lnTo>
                  <a:pt x="182879" y="91439"/>
                </a:lnTo>
                <a:lnTo>
                  <a:pt x="175694" y="55847"/>
                </a:lnTo>
                <a:lnTo>
                  <a:pt x="156097" y="26782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858000" y="557784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781800" y="637031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91440" y="0"/>
                </a:moveTo>
                <a:lnTo>
                  <a:pt x="55847" y="7185"/>
                </a:lnTo>
                <a:lnTo>
                  <a:pt x="26781" y="26782"/>
                </a:lnTo>
                <a:lnTo>
                  <a:pt x="7185" y="55847"/>
                </a:lnTo>
                <a:lnTo>
                  <a:pt x="0" y="91440"/>
                </a:lnTo>
                <a:lnTo>
                  <a:pt x="7185" y="127032"/>
                </a:lnTo>
                <a:lnTo>
                  <a:pt x="26781" y="156097"/>
                </a:lnTo>
                <a:lnTo>
                  <a:pt x="55847" y="175694"/>
                </a:lnTo>
                <a:lnTo>
                  <a:pt x="91440" y="182880"/>
                </a:lnTo>
                <a:lnTo>
                  <a:pt x="127032" y="175694"/>
                </a:lnTo>
                <a:lnTo>
                  <a:pt x="156097" y="156097"/>
                </a:lnTo>
                <a:lnTo>
                  <a:pt x="175694" y="127032"/>
                </a:lnTo>
                <a:lnTo>
                  <a:pt x="182879" y="91440"/>
                </a:lnTo>
                <a:lnTo>
                  <a:pt x="175694" y="55847"/>
                </a:lnTo>
                <a:lnTo>
                  <a:pt x="156097" y="26782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781800" y="637031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6974630" y="5767323"/>
            <a:ext cx="16129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008000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493058" y="5428996"/>
            <a:ext cx="5530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30" b="1">
                <a:solidFill>
                  <a:srgbClr val="008000"/>
                </a:solidFill>
                <a:latin typeface="Arial"/>
                <a:cs typeface="Arial"/>
              </a:rPr>
              <a:t>W</a:t>
            </a:r>
            <a:r>
              <a:rPr dirty="0" sz="1600" spc="-5" b="1">
                <a:solidFill>
                  <a:srgbClr val="008000"/>
                </a:solidFill>
                <a:latin typeface="Arial"/>
                <a:cs typeface="Arial"/>
              </a:rPr>
              <a:t>ea</a:t>
            </a:r>
            <a:r>
              <a:rPr dirty="0" sz="1600" b="1">
                <a:solidFill>
                  <a:srgbClr val="008000"/>
                </a:solidFill>
                <a:latin typeface="Arial"/>
                <a:cs typeface="Arial"/>
              </a:rPr>
              <a:t>k</a:t>
            </a:r>
            <a:endParaRPr sz="1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537623" y="5645403"/>
            <a:ext cx="16129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008000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142037" y="6242811"/>
            <a:ext cx="16129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008000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348893" y="5569203"/>
            <a:ext cx="6800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008000"/>
                </a:solidFill>
                <a:latin typeface="Arial"/>
                <a:cs typeface="Arial"/>
              </a:rPr>
              <a:t>S</a:t>
            </a:r>
            <a:r>
              <a:rPr dirty="0" sz="1600" b="1">
                <a:solidFill>
                  <a:srgbClr val="008000"/>
                </a:solidFill>
                <a:latin typeface="Arial"/>
                <a:cs typeface="Arial"/>
              </a:rPr>
              <a:t>tr</a:t>
            </a:r>
            <a:r>
              <a:rPr dirty="0" sz="1600" spc="-5" b="1">
                <a:solidFill>
                  <a:srgbClr val="008000"/>
                </a:solidFill>
                <a:latin typeface="Arial"/>
                <a:cs typeface="Arial"/>
              </a:rPr>
              <a:t>on</a:t>
            </a:r>
            <a:r>
              <a:rPr dirty="0" sz="1600" b="1">
                <a:solidFill>
                  <a:srgbClr val="008000"/>
                </a:solidFill>
                <a:latin typeface="Arial"/>
                <a:cs typeface="Arial"/>
              </a:rPr>
              <a:t>g</a:t>
            </a:r>
            <a:endParaRPr sz="16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568947" y="5800852"/>
            <a:ext cx="613410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889"/>
              </a:lnSpc>
              <a:spcBef>
                <a:spcPts val="100"/>
              </a:spcBef>
              <a:tabLst>
                <a:tab pos="451484" algn="l"/>
              </a:tabLst>
            </a:pPr>
            <a:r>
              <a:rPr dirty="0" sz="1600" b="1">
                <a:solidFill>
                  <a:srgbClr val="008000"/>
                </a:solidFill>
                <a:latin typeface="Arial"/>
                <a:cs typeface="Arial"/>
              </a:rPr>
              <a:t>W	S</a:t>
            </a:r>
            <a:endParaRPr sz="1600">
              <a:latin typeface="Arial"/>
              <a:cs typeface="Arial"/>
            </a:endParaRPr>
          </a:p>
          <a:p>
            <a:pPr algn="ctr" marL="38100">
              <a:lnSpc>
                <a:spcPts val="1650"/>
              </a:lnSpc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3553967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813675" cy="1503680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0">
                <a:latin typeface="Calibri"/>
                <a:cs typeface="Calibri"/>
              </a:rPr>
              <a:t>How community </a:t>
            </a:r>
            <a:r>
              <a:rPr dirty="0" spc="-15" b="0">
                <a:latin typeface="Calibri"/>
                <a:cs typeface="Calibri"/>
              </a:rPr>
              <a:t>(tightly-connected cluster </a:t>
            </a:r>
            <a:r>
              <a:rPr dirty="0" b="0">
                <a:latin typeface="Calibri"/>
                <a:cs typeface="Calibri"/>
              </a:rPr>
              <a:t>of  </a:t>
            </a:r>
            <a:r>
              <a:rPr dirty="0" spc="-5" b="0">
                <a:latin typeface="Calibri"/>
                <a:cs typeface="Calibri"/>
              </a:rPr>
              <a:t>nodes)</a:t>
            </a:r>
            <a:r>
              <a:rPr dirty="0" spc="-70" b="0">
                <a:latin typeface="Calibri"/>
                <a:cs typeface="Calibri"/>
              </a:rPr>
              <a:t> </a:t>
            </a:r>
            <a:r>
              <a:rPr dirty="0" spc="-15" b="0">
                <a:latin typeface="Calibri"/>
                <a:cs typeface="Calibri"/>
              </a:rPr>
              <a:t>forms?</a:t>
            </a:r>
          </a:p>
          <a:p>
            <a:pPr marL="125095">
              <a:lnSpc>
                <a:spcPct val="100000"/>
              </a:lnSpc>
              <a:spcBef>
                <a:spcPts val="45"/>
              </a:spcBef>
            </a:pPr>
            <a:r>
              <a:rPr dirty="0" spc="-5">
                <a:solidFill>
                  <a:srgbClr val="008000"/>
                </a:solidFill>
                <a:latin typeface="Arial"/>
                <a:cs typeface="Arial"/>
              </a:rPr>
              <a:t>Which edge is more </a:t>
            </a:r>
            <a:r>
              <a:rPr dirty="0" spc="-40">
                <a:solidFill>
                  <a:srgbClr val="008000"/>
                </a:solidFill>
                <a:latin typeface="Arial"/>
                <a:cs typeface="Arial"/>
              </a:rPr>
              <a:t>likely, </a:t>
            </a:r>
            <a:r>
              <a:rPr dirty="0">
                <a:solidFill>
                  <a:srgbClr val="008000"/>
                </a:solidFill>
                <a:latin typeface="Arial"/>
                <a:cs typeface="Arial"/>
              </a:rPr>
              <a:t>a-b </a:t>
            </a:r>
            <a:r>
              <a:rPr dirty="0" spc="-5">
                <a:solidFill>
                  <a:srgbClr val="008000"/>
                </a:solidFill>
                <a:latin typeface="Arial"/>
                <a:cs typeface="Arial"/>
              </a:rPr>
              <a:t>or</a:t>
            </a:r>
            <a:r>
              <a:rPr dirty="0" spc="-5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008000"/>
                </a:solidFill>
                <a:latin typeface="Arial"/>
                <a:cs typeface="Arial"/>
              </a:rPr>
              <a:t>a-c?</a:t>
            </a:r>
          </a:p>
        </p:txBody>
      </p:sp>
      <p:sp>
        <p:nvSpPr>
          <p:cNvPr id="4" name="object 4"/>
          <p:cNvSpPr/>
          <p:nvPr/>
        </p:nvSpPr>
        <p:spPr>
          <a:xfrm>
            <a:off x="1463357" y="3635288"/>
            <a:ext cx="168275" cy="834390"/>
          </a:xfrm>
          <a:custGeom>
            <a:avLst/>
            <a:gdLst/>
            <a:ahLst/>
            <a:cxnLst/>
            <a:rect l="l" t="t" r="r" b="b"/>
            <a:pathLst>
              <a:path w="168275" h="834389">
                <a:moveTo>
                  <a:pt x="0" y="0"/>
                </a:moveTo>
                <a:lnTo>
                  <a:pt x="167742" y="83378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469813" y="3506632"/>
            <a:ext cx="419734" cy="917575"/>
          </a:xfrm>
          <a:custGeom>
            <a:avLst/>
            <a:gdLst/>
            <a:ahLst/>
            <a:cxnLst/>
            <a:rect l="l" t="t" r="r" b="b"/>
            <a:pathLst>
              <a:path w="419735" h="917575">
                <a:moveTo>
                  <a:pt x="0" y="0"/>
                </a:moveTo>
                <a:lnTo>
                  <a:pt x="419358" y="91715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11621" y="4469069"/>
            <a:ext cx="1351280" cy="208915"/>
          </a:xfrm>
          <a:custGeom>
            <a:avLst/>
            <a:gdLst/>
            <a:ahLst/>
            <a:cxnLst/>
            <a:rect l="l" t="t" r="r" b="b"/>
            <a:pathLst>
              <a:path w="1351280" h="208914">
                <a:moveTo>
                  <a:pt x="1351202" y="0"/>
                </a:moveTo>
                <a:lnTo>
                  <a:pt x="0" y="20844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73035" y="3423254"/>
            <a:ext cx="587375" cy="83820"/>
          </a:xfrm>
          <a:custGeom>
            <a:avLst/>
            <a:gdLst/>
            <a:ahLst/>
            <a:cxnLst/>
            <a:rect l="l" t="t" r="r" b="b"/>
            <a:pathLst>
              <a:path w="587375" h="83820">
                <a:moveTo>
                  <a:pt x="587100" y="83378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98850" y="4423792"/>
            <a:ext cx="671195" cy="167005"/>
          </a:xfrm>
          <a:custGeom>
            <a:avLst/>
            <a:gdLst/>
            <a:ahLst/>
            <a:cxnLst/>
            <a:rect l="l" t="t" r="r" b="b"/>
            <a:pathLst>
              <a:path w="671195" h="167004">
                <a:moveTo>
                  <a:pt x="0" y="0"/>
                </a:moveTo>
                <a:lnTo>
                  <a:pt x="670972" y="16675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37437" y="3766186"/>
            <a:ext cx="368300" cy="510540"/>
          </a:xfrm>
          <a:custGeom>
            <a:avLst/>
            <a:gdLst/>
            <a:ahLst/>
            <a:cxnLst/>
            <a:rect l="l" t="t" r="r" b="b"/>
            <a:pathLst>
              <a:path w="368300" h="510539">
                <a:moveTo>
                  <a:pt x="367801" y="0"/>
                </a:moveTo>
                <a:lnTo>
                  <a:pt x="0" y="51021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679492" y="3506632"/>
            <a:ext cx="671195" cy="41910"/>
          </a:xfrm>
          <a:custGeom>
            <a:avLst/>
            <a:gdLst/>
            <a:ahLst/>
            <a:cxnLst/>
            <a:rect l="l" t="t" r="r" b="b"/>
            <a:pathLst>
              <a:path w="671195" h="41910">
                <a:moveTo>
                  <a:pt x="670972" y="41689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88007" y="3784110"/>
            <a:ext cx="381000" cy="702945"/>
          </a:xfrm>
          <a:custGeom>
            <a:avLst/>
            <a:gdLst/>
            <a:ahLst/>
            <a:cxnLst/>
            <a:rect l="l" t="t" r="r" b="b"/>
            <a:pathLst>
              <a:path w="381000" h="702945">
                <a:moveTo>
                  <a:pt x="380741" y="702881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21419" y="4469069"/>
            <a:ext cx="419734" cy="417195"/>
          </a:xfrm>
          <a:custGeom>
            <a:avLst/>
            <a:gdLst/>
            <a:ahLst/>
            <a:cxnLst/>
            <a:rect l="l" t="t" r="r" b="b"/>
            <a:pathLst>
              <a:path w="419735" h="417195">
                <a:moveTo>
                  <a:pt x="209679" y="0"/>
                </a:moveTo>
                <a:lnTo>
                  <a:pt x="161602" y="5505"/>
                </a:lnTo>
                <a:lnTo>
                  <a:pt x="117467" y="21186"/>
                </a:lnTo>
                <a:lnTo>
                  <a:pt x="78535" y="45793"/>
                </a:lnTo>
                <a:lnTo>
                  <a:pt x="46064" y="78073"/>
                </a:lnTo>
                <a:lnTo>
                  <a:pt x="21312" y="116776"/>
                </a:lnTo>
                <a:lnTo>
                  <a:pt x="5537" y="160650"/>
                </a:lnTo>
                <a:lnTo>
                  <a:pt x="0" y="208445"/>
                </a:lnTo>
                <a:lnTo>
                  <a:pt x="5537" y="256239"/>
                </a:lnTo>
                <a:lnTo>
                  <a:pt x="21312" y="300114"/>
                </a:lnTo>
                <a:lnTo>
                  <a:pt x="46064" y="338817"/>
                </a:lnTo>
                <a:lnTo>
                  <a:pt x="78535" y="371097"/>
                </a:lnTo>
                <a:lnTo>
                  <a:pt x="117467" y="395703"/>
                </a:lnTo>
                <a:lnTo>
                  <a:pt x="161602" y="411385"/>
                </a:lnTo>
                <a:lnTo>
                  <a:pt x="209679" y="416890"/>
                </a:lnTo>
                <a:lnTo>
                  <a:pt x="257756" y="411385"/>
                </a:lnTo>
                <a:lnTo>
                  <a:pt x="301890" y="395703"/>
                </a:lnTo>
                <a:lnTo>
                  <a:pt x="340822" y="371097"/>
                </a:lnTo>
                <a:lnTo>
                  <a:pt x="373293" y="338817"/>
                </a:lnTo>
                <a:lnTo>
                  <a:pt x="398045" y="300114"/>
                </a:lnTo>
                <a:lnTo>
                  <a:pt x="413820" y="256239"/>
                </a:lnTo>
                <a:lnTo>
                  <a:pt x="419357" y="208445"/>
                </a:lnTo>
                <a:lnTo>
                  <a:pt x="413820" y="160650"/>
                </a:lnTo>
                <a:lnTo>
                  <a:pt x="398045" y="116776"/>
                </a:lnTo>
                <a:lnTo>
                  <a:pt x="373293" y="78073"/>
                </a:lnTo>
                <a:lnTo>
                  <a:pt x="340822" y="45793"/>
                </a:lnTo>
                <a:lnTo>
                  <a:pt x="301890" y="21186"/>
                </a:lnTo>
                <a:lnTo>
                  <a:pt x="257756" y="5505"/>
                </a:lnTo>
                <a:lnTo>
                  <a:pt x="2096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343823" y="3413936"/>
            <a:ext cx="419734" cy="417195"/>
          </a:xfrm>
          <a:custGeom>
            <a:avLst/>
            <a:gdLst/>
            <a:ahLst/>
            <a:cxnLst/>
            <a:rect l="l" t="t" r="r" b="b"/>
            <a:pathLst>
              <a:path w="419735" h="417195">
                <a:moveTo>
                  <a:pt x="209679" y="0"/>
                </a:moveTo>
                <a:lnTo>
                  <a:pt x="161602" y="5505"/>
                </a:lnTo>
                <a:lnTo>
                  <a:pt x="117467" y="21186"/>
                </a:lnTo>
                <a:lnTo>
                  <a:pt x="78535" y="45793"/>
                </a:lnTo>
                <a:lnTo>
                  <a:pt x="46064" y="78073"/>
                </a:lnTo>
                <a:lnTo>
                  <a:pt x="21312" y="116776"/>
                </a:lnTo>
                <a:lnTo>
                  <a:pt x="5537" y="160651"/>
                </a:lnTo>
                <a:lnTo>
                  <a:pt x="0" y="208446"/>
                </a:lnTo>
                <a:lnTo>
                  <a:pt x="5537" y="256240"/>
                </a:lnTo>
                <a:lnTo>
                  <a:pt x="21312" y="300114"/>
                </a:lnTo>
                <a:lnTo>
                  <a:pt x="46064" y="338817"/>
                </a:lnTo>
                <a:lnTo>
                  <a:pt x="78535" y="371098"/>
                </a:lnTo>
                <a:lnTo>
                  <a:pt x="117467" y="395704"/>
                </a:lnTo>
                <a:lnTo>
                  <a:pt x="161602" y="411386"/>
                </a:lnTo>
                <a:lnTo>
                  <a:pt x="209679" y="416891"/>
                </a:lnTo>
                <a:lnTo>
                  <a:pt x="257757" y="411386"/>
                </a:lnTo>
                <a:lnTo>
                  <a:pt x="301891" y="395704"/>
                </a:lnTo>
                <a:lnTo>
                  <a:pt x="340823" y="371098"/>
                </a:lnTo>
                <a:lnTo>
                  <a:pt x="373294" y="338817"/>
                </a:lnTo>
                <a:lnTo>
                  <a:pt x="398046" y="300114"/>
                </a:lnTo>
                <a:lnTo>
                  <a:pt x="413821" y="256240"/>
                </a:lnTo>
                <a:lnTo>
                  <a:pt x="419359" y="208446"/>
                </a:lnTo>
                <a:lnTo>
                  <a:pt x="413821" y="160651"/>
                </a:lnTo>
                <a:lnTo>
                  <a:pt x="398046" y="116776"/>
                </a:lnTo>
                <a:lnTo>
                  <a:pt x="373294" y="78073"/>
                </a:lnTo>
                <a:lnTo>
                  <a:pt x="340823" y="45793"/>
                </a:lnTo>
                <a:lnTo>
                  <a:pt x="301891" y="21186"/>
                </a:lnTo>
                <a:lnTo>
                  <a:pt x="257757" y="5505"/>
                </a:lnTo>
                <a:lnTo>
                  <a:pt x="2096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260135" y="3301776"/>
            <a:ext cx="419734" cy="417195"/>
          </a:xfrm>
          <a:custGeom>
            <a:avLst/>
            <a:gdLst/>
            <a:ahLst/>
            <a:cxnLst/>
            <a:rect l="l" t="t" r="r" b="b"/>
            <a:pathLst>
              <a:path w="419735" h="417195">
                <a:moveTo>
                  <a:pt x="209678" y="0"/>
                </a:moveTo>
                <a:lnTo>
                  <a:pt x="161600" y="5505"/>
                </a:lnTo>
                <a:lnTo>
                  <a:pt x="117466" y="21186"/>
                </a:lnTo>
                <a:lnTo>
                  <a:pt x="78535" y="45792"/>
                </a:lnTo>
                <a:lnTo>
                  <a:pt x="46063" y="78073"/>
                </a:lnTo>
                <a:lnTo>
                  <a:pt x="21311" y="116775"/>
                </a:lnTo>
                <a:lnTo>
                  <a:pt x="5537" y="160650"/>
                </a:lnTo>
                <a:lnTo>
                  <a:pt x="0" y="208445"/>
                </a:lnTo>
                <a:lnTo>
                  <a:pt x="5537" y="256239"/>
                </a:lnTo>
                <a:lnTo>
                  <a:pt x="21311" y="300114"/>
                </a:lnTo>
                <a:lnTo>
                  <a:pt x="46063" y="338817"/>
                </a:lnTo>
                <a:lnTo>
                  <a:pt x="78535" y="371097"/>
                </a:lnTo>
                <a:lnTo>
                  <a:pt x="117466" y="395703"/>
                </a:lnTo>
                <a:lnTo>
                  <a:pt x="161600" y="411385"/>
                </a:lnTo>
                <a:lnTo>
                  <a:pt x="209678" y="416890"/>
                </a:lnTo>
                <a:lnTo>
                  <a:pt x="257755" y="411385"/>
                </a:lnTo>
                <a:lnTo>
                  <a:pt x="301889" y="395703"/>
                </a:lnTo>
                <a:lnTo>
                  <a:pt x="340821" y="371097"/>
                </a:lnTo>
                <a:lnTo>
                  <a:pt x="373293" y="338817"/>
                </a:lnTo>
                <a:lnTo>
                  <a:pt x="398045" y="300114"/>
                </a:lnTo>
                <a:lnTo>
                  <a:pt x="413820" y="256239"/>
                </a:lnTo>
                <a:lnTo>
                  <a:pt x="419357" y="208445"/>
                </a:lnTo>
                <a:lnTo>
                  <a:pt x="413820" y="160650"/>
                </a:lnTo>
                <a:lnTo>
                  <a:pt x="398045" y="116775"/>
                </a:lnTo>
                <a:lnTo>
                  <a:pt x="373293" y="78073"/>
                </a:lnTo>
                <a:lnTo>
                  <a:pt x="340821" y="45792"/>
                </a:lnTo>
                <a:lnTo>
                  <a:pt x="301889" y="21186"/>
                </a:lnTo>
                <a:lnTo>
                  <a:pt x="257755" y="5505"/>
                </a:lnTo>
                <a:lnTo>
                  <a:pt x="2096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463030" y="3477079"/>
            <a:ext cx="1224280" cy="868680"/>
          </a:xfrm>
          <a:custGeom>
            <a:avLst/>
            <a:gdLst/>
            <a:ahLst/>
            <a:cxnLst/>
            <a:rect l="l" t="t" r="r" b="b"/>
            <a:pathLst>
              <a:path w="1224280" h="868679">
                <a:moveTo>
                  <a:pt x="1062653" y="816239"/>
                </a:moveTo>
                <a:lnTo>
                  <a:pt x="1055137" y="817093"/>
                </a:lnTo>
                <a:lnTo>
                  <a:pt x="1048753" y="820640"/>
                </a:lnTo>
                <a:lnTo>
                  <a:pt x="1044165" y="826321"/>
                </a:lnTo>
                <a:lnTo>
                  <a:pt x="1042036" y="833581"/>
                </a:lnTo>
                <a:lnTo>
                  <a:pt x="1042891" y="841097"/>
                </a:lnTo>
                <a:lnTo>
                  <a:pt x="1046438" y="847481"/>
                </a:lnTo>
                <a:lnTo>
                  <a:pt x="1052120" y="852069"/>
                </a:lnTo>
                <a:lnTo>
                  <a:pt x="1059379" y="854198"/>
                </a:lnTo>
                <a:lnTo>
                  <a:pt x="1223750" y="868376"/>
                </a:lnTo>
                <a:lnTo>
                  <a:pt x="1222375" y="865365"/>
                </a:lnTo>
                <a:lnTo>
                  <a:pt x="1196104" y="865365"/>
                </a:lnTo>
                <a:lnTo>
                  <a:pt x="1188802" y="865213"/>
                </a:lnTo>
                <a:lnTo>
                  <a:pt x="1181880" y="862163"/>
                </a:lnTo>
                <a:lnTo>
                  <a:pt x="1124286" y="821555"/>
                </a:lnTo>
                <a:lnTo>
                  <a:pt x="1062653" y="816239"/>
                </a:lnTo>
                <a:close/>
              </a:path>
              <a:path w="1224280" h="868679">
                <a:moveTo>
                  <a:pt x="1124286" y="821555"/>
                </a:moveTo>
                <a:lnTo>
                  <a:pt x="1181880" y="862163"/>
                </a:lnTo>
                <a:lnTo>
                  <a:pt x="1188802" y="865213"/>
                </a:lnTo>
                <a:lnTo>
                  <a:pt x="1196104" y="865365"/>
                </a:lnTo>
                <a:lnTo>
                  <a:pt x="1202929" y="862769"/>
                </a:lnTo>
                <a:lnTo>
                  <a:pt x="1208425" y="857571"/>
                </a:lnTo>
                <a:lnTo>
                  <a:pt x="1209775" y="854508"/>
                </a:lnTo>
                <a:lnTo>
                  <a:pt x="1175525" y="854508"/>
                </a:lnTo>
                <a:lnTo>
                  <a:pt x="1161952" y="824804"/>
                </a:lnTo>
                <a:lnTo>
                  <a:pt x="1124286" y="821555"/>
                </a:lnTo>
                <a:close/>
              </a:path>
              <a:path w="1224280" h="868679">
                <a:moveTo>
                  <a:pt x="1137307" y="707187"/>
                </a:moveTo>
                <a:lnTo>
                  <a:pt x="1129941" y="708907"/>
                </a:lnTo>
                <a:lnTo>
                  <a:pt x="1123818" y="713350"/>
                </a:lnTo>
                <a:lnTo>
                  <a:pt x="1120008" y="719580"/>
                </a:lnTo>
                <a:lnTo>
                  <a:pt x="1118811" y="726784"/>
                </a:lnTo>
                <a:lnTo>
                  <a:pt x="1120531" y="734151"/>
                </a:lnTo>
                <a:lnTo>
                  <a:pt x="1146239" y="790415"/>
                </a:lnTo>
                <a:lnTo>
                  <a:pt x="1203834" y="831024"/>
                </a:lnTo>
                <a:lnTo>
                  <a:pt x="1209031" y="836521"/>
                </a:lnTo>
                <a:lnTo>
                  <a:pt x="1211628" y="843347"/>
                </a:lnTo>
                <a:lnTo>
                  <a:pt x="1211475" y="850648"/>
                </a:lnTo>
                <a:lnTo>
                  <a:pt x="1208425" y="857571"/>
                </a:lnTo>
                <a:lnTo>
                  <a:pt x="1202929" y="862769"/>
                </a:lnTo>
                <a:lnTo>
                  <a:pt x="1196104" y="865365"/>
                </a:lnTo>
                <a:lnTo>
                  <a:pt x="1222375" y="865365"/>
                </a:lnTo>
                <a:lnTo>
                  <a:pt x="1155186" y="718317"/>
                </a:lnTo>
                <a:lnTo>
                  <a:pt x="1150742" y="712194"/>
                </a:lnTo>
                <a:lnTo>
                  <a:pt x="1144512" y="708384"/>
                </a:lnTo>
                <a:lnTo>
                  <a:pt x="1137307" y="707187"/>
                </a:lnTo>
                <a:close/>
              </a:path>
              <a:path w="1224280" h="868679">
                <a:moveTo>
                  <a:pt x="1161952" y="824804"/>
                </a:moveTo>
                <a:lnTo>
                  <a:pt x="1175525" y="854508"/>
                </a:lnTo>
                <a:lnTo>
                  <a:pt x="1194490" y="827610"/>
                </a:lnTo>
                <a:lnTo>
                  <a:pt x="1161952" y="824804"/>
                </a:lnTo>
                <a:close/>
              </a:path>
              <a:path w="1224280" h="868679">
                <a:moveTo>
                  <a:pt x="1146239" y="790415"/>
                </a:moveTo>
                <a:lnTo>
                  <a:pt x="1161952" y="824804"/>
                </a:lnTo>
                <a:lnTo>
                  <a:pt x="1194490" y="827610"/>
                </a:lnTo>
                <a:lnTo>
                  <a:pt x="1175525" y="854508"/>
                </a:lnTo>
                <a:lnTo>
                  <a:pt x="1209775" y="854508"/>
                </a:lnTo>
                <a:lnTo>
                  <a:pt x="1211475" y="850648"/>
                </a:lnTo>
                <a:lnTo>
                  <a:pt x="1211628" y="843347"/>
                </a:lnTo>
                <a:lnTo>
                  <a:pt x="1209031" y="836521"/>
                </a:lnTo>
                <a:lnTo>
                  <a:pt x="1203834" y="831024"/>
                </a:lnTo>
                <a:lnTo>
                  <a:pt x="1146239" y="790415"/>
                </a:lnTo>
                <a:close/>
              </a:path>
              <a:path w="1224280" h="868679">
                <a:moveTo>
                  <a:pt x="15524" y="0"/>
                </a:moveTo>
                <a:lnTo>
                  <a:pt x="8698" y="2596"/>
                </a:lnTo>
                <a:lnTo>
                  <a:pt x="3202" y="7793"/>
                </a:lnTo>
                <a:lnTo>
                  <a:pt x="152" y="14716"/>
                </a:lnTo>
                <a:lnTo>
                  <a:pt x="0" y="22017"/>
                </a:lnTo>
                <a:lnTo>
                  <a:pt x="2596" y="28844"/>
                </a:lnTo>
                <a:lnTo>
                  <a:pt x="7794" y="34340"/>
                </a:lnTo>
                <a:lnTo>
                  <a:pt x="1124286" y="821555"/>
                </a:lnTo>
                <a:lnTo>
                  <a:pt x="1161952" y="824804"/>
                </a:lnTo>
                <a:lnTo>
                  <a:pt x="1146239" y="790415"/>
                </a:lnTo>
                <a:lnTo>
                  <a:pt x="29748" y="3201"/>
                </a:lnTo>
                <a:lnTo>
                  <a:pt x="22825" y="152"/>
                </a:lnTo>
                <a:lnTo>
                  <a:pt x="15524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402365" y="3407788"/>
            <a:ext cx="2429510" cy="1060450"/>
          </a:xfrm>
          <a:custGeom>
            <a:avLst/>
            <a:gdLst/>
            <a:ahLst/>
            <a:cxnLst/>
            <a:rect l="l" t="t" r="r" b="b"/>
            <a:pathLst>
              <a:path w="2429510" h="1060450">
                <a:moveTo>
                  <a:pt x="2321818" y="1014333"/>
                </a:moveTo>
                <a:lnTo>
                  <a:pt x="2260461" y="1022211"/>
                </a:lnTo>
                <a:lnTo>
                  <a:pt x="2243992" y="1043532"/>
                </a:lnTo>
                <a:lnTo>
                  <a:pt x="2246421" y="1050696"/>
                </a:lnTo>
                <a:lnTo>
                  <a:pt x="2251241" y="1056182"/>
                </a:lnTo>
                <a:lnTo>
                  <a:pt x="2257767" y="1059460"/>
                </a:lnTo>
                <a:lnTo>
                  <a:pt x="2265313" y="1060000"/>
                </a:lnTo>
                <a:lnTo>
                  <a:pt x="2395282" y="1043312"/>
                </a:lnTo>
                <a:lnTo>
                  <a:pt x="2394132" y="1043312"/>
                </a:lnTo>
                <a:lnTo>
                  <a:pt x="2386720" y="1041801"/>
                </a:lnTo>
                <a:lnTo>
                  <a:pt x="2321818" y="1014333"/>
                </a:lnTo>
                <a:close/>
              </a:path>
              <a:path w="2429510" h="1060450">
                <a:moveTo>
                  <a:pt x="2359318" y="1009518"/>
                </a:moveTo>
                <a:lnTo>
                  <a:pt x="2321818" y="1014333"/>
                </a:lnTo>
                <a:lnTo>
                  <a:pt x="2386720" y="1041801"/>
                </a:lnTo>
                <a:lnTo>
                  <a:pt x="2394132" y="1043312"/>
                </a:lnTo>
                <a:lnTo>
                  <a:pt x="2401300" y="1041913"/>
                </a:lnTo>
                <a:lnTo>
                  <a:pt x="2407420" y="1037927"/>
                </a:lnTo>
                <a:lnTo>
                  <a:pt x="2408965" y="1035666"/>
                </a:lnTo>
                <a:lnTo>
                  <a:pt x="2378882" y="1035666"/>
                </a:lnTo>
                <a:lnTo>
                  <a:pt x="2359318" y="1009518"/>
                </a:lnTo>
                <a:close/>
              </a:path>
              <a:path w="2429510" h="1060450">
                <a:moveTo>
                  <a:pt x="2317577" y="899446"/>
                </a:moveTo>
                <a:lnTo>
                  <a:pt x="2310282" y="899805"/>
                </a:lnTo>
                <a:lnTo>
                  <a:pt x="2303448" y="903049"/>
                </a:lnTo>
                <a:lnTo>
                  <a:pt x="2298408" y="908689"/>
                </a:lnTo>
                <a:lnTo>
                  <a:pt x="2296005" y="915586"/>
                </a:lnTo>
                <a:lnTo>
                  <a:pt x="2296364" y="922880"/>
                </a:lnTo>
                <a:lnTo>
                  <a:pt x="2299608" y="929715"/>
                </a:lnTo>
                <a:lnTo>
                  <a:pt x="2336667" y="979245"/>
                </a:lnTo>
                <a:lnTo>
                  <a:pt x="2401570" y="1006714"/>
                </a:lnTo>
                <a:lnTo>
                  <a:pt x="2407815" y="1010982"/>
                </a:lnTo>
                <a:lnTo>
                  <a:pt x="2411800" y="1017102"/>
                </a:lnTo>
                <a:lnTo>
                  <a:pt x="2413199" y="1024270"/>
                </a:lnTo>
                <a:lnTo>
                  <a:pt x="2411688" y="1031682"/>
                </a:lnTo>
                <a:lnTo>
                  <a:pt x="2407420" y="1037927"/>
                </a:lnTo>
                <a:lnTo>
                  <a:pt x="2401300" y="1041913"/>
                </a:lnTo>
                <a:lnTo>
                  <a:pt x="2394132" y="1043312"/>
                </a:lnTo>
                <a:lnTo>
                  <a:pt x="2395282" y="1043312"/>
                </a:lnTo>
                <a:lnTo>
                  <a:pt x="2428952" y="1038989"/>
                </a:lnTo>
                <a:lnTo>
                  <a:pt x="2330114" y="906889"/>
                </a:lnTo>
                <a:lnTo>
                  <a:pt x="2324473" y="901849"/>
                </a:lnTo>
                <a:lnTo>
                  <a:pt x="2317577" y="899446"/>
                </a:lnTo>
                <a:close/>
              </a:path>
              <a:path w="2429510" h="1060450">
                <a:moveTo>
                  <a:pt x="2391708" y="1005358"/>
                </a:moveTo>
                <a:lnTo>
                  <a:pt x="2359318" y="1009518"/>
                </a:lnTo>
                <a:lnTo>
                  <a:pt x="2378882" y="1035666"/>
                </a:lnTo>
                <a:lnTo>
                  <a:pt x="2391708" y="1005358"/>
                </a:lnTo>
                <a:close/>
              </a:path>
              <a:path w="2429510" h="1060450">
                <a:moveTo>
                  <a:pt x="2398368" y="1005358"/>
                </a:moveTo>
                <a:lnTo>
                  <a:pt x="2391708" y="1005358"/>
                </a:lnTo>
                <a:lnTo>
                  <a:pt x="2378882" y="1035666"/>
                </a:lnTo>
                <a:lnTo>
                  <a:pt x="2408965" y="1035666"/>
                </a:lnTo>
                <a:lnTo>
                  <a:pt x="2411688" y="1031682"/>
                </a:lnTo>
                <a:lnTo>
                  <a:pt x="2413199" y="1024270"/>
                </a:lnTo>
                <a:lnTo>
                  <a:pt x="2411800" y="1017102"/>
                </a:lnTo>
                <a:lnTo>
                  <a:pt x="2407815" y="1010982"/>
                </a:lnTo>
                <a:lnTo>
                  <a:pt x="2401570" y="1006714"/>
                </a:lnTo>
                <a:lnTo>
                  <a:pt x="2398368" y="1005358"/>
                </a:lnTo>
                <a:close/>
              </a:path>
              <a:path w="2429510" h="1060450">
                <a:moveTo>
                  <a:pt x="19067" y="0"/>
                </a:moveTo>
                <a:lnTo>
                  <a:pt x="11899" y="1399"/>
                </a:lnTo>
                <a:lnTo>
                  <a:pt x="5779" y="5384"/>
                </a:lnTo>
                <a:lnTo>
                  <a:pt x="1511" y="11629"/>
                </a:lnTo>
                <a:lnTo>
                  <a:pt x="0" y="19041"/>
                </a:lnTo>
                <a:lnTo>
                  <a:pt x="1399" y="26209"/>
                </a:lnTo>
                <a:lnTo>
                  <a:pt x="5384" y="32329"/>
                </a:lnTo>
                <a:lnTo>
                  <a:pt x="11629" y="36597"/>
                </a:lnTo>
                <a:lnTo>
                  <a:pt x="2321818" y="1014333"/>
                </a:lnTo>
                <a:lnTo>
                  <a:pt x="2359318" y="1009518"/>
                </a:lnTo>
                <a:lnTo>
                  <a:pt x="2336667" y="979245"/>
                </a:lnTo>
                <a:lnTo>
                  <a:pt x="26479" y="1511"/>
                </a:lnTo>
                <a:lnTo>
                  <a:pt x="19067" y="0"/>
                </a:lnTo>
                <a:close/>
              </a:path>
              <a:path w="2429510" h="1060450">
                <a:moveTo>
                  <a:pt x="2336667" y="979245"/>
                </a:moveTo>
                <a:lnTo>
                  <a:pt x="2359318" y="1009518"/>
                </a:lnTo>
                <a:lnTo>
                  <a:pt x="2391708" y="1005358"/>
                </a:lnTo>
                <a:lnTo>
                  <a:pt x="2398368" y="1005358"/>
                </a:lnTo>
                <a:lnTo>
                  <a:pt x="2336667" y="979245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253677" y="3218398"/>
            <a:ext cx="419734" cy="417195"/>
          </a:xfrm>
          <a:custGeom>
            <a:avLst/>
            <a:gdLst/>
            <a:ahLst/>
            <a:cxnLst/>
            <a:rect l="l" t="t" r="r" b="b"/>
            <a:pathLst>
              <a:path w="419735" h="417195">
                <a:moveTo>
                  <a:pt x="209679" y="0"/>
                </a:moveTo>
                <a:lnTo>
                  <a:pt x="161601" y="5505"/>
                </a:lnTo>
                <a:lnTo>
                  <a:pt x="117467" y="21186"/>
                </a:lnTo>
                <a:lnTo>
                  <a:pt x="78535" y="45792"/>
                </a:lnTo>
                <a:lnTo>
                  <a:pt x="46063" y="78073"/>
                </a:lnTo>
                <a:lnTo>
                  <a:pt x="21311" y="116775"/>
                </a:lnTo>
                <a:lnTo>
                  <a:pt x="5537" y="160650"/>
                </a:lnTo>
                <a:lnTo>
                  <a:pt x="0" y="208445"/>
                </a:lnTo>
                <a:lnTo>
                  <a:pt x="5537" y="256239"/>
                </a:lnTo>
                <a:lnTo>
                  <a:pt x="21311" y="300114"/>
                </a:lnTo>
                <a:lnTo>
                  <a:pt x="46063" y="338817"/>
                </a:lnTo>
                <a:lnTo>
                  <a:pt x="78535" y="371097"/>
                </a:lnTo>
                <a:lnTo>
                  <a:pt x="117467" y="395703"/>
                </a:lnTo>
                <a:lnTo>
                  <a:pt x="161601" y="411385"/>
                </a:lnTo>
                <a:lnTo>
                  <a:pt x="209679" y="416890"/>
                </a:lnTo>
                <a:lnTo>
                  <a:pt x="257756" y="411385"/>
                </a:lnTo>
                <a:lnTo>
                  <a:pt x="301890" y="395703"/>
                </a:lnTo>
                <a:lnTo>
                  <a:pt x="340822" y="371097"/>
                </a:lnTo>
                <a:lnTo>
                  <a:pt x="373293" y="338817"/>
                </a:lnTo>
                <a:lnTo>
                  <a:pt x="398045" y="300114"/>
                </a:lnTo>
                <a:lnTo>
                  <a:pt x="413820" y="256239"/>
                </a:lnTo>
                <a:lnTo>
                  <a:pt x="419357" y="208445"/>
                </a:lnTo>
                <a:lnTo>
                  <a:pt x="413820" y="160650"/>
                </a:lnTo>
                <a:lnTo>
                  <a:pt x="398045" y="116775"/>
                </a:lnTo>
                <a:lnTo>
                  <a:pt x="373293" y="78073"/>
                </a:lnTo>
                <a:lnTo>
                  <a:pt x="340822" y="45792"/>
                </a:lnTo>
                <a:lnTo>
                  <a:pt x="301890" y="21186"/>
                </a:lnTo>
                <a:lnTo>
                  <a:pt x="257756" y="5505"/>
                </a:lnTo>
                <a:lnTo>
                  <a:pt x="2096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365724" y="3218179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679493" y="4218934"/>
            <a:ext cx="419734" cy="417195"/>
          </a:xfrm>
          <a:custGeom>
            <a:avLst/>
            <a:gdLst/>
            <a:ahLst/>
            <a:cxnLst/>
            <a:rect l="l" t="t" r="r" b="b"/>
            <a:pathLst>
              <a:path w="419735" h="417195">
                <a:moveTo>
                  <a:pt x="209679" y="0"/>
                </a:moveTo>
                <a:lnTo>
                  <a:pt x="161601" y="5505"/>
                </a:lnTo>
                <a:lnTo>
                  <a:pt x="117467" y="21186"/>
                </a:lnTo>
                <a:lnTo>
                  <a:pt x="78535" y="45793"/>
                </a:lnTo>
                <a:lnTo>
                  <a:pt x="46063" y="78073"/>
                </a:lnTo>
                <a:lnTo>
                  <a:pt x="21311" y="116776"/>
                </a:lnTo>
                <a:lnTo>
                  <a:pt x="5537" y="160650"/>
                </a:lnTo>
                <a:lnTo>
                  <a:pt x="0" y="208445"/>
                </a:lnTo>
                <a:lnTo>
                  <a:pt x="5537" y="256239"/>
                </a:lnTo>
                <a:lnTo>
                  <a:pt x="21311" y="300114"/>
                </a:lnTo>
                <a:lnTo>
                  <a:pt x="46063" y="338817"/>
                </a:lnTo>
                <a:lnTo>
                  <a:pt x="78535" y="371098"/>
                </a:lnTo>
                <a:lnTo>
                  <a:pt x="117467" y="395704"/>
                </a:lnTo>
                <a:lnTo>
                  <a:pt x="161601" y="411386"/>
                </a:lnTo>
                <a:lnTo>
                  <a:pt x="209679" y="416891"/>
                </a:lnTo>
                <a:lnTo>
                  <a:pt x="257756" y="411386"/>
                </a:lnTo>
                <a:lnTo>
                  <a:pt x="301890" y="395704"/>
                </a:lnTo>
                <a:lnTo>
                  <a:pt x="340822" y="371098"/>
                </a:lnTo>
                <a:lnTo>
                  <a:pt x="373293" y="338817"/>
                </a:lnTo>
                <a:lnTo>
                  <a:pt x="398045" y="300114"/>
                </a:lnTo>
                <a:lnTo>
                  <a:pt x="413820" y="256239"/>
                </a:lnTo>
                <a:lnTo>
                  <a:pt x="419357" y="208445"/>
                </a:lnTo>
                <a:lnTo>
                  <a:pt x="413820" y="160650"/>
                </a:lnTo>
                <a:lnTo>
                  <a:pt x="398045" y="116776"/>
                </a:lnTo>
                <a:lnTo>
                  <a:pt x="373293" y="78073"/>
                </a:lnTo>
                <a:lnTo>
                  <a:pt x="340822" y="45793"/>
                </a:lnTo>
                <a:lnTo>
                  <a:pt x="301890" y="21186"/>
                </a:lnTo>
                <a:lnTo>
                  <a:pt x="257756" y="5505"/>
                </a:lnTo>
                <a:lnTo>
                  <a:pt x="2096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783602" y="4217923"/>
            <a:ext cx="2120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769823" y="4385690"/>
            <a:ext cx="419734" cy="417195"/>
          </a:xfrm>
          <a:custGeom>
            <a:avLst/>
            <a:gdLst/>
            <a:ahLst/>
            <a:cxnLst/>
            <a:rect l="l" t="t" r="r" b="b"/>
            <a:pathLst>
              <a:path w="419735" h="417195">
                <a:moveTo>
                  <a:pt x="209678" y="0"/>
                </a:moveTo>
                <a:lnTo>
                  <a:pt x="161600" y="5505"/>
                </a:lnTo>
                <a:lnTo>
                  <a:pt x="117466" y="21186"/>
                </a:lnTo>
                <a:lnTo>
                  <a:pt x="78535" y="45793"/>
                </a:lnTo>
                <a:lnTo>
                  <a:pt x="46063" y="78073"/>
                </a:lnTo>
                <a:lnTo>
                  <a:pt x="21311" y="116776"/>
                </a:lnTo>
                <a:lnTo>
                  <a:pt x="5537" y="160650"/>
                </a:lnTo>
                <a:lnTo>
                  <a:pt x="0" y="208445"/>
                </a:lnTo>
                <a:lnTo>
                  <a:pt x="5537" y="256239"/>
                </a:lnTo>
                <a:lnTo>
                  <a:pt x="21311" y="300114"/>
                </a:lnTo>
                <a:lnTo>
                  <a:pt x="46063" y="338817"/>
                </a:lnTo>
                <a:lnTo>
                  <a:pt x="78535" y="371098"/>
                </a:lnTo>
                <a:lnTo>
                  <a:pt x="117466" y="395704"/>
                </a:lnTo>
                <a:lnTo>
                  <a:pt x="161600" y="411386"/>
                </a:lnTo>
                <a:lnTo>
                  <a:pt x="209678" y="416891"/>
                </a:lnTo>
                <a:lnTo>
                  <a:pt x="257755" y="411386"/>
                </a:lnTo>
                <a:lnTo>
                  <a:pt x="301889" y="395704"/>
                </a:lnTo>
                <a:lnTo>
                  <a:pt x="340821" y="371098"/>
                </a:lnTo>
                <a:lnTo>
                  <a:pt x="373293" y="338817"/>
                </a:lnTo>
                <a:lnTo>
                  <a:pt x="398045" y="300114"/>
                </a:lnTo>
                <a:lnTo>
                  <a:pt x="413820" y="256239"/>
                </a:lnTo>
                <a:lnTo>
                  <a:pt x="419357" y="208445"/>
                </a:lnTo>
                <a:lnTo>
                  <a:pt x="413820" y="160650"/>
                </a:lnTo>
                <a:lnTo>
                  <a:pt x="398045" y="116776"/>
                </a:lnTo>
                <a:lnTo>
                  <a:pt x="373293" y="78073"/>
                </a:lnTo>
                <a:lnTo>
                  <a:pt x="340821" y="45793"/>
                </a:lnTo>
                <a:lnTo>
                  <a:pt x="301889" y="21186"/>
                </a:lnTo>
                <a:lnTo>
                  <a:pt x="257755" y="5505"/>
                </a:lnTo>
                <a:lnTo>
                  <a:pt x="2096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881870" y="4385564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016549" y="3145027"/>
            <a:ext cx="3535045" cy="2219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If two </a:t>
            </a: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people in a 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network  </a:t>
            </a: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have a 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friend </a:t>
            </a: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in common,  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then there </a:t>
            </a: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is an</a:t>
            </a:r>
            <a:r>
              <a:rPr dirty="0" sz="2400" spc="-7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increased  likelihood 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they </a:t>
            </a: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will  become 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friends  themselves.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6470904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7651115" cy="1391285"/>
          </a:xfrm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12700" marR="139065">
              <a:lnSpc>
                <a:spcPts val="3500"/>
              </a:lnSpc>
              <a:spcBef>
                <a:spcPts val="5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5">
                <a:solidFill>
                  <a:srgbClr val="FF0066"/>
                </a:solidFill>
              </a:rPr>
              <a:t>Triadic </a:t>
            </a:r>
            <a:r>
              <a:rPr dirty="0" spc="-10">
                <a:solidFill>
                  <a:srgbClr val="FF0066"/>
                </a:solidFill>
              </a:rPr>
              <a:t>closure </a:t>
            </a:r>
            <a:r>
              <a:rPr dirty="0"/>
              <a:t>= </a:t>
            </a:r>
            <a:r>
              <a:rPr dirty="0" spc="-5">
                <a:solidFill>
                  <a:srgbClr val="0000FF"/>
                </a:solidFill>
              </a:rPr>
              <a:t>High </a:t>
            </a:r>
            <a:r>
              <a:rPr dirty="0" spc="-10">
                <a:solidFill>
                  <a:srgbClr val="0000FF"/>
                </a:solidFill>
              </a:rPr>
              <a:t>clustering coefficient </a:t>
            </a:r>
            <a:r>
              <a:rPr dirty="0" spc="-10" u="heavy">
                <a:solidFill>
                  <a:srgbClr val="D60093"/>
                </a:solidFill>
              </a:rPr>
              <a:t> Reasons </a:t>
            </a:r>
            <a:r>
              <a:rPr dirty="0" spc="-20" u="heavy">
                <a:solidFill>
                  <a:srgbClr val="D60093"/>
                </a:solidFill>
              </a:rPr>
              <a:t>for </a:t>
            </a:r>
            <a:r>
              <a:rPr dirty="0" spc="-5" u="heavy">
                <a:solidFill>
                  <a:srgbClr val="D60093"/>
                </a:solidFill>
              </a:rPr>
              <a:t>triadic</a:t>
            </a:r>
            <a:r>
              <a:rPr dirty="0" spc="-15" u="heavy">
                <a:solidFill>
                  <a:srgbClr val="D60093"/>
                </a:solidFill>
              </a:rPr>
              <a:t> </a:t>
            </a:r>
            <a:r>
              <a:rPr dirty="0" spc="-10" u="heavy">
                <a:solidFill>
                  <a:srgbClr val="D60093"/>
                </a:solidFill>
              </a:rPr>
              <a:t>closure:</a:t>
            </a:r>
          </a:p>
          <a:p>
            <a:pPr marL="12700">
              <a:lnSpc>
                <a:spcPts val="335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b="0">
                <a:latin typeface="Calibri"/>
                <a:cs typeface="Calibri"/>
              </a:rPr>
              <a:t>If </a:t>
            </a:r>
            <a:r>
              <a:rPr dirty="0" b="0">
                <a:latin typeface="Cambria Math"/>
                <a:cs typeface="Cambria Math"/>
              </a:rPr>
              <a:t>𝑩 </a:t>
            </a:r>
            <a:r>
              <a:rPr dirty="0" b="0">
                <a:latin typeface="Calibri"/>
                <a:cs typeface="Calibri"/>
              </a:rPr>
              <a:t>and </a:t>
            </a:r>
            <a:r>
              <a:rPr dirty="0" b="0">
                <a:latin typeface="Cambria Math"/>
                <a:cs typeface="Cambria Math"/>
              </a:rPr>
              <a:t>𝑪 </a:t>
            </a:r>
            <a:r>
              <a:rPr dirty="0" spc="-20" b="0">
                <a:latin typeface="Calibri"/>
                <a:cs typeface="Calibri"/>
              </a:rPr>
              <a:t>have </a:t>
            </a:r>
            <a:r>
              <a:rPr dirty="0" b="0">
                <a:latin typeface="Calibri"/>
                <a:cs typeface="Calibri"/>
              </a:rPr>
              <a:t>a </a:t>
            </a:r>
            <a:r>
              <a:rPr dirty="0" spc="-5" b="0">
                <a:latin typeface="Calibri"/>
                <a:cs typeface="Calibri"/>
              </a:rPr>
              <a:t>friend </a:t>
            </a:r>
            <a:r>
              <a:rPr dirty="0" b="0">
                <a:latin typeface="Cambria Math"/>
                <a:cs typeface="Cambria Math"/>
              </a:rPr>
              <a:t>𝑨 </a:t>
            </a:r>
            <a:r>
              <a:rPr dirty="0" b="0">
                <a:latin typeface="Calibri"/>
                <a:cs typeface="Calibri"/>
              </a:rPr>
              <a:t>in </a:t>
            </a:r>
            <a:r>
              <a:rPr dirty="0" spc="-10" b="0">
                <a:latin typeface="Calibri"/>
                <a:cs typeface="Calibri"/>
              </a:rPr>
              <a:t>common,</a:t>
            </a:r>
            <a:r>
              <a:rPr dirty="0" spc="90" b="0">
                <a:latin typeface="Calibri"/>
                <a:cs typeface="Calibri"/>
              </a:rPr>
              <a:t> </a:t>
            </a:r>
            <a:r>
              <a:rPr dirty="0" spc="-5" b="0">
                <a:latin typeface="Calibri"/>
                <a:cs typeface="Calibri"/>
              </a:rPr>
              <a:t>then: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2707131"/>
            <a:ext cx="4119879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>
                <a:latin typeface="Cambria Math"/>
                <a:cs typeface="Cambria Math"/>
              </a:rPr>
              <a:t>𝑩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15" b="1">
                <a:latin typeface="Calibri"/>
                <a:cs typeface="Calibri"/>
              </a:rPr>
              <a:t>more likely to </a:t>
            </a:r>
            <a:r>
              <a:rPr dirty="0" sz="2800" spc="-10" b="1">
                <a:latin typeface="Calibri"/>
                <a:cs typeface="Calibri"/>
              </a:rPr>
              <a:t>meet  </a:t>
            </a:r>
            <a:r>
              <a:rPr dirty="0" sz="2800" spc="-275">
                <a:latin typeface="Cambria Math"/>
                <a:cs typeface="Cambria Math"/>
              </a:rPr>
              <a:t>𝑪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6563" y="3143721"/>
            <a:ext cx="6351270" cy="176847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552450" indent="-228600">
              <a:lnSpc>
                <a:spcPct val="100000"/>
              </a:lnSpc>
              <a:spcBef>
                <a:spcPts val="37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5">
                <a:latin typeface="Calibri"/>
                <a:cs typeface="Calibri"/>
              </a:rPr>
              <a:t>(since they both spend time with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𝑨</a:t>
            </a:r>
            <a:r>
              <a:rPr dirty="0" sz="2400" spc="-5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32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>
                <a:latin typeface="Cambria Math"/>
                <a:cs typeface="Cambria Math"/>
              </a:rPr>
              <a:t>𝑩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>
                <a:latin typeface="Cambria Math"/>
                <a:cs typeface="Cambria Math"/>
              </a:rPr>
              <a:t>𝑪 </a:t>
            </a:r>
            <a:r>
              <a:rPr dirty="0" sz="2800" spc="-10" b="1">
                <a:latin typeface="Calibri"/>
                <a:cs typeface="Calibri"/>
              </a:rPr>
              <a:t>trust </a:t>
            </a:r>
            <a:r>
              <a:rPr dirty="0" sz="2800" spc="-5">
                <a:latin typeface="Calibri"/>
                <a:cs typeface="Calibri"/>
              </a:rPr>
              <a:t>each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other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32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5">
                <a:latin typeface="Calibri"/>
                <a:cs typeface="Calibri"/>
              </a:rPr>
              <a:t>(since they </a:t>
            </a:r>
            <a:r>
              <a:rPr dirty="0" sz="2400" spc="-20">
                <a:latin typeface="Calibri"/>
                <a:cs typeface="Calibri"/>
              </a:rPr>
              <a:t>have </a:t>
            </a:r>
            <a:r>
              <a:rPr dirty="0" sz="2400">
                <a:latin typeface="Calibri"/>
                <a:cs typeface="Calibri"/>
              </a:rPr>
              <a:t>a friend </a:t>
            </a:r>
            <a:r>
              <a:rPr dirty="0" sz="2400" spc="-5">
                <a:latin typeface="Calibri"/>
                <a:cs typeface="Calibri"/>
              </a:rPr>
              <a:t>in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common)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31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>
                <a:latin typeface="Cambria Math"/>
                <a:cs typeface="Cambria Math"/>
              </a:rPr>
              <a:t>𝑨 </a:t>
            </a:r>
            <a:r>
              <a:rPr dirty="0" sz="2800" spc="-5">
                <a:latin typeface="Calibri"/>
                <a:cs typeface="Calibri"/>
              </a:rPr>
              <a:t>has </a:t>
            </a:r>
            <a:r>
              <a:rPr dirty="0" sz="2800" spc="-10" b="1">
                <a:latin typeface="Calibri"/>
                <a:cs typeface="Calibri"/>
              </a:rPr>
              <a:t>incentive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bring </a:t>
            </a:r>
            <a:r>
              <a:rPr dirty="0" sz="2800">
                <a:latin typeface="Cambria Math"/>
                <a:cs typeface="Cambria Math"/>
              </a:rPr>
              <a:t>𝑩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>
                <a:latin typeface="Cambria Math"/>
                <a:cs typeface="Cambria Math"/>
              </a:rPr>
              <a:t>𝑪</a:t>
            </a:r>
            <a:r>
              <a:rPr dirty="0" sz="2800" spc="130">
                <a:latin typeface="Cambria Math"/>
                <a:cs typeface="Cambria Math"/>
              </a:rPr>
              <a:t> </a:t>
            </a:r>
            <a:r>
              <a:rPr dirty="0" sz="2800" spc="-85">
                <a:latin typeface="Calibri"/>
                <a:cs typeface="Calibri"/>
              </a:rPr>
              <a:t>together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108" y="4915915"/>
            <a:ext cx="8213090" cy="1684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90905" indent="-228600">
              <a:lnSpc>
                <a:spcPts val="2695"/>
              </a:lnSpc>
              <a:spcBef>
                <a:spcPts val="10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5">
                <a:latin typeface="Calibri"/>
                <a:cs typeface="Calibri"/>
              </a:rPr>
              <a:t>(since it is </a:t>
            </a:r>
            <a:r>
              <a:rPr dirty="0" sz="2400" spc="-10">
                <a:latin typeface="Calibri"/>
                <a:cs typeface="Calibri"/>
              </a:rPr>
              <a:t>hard </a:t>
            </a:r>
            <a:r>
              <a:rPr dirty="0" sz="2400" spc="-20">
                <a:latin typeface="Calibri"/>
                <a:cs typeface="Calibri"/>
              </a:rPr>
              <a:t>for </a:t>
            </a:r>
            <a:r>
              <a:rPr dirty="0" sz="2400">
                <a:latin typeface="Cambria Math"/>
                <a:cs typeface="Cambria Math"/>
              </a:rPr>
              <a:t>𝑨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10">
                <a:latin typeface="Calibri"/>
                <a:cs typeface="Calibri"/>
              </a:rPr>
              <a:t>maintain two </a:t>
            </a:r>
            <a:r>
              <a:rPr dirty="0" sz="2400" spc="-5">
                <a:latin typeface="Calibri"/>
                <a:cs typeface="Calibri"/>
              </a:rPr>
              <a:t>disjoint</a:t>
            </a:r>
            <a:r>
              <a:rPr dirty="0" sz="2400" spc="50">
                <a:latin typeface="Calibri"/>
                <a:cs typeface="Calibri"/>
              </a:rPr>
              <a:t> </a:t>
            </a:r>
            <a:r>
              <a:rPr dirty="0" sz="2400" spc="-40">
                <a:latin typeface="Calibri"/>
                <a:cs typeface="Calibri"/>
              </a:rPr>
              <a:t>relationships)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ts val="3654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Empirical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study </a:t>
            </a:r>
            <a:r>
              <a:rPr dirty="0" sz="3200" spc="-15" b="1">
                <a:solidFill>
                  <a:srgbClr val="008000"/>
                </a:solidFill>
                <a:latin typeface="Calibri"/>
                <a:cs typeface="Calibri"/>
              </a:rPr>
              <a:t>by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Bearman and</a:t>
            </a:r>
            <a:r>
              <a:rPr dirty="0" sz="3200" spc="-15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Moody:</a:t>
            </a:r>
            <a:endParaRPr sz="3200">
              <a:latin typeface="Calibri"/>
              <a:cs typeface="Calibri"/>
            </a:endParaRPr>
          </a:p>
          <a:p>
            <a:pPr lvl="1" marL="625475" marR="764540" indent="-274320">
              <a:lnSpc>
                <a:spcPts val="3000"/>
              </a:lnSpc>
              <a:spcBef>
                <a:spcPts val="75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45">
                <a:latin typeface="Calibri"/>
                <a:cs typeface="Calibri"/>
              </a:rPr>
              <a:t>Teenage </a:t>
            </a:r>
            <a:r>
              <a:rPr dirty="0" sz="2800" spc="-10">
                <a:latin typeface="Calibri"/>
                <a:cs typeface="Calibri"/>
              </a:rPr>
              <a:t>girls </a:t>
            </a:r>
            <a:r>
              <a:rPr dirty="0" sz="2800" spc="-5">
                <a:latin typeface="Calibri"/>
                <a:cs typeface="Calibri"/>
              </a:rPr>
              <a:t>with </a:t>
            </a:r>
            <a:r>
              <a:rPr dirty="0" sz="2800" spc="-10">
                <a:latin typeface="Calibri"/>
                <a:cs typeface="Calibri"/>
              </a:rPr>
              <a:t>low clustering </a:t>
            </a:r>
            <a:r>
              <a:rPr dirty="0" sz="2800" spc="-15">
                <a:latin typeface="Calibri"/>
                <a:cs typeface="Calibri"/>
              </a:rPr>
              <a:t>coefficient </a:t>
            </a:r>
            <a:r>
              <a:rPr dirty="0" sz="2800" spc="-195">
                <a:latin typeface="Calibri"/>
                <a:cs typeface="Calibri"/>
              </a:rPr>
              <a:t>are  </a:t>
            </a:r>
            <a:r>
              <a:rPr dirty="0" sz="2800" spc="-10">
                <a:latin typeface="Calibri"/>
                <a:cs typeface="Calibri"/>
              </a:rPr>
              <a:t>more </a:t>
            </a:r>
            <a:r>
              <a:rPr dirty="0" sz="2800" spc="-20">
                <a:latin typeface="Calibri"/>
                <a:cs typeface="Calibri"/>
              </a:rPr>
              <a:t>likely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20">
                <a:latin typeface="Calibri"/>
                <a:cs typeface="Calibri"/>
              </a:rPr>
              <a:t>contemplate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suicide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39627" y="3942244"/>
            <a:ext cx="880744" cy="22860"/>
          </a:xfrm>
          <a:custGeom>
            <a:avLst/>
            <a:gdLst/>
            <a:ahLst/>
            <a:cxnLst/>
            <a:rect l="l" t="t" r="r" b="b"/>
            <a:pathLst>
              <a:path w="880745" h="22860">
                <a:moveTo>
                  <a:pt x="0" y="22365"/>
                </a:moveTo>
                <a:lnTo>
                  <a:pt x="88065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610600" y="3733800"/>
            <a:ext cx="419734" cy="417195"/>
          </a:xfrm>
          <a:custGeom>
            <a:avLst/>
            <a:gdLst/>
            <a:ahLst/>
            <a:cxnLst/>
            <a:rect l="l" t="t" r="r" b="b"/>
            <a:pathLst>
              <a:path w="419734" h="417195">
                <a:moveTo>
                  <a:pt x="209678" y="0"/>
                </a:moveTo>
                <a:lnTo>
                  <a:pt x="161600" y="5505"/>
                </a:lnTo>
                <a:lnTo>
                  <a:pt x="117466" y="21186"/>
                </a:lnTo>
                <a:lnTo>
                  <a:pt x="78535" y="45793"/>
                </a:lnTo>
                <a:lnTo>
                  <a:pt x="46063" y="78073"/>
                </a:lnTo>
                <a:lnTo>
                  <a:pt x="21311" y="116776"/>
                </a:lnTo>
                <a:lnTo>
                  <a:pt x="5537" y="160650"/>
                </a:lnTo>
                <a:lnTo>
                  <a:pt x="0" y="208445"/>
                </a:lnTo>
                <a:lnTo>
                  <a:pt x="5537" y="256239"/>
                </a:lnTo>
                <a:lnTo>
                  <a:pt x="21311" y="300114"/>
                </a:lnTo>
                <a:lnTo>
                  <a:pt x="46063" y="338817"/>
                </a:lnTo>
                <a:lnTo>
                  <a:pt x="78535" y="371098"/>
                </a:lnTo>
                <a:lnTo>
                  <a:pt x="117466" y="395704"/>
                </a:lnTo>
                <a:lnTo>
                  <a:pt x="161600" y="411386"/>
                </a:lnTo>
                <a:lnTo>
                  <a:pt x="209678" y="416891"/>
                </a:lnTo>
                <a:lnTo>
                  <a:pt x="257755" y="411386"/>
                </a:lnTo>
                <a:lnTo>
                  <a:pt x="301889" y="395704"/>
                </a:lnTo>
                <a:lnTo>
                  <a:pt x="340821" y="371098"/>
                </a:lnTo>
                <a:lnTo>
                  <a:pt x="373293" y="338817"/>
                </a:lnTo>
                <a:lnTo>
                  <a:pt x="398045" y="300114"/>
                </a:lnTo>
                <a:lnTo>
                  <a:pt x="413820" y="256239"/>
                </a:lnTo>
                <a:lnTo>
                  <a:pt x="419357" y="208445"/>
                </a:lnTo>
                <a:lnTo>
                  <a:pt x="413820" y="160650"/>
                </a:lnTo>
                <a:lnTo>
                  <a:pt x="398045" y="116776"/>
                </a:lnTo>
                <a:lnTo>
                  <a:pt x="373293" y="78073"/>
                </a:lnTo>
                <a:lnTo>
                  <a:pt x="340821" y="45793"/>
                </a:lnTo>
                <a:lnTo>
                  <a:pt x="301889" y="21186"/>
                </a:lnTo>
                <a:lnTo>
                  <a:pt x="257755" y="5505"/>
                </a:lnTo>
                <a:lnTo>
                  <a:pt x="2096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697246" y="3733291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520270" y="3104045"/>
            <a:ext cx="419734" cy="848360"/>
          </a:xfrm>
          <a:custGeom>
            <a:avLst/>
            <a:gdLst/>
            <a:ahLst/>
            <a:cxnLst/>
            <a:rect l="l" t="t" r="r" b="b"/>
            <a:pathLst>
              <a:path w="419734" h="848360">
                <a:moveTo>
                  <a:pt x="0" y="0"/>
                </a:moveTo>
                <a:lnTo>
                  <a:pt x="419358" y="847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729949" y="3756163"/>
            <a:ext cx="419734" cy="417195"/>
          </a:xfrm>
          <a:custGeom>
            <a:avLst/>
            <a:gdLst/>
            <a:ahLst/>
            <a:cxnLst/>
            <a:rect l="l" t="t" r="r" b="b"/>
            <a:pathLst>
              <a:path w="419734" h="417195">
                <a:moveTo>
                  <a:pt x="209678" y="0"/>
                </a:moveTo>
                <a:lnTo>
                  <a:pt x="161600" y="5505"/>
                </a:lnTo>
                <a:lnTo>
                  <a:pt x="117466" y="21186"/>
                </a:lnTo>
                <a:lnTo>
                  <a:pt x="78535" y="45793"/>
                </a:lnTo>
                <a:lnTo>
                  <a:pt x="46063" y="78073"/>
                </a:lnTo>
                <a:lnTo>
                  <a:pt x="21311" y="116776"/>
                </a:lnTo>
                <a:lnTo>
                  <a:pt x="5537" y="160651"/>
                </a:lnTo>
                <a:lnTo>
                  <a:pt x="0" y="208446"/>
                </a:lnTo>
                <a:lnTo>
                  <a:pt x="5537" y="256240"/>
                </a:lnTo>
                <a:lnTo>
                  <a:pt x="21311" y="300114"/>
                </a:lnTo>
                <a:lnTo>
                  <a:pt x="46063" y="338817"/>
                </a:lnTo>
                <a:lnTo>
                  <a:pt x="78535" y="371098"/>
                </a:lnTo>
                <a:lnTo>
                  <a:pt x="117466" y="395704"/>
                </a:lnTo>
                <a:lnTo>
                  <a:pt x="161600" y="411386"/>
                </a:lnTo>
                <a:lnTo>
                  <a:pt x="209678" y="416891"/>
                </a:lnTo>
                <a:lnTo>
                  <a:pt x="257756" y="411386"/>
                </a:lnTo>
                <a:lnTo>
                  <a:pt x="301890" y="395704"/>
                </a:lnTo>
                <a:lnTo>
                  <a:pt x="340822" y="371098"/>
                </a:lnTo>
                <a:lnTo>
                  <a:pt x="373293" y="338817"/>
                </a:lnTo>
                <a:lnTo>
                  <a:pt x="398045" y="300114"/>
                </a:lnTo>
                <a:lnTo>
                  <a:pt x="413820" y="256240"/>
                </a:lnTo>
                <a:lnTo>
                  <a:pt x="419357" y="208446"/>
                </a:lnTo>
                <a:lnTo>
                  <a:pt x="413820" y="160651"/>
                </a:lnTo>
                <a:lnTo>
                  <a:pt x="398045" y="116776"/>
                </a:lnTo>
                <a:lnTo>
                  <a:pt x="373293" y="78073"/>
                </a:lnTo>
                <a:lnTo>
                  <a:pt x="340822" y="45793"/>
                </a:lnTo>
                <a:lnTo>
                  <a:pt x="301890" y="21186"/>
                </a:lnTo>
                <a:lnTo>
                  <a:pt x="257756" y="5505"/>
                </a:lnTo>
                <a:lnTo>
                  <a:pt x="2096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816595" y="3757676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391400" y="2971800"/>
            <a:ext cx="419734" cy="417195"/>
          </a:xfrm>
          <a:custGeom>
            <a:avLst/>
            <a:gdLst/>
            <a:ahLst/>
            <a:cxnLst/>
            <a:rect l="l" t="t" r="r" b="b"/>
            <a:pathLst>
              <a:path w="419734" h="417195">
                <a:moveTo>
                  <a:pt x="209678" y="0"/>
                </a:moveTo>
                <a:lnTo>
                  <a:pt x="161600" y="5505"/>
                </a:lnTo>
                <a:lnTo>
                  <a:pt x="117466" y="21186"/>
                </a:lnTo>
                <a:lnTo>
                  <a:pt x="78535" y="45793"/>
                </a:lnTo>
                <a:lnTo>
                  <a:pt x="46063" y="78073"/>
                </a:lnTo>
                <a:lnTo>
                  <a:pt x="21311" y="116776"/>
                </a:lnTo>
                <a:lnTo>
                  <a:pt x="5537" y="160650"/>
                </a:lnTo>
                <a:lnTo>
                  <a:pt x="0" y="208445"/>
                </a:lnTo>
                <a:lnTo>
                  <a:pt x="5537" y="256239"/>
                </a:lnTo>
                <a:lnTo>
                  <a:pt x="21311" y="300114"/>
                </a:lnTo>
                <a:lnTo>
                  <a:pt x="46063" y="338817"/>
                </a:lnTo>
                <a:lnTo>
                  <a:pt x="78535" y="371098"/>
                </a:lnTo>
                <a:lnTo>
                  <a:pt x="117466" y="395704"/>
                </a:lnTo>
                <a:lnTo>
                  <a:pt x="161600" y="411386"/>
                </a:lnTo>
                <a:lnTo>
                  <a:pt x="209678" y="416891"/>
                </a:lnTo>
                <a:lnTo>
                  <a:pt x="257756" y="411386"/>
                </a:lnTo>
                <a:lnTo>
                  <a:pt x="301890" y="395704"/>
                </a:lnTo>
                <a:lnTo>
                  <a:pt x="340822" y="371098"/>
                </a:lnTo>
                <a:lnTo>
                  <a:pt x="373293" y="338817"/>
                </a:lnTo>
                <a:lnTo>
                  <a:pt x="398045" y="300114"/>
                </a:lnTo>
                <a:lnTo>
                  <a:pt x="413820" y="256239"/>
                </a:lnTo>
                <a:lnTo>
                  <a:pt x="419357" y="208445"/>
                </a:lnTo>
                <a:lnTo>
                  <a:pt x="413820" y="160650"/>
                </a:lnTo>
                <a:lnTo>
                  <a:pt x="398045" y="116776"/>
                </a:lnTo>
                <a:lnTo>
                  <a:pt x="373293" y="78073"/>
                </a:lnTo>
                <a:lnTo>
                  <a:pt x="340822" y="45793"/>
                </a:lnTo>
                <a:lnTo>
                  <a:pt x="301890" y="21186"/>
                </a:lnTo>
                <a:lnTo>
                  <a:pt x="257756" y="5505"/>
                </a:lnTo>
                <a:lnTo>
                  <a:pt x="2096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478046" y="2971292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58977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930515" cy="1973580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>
                <a:solidFill>
                  <a:srgbClr val="0000FF"/>
                </a:solidFill>
              </a:rPr>
              <a:t>For </a:t>
            </a:r>
            <a:r>
              <a:rPr dirty="0" spc="-20">
                <a:solidFill>
                  <a:srgbClr val="0000FF"/>
                </a:solidFill>
              </a:rPr>
              <a:t>many years </a:t>
            </a:r>
            <a:r>
              <a:rPr dirty="0" spc="-25">
                <a:solidFill>
                  <a:srgbClr val="0000FF"/>
                </a:solidFill>
              </a:rPr>
              <a:t>Granovetter’s </a:t>
            </a:r>
            <a:r>
              <a:rPr dirty="0" spc="-5">
                <a:solidFill>
                  <a:srgbClr val="0000FF"/>
                </a:solidFill>
              </a:rPr>
              <a:t>theory </a:t>
            </a:r>
            <a:r>
              <a:rPr dirty="0" spc="-15">
                <a:solidFill>
                  <a:srgbClr val="0000FF"/>
                </a:solidFill>
              </a:rPr>
              <a:t>was </a:t>
            </a:r>
            <a:r>
              <a:rPr dirty="0" spc="-5">
                <a:solidFill>
                  <a:srgbClr val="0000FF"/>
                </a:solidFill>
              </a:rPr>
              <a:t>not  </a:t>
            </a:r>
            <a:r>
              <a:rPr dirty="0" spc="-20">
                <a:solidFill>
                  <a:srgbClr val="0000FF"/>
                </a:solidFill>
              </a:rPr>
              <a:t>tested</a:t>
            </a:r>
          </a:p>
          <a:p>
            <a:pPr marL="332740" marR="193040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0">
                <a:latin typeface="Calibri"/>
                <a:cs typeface="Calibri"/>
              </a:rPr>
              <a:t>But, </a:t>
            </a:r>
            <a:r>
              <a:rPr dirty="0" spc="-20" b="0">
                <a:latin typeface="Calibri"/>
                <a:cs typeface="Calibri"/>
              </a:rPr>
              <a:t>today </a:t>
            </a:r>
            <a:r>
              <a:rPr dirty="0" spc="-15" b="0">
                <a:latin typeface="Calibri"/>
                <a:cs typeface="Calibri"/>
              </a:rPr>
              <a:t>we </a:t>
            </a:r>
            <a:r>
              <a:rPr dirty="0" spc="-20" b="0">
                <a:latin typeface="Calibri"/>
                <a:cs typeface="Calibri"/>
              </a:rPr>
              <a:t>have </a:t>
            </a:r>
            <a:r>
              <a:rPr dirty="0" spc="-15" b="0">
                <a:latin typeface="Calibri"/>
                <a:cs typeface="Calibri"/>
              </a:rPr>
              <a:t>large </a:t>
            </a:r>
            <a:r>
              <a:rPr dirty="0" spc="-10" b="0">
                <a:latin typeface="Calibri"/>
                <a:cs typeface="Calibri"/>
              </a:rPr>
              <a:t>who-talks-to-whom  </a:t>
            </a:r>
            <a:r>
              <a:rPr dirty="0" spc="-15" b="0">
                <a:latin typeface="Calibri"/>
                <a:cs typeface="Calibri"/>
              </a:rPr>
              <a:t>graphs: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3392932"/>
            <a:ext cx="8479790" cy="2280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Email, </a:t>
            </a:r>
            <a:r>
              <a:rPr dirty="0" sz="2800" spc="-35">
                <a:latin typeface="Calibri"/>
                <a:cs typeface="Calibri"/>
              </a:rPr>
              <a:t>Messenger, </a:t>
            </a:r>
            <a:r>
              <a:rPr dirty="0" sz="2800" spc="-10">
                <a:latin typeface="Calibri"/>
                <a:cs typeface="Calibri"/>
              </a:rPr>
              <a:t>Cell </a:t>
            </a:r>
            <a:r>
              <a:rPr dirty="0" sz="2800" spc="-5">
                <a:latin typeface="Calibri"/>
                <a:cs typeface="Calibri"/>
              </a:rPr>
              <a:t>phones,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Facebook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255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CC0066"/>
                </a:solidFill>
                <a:latin typeface="Calibri"/>
                <a:cs typeface="Calibri"/>
              </a:rPr>
              <a:t>Onnela </a:t>
            </a:r>
            <a:r>
              <a:rPr dirty="0" sz="3200" spc="-15" b="1">
                <a:solidFill>
                  <a:srgbClr val="CC0066"/>
                </a:solidFill>
                <a:latin typeface="Calibri"/>
                <a:cs typeface="Calibri"/>
              </a:rPr>
              <a:t>et </a:t>
            </a:r>
            <a:r>
              <a:rPr dirty="0" sz="3200" spc="-5" b="1">
                <a:solidFill>
                  <a:srgbClr val="CC0066"/>
                </a:solidFill>
                <a:latin typeface="Calibri"/>
                <a:cs typeface="Calibri"/>
              </a:rPr>
              <a:t>al.</a:t>
            </a:r>
            <a:r>
              <a:rPr dirty="0" sz="3200" spc="-70" b="1">
                <a:solidFill>
                  <a:srgbClr val="CC0066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CC0066"/>
                </a:solidFill>
                <a:latin typeface="Calibri"/>
                <a:cs typeface="Calibri"/>
              </a:rPr>
              <a:t>2007: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Cell-phone </a:t>
            </a:r>
            <a:r>
              <a:rPr dirty="0" sz="2800" spc="-10">
                <a:latin typeface="Calibri"/>
                <a:cs typeface="Calibri"/>
              </a:rPr>
              <a:t>network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>
                <a:latin typeface="Calibri"/>
                <a:cs typeface="Calibri"/>
              </a:rPr>
              <a:t>20% </a:t>
            </a:r>
            <a:r>
              <a:rPr dirty="0" sz="2800" spc="-5">
                <a:latin typeface="Calibri"/>
                <a:cs typeface="Calibri"/>
              </a:rPr>
              <a:t>of EU </a:t>
            </a:r>
            <a:r>
              <a:rPr dirty="0" sz="2800" spc="-20">
                <a:latin typeface="Calibri"/>
                <a:cs typeface="Calibri"/>
              </a:rPr>
              <a:t>country’s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 spc="-60">
                <a:latin typeface="Calibri"/>
                <a:cs typeface="Calibri"/>
              </a:rPr>
              <a:t>population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5" b="1">
                <a:latin typeface="Calibri"/>
                <a:cs typeface="Calibri"/>
              </a:rPr>
              <a:t>Edge </a:t>
            </a:r>
            <a:r>
              <a:rPr dirty="0" sz="2800" spc="-10" b="1">
                <a:latin typeface="Calibri"/>
                <a:cs typeface="Calibri"/>
              </a:rPr>
              <a:t>weight: </a:t>
            </a:r>
            <a:r>
              <a:rPr dirty="0" sz="2800">
                <a:latin typeface="Calibri"/>
                <a:cs typeface="Calibri"/>
              </a:rPr>
              <a:t># </a:t>
            </a:r>
            <a:r>
              <a:rPr dirty="0" sz="2800" spc="-5">
                <a:latin typeface="Calibri"/>
                <a:cs typeface="Calibri"/>
              </a:rPr>
              <a:t>phone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calls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324002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7109" y="1257300"/>
            <a:ext cx="2625725" cy="1183640"/>
          </a:xfrm>
          <a:prstGeom prst="rect"/>
        </p:spPr>
        <p:txBody>
          <a:bodyPr wrap="square" lIns="0" tIns="104139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19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5">
                <a:solidFill>
                  <a:srgbClr val="0000FF"/>
                </a:solidFill>
              </a:rPr>
              <a:t>Edge</a:t>
            </a:r>
            <a:r>
              <a:rPr dirty="0" spc="-70">
                <a:solidFill>
                  <a:srgbClr val="0000FF"/>
                </a:solidFill>
              </a:rPr>
              <a:t> </a:t>
            </a:r>
            <a:r>
              <a:rPr dirty="0" spc="-10">
                <a:solidFill>
                  <a:srgbClr val="0000FF"/>
                </a:solidFill>
              </a:rPr>
              <a:t>overlap:</a:t>
            </a: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baseline="11284" sz="4800" spc="89" b="0">
                <a:latin typeface="Cambria Math"/>
                <a:cs typeface="Cambria Math"/>
              </a:rPr>
              <a:t>𝑂</a:t>
            </a:r>
            <a:r>
              <a:rPr dirty="0" sz="2300" spc="60" b="0">
                <a:latin typeface="Cambria Math"/>
                <a:cs typeface="Cambria Math"/>
              </a:rPr>
              <a:t>!"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4463" y="2961639"/>
            <a:ext cx="3873500" cy="0"/>
          </a:xfrm>
          <a:custGeom>
            <a:avLst/>
            <a:gdLst/>
            <a:ahLst/>
            <a:cxnLst/>
            <a:rect l="l" t="t" r="r" b="b"/>
            <a:pathLst>
              <a:path w="3873500" h="0">
                <a:moveTo>
                  <a:pt x="0" y="0"/>
                </a:moveTo>
                <a:lnTo>
                  <a:pt x="38735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542063" y="2464078"/>
            <a:ext cx="419100" cy="376555"/>
          </a:xfrm>
          <a:custGeom>
            <a:avLst/>
            <a:gdLst/>
            <a:ahLst/>
            <a:cxnLst/>
            <a:rect l="l" t="t" r="r" b="b"/>
            <a:pathLst>
              <a:path w="419100" h="376555">
                <a:moveTo>
                  <a:pt x="298806" y="0"/>
                </a:moveTo>
                <a:lnTo>
                  <a:pt x="293448" y="15279"/>
                </a:lnTo>
                <a:lnTo>
                  <a:pt x="315240" y="24736"/>
                </a:lnTo>
                <a:lnTo>
                  <a:pt x="333979" y="37826"/>
                </a:lnTo>
                <a:lnTo>
                  <a:pt x="362306" y="74909"/>
                </a:lnTo>
                <a:lnTo>
                  <a:pt x="378975" y="124940"/>
                </a:lnTo>
                <a:lnTo>
                  <a:pt x="384531" y="186331"/>
                </a:lnTo>
                <a:lnTo>
                  <a:pt x="383136" y="219533"/>
                </a:lnTo>
                <a:lnTo>
                  <a:pt x="371974" y="276782"/>
                </a:lnTo>
                <a:lnTo>
                  <a:pt x="349575" y="321493"/>
                </a:lnTo>
                <a:lnTo>
                  <a:pt x="315494" y="351655"/>
                </a:lnTo>
                <a:lnTo>
                  <a:pt x="294044" y="361156"/>
                </a:lnTo>
                <a:lnTo>
                  <a:pt x="298806" y="376435"/>
                </a:lnTo>
                <a:lnTo>
                  <a:pt x="350152" y="352349"/>
                </a:lnTo>
                <a:lnTo>
                  <a:pt x="387904" y="310653"/>
                </a:lnTo>
                <a:lnTo>
                  <a:pt x="411122" y="254818"/>
                </a:lnTo>
                <a:lnTo>
                  <a:pt x="418861" y="188316"/>
                </a:lnTo>
                <a:lnTo>
                  <a:pt x="416920" y="153807"/>
                </a:lnTo>
                <a:lnTo>
                  <a:pt x="401392" y="92638"/>
                </a:lnTo>
                <a:lnTo>
                  <a:pt x="370597" y="42843"/>
                </a:lnTo>
                <a:lnTo>
                  <a:pt x="326098" y="9853"/>
                </a:lnTo>
                <a:lnTo>
                  <a:pt x="298806" y="0"/>
                </a:lnTo>
                <a:close/>
              </a:path>
              <a:path w="419100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542063" y="3043515"/>
            <a:ext cx="419100" cy="376555"/>
          </a:xfrm>
          <a:custGeom>
            <a:avLst/>
            <a:gdLst/>
            <a:ahLst/>
            <a:cxnLst/>
            <a:rect l="l" t="t" r="r" b="b"/>
            <a:pathLst>
              <a:path w="419100" h="376554">
                <a:moveTo>
                  <a:pt x="298806" y="0"/>
                </a:moveTo>
                <a:lnTo>
                  <a:pt x="293448" y="15279"/>
                </a:lnTo>
                <a:lnTo>
                  <a:pt x="315240" y="24736"/>
                </a:lnTo>
                <a:lnTo>
                  <a:pt x="333979" y="37826"/>
                </a:lnTo>
                <a:lnTo>
                  <a:pt x="362306" y="74909"/>
                </a:lnTo>
                <a:lnTo>
                  <a:pt x="378975" y="124940"/>
                </a:lnTo>
                <a:lnTo>
                  <a:pt x="384531" y="186331"/>
                </a:lnTo>
                <a:lnTo>
                  <a:pt x="383136" y="219533"/>
                </a:lnTo>
                <a:lnTo>
                  <a:pt x="371974" y="276782"/>
                </a:lnTo>
                <a:lnTo>
                  <a:pt x="349575" y="321493"/>
                </a:lnTo>
                <a:lnTo>
                  <a:pt x="315494" y="351655"/>
                </a:lnTo>
                <a:lnTo>
                  <a:pt x="294044" y="361156"/>
                </a:lnTo>
                <a:lnTo>
                  <a:pt x="298806" y="376435"/>
                </a:lnTo>
                <a:lnTo>
                  <a:pt x="350152" y="352349"/>
                </a:lnTo>
                <a:lnTo>
                  <a:pt x="387904" y="310653"/>
                </a:lnTo>
                <a:lnTo>
                  <a:pt x="411122" y="254818"/>
                </a:lnTo>
                <a:lnTo>
                  <a:pt x="418861" y="188316"/>
                </a:lnTo>
                <a:lnTo>
                  <a:pt x="416920" y="153807"/>
                </a:lnTo>
                <a:lnTo>
                  <a:pt x="401392" y="92638"/>
                </a:lnTo>
                <a:lnTo>
                  <a:pt x="370597" y="42843"/>
                </a:lnTo>
                <a:lnTo>
                  <a:pt x="326098" y="9853"/>
                </a:lnTo>
                <a:lnTo>
                  <a:pt x="298806" y="0"/>
                </a:lnTo>
                <a:close/>
              </a:path>
              <a:path w="419100" h="376554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37109" y="2257044"/>
            <a:ext cx="4313555" cy="3936365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  <a:tabLst>
                <a:tab pos="2437765" algn="l"/>
                <a:tab pos="2759075" algn="l"/>
              </a:tabLst>
            </a:pPr>
            <a:r>
              <a:rPr dirty="0" baseline="-41666" sz="4800">
                <a:latin typeface="Cambria Math"/>
                <a:cs typeface="Cambria Math"/>
              </a:rPr>
              <a:t>= </a:t>
            </a:r>
            <a:r>
              <a:rPr dirty="0" sz="3200" spc="25">
                <a:latin typeface="Cambria Math"/>
                <a:cs typeface="Cambria Math"/>
              </a:rPr>
              <a:t>|(𝑁(𝑖)</a:t>
            </a:r>
            <a:r>
              <a:rPr dirty="0" sz="3200" spc="5">
                <a:latin typeface="Cambria Math"/>
                <a:cs typeface="Cambria Math"/>
              </a:rPr>
              <a:t> </a:t>
            </a:r>
            <a:r>
              <a:rPr dirty="0" baseline="-1736" sz="4800">
                <a:latin typeface="Cambria Math"/>
                <a:cs typeface="Cambria Math"/>
              </a:rPr>
              <a:t>⋂</a:t>
            </a:r>
            <a:r>
              <a:rPr dirty="0" baseline="-1736" sz="4800" spc="-262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𝑁	𝑗	) − </a:t>
            </a:r>
            <a:r>
              <a:rPr dirty="0" sz="3200" spc="25">
                <a:latin typeface="Cambria Math"/>
                <a:cs typeface="Cambria Math"/>
              </a:rPr>
              <a:t>{𝑖,</a:t>
            </a:r>
            <a:r>
              <a:rPr dirty="0" sz="3200" spc="-250">
                <a:latin typeface="Cambria Math"/>
                <a:cs typeface="Cambria Math"/>
              </a:rPr>
              <a:t> </a:t>
            </a:r>
            <a:r>
              <a:rPr dirty="0" sz="3200" spc="10">
                <a:latin typeface="Cambria Math"/>
                <a:cs typeface="Cambria Math"/>
              </a:rPr>
              <a:t>𝑗}|</a:t>
            </a:r>
            <a:endParaRPr sz="3200">
              <a:latin typeface="Cambria Math"/>
              <a:cs typeface="Cambria Math"/>
            </a:endParaRPr>
          </a:p>
          <a:p>
            <a:pPr marL="428625">
              <a:lnSpc>
                <a:spcPct val="100000"/>
              </a:lnSpc>
              <a:spcBef>
                <a:spcPts val="720"/>
              </a:spcBef>
              <a:tabLst>
                <a:tab pos="2437765" algn="l"/>
                <a:tab pos="2759075" algn="l"/>
              </a:tabLst>
            </a:pPr>
            <a:r>
              <a:rPr dirty="0" sz="3200" spc="25">
                <a:latin typeface="Cambria Math"/>
                <a:cs typeface="Cambria Math"/>
              </a:rPr>
              <a:t>|(𝑁(𝑖)</a:t>
            </a:r>
            <a:r>
              <a:rPr dirty="0" sz="3200" spc="-175">
                <a:latin typeface="Cambria Math"/>
                <a:cs typeface="Cambria Math"/>
              </a:rPr>
              <a:t> </a:t>
            </a:r>
            <a:r>
              <a:rPr dirty="0" baseline="-1736" sz="4800">
                <a:latin typeface="Cambria Math"/>
                <a:cs typeface="Cambria Math"/>
              </a:rPr>
              <a:t>⋃</a:t>
            </a:r>
            <a:r>
              <a:rPr dirty="0" baseline="-1736" sz="4800" spc="-262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𝑁	𝑗	) − </a:t>
            </a:r>
            <a:r>
              <a:rPr dirty="0" sz="3200" spc="25">
                <a:latin typeface="Cambria Math"/>
                <a:cs typeface="Cambria Math"/>
              </a:rPr>
              <a:t>{𝑖,</a:t>
            </a:r>
            <a:r>
              <a:rPr dirty="0" sz="3200" spc="-250">
                <a:latin typeface="Cambria Math"/>
                <a:cs typeface="Cambria Math"/>
              </a:rPr>
              <a:t> </a:t>
            </a:r>
            <a:r>
              <a:rPr dirty="0" sz="3200" spc="10">
                <a:latin typeface="Cambria Math"/>
                <a:cs typeface="Cambria Math"/>
              </a:rPr>
              <a:t>𝑗}|</a:t>
            </a:r>
            <a:endParaRPr sz="3200">
              <a:latin typeface="Cambria Math"/>
              <a:cs typeface="Cambria Math"/>
            </a:endParaRPr>
          </a:p>
          <a:p>
            <a:pPr marL="625475" marR="860425" indent="-274320">
              <a:lnSpc>
                <a:spcPct val="101400"/>
              </a:lnSpc>
              <a:spcBef>
                <a:spcPts val="47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30">
                <a:latin typeface="Cambria Math"/>
                <a:cs typeface="Cambria Math"/>
              </a:rPr>
              <a:t>𝑁(𝑖) </a:t>
            </a:r>
            <a:r>
              <a:rPr dirty="0" sz="2800">
                <a:latin typeface="Calibri"/>
                <a:cs typeface="Calibri"/>
              </a:rPr>
              <a:t>… the </a:t>
            </a:r>
            <a:r>
              <a:rPr dirty="0" sz="2800" spc="-10">
                <a:latin typeface="Calibri"/>
                <a:cs typeface="Calibri"/>
              </a:rPr>
              <a:t>set </a:t>
            </a:r>
            <a:r>
              <a:rPr dirty="0" sz="2800" spc="-5">
                <a:latin typeface="Calibri"/>
                <a:cs typeface="Calibri"/>
              </a:rPr>
              <a:t>of  </a:t>
            </a:r>
            <a:r>
              <a:rPr dirty="0" sz="2800" spc="-10">
                <a:latin typeface="Calibri"/>
                <a:cs typeface="Calibri"/>
              </a:rPr>
              <a:t>neighbors </a:t>
            </a:r>
            <a:r>
              <a:rPr dirty="0" sz="2800" spc="-5">
                <a:latin typeface="Calibri"/>
                <a:cs typeface="Calibri"/>
              </a:rPr>
              <a:t>of node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mbria Math"/>
                <a:cs typeface="Cambria Math"/>
              </a:rPr>
              <a:t>𝑖</a:t>
            </a:r>
            <a:endParaRPr sz="2800">
              <a:latin typeface="Cambria Math"/>
              <a:cs typeface="Cambria Math"/>
            </a:endParaRPr>
          </a:p>
          <a:p>
            <a:pPr marL="332740" marR="141605" indent="-320040">
              <a:lnSpc>
                <a:spcPct val="100299"/>
              </a:lnSpc>
              <a:spcBef>
                <a:spcPts val="282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3292475" algn="l"/>
              </a:tabLst>
            </a:pPr>
            <a:r>
              <a:rPr dirty="0" sz="3200" spc="-10" b="1">
                <a:latin typeface="Calibri"/>
                <a:cs typeface="Calibri"/>
              </a:rPr>
              <a:t>Note:</a:t>
            </a:r>
            <a:r>
              <a:rPr dirty="0" sz="3200" spc="0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Overlap</a:t>
            </a:r>
            <a:r>
              <a:rPr dirty="0" sz="3200" spc="0" b="1">
                <a:latin typeface="Calibri"/>
                <a:cs typeface="Calibri"/>
              </a:rPr>
              <a:t> </a:t>
            </a:r>
            <a:r>
              <a:rPr dirty="0" sz="3200">
                <a:latin typeface="Cambria Math"/>
                <a:cs typeface="Cambria Math"/>
              </a:rPr>
              <a:t>=	𝟎  </a:t>
            </a:r>
            <a:r>
              <a:rPr dirty="0" sz="3200" spc="-5">
                <a:latin typeface="Calibri"/>
                <a:cs typeface="Calibri"/>
              </a:rPr>
              <a:t>when </a:t>
            </a:r>
            <a:r>
              <a:rPr dirty="0" sz="3200">
                <a:latin typeface="Calibri"/>
                <a:cs typeface="Calibri"/>
              </a:rPr>
              <a:t>an </a:t>
            </a:r>
            <a:r>
              <a:rPr dirty="0" sz="3200" spc="-10">
                <a:latin typeface="Calibri"/>
                <a:cs typeface="Calibri"/>
              </a:rPr>
              <a:t>edge </a:t>
            </a:r>
            <a:r>
              <a:rPr dirty="0" sz="3200">
                <a:latin typeface="Calibri"/>
                <a:cs typeface="Calibri"/>
              </a:rPr>
              <a:t>is a </a:t>
            </a:r>
            <a:r>
              <a:rPr dirty="0" sz="3200" spc="-10" b="1">
                <a:solidFill>
                  <a:srgbClr val="CC0066"/>
                </a:solidFill>
                <a:latin typeface="Calibri"/>
                <a:cs typeface="Calibri"/>
              </a:rPr>
              <a:t>local  bridge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05673" y="1752600"/>
            <a:ext cx="4262126" cy="42671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413836" y="1867423"/>
            <a:ext cx="533400" cy="609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20804" y="1476375"/>
            <a:ext cx="5023195" cy="49244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5216" y="347472"/>
            <a:ext cx="8464296" cy="5577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367919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Cell-phone</a:t>
            </a:r>
            <a:r>
              <a:rPr dirty="0" spc="-35"/>
              <a:t> </a:t>
            </a:r>
            <a:r>
              <a:rPr dirty="0" spc="-10"/>
              <a:t>network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0000FF"/>
                </a:solidFill>
              </a:rPr>
              <a:t>Observation: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31750" rIns="0" bIns="0" rtlCol="0" vert="horz">
            <a:spAutoFit/>
          </a:bodyPr>
          <a:lstStyle/>
          <a:p>
            <a:pPr marL="625475" marR="5080" indent="-274320">
              <a:lnSpc>
                <a:spcPts val="3310"/>
              </a:lnSpc>
              <a:spcBef>
                <a:spcPts val="25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pc="-5"/>
              <a:t>Highly used </a:t>
            </a:r>
            <a:r>
              <a:rPr dirty="0" spc="-10"/>
              <a:t>links  </a:t>
            </a:r>
            <a:r>
              <a:rPr dirty="0" spc="-20"/>
              <a:t>have </a:t>
            </a:r>
            <a:r>
              <a:rPr dirty="0" spc="-5"/>
              <a:t>high</a:t>
            </a:r>
            <a:r>
              <a:rPr dirty="0" spc="-25"/>
              <a:t> </a:t>
            </a:r>
            <a:r>
              <a:rPr dirty="0" spc="-10"/>
              <a:t>overlap!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65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5"/>
              </a:spcBef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400" spc="-5"/>
              <a:t>Legend:</a:t>
            </a:r>
            <a:endParaRPr sz="2400"/>
          </a:p>
          <a:p>
            <a:pPr lvl="1" marL="625475" indent="-274320">
              <a:lnSpc>
                <a:spcPct val="100000"/>
              </a:lnSpc>
              <a:spcBef>
                <a:spcPts val="520"/>
              </a:spcBef>
              <a:buClr>
                <a:srgbClr val="60B5CC"/>
              </a:buClr>
              <a:buFont typeface="Malgun Gothic"/>
              <a:buChar char="▪"/>
              <a:tabLst>
                <a:tab pos="624840" algn="l"/>
                <a:tab pos="625475" algn="l"/>
              </a:tabLst>
            </a:pPr>
            <a:r>
              <a:rPr dirty="0" sz="2000" spc="-25" b="1">
                <a:solidFill>
                  <a:srgbClr val="0000FF"/>
                </a:solidFill>
                <a:latin typeface="Calibri"/>
                <a:cs typeface="Calibri"/>
              </a:rPr>
              <a:t>True: </a:t>
            </a:r>
            <a:r>
              <a:rPr dirty="0" sz="2000" spc="-5">
                <a:latin typeface="Calibri"/>
                <a:cs typeface="Calibri"/>
              </a:rPr>
              <a:t>The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lvl="1" marL="625475" marR="15875" indent="-274320">
              <a:lnSpc>
                <a:spcPct val="100000"/>
              </a:lnSpc>
              <a:spcBef>
                <a:spcPts val="500"/>
              </a:spcBef>
              <a:buClr>
                <a:srgbClr val="60B5CC"/>
              </a:buClr>
              <a:buFont typeface="Malgun Gothic"/>
              <a:buChar char="▪"/>
              <a:tabLst>
                <a:tab pos="624840" algn="l"/>
                <a:tab pos="625475" algn="l"/>
              </a:tabLst>
            </a:pPr>
            <a:r>
              <a:rPr dirty="0" sz="2000" spc="-10" b="1">
                <a:solidFill>
                  <a:srgbClr val="D9253E"/>
                </a:solidFill>
                <a:latin typeface="Calibri"/>
                <a:cs typeface="Calibri"/>
              </a:rPr>
              <a:t>Permuted strengths: </a:t>
            </a:r>
            <a:r>
              <a:rPr dirty="0" sz="2000" spc="-10">
                <a:latin typeface="Calibri"/>
                <a:cs typeface="Calibri"/>
              </a:rPr>
              <a:t>Keep  </a:t>
            </a:r>
            <a:r>
              <a:rPr dirty="0" sz="2000" spc="-5">
                <a:latin typeface="Calibri"/>
                <a:cs typeface="Calibri"/>
              </a:rPr>
              <a:t>the </a:t>
            </a:r>
            <a:r>
              <a:rPr dirty="0" sz="2000" spc="-10">
                <a:latin typeface="Calibri"/>
                <a:cs typeface="Calibri"/>
              </a:rPr>
              <a:t>network structure</a:t>
            </a:r>
            <a:endParaRPr sz="2000">
              <a:latin typeface="Calibri"/>
              <a:cs typeface="Calibri"/>
            </a:endParaRPr>
          </a:p>
          <a:p>
            <a:pPr marL="625475" marR="445134">
              <a:lnSpc>
                <a:spcPct val="100000"/>
              </a:lnSpc>
            </a:pPr>
            <a:r>
              <a:rPr dirty="0" sz="2000" spc="-5" b="0">
                <a:latin typeface="Calibri"/>
                <a:cs typeface="Calibri"/>
              </a:rPr>
              <a:t>but </a:t>
            </a:r>
            <a:r>
              <a:rPr dirty="0" sz="2000" spc="-10" b="0">
                <a:latin typeface="Calibri"/>
                <a:cs typeface="Calibri"/>
              </a:rPr>
              <a:t>randomly </a:t>
            </a:r>
            <a:r>
              <a:rPr dirty="0" sz="2000" spc="-5" b="0">
                <a:latin typeface="Calibri"/>
                <a:cs typeface="Calibri"/>
              </a:rPr>
              <a:t>reassign  </a:t>
            </a:r>
            <a:r>
              <a:rPr dirty="0" sz="2000" spc="-10" b="0">
                <a:latin typeface="Calibri"/>
                <a:cs typeface="Calibri"/>
              </a:rPr>
              <a:t>edge</a:t>
            </a:r>
            <a:r>
              <a:rPr dirty="0" sz="2000" spc="-45" b="0">
                <a:latin typeface="Calibri"/>
                <a:cs typeface="Calibri"/>
              </a:rPr>
              <a:t> </a:t>
            </a:r>
            <a:r>
              <a:rPr dirty="0" sz="2000" spc="-15" b="0">
                <a:latin typeface="Calibri"/>
                <a:cs typeface="Calibri"/>
              </a:rPr>
              <a:t>strengths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84540" y="2480564"/>
            <a:ext cx="5086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0" b="1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ru</a:t>
            </a: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84140" y="3024123"/>
            <a:ext cx="963294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dirty="0" sz="1600" spc="-5" b="1">
                <a:solidFill>
                  <a:srgbClr val="D9253E"/>
                </a:solidFill>
                <a:latin typeface="Arial"/>
                <a:cs typeface="Arial"/>
              </a:rPr>
              <a:t>Pe</a:t>
            </a:r>
            <a:r>
              <a:rPr dirty="0" sz="1600" b="1">
                <a:solidFill>
                  <a:srgbClr val="D9253E"/>
                </a:solidFill>
                <a:latin typeface="Arial"/>
                <a:cs typeface="Arial"/>
              </a:rPr>
              <a:t>rm</a:t>
            </a:r>
            <a:r>
              <a:rPr dirty="0" sz="1600" spc="-5" b="1">
                <a:solidFill>
                  <a:srgbClr val="D9253E"/>
                </a:solidFill>
                <a:latin typeface="Arial"/>
                <a:cs typeface="Arial"/>
              </a:rPr>
              <a:t>u</a:t>
            </a:r>
            <a:r>
              <a:rPr dirty="0" sz="1600" b="1">
                <a:solidFill>
                  <a:srgbClr val="D9253E"/>
                </a:solidFill>
                <a:latin typeface="Arial"/>
                <a:cs typeface="Arial"/>
              </a:rPr>
              <a:t>t</a:t>
            </a:r>
            <a:r>
              <a:rPr dirty="0" sz="1600" spc="-5" b="1">
                <a:solidFill>
                  <a:srgbClr val="D9253E"/>
                </a:solidFill>
                <a:latin typeface="Arial"/>
                <a:cs typeface="Arial"/>
              </a:rPr>
              <a:t>e</a:t>
            </a:r>
            <a:r>
              <a:rPr dirty="0" sz="1600" b="1">
                <a:solidFill>
                  <a:srgbClr val="D9253E"/>
                </a:solidFill>
                <a:latin typeface="Arial"/>
                <a:cs typeface="Arial"/>
              </a:rPr>
              <a:t>d  </a:t>
            </a:r>
            <a:r>
              <a:rPr dirty="0" sz="1600" spc="-5" b="1">
                <a:solidFill>
                  <a:srgbClr val="D9253E"/>
                </a:solidFill>
                <a:latin typeface="Arial"/>
                <a:cs typeface="Arial"/>
              </a:rPr>
              <a:t>strengths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35121" y="5903467"/>
            <a:ext cx="2413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Edge strength</a:t>
            </a:r>
            <a:r>
              <a:rPr dirty="0" sz="1800" spc="-8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(#calls)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212790" y="2534906"/>
            <a:ext cx="457200" cy="2723515"/>
          </a:xfrm>
          <a:custGeom>
            <a:avLst/>
            <a:gdLst/>
            <a:ahLst/>
            <a:cxnLst/>
            <a:rect l="l" t="t" r="r" b="b"/>
            <a:pathLst>
              <a:path w="457200" h="2723515">
                <a:moveTo>
                  <a:pt x="0" y="2722893"/>
                </a:moveTo>
                <a:lnTo>
                  <a:pt x="0" y="0"/>
                </a:lnTo>
                <a:lnTo>
                  <a:pt x="457200" y="0"/>
                </a:lnTo>
                <a:lnTo>
                  <a:pt x="457200" y="2722893"/>
                </a:lnTo>
                <a:lnTo>
                  <a:pt x="0" y="27228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313185" y="2614400"/>
            <a:ext cx="281305" cy="252857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090"/>
              </a:lnSpc>
              <a:tabLst>
                <a:tab pos="1702435" algn="l"/>
              </a:tabLst>
            </a:pPr>
            <a:r>
              <a:rPr dirty="0" sz="1800" b="1">
                <a:latin typeface="Arial"/>
                <a:cs typeface="Arial"/>
              </a:rPr>
              <a:t>N</a:t>
            </a:r>
            <a:r>
              <a:rPr dirty="0" sz="1800" spc="-5" b="1">
                <a:latin typeface="Arial"/>
                <a:cs typeface="Arial"/>
              </a:rPr>
              <a:t>e</a:t>
            </a:r>
            <a:r>
              <a:rPr dirty="0" sz="1800" b="1">
                <a:latin typeface="Arial"/>
                <a:cs typeface="Arial"/>
              </a:rPr>
              <a:t>ighborhood	o</a:t>
            </a:r>
            <a:r>
              <a:rPr dirty="0" sz="1800" spc="-5" b="1">
                <a:latin typeface="Arial"/>
                <a:cs typeface="Arial"/>
              </a:rPr>
              <a:t>ve</a:t>
            </a:r>
            <a:r>
              <a:rPr dirty="0" sz="1800" b="1">
                <a:latin typeface="Arial"/>
                <a:cs typeface="Arial"/>
              </a:rPr>
              <a:t>rl</a:t>
            </a:r>
            <a:r>
              <a:rPr dirty="0" sz="1800" spc="-5" b="1">
                <a:latin typeface="Arial"/>
                <a:cs typeface="Arial"/>
              </a:rPr>
              <a:t>a</a:t>
            </a:r>
            <a:r>
              <a:rPr dirty="0" sz="1800" b="1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268020" y="1675118"/>
            <a:ext cx="647700" cy="459105"/>
          </a:xfrm>
          <a:custGeom>
            <a:avLst/>
            <a:gdLst/>
            <a:ahLst/>
            <a:cxnLst/>
            <a:rect l="l" t="t" r="r" b="b"/>
            <a:pathLst>
              <a:path w="647700" h="459105">
                <a:moveTo>
                  <a:pt x="0" y="0"/>
                </a:moveTo>
                <a:lnTo>
                  <a:pt x="647379" y="0"/>
                </a:lnTo>
                <a:lnTo>
                  <a:pt x="647379" y="458481"/>
                </a:lnTo>
                <a:lnTo>
                  <a:pt x="0" y="4584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8015" y="347472"/>
            <a:ext cx="861669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5214765"/>
            <a:ext cx="8360409" cy="112077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Real edge strengths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in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mobile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call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0000FF"/>
                </a:solidFill>
                <a:latin typeface="Calibri"/>
                <a:cs typeface="Calibri"/>
              </a:rPr>
              <a:t>graph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Strong </a:t>
            </a:r>
            <a:r>
              <a:rPr dirty="0" sz="2800" spc="-5">
                <a:latin typeface="Calibri"/>
                <a:cs typeface="Calibri"/>
              </a:rPr>
              <a:t>ties </a:t>
            </a:r>
            <a:r>
              <a:rPr dirty="0" sz="2800" spc="-15">
                <a:latin typeface="Calibri"/>
                <a:cs typeface="Calibri"/>
              </a:rPr>
              <a:t>are more </a:t>
            </a:r>
            <a:r>
              <a:rPr dirty="0" sz="2800" spc="-5">
                <a:latin typeface="Calibri"/>
                <a:cs typeface="Calibri"/>
              </a:rPr>
              <a:t>embedded </a:t>
            </a:r>
            <a:r>
              <a:rPr dirty="0" sz="2800" spc="-20">
                <a:latin typeface="Calibri"/>
                <a:cs typeface="Calibri"/>
              </a:rPr>
              <a:t>(have </a:t>
            </a:r>
            <a:r>
              <a:rPr dirty="0" sz="2800" spc="-5">
                <a:latin typeface="Calibri"/>
                <a:cs typeface="Calibri"/>
              </a:rPr>
              <a:t>higher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 spc="-65">
                <a:latin typeface="Calibri"/>
                <a:cs typeface="Calibri"/>
              </a:rPr>
              <a:t>overlap)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43112" y="1447800"/>
            <a:ext cx="5057775" cy="36861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820826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5311140"/>
            <a:ext cx="7483475" cy="9950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Same </a:t>
            </a:r>
            <a:r>
              <a:rPr dirty="0" sz="3200" spc="-10" b="1">
                <a:latin typeface="Calibri"/>
                <a:cs typeface="Calibri"/>
              </a:rPr>
              <a:t>network, </a:t>
            </a:r>
            <a:r>
              <a:rPr dirty="0" sz="3200" spc="-5" b="1">
                <a:latin typeface="Calibri"/>
                <a:cs typeface="Calibri"/>
              </a:rPr>
              <a:t>same </a:t>
            </a:r>
            <a:r>
              <a:rPr dirty="0" sz="3200" spc="-10" b="1">
                <a:latin typeface="Calibri"/>
                <a:cs typeface="Calibri"/>
              </a:rPr>
              <a:t>set </a:t>
            </a:r>
            <a:r>
              <a:rPr dirty="0" sz="3200" b="1">
                <a:latin typeface="Calibri"/>
                <a:cs typeface="Calibri"/>
              </a:rPr>
              <a:t>of </a:t>
            </a:r>
            <a:r>
              <a:rPr dirty="0" sz="3200" spc="-15" b="1">
                <a:latin typeface="Calibri"/>
                <a:cs typeface="Calibri"/>
              </a:rPr>
              <a:t>edge</a:t>
            </a:r>
            <a:r>
              <a:rPr dirty="0" sz="3200" spc="-20" b="1">
                <a:latin typeface="Calibri"/>
                <a:cs typeface="Calibri"/>
              </a:rPr>
              <a:t> </a:t>
            </a:r>
            <a:r>
              <a:rPr dirty="0" sz="3200" spc="-15" b="1">
                <a:latin typeface="Calibri"/>
                <a:cs typeface="Calibri"/>
              </a:rPr>
              <a:t>strengths</a:t>
            </a:r>
            <a:endParaRPr sz="3200">
              <a:latin typeface="Calibri"/>
              <a:cs typeface="Calibri"/>
            </a:endParaRPr>
          </a:p>
          <a:p>
            <a:pPr algn="ctr" marL="29209">
              <a:lnSpc>
                <a:spcPts val="3815"/>
              </a:lnSpc>
            </a:pPr>
            <a:r>
              <a:rPr dirty="0" sz="3200">
                <a:latin typeface="Calibri"/>
                <a:cs typeface="Calibri"/>
              </a:rPr>
              <a:t>but </a:t>
            </a:r>
            <a:r>
              <a:rPr dirty="0" sz="3200" spc="-5">
                <a:latin typeface="Calibri"/>
                <a:cs typeface="Calibri"/>
              </a:rPr>
              <a:t>now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strengths are randomly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shuffled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34152" y="1524000"/>
            <a:ext cx="5029200" cy="35528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31445" y="5247091"/>
            <a:ext cx="342900" cy="292735"/>
          </a:xfrm>
          <a:custGeom>
            <a:avLst/>
            <a:gdLst/>
            <a:ahLst/>
            <a:cxnLst/>
            <a:rect l="l" t="t" r="r" b="b"/>
            <a:pathLst>
              <a:path w="342900" h="292735">
                <a:moveTo>
                  <a:pt x="0" y="0"/>
                </a:moveTo>
                <a:lnTo>
                  <a:pt x="342900" y="29221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5216" y="347472"/>
            <a:ext cx="651052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6871" y="1223772"/>
            <a:ext cx="7096759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" b="0">
                <a:latin typeface="Calibri"/>
                <a:cs typeface="Calibri"/>
              </a:rPr>
              <a:t>Removing </a:t>
            </a:r>
            <a:r>
              <a:rPr dirty="0" spc="-10" b="0">
                <a:latin typeface="Calibri"/>
                <a:cs typeface="Calibri"/>
              </a:rPr>
              <a:t>edges </a:t>
            </a:r>
            <a:r>
              <a:rPr dirty="0" spc="-5" b="0">
                <a:latin typeface="Calibri"/>
                <a:cs typeface="Calibri"/>
              </a:rPr>
              <a:t>based on </a:t>
            </a:r>
            <a:r>
              <a:rPr dirty="0" spc="-15">
                <a:solidFill>
                  <a:srgbClr val="0000FF"/>
                </a:solidFill>
              </a:rPr>
              <a:t>strength</a:t>
            </a:r>
            <a:r>
              <a:rPr dirty="0" spc="50">
                <a:solidFill>
                  <a:srgbClr val="0000FF"/>
                </a:solidFill>
              </a:rPr>
              <a:t> </a:t>
            </a:r>
            <a:r>
              <a:rPr dirty="0" spc="-5">
                <a:solidFill>
                  <a:srgbClr val="0000FF"/>
                </a:solidFill>
              </a:rPr>
              <a:t>(#calls)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35326" y="1698244"/>
            <a:ext cx="1975485" cy="106807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>
                <a:solidFill>
                  <a:srgbClr val="FF0000"/>
                </a:solidFill>
                <a:latin typeface="Calibri"/>
                <a:cs typeface="Calibri"/>
              </a:rPr>
              <a:t>Low </a:t>
            </a:r>
            <a:r>
              <a:rPr dirty="0" sz="2800" spc="-15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800" spc="-150">
                <a:solidFill>
                  <a:srgbClr val="FF0000"/>
                </a:solidFill>
                <a:latin typeface="Calibri"/>
                <a:cs typeface="Calibri"/>
              </a:rPr>
              <a:t>high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High </a:t>
            </a:r>
            <a:r>
              <a:rPr dirty="0" sz="2800" spc="-15">
                <a:latin typeface="Calibri"/>
                <a:cs typeface="Calibri"/>
              </a:rPr>
              <a:t>to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25">
                <a:latin typeface="Calibri"/>
                <a:cs typeface="Calibri"/>
              </a:rPr>
              <a:t>low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7200" y="2885377"/>
            <a:ext cx="6391275" cy="3543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80419" y="3308577"/>
            <a:ext cx="281305" cy="287083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 spc="-5" b="1">
                <a:latin typeface="Arial"/>
                <a:cs typeface="Arial"/>
              </a:rPr>
              <a:t>Si</a:t>
            </a:r>
            <a:r>
              <a:rPr dirty="0" sz="1800" b="1">
                <a:latin typeface="Arial"/>
                <a:cs typeface="Arial"/>
              </a:rPr>
              <a:t>ze</a:t>
            </a:r>
            <a:r>
              <a:rPr dirty="0" sz="1800" spc="-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of </a:t>
            </a:r>
            <a:r>
              <a:rPr dirty="0" sz="1800" spc="-5" b="1">
                <a:latin typeface="Arial"/>
                <a:cs typeface="Arial"/>
              </a:rPr>
              <a:t>lar</a:t>
            </a:r>
            <a:r>
              <a:rPr dirty="0" sz="1800" b="1">
                <a:latin typeface="Arial"/>
                <a:cs typeface="Arial"/>
              </a:rPr>
              <a:t>g</a:t>
            </a:r>
            <a:r>
              <a:rPr dirty="0" sz="1800" spc="-5" b="1">
                <a:latin typeface="Arial"/>
                <a:cs typeface="Arial"/>
              </a:rPr>
              <a:t>es</a:t>
            </a:r>
            <a:r>
              <a:rPr dirty="0" sz="1800" b="1">
                <a:latin typeface="Arial"/>
                <a:cs typeface="Arial"/>
              </a:rPr>
              <a:t>t </a:t>
            </a:r>
            <a:r>
              <a:rPr dirty="0" sz="1800" spc="-5" b="1">
                <a:latin typeface="Arial"/>
                <a:cs typeface="Arial"/>
              </a:rPr>
              <a:t>c</a:t>
            </a:r>
            <a:r>
              <a:rPr dirty="0" sz="1800" b="1">
                <a:latin typeface="Arial"/>
                <a:cs typeface="Arial"/>
              </a:rPr>
              <a:t>o</a:t>
            </a:r>
            <a:r>
              <a:rPr dirty="0" sz="1800" spc="-5" b="1">
                <a:latin typeface="Arial"/>
                <a:cs typeface="Arial"/>
              </a:rPr>
              <a:t>m</a:t>
            </a:r>
            <a:r>
              <a:rPr dirty="0" sz="1800" b="1">
                <a:latin typeface="Arial"/>
                <a:cs typeface="Arial"/>
              </a:rPr>
              <a:t>pon</a:t>
            </a:r>
            <a:r>
              <a:rPr dirty="0" sz="1800" spc="-5" b="1">
                <a:latin typeface="Arial"/>
                <a:cs typeface="Arial"/>
              </a:rPr>
              <a:t>e</a:t>
            </a:r>
            <a:r>
              <a:rPr dirty="0" sz="1800" b="1">
                <a:latin typeface="Arial"/>
                <a:cs typeface="Arial"/>
              </a:rPr>
              <a:t>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517145" y="4942777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228600" y="0"/>
                </a:moveTo>
                <a:lnTo>
                  <a:pt x="0" y="1524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517145" y="494277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93345" y="4942777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 h="0">
                <a:moveTo>
                  <a:pt x="0" y="0"/>
                </a:moveTo>
                <a:lnTo>
                  <a:pt x="22860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669545" y="4866577"/>
            <a:ext cx="76200" cy="228600"/>
          </a:xfrm>
          <a:custGeom>
            <a:avLst/>
            <a:gdLst/>
            <a:ahLst/>
            <a:cxnLst/>
            <a:rect l="l" t="t" r="r" b="b"/>
            <a:pathLst>
              <a:path w="76200" h="228600">
                <a:moveTo>
                  <a:pt x="0" y="0"/>
                </a:moveTo>
                <a:lnTo>
                  <a:pt x="76200" y="2286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440945" y="5018977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0" y="0"/>
                </a:moveTo>
                <a:lnTo>
                  <a:pt x="228600" y="1524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440945" y="4980877"/>
            <a:ext cx="381000" cy="51435"/>
          </a:xfrm>
          <a:custGeom>
            <a:avLst/>
            <a:gdLst/>
            <a:ahLst/>
            <a:cxnLst/>
            <a:rect l="l" t="t" r="r" b="b"/>
            <a:pathLst>
              <a:path w="381000" h="51435">
                <a:moveTo>
                  <a:pt x="381000" y="5117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507745" y="4957207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228600" y="0"/>
                </a:moveTo>
                <a:lnTo>
                  <a:pt x="0" y="1524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507745" y="495720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583945" y="4957207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 h="0">
                <a:moveTo>
                  <a:pt x="0" y="0"/>
                </a:moveTo>
                <a:lnTo>
                  <a:pt x="22860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660145" y="4881007"/>
            <a:ext cx="76200" cy="228600"/>
          </a:xfrm>
          <a:custGeom>
            <a:avLst/>
            <a:gdLst/>
            <a:ahLst/>
            <a:cxnLst/>
            <a:rect l="l" t="t" r="r" b="b"/>
            <a:pathLst>
              <a:path w="76200" h="228600">
                <a:moveTo>
                  <a:pt x="0" y="0"/>
                </a:moveTo>
                <a:lnTo>
                  <a:pt x="76200" y="2286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431545" y="5033407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0" y="0"/>
                </a:moveTo>
                <a:lnTo>
                  <a:pt x="228600" y="1524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431545" y="4995307"/>
            <a:ext cx="381000" cy="51435"/>
          </a:xfrm>
          <a:custGeom>
            <a:avLst/>
            <a:gdLst/>
            <a:ahLst/>
            <a:cxnLst/>
            <a:rect l="l" t="t" r="r" b="b"/>
            <a:pathLst>
              <a:path w="381000" h="51435">
                <a:moveTo>
                  <a:pt x="381000" y="5117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974345" y="5615501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228600" y="0"/>
                </a:moveTo>
                <a:lnTo>
                  <a:pt x="0" y="1524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974345" y="561550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050545" y="5615501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 h="0">
                <a:moveTo>
                  <a:pt x="0" y="0"/>
                </a:moveTo>
                <a:lnTo>
                  <a:pt x="22860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126745" y="5539301"/>
            <a:ext cx="76200" cy="228600"/>
          </a:xfrm>
          <a:custGeom>
            <a:avLst/>
            <a:gdLst/>
            <a:ahLst/>
            <a:cxnLst/>
            <a:rect l="l" t="t" r="r" b="b"/>
            <a:pathLst>
              <a:path w="76200" h="228600">
                <a:moveTo>
                  <a:pt x="0" y="0"/>
                </a:moveTo>
                <a:lnTo>
                  <a:pt x="76200" y="2286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898145" y="5691701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0" y="0"/>
                </a:moveTo>
                <a:lnTo>
                  <a:pt x="228600" y="1524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898145" y="5653602"/>
            <a:ext cx="381000" cy="51435"/>
          </a:xfrm>
          <a:custGeom>
            <a:avLst/>
            <a:gdLst/>
            <a:ahLst/>
            <a:cxnLst/>
            <a:rect l="l" t="t" r="r" b="b"/>
            <a:pathLst>
              <a:path w="381000" h="51435">
                <a:moveTo>
                  <a:pt x="381000" y="5117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897700" y="5018977"/>
            <a:ext cx="459740" cy="13335"/>
          </a:xfrm>
          <a:custGeom>
            <a:avLst/>
            <a:gdLst/>
            <a:ahLst/>
            <a:cxnLst/>
            <a:rect l="l" t="t" r="r" b="b"/>
            <a:pathLst>
              <a:path w="459740" h="13335">
                <a:moveTo>
                  <a:pt x="0" y="0"/>
                </a:moveTo>
                <a:lnTo>
                  <a:pt x="459299" y="1307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8355345" y="5260653"/>
            <a:ext cx="152400" cy="278765"/>
          </a:xfrm>
          <a:custGeom>
            <a:avLst/>
            <a:gdLst/>
            <a:ahLst/>
            <a:cxnLst/>
            <a:rect l="l" t="t" r="r" b="b"/>
            <a:pathLst>
              <a:path w="152400" h="278764">
                <a:moveTo>
                  <a:pt x="0" y="278648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836823" y="5109607"/>
            <a:ext cx="533400" cy="62230"/>
          </a:xfrm>
          <a:custGeom>
            <a:avLst/>
            <a:gdLst/>
            <a:ahLst/>
            <a:cxnLst/>
            <a:rect l="l" t="t" r="r" b="b"/>
            <a:pathLst>
              <a:path w="533400" h="62229">
                <a:moveTo>
                  <a:pt x="0" y="0"/>
                </a:moveTo>
                <a:lnTo>
                  <a:pt x="533400" y="6177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369779" y="5260166"/>
            <a:ext cx="252729" cy="445134"/>
          </a:xfrm>
          <a:custGeom>
            <a:avLst/>
            <a:gdLst/>
            <a:ahLst/>
            <a:cxnLst/>
            <a:rect l="l" t="t" r="r" b="b"/>
            <a:pathLst>
              <a:path w="252729" h="445135">
                <a:moveTo>
                  <a:pt x="0" y="444611"/>
                </a:moveTo>
                <a:lnTo>
                  <a:pt x="25226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364743" y="4791976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48155" y="150483"/>
                </a:moveTo>
                <a:lnTo>
                  <a:pt x="50274" y="111940"/>
                </a:lnTo>
                <a:lnTo>
                  <a:pt x="88261" y="53677"/>
                </a:lnTo>
                <a:lnTo>
                  <a:pt x="133415" y="40162"/>
                </a:lnTo>
                <a:lnTo>
                  <a:pt x="147127" y="42002"/>
                </a:lnTo>
                <a:lnTo>
                  <a:pt x="160392" y="46455"/>
                </a:lnTo>
                <a:lnTo>
                  <a:pt x="172926" y="53456"/>
                </a:lnTo>
                <a:lnTo>
                  <a:pt x="189519" y="29853"/>
                </a:lnTo>
                <a:lnTo>
                  <a:pt x="211801" y="15995"/>
                </a:lnTo>
                <a:lnTo>
                  <a:pt x="236905" y="12907"/>
                </a:lnTo>
                <a:lnTo>
                  <a:pt x="261968" y="21613"/>
                </a:lnTo>
                <a:lnTo>
                  <a:pt x="267584" y="25097"/>
                </a:lnTo>
                <a:lnTo>
                  <a:pt x="272739" y="29513"/>
                </a:lnTo>
                <a:lnTo>
                  <a:pt x="277271" y="34724"/>
                </a:lnTo>
                <a:lnTo>
                  <a:pt x="290425" y="15015"/>
                </a:lnTo>
                <a:lnTo>
                  <a:pt x="308408" y="3138"/>
                </a:lnTo>
                <a:lnTo>
                  <a:pt x="328893" y="0"/>
                </a:lnTo>
                <a:lnTo>
                  <a:pt x="349557" y="6507"/>
                </a:lnTo>
                <a:lnTo>
                  <a:pt x="354901" y="10079"/>
                </a:lnTo>
                <a:lnTo>
                  <a:pt x="359847" y="14324"/>
                </a:lnTo>
                <a:lnTo>
                  <a:pt x="364347" y="19198"/>
                </a:lnTo>
                <a:lnTo>
                  <a:pt x="368355" y="24657"/>
                </a:lnTo>
                <a:lnTo>
                  <a:pt x="387044" y="7478"/>
                </a:lnTo>
                <a:lnTo>
                  <a:pt x="409174" y="226"/>
                </a:lnTo>
                <a:lnTo>
                  <a:pt x="432025" y="3161"/>
                </a:lnTo>
                <a:lnTo>
                  <a:pt x="452879" y="16544"/>
                </a:lnTo>
                <a:lnTo>
                  <a:pt x="460175" y="25107"/>
                </a:lnTo>
                <a:lnTo>
                  <a:pt x="466058" y="34928"/>
                </a:lnTo>
                <a:lnTo>
                  <a:pt x="470412" y="45774"/>
                </a:lnTo>
                <a:lnTo>
                  <a:pt x="473123" y="57413"/>
                </a:lnTo>
                <a:lnTo>
                  <a:pt x="496494" y="71121"/>
                </a:lnTo>
                <a:lnTo>
                  <a:pt x="512982" y="93466"/>
                </a:lnTo>
                <a:lnTo>
                  <a:pt x="521099" y="121407"/>
                </a:lnTo>
                <a:lnTo>
                  <a:pt x="519358" y="151904"/>
                </a:lnTo>
                <a:lnTo>
                  <a:pt x="518555" y="155353"/>
                </a:lnTo>
                <a:lnTo>
                  <a:pt x="517547" y="158731"/>
                </a:lnTo>
                <a:lnTo>
                  <a:pt x="516342" y="162016"/>
                </a:lnTo>
                <a:lnTo>
                  <a:pt x="530963" y="196809"/>
                </a:lnTo>
                <a:lnTo>
                  <a:pt x="522774" y="269623"/>
                </a:lnTo>
                <a:lnTo>
                  <a:pt x="492034" y="305819"/>
                </a:lnTo>
                <a:lnTo>
                  <a:pt x="461841" y="318050"/>
                </a:lnTo>
                <a:lnTo>
                  <a:pt x="456005" y="350404"/>
                </a:lnTo>
                <a:lnTo>
                  <a:pt x="440516" y="376725"/>
                </a:lnTo>
                <a:lnTo>
                  <a:pt x="417689" y="394355"/>
                </a:lnTo>
                <a:lnTo>
                  <a:pt x="389842" y="400638"/>
                </a:lnTo>
                <a:lnTo>
                  <a:pt x="380033" y="399757"/>
                </a:lnTo>
                <a:lnTo>
                  <a:pt x="370465" y="397328"/>
                </a:lnTo>
                <a:lnTo>
                  <a:pt x="361273" y="393396"/>
                </a:lnTo>
                <a:lnTo>
                  <a:pt x="352589" y="388008"/>
                </a:lnTo>
                <a:lnTo>
                  <a:pt x="336915" y="422119"/>
                </a:lnTo>
                <a:lnTo>
                  <a:pt x="312135" y="445732"/>
                </a:lnTo>
                <a:lnTo>
                  <a:pt x="281595" y="456753"/>
                </a:lnTo>
                <a:lnTo>
                  <a:pt x="248638" y="453087"/>
                </a:lnTo>
                <a:lnTo>
                  <a:pt x="235301" y="446851"/>
                </a:lnTo>
                <a:lnTo>
                  <a:pt x="223160" y="438101"/>
                </a:lnTo>
                <a:lnTo>
                  <a:pt x="212471" y="427059"/>
                </a:lnTo>
                <a:lnTo>
                  <a:pt x="203489" y="413947"/>
                </a:lnTo>
                <a:lnTo>
                  <a:pt x="167830" y="428808"/>
                </a:lnTo>
                <a:lnTo>
                  <a:pt x="98219" y="408508"/>
                </a:lnTo>
                <a:lnTo>
                  <a:pt x="72684" y="375801"/>
                </a:lnTo>
                <a:lnTo>
                  <a:pt x="71676" y="373792"/>
                </a:lnTo>
                <a:lnTo>
                  <a:pt x="50371" y="371745"/>
                </a:lnTo>
                <a:lnTo>
                  <a:pt x="32031" y="360735"/>
                </a:lnTo>
                <a:lnTo>
                  <a:pt x="18578" y="342527"/>
                </a:lnTo>
                <a:lnTo>
                  <a:pt x="11934" y="318887"/>
                </a:lnTo>
                <a:lnTo>
                  <a:pt x="11845" y="305227"/>
                </a:lnTo>
                <a:lnTo>
                  <a:pt x="14262" y="292018"/>
                </a:lnTo>
                <a:lnTo>
                  <a:pt x="19056" y="279718"/>
                </a:lnTo>
                <a:lnTo>
                  <a:pt x="26098" y="268786"/>
                </a:lnTo>
                <a:lnTo>
                  <a:pt x="10208" y="252144"/>
                </a:lnTo>
                <a:lnTo>
                  <a:pt x="1303" y="230402"/>
                </a:lnTo>
                <a:lnTo>
                  <a:pt x="0" y="206330"/>
                </a:lnTo>
                <a:lnTo>
                  <a:pt x="6914" y="182698"/>
                </a:lnTo>
                <a:lnTo>
                  <a:pt x="14541" y="170878"/>
                </a:lnTo>
                <a:lnTo>
                  <a:pt x="24173" y="161587"/>
                </a:lnTo>
                <a:lnTo>
                  <a:pt x="35374" y="155153"/>
                </a:lnTo>
                <a:lnTo>
                  <a:pt x="47706" y="151907"/>
                </a:lnTo>
                <a:lnTo>
                  <a:pt x="48155" y="150483"/>
                </a:lnTo>
                <a:close/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391413" y="5058982"/>
            <a:ext cx="31750" cy="8890"/>
          </a:xfrm>
          <a:custGeom>
            <a:avLst/>
            <a:gdLst/>
            <a:ahLst/>
            <a:cxnLst/>
            <a:rect l="l" t="t" r="r" b="b"/>
            <a:pathLst>
              <a:path w="31750" h="8889">
                <a:moveTo>
                  <a:pt x="31276" y="8434"/>
                </a:moveTo>
                <a:lnTo>
                  <a:pt x="23113" y="8450"/>
                </a:lnTo>
                <a:lnTo>
                  <a:pt x="15088" y="7024"/>
                </a:lnTo>
                <a:lnTo>
                  <a:pt x="7337" y="4195"/>
                </a:lnTo>
                <a:lnTo>
                  <a:pt x="0" y="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436602" y="5159725"/>
            <a:ext cx="13970" cy="4445"/>
          </a:xfrm>
          <a:custGeom>
            <a:avLst/>
            <a:gdLst/>
            <a:ahLst/>
            <a:cxnLst/>
            <a:rect l="l" t="t" r="r" b="b"/>
            <a:pathLst>
              <a:path w="13970" h="4445">
                <a:moveTo>
                  <a:pt x="13684" y="0"/>
                </a:moveTo>
                <a:lnTo>
                  <a:pt x="9294" y="2038"/>
                </a:lnTo>
                <a:lnTo>
                  <a:pt x="4693" y="3395"/>
                </a:lnTo>
                <a:lnTo>
                  <a:pt x="0" y="4037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559957" y="5185665"/>
            <a:ext cx="8255" cy="18415"/>
          </a:xfrm>
          <a:custGeom>
            <a:avLst/>
            <a:gdLst/>
            <a:ahLst/>
            <a:cxnLst/>
            <a:rect l="l" t="t" r="r" b="b"/>
            <a:pathLst>
              <a:path w="8254" h="18414">
                <a:moveTo>
                  <a:pt x="8245" y="18415"/>
                </a:moveTo>
                <a:lnTo>
                  <a:pt x="4943" y="12638"/>
                </a:lnTo>
                <a:lnTo>
                  <a:pt x="2179" y="6464"/>
                </a:lnTo>
                <a:lnTo>
                  <a:pt x="0" y="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717386" y="5158159"/>
            <a:ext cx="3810" cy="20320"/>
          </a:xfrm>
          <a:custGeom>
            <a:avLst/>
            <a:gdLst/>
            <a:ahLst/>
            <a:cxnLst/>
            <a:rect l="l" t="t" r="r" b="b"/>
            <a:pathLst>
              <a:path w="3809" h="20320">
                <a:moveTo>
                  <a:pt x="3292" y="0"/>
                </a:moveTo>
                <a:lnTo>
                  <a:pt x="2806" y="6852"/>
                </a:lnTo>
                <a:lnTo>
                  <a:pt x="1703" y="13625"/>
                </a:lnTo>
                <a:lnTo>
                  <a:pt x="0" y="20206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786143" y="5033307"/>
            <a:ext cx="40640" cy="75565"/>
          </a:xfrm>
          <a:custGeom>
            <a:avLst/>
            <a:gdLst/>
            <a:ahLst/>
            <a:cxnLst/>
            <a:rect l="l" t="t" r="r" b="b"/>
            <a:pathLst>
              <a:path w="40640" h="75564">
                <a:moveTo>
                  <a:pt x="0" y="0"/>
                </a:moveTo>
                <a:lnTo>
                  <a:pt x="16744" y="13215"/>
                </a:lnTo>
                <a:lnTo>
                  <a:pt x="29436" y="30996"/>
                </a:lnTo>
                <a:lnTo>
                  <a:pt x="37446" y="52158"/>
                </a:lnTo>
                <a:lnTo>
                  <a:pt x="40146" y="75518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862958" y="4952874"/>
            <a:ext cx="18415" cy="28575"/>
          </a:xfrm>
          <a:custGeom>
            <a:avLst/>
            <a:gdLst/>
            <a:ahLst/>
            <a:cxnLst/>
            <a:rect l="l" t="t" r="r" b="b"/>
            <a:pathLst>
              <a:path w="18415" h="28575">
                <a:moveTo>
                  <a:pt x="17876" y="0"/>
                </a:moveTo>
                <a:lnTo>
                  <a:pt x="14481" y="7951"/>
                </a:lnTo>
                <a:lnTo>
                  <a:pt x="10341" y="15369"/>
                </a:lnTo>
                <a:lnTo>
                  <a:pt x="5498" y="22181"/>
                </a:lnTo>
                <a:lnTo>
                  <a:pt x="0" y="28317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837940" y="4847802"/>
            <a:ext cx="1270" cy="13970"/>
          </a:xfrm>
          <a:custGeom>
            <a:avLst/>
            <a:gdLst/>
            <a:ahLst/>
            <a:cxnLst/>
            <a:rect l="l" t="t" r="r" b="b"/>
            <a:pathLst>
              <a:path w="1270" h="13970">
                <a:moveTo>
                  <a:pt x="0" y="0"/>
                </a:moveTo>
                <a:lnTo>
                  <a:pt x="683" y="4412"/>
                </a:lnTo>
                <a:lnTo>
                  <a:pt x="999" y="8890"/>
                </a:lnTo>
                <a:lnTo>
                  <a:pt x="943" y="13373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723777" y="4815147"/>
            <a:ext cx="9525" cy="17145"/>
          </a:xfrm>
          <a:custGeom>
            <a:avLst/>
            <a:gdLst/>
            <a:ahLst/>
            <a:cxnLst/>
            <a:rect l="l" t="t" r="r" b="b"/>
            <a:pathLst>
              <a:path w="9525" h="17145">
                <a:moveTo>
                  <a:pt x="0" y="17055"/>
                </a:moveTo>
                <a:lnTo>
                  <a:pt x="2329" y="10885"/>
                </a:lnTo>
                <a:lnTo>
                  <a:pt x="5413" y="5140"/>
                </a:lnTo>
                <a:lnTo>
                  <a:pt x="9157" y="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638125" y="4825622"/>
            <a:ext cx="4445" cy="15240"/>
          </a:xfrm>
          <a:custGeom>
            <a:avLst/>
            <a:gdLst/>
            <a:ahLst/>
            <a:cxnLst/>
            <a:rect l="l" t="t" r="r" b="b"/>
            <a:pathLst>
              <a:path w="4445" h="15239">
                <a:moveTo>
                  <a:pt x="0" y="14709"/>
                </a:moveTo>
                <a:lnTo>
                  <a:pt x="950" y="9610"/>
                </a:lnTo>
                <a:lnTo>
                  <a:pt x="2440" y="4669"/>
                </a:lnTo>
                <a:lnTo>
                  <a:pt x="4435" y="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537606" y="4845326"/>
            <a:ext cx="16510" cy="14604"/>
          </a:xfrm>
          <a:custGeom>
            <a:avLst/>
            <a:gdLst/>
            <a:ahLst/>
            <a:cxnLst/>
            <a:rect l="l" t="t" r="r" b="b"/>
            <a:pathLst>
              <a:path w="16509" h="14604">
                <a:moveTo>
                  <a:pt x="0" y="0"/>
                </a:moveTo>
                <a:lnTo>
                  <a:pt x="5825" y="3981"/>
                </a:lnTo>
                <a:lnTo>
                  <a:pt x="11214" y="8773"/>
                </a:lnTo>
                <a:lnTo>
                  <a:pt x="16049" y="1427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412901" y="494246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2800" y="15014"/>
                </a:moveTo>
                <a:lnTo>
                  <a:pt x="1529" y="10103"/>
                </a:lnTo>
                <a:lnTo>
                  <a:pt x="592" y="5083"/>
                </a:lnTo>
                <a:lnTo>
                  <a:pt x="0" y="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8355343" y="4805052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48155" y="150483"/>
                </a:moveTo>
                <a:lnTo>
                  <a:pt x="50274" y="111940"/>
                </a:lnTo>
                <a:lnTo>
                  <a:pt x="88261" y="53677"/>
                </a:lnTo>
                <a:lnTo>
                  <a:pt x="133415" y="40162"/>
                </a:lnTo>
                <a:lnTo>
                  <a:pt x="147127" y="42002"/>
                </a:lnTo>
                <a:lnTo>
                  <a:pt x="160392" y="46455"/>
                </a:lnTo>
                <a:lnTo>
                  <a:pt x="172926" y="53456"/>
                </a:lnTo>
                <a:lnTo>
                  <a:pt x="189519" y="29853"/>
                </a:lnTo>
                <a:lnTo>
                  <a:pt x="211801" y="15995"/>
                </a:lnTo>
                <a:lnTo>
                  <a:pt x="236905" y="12907"/>
                </a:lnTo>
                <a:lnTo>
                  <a:pt x="261968" y="21613"/>
                </a:lnTo>
                <a:lnTo>
                  <a:pt x="267584" y="25097"/>
                </a:lnTo>
                <a:lnTo>
                  <a:pt x="272739" y="29513"/>
                </a:lnTo>
                <a:lnTo>
                  <a:pt x="277271" y="34724"/>
                </a:lnTo>
                <a:lnTo>
                  <a:pt x="290425" y="15015"/>
                </a:lnTo>
                <a:lnTo>
                  <a:pt x="308408" y="3138"/>
                </a:lnTo>
                <a:lnTo>
                  <a:pt x="328893" y="0"/>
                </a:lnTo>
                <a:lnTo>
                  <a:pt x="349557" y="6507"/>
                </a:lnTo>
                <a:lnTo>
                  <a:pt x="354901" y="10079"/>
                </a:lnTo>
                <a:lnTo>
                  <a:pt x="359847" y="14324"/>
                </a:lnTo>
                <a:lnTo>
                  <a:pt x="364347" y="19198"/>
                </a:lnTo>
                <a:lnTo>
                  <a:pt x="368355" y="24657"/>
                </a:lnTo>
                <a:lnTo>
                  <a:pt x="387044" y="7478"/>
                </a:lnTo>
                <a:lnTo>
                  <a:pt x="409174" y="226"/>
                </a:lnTo>
                <a:lnTo>
                  <a:pt x="432025" y="3161"/>
                </a:lnTo>
                <a:lnTo>
                  <a:pt x="452879" y="16544"/>
                </a:lnTo>
                <a:lnTo>
                  <a:pt x="460175" y="25107"/>
                </a:lnTo>
                <a:lnTo>
                  <a:pt x="466058" y="34928"/>
                </a:lnTo>
                <a:lnTo>
                  <a:pt x="470412" y="45774"/>
                </a:lnTo>
                <a:lnTo>
                  <a:pt x="473123" y="57413"/>
                </a:lnTo>
                <a:lnTo>
                  <a:pt x="496494" y="71121"/>
                </a:lnTo>
                <a:lnTo>
                  <a:pt x="512982" y="93466"/>
                </a:lnTo>
                <a:lnTo>
                  <a:pt x="521099" y="121407"/>
                </a:lnTo>
                <a:lnTo>
                  <a:pt x="519358" y="151904"/>
                </a:lnTo>
                <a:lnTo>
                  <a:pt x="518555" y="155353"/>
                </a:lnTo>
                <a:lnTo>
                  <a:pt x="517547" y="158731"/>
                </a:lnTo>
                <a:lnTo>
                  <a:pt x="516342" y="162016"/>
                </a:lnTo>
                <a:lnTo>
                  <a:pt x="530963" y="196809"/>
                </a:lnTo>
                <a:lnTo>
                  <a:pt x="522774" y="269623"/>
                </a:lnTo>
                <a:lnTo>
                  <a:pt x="492034" y="305819"/>
                </a:lnTo>
                <a:lnTo>
                  <a:pt x="461841" y="318050"/>
                </a:lnTo>
                <a:lnTo>
                  <a:pt x="456005" y="350404"/>
                </a:lnTo>
                <a:lnTo>
                  <a:pt x="440516" y="376725"/>
                </a:lnTo>
                <a:lnTo>
                  <a:pt x="417689" y="394355"/>
                </a:lnTo>
                <a:lnTo>
                  <a:pt x="389842" y="400638"/>
                </a:lnTo>
                <a:lnTo>
                  <a:pt x="380033" y="399757"/>
                </a:lnTo>
                <a:lnTo>
                  <a:pt x="370465" y="397328"/>
                </a:lnTo>
                <a:lnTo>
                  <a:pt x="361273" y="393396"/>
                </a:lnTo>
                <a:lnTo>
                  <a:pt x="352589" y="388008"/>
                </a:lnTo>
                <a:lnTo>
                  <a:pt x="336915" y="422119"/>
                </a:lnTo>
                <a:lnTo>
                  <a:pt x="312135" y="445732"/>
                </a:lnTo>
                <a:lnTo>
                  <a:pt x="281595" y="456753"/>
                </a:lnTo>
                <a:lnTo>
                  <a:pt x="248638" y="453087"/>
                </a:lnTo>
                <a:lnTo>
                  <a:pt x="235301" y="446851"/>
                </a:lnTo>
                <a:lnTo>
                  <a:pt x="223160" y="438101"/>
                </a:lnTo>
                <a:lnTo>
                  <a:pt x="212471" y="427059"/>
                </a:lnTo>
                <a:lnTo>
                  <a:pt x="203489" y="413947"/>
                </a:lnTo>
                <a:lnTo>
                  <a:pt x="167830" y="428808"/>
                </a:lnTo>
                <a:lnTo>
                  <a:pt x="98219" y="408508"/>
                </a:lnTo>
                <a:lnTo>
                  <a:pt x="72684" y="375801"/>
                </a:lnTo>
                <a:lnTo>
                  <a:pt x="71676" y="373792"/>
                </a:lnTo>
                <a:lnTo>
                  <a:pt x="50371" y="371745"/>
                </a:lnTo>
                <a:lnTo>
                  <a:pt x="32031" y="360735"/>
                </a:lnTo>
                <a:lnTo>
                  <a:pt x="18578" y="342527"/>
                </a:lnTo>
                <a:lnTo>
                  <a:pt x="11934" y="318887"/>
                </a:lnTo>
                <a:lnTo>
                  <a:pt x="11845" y="305227"/>
                </a:lnTo>
                <a:lnTo>
                  <a:pt x="14262" y="292018"/>
                </a:lnTo>
                <a:lnTo>
                  <a:pt x="19056" y="279718"/>
                </a:lnTo>
                <a:lnTo>
                  <a:pt x="26098" y="268786"/>
                </a:lnTo>
                <a:lnTo>
                  <a:pt x="10208" y="252144"/>
                </a:lnTo>
                <a:lnTo>
                  <a:pt x="1303" y="230402"/>
                </a:lnTo>
                <a:lnTo>
                  <a:pt x="0" y="206330"/>
                </a:lnTo>
                <a:lnTo>
                  <a:pt x="6914" y="182698"/>
                </a:lnTo>
                <a:lnTo>
                  <a:pt x="14541" y="170878"/>
                </a:lnTo>
                <a:lnTo>
                  <a:pt x="24173" y="161587"/>
                </a:lnTo>
                <a:lnTo>
                  <a:pt x="35374" y="155153"/>
                </a:lnTo>
                <a:lnTo>
                  <a:pt x="47706" y="151907"/>
                </a:lnTo>
                <a:lnTo>
                  <a:pt x="48155" y="150483"/>
                </a:lnTo>
                <a:close/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8382013" y="5072058"/>
            <a:ext cx="31750" cy="8890"/>
          </a:xfrm>
          <a:custGeom>
            <a:avLst/>
            <a:gdLst/>
            <a:ahLst/>
            <a:cxnLst/>
            <a:rect l="l" t="t" r="r" b="b"/>
            <a:pathLst>
              <a:path w="31750" h="8889">
                <a:moveTo>
                  <a:pt x="31276" y="8434"/>
                </a:moveTo>
                <a:lnTo>
                  <a:pt x="23113" y="8450"/>
                </a:lnTo>
                <a:lnTo>
                  <a:pt x="15088" y="7024"/>
                </a:lnTo>
                <a:lnTo>
                  <a:pt x="7337" y="4195"/>
                </a:lnTo>
                <a:lnTo>
                  <a:pt x="0" y="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8427202" y="5172801"/>
            <a:ext cx="13970" cy="4445"/>
          </a:xfrm>
          <a:custGeom>
            <a:avLst/>
            <a:gdLst/>
            <a:ahLst/>
            <a:cxnLst/>
            <a:rect l="l" t="t" r="r" b="b"/>
            <a:pathLst>
              <a:path w="13970" h="4445">
                <a:moveTo>
                  <a:pt x="13684" y="0"/>
                </a:moveTo>
                <a:lnTo>
                  <a:pt x="9294" y="2038"/>
                </a:lnTo>
                <a:lnTo>
                  <a:pt x="4693" y="3396"/>
                </a:lnTo>
                <a:lnTo>
                  <a:pt x="0" y="4037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550557" y="5198740"/>
            <a:ext cx="8255" cy="18415"/>
          </a:xfrm>
          <a:custGeom>
            <a:avLst/>
            <a:gdLst/>
            <a:ahLst/>
            <a:cxnLst/>
            <a:rect l="l" t="t" r="r" b="b"/>
            <a:pathLst>
              <a:path w="8254" h="18414">
                <a:moveTo>
                  <a:pt x="8245" y="18415"/>
                </a:moveTo>
                <a:lnTo>
                  <a:pt x="4943" y="12638"/>
                </a:lnTo>
                <a:lnTo>
                  <a:pt x="2179" y="6464"/>
                </a:lnTo>
                <a:lnTo>
                  <a:pt x="0" y="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707986" y="5171235"/>
            <a:ext cx="3810" cy="20320"/>
          </a:xfrm>
          <a:custGeom>
            <a:avLst/>
            <a:gdLst/>
            <a:ahLst/>
            <a:cxnLst/>
            <a:rect l="l" t="t" r="r" b="b"/>
            <a:pathLst>
              <a:path w="3809" h="20320">
                <a:moveTo>
                  <a:pt x="3292" y="0"/>
                </a:moveTo>
                <a:lnTo>
                  <a:pt x="2806" y="6852"/>
                </a:lnTo>
                <a:lnTo>
                  <a:pt x="1703" y="13625"/>
                </a:lnTo>
                <a:lnTo>
                  <a:pt x="0" y="20206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776743" y="5046383"/>
            <a:ext cx="40640" cy="75565"/>
          </a:xfrm>
          <a:custGeom>
            <a:avLst/>
            <a:gdLst/>
            <a:ahLst/>
            <a:cxnLst/>
            <a:rect l="l" t="t" r="r" b="b"/>
            <a:pathLst>
              <a:path w="40640" h="75564">
                <a:moveTo>
                  <a:pt x="0" y="0"/>
                </a:moveTo>
                <a:lnTo>
                  <a:pt x="16744" y="13215"/>
                </a:lnTo>
                <a:lnTo>
                  <a:pt x="29436" y="30996"/>
                </a:lnTo>
                <a:lnTo>
                  <a:pt x="37446" y="52158"/>
                </a:lnTo>
                <a:lnTo>
                  <a:pt x="40146" y="75518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8853558" y="4965950"/>
            <a:ext cx="18415" cy="28575"/>
          </a:xfrm>
          <a:custGeom>
            <a:avLst/>
            <a:gdLst/>
            <a:ahLst/>
            <a:cxnLst/>
            <a:rect l="l" t="t" r="r" b="b"/>
            <a:pathLst>
              <a:path w="18415" h="28575">
                <a:moveTo>
                  <a:pt x="17876" y="0"/>
                </a:moveTo>
                <a:lnTo>
                  <a:pt x="14481" y="7951"/>
                </a:lnTo>
                <a:lnTo>
                  <a:pt x="10341" y="15369"/>
                </a:lnTo>
                <a:lnTo>
                  <a:pt x="5498" y="22181"/>
                </a:lnTo>
                <a:lnTo>
                  <a:pt x="0" y="28317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828540" y="4860878"/>
            <a:ext cx="1270" cy="13970"/>
          </a:xfrm>
          <a:custGeom>
            <a:avLst/>
            <a:gdLst/>
            <a:ahLst/>
            <a:cxnLst/>
            <a:rect l="l" t="t" r="r" b="b"/>
            <a:pathLst>
              <a:path w="1270" h="13970">
                <a:moveTo>
                  <a:pt x="0" y="0"/>
                </a:moveTo>
                <a:lnTo>
                  <a:pt x="683" y="4412"/>
                </a:lnTo>
                <a:lnTo>
                  <a:pt x="999" y="8890"/>
                </a:lnTo>
                <a:lnTo>
                  <a:pt x="943" y="13373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714377" y="4828223"/>
            <a:ext cx="9525" cy="17145"/>
          </a:xfrm>
          <a:custGeom>
            <a:avLst/>
            <a:gdLst/>
            <a:ahLst/>
            <a:cxnLst/>
            <a:rect l="l" t="t" r="r" b="b"/>
            <a:pathLst>
              <a:path w="9525" h="17145">
                <a:moveTo>
                  <a:pt x="0" y="17055"/>
                </a:moveTo>
                <a:lnTo>
                  <a:pt x="2329" y="10885"/>
                </a:lnTo>
                <a:lnTo>
                  <a:pt x="5413" y="5140"/>
                </a:lnTo>
                <a:lnTo>
                  <a:pt x="9157" y="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628725" y="4838697"/>
            <a:ext cx="4445" cy="15240"/>
          </a:xfrm>
          <a:custGeom>
            <a:avLst/>
            <a:gdLst/>
            <a:ahLst/>
            <a:cxnLst/>
            <a:rect l="l" t="t" r="r" b="b"/>
            <a:pathLst>
              <a:path w="4445" h="15239">
                <a:moveTo>
                  <a:pt x="0" y="14709"/>
                </a:moveTo>
                <a:lnTo>
                  <a:pt x="950" y="9610"/>
                </a:lnTo>
                <a:lnTo>
                  <a:pt x="2440" y="4669"/>
                </a:lnTo>
                <a:lnTo>
                  <a:pt x="4435" y="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8528206" y="4858402"/>
            <a:ext cx="16510" cy="14604"/>
          </a:xfrm>
          <a:custGeom>
            <a:avLst/>
            <a:gdLst/>
            <a:ahLst/>
            <a:cxnLst/>
            <a:rect l="l" t="t" r="r" b="b"/>
            <a:pathLst>
              <a:path w="16509" h="14604">
                <a:moveTo>
                  <a:pt x="0" y="0"/>
                </a:moveTo>
                <a:lnTo>
                  <a:pt x="5825" y="3981"/>
                </a:lnTo>
                <a:lnTo>
                  <a:pt x="11214" y="8773"/>
                </a:lnTo>
                <a:lnTo>
                  <a:pt x="16049" y="1427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403501" y="495553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2800" y="15014"/>
                </a:moveTo>
                <a:lnTo>
                  <a:pt x="1529" y="10103"/>
                </a:lnTo>
                <a:lnTo>
                  <a:pt x="592" y="5083"/>
                </a:lnTo>
                <a:lnTo>
                  <a:pt x="0" y="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836821" y="5477776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48155" y="150483"/>
                </a:moveTo>
                <a:lnTo>
                  <a:pt x="50274" y="111940"/>
                </a:lnTo>
                <a:lnTo>
                  <a:pt x="88261" y="53677"/>
                </a:lnTo>
                <a:lnTo>
                  <a:pt x="133415" y="40162"/>
                </a:lnTo>
                <a:lnTo>
                  <a:pt x="147127" y="42002"/>
                </a:lnTo>
                <a:lnTo>
                  <a:pt x="160392" y="46455"/>
                </a:lnTo>
                <a:lnTo>
                  <a:pt x="172926" y="53456"/>
                </a:lnTo>
                <a:lnTo>
                  <a:pt x="189519" y="29853"/>
                </a:lnTo>
                <a:lnTo>
                  <a:pt x="211801" y="15995"/>
                </a:lnTo>
                <a:lnTo>
                  <a:pt x="236905" y="12907"/>
                </a:lnTo>
                <a:lnTo>
                  <a:pt x="261968" y="21613"/>
                </a:lnTo>
                <a:lnTo>
                  <a:pt x="267584" y="25097"/>
                </a:lnTo>
                <a:lnTo>
                  <a:pt x="272739" y="29513"/>
                </a:lnTo>
                <a:lnTo>
                  <a:pt x="277271" y="34724"/>
                </a:lnTo>
                <a:lnTo>
                  <a:pt x="290425" y="15015"/>
                </a:lnTo>
                <a:lnTo>
                  <a:pt x="308408" y="3138"/>
                </a:lnTo>
                <a:lnTo>
                  <a:pt x="328893" y="0"/>
                </a:lnTo>
                <a:lnTo>
                  <a:pt x="349557" y="6507"/>
                </a:lnTo>
                <a:lnTo>
                  <a:pt x="354901" y="10079"/>
                </a:lnTo>
                <a:lnTo>
                  <a:pt x="359847" y="14324"/>
                </a:lnTo>
                <a:lnTo>
                  <a:pt x="364347" y="19198"/>
                </a:lnTo>
                <a:lnTo>
                  <a:pt x="368355" y="24657"/>
                </a:lnTo>
                <a:lnTo>
                  <a:pt x="387044" y="7478"/>
                </a:lnTo>
                <a:lnTo>
                  <a:pt x="409174" y="226"/>
                </a:lnTo>
                <a:lnTo>
                  <a:pt x="432025" y="3161"/>
                </a:lnTo>
                <a:lnTo>
                  <a:pt x="452879" y="16544"/>
                </a:lnTo>
                <a:lnTo>
                  <a:pt x="460175" y="25107"/>
                </a:lnTo>
                <a:lnTo>
                  <a:pt x="466058" y="34928"/>
                </a:lnTo>
                <a:lnTo>
                  <a:pt x="470412" y="45774"/>
                </a:lnTo>
                <a:lnTo>
                  <a:pt x="473123" y="57413"/>
                </a:lnTo>
                <a:lnTo>
                  <a:pt x="496494" y="71121"/>
                </a:lnTo>
                <a:lnTo>
                  <a:pt x="512982" y="93466"/>
                </a:lnTo>
                <a:lnTo>
                  <a:pt x="521099" y="121407"/>
                </a:lnTo>
                <a:lnTo>
                  <a:pt x="519358" y="151904"/>
                </a:lnTo>
                <a:lnTo>
                  <a:pt x="518555" y="155353"/>
                </a:lnTo>
                <a:lnTo>
                  <a:pt x="517547" y="158731"/>
                </a:lnTo>
                <a:lnTo>
                  <a:pt x="516342" y="162016"/>
                </a:lnTo>
                <a:lnTo>
                  <a:pt x="530963" y="196809"/>
                </a:lnTo>
                <a:lnTo>
                  <a:pt x="522774" y="269623"/>
                </a:lnTo>
                <a:lnTo>
                  <a:pt x="492034" y="305819"/>
                </a:lnTo>
                <a:lnTo>
                  <a:pt x="461841" y="318050"/>
                </a:lnTo>
                <a:lnTo>
                  <a:pt x="456005" y="350404"/>
                </a:lnTo>
                <a:lnTo>
                  <a:pt x="440516" y="376725"/>
                </a:lnTo>
                <a:lnTo>
                  <a:pt x="417689" y="394355"/>
                </a:lnTo>
                <a:lnTo>
                  <a:pt x="389842" y="400638"/>
                </a:lnTo>
                <a:lnTo>
                  <a:pt x="380033" y="399757"/>
                </a:lnTo>
                <a:lnTo>
                  <a:pt x="370465" y="397328"/>
                </a:lnTo>
                <a:lnTo>
                  <a:pt x="361273" y="393396"/>
                </a:lnTo>
                <a:lnTo>
                  <a:pt x="352589" y="388008"/>
                </a:lnTo>
                <a:lnTo>
                  <a:pt x="336915" y="422119"/>
                </a:lnTo>
                <a:lnTo>
                  <a:pt x="312135" y="445732"/>
                </a:lnTo>
                <a:lnTo>
                  <a:pt x="281595" y="456753"/>
                </a:lnTo>
                <a:lnTo>
                  <a:pt x="248638" y="453087"/>
                </a:lnTo>
                <a:lnTo>
                  <a:pt x="235301" y="446851"/>
                </a:lnTo>
                <a:lnTo>
                  <a:pt x="223160" y="438101"/>
                </a:lnTo>
                <a:lnTo>
                  <a:pt x="212471" y="427059"/>
                </a:lnTo>
                <a:lnTo>
                  <a:pt x="203489" y="413947"/>
                </a:lnTo>
                <a:lnTo>
                  <a:pt x="167830" y="428808"/>
                </a:lnTo>
                <a:lnTo>
                  <a:pt x="98219" y="408508"/>
                </a:lnTo>
                <a:lnTo>
                  <a:pt x="72684" y="375801"/>
                </a:lnTo>
                <a:lnTo>
                  <a:pt x="71676" y="373792"/>
                </a:lnTo>
                <a:lnTo>
                  <a:pt x="50371" y="371745"/>
                </a:lnTo>
                <a:lnTo>
                  <a:pt x="32031" y="360735"/>
                </a:lnTo>
                <a:lnTo>
                  <a:pt x="18578" y="342527"/>
                </a:lnTo>
                <a:lnTo>
                  <a:pt x="11934" y="318887"/>
                </a:lnTo>
                <a:lnTo>
                  <a:pt x="11845" y="305227"/>
                </a:lnTo>
                <a:lnTo>
                  <a:pt x="14262" y="292018"/>
                </a:lnTo>
                <a:lnTo>
                  <a:pt x="19056" y="279718"/>
                </a:lnTo>
                <a:lnTo>
                  <a:pt x="26098" y="268786"/>
                </a:lnTo>
                <a:lnTo>
                  <a:pt x="10208" y="252144"/>
                </a:lnTo>
                <a:lnTo>
                  <a:pt x="1303" y="230402"/>
                </a:lnTo>
                <a:lnTo>
                  <a:pt x="0" y="206330"/>
                </a:lnTo>
                <a:lnTo>
                  <a:pt x="6914" y="182698"/>
                </a:lnTo>
                <a:lnTo>
                  <a:pt x="14541" y="170878"/>
                </a:lnTo>
                <a:lnTo>
                  <a:pt x="24173" y="161587"/>
                </a:lnTo>
                <a:lnTo>
                  <a:pt x="35374" y="155153"/>
                </a:lnTo>
                <a:lnTo>
                  <a:pt x="47706" y="151907"/>
                </a:lnTo>
                <a:lnTo>
                  <a:pt x="48155" y="150483"/>
                </a:lnTo>
                <a:close/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863492" y="5744782"/>
            <a:ext cx="31750" cy="8890"/>
          </a:xfrm>
          <a:custGeom>
            <a:avLst/>
            <a:gdLst/>
            <a:ahLst/>
            <a:cxnLst/>
            <a:rect l="l" t="t" r="r" b="b"/>
            <a:pathLst>
              <a:path w="31750" h="8889">
                <a:moveTo>
                  <a:pt x="31276" y="8434"/>
                </a:moveTo>
                <a:lnTo>
                  <a:pt x="23113" y="8450"/>
                </a:lnTo>
                <a:lnTo>
                  <a:pt x="15088" y="7024"/>
                </a:lnTo>
                <a:lnTo>
                  <a:pt x="7337" y="4195"/>
                </a:lnTo>
                <a:lnTo>
                  <a:pt x="0" y="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908680" y="5845525"/>
            <a:ext cx="13970" cy="4445"/>
          </a:xfrm>
          <a:custGeom>
            <a:avLst/>
            <a:gdLst/>
            <a:ahLst/>
            <a:cxnLst/>
            <a:rect l="l" t="t" r="r" b="b"/>
            <a:pathLst>
              <a:path w="13970" h="4445">
                <a:moveTo>
                  <a:pt x="13684" y="0"/>
                </a:moveTo>
                <a:lnTo>
                  <a:pt x="9294" y="2038"/>
                </a:lnTo>
                <a:lnTo>
                  <a:pt x="4693" y="3396"/>
                </a:lnTo>
                <a:lnTo>
                  <a:pt x="0" y="4037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8032035" y="5871465"/>
            <a:ext cx="8255" cy="18415"/>
          </a:xfrm>
          <a:custGeom>
            <a:avLst/>
            <a:gdLst/>
            <a:ahLst/>
            <a:cxnLst/>
            <a:rect l="l" t="t" r="r" b="b"/>
            <a:pathLst>
              <a:path w="8254" h="18414">
                <a:moveTo>
                  <a:pt x="8245" y="18415"/>
                </a:moveTo>
                <a:lnTo>
                  <a:pt x="4943" y="12638"/>
                </a:lnTo>
                <a:lnTo>
                  <a:pt x="2179" y="6464"/>
                </a:lnTo>
                <a:lnTo>
                  <a:pt x="0" y="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8189464" y="5843959"/>
            <a:ext cx="3810" cy="20320"/>
          </a:xfrm>
          <a:custGeom>
            <a:avLst/>
            <a:gdLst/>
            <a:ahLst/>
            <a:cxnLst/>
            <a:rect l="l" t="t" r="r" b="b"/>
            <a:pathLst>
              <a:path w="3809" h="20320">
                <a:moveTo>
                  <a:pt x="3292" y="0"/>
                </a:moveTo>
                <a:lnTo>
                  <a:pt x="2806" y="6852"/>
                </a:lnTo>
                <a:lnTo>
                  <a:pt x="1703" y="13625"/>
                </a:lnTo>
                <a:lnTo>
                  <a:pt x="0" y="20206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8258221" y="5719107"/>
            <a:ext cx="40640" cy="75565"/>
          </a:xfrm>
          <a:custGeom>
            <a:avLst/>
            <a:gdLst/>
            <a:ahLst/>
            <a:cxnLst/>
            <a:rect l="l" t="t" r="r" b="b"/>
            <a:pathLst>
              <a:path w="40640" h="75564">
                <a:moveTo>
                  <a:pt x="0" y="0"/>
                </a:moveTo>
                <a:lnTo>
                  <a:pt x="16744" y="13215"/>
                </a:lnTo>
                <a:lnTo>
                  <a:pt x="29436" y="30996"/>
                </a:lnTo>
                <a:lnTo>
                  <a:pt x="37446" y="52158"/>
                </a:lnTo>
                <a:lnTo>
                  <a:pt x="40146" y="75518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8335036" y="5638674"/>
            <a:ext cx="18415" cy="28575"/>
          </a:xfrm>
          <a:custGeom>
            <a:avLst/>
            <a:gdLst/>
            <a:ahLst/>
            <a:cxnLst/>
            <a:rect l="l" t="t" r="r" b="b"/>
            <a:pathLst>
              <a:path w="18415" h="28575">
                <a:moveTo>
                  <a:pt x="17876" y="0"/>
                </a:moveTo>
                <a:lnTo>
                  <a:pt x="14481" y="7951"/>
                </a:lnTo>
                <a:lnTo>
                  <a:pt x="10341" y="15369"/>
                </a:lnTo>
                <a:lnTo>
                  <a:pt x="5498" y="22181"/>
                </a:lnTo>
                <a:lnTo>
                  <a:pt x="0" y="28317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8310018" y="5533602"/>
            <a:ext cx="1270" cy="13970"/>
          </a:xfrm>
          <a:custGeom>
            <a:avLst/>
            <a:gdLst/>
            <a:ahLst/>
            <a:cxnLst/>
            <a:rect l="l" t="t" r="r" b="b"/>
            <a:pathLst>
              <a:path w="1270" h="13970">
                <a:moveTo>
                  <a:pt x="0" y="0"/>
                </a:moveTo>
                <a:lnTo>
                  <a:pt x="683" y="4412"/>
                </a:lnTo>
                <a:lnTo>
                  <a:pt x="999" y="8890"/>
                </a:lnTo>
                <a:lnTo>
                  <a:pt x="943" y="13373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8195855" y="5500947"/>
            <a:ext cx="9525" cy="17145"/>
          </a:xfrm>
          <a:custGeom>
            <a:avLst/>
            <a:gdLst/>
            <a:ahLst/>
            <a:cxnLst/>
            <a:rect l="l" t="t" r="r" b="b"/>
            <a:pathLst>
              <a:path w="9525" h="17145">
                <a:moveTo>
                  <a:pt x="0" y="17055"/>
                </a:moveTo>
                <a:lnTo>
                  <a:pt x="2329" y="10885"/>
                </a:lnTo>
                <a:lnTo>
                  <a:pt x="5413" y="5140"/>
                </a:lnTo>
                <a:lnTo>
                  <a:pt x="9157" y="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8110203" y="5511422"/>
            <a:ext cx="4445" cy="15240"/>
          </a:xfrm>
          <a:custGeom>
            <a:avLst/>
            <a:gdLst/>
            <a:ahLst/>
            <a:cxnLst/>
            <a:rect l="l" t="t" r="r" b="b"/>
            <a:pathLst>
              <a:path w="4445" h="15239">
                <a:moveTo>
                  <a:pt x="0" y="14709"/>
                </a:moveTo>
                <a:lnTo>
                  <a:pt x="950" y="9610"/>
                </a:lnTo>
                <a:lnTo>
                  <a:pt x="2440" y="4669"/>
                </a:lnTo>
                <a:lnTo>
                  <a:pt x="4435" y="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8009684" y="5531126"/>
            <a:ext cx="16510" cy="14604"/>
          </a:xfrm>
          <a:custGeom>
            <a:avLst/>
            <a:gdLst/>
            <a:ahLst/>
            <a:cxnLst/>
            <a:rect l="l" t="t" r="r" b="b"/>
            <a:pathLst>
              <a:path w="16509" h="14604">
                <a:moveTo>
                  <a:pt x="0" y="0"/>
                </a:moveTo>
                <a:lnTo>
                  <a:pt x="5825" y="3981"/>
                </a:lnTo>
                <a:lnTo>
                  <a:pt x="11214" y="8773"/>
                </a:lnTo>
                <a:lnTo>
                  <a:pt x="16049" y="1427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7884979" y="562826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2800" y="15014"/>
                </a:moveTo>
                <a:lnTo>
                  <a:pt x="1529" y="10103"/>
                </a:lnTo>
                <a:lnTo>
                  <a:pt x="592" y="5083"/>
                </a:lnTo>
                <a:lnTo>
                  <a:pt x="0" y="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7247920" y="3214116"/>
            <a:ext cx="1367155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635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0000"/>
                </a:solidFill>
                <a:latin typeface="Arial"/>
                <a:cs typeface="Arial"/>
              </a:rPr>
              <a:t>Low  </a:t>
            </a:r>
            <a:r>
              <a:rPr dirty="0" sz="2000">
                <a:solidFill>
                  <a:srgbClr val="008000"/>
                </a:solidFill>
                <a:latin typeface="Arial"/>
                <a:cs typeface="Arial"/>
              </a:rPr>
              <a:t>d</a:t>
            </a:r>
            <a:r>
              <a:rPr dirty="0" sz="2000" spc="0">
                <a:solidFill>
                  <a:srgbClr val="008000"/>
                </a:solidFill>
                <a:latin typeface="Arial"/>
                <a:cs typeface="Arial"/>
              </a:rPr>
              <a:t>i</a:t>
            </a:r>
            <a:r>
              <a:rPr dirty="0" sz="2000">
                <a:solidFill>
                  <a:srgbClr val="008000"/>
                </a:solidFill>
                <a:latin typeface="Arial"/>
                <a:cs typeface="Arial"/>
              </a:rPr>
              <a:t>sconnec</a:t>
            </a:r>
            <a:r>
              <a:rPr dirty="0" sz="2000" spc="-10">
                <a:solidFill>
                  <a:srgbClr val="008000"/>
                </a:solidFill>
                <a:latin typeface="Arial"/>
                <a:cs typeface="Arial"/>
              </a:rPr>
              <a:t>t</a:t>
            </a:r>
            <a:r>
              <a:rPr dirty="0" sz="2000">
                <a:solidFill>
                  <a:srgbClr val="008000"/>
                </a:solidFill>
                <a:latin typeface="Arial"/>
                <a:cs typeface="Arial"/>
              </a:rPr>
              <a:t>s  </a:t>
            </a:r>
            <a:r>
              <a:rPr dirty="0" sz="2000" spc="-5">
                <a:solidFill>
                  <a:srgbClr val="008000"/>
                </a:solidFill>
                <a:latin typeface="Arial"/>
                <a:cs typeface="Arial"/>
              </a:rPr>
              <a:t>the network  </a:t>
            </a:r>
            <a:r>
              <a:rPr dirty="0" sz="2000">
                <a:solidFill>
                  <a:srgbClr val="008000"/>
                </a:solidFill>
                <a:latin typeface="Arial"/>
                <a:cs typeface="Arial"/>
              </a:rPr>
              <a:t>sooner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514475" y="5399977"/>
            <a:ext cx="609600" cy="685800"/>
          </a:xfrm>
          <a:custGeom>
            <a:avLst/>
            <a:gdLst/>
            <a:ahLst/>
            <a:cxnLst/>
            <a:rect l="l" t="t" r="r" b="b"/>
            <a:pathLst>
              <a:path w="609600" h="685800">
                <a:moveTo>
                  <a:pt x="0" y="0"/>
                </a:moveTo>
                <a:lnTo>
                  <a:pt x="609600" y="0"/>
                </a:lnTo>
                <a:lnTo>
                  <a:pt x="6096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7024876" y="5932876"/>
            <a:ext cx="1813560" cy="4965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 marR="5080" indent="47625">
              <a:lnSpc>
                <a:spcPts val="1920"/>
              </a:lnSpc>
              <a:spcBef>
                <a:spcPts val="10"/>
              </a:spcBef>
            </a:pP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Conceptual picture  of network</a:t>
            </a:r>
            <a:r>
              <a:rPr dirty="0" sz="1600" spc="-1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structure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673615" y="6418898"/>
            <a:ext cx="3053715" cy="446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19380">
              <a:lnSpc>
                <a:spcPts val="2090"/>
              </a:lnSpc>
            </a:pPr>
            <a:r>
              <a:rPr dirty="0" sz="1800" spc="-5" b="1">
                <a:latin typeface="Arial"/>
                <a:cs typeface="Arial"/>
              </a:rPr>
              <a:t>Fraction </a:t>
            </a:r>
            <a:r>
              <a:rPr dirty="0" sz="1800" b="1">
                <a:latin typeface="Arial"/>
                <a:cs typeface="Arial"/>
              </a:rPr>
              <a:t>of </a:t>
            </a:r>
            <a:r>
              <a:rPr dirty="0" sz="1800" spc="-5" b="1">
                <a:latin typeface="Arial"/>
                <a:cs typeface="Arial"/>
              </a:rPr>
              <a:t>removed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edges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</a:t>
            </a:r>
            <a:r>
              <a:rPr dirty="0" sz="900" spc="5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Graphs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0" name="object 7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71" name="object 7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25144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1176" y="1229868"/>
            <a:ext cx="6588759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" b="0">
                <a:latin typeface="Calibri"/>
                <a:cs typeface="Calibri"/>
              </a:rPr>
              <a:t>Removing </a:t>
            </a:r>
            <a:r>
              <a:rPr dirty="0" spc="-10" b="0">
                <a:latin typeface="Calibri"/>
                <a:cs typeface="Calibri"/>
              </a:rPr>
              <a:t>edges </a:t>
            </a:r>
            <a:r>
              <a:rPr dirty="0" spc="-5" b="0">
                <a:latin typeface="Calibri"/>
                <a:cs typeface="Calibri"/>
              </a:rPr>
              <a:t>based on </a:t>
            </a:r>
            <a:r>
              <a:rPr dirty="0" spc="-15">
                <a:solidFill>
                  <a:srgbClr val="0000FF"/>
                </a:solidFill>
              </a:rPr>
              <a:t>edge</a:t>
            </a:r>
            <a:r>
              <a:rPr dirty="0" spc="60">
                <a:solidFill>
                  <a:srgbClr val="0000FF"/>
                </a:solidFill>
              </a:rPr>
              <a:t> </a:t>
            </a:r>
            <a:r>
              <a:rPr dirty="0" spc="-10">
                <a:solidFill>
                  <a:srgbClr val="0000FF"/>
                </a:solidFill>
              </a:rPr>
              <a:t>overlap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9631" y="1707388"/>
            <a:ext cx="1975485" cy="106807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>
                <a:solidFill>
                  <a:srgbClr val="FF0000"/>
                </a:solidFill>
                <a:latin typeface="Calibri"/>
                <a:cs typeface="Calibri"/>
              </a:rPr>
              <a:t>Low </a:t>
            </a:r>
            <a:r>
              <a:rPr dirty="0" sz="2800" spc="-15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800" spc="-150">
                <a:solidFill>
                  <a:srgbClr val="FF0000"/>
                </a:solidFill>
                <a:latin typeface="Calibri"/>
                <a:cs typeface="Calibri"/>
              </a:rPr>
              <a:t>high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High </a:t>
            </a:r>
            <a:r>
              <a:rPr dirty="0" sz="2800" spc="-15">
                <a:latin typeface="Calibri"/>
                <a:cs typeface="Calibri"/>
              </a:rPr>
              <a:t>to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25">
                <a:latin typeface="Calibri"/>
                <a:cs typeface="Calibri"/>
              </a:rPr>
              <a:t>low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3400" y="2832972"/>
            <a:ext cx="6362700" cy="3457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80643" y="3159225"/>
            <a:ext cx="281305" cy="287083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 spc="-5" b="1">
                <a:latin typeface="Arial"/>
                <a:cs typeface="Arial"/>
              </a:rPr>
              <a:t>Si</a:t>
            </a:r>
            <a:r>
              <a:rPr dirty="0" sz="1800" b="1">
                <a:latin typeface="Arial"/>
                <a:cs typeface="Arial"/>
              </a:rPr>
              <a:t>ze</a:t>
            </a:r>
            <a:r>
              <a:rPr dirty="0" sz="1800" spc="-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of </a:t>
            </a:r>
            <a:r>
              <a:rPr dirty="0" sz="1800" spc="-5" b="1">
                <a:latin typeface="Arial"/>
                <a:cs typeface="Arial"/>
              </a:rPr>
              <a:t>lar</a:t>
            </a:r>
            <a:r>
              <a:rPr dirty="0" sz="1800" b="1">
                <a:latin typeface="Arial"/>
                <a:cs typeface="Arial"/>
              </a:rPr>
              <a:t>g</a:t>
            </a:r>
            <a:r>
              <a:rPr dirty="0" sz="1800" spc="-5" b="1">
                <a:latin typeface="Arial"/>
                <a:cs typeface="Arial"/>
              </a:rPr>
              <a:t>es</a:t>
            </a:r>
            <a:r>
              <a:rPr dirty="0" sz="1800" b="1">
                <a:latin typeface="Arial"/>
                <a:cs typeface="Arial"/>
              </a:rPr>
              <a:t>t </a:t>
            </a:r>
            <a:r>
              <a:rPr dirty="0" sz="1800" spc="-5" b="1">
                <a:latin typeface="Arial"/>
                <a:cs typeface="Arial"/>
              </a:rPr>
              <a:t>c</a:t>
            </a:r>
            <a:r>
              <a:rPr dirty="0" sz="1800" b="1">
                <a:latin typeface="Arial"/>
                <a:cs typeface="Arial"/>
              </a:rPr>
              <a:t>o</a:t>
            </a:r>
            <a:r>
              <a:rPr dirty="0" sz="1800" spc="-5" b="1">
                <a:latin typeface="Arial"/>
                <a:cs typeface="Arial"/>
              </a:rPr>
              <a:t>m</a:t>
            </a:r>
            <a:r>
              <a:rPr dirty="0" sz="1800" b="1">
                <a:latin typeface="Arial"/>
                <a:cs typeface="Arial"/>
              </a:rPr>
              <a:t>pon</a:t>
            </a:r>
            <a:r>
              <a:rPr dirty="0" sz="1800" spc="-5" b="1">
                <a:latin typeface="Arial"/>
                <a:cs typeface="Arial"/>
              </a:rPr>
              <a:t>e</a:t>
            </a:r>
            <a:r>
              <a:rPr dirty="0" sz="1800" b="1">
                <a:latin typeface="Arial"/>
                <a:cs typeface="Arial"/>
              </a:rPr>
              <a:t>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14446" y="5271372"/>
            <a:ext cx="609600" cy="685800"/>
          </a:xfrm>
          <a:custGeom>
            <a:avLst/>
            <a:gdLst/>
            <a:ahLst/>
            <a:cxnLst/>
            <a:rect l="l" t="t" r="r" b="b"/>
            <a:pathLst>
              <a:path w="609600" h="685800">
                <a:moveTo>
                  <a:pt x="0" y="0"/>
                </a:moveTo>
                <a:lnTo>
                  <a:pt x="609600" y="0"/>
                </a:lnTo>
                <a:lnTo>
                  <a:pt x="6096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324342" y="3086100"/>
            <a:ext cx="1367155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635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0000"/>
                </a:solidFill>
                <a:latin typeface="Arial"/>
                <a:cs typeface="Arial"/>
              </a:rPr>
              <a:t>Low  </a:t>
            </a:r>
            <a:r>
              <a:rPr dirty="0" sz="2000">
                <a:solidFill>
                  <a:srgbClr val="008000"/>
                </a:solidFill>
                <a:latin typeface="Arial"/>
                <a:cs typeface="Arial"/>
              </a:rPr>
              <a:t>d</a:t>
            </a:r>
            <a:r>
              <a:rPr dirty="0" sz="2000" spc="0">
                <a:solidFill>
                  <a:srgbClr val="008000"/>
                </a:solidFill>
                <a:latin typeface="Arial"/>
                <a:cs typeface="Arial"/>
              </a:rPr>
              <a:t>i</a:t>
            </a:r>
            <a:r>
              <a:rPr dirty="0" sz="2000">
                <a:solidFill>
                  <a:srgbClr val="008000"/>
                </a:solidFill>
                <a:latin typeface="Arial"/>
                <a:cs typeface="Arial"/>
              </a:rPr>
              <a:t>sconnec</a:t>
            </a:r>
            <a:r>
              <a:rPr dirty="0" sz="2000" spc="-10">
                <a:solidFill>
                  <a:srgbClr val="008000"/>
                </a:solidFill>
                <a:latin typeface="Arial"/>
                <a:cs typeface="Arial"/>
              </a:rPr>
              <a:t>t</a:t>
            </a:r>
            <a:r>
              <a:rPr dirty="0" sz="2000">
                <a:solidFill>
                  <a:srgbClr val="008000"/>
                </a:solidFill>
                <a:latin typeface="Arial"/>
                <a:cs typeface="Arial"/>
              </a:rPr>
              <a:t>s  </a:t>
            </a:r>
            <a:r>
              <a:rPr dirty="0" sz="2000" spc="-5">
                <a:solidFill>
                  <a:srgbClr val="008000"/>
                </a:solidFill>
                <a:latin typeface="Arial"/>
                <a:cs typeface="Arial"/>
              </a:rPr>
              <a:t>the network  </a:t>
            </a:r>
            <a:r>
              <a:rPr dirty="0" sz="2000">
                <a:solidFill>
                  <a:srgbClr val="008000"/>
                </a:solidFill>
                <a:latin typeface="Arial"/>
                <a:cs typeface="Arial"/>
              </a:rPr>
              <a:t>sooner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07867" y="5118486"/>
            <a:ext cx="342900" cy="292735"/>
          </a:xfrm>
          <a:custGeom>
            <a:avLst/>
            <a:gdLst/>
            <a:ahLst/>
            <a:cxnLst/>
            <a:rect l="l" t="t" r="r" b="b"/>
            <a:pathLst>
              <a:path w="342900" h="292735">
                <a:moveTo>
                  <a:pt x="0" y="0"/>
                </a:moveTo>
                <a:lnTo>
                  <a:pt x="342900" y="29221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93567" y="4814172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228600" y="0"/>
                </a:moveTo>
                <a:lnTo>
                  <a:pt x="0" y="1524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593567" y="481417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669767" y="4814172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 h="0">
                <a:moveTo>
                  <a:pt x="0" y="0"/>
                </a:moveTo>
                <a:lnTo>
                  <a:pt x="22860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745967" y="4737972"/>
            <a:ext cx="76200" cy="228600"/>
          </a:xfrm>
          <a:custGeom>
            <a:avLst/>
            <a:gdLst/>
            <a:ahLst/>
            <a:cxnLst/>
            <a:rect l="l" t="t" r="r" b="b"/>
            <a:pathLst>
              <a:path w="76200" h="228600">
                <a:moveTo>
                  <a:pt x="0" y="0"/>
                </a:moveTo>
                <a:lnTo>
                  <a:pt x="76200" y="2286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517367" y="4890372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0" y="0"/>
                </a:moveTo>
                <a:lnTo>
                  <a:pt x="228600" y="1524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517367" y="4852273"/>
            <a:ext cx="381000" cy="51435"/>
          </a:xfrm>
          <a:custGeom>
            <a:avLst/>
            <a:gdLst/>
            <a:ahLst/>
            <a:cxnLst/>
            <a:rect l="l" t="t" r="r" b="b"/>
            <a:pathLst>
              <a:path w="381000" h="51435">
                <a:moveTo>
                  <a:pt x="381000" y="5117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584167" y="4828602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228600" y="0"/>
                </a:moveTo>
                <a:lnTo>
                  <a:pt x="0" y="1524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584167" y="482860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660367" y="4828602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 h="0">
                <a:moveTo>
                  <a:pt x="0" y="0"/>
                </a:moveTo>
                <a:lnTo>
                  <a:pt x="22860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736567" y="4752402"/>
            <a:ext cx="76200" cy="228600"/>
          </a:xfrm>
          <a:custGeom>
            <a:avLst/>
            <a:gdLst/>
            <a:ahLst/>
            <a:cxnLst/>
            <a:rect l="l" t="t" r="r" b="b"/>
            <a:pathLst>
              <a:path w="76200" h="228600">
                <a:moveTo>
                  <a:pt x="0" y="0"/>
                </a:moveTo>
                <a:lnTo>
                  <a:pt x="76200" y="2286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507967" y="4904802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0" y="0"/>
                </a:moveTo>
                <a:lnTo>
                  <a:pt x="228600" y="1524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507967" y="4866702"/>
            <a:ext cx="381000" cy="51435"/>
          </a:xfrm>
          <a:custGeom>
            <a:avLst/>
            <a:gdLst/>
            <a:ahLst/>
            <a:cxnLst/>
            <a:rect l="l" t="t" r="r" b="b"/>
            <a:pathLst>
              <a:path w="381000" h="51435">
                <a:moveTo>
                  <a:pt x="381000" y="5117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050767" y="5486896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228600" y="0"/>
                </a:moveTo>
                <a:lnTo>
                  <a:pt x="0" y="1524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050767" y="548689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126967" y="5486896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 h="0">
                <a:moveTo>
                  <a:pt x="0" y="0"/>
                </a:moveTo>
                <a:lnTo>
                  <a:pt x="22860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203167" y="5410696"/>
            <a:ext cx="76200" cy="228600"/>
          </a:xfrm>
          <a:custGeom>
            <a:avLst/>
            <a:gdLst/>
            <a:ahLst/>
            <a:cxnLst/>
            <a:rect l="l" t="t" r="r" b="b"/>
            <a:pathLst>
              <a:path w="76200" h="228600">
                <a:moveTo>
                  <a:pt x="0" y="0"/>
                </a:moveTo>
                <a:lnTo>
                  <a:pt x="76200" y="2286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974567" y="5563096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0" y="0"/>
                </a:moveTo>
                <a:lnTo>
                  <a:pt x="228600" y="1524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974567" y="5524996"/>
            <a:ext cx="381000" cy="51435"/>
          </a:xfrm>
          <a:custGeom>
            <a:avLst/>
            <a:gdLst/>
            <a:ahLst/>
            <a:cxnLst/>
            <a:rect l="l" t="t" r="r" b="b"/>
            <a:pathLst>
              <a:path w="381000" h="51435">
                <a:moveTo>
                  <a:pt x="381000" y="5117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974124" y="4890372"/>
            <a:ext cx="459740" cy="13335"/>
          </a:xfrm>
          <a:custGeom>
            <a:avLst/>
            <a:gdLst/>
            <a:ahLst/>
            <a:cxnLst/>
            <a:rect l="l" t="t" r="r" b="b"/>
            <a:pathLst>
              <a:path w="459740" h="13335">
                <a:moveTo>
                  <a:pt x="0" y="0"/>
                </a:moveTo>
                <a:lnTo>
                  <a:pt x="459299" y="1307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431767" y="5132048"/>
            <a:ext cx="152400" cy="278765"/>
          </a:xfrm>
          <a:custGeom>
            <a:avLst/>
            <a:gdLst/>
            <a:ahLst/>
            <a:cxnLst/>
            <a:rect l="l" t="t" r="r" b="b"/>
            <a:pathLst>
              <a:path w="152400" h="278764">
                <a:moveTo>
                  <a:pt x="0" y="278648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913246" y="4981002"/>
            <a:ext cx="533400" cy="62230"/>
          </a:xfrm>
          <a:custGeom>
            <a:avLst/>
            <a:gdLst/>
            <a:ahLst/>
            <a:cxnLst/>
            <a:rect l="l" t="t" r="r" b="b"/>
            <a:pathLst>
              <a:path w="533400" h="62229">
                <a:moveTo>
                  <a:pt x="0" y="0"/>
                </a:moveTo>
                <a:lnTo>
                  <a:pt x="533400" y="6177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446202" y="5131561"/>
            <a:ext cx="252729" cy="445134"/>
          </a:xfrm>
          <a:custGeom>
            <a:avLst/>
            <a:gdLst/>
            <a:ahLst/>
            <a:cxnLst/>
            <a:rect l="l" t="t" r="r" b="b"/>
            <a:pathLst>
              <a:path w="252729" h="445135">
                <a:moveTo>
                  <a:pt x="0" y="444611"/>
                </a:moveTo>
                <a:lnTo>
                  <a:pt x="25226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441165" y="4663371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48155" y="150483"/>
                </a:moveTo>
                <a:lnTo>
                  <a:pt x="50274" y="111940"/>
                </a:lnTo>
                <a:lnTo>
                  <a:pt x="88261" y="53677"/>
                </a:lnTo>
                <a:lnTo>
                  <a:pt x="133415" y="40162"/>
                </a:lnTo>
                <a:lnTo>
                  <a:pt x="147127" y="42002"/>
                </a:lnTo>
                <a:lnTo>
                  <a:pt x="160392" y="46455"/>
                </a:lnTo>
                <a:lnTo>
                  <a:pt x="172926" y="53456"/>
                </a:lnTo>
                <a:lnTo>
                  <a:pt x="189519" y="29853"/>
                </a:lnTo>
                <a:lnTo>
                  <a:pt x="211801" y="15995"/>
                </a:lnTo>
                <a:lnTo>
                  <a:pt x="236905" y="12907"/>
                </a:lnTo>
                <a:lnTo>
                  <a:pt x="261968" y="21613"/>
                </a:lnTo>
                <a:lnTo>
                  <a:pt x="267584" y="25097"/>
                </a:lnTo>
                <a:lnTo>
                  <a:pt x="272739" y="29513"/>
                </a:lnTo>
                <a:lnTo>
                  <a:pt x="277271" y="34724"/>
                </a:lnTo>
                <a:lnTo>
                  <a:pt x="290425" y="15015"/>
                </a:lnTo>
                <a:lnTo>
                  <a:pt x="308408" y="3138"/>
                </a:lnTo>
                <a:lnTo>
                  <a:pt x="328893" y="0"/>
                </a:lnTo>
                <a:lnTo>
                  <a:pt x="349557" y="6507"/>
                </a:lnTo>
                <a:lnTo>
                  <a:pt x="354901" y="10079"/>
                </a:lnTo>
                <a:lnTo>
                  <a:pt x="359847" y="14324"/>
                </a:lnTo>
                <a:lnTo>
                  <a:pt x="364347" y="19198"/>
                </a:lnTo>
                <a:lnTo>
                  <a:pt x="368355" y="24657"/>
                </a:lnTo>
                <a:lnTo>
                  <a:pt x="387044" y="7478"/>
                </a:lnTo>
                <a:lnTo>
                  <a:pt x="409174" y="226"/>
                </a:lnTo>
                <a:lnTo>
                  <a:pt x="432025" y="3161"/>
                </a:lnTo>
                <a:lnTo>
                  <a:pt x="452879" y="16544"/>
                </a:lnTo>
                <a:lnTo>
                  <a:pt x="460175" y="25107"/>
                </a:lnTo>
                <a:lnTo>
                  <a:pt x="466058" y="34928"/>
                </a:lnTo>
                <a:lnTo>
                  <a:pt x="470412" y="45774"/>
                </a:lnTo>
                <a:lnTo>
                  <a:pt x="473123" y="57413"/>
                </a:lnTo>
                <a:lnTo>
                  <a:pt x="496494" y="71121"/>
                </a:lnTo>
                <a:lnTo>
                  <a:pt x="512982" y="93466"/>
                </a:lnTo>
                <a:lnTo>
                  <a:pt x="521099" y="121407"/>
                </a:lnTo>
                <a:lnTo>
                  <a:pt x="519358" y="151904"/>
                </a:lnTo>
                <a:lnTo>
                  <a:pt x="518555" y="155353"/>
                </a:lnTo>
                <a:lnTo>
                  <a:pt x="517547" y="158731"/>
                </a:lnTo>
                <a:lnTo>
                  <a:pt x="516342" y="162016"/>
                </a:lnTo>
                <a:lnTo>
                  <a:pt x="530963" y="196809"/>
                </a:lnTo>
                <a:lnTo>
                  <a:pt x="522774" y="269623"/>
                </a:lnTo>
                <a:lnTo>
                  <a:pt x="492034" y="305819"/>
                </a:lnTo>
                <a:lnTo>
                  <a:pt x="461841" y="318050"/>
                </a:lnTo>
                <a:lnTo>
                  <a:pt x="456005" y="350404"/>
                </a:lnTo>
                <a:lnTo>
                  <a:pt x="440516" y="376725"/>
                </a:lnTo>
                <a:lnTo>
                  <a:pt x="417689" y="394355"/>
                </a:lnTo>
                <a:lnTo>
                  <a:pt x="389842" y="400638"/>
                </a:lnTo>
                <a:lnTo>
                  <a:pt x="380033" y="399757"/>
                </a:lnTo>
                <a:lnTo>
                  <a:pt x="370465" y="397328"/>
                </a:lnTo>
                <a:lnTo>
                  <a:pt x="361273" y="393396"/>
                </a:lnTo>
                <a:lnTo>
                  <a:pt x="352589" y="388008"/>
                </a:lnTo>
                <a:lnTo>
                  <a:pt x="336915" y="422119"/>
                </a:lnTo>
                <a:lnTo>
                  <a:pt x="312135" y="445732"/>
                </a:lnTo>
                <a:lnTo>
                  <a:pt x="281595" y="456753"/>
                </a:lnTo>
                <a:lnTo>
                  <a:pt x="248638" y="453087"/>
                </a:lnTo>
                <a:lnTo>
                  <a:pt x="235301" y="446851"/>
                </a:lnTo>
                <a:lnTo>
                  <a:pt x="223160" y="438101"/>
                </a:lnTo>
                <a:lnTo>
                  <a:pt x="212471" y="427059"/>
                </a:lnTo>
                <a:lnTo>
                  <a:pt x="203489" y="413947"/>
                </a:lnTo>
                <a:lnTo>
                  <a:pt x="167830" y="428808"/>
                </a:lnTo>
                <a:lnTo>
                  <a:pt x="98219" y="408508"/>
                </a:lnTo>
                <a:lnTo>
                  <a:pt x="72684" y="375801"/>
                </a:lnTo>
                <a:lnTo>
                  <a:pt x="71676" y="373792"/>
                </a:lnTo>
                <a:lnTo>
                  <a:pt x="50371" y="371745"/>
                </a:lnTo>
                <a:lnTo>
                  <a:pt x="32031" y="360735"/>
                </a:lnTo>
                <a:lnTo>
                  <a:pt x="18578" y="342527"/>
                </a:lnTo>
                <a:lnTo>
                  <a:pt x="11934" y="318887"/>
                </a:lnTo>
                <a:lnTo>
                  <a:pt x="11845" y="305227"/>
                </a:lnTo>
                <a:lnTo>
                  <a:pt x="14262" y="292018"/>
                </a:lnTo>
                <a:lnTo>
                  <a:pt x="19056" y="279718"/>
                </a:lnTo>
                <a:lnTo>
                  <a:pt x="26098" y="268786"/>
                </a:lnTo>
                <a:lnTo>
                  <a:pt x="10208" y="252144"/>
                </a:lnTo>
                <a:lnTo>
                  <a:pt x="1303" y="230402"/>
                </a:lnTo>
                <a:lnTo>
                  <a:pt x="0" y="206330"/>
                </a:lnTo>
                <a:lnTo>
                  <a:pt x="6914" y="182698"/>
                </a:lnTo>
                <a:lnTo>
                  <a:pt x="14541" y="170878"/>
                </a:lnTo>
                <a:lnTo>
                  <a:pt x="24173" y="161587"/>
                </a:lnTo>
                <a:lnTo>
                  <a:pt x="35374" y="155153"/>
                </a:lnTo>
                <a:lnTo>
                  <a:pt x="47706" y="151907"/>
                </a:lnTo>
                <a:lnTo>
                  <a:pt x="48155" y="150483"/>
                </a:lnTo>
                <a:close/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467836" y="4930377"/>
            <a:ext cx="31750" cy="8890"/>
          </a:xfrm>
          <a:custGeom>
            <a:avLst/>
            <a:gdLst/>
            <a:ahLst/>
            <a:cxnLst/>
            <a:rect l="l" t="t" r="r" b="b"/>
            <a:pathLst>
              <a:path w="31750" h="8889">
                <a:moveTo>
                  <a:pt x="31276" y="8434"/>
                </a:moveTo>
                <a:lnTo>
                  <a:pt x="23113" y="8450"/>
                </a:lnTo>
                <a:lnTo>
                  <a:pt x="15088" y="7024"/>
                </a:lnTo>
                <a:lnTo>
                  <a:pt x="7337" y="4195"/>
                </a:lnTo>
                <a:lnTo>
                  <a:pt x="0" y="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513024" y="5031120"/>
            <a:ext cx="13970" cy="4445"/>
          </a:xfrm>
          <a:custGeom>
            <a:avLst/>
            <a:gdLst/>
            <a:ahLst/>
            <a:cxnLst/>
            <a:rect l="l" t="t" r="r" b="b"/>
            <a:pathLst>
              <a:path w="13970" h="4445">
                <a:moveTo>
                  <a:pt x="13684" y="0"/>
                </a:moveTo>
                <a:lnTo>
                  <a:pt x="9294" y="2038"/>
                </a:lnTo>
                <a:lnTo>
                  <a:pt x="4693" y="3396"/>
                </a:lnTo>
                <a:lnTo>
                  <a:pt x="0" y="4037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636379" y="5057059"/>
            <a:ext cx="8255" cy="18415"/>
          </a:xfrm>
          <a:custGeom>
            <a:avLst/>
            <a:gdLst/>
            <a:ahLst/>
            <a:cxnLst/>
            <a:rect l="l" t="t" r="r" b="b"/>
            <a:pathLst>
              <a:path w="8254" h="18414">
                <a:moveTo>
                  <a:pt x="8245" y="18415"/>
                </a:moveTo>
                <a:lnTo>
                  <a:pt x="4943" y="12638"/>
                </a:lnTo>
                <a:lnTo>
                  <a:pt x="2179" y="6464"/>
                </a:lnTo>
                <a:lnTo>
                  <a:pt x="0" y="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793808" y="5029553"/>
            <a:ext cx="3810" cy="20320"/>
          </a:xfrm>
          <a:custGeom>
            <a:avLst/>
            <a:gdLst/>
            <a:ahLst/>
            <a:cxnLst/>
            <a:rect l="l" t="t" r="r" b="b"/>
            <a:pathLst>
              <a:path w="3809" h="20320">
                <a:moveTo>
                  <a:pt x="3292" y="0"/>
                </a:moveTo>
                <a:lnTo>
                  <a:pt x="2806" y="6852"/>
                </a:lnTo>
                <a:lnTo>
                  <a:pt x="1703" y="13625"/>
                </a:lnTo>
                <a:lnTo>
                  <a:pt x="0" y="20206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862565" y="4904702"/>
            <a:ext cx="40640" cy="75565"/>
          </a:xfrm>
          <a:custGeom>
            <a:avLst/>
            <a:gdLst/>
            <a:ahLst/>
            <a:cxnLst/>
            <a:rect l="l" t="t" r="r" b="b"/>
            <a:pathLst>
              <a:path w="40640" h="75564">
                <a:moveTo>
                  <a:pt x="0" y="0"/>
                </a:moveTo>
                <a:lnTo>
                  <a:pt x="16744" y="13215"/>
                </a:lnTo>
                <a:lnTo>
                  <a:pt x="29436" y="30996"/>
                </a:lnTo>
                <a:lnTo>
                  <a:pt x="37446" y="52158"/>
                </a:lnTo>
                <a:lnTo>
                  <a:pt x="40146" y="75518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939380" y="4824269"/>
            <a:ext cx="18415" cy="28575"/>
          </a:xfrm>
          <a:custGeom>
            <a:avLst/>
            <a:gdLst/>
            <a:ahLst/>
            <a:cxnLst/>
            <a:rect l="l" t="t" r="r" b="b"/>
            <a:pathLst>
              <a:path w="18415" h="28575">
                <a:moveTo>
                  <a:pt x="17876" y="0"/>
                </a:moveTo>
                <a:lnTo>
                  <a:pt x="14481" y="7951"/>
                </a:lnTo>
                <a:lnTo>
                  <a:pt x="10341" y="15369"/>
                </a:lnTo>
                <a:lnTo>
                  <a:pt x="5498" y="22181"/>
                </a:lnTo>
                <a:lnTo>
                  <a:pt x="0" y="28317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914362" y="4719197"/>
            <a:ext cx="1270" cy="13970"/>
          </a:xfrm>
          <a:custGeom>
            <a:avLst/>
            <a:gdLst/>
            <a:ahLst/>
            <a:cxnLst/>
            <a:rect l="l" t="t" r="r" b="b"/>
            <a:pathLst>
              <a:path w="1270" h="13970">
                <a:moveTo>
                  <a:pt x="0" y="0"/>
                </a:moveTo>
                <a:lnTo>
                  <a:pt x="683" y="4412"/>
                </a:lnTo>
                <a:lnTo>
                  <a:pt x="999" y="8890"/>
                </a:lnTo>
                <a:lnTo>
                  <a:pt x="943" y="13373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800199" y="4686542"/>
            <a:ext cx="9525" cy="17145"/>
          </a:xfrm>
          <a:custGeom>
            <a:avLst/>
            <a:gdLst/>
            <a:ahLst/>
            <a:cxnLst/>
            <a:rect l="l" t="t" r="r" b="b"/>
            <a:pathLst>
              <a:path w="9525" h="17145">
                <a:moveTo>
                  <a:pt x="0" y="17055"/>
                </a:moveTo>
                <a:lnTo>
                  <a:pt x="2329" y="10885"/>
                </a:lnTo>
                <a:lnTo>
                  <a:pt x="5413" y="5140"/>
                </a:lnTo>
                <a:lnTo>
                  <a:pt x="9157" y="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714546" y="4697016"/>
            <a:ext cx="4445" cy="15240"/>
          </a:xfrm>
          <a:custGeom>
            <a:avLst/>
            <a:gdLst/>
            <a:ahLst/>
            <a:cxnLst/>
            <a:rect l="l" t="t" r="r" b="b"/>
            <a:pathLst>
              <a:path w="4445" h="15239">
                <a:moveTo>
                  <a:pt x="0" y="14709"/>
                </a:moveTo>
                <a:lnTo>
                  <a:pt x="950" y="9610"/>
                </a:lnTo>
                <a:lnTo>
                  <a:pt x="2440" y="4669"/>
                </a:lnTo>
                <a:lnTo>
                  <a:pt x="4435" y="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614028" y="4716721"/>
            <a:ext cx="16510" cy="14604"/>
          </a:xfrm>
          <a:custGeom>
            <a:avLst/>
            <a:gdLst/>
            <a:ahLst/>
            <a:cxnLst/>
            <a:rect l="l" t="t" r="r" b="b"/>
            <a:pathLst>
              <a:path w="16509" h="14604">
                <a:moveTo>
                  <a:pt x="0" y="0"/>
                </a:moveTo>
                <a:lnTo>
                  <a:pt x="5825" y="3981"/>
                </a:lnTo>
                <a:lnTo>
                  <a:pt x="11214" y="8773"/>
                </a:lnTo>
                <a:lnTo>
                  <a:pt x="16049" y="1427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489323" y="4813858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2800" y="15014"/>
                </a:moveTo>
                <a:lnTo>
                  <a:pt x="1529" y="10103"/>
                </a:lnTo>
                <a:lnTo>
                  <a:pt x="592" y="5083"/>
                </a:lnTo>
                <a:lnTo>
                  <a:pt x="0" y="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8431765" y="4676448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48155" y="150483"/>
                </a:moveTo>
                <a:lnTo>
                  <a:pt x="50274" y="111940"/>
                </a:lnTo>
                <a:lnTo>
                  <a:pt x="88261" y="53677"/>
                </a:lnTo>
                <a:lnTo>
                  <a:pt x="133415" y="40162"/>
                </a:lnTo>
                <a:lnTo>
                  <a:pt x="147127" y="42002"/>
                </a:lnTo>
                <a:lnTo>
                  <a:pt x="160392" y="46455"/>
                </a:lnTo>
                <a:lnTo>
                  <a:pt x="172926" y="53456"/>
                </a:lnTo>
                <a:lnTo>
                  <a:pt x="189519" y="29853"/>
                </a:lnTo>
                <a:lnTo>
                  <a:pt x="211801" y="15995"/>
                </a:lnTo>
                <a:lnTo>
                  <a:pt x="236905" y="12907"/>
                </a:lnTo>
                <a:lnTo>
                  <a:pt x="261968" y="21613"/>
                </a:lnTo>
                <a:lnTo>
                  <a:pt x="267584" y="25097"/>
                </a:lnTo>
                <a:lnTo>
                  <a:pt x="272739" y="29513"/>
                </a:lnTo>
                <a:lnTo>
                  <a:pt x="277271" y="34724"/>
                </a:lnTo>
                <a:lnTo>
                  <a:pt x="290425" y="15015"/>
                </a:lnTo>
                <a:lnTo>
                  <a:pt x="308408" y="3138"/>
                </a:lnTo>
                <a:lnTo>
                  <a:pt x="328893" y="0"/>
                </a:lnTo>
                <a:lnTo>
                  <a:pt x="349557" y="6507"/>
                </a:lnTo>
                <a:lnTo>
                  <a:pt x="354901" y="10079"/>
                </a:lnTo>
                <a:lnTo>
                  <a:pt x="359847" y="14324"/>
                </a:lnTo>
                <a:lnTo>
                  <a:pt x="364347" y="19198"/>
                </a:lnTo>
                <a:lnTo>
                  <a:pt x="368355" y="24657"/>
                </a:lnTo>
                <a:lnTo>
                  <a:pt x="387044" y="7478"/>
                </a:lnTo>
                <a:lnTo>
                  <a:pt x="409174" y="226"/>
                </a:lnTo>
                <a:lnTo>
                  <a:pt x="432025" y="3161"/>
                </a:lnTo>
                <a:lnTo>
                  <a:pt x="452879" y="16544"/>
                </a:lnTo>
                <a:lnTo>
                  <a:pt x="460175" y="25107"/>
                </a:lnTo>
                <a:lnTo>
                  <a:pt x="466058" y="34928"/>
                </a:lnTo>
                <a:lnTo>
                  <a:pt x="470412" y="45774"/>
                </a:lnTo>
                <a:lnTo>
                  <a:pt x="473123" y="57413"/>
                </a:lnTo>
                <a:lnTo>
                  <a:pt x="496494" y="71121"/>
                </a:lnTo>
                <a:lnTo>
                  <a:pt x="512982" y="93466"/>
                </a:lnTo>
                <a:lnTo>
                  <a:pt x="521099" y="121407"/>
                </a:lnTo>
                <a:lnTo>
                  <a:pt x="519358" y="151904"/>
                </a:lnTo>
                <a:lnTo>
                  <a:pt x="518555" y="155353"/>
                </a:lnTo>
                <a:lnTo>
                  <a:pt x="517547" y="158731"/>
                </a:lnTo>
                <a:lnTo>
                  <a:pt x="516342" y="162016"/>
                </a:lnTo>
                <a:lnTo>
                  <a:pt x="530963" y="196809"/>
                </a:lnTo>
                <a:lnTo>
                  <a:pt x="522774" y="269623"/>
                </a:lnTo>
                <a:lnTo>
                  <a:pt x="492034" y="305819"/>
                </a:lnTo>
                <a:lnTo>
                  <a:pt x="461841" y="318050"/>
                </a:lnTo>
                <a:lnTo>
                  <a:pt x="456005" y="350404"/>
                </a:lnTo>
                <a:lnTo>
                  <a:pt x="440516" y="376725"/>
                </a:lnTo>
                <a:lnTo>
                  <a:pt x="417689" y="394355"/>
                </a:lnTo>
                <a:lnTo>
                  <a:pt x="389842" y="400638"/>
                </a:lnTo>
                <a:lnTo>
                  <a:pt x="380033" y="399757"/>
                </a:lnTo>
                <a:lnTo>
                  <a:pt x="370465" y="397328"/>
                </a:lnTo>
                <a:lnTo>
                  <a:pt x="361273" y="393396"/>
                </a:lnTo>
                <a:lnTo>
                  <a:pt x="352589" y="388008"/>
                </a:lnTo>
                <a:lnTo>
                  <a:pt x="336915" y="422119"/>
                </a:lnTo>
                <a:lnTo>
                  <a:pt x="312135" y="445732"/>
                </a:lnTo>
                <a:lnTo>
                  <a:pt x="281595" y="456753"/>
                </a:lnTo>
                <a:lnTo>
                  <a:pt x="248638" y="453087"/>
                </a:lnTo>
                <a:lnTo>
                  <a:pt x="235301" y="446851"/>
                </a:lnTo>
                <a:lnTo>
                  <a:pt x="223160" y="438101"/>
                </a:lnTo>
                <a:lnTo>
                  <a:pt x="212471" y="427059"/>
                </a:lnTo>
                <a:lnTo>
                  <a:pt x="203489" y="413947"/>
                </a:lnTo>
                <a:lnTo>
                  <a:pt x="167830" y="428808"/>
                </a:lnTo>
                <a:lnTo>
                  <a:pt x="98219" y="408508"/>
                </a:lnTo>
                <a:lnTo>
                  <a:pt x="72684" y="375801"/>
                </a:lnTo>
                <a:lnTo>
                  <a:pt x="71676" y="373792"/>
                </a:lnTo>
                <a:lnTo>
                  <a:pt x="50371" y="371745"/>
                </a:lnTo>
                <a:lnTo>
                  <a:pt x="32031" y="360735"/>
                </a:lnTo>
                <a:lnTo>
                  <a:pt x="18578" y="342527"/>
                </a:lnTo>
                <a:lnTo>
                  <a:pt x="11934" y="318887"/>
                </a:lnTo>
                <a:lnTo>
                  <a:pt x="11845" y="305227"/>
                </a:lnTo>
                <a:lnTo>
                  <a:pt x="14262" y="292018"/>
                </a:lnTo>
                <a:lnTo>
                  <a:pt x="19056" y="279718"/>
                </a:lnTo>
                <a:lnTo>
                  <a:pt x="26098" y="268786"/>
                </a:lnTo>
                <a:lnTo>
                  <a:pt x="10208" y="252144"/>
                </a:lnTo>
                <a:lnTo>
                  <a:pt x="1303" y="230402"/>
                </a:lnTo>
                <a:lnTo>
                  <a:pt x="0" y="206330"/>
                </a:lnTo>
                <a:lnTo>
                  <a:pt x="6914" y="182698"/>
                </a:lnTo>
                <a:lnTo>
                  <a:pt x="14541" y="170878"/>
                </a:lnTo>
                <a:lnTo>
                  <a:pt x="24173" y="161587"/>
                </a:lnTo>
                <a:lnTo>
                  <a:pt x="35374" y="155153"/>
                </a:lnTo>
                <a:lnTo>
                  <a:pt x="47706" y="151907"/>
                </a:lnTo>
                <a:lnTo>
                  <a:pt x="48155" y="150483"/>
                </a:lnTo>
                <a:close/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458436" y="4943454"/>
            <a:ext cx="31750" cy="8890"/>
          </a:xfrm>
          <a:custGeom>
            <a:avLst/>
            <a:gdLst/>
            <a:ahLst/>
            <a:cxnLst/>
            <a:rect l="l" t="t" r="r" b="b"/>
            <a:pathLst>
              <a:path w="31750" h="8889">
                <a:moveTo>
                  <a:pt x="31276" y="8434"/>
                </a:moveTo>
                <a:lnTo>
                  <a:pt x="23113" y="8450"/>
                </a:lnTo>
                <a:lnTo>
                  <a:pt x="15088" y="7024"/>
                </a:lnTo>
                <a:lnTo>
                  <a:pt x="7337" y="4195"/>
                </a:lnTo>
                <a:lnTo>
                  <a:pt x="0" y="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503624" y="5044197"/>
            <a:ext cx="13970" cy="4445"/>
          </a:xfrm>
          <a:custGeom>
            <a:avLst/>
            <a:gdLst/>
            <a:ahLst/>
            <a:cxnLst/>
            <a:rect l="l" t="t" r="r" b="b"/>
            <a:pathLst>
              <a:path w="13970" h="4445">
                <a:moveTo>
                  <a:pt x="13684" y="0"/>
                </a:moveTo>
                <a:lnTo>
                  <a:pt x="9294" y="2038"/>
                </a:lnTo>
                <a:lnTo>
                  <a:pt x="4693" y="3395"/>
                </a:lnTo>
                <a:lnTo>
                  <a:pt x="0" y="4037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626979" y="5070137"/>
            <a:ext cx="8255" cy="18415"/>
          </a:xfrm>
          <a:custGeom>
            <a:avLst/>
            <a:gdLst/>
            <a:ahLst/>
            <a:cxnLst/>
            <a:rect l="l" t="t" r="r" b="b"/>
            <a:pathLst>
              <a:path w="8254" h="18414">
                <a:moveTo>
                  <a:pt x="8245" y="18415"/>
                </a:moveTo>
                <a:lnTo>
                  <a:pt x="4943" y="12638"/>
                </a:lnTo>
                <a:lnTo>
                  <a:pt x="2179" y="6464"/>
                </a:lnTo>
                <a:lnTo>
                  <a:pt x="0" y="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8784408" y="5042630"/>
            <a:ext cx="3810" cy="20320"/>
          </a:xfrm>
          <a:custGeom>
            <a:avLst/>
            <a:gdLst/>
            <a:ahLst/>
            <a:cxnLst/>
            <a:rect l="l" t="t" r="r" b="b"/>
            <a:pathLst>
              <a:path w="3809" h="20320">
                <a:moveTo>
                  <a:pt x="3292" y="0"/>
                </a:moveTo>
                <a:lnTo>
                  <a:pt x="2806" y="6852"/>
                </a:lnTo>
                <a:lnTo>
                  <a:pt x="1703" y="13625"/>
                </a:lnTo>
                <a:lnTo>
                  <a:pt x="0" y="20206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853165" y="4917779"/>
            <a:ext cx="40640" cy="75565"/>
          </a:xfrm>
          <a:custGeom>
            <a:avLst/>
            <a:gdLst/>
            <a:ahLst/>
            <a:cxnLst/>
            <a:rect l="l" t="t" r="r" b="b"/>
            <a:pathLst>
              <a:path w="40640" h="75564">
                <a:moveTo>
                  <a:pt x="0" y="0"/>
                </a:moveTo>
                <a:lnTo>
                  <a:pt x="16744" y="13215"/>
                </a:lnTo>
                <a:lnTo>
                  <a:pt x="29436" y="30996"/>
                </a:lnTo>
                <a:lnTo>
                  <a:pt x="37446" y="52158"/>
                </a:lnTo>
                <a:lnTo>
                  <a:pt x="40146" y="75518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929980" y="4837346"/>
            <a:ext cx="18415" cy="28575"/>
          </a:xfrm>
          <a:custGeom>
            <a:avLst/>
            <a:gdLst/>
            <a:ahLst/>
            <a:cxnLst/>
            <a:rect l="l" t="t" r="r" b="b"/>
            <a:pathLst>
              <a:path w="18415" h="28575">
                <a:moveTo>
                  <a:pt x="17876" y="0"/>
                </a:moveTo>
                <a:lnTo>
                  <a:pt x="14481" y="7951"/>
                </a:lnTo>
                <a:lnTo>
                  <a:pt x="10341" y="15369"/>
                </a:lnTo>
                <a:lnTo>
                  <a:pt x="5498" y="22181"/>
                </a:lnTo>
                <a:lnTo>
                  <a:pt x="0" y="28317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904962" y="4732274"/>
            <a:ext cx="1270" cy="13970"/>
          </a:xfrm>
          <a:custGeom>
            <a:avLst/>
            <a:gdLst/>
            <a:ahLst/>
            <a:cxnLst/>
            <a:rect l="l" t="t" r="r" b="b"/>
            <a:pathLst>
              <a:path w="1270" h="13970">
                <a:moveTo>
                  <a:pt x="0" y="0"/>
                </a:moveTo>
                <a:lnTo>
                  <a:pt x="683" y="4412"/>
                </a:lnTo>
                <a:lnTo>
                  <a:pt x="999" y="8890"/>
                </a:lnTo>
                <a:lnTo>
                  <a:pt x="943" y="13373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8790799" y="4699619"/>
            <a:ext cx="9525" cy="17145"/>
          </a:xfrm>
          <a:custGeom>
            <a:avLst/>
            <a:gdLst/>
            <a:ahLst/>
            <a:cxnLst/>
            <a:rect l="l" t="t" r="r" b="b"/>
            <a:pathLst>
              <a:path w="9525" h="17145">
                <a:moveTo>
                  <a:pt x="0" y="17055"/>
                </a:moveTo>
                <a:lnTo>
                  <a:pt x="2329" y="10885"/>
                </a:lnTo>
                <a:lnTo>
                  <a:pt x="5413" y="5140"/>
                </a:lnTo>
                <a:lnTo>
                  <a:pt x="9157" y="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705146" y="4710093"/>
            <a:ext cx="4445" cy="15240"/>
          </a:xfrm>
          <a:custGeom>
            <a:avLst/>
            <a:gdLst/>
            <a:ahLst/>
            <a:cxnLst/>
            <a:rect l="l" t="t" r="r" b="b"/>
            <a:pathLst>
              <a:path w="4445" h="15239">
                <a:moveTo>
                  <a:pt x="0" y="14709"/>
                </a:moveTo>
                <a:lnTo>
                  <a:pt x="950" y="9610"/>
                </a:lnTo>
                <a:lnTo>
                  <a:pt x="2440" y="4669"/>
                </a:lnTo>
                <a:lnTo>
                  <a:pt x="4435" y="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8604628" y="4729798"/>
            <a:ext cx="16510" cy="14604"/>
          </a:xfrm>
          <a:custGeom>
            <a:avLst/>
            <a:gdLst/>
            <a:ahLst/>
            <a:cxnLst/>
            <a:rect l="l" t="t" r="r" b="b"/>
            <a:pathLst>
              <a:path w="16509" h="14604">
                <a:moveTo>
                  <a:pt x="0" y="0"/>
                </a:moveTo>
                <a:lnTo>
                  <a:pt x="5825" y="3981"/>
                </a:lnTo>
                <a:lnTo>
                  <a:pt x="11214" y="8773"/>
                </a:lnTo>
                <a:lnTo>
                  <a:pt x="16049" y="1427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8479923" y="482693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2800" y="15014"/>
                </a:moveTo>
                <a:lnTo>
                  <a:pt x="1529" y="10103"/>
                </a:lnTo>
                <a:lnTo>
                  <a:pt x="592" y="5083"/>
                </a:lnTo>
                <a:lnTo>
                  <a:pt x="0" y="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913244" y="5349171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48155" y="150483"/>
                </a:moveTo>
                <a:lnTo>
                  <a:pt x="50274" y="111940"/>
                </a:lnTo>
                <a:lnTo>
                  <a:pt x="88261" y="53677"/>
                </a:lnTo>
                <a:lnTo>
                  <a:pt x="133415" y="40162"/>
                </a:lnTo>
                <a:lnTo>
                  <a:pt x="147127" y="42002"/>
                </a:lnTo>
                <a:lnTo>
                  <a:pt x="160392" y="46455"/>
                </a:lnTo>
                <a:lnTo>
                  <a:pt x="172926" y="53456"/>
                </a:lnTo>
                <a:lnTo>
                  <a:pt x="189519" y="29853"/>
                </a:lnTo>
                <a:lnTo>
                  <a:pt x="211801" y="15995"/>
                </a:lnTo>
                <a:lnTo>
                  <a:pt x="236905" y="12907"/>
                </a:lnTo>
                <a:lnTo>
                  <a:pt x="261968" y="21613"/>
                </a:lnTo>
                <a:lnTo>
                  <a:pt x="267584" y="25097"/>
                </a:lnTo>
                <a:lnTo>
                  <a:pt x="272739" y="29513"/>
                </a:lnTo>
                <a:lnTo>
                  <a:pt x="277271" y="34724"/>
                </a:lnTo>
                <a:lnTo>
                  <a:pt x="290425" y="15015"/>
                </a:lnTo>
                <a:lnTo>
                  <a:pt x="308408" y="3138"/>
                </a:lnTo>
                <a:lnTo>
                  <a:pt x="328893" y="0"/>
                </a:lnTo>
                <a:lnTo>
                  <a:pt x="349557" y="6507"/>
                </a:lnTo>
                <a:lnTo>
                  <a:pt x="354901" y="10079"/>
                </a:lnTo>
                <a:lnTo>
                  <a:pt x="359847" y="14324"/>
                </a:lnTo>
                <a:lnTo>
                  <a:pt x="364347" y="19198"/>
                </a:lnTo>
                <a:lnTo>
                  <a:pt x="368355" y="24657"/>
                </a:lnTo>
                <a:lnTo>
                  <a:pt x="387044" y="7478"/>
                </a:lnTo>
                <a:lnTo>
                  <a:pt x="409174" y="226"/>
                </a:lnTo>
                <a:lnTo>
                  <a:pt x="432025" y="3161"/>
                </a:lnTo>
                <a:lnTo>
                  <a:pt x="452879" y="16544"/>
                </a:lnTo>
                <a:lnTo>
                  <a:pt x="460175" y="25107"/>
                </a:lnTo>
                <a:lnTo>
                  <a:pt x="466058" y="34928"/>
                </a:lnTo>
                <a:lnTo>
                  <a:pt x="470412" y="45774"/>
                </a:lnTo>
                <a:lnTo>
                  <a:pt x="473123" y="57413"/>
                </a:lnTo>
                <a:lnTo>
                  <a:pt x="496494" y="71121"/>
                </a:lnTo>
                <a:lnTo>
                  <a:pt x="512982" y="93466"/>
                </a:lnTo>
                <a:lnTo>
                  <a:pt x="521099" y="121407"/>
                </a:lnTo>
                <a:lnTo>
                  <a:pt x="519358" y="151904"/>
                </a:lnTo>
                <a:lnTo>
                  <a:pt x="518555" y="155353"/>
                </a:lnTo>
                <a:lnTo>
                  <a:pt x="517547" y="158731"/>
                </a:lnTo>
                <a:lnTo>
                  <a:pt x="516342" y="162016"/>
                </a:lnTo>
                <a:lnTo>
                  <a:pt x="530963" y="196809"/>
                </a:lnTo>
                <a:lnTo>
                  <a:pt x="522774" y="269623"/>
                </a:lnTo>
                <a:lnTo>
                  <a:pt x="492034" y="305819"/>
                </a:lnTo>
                <a:lnTo>
                  <a:pt x="461841" y="318050"/>
                </a:lnTo>
                <a:lnTo>
                  <a:pt x="456005" y="350404"/>
                </a:lnTo>
                <a:lnTo>
                  <a:pt x="440516" y="376725"/>
                </a:lnTo>
                <a:lnTo>
                  <a:pt x="417689" y="394355"/>
                </a:lnTo>
                <a:lnTo>
                  <a:pt x="389842" y="400638"/>
                </a:lnTo>
                <a:lnTo>
                  <a:pt x="380033" y="399757"/>
                </a:lnTo>
                <a:lnTo>
                  <a:pt x="370465" y="397328"/>
                </a:lnTo>
                <a:lnTo>
                  <a:pt x="361273" y="393396"/>
                </a:lnTo>
                <a:lnTo>
                  <a:pt x="352589" y="388008"/>
                </a:lnTo>
                <a:lnTo>
                  <a:pt x="336915" y="422119"/>
                </a:lnTo>
                <a:lnTo>
                  <a:pt x="312135" y="445732"/>
                </a:lnTo>
                <a:lnTo>
                  <a:pt x="281595" y="456753"/>
                </a:lnTo>
                <a:lnTo>
                  <a:pt x="248638" y="453087"/>
                </a:lnTo>
                <a:lnTo>
                  <a:pt x="235301" y="446851"/>
                </a:lnTo>
                <a:lnTo>
                  <a:pt x="223160" y="438101"/>
                </a:lnTo>
                <a:lnTo>
                  <a:pt x="212471" y="427059"/>
                </a:lnTo>
                <a:lnTo>
                  <a:pt x="203489" y="413947"/>
                </a:lnTo>
                <a:lnTo>
                  <a:pt x="167830" y="428808"/>
                </a:lnTo>
                <a:lnTo>
                  <a:pt x="98219" y="408508"/>
                </a:lnTo>
                <a:lnTo>
                  <a:pt x="72684" y="375801"/>
                </a:lnTo>
                <a:lnTo>
                  <a:pt x="71676" y="373792"/>
                </a:lnTo>
                <a:lnTo>
                  <a:pt x="50371" y="371745"/>
                </a:lnTo>
                <a:lnTo>
                  <a:pt x="32031" y="360735"/>
                </a:lnTo>
                <a:lnTo>
                  <a:pt x="18578" y="342527"/>
                </a:lnTo>
                <a:lnTo>
                  <a:pt x="11934" y="318887"/>
                </a:lnTo>
                <a:lnTo>
                  <a:pt x="11845" y="305227"/>
                </a:lnTo>
                <a:lnTo>
                  <a:pt x="14262" y="292018"/>
                </a:lnTo>
                <a:lnTo>
                  <a:pt x="19056" y="279718"/>
                </a:lnTo>
                <a:lnTo>
                  <a:pt x="26098" y="268786"/>
                </a:lnTo>
                <a:lnTo>
                  <a:pt x="10208" y="252144"/>
                </a:lnTo>
                <a:lnTo>
                  <a:pt x="1303" y="230402"/>
                </a:lnTo>
                <a:lnTo>
                  <a:pt x="0" y="206330"/>
                </a:lnTo>
                <a:lnTo>
                  <a:pt x="6914" y="182698"/>
                </a:lnTo>
                <a:lnTo>
                  <a:pt x="14541" y="170878"/>
                </a:lnTo>
                <a:lnTo>
                  <a:pt x="24173" y="161587"/>
                </a:lnTo>
                <a:lnTo>
                  <a:pt x="35374" y="155153"/>
                </a:lnTo>
                <a:lnTo>
                  <a:pt x="47706" y="151907"/>
                </a:lnTo>
                <a:lnTo>
                  <a:pt x="48155" y="150483"/>
                </a:lnTo>
                <a:close/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939915" y="5616177"/>
            <a:ext cx="31750" cy="8890"/>
          </a:xfrm>
          <a:custGeom>
            <a:avLst/>
            <a:gdLst/>
            <a:ahLst/>
            <a:cxnLst/>
            <a:rect l="l" t="t" r="r" b="b"/>
            <a:pathLst>
              <a:path w="31750" h="8889">
                <a:moveTo>
                  <a:pt x="31276" y="8434"/>
                </a:moveTo>
                <a:lnTo>
                  <a:pt x="23113" y="8450"/>
                </a:lnTo>
                <a:lnTo>
                  <a:pt x="15088" y="7024"/>
                </a:lnTo>
                <a:lnTo>
                  <a:pt x="7337" y="4195"/>
                </a:lnTo>
                <a:lnTo>
                  <a:pt x="0" y="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985104" y="5716920"/>
            <a:ext cx="13970" cy="4445"/>
          </a:xfrm>
          <a:custGeom>
            <a:avLst/>
            <a:gdLst/>
            <a:ahLst/>
            <a:cxnLst/>
            <a:rect l="l" t="t" r="r" b="b"/>
            <a:pathLst>
              <a:path w="13970" h="4445">
                <a:moveTo>
                  <a:pt x="13684" y="0"/>
                </a:moveTo>
                <a:lnTo>
                  <a:pt x="9294" y="2038"/>
                </a:lnTo>
                <a:lnTo>
                  <a:pt x="4693" y="3395"/>
                </a:lnTo>
                <a:lnTo>
                  <a:pt x="0" y="4037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8108459" y="5742859"/>
            <a:ext cx="8255" cy="18415"/>
          </a:xfrm>
          <a:custGeom>
            <a:avLst/>
            <a:gdLst/>
            <a:ahLst/>
            <a:cxnLst/>
            <a:rect l="l" t="t" r="r" b="b"/>
            <a:pathLst>
              <a:path w="8254" h="18414">
                <a:moveTo>
                  <a:pt x="8245" y="18415"/>
                </a:moveTo>
                <a:lnTo>
                  <a:pt x="4943" y="12638"/>
                </a:lnTo>
                <a:lnTo>
                  <a:pt x="2179" y="6464"/>
                </a:lnTo>
                <a:lnTo>
                  <a:pt x="0" y="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8265887" y="5715353"/>
            <a:ext cx="3810" cy="20320"/>
          </a:xfrm>
          <a:custGeom>
            <a:avLst/>
            <a:gdLst/>
            <a:ahLst/>
            <a:cxnLst/>
            <a:rect l="l" t="t" r="r" b="b"/>
            <a:pathLst>
              <a:path w="3809" h="20320">
                <a:moveTo>
                  <a:pt x="3292" y="0"/>
                </a:moveTo>
                <a:lnTo>
                  <a:pt x="2806" y="6852"/>
                </a:lnTo>
                <a:lnTo>
                  <a:pt x="1703" y="13625"/>
                </a:lnTo>
                <a:lnTo>
                  <a:pt x="0" y="20206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8334644" y="5590502"/>
            <a:ext cx="40640" cy="75565"/>
          </a:xfrm>
          <a:custGeom>
            <a:avLst/>
            <a:gdLst/>
            <a:ahLst/>
            <a:cxnLst/>
            <a:rect l="l" t="t" r="r" b="b"/>
            <a:pathLst>
              <a:path w="40640" h="75564">
                <a:moveTo>
                  <a:pt x="0" y="0"/>
                </a:moveTo>
                <a:lnTo>
                  <a:pt x="16744" y="13215"/>
                </a:lnTo>
                <a:lnTo>
                  <a:pt x="29436" y="30996"/>
                </a:lnTo>
                <a:lnTo>
                  <a:pt x="37446" y="52158"/>
                </a:lnTo>
                <a:lnTo>
                  <a:pt x="40146" y="75518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8411460" y="5510069"/>
            <a:ext cx="18415" cy="28575"/>
          </a:xfrm>
          <a:custGeom>
            <a:avLst/>
            <a:gdLst/>
            <a:ahLst/>
            <a:cxnLst/>
            <a:rect l="l" t="t" r="r" b="b"/>
            <a:pathLst>
              <a:path w="18415" h="28575">
                <a:moveTo>
                  <a:pt x="17876" y="0"/>
                </a:moveTo>
                <a:lnTo>
                  <a:pt x="14481" y="7951"/>
                </a:lnTo>
                <a:lnTo>
                  <a:pt x="10341" y="15369"/>
                </a:lnTo>
                <a:lnTo>
                  <a:pt x="5498" y="22181"/>
                </a:lnTo>
                <a:lnTo>
                  <a:pt x="0" y="28317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8386441" y="5404997"/>
            <a:ext cx="1270" cy="13970"/>
          </a:xfrm>
          <a:custGeom>
            <a:avLst/>
            <a:gdLst/>
            <a:ahLst/>
            <a:cxnLst/>
            <a:rect l="l" t="t" r="r" b="b"/>
            <a:pathLst>
              <a:path w="1270" h="13970">
                <a:moveTo>
                  <a:pt x="0" y="0"/>
                </a:moveTo>
                <a:lnTo>
                  <a:pt x="683" y="4412"/>
                </a:lnTo>
                <a:lnTo>
                  <a:pt x="999" y="8890"/>
                </a:lnTo>
                <a:lnTo>
                  <a:pt x="943" y="13373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8272279" y="5372342"/>
            <a:ext cx="9525" cy="17145"/>
          </a:xfrm>
          <a:custGeom>
            <a:avLst/>
            <a:gdLst/>
            <a:ahLst/>
            <a:cxnLst/>
            <a:rect l="l" t="t" r="r" b="b"/>
            <a:pathLst>
              <a:path w="9525" h="17145">
                <a:moveTo>
                  <a:pt x="0" y="17055"/>
                </a:moveTo>
                <a:lnTo>
                  <a:pt x="2329" y="10885"/>
                </a:lnTo>
                <a:lnTo>
                  <a:pt x="5413" y="5140"/>
                </a:lnTo>
                <a:lnTo>
                  <a:pt x="9157" y="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8186626" y="5382816"/>
            <a:ext cx="4445" cy="15240"/>
          </a:xfrm>
          <a:custGeom>
            <a:avLst/>
            <a:gdLst/>
            <a:ahLst/>
            <a:cxnLst/>
            <a:rect l="l" t="t" r="r" b="b"/>
            <a:pathLst>
              <a:path w="4445" h="15239">
                <a:moveTo>
                  <a:pt x="0" y="14709"/>
                </a:moveTo>
                <a:lnTo>
                  <a:pt x="950" y="9610"/>
                </a:lnTo>
                <a:lnTo>
                  <a:pt x="2440" y="4669"/>
                </a:lnTo>
                <a:lnTo>
                  <a:pt x="4435" y="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8086107" y="5402521"/>
            <a:ext cx="16510" cy="14604"/>
          </a:xfrm>
          <a:custGeom>
            <a:avLst/>
            <a:gdLst/>
            <a:ahLst/>
            <a:cxnLst/>
            <a:rect l="l" t="t" r="r" b="b"/>
            <a:pathLst>
              <a:path w="16509" h="14604">
                <a:moveTo>
                  <a:pt x="0" y="0"/>
                </a:moveTo>
                <a:lnTo>
                  <a:pt x="5825" y="3981"/>
                </a:lnTo>
                <a:lnTo>
                  <a:pt x="11214" y="8773"/>
                </a:lnTo>
                <a:lnTo>
                  <a:pt x="16049" y="1427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7961403" y="5499658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2800" y="15014"/>
                </a:moveTo>
                <a:lnTo>
                  <a:pt x="1529" y="10103"/>
                </a:lnTo>
                <a:lnTo>
                  <a:pt x="592" y="5083"/>
                </a:lnTo>
                <a:lnTo>
                  <a:pt x="0" y="0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7024876" y="5932876"/>
            <a:ext cx="1813560" cy="4965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 marR="5080" indent="47625">
              <a:lnSpc>
                <a:spcPts val="1920"/>
              </a:lnSpc>
              <a:spcBef>
                <a:spcPts val="10"/>
              </a:spcBef>
            </a:pP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Conceptual picture  of network</a:t>
            </a:r>
            <a:r>
              <a:rPr dirty="0" sz="1600" spc="-1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structure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673615" y="6418898"/>
            <a:ext cx="3053715" cy="446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19380">
              <a:lnSpc>
                <a:spcPts val="2090"/>
              </a:lnSpc>
            </a:pPr>
            <a:r>
              <a:rPr dirty="0" sz="1800" spc="-5" b="1">
                <a:latin typeface="Arial"/>
                <a:cs typeface="Arial"/>
              </a:rPr>
              <a:t>Fraction </a:t>
            </a:r>
            <a:r>
              <a:rPr dirty="0" sz="1800" b="1">
                <a:latin typeface="Arial"/>
                <a:cs typeface="Arial"/>
              </a:rPr>
              <a:t>of </a:t>
            </a:r>
            <a:r>
              <a:rPr dirty="0" sz="1800" spc="-5" b="1">
                <a:latin typeface="Arial"/>
                <a:cs typeface="Arial"/>
              </a:rPr>
              <a:t>removed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edges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</a:t>
            </a:r>
            <a:r>
              <a:rPr dirty="0" sz="900" spc="5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Graphs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0" name="object 7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71" name="object 7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14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7784592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01584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5">
                <a:solidFill>
                  <a:srgbClr val="0000FF"/>
                </a:solidFill>
              </a:rPr>
              <a:t>Granovetter’s </a:t>
            </a:r>
            <a:r>
              <a:rPr dirty="0" spc="-5">
                <a:solidFill>
                  <a:srgbClr val="0000FF"/>
                </a:solidFill>
              </a:rPr>
              <a:t>theory leads </a:t>
            </a:r>
            <a:r>
              <a:rPr dirty="0" spc="-15">
                <a:solidFill>
                  <a:srgbClr val="0000FF"/>
                </a:solidFill>
              </a:rPr>
              <a:t>to </a:t>
            </a:r>
            <a:r>
              <a:rPr dirty="0" spc="-5">
                <a:solidFill>
                  <a:srgbClr val="0000FF"/>
                </a:solidFill>
              </a:rPr>
              <a:t>the </a:t>
            </a:r>
            <a:r>
              <a:rPr dirty="0" spc="-10">
                <a:solidFill>
                  <a:srgbClr val="0000FF"/>
                </a:solidFill>
              </a:rPr>
              <a:t>following  conceptual picture </a:t>
            </a:r>
            <a:r>
              <a:rPr dirty="0">
                <a:solidFill>
                  <a:srgbClr val="0000FF"/>
                </a:solidFill>
              </a:rPr>
              <a:t>of</a:t>
            </a:r>
            <a:r>
              <a:rPr dirty="0" spc="-25">
                <a:solidFill>
                  <a:srgbClr val="0000FF"/>
                </a:solidFill>
              </a:rPr>
              <a:t> </a:t>
            </a:r>
            <a:r>
              <a:rPr dirty="0" spc="-10">
                <a:solidFill>
                  <a:srgbClr val="0000FF"/>
                </a:solidFill>
              </a:rPr>
              <a:t>networks</a:t>
            </a:r>
          </a:p>
        </p:txBody>
      </p:sp>
      <p:sp>
        <p:nvSpPr>
          <p:cNvPr id="4" name="object 4"/>
          <p:cNvSpPr/>
          <p:nvPr/>
        </p:nvSpPr>
        <p:spPr>
          <a:xfrm>
            <a:off x="2209800" y="2682180"/>
            <a:ext cx="3844272" cy="36861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653743" y="2759548"/>
            <a:ext cx="1235710" cy="422909"/>
          </a:xfrm>
          <a:custGeom>
            <a:avLst/>
            <a:gdLst/>
            <a:ahLst/>
            <a:cxnLst/>
            <a:rect l="l" t="t" r="r" b="b"/>
            <a:pathLst>
              <a:path w="1235710" h="422910">
                <a:moveTo>
                  <a:pt x="81800" y="382530"/>
                </a:moveTo>
                <a:lnTo>
                  <a:pt x="27619" y="399278"/>
                </a:lnTo>
                <a:lnTo>
                  <a:pt x="128212" y="422649"/>
                </a:lnTo>
                <a:lnTo>
                  <a:pt x="135891" y="417866"/>
                </a:lnTo>
                <a:lnTo>
                  <a:pt x="139462" y="402494"/>
                </a:lnTo>
                <a:lnTo>
                  <a:pt x="134679" y="394816"/>
                </a:lnTo>
                <a:lnTo>
                  <a:pt x="81800" y="382530"/>
                </a:lnTo>
                <a:close/>
              </a:path>
              <a:path w="1235710" h="422910">
                <a:moveTo>
                  <a:pt x="16719" y="396746"/>
                </a:moveTo>
                <a:lnTo>
                  <a:pt x="23771" y="400467"/>
                </a:lnTo>
                <a:lnTo>
                  <a:pt x="27619" y="399278"/>
                </a:lnTo>
                <a:lnTo>
                  <a:pt x="16719" y="396746"/>
                </a:lnTo>
                <a:close/>
              </a:path>
              <a:path w="1235710" h="422910">
                <a:moveTo>
                  <a:pt x="73361" y="355230"/>
                </a:moveTo>
                <a:lnTo>
                  <a:pt x="19180" y="371978"/>
                </a:lnTo>
                <a:lnTo>
                  <a:pt x="11611" y="380219"/>
                </a:lnTo>
                <a:lnTo>
                  <a:pt x="11111" y="381167"/>
                </a:lnTo>
                <a:lnTo>
                  <a:pt x="15772" y="396246"/>
                </a:lnTo>
                <a:lnTo>
                  <a:pt x="16719" y="396746"/>
                </a:lnTo>
                <a:lnTo>
                  <a:pt x="27619" y="399278"/>
                </a:lnTo>
                <a:lnTo>
                  <a:pt x="44204" y="394152"/>
                </a:lnTo>
                <a:lnTo>
                  <a:pt x="37613" y="394152"/>
                </a:lnTo>
                <a:lnTo>
                  <a:pt x="30323" y="370570"/>
                </a:lnTo>
                <a:lnTo>
                  <a:pt x="59272" y="370570"/>
                </a:lnTo>
                <a:lnTo>
                  <a:pt x="73361" y="355230"/>
                </a:lnTo>
                <a:close/>
              </a:path>
              <a:path w="1235710" h="422910">
                <a:moveTo>
                  <a:pt x="11611" y="380219"/>
                </a:moveTo>
                <a:lnTo>
                  <a:pt x="0" y="392861"/>
                </a:lnTo>
                <a:lnTo>
                  <a:pt x="16719" y="396746"/>
                </a:lnTo>
                <a:lnTo>
                  <a:pt x="15772" y="396246"/>
                </a:lnTo>
                <a:lnTo>
                  <a:pt x="11111" y="381167"/>
                </a:lnTo>
                <a:lnTo>
                  <a:pt x="11611" y="380219"/>
                </a:lnTo>
                <a:close/>
              </a:path>
              <a:path w="1235710" h="422910">
                <a:moveTo>
                  <a:pt x="30323" y="370570"/>
                </a:moveTo>
                <a:lnTo>
                  <a:pt x="37613" y="394152"/>
                </a:lnTo>
                <a:lnTo>
                  <a:pt x="54181" y="376113"/>
                </a:lnTo>
                <a:lnTo>
                  <a:pt x="30323" y="370570"/>
                </a:lnTo>
                <a:close/>
              </a:path>
              <a:path w="1235710" h="422910">
                <a:moveTo>
                  <a:pt x="54181" y="376113"/>
                </a:moveTo>
                <a:lnTo>
                  <a:pt x="37613" y="394152"/>
                </a:lnTo>
                <a:lnTo>
                  <a:pt x="44204" y="394152"/>
                </a:lnTo>
                <a:lnTo>
                  <a:pt x="81800" y="382530"/>
                </a:lnTo>
                <a:lnTo>
                  <a:pt x="54181" y="376113"/>
                </a:lnTo>
                <a:close/>
              </a:path>
              <a:path w="1235710" h="422910">
                <a:moveTo>
                  <a:pt x="1222583" y="0"/>
                </a:moveTo>
                <a:lnTo>
                  <a:pt x="73361" y="355230"/>
                </a:lnTo>
                <a:lnTo>
                  <a:pt x="54181" y="376113"/>
                </a:lnTo>
                <a:lnTo>
                  <a:pt x="81800" y="382530"/>
                </a:lnTo>
                <a:lnTo>
                  <a:pt x="1231021" y="27299"/>
                </a:lnTo>
                <a:lnTo>
                  <a:pt x="1235243" y="19300"/>
                </a:lnTo>
                <a:lnTo>
                  <a:pt x="1230583" y="4221"/>
                </a:lnTo>
                <a:lnTo>
                  <a:pt x="1222583" y="0"/>
                </a:lnTo>
                <a:close/>
              </a:path>
              <a:path w="1235710" h="422910">
                <a:moveTo>
                  <a:pt x="19180" y="371978"/>
                </a:moveTo>
                <a:lnTo>
                  <a:pt x="15332" y="373167"/>
                </a:lnTo>
                <a:lnTo>
                  <a:pt x="11611" y="380219"/>
                </a:lnTo>
                <a:lnTo>
                  <a:pt x="19180" y="371978"/>
                </a:lnTo>
                <a:close/>
              </a:path>
              <a:path w="1235710" h="422910">
                <a:moveTo>
                  <a:pt x="59272" y="370570"/>
                </a:moveTo>
                <a:lnTo>
                  <a:pt x="30323" y="370570"/>
                </a:lnTo>
                <a:lnTo>
                  <a:pt x="54181" y="376113"/>
                </a:lnTo>
                <a:lnTo>
                  <a:pt x="59272" y="370570"/>
                </a:lnTo>
                <a:close/>
              </a:path>
              <a:path w="1235710" h="422910">
                <a:moveTo>
                  <a:pt x="98078" y="295535"/>
                </a:moveTo>
                <a:lnTo>
                  <a:pt x="89039" y="295918"/>
                </a:lnTo>
                <a:lnTo>
                  <a:pt x="19180" y="371978"/>
                </a:lnTo>
                <a:lnTo>
                  <a:pt x="73361" y="355230"/>
                </a:lnTo>
                <a:lnTo>
                  <a:pt x="110084" y="315248"/>
                </a:lnTo>
                <a:lnTo>
                  <a:pt x="109701" y="306210"/>
                </a:lnTo>
                <a:lnTo>
                  <a:pt x="98078" y="295535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844569" y="2911553"/>
            <a:ext cx="1235710" cy="746125"/>
          </a:xfrm>
          <a:custGeom>
            <a:avLst/>
            <a:gdLst/>
            <a:ahLst/>
            <a:cxnLst/>
            <a:rect l="l" t="t" r="r" b="b"/>
            <a:pathLst>
              <a:path w="1235710" h="746125">
                <a:moveTo>
                  <a:pt x="28353" y="743888"/>
                </a:moveTo>
                <a:lnTo>
                  <a:pt x="17173" y="744001"/>
                </a:lnTo>
                <a:lnTo>
                  <a:pt x="24898" y="745951"/>
                </a:lnTo>
                <a:lnTo>
                  <a:pt x="28353" y="743888"/>
                </a:lnTo>
                <a:close/>
              </a:path>
              <a:path w="1235710" h="746125">
                <a:moveTo>
                  <a:pt x="8301" y="729141"/>
                </a:moveTo>
                <a:lnTo>
                  <a:pt x="0" y="744175"/>
                </a:lnTo>
                <a:lnTo>
                  <a:pt x="17173" y="744001"/>
                </a:lnTo>
                <a:lnTo>
                  <a:pt x="16126" y="743737"/>
                </a:lnTo>
                <a:lnTo>
                  <a:pt x="8037" y="730187"/>
                </a:lnTo>
                <a:lnTo>
                  <a:pt x="8301" y="729141"/>
                </a:lnTo>
                <a:close/>
              </a:path>
              <a:path w="1235710" h="746125">
                <a:moveTo>
                  <a:pt x="62400" y="690284"/>
                </a:moveTo>
                <a:lnTo>
                  <a:pt x="13707" y="719352"/>
                </a:lnTo>
                <a:lnTo>
                  <a:pt x="8301" y="729141"/>
                </a:lnTo>
                <a:lnTo>
                  <a:pt x="8037" y="730187"/>
                </a:lnTo>
                <a:lnTo>
                  <a:pt x="16126" y="743737"/>
                </a:lnTo>
                <a:lnTo>
                  <a:pt x="17173" y="744001"/>
                </a:lnTo>
                <a:lnTo>
                  <a:pt x="28353" y="743888"/>
                </a:lnTo>
                <a:lnTo>
                  <a:pt x="40651" y="736546"/>
                </a:lnTo>
                <a:lnTo>
                  <a:pt x="36854" y="736546"/>
                </a:lnTo>
                <a:lnTo>
                  <a:pt x="24202" y="715354"/>
                </a:lnTo>
                <a:lnTo>
                  <a:pt x="48693" y="715106"/>
                </a:lnTo>
                <a:lnTo>
                  <a:pt x="62400" y="690284"/>
                </a:lnTo>
                <a:close/>
              </a:path>
              <a:path w="1235710" h="746125">
                <a:moveTo>
                  <a:pt x="131331" y="714269"/>
                </a:moveTo>
                <a:lnTo>
                  <a:pt x="77047" y="714819"/>
                </a:lnTo>
                <a:lnTo>
                  <a:pt x="28353" y="743888"/>
                </a:lnTo>
                <a:lnTo>
                  <a:pt x="131621" y="742843"/>
                </a:lnTo>
                <a:lnTo>
                  <a:pt x="137952" y="736382"/>
                </a:lnTo>
                <a:lnTo>
                  <a:pt x="137793" y="720601"/>
                </a:lnTo>
                <a:lnTo>
                  <a:pt x="131331" y="714269"/>
                </a:lnTo>
                <a:close/>
              </a:path>
              <a:path w="1235710" h="746125">
                <a:moveTo>
                  <a:pt x="48693" y="715106"/>
                </a:moveTo>
                <a:lnTo>
                  <a:pt x="24202" y="715354"/>
                </a:lnTo>
                <a:lnTo>
                  <a:pt x="36854" y="736546"/>
                </a:lnTo>
                <a:lnTo>
                  <a:pt x="48693" y="715106"/>
                </a:lnTo>
                <a:close/>
              </a:path>
              <a:path w="1235710" h="746125">
                <a:moveTo>
                  <a:pt x="77047" y="714819"/>
                </a:moveTo>
                <a:lnTo>
                  <a:pt x="48693" y="715106"/>
                </a:lnTo>
                <a:lnTo>
                  <a:pt x="36854" y="736546"/>
                </a:lnTo>
                <a:lnTo>
                  <a:pt x="40651" y="736546"/>
                </a:lnTo>
                <a:lnTo>
                  <a:pt x="77047" y="714819"/>
                </a:lnTo>
                <a:close/>
              </a:path>
              <a:path w="1235710" h="746125">
                <a:moveTo>
                  <a:pt x="13707" y="719352"/>
                </a:moveTo>
                <a:lnTo>
                  <a:pt x="10251" y="721415"/>
                </a:lnTo>
                <a:lnTo>
                  <a:pt x="8301" y="729141"/>
                </a:lnTo>
                <a:lnTo>
                  <a:pt x="13707" y="719352"/>
                </a:lnTo>
                <a:close/>
              </a:path>
              <a:path w="1235710" h="746125">
                <a:moveTo>
                  <a:pt x="72320" y="626440"/>
                </a:moveTo>
                <a:lnTo>
                  <a:pt x="63628" y="628948"/>
                </a:lnTo>
                <a:lnTo>
                  <a:pt x="13707" y="719352"/>
                </a:lnTo>
                <a:lnTo>
                  <a:pt x="62400" y="690284"/>
                </a:lnTo>
                <a:lnTo>
                  <a:pt x="88643" y="642760"/>
                </a:lnTo>
                <a:lnTo>
                  <a:pt x="86135" y="634069"/>
                </a:lnTo>
                <a:lnTo>
                  <a:pt x="72320" y="626440"/>
                </a:lnTo>
                <a:close/>
              </a:path>
              <a:path w="1235710" h="746125">
                <a:moveTo>
                  <a:pt x="1218708" y="0"/>
                </a:moveTo>
                <a:lnTo>
                  <a:pt x="62400" y="690284"/>
                </a:lnTo>
                <a:lnTo>
                  <a:pt x="48693" y="715106"/>
                </a:lnTo>
                <a:lnTo>
                  <a:pt x="77047" y="714819"/>
                </a:lnTo>
                <a:lnTo>
                  <a:pt x="1233355" y="24535"/>
                </a:lnTo>
                <a:lnTo>
                  <a:pt x="1235569" y="15764"/>
                </a:lnTo>
                <a:lnTo>
                  <a:pt x="1227480" y="2213"/>
                </a:lnTo>
                <a:lnTo>
                  <a:pt x="1218708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951747" y="2565907"/>
            <a:ext cx="2785110" cy="1510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Strong</a:t>
            </a:r>
            <a:r>
              <a:rPr dirty="0" sz="2400" spc="-4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ties/edges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450">
              <a:latin typeface="Times New Roman"/>
              <a:cs typeface="Times New Roman"/>
            </a:endParaRPr>
          </a:p>
          <a:p>
            <a:pPr marL="523240">
              <a:lnSpc>
                <a:spcPct val="100000"/>
              </a:lnSpc>
            </a:pPr>
            <a:r>
              <a:rPr dirty="0" sz="2400" spc="-15">
                <a:solidFill>
                  <a:srgbClr val="008000"/>
                </a:solidFill>
                <a:latin typeface="Arial"/>
                <a:cs typeface="Arial"/>
              </a:rPr>
              <a:t>Weak</a:t>
            </a:r>
            <a:r>
              <a:rPr dirty="0" sz="2400" spc="-5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ties/edges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164732" y="3879495"/>
            <a:ext cx="1235710" cy="422909"/>
          </a:xfrm>
          <a:custGeom>
            <a:avLst/>
            <a:gdLst/>
            <a:ahLst/>
            <a:cxnLst/>
            <a:rect l="l" t="t" r="r" b="b"/>
            <a:pathLst>
              <a:path w="1235710" h="422910">
                <a:moveTo>
                  <a:pt x="81800" y="382531"/>
                </a:moveTo>
                <a:lnTo>
                  <a:pt x="27619" y="399279"/>
                </a:lnTo>
                <a:lnTo>
                  <a:pt x="128212" y="422650"/>
                </a:lnTo>
                <a:lnTo>
                  <a:pt x="135891" y="417868"/>
                </a:lnTo>
                <a:lnTo>
                  <a:pt x="139462" y="402496"/>
                </a:lnTo>
                <a:lnTo>
                  <a:pt x="134679" y="394817"/>
                </a:lnTo>
                <a:lnTo>
                  <a:pt x="81800" y="382531"/>
                </a:lnTo>
                <a:close/>
              </a:path>
              <a:path w="1235710" h="422910">
                <a:moveTo>
                  <a:pt x="16721" y="396747"/>
                </a:moveTo>
                <a:lnTo>
                  <a:pt x="23771" y="400469"/>
                </a:lnTo>
                <a:lnTo>
                  <a:pt x="27619" y="399279"/>
                </a:lnTo>
                <a:lnTo>
                  <a:pt x="16721" y="396747"/>
                </a:lnTo>
                <a:close/>
              </a:path>
              <a:path w="1235710" h="422910">
                <a:moveTo>
                  <a:pt x="73363" y="355230"/>
                </a:moveTo>
                <a:lnTo>
                  <a:pt x="19182" y="371977"/>
                </a:lnTo>
                <a:lnTo>
                  <a:pt x="11611" y="380221"/>
                </a:lnTo>
                <a:lnTo>
                  <a:pt x="11111" y="381168"/>
                </a:lnTo>
                <a:lnTo>
                  <a:pt x="15770" y="396246"/>
                </a:lnTo>
                <a:lnTo>
                  <a:pt x="16721" y="396747"/>
                </a:lnTo>
                <a:lnTo>
                  <a:pt x="27619" y="399279"/>
                </a:lnTo>
                <a:lnTo>
                  <a:pt x="44204" y="394153"/>
                </a:lnTo>
                <a:lnTo>
                  <a:pt x="37613" y="394153"/>
                </a:lnTo>
                <a:lnTo>
                  <a:pt x="30323" y="370572"/>
                </a:lnTo>
                <a:lnTo>
                  <a:pt x="59272" y="370572"/>
                </a:lnTo>
                <a:lnTo>
                  <a:pt x="73363" y="355230"/>
                </a:lnTo>
                <a:close/>
              </a:path>
              <a:path w="1235710" h="422910">
                <a:moveTo>
                  <a:pt x="11611" y="380221"/>
                </a:moveTo>
                <a:lnTo>
                  <a:pt x="0" y="392863"/>
                </a:lnTo>
                <a:lnTo>
                  <a:pt x="16721" y="396747"/>
                </a:lnTo>
                <a:lnTo>
                  <a:pt x="15770" y="396246"/>
                </a:lnTo>
                <a:lnTo>
                  <a:pt x="11111" y="381168"/>
                </a:lnTo>
                <a:lnTo>
                  <a:pt x="11611" y="380221"/>
                </a:lnTo>
                <a:close/>
              </a:path>
              <a:path w="1235710" h="422910">
                <a:moveTo>
                  <a:pt x="30323" y="370572"/>
                </a:moveTo>
                <a:lnTo>
                  <a:pt x="37613" y="394153"/>
                </a:lnTo>
                <a:lnTo>
                  <a:pt x="54181" y="376115"/>
                </a:lnTo>
                <a:lnTo>
                  <a:pt x="30323" y="370572"/>
                </a:lnTo>
                <a:close/>
              </a:path>
              <a:path w="1235710" h="422910">
                <a:moveTo>
                  <a:pt x="54181" y="376115"/>
                </a:moveTo>
                <a:lnTo>
                  <a:pt x="37613" y="394153"/>
                </a:lnTo>
                <a:lnTo>
                  <a:pt x="44204" y="394153"/>
                </a:lnTo>
                <a:lnTo>
                  <a:pt x="81800" y="382531"/>
                </a:lnTo>
                <a:lnTo>
                  <a:pt x="54181" y="376115"/>
                </a:lnTo>
                <a:close/>
              </a:path>
              <a:path w="1235710" h="422910">
                <a:moveTo>
                  <a:pt x="1222582" y="0"/>
                </a:moveTo>
                <a:lnTo>
                  <a:pt x="73363" y="355230"/>
                </a:lnTo>
                <a:lnTo>
                  <a:pt x="54181" y="376115"/>
                </a:lnTo>
                <a:lnTo>
                  <a:pt x="81800" y="382531"/>
                </a:lnTo>
                <a:lnTo>
                  <a:pt x="1231021" y="27301"/>
                </a:lnTo>
                <a:lnTo>
                  <a:pt x="1235243" y="19300"/>
                </a:lnTo>
                <a:lnTo>
                  <a:pt x="1230583" y="4222"/>
                </a:lnTo>
                <a:lnTo>
                  <a:pt x="1222582" y="0"/>
                </a:lnTo>
                <a:close/>
              </a:path>
              <a:path w="1235710" h="422910">
                <a:moveTo>
                  <a:pt x="19182" y="371977"/>
                </a:moveTo>
                <a:lnTo>
                  <a:pt x="15332" y="373167"/>
                </a:lnTo>
                <a:lnTo>
                  <a:pt x="11611" y="380221"/>
                </a:lnTo>
                <a:lnTo>
                  <a:pt x="19182" y="371977"/>
                </a:lnTo>
                <a:close/>
              </a:path>
              <a:path w="1235710" h="422910">
                <a:moveTo>
                  <a:pt x="59272" y="370572"/>
                </a:moveTo>
                <a:lnTo>
                  <a:pt x="30323" y="370572"/>
                </a:lnTo>
                <a:lnTo>
                  <a:pt x="54181" y="376115"/>
                </a:lnTo>
                <a:lnTo>
                  <a:pt x="59272" y="370572"/>
                </a:lnTo>
                <a:close/>
              </a:path>
              <a:path w="1235710" h="422910">
                <a:moveTo>
                  <a:pt x="98077" y="295536"/>
                </a:moveTo>
                <a:lnTo>
                  <a:pt x="89039" y="295920"/>
                </a:lnTo>
                <a:lnTo>
                  <a:pt x="19182" y="371977"/>
                </a:lnTo>
                <a:lnTo>
                  <a:pt x="73363" y="355230"/>
                </a:lnTo>
                <a:lnTo>
                  <a:pt x="110084" y="315249"/>
                </a:lnTo>
                <a:lnTo>
                  <a:pt x="109700" y="306210"/>
                </a:lnTo>
                <a:lnTo>
                  <a:pt x="98077" y="295536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433287" y="4031509"/>
            <a:ext cx="2158365" cy="1081405"/>
          </a:xfrm>
          <a:custGeom>
            <a:avLst/>
            <a:gdLst/>
            <a:ahLst/>
            <a:cxnLst/>
            <a:rect l="l" t="t" r="r" b="b"/>
            <a:pathLst>
              <a:path w="2158365" h="1081404">
                <a:moveTo>
                  <a:pt x="79150" y="1048923"/>
                </a:moveTo>
                <a:lnTo>
                  <a:pt x="28283" y="1073999"/>
                </a:lnTo>
                <a:lnTo>
                  <a:pt x="131304" y="1081229"/>
                </a:lnTo>
                <a:lnTo>
                  <a:pt x="138132" y="1075296"/>
                </a:lnTo>
                <a:lnTo>
                  <a:pt x="139237" y="1059553"/>
                </a:lnTo>
                <a:lnTo>
                  <a:pt x="133304" y="1052724"/>
                </a:lnTo>
                <a:lnTo>
                  <a:pt x="79150" y="1048923"/>
                </a:lnTo>
                <a:close/>
              </a:path>
              <a:path w="2158365" h="1081404">
                <a:moveTo>
                  <a:pt x="17159" y="1073218"/>
                </a:moveTo>
                <a:lnTo>
                  <a:pt x="24684" y="1075773"/>
                </a:lnTo>
                <a:lnTo>
                  <a:pt x="28283" y="1073999"/>
                </a:lnTo>
                <a:lnTo>
                  <a:pt x="17159" y="1073218"/>
                </a:lnTo>
                <a:close/>
              </a:path>
              <a:path w="2158365" h="1081404">
                <a:moveTo>
                  <a:pt x="66516" y="1023293"/>
                </a:moveTo>
                <a:lnTo>
                  <a:pt x="15651" y="1048369"/>
                </a:lnTo>
                <a:lnTo>
                  <a:pt x="9494" y="1057670"/>
                </a:lnTo>
                <a:lnTo>
                  <a:pt x="9141" y="1058710"/>
                </a:lnTo>
                <a:lnTo>
                  <a:pt x="16118" y="1072865"/>
                </a:lnTo>
                <a:lnTo>
                  <a:pt x="17159" y="1073218"/>
                </a:lnTo>
                <a:lnTo>
                  <a:pt x="28283" y="1073999"/>
                </a:lnTo>
                <a:lnTo>
                  <a:pt x="41747" y="1067362"/>
                </a:lnTo>
                <a:lnTo>
                  <a:pt x="37346" y="1067362"/>
                </a:lnTo>
                <a:lnTo>
                  <a:pt x="26432" y="1045223"/>
                </a:lnTo>
                <a:lnTo>
                  <a:pt x="52000" y="1045223"/>
                </a:lnTo>
                <a:lnTo>
                  <a:pt x="66516" y="1023293"/>
                </a:lnTo>
                <a:close/>
              </a:path>
              <a:path w="2158365" h="1081404">
                <a:moveTo>
                  <a:pt x="9494" y="1057670"/>
                </a:moveTo>
                <a:lnTo>
                  <a:pt x="0" y="1072014"/>
                </a:lnTo>
                <a:lnTo>
                  <a:pt x="17159" y="1073218"/>
                </a:lnTo>
                <a:lnTo>
                  <a:pt x="16118" y="1072865"/>
                </a:lnTo>
                <a:lnTo>
                  <a:pt x="9141" y="1058710"/>
                </a:lnTo>
                <a:lnTo>
                  <a:pt x="9494" y="1057670"/>
                </a:lnTo>
                <a:close/>
              </a:path>
              <a:path w="2158365" h="1081404">
                <a:moveTo>
                  <a:pt x="26432" y="1045223"/>
                </a:moveTo>
                <a:lnTo>
                  <a:pt x="37346" y="1067362"/>
                </a:lnTo>
                <a:lnTo>
                  <a:pt x="50865" y="1046938"/>
                </a:lnTo>
                <a:lnTo>
                  <a:pt x="26432" y="1045223"/>
                </a:lnTo>
                <a:close/>
              </a:path>
              <a:path w="2158365" h="1081404">
                <a:moveTo>
                  <a:pt x="50865" y="1046938"/>
                </a:moveTo>
                <a:lnTo>
                  <a:pt x="37346" y="1067362"/>
                </a:lnTo>
                <a:lnTo>
                  <a:pt x="41747" y="1067362"/>
                </a:lnTo>
                <a:lnTo>
                  <a:pt x="79150" y="1048923"/>
                </a:lnTo>
                <a:lnTo>
                  <a:pt x="50865" y="1046938"/>
                </a:lnTo>
                <a:close/>
              </a:path>
              <a:path w="2158365" h="1081404">
                <a:moveTo>
                  <a:pt x="15651" y="1048369"/>
                </a:moveTo>
                <a:lnTo>
                  <a:pt x="12051" y="1050143"/>
                </a:lnTo>
                <a:lnTo>
                  <a:pt x="9494" y="1057670"/>
                </a:lnTo>
                <a:lnTo>
                  <a:pt x="15651" y="1048369"/>
                </a:lnTo>
                <a:close/>
              </a:path>
              <a:path w="2158365" h="1081404">
                <a:moveTo>
                  <a:pt x="2142286" y="0"/>
                </a:moveTo>
                <a:lnTo>
                  <a:pt x="66516" y="1023293"/>
                </a:lnTo>
                <a:lnTo>
                  <a:pt x="50865" y="1046938"/>
                </a:lnTo>
                <a:lnTo>
                  <a:pt x="79150" y="1048923"/>
                </a:lnTo>
                <a:lnTo>
                  <a:pt x="2154922" y="25629"/>
                </a:lnTo>
                <a:lnTo>
                  <a:pt x="2157830" y="17064"/>
                </a:lnTo>
                <a:lnTo>
                  <a:pt x="2150852" y="2909"/>
                </a:lnTo>
                <a:lnTo>
                  <a:pt x="2142286" y="0"/>
                </a:lnTo>
                <a:close/>
              </a:path>
              <a:path w="2158365" h="1081404">
                <a:moveTo>
                  <a:pt x="81517" y="960450"/>
                </a:moveTo>
                <a:lnTo>
                  <a:pt x="72652" y="962253"/>
                </a:lnTo>
                <a:lnTo>
                  <a:pt x="15651" y="1048369"/>
                </a:lnTo>
                <a:lnTo>
                  <a:pt x="66516" y="1023293"/>
                </a:lnTo>
                <a:lnTo>
                  <a:pt x="96480" y="978025"/>
                </a:lnTo>
                <a:lnTo>
                  <a:pt x="94677" y="969161"/>
                </a:lnTo>
                <a:lnTo>
                  <a:pt x="81517" y="960450"/>
                </a:lnTo>
                <a:close/>
              </a:path>
              <a:path w="2158365" h="1081404">
                <a:moveTo>
                  <a:pt x="52000" y="1045223"/>
                </a:moveTo>
                <a:lnTo>
                  <a:pt x="26432" y="1045223"/>
                </a:lnTo>
                <a:lnTo>
                  <a:pt x="50865" y="1046938"/>
                </a:lnTo>
                <a:lnTo>
                  <a:pt x="52000" y="1045223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16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0831" y="3541776"/>
            <a:ext cx="5754624" cy="11643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501640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4149090" cy="24701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32740" marR="5080" indent="-320040">
              <a:lnSpc>
                <a:spcPct val="99800"/>
              </a:lnSpc>
              <a:spcBef>
                <a:spcPts val="10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5" b="0">
                <a:latin typeface="Calibri"/>
                <a:cs typeface="Calibri"/>
              </a:rPr>
              <a:t>Granovetter’s </a:t>
            </a:r>
            <a:r>
              <a:rPr dirty="0" spc="-5" b="0">
                <a:latin typeface="Calibri"/>
                <a:cs typeface="Calibri"/>
              </a:rPr>
              <a:t>theory  </a:t>
            </a:r>
            <a:r>
              <a:rPr dirty="0" spc="-10" b="0">
                <a:latin typeface="Calibri"/>
                <a:cs typeface="Calibri"/>
              </a:rPr>
              <a:t>suggests that </a:t>
            </a:r>
            <a:r>
              <a:rPr dirty="0" spc="-15" b="0">
                <a:latin typeface="Calibri"/>
                <a:cs typeface="Calibri"/>
              </a:rPr>
              <a:t>networks  </a:t>
            </a:r>
            <a:r>
              <a:rPr dirty="0" spc="-20" b="0">
                <a:latin typeface="Calibri"/>
                <a:cs typeface="Calibri"/>
              </a:rPr>
              <a:t>are </a:t>
            </a:r>
            <a:r>
              <a:rPr dirty="0" spc="-5" b="0">
                <a:latin typeface="Calibri"/>
                <a:cs typeface="Calibri"/>
              </a:rPr>
              <a:t>composed </a:t>
            </a:r>
            <a:r>
              <a:rPr dirty="0" b="0">
                <a:latin typeface="Calibri"/>
                <a:cs typeface="Calibri"/>
              </a:rPr>
              <a:t>of </a:t>
            </a:r>
            <a:r>
              <a:rPr dirty="0" b="0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pc="-10">
                <a:solidFill>
                  <a:srgbClr val="D60093"/>
                </a:solidFill>
              </a:rPr>
              <a:t>tightly</a:t>
            </a:r>
            <a:r>
              <a:rPr dirty="0" spc="-60">
                <a:solidFill>
                  <a:srgbClr val="D60093"/>
                </a:solidFill>
              </a:rPr>
              <a:t> </a:t>
            </a:r>
            <a:r>
              <a:rPr dirty="0" spc="-10">
                <a:solidFill>
                  <a:srgbClr val="D60093"/>
                </a:solidFill>
              </a:rPr>
              <a:t>connected</a:t>
            </a:r>
          </a:p>
          <a:p>
            <a:pPr marL="332740">
              <a:lnSpc>
                <a:spcPct val="100000"/>
              </a:lnSpc>
              <a:spcBef>
                <a:spcPts val="70"/>
              </a:spcBef>
            </a:pPr>
            <a:r>
              <a:rPr dirty="0" spc="-10">
                <a:solidFill>
                  <a:srgbClr val="D60093"/>
                </a:solidFill>
              </a:rPr>
              <a:t>sets </a:t>
            </a:r>
            <a:r>
              <a:rPr dirty="0">
                <a:solidFill>
                  <a:srgbClr val="D60093"/>
                </a:solidFill>
              </a:rPr>
              <a:t>of</a:t>
            </a:r>
            <a:r>
              <a:rPr dirty="0" spc="-55">
                <a:solidFill>
                  <a:srgbClr val="D60093"/>
                </a:solidFill>
              </a:rPr>
              <a:t> </a:t>
            </a:r>
            <a:r>
              <a:rPr dirty="0" spc="-5">
                <a:solidFill>
                  <a:srgbClr val="D60093"/>
                </a:solidFill>
              </a:rPr>
              <a:t>nodes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5006340"/>
            <a:ext cx="421068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Network</a:t>
            </a:r>
            <a:r>
              <a:rPr dirty="0" sz="3200" spc="-5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communities: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6563" y="5578347"/>
            <a:ext cx="7647305" cy="882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>
                <a:latin typeface="Calibri"/>
                <a:cs typeface="Calibri"/>
              </a:rPr>
              <a:t>Sets </a:t>
            </a:r>
            <a:r>
              <a:rPr dirty="0" sz="2800" spc="-5">
                <a:latin typeface="Calibri"/>
                <a:cs typeface="Calibri"/>
              </a:rPr>
              <a:t>of nodes with </a:t>
            </a:r>
            <a:r>
              <a:rPr dirty="0" sz="2800" spc="-5" b="1">
                <a:latin typeface="Calibri"/>
                <a:cs typeface="Calibri"/>
              </a:rPr>
              <a:t>lots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10" b="1">
                <a:latin typeface="Calibri"/>
                <a:cs typeface="Calibri"/>
              </a:rPr>
              <a:t>internal </a:t>
            </a:r>
            <a:r>
              <a:rPr dirty="0" sz="2800" spc="-5">
                <a:latin typeface="Calibri"/>
                <a:cs typeface="Calibri"/>
              </a:rPr>
              <a:t>connections</a:t>
            </a:r>
            <a:r>
              <a:rPr dirty="0" sz="2800" spc="60">
                <a:latin typeface="Calibri"/>
                <a:cs typeface="Calibri"/>
              </a:rPr>
              <a:t> </a:t>
            </a:r>
            <a:r>
              <a:rPr dirty="0" sz="2800" spc="-114">
                <a:latin typeface="Calibri"/>
                <a:cs typeface="Calibri"/>
              </a:rPr>
              <a:t>and</a:t>
            </a:r>
            <a:endParaRPr sz="2800">
              <a:latin typeface="Calibri"/>
              <a:cs typeface="Calibri"/>
            </a:endParaRPr>
          </a:p>
          <a:p>
            <a:pPr marL="287020">
              <a:lnSpc>
                <a:spcPct val="100000"/>
              </a:lnSpc>
              <a:spcBef>
                <a:spcPts val="20"/>
              </a:spcBef>
            </a:pPr>
            <a:r>
              <a:rPr dirty="0" sz="2800" spc="-25" b="1">
                <a:latin typeface="Calibri"/>
                <a:cs typeface="Calibri"/>
              </a:rPr>
              <a:t>few </a:t>
            </a:r>
            <a:r>
              <a:rPr dirty="0" sz="2800" spc="-15" b="1">
                <a:latin typeface="Calibri"/>
                <a:cs typeface="Calibri"/>
              </a:rPr>
              <a:t>external </a:t>
            </a:r>
            <a:r>
              <a:rPr dirty="0" sz="2800" spc="-5">
                <a:latin typeface="Calibri"/>
                <a:cs typeface="Calibri"/>
              </a:rPr>
              <a:t>ones </a:t>
            </a:r>
            <a:r>
              <a:rPr dirty="0" sz="2800" spc="-10">
                <a:latin typeface="Calibri"/>
                <a:cs typeface="Calibri"/>
              </a:rPr>
              <a:t>(to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20">
                <a:latin typeface="Calibri"/>
                <a:cs typeface="Calibri"/>
              </a:rPr>
              <a:t>rest </a:t>
            </a:r>
            <a:r>
              <a:rPr dirty="0" sz="2800" spc="-5">
                <a:latin typeface="Calibri"/>
                <a:cs typeface="Calibri"/>
              </a:rPr>
              <a:t>of the</a:t>
            </a:r>
            <a:r>
              <a:rPr dirty="0" sz="2800" spc="10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network).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715000" y="1295400"/>
            <a:ext cx="3099258" cy="2971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029200" y="4419600"/>
            <a:ext cx="3962400" cy="1143000"/>
          </a:xfrm>
          <a:custGeom>
            <a:avLst/>
            <a:gdLst/>
            <a:ahLst/>
            <a:cxnLst/>
            <a:rect l="l" t="t" r="r" b="b"/>
            <a:pathLst>
              <a:path w="3962400" h="1143000">
                <a:moveTo>
                  <a:pt x="3771898" y="0"/>
                </a:moveTo>
                <a:lnTo>
                  <a:pt x="190502" y="0"/>
                </a:lnTo>
                <a:lnTo>
                  <a:pt x="146821" y="5031"/>
                </a:lnTo>
                <a:lnTo>
                  <a:pt x="106724" y="19362"/>
                </a:lnTo>
                <a:lnTo>
                  <a:pt x="71352" y="41851"/>
                </a:lnTo>
                <a:lnTo>
                  <a:pt x="41851" y="71352"/>
                </a:lnTo>
                <a:lnTo>
                  <a:pt x="19362" y="106724"/>
                </a:lnTo>
                <a:lnTo>
                  <a:pt x="5031" y="146821"/>
                </a:lnTo>
                <a:lnTo>
                  <a:pt x="0" y="190502"/>
                </a:lnTo>
                <a:lnTo>
                  <a:pt x="0" y="952497"/>
                </a:lnTo>
                <a:lnTo>
                  <a:pt x="5031" y="996178"/>
                </a:lnTo>
                <a:lnTo>
                  <a:pt x="19362" y="1036275"/>
                </a:lnTo>
                <a:lnTo>
                  <a:pt x="41851" y="1071647"/>
                </a:lnTo>
                <a:lnTo>
                  <a:pt x="71352" y="1101148"/>
                </a:lnTo>
                <a:lnTo>
                  <a:pt x="106724" y="1123637"/>
                </a:lnTo>
                <a:lnTo>
                  <a:pt x="146821" y="1137968"/>
                </a:lnTo>
                <a:lnTo>
                  <a:pt x="190502" y="1143000"/>
                </a:lnTo>
                <a:lnTo>
                  <a:pt x="3771898" y="1143000"/>
                </a:lnTo>
                <a:lnTo>
                  <a:pt x="3815579" y="1137968"/>
                </a:lnTo>
                <a:lnTo>
                  <a:pt x="3855677" y="1123637"/>
                </a:lnTo>
                <a:lnTo>
                  <a:pt x="3891048" y="1101148"/>
                </a:lnTo>
                <a:lnTo>
                  <a:pt x="3920550" y="1071647"/>
                </a:lnTo>
                <a:lnTo>
                  <a:pt x="3943038" y="1036275"/>
                </a:lnTo>
                <a:lnTo>
                  <a:pt x="3957369" y="996178"/>
                </a:lnTo>
                <a:lnTo>
                  <a:pt x="3962401" y="952497"/>
                </a:lnTo>
                <a:lnTo>
                  <a:pt x="3962401" y="190502"/>
                </a:lnTo>
                <a:lnTo>
                  <a:pt x="3957369" y="146821"/>
                </a:lnTo>
                <a:lnTo>
                  <a:pt x="3943038" y="106724"/>
                </a:lnTo>
                <a:lnTo>
                  <a:pt x="3920550" y="71352"/>
                </a:lnTo>
                <a:lnTo>
                  <a:pt x="3891048" y="41851"/>
                </a:lnTo>
                <a:lnTo>
                  <a:pt x="3855677" y="19362"/>
                </a:lnTo>
                <a:lnTo>
                  <a:pt x="3815579" y="5031"/>
                </a:lnTo>
                <a:lnTo>
                  <a:pt x="3771898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005230" y="4396610"/>
            <a:ext cx="4010660" cy="1189990"/>
          </a:xfrm>
          <a:custGeom>
            <a:avLst/>
            <a:gdLst/>
            <a:ahLst/>
            <a:cxnLst/>
            <a:rect l="l" t="t" r="r" b="b"/>
            <a:pathLst>
              <a:path w="4010659" h="1189989">
                <a:moveTo>
                  <a:pt x="3795868" y="0"/>
                </a:moveTo>
                <a:lnTo>
                  <a:pt x="213260" y="0"/>
                </a:lnTo>
                <a:lnTo>
                  <a:pt x="191373" y="1270"/>
                </a:lnTo>
                <a:lnTo>
                  <a:pt x="149572" y="10160"/>
                </a:lnTo>
                <a:lnTo>
                  <a:pt x="111206" y="26670"/>
                </a:lnTo>
                <a:lnTo>
                  <a:pt x="77152" y="49530"/>
                </a:lnTo>
                <a:lnTo>
                  <a:pt x="48251" y="78739"/>
                </a:lnTo>
                <a:lnTo>
                  <a:pt x="25340" y="113030"/>
                </a:lnTo>
                <a:lnTo>
                  <a:pt x="9290" y="151130"/>
                </a:lnTo>
                <a:lnTo>
                  <a:pt x="984" y="193039"/>
                </a:lnTo>
                <a:lnTo>
                  <a:pt x="0" y="977900"/>
                </a:lnTo>
                <a:lnTo>
                  <a:pt x="1228" y="999490"/>
                </a:lnTo>
                <a:lnTo>
                  <a:pt x="9996" y="1041400"/>
                </a:lnTo>
                <a:lnTo>
                  <a:pt x="26450" y="1079500"/>
                </a:lnTo>
                <a:lnTo>
                  <a:pt x="49710" y="1113790"/>
                </a:lnTo>
                <a:lnTo>
                  <a:pt x="78921" y="1141730"/>
                </a:lnTo>
                <a:lnTo>
                  <a:pt x="113250" y="1165860"/>
                </a:lnTo>
                <a:lnTo>
                  <a:pt x="151846" y="1181100"/>
                </a:lnTo>
                <a:lnTo>
                  <a:pt x="193784" y="1189990"/>
                </a:lnTo>
                <a:lnTo>
                  <a:pt x="3818967" y="1189990"/>
                </a:lnTo>
                <a:lnTo>
                  <a:pt x="3860766" y="1181100"/>
                </a:lnTo>
                <a:lnTo>
                  <a:pt x="3899134" y="1164590"/>
                </a:lnTo>
                <a:lnTo>
                  <a:pt x="3903049" y="1162050"/>
                </a:lnTo>
                <a:lnTo>
                  <a:pt x="214472" y="1162050"/>
                </a:lnTo>
                <a:lnTo>
                  <a:pt x="195235" y="1160780"/>
                </a:lnTo>
                <a:lnTo>
                  <a:pt x="141969" y="1146810"/>
                </a:lnTo>
                <a:lnTo>
                  <a:pt x="96169" y="1118870"/>
                </a:lnTo>
                <a:lnTo>
                  <a:pt x="60349" y="1079500"/>
                </a:lnTo>
                <a:lnTo>
                  <a:pt x="37042" y="1031240"/>
                </a:lnTo>
                <a:lnTo>
                  <a:pt x="28888" y="977900"/>
                </a:lnTo>
                <a:lnTo>
                  <a:pt x="28830" y="213360"/>
                </a:lnTo>
                <a:lnTo>
                  <a:pt x="29747" y="194310"/>
                </a:lnTo>
                <a:lnTo>
                  <a:pt x="43447" y="142239"/>
                </a:lnTo>
                <a:lnTo>
                  <a:pt x="71315" y="95250"/>
                </a:lnTo>
                <a:lnTo>
                  <a:pt x="110835" y="59689"/>
                </a:lnTo>
                <a:lnTo>
                  <a:pt x="159472" y="36830"/>
                </a:lnTo>
                <a:lnTo>
                  <a:pt x="214713" y="27939"/>
                </a:lnTo>
                <a:lnTo>
                  <a:pt x="3901526" y="27939"/>
                </a:lnTo>
                <a:lnTo>
                  <a:pt x="3897088" y="25400"/>
                </a:lnTo>
                <a:lnTo>
                  <a:pt x="3878270" y="16510"/>
                </a:lnTo>
                <a:lnTo>
                  <a:pt x="3858494" y="8889"/>
                </a:lnTo>
                <a:lnTo>
                  <a:pt x="3837882" y="3810"/>
                </a:lnTo>
                <a:lnTo>
                  <a:pt x="3816557" y="1270"/>
                </a:lnTo>
                <a:lnTo>
                  <a:pt x="3795868" y="0"/>
                </a:lnTo>
                <a:close/>
              </a:path>
              <a:path w="4010659" h="1189989">
                <a:moveTo>
                  <a:pt x="3901526" y="27939"/>
                </a:moveTo>
                <a:lnTo>
                  <a:pt x="3795868" y="27939"/>
                </a:lnTo>
                <a:lnTo>
                  <a:pt x="3815104" y="29210"/>
                </a:lnTo>
                <a:lnTo>
                  <a:pt x="3833536" y="31750"/>
                </a:lnTo>
                <a:lnTo>
                  <a:pt x="3884589" y="50800"/>
                </a:lnTo>
                <a:lnTo>
                  <a:pt x="3927345" y="82550"/>
                </a:lnTo>
                <a:lnTo>
                  <a:pt x="3959275" y="125730"/>
                </a:lnTo>
                <a:lnTo>
                  <a:pt x="3977852" y="176530"/>
                </a:lnTo>
                <a:lnTo>
                  <a:pt x="3981514" y="213360"/>
                </a:lnTo>
                <a:lnTo>
                  <a:pt x="3981505" y="977900"/>
                </a:lnTo>
                <a:lnTo>
                  <a:pt x="3973156" y="1031240"/>
                </a:lnTo>
                <a:lnTo>
                  <a:pt x="3949734" y="1080770"/>
                </a:lnTo>
                <a:lnTo>
                  <a:pt x="3913817" y="1120140"/>
                </a:lnTo>
                <a:lnTo>
                  <a:pt x="3867937" y="1146810"/>
                </a:lnTo>
                <a:lnTo>
                  <a:pt x="3814622" y="1160780"/>
                </a:lnTo>
                <a:lnTo>
                  <a:pt x="3795626" y="1162050"/>
                </a:lnTo>
                <a:lnTo>
                  <a:pt x="3903049" y="1162050"/>
                </a:lnTo>
                <a:lnTo>
                  <a:pt x="3948334" y="1126490"/>
                </a:lnTo>
                <a:lnTo>
                  <a:pt x="3974346" y="1094740"/>
                </a:lnTo>
                <a:lnTo>
                  <a:pt x="3993937" y="1057910"/>
                </a:lnTo>
                <a:lnTo>
                  <a:pt x="4006225" y="1018540"/>
                </a:lnTo>
                <a:lnTo>
                  <a:pt x="4010307" y="977900"/>
                </a:lnTo>
                <a:lnTo>
                  <a:pt x="4010339" y="213360"/>
                </a:lnTo>
                <a:lnTo>
                  <a:pt x="4009113" y="190500"/>
                </a:lnTo>
                <a:lnTo>
                  <a:pt x="4000343" y="149860"/>
                </a:lnTo>
                <a:lnTo>
                  <a:pt x="3983889" y="110489"/>
                </a:lnTo>
                <a:lnTo>
                  <a:pt x="3960629" y="76200"/>
                </a:lnTo>
                <a:lnTo>
                  <a:pt x="3931418" y="48260"/>
                </a:lnTo>
                <a:lnTo>
                  <a:pt x="3914841" y="35560"/>
                </a:lnTo>
                <a:lnTo>
                  <a:pt x="3901526" y="27939"/>
                </a:lnTo>
                <a:close/>
              </a:path>
              <a:path w="4010659" h="1189989">
                <a:moveTo>
                  <a:pt x="3795868" y="38100"/>
                </a:moveTo>
                <a:lnTo>
                  <a:pt x="215197" y="38100"/>
                </a:lnTo>
                <a:lnTo>
                  <a:pt x="197166" y="39370"/>
                </a:lnTo>
                <a:lnTo>
                  <a:pt x="146569" y="52070"/>
                </a:lnTo>
                <a:lnTo>
                  <a:pt x="102980" y="77470"/>
                </a:lnTo>
                <a:lnTo>
                  <a:pt x="68811" y="115570"/>
                </a:lnTo>
                <a:lnTo>
                  <a:pt x="46480" y="161289"/>
                </a:lnTo>
                <a:lnTo>
                  <a:pt x="38433" y="213360"/>
                </a:lnTo>
                <a:lnTo>
                  <a:pt x="38471" y="977900"/>
                </a:lnTo>
                <a:lnTo>
                  <a:pt x="46056" y="1027430"/>
                </a:lnTo>
                <a:lnTo>
                  <a:pt x="68036" y="1074420"/>
                </a:lnTo>
                <a:lnTo>
                  <a:pt x="101918" y="1111250"/>
                </a:lnTo>
                <a:lnTo>
                  <a:pt x="145268" y="1137920"/>
                </a:lnTo>
                <a:lnTo>
                  <a:pt x="195720" y="1151890"/>
                </a:lnTo>
                <a:lnTo>
                  <a:pt x="3813173" y="1151890"/>
                </a:lnTo>
                <a:lnTo>
                  <a:pt x="3830675" y="1149350"/>
                </a:lnTo>
                <a:lnTo>
                  <a:pt x="3847569" y="1144270"/>
                </a:lnTo>
                <a:lnTo>
                  <a:pt x="3851619" y="1143000"/>
                </a:lnTo>
                <a:lnTo>
                  <a:pt x="214472" y="1143000"/>
                </a:lnTo>
                <a:lnTo>
                  <a:pt x="196204" y="1141730"/>
                </a:lnTo>
                <a:lnTo>
                  <a:pt x="148568" y="1129030"/>
                </a:lnTo>
                <a:lnTo>
                  <a:pt x="107668" y="1103630"/>
                </a:lnTo>
                <a:lnTo>
                  <a:pt x="75725" y="1068070"/>
                </a:lnTo>
                <a:lnTo>
                  <a:pt x="55072" y="1024890"/>
                </a:lnTo>
                <a:lnTo>
                  <a:pt x="48053" y="977900"/>
                </a:lnTo>
                <a:lnTo>
                  <a:pt x="48033" y="213360"/>
                </a:lnTo>
                <a:lnTo>
                  <a:pt x="48922" y="195580"/>
                </a:lnTo>
                <a:lnTo>
                  <a:pt x="61478" y="148589"/>
                </a:lnTo>
                <a:lnTo>
                  <a:pt x="86691" y="107950"/>
                </a:lnTo>
                <a:lnTo>
                  <a:pt x="122332" y="74930"/>
                </a:lnTo>
                <a:lnTo>
                  <a:pt x="166071" y="54610"/>
                </a:lnTo>
                <a:lnTo>
                  <a:pt x="215682" y="46989"/>
                </a:lnTo>
                <a:lnTo>
                  <a:pt x="3852159" y="46989"/>
                </a:lnTo>
                <a:lnTo>
                  <a:pt x="3848931" y="45720"/>
                </a:lnTo>
                <a:lnTo>
                  <a:pt x="3832089" y="41910"/>
                </a:lnTo>
                <a:lnTo>
                  <a:pt x="3814620" y="39370"/>
                </a:lnTo>
                <a:lnTo>
                  <a:pt x="3795868" y="38100"/>
                </a:lnTo>
                <a:close/>
              </a:path>
              <a:path w="4010659" h="1189989">
                <a:moveTo>
                  <a:pt x="3852159" y="46989"/>
                </a:moveTo>
                <a:lnTo>
                  <a:pt x="215682" y="46989"/>
                </a:lnTo>
                <a:lnTo>
                  <a:pt x="3814136" y="48260"/>
                </a:lnTo>
                <a:lnTo>
                  <a:pt x="3830640" y="50800"/>
                </a:lnTo>
                <a:lnTo>
                  <a:pt x="3876257" y="68580"/>
                </a:lnTo>
                <a:lnTo>
                  <a:pt x="3914432" y="97789"/>
                </a:lnTo>
                <a:lnTo>
                  <a:pt x="3942867" y="135889"/>
                </a:lnTo>
                <a:lnTo>
                  <a:pt x="3959256" y="181610"/>
                </a:lnTo>
                <a:lnTo>
                  <a:pt x="3962302" y="977900"/>
                </a:lnTo>
                <a:lnTo>
                  <a:pt x="3961418" y="994410"/>
                </a:lnTo>
                <a:lnTo>
                  <a:pt x="3948863" y="1041400"/>
                </a:lnTo>
                <a:lnTo>
                  <a:pt x="3923648" y="1083310"/>
                </a:lnTo>
                <a:lnTo>
                  <a:pt x="3888007" y="1115060"/>
                </a:lnTo>
                <a:lnTo>
                  <a:pt x="3844269" y="1135380"/>
                </a:lnTo>
                <a:lnTo>
                  <a:pt x="3794658" y="1143000"/>
                </a:lnTo>
                <a:lnTo>
                  <a:pt x="3851619" y="1143000"/>
                </a:lnTo>
                <a:lnTo>
                  <a:pt x="3893756" y="1122680"/>
                </a:lnTo>
                <a:lnTo>
                  <a:pt x="3931337" y="1088390"/>
                </a:lnTo>
                <a:lnTo>
                  <a:pt x="3957877" y="1045210"/>
                </a:lnTo>
                <a:lnTo>
                  <a:pt x="3971005" y="994410"/>
                </a:lnTo>
                <a:lnTo>
                  <a:pt x="3971928" y="213360"/>
                </a:lnTo>
                <a:lnTo>
                  <a:pt x="3971151" y="196850"/>
                </a:lnTo>
                <a:lnTo>
                  <a:pt x="3958427" y="146050"/>
                </a:lnTo>
                <a:lnTo>
                  <a:pt x="3932213" y="102870"/>
                </a:lnTo>
                <a:lnTo>
                  <a:pt x="3894903" y="68580"/>
                </a:lnTo>
                <a:lnTo>
                  <a:pt x="3865071" y="52070"/>
                </a:lnTo>
                <a:lnTo>
                  <a:pt x="3852159" y="46989"/>
                </a:lnTo>
                <a:close/>
              </a:path>
            </a:pathLst>
          </a:custGeom>
          <a:solidFill>
            <a:srgbClr val="4D86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196681" y="4538979"/>
            <a:ext cx="3627754" cy="88519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495934" marR="5080" indent="-483870">
              <a:lnSpc>
                <a:spcPct val="101400"/>
              </a:lnSpc>
              <a:spcBef>
                <a:spcPts val="50"/>
              </a:spcBef>
            </a:pP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Communities, clusters, 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groups,</a:t>
            </a:r>
            <a:r>
              <a:rPr dirty="0" sz="28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modules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18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4676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602739"/>
            <a:ext cx="4370070" cy="1726564"/>
          </a:xfrm>
          <a:prstGeom prst="rect"/>
        </p:spPr>
        <p:txBody>
          <a:bodyPr wrap="square" lIns="0" tIns="55244" rIns="0" bIns="0" rtlCol="0" vert="horz">
            <a:spAutoFit/>
          </a:bodyPr>
          <a:lstStyle/>
          <a:p>
            <a:pPr marL="332740" marR="5080" indent="-320040">
              <a:lnSpc>
                <a:spcPct val="90700"/>
              </a:lnSpc>
              <a:spcBef>
                <a:spcPts val="434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>
                <a:solidFill>
                  <a:srgbClr val="0000FF"/>
                </a:solidFill>
              </a:rPr>
              <a:t>How </a:t>
            </a:r>
            <a:r>
              <a:rPr dirty="0" sz="3000">
                <a:solidFill>
                  <a:srgbClr val="0000FF"/>
                </a:solidFill>
              </a:rPr>
              <a:t>do </a:t>
            </a:r>
            <a:r>
              <a:rPr dirty="0" sz="3000" spc="-15">
                <a:solidFill>
                  <a:srgbClr val="0000FF"/>
                </a:solidFill>
              </a:rPr>
              <a:t>we</a:t>
            </a:r>
            <a:r>
              <a:rPr dirty="0" sz="3000" spc="-90">
                <a:solidFill>
                  <a:srgbClr val="0000FF"/>
                </a:solidFill>
              </a:rPr>
              <a:t> </a:t>
            </a:r>
            <a:r>
              <a:rPr dirty="0" sz="3000" spc="-10">
                <a:solidFill>
                  <a:srgbClr val="0000FF"/>
                </a:solidFill>
              </a:rPr>
              <a:t>automatically  </a:t>
            </a:r>
            <a:r>
              <a:rPr dirty="0" sz="3000" spc="-5">
                <a:solidFill>
                  <a:srgbClr val="0000FF"/>
                </a:solidFill>
              </a:rPr>
              <a:t>find such </a:t>
            </a:r>
            <a:r>
              <a:rPr dirty="0" sz="3000">
                <a:solidFill>
                  <a:srgbClr val="0000FF"/>
                </a:solidFill>
              </a:rPr>
              <a:t>densely  </a:t>
            </a:r>
            <a:r>
              <a:rPr dirty="0" sz="3000" spc="-10">
                <a:solidFill>
                  <a:srgbClr val="0000FF"/>
                </a:solidFill>
              </a:rPr>
              <a:t>connected groups </a:t>
            </a:r>
            <a:r>
              <a:rPr dirty="0" sz="3000">
                <a:solidFill>
                  <a:srgbClr val="0000FF"/>
                </a:solidFill>
              </a:rPr>
              <a:t>of  </a:t>
            </a:r>
            <a:r>
              <a:rPr dirty="0" sz="3000" spc="-5">
                <a:solidFill>
                  <a:srgbClr val="0000FF"/>
                </a:solidFill>
              </a:rPr>
              <a:t>nodes?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618108" y="3571747"/>
            <a:ext cx="4332605" cy="2451735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332740" marR="5080" indent="-320040">
              <a:lnSpc>
                <a:spcPct val="89800"/>
              </a:lnSpc>
              <a:spcBef>
                <a:spcPts val="465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>
                <a:latin typeface="Calibri"/>
                <a:cs typeface="Calibri"/>
              </a:rPr>
              <a:t>Ideally such</a:t>
            </a:r>
            <a:r>
              <a:rPr dirty="0" sz="3000" spc="-9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automatically  </a:t>
            </a:r>
            <a:r>
              <a:rPr dirty="0" sz="3000" spc="-20">
                <a:latin typeface="Calibri"/>
                <a:cs typeface="Calibri"/>
              </a:rPr>
              <a:t>detected clusters </a:t>
            </a:r>
            <a:r>
              <a:rPr dirty="0" sz="3000" spc="-10">
                <a:latin typeface="Calibri"/>
                <a:cs typeface="Calibri"/>
              </a:rPr>
              <a:t>would  </a:t>
            </a:r>
            <a:r>
              <a:rPr dirty="0" sz="3000" spc="-5">
                <a:latin typeface="Calibri"/>
                <a:cs typeface="Calibri"/>
              </a:rPr>
              <a:t>then </a:t>
            </a:r>
            <a:r>
              <a:rPr dirty="0" sz="3000" spc="-10">
                <a:latin typeface="Calibri"/>
                <a:cs typeface="Calibri"/>
              </a:rPr>
              <a:t>correspond </a:t>
            </a:r>
            <a:r>
              <a:rPr dirty="0" sz="3000" spc="-20">
                <a:latin typeface="Calibri"/>
                <a:cs typeface="Calibri"/>
              </a:rPr>
              <a:t>to </a:t>
            </a:r>
            <a:r>
              <a:rPr dirty="0" sz="3000" spc="-15">
                <a:latin typeface="Calibri"/>
                <a:cs typeface="Calibri"/>
              </a:rPr>
              <a:t>real  groups</a:t>
            </a:r>
            <a:endParaRPr sz="30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2205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5" b="1">
                <a:solidFill>
                  <a:srgbClr val="D60093"/>
                </a:solidFill>
                <a:latin typeface="Calibri"/>
                <a:cs typeface="Calibri"/>
              </a:rPr>
              <a:t>For</a:t>
            </a:r>
            <a:r>
              <a:rPr dirty="0" sz="3000" spc="-10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000" spc="-15" b="1">
                <a:solidFill>
                  <a:srgbClr val="D60093"/>
                </a:solidFill>
                <a:latin typeface="Calibri"/>
                <a:cs typeface="Calibri"/>
              </a:rPr>
              <a:t>example: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81600" y="1752600"/>
            <a:ext cx="3698617" cy="304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049706" y="5107387"/>
            <a:ext cx="3962400" cy="1143000"/>
          </a:xfrm>
          <a:custGeom>
            <a:avLst/>
            <a:gdLst/>
            <a:ahLst/>
            <a:cxnLst/>
            <a:rect l="l" t="t" r="r" b="b"/>
            <a:pathLst>
              <a:path w="3962400" h="1143000">
                <a:moveTo>
                  <a:pt x="3771898" y="0"/>
                </a:moveTo>
                <a:lnTo>
                  <a:pt x="190502" y="0"/>
                </a:lnTo>
                <a:lnTo>
                  <a:pt x="146821" y="5031"/>
                </a:lnTo>
                <a:lnTo>
                  <a:pt x="106724" y="19362"/>
                </a:lnTo>
                <a:lnTo>
                  <a:pt x="71352" y="41851"/>
                </a:lnTo>
                <a:lnTo>
                  <a:pt x="41851" y="71352"/>
                </a:lnTo>
                <a:lnTo>
                  <a:pt x="19362" y="106724"/>
                </a:lnTo>
                <a:lnTo>
                  <a:pt x="5031" y="146821"/>
                </a:lnTo>
                <a:lnTo>
                  <a:pt x="0" y="190502"/>
                </a:lnTo>
                <a:lnTo>
                  <a:pt x="0" y="952498"/>
                </a:lnTo>
                <a:lnTo>
                  <a:pt x="5031" y="996178"/>
                </a:lnTo>
                <a:lnTo>
                  <a:pt x="19362" y="1036276"/>
                </a:lnTo>
                <a:lnTo>
                  <a:pt x="41851" y="1071647"/>
                </a:lnTo>
                <a:lnTo>
                  <a:pt x="71352" y="1101149"/>
                </a:lnTo>
                <a:lnTo>
                  <a:pt x="106724" y="1123637"/>
                </a:lnTo>
                <a:lnTo>
                  <a:pt x="146821" y="1137969"/>
                </a:lnTo>
                <a:lnTo>
                  <a:pt x="190502" y="1143000"/>
                </a:lnTo>
                <a:lnTo>
                  <a:pt x="3771898" y="1143000"/>
                </a:lnTo>
                <a:lnTo>
                  <a:pt x="3815579" y="1137969"/>
                </a:lnTo>
                <a:lnTo>
                  <a:pt x="3855677" y="1123637"/>
                </a:lnTo>
                <a:lnTo>
                  <a:pt x="3891048" y="1101149"/>
                </a:lnTo>
                <a:lnTo>
                  <a:pt x="3920550" y="1071647"/>
                </a:lnTo>
                <a:lnTo>
                  <a:pt x="3943038" y="1036276"/>
                </a:lnTo>
                <a:lnTo>
                  <a:pt x="3957369" y="996178"/>
                </a:lnTo>
                <a:lnTo>
                  <a:pt x="3962401" y="952498"/>
                </a:lnTo>
                <a:lnTo>
                  <a:pt x="3962401" y="190502"/>
                </a:lnTo>
                <a:lnTo>
                  <a:pt x="3957369" y="146821"/>
                </a:lnTo>
                <a:lnTo>
                  <a:pt x="3943038" y="106724"/>
                </a:lnTo>
                <a:lnTo>
                  <a:pt x="3920550" y="71352"/>
                </a:lnTo>
                <a:lnTo>
                  <a:pt x="3891048" y="41851"/>
                </a:lnTo>
                <a:lnTo>
                  <a:pt x="3855677" y="19362"/>
                </a:lnTo>
                <a:lnTo>
                  <a:pt x="3815579" y="5031"/>
                </a:lnTo>
                <a:lnTo>
                  <a:pt x="3771898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025737" y="5084397"/>
            <a:ext cx="4010660" cy="1189990"/>
          </a:xfrm>
          <a:custGeom>
            <a:avLst/>
            <a:gdLst/>
            <a:ahLst/>
            <a:cxnLst/>
            <a:rect l="l" t="t" r="r" b="b"/>
            <a:pathLst>
              <a:path w="4010659" h="1189989">
                <a:moveTo>
                  <a:pt x="3795867" y="0"/>
                </a:moveTo>
                <a:lnTo>
                  <a:pt x="213260" y="0"/>
                </a:lnTo>
                <a:lnTo>
                  <a:pt x="191372" y="1269"/>
                </a:lnTo>
                <a:lnTo>
                  <a:pt x="149572" y="10159"/>
                </a:lnTo>
                <a:lnTo>
                  <a:pt x="111205" y="26669"/>
                </a:lnTo>
                <a:lnTo>
                  <a:pt x="77152" y="49529"/>
                </a:lnTo>
                <a:lnTo>
                  <a:pt x="48249" y="78739"/>
                </a:lnTo>
                <a:lnTo>
                  <a:pt x="25339" y="113029"/>
                </a:lnTo>
                <a:lnTo>
                  <a:pt x="9290" y="151129"/>
                </a:lnTo>
                <a:lnTo>
                  <a:pt x="982" y="193039"/>
                </a:lnTo>
                <a:lnTo>
                  <a:pt x="0" y="977899"/>
                </a:lnTo>
                <a:lnTo>
                  <a:pt x="1226" y="999489"/>
                </a:lnTo>
                <a:lnTo>
                  <a:pt x="9996" y="1041399"/>
                </a:lnTo>
                <a:lnTo>
                  <a:pt x="26450" y="1079499"/>
                </a:lnTo>
                <a:lnTo>
                  <a:pt x="49710" y="1113789"/>
                </a:lnTo>
                <a:lnTo>
                  <a:pt x="78921" y="1141730"/>
                </a:lnTo>
                <a:lnTo>
                  <a:pt x="113250" y="1165859"/>
                </a:lnTo>
                <a:lnTo>
                  <a:pt x="151845" y="1181099"/>
                </a:lnTo>
                <a:lnTo>
                  <a:pt x="193782" y="1189989"/>
                </a:lnTo>
                <a:lnTo>
                  <a:pt x="3818966" y="1189989"/>
                </a:lnTo>
                <a:lnTo>
                  <a:pt x="3860765" y="1181099"/>
                </a:lnTo>
                <a:lnTo>
                  <a:pt x="3899133" y="1164589"/>
                </a:lnTo>
                <a:lnTo>
                  <a:pt x="3903048" y="1162049"/>
                </a:lnTo>
                <a:lnTo>
                  <a:pt x="214471" y="1162049"/>
                </a:lnTo>
                <a:lnTo>
                  <a:pt x="195235" y="1160780"/>
                </a:lnTo>
                <a:lnTo>
                  <a:pt x="141968" y="1146809"/>
                </a:lnTo>
                <a:lnTo>
                  <a:pt x="96168" y="1118870"/>
                </a:lnTo>
                <a:lnTo>
                  <a:pt x="60347" y="1079499"/>
                </a:lnTo>
                <a:lnTo>
                  <a:pt x="37040" y="1031239"/>
                </a:lnTo>
                <a:lnTo>
                  <a:pt x="28887" y="977899"/>
                </a:lnTo>
                <a:lnTo>
                  <a:pt x="28830" y="213359"/>
                </a:lnTo>
                <a:lnTo>
                  <a:pt x="29745" y="194309"/>
                </a:lnTo>
                <a:lnTo>
                  <a:pt x="43446" y="142239"/>
                </a:lnTo>
                <a:lnTo>
                  <a:pt x="71314" y="95250"/>
                </a:lnTo>
                <a:lnTo>
                  <a:pt x="110834" y="59689"/>
                </a:lnTo>
                <a:lnTo>
                  <a:pt x="159471" y="36829"/>
                </a:lnTo>
                <a:lnTo>
                  <a:pt x="214712" y="27939"/>
                </a:lnTo>
                <a:lnTo>
                  <a:pt x="3901526" y="27939"/>
                </a:lnTo>
                <a:lnTo>
                  <a:pt x="3897087" y="25400"/>
                </a:lnTo>
                <a:lnTo>
                  <a:pt x="3878268" y="16509"/>
                </a:lnTo>
                <a:lnTo>
                  <a:pt x="3858493" y="8889"/>
                </a:lnTo>
                <a:lnTo>
                  <a:pt x="3837881" y="3809"/>
                </a:lnTo>
                <a:lnTo>
                  <a:pt x="3816555" y="1269"/>
                </a:lnTo>
                <a:lnTo>
                  <a:pt x="3795867" y="0"/>
                </a:lnTo>
                <a:close/>
              </a:path>
              <a:path w="4010659" h="1189989">
                <a:moveTo>
                  <a:pt x="3901526" y="27939"/>
                </a:moveTo>
                <a:lnTo>
                  <a:pt x="3795867" y="27939"/>
                </a:lnTo>
                <a:lnTo>
                  <a:pt x="3815104" y="29209"/>
                </a:lnTo>
                <a:lnTo>
                  <a:pt x="3833536" y="31750"/>
                </a:lnTo>
                <a:lnTo>
                  <a:pt x="3884589" y="50800"/>
                </a:lnTo>
                <a:lnTo>
                  <a:pt x="3927344" y="82550"/>
                </a:lnTo>
                <a:lnTo>
                  <a:pt x="3959274" y="125729"/>
                </a:lnTo>
                <a:lnTo>
                  <a:pt x="3977850" y="176529"/>
                </a:lnTo>
                <a:lnTo>
                  <a:pt x="3981513" y="213359"/>
                </a:lnTo>
                <a:lnTo>
                  <a:pt x="3981504" y="977899"/>
                </a:lnTo>
                <a:lnTo>
                  <a:pt x="3973156" y="1031239"/>
                </a:lnTo>
                <a:lnTo>
                  <a:pt x="3949733" y="1080770"/>
                </a:lnTo>
                <a:lnTo>
                  <a:pt x="3913816" y="1120139"/>
                </a:lnTo>
                <a:lnTo>
                  <a:pt x="3867936" y="1146809"/>
                </a:lnTo>
                <a:lnTo>
                  <a:pt x="3814621" y="1160780"/>
                </a:lnTo>
                <a:lnTo>
                  <a:pt x="3795626" y="1162049"/>
                </a:lnTo>
                <a:lnTo>
                  <a:pt x="3903048" y="1162049"/>
                </a:lnTo>
                <a:lnTo>
                  <a:pt x="3948333" y="1126489"/>
                </a:lnTo>
                <a:lnTo>
                  <a:pt x="3974346" y="1094739"/>
                </a:lnTo>
                <a:lnTo>
                  <a:pt x="3993936" y="1057909"/>
                </a:lnTo>
                <a:lnTo>
                  <a:pt x="4006225" y="1018539"/>
                </a:lnTo>
                <a:lnTo>
                  <a:pt x="4010307" y="977899"/>
                </a:lnTo>
                <a:lnTo>
                  <a:pt x="4010339" y="213359"/>
                </a:lnTo>
                <a:lnTo>
                  <a:pt x="4009111" y="190499"/>
                </a:lnTo>
                <a:lnTo>
                  <a:pt x="4000342" y="149859"/>
                </a:lnTo>
                <a:lnTo>
                  <a:pt x="3983888" y="110489"/>
                </a:lnTo>
                <a:lnTo>
                  <a:pt x="3960629" y="76200"/>
                </a:lnTo>
                <a:lnTo>
                  <a:pt x="3931417" y="48259"/>
                </a:lnTo>
                <a:lnTo>
                  <a:pt x="3914841" y="35559"/>
                </a:lnTo>
                <a:lnTo>
                  <a:pt x="3901526" y="27939"/>
                </a:lnTo>
                <a:close/>
              </a:path>
              <a:path w="4010659" h="1189989">
                <a:moveTo>
                  <a:pt x="3795867" y="38100"/>
                </a:moveTo>
                <a:lnTo>
                  <a:pt x="215197" y="38100"/>
                </a:lnTo>
                <a:lnTo>
                  <a:pt x="197166" y="39369"/>
                </a:lnTo>
                <a:lnTo>
                  <a:pt x="146568" y="52069"/>
                </a:lnTo>
                <a:lnTo>
                  <a:pt x="102979" y="77469"/>
                </a:lnTo>
                <a:lnTo>
                  <a:pt x="68811" y="115569"/>
                </a:lnTo>
                <a:lnTo>
                  <a:pt x="46479" y="161289"/>
                </a:lnTo>
                <a:lnTo>
                  <a:pt x="38433" y="213359"/>
                </a:lnTo>
                <a:lnTo>
                  <a:pt x="38469" y="977899"/>
                </a:lnTo>
                <a:lnTo>
                  <a:pt x="46056" y="1027429"/>
                </a:lnTo>
                <a:lnTo>
                  <a:pt x="68036" y="1074420"/>
                </a:lnTo>
                <a:lnTo>
                  <a:pt x="101917" y="1111249"/>
                </a:lnTo>
                <a:lnTo>
                  <a:pt x="145268" y="1137920"/>
                </a:lnTo>
                <a:lnTo>
                  <a:pt x="195719" y="1151889"/>
                </a:lnTo>
                <a:lnTo>
                  <a:pt x="3813172" y="1151889"/>
                </a:lnTo>
                <a:lnTo>
                  <a:pt x="3830674" y="1149349"/>
                </a:lnTo>
                <a:lnTo>
                  <a:pt x="3847567" y="1144270"/>
                </a:lnTo>
                <a:lnTo>
                  <a:pt x="3851618" y="1142999"/>
                </a:lnTo>
                <a:lnTo>
                  <a:pt x="214471" y="1142999"/>
                </a:lnTo>
                <a:lnTo>
                  <a:pt x="196203" y="1141730"/>
                </a:lnTo>
                <a:lnTo>
                  <a:pt x="148568" y="1129030"/>
                </a:lnTo>
                <a:lnTo>
                  <a:pt x="107666" y="1103630"/>
                </a:lnTo>
                <a:lnTo>
                  <a:pt x="75723" y="1068070"/>
                </a:lnTo>
                <a:lnTo>
                  <a:pt x="55071" y="1024889"/>
                </a:lnTo>
                <a:lnTo>
                  <a:pt x="48052" y="977899"/>
                </a:lnTo>
                <a:lnTo>
                  <a:pt x="48032" y="213359"/>
                </a:lnTo>
                <a:lnTo>
                  <a:pt x="48921" y="195579"/>
                </a:lnTo>
                <a:lnTo>
                  <a:pt x="61476" y="148589"/>
                </a:lnTo>
                <a:lnTo>
                  <a:pt x="86690" y="107950"/>
                </a:lnTo>
                <a:lnTo>
                  <a:pt x="122332" y="74929"/>
                </a:lnTo>
                <a:lnTo>
                  <a:pt x="166070" y="54609"/>
                </a:lnTo>
                <a:lnTo>
                  <a:pt x="215681" y="46989"/>
                </a:lnTo>
                <a:lnTo>
                  <a:pt x="3852159" y="46989"/>
                </a:lnTo>
                <a:lnTo>
                  <a:pt x="3848931" y="45719"/>
                </a:lnTo>
                <a:lnTo>
                  <a:pt x="3832087" y="41909"/>
                </a:lnTo>
                <a:lnTo>
                  <a:pt x="3814618" y="39369"/>
                </a:lnTo>
                <a:lnTo>
                  <a:pt x="3795867" y="38100"/>
                </a:lnTo>
                <a:close/>
              </a:path>
              <a:path w="4010659" h="1189989">
                <a:moveTo>
                  <a:pt x="3852159" y="46989"/>
                </a:moveTo>
                <a:lnTo>
                  <a:pt x="215681" y="46989"/>
                </a:lnTo>
                <a:lnTo>
                  <a:pt x="3814135" y="48259"/>
                </a:lnTo>
                <a:lnTo>
                  <a:pt x="3830640" y="50800"/>
                </a:lnTo>
                <a:lnTo>
                  <a:pt x="3876257" y="68579"/>
                </a:lnTo>
                <a:lnTo>
                  <a:pt x="3914430" y="97789"/>
                </a:lnTo>
                <a:lnTo>
                  <a:pt x="3942866" y="135889"/>
                </a:lnTo>
                <a:lnTo>
                  <a:pt x="3959255" y="181609"/>
                </a:lnTo>
                <a:lnTo>
                  <a:pt x="3962301" y="977899"/>
                </a:lnTo>
                <a:lnTo>
                  <a:pt x="3961417" y="994409"/>
                </a:lnTo>
                <a:lnTo>
                  <a:pt x="3948861" y="1041399"/>
                </a:lnTo>
                <a:lnTo>
                  <a:pt x="3923648" y="1083309"/>
                </a:lnTo>
                <a:lnTo>
                  <a:pt x="3888007" y="1115059"/>
                </a:lnTo>
                <a:lnTo>
                  <a:pt x="3844268" y="1135380"/>
                </a:lnTo>
                <a:lnTo>
                  <a:pt x="3794657" y="1142999"/>
                </a:lnTo>
                <a:lnTo>
                  <a:pt x="3851618" y="1142999"/>
                </a:lnTo>
                <a:lnTo>
                  <a:pt x="3893755" y="1122680"/>
                </a:lnTo>
                <a:lnTo>
                  <a:pt x="3931335" y="1088389"/>
                </a:lnTo>
                <a:lnTo>
                  <a:pt x="3957876" y="1045209"/>
                </a:lnTo>
                <a:lnTo>
                  <a:pt x="3971004" y="994409"/>
                </a:lnTo>
                <a:lnTo>
                  <a:pt x="3971928" y="213359"/>
                </a:lnTo>
                <a:lnTo>
                  <a:pt x="3971151" y="196849"/>
                </a:lnTo>
                <a:lnTo>
                  <a:pt x="3958426" y="146050"/>
                </a:lnTo>
                <a:lnTo>
                  <a:pt x="3932212" y="102869"/>
                </a:lnTo>
                <a:lnTo>
                  <a:pt x="3894902" y="68579"/>
                </a:lnTo>
                <a:lnTo>
                  <a:pt x="3865069" y="52069"/>
                </a:lnTo>
                <a:lnTo>
                  <a:pt x="3852159" y="46989"/>
                </a:lnTo>
                <a:close/>
              </a:path>
            </a:pathLst>
          </a:custGeom>
          <a:solidFill>
            <a:srgbClr val="4D86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217187" y="5227827"/>
            <a:ext cx="3627754" cy="8820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495934" marR="5080" indent="-483870">
              <a:lnSpc>
                <a:spcPct val="100699"/>
              </a:lnSpc>
              <a:spcBef>
                <a:spcPts val="75"/>
              </a:spcBef>
            </a:pP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Communities, clusters, 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groups,</a:t>
            </a:r>
            <a:r>
              <a:rPr dirty="0" sz="28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modules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18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5026152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057400" y="1269418"/>
            <a:ext cx="5105400" cy="33787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878792" y="1269418"/>
            <a:ext cx="379095" cy="3284854"/>
          </a:xfrm>
          <a:custGeom>
            <a:avLst/>
            <a:gdLst/>
            <a:ahLst/>
            <a:cxnLst/>
            <a:rect l="l" t="t" r="r" b="b"/>
            <a:pathLst>
              <a:path w="379095" h="3284854">
                <a:moveTo>
                  <a:pt x="201060" y="0"/>
                </a:moveTo>
                <a:lnTo>
                  <a:pt x="222026" y="47980"/>
                </a:lnTo>
                <a:lnTo>
                  <a:pt x="242670" y="96003"/>
                </a:lnTo>
                <a:lnTo>
                  <a:pt x="262669" y="144111"/>
                </a:lnTo>
                <a:lnTo>
                  <a:pt x="281702" y="192346"/>
                </a:lnTo>
                <a:lnTo>
                  <a:pt x="299445" y="240751"/>
                </a:lnTo>
                <a:lnTo>
                  <a:pt x="315577" y="289368"/>
                </a:lnTo>
                <a:lnTo>
                  <a:pt x="329776" y="338240"/>
                </a:lnTo>
                <a:lnTo>
                  <a:pt x="341719" y="387408"/>
                </a:lnTo>
                <a:lnTo>
                  <a:pt x="351084" y="436917"/>
                </a:lnTo>
                <a:lnTo>
                  <a:pt x="357549" y="486806"/>
                </a:lnTo>
                <a:lnTo>
                  <a:pt x="360791" y="537121"/>
                </a:lnTo>
                <a:lnTo>
                  <a:pt x="360489" y="587902"/>
                </a:lnTo>
                <a:lnTo>
                  <a:pt x="356319" y="639192"/>
                </a:lnTo>
                <a:lnTo>
                  <a:pt x="348942" y="681903"/>
                </a:lnTo>
                <a:lnTo>
                  <a:pt x="337276" y="726069"/>
                </a:lnTo>
                <a:lnTo>
                  <a:pt x="321886" y="771410"/>
                </a:lnTo>
                <a:lnTo>
                  <a:pt x="303337" y="817646"/>
                </a:lnTo>
                <a:lnTo>
                  <a:pt x="282192" y="864498"/>
                </a:lnTo>
                <a:lnTo>
                  <a:pt x="259016" y="911685"/>
                </a:lnTo>
                <a:lnTo>
                  <a:pt x="234371" y="958929"/>
                </a:lnTo>
                <a:lnTo>
                  <a:pt x="208823" y="1005950"/>
                </a:lnTo>
                <a:lnTo>
                  <a:pt x="182936" y="1052468"/>
                </a:lnTo>
                <a:lnTo>
                  <a:pt x="157272" y="1098203"/>
                </a:lnTo>
                <a:lnTo>
                  <a:pt x="132397" y="1142877"/>
                </a:lnTo>
                <a:lnTo>
                  <a:pt x="108875" y="1186208"/>
                </a:lnTo>
                <a:lnTo>
                  <a:pt x="87269" y="1227919"/>
                </a:lnTo>
                <a:lnTo>
                  <a:pt x="68144" y="1267729"/>
                </a:lnTo>
                <a:lnTo>
                  <a:pt x="52063" y="1305358"/>
                </a:lnTo>
                <a:lnTo>
                  <a:pt x="21724" y="1403902"/>
                </a:lnTo>
                <a:lnTo>
                  <a:pt x="9606" y="1459683"/>
                </a:lnTo>
                <a:lnTo>
                  <a:pt x="2583" y="1509429"/>
                </a:lnTo>
                <a:lnTo>
                  <a:pt x="0" y="1554702"/>
                </a:lnTo>
                <a:lnTo>
                  <a:pt x="1200" y="1597061"/>
                </a:lnTo>
                <a:lnTo>
                  <a:pt x="5531" y="1638068"/>
                </a:lnTo>
                <a:lnTo>
                  <a:pt x="12335" y="1679284"/>
                </a:lnTo>
                <a:lnTo>
                  <a:pt x="20960" y="1722268"/>
                </a:lnTo>
                <a:lnTo>
                  <a:pt x="57640" y="1823529"/>
                </a:lnTo>
                <a:lnTo>
                  <a:pt x="114115" y="1930893"/>
                </a:lnTo>
                <a:lnTo>
                  <a:pt x="165933" y="2016063"/>
                </a:lnTo>
                <a:lnTo>
                  <a:pt x="188639" y="2050742"/>
                </a:lnTo>
                <a:lnTo>
                  <a:pt x="211888" y="2093758"/>
                </a:lnTo>
                <a:lnTo>
                  <a:pt x="235842" y="2134704"/>
                </a:lnTo>
                <a:lnTo>
                  <a:pt x="259688" y="2174589"/>
                </a:lnTo>
                <a:lnTo>
                  <a:pt x="282610" y="2214422"/>
                </a:lnTo>
                <a:lnTo>
                  <a:pt x="303794" y="2255213"/>
                </a:lnTo>
                <a:lnTo>
                  <a:pt x="322425" y="2297970"/>
                </a:lnTo>
                <a:lnTo>
                  <a:pt x="337688" y="2343705"/>
                </a:lnTo>
                <a:lnTo>
                  <a:pt x="350236" y="2391069"/>
                </a:lnTo>
                <a:lnTo>
                  <a:pt x="361009" y="2438719"/>
                </a:lnTo>
                <a:lnTo>
                  <a:pt x="369627" y="2487663"/>
                </a:lnTo>
                <a:lnTo>
                  <a:pt x="375711" y="2538910"/>
                </a:lnTo>
                <a:lnTo>
                  <a:pt x="378880" y="2593470"/>
                </a:lnTo>
                <a:lnTo>
                  <a:pt x="378753" y="2652352"/>
                </a:lnTo>
                <a:lnTo>
                  <a:pt x="374951" y="2716567"/>
                </a:lnTo>
                <a:lnTo>
                  <a:pt x="350837" y="2871510"/>
                </a:lnTo>
                <a:lnTo>
                  <a:pt x="310906" y="3059467"/>
                </a:lnTo>
                <a:lnTo>
                  <a:pt x="273498" y="3218016"/>
                </a:lnTo>
                <a:lnTo>
                  <a:pt x="256953" y="3284738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41908" y="4626355"/>
            <a:ext cx="51968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5" b="1">
                <a:solidFill>
                  <a:srgbClr val="0000FF"/>
                </a:solidFill>
                <a:latin typeface="Calibri"/>
                <a:cs typeface="Calibri"/>
              </a:rPr>
              <a:t>Zachary’s </a:t>
            </a:r>
            <a:r>
              <a:rPr dirty="0" sz="3000" spc="-35" b="1">
                <a:solidFill>
                  <a:srgbClr val="0000FF"/>
                </a:solidFill>
                <a:latin typeface="Calibri"/>
                <a:cs typeface="Calibri"/>
              </a:rPr>
              <a:t>Karate </a:t>
            </a:r>
            <a:r>
              <a:rPr dirty="0" sz="3000" spc="-5" b="1">
                <a:solidFill>
                  <a:srgbClr val="0000FF"/>
                </a:solidFill>
                <a:latin typeface="Calibri"/>
                <a:cs typeface="Calibri"/>
              </a:rPr>
              <a:t>club </a:t>
            </a:r>
            <a:r>
              <a:rPr dirty="0" sz="3000" spc="-10" b="1">
                <a:solidFill>
                  <a:srgbClr val="0000FF"/>
                </a:solidFill>
                <a:latin typeface="Calibri"/>
                <a:cs typeface="Calibri"/>
              </a:rPr>
              <a:t>network: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0363" y="5097779"/>
            <a:ext cx="8009890" cy="143700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10">
                <a:latin typeface="Calibri"/>
                <a:cs typeface="Calibri"/>
              </a:rPr>
              <a:t>Observed </a:t>
            </a:r>
            <a:r>
              <a:rPr dirty="0" sz="2600" spc="-5">
                <a:latin typeface="Calibri"/>
                <a:cs typeface="Calibri"/>
              </a:rPr>
              <a:t>social ties </a:t>
            </a:r>
            <a:r>
              <a:rPr dirty="0" sz="2600">
                <a:latin typeface="Calibri"/>
                <a:cs typeface="Calibri"/>
              </a:rPr>
              <a:t>&amp; </a:t>
            </a:r>
            <a:r>
              <a:rPr dirty="0" sz="2600" spc="-10">
                <a:latin typeface="Calibri"/>
                <a:cs typeface="Calibri"/>
              </a:rPr>
              <a:t>rivalries </a:t>
            </a:r>
            <a:r>
              <a:rPr dirty="0" sz="2600">
                <a:latin typeface="Calibri"/>
                <a:cs typeface="Calibri"/>
              </a:rPr>
              <a:t>in a </a:t>
            </a:r>
            <a:r>
              <a:rPr dirty="0" sz="2600" spc="-10">
                <a:latin typeface="Calibri"/>
                <a:cs typeface="Calibri"/>
              </a:rPr>
              <a:t>university </a:t>
            </a:r>
            <a:r>
              <a:rPr dirty="0" sz="2600" spc="-25">
                <a:latin typeface="Calibri"/>
                <a:cs typeface="Calibri"/>
              </a:rPr>
              <a:t>karate</a:t>
            </a:r>
            <a:r>
              <a:rPr dirty="0" sz="2600" spc="65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club</a:t>
            </a:r>
            <a:endParaRPr sz="26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5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5">
                <a:latin typeface="Calibri"/>
                <a:cs typeface="Calibri"/>
              </a:rPr>
              <a:t>During the </a:t>
            </a:r>
            <a:r>
              <a:rPr dirty="0" sz="2600" spc="-40">
                <a:latin typeface="Calibri"/>
                <a:cs typeface="Calibri"/>
              </a:rPr>
              <a:t>study, </a:t>
            </a:r>
            <a:r>
              <a:rPr dirty="0" sz="2600" spc="-10">
                <a:latin typeface="Calibri"/>
                <a:cs typeface="Calibri"/>
              </a:rPr>
              <a:t>conflicts </a:t>
            </a:r>
            <a:r>
              <a:rPr dirty="0" sz="2600" spc="-5">
                <a:latin typeface="Calibri"/>
                <a:cs typeface="Calibri"/>
              </a:rPr>
              <a:t>led the </a:t>
            </a:r>
            <a:r>
              <a:rPr dirty="0" sz="2600" spc="-10">
                <a:latin typeface="Calibri"/>
                <a:cs typeface="Calibri"/>
              </a:rPr>
              <a:t>group </a:t>
            </a:r>
            <a:r>
              <a:rPr dirty="0" sz="2600" spc="-15">
                <a:latin typeface="Calibri"/>
                <a:cs typeface="Calibri"/>
              </a:rPr>
              <a:t>to</a:t>
            </a:r>
            <a:r>
              <a:rPr dirty="0" sz="2600" spc="55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split</a:t>
            </a:r>
            <a:endParaRPr sz="26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5">
                <a:latin typeface="Calibri"/>
                <a:cs typeface="Calibri"/>
              </a:rPr>
              <a:t>Split </a:t>
            </a:r>
            <a:r>
              <a:rPr dirty="0" sz="2600" spc="-10">
                <a:latin typeface="Calibri"/>
                <a:cs typeface="Calibri"/>
              </a:rPr>
              <a:t>could </a:t>
            </a:r>
            <a:r>
              <a:rPr dirty="0" sz="2600" spc="-5">
                <a:latin typeface="Calibri"/>
                <a:cs typeface="Calibri"/>
              </a:rPr>
              <a:t>be </a:t>
            </a:r>
            <a:r>
              <a:rPr dirty="0" sz="2600" spc="-10">
                <a:latin typeface="Calibri"/>
                <a:cs typeface="Calibri"/>
              </a:rPr>
              <a:t>explained by </a:t>
            </a:r>
            <a:r>
              <a:rPr dirty="0" sz="2600">
                <a:latin typeface="Calibri"/>
                <a:cs typeface="Calibri"/>
              </a:rPr>
              <a:t>a </a:t>
            </a:r>
            <a:r>
              <a:rPr dirty="0" sz="2600" spc="-5">
                <a:latin typeface="Calibri"/>
                <a:cs typeface="Calibri"/>
              </a:rPr>
              <a:t>minimum cut </a:t>
            </a:r>
            <a:r>
              <a:rPr dirty="0" sz="2600">
                <a:latin typeface="Calibri"/>
                <a:cs typeface="Calibri"/>
              </a:rPr>
              <a:t>in </a:t>
            </a:r>
            <a:r>
              <a:rPr dirty="0" sz="2600" spc="-5">
                <a:latin typeface="Calibri"/>
                <a:cs typeface="Calibri"/>
              </a:rPr>
              <a:t>the</a:t>
            </a:r>
            <a:r>
              <a:rPr dirty="0" sz="2600" spc="50">
                <a:latin typeface="Calibri"/>
                <a:cs typeface="Calibri"/>
              </a:rPr>
              <a:t> </a:t>
            </a:r>
            <a:r>
              <a:rPr dirty="0" sz="2600" spc="-75">
                <a:latin typeface="Calibri"/>
                <a:cs typeface="Calibri"/>
              </a:rPr>
              <a:t>network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5759"/>
            <a:ext cx="7869935" cy="499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5597" y="1491996"/>
            <a:ext cx="723519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65"/>
              </a:spcBef>
            </a:pPr>
            <a:r>
              <a:rPr dirty="0" spc="-5"/>
              <a:t>Find </a:t>
            </a:r>
            <a:r>
              <a:rPr dirty="0" spc="-15"/>
              <a:t>micro-markets by </a:t>
            </a:r>
            <a:r>
              <a:rPr dirty="0" spc="-5"/>
              <a:t>partitioning the  </a:t>
            </a:r>
            <a:r>
              <a:rPr dirty="0" spc="-10"/>
              <a:t>“query-to-advertiser” </a:t>
            </a:r>
            <a:r>
              <a:rPr dirty="0" spc="-20"/>
              <a:t>graph </a:t>
            </a:r>
            <a:r>
              <a:rPr dirty="0"/>
              <a:t>in </a:t>
            </a:r>
            <a:r>
              <a:rPr dirty="0" spc="-10"/>
              <a:t>web</a:t>
            </a:r>
            <a:r>
              <a:rPr dirty="0"/>
              <a:t> </a:t>
            </a:r>
            <a:r>
              <a:rPr dirty="0" spc="-15"/>
              <a:t>search:</a:t>
            </a:r>
          </a:p>
        </p:txBody>
      </p:sp>
      <p:sp>
        <p:nvSpPr>
          <p:cNvPr id="4" name="object 4"/>
          <p:cNvSpPr/>
          <p:nvPr/>
        </p:nvSpPr>
        <p:spPr>
          <a:xfrm>
            <a:off x="2298700" y="2801937"/>
            <a:ext cx="4483100" cy="33258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287587" y="2790825"/>
            <a:ext cx="4505325" cy="3348354"/>
          </a:xfrm>
          <a:custGeom>
            <a:avLst/>
            <a:gdLst/>
            <a:ahLst/>
            <a:cxnLst/>
            <a:rect l="l" t="t" r="r" b="b"/>
            <a:pathLst>
              <a:path w="4505325" h="3348354">
                <a:moveTo>
                  <a:pt x="0" y="0"/>
                </a:moveTo>
                <a:lnTo>
                  <a:pt x="4505325" y="0"/>
                </a:lnTo>
                <a:lnTo>
                  <a:pt x="4505325" y="3348037"/>
                </a:lnTo>
                <a:lnTo>
                  <a:pt x="0" y="3348037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018361" y="3896231"/>
            <a:ext cx="224154" cy="50927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 b="1">
                <a:latin typeface="Arial"/>
                <a:cs typeface="Arial"/>
              </a:rPr>
              <a:t>qu</a:t>
            </a:r>
            <a:r>
              <a:rPr dirty="0" sz="1400" spc="-5" b="1">
                <a:latin typeface="Arial"/>
                <a:cs typeface="Arial"/>
              </a:rPr>
              <a:t>e</a:t>
            </a:r>
            <a:r>
              <a:rPr dirty="0" sz="1400" spc="0" b="1">
                <a:latin typeface="Arial"/>
                <a:cs typeface="Arial"/>
              </a:rPr>
              <a:t>r</a:t>
            </a:r>
            <a:r>
              <a:rPr dirty="0" sz="1400" b="1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5597" y="6046215"/>
            <a:ext cx="7818120" cy="65786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algn="ctr" marL="315595">
              <a:lnSpc>
                <a:spcPct val="100000"/>
              </a:lnSpc>
              <a:spcBef>
                <a:spcPts val="745"/>
              </a:spcBef>
            </a:pPr>
            <a:r>
              <a:rPr dirty="0" sz="1400" spc="-5" b="1">
                <a:latin typeface="Arial"/>
                <a:cs typeface="Arial"/>
              </a:rPr>
              <a:t>advertiser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Nodes: advertisers and queries/keywords; Edges: Advertiser advertising on 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a</a:t>
            </a:r>
            <a:r>
              <a:rPr dirty="0" sz="1600" spc="4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keyword.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812522"/>
            <a:ext cx="1575037" cy="40454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180633"/>
            <a:ext cx="5516107" cy="1631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1180633"/>
            <a:ext cx="7437727" cy="56773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75036" y="5861815"/>
            <a:ext cx="5862690" cy="9961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16106" y="1180633"/>
            <a:ext cx="1921620" cy="468118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5216" y="347472"/>
            <a:ext cx="5922264" cy="42671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012159" y="1281093"/>
            <a:ext cx="3024505" cy="2338070"/>
          </a:xfrm>
          <a:custGeom>
            <a:avLst/>
            <a:gdLst/>
            <a:ahLst/>
            <a:cxnLst/>
            <a:rect l="l" t="t" r="r" b="b"/>
            <a:pathLst>
              <a:path w="3024504" h="2338070">
                <a:moveTo>
                  <a:pt x="1260139" y="1538306"/>
                </a:moveTo>
                <a:lnTo>
                  <a:pt x="504056" y="1538306"/>
                </a:lnTo>
                <a:lnTo>
                  <a:pt x="116164" y="2337626"/>
                </a:lnTo>
                <a:lnTo>
                  <a:pt x="1260139" y="1538306"/>
                </a:lnTo>
                <a:close/>
              </a:path>
              <a:path w="3024504" h="2338070">
                <a:moveTo>
                  <a:pt x="2767945" y="0"/>
                </a:moveTo>
                <a:lnTo>
                  <a:pt x="256390" y="0"/>
                </a:lnTo>
                <a:lnTo>
                  <a:pt x="210303" y="4130"/>
                </a:lnTo>
                <a:lnTo>
                  <a:pt x="166927" y="16040"/>
                </a:lnTo>
                <a:lnTo>
                  <a:pt x="126985" y="35004"/>
                </a:lnTo>
                <a:lnTo>
                  <a:pt x="91201" y="60300"/>
                </a:lnTo>
                <a:lnTo>
                  <a:pt x="60299" y="91201"/>
                </a:lnTo>
                <a:lnTo>
                  <a:pt x="35004" y="126985"/>
                </a:lnTo>
                <a:lnTo>
                  <a:pt x="16040" y="166928"/>
                </a:lnTo>
                <a:lnTo>
                  <a:pt x="4130" y="210304"/>
                </a:lnTo>
                <a:lnTo>
                  <a:pt x="0" y="256391"/>
                </a:lnTo>
                <a:lnTo>
                  <a:pt x="0" y="1281921"/>
                </a:lnTo>
                <a:lnTo>
                  <a:pt x="4130" y="1328001"/>
                </a:lnTo>
                <a:lnTo>
                  <a:pt x="16040" y="1371378"/>
                </a:lnTo>
                <a:lnTo>
                  <a:pt x="35004" y="1411320"/>
                </a:lnTo>
                <a:lnTo>
                  <a:pt x="60299" y="1447104"/>
                </a:lnTo>
                <a:lnTo>
                  <a:pt x="91201" y="1478006"/>
                </a:lnTo>
                <a:lnTo>
                  <a:pt x="126985" y="1503301"/>
                </a:lnTo>
                <a:lnTo>
                  <a:pt x="166927" y="1522266"/>
                </a:lnTo>
                <a:lnTo>
                  <a:pt x="210303" y="1534175"/>
                </a:lnTo>
                <a:lnTo>
                  <a:pt x="256390" y="1538306"/>
                </a:lnTo>
                <a:lnTo>
                  <a:pt x="2767945" y="1538306"/>
                </a:lnTo>
                <a:lnTo>
                  <a:pt x="2814032" y="1534175"/>
                </a:lnTo>
                <a:lnTo>
                  <a:pt x="2857408" y="1522266"/>
                </a:lnTo>
                <a:lnTo>
                  <a:pt x="2897350" y="1503301"/>
                </a:lnTo>
                <a:lnTo>
                  <a:pt x="2933134" y="1478006"/>
                </a:lnTo>
                <a:lnTo>
                  <a:pt x="2964036" y="1447104"/>
                </a:lnTo>
                <a:lnTo>
                  <a:pt x="2989331" y="1411320"/>
                </a:lnTo>
                <a:lnTo>
                  <a:pt x="3008295" y="1371378"/>
                </a:lnTo>
                <a:lnTo>
                  <a:pt x="3020205" y="1328001"/>
                </a:lnTo>
                <a:lnTo>
                  <a:pt x="3024335" y="1281921"/>
                </a:lnTo>
                <a:lnTo>
                  <a:pt x="3024336" y="256391"/>
                </a:lnTo>
                <a:lnTo>
                  <a:pt x="3020205" y="210304"/>
                </a:lnTo>
                <a:lnTo>
                  <a:pt x="3008295" y="166928"/>
                </a:lnTo>
                <a:lnTo>
                  <a:pt x="2989331" y="126985"/>
                </a:lnTo>
                <a:lnTo>
                  <a:pt x="2964036" y="91201"/>
                </a:lnTo>
                <a:lnTo>
                  <a:pt x="2933134" y="60300"/>
                </a:lnTo>
                <a:lnTo>
                  <a:pt x="2897350" y="35004"/>
                </a:lnTo>
                <a:lnTo>
                  <a:pt x="2857408" y="16040"/>
                </a:lnTo>
                <a:lnTo>
                  <a:pt x="2814032" y="4130"/>
                </a:lnTo>
                <a:lnTo>
                  <a:pt x="27679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988159" y="1267792"/>
            <a:ext cx="3072765" cy="2374900"/>
          </a:xfrm>
          <a:custGeom>
            <a:avLst/>
            <a:gdLst/>
            <a:ahLst/>
            <a:cxnLst/>
            <a:rect l="l" t="t" r="r" b="b"/>
            <a:pathLst>
              <a:path w="3072765" h="2374900">
                <a:moveTo>
                  <a:pt x="1815" y="1307627"/>
                </a:moveTo>
                <a:lnTo>
                  <a:pt x="30" y="1308100"/>
                </a:lnTo>
                <a:lnTo>
                  <a:pt x="1598" y="1333500"/>
                </a:lnTo>
                <a:lnTo>
                  <a:pt x="5965" y="1358900"/>
                </a:lnTo>
                <a:lnTo>
                  <a:pt x="22527" y="1409700"/>
                </a:lnTo>
                <a:lnTo>
                  <a:pt x="48567" y="1460500"/>
                </a:lnTo>
                <a:lnTo>
                  <a:pt x="82953" y="1498600"/>
                </a:lnTo>
                <a:lnTo>
                  <a:pt x="102929" y="1524000"/>
                </a:lnTo>
                <a:lnTo>
                  <a:pt x="124579" y="1536700"/>
                </a:lnTo>
                <a:lnTo>
                  <a:pt x="147764" y="1549400"/>
                </a:lnTo>
                <a:lnTo>
                  <a:pt x="172342" y="1562100"/>
                </a:lnTo>
                <a:lnTo>
                  <a:pt x="198172" y="1574800"/>
                </a:lnTo>
                <a:lnTo>
                  <a:pt x="252966" y="1574800"/>
                </a:lnTo>
                <a:lnTo>
                  <a:pt x="280390" y="1587500"/>
                </a:lnTo>
                <a:lnTo>
                  <a:pt x="489733" y="1587500"/>
                </a:lnTo>
                <a:lnTo>
                  <a:pt x="118573" y="2349500"/>
                </a:lnTo>
                <a:lnTo>
                  <a:pt x="116331" y="2349500"/>
                </a:lnTo>
                <a:lnTo>
                  <a:pt x="116673" y="2362200"/>
                </a:lnTo>
                <a:lnTo>
                  <a:pt x="119469" y="2374900"/>
                </a:lnTo>
                <a:lnTo>
                  <a:pt x="153911" y="2374900"/>
                </a:lnTo>
                <a:lnTo>
                  <a:pt x="172262" y="2362200"/>
                </a:lnTo>
                <a:lnTo>
                  <a:pt x="144482" y="2362200"/>
                </a:lnTo>
                <a:lnTo>
                  <a:pt x="140164" y="2354439"/>
                </a:lnTo>
                <a:lnTo>
                  <a:pt x="131917" y="2349500"/>
                </a:lnTo>
                <a:lnTo>
                  <a:pt x="138092" y="2345190"/>
                </a:lnTo>
                <a:lnTo>
                  <a:pt x="126418" y="2336800"/>
                </a:lnTo>
                <a:lnTo>
                  <a:pt x="172377" y="2304768"/>
                </a:lnTo>
                <a:lnTo>
                  <a:pt x="533096" y="1562100"/>
                </a:lnTo>
                <a:lnTo>
                  <a:pt x="531247" y="1549400"/>
                </a:lnTo>
                <a:lnTo>
                  <a:pt x="229443" y="1549400"/>
                </a:lnTo>
                <a:lnTo>
                  <a:pt x="205343" y="1536700"/>
                </a:lnTo>
                <a:lnTo>
                  <a:pt x="182242" y="1536700"/>
                </a:lnTo>
                <a:lnTo>
                  <a:pt x="160263" y="1524000"/>
                </a:lnTo>
                <a:lnTo>
                  <a:pt x="139532" y="1511300"/>
                </a:lnTo>
                <a:lnTo>
                  <a:pt x="120177" y="1498600"/>
                </a:lnTo>
                <a:lnTo>
                  <a:pt x="102323" y="1473200"/>
                </a:lnTo>
                <a:lnTo>
                  <a:pt x="86099" y="1460500"/>
                </a:lnTo>
                <a:lnTo>
                  <a:pt x="59047" y="1422400"/>
                </a:lnTo>
                <a:lnTo>
                  <a:pt x="40035" y="1371600"/>
                </a:lnTo>
                <a:lnTo>
                  <a:pt x="30069" y="1320800"/>
                </a:lnTo>
                <a:lnTo>
                  <a:pt x="7029" y="1320800"/>
                </a:lnTo>
                <a:lnTo>
                  <a:pt x="1886" y="1308100"/>
                </a:lnTo>
                <a:lnTo>
                  <a:pt x="1815" y="1307627"/>
                </a:lnTo>
                <a:close/>
              </a:path>
              <a:path w="3072765" h="2374900">
                <a:moveTo>
                  <a:pt x="140164" y="2354439"/>
                </a:moveTo>
                <a:lnTo>
                  <a:pt x="144482" y="2362200"/>
                </a:lnTo>
                <a:lnTo>
                  <a:pt x="146429" y="2358192"/>
                </a:lnTo>
                <a:lnTo>
                  <a:pt x="140164" y="2354439"/>
                </a:lnTo>
                <a:close/>
              </a:path>
              <a:path w="3072765" h="2374900">
                <a:moveTo>
                  <a:pt x="146429" y="2358192"/>
                </a:moveTo>
                <a:lnTo>
                  <a:pt x="144482" y="2362200"/>
                </a:lnTo>
                <a:lnTo>
                  <a:pt x="153120" y="2362200"/>
                </a:lnTo>
                <a:lnTo>
                  <a:pt x="146429" y="2358192"/>
                </a:lnTo>
                <a:close/>
              </a:path>
              <a:path w="3072765" h="2374900">
                <a:moveTo>
                  <a:pt x="155361" y="2357602"/>
                </a:moveTo>
                <a:lnTo>
                  <a:pt x="153120" y="2362200"/>
                </a:lnTo>
                <a:lnTo>
                  <a:pt x="161757" y="2362200"/>
                </a:lnTo>
                <a:lnTo>
                  <a:pt x="155361" y="2357602"/>
                </a:lnTo>
                <a:close/>
              </a:path>
              <a:path w="3072765" h="2374900">
                <a:moveTo>
                  <a:pt x="183852" y="2317044"/>
                </a:moveTo>
                <a:lnTo>
                  <a:pt x="170627" y="2326287"/>
                </a:lnTo>
                <a:lnTo>
                  <a:pt x="155361" y="2357602"/>
                </a:lnTo>
                <a:lnTo>
                  <a:pt x="161757" y="2362200"/>
                </a:lnTo>
                <a:lnTo>
                  <a:pt x="183852" y="2317044"/>
                </a:lnTo>
                <a:close/>
              </a:path>
              <a:path w="3072765" h="2374900">
                <a:moveTo>
                  <a:pt x="3043479" y="1300468"/>
                </a:moveTo>
                <a:lnTo>
                  <a:pt x="3042218" y="1333500"/>
                </a:lnTo>
                <a:lnTo>
                  <a:pt x="3038382" y="1346200"/>
                </a:lnTo>
                <a:lnTo>
                  <a:pt x="3032160" y="1371600"/>
                </a:lnTo>
                <a:lnTo>
                  <a:pt x="3023680" y="1397000"/>
                </a:lnTo>
                <a:lnTo>
                  <a:pt x="3013067" y="1422400"/>
                </a:lnTo>
                <a:lnTo>
                  <a:pt x="3000446" y="1447800"/>
                </a:lnTo>
                <a:lnTo>
                  <a:pt x="2985945" y="1460500"/>
                </a:lnTo>
                <a:lnTo>
                  <a:pt x="2969689" y="1485900"/>
                </a:lnTo>
                <a:lnTo>
                  <a:pt x="2951805" y="1498600"/>
                </a:lnTo>
                <a:lnTo>
                  <a:pt x="2932421" y="1511300"/>
                </a:lnTo>
                <a:lnTo>
                  <a:pt x="2911664" y="1524000"/>
                </a:lnTo>
                <a:lnTo>
                  <a:pt x="2889661" y="1536700"/>
                </a:lnTo>
                <a:lnTo>
                  <a:pt x="2866538" y="1536700"/>
                </a:lnTo>
                <a:lnTo>
                  <a:pt x="2842422" y="1549400"/>
                </a:lnTo>
                <a:lnTo>
                  <a:pt x="1282197" y="1549400"/>
                </a:lnTo>
                <a:lnTo>
                  <a:pt x="183852" y="2317044"/>
                </a:lnTo>
                <a:lnTo>
                  <a:pt x="161757" y="2362200"/>
                </a:lnTo>
                <a:lnTo>
                  <a:pt x="172262" y="2362200"/>
                </a:lnTo>
                <a:lnTo>
                  <a:pt x="1291694" y="1587500"/>
                </a:lnTo>
                <a:lnTo>
                  <a:pt x="2793156" y="1587500"/>
                </a:lnTo>
                <a:lnTo>
                  <a:pt x="2821781" y="1574800"/>
                </a:lnTo>
                <a:lnTo>
                  <a:pt x="2876438" y="1574800"/>
                </a:lnTo>
                <a:lnTo>
                  <a:pt x="2902160" y="1562100"/>
                </a:lnTo>
                <a:lnTo>
                  <a:pt x="2926618" y="1549400"/>
                </a:lnTo>
                <a:lnTo>
                  <a:pt x="2949668" y="1536700"/>
                </a:lnTo>
                <a:lnTo>
                  <a:pt x="2971176" y="1511300"/>
                </a:lnTo>
                <a:lnTo>
                  <a:pt x="2991002" y="1498600"/>
                </a:lnTo>
                <a:lnTo>
                  <a:pt x="3009009" y="1473200"/>
                </a:lnTo>
                <a:lnTo>
                  <a:pt x="3025059" y="1460500"/>
                </a:lnTo>
                <a:lnTo>
                  <a:pt x="3039013" y="1435100"/>
                </a:lnTo>
                <a:lnTo>
                  <a:pt x="3060053" y="1384300"/>
                </a:lnTo>
                <a:lnTo>
                  <a:pt x="3070981" y="1333500"/>
                </a:lnTo>
                <a:lnTo>
                  <a:pt x="3071644" y="1320800"/>
                </a:lnTo>
                <a:lnTo>
                  <a:pt x="3065307" y="1320800"/>
                </a:lnTo>
                <a:lnTo>
                  <a:pt x="3070450" y="1308100"/>
                </a:lnTo>
                <a:lnTo>
                  <a:pt x="3070521" y="1307627"/>
                </a:lnTo>
                <a:lnTo>
                  <a:pt x="3043479" y="1300468"/>
                </a:lnTo>
                <a:close/>
              </a:path>
              <a:path w="3072765" h="2374900">
                <a:moveTo>
                  <a:pt x="140798" y="2347135"/>
                </a:moveTo>
                <a:lnTo>
                  <a:pt x="137415" y="2349500"/>
                </a:lnTo>
                <a:lnTo>
                  <a:pt x="140164" y="2354439"/>
                </a:lnTo>
                <a:lnTo>
                  <a:pt x="146429" y="2358192"/>
                </a:lnTo>
                <a:lnTo>
                  <a:pt x="148952" y="2352996"/>
                </a:lnTo>
                <a:lnTo>
                  <a:pt x="140798" y="2347135"/>
                </a:lnTo>
                <a:close/>
              </a:path>
              <a:path w="3072765" h="2374900">
                <a:moveTo>
                  <a:pt x="170627" y="2326287"/>
                </a:moveTo>
                <a:lnTo>
                  <a:pt x="157453" y="2335494"/>
                </a:lnTo>
                <a:lnTo>
                  <a:pt x="148952" y="2352996"/>
                </a:lnTo>
                <a:lnTo>
                  <a:pt x="155361" y="2357602"/>
                </a:lnTo>
                <a:lnTo>
                  <a:pt x="170627" y="2326287"/>
                </a:lnTo>
                <a:close/>
              </a:path>
              <a:path w="3072765" h="2374900">
                <a:moveTo>
                  <a:pt x="157453" y="2335494"/>
                </a:moveTo>
                <a:lnTo>
                  <a:pt x="140798" y="2347135"/>
                </a:lnTo>
                <a:lnTo>
                  <a:pt x="148952" y="2352996"/>
                </a:lnTo>
                <a:lnTo>
                  <a:pt x="157453" y="2335494"/>
                </a:lnTo>
                <a:close/>
              </a:path>
              <a:path w="3072765" h="2374900">
                <a:moveTo>
                  <a:pt x="160258" y="2329719"/>
                </a:moveTo>
                <a:lnTo>
                  <a:pt x="138092" y="2345190"/>
                </a:lnTo>
                <a:lnTo>
                  <a:pt x="140798" y="2347135"/>
                </a:lnTo>
                <a:lnTo>
                  <a:pt x="157453" y="2335494"/>
                </a:lnTo>
                <a:lnTo>
                  <a:pt x="160258" y="2329719"/>
                </a:lnTo>
                <a:close/>
              </a:path>
              <a:path w="3072765" h="2374900">
                <a:moveTo>
                  <a:pt x="172377" y="2304768"/>
                </a:moveTo>
                <a:lnTo>
                  <a:pt x="126418" y="2336800"/>
                </a:lnTo>
                <a:lnTo>
                  <a:pt x="138092" y="2345190"/>
                </a:lnTo>
                <a:lnTo>
                  <a:pt x="160258" y="2329719"/>
                </a:lnTo>
                <a:lnTo>
                  <a:pt x="172377" y="2304768"/>
                </a:lnTo>
                <a:close/>
              </a:path>
              <a:path w="3072765" h="2374900">
                <a:moveTo>
                  <a:pt x="185616" y="2295541"/>
                </a:moveTo>
                <a:lnTo>
                  <a:pt x="172377" y="2304768"/>
                </a:lnTo>
                <a:lnTo>
                  <a:pt x="160258" y="2329719"/>
                </a:lnTo>
                <a:lnTo>
                  <a:pt x="173439" y="2320520"/>
                </a:lnTo>
                <a:lnTo>
                  <a:pt x="185616" y="2295541"/>
                </a:lnTo>
                <a:close/>
              </a:path>
              <a:path w="3072765" h="2374900">
                <a:moveTo>
                  <a:pt x="186669" y="2311286"/>
                </a:moveTo>
                <a:lnTo>
                  <a:pt x="173439" y="2320520"/>
                </a:lnTo>
                <a:lnTo>
                  <a:pt x="170627" y="2326287"/>
                </a:lnTo>
                <a:lnTo>
                  <a:pt x="183852" y="2317044"/>
                </a:lnTo>
                <a:lnTo>
                  <a:pt x="186669" y="2311286"/>
                </a:lnTo>
                <a:close/>
              </a:path>
              <a:path w="3072765" h="2374900">
                <a:moveTo>
                  <a:pt x="198906" y="2286279"/>
                </a:moveTo>
                <a:lnTo>
                  <a:pt x="185616" y="2295541"/>
                </a:lnTo>
                <a:lnTo>
                  <a:pt x="173439" y="2320520"/>
                </a:lnTo>
                <a:lnTo>
                  <a:pt x="186669" y="2311286"/>
                </a:lnTo>
                <a:lnTo>
                  <a:pt x="198906" y="2286279"/>
                </a:lnTo>
                <a:close/>
              </a:path>
              <a:path w="3072765" h="2374900">
                <a:moveTo>
                  <a:pt x="2815987" y="1536700"/>
                </a:moveTo>
                <a:lnTo>
                  <a:pt x="1274424" y="1536700"/>
                </a:lnTo>
                <a:lnTo>
                  <a:pt x="198906" y="2286279"/>
                </a:lnTo>
                <a:lnTo>
                  <a:pt x="186669" y="2311286"/>
                </a:lnTo>
                <a:lnTo>
                  <a:pt x="1278310" y="1549400"/>
                </a:lnTo>
                <a:lnTo>
                  <a:pt x="2791219" y="1549400"/>
                </a:lnTo>
                <a:lnTo>
                  <a:pt x="2815987" y="1536700"/>
                </a:lnTo>
                <a:close/>
              </a:path>
              <a:path w="3072765" h="2374900">
                <a:moveTo>
                  <a:pt x="544009" y="1536700"/>
                </a:moveTo>
                <a:lnTo>
                  <a:pt x="254902" y="1536700"/>
                </a:lnTo>
                <a:lnTo>
                  <a:pt x="280390" y="1549400"/>
                </a:lnTo>
                <a:lnTo>
                  <a:pt x="542893" y="1549400"/>
                </a:lnTo>
                <a:lnTo>
                  <a:pt x="543177" y="1562100"/>
                </a:lnTo>
                <a:lnTo>
                  <a:pt x="185616" y="2295541"/>
                </a:lnTo>
                <a:lnTo>
                  <a:pt x="198906" y="2286279"/>
                </a:lnTo>
                <a:lnTo>
                  <a:pt x="553257" y="1562100"/>
                </a:lnTo>
                <a:lnTo>
                  <a:pt x="552785" y="1549400"/>
                </a:lnTo>
                <a:lnTo>
                  <a:pt x="544009" y="1536700"/>
                </a:lnTo>
                <a:close/>
              </a:path>
              <a:path w="3072765" h="2374900">
                <a:moveTo>
                  <a:pt x="47970" y="1295407"/>
                </a:moveTo>
                <a:lnTo>
                  <a:pt x="38498" y="1297915"/>
                </a:lnTo>
                <a:lnTo>
                  <a:pt x="39559" y="1320800"/>
                </a:lnTo>
                <a:lnTo>
                  <a:pt x="43155" y="1346200"/>
                </a:lnTo>
                <a:lnTo>
                  <a:pt x="49049" y="1371600"/>
                </a:lnTo>
                <a:lnTo>
                  <a:pt x="57122" y="1397000"/>
                </a:lnTo>
                <a:lnTo>
                  <a:pt x="67252" y="1422400"/>
                </a:lnTo>
                <a:lnTo>
                  <a:pt x="79320" y="1435100"/>
                </a:lnTo>
                <a:lnTo>
                  <a:pt x="93204" y="1460500"/>
                </a:lnTo>
                <a:lnTo>
                  <a:pt x="125926" y="1485900"/>
                </a:lnTo>
                <a:lnTo>
                  <a:pt x="164429" y="1511300"/>
                </a:lnTo>
                <a:lnTo>
                  <a:pt x="207733" y="1536700"/>
                </a:lnTo>
                <a:lnTo>
                  <a:pt x="255386" y="1536700"/>
                </a:lnTo>
                <a:lnTo>
                  <a:pt x="232340" y="1524000"/>
                </a:lnTo>
                <a:lnTo>
                  <a:pt x="210125" y="1524000"/>
                </a:lnTo>
                <a:lnTo>
                  <a:pt x="188841" y="1511300"/>
                </a:lnTo>
                <a:lnTo>
                  <a:pt x="168596" y="1511300"/>
                </a:lnTo>
                <a:lnTo>
                  <a:pt x="149501" y="1498600"/>
                </a:lnTo>
                <a:lnTo>
                  <a:pt x="131676" y="1485900"/>
                </a:lnTo>
                <a:lnTo>
                  <a:pt x="115237" y="1460500"/>
                </a:lnTo>
                <a:lnTo>
                  <a:pt x="100308" y="1447800"/>
                </a:lnTo>
                <a:lnTo>
                  <a:pt x="87008" y="1435100"/>
                </a:lnTo>
                <a:lnTo>
                  <a:pt x="75457" y="1409700"/>
                </a:lnTo>
                <a:lnTo>
                  <a:pt x="65770" y="1397000"/>
                </a:lnTo>
                <a:lnTo>
                  <a:pt x="58065" y="1371600"/>
                </a:lnTo>
                <a:lnTo>
                  <a:pt x="52453" y="1346200"/>
                </a:lnTo>
                <a:lnTo>
                  <a:pt x="49049" y="1320800"/>
                </a:lnTo>
                <a:lnTo>
                  <a:pt x="40971" y="1320800"/>
                </a:lnTo>
                <a:lnTo>
                  <a:pt x="46114" y="1308100"/>
                </a:lnTo>
                <a:lnTo>
                  <a:pt x="47977" y="1295559"/>
                </a:lnTo>
                <a:lnTo>
                  <a:pt x="47970" y="1295407"/>
                </a:lnTo>
                <a:close/>
              </a:path>
              <a:path w="3072765" h="2374900">
                <a:moveTo>
                  <a:pt x="3024358" y="1295551"/>
                </a:moveTo>
                <a:lnTo>
                  <a:pt x="3019402" y="1346200"/>
                </a:lnTo>
                <a:lnTo>
                  <a:pt x="3005650" y="1397000"/>
                </a:lnTo>
                <a:lnTo>
                  <a:pt x="2995769" y="1409700"/>
                </a:lnTo>
                <a:lnTo>
                  <a:pt x="2984037" y="1435100"/>
                </a:lnTo>
                <a:lnTo>
                  <a:pt x="2970568" y="1447800"/>
                </a:lnTo>
                <a:lnTo>
                  <a:pt x="2955480" y="1460500"/>
                </a:lnTo>
                <a:lnTo>
                  <a:pt x="2938891" y="1485900"/>
                </a:lnTo>
                <a:lnTo>
                  <a:pt x="2920923" y="1498600"/>
                </a:lnTo>
                <a:lnTo>
                  <a:pt x="2901696" y="1511300"/>
                </a:lnTo>
                <a:lnTo>
                  <a:pt x="2881329" y="1511300"/>
                </a:lnTo>
                <a:lnTo>
                  <a:pt x="2859939" y="1524000"/>
                </a:lnTo>
                <a:lnTo>
                  <a:pt x="2837641" y="1524000"/>
                </a:lnTo>
                <a:lnTo>
                  <a:pt x="2814539" y="1536700"/>
                </a:lnTo>
                <a:lnTo>
                  <a:pt x="2863239" y="1536700"/>
                </a:lnTo>
                <a:lnTo>
                  <a:pt x="2906680" y="1511300"/>
                </a:lnTo>
                <a:lnTo>
                  <a:pt x="2945348" y="1485900"/>
                </a:lnTo>
                <a:lnTo>
                  <a:pt x="2978256" y="1460500"/>
                </a:lnTo>
                <a:lnTo>
                  <a:pt x="2992241" y="1435100"/>
                </a:lnTo>
                <a:lnTo>
                  <a:pt x="3004418" y="1422400"/>
                </a:lnTo>
                <a:lnTo>
                  <a:pt x="3014665" y="1397000"/>
                </a:lnTo>
                <a:lnTo>
                  <a:pt x="3022862" y="1371600"/>
                </a:lnTo>
                <a:lnTo>
                  <a:pt x="3028892" y="1346200"/>
                </a:lnTo>
                <a:lnTo>
                  <a:pt x="3032630" y="1320800"/>
                </a:lnTo>
                <a:lnTo>
                  <a:pt x="3031365" y="1320800"/>
                </a:lnTo>
                <a:lnTo>
                  <a:pt x="3026222" y="1308100"/>
                </a:lnTo>
                <a:lnTo>
                  <a:pt x="3024358" y="1295551"/>
                </a:lnTo>
                <a:close/>
              </a:path>
              <a:path w="3072765" h="2374900">
                <a:moveTo>
                  <a:pt x="28942" y="1300445"/>
                </a:moveTo>
                <a:lnTo>
                  <a:pt x="1815" y="1307627"/>
                </a:lnTo>
                <a:lnTo>
                  <a:pt x="1886" y="1308100"/>
                </a:lnTo>
                <a:lnTo>
                  <a:pt x="7029" y="1320800"/>
                </a:lnTo>
                <a:lnTo>
                  <a:pt x="30069" y="1320800"/>
                </a:lnTo>
                <a:lnTo>
                  <a:pt x="28942" y="1300445"/>
                </a:lnTo>
                <a:close/>
              </a:path>
              <a:path w="3072765" h="2374900">
                <a:moveTo>
                  <a:pt x="38498" y="1297915"/>
                </a:moveTo>
                <a:lnTo>
                  <a:pt x="28942" y="1300445"/>
                </a:lnTo>
                <a:lnTo>
                  <a:pt x="30069" y="1320800"/>
                </a:lnTo>
                <a:lnTo>
                  <a:pt x="39559" y="1320800"/>
                </a:lnTo>
                <a:lnTo>
                  <a:pt x="38498" y="1297915"/>
                </a:lnTo>
                <a:close/>
              </a:path>
              <a:path w="3072765" h="2374900">
                <a:moveTo>
                  <a:pt x="47977" y="1295559"/>
                </a:moveTo>
                <a:lnTo>
                  <a:pt x="46114" y="1308100"/>
                </a:lnTo>
                <a:lnTo>
                  <a:pt x="40971" y="1320800"/>
                </a:lnTo>
                <a:lnTo>
                  <a:pt x="49049" y="1320800"/>
                </a:lnTo>
                <a:lnTo>
                  <a:pt x="47977" y="1295559"/>
                </a:lnTo>
                <a:close/>
              </a:path>
              <a:path w="3072765" h="2374900">
                <a:moveTo>
                  <a:pt x="3024366" y="1295407"/>
                </a:moveTo>
                <a:lnTo>
                  <a:pt x="3024359" y="1295559"/>
                </a:lnTo>
                <a:lnTo>
                  <a:pt x="3026222" y="1308100"/>
                </a:lnTo>
                <a:lnTo>
                  <a:pt x="3031365" y="1320800"/>
                </a:lnTo>
                <a:lnTo>
                  <a:pt x="3032630" y="1320800"/>
                </a:lnTo>
                <a:lnTo>
                  <a:pt x="3034172" y="1298004"/>
                </a:lnTo>
                <a:lnTo>
                  <a:pt x="3024366" y="1295407"/>
                </a:lnTo>
                <a:close/>
              </a:path>
              <a:path w="3072765" h="2374900">
                <a:moveTo>
                  <a:pt x="3034172" y="1298004"/>
                </a:moveTo>
                <a:lnTo>
                  <a:pt x="3032630" y="1320800"/>
                </a:lnTo>
                <a:lnTo>
                  <a:pt x="3042703" y="1320800"/>
                </a:lnTo>
                <a:lnTo>
                  <a:pt x="3043479" y="1300468"/>
                </a:lnTo>
                <a:lnTo>
                  <a:pt x="3034172" y="1298004"/>
                </a:lnTo>
                <a:close/>
              </a:path>
              <a:path w="3072765" h="2374900">
                <a:moveTo>
                  <a:pt x="3070521" y="1307627"/>
                </a:moveTo>
                <a:lnTo>
                  <a:pt x="3070450" y="1308100"/>
                </a:lnTo>
                <a:lnTo>
                  <a:pt x="3065307" y="1320800"/>
                </a:lnTo>
                <a:lnTo>
                  <a:pt x="3071644" y="1320800"/>
                </a:lnTo>
                <a:lnTo>
                  <a:pt x="3072306" y="1308100"/>
                </a:lnTo>
                <a:lnTo>
                  <a:pt x="3070521" y="1307627"/>
                </a:lnTo>
                <a:close/>
              </a:path>
              <a:path w="3072765" h="2374900">
                <a:moveTo>
                  <a:pt x="2899994" y="12700"/>
                </a:moveTo>
                <a:lnTo>
                  <a:pt x="170176" y="12700"/>
                </a:lnTo>
                <a:lnTo>
                  <a:pt x="145718" y="25400"/>
                </a:lnTo>
                <a:lnTo>
                  <a:pt x="122668" y="38100"/>
                </a:lnTo>
                <a:lnTo>
                  <a:pt x="101160" y="63500"/>
                </a:lnTo>
                <a:lnTo>
                  <a:pt x="81334" y="76200"/>
                </a:lnTo>
                <a:lnTo>
                  <a:pt x="63327" y="101600"/>
                </a:lnTo>
                <a:lnTo>
                  <a:pt x="47277" y="114300"/>
                </a:lnTo>
                <a:lnTo>
                  <a:pt x="33323" y="139700"/>
                </a:lnTo>
                <a:lnTo>
                  <a:pt x="12283" y="190500"/>
                </a:lnTo>
                <a:lnTo>
                  <a:pt x="1355" y="254000"/>
                </a:lnTo>
                <a:lnTo>
                  <a:pt x="0" y="279400"/>
                </a:lnTo>
                <a:lnTo>
                  <a:pt x="23" y="1295559"/>
                </a:lnTo>
                <a:lnTo>
                  <a:pt x="1815" y="1307627"/>
                </a:lnTo>
                <a:lnTo>
                  <a:pt x="28942" y="1300445"/>
                </a:lnTo>
                <a:lnTo>
                  <a:pt x="28662" y="1295400"/>
                </a:lnTo>
                <a:lnTo>
                  <a:pt x="1825" y="1295400"/>
                </a:lnTo>
                <a:lnTo>
                  <a:pt x="6816" y="1282700"/>
                </a:lnTo>
                <a:lnTo>
                  <a:pt x="28801" y="1282700"/>
                </a:lnTo>
                <a:lnTo>
                  <a:pt x="28801" y="279400"/>
                </a:lnTo>
                <a:lnTo>
                  <a:pt x="30118" y="254000"/>
                </a:lnTo>
                <a:lnTo>
                  <a:pt x="40176" y="203200"/>
                </a:lnTo>
                <a:lnTo>
                  <a:pt x="59269" y="152400"/>
                </a:lnTo>
                <a:lnTo>
                  <a:pt x="71890" y="139700"/>
                </a:lnTo>
                <a:lnTo>
                  <a:pt x="86391" y="114300"/>
                </a:lnTo>
                <a:lnTo>
                  <a:pt x="102647" y="101600"/>
                </a:lnTo>
                <a:lnTo>
                  <a:pt x="120531" y="76200"/>
                </a:lnTo>
                <a:lnTo>
                  <a:pt x="139914" y="63500"/>
                </a:lnTo>
                <a:lnTo>
                  <a:pt x="160672" y="50800"/>
                </a:lnTo>
                <a:lnTo>
                  <a:pt x="182675" y="38100"/>
                </a:lnTo>
                <a:lnTo>
                  <a:pt x="205798" y="38100"/>
                </a:lnTo>
                <a:lnTo>
                  <a:pt x="229914" y="25400"/>
                </a:lnTo>
                <a:lnTo>
                  <a:pt x="2924572" y="25400"/>
                </a:lnTo>
                <a:lnTo>
                  <a:pt x="2899994" y="12700"/>
                </a:lnTo>
                <a:close/>
              </a:path>
              <a:path w="3072765" h="2374900">
                <a:moveTo>
                  <a:pt x="3072337" y="1282700"/>
                </a:moveTo>
                <a:lnTo>
                  <a:pt x="3065519" y="1282700"/>
                </a:lnTo>
                <a:lnTo>
                  <a:pt x="3070511" y="1295400"/>
                </a:lnTo>
                <a:lnTo>
                  <a:pt x="3043673" y="1295400"/>
                </a:lnTo>
                <a:lnTo>
                  <a:pt x="3043479" y="1300468"/>
                </a:lnTo>
                <a:lnTo>
                  <a:pt x="3070521" y="1307627"/>
                </a:lnTo>
                <a:lnTo>
                  <a:pt x="3072313" y="1295559"/>
                </a:lnTo>
                <a:lnTo>
                  <a:pt x="3072337" y="1282700"/>
                </a:lnTo>
                <a:close/>
              </a:path>
              <a:path w="3072765" h="2374900">
                <a:moveTo>
                  <a:pt x="3040890" y="1282700"/>
                </a:moveTo>
                <a:lnTo>
                  <a:pt x="3033936" y="1282700"/>
                </a:lnTo>
                <a:lnTo>
                  <a:pt x="3033936" y="1295400"/>
                </a:lnTo>
                <a:lnTo>
                  <a:pt x="3024366" y="1295407"/>
                </a:lnTo>
                <a:lnTo>
                  <a:pt x="3034172" y="1298004"/>
                </a:lnTo>
                <a:lnTo>
                  <a:pt x="3034348" y="1295400"/>
                </a:lnTo>
                <a:lnTo>
                  <a:pt x="3040890" y="1282700"/>
                </a:lnTo>
                <a:close/>
              </a:path>
              <a:path w="3072765" h="2374900">
                <a:moveTo>
                  <a:pt x="47970" y="1295400"/>
                </a:moveTo>
                <a:lnTo>
                  <a:pt x="38381" y="1295400"/>
                </a:lnTo>
                <a:lnTo>
                  <a:pt x="38498" y="1297915"/>
                </a:lnTo>
                <a:lnTo>
                  <a:pt x="47970" y="1295400"/>
                </a:lnTo>
                <a:close/>
              </a:path>
              <a:path w="3072765" h="2374900">
                <a:moveTo>
                  <a:pt x="15828" y="1282700"/>
                </a:moveTo>
                <a:lnTo>
                  <a:pt x="6816" y="1282700"/>
                </a:lnTo>
                <a:lnTo>
                  <a:pt x="1825" y="1295400"/>
                </a:lnTo>
                <a:lnTo>
                  <a:pt x="9599" y="1295400"/>
                </a:lnTo>
                <a:lnTo>
                  <a:pt x="15828" y="1282700"/>
                </a:lnTo>
                <a:close/>
              </a:path>
              <a:path w="3072765" h="2374900">
                <a:moveTo>
                  <a:pt x="28801" y="1282700"/>
                </a:moveTo>
                <a:lnTo>
                  <a:pt x="15828" y="1282700"/>
                </a:lnTo>
                <a:lnTo>
                  <a:pt x="9599" y="1295400"/>
                </a:lnTo>
                <a:lnTo>
                  <a:pt x="28801" y="1295400"/>
                </a:lnTo>
                <a:lnTo>
                  <a:pt x="28801" y="1282700"/>
                </a:lnTo>
                <a:close/>
              </a:path>
              <a:path w="3072765" h="2374900">
                <a:moveTo>
                  <a:pt x="38400" y="1282700"/>
                </a:moveTo>
                <a:lnTo>
                  <a:pt x="31446" y="1282700"/>
                </a:lnTo>
                <a:lnTo>
                  <a:pt x="37988" y="1295400"/>
                </a:lnTo>
                <a:lnTo>
                  <a:pt x="38400" y="1295400"/>
                </a:lnTo>
                <a:lnTo>
                  <a:pt x="38400" y="1282700"/>
                </a:lnTo>
                <a:close/>
              </a:path>
              <a:path w="3072765" h="2374900">
                <a:moveTo>
                  <a:pt x="212397" y="50800"/>
                </a:moveTo>
                <a:lnTo>
                  <a:pt x="186842" y="50800"/>
                </a:lnTo>
                <a:lnTo>
                  <a:pt x="165656" y="63500"/>
                </a:lnTo>
                <a:lnTo>
                  <a:pt x="145663" y="76200"/>
                </a:lnTo>
                <a:lnTo>
                  <a:pt x="126988" y="88900"/>
                </a:lnTo>
                <a:lnTo>
                  <a:pt x="109752" y="101600"/>
                </a:lnTo>
                <a:lnTo>
                  <a:pt x="94080" y="127000"/>
                </a:lnTo>
                <a:lnTo>
                  <a:pt x="80095" y="139700"/>
                </a:lnTo>
                <a:lnTo>
                  <a:pt x="67918" y="165100"/>
                </a:lnTo>
                <a:lnTo>
                  <a:pt x="57671" y="177800"/>
                </a:lnTo>
                <a:lnTo>
                  <a:pt x="49474" y="203200"/>
                </a:lnTo>
                <a:lnTo>
                  <a:pt x="43444" y="228600"/>
                </a:lnTo>
                <a:lnTo>
                  <a:pt x="39706" y="254000"/>
                </a:lnTo>
                <a:lnTo>
                  <a:pt x="38400" y="279400"/>
                </a:lnTo>
                <a:lnTo>
                  <a:pt x="38400" y="1295400"/>
                </a:lnTo>
                <a:lnTo>
                  <a:pt x="45683" y="1295400"/>
                </a:lnTo>
                <a:lnTo>
                  <a:pt x="40316" y="1282700"/>
                </a:lnTo>
                <a:lnTo>
                  <a:pt x="48000" y="1282700"/>
                </a:lnTo>
                <a:lnTo>
                  <a:pt x="48000" y="279400"/>
                </a:lnTo>
                <a:lnTo>
                  <a:pt x="49293" y="254000"/>
                </a:lnTo>
                <a:lnTo>
                  <a:pt x="52934" y="228600"/>
                </a:lnTo>
                <a:lnTo>
                  <a:pt x="58771" y="203200"/>
                </a:lnTo>
                <a:lnTo>
                  <a:pt x="66686" y="190500"/>
                </a:lnTo>
                <a:lnTo>
                  <a:pt x="76567" y="165100"/>
                </a:lnTo>
                <a:lnTo>
                  <a:pt x="101767" y="127000"/>
                </a:lnTo>
                <a:lnTo>
                  <a:pt x="133445" y="101600"/>
                </a:lnTo>
                <a:lnTo>
                  <a:pt x="170641" y="76200"/>
                </a:lnTo>
                <a:lnTo>
                  <a:pt x="191008" y="63500"/>
                </a:lnTo>
                <a:lnTo>
                  <a:pt x="212397" y="50800"/>
                </a:lnTo>
                <a:close/>
              </a:path>
              <a:path w="3072765" h="2374900">
                <a:moveTo>
                  <a:pt x="48000" y="1282700"/>
                </a:moveTo>
                <a:lnTo>
                  <a:pt x="40316" y="1282700"/>
                </a:lnTo>
                <a:lnTo>
                  <a:pt x="45683" y="1295400"/>
                </a:lnTo>
                <a:lnTo>
                  <a:pt x="48000" y="1295400"/>
                </a:lnTo>
                <a:lnTo>
                  <a:pt x="48000" y="1282700"/>
                </a:lnTo>
                <a:close/>
              </a:path>
              <a:path w="3072765" h="2374900">
                <a:moveTo>
                  <a:pt x="2886795" y="50800"/>
                </a:moveTo>
                <a:lnTo>
                  <a:pt x="2862211" y="50800"/>
                </a:lnTo>
                <a:lnTo>
                  <a:pt x="2883495" y="63500"/>
                </a:lnTo>
                <a:lnTo>
                  <a:pt x="2903740" y="76200"/>
                </a:lnTo>
                <a:lnTo>
                  <a:pt x="2940660" y="101600"/>
                </a:lnTo>
                <a:lnTo>
                  <a:pt x="2972028" y="127000"/>
                </a:lnTo>
                <a:lnTo>
                  <a:pt x="2985329" y="152400"/>
                </a:lnTo>
                <a:lnTo>
                  <a:pt x="2996879" y="165100"/>
                </a:lnTo>
                <a:lnTo>
                  <a:pt x="3006566" y="190500"/>
                </a:lnTo>
                <a:lnTo>
                  <a:pt x="3014272" y="203200"/>
                </a:lnTo>
                <a:lnTo>
                  <a:pt x="3019883" y="228600"/>
                </a:lnTo>
                <a:lnTo>
                  <a:pt x="3023287" y="254000"/>
                </a:lnTo>
                <a:lnTo>
                  <a:pt x="3024366" y="279400"/>
                </a:lnTo>
                <a:lnTo>
                  <a:pt x="3024336" y="1295400"/>
                </a:lnTo>
                <a:lnTo>
                  <a:pt x="3026653" y="1295400"/>
                </a:lnTo>
                <a:lnTo>
                  <a:pt x="3032020" y="1282700"/>
                </a:lnTo>
                <a:lnTo>
                  <a:pt x="3033936" y="1282700"/>
                </a:lnTo>
                <a:lnTo>
                  <a:pt x="3033955" y="279400"/>
                </a:lnTo>
                <a:lnTo>
                  <a:pt x="3029181" y="228600"/>
                </a:lnTo>
                <a:lnTo>
                  <a:pt x="3015214" y="177800"/>
                </a:lnTo>
                <a:lnTo>
                  <a:pt x="3005084" y="165100"/>
                </a:lnTo>
                <a:lnTo>
                  <a:pt x="2993016" y="139700"/>
                </a:lnTo>
                <a:lnTo>
                  <a:pt x="2979132" y="127000"/>
                </a:lnTo>
                <a:lnTo>
                  <a:pt x="2963556" y="101600"/>
                </a:lnTo>
                <a:lnTo>
                  <a:pt x="2946410" y="88900"/>
                </a:lnTo>
                <a:lnTo>
                  <a:pt x="2927819" y="76200"/>
                </a:lnTo>
                <a:lnTo>
                  <a:pt x="2907907" y="63500"/>
                </a:lnTo>
                <a:lnTo>
                  <a:pt x="2886795" y="50800"/>
                </a:lnTo>
                <a:close/>
              </a:path>
              <a:path w="3072765" h="2374900">
                <a:moveTo>
                  <a:pt x="3033936" y="1282700"/>
                </a:moveTo>
                <a:lnTo>
                  <a:pt x="3032020" y="1282700"/>
                </a:lnTo>
                <a:lnTo>
                  <a:pt x="3026653" y="1295400"/>
                </a:lnTo>
                <a:lnTo>
                  <a:pt x="3033936" y="1295400"/>
                </a:lnTo>
                <a:lnTo>
                  <a:pt x="3033936" y="1282700"/>
                </a:lnTo>
                <a:close/>
              </a:path>
              <a:path w="3072765" h="2374900">
                <a:moveTo>
                  <a:pt x="2924572" y="25400"/>
                </a:moveTo>
                <a:lnTo>
                  <a:pt x="2842893" y="25400"/>
                </a:lnTo>
                <a:lnTo>
                  <a:pt x="2866993" y="38100"/>
                </a:lnTo>
                <a:lnTo>
                  <a:pt x="2890094" y="38100"/>
                </a:lnTo>
                <a:lnTo>
                  <a:pt x="2912073" y="50800"/>
                </a:lnTo>
                <a:lnTo>
                  <a:pt x="2932803" y="63500"/>
                </a:lnTo>
                <a:lnTo>
                  <a:pt x="2952159" y="76200"/>
                </a:lnTo>
                <a:lnTo>
                  <a:pt x="2970013" y="101600"/>
                </a:lnTo>
                <a:lnTo>
                  <a:pt x="2986237" y="114300"/>
                </a:lnTo>
                <a:lnTo>
                  <a:pt x="3000705" y="139700"/>
                </a:lnTo>
                <a:lnTo>
                  <a:pt x="3013289" y="152400"/>
                </a:lnTo>
                <a:lnTo>
                  <a:pt x="3023863" y="177800"/>
                </a:lnTo>
                <a:lnTo>
                  <a:pt x="3032302" y="203200"/>
                </a:lnTo>
                <a:lnTo>
                  <a:pt x="3038478" y="228600"/>
                </a:lnTo>
                <a:lnTo>
                  <a:pt x="3042267" y="254000"/>
                </a:lnTo>
                <a:lnTo>
                  <a:pt x="3043542" y="279400"/>
                </a:lnTo>
                <a:lnTo>
                  <a:pt x="3043535" y="1295400"/>
                </a:lnTo>
                <a:lnTo>
                  <a:pt x="3062737" y="1295400"/>
                </a:lnTo>
                <a:lnTo>
                  <a:pt x="3056508" y="1282700"/>
                </a:lnTo>
                <a:lnTo>
                  <a:pt x="3072337" y="1282700"/>
                </a:lnTo>
                <a:lnTo>
                  <a:pt x="3072306" y="279400"/>
                </a:lnTo>
                <a:lnTo>
                  <a:pt x="3070738" y="241300"/>
                </a:lnTo>
                <a:lnTo>
                  <a:pt x="3059347" y="190500"/>
                </a:lnTo>
                <a:lnTo>
                  <a:pt x="3037903" y="139700"/>
                </a:lnTo>
                <a:lnTo>
                  <a:pt x="3007550" y="101600"/>
                </a:lnTo>
                <a:lnTo>
                  <a:pt x="2989383" y="76200"/>
                </a:lnTo>
                <a:lnTo>
                  <a:pt x="2969407" y="63500"/>
                </a:lnTo>
                <a:lnTo>
                  <a:pt x="2947757" y="38100"/>
                </a:lnTo>
                <a:lnTo>
                  <a:pt x="2924572" y="25400"/>
                </a:lnTo>
                <a:close/>
              </a:path>
              <a:path w="3072765" h="2374900">
                <a:moveTo>
                  <a:pt x="3065519" y="1282700"/>
                </a:moveTo>
                <a:lnTo>
                  <a:pt x="3056508" y="1282700"/>
                </a:lnTo>
                <a:lnTo>
                  <a:pt x="3062737" y="1295400"/>
                </a:lnTo>
                <a:lnTo>
                  <a:pt x="3070511" y="1295400"/>
                </a:lnTo>
                <a:lnTo>
                  <a:pt x="3065519" y="1282700"/>
                </a:lnTo>
                <a:close/>
              </a:path>
              <a:path w="3072765" h="2374900">
                <a:moveTo>
                  <a:pt x="281600" y="38100"/>
                </a:moveTo>
                <a:lnTo>
                  <a:pt x="232305" y="38100"/>
                </a:lnTo>
                <a:lnTo>
                  <a:pt x="209097" y="50800"/>
                </a:lnTo>
                <a:lnTo>
                  <a:pt x="257797" y="50800"/>
                </a:lnTo>
                <a:lnTo>
                  <a:pt x="281600" y="38100"/>
                </a:lnTo>
                <a:close/>
              </a:path>
              <a:path w="3072765" h="2374900">
                <a:moveTo>
                  <a:pt x="2841444" y="38100"/>
                </a:moveTo>
                <a:lnTo>
                  <a:pt x="2791946" y="38100"/>
                </a:lnTo>
                <a:lnTo>
                  <a:pt x="2816950" y="50800"/>
                </a:lnTo>
                <a:lnTo>
                  <a:pt x="2864603" y="50800"/>
                </a:lnTo>
                <a:lnTo>
                  <a:pt x="2841444" y="38100"/>
                </a:lnTo>
                <a:close/>
              </a:path>
              <a:path w="3072765" h="2374900">
                <a:moveTo>
                  <a:pt x="2847238" y="0"/>
                </a:moveTo>
                <a:lnTo>
                  <a:pt x="222742" y="0"/>
                </a:lnTo>
                <a:lnTo>
                  <a:pt x="195900" y="12700"/>
                </a:lnTo>
                <a:lnTo>
                  <a:pt x="2874164" y="12700"/>
                </a:lnTo>
                <a:lnTo>
                  <a:pt x="2847238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315445" y="1279652"/>
            <a:ext cx="2418080" cy="1497965"/>
          </a:xfrm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algn="ctr" marL="12700" marR="5080" indent="-635">
              <a:lnSpc>
                <a:spcPct val="100800"/>
              </a:lnSpc>
              <a:spcBef>
                <a:spcPts val="75"/>
              </a:spcBef>
            </a:pPr>
            <a:r>
              <a:rPr dirty="0" sz="2400" spc="-5">
                <a:latin typeface="Corbel"/>
                <a:cs typeface="Corbel"/>
              </a:rPr>
              <a:t>Can </a:t>
            </a:r>
            <a:r>
              <a:rPr dirty="0" sz="2400">
                <a:latin typeface="Corbel"/>
                <a:cs typeface="Corbel"/>
              </a:rPr>
              <a:t>we </a:t>
            </a:r>
            <a:r>
              <a:rPr dirty="0" sz="2400" spc="-5">
                <a:latin typeface="Corbel"/>
                <a:cs typeface="Corbel"/>
              </a:rPr>
              <a:t>identify  node groups?  (communities,  modules,</a:t>
            </a:r>
            <a:r>
              <a:rPr dirty="0" sz="2400" spc="-60">
                <a:latin typeface="Corbel"/>
                <a:cs typeface="Corbel"/>
              </a:rPr>
              <a:t> </a:t>
            </a:r>
            <a:r>
              <a:rPr dirty="0" sz="2400" spc="-5">
                <a:latin typeface="Corbel"/>
                <a:cs typeface="Corbel"/>
              </a:rPr>
              <a:t>clusters)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45160" y="6177876"/>
            <a:ext cx="2350135" cy="584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985"/>
              </a:lnSpc>
            </a:pPr>
            <a:r>
              <a:rPr dirty="0" sz="2000" spc="-5" b="1">
                <a:latin typeface="Corbel"/>
                <a:cs typeface="Corbel"/>
              </a:rPr>
              <a:t>Nodes:</a:t>
            </a:r>
            <a:r>
              <a:rPr dirty="0" sz="2000" spc="-215" b="1">
                <a:latin typeface="Corbel"/>
                <a:cs typeface="Corbel"/>
              </a:rPr>
              <a:t> </a:t>
            </a:r>
            <a:r>
              <a:rPr dirty="0" sz="2000" spc="-30" b="1">
                <a:latin typeface="Corbel"/>
                <a:cs typeface="Corbel"/>
              </a:rPr>
              <a:t>Teams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</a:pPr>
            <a:r>
              <a:rPr dirty="0" sz="2000" spc="-5" b="1">
                <a:latin typeface="Corbel"/>
                <a:cs typeface="Corbel"/>
              </a:rPr>
              <a:t>Edges: Games</a:t>
            </a:r>
            <a:r>
              <a:rPr dirty="0" sz="2000" spc="-125" b="1">
                <a:latin typeface="Corbel"/>
                <a:cs typeface="Corbel"/>
              </a:rPr>
              <a:t> </a:t>
            </a:r>
            <a:r>
              <a:rPr dirty="0" sz="2000" spc="-5" b="1">
                <a:latin typeface="Corbel"/>
                <a:cs typeface="Corbel"/>
              </a:rPr>
              <a:t>played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22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1599" y="1143000"/>
            <a:ext cx="7416823" cy="5714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5216" y="347472"/>
            <a:ext cx="5922264" cy="4267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479540" y="1761235"/>
            <a:ext cx="247015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Corbel"/>
                <a:cs typeface="Corbel"/>
              </a:rPr>
              <a:t>NCAA</a:t>
            </a:r>
            <a:r>
              <a:rPr dirty="0" sz="2400" spc="-55">
                <a:latin typeface="Corbel"/>
                <a:cs typeface="Corbel"/>
              </a:rPr>
              <a:t> </a:t>
            </a:r>
            <a:r>
              <a:rPr dirty="0" sz="2400" spc="-5">
                <a:latin typeface="Corbel"/>
                <a:cs typeface="Corbel"/>
              </a:rPr>
              <a:t>conferences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52691" y="1972576"/>
            <a:ext cx="659130" cy="429259"/>
          </a:xfrm>
          <a:custGeom>
            <a:avLst/>
            <a:gdLst/>
            <a:ahLst/>
            <a:cxnLst/>
            <a:rect l="l" t="t" r="r" b="b"/>
            <a:pathLst>
              <a:path w="659129" h="429260">
                <a:moveTo>
                  <a:pt x="18883" y="427289"/>
                </a:moveTo>
                <a:lnTo>
                  <a:pt x="11425" y="427617"/>
                </a:lnTo>
                <a:lnTo>
                  <a:pt x="16625" y="428743"/>
                </a:lnTo>
                <a:lnTo>
                  <a:pt x="18883" y="427289"/>
                </a:lnTo>
                <a:close/>
              </a:path>
              <a:path w="659129" h="429260">
                <a:moveTo>
                  <a:pt x="5185" y="417929"/>
                </a:moveTo>
                <a:lnTo>
                  <a:pt x="0" y="428119"/>
                </a:lnTo>
                <a:lnTo>
                  <a:pt x="11425" y="427617"/>
                </a:lnTo>
                <a:lnTo>
                  <a:pt x="10731" y="427466"/>
                </a:lnTo>
                <a:lnTo>
                  <a:pt x="5035" y="418619"/>
                </a:lnTo>
                <a:lnTo>
                  <a:pt x="5185" y="417929"/>
                </a:lnTo>
                <a:close/>
              </a:path>
              <a:path w="659129" h="429260">
                <a:moveTo>
                  <a:pt x="40361" y="390804"/>
                </a:moveTo>
                <a:lnTo>
                  <a:pt x="8573" y="411270"/>
                </a:lnTo>
                <a:lnTo>
                  <a:pt x="5185" y="417929"/>
                </a:lnTo>
                <a:lnTo>
                  <a:pt x="5035" y="418619"/>
                </a:lnTo>
                <a:lnTo>
                  <a:pt x="10731" y="427466"/>
                </a:lnTo>
                <a:lnTo>
                  <a:pt x="11425" y="427617"/>
                </a:lnTo>
                <a:lnTo>
                  <a:pt x="18883" y="427289"/>
                </a:lnTo>
                <a:lnTo>
                  <a:pt x="26778" y="422206"/>
                </a:lnTo>
                <a:lnTo>
                  <a:pt x="24382" y="422206"/>
                </a:lnTo>
                <a:lnTo>
                  <a:pt x="15476" y="408369"/>
                </a:lnTo>
                <a:lnTo>
                  <a:pt x="31788" y="407652"/>
                </a:lnTo>
                <a:lnTo>
                  <a:pt x="40361" y="390804"/>
                </a:lnTo>
                <a:close/>
              </a:path>
              <a:path w="659129" h="429260">
                <a:moveTo>
                  <a:pt x="108863" y="404263"/>
                </a:moveTo>
                <a:lnTo>
                  <a:pt x="50673" y="406822"/>
                </a:lnTo>
                <a:lnTo>
                  <a:pt x="18883" y="427289"/>
                </a:lnTo>
                <a:lnTo>
                  <a:pt x="109700" y="423296"/>
                </a:lnTo>
                <a:lnTo>
                  <a:pt x="113772" y="418848"/>
                </a:lnTo>
                <a:lnTo>
                  <a:pt x="113310" y="408336"/>
                </a:lnTo>
                <a:lnTo>
                  <a:pt x="108863" y="404263"/>
                </a:lnTo>
                <a:close/>
              </a:path>
              <a:path w="659129" h="429260">
                <a:moveTo>
                  <a:pt x="31788" y="407652"/>
                </a:moveTo>
                <a:lnTo>
                  <a:pt x="15476" y="408369"/>
                </a:lnTo>
                <a:lnTo>
                  <a:pt x="24382" y="422206"/>
                </a:lnTo>
                <a:lnTo>
                  <a:pt x="31788" y="407652"/>
                </a:lnTo>
                <a:close/>
              </a:path>
              <a:path w="659129" h="429260">
                <a:moveTo>
                  <a:pt x="50673" y="406822"/>
                </a:moveTo>
                <a:lnTo>
                  <a:pt x="31788" y="407652"/>
                </a:lnTo>
                <a:lnTo>
                  <a:pt x="24382" y="422206"/>
                </a:lnTo>
                <a:lnTo>
                  <a:pt x="26778" y="422206"/>
                </a:lnTo>
                <a:lnTo>
                  <a:pt x="50673" y="406822"/>
                </a:lnTo>
                <a:close/>
              </a:path>
              <a:path w="659129" h="429260">
                <a:moveTo>
                  <a:pt x="8573" y="411270"/>
                </a:moveTo>
                <a:lnTo>
                  <a:pt x="6313" y="412725"/>
                </a:lnTo>
                <a:lnTo>
                  <a:pt x="5185" y="417929"/>
                </a:lnTo>
                <a:lnTo>
                  <a:pt x="8573" y="411270"/>
                </a:lnTo>
                <a:close/>
              </a:path>
              <a:path w="659129" h="429260">
                <a:moveTo>
                  <a:pt x="55533" y="328387"/>
                </a:moveTo>
                <a:lnTo>
                  <a:pt x="49797" y="330254"/>
                </a:lnTo>
                <a:lnTo>
                  <a:pt x="8573" y="411270"/>
                </a:lnTo>
                <a:lnTo>
                  <a:pt x="40361" y="390804"/>
                </a:lnTo>
                <a:lnTo>
                  <a:pt x="66776" y="338894"/>
                </a:lnTo>
                <a:lnTo>
                  <a:pt x="64909" y="333159"/>
                </a:lnTo>
                <a:lnTo>
                  <a:pt x="55533" y="328387"/>
                </a:lnTo>
                <a:close/>
              </a:path>
              <a:path w="659129" h="429260">
                <a:moveTo>
                  <a:pt x="647376" y="0"/>
                </a:moveTo>
                <a:lnTo>
                  <a:pt x="40361" y="390804"/>
                </a:lnTo>
                <a:lnTo>
                  <a:pt x="31788" y="407652"/>
                </a:lnTo>
                <a:lnTo>
                  <a:pt x="50673" y="406822"/>
                </a:lnTo>
                <a:lnTo>
                  <a:pt x="657688" y="16017"/>
                </a:lnTo>
                <a:lnTo>
                  <a:pt x="658964" y="10123"/>
                </a:lnTo>
                <a:lnTo>
                  <a:pt x="653270" y="1277"/>
                </a:lnTo>
                <a:lnTo>
                  <a:pt x="647376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245160" y="6177876"/>
            <a:ext cx="2350135" cy="584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985"/>
              </a:lnSpc>
            </a:pPr>
            <a:r>
              <a:rPr dirty="0" sz="2000" spc="-5" b="1">
                <a:latin typeface="Corbel"/>
                <a:cs typeface="Corbel"/>
              </a:rPr>
              <a:t>Nodes:</a:t>
            </a:r>
            <a:r>
              <a:rPr dirty="0" sz="2000" spc="-215" b="1">
                <a:latin typeface="Corbel"/>
                <a:cs typeface="Corbel"/>
              </a:rPr>
              <a:t> </a:t>
            </a:r>
            <a:r>
              <a:rPr dirty="0" sz="2000" spc="-30" b="1">
                <a:latin typeface="Corbel"/>
                <a:cs typeface="Corbel"/>
              </a:rPr>
              <a:t>Teams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</a:pPr>
            <a:r>
              <a:rPr dirty="0" sz="2000" spc="-5" b="1">
                <a:latin typeface="Corbel"/>
                <a:cs typeface="Corbel"/>
              </a:rPr>
              <a:t>Edges: Games</a:t>
            </a:r>
            <a:r>
              <a:rPr dirty="0" sz="2000" spc="-125" b="1">
                <a:latin typeface="Corbel"/>
                <a:cs typeface="Corbel"/>
              </a:rPr>
              <a:t> </a:t>
            </a:r>
            <a:r>
              <a:rPr dirty="0" sz="2000" spc="-5" b="1">
                <a:latin typeface="Corbel"/>
                <a:cs typeface="Corbel"/>
              </a:rPr>
              <a:t>played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22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501640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438658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Communities: </a:t>
            </a:r>
            <a:r>
              <a:rPr dirty="0" spc="-10" b="0">
                <a:solidFill>
                  <a:srgbClr val="D60093"/>
                </a:solidFill>
                <a:latin typeface="Calibri"/>
                <a:cs typeface="Calibri"/>
              </a:rPr>
              <a:t>sets</a:t>
            </a:r>
            <a:r>
              <a:rPr dirty="0" spc="-40" b="0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D60093"/>
                </a:solidFill>
                <a:latin typeface="Calibri"/>
                <a:cs typeface="Calibri"/>
              </a:rPr>
              <a:t>of</a:t>
            </a:r>
          </a:p>
          <a:p>
            <a:pPr marL="332740">
              <a:lnSpc>
                <a:spcPts val="3815"/>
              </a:lnSpc>
            </a:pPr>
            <a:r>
              <a:rPr dirty="0" spc="-10">
                <a:solidFill>
                  <a:srgbClr val="D60093"/>
                </a:solidFill>
              </a:rPr>
              <a:t>tightly connected</a:t>
            </a:r>
            <a:r>
              <a:rPr dirty="0" spc="-40">
                <a:solidFill>
                  <a:srgbClr val="D60093"/>
                </a:solidFill>
              </a:rPr>
              <a:t> </a:t>
            </a:r>
            <a:r>
              <a:rPr dirty="0" spc="-5">
                <a:solidFill>
                  <a:srgbClr val="D60093"/>
                </a:solidFill>
              </a:rPr>
              <a:t>nodes</a:t>
            </a:r>
          </a:p>
        </p:txBody>
      </p:sp>
      <p:sp>
        <p:nvSpPr>
          <p:cNvPr id="4" name="object 4"/>
          <p:cNvSpPr/>
          <p:nvPr/>
        </p:nvSpPr>
        <p:spPr>
          <a:xfrm>
            <a:off x="6019800" y="1371600"/>
            <a:ext cx="2940323" cy="2819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52800" y="6079996"/>
            <a:ext cx="5181600" cy="133350"/>
          </a:xfrm>
          <a:custGeom>
            <a:avLst/>
            <a:gdLst/>
            <a:ahLst/>
            <a:cxnLst/>
            <a:rect l="l" t="t" r="r" b="b"/>
            <a:pathLst>
              <a:path w="5181600" h="133350">
                <a:moveTo>
                  <a:pt x="5181600" y="0"/>
                </a:moveTo>
                <a:lnTo>
                  <a:pt x="5171744" y="25952"/>
                </a:lnTo>
                <a:lnTo>
                  <a:pt x="5144868" y="47146"/>
                </a:lnTo>
                <a:lnTo>
                  <a:pt x="5105005" y="61435"/>
                </a:lnTo>
                <a:lnTo>
                  <a:pt x="5056191" y="66675"/>
                </a:lnTo>
                <a:lnTo>
                  <a:pt x="2726058" y="66675"/>
                </a:lnTo>
                <a:lnTo>
                  <a:pt x="2677242" y="71914"/>
                </a:lnTo>
                <a:lnTo>
                  <a:pt x="2637380" y="86203"/>
                </a:lnTo>
                <a:lnTo>
                  <a:pt x="2610504" y="107397"/>
                </a:lnTo>
                <a:lnTo>
                  <a:pt x="2600649" y="133350"/>
                </a:lnTo>
                <a:lnTo>
                  <a:pt x="2590793" y="107397"/>
                </a:lnTo>
                <a:lnTo>
                  <a:pt x="2563917" y="86203"/>
                </a:lnTo>
                <a:lnTo>
                  <a:pt x="2524054" y="71914"/>
                </a:lnTo>
                <a:lnTo>
                  <a:pt x="2475240" y="66675"/>
                </a:lnTo>
                <a:lnTo>
                  <a:pt x="125409" y="66675"/>
                </a:lnTo>
                <a:lnTo>
                  <a:pt x="76594" y="61435"/>
                </a:lnTo>
                <a:lnTo>
                  <a:pt x="36731" y="47146"/>
                </a:lnTo>
                <a:lnTo>
                  <a:pt x="9855" y="25952"/>
                </a:lnTo>
                <a:lnTo>
                  <a:pt x="0" y="0"/>
                </a:lnTo>
              </a:path>
            </a:pathLst>
          </a:custGeom>
          <a:ln w="28575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18108" y="2230773"/>
            <a:ext cx="7918450" cy="435673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u="heavy">
                <a:latin typeface="Calibri"/>
                <a:cs typeface="Calibri"/>
              </a:rPr>
              <a:t>Define: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Modularity</a:t>
            </a:r>
            <a:r>
              <a:rPr dirty="0" sz="3200" spc="-35" b="1">
                <a:latin typeface="Calibri"/>
                <a:cs typeface="Calibri"/>
              </a:rPr>
              <a:t> </a:t>
            </a:r>
            <a:r>
              <a:rPr dirty="0" sz="3200">
                <a:latin typeface="Cambria Math"/>
                <a:cs typeface="Cambria Math"/>
              </a:rPr>
              <a:t>𝑸</a:t>
            </a:r>
            <a:endParaRPr sz="3200">
              <a:latin typeface="Cambria Math"/>
              <a:cs typeface="Cambria Math"/>
            </a:endParaRPr>
          </a:p>
          <a:p>
            <a:pPr lvl="1" marL="625475" marR="3828415" indent="-274320">
              <a:lnSpc>
                <a:spcPct val="99600"/>
              </a:lnSpc>
              <a:spcBef>
                <a:spcPts val="67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measure </a:t>
            </a:r>
            <a:r>
              <a:rPr dirty="0" sz="2800" spc="-5">
                <a:latin typeface="Calibri"/>
                <a:cs typeface="Calibri"/>
              </a:rPr>
              <a:t>of how </a:t>
            </a:r>
            <a:r>
              <a:rPr dirty="0" sz="2800" spc="-15">
                <a:latin typeface="Calibri"/>
                <a:cs typeface="Calibri"/>
              </a:rPr>
              <a:t>well 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network </a:t>
            </a:r>
            <a:r>
              <a:rPr dirty="0" sz="2800" spc="-5">
                <a:latin typeface="Calibri"/>
                <a:cs typeface="Calibri"/>
              </a:rPr>
              <a:t>is partitioned  </a:t>
            </a:r>
            <a:r>
              <a:rPr dirty="0" sz="2800" spc="-20">
                <a:latin typeface="Calibri"/>
                <a:cs typeface="Calibri"/>
              </a:rPr>
              <a:t>into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communities</a:t>
            </a:r>
            <a:endParaRPr sz="2800">
              <a:latin typeface="Calibri"/>
              <a:cs typeface="Calibri"/>
            </a:endParaRPr>
          </a:p>
          <a:p>
            <a:pPr lvl="1" marL="625475" marR="2244090" indent="-274320">
              <a:lnSpc>
                <a:spcPts val="3290"/>
              </a:lnSpc>
              <a:spcBef>
                <a:spcPts val="90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Given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 b="1">
                <a:solidFill>
                  <a:srgbClr val="0000FF"/>
                </a:solidFill>
                <a:latin typeface="Calibri"/>
                <a:cs typeface="Calibri"/>
              </a:rPr>
              <a:t>partitioning </a:t>
            </a:r>
            <a:r>
              <a:rPr dirty="0" sz="2800" spc="-5">
                <a:latin typeface="Calibri"/>
                <a:cs typeface="Calibri"/>
              </a:rPr>
              <a:t>of the  </a:t>
            </a:r>
            <a:r>
              <a:rPr dirty="0" sz="2800" spc="-10">
                <a:latin typeface="Calibri"/>
                <a:cs typeface="Calibri"/>
              </a:rPr>
              <a:t>network </a:t>
            </a:r>
            <a:r>
              <a:rPr dirty="0" sz="2800" spc="-15">
                <a:latin typeface="Calibri"/>
                <a:cs typeface="Calibri"/>
              </a:rPr>
              <a:t>into groups </a:t>
            </a:r>
            <a:r>
              <a:rPr dirty="0" sz="2800" spc="-5">
                <a:latin typeface="Calibri"/>
                <a:cs typeface="Calibri"/>
              </a:rPr>
              <a:t>disjoint </a:t>
            </a:r>
            <a:r>
              <a:rPr dirty="0" sz="2800">
                <a:latin typeface="Cambria Math"/>
                <a:cs typeface="Cambria Math"/>
              </a:rPr>
              <a:t>𝒔 ∈</a:t>
            </a:r>
            <a:r>
              <a:rPr dirty="0" sz="2800" spc="290">
                <a:latin typeface="Cambria Math"/>
                <a:cs typeface="Cambria Math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𝑺</a:t>
            </a:r>
            <a:r>
              <a:rPr dirty="0" sz="2800" spc="-5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L="807720">
              <a:lnSpc>
                <a:spcPts val="3335"/>
              </a:lnSpc>
              <a:spcBef>
                <a:spcPts val="735"/>
              </a:spcBef>
              <a:tabLst>
                <a:tab pos="1242695" algn="l"/>
                <a:tab pos="1674495" algn="l"/>
              </a:tabLst>
            </a:pPr>
            <a:r>
              <a:rPr dirty="0" sz="2800" b="1" i="1">
                <a:latin typeface="Times New Roman"/>
                <a:cs typeface="Times New Roman"/>
              </a:rPr>
              <a:t>Q	</a:t>
            </a:r>
            <a:r>
              <a:rPr dirty="0" baseline="1010" sz="4125" spc="607" b="1">
                <a:latin typeface="Symbol"/>
                <a:cs typeface="Symbol"/>
              </a:rPr>
              <a:t></a:t>
            </a:r>
            <a:r>
              <a:rPr dirty="0" baseline="1010" sz="4125" spc="607">
                <a:latin typeface="Times New Roman"/>
                <a:cs typeface="Times New Roman"/>
              </a:rPr>
              <a:t>	</a:t>
            </a:r>
            <a:r>
              <a:rPr dirty="0" sz="2800" spc="-20" b="1">
                <a:latin typeface="Times New Roman"/>
                <a:cs typeface="Times New Roman"/>
              </a:rPr>
              <a:t>∑</a:t>
            </a:r>
            <a:r>
              <a:rPr dirty="0" baseline="-17543" sz="2850" spc="-30" b="1" i="1">
                <a:latin typeface="Times New Roman"/>
                <a:cs typeface="Times New Roman"/>
              </a:rPr>
              <a:t>s</a:t>
            </a:r>
            <a:r>
              <a:rPr dirty="0" baseline="-17094" sz="2925" spc="-30" b="1" i="1">
                <a:latin typeface="Symbol"/>
                <a:cs typeface="Symbol"/>
              </a:rPr>
              <a:t></a:t>
            </a:r>
            <a:r>
              <a:rPr dirty="0" baseline="-17094" sz="2925" spc="-30" b="1" i="1">
                <a:latin typeface="Times New Roman"/>
                <a:cs typeface="Times New Roman"/>
              </a:rPr>
              <a:t> </a:t>
            </a:r>
            <a:r>
              <a:rPr dirty="0" baseline="-17543" sz="2850" b="1" i="1">
                <a:latin typeface="Times New Roman"/>
                <a:cs typeface="Times New Roman"/>
              </a:rPr>
              <a:t>S </a:t>
            </a:r>
            <a:r>
              <a:rPr dirty="0" sz="2800" b="1">
                <a:latin typeface="Times New Roman"/>
                <a:cs typeface="Times New Roman"/>
              </a:rPr>
              <a:t>[ (# </a:t>
            </a:r>
            <a:r>
              <a:rPr dirty="0" sz="2800" spc="-5" b="1">
                <a:latin typeface="Times New Roman"/>
                <a:cs typeface="Times New Roman"/>
              </a:rPr>
              <a:t>edges within </a:t>
            </a:r>
            <a:r>
              <a:rPr dirty="0" sz="2800" spc="-15" b="1">
                <a:latin typeface="Times New Roman"/>
                <a:cs typeface="Times New Roman"/>
              </a:rPr>
              <a:t>group </a:t>
            </a:r>
            <a:r>
              <a:rPr dirty="0" sz="2800" spc="-5" b="1" i="1">
                <a:latin typeface="Times New Roman"/>
                <a:cs typeface="Times New Roman"/>
              </a:rPr>
              <a:t>s</a:t>
            </a:r>
            <a:r>
              <a:rPr dirty="0" sz="2800" spc="-5" b="1">
                <a:latin typeface="Times New Roman"/>
                <a:cs typeface="Times New Roman"/>
              </a:rPr>
              <a:t>)</a:t>
            </a:r>
            <a:r>
              <a:rPr dirty="0" sz="2800" spc="-3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–</a:t>
            </a:r>
            <a:endParaRPr sz="2800">
              <a:latin typeface="Times New Roman"/>
              <a:cs typeface="Times New Roman"/>
            </a:endParaRPr>
          </a:p>
          <a:p>
            <a:pPr algn="ctr" marL="2661920">
              <a:lnSpc>
                <a:spcPts val="3335"/>
              </a:lnSpc>
            </a:pPr>
            <a:r>
              <a:rPr dirty="0" sz="2800" spc="-5" b="1">
                <a:latin typeface="Times New Roman"/>
                <a:cs typeface="Times New Roman"/>
              </a:rPr>
              <a:t>(expected </a:t>
            </a:r>
            <a:r>
              <a:rPr dirty="0" sz="2800" b="1">
                <a:latin typeface="Times New Roman"/>
                <a:cs typeface="Times New Roman"/>
              </a:rPr>
              <a:t># </a:t>
            </a:r>
            <a:r>
              <a:rPr dirty="0" sz="2800" spc="-5" b="1">
                <a:latin typeface="Times New Roman"/>
                <a:cs typeface="Times New Roman"/>
              </a:rPr>
              <a:t>edges within </a:t>
            </a:r>
            <a:r>
              <a:rPr dirty="0" sz="2800" spc="-15" b="1">
                <a:latin typeface="Times New Roman"/>
                <a:cs typeface="Times New Roman"/>
              </a:rPr>
              <a:t>group </a:t>
            </a:r>
            <a:r>
              <a:rPr dirty="0" sz="2800" spc="-5" b="1" i="1">
                <a:latin typeface="Times New Roman"/>
                <a:cs typeface="Times New Roman"/>
              </a:rPr>
              <a:t>s</a:t>
            </a:r>
            <a:r>
              <a:rPr dirty="0" sz="2800" spc="-5" b="1">
                <a:latin typeface="Times New Roman"/>
                <a:cs typeface="Times New Roman"/>
              </a:rPr>
              <a:t>)</a:t>
            </a:r>
            <a:r>
              <a:rPr dirty="0" sz="2800" spc="2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]</a:t>
            </a:r>
            <a:endParaRPr sz="2800">
              <a:latin typeface="Times New Roman"/>
              <a:cs typeface="Times New Roman"/>
            </a:endParaRPr>
          </a:p>
          <a:p>
            <a:pPr algn="ctr" marL="2585720">
              <a:lnSpc>
                <a:spcPct val="100000"/>
              </a:lnSpc>
              <a:spcBef>
                <a:spcPts val="1720"/>
              </a:spcBef>
            </a:pP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Need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a null</a:t>
            </a:r>
            <a:r>
              <a:rPr dirty="0" sz="1800" spc="-70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model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25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7940040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782434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/>
              <a:t>Given </a:t>
            </a:r>
            <a:r>
              <a:rPr dirty="0" spc="-15"/>
              <a:t>real </a:t>
            </a:r>
            <a:r>
              <a:rPr dirty="0" b="0">
                <a:latin typeface="Cambria Math"/>
                <a:cs typeface="Cambria Math"/>
              </a:rPr>
              <a:t>𝑮 </a:t>
            </a:r>
            <a:r>
              <a:rPr dirty="0"/>
              <a:t>on </a:t>
            </a:r>
            <a:r>
              <a:rPr dirty="0" b="0">
                <a:latin typeface="Cambria Math"/>
                <a:cs typeface="Cambria Math"/>
              </a:rPr>
              <a:t>𝒏 </a:t>
            </a:r>
            <a:r>
              <a:rPr dirty="0" spc="-5"/>
              <a:t>nodes and </a:t>
            </a:r>
            <a:r>
              <a:rPr dirty="0" b="0">
                <a:latin typeface="Cambria Math"/>
                <a:cs typeface="Cambria Math"/>
              </a:rPr>
              <a:t>𝒎</a:t>
            </a:r>
            <a:r>
              <a:rPr dirty="0" spc="25" b="0">
                <a:latin typeface="Cambria Math"/>
                <a:cs typeface="Cambria Math"/>
              </a:rPr>
              <a:t> </a:t>
            </a:r>
            <a:r>
              <a:rPr dirty="0" spc="-10"/>
              <a:t>edges,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8149" y="1720015"/>
            <a:ext cx="4968875" cy="156781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3200" spc="-10" b="1">
                <a:latin typeface="Calibri"/>
                <a:cs typeface="Calibri"/>
              </a:rPr>
              <a:t>construct </a:t>
            </a:r>
            <a:r>
              <a:rPr dirty="0" sz="3200" spc="-15" b="1">
                <a:latin typeface="Calibri"/>
                <a:cs typeface="Calibri"/>
              </a:rPr>
              <a:t>rewired </a:t>
            </a:r>
            <a:r>
              <a:rPr dirty="0" sz="3200" spc="-10" b="1">
                <a:latin typeface="Calibri"/>
                <a:cs typeface="Calibri"/>
              </a:rPr>
              <a:t>network</a:t>
            </a:r>
            <a:r>
              <a:rPr dirty="0" sz="3200" spc="-40" b="1">
                <a:latin typeface="Calibri"/>
                <a:cs typeface="Calibri"/>
              </a:rPr>
              <a:t> </a:t>
            </a:r>
            <a:r>
              <a:rPr dirty="0" sz="3200">
                <a:latin typeface="Cambria Math"/>
                <a:cs typeface="Cambria Math"/>
              </a:rPr>
              <a:t>𝑮’</a:t>
            </a:r>
            <a:endParaRPr sz="3200">
              <a:latin typeface="Cambria Math"/>
              <a:cs typeface="Cambria Math"/>
            </a:endParaRPr>
          </a:p>
          <a:p>
            <a:pPr marL="305435" marR="217170" indent="-274320">
              <a:lnSpc>
                <a:spcPts val="3310"/>
              </a:lnSpc>
              <a:spcBef>
                <a:spcPts val="905"/>
              </a:spcBef>
              <a:buClr>
                <a:srgbClr val="60B5CC"/>
              </a:buClr>
              <a:buFont typeface="Malgun Gothic"/>
              <a:buChar char="▪"/>
              <a:tabLst>
                <a:tab pos="305435" algn="l"/>
              </a:tabLst>
            </a:pP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Same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degree distribution </a:t>
            </a:r>
            <a:r>
              <a:rPr dirty="0" sz="2800">
                <a:latin typeface="Calibri"/>
                <a:cs typeface="Calibri"/>
              </a:rPr>
              <a:t>but  </a:t>
            </a:r>
            <a:r>
              <a:rPr dirty="0" sz="2800" spc="-10">
                <a:latin typeface="Calibri"/>
                <a:cs typeface="Calibri"/>
              </a:rPr>
              <a:t>uniformly </a:t>
            </a:r>
            <a:r>
              <a:rPr dirty="0" sz="2800" spc="-15">
                <a:latin typeface="Calibri"/>
                <a:cs typeface="Calibri"/>
              </a:rPr>
              <a:t>random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connections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6563" y="3356355"/>
            <a:ext cx="7324725" cy="139128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287020" marR="5080" indent="-274320">
              <a:lnSpc>
                <a:spcPts val="3290"/>
              </a:lnSpc>
              <a:spcBef>
                <a:spcPts val="26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Consider </a:t>
            </a:r>
            <a:r>
              <a:rPr dirty="0" sz="2800" spc="-5">
                <a:latin typeface="Cambria Math"/>
                <a:cs typeface="Cambria Math"/>
              </a:rPr>
              <a:t>𝑮’ </a:t>
            </a:r>
            <a:r>
              <a:rPr dirty="0" sz="2800" spc="-5">
                <a:latin typeface="Calibri"/>
                <a:cs typeface="Calibri"/>
              </a:rPr>
              <a:t>as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solidFill>
                  <a:srgbClr val="D60093"/>
                </a:solidFill>
                <a:latin typeface="Calibri"/>
                <a:cs typeface="Calibri"/>
              </a:rPr>
              <a:t>multigraph </a:t>
            </a:r>
            <a:r>
              <a:rPr dirty="0" sz="2800" spc="-5">
                <a:solidFill>
                  <a:srgbClr val="D60093"/>
                </a:solidFill>
                <a:latin typeface="Calibri"/>
                <a:cs typeface="Calibri"/>
              </a:rPr>
              <a:t>(multiple </a:t>
            </a:r>
            <a:r>
              <a:rPr dirty="0" sz="2800" spc="-10">
                <a:solidFill>
                  <a:srgbClr val="D60093"/>
                </a:solidFill>
                <a:latin typeface="Calibri"/>
                <a:cs typeface="Calibri"/>
              </a:rPr>
              <a:t>edges </a:t>
            </a:r>
            <a:r>
              <a:rPr dirty="0" sz="2800" spc="-135">
                <a:solidFill>
                  <a:srgbClr val="D60093"/>
                </a:solidFill>
                <a:latin typeface="Calibri"/>
                <a:cs typeface="Calibri"/>
              </a:rPr>
              <a:t>exist  </a:t>
            </a:r>
            <a:r>
              <a:rPr dirty="0" sz="2800" spc="-10">
                <a:solidFill>
                  <a:srgbClr val="D60093"/>
                </a:solidFill>
                <a:latin typeface="Calibri"/>
                <a:cs typeface="Calibri"/>
              </a:rPr>
              <a:t>between</a:t>
            </a:r>
            <a:r>
              <a:rPr dirty="0" sz="2800" spc="-80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D60093"/>
                </a:solidFill>
                <a:latin typeface="Calibri"/>
                <a:cs typeface="Calibri"/>
              </a:rPr>
              <a:t>nodes)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The </a:t>
            </a:r>
            <a:r>
              <a:rPr dirty="0" sz="2800" spc="-15" b="1">
                <a:latin typeface="Calibri"/>
                <a:cs typeface="Calibri"/>
              </a:rPr>
              <a:t>expected </a:t>
            </a:r>
            <a:r>
              <a:rPr dirty="0" sz="2800" spc="-5" b="1">
                <a:latin typeface="Calibri"/>
                <a:cs typeface="Calibri"/>
              </a:rPr>
              <a:t>number of </a:t>
            </a:r>
            <a:r>
              <a:rPr dirty="0" sz="2800" spc="-10" b="1">
                <a:latin typeface="Calibri"/>
                <a:cs typeface="Calibri"/>
              </a:rPr>
              <a:t>edges between</a:t>
            </a:r>
            <a:r>
              <a:rPr dirty="0" sz="2800" spc="50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nodes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0883" y="4852923"/>
            <a:ext cx="576770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𝒊 </a:t>
            </a:r>
            <a:r>
              <a:rPr dirty="0" sz="2800" spc="-5" b="1">
                <a:latin typeface="Calibri"/>
                <a:cs typeface="Calibri"/>
              </a:rPr>
              <a:t>and </a:t>
            </a:r>
            <a:r>
              <a:rPr dirty="0" sz="2800">
                <a:latin typeface="Cambria Math"/>
                <a:cs typeface="Cambria Math"/>
              </a:rPr>
              <a:t>𝒋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10">
                <a:latin typeface="Calibri"/>
                <a:cs typeface="Calibri"/>
              </a:rPr>
              <a:t>degrees </a:t>
            </a:r>
            <a:r>
              <a:rPr dirty="0" sz="2800" spc="-5">
                <a:latin typeface="Cambria Math"/>
                <a:cs typeface="Cambria Math"/>
              </a:rPr>
              <a:t>𝒌</a:t>
            </a:r>
            <a:r>
              <a:rPr dirty="0" baseline="-16666" sz="3000" spc="-7">
                <a:latin typeface="Cambria Math"/>
                <a:cs typeface="Cambria Math"/>
              </a:rPr>
              <a:t>𝒊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5">
                <a:latin typeface="Cambria Math"/>
                <a:cs typeface="Cambria Math"/>
              </a:rPr>
              <a:t>𝒌</a:t>
            </a:r>
            <a:r>
              <a:rPr dirty="0" baseline="-16666" sz="3000" spc="-7">
                <a:latin typeface="Cambria Math"/>
                <a:cs typeface="Cambria Math"/>
              </a:rPr>
              <a:t>𝒋 </a:t>
            </a:r>
            <a:r>
              <a:rPr dirty="0" sz="2800" spc="-5">
                <a:latin typeface="Calibri"/>
                <a:cs typeface="Calibri"/>
              </a:rPr>
              <a:t>equals: </a:t>
            </a:r>
            <a:r>
              <a:rPr dirty="0" sz="2800" spc="-5">
                <a:solidFill>
                  <a:srgbClr val="D60093"/>
                </a:solidFill>
                <a:latin typeface="Cambria Math"/>
                <a:cs typeface="Cambria Math"/>
              </a:rPr>
              <a:t>𝒌</a:t>
            </a:r>
            <a:r>
              <a:rPr dirty="0" baseline="-16666" sz="3000" spc="-7">
                <a:solidFill>
                  <a:srgbClr val="D60093"/>
                </a:solidFill>
                <a:latin typeface="Cambria Math"/>
                <a:cs typeface="Cambria Math"/>
              </a:rPr>
              <a:t>𝒊</a:t>
            </a:r>
            <a:r>
              <a:rPr dirty="0" baseline="-16666" sz="3000" spc="525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D60093"/>
                </a:solidFill>
                <a:latin typeface="Cambria Math"/>
                <a:cs typeface="Cambria Math"/>
              </a:rPr>
              <a:t>⋅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065264" y="5120640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700" y="0"/>
                </a:lnTo>
              </a:path>
            </a:pathLst>
          </a:custGeom>
          <a:ln w="25400">
            <a:solidFill>
              <a:srgbClr val="D600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282433" y="4809744"/>
            <a:ext cx="1098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D60093"/>
                </a:solidFill>
                <a:latin typeface="Cambria Math"/>
                <a:cs typeface="Cambria Math"/>
              </a:rPr>
              <a:t>𝒋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928864" y="5120640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 h="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25400">
            <a:solidFill>
              <a:srgbClr val="D600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123683" y="4618227"/>
            <a:ext cx="130429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5609" algn="l"/>
              </a:tabLst>
            </a:pPr>
            <a:r>
              <a:rPr dirty="0" sz="2000">
                <a:solidFill>
                  <a:srgbClr val="D60093"/>
                </a:solidFill>
                <a:latin typeface="Cambria Math"/>
                <a:cs typeface="Cambria Math"/>
              </a:rPr>
              <a:t>𝒌	</a:t>
            </a:r>
            <a:r>
              <a:rPr dirty="0" baseline="-36706" sz="4200">
                <a:solidFill>
                  <a:srgbClr val="D60093"/>
                </a:solidFill>
                <a:latin typeface="Cambria Math"/>
                <a:cs typeface="Cambria Math"/>
              </a:rPr>
              <a:t>=</a:t>
            </a:r>
            <a:r>
              <a:rPr dirty="0" baseline="-36706" sz="4200" spc="89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2000" spc="25">
                <a:solidFill>
                  <a:srgbClr val="D60093"/>
                </a:solidFill>
                <a:latin typeface="Cambria Math"/>
                <a:cs typeface="Cambria Math"/>
              </a:rPr>
              <a:t>𝒌</a:t>
            </a:r>
            <a:r>
              <a:rPr dirty="0" baseline="-13071" sz="2550" spc="37">
                <a:solidFill>
                  <a:srgbClr val="D60093"/>
                </a:solidFill>
                <a:latin typeface="Cambria Math"/>
                <a:cs typeface="Cambria Math"/>
              </a:rPr>
              <a:t>𝒊</a:t>
            </a:r>
            <a:r>
              <a:rPr dirty="0" sz="2000" spc="25">
                <a:solidFill>
                  <a:srgbClr val="D60093"/>
                </a:solidFill>
                <a:latin typeface="Cambria Math"/>
                <a:cs typeface="Cambria Math"/>
              </a:rPr>
              <a:t>𝒌</a:t>
            </a:r>
            <a:r>
              <a:rPr dirty="0" baseline="-13071" sz="2550" spc="37">
                <a:solidFill>
                  <a:srgbClr val="D60093"/>
                </a:solidFill>
                <a:latin typeface="Cambria Math"/>
                <a:cs typeface="Cambria Math"/>
              </a:rPr>
              <a:t>𝒋</a:t>
            </a:r>
            <a:endParaRPr baseline="-13071" sz="25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51293" y="5134355"/>
            <a:ext cx="13322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3925" algn="l"/>
              </a:tabLst>
            </a:pPr>
            <a:r>
              <a:rPr dirty="0" sz="2000">
                <a:solidFill>
                  <a:srgbClr val="D60093"/>
                </a:solidFill>
                <a:latin typeface="Cambria Math"/>
                <a:cs typeface="Cambria Math"/>
              </a:rPr>
              <a:t>𝟐𝒎	</a:t>
            </a:r>
            <a:r>
              <a:rPr dirty="0" sz="2000" spc="0">
                <a:solidFill>
                  <a:srgbClr val="D60093"/>
                </a:solidFill>
                <a:latin typeface="Cambria Math"/>
                <a:cs typeface="Cambria Math"/>
              </a:rPr>
              <a:t>𝟐𝒎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67713" y="5357876"/>
            <a:ext cx="7639050" cy="128460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5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400" spc="-10">
                <a:latin typeface="Calibri"/>
                <a:cs typeface="Calibri"/>
              </a:rPr>
              <a:t>There </a:t>
            </a:r>
            <a:r>
              <a:rPr dirty="0" sz="2400" spc="-15">
                <a:latin typeface="Calibri"/>
                <a:cs typeface="Calibri"/>
              </a:rPr>
              <a:t>are </a:t>
            </a:r>
            <a:r>
              <a:rPr dirty="0" sz="2400" spc="-5">
                <a:latin typeface="Cambria Math"/>
                <a:cs typeface="Cambria Math"/>
              </a:rPr>
              <a:t>2𝑚 </a:t>
            </a:r>
            <a:r>
              <a:rPr dirty="0" sz="2400" spc="-10" b="1">
                <a:latin typeface="Calibri"/>
                <a:cs typeface="Calibri"/>
              </a:rPr>
              <a:t>directed </a:t>
            </a:r>
            <a:r>
              <a:rPr dirty="0" sz="2400" spc="-10">
                <a:latin typeface="Calibri"/>
                <a:cs typeface="Calibri"/>
              </a:rPr>
              <a:t>edges (counting </a:t>
            </a:r>
            <a:r>
              <a:rPr dirty="0" sz="2400" spc="-5">
                <a:latin typeface="Calibri"/>
                <a:cs typeface="Calibri"/>
              </a:rPr>
              <a:t>i-&gt;j </a:t>
            </a:r>
            <a:r>
              <a:rPr dirty="0" sz="2400">
                <a:latin typeface="Calibri"/>
                <a:cs typeface="Calibri"/>
              </a:rPr>
              <a:t>and </a:t>
            </a:r>
            <a:r>
              <a:rPr dirty="0" sz="2400" spc="-5">
                <a:latin typeface="Calibri"/>
                <a:cs typeface="Calibri"/>
              </a:rPr>
              <a:t>j-&gt;i) in</a:t>
            </a:r>
            <a:r>
              <a:rPr dirty="0" sz="2400" spc="110">
                <a:latin typeface="Calibri"/>
                <a:cs typeface="Calibri"/>
              </a:rPr>
              <a:t> </a:t>
            </a:r>
            <a:r>
              <a:rPr dirty="0" sz="2400" spc="-80">
                <a:latin typeface="Calibri"/>
                <a:cs typeface="Calibri"/>
              </a:rPr>
              <a:t>total.</a:t>
            </a:r>
            <a:endParaRPr sz="2400">
              <a:latin typeface="Calibri"/>
              <a:cs typeface="Calibri"/>
            </a:endParaRPr>
          </a:p>
          <a:p>
            <a:pPr marL="241300" marR="25400" indent="-228600">
              <a:lnSpc>
                <a:spcPct val="100800"/>
              </a:lnSpc>
              <a:spcBef>
                <a:spcPts val="600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400" spc="-15">
                <a:latin typeface="Calibri"/>
                <a:cs typeface="Calibri"/>
              </a:rPr>
              <a:t>For </a:t>
            </a:r>
            <a:r>
              <a:rPr dirty="0" sz="2400" spc="-5">
                <a:latin typeface="Calibri"/>
                <a:cs typeface="Calibri"/>
              </a:rPr>
              <a:t>each of </a:t>
            </a:r>
            <a:r>
              <a:rPr dirty="0" sz="2400" spc="50">
                <a:latin typeface="Cambria Math"/>
                <a:cs typeface="Cambria Math"/>
              </a:rPr>
              <a:t>𝑘</a:t>
            </a:r>
            <a:r>
              <a:rPr dirty="0" baseline="-15432" sz="2700" spc="75">
                <a:latin typeface="Cambria Math"/>
                <a:cs typeface="Cambria Math"/>
              </a:rPr>
              <a:t>! </a:t>
            </a:r>
            <a:r>
              <a:rPr dirty="0" sz="2400" spc="-15">
                <a:latin typeface="Calibri"/>
                <a:cs typeface="Calibri"/>
              </a:rPr>
              <a:t>out-going </a:t>
            </a:r>
            <a:r>
              <a:rPr dirty="0" sz="2400" spc="-10">
                <a:latin typeface="Calibri"/>
                <a:cs typeface="Calibri"/>
              </a:rPr>
              <a:t>edges </a:t>
            </a:r>
            <a:r>
              <a:rPr dirty="0" sz="2400" spc="-15">
                <a:latin typeface="Calibri"/>
                <a:cs typeface="Calibri"/>
              </a:rPr>
              <a:t>from </a:t>
            </a:r>
            <a:r>
              <a:rPr dirty="0" sz="2400" spc="-5">
                <a:latin typeface="Calibri"/>
                <a:cs typeface="Calibri"/>
              </a:rPr>
              <a:t>node </a:t>
            </a:r>
            <a:r>
              <a:rPr dirty="0" sz="2400" spc="30">
                <a:latin typeface="Cambria Math"/>
                <a:cs typeface="Cambria Math"/>
              </a:rPr>
              <a:t>𝑖</a:t>
            </a:r>
            <a:r>
              <a:rPr dirty="0" sz="2400" spc="30">
                <a:latin typeface="Calibri"/>
                <a:cs typeface="Calibri"/>
              </a:rPr>
              <a:t>, </a:t>
            </a:r>
            <a:r>
              <a:rPr dirty="0" sz="2400" spc="-5">
                <a:latin typeface="Calibri"/>
                <a:cs typeface="Calibri"/>
              </a:rPr>
              <a:t>the chance of </a:t>
            </a:r>
            <a:r>
              <a:rPr dirty="0" sz="2400" spc="-175">
                <a:latin typeface="Calibri"/>
                <a:cs typeface="Calibri"/>
              </a:rPr>
              <a:t>it  </a:t>
            </a:r>
            <a:r>
              <a:rPr dirty="0" sz="2400" spc="-5">
                <a:latin typeface="Calibri"/>
                <a:cs typeface="Calibri"/>
              </a:rPr>
              <a:t>landing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5">
                <a:latin typeface="Calibri"/>
                <a:cs typeface="Calibri"/>
              </a:rPr>
              <a:t>node </a:t>
            </a:r>
            <a:r>
              <a:rPr dirty="0" sz="2400">
                <a:latin typeface="Cambria Math"/>
                <a:cs typeface="Cambria Math"/>
              </a:rPr>
              <a:t>𝑗 </a:t>
            </a:r>
            <a:r>
              <a:rPr dirty="0" sz="2400" spc="-5">
                <a:latin typeface="Calibri"/>
                <a:cs typeface="Calibri"/>
              </a:rPr>
              <a:t>is </a:t>
            </a:r>
            <a:r>
              <a:rPr dirty="0" sz="2400" spc="0">
                <a:latin typeface="Cambria Math"/>
                <a:cs typeface="Cambria Math"/>
              </a:rPr>
              <a:t>𝑘</a:t>
            </a:r>
            <a:r>
              <a:rPr dirty="0" baseline="-15432" sz="2700" spc="0">
                <a:latin typeface="Cambria Math"/>
                <a:cs typeface="Cambria Math"/>
              </a:rPr>
              <a:t>"</a:t>
            </a:r>
            <a:r>
              <a:rPr dirty="0" sz="2400" spc="0">
                <a:latin typeface="Cambria Math"/>
                <a:cs typeface="Cambria Math"/>
              </a:rPr>
              <a:t>/2𝑚</a:t>
            </a:r>
            <a:r>
              <a:rPr dirty="0" sz="2400" spc="0">
                <a:latin typeface="Calibri"/>
                <a:cs typeface="Calibri"/>
              </a:rPr>
              <a:t>, </a:t>
            </a:r>
            <a:r>
              <a:rPr dirty="0" sz="2400" spc="-5">
                <a:latin typeface="Calibri"/>
                <a:cs typeface="Calibri"/>
              </a:rPr>
              <a:t>hence</a:t>
            </a:r>
            <a:r>
              <a:rPr dirty="0" sz="2400" spc="55">
                <a:latin typeface="Calibri"/>
                <a:cs typeface="Calibri"/>
              </a:rPr>
              <a:t> </a:t>
            </a:r>
            <a:r>
              <a:rPr dirty="0" sz="2400" spc="50">
                <a:latin typeface="Cambria Math"/>
                <a:cs typeface="Cambria Math"/>
              </a:rPr>
              <a:t>𝑘</a:t>
            </a:r>
            <a:r>
              <a:rPr dirty="0" baseline="-15432" sz="2700" spc="75">
                <a:latin typeface="Cambria Math"/>
                <a:cs typeface="Cambria Math"/>
              </a:rPr>
              <a:t>!</a:t>
            </a:r>
            <a:r>
              <a:rPr dirty="0" sz="2400" spc="50">
                <a:latin typeface="Cambria Math"/>
                <a:cs typeface="Cambria Math"/>
              </a:rPr>
              <a:t>𝑘</a:t>
            </a:r>
            <a:r>
              <a:rPr dirty="0" baseline="-15432" sz="2700" spc="75">
                <a:latin typeface="Cambria Math"/>
                <a:cs typeface="Cambria Math"/>
              </a:rPr>
              <a:t>"</a:t>
            </a:r>
            <a:r>
              <a:rPr dirty="0" sz="2400" spc="50">
                <a:latin typeface="Cambria Math"/>
                <a:cs typeface="Cambria Math"/>
              </a:rPr>
              <a:t>/2𝑚</a:t>
            </a:r>
            <a:r>
              <a:rPr dirty="0" sz="2400" spc="5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93243" y="2490548"/>
            <a:ext cx="190500" cy="133985"/>
          </a:xfrm>
          <a:custGeom>
            <a:avLst/>
            <a:gdLst/>
            <a:ahLst/>
            <a:cxnLst/>
            <a:rect l="l" t="t" r="r" b="b"/>
            <a:pathLst>
              <a:path w="190500" h="133985">
                <a:moveTo>
                  <a:pt x="0" y="0"/>
                </a:moveTo>
                <a:lnTo>
                  <a:pt x="190500" y="133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881615" y="2879187"/>
            <a:ext cx="533400" cy="381000"/>
          </a:xfrm>
          <a:custGeom>
            <a:avLst/>
            <a:gdLst/>
            <a:ahLst/>
            <a:cxnLst/>
            <a:rect l="l" t="t" r="r" b="b"/>
            <a:pathLst>
              <a:path w="533400" h="381000">
                <a:moveTo>
                  <a:pt x="0" y="0"/>
                </a:moveTo>
                <a:lnTo>
                  <a:pt x="53340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957815" y="310778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1524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174343" y="238388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1524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802743" y="253628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1524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031343" y="230768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1524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148315" y="3031587"/>
            <a:ext cx="342900" cy="38100"/>
          </a:xfrm>
          <a:custGeom>
            <a:avLst/>
            <a:gdLst/>
            <a:ahLst/>
            <a:cxnLst/>
            <a:rect l="l" t="t" r="r" b="b"/>
            <a:pathLst>
              <a:path w="342900" h="38100">
                <a:moveTo>
                  <a:pt x="0" y="38100"/>
                </a:moveTo>
                <a:lnTo>
                  <a:pt x="3429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869543" y="2536287"/>
            <a:ext cx="304800" cy="76200"/>
          </a:xfrm>
          <a:custGeom>
            <a:avLst/>
            <a:gdLst/>
            <a:ahLst/>
            <a:cxnLst/>
            <a:rect l="l" t="t" r="r" b="b"/>
            <a:pathLst>
              <a:path w="304800" h="76200">
                <a:moveTo>
                  <a:pt x="304800" y="7620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034015" y="29553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69809" y="8982"/>
                </a:lnTo>
                <a:lnTo>
                  <a:pt x="33477" y="33477"/>
                </a:lnTo>
                <a:lnTo>
                  <a:pt x="8982" y="69809"/>
                </a:lnTo>
                <a:lnTo>
                  <a:pt x="0" y="114300"/>
                </a:lnTo>
                <a:lnTo>
                  <a:pt x="8982" y="158790"/>
                </a:lnTo>
                <a:lnTo>
                  <a:pt x="33477" y="195122"/>
                </a:lnTo>
                <a:lnTo>
                  <a:pt x="69809" y="219617"/>
                </a:lnTo>
                <a:lnTo>
                  <a:pt x="114300" y="228600"/>
                </a:lnTo>
                <a:lnTo>
                  <a:pt x="158790" y="219617"/>
                </a:lnTo>
                <a:lnTo>
                  <a:pt x="195122" y="195122"/>
                </a:lnTo>
                <a:lnTo>
                  <a:pt x="219617" y="158790"/>
                </a:lnTo>
                <a:lnTo>
                  <a:pt x="228600" y="114300"/>
                </a:lnTo>
                <a:lnTo>
                  <a:pt x="219617" y="69809"/>
                </a:lnTo>
                <a:lnTo>
                  <a:pt x="195122" y="33477"/>
                </a:lnTo>
                <a:lnTo>
                  <a:pt x="158790" y="8982"/>
                </a:lnTo>
                <a:lnTo>
                  <a:pt x="1143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8111008" y="2948939"/>
            <a:ext cx="7493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j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878943" y="237624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69809" y="8982"/>
                </a:lnTo>
                <a:lnTo>
                  <a:pt x="33477" y="33477"/>
                </a:lnTo>
                <a:lnTo>
                  <a:pt x="8982" y="69809"/>
                </a:lnTo>
                <a:lnTo>
                  <a:pt x="0" y="114300"/>
                </a:lnTo>
                <a:lnTo>
                  <a:pt x="8982" y="158790"/>
                </a:lnTo>
                <a:lnTo>
                  <a:pt x="33477" y="195122"/>
                </a:lnTo>
                <a:lnTo>
                  <a:pt x="69809" y="219617"/>
                </a:lnTo>
                <a:lnTo>
                  <a:pt x="114300" y="228600"/>
                </a:lnTo>
                <a:lnTo>
                  <a:pt x="158790" y="219617"/>
                </a:lnTo>
                <a:lnTo>
                  <a:pt x="195122" y="195122"/>
                </a:lnTo>
                <a:lnTo>
                  <a:pt x="219617" y="158790"/>
                </a:lnTo>
                <a:lnTo>
                  <a:pt x="228600" y="114300"/>
                </a:lnTo>
                <a:lnTo>
                  <a:pt x="219617" y="69809"/>
                </a:lnTo>
                <a:lnTo>
                  <a:pt x="195122" y="33477"/>
                </a:lnTo>
                <a:lnTo>
                  <a:pt x="158790" y="8982"/>
                </a:lnTo>
                <a:lnTo>
                  <a:pt x="1143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034015" y="2460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69809" y="8982"/>
                </a:lnTo>
                <a:lnTo>
                  <a:pt x="33477" y="33477"/>
                </a:lnTo>
                <a:lnTo>
                  <a:pt x="8982" y="69809"/>
                </a:lnTo>
                <a:lnTo>
                  <a:pt x="0" y="114300"/>
                </a:lnTo>
                <a:lnTo>
                  <a:pt x="8982" y="158790"/>
                </a:lnTo>
                <a:lnTo>
                  <a:pt x="33477" y="195122"/>
                </a:lnTo>
                <a:lnTo>
                  <a:pt x="69809" y="219617"/>
                </a:lnTo>
                <a:lnTo>
                  <a:pt x="114300" y="228600"/>
                </a:lnTo>
                <a:lnTo>
                  <a:pt x="158790" y="219617"/>
                </a:lnTo>
                <a:lnTo>
                  <a:pt x="195122" y="195122"/>
                </a:lnTo>
                <a:lnTo>
                  <a:pt x="219617" y="158790"/>
                </a:lnTo>
                <a:lnTo>
                  <a:pt x="228600" y="114300"/>
                </a:lnTo>
                <a:lnTo>
                  <a:pt x="219617" y="69809"/>
                </a:lnTo>
                <a:lnTo>
                  <a:pt x="195122" y="33477"/>
                </a:lnTo>
                <a:lnTo>
                  <a:pt x="158790" y="8982"/>
                </a:lnTo>
                <a:lnTo>
                  <a:pt x="1143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981173" y="3065371"/>
            <a:ext cx="381000" cy="76200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0" y="76200"/>
                </a:moveTo>
                <a:lnTo>
                  <a:pt x="3810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840843" y="298917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69809" y="8982"/>
                </a:lnTo>
                <a:lnTo>
                  <a:pt x="33477" y="33477"/>
                </a:lnTo>
                <a:lnTo>
                  <a:pt x="8982" y="69809"/>
                </a:lnTo>
                <a:lnTo>
                  <a:pt x="0" y="114300"/>
                </a:lnTo>
                <a:lnTo>
                  <a:pt x="8982" y="158790"/>
                </a:lnTo>
                <a:lnTo>
                  <a:pt x="33477" y="195122"/>
                </a:lnTo>
                <a:lnTo>
                  <a:pt x="69809" y="219617"/>
                </a:lnTo>
                <a:lnTo>
                  <a:pt x="114300" y="228600"/>
                </a:lnTo>
                <a:lnTo>
                  <a:pt x="158790" y="219617"/>
                </a:lnTo>
                <a:lnTo>
                  <a:pt x="195122" y="195122"/>
                </a:lnTo>
                <a:lnTo>
                  <a:pt x="219617" y="158790"/>
                </a:lnTo>
                <a:lnTo>
                  <a:pt x="228600" y="114300"/>
                </a:lnTo>
                <a:lnTo>
                  <a:pt x="219617" y="69809"/>
                </a:lnTo>
                <a:lnTo>
                  <a:pt x="195122" y="33477"/>
                </a:lnTo>
                <a:lnTo>
                  <a:pt x="158790" y="8982"/>
                </a:lnTo>
                <a:lnTo>
                  <a:pt x="1143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6854671" y="1944116"/>
            <a:ext cx="208915" cy="664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mbria Math"/>
                <a:cs typeface="Cambria Math"/>
              </a:rPr>
              <a:t>𝑘</a:t>
            </a:r>
            <a:r>
              <a:rPr dirty="0" baseline="-14957" sz="1950" spc="112">
                <a:latin typeface="Cambria Math"/>
                <a:cs typeface="Cambria Math"/>
              </a:rPr>
              <a:t>!</a:t>
            </a:r>
            <a:endParaRPr baseline="-14957" sz="1950">
              <a:latin typeface="Cambria Math"/>
              <a:cs typeface="Cambria Math"/>
            </a:endParaRPr>
          </a:p>
          <a:p>
            <a:pPr algn="ctr" marL="68580">
              <a:lnSpc>
                <a:spcPct val="100000"/>
              </a:lnSpc>
              <a:spcBef>
                <a:spcPts val="119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25</a:t>
            </a:fld>
          </a:p>
        </p:txBody>
      </p:sp>
      <p:sp>
        <p:nvSpPr>
          <p:cNvPr id="28" name="object 28"/>
          <p:cNvSpPr txBox="1"/>
          <p:nvPr/>
        </p:nvSpPr>
        <p:spPr>
          <a:xfrm>
            <a:off x="8509930" y="3145027"/>
            <a:ext cx="20827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70">
                <a:latin typeface="Cambria Math"/>
                <a:cs typeface="Cambria Math"/>
              </a:rPr>
              <a:t>𝑘</a:t>
            </a:r>
            <a:r>
              <a:rPr dirty="0" baseline="-14957" sz="1950" spc="135">
                <a:latin typeface="Cambria Math"/>
                <a:cs typeface="Cambria Math"/>
              </a:rPr>
              <a:t>"</a:t>
            </a:r>
            <a:endParaRPr baseline="-14957" sz="19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7940040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7242809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/>
              <a:t>The </a:t>
            </a:r>
            <a:r>
              <a:rPr dirty="0" sz="2800" spc="-15"/>
              <a:t>expected </a:t>
            </a:r>
            <a:r>
              <a:rPr dirty="0" sz="2800" spc="-5"/>
              <a:t>number of </a:t>
            </a:r>
            <a:r>
              <a:rPr dirty="0" sz="2800" spc="-10"/>
              <a:t>edges between</a:t>
            </a:r>
            <a:r>
              <a:rPr dirty="0" sz="2800" spc="50"/>
              <a:t> </a:t>
            </a:r>
            <a:r>
              <a:rPr dirty="0" sz="2800" spc="-5"/>
              <a:t>nodes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938149" y="1920747"/>
            <a:ext cx="576770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𝒊 </a:t>
            </a:r>
            <a:r>
              <a:rPr dirty="0" sz="2800" spc="-5" b="1">
                <a:latin typeface="Calibri"/>
                <a:cs typeface="Calibri"/>
              </a:rPr>
              <a:t>and </a:t>
            </a:r>
            <a:r>
              <a:rPr dirty="0" sz="2800">
                <a:latin typeface="Cambria Math"/>
                <a:cs typeface="Cambria Math"/>
              </a:rPr>
              <a:t>𝒋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10">
                <a:latin typeface="Calibri"/>
                <a:cs typeface="Calibri"/>
              </a:rPr>
              <a:t>degrees </a:t>
            </a:r>
            <a:r>
              <a:rPr dirty="0" sz="2800" spc="-5">
                <a:latin typeface="Cambria Math"/>
                <a:cs typeface="Cambria Math"/>
              </a:rPr>
              <a:t>𝒌</a:t>
            </a:r>
            <a:r>
              <a:rPr dirty="0" baseline="-16666" sz="3000" spc="-7">
                <a:latin typeface="Cambria Math"/>
                <a:cs typeface="Cambria Math"/>
              </a:rPr>
              <a:t>𝒊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5">
                <a:latin typeface="Cambria Math"/>
                <a:cs typeface="Cambria Math"/>
              </a:rPr>
              <a:t>𝒌</a:t>
            </a:r>
            <a:r>
              <a:rPr dirty="0" baseline="-16666" sz="3000" spc="-7">
                <a:latin typeface="Cambria Math"/>
                <a:cs typeface="Cambria Math"/>
              </a:rPr>
              <a:t>𝒋 </a:t>
            </a:r>
            <a:r>
              <a:rPr dirty="0" sz="2800" spc="-5">
                <a:latin typeface="Calibri"/>
                <a:cs typeface="Calibri"/>
              </a:rPr>
              <a:t>equals: </a:t>
            </a:r>
            <a:r>
              <a:rPr dirty="0" sz="2800" spc="-5">
                <a:solidFill>
                  <a:srgbClr val="D60093"/>
                </a:solidFill>
                <a:latin typeface="Cambria Math"/>
                <a:cs typeface="Cambria Math"/>
              </a:rPr>
              <a:t>𝒌</a:t>
            </a:r>
            <a:r>
              <a:rPr dirty="0" baseline="-16666" sz="3000" spc="-7">
                <a:solidFill>
                  <a:srgbClr val="D60093"/>
                </a:solidFill>
                <a:latin typeface="Cambria Math"/>
                <a:cs typeface="Cambria Math"/>
              </a:rPr>
              <a:t>𝒊</a:t>
            </a:r>
            <a:r>
              <a:rPr dirty="0" baseline="-16666" sz="3000" spc="525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D60093"/>
                </a:solidFill>
                <a:latin typeface="Cambria Math"/>
                <a:cs typeface="Cambria Math"/>
              </a:rPr>
              <a:t>⋅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73164" y="2186939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700" y="0"/>
                </a:lnTo>
              </a:path>
            </a:pathLst>
          </a:custGeom>
          <a:ln w="25400">
            <a:solidFill>
              <a:srgbClr val="D600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989698" y="1877567"/>
            <a:ext cx="1098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D60093"/>
                </a:solidFill>
                <a:latin typeface="Cambria Math"/>
                <a:cs typeface="Cambria Math"/>
              </a:rPr>
              <a:t>𝒋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36764" y="218693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 h="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25400">
            <a:solidFill>
              <a:srgbClr val="D600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830947" y="1683003"/>
            <a:ext cx="130429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5609" algn="l"/>
              </a:tabLst>
            </a:pPr>
            <a:r>
              <a:rPr dirty="0" sz="2000">
                <a:solidFill>
                  <a:srgbClr val="D60093"/>
                </a:solidFill>
                <a:latin typeface="Cambria Math"/>
                <a:cs typeface="Cambria Math"/>
              </a:rPr>
              <a:t>𝒌	</a:t>
            </a:r>
            <a:r>
              <a:rPr dirty="0" baseline="-36706" sz="4200">
                <a:solidFill>
                  <a:srgbClr val="D60093"/>
                </a:solidFill>
                <a:latin typeface="Cambria Math"/>
                <a:cs typeface="Cambria Math"/>
              </a:rPr>
              <a:t>=</a:t>
            </a:r>
            <a:r>
              <a:rPr dirty="0" baseline="-36706" sz="4200" spc="89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2000" spc="25">
                <a:solidFill>
                  <a:srgbClr val="D60093"/>
                </a:solidFill>
                <a:latin typeface="Cambria Math"/>
                <a:cs typeface="Cambria Math"/>
              </a:rPr>
              <a:t>𝒌</a:t>
            </a:r>
            <a:r>
              <a:rPr dirty="0" baseline="-14705" sz="2550" spc="37">
                <a:solidFill>
                  <a:srgbClr val="D60093"/>
                </a:solidFill>
                <a:latin typeface="Cambria Math"/>
                <a:cs typeface="Cambria Math"/>
              </a:rPr>
              <a:t>𝒊</a:t>
            </a:r>
            <a:r>
              <a:rPr dirty="0" sz="2000" spc="25">
                <a:solidFill>
                  <a:srgbClr val="D60093"/>
                </a:solidFill>
                <a:latin typeface="Cambria Math"/>
                <a:cs typeface="Cambria Math"/>
              </a:rPr>
              <a:t>𝒌</a:t>
            </a:r>
            <a:r>
              <a:rPr dirty="0" baseline="-14705" sz="2550" spc="37">
                <a:solidFill>
                  <a:srgbClr val="D60093"/>
                </a:solidFill>
                <a:latin typeface="Cambria Math"/>
                <a:cs typeface="Cambria Math"/>
              </a:rPr>
              <a:t>𝒋</a:t>
            </a:r>
            <a:endParaRPr baseline="-14705" sz="255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58558" y="2199132"/>
            <a:ext cx="13322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3925" algn="l"/>
              </a:tabLst>
            </a:pPr>
            <a:r>
              <a:rPr dirty="0" sz="2000">
                <a:solidFill>
                  <a:srgbClr val="D60093"/>
                </a:solidFill>
                <a:latin typeface="Cambria Math"/>
                <a:cs typeface="Cambria Math"/>
              </a:rPr>
              <a:t>𝟐𝒎	</a:t>
            </a:r>
            <a:r>
              <a:rPr dirty="0" sz="2000" spc="0">
                <a:solidFill>
                  <a:srgbClr val="D60093"/>
                </a:solidFill>
                <a:latin typeface="Cambria Math"/>
                <a:cs typeface="Cambria Math"/>
              </a:rPr>
              <a:t>𝟐𝒎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67713" y="2504948"/>
            <a:ext cx="64103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The </a:t>
            </a:r>
            <a:r>
              <a:rPr dirty="0" sz="2400" spc="-10">
                <a:latin typeface="Calibri"/>
                <a:cs typeface="Calibri"/>
              </a:rPr>
              <a:t>expected </a:t>
            </a:r>
            <a:r>
              <a:rPr dirty="0" sz="2400" spc="-5">
                <a:latin typeface="Calibri"/>
                <a:cs typeface="Calibri"/>
              </a:rPr>
              <a:t>number of edges in </a:t>
            </a:r>
            <a:r>
              <a:rPr dirty="0" sz="2400" spc="-10">
                <a:latin typeface="Calibri"/>
                <a:cs typeface="Calibri"/>
              </a:rPr>
              <a:t>(multigraph)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 spc="-150" b="1">
                <a:latin typeface="Calibri"/>
                <a:cs typeface="Calibri"/>
              </a:rPr>
              <a:t>G’</a:t>
            </a:r>
            <a:r>
              <a:rPr dirty="0" sz="2400" spc="-15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985264" y="3260090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976437" y="3253232"/>
            <a:ext cx="1397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latin typeface="Cambria Math"/>
                <a:cs typeface="Cambria Math"/>
              </a:rPr>
              <a:t>𝟐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32508" y="3061716"/>
            <a:ext cx="80327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85">
                <a:solidFill>
                  <a:srgbClr val="6BB76D"/>
                </a:solidFill>
                <a:latin typeface="Malgun Gothic"/>
                <a:cs typeface="Malgun Gothic"/>
              </a:rPr>
              <a:t>§ </a:t>
            </a:r>
            <a:r>
              <a:rPr dirty="0" sz="2000">
                <a:latin typeface="Cambria Math"/>
                <a:cs typeface="Cambria Math"/>
              </a:rPr>
              <a:t>= </a:t>
            </a:r>
            <a:r>
              <a:rPr dirty="0" baseline="42592" sz="2250">
                <a:latin typeface="Cambria Math"/>
                <a:cs typeface="Cambria Math"/>
              </a:rPr>
              <a:t>𝟏</a:t>
            </a:r>
            <a:r>
              <a:rPr dirty="0" baseline="42592" sz="2250" spc="37">
                <a:latin typeface="Cambria Math"/>
                <a:cs typeface="Cambria Math"/>
              </a:rPr>
              <a:t> </a:t>
            </a:r>
            <a:r>
              <a:rPr dirty="0" baseline="1388" sz="3000">
                <a:latin typeface="Cambria Math"/>
                <a:cs typeface="Cambria Math"/>
              </a:rPr>
              <a:t>∑</a:t>
            </a:r>
            <a:endParaRPr baseline="1388" sz="3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77667" y="3052572"/>
            <a:ext cx="20574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42564" y="326009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 h="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309876" y="3186176"/>
            <a:ext cx="126619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0070" algn="l"/>
              </a:tabLst>
            </a:pPr>
            <a:r>
              <a:rPr dirty="0" sz="1500" spc="-15">
                <a:latin typeface="Cambria Math"/>
                <a:cs typeface="Cambria Math"/>
              </a:rPr>
              <a:t>𝒊∈𝑵	</a:t>
            </a:r>
            <a:r>
              <a:rPr dirty="0" sz="1500" spc="-20">
                <a:latin typeface="Cambria Math"/>
                <a:cs typeface="Cambria Math"/>
              </a:rPr>
              <a:t>𝒋∈𝑵</a:t>
            </a:r>
            <a:r>
              <a:rPr dirty="0" sz="1500" spc="175">
                <a:latin typeface="Cambria Math"/>
                <a:cs typeface="Cambria Math"/>
              </a:rPr>
              <a:t> </a:t>
            </a:r>
            <a:r>
              <a:rPr dirty="0" baseline="-20370" sz="2250" spc="-22">
                <a:latin typeface="Cambria Math"/>
                <a:cs typeface="Cambria Math"/>
              </a:rPr>
              <a:t>𝟐𝒎</a:t>
            </a:r>
            <a:endParaRPr baseline="-20370" sz="225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928364" y="3260090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228594" y="2894076"/>
            <a:ext cx="9531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">
                <a:latin typeface="Cambria Math"/>
                <a:cs typeface="Cambria Math"/>
              </a:rPr>
              <a:t>𝒌</a:t>
            </a:r>
            <a:r>
              <a:rPr dirty="0" baseline="-13888" sz="1800" spc="-7">
                <a:latin typeface="Cambria Math"/>
                <a:cs typeface="Cambria Math"/>
              </a:rPr>
              <a:t>𝒊</a:t>
            </a:r>
            <a:r>
              <a:rPr dirty="0" sz="1500" spc="-5">
                <a:latin typeface="Cambria Math"/>
                <a:cs typeface="Cambria Math"/>
              </a:rPr>
              <a:t>𝒌</a:t>
            </a:r>
            <a:r>
              <a:rPr dirty="0" baseline="-13888" sz="1800" spc="-7">
                <a:latin typeface="Cambria Math"/>
                <a:cs typeface="Cambria Math"/>
              </a:rPr>
              <a:t>𝒋 </a:t>
            </a:r>
            <a:r>
              <a:rPr dirty="0" baseline="-36111" sz="3000">
                <a:latin typeface="Cambria Math"/>
                <a:cs typeface="Cambria Math"/>
              </a:rPr>
              <a:t>= </a:t>
            </a:r>
            <a:r>
              <a:rPr dirty="0" baseline="-5555" sz="2250">
                <a:latin typeface="Cambria Math"/>
                <a:cs typeface="Cambria Math"/>
              </a:rPr>
              <a:t>𝟏</a:t>
            </a:r>
            <a:r>
              <a:rPr dirty="0" baseline="-5555" sz="2250" spc="157">
                <a:latin typeface="Cambria Math"/>
                <a:cs typeface="Cambria Math"/>
              </a:rPr>
              <a:t> </a:t>
            </a:r>
            <a:r>
              <a:rPr dirty="0" baseline="-36111" sz="3000">
                <a:latin typeface="Cambria Math"/>
                <a:cs typeface="Cambria Math"/>
              </a:rPr>
              <a:t>⋅</a:t>
            </a:r>
            <a:endParaRPr baseline="-36111" sz="30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220464" y="3260090"/>
            <a:ext cx="279400" cy="0"/>
          </a:xfrm>
          <a:custGeom>
            <a:avLst/>
            <a:gdLst/>
            <a:ahLst/>
            <a:cxnLst/>
            <a:rect l="l" t="t" r="r" b="b"/>
            <a:pathLst>
              <a:path w="279400" h="0">
                <a:moveTo>
                  <a:pt x="0" y="0"/>
                </a:moveTo>
                <a:lnTo>
                  <a:pt x="2794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916870" y="3253232"/>
            <a:ext cx="60642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7975" algn="l"/>
              </a:tabLst>
            </a:pPr>
            <a:r>
              <a:rPr dirty="0" sz="1500">
                <a:latin typeface="Cambria Math"/>
                <a:cs typeface="Cambria Math"/>
              </a:rPr>
              <a:t>𝟐	</a:t>
            </a:r>
            <a:r>
              <a:rPr dirty="0" sz="1500" spc="-15">
                <a:latin typeface="Cambria Math"/>
                <a:cs typeface="Cambria Math"/>
              </a:rPr>
              <a:t>𝟐𝒎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98060" y="2915412"/>
            <a:ext cx="445134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latin typeface="Cambria Math"/>
                <a:cs typeface="Cambria Math"/>
              </a:rPr>
              <a:t>𝟏</a:t>
            </a:r>
            <a:r>
              <a:rPr dirty="0" sz="1500" spc="300">
                <a:latin typeface="Cambria Math"/>
                <a:cs typeface="Cambria Math"/>
              </a:rPr>
              <a:t> </a:t>
            </a:r>
            <a:r>
              <a:rPr dirty="0" baseline="-30555" sz="3000">
                <a:latin typeface="Cambria Math"/>
                <a:cs typeface="Cambria Math"/>
              </a:rPr>
              <a:t>∑</a:t>
            </a:r>
            <a:endParaRPr baseline="-30555" sz="30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354424" y="3103968"/>
            <a:ext cx="972185" cy="307340"/>
          </a:xfrm>
          <a:custGeom>
            <a:avLst/>
            <a:gdLst/>
            <a:ahLst/>
            <a:cxnLst/>
            <a:rect l="l" t="t" r="r" b="b"/>
            <a:pathLst>
              <a:path w="972185" h="307339">
                <a:moveTo>
                  <a:pt x="891421" y="0"/>
                </a:moveTo>
                <a:lnTo>
                  <a:pt x="888319" y="10170"/>
                </a:lnTo>
                <a:lnTo>
                  <a:pt x="902415" y="17480"/>
                </a:lnTo>
                <a:lnTo>
                  <a:pt x="914690" y="28123"/>
                </a:lnTo>
                <a:lnTo>
                  <a:pt x="940530" y="79522"/>
                </a:lnTo>
                <a:lnTo>
                  <a:pt x="948250" y="126589"/>
                </a:lnTo>
                <a:lnTo>
                  <a:pt x="949215" y="153541"/>
                </a:lnTo>
                <a:lnTo>
                  <a:pt x="948250" y="180435"/>
                </a:lnTo>
                <a:lnTo>
                  <a:pt x="940530" y="227408"/>
                </a:lnTo>
                <a:lnTo>
                  <a:pt x="925143" y="264770"/>
                </a:lnTo>
                <a:lnTo>
                  <a:pt x="888319" y="296664"/>
                </a:lnTo>
                <a:lnTo>
                  <a:pt x="891421" y="306834"/>
                </a:lnTo>
                <a:lnTo>
                  <a:pt x="925682" y="288571"/>
                </a:lnTo>
                <a:lnTo>
                  <a:pt x="951075" y="254124"/>
                </a:lnTo>
                <a:lnTo>
                  <a:pt x="966795" y="207677"/>
                </a:lnTo>
                <a:lnTo>
                  <a:pt x="972035" y="153417"/>
                </a:lnTo>
                <a:lnTo>
                  <a:pt x="970725" y="125310"/>
                </a:lnTo>
                <a:lnTo>
                  <a:pt x="960245" y="74956"/>
                </a:lnTo>
                <a:lnTo>
                  <a:pt x="939487" y="33463"/>
                </a:lnTo>
                <a:lnTo>
                  <a:pt x="909660" y="7108"/>
                </a:lnTo>
                <a:lnTo>
                  <a:pt x="891421" y="0"/>
                </a:lnTo>
                <a:close/>
              </a:path>
              <a:path w="972185" h="307339">
                <a:moveTo>
                  <a:pt x="80608" y="0"/>
                </a:moveTo>
                <a:lnTo>
                  <a:pt x="46347" y="18262"/>
                </a:lnTo>
                <a:lnTo>
                  <a:pt x="20954" y="52710"/>
                </a:lnTo>
                <a:lnTo>
                  <a:pt x="5234" y="99156"/>
                </a:lnTo>
                <a:lnTo>
                  <a:pt x="0" y="153541"/>
                </a:lnTo>
                <a:lnTo>
                  <a:pt x="1304" y="181524"/>
                </a:lnTo>
                <a:lnTo>
                  <a:pt x="11784" y="231877"/>
                </a:lnTo>
                <a:lnTo>
                  <a:pt x="32542" y="273371"/>
                </a:lnTo>
                <a:lnTo>
                  <a:pt x="62369" y="299726"/>
                </a:lnTo>
                <a:lnTo>
                  <a:pt x="80608" y="306834"/>
                </a:lnTo>
                <a:lnTo>
                  <a:pt x="83710" y="296664"/>
                </a:lnTo>
                <a:lnTo>
                  <a:pt x="69614" y="289358"/>
                </a:lnTo>
                <a:lnTo>
                  <a:pt x="57339" y="278727"/>
                </a:lnTo>
                <a:lnTo>
                  <a:pt x="31499" y="227408"/>
                </a:lnTo>
                <a:lnTo>
                  <a:pt x="23779" y="180435"/>
                </a:lnTo>
                <a:lnTo>
                  <a:pt x="22819" y="153417"/>
                </a:lnTo>
                <a:lnTo>
                  <a:pt x="23779" y="126589"/>
                </a:lnTo>
                <a:lnTo>
                  <a:pt x="31499" y="79522"/>
                </a:lnTo>
                <a:lnTo>
                  <a:pt x="46886" y="42098"/>
                </a:lnTo>
                <a:lnTo>
                  <a:pt x="83710" y="10170"/>
                </a:lnTo>
                <a:lnTo>
                  <a:pt x="806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717224" y="3186176"/>
            <a:ext cx="125412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8685" algn="l"/>
              </a:tabLst>
            </a:pPr>
            <a:r>
              <a:rPr dirty="0" sz="1500" spc="-20">
                <a:latin typeface="Cambria Math"/>
                <a:cs typeface="Cambria Math"/>
              </a:rPr>
              <a:t>𝒊</a:t>
            </a:r>
            <a:r>
              <a:rPr dirty="0" sz="1500" spc="-25">
                <a:latin typeface="Cambria Math"/>
                <a:cs typeface="Cambria Math"/>
              </a:rPr>
              <a:t>∈</a:t>
            </a:r>
            <a:r>
              <a:rPr dirty="0" sz="1500">
                <a:latin typeface="Cambria Math"/>
                <a:cs typeface="Cambria Math"/>
              </a:rPr>
              <a:t>𝑵	</a:t>
            </a:r>
            <a:r>
              <a:rPr dirty="0" sz="1500" spc="-25">
                <a:latin typeface="Cambria Math"/>
                <a:cs typeface="Cambria Math"/>
              </a:rPr>
              <a:t>𝒋∈</a:t>
            </a:r>
            <a:r>
              <a:rPr dirty="0" sz="1500">
                <a:latin typeface="Cambria Math"/>
                <a:cs typeface="Cambria Math"/>
              </a:rPr>
              <a:t>𝑵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25</a:t>
            </a:fld>
          </a:p>
        </p:txBody>
      </p:sp>
      <p:sp>
        <p:nvSpPr>
          <p:cNvPr id="24" name="object 24"/>
          <p:cNvSpPr txBox="1"/>
          <p:nvPr/>
        </p:nvSpPr>
        <p:spPr>
          <a:xfrm>
            <a:off x="5085016" y="3061716"/>
            <a:ext cx="15373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11860" algn="l"/>
                <a:tab pos="1334135" algn="l"/>
              </a:tabLst>
            </a:pPr>
            <a:r>
              <a:rPr dirty="0" sz="2000">
                <a:latin typeface="Cambria Math"/>
                <a:cs typeface="Cambria Math"/>
              </a:rPr>
              <a:t>𝒌</a:t>
            </a:r>
            <a:r>
              <a:rPr dirty="0" baseline="-14814" sz="2250">
                <a:latin typeface="Cambria Math"/>
                <a:cs typeface="Cambria Math"/>
              </a:rPr>
              <a:t>𝒊 </a:t>
            </a:r>
            <a:r>
              <a:rPr dirty="0" baseline="-14814" sz="2250" spc="82">
                <a:latin typeface="Cambria Math"/>
                <a:cs typeface="Cambria Math"/>
              </a:rPr>
              <a:t> </a:t>
            </a:r>
            <a:r>
              <a:rPr dirty="0" baseline="1388" sz="3000">
                <a:latin typeface="Cambria Math"/>
                <a:cs typeface="Cambria Math"/>
              </a:rPr>
              <a:t>∑	</a:t>
            </a:r>
            <a:r>
              <a:rPr dirty="0" sz="2000">
                <a:latin typeface="Cambria Math"/>
                <a:cs typeface="Cambria Math"/>
              </a:rPr>
              <a:t>𝒌</a:t>
            </a:r>
            <a:r>
              <a:rPr dirty="0" baseline="-14814" sz="2250">
                <a:latin typeface="Cambria Math"/>
                <a:cs typeface="Cambria Math"/>
              </a:rPr>
              <a:t>𝒋	</a:t>
            </a:r>
            <a:r>
              <a:rPr dirty="0" sz="200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32000" y="3786632"/>
            <a:ext cx="31051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5">
                <a:latin typeface="Cambria Math"/>
                <a:cs typeface="Cambria Math"/>
              </a:rPr>
              <a:t>𝟒𝒎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32508" y="3595115"/>
            <a:ext cx="237617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85">
                <a:solidFill>
                  <a:srgbClr val="6BB76D"/>
                </a:solidFill>
                <a:latin typeface="Malgun Gothic"/>
                <a:cs typeface="Malgun Gothic"/>
              </a:rPr>
              <a:t>§  </a:t>
            </a:r>
            <a:r>
              <a:rPr dirty="0" sz="2000">
                <a:latin typeface="Cambria Math"/>
                <a:cs typeface="Cambria Math"/>
              </a:rPr>
              <a:t>= </a:t>
            </a:r>
            <a:r>
              <a:rPr dirty="0" baseline="31944" sz="3000" u="sng">
                <a:latin typeface="Cambria Math"/>
                <a:cs typeface="Cambria Math"/>
              </a:rPr>
              <a:t>  </a:t>
            </a:r>
            <a:r>
              <a:rPr dirty="0" baseline="42592" sz="2250" u="sng">
                <a:latin typeface="Cambria Math"/>
                <a:cs typeface="Cambria Math"/>
              </a:rPr>
              <a:t>𝟏  </a:t>
            </a:r>
            <a:r>
              <a:rPr dirty="0" baseline="42592" sz="225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𝟐𝒎 ⋅ 𝟐𝒎 =</a:t>
            </a:r>
            <a:r>
              <a:rPr dirty="0" sz="2000" spc="5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𝒎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18108" y="4383532"/>
            <a:ext cx="7911465" cy="223456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332740" marR="5080" indent="-320040">
              <a:lnSpc>
                <a:spcPts val="3310"/>
              </a:lnSpc>
              <a:spcBef>
                <a:spcPts val="25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 b="1">
                <a:solidFill>
                  <a:srgbClr val="D60093"/>
                </a:solidFill>
                <a:latin typeface="Calibri"/>
                <a:cs typeface="Calibri"/>
              </a:rPr>
              <a:t>Under null model, both the </a:t>
            </a: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degree distribution </a:t>
            </a:r>
            <a:r>
              <a:rPr dirty="0" sz="2800" spc="-5" b="1">
                <a:solidFill>
                  <a:srgbClr val="D60093"/>
                </a:solidFill>
                <a:latin typeface="Calibri"/>
                <a:cs typeface="Calibri"/>
              </a:rPr>
              <a:t>and  the </a:t>
            </a:r>
            <a:r>
              <a:rPr dirty="0" sz="2800" spc="-15" b="1">
                <a:solidFill>
                  <a:srgbClr val="D60093"/>
                </a:solidFill>
                <a:latin typeface="Calibri"/>
                <a:cs typeface="Calibri"/>
              </a:rPr>
              <a:t>total </a:t>
            </a:r>
            <a:r>
              <a:rPr dirty="0" sz="2800" spc="-5" b="1">
                <a:solidFill>
                  <a:srgbClr val="D60093"/>
                </a:solidFill>
                <a:latin typeface="Calibri"/>
                <a:cs typeface="Calibri"/>
              </a:rPr>
              <a:t>number of </a:t>
            </a: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edges are</a:t>
            </a:r>
            <a:r>
              <a:rPr dirty="0" sz="2800" spc="5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preserved.</a:t>
            </a:r>
            <a:endParaRPr sz="2800">
              <a:latin typeface="Calibri"/>
              <a:cs typeface="Calibri"/>
            </a:endParaRPr>
          </a:p>
          <a:p>
            <a:pPr marL="12700" marR="15875">
              <a:lnSpc>
                <a:spcPct val="100800"/>
              </a:lnSpc>
              <a:spcBef>
                <a:spcPts val="1905"/>
              </a:spcBef>
            </a:pPr>
            <a:r>
              <a:rPr dirty="0" sz="2400" spc="-5" b="1">
                <a:solidFill>
                  <a:srgbClr val="008000"/>
                </a:solidFill>
                <a:latin typeface="Calibri"/>
                <a:cs typeface="Calibri"/>
              </a:rPr>
              <a:t>Notice: This model applies </a:t>
            </a:r>
            <a:r>
              <a:rPr dirty="0" sz="2400" spc="-10" b="1">
                <a:solidFill>
                  <a:srgbClr val="008000"/>
                </a:solidFill>
                <a:latin typeface="Calibri"/>
                <a:cs typeface="Calibri"/>
              </a:rPr>
              <a:t>to </a:t>
            </a:r>
            <a:r>
              <a:rPr dirty="0" sz="2400" spc="-5" b="1">
                <a:solidFill>
                  <a:srgbClr val="008000"/>
                </a:solidFill>
                <a:latin typeface="Calibri"/>
                <a:cs typeface="Calibri"/>
              </a:rPr>
              <a:t>both </a:t>
            </a:r>
            <a:r>
              <a:rPr dirty="0" sz="2400" spc="-10" b="1">
                <a:solidFill>
                  <a:srgbClr val="008000"/>
                </a:solidFill>
                <a:latin typeface="Calibri"/>
                <a:cs typeface="Calibri"/>
              </a:rPr>
              <a:t>weighted </a:t>
            </a:r>
            <a:r>
              <a:rPr dirty="0" sz="2400" spc="-5" b="1">
                <a:solidFill>
                  <a:srgbClr val="008000"/>
                </a:solidFill>
                <a:latin typeface="Calibri"/>
                <a:cs typeface="Calibri"/>
              </a:rPr>
              <a:t>and </a:t>
            </a:r>
            <a:r>
              <a:rPr dirty="0" sz="2400" spc="-15" b="1">
                <a:solidFill>
                  <a:srgbClr val="008000"/>
                </a:solidFill>
                <a:latin typeface="Calibri"/>
                <a:cs typeface="Calibri"/>
              </a:rPr>
              <a:t>unweighted  </a:t>
            </a:r>
            <a:r>
              <a:rPr dirty="0" sz="2400" spc="-10" b="1">
                <a:solidFill>
                  <a:srgbClr val="008000"/>
                </a:solidFill>
                <a:latin typeface="Calibri"/>
                <a:cs typeface="Calibri"/>
              </a:rPr>
              <a:t>networks. </a:t>
            </a:r>
            <a:r>
              <a:rPr dirty="0" sz="2400" spc="-15" b="1">
                <a:solidFill>
                  <a:srgbClr val="008000"/>
                </a:solidFill>
                <a:latin typeface="Calibri"/>
                <a:cs typeface="Calibri"/>
              </a:rPr>
              <a:t>For </a:t>
            </a:r>
            <a:r>
              <a:rPr dirty="0" sz="2400" spc="-10" b="1">
                <a:solidFill>
                  <a:srgbClr val="008000"/>
                </a:solidFill>
                <a:latin typeface="Calibri"/>
                <a:cs typeface="Calibri"/>
              </a:rPr>
              <a:t>weighted networks we </a:t>
            </a:r>
            <a:r>
              <a:rPr dirty="0" sz="2400" spc="-5" b="1">
                <a:solidFill>
                  <a:srgbClr val="008000"/>
                </a:solidFill>
                <a:latin typeface="Calibri"/>
                <a:cs typeface="Calibri"/>
              </a:rPr>
              <a:t>use the </a:t>
            </a:r>
            <a:r>
              <a:rPr dirty="0" sz="2400" spc="-10" b="1">
                <a:solidFill>
                  <a:srgbClr val="008000"/>
                </a:solidFill>
                <a:latin typeface="Calibri"/>
                <a:cs typeface="Calibri"/>
              </a:rPr>
              <a:t>weighted degree  </a:t>
            </a:r>
            <a:r>
              <a:rPr dirty="0" sz="2400" spc="-5" b="1">
                <a:solidFill>
                  <a:srgbClr val="008000"/>
                </a:solidFill>
                <a:latin typeface="Calibri"/>
                <a:cs typeface="Calibri"/>
              </a:rPr>
              <a:t>(sum of the </a:t>
            </a:r>
            <a:r>
              <a:rPr dirty="0" sz="2400" spc="-10" b="1">
                <a:solidFill>
                  <a:srgbClr val="008000"/>
                </a:solidFill>
                <a:latin typeface="Calibri"/>
                <a:cs typeface="Calibri"/>
              </a:rPr>
              <a:t>edge</a:t>
            </a:r>
            <a:r>
              <a:rPr dirty="0" sz="2400" spc="-30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8000"/>
                </a:solidFill>
                <a:latin typeface="Calibri"/>
                <a:cs typeface="Calibri"/>
              </a:rPr>
              <a:t>weights).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47193" y="3313810"/>
            <a:ext cx="1136015" cy="963294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57150">
              <a:lnSpc>
                <a:spcPct val="100000"/>
              </a:lnSpc>
              <a:spcBef>
                <a:spcPts val="810"/>
              </a:spcBef>
            </a:pP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Note:</a:t>
            </a:r>
            <a:endParaRPr sz="1800">
              <a:latin typeface="Arial"/>
              <a:cs typeface="Arial"/>
            </a:endParaRPr>
          </a:p>
          <a:p>
            <a:pPr marL="31750">
              <a:lnSpc>
                <a:spcPct val="100000"/>
              </a:lnSpc>
              <a:spcBef>
                <a:spcPts val="630"/>
              </a:spcBef>
            </a:pPr>
            <a:r>
              <a:rPr dirty="0" sz="1600" spc="1655" i="1">
                <a:solidFill>
                  <a:srgbClr val="008000"/>
                </a:solidFill>
                <a:latin typeface="Cambria Math"/>
                <a:cs typeface="Cambria Math"/>
              </a:rPr>
              <a:t>!</a:t>
            </a:r>
            <a:r>
              <a:rPr dirty="0" sz="1600" spc="175" i="1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1600" spc="10" i="1">
                <a:solidFill>
                  <a:srgbClr val="008000"/>
                </a:solidFill>
                <a:latin typeface="Cambria Math"/>
                <a:cs typeface="Cambria Math"/>
              </a:rPr>
              <a:t>𝑘</a:t>
            </a:r>
            <a:r>
              <a:rPr dirty="0" baseline="-16203" sz="1800" spc="15">
                <a:solidFill>
                  <a:srgbClr val="008000"/>
                </a:solidFill>
                <a:latin typeface="Cambria Math"/>
                <a:cs typeface="Cambria Math"/>
              </a:rPr>
              <a:t># </a:t>
            </a:r>
            <a:r>
              <a:rPr dirty="0" sz="1600" i="1">
                <a:solidFill>
                  <a:srgbClr val="008000"/>
                </a:solidFill>
                <a:latin typeface="Cambria Math"/>
                <a:cs typeface="Cambria Math"/>
              </a:rPr>
              <a:t>= 2𝑚</a:t>
            </a:r>
            <a:endParaRPr sz="16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1200" spc="-50">
                <a:solidFill>
                  <a:srgbClr val="008000"/>
                </a:solidFill>
                <a:latin typeface="Cambria Math"/>
                <a:cs typeface="Cambria Math"/>
              </a:rPr>
              <a:t>#∈%</a:t>
            </a:r>
            <a:endParaRPr sz="12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267614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699770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Modularity </a:t>
            </a:r>
            <a:r>
              <a:rPr dirty="0"/>
              <a:t>of </a:t>
            </a:r>
            <a:r>
              <a:rPr dirty="0" spc="-5"/>
              <a:t>partitioning </a:t>
            </a:r>
            <a:r>
              <a:rPr dirty="0"/>
              <a:t>S of </a:t>
            </a:r>
            <a:r>
              <a:rPr dirty="0" spc="-20"/>
              <a:t>graph</a:t>
            </a:r>
            <a:r>
              <a:rPr dirty="0" spc="-65"/>
              <a:t> </a:t>
            </a:r>
            <a:r>
              <a:rPr dirty="0" spc="-5"/>
              <a:t>G: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1844547"/>
            <a:ext cx="7219315" cy="8331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ts val="318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b="1">
                <a:latin typeface="Times New Roman"/>
                <a:cs typeface="Times New Roman"/>
              </a:rPr>
              <a:t>Q </a:t>
            </a:r>
            <a:r>
              <a:rPr dirty="0" baseline="1010" sz="4125" spc="607" b="1">
                <a:latin typeface="Symbol"/>
                <a:cs typeface="Symbol"/>
              </a:rPr>
              <a:t></a:t>
            </a:r>
            <a:r>
              <a:rPr dirty="0" baseline="1010" sz="4125" spc="607" b="1">
                <a:latin typeface="Times New Roman"/>
                <a:cs typeface="Times New Roman"/>
              </a:rPr>
              <a:t> </a:t>
            </a:r>
            <a:r>
              <a:rPr dirty="0" sz="2800" spc="-20" b="1">
                <a:latin typeface="Times New Roman"/>
                <a:cs typeface="Times New Roman"/>
              </a:rPr>
              <a:t>∑</a:t>
            </a:r>
            <a:r>
              <a:rPr dirty="0" baseline="-17543" sz="2850" spc="-30" b="1" i="1">
                <a:latin typeface="Times New Roman"/>
                <a:cs typeface="Times New Roman"/>
              </a:rPr>
              <a:t>s</a:t>
            </a:r>
            <a:r>
              <a:rPr dirty="0" baseline="-17094" sz="2925" spc="-30" b="1" i="1">
                <a:latin typeface="Symbol"/>
                <a:cs typeface="Symbol"/>
              </a:rPr>
              <a:t></a:t>
            </a:r>
            <a:r>
              <a:rPr dirty="0" baseline="-17094" sz="2925" spc="-30" b="1" i="1">
                <a:latin typeface="Times New Roman"/>
                <a:cs typeface="Times New Roman"/>
              </a:rPr>
              <a:t> </a:t>
            </a:r>
            <a:r>
              <a:rPr dirty="0" baseline="-17543" sz="2850" b="1" i="1">
                <a:latin typeface="Times New Roman"/>
                <a:cs typeface="Times New Roman"/>
              </a:rPr>
              <a:t>S </a:t>
            </a:r>
            <a:r>
              <a:rPr dirty="0" sz="2800" b="1">
                <a:latin typeface="Times New Roman"/>
                <a:cs typeface="Times New Roman"/>
              </a:rPr>
              <a:t>[ (# </a:t>
            </a:r>
            <a:r>
              <a:rPr dirty="0" sz="2800" spc="-5" b="1">
                <a:latin typeface="Times New Roman"/>
                <a:cs typeface="Times New Roman"/>
              </a:rPr>
              <a:t>edges within </a:t>
            </a:r>
            <a:r>
              <a:rPr dirty="0" sz="2800" spc="-15" b="1">
                <a:latin typeface="Times New Roman"/>
                <a:cs typeface="Times New Roman"/>
              </a:rPr>
              <a:t>group </a:t>
            </a:r>
            <a:r>
              <a:rPr dirty="0" sz="2800" spc="-5" b="1" i="1">
                <a:latin typeface="Times New Roman"/>
                <a:cs typeface="Times New Roman"/>
              </a:rPr>
              <a:t>s</a:t>
            </a:r>
            <a:r>
              <a:rPr dirty="0" sz="2800" spc="-5" b="1">
                <a:latin typeface="Times New Roman"/>
                <a:cs typeface="Times New Roman"/>
              </a:rPr>
              <a:t>)</a:t>
            </a:r>
            <a:r>
              <a:rPr dirty="0" sz="2800" spc="-43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–</a:t>
            </a:r>
            <a:endParaRPr sz="2800">
              <a:latin typeface="Times New Roman"/>
              <a:cs typeface="Times New Roman"/>
            </a:endParaRPr>
          </a:p>
          <a:p>
            <a:pPr marL="1976120">
              <a:lnSpc>
                <a:spcPts val="3180"/>
              </a:lnSpc>
            </a:pPr>
            <a:r>
              <a:rPr dirty="0" sz="2800" spc="-5" b="1">
                <a:latin typeface="Times New Roman"/>
                <a:cs typeface="Times New Roman"/>
              </a:rPr>
              <a:t>(expected </a:t>
            </a:r>
            <a:r>
              <a:rPr dirty="0" sz="2800" b="1">
                <a:latin typeface="Times New Roman"/>
                <a:cs typeface="Times New Roman"/>
              </a:rPr>
              <a:t># </a:t>
            </a:r>
            <a:r>
              <a:rPr dirty="0" sz="2800" spc="-5" b="1">
                <a:latin typeface="Times New Roman"/>
                <a:cs typeface="Times New Roman"/>
              </a:rPr>
              <a:t>edges within </a:t>
            </a:r>
            <a:r>
              <a:rPr dirty="0" sz="2800" spc="-15" b="1">
                <a:latin typeface="Times New Roman"/>
                <a:cs typeface="Times New Roman"/>
              </a:rPr>
              <a:t>group </a:t>
            </a:r>
            <a:r>
              <a:rPr dirty="0" sz="2800" spc="-5" b="1" i="1">
                <a:latin typeface="Times New Roman"/>
                <a:cs typeface="Times New Roman"/>
              </a:rPr>
              <a:t>s</a:t>
            </a:r>
            <a:r>
              <a:rPr dirty="0" sz="2800" spc="-5" b="1">
                <a:latin typeface="Times New Roman"/>
                <a:cs typeface="Times New Roman"/>
              </a:rPr>
              <a:t>)</a:t>
            </a:r>
            <a:r>
              <a:rPr dirty="0" sz="2800" spc="2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]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35187" y="3012873"/>
            <a:ext cx="805180" cy="329565"/>
          </a:xfrm>
          <a:custGeom>
            <a:avLst/>
            <a:gdLst/>
            <a:ahLst/>
            <a:cxnLst/>
            <a:rect l="l" t="t" r="r" b="b"/>
            <a:pathLst>
              <a:path w="805180" h="329564">
                <a:moveTo>
                  <a:pt x="699615" y="0"/>
                </a:moveTo>
                <a:lnTo>
                  <a:pt x="694926" y="13370"/>
                </a:lnTo>
                <a:lnTo>
                  <a:pt x="713993" y="21645"/>
                </a:lnTo>
                <a:lnTo>
                  <a:pt x="730390" y="33099"/>
                </a:lnTo>
                <a:lnTo>
                  <a:pt x="755177" y="65547"/>
                </a:lnTo>
                <a:lnTo>
                  <a:pt x="769762" y="109324"/>
                </a:lnTo>
                <a:lnTo>
                  <a:pt x="774623" y="163041"/>
                </a:lnTo>
                <a:lnTo>
                  <a:pt x="773402" y="192092"/>
                </a:lnTo>
                <a:lnTo>
                  <a:pt x="763635" y="242185"/>
                </a:lnTo>
                <a:lnTo>
                  <a:pt x="744037" y="281307"/>
                </a:lnTo>
                <a:lnTo>
                  <a:pt x="714215" y="307699"/>
                </a:lnTo>
                <a:lnTo>
                  <a:pt x="695446" y="316011"/>
                </a:lnTo>
                <a:lnTo>
                  <a:pt x="699615" y="329382"/>
                </a:lnTo>
                <a:lnTo>
                  <a:pt x="744542" y="308307"/>
                </a:lnTo>
                <a:lnTo>
                  <a:pt x="777575" y="271823"/>
                </a:lnTo>
                <a:lnTo>
                  <a:pt x="797890" y="222966"/>
                </a:lnTo>
                <a:lnTo>
                  <a:pt x="804661" y="164777"/>
                </a:lnTo>
                <a:lnTo>
                  <a:pt x="802963" y="134581"/>
                </a:lnTo>
                <a:lnTo>
                  <a:pt x="789377" y="81059"/>
                </a:lnTo>
                <a:lnTo>
                  <a:pt x="762431" y="37488"/>
                </a:lnTo>
                <a:lnTo>
                  <a:pt x="723494" y="8622"/>
                </a:lnTo>
                <a:lnTo>
                  <a:pt x="699615" y="0"/>
                </a:lnTo>
                <a:close/>
              </a:path>
              <a:path w="805180" h="329564">
                <a:moveTo>
                  <a:pt x="105048" y="0"/>
                </a:moveTo>
                <a:lnTo>
                  <a:pt x="60229" y="21118"/>
                </a:lnTo>
                <a:lnTo>
                  <a:pt x="27174" y="57732"/>
                </a:lnTo>
                <a:lnTo>
                  <a:pt x="6793" y="106676"/>
                </a:lnTo>
                <a:lnTo>
                  <a:pt x="0" y="164777"/>
                </a:lnTo>
                <a:lnTo>
                  <a:pt x="1693" y="195038"/>
                </a:lnTo>
                <a:lnTo>
                  <a:pt x="15236" y="248561"/>
                </a:lnTo>
                <a:lnTo>
                  <a:pt x="42116" y="291991"/>
                </a:lnTo>
                <a:lnTo>
                  <a:pt x="81097" y="320771"/>
                </a:lnTo>
                <a:lnTo>
                  <a:pt x="105048" y="329382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50" y="296130"/>
                </a:lnTo>
                <a:lnTo>
                  <a:pt x="49573" y="263227"/>
                </a:lnTo>
                <a:lnTo>
                  <a:pt x="34922" y="218473"/>
                </a:lnTo>
                <a:lnTo>
                  <a:pt x="30039" y="163041"/>
                </a:lnTo>
                <a:lnTo>
                  <a:pt x="31260" y="134940"/>
                </a:lnTo>
                <a:lnTo>
                  <a:pt x="41027" y="86193"/>
                </a:lnTo>
                <a:lnTo>
                  <a:pt x="60657" y="47733"/>
                </a:lnTo>
                <a:lnTo>
                  <a:pt x="90739" y="21645"/>
                </a:lnTo>
                <a:lnTo>
                  <a:pt x="109736" y="13370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56563" y="2911347"/>
            <a:ext cx="179197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694690" algn="l"/>
                <a:tab pos="1513205" algn="l"/>
              </a:tabLst>
            </a:pPr>
            <a:r>
              <a:rPr dirty="0" sz="2800">
                <a:solidFill>
                  <a:srgbClr val="0000FF"/>
                </a:solidFill>
                <a:latin typeface="Cambria Math"/>
                <a:cs typeface="Cambria Math"/>
              </a:rPr>
              <a:t>𝑸	</a:t>
            </a:r>
            <a:r>
              <a:rPr dirty="0" sz="2800" spc="-5">
                <a:solidFill>
                  <a:srgbClr val="0000FF"/>
                </a:solidFill>
                <a:latin typeface="Cambria Math"/>
                <a:cs typeface="Cambria Math"/>
              </a:rPr>
              <a:t>𝑮</a:t>
            </a:r>
            <a:r>
              <a:rPr dirty="0" sz="2800">
                <a:solidFill>
                  <a:srgbClr val="0000FF"/>
                </a:solidFill>
                <a:latin typeface="Cambria Math"/>
                <a:cs typeface="Cambria Math"/>
              </a:rPr>
              <a:t>,</a:t>
            </a:r>
            <a:r>
              <a:rPr dirty="0" sz="2800" spc="-15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0000FF"/>
                </a:solidFill>
                <a:latin typeface="Cambria Math"/>
                <a:cs typeface="Cambria Math"/>
              </a:rPr>
              <a:t>𝑺	=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36164" y="3177539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700" y="0"/>
                </a:lnTo>
              </a:path>
            </a:pathLst>
          </a:custGeom>
          <a:ln w="254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941764" y="2802635"/>
            <a:ext cx="1778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0000FF"/>
                </a:solidFill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77234" y="2996691"/>
            <a:ext cx="21196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5873" sz="4200" spc="7">
                <a:solidFill>
                  <a:srgbClr val="0000FF"/>
                </a:solidFill>
                <a:latin typeface="Cambria Math"/>
                <a:cs typeface="Cambria Math"/>
              </a:rPr>
              <a:t>∑</a:t>
            </a:r>
            <a:r>
              <a:rPr dirty="0" sz="2000" spc="5">
                <a:solidFill>
                  <a:srgbClr val="0000FF"/>
                </a:solidFill>
                <a:latin typeface="Cambria Math"/>
                <a:cs typeface="Cambria Math"/>
              </a:rPr>
              <a:t>𝒔∈𝑺 </a:t>
            </a:r>
            <a:r>
              <a:rPr dirty="0" baseline="15873" sz="4200" spc="7">
                <a:solidFill>
                  <a:srgbClr val="0000FF"/>
                </a:solidFill>
                <a:latin typeface="Cambria Math"/>
                <a:cs typeface="Cambria Math"/>
              </a:rPr>
              <a:t>∑</a:t>
            </a:r>
            <a:r>
              <a:rPr dirty="0" sz="2000" spc="5">
                <a:solidFill>
                  <a:srgbClr val="0000FF"/>
                </a:solidFill>
                <a:latin typeface="Cambria Math"/>
                <a:cs typeface="Cambria Math"/>
              </a:rPr>
              <a:t>𝒊∈𝒔</a:t>
            </a:r>
            <a:r>
              <a:rPr dirty="0" sz="2000" spc="-285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baseline="15873" sz="4200" spc="7">
                <a:solidFill>
                  <a:srgbClr val="0000FF"/>
                </a:solidFill>
                <a:latin typeface="Cambria Math"/>
                <a:cs typeface="Cambria Math"/>
              </a:rPr>
              <a:t>∑</a:t>
            </a:r>
            <a:r>
              <a:rPr dirty="0" sz="2000" spc="5">
                <a:solidFill>
                  <a:srgbClr val="0000FF"/>
                </a:solidFill>
                <a:latin typeface="Cambria Math"/>
                <a:cs typeface="Cambria Math"/>
              </a:rPr>
              <a:t>𝒋∈𝒔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76509" y="2884315"/>
            <a:ext cx="1659889" cy="586740"/>
          </a:xfrm>
          <a:custGeom>
            <a:avLst/>
            <a:gdLst/>
            <a:ahLst/>
            <a:cxnLst/>
            <a:rect l="l" t="t" r="r" b="b"/>
            <a:pathLst>
              <a:path w="1659890" h="586739">
                <a:moveTo>
                  <a:pt x="1532872" y="0"/>
                </a:moveTo>
                <a:lnTo>
                  <a:pt x="1527315" y="13889"/>
                </a:lnTo>
                <a:lnTo>
                  <a:pt x="1549177" y="31660"/>
                </a:lnTo>
                <a:lnTo>
                  <a:pt x="1568575" y="54759"/>
                </a:lnTo>
                <a:lnTo>
                  <a:pt x="1599981" y="116941"/>
                </a:lnTo>
                <a:lnTo>
                  <a:pt x="1611566" y="155287"/>
                </a:lnTo>
                <a:lnTo>
                  <a:pt x="1619841" y="197485"/>
                </a:lnTo>
                <a:lnTo>
                  <a:pt x="1624806" y="243535"/>
                </a:lnTo>
                <a:lnTo>
                  <a:pt x="1626461" y="293438"/>
                </a:lnTo>
                <a:lnTo>
                  <a:pt x="1624816" y="342555"/>
                </a:lnTo>
                <a:lnTo>
                  <a:pt x="1619884" y="388155"/>
                </a:lnTo>
                <a:lnTo>
                  <a:pt x="1611663" y="430240"/>
                </a:lnTo>
                <a:lnTo>
                  <a:pt x="1600155" y="468807"/>
                </a:lnTo>
                <a:lnTo>
                  <a:pt x="1568792" y="531576"/>
                </a:lnTo>
                <a:lnTo>
                  <a:pt x="1527315" y="572640"/>
                </a:lnTo>
                <a:lnTo>
                  <a:pt x="1532872" y="586531"/>
                </a:lnTo>
                <a:lnTo>
                  <a:pt x="1585070" y="544772"/>
                </a:lnTo>
                <a:lnTo>
                  <a:pt x="1625332" y="477837"/>
                </a:lnTo>
                <a:lnTo>
                  <a:pt x="1640334" y="436469"/>
                </a:lnTo>
                <a:lnTo>
                  <a:pt x="1651051" y="391888"/>
                </a:lnTo>
                <a:lnTo>
                  <a:pt x="1657481" y="344096"/>
                </a:lnTo>
                <a:lnTo>
                  <a:pt x="1659624" y="293091"/>
                </a:lnTo>
                <a:lnTo>
                  <a:pt x="1657481" y="241826"/>
                </a:lnTo>
                <a:lnTo>
                  <a:pt x="1651051" y="193947"/>
                </a:lnTo>
                <a:lnTo>
                  <a:pt x="1640334" y="149454"/>
                </a:lnTo>
                <a:lnTo>
                  <a:pt x="1625332" y="108346"/>
                </a:lnTo>
                <a:lnTo>
                  <a:pt x="1606693" y="72013"/>
                </a:lnTo>
                <a:lnTo>
                  <a:pt x="1560463" y="17840"/>
                </a:lnTo>
                <a:lnTo>
                  <a:pt x="1532872" y="0"/>
                </a:lnTo>
                <a:close/>
              </a:path>
              <a:path w="1659890" h="586739">
                <a:moveTo>
                  <a:pt x="126578" y="0"/>
                </a:moveTo>
                <a:lnTo>
                  <a:pt x="74510" y="41845"/>
                </a:lnTo>
                <a:lnTo>
                  <a:pt x="34292" y="108346"/>
                </a:lnTo>
                <a:lnTo>
                  <a:pt x="19289" y="149454"/>
                </a:lnTo>
                <a:lnTo>
                  <a:pt x="8573" y="193947"/>
                </a:lnTo>
                <a:lnTo>
                  <a:pt x="2143" y="241826"/>
                </a:lnTo>
                <a:lnTo>
                  <a:pt x="0" y="293091"/>
                </a:lnTo>
                <a:lnTo>
                  <a:pt x="2143" y="344096"/>
                </a:lnTo>
                <a:lnTo>
                  <a:pt x="8573" y="391888"/>
                </a:lnTo>
                <a:lnTo>
                  <a:pt x="19289" y="436469"/>
                </a:lnTo>
                <a:lnTo>
                  <a:pt x="34292" y="477837"/>
                </a:lnTo>
                <a:lnTo>
                  <a:pt x="52920" y="514452"/>
                </a:lnTo>
                <a:lnTo>
                  <a:pt x="99062" y="568799"/>
                </a:lnTo>
                <a:lnTo>
                  <a:pt x="126578" y="586531"/>
                </a:lnTo>
                <a:lnTo>
                  <a:pt x="132308" y="572640"/>
                </a:lnTo>
                <a:lnTo>
                  <a:pt x="110235" y="554821"/>
                </a:lnTo>
                <a:lnTo>
                  <a:pt x="90723" y="531576"/>
                </a:lnTo>
                <a:lnTo>
                  <a:pt x="59382" y="468807"/>
                </a:lnTo>
                <a:lnTo>
                  <a:pt x="47911" y="430240"/>
                </a:lnTo>
                <a:lnTo>
                  <a:pt x="39718" y="388155"/>
                </a:lnTo>
                <a:lnTo>
                  <a:pt x="34802" y="342555"/>
                </a:lnTo>
                <a:lnTo>
                  <a:pt x="33163" y="293438"/>
                </a:lnTo>
                <a:lnTo>
                  <a:pt x="34818" y="243535"/>
                </a:lnTo>
                <a:lnTo>
                  <a:pt x="39783" y="197485"/>
                </a:lnTo>
                <a:lnTo>
                  <a:pt x="48058" y="155287"/>
                </a:lnTo>
                <a:lnTo>
                  <a:pt x="59643" y="116941"/>
                </a:lnTo>
                <a:lnTo>
                  <a:pt x="91048" y="54759"/>
                </a:lnTo>
                <a:lnTo>
                  <a:pt x="132308" y="13889"/>
                </a:lnTo>
                <a:lnTo>
                  <a:pt x="126578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607558" y="2911347"/>
            <a:ext cx="26098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0000FF"/>
                </a:solidFill>
                <a:latin typeface="Cambria Math"/>
                <a:cs typeface="Cambria Math"/>
              </a:rPr>
              <a:t>𝑨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42508" y="3086100"/>
            <a:ext cx="224154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>
                <a:solidFill>
                  <a:srgbClr val="0000FF"/>
                </a:solidFill>
                <a:latin typeface="Cambria Math"/>
                <a:cs typeface="Cambria Math"/>
              </a:rPr>
              <a:t>𝒊𝒋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93764" y="317753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 h="0">
                <a:moveTo>
                  <a:pt x="0" y="0"/>
                </a:moveTo>
                <a:lnTo>
                  <a:pt x="495299" y="0"/>
                </a:lnTo>
              </a:path>
            </a:pathLst>
          </a:custGeom>
          <a:ln w="254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134671" y="2673603"/>
            <a:ext cx="86169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6706" sz="4200">
                <a:solidFill>
                  <a:srgbClr val="0000FF"/>
                </a:solidFill>
                <a:latin typeface="Cambria Math"/>
                <a:cs typeface="Cambria Math"/>
              </a:rPr>
              <a:t>−</a:t>
            </a:r>
            <a:r>
              <a:rPr dirty="0" baseline="-36706" sz="4200" spc="-135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2000" spc="25">
                <a:solidFill>
                  <a:srgbClr val="0000FF"/>
                </a:solidFill>
                <a:latin typeface="Cambria Math"/>
                <a:cs typeface="Cambria Math"/>
              </a:rPr>
              <a:t>𝒌</a:t>
            </a:r>
            <a:r>
              <a:rPr dirty="0" baseline="-14705" sz="2550" spc="37">
                <a:solidFill>
                  <a:srgbClr val="0000FF"/>
                </a:solidFill>
                <a:latin typeface="Cambria Math"/>
                <a:cs typeface="Cambria Math"/>
              </a:rPr>
              <a:t>𝒊</a:t>
            </a:r>
            <a:r>
              <a:rPr dirty="0" sz="2000" spc="25">
                <a:solidFill>
                  <a:srgbClr val="0000FF"/>
                </a:solidFill>
                <a:latin typeface="Cambria Math"/>
                <a:cs typeface="Cambria Math"/>
              </a:rPr>
              <a:t>𝒌</a:t>
            </a:r>
            <a:r>
              <a:rPr dirty="0" baseline="-14705" sz="2550" spc="37">
                <a:solidFill>
                  <a:srgbClr val="0000FF"/>
                </a:solidFill>
                <a:latin typeface="Cambria Math"/>
                <a:cs typeface="Cambria Math"/>
              </a:rPr>
              <a:t>𝒋</a:t>
            </a:r>
            <a:endParaRPr baseline="-14705" sz="25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21114" y="3189732"/>
            <a:ext cx="413004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21735" algn="l"/>
              </a:tabLst>
            </a:pPr>
            <a:r>
              <a:rPr dirty="0" sz="2000">
                <a:solidFill>
                  <a:srgbClr val="0000FF"/>
                </a:solidFill>
                <a:latin typeface="Cambria Math"/>
                <a:cs typeface="Cambria Math"/>
              </a:rPr>
              <a:t>𝟐𝒎	</a:t>
            </a:r>
            <a:r>
              <a:rPr dirty="0" sz="2000" spc="0">
                <a:solidFill>
                  <a:srgbClr val="0000FF"/>
                </a:solidFill>
                <a:latin typeface="Cambria Math"/>
                <a:cs typeface="Cambria Math"/>
              </a:rPr>
              <a:t>𝟐𝒎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45302" y="3553459"/>
            <a:ext cx="1702435" cy="812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A</a:t>
            </a:r>
            <a:r>
              <a:rPr dirty="0" baseline="-13888" sz="1800" spc="-7">
                <a:solidFill>
                  <a:srgbClr val="008000"/>
                </a:solidFill>
                <a:latin typeface="Arial"/>
                <a:cs typeface="Arial"/>
              </a:rPr>
              <a:t>ij </a:t>
            </a:r>
            <a:r>
              <a:rPr dirty="0" sz="1800">
                <a:solidFill>
                  <a:srgbClr val="008000"/>
                </a:solidFill>
                <a:latin typeface="Arial"/>
                <a:cs typeface="Arial"/>
              </a:rPr>
              <a:t>= 1 if</a:t>
            </a:r>
            <a:r>
              <a:rPr dirty="0" sz="1800" spc="-9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i</a:t>
            </a:r>
            <a:r>
              <a:rPr dirty="0" sz="1800" spc="-5">
                <a:solidFill>
                  <a:srgbClr val="008000"/>
                </a:solidFill>
                <a:latin typeface="Symbol"/>
                <a:cs typeface="Symbol"/>
              </a:rPr>
              <a:t>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j,</a:t>
            </a:r>
            <a:endParaRPr sz="1800">
              <a:latin typeface="Arial"/>
              <a:cs typeface="Arial"/>
            </a:endParaRPr>
          </a:p>
          <a:p>
            <a:pPr marL="520700">
              <a:lnSpc>
                <a:spcPts val="2125"/>
              </a:lnSpc>
            </a:pPr>
            <a:r>
              <a:rPr dirty="0" sz="1800">
                <a:solidFill>
                  <a:srgbClr val="008000"/>
                </a:solidFill>
                <a:latin typeface="Arial"/>
                <a:cs typeface="Arial"/>
              </a:rPr>
              <a:t>0</a:t>
            </a:r>
            <a:r>
              <a:rPr dirty="0" sz="1800" spc="-8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otherwise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(if 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G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is</a:t>
            </a:r>
            <a:r>
              <a:rPr dirty="0" sz="1600" spc="-6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weighted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45302" y="4340859"/>
            <a:ext cx="12052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then A</a:t>
            </a:r>
            <a:r>
              <a:rPr dirty="0" baseline="-15151" sz="1650" spc="-7">
                <a:solidFill>
                  <a:srgbClr val="008000"/>
                </a:solidFill>
                <a:latin typeface="Arial"/>
                <a:cs typeface="Arial"/>
              </a:rPr>
              <a:t>ij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is</a:t>
            </a:r>
            <a:r>
              <a:rPr dirty="0" sz="1600" spc="-14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the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56563" y="4523739"/>
            <a:ext cx="7917180" cy="2061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ts val="318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It is </a:t>
            </a:r>
            <a:r>
              <a:rPr dirty="0" sz="2800" spc="-10">
                <a:latin typeface="Calibri"/>
                <a:cs typeface="Calibri"/>
              </a:rPr>
              <a:t>positive </a:t>
            </a:r>
            <a:r>
              <a:rPr dirty="0" sz="2800" spc="-5">
                <a:latin typeface="Calibri"/>
                <a:cs typeface="Calibri"/>
              </a:rPr>
              <a:t>if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-5">
                <a:latin typeface="Calibri"/>
                <a:cs typeface="Calibri"/>
              </a:rPr>
              <a:t>number of </a:t>
            </a:r>
            <a:r>
              <a:rPr dirty="0" sz="2800" spc="-10">
                <a:latin typeface="Calibri"/>
                <a:cs typeface="Calibri"/>
              </a:rPr>
              <a:t>edges </a:t>
            </a:r>
            <a:r>
              <a:rPr dirty="0" sz="2800" spc="-5">
                <a:latin typeface="Calibri"/>
                <a:cs typeface="Calibri"/>
              </a:rPr>
              <a:t>within </a:t>
            </a:r>
            <a:r>
              <a:rPr dirty="0" baseline="26041" sz="2400" spc="-7">
                <a:solidFill>
                  <a:srgbClr val="008000"/>
                </a:solidFill>
                <a:latin typeface="Arial"/>
                <a:cs typeface="Arial"/>
              </a:rPr>
              <a:t>edge</a:t>
            </a:r>
            <a:r>
              <a:rPr dirty="0" baseline="26041" sz="2400" spc="-352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baseline="26041" sz="2400" spc="-7">
                <a:solidFill>
                  <a:srgbClr val="008000"/>
                </a:solidFill>
                <a:latin typeface="Arial"/>
                <a:cs typeface="Arial"/>
              </a:rPr>
              <a:t>weight)</a:t>
            </a:r>
            <a:endParaRPr baseline="26041" sz="2400">
              <a:latin typeface="Arial"/>
              <a:cs typeface="Arial"/>
            </a:endParaRPr>
          </a:p>
          <a:p>
            <a:pPr marL="287020">
              <a:lnSpc>
                <a:spcPts val="3180"/>
              </a:lnSpc>
            </a:pPr>
            <a:r>
              <a:rPr dirty="0" sz="2800" spc="-15">
                <a:latin typeface="Calibri"/>
                <a:cs typeface="Calibri"/>
              </a:rPr>
              <a:t>groups </a:t>
            </a:r>
            <a:r>
              <a:rPr dirty="0" sz="2800" spc="-20">
                <a:latin typeface="Calibri"/>
                <a:cs typeface="Calibri"/>
              </a:rPr>
              <a:t>exceeds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expected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number</a:t>
            </a:r>
            <a:endParaRPr sz="2800">
              <a:latin typeface="Calibri"/>
              <a:cs typeface="Calibri"/>
            </a:endParaRPr>
          </a:p>
          <a:p>
            <a:pPr marL="287020" marR="19050" indent="-274320">
              <a:lnSpc>
                <a:spcPts val="3000"/>
              </a:lnSpc>
              <a:spcBef>
                <a:spcPts val="73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b="1">
                <a:latin typeface="Calibri"/>
                <a:cs typeface="Calibri"/>
              </a:rPr>
              <a:t>Q </a:t>
            </a:r>
            <a:r>
              <a:rPr dirty="0" sz="2800" spc="-20">
                <a:latin typeface="Calibri"/>
                <a:cs typeface="Calibri"/>
              </a:rPr>
              <a:t>greater </a:t>
            </a:r>
            <a:r>
              <a:rPr dirty="0" sz="2800" spc="-5">
                <a:latin typeface="Calibri"/>
                <a:cs typeface="Calibri"/>
              </a:rPr>
              <a:t>than </a:t>
            </a:r>
            <a:r>
              <a:rPr dirty="0" sz="2800" b="1">
                <a:latin typeface="Calibri"/>
                <a:cs typeface="Calibri"/>
              </a:rPr>
              <a:t>0.3-0.7 </a:t>
            </a:r>
            <a:r>
              <a:rPr dirty="0" sz="2800" spc="-5">
                <a:latin typeface="Calibri"/>
                <a:cs typeface="Calibri"/>
              </a:rPr>
              <a:t>means </a:t>
            </a:r>
            <a:r>
              <a:rPr dirty="0" sz="2800" spc="-10" b="1">
                <a:latin typeface="Calibri"/>
                <a:cs typeface="Calibri"/>
              </a:rPr>
              <a:t>significant </a:t>
            </a:r>
            <a:r>
              <a:rPr dirty="0" sz="2800" spc="-65" b="1">
                <a:latin typeface="Calibri"/>
                <a:cs typeface="Calibri"/>
              </a:rPr>
              <a:t>community  </a:t>
            </a:r>
            <a:r>
              <a:rPr dirty="0" sz="2800" spc="-10" b="1">
                <a:latin typeface="Calibri"/>
                <a:cs typeface="Calibri"/>
              </a:rPr>
              <a:t>structure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29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200" spc="-5" b="1">
                <a:solidFill>
                  <a:srgbClr val="008000"/>
                </a:solidFill>
                <a:latin typeface="Calibri"/>
                <a:cs typeface="Calibri"/>
              </a:rPr>
              <a:t>Notice Modularity applies </a:t>
            </a:r>
            <a:r>
              <a:rPr dirty="0" sz="2200" spc="-15" b="1">
                <a:solidFill>
                  <a:srgbClr val="008000"/>
                </a:solidFill>
                <a:latin typeface="Calibri"/>
                <a:cs typeface="Calibri"/>
              </a:rPr>
              <a:t>to weighted </a:t>
            </a:r>
            <a:r>
              <a:rPr dirty="0" sz="2200" spc="-5" b="1">
                <a:solidFill>
                  <a:srgbClr val="008000"/>
                </a:solidFill>
                <a:latin typeface="Calibri"/>
                <a:cs typeface="Calibri"/>
              </a:rPr>
              <a:t>and </a:t>
            </a:r>
            <a:r>
              <a:rPr dirty="0" sz="2200" spc="-15" b="1">
                <a:solidFill>
                  <a:srgbClr val="008000"/>
                </a:solidFill>
                <a:latin typeface="Calibri"/>
                <a:cs typeface="Calibri"/>
              </a:rPr>
              <a:t>unweighted</a:t>
            </a:r>
            <a:r>
              <a:rPr dirty="0" sz="2200" spc="110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200" spc="-50" b="1">
                <a:solidFill>
                  <a:srgbClr val="008000"/>
                </a:solidFill>
                <a:latin typeface="Calibri"/>
                <a:cs typeface="Calibri"/>
              </a:rPr>
              <a:t>networks.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761488" y="3591080"/>
            <a:ext cx="533400" cy="133350"/>
          </a:xfrm>
          <a:custGeom>
            <a:avLst/>
            <a:gdLst/>
            <a:ahLst/>
            <a:cxnLst/>
            <a:rect l="l" t="t" r="r" b="b"/>
            <a:pathLst>
              <a:path w="533400" h="133350">
                <a:moveTo>
                  <a:pt x="533400" y="0"/>
                </a:moveTo>
                <a:lnTo>
                  <a:pt x="523544" y="25952"/>
                </a:lnTo>
                <a:lnTo>
                  <a:pt x="496667" y="47146"/>
                </a:lnTo>
                <a:lnTo>
                  <a:pt x="456803" y="61435"/>
                </a:lnTo>
                <a:lnTo>
                  <a:pt x="407986" y="66675"/>
                </a:lnTo>
                <a:lnTo>
                  <a:pt x="393126" y="66675"/>
                </a:lnTo>
                <a:lnTo>
                  <a:pt x="344309" y="71914"/>
                </a:lnTo>
                <a:lnTo>
                  <a:pt x="304445" y="86203"/>
                </a:lnTo>
                <a:lnTo>
                  <a:pt x="277568" y="107397"/>
                </a:lnTo>
                <a:lnTo>
                  <a:pt x="267713" y="133350"/>
                </a:lnTo>
                <a:lnTo>
                  <a:pt x="257857" y="107397"/>
                </a:lnTo>
                <a:lnTo>
                  <a:pt x="230980" y="86203"/>
                </a:lnTo>
                <a:lnTo>
                  <a:pt x="191116" y="71914"/>
                </a:lnTo>
                <a:lnTo>
                  <a:pt x="142300" y="66675"/>
                </a:lnTo>
                <a:lnTo>
                  <a:pt x="125413" y="66675"/>
                </a:lnTo>
                <a:lnTo>
                  <a:pt x="76596" y="61435"/>
                </a:lnTo>
                <a:lnTo>
                  <a:pt x="36732" y="47146"/>
                </a:lnTo>
                <a:lnTo>
                  <a:pt x="9855" y="25952"/>
                </a:lnTo>
                <a:lnTo>
                  <a:pt x="0" y="0"/>
                </a:lnTo>
              </a:path>
            </a:pathLst>
          </a:custGeom>
          <a:ln w="28575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18108" y="3675760"/>
            <a:ext cx="6327775" cy="82867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996950">
              <a:lnSpc>
                <a:spcPct val="100000"/>
              </a:lnSpc>
              <a:spcBef>
                <a:spcPts val="215"/>
              </a:spcBef>
            </a:pP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Normalizing const.: </a:t>
            </a: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−1 ≤ 𝑄  ≤</a:t>
            </a:r>
            <a:r>
              <a:rPr dirty="0" sz="1800" spc="25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  <a:p>
            <a:pPr marL="332740" indent="-320040">
              <a:lnSpc>
                <a:spcPct val="100000"/>
              </a:lnSpc>
              <a:spcBef>
                <a:spcPts val="20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Modularity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values </a:t>
            </a:r>
            <a:r>
              <a:rPr dirty="0" sz="3200" spc="-35" b="1">
                <a:solidFill>
                  <a:srgbClr val="D60093"/>
                </a:solidFill>
                <a:latin typeface="Calibri"/>
                <a:cs typeface="Calibri"/>
              </a:rPr>
              <a:t>take </a:t>
            </a:r>
            <a:r>
              <a:rPr dirty="0" sz="3200" spc="-30" b="1">
                <a:solidFill>
                  <a:srgbClr val="D60093"/>
                </a:solidFill>
                <a:latin typeface="Calibri"/>
                <a:cs typeface="Calibri"/>
              </a:rPr>
              <a:t>range</a:t>
            </a:r>
            <a:r>
              <a:rPr dirty="0" sz="3200" spc="3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[−1,1]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25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69696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11014" y="1781072"/>
            <a:ext cx="921385" cy="376555"/>
          </a:xfrm>
          <a:custGeom>
            <a:avLst/>
            <a:gdLst/>
            <a:ahLst/>
            <a:cxnLst/>
            <a:rect l="l" t="t" r="r" b="b"/>
            <a:pathLst>
              <a:path w="921385" h="376555">
                <a:moveTo>
                  <a:pt x="800964" y="0"/>
                </a:moveTo>
                <a:lnTo>
                  <a:pt x="795606" y="15279"/>
                </a:lnTo>
                <a:lnTo>
                  <a:pt x="817398" y="24736"/>
                </a:lnTo>
                <a:lnTo>
                  <a:pt x="836138" y="37826"/>
                </a:lnTo>
                <a:lnTo>
                  <a:pt x="864464" y="74909"/>
                </a:lnTo>
                <a:lnTo>
                  <a:pt x="881133" y="124940"/>
                </a:lnTo>
                <a:lnTo>
                  <a:pt x="886689" y="186331"/>
                </a:lnTo>
                <a:lnTo>
                  <a:pt x="885294" y="219533"/>
                </a:lnTo>
                <a:lnTo>
                  <a:pt x="874132" y="276782"/>
                </a:lnTo>
                <a:lnTo>
                  <a:pt x="851733" y="321493"/>
                </a:lnTo>
                <a:lnTo>
                  <a:pt x="817652" y="351655"/>
                </a:lnTo>
                <a:lnTo>
                  <a:pt x="796202" y="361156"/>
                </a:lnTo>
                <a:lnTo>
                  <a:pt x="800964" y="376435"/>
                </a:lnTo>
                <a:lnTo>
                  <a:pt x="852310" y="352349"/>
                </a:lnTo>
                <a:lnTo>
                  <a:pt x="890062" y="310653"/>
                </a:lnTo>
                <a:lnTo>
                  <a:pt x="913280" y="254818"/>
                </a:lnTo>
                <a:lnTo>
                  <a:pt x="921019" y="188316"/>
                </a:lnTo>
                <a:lnTo>
                  <a:pt x="919078" y="153807"/>
                </a:lnTo>
                <a:lnTo>
                  <a:pt x="903550" y="92638"/>
                </a:lnTo>
                <a:lnTo>
                  <a:pt x="872755" y="42843"/>
                </a:lnTo>
                <a:lnTo>
                  <a:pt x="828256" y="9853"/>
                </a:lnTo>
                <a:lnTo>
                  <a:pt x="800964" y="0"/>
                </a:lnTo>
                <a:close/>
              </a:path>
              <a:path w="921385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7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64145" y="1665732"/>
            <a:ext cx="1732914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9425" algn="l"/>
                <a:tab pos="1416050" algn="l"/>
              </a:tabLst>
            </a:pPr>
            <a:r>
              <a:rPr dirty="0" sz="3200">
                <a:solidFill>
                  <a:srgbClr val="0000FF"/>
                </a:solidFill>
                <a:latin typeface="Cambria Math"/>
                <a:cs typeface="Cambria Math"/>
              </a:rPr>
              <a:t>𝑸	𝑮,</a:t>
            </a:r>
            <a:r>
              <a:rPr dirty="0" sz="3200" spc="-165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3200">
                <a:solidFill>
                  <a:srgbClr val="0000FF"/>
                </a:solidFill>
                <a:latin typeface="Cambria Math"/>
                <a:cs typeface="Cambria Math"/>
              </a:rPr>
              <a:t>𝑺	=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01264" y="1971039"/>
            <a:ext cx="622300" cy="0"/>
          </a:xfrm>
          <a:custGeom>
            <a:avLst/>
            <a:gdLst/>
            <a:ahLst/>
            <a:cxnLst/>
            <a:rect l="l" t="t" r="r" b="b"/>
            <a:pathLst>
              <a:path w="622300" h="0">
                <a:moveTo>
                  <a:pt x="0" y="0"/>
                </a:moveTo>
                <a:lnTo>
                  <a:pt x="622300" y="0"/>
                </a:lnTo>
              </a:path>
            </a:pathLst>
          </a:custGeom>
          <a:ln w="254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984055" y="1937004"/>
            <a:ext cx="64516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">
                <a:solidFill>
                  <a:srgbClr val="0000FF"/>
                </a:solidFill>
                <a:latin typeface="Cambria Math"/>
                <a:cs typeface="Cambria Math"/>
              </a:rPr>
              <a:t>𝟐𝒎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72142" y="1357884"/>
            <a:ext cx="106299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1175" algn="l"/>
              </a:tabLst>
            </a:pPr>
            <a:r>
              <a:rPr dirty="0" sz="3200">
                <a:solidFill>
                  <a:srgbClr val="0000FF"/>
                </a:solidFill>
                <a:latin typeface="Cambria Math"/>
                <a:cs typeface="Cambria Math"/>
              </a:rPr>
              <a:t>𝟏	</a:t>
            </a:r>
            <a:r>
              <a:rPr dirty="0" baseline="-41666" sz="4800" spc="5084">
                <a:solidFill>
                  <a:srgbClr val="0000FF"/>
                </a:solidFill>
                <a:latin typeface="Cambria Math"/>
                <a:cs typeface="Cambria Math"/>
              </a:rPr>
              <a:t>;</a:t>
            </a:r>
            <a:endParaRPr baseline="-41666" sz="4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89477" y="2298192"/>
            <a:ext cx="52451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15">
                <a:solidFill>
                  <a:srgbClr val="0000FF"/>
                </a:solidFill>
                <a:latin typeface="Cambria Math"/>
                <a:cs typeface="Cambria Math"/>
              </a:rPr>
              <a:t>𝒔</a:t>
            </a:r>
            <a:r>
              <a:rPr dirty="0" sz="2300" spc="10">
                <a:solidFill>
                  <a:srgbClr val="0000FF"/>
                </a:solidFill>
                <a:latin typeface="Cambria Math"/>
                <a:cs typeface="Cambria Math"/>
              </a:rPr>
              <a:t>∈</a:t>
            </a:r>
            <a:r>
              <a:rPr dirty="0" sz="2300">
                <a:solidFill>
                  <a:srgbClr val="0000FF"/>
                </a:solidFill>
                <a:latin typeface="Cambria Math"/>
                <a:cs typeface="Cambria Math"/>
              </a:rPr>
              <a:t>𝑺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90123" y="1464299"/>
            <a:ext cx="1158240" cy="1210310"/>
          </a:xfrm>
          <a:prstGeom prst="rect">
            <a:avLst/>
          </a:prstGeom>
        </p:spPr>
        <p:txBody>
          <a:bodyPr wrap="square" lIns="0" tIns="2139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85"/>
              </a:spcBef>
            </a:pPr>
            <a:r>
              <a:rPr dirty="0" sz="3200" spc="3390">
                <a:solidFill>
                  <a:srgbClr val="0000FF"/>
                </a:solidFill>
                <a:latin typeface="Cambria Math"/>
                <a:cs typeface="Cambria Math"/>
              </a:rPr>
              <a:t>;</a:t>
            </a:r>
            <a:r>
              <a:rPr dirty="0" sz="3200" spc="-27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3200" spc="3390">
                <a:solidFill>
                  <a:srgbClr val="0000FF"/>
                </a:solidFill>
                <a:latin typeface="Cambria Math"/>
                <a:cs typeface="Cambria Math"/>
              </a:rPr>
              <a:t>;</a:t>
            </a:r>
            <a:endParaRPr sz="3200">
              <a:latin typeface="Cambria Math"/>
              <a:cs typeface="Cambria Math"/>
            </a:endParaRPr>
          </a:p>
          <a:p>
            <a:pPr marL="47625">
              <a:lnSpc>
                <a:spcPct val="100000"/>
              </a:lnSpc>
              <a:spcBef>
                <a:spcPts val="1135"/>
              </a:spcBef>
              <a:tabLst>
                <a:tab pos="650875" algn="l"/>
              </a:tabLst>
            </a:pPr>
            <a:r>
              <a:rPr dirty="0" sz="2300">
                <a:solidFill>
                  <a:srgbClr val="0000FF"/>
                </a:solidFill>
                <a:latin typeface="Cambria Math"/>
                <a:cs typeface="Cambria Math"/>
              </a:rPr>
              <a:t>𝒊∈𝒔	</a:t>
            </a:r>
            <a:r>
              <a:rPr dirty="0" sz="2300" spc="0">
                <a:solidFill>
                  <a:srgbClr val="0000FF"/>
                </a:solidFill>
                <a:latin typeface="Cambria Math"/>
                <a:cs typeface="Cambria Math"/>
              </a:rPr>
              <a:t>𝒋∈𝒔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536442" y="1451189"/>
            <a:ext cx="2152015" cy="1036319"/>
          </a:xfrm>
          <a:custGeom>
            <a:avLst/>
            <a:gdLst/>
            <a:ahLst/>
            <a:cxnLst/>
            <a:rect l="l" t="t" r="r" b="b"/>
            <a:pathLst>
              <a:path w="2152015" h="1036319">
                <a:moveTo>
                  <a:pt x="1974344" y="0"/>
                </a:moveTo>
                <a:lnTo>
                  <a:pt x="1965017" y="14881"/>
                </a:lnTo>
                <a:lnTo>
                  <a:pt x="1991767" y="46005"/>
                </a:lnTo>
                <a:lnTo>
                  <a:pt x="2015976" y="82065"/>
                </a:lnTo>
                <a:lnTo>
                  <a:pt x="2037646" y="123062"/>
                </a:lnTo>
                <a:lnTo>
                  <a:pt x="2056775" y="168997"/>
                </a:lnTo>
                <a:lnTo>
                  <a:pt x="2073365" y="219868"/>
                </a:lnTo>
                <a:lnTo>
                  <a:pt x="2085067" y="265184"/>
                </a:lnTo>
                <a:lnTo>
                  <a:pt x="2094641" y="312230"/>
                </a:lnTo>
                <a:lnTo>
                  <a:pt x="2102088" y="361007"/>
                </a:lnTo>
                <a:lnTo>
                  <a:pt x="2107407" y="411515"/>
                </a:lnTo>
                <a:lnTo>
                  <a:pt x="2110599" y="463753"/>
                </a:lnTo>
                <a:lnTo>
                  <a:pt x="2111663" y="517723"/>
                </a:lnTo>
                <a:lnTo>
                  <a:pt x="2110605" y="570606"/>
                </a:lnTo>
                <a:lnTo>
                  <a:pt x="2107430" y="622101"/>
                </a:lnTo>
                <a:lnTo>
                  <a:pt x="2102138" y="672206"/>
                </a:lnTo>
                <a:lnTo>
                  <a:pt x="2094730" y="720922"/>
                </a:lnTo>
                <a:lnTo>
                  <a:pt x="2085205" y="768249"/>
                </a:lnTo>
                <a:lnTo>
                  <a:pt x="2073563" y="814188"/>
                </a:lnTo>
                <a:lnTo>
                  <a:pt x="2057029" y="865916"/>
                </a:lnTo>
                <a:lnTo>
                  <a:pt x="2037908" y="912518"/>
                </a:lnTo>
                <a:lnTo>
                  <a:pt x="2016198" y="953992"/>
                </a:lnTo>
                <a:lnTo>
                  <a:pt x="1991902" y="990338"/>
                </a:lnTo>
                <a:lnTo>
                  <a:pt x="1965017" y="1021556"/>
                </a:lnTo>
                <a:lnTo>
                  <a:pt x="1974344" y="1036239"/>
                </a:lnTo>
                <a:lnTo>
                  <a:pt x="2005622" y="1005613"/>
                </a:lnTo>
                <a:lnTo>
                  <a:pt x="2034209" y="969295"/>
                </a:lnTo>
                <a:lnTo>
                  <a:pt x="2060105" y="927286"/>
                </a:lnTo>
                <a:lnTo>
                  <a:pt x="2083310" y="879586"/>
                </a:lnTo>
                <a:lnTo>
                  <a:pt x="2103825" y="826194"/>
                </a:lnTo>
                <a:lnTo>
                  <a:pt x="2118468" y="778566"/>
                </a:lnTo>
                <a:lnTo>
                  <a:pt x="2130448" y="729411"/>
                </a:lnTo>
                <a:lnTo>
                  <a:pt x="2139766" y="678730"/>
                </a:lnTo>
                <a:lnTo>
                  <a:pt x="2146422" y="626521"/>
                </a:lnTo>
                <a:lnTo>
                  <a:pt x="2150416" y="572786"/>
                </a:lnTo>
                <a:lnTo>
                  <a:pt x="2151747" y="517525"/>
                </a:lnTo>
                <a:lnTo>
                  <a:pt x="2150416" y="461532"/>
                </a:lnTo>
                <a:lnTo>
                  <a:pt x="2146422" y="407325"/>
                </a:lnTo>
                <a:lnTo>
                  <a:pt x="2139766" y="354905"/>
                </a:lnTo>
                <a:lnTo>
                  <a:pt x="2130448" y="304270"/>
                </a:lnTo>
                <a:lnTo>
                  <a:pt x="2118468" y="255421"/>
                </a:lnTo>
                <a:lnTo>
                  <a:pt x="2103825" y="208358"/>
                </a:lnTo>
                <a:lnTo>
                  <a:pt x="2083310" y="155701"/>
                </a:lnTo>
                <a:lnTo>
                  <a:pt x="2060105" y="108536"/>
                </a:lnTo>
                <a:lnTo>
                  <a:pt x="2034209" y="66865"/>
                </a:lnTo>
                <a:lnTo>
                  <a:pt x="2005622" y="30686"/>
                </a:lnTo>
                <a:lnTo>
                  <a:pt x="1974344" y="0"/>
                </a:lnTo>
                <a:close/>
              </a:path>
              <a:path w="2152015" h="1036319">
                <a:moveTo>
                  <a:pt x="177397" y="0"/>
                </a:moveTo>
                <a:lnTo>
                  <a:pt x="146120" y="30686"/>
                </a:lnTo>
                <a:lnTo>
                  <a:pt x="117533" y="66865"/>
                </a:lnTo>
                <a:lnTo>
                  <a:pt x="91637" y="108536"/>
                </a:lnTo>
                <a:lnTo>
                  <a:pt x="68431" y="155701"/>
                </a:lnTo>
                <a:lnTo>
                  <a:pt x="47917" y="208358"/>
                </a:lnTo>
                <a:lnTo>
                  <a:pt x="33274" y="255421"/>
                </a:lnTo>
                <a:lnTo>
                  <a:pt x="21293" y="304270"/>
                </a:lnTo>
                <a:lnTo>
                  <a:pt x="11975" y="354905"/>
                </a:lnTo>
                <a:lnTo>
                  <a:pt x="5319" y="407325"/>
                </a:lnTo>
                <a:lnTo>
                  <a:pt x="1326" y="461532"/>
                </a:lnTo>
                <a:lnTo>
                  <a:pt x="0" y="517723"/>
                </a:lnTo>
                <a:lnTo>
                  <a:pt x="1326" y="572786"/>
                </a:lnTo>
                <a:lnTo>
                  <a:pt x="5319" y="626521"/>
                </a:lnTo>
                <a:lnTo>
                  <a:pt x="11975" y="678730"/>
                </a:lnTo>
                <a:lnTo>
                  <a:pt x="21293" y="729411"/>
                </a:lnTo>
                <a:lnTo>
                  <a:pt x="33274" y="778566"/>
                </a:lnTo>
                <a:lnTo>
                  <a:pt x="47917" y="826194"/>
                </a:lnTo>
                <a:lnTo>
                  <a:pt x="68431" y="879586"/>
                </a:lnTo>
                <a:lnTo>
                  <a:pt x="91637" y="927286"/>
                </a:lnTo>
                <a:lnTo>
                  <a:pt x="117533" y="969295"/>
                </a:lnTo>
                <a:lnTo>
                  <a:pt x="146120" y="1005613"/>
                </a:lnTo>
                <a:lnTo>
                  <a:pt x="177397" y="1036239"/>
                </a:lnTo>
                <a:lnTo>
                  <a:pt x="186724" y="1021556"/>
                </a:lnTo>
                <a:lnTo>
                  <a:pt x="159840" y="990338"/>
                </a:lnTo>
                <a:lnTo>
                  <a:pt x="135543" y="953992"/>
                </a:lnTo>
                <a:lnTo>
                  <a:pt x="113834" y="912518"/>
                </a:lnTo>
                <a:lnTo>
                  <a:pt x="94712" y="865916"/>
                </a:lnTo>
                <a:lnTo>
                  <a:pt x="78178" y="814188"/>
                </a:lnTo>
                <a:lnTo>
                  <a:pt x="66537" y="768249"/>
                </a:lnTo>
                <a:lnTo>
                  <a:pt x="57012" y="720922"/>
                </a:lnTo>
                <a:lnTo>
                  <a:pt x="49603" y="672206"/>
                </a:lnTo>
                <a:lnTo>
                  <a:pt x="44312" y="622101"/>
                </a:lnTo>
                <a:lnTo>
                  <a:pt x="41137" y="570606"/>
                </a:lnTo>
                <a:lnTo>
                  <a:pt x="40082" y="517525"/>
                </a:lnTo>
                <a:lnTo>
                  <a:pt x="41140" y="463753"/>
                </a:lnTo>
                <a:lnTo>
                  <a:pt x="44323" y="411515"/>
                </a:lnTo>
                <a:lnTo>
                  <a:pt x="49628" y="361007"/>
                </a:lnTo>
                <a:lnTo>
                  <a:pt x="57056" y="312230"/>
                </a:lnTo>
                <a:lnTo>
                  <a:pt x="66606" y="265184"/>
                </a:lnTo>
                <a:lnTo>
                  <a:pt x="78278" y="219868"/>
                </a:lnTo>
                <a:lnTo>
                  <a:pt x="94840" y="168997"/>
                </a:lnTo>
                <a:lnTo>
                  <a:pt x="113965" y="123062"/>
                </a:lnTo>
                <a:lnTo>
                  <a:pt x="135654" y="82065"/>
                </a:lnTo>
                <a:lnTo>
                  <a:pt x="159907" y="46005"/>
                </a:lnTo>
                <a:lnTo>
                  <a:pt x="186724" y="14881"/>
                </a:lnTo>
                <a:lnTo>
                  <a:pt x="177397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735064" y="1971039"/>
            <a:ext cx="762000" cy="0"/>
          </a:xfrm>
          <a:custGeom>
            <a:avLst/>
            <a:gdLst/>
            <a:ahLst/>
            <a:cxnLst/>
            <a:rect l="l" t="t" r="r" b="b"/>
            <a:pathLst>
              <a:path w="762000" h="0">
                <a:moveTo>
                  <a:pt x="0" y="0"/>
                </a:moveTo>
                <a:lnTo>
                  <a:pt x="762000" y="0"/>
                </a:lnTo>
              </a:path>
            </a:pathLst>
          </a:custGeom>
          <a:ln w="254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730681" y="1336548"/>
            <a:ext cx="75184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pc="25" b="0">
                <a:solidFill>
                  <a:srgbClr val="0000FF"/>
                </a:solidFill>
                <a:latin typeface="Cambria Math"/>
                <a:cs typeface="Cambria Math"/>
              </a:rPr>
              <a:t>𝒌</a:t>
            </a:r>
            <a:r>
              <a:rPr dirty="0" baseline="-15700" sz="3450" spc="37" b="0">
                <a:solidFill>
                  <a:srgbClr val="0000FF"/>
                </a:solidFill>
                <a:latin typeface="Cambria Math"/>
                <a:cs typeface="Cambria Math"/>
              </a:rPr>
              <a:t>𝒊</a:t>
            </a:r>
            <a:r>
              <a:rPr dirty="0" sz="3200" spc="25" b="0">
                <a:solidFill>
                  <a:srgbClr val="0000FF"/>
                </a:solidFill>
                <a:latin typeface="Cambria Math"/>
                <a:cs typeface="Cambria Math"/>
              </a:rPr>
              <a:t>𝒌</a:t>
            </a:r>
            <a:r>
              <a:rPr dirty="0" baseline="-15700" sz="3450" spc="37" b="0">
                <a:solidFill>
                  <a:srgbClr val="0000FF"/>
                </a:solidFill>
                <a:latin typeface="Cambria Math"/>
                <a:cs typeface="Cambria Math"/>
              </a:rPr>
              <a:t>𝒋</a:t>
            </a:r>
            <a:endParaRPr baseline="-15700" sz="34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36272" y="1665732"/>
            <a:ext cx="169608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063625" algn="l"/>
              </a:tabLst>
            </a:pPr>
            <a:r>
              <a:rPr dirty="0" sz="3200" spc="-5">
                <a:solidFill>
                  <a:srgbClr val="0000FF"/>
                </a:solidFill>
                <a:latin typeface="Cambria Math"/>
                <a:cs typeface="Cambria Math"/>
              </a:rPr>
              <a:t>𝑨</a:t>
            </a:r>
            <a:r>
              <a:rPr dirty="0" baseline="-15700" sz="3450" spc="0">
                <a:solidFill>
                  <a:srgbClr val="0000FF"/>
                </a:solidFill>
                <a:latin typeface="Cambria Math"/>
                <a:cs typeface="Cambria Math"/>
              </a:rPr>
              <a:t>𝒊</a:t>
            </a:r>
            <a:r>
              <a:rPr dirty="0" baseline="-15700" sz="3450">
                <a:solidFill>
                  <a:srgbClr val="0000FF"/>
                </a:solidFill>
                <a:latin typeface="Cambria Math"/>
                <a:cs typeface="Cambria Math"/>
              </a:rPr>
              <a:t>𝒋</a:t>
            </a:r>
            <a:r>
              <a:rPr dirty="0" baseline="-15700" sz="3450" spc="165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3200">
                <a:solidFill>
                  <a:srgbClr val="0000FF"/>
                </a:solidFill>
                <a:latin typeface="Cambria Math"/>
                <a:cs typeface="Cambria Math"/>
              </a:rPr>
              <a:t>−	</a:t>
            </a:r>
            <a:r>
              <a:rPr dirty="0" baseline="-37326" sz="4800" spc="-7">
                <a:solidFill>
                  <a:srgbClr val="0000FF"/>
                </a:solidFill>
                <a:latin typeface="Cambria Math"/>
                <a:cs typeface="Cambria Math"/>
              </a:rPr>
              <a:t>𝟐𝒎</a:t>
            </a:r>
            <a:endParaRPr baseline="-37326" sz="4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8108" y="2808732"/>
            <a:ext cx="714057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5" b="1">
                <a:latin typeface="Calibri"/>
                <a:cs typeface="Calibri"/>
              </a:rPr>
              <a:t>Equivalently </a:t>
            </a:r>
            <a:r>
              <a:rPr dirty="0" sz="3200" spc="-5" b="1">
                <a:latin typeface="Calibri"/>
                <a:cs typeface="Calibri"/>
              </a:rPr>
              <a:t>modularity </a:t>
            </a:r>
            <a:r>
              <a:rPr dirty="0" sz="3200" spc="-10" b="1">
                <a:latin typeface="Calibri"/>
                <a:cs typeface="Calibri"/>
              </a:rPr>
              <a:t>can </a:t>
            </a:r>
            <a:r>
              <a:rPr dirty="0" sz="3200" spc="-5" b="1">
                <a:latin typeface="Calibri"/>
                <a:cs typeface="Calibri"/>
              </a:rPr>
              <a:t>be </a:t>
            </a:r>
            <a:r>
              <a:rPr dirty="0" sz="3200" spc="-15" b="1">
                <a:latin typeface="Calibri"/>
                <a:cs typeface="Calibri"/>
              </a:rPr>
              <a:t>written</a:t>
            </a:r>
            <a:r>
              <a:rPr dirty="0" sz="3200" spc="5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as: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590800" y="3344781"/>
            <a:ext cx="3520440" cy="9143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295400" y="4259181"/>
            <a:ext cx="6616700" cy="13589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912113" y="5646420"/>
            <a:ext cx="6557645" cy="995044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36345" marR="5080" indent="-1224280">
              <a:lnSpc>
                <a:spcPts val="3790"/>
              </a:lnSpc>
              <a:spcBef>
                <a:spcPts val="265"/>
              </a:spcBef>
            </a:pPr>
            <a:r>
              <a:rPr dirty="0" sz="3200" spc="-5" b="1">
                <a:solidFill>
                  <a:srgbClr val="D60093"/>
                </a:solidFill>
                <a:latin typeface="Corbel"/>
                <a:cs typeface="Corbel"/>
              </a:rPr>
              <a:t>Idea: </a:t>
            </a:r>
            <a:r>
              <a:rPr dirty="0" sz="3200" spc="-60" b="1">
                <a:solidFill>
                  <a:srgbClr val="D60093"/>
                </a:solidFill>
                <a:latin typeface="Corbel"/>
                <a:cs typeface="Corbel"/>
              </a:rPr>
              <a:t>We </a:t>
            </a:r>
            <a:r>
              <a:rPr dirty="0" sz="3200" b="1">
                <a:solidFill>
                  <a:srgbClr val="D60093"/>
                </a:solidFill>
                <a:latin typeface="Corbel"/>
                <a:cs typeface="Corbel"/>
              </a:rPr>
              <a:t>can </a:t>
            </a:r>
            <a:r>
              <a:rPr dirty="0" sz="3200" spc="-5" b="1">
                <a:solidFill>
                  <a:srgbClr val="D60093"/>
                </a:solidFill>
                <a:latin typeface="Corbel"/>
                <a:cs typeface="Corbel"/>
              </a:rPr>
              <a:t>identify communities </a:t>
            </a:r>
            <a:r>
              <a:rPr dirty="0" sz="3200" b="1">
                <a:solidFill>
                  <a:srgbClr val="D60093"/>
                </a:solidFill>
                <a:latin typeface="Corbel"/>
                <a:cs typeface="Corbel"/>
              </a:rPr>
              <a:t>by  </a:t>
            </a:r>
            <a:r>
              <a:rPr dirty="0" sz="3200" spc="-5" b="1">
                <a:solidFill>
                  <a:srgbClr val="D60093"/>
                </a:solidFill>
                <a:latin typeface="Corbel"/>
                <a:cs typeface="Corbel"/>
              </a:rPr>
              <a:t>maximizing</a:t>
            </a:r>
            <a:r>
              <a:rPr dirty="0" sz="3200" spc="-15" b="1">
                <a:solidFill>
                  <a:srgbClr val="D60093"/>
                </a:solidFill>
                <a:latin typeface="Corbel"/>
                <a:cs typeface="Corbel"/>
              </a:rPr>
              <a:t> </a:t>
            </a:r>
            <a:r>
              <a:rPr dirty="0" sz="3200" spc="-5" b="1">
                <a:solidFill>
                  <a:srgbClr val="D60093"/>
                </a:solidFill>
                <a:latin typeface="Corbel"/>
                <a:cs typeface="Corbel"/>
              </a:rPr>
              <a:t>modularity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463224" y="5412040"/>
            <a:ext cx="465455" cy="215265"/>
          </a:xfrm>
          <a:custGeom>
            <a:avLst/>
            <a:gdLst/>
            <a:ahLst/>
            <a:cxnLst/>
            <a:rect l="l" t="t" r="r" b="b"/>
            <a:pathLst>
              <a:path w="465454" h="215264">
                <a:moveTo>
                  <a:pt x="408869" y="0"/>
                </a:moveTo>
                <a:lnTo>
                  <a:pt x="406699" y="7119"/>
                </a:lnTo>
                <a:lnTo>
                  <a:pt x="416566" y="12236"/>
                </a:lnTo>
                <a:lnTo>
                  <a:pt x="425159" y="19685"/>
                </a:lnTo>
                <a:lnTo>
                  <a:pt x="443246" y="55665"/>
                </a:lnTo>
                <a:lnTo>
                  <a:pt x="449325" y="107478"/>
                </a:lnTo>
                <a:lnTo>
                  <a:pt x="448650" y="126304"/>
                </a:lnTo>
                <a:lnTo>
                  <a:pt x="438518" y="173241"/>
                </a:lnTo>
                <a:lnTo>
                  <a:pt x="406699" y="207664"/>
                </a:lnTo>
                <a:lnTo>
                  <a:pt x="408869" y="214783"/>
                </a:lnTo>
                <a:lnTo>
                  <a:pt x="442516" y="191359"/>
                </a:lnTo>
                <a:lnTo>
                  <a:pt x="461632" y="145374"/>
                </a:lnTo>
                <a:lnTo>
                  <a:pt x="465299" y="107392"/>
                </a:lnTo>
                <a:lnTo>
                  <a:pt x="464383" y="87717"/>
                </a:lnTo>
                <a:lnTo>
                  <a:pt x="450628" y="36897"/>
                </a:lnTo>
                <a:lnTo>
                  <a:pt x="421637" y="4975"/>
                </a:lnTo>
                <a:lnTo>
                  <a:pt x="408869" y="0"/>
                </a:lnTo>
                <a:close/>
              </a:path>
              <a:path w="465454" h="215264">
                <a:moveTo>
                  <a:pt x="56427" y="0"/>
                </a:moveTo>
                <a:lnTo>
                  <a:pt x="22780" y="23424"/>
                </a:lnTo>
                <a:lnTo>
                  <a:pt x="3664" y="69409"/>
                </a:lnTo>
                <a:lnTo>
                  <a:pt x="0" y="107478"/>
                </a:lnTo>
                <a:lnTo>
                  <a:pt x="912" y="127066"/>
                </a:lnTo>
                <a:lnTo>
                  <a:pt x="14668" y="177886"/>
                </a:lnTo>
                <a:lnTo>
                  <a:pt x="43659" y="209808"/>
                </a:lnTo>
                <a:lnTo>
                  <a:pt x="56427" y="214783"/>
                </a:lnTo>
                <a:lnTo>
                  <a:pt x="58597" y="207664"/>
                </a:lnTo>
                <a:lnTo>
                  <a:pt x="48730" y="202550"/>
                </a:lnTo>
                <a:lnTo>
                  <a:pt x="40137" y="195109"/>
                </a:lnTo>
                <a:lnTo>
                  <a:pt x="22050" y="159186"/>
                </a:lnTo>
                <a:lnTo>
                  <a:pt x="15973" y="107392"/>
                </a:lnTo>
                <a:lnTo>
                  <a:pt x="16645" y="88612"/>
                </a:lnTo>
                <a:lnTo>
                  <a:pt x="26779" y="41584"/>
                </a:lnTo>
                <a:lnTo>
                  <a:pt x="58597" y="7119"/>
                </a:lnTo>
                <a:lnTo>
                  <a:pt x="564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663705" y="5353811"/>
            <a:ext cx="22009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latin typeface="Arial"/>
                <a:cs typeface="Arial"/>
              </a:rPr>
              <a:t>is </a:t>
            </a:r>
            <a:r>
              <a:rPr dirty="0" sz="1300" spc="-15">
                <a:latin typeface="Arial"/>
                <a:cs typeface="Arial"/>
              </a:rPr>
              <a:t>an </a:t>
            </a:r>
            <a:r>
              <a:rPr dirty="0" sz="1300" spc="-20">
                <a:latin typeface="Arial"/>
                <a:cs typeface="Arial"/>
              </a:rPr>
              <a:t>indicator function  </a:t>
            </a:r>
            <a:r>
              <a:rPr dirty="0" baseline="-7936" sz="2100">
                <a:latin typeface="Cambria Math"/>
                <a:cs typeface="Cambria Math"/>
              </a:rPr>
              <a:t>𝛿  </a:t>
            </a:r>
            <a:r>
              <a:rPr dirty="0" baseline="-7936" sz="2100" spc="37">
                <a:latin typeface="Cambria Math"/>
                <a:cs typeface="Cambria Math"/>
              </a:rPr>
              <a:t>𝑐</a:t>
            </a:r>
            <a:r>
              <a:rPr dirty="0" baseline="-27777" sz="1500" spc="37">
                <a:latin typeface="Cambria Math"/>
                <a:cs typeface="Cambria Math"/>
              </a:rPr>
              <a:t>!</a:t>
            </a:r>
            <a:r>
              <a:rPr dirty="0" baseline="-7936" sz="2100" spc="37">
                <a:latin typeface="Cambria Math"/>
                <a:cs typeface="Cambria Math"/>
              </a:rPr>
              <a:t>,</a:t>
            </a:r>
            <a:r>
              <a:rPr dirty="0" baseline="-7936" sz="2100" spc="-359">
                <a:latin typeface="Cambria Math"/>
                <a:cs typeface="Cambria Math"/>
              </a:rPr>
              <a:t> </a:t>
            </a:r>
            <a:r>
              <a:rPr dirty="0" baseline="-7936" sz="2100" spc="-60">
                <a:latin typeface="Cambria Math"/>
                <a:cs typeface="Cambria Math"/>
              </a:rPr>
              <a:t>𝑐</a:t>
            </a:r>
            <a:r>
              <a:rPr dirty="0" baseline="-27777" sz="1500" spc="-60">
                <a:latin typeface="Cambria Math"/>
                <a:cs typeface="Cambria Math"/>
              </a:rPr>
              <a:t>"</a:t>
            </a:r>
            <a:endParaRPr baseline="-27777" sz="15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80865" y="5378196"/>
            <a:ext cx="154622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Cambria Math"/>
                <a:cs typeface="Cambria Math"/>
              </a:rPr>
              <a:t>= 1 </a:t>
            </a:r>
            <a:r>
              <a:rPr dirty="0" sz="1400" spc="-5">
                <a:latin typeface="Cambria Math"/>
                <a:cs typeface="Cambria Math"/>
              </a:rPr>
              <a:t>𝑖𝑓 </a:t>
            </a:r>
            <a:r>
              <a:rPr dirty="0" sz="1400" spc="10">
                <a:latin typeface="Cambria Math"/>
                <a:cs typeface="Cambria Math"/>
              </a:rPr>
              <a:t>𝑐</a:t>
            </a:r>
            <a:r>
              <a:rPr dirty="0" baseline="-16666" sz="1500" spc="15">
                <a:latin typeface="Cambria Math"/>
                <a:cs typeface="Cambria Math"/>
              </a:rPr>
              <a:t>!  </a:t>
            </a:r>
            <a:r>
              <a:rPr dirty="0" sz="1400">
                <a:latin typeface="Cambria Math"/>
                <a:cs typeface="Cambria Math"/>
              </a:rPr>
              <a:t>= </a:t>
            </a:r>
            <a:r>
              <a:rPr dirty="0" sz="1400" spc="-40">
                <a:latin typeface="Cambria Math"/>
                <a:cs typeface="Cambria Math"/>
              </a:rPr>
              <a:t>𝑐</a:t>
            </a:r>
            <a:r>
              <a:rPr dirty="0" baseline="-16666" sz="1500" spc="-60">
                <a:latin typeface="Cambria Math"/>
                <a:cs typeface="Cambria Math"/>
              </a:rPr>
              <a:t>"  </a:t>
            </a:r>
            <a:r>
              <a:rPr dirty="0" sz="1400" spc="-5">
                <a:latin typeface="Cambria Math"/>
                <a:cs typeface="Cambria Math"/>
              </a:rPr>
              <a:t>𝑒𝑙𝑠𝑒</a:t>
            </a:r>
            <a:r>
              <a:rPr dirty="0" sz="1400" spc="-1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267200" y="1401232"/>
            <a:ext cx="3505200" cy="1358900"/>
          </a:xfrm>
          <a:custGeom>
            <a:avLst/>
            <a:gdLst/>
            <a:ahLst/>
            <a:cxnLst/>
            <a:rect l="l" t="t" r="r" b="b"/>
            <a:pathLst>
              <a:path w="3505200" h="1358900">
                <a:moveTo>
                  <a:pt x="0" y="0"/>
                </a:moveTo>
                <a:lnTo>
                  <a:pt x="3505200" y="0"/>
                </a:lnTo>
                <a:lnTo>
                  <a:pt x="3505200" y="1358900"/>
                </a:lnTo>
                <a:lnTo>
                  <a:pt x="0" y="1358900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295043" y="1050036"/>
            <a:ext cx="19431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008000"/>
                </a:solidFill>
                <a:latin typeface="Arial"/>
                <a:cs typeface="Arial"/>
              </a:rPr>
              <a:t>For each </a:t>
            </a:r>
            <a:r>
              <a:rPr dirty="0" sz="2000" spc="-5">
                <a:solidFill>
                  <a:srgbClr val="008000"/>
                </a:solidFill>
                <a:latin typeface="Arial"/>
                <a:cs typeface="Arial"/>
              </a:rPr>
              <a:t>group</a:t>
            </a:r>
            <a:r>
              <a:rPr dirty="0" sz="2000" spc="-11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08000"/>
                </a:solidFill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25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0831" y="3541776"/>
            <a:ext cx="4724400" cy="12984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51104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4227" y="6694423"/>
            <a:ext cx="4332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31695" algn="l"/>
              </a:tabLst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3/6/21	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</a:t>
            </a:r>
            <a:r>
              <a:rPr dirty="0" sz="900" spc="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Lear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49808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0000FF"/>
                </a:solidFill>
              </a:rPr>
              <a:t>Greedy algorithm </a:t>
            </a:r>
            <a:r>
              <a:rPr dirty="0" spc="-25" b="0">
                <a:latin typeface="Calibri"/>
                <a:cs typeface="Calibri"/>
              </a:rPr>
              <a:t>for </a:t>
            </a:r>
            <a:r>
              <a:rPr dirty="0" spc="-5" b="0">
                <a:latin typeface="Calibri"/>
                <a:cs typeface="Calibri"/>
              </a:rPr>
              <a:t>community</a:t>
            </a:r>
            <a:r>
              <a:rPr dirty="0" spc="35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detection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18108" y="1762505"/>
            <a:ext cx="5995670" cy="1764030"/>
          </a:xfrm>
          <a:prstGeom prst="rect">
            <a:avLst/>
          </a:prstGeom>
        </p:spPr>
        <p:txBody>
          <a:bodyPr wrap="square" lIns="0" tIns="170815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13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10">
                <a:latin typeface="Cambria Math"/>
                <a:cs typeface="Cambria Math"/>
              </a:rPr>
              <a:t>𝑂(𝑛 </a:t>
            </a:r>
            <a:r>
              <a:rPr dirty="0" sz="2800" spc="-5">
                <a:latin typeface="Cambria Math"/>
                <a:cs typeface="Cambria Math"/>
              </a:rPr>
              <a:t>log </a:t>
            </a:r>
            <a:r>
              <a:rPr dirty="0" sz="2800" spc="25">
                <a:latin typeface="Cambria Math"/>
                <a:cs typeface="Cambria Math"/>
              </a:rPr>
              <a:t>𝑛) </a:t>
            </a:r>
            <a:r>
              <a:rPr dirty="0" sz="2800" spc="-5">
                <a:latin typeface="Calibri"/>
                <a:cs typeface="Calibri"/>
              </a:rPr>
              <a:t>run</a:t>
            </a:r>
            <a:r>
              <a:rPr dirty="0" sz="2800" spc="-16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time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29"/>
              </a:lnSpc>
              <a:spcBef>
                <a:spcPts val="142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Supports </a:t>
            </a:r>
            <a:r>
              <a:rPr dirty="0" sz="3200" spc="-15">
                <a:latin typeface="Calibri"/>
                <a:cs typeface="Calibri"/>
              </a:rPr>
              <a:t>weighted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graphs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29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>
                <a:latin typeface="Calibri"/>
                <a:cs typeface="Calibri"/>
              </a:rPr>
              <a:t>Provides hierarchical</a:t>
            </a:r>
            <a:r>
              <a:rPr dirty="0" sz="3200" spc="2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communities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108" y="3686555"/>
            <a:ext cx="4608195" cy="296608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32740" marR="210820" indent="-320040">
              <a:lnSpc>
                <a:spcPct val="101299"/>
              </a:lnSpc>
              <a:spcBef>
                <a:spcPts val="5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Widely </a:t>
            </a:r>
            <a:r>
              <a:rPr dirty="0" sz="3200" spc="-15">
                <a:latin typeface="Calibri"/>
                <a:cs typeface="Calibri"/>
              </a:rPr>
              <a:t>utilized to </a:t>
            </a:r>
            <a:r>
              <a:rPr dirty="0" sz="3200" spc="-10" b="1">
                <a:latin typeface="Calibri"/>
                <a:cs typeface="Calibri"/>
              </a:rPr>
              <a:t>study  </a:t>
            </a:r>
            <a:r>
              <a:rPr dirty="0" sz="3200" spc="-20" b="1">
                <a:latin typeface="Calibri"/>
                <a:cs typeface="Calibri"/>
              </a:rPr>
              <a:t>large </a:t>
            </a:r>
            <a:r>
              <a:rPr dirty="0" sz="3200" spc="-15" b="1">
                <a:latin typeface="Calibri"/>
                <a:cs typeface="Calibri"/>
              </a:rPr>
              <a:t>networks</a:t>
            </a:r>
            <a:r>
              <a:rPr dirty="0" sz="3200" b="1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because: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30">
                <a:latin typeface="Calibri"/>
                <a:cs typeface="Calibri"/>
              </a:rPr>
              <a:t>Fast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Rapid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convergence</a:t>
            </a:r>
            <a:endParaRPr sz="2800">
              <a:latin typeface="Calibri"/>
              <a:cs typeface="Calibri"/>
            </a:endParaRPr>
          </a:p>
          <a:p>
            <a:pPr lvl="1" marL="625475" marR="5080" indent="-274320">
              <a:lnSpc>
                <a:spcPts val="3310"/>
              </a:lnSpc>
              <a:spcBef>
                <a:spcPts val="869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High modularity output  (i.e., </a:t>
            </a:r>
            <a:r>
              <a:rPr dirty="0" sz="2800" spc="-20">
                <a:latin typeface="Calibri"/>
                <a:cs typeface="Calibri"/>
              </a:rPr>
              <a:t>“better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communities”)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3936" y="6712593"/>
            <a:ext cx="397319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35"/>
              </a:lnSpc>
              <a:tabLst>
                <a:tab pos="3858260" algn="l"/>
              </a:tabLst>
            </a:pP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n</a:t>
            </a:r>
            <a:r>
              <a:rPr dirty="0" sz="900" spc="0">
                <a:solidFill>
                  <a:srgbClr val="3F3F3F"/>
                </a:solidFill>
                <a:latin typeface="Calibri"/>
                <a:cs typeface="Calibri"/>
              </a:rPr>
              <a:t>i</a:t>
            </a: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ng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w</a:t>
            </a:r>
            <a:r>
              <a:rPr dirty="0" sz="900" spc="0">
                <a:solidFill>
                  <a:srgbClr val="3F3F3F"/>
                </a:solidFill>
                <a:latin typeface="Calibri"/>
                <a:cs typeface="Calibri"/>
              </a:rPr>
              <a:t>i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t</a:t>
            </a: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h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G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r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phs	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76800" y="6596389"/>
            <a:ext cx="4267200" cy="261620"/>
          </a:xfrm>
          <a:custGeom>
            <a:avLst/>
            <a:gdLst/>
            <a:ahLst/>
            <a:cxnLst/>
            <a:rect l="l" t="t" r="r" b="b"/>
            <a:pathLst>
              <a:path w="4267200" h="261620">
                <a:moveTo>
                  <a:pt x="0" y="0"/>
                </a:moveTo>
                <a:lnTo>
                  <a:pt x="4267200" y="0"/>
                </a:lnTo>
                <a:lnTo>
                  <a:pt x="4267200" y="261609"/>
                </a:lnTo>
                <a:lnTo>
                  <a:pt x="0" y="2616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955540" y="6617207"/>
            <a:ext cx="408749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solidFill>
                  <a:srgbClr val="9D9DA2"/>
                </a:solidFill>
                <a:latin typeface="Corbel"/>
                <a:cs typeface="Corbel"/>
              </a:rPr>
              <a:t>“Fast unfolding </a:t>
            </a:r>
            <a:r>
              <a:rPr dirty="0" sz="1100">
                <a:solidFill>
                  <a:srgbClr val="9D9DA2"/>
                </a:solidFill>
                <a:latin typeface="Corbel"/>
                <a:cs typeface="Corbel"/>
              </a:rPr>
              <a:t>of </a:t>
            </a:r>
            <a:r>
              <a:rPr dirty="0" sz="1100" spc="-5">
                <a:solidFill>
                  <a:srgbClr val="9D9DA2"/>
                </a:solidFill>
                <a:latin typeface="Corbel"/>
                <a:cs typeface="Corbel"/>
              </a:rPr>
              <a:t>communities in large networks” Blondel </a:t>
            </a:r>
            <a:r>
              <a:rPr dirty="0" sz="1100">
                <a:solidFill>
                  <a:srgbClr val="9D9DA2"/>
                </a:solidFill>
                <a:latin typeface="Corbel"/>
                <a:cs typeface="Corbel"/>
              </a:rPr>
              <a:t>et </a:t>
            </a:r>
            <a:r>
              <a:rPr dirty="0" sz="1100" spc="-5">
                <a:solidFill>
                  <a:srgbClr val="9D9DA2"/>
                </a:solidFill>
                <a:latin typeface="Corbel"/>
                <a:cs typeface="Corbel"/>
              </a:rPr>
              <a:t>al.</a:t>
            </a:r>
            <a:r>
              <a:rPr dirty="0" sz="1100" spc="105">
                <a:solidFill>
                  <a:srgbClr val="9D9DA2"/>
                </a:solidFill>
                <a:latin typeface="Corbel"/>
                <a:cs typeface="Corbel"/>
              </a:rPr>
              <a:t> </a:t>
            </a:r>
            <a:r>
              <a:rPr dirty="0" sz="1100" spc="-5">
                <a:solidFill>
                  <a:srgbClr val="9D9DA2"/>
                </a:solidFill>
                <a:latin typeface="Corbel"/>
                <a:cs typeface="Corbel"/>
              </a:rPr>
              <a:t>(2008)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323561" y="3792354"/>
            <a:ext cx="2666999" cy="14654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888480" y="6204811"/>
            <a:ext cx="0" cy="251460"/>
          </a:xfrm>
          <a:custGeom>
            <a:avLst/>
            <a:gdLst/>
            <a:ahLst/>
            <a:cxnLst/>
            <a:rect l="l" t="t" r="r" b="b"/>
            <a:pathLst>
              <a:path w="0" h="251460">
                <a:moveTo>
                  <a:pt x="0" y="251239"/>
                </a:moveTo>
                <a:lnTo>
                  <a:pt x="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400800" y="6458313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39" h="91440">
                <a:moveTo>
                  <a:pt x="0" y="45720"/>
                </a:moveTo>
                <a:lnTo>
                  <a:pt x="3592" y="27923"/>
                </a:lnTo>
                <a:lnTo>
                  <a:pt x="13391" y="13391"/>
                </a:lnTo>
                <a:lnTo>
                  <a:pt x="27923" y="3592"/>
                </a:lnTo>
                <a:lnTo>
                  <a:pt x="45720" y="0"/>
                </a:lnTo>
                <a:lnTo>
                  <a:pt x="63516" y="3592"/>
                </a:lnTo>
                <a:lnTo>
                  <a:pt x="78048" y="13391"/>
                </a:lnTo>
                <a:lnTo>
                  <a:pt x="87847" y="27923"/>
                </a:lnTo>
                <a:lnTo>
                  <a:pt x="91440" y="45720"/>
                </a:lnTo>
                <a:lnTo>
                  <a:pt x="87847" y="63516"/>
                </a:lnTo>
                <a:lnTo>
                  <a:pt x="78048" y="78048"/>
                </a:lnTo>
                <a:lnTo>
                  <a:pt x="63516" y="87847"/>
                </a:lnTo>
                <a:lnTo>
                  <a:pt x="45720" y="91440"/>
                </a:lnTo>
                <a:lnTo>
                  <a:pt x="27923" y="87847"/>
                </a:lnTo>
                <a:lnTo>
                  <a:pt x="13391" y="78048"/>
                </a:lnTo>
                <a:lnTo>
                  <a:pt x="3592" y="63516"/>
                </a:lnTo>
                <a:lnTo>
                  <a:pt x="0" y="4572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614159" y="6456050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45720"/>
                </a:moveTo>
                <a:lnTo>
                  <a:pt x="3592" y="27923"/>
                </a:lnTo>
                <a:lnTo>
                  <a:pt x="13391" y="13391"/>
                </a:lnTo>
                <a:lnTo>
                  <a:pt x="27923" y="3592"/>
                </a:lnTo>
                <a:lnTo>
                  <a:pt x="45720" y="0"/>
                </a:lnTo>
                <a:lnTo>
                  <a:pt x="63516" y="3592"/>
                </a:lnTo>
                <a:lnTo>
                  <a:pt x="78048" y="13391"/>
                </a:lnTo>
                <a:lnTo>
                  <a:pt x="87847" y="27923"/>
                </a:lnTo>
                <a:lnTo>
                  <a:pt x="91440" y="45720"/>
                </a:lnTo>
                <a:lnTo>
                  <a:pt x="87847" y="63516"/>
                </a:lnTo>
                <a:lnTo>
                  <a:pt x="78048" y="78048"/>
                </a:lnTo>
                <a:lnTo>
                  <a:pt x="63516" y="87847"/>
                </a:lnTo>
                <a:lnTo>
                  <a:pt x="45720" y="91440"/>
                </a:lnTo>
                <a:lnTo>
                  <a:pt x="27923" y="87847"/>
                </a:lnTo>
                <a:lnTo>
                  <a:pt x="13391" y="78048"/>
                </a:lnTo>
                <a:lnTo>
                  <a:pt x="3592" y="63516"/>
                </a:lnTo>
                <a:lnTo>
                  <a:pt x="0" y="4572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842759" y="6456050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45720"/>
                </a:moveTo>
                <a:lnTo>
                  <a:pt x="3592" y="27923"/>
                </a:lnTo>
                <a:lnTo>
                  <a:pt x="13391" y="13391"/>
                </a:lnTo>
                <a:lnTo>
                  <a:pt x="27923" y="3592"/>
                </a:lnTo>
                <a:lnTo>
                  <a:pt x="45720" y="0"/>
                </a:lnTo>
                <a:lnTo>
                  <a:pt x="63516" y="3592"/>
                </a:lnTo>
                <a:lnTo>
                  <a:pt x="78048" y="13391"/>
                </a:lnTo>
                <a:lnTo>
                  <a:pt x="87847" y="27923"/>
                </a:lnTo>
                <a:lnTo>
                  <a:pt x="91440" y="45720"/>
                </a:lnTo>
                <a:lnTo>
                  <a:pt x="87847" y="63516"/>
                </a:lnTo>
                <a:lnTo>
                  <a:pt x="78048" y="78048"/>
                </a:lnTo>
                <a:lnTo>
                  <a:pt x="63516" y="87847"/>
                </a:lnTo>
                <a:lnTo>
                  <a:pt x="45720" y="91440"/>
                </a:lnTo>
                <a:lnTo>
                  <a:pt x="27923" y="87847"/>
                </a:lnTo>
                <a:lnTo>
                  <a:pt x="13391" y="78048"/>
                </a:lnTo>
                <a:lnTo>
                  <a:pt x="3592" y="63516"/>
                </a:lnTo>
                <a:lnTo>
                  <a:pt x="0" y="4572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446520" y="6204811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253502"/>
                </a:moveTo>
                <a:lnTo>
                  <a:pt x="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659878" y="6204811"/>
            <a:ext cx="0" cy="251460"/>
          </a:xfrm>
          <a:custGeom>
            <a:avLst/>
            <a:gdLst/>
            <a:ahLst/>
            <a:cxnLst/>
            <a:rect l="l" t="t" r="r" b="b"/>
            <a:pathLst>
              <a:path w="0" h="251460">
                <a:moveTo>
                  <a:pt x="1" y="251239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454140" y="6204811"/>
            <a:ext cx="434340" cy="0"/>
          </a:xfrm>
          <a:custGeom>
            <a:avLst/>
            <a:gdLst/>
            <a:ahLst/>
            <a:cxnLst/>
            <a:rect l="l" t="t" r="r" b="b"/>
            <a:pathLst>
              <a:path w="434340" h="0">
                <a:moveTo>
                  <a:pt x="0" y="0"/>
                </a:moveTo>
                <a:lnTo>
                  <a:pt x="434340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202679" y="6208257"/>
            <a:ext cx="0" cy="251460"/>
          </a:xfrm>
          <a:custGeom>
            <a:avLst/>
            <a:gdLst/>
            <a:ahLst/>
            <a:cxnLst/>
            <a:rect l="l" t="t" r="r" b="b"/>
            <a:pathLst>
              <a:path w="0" h="251460">
                <a:moveTo>
                  <a:pt x="0" y="251239"/>
                </a:moveTo>
                <a:lnTo>
                  <a:pt x="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715000" y="6461759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39" h="91440">
                <a:moveTo>
                  <a:pt x="0" y="45720"/>
                </a:moveTo>
                <a:lnTo>
                  <a:pt x="3592" y="27923"/>
                </a:lnTo>
                <a:lnTo>
                  <a:pt x="13391" y="13391"/>
                </a:lnTo>
                <a:lnTo>
                  <a:pt x="27923" y="3592"/>
                </a:lnTo>
                <a:lnTo>
                  <a:pt x="45720" y="0"/>
                </a:lnTo>
                <a:lnTo>
                  <a:pt x="63516" y="3592"/>
                </a:lnTo>
                <a:lnTo>
                  <a:pt x="78048" y="13391"/>
                </a:lnTo>
                <a:lnTo>
                  <a:pt x="87847" y="27923"/>
                </a:lnTo>
                <a:lnTo>
                  <a:pt x="91440" y="45720"/>
                </a:lnTo>
                <a:lnTo>
                  <a:pt x="87847" y="63516"/>
                </a:lnTo>
                <a:lnTo>
                  <a:pt x="78048" y="78048"/>
                </a:lnTo>
                <a:lnTo>
                  <a:pt x="63516" y="87847"/>
                </a:lnTo>
                <a:lnTo>
                  <a:pt x="45720" y="91440"/>
                </a:lnTo>
                <a:lnTo>
                  <a:pt x="27923" y="87847"/>
                </a:lnTo>
                <a:lnTo>
                  <a:pt x="13391" y="78048"/>
                </a:lnTo>
                <a:lnTo>
                  <a:pt x="3592" y="63516"/>
                </a:lnTo>
                <a:lnTo>
                  <a:pt x="0" y="4572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928359" y="64594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39" h="91440">
                <a:moveTo>
                  <a:pt x="0" y="45720"/>
                </a:moveTo>
                <a:lnTo>
                  <a:pt x="3592" y="27923"/>
                </a:lnTo>
                <a:lnTo>
                  <a:pt x="13391" y="13391"/>
                </a:lnTo>
                <a:lnTo>
                  <a:pt x="27923" y="3592"/>
                </a:lnTo>
                <a:lnTo>
                  <a:pt x="45720" y="0"/>
                </a:lnTo>
                <a:lnTo>
                  <a:pt x="63516" y="3592"/>
                </a:lnTo>
                <a:lnTo>
                  <a:pt x="78048" y="13391"/>
                </a:lnTo>
                <a:lnTo>
                  <a:pt x="87847" y="27923"/>
                </a:lnTo>
                <a:lnTo>
                  <a:pt x="91440" y="45720"/>
                </a:lnTo>
                <a:lnTo>
                  <a:pt x="87847" y="63516"/>
                </a:lnTo>
                <a:lnTo>
                  <a:pt x="78048" y="78048"/>
                </a:lnTo>
                <a:lnTo>
                  <a:pt x="63516" y="87847"/>
                </a:lnTo>
                <a:lnTo>
                  <a:pt x="45720" y="91440"/>
                </a:lnTo>
                <a:lnTo>
                  <a:pt x="27923" y="87847"/>
                </a:lnTo>
                <a:lnTo>
                  <a:pt x="13391" y="78048"/>
                </a:lnTo>
                <a:lnTo>
                  <a:pt x="3592" y="63516"/>
                </a:lnTo>
                <a:lnTo>
                  <a:pt x="0" y="4572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156959" y="64594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39" h="91440">
                <a:moveTo>
                  <a:pt x="0" y="45720"/>
                </a:moveTo>
                <a:lnTo>
                  <a:pt x="3592" y="27923"/>
                </a:lnTo>
                <a:lnTo>
                  <a:pt x="13391" y="13391"/>
                </a:lnTo>
                <a:lnTo>
                  <a:pt x="27923" y="3592"/>
                </a:lnTo>
                <a:lnTo>
                  <a:pt x="45720" y="0"/>
                </a:lnTo>
                <a:lnTo>
                  <a:pt x="63516" y="3592"/>
                </a:lnTo>
                <a:lnTo>
                  <a:pt x="78048" y="13391"/>
                </a:lnTo>
                <a:lnTo>
                  <a:pt x="87847" y="27923"/>
                </a:lnTo>
                <a:lnTo>
                  <a:pt x="91440" y="45720"/>
                </a:lnTo>
                <a:lnTo>
                  <a:pt x="87847" y="63516"/>
                </a:lnTo>
                <a:lnTo>
                  <a:pt x="78048" y="78048"/>
                </a:lnTo>
                <a:lnTo>
                  <a:pt x="63516" y="87847"/>
                </a:lnTo>
                <a:lnTo>
                  <a:pt x="45720" y="91440"/>
                </a:lnTo>
                <a:lnTo>
                  <a:pt x="27923" y="87847"/>
                </a:lnTo>
                <a:lnTo>
                  <a:pt x="13391" y="78048"/>
                </a:lnTo>
                <a:lnTo>
                  <a:pt x="3592" y="63516"/>
                </a:lnTo>
                <a:lnTo>
                  <a:pt x="0" y="4572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760720" y="6208257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253502"/>
                </a:moveTo>
                <a:lnTo>
                  <a:pt x="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974079" y="6208257"/>
            <a:ext cx="0" cy="251460"/>
          </a:xfrm>
          <a:custGeom>
            <a:avLst/>
            <a:gdLst/>
            <a:ahLst/>
            <a:cxnLst/>
            <a:rect l="l" t="t" r="r" b="b"/>
            <a:pathLst>
              <a:path w="0" h="251460">
                <a:moveTo>
                  <a:pt x="1" y="251239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768340" y="6208257"/>
            <a:ext cx="434340" cy="0"/>
          </a:xfrm>
          <a:custGeom>
            <a:avLst/>
            <a:gdLst/>
            <a:ahLst/>
            <a:cxnLst/>
            <a:rect l="l" t="t" r="r" b="b"/>
            <a:pathLst>
              <a:path w="434339" h="0">
                <a:moveTo>
                  <a:pt x="0" y="0"/>
                </a:moveTo>
                <a:lnTo>
                  <a:pt x="434340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144740" y="6202548"/>
            <a:ext cx="0" cy="251460"/>
          </a:xfrm>
          <a:custGeom>
            <a:avLst/>
            <a:gdLst/>
            <a:ahLst/>
            <a:cxnLst/>
            <a:rect l="l" t="t" r="r" b="b"/>
            <a:pathLst>
              <a:path w="0" h="251460">
                <a:moveTo>
                  <a:pt x="0" y="251239"/>
                </a:moveTo>
                <a:lnTo>
                  <a:pt x="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657061" y="6456050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45720"/>
                </a:moveTo>
                <a:lnTo>
                  <a:pt x="3592" y="27923"/>
                </a:lnTo>
                <a:lnTo>
                  <a:pt x="13391" y="13391"/>
                </a:lnTo>
                <a:lnTo>
                  <a:pt x="27923" y="3592"/>
                </a:lnTo>
                <a:lnTo>
                  <a:pt x="45720" y="0"/>
                </a:lnTo>
                <a:lnTo>
                  <a:pt x="63516" y="3592"/>
                </a:lnTo>
                <a:lnTo>
                  <a:pt x="78048" y="13391"/>
                </a:lnTo>
                <a:lnTo>
                  <a:pt x="87847" y="27923"/>
                </a:lnTo>
                <a:lnTo>
                  <a:pt x="91440" y="45720"/>
                </a:lnTo>
                <a:lnTo>
                  <a:pt x="87847" y="63516"/>
                </a:lnTo>
                <a:lnTo>
                  <a:pt x="78048" y="78048"/>
                </a:lnTo>
                <a:lnTo>
                  <a:pt x="63516" y="87847"/>
                </a:lnTo>
                <a:lnTo>
                  <a:pt x="45720" y="91440"/>
                </a:lnTo>
                <a:lnTo>
                  <a:pt x="27923" y="87847"/>
                </a:lnTo>
                <a:lnTo>
                  <a:pt x="13391" y="78048"/>
                </a:lnTo>
                <a:lnTo>
                  <a:pt x="3592" y="63516"/>
                </a:lnTo>
                <a:lnTo>
                  <a:pt x="0" y="4572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870421" y="6453787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45720"/>
                </a:moveTo>
                <a:lnTo>
                  <a:pt x="3592" y="27923"/>
                </a:lnTo>
                <a:lnTo>
                  <a:pt x="13391" y="13391"/>
                </a:lnTo>
                <a:lnTo>
                  <a:pt x="27923" y="3592"/>
                </a:lnTo>
                <a:lnTo>
                  <a:pt x="45720" y="0"/>
                </a:lnTo>
                <a:lnTo>
                  <a:pt x="63516" y="3592"/>
                </a:lnTo>
                <a:lnTo>
                  <a:pt x="78048" y="13391"/>
                </a:lnTo>
                <a:lnTo>
                  <a:pt x="87847" y="27923"/>
                </a:lnTo>
                <a:lnTo>
                  <a:pt x="91440" y="45720"/>
                </a:lnTo>
                <a:lnTo>
                  <a:pt x="87847" y="63516"/>
                </a:lnTo>
                <a:lnTo>
                  <a:pt x="78048" y="78048"/>
                </a:lnTo>
                <a:lnTo>
                  <a:pt x="63516" y="87847"/>
                </a:lnTo>
                <a:lnTo>
                  <a:pt x="45720" y="91440"/>
                </a:lnTo>
                <a:lnTo>
                  <a:pt x="27923" y="87847"/>
                </a:lnTo>
                <a:lnTo>
                  <a:pt x="13391" y="78048"/>
                </a:lnTo>
                <a:lnTo>
                  <a:pt x="3592" y="63516"/>
                </a:lnTo>
                <a:lnTo>
                  <a:pt x="0" y="4572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099021" y="6453787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45720"/>
                </a:moveTo>
                <a:lnTo>
                  <a:pt x="3592" y="27923"/>
                </a:lnTo>
                <a:lnTo>
                  <a:pt x="13391" y="13391"/>
                </a:lnTo>
                <a:lnTo>
                  <a:pt x="27923" y="3592"/>
                </a:lnTo>
                <a:lnTo>
                  <a:pt x="45720" y="0"/>
                </a:lnTo>
                <a:lnTo>
                  <a:pt x="63516" y="3592"/>
                </a:lnTo>
                <a:lnTo>
                  <a:pt x="78048" y="13391"/>
                </a:lnTo>
                <a:lnTo>
                  <a:pt x="87847" y="27923"/>
                </a:lnTo>
                <a:lnTo>
                  <a:pt x="91440" y="45720"/>
                </a:lnTo>
                <a:lnTo>
                  <a:pt x="87847" y="63516"/>
                </a:lnTo>
                <a:lnTo>
                  <a:pt x="78048" y="78048"/>
                </a:lnTo>
                <a:lnTo>
                  <a:pt x="63516" y="87847"/>
                </a:lnTo>
                <a:lnTo>
                  <a:pt x="45720" y="91440"/>
                </a:lnTo>
                <a:lnTo>
                  <a:pt x="27923" y="87847"/>
                </a:lnTo>
                <a:lnTo>
                  <a:pt x="13391" y="78048"/>
                </a:lnTo>
                <a:lnTo>
                  <a:pt x="3592" y="63516"/>
                </a:lnTo>
                <a:lnTo>
                  <a:pt x="0" y="4572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702780" y="6202548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253502"/>
                </a:moveTo>
                <a:lnTo>
                  <a:pt x="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916140" y="6202548"/>
            <a:ext cx="0" cy="251460"/>
          </a:xfrm>
          <a:custGeom>
            <a:avLst/>
            <a:gdLst/>
            <a:ahLst/>
            <a:cxnLst/>
            <a:rect l="l" t="t" r="r" b="b"/>
            <a:pathLst>
              <a:path w="0" h="251460">
                <a:moveTo>
                  <a:pt x="1" y="251239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864313" y="6208257"/>
            <a:ext cx="0" cy="251460"/>
          </a:xfrm>
          <a:custGeom>
            <a:avLst/>
            <a:gdLst/>
            <a:ahLst/>
            <a:cxnLst/>
            <a:rect l="l" t="t" r="r" b="b"/>
            <a:pathLst>
              <a:path w="0" h="251460">
                <a:moveTo>
                  <a:pt x="0" y="251239"/>
                </a:moveTo>
                <a:lnTo>
                  <a:pt x="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376634" y="6461759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45720"/>
                </a:moveTo>
                <a:lnTo>
                  <a:pt x="3592" y="27923"/>
                </a:lnTo>
                <a:lnTo>
                  <a:pt x="13391" y="13391"/>
                </a:lnTo>
                <a:lnTo>
                  <a:pt x="27923" y="3592"/>
                </a:lnTo>
                <a:lnTo>
                  <a:pt x="45720" y="0"/>
                </a:lnTo>
                <a:lnTo>
                  <a:pt x="63516" y="3592"/>
                </a:lnTo>
                <a:lnTo>
                  <a:pt x="78048" y="13391"/>
                </a:lnTo>
                <a:lnTo>
                  <a:pt x="87847" y="27923"/>
                </a:lnTo>
                <a:lnTo>
                  <a:pt x="91440" y="45720"/>
                </a:lnTo>
                <a:lnTo>
                  <a:pt x="87847" y="63516"/>
                </a:lnTo>
                <a:lnTo>
                  <a:pt x="78048" y="78048"/>
                </a:lnTo>
                <a:lnTo>
                  <a:pt x="63516" y="87847"/>
                </a:lnTo>
                <a:lnTo>
                  <a:pt x="45720" y="91440"/>
                </a:lnTo>
                <a:lnTo>
                  <a:pt x="27923" y="87847"/>
                </a:lnTo>
                <a:lnTo>
                  <a:pt x="13391" y="78048"/>
                </a:lnTo>
                <a:lnTo>
                  <a:pt x="3592" y="63516"/>
                </a:lnTo>
                <a:lnTo>
                  <a:pt x="0" y="4572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589994" y="64594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45720"/>
                </a:moveTo>
                <a:lnTo>
                  <a:pt x="3592" y="27923"/>
                </a:lnTo>
                <a:lnTo>
                  <a:pt x="13391" y="13391"/>
                </a:lnTo>
                <a:lnTo>
                  <a:pt x="27923" y="3592"/>
                </a:lnTo>
                <a:lnTo>
                  <a:pt x="45720" y="0"/>
                </a:lnTo>
                <a:lnTo>
                  <a:pt x="63516" y="3592"/>
                </a:lnTo>
                <a:lnTo>
                  <a:pt x="78048" y="13391"/>
                </a:lnTo>
                <a:lnTo>
                  <a:pt x="87847" y="27923"/>
                </a:lnTo>
                <a:lnTo>
                  <a:pt x="91440" y="45720"/>
                </a:lnTo>
                <a:lnTo>
                  <a:pt x="87847" y="63516"/>
                </a:lnTo>
                <a:lnTo>
                  <a:pt x="78048" y="78048"/>
                </a:lnTo>
                <a:lnTo>
                  <a:pt x="63516" y="87847"/>
                </a:lnTo>
                <a:lnTo>
                  <a:pt x="45720" y="91440"/>
                </a:lnTo>
                <a:lnTo>
                  <a:pt x="27923" y="87847"/>
                </a:lnTo>
                <a:lnTo>
                  <a:pt x="13391" y="78048"/>
                </a:lnTo>
                <a:lnTo>
                  <a:pt x="3592" y="63516"/>
                </a:lnTo>
                <a:lnTo>
                  <a:pt x="0" y="4572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8818594" y="64594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45720"/>
                </a:moveTo>
                <a:lnTo>
                  <a:pt x="3592" y="27923"/>
                </a:lnTo>
                <a:lnTo>
                  <a:pt x="13391" y="13391"/>
                </a:lnTo>
                <a:lnTo>
                  <a:pt x="27923" y="3592"/>
                </a:lnTo>
                <a:lnTo>
                  <a:pt x="45720" y="0"/>
                </a:lnTo>
                <a:lnTo>
                  <a:pt x="63516" y="3592"/>
                </a:lnTo>
                <a:lnTo>
                  <a:pt x="78048" y="13391"/>
                </a:lnTo>
                <a:lnTo>
                  <a:pt x="87847" y="27923"/>
                </a:lnTo>
                <a:lnTo>
                  <a:pt x="91440" y="45720"/>
                </a:lnTo>
                <a:lnTo>
                  <a:pt x="87847" y="63516"/>
                </a:lnTo>
                <a:lnTo>
                  <a:pt x="78048" y="78048"/>
                </a:lnTo>
                <a:lnTo>
                  <a:pt x="63516" y="87847"/>
                </a:lnTo>
                <a:lnTo>
                  <a:pt x="45720" y="91440"/>
                </a:lnTo>
                <a:lnTo>
                  <a:pt x="27923" y="87847"/>
                </a:lnTo>
                <a:lnTo>
                  <a:pt x="13391" y="78048"/>
                </a:lnTo>
                <a:lnTo>
                  <a:pt x="3592" y="63516"/>
                </a:lnTo>
                <a:lnTo>
                  <a:pt x="0" y="4572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8422354" y="6208257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253502"/>
                </a:moveTo>
                <a:lnTo>
                  <a:pt x="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8635713" y="6208257"/>
            <a:ext cx="0" cy="251460"/>
          </a:xfrm>
          <a:custGeom>
            <a:avLst/>
            <a:gdLst/>
            <a:ahLst/>
            <a:cxnLst/>
            <a:rect l="l" t="t" r="r" b="b"/>
            <a:pathLst>
              <a:path w="0" h="251460">
                <a:moveTo>
                  <a:pt x="1" y="251239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8429974" y="6208257"/>
            <a:ext cx="434340" cy="0"/>
          </a:xfrm>
          <a:custGeom>
            <a:avLst/>
            <a:gdLst/>
            <a:ahLst/>
            <a:cxnLst/>
            <a:rect l="l" t="t" r="r" b="b"/>
            <a:pathLst>
              <a:path w="434340" h="0">
                <a:moveTo>
                  <a:pt x="0" y="0"/>
                </a:moveTo>
                <a:lnTo>
                  <a:pt x="434340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096460" y="6453787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45720"/>
                </a:moveTo>
                <a:lnTo>
                  <a:pt x="3592" y="27923"/>
                </a:lnTo>
                <a:lnTo>
                  <a:pt x="13391" y="13391"/>
                </a:lnTo>
                <a:lnTo>
                  <a:pt x="27923" y="3592"/>
                </a:lnTo>
                <a:lnTo>
                  <a:pt x="45720" y="0"/>
                </a:lnTo>
                <a:lnTo>
                  <a:pt x="63516" y="3592"/>
                </a:lnTo>
                <a:lnTo>
                  <a:pt x="78048" y="13391"/>
                </a:lnTo>
                <a:lnTo>
                  <a:pt x="87847" y="27923"/>
                </a:lnTo>
                <a:lnTo>
                  <a:pt x="91440" y="45720"/>
                </a:lnTo>
                <a:lnTo>
                  <a:pt x="87847" y="63516"/>
                </a:lnTo>
                <a:lnTo>
                  <a:pt x="78048" y="78048"/>
                </a:lnTo>
                <a:lnTo>
                  <a:pt x="63516" y="87847"/>
                </a:lnTo>
                <a:lnTo>
                  <a:pt x="45720" y="91440"/>
                </a:lnTo>
                <a:lnTo>
                  <a:pt x="27923" y="87847"/>
                </a:lnTo>
                <a:lnTo>
                  <a:pt x="13391" y="78048"/>
                </a:lnTo>
                <a:lnTo>
                  <a:pt x="3592" y="63516"/>
                </a:lnTo>
                <a:lnTo>
                  <a:pt x="0" y="4572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405601" y="6456381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45720"/>
                </a:moveTo>
                <a:lnTo>
                  <a:pt x="3592" y="27923"/>
                </a:lnTo>
                <a:lnTo>
                  <a:pt x="13391" y="13391"/>
                </a:lnTo>
                <a:lnTo>
                  <a:pt x="27923" y="3592"/>
                </a:lnTo>
                <a:lnTo>
                  <a:pt x="45720" y="0"/>
                </a:lnTo>
                <a:lnTo>
                  <a:pt x="63516" y="3592"/>
                </a:lnTo>
                <a:lnTo>
                  <a:pt x="78048" y="13391"/>
                </a:lnTo>
                <a:lnTo>
                  <a:pt x="87847" y="27923"/>
                </a:lnTo>
                <a:lnTo>
                  <a:pt x="91440" y="45720"/>
                </a:lnTo>
                <a:lnTo>
                  <a:pt x="87847" y="63516"/>
                </a:lnTo>
                <a:lnTo>
                  <a:pt x="78048" y="78048"/>
                </a:lnTo>
                <a:lnTo>
                  <a:pt x="63516" y="87847"/>
                </a:lnTo>
                <a:lnTo>
                  <a:pt x="45720" y="91440"/>
                </a:lnTo>
                <a:lnTo>
                  <a:pt x="27923" y="87847"/>
                </a:lnTo>
                <a:lnTo>
                  <a:pt x="13391" y="78048"/>
                </a:lnTo>
                <a:lnTo>
                  <a:pt x="3592" y="63516"/>
                </a:lnTo>
                <a:lnTo>
                  <a:pt x="0" y="4572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142180" y="5995051"/>
            <a:ext cx="0" cy="459105"/>
          </a:xfrm>
          <a:custGeom>
            <a:avLst/>
            <a:gdLst/>
            <a:ahLst/>
            <a:cxnLst/>
            <a:rect l="l" t="t" r="r" b="b"/>
            <a:pathLst>
              <a:path w="0" h="459104">
                <a:moveTo>
                  <a:pt x="0" y="458736"/>
                </a:moveTo>
                <a:lnTo>
                  <a:pt x="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553200" y="5995051"/>
            <a:ext cx="0" cy="207645"/>
          </a:xfrm>
          <a:custGeom>
            <a:avLst/>
            <a:gdLst/>
            <a:ahLst/>
            <a:cxnLst/>
            <a:rect l="l" t="t" r="r" b="b"/>
            <a:pathLst>
              <a:path w="0" h="207645">
                <a:moveTo>
                  <a:pt x="0" y="207498"/>
                </a:moveTo>
                <a:lnTo>
                  <a:pt x="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096000" y="5995051"/>
            <a:ext cx="0" cy="207645"/>
          </a:xfrm>
          <a:custGeom>
            <a:avLst/>
            <a:gdLst/>
            <a:ahLst/>
            <a:cxnLst/>
            <a:rect l="l" t="t" r="r" b="b"/>
            <a:pathLst>
              <a:path w="0" h="207645">
                <a:moveTo>
                  <a:pt x="0" y="207498"/>
                </a:moveTo>
                <a:lnTo>
                  <a:pt x="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088379" y="5995051"/>
            <a:ext cx="1054100" cy="0"/>
          </a:xfrm>
          <a:custGeom>
            <a:avLst/>
            <a:gdLst/>
            <a:ahLst/>
            <a:cxnLst/>
            <a:rect l="l" t="t" r="r" b="b"/>
            <a:pathLst>
              <a:path w="1054100" h="0">
                <a:moveTo>
                  <a:pt x="0" y="0"/>
                </a:moveTo>
                <a:lnTo>
                  <a:pt x="1053800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8077200" y="5997313"/>
            <a:ext cx="0" cy="207645"/>
          </a:xfrm>
          <a:custGeom>
            <a:avLst/>
            <a:gdLst/>
            <a:ahLst/>
            <a:cxnLst/>
            <a:rect l="l" t="t" r="r" b="b"/>
            <a:pathLst>
              <a:path w="0" h="207645">
                <a:moveTo>
                  <a:pt x="0" y="207498"/>
                </a:moveTo>
                <a:lnTo>
                  <a:pt x="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534400" y="5997313"/>
            <a:ext cx="0" cy="207645"/>
          </a:xfrm>
          <a:custGeom>
            <a:avLst/>
            <a:gdLst/>
            <a:ahLst/>
            <a:cxnLst/>
            <a:rect l="l" t="t" r="r" b="b"/>
            <a:pathLst>
              <a:path w="0" h="207645">
                <a:moveTo>
                  <a:pt x="0" y="207498"/>
                </a:moveTo>
                <a:lnTo>
                  <a:pt x="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467600" y="5995051"/>
            <a:ext cx="1054100" cy="0"/>
          </a:xfrm>
          <a:custGeom>
            <a:avLst/>
            <a:gdLst/>
            <a:ahLst/>
            <a:cxnLst/>
            <a:rect l="l" t="t" r="r" b="b"/>
            <a:pathLst>
              <a:path w="1054100" h="0">
                <a:moveTo>
                  <a:pt x="0" y="0"/>
                </a:moveTo>
                <a:lnTo>
                  <a:pt x="1053800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451321" y="5995051"/>
            <a:ext cx="0" cy="459105"/>
          </a:xfrm>
          <a:custGeom>
            <a:avLst/>
            <a:gdLst/>
            <a:ahLst/>
            <a:cxnLst/>
            <a:rect l="l" t="t" r="r" b="b"/>
            <a:pathLst>
              <a:path w="0" h="459104">
                <a:moveTo>
                  <a:pt x="0" y="458736"/>
                </a:moveTo>
                <a:lnTo>
                  <a:pt x="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013395" y="5787554"/>
            <a:ext cx="0" cy="207645"/>
          </a:xfrm>
          <a:custGeom>
            <a:avLst/>
            <a:gdLst/>
            <a:ahLst/>
            <a:cxnLst/>
            <a:rect l="l" t="t" r="r" b="b"/>
            <a:pathLst>
              <a:path w="0" h="207645">
                <a:moveTo>
                  <a:pt x="0" y="207498"/>
                </a:moveTo>
                <a:lnTo>
                  <a:pt x="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602988" y="5787554"/>
            <a:ext cx="0" cy="207645"/>
          </a:xfrm>
          <a:custGeom>
            <a:avLst/>
            <a:gdLst/>
            <a:ahLst/>
            <a:cxnLst/>
            <a:rect l="l" t="t" r="r" b="b"/>
            <a:pathLst>
              <a:path w="0" h="207645">
                <a:moveTo>
                  <a:pt x="0" y="207498"/>
                </a:moveTo>
                <a:lnTo>
                  <a:pt x="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019372" y="5787554"/>
            <a:ext cx="584200" cy="0"/>
          </a:xfrm>
          <a:custGeom>
            <a:avLst/>
            <a:gdLst/>
            <a:ahLst/>
            <a:cxnLst/>
            <a:rect l="l" t="t" r="r" b="b"/>
            <a:pathLst>
              <a:path w="584200" h="0">
                <a:moveTo>
                  <a:pt x="0" y="0"/>
                </a:moveTo>
                <a:lnTo>
                  <a:pt x="583615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6219750" y="3532123"/>
            <a:ext cx="271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Network and</a:t>
            </a:r>
            <a:r>
              <a:rPr dirty="0" sz="1800" spc="-4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communities: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166980" y="5367020"/>
            <a:ext cx="1358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Dendrogram: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808634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7495540" cy="8851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0">
                <a:latin typeface="Calibri"/>
                <a:cs typeface="Calibri"/>
              </a:rPr>
              <a:t>Louvain algorithm </a:t>
            </a:r>
            <a:r>
              <a:rPr dirty="0" sz="2800" spc="-10">
                <a:solidFill>
                  <a:srgbClr val="D60093"/>
                </a:solidFill>
              </a:rPr>
              <a:t>greedily </a:t>
            </a:r>
            <a:r>
              <a:rPr dirty="0" sz="2800" spc="-15">
                <a:solidFill>
                  <a:srgbClr val="0000FF"/>
                </a:solidFill>
              </a:rPr>
              <a:t>maximizes</a:t>
            </a:r>
            <a:r>
              <a:rPr dirty="0" sz="2800" spc="65">
                <a:solidFill>
                  <a:srgbClr val="0000FF"/>
                </a:solidFill>
              </a:rPr>
              <a:t> </a:t>
            </a:r>
            <a:r>
              <a:rPr dirty="0" sz="2800" spc="-5" b="0">
                <a:latin typeface="Calibri"/>
                <a:cs typeface="Calibri"/>
              </a:rPr>
              <a:t>modularity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4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5">
                <a:solidFill>
                  <a:srgbClr val="D60093"/>
                </a:solidFill>
              </a:rPr>
              <a:t>Each </a:t>
            </a:r>
            <a:r>
              <a:rPr dirty="0" sz="2800" spc="-5">
                <a:solidFill>
                  <a:srgbClr val="D60093"/>
                </a:solidFill>
              </a:rPr>
              <a:t>pass is made of </a:t>
            </a:r>
            <a:r>
              <a:rPr dirty="0" sz="2800">
                <a:solidFill>
                  <a:srgbClr val="D60093"/>
                </a:solidFill>
              </a:rPr>
              <a:t>2 </a:t>
            </a:r>
            <a:r>
              <a:rPr dirty="0" sz="2800" spc="-5">
                <a:solidFill>
                  <a:srgbClr val="D60093"/>
                </a:solidFill>
              </a:rPr>
              <a:t>phases: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956563" y="2289555"/>
            <a:ext cx="7806055" cy="23298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87020" marR="359410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Phase </a:t>
            </a:r>
            <a:r>
              <a:rPr dirty="0" sz="2800" b="1">
                <a:latin typeface="Calibri"/>
                <a:cs typeface="Calibri"/>
              </a:rPr>
              <a:t>1: </a:t>
            </a:r>
            <a:r>
              <a:rPr dirty="0" sz="2800" spc="-5">
                <a:latin typeface="Calibri"/>
                <a:cs typeface="Calibri"/>
              </a:rPr>
              <a:t>Modularity is </a:t>
            </a:r>
            <a:r>
              <a:rPr dirty="0" sz="2800" spc="-15">
                <a:solidFill>
                  <a:srgbClr val="0000FF"/>
                </a:solidFill>
                <a:latin typeface="Calibri"/>
                <a:cs typeface="Calibri"/>
              </a:rPr>
              <a:t>optimized </a:t>
            </a:r>
            <a:r>
              <a:rPr dirty="0" sz="2800" spc="-5">
                <a:latin typeface="Calibri"/>
                <a:cs typeface="Calibri"/>
              </a:rPr>
              <a:t>by allowing </a:t>
            </a:r>
            <a:r>
              <a:rPr dirty="0" sz="2800" spc="-150">
                <a:latin typeface="Calibri"/>
                <a:cs typeface="Calibri"/>
              </a:rPr>
              <a:t>only  </a:t>
            </a:r>
            <a:r>
              <a:rPr dirty="0" sz="2800" spc="-10">
                <a:latin typeface="Calibri"/>
                <a:cs typeface="Calibri"/>
              </a:rPr>
              <a:t>local changes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node-communities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memberships</a:t>
            </a:r>
            <a:endParaRPr sz="2800">
              <a:latin typeface="Calibri"/>
              <a:cs typeface="Calibri"/>
            </a:endParaRPr>
          </a:p>
          <a:p>
            <a:pPr marL="287020" marR="5080" indent="-274320">
              <a:lnSpc>
                <a:spcPct val="101400"/>
              </a:lnSpc>
              <a:spcBef>
                <a:spcPts val="6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Phase </a:t>
            </a:r>
            <a:r>
              <a:rPr dirty="0" sz="2800" b="1">
                <a:latin typeface="Calibri"/>
                <a:cs typeface="Calibri"/>
              </a:rPr>
              <a:t>2: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identified communities </a:t>
            </a:r>
            <a:r>
              <a:rPr dirty="0" sz="2800" spc="-15">
                <a:latin typeface="Calibri"/>
                <a:cs typeface="Calibri"/>
              </a:rPr>
              <a:t>are </a:t>
            </a:r>
            <a:r>
              <a:rPr dirty="0" sz="2800" spc="-80">
                <a:solidFill>
                  <a:srgbClr val="0000FF"/>
                </a:solidFill>
                <a:latin typeface="Calibri"/>
                <a:cs typeface="Calibri"/>
              </a:rPr>
              <a:t>aggregated 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into </a:t>
            </a:r>
            <a:r>
              <a:rPr dirty="0" sz="2800" spc="-10">
                <a:latin typeface="Calibri"/>
                <a:cs typeface="Calibri"/>
              </a:rPr>
              <a:t>super-nodes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build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new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network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2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latin typeface="Calibri"/>
                <a:cs typeface="Calibri"/>
              </a:rPr>
              <a:t>Goto </a:t>
            </a:r>
            <a:r>
              <a:rPr dirty="0" sz="2800" spc="-5" b="1">
                <a:latin typeface="Calibri"/>
                <a:cs typeface="Calibri"/>
              </a:rPr>
              <a:t>Phase</a:t>
            </a:r>
            <a:r>
              <a:rPr dirty="0" sz="2800" spc="-7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72000" y="4202229"/>
            <a:ext cx="4191000" cy="23662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33400" y="4953000"/>
            <a:ext cx="3200400" cy="1143000"/>
          </a:xfrm>
          <a:custGeom>
            <a:avLst/>
            <a:gdLst/>
            <a:ahLst/>
            <a:cxnLst/>
            <a:rect l="l" t="t" r="r" b="b"/>
            <a:pathLst>
              <a:path w="3200400" h="1143000">
                <a:moveTo>
                  <a:pt x="3009894" y="0"/>
                </a:moveTo>
                <a:lnTo>
                  <a:pt x="190504" y="0"/>
                </a:lnTo>
                <a:lnTo>
                  <a:pt x="146823" y="5031"/>
                </a:lnTo>
                <a:lnTo>
                  <a:pt x="106725" y="19363"/>
                </a:lnTo>
                <a:lnTo>
                  <a:pt x="71353" y="41851"/>
                </a:lnTo>
                <a:lnTo>
                  <a:pt x="41851" y="71353"/>
                </a:lnTo>
                <a:lnTo>
                  <a:pt x="19363" y="106725"/>
                </a:lnTo>
                <a:lnTo>
                  <a:pt x="5031" y="146823"/>
                </a:lnTo>
                <a:lnTo>
                  <a:pt x="0" y="190505"/>
                </a:lnTo>
                <a:lnTo>
                  <a:pt x="0" y="952494"/>
                </a:lnTo>
                <a:lnTo>
                  <a:pt x="5031" y="996175"/>
                </a:lnTo>
                <a:lnTo>
                  <a:pt x="19363" y="1036273"/>
                </a:lnTo>
                <a:lnTo>
                  <a:pt x="41851" y="1071645"/>
                </a:lnTo>
                <a:lnTo>
                  <a:pt x="71353" y="1101147"/>
                </a:lnTo>
                <a:lnTo>
                  <a:pt x="106725" y="1123636"/>
                </a:lnTo>
                <a:lnTo>
                  <a:pt x="146823" y="1137968"/>
                </a:lnTo>
                <a:lnTo>
                  <a:pt x="190504" y="1142999"/>
                </a:lnTo>
                <a:lnTo>
                  <a:pt x="3009894" y="1142999"/>
                </a:lnTo>
                <a:lnTo>
                  <a:pt x="3053576" y="1137968"/>
                </a:lnTo>
                <a:lnTo>
                  <a:pt x="3093674" y="1123636"/>
                </a:lnTo>
                <a:lnTo>
                  <a:pt x="3129046" y="1101147"/>
                </a:lnTo>
                <a:lnTo>
                  <a:pt x="3158548" y="1071645"/>
                </a:lnTo>
                <a:lnTo>
                  <a:pt x="3181036" y="1036273"/>
                </a:lnTo>
                <a:lnTo>
                  <a:pt x="3195368" y="996175"/>
                </a:lnTo>
                <a:lnTo>
                  <a:pt x="3200400" y="952494"/>
                </a:lnTo>
                <a:lnTo>
                  <a:pt x="3200400" y="190505"/>
                </a:lnTo>
                <a:lnTo>
                  <a:pt x="3195368" y="146823"/>
                </a:lnTo>
                <a:lnTo>
                  <a:pt x="3181036" y="106725"/>
                </a:lnTo>
                <a:lnTo>
                  <a:pt x="3158548" y="71353"/>
                </a:lnTo>
                <a:lnTo>
                  <a:pt x="3129046" y="41851"/>
                </a:lnTo>
                <a:lnTo>
                  <a:pt x="3093674" y="19363"/>
                </a:lnTo>
                <a:lnTo>
                  <a:pt x="3053576" y="5031"/>
                </a:lnTo>
                <a:lnTo>
                  <a:pt x="3009894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09430" y="4930009"/>
            <a:ext cx="3248660" cy="1189990"/>
          </a:xfrm>
          <a:custGeom>
            <a:avLst/>
            <a:gdLst/>
            <a:ahLst/>
            <a:cxnLst/>
            <a:rect l="l" t="t" r="r" b="b"/>
            <a:pathLst>
              <a:path w="3248660" h="1189989">
                <a:moveTo>
                  <a:pt x="3033864" y="0"/>
                </a:moveTo>
                <a:lnTo>
                  <a:pt x="213264" y="0"/>
                </a:lnTo>
                <a:lnTo>
                  <a:pt x="191375" y="1269"/>
                </a:lnTo>
                <a:lnTo>
                  <a:pt x="149575" y="10159"/>
                </a:lnTo>
                <a:lnTo>
                  <a:pt x="111207" y="26669"/>
                </a:lnTo>
                <a:lnTo>
                  <a:pt x="77153" y="49530"/>
                </a:lnTo>
                <a:lnTo>
                  <a:pt x="48251" y="78739"/>
                </a:lnTo>
                <a:lnTo>
                  <a:pt x="25340" y="113030"/>
                </a:lnTo>
                <a:lnTo>
                  <a:pt x="9290" y="151130"/>
                </a:lnTo>
                <a:lnTo>
                  <a:pt x="983" y="193039"/>
                </a:lnTo>
                <a:lnTo>
                  <a:pt x="0" y="977900"/>
                </a:lnTo>
                <a:lnTo>
                  <a:pt x="1227" y="999489"/>
                </a:lnTo>
                <a:lnTo>
                  <a:pt x="9996" y="1041400"/>
                </a:lnTo>
                <a:lnTo>
                  <a:pt x="26450" y="1079500"/>
                </a:lnTo>
                <a:lnTo>
                  <a:pt x="49710" y="1113789"/>
                </a:lnTo>
                <a:lnTo>
                  <a:pt x="78922" y="1141730"/>
                </a:lnTo>
                <a:lnTo>
                  <a:pt x="113252" y="1165860"/>
                </a:lnTo>
                <a:lnTo>
                  <a:pt x="151847" y="1181100"/>
                </a:lnTo>
                <a:lnTo>
                  <a:pt x="193786" y="1189989"/>
                </a:lnTo>
                <a:lnTo>
                  <a:pt x="3056963" y="1189989"/>
                </a:lnTo>
                <a:lnTo>
                  <a:pt x="3098763" y="1181100"/>
                </a:lnTo>
                <a:lnTo>
                  <a:pt x="3137131" y="1164589"/>
                </a:lnTo>
                <a:lnTo>
                  <a:pt x="3141047" y="1162050"/>
                </a:lnTo>
                <a:lnTo>
                  <a:pt x="214474" y="1162050"/>
                </a:lnTo>
                <a:lnTo>
                  <a:pt x="195238" y="1160780"/>
                </a:lnTo>
                <a:lnTo>
                  <a:pt x="141971" y="1146810"/>
                </a:lnTo>
                <a:lnTo>
                  <a:pt x="96170" y="1118870"/>
                </a:lnTo>
                <a:lnTo>
                  <a:pt x="60348" y="1079500"/>
                </a:lnTo>
                <a:lnTo>
                  <a:pt x="37041" y="1031239"/>
                </a:lnTo>
                <a:lnTo>
                  <a:pt x="28887" y="977900"/>
                </a:lnTo>
                <a:lnTo>
                  <a:pt x="28830" y="213359"/>
                </a:lnTo>
                <a:lnTo>
                  <a:pt x="29746" y="194309"/>
                </a:lnTo>
                <a:lnTo>
                  <a:pt x="43447" y="142239"/>
                </a:lnTo>
                <a:lnTo>
                  <a:pt x="71315" y="95250"/>
                </a:lnTo>
                <a:lnTo>
                  <a:pt x="110835" y="59689"/>
                </a:lnTo>
                <a:lnTo>
                  <a:pt x="159473" y="36830"/>
                </a:lnTo>
                <a:lnTo>
                  <a:pt x="214716" y="27939"/>
                </a:lnTo>
                <a:lnTo>
                  <a:pt x="3139524" y="27939"/>
                </a:lnTo>
                <a:lnTo>
                  <a:pt x="3135085" y="25400"/>
                </a:lnTo>
                <a:lnTo>
                  <a:pt x="3116267" y="16509"/>
                </a:lnTo>
                <a:lnTo>
                  <a:pt x="3096491" y="8889"/>
                </a:lnTo>
                <a:lnTo>
                  <a:pt x="3075878" y="3809"/>
                </a:lnTo>
                <a:lnTo>
                  <a:pt x="3054552" y="1269"/>
                </a:lnTo>
                <a:lnTo>
                  <a:pt x="3033864" y="0"/>
                </a:lnTo>
                <a:close/>
              </a:path>
              <a:path w="3248660" h="1189989">
                <a:moveTo>
                  <a:pt x="3139524" y="27939"/>
                </a:moveTo>
                <a:lnTo>
                  <a:pt x="3033864" y="27939"/>
                </a:lnTo>
                <a:lnTo>
                  <a:pt x="3053099" y="29209"/>
                </a:lnTo>
                <a:lnTo>
                  <a:pt x="3071533" y="31750"/>
                </a:lnTo>
                <a:lnTo>
                  <a:pt x="3122586" y="50800"/>
                </a:lnTo>
                <a:lnTo>
                  <a:pt x="3165343" y="82550"/>
                </a:lnTo>
                <a:lnTo>
                  <a:pt x="3197274" y="125730"/>
                </a:lnTo>
                <a:lnTo>
                  <a:pt x="3215850" y="176530"/>
                </a:lnTo>
                <a:lnTo>
                  <a:pt x="3219512" y="213359"/>
                </a:lnTo>
                <a:lnTo>
                  <a:pt x="3219503" y="977900"/>
                </a:lnTo>
                <a:lnTo>
                  <a:pt x="3211156" y="1031239"/>
                </a:lnTo>
                <a:lnTo>
                  <a:pt x="3187732" y="1080770"/>
                </a:lnTo>
                <a:lnTo>
                  <a:pt x="3151814" y="1120139"/>
                </a:lnTo>
                <a:lnTo>
                  <a:pt x="3105934" y="1146810"/>
                </a:lnTo>
                <a:lnTo>
                  <a:pt x="3052618" y="1160780"/>
                </a:lnTo>
                <a:lnTo>
                  <a:pt x="3033621" y="1162050"/>
                </a:lnTo>
                <a:lnTo>
                  <a:pt x="3141047" y="1162050"/>
                </a:lnTo>
                <a:lnTo>
                  <a:pt x="3186332" y="1126489"/>
                </a:lnTo>
                <a:lnTo>
                  <a:pt x="3212345" y="1094739"/>
                </a:lnTo>
                <a:lnTo>
                  <a:pt x="3231936" y="1057910"/>
                </a:lnTo>
                <a:lnTo>
                  <a:pt x="3244224" y="1018539"/>
                </a:lnTo>
                <a:lnTo>
                  <a:pt x="3248306" y="977900"/>
                </a:lnTo>
                <a:lnTo>
                  <a:pt x="3248339" y="213359"/>
                </a:lnTo>
                <a:lnTo>
                  <a:pt x="3247111" y="190500"/>
                </a:lnTo>
                <a:lnTo>
                  <a:pt x="3238342" y="149859"/>
                </a:lnTo>
                <a:lnTo>
                  <a:pt x="3221887" y="110489"/>
                </a:lnTo>
                <a:lnTo>
                  <a:pt x="3198627" y="76200"/>
                </a:lnTo>
                <a:lnTo>
                  <a:pt x="3169416" y="48259"/>
                </a:lnTo>
                <a:lnTo>
                  <a:pt x="3152839" y="35559"/>
                </a:lnTo>
                <a:lnTo>
                  <a:pt x="3139524" y="27939"/>
                </a:lnTo>
                <a:close/>
              </a:path>
              <a:path w="3248660" h="1189989">
                <a:moveTo>
                  <a:pt x="3033864" y="38100"/>
                </a:moveTo>
                <a:lnTo>
                  <a:pt x="215200" y="38100"/>
                </a:lnTo>
                <a:lnTo>
                  <a:pt x="197169" y="39369"/>
                </a:lnTo>
                <a:lnTo>
                  <a:pt x="146570" y="52069"/>
                </a:lnTo>
                <a:lnTo>
                  <a:pt x="102980" y="77469"/>
                </a:lnTo>
                <a:lnTo>
                  <a:pt x="68811" y="115569"/>
                </a:lnTo>
                <a:lnTo>
                  <a:pt x="46480" y="161289"/>
                </a:lnTo>
                <a:lnTo>
                  <a:pt x="38433" y="213359"/>
                </a:lnTo>
                <a:lnTo>
                  <a:pt x="38470" y="977900"/>
                </a:lnTo>
                <a:lnTo>
                  <a:pt x="46056" y="1027429"/>
                </a:lnTo>
                <a:lnTo>
                  <a:pt x="68036" y="1074420"/>
                </a:lnTo>
                <a:lnTo>
                  <a:pt x="101919" y="1111250"/>
                </a:lnTo>
                <a:lnTo>
                  <a:pt x="145270" y="1137920"/>
                </a:lnTo>
                <a:lnTo>
                  <a:pt x="195722" y="1151889"/>
                </a:lnTo>
                <a:lnTo>
                  <a:pt x="3051169" y="1151889"/>
                </a:lnTo>
                <a:lnTo>
                  <a:pt x="3068671" y="1149350"/>
                </a:lnTo>
                <a:lnTo>
                  <a:pt x="3085564" y="1144270"/>
                </a:lnTo>
                <a:lnTo>
                  <a:pt x="3089615" y="1143000"/>
                </a:lnTo>
                <a:lnTo>
                  <a:pt x="214474" y="1143000"/>
                </a:lnTo>
                <a:lnTo>
                  <a:pt x="196206" y="1141730"/>
                </a:lnTo>
                <a:lnTo>
                  <a:pt x="148570" y="1129030"/>
                </a:lnTo>
                <a:lnTo>
                  <a:pt x="107668" y="1103630"/>
                </a:lnTo>
                <a:lnTo>
                  <a:pt x="75725" y="1068070"/>
                </a:lnTo>
                <a:lnTo>
                  <a:pt x="55072" y="1024889"/>
                </a:lnTo>
                <a:lnTo>
                  <a:pt x="48052" y="977900"/>
                </a:lnTo>
                <a:lnTo>
                  <a:pt x="48032" y="213359"/>
                </a:lnTo>
                <a:lnTo>
                  <a:pt x="48922" y="195580"/>
                </a:lnTo>
                <a:lnTo>
                  <a:pt x="61478" y="148589"/>
                </a:lnTo>
                <a:lnTo>
                  <a:pt x="86691" y="107950"/>
                </a:lnTo>
                <a:lnTo>
                  <a:pt x="122334" y="74930"/>
                </a:lnTo>
                <a:lnTo>
                  <a:pt x="166073" y="54609"/>
                </a:lnTo>
                <a:lnTo>
                  <a:pt x="215684" y="46989"/>
                </a:lnTo>
                <a:lnTo>
                  <a:pt x="3090156" y="46989"/>
                </a:lnTo>
                <a:lnTo>
                  <a:pt x="3086928" y="45719"/>
                </a:lnTo>
                <a:lnTo>
                  <a:pt x="3070084" y="41909"/>
                </a:lnTo>
                <a:lnTo>
                  <a:pt x="3052615" y="39369"/>
                </a:lnTo>
                <a:lnTo>
                  <a:pt x="3033864" y="38100"/>
                </a:lnTo>
                <a:close/>
              </a:path>
              <a:path w="3248660" h="1189989">
                <a:moveTo>
                  <a:pt x="3090156" y="46989"/>
                </a:moveTo>
                <a:lnTo>
                  <a:pt x="215684" y="46989"/>
                </a:lnTo>
                <a:lnTo>
                  <a:pt x="3052132" y="48259"/>
                </a:lnTo>
                <a:lnTo>
                  <a:pt x="3068636" y="50800"/>
                </a:lnTo>
                <a:lnTo>
                  <a:pt x="3114254" y="68580"/>
                </a:lnTo>
                <a:lnTo>
                  <a:pt x="3152430" y="97789"/>
                </a:lnTo>
                <a:lnTo>
                  <a:pt x="3180864" y="135889"/>
                </a:lnTo>
                <a:lnTo>
                  <a:pt x="3197254" y="181609"/>
                </a:lnTo>
                <a:lnTo>
                  <a:pt x="3200300" y="977900"/>
                </a:lnTo>
                <a:lnTo>
                  <a:pt x="3199416" y="994410"/>
                </a:lnTo>
                <a:lnTo>
                  <a:pt x="3186860" y="1041400"/>
                </a:lnTo>
                <a:lnTo>
                  <a:pt x="3161646" y="1083310"/>
                </a:lnTo>
                <a:lnTo>
                  <a:pt x="3126004" y="1115060"/>
                </a:lnTo>
                <a:lnTo>
                  <a:pt x="3082265" y="1135380"/>
                </a:lnTo>
                <a:lnTo>
                  <a:pt x="3032654" y="1143000"/>
                </a:lnTo>
                <a:lnTo>
                  <a:pt x="3089615" y="1143000"/>
                </a:lnTo>
                <a:lnTo>
                  <a:pt x="3131753" y="1122680"/>
                </a:lnTo>
                <a:lnTo>
                  <a:pt x="3169335" y="1088389"/>
                </a:lnTo>
                <a:lnTo>
                  <a:pt x="3195875" y="1045210"/>
                </a:lnTo>
                <a:lnTo>
                  <a:pt x="3209003" y="994410"/>
                </a:lnTo>
                <a:lnTo>
                  <a:pt x="3209928" y="213359"/>
                </a:lnTo>
                <a:lnTo>
                  <a:pt x="3209151" y="196850"/>
                </a:lnTo>
                <a:lnTo>
                  <a:pt x="3196425" y="146050"/>
                </a:lnTo>
                <a:lnTo>
                  <a:pt x="3170210" y="102869"/>
                </a:lnTo>
                <a:lnTo>
                  <a:pt x="3132901" y="68580"/>
                </a:lnTo>
                <a:lnTo>
                  <a:pt x="3103067" y="52069"/>
                </a:lnTo>
                <a:lnTo>
                  <a:pt x="3090156" y="46989"/>
                </a:lnTo>
                <a:close/>
              </a:path>
            </a:pathLst>
          </a:custGeom>
          <a:solidFill>
            <a:srgbClr val="4D86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02468" y="5086603"/>
            <a:ext cx="2862580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12065" marR="5080">
              <a:lnSpc>
                <a:spcPct val="99400"/>
              </a:lnSpc>
              <a:spcBef>
                <a:spcPts val="110"/>
              </a:spcBef>
            </a:pPr>
            <a:r>
              <a:rPr dirty="0" sz="1800">
                <a:solidFill>
                  <a:srgbClr val="FFFFFF"/>
                </a:solidFill>
                <a:latin typeface="Corbel"/>
                <a:cs typeface="Corbel"/>
              </a:rPr>
              <a:t>The </a:t>
            </a:r>
            <a:r>
              <a:rPr dirty="0" sz="1800" spc="-5">
                <a:solidFill>
                  <a:srgbClr val="FFFFFF"/>
                </a:solidFill>
                <a:latin typeface="Corbel"/>
                <a:cs typeface="Corbel"/>
              </a:rPr>
              <a:t>passes are repeated  </a:t>
            </a:r>
            <a:r>
              <a:rPr dirty="0" sz="1800" spc="-5" b="1">
                <a:solidFill>
                  <a:srgbClr val="FFFFFF"/>
                </a:solidFill>
                <a:latin typeface="Corbel"/>
                <a:cs typeface="Corbel"/>
              </a:rPr>
              <a:t>iteratively </a:t>
            </a:r>
            <a:r>
              <a:rPr dirty="0" sz="1800" spc="-5">
                <a:solidFill>
                  <a:srgbClr val="FFFFFF"/>
                </a:solidFill>
                <a:latin typeface="Corbel"/>
                <a:cs typeface="Corbel"/>
              </a:rPr>
              <a:t>until </a:t>
            </a:r>
            <a:r>
              <a:rPr dirty="0" sz="1800">
                <a:solidFill>
                  <a:srgbClr val="FFFFFF"/>
                </a:solidFill>
                <a:latin typeface="Corbel"/>
                <a:cs typeface="Corbel"/>
              </a:rPr>
              <a:t>no </a:t>
            </a:r>
            <a:r>
              <a:rPr dirty="0" sz="1800" spc="-5">
                <a:solidFill>
                  <a:srgbClr val="FFFFFF"/>
                </a:solidFill>
                <a:latin typeface="Corbel"/>
                <a:cs typeface="Corbel"/>
              </a:rPr>
              <a:t>increase </a:t>
            </a:r>
            <a:r>
              <a:rPr dirty="0" sz="1800">
                <a:solidFill>
                  <a:srgbClr val="FFFFFF"/>
                </a:solidFill>
                <a:latin typeface="Corbel"/>
                <a:cs typeface="Corbel"/>
              </a:rPr>
              <a:t>of  </a:t>
            </a:r>
            <a:r>
              <a:rPr dirty="0" sz="1800" spc="-5">
                <a:solidFill>
                  <a:srgbClr val="FFFFFF"/>
                </a:solidFill>
                <a:latin typeface="Corbel"/>
                <a:cs typeface="Corbel"/>
              </a:rPr>
              <a:t>modularity is</a:t>
            </a:r>
            <a:r>
              <a:rPr dirty="0" sz="1800" spc="-5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Corbel"/>
                <a:cs typeface="Corbel"/>
              </a:rPr>
              <a:t>possible.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33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53000" y="4491789"/>
            <a:ext cx="4191000" cy="23662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5216" y="347472"/>
            <a:ext cx="8086344" cy="5577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18108" y="1253236"/>
            <a:ext cx="7932420" cy="421640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4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>
                <a:latin typeface="Calibri"/>
                <a:cs typeface="Calibri"/>
              </a:rPr>
              <a:t>Louvain algorithm </a:t>
            </a:r>
            <a:r>
              <a:rPr dirty="0" sz="2800" spc="-15">
                <a:latin typeface="Calibri"/>
                <a:cs typeface="Calibri"/>
              </a:rPr>
              <a:t>considers graphs </a:t>
            </a:r>
            <a:r>
              <a:rPr dirty="0" sz="2800" spc="-5">
                <a:latin typeface="Calibri"/>
                <a:cs typeface="Calibri"/>
              </a:rPr>
              <a:t>as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 spc="-15" b="1">
                <a:latin typeface="Calibri"/>
                <a:cs typeface="Calibri"/>
              </a:rPr>
              <a:t>weighted</a:t>
            </a:r>
            <a:endParaRPr sz="2800">
              <a:latin typeface="Calibri"/>
              <a:cs typeface="Calibri"/>
            </a:endParaRPr>
          </a:p>
          <a:p>
            <a:pPr lvl="1" marL="625475" marR="371475" indent="-274320">
              <a:lnSpc>
                <a:spcPts val="3310"/>
              </a:lnSpc>
              <a:spcBef>
                <a:spcPts val="89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original </a:t>
            </a: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 spc="-10">
                <a:latin typeface="Calibri"/>
                <a:cs typeface="Calibri"/>
              </a:rPr>
              <a:t>can </a:t>
            </a:r>
            <a:r>
              <a:rPr dirty="0" sz="2800">
                <a:latin typeface="Calibri"/>
                <a:cs typeface="Calibri"/>
              </a:rPr>
              <a:t>be </a:t>
            </a:r>
            <a:r>
              <a:rPr dirty="0" sz="2800" spc="-15">
                <a:latin typeface="Calibri"/>
                <a:cs typeface="Calibri"/>
              </a:rPr>
              <a:t>unweighted </a:t>
            </a:r>
            <a:r>
              <a:rPr dirty="0" sz="2800" spc="-5">
                <a:latin typeface="Calibri"/>
                <a:cs typeface="Calibri"/>
              </a:rPr>
              <a:t>(i.e., </a:t>
            </a:r>
            <a:r>
              <a:rPr dirty="0" sz="2800" spc="-150">
                <a:latin typeface="Calibri"/>
                <a:cs typeface="Calibri"/>
              </a:rPr>
              <a:t>edge  </a:t>
            </a:r>
            <a:r>
              <a:rPr dirty="0" sz="2800" spc="-15">
                <a:latin typeface="Calibri"/>
                <a:cs typeface="Calibri"/>
              </a:rPr>
              <a:t>weights are </a:t>
            </a:r>
            <a:r>
              <a:rPr dirty="0" sz="2800" spc="-5">
                <a:latin typeface="Calibri"/>
                <a:cs typeface="Calibri"/>
              </a:rPr>
              <a:t>all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1)</a:t>
            </a:r>
            <a:endParaRPr sz="2800">
              <a:latin typeface="Calibri"/>
              <a:cs typeface="Calibri"/>
            </a:endParaRPr>
          </a:p>
          <a:p>
            <a:pPr lvl="1" marL="625475" marR="5080" indent="-274320">
              <a:lnSpc>
                <a:spcPct val="100200"/>
              </a:lnSpc>
              <a:spcBef>
                <a:spcPts val="509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>
                <a:latin typeface="Calibri"/>
                <a:cs typeface="Calibri"/>
              </a:rPr>
              <a:t>As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communities </a:t>
            </a:r>
            <a:r>
              <a:rPr dirty="0" sz="2800" spc="-20">
                <a:latin typeface="Calibri"/>
                <a:cs typeface="Calibri"/>
              </a:rPr>
              <a:t>get </a:t>
            </a:r>
            <a:r>
              <a:rPr dirty="0" sz="2800" spc="-10">
                <a:latin typeface="Calibri"/>
                <a:cs typeface="Calibri"/>
              </a:rPr>
              <a:t>identified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20">
                <a:latin typeface="Calibri"/>
                <a:cs typeface="Calibri"/>
              </a:rPr>
              <a:t>aggregated  into </a:t>
            </a:r>
            <a:r>
              <a:rPr dirty="0" sz="2800" spc="-10">
                <a:latin typeface="Calibri"/>
                <a:cs typeface="Calibri"/>
              </a:rPr>
              <a:t>super-nodes, </a:t>
            </a:r>
            <a:r>
              <a:rPr dirty="0" sz="2800" spc="-20">
                <a:latin typeface="Calibri"/>
                <a:cs typeface="Calibri"/>
              </a:rPr>
              <a:t>weighted </a:t>
            </a:r>
            <a:r>
              <a:rPr dirty="0" sz="2800" spc="-15">
                <a:latin typeface="Calibri"/>
                <a:cs typeface="Calibri"/>
              </a:rPr>
              <a:t>graphs are </a:t>
            </a:r>
            <a:r>
              <a:rPr dirty="0" sz="2800" spc="-20">
                <a:latin typeface="Calibri"/>
                <a:cs typeface="Calibri"/>
              </a:rPr>
              <a:t>created  </a:t>
            </a:r>
            <a:r>
              <a:rPr dirty="0" sz="2800" spc="-15">
                <a:latin typeface="Calibri"/>
                <a:cs typeface="Calibri"/>
              </a:rPr>
              <a:t>(weights count </a:t>
            </a:r>
            <a:r>
              <a:rPr dirty="0" sz="2800" spc="-5">
                <a:latin typeface="Calibri"/>
                <a:cs typeface="Calibri"/>
              </a:rPr>
              <a:t>the number of </a:t>
            </a:r>
            <a:r>
              <a:rPr dirty="0" sz="2800" spc="-10">
                <a:latin typeface="Calibri"/>
                <a:cs typeface="Calibri"/>
              </a:rPr>
              <a:t>edges </a:t>
            </a:r>
            <a:r>
              <a:rPr dirty="0" sz="2800" spc="-5">
                <a:latin typeface="Calibri"/>
                <a:cs typeface="Calibri"/>
              </a:rPr>
              <a:t>in the </a:t>
            </a:r>
            <a:r>
              <a:rPr dirty="0" sz="2800" spc="-10">
                <a:latin typeface="Calibri"/>
                <a:cs typeface="Calibri"/>
              </a:rPr>
              <a:t>original  </a:t>
            </a:r>
            <a:r>
              <a:rPr dirty="0" sz="2800" spc="-15">
                <a:latin typeface="Calibri"/>
                <a:cs typeface="Calibri"/>
              </a:rPr>
              <a:t>graph)</a:t>
            </a:r>
            <a:endParaRPr sz="2800">
              <a:latin typeface="Calibri"/>
              <a:cs typeface="Calibri"/>
            </a:endParaRPr>
          </a:p>
          <a:p>
            <a:pPr lvl="1" marL="625475" marR="4242435" indent="-274320">
              <a:lnSpc>
                <a:spcPts val="3290"/>
              </a:lnSpc>
              <a:spcBef>
                <a:spcPts val="90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5">
                <a:latin typeface="Calibri"/>
                <a:cs typeface="Calibri"/>
              </a:rPr>
              <a:t>Weighted </a:t>
            </a:r>
            <a:r>
              <a:rPr dirty="0" sz="2800" spc="-15">
                <a:latin typeface="Calibri"/>
                <a:cs typeface="Calibri"/>
              </a:rPr>
              <a:t>version </a:t>
            </a:r>
            <a:r>
              <a:rPr dirty="0" sz="2800" spc="-5">
                <a:latin typeface="Calibri"/>
                <a:cs typeface="Calibri"/>
              </a:rPr>
              <a:t>of  Modularity is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applied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33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4424"/>
            <a:ext cx="7793735" cy="5608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04455" cy="1973580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926465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0">
                <a:latin typeface="Calibri"/>
                <a:cs typeface="Calibri"/>
              </a:rPr>
              <a:t>Put each </a:t>
            </a:r>
            <a:r>
              <a:rPr dirty="0" b="0">
                <a:latin typeface="Calibri"/>
                <a:cs typeface="Calibri"/>
              </a:rPr>
              <a:t>node in a </a:t>
            </a:r>
            <a:r>
              <a:rPr dirty="0" spc="-15" b="0">
                <a:latin typeface="Calibri"/>
                <a:cs typeface="Calibri"/>
              </a:rPr>
              <a:t>graph into </a:t>
            </a:r>
            <a:r>
              <a:rPr dirty="0" b="0">
                <a:latin typeface="Calibri"/>
                <a:cs typeface="Calibri"/>
              </a:rPr>
              <a:t>a </a:t>
            </a:r>
            <a:r>
              <a:rPr dirty="0" spc="-10" b="0">
                <a:solidFill>
                  <a:srgbClr val="0000FF"/>
                </a:solidFill>
                <a:latin typeface="Calibri"/>
                <a:cs typeface="Calibri"/>
              </a:rPr>
              <a:t>distinct  </a:t>
            </a:r>
            <a:r>
              <a:rPr dirty="0" spc="-5" b="0">
                <a:solidFill>
                  <a:srgbClr val="0000FF"/>
                </a:solidFill>
                <a:latin typeface="Calibri"/>
                <a:cs typeface="Calibri"/>
              </a:rPr>
              <a:t>community </a:t>
            </a:r>
            <a:r>
              <a:rPr dirty="0" b="0">
                <a:latin typeface="Calibri"/>
                <a:cs typeface="Calibri"/>
              </a:rPr>
              <a:t>(one node </a:t>
            </a:r>
            <a:r>
              <a:rPr dirty="0" spc="-5" b="0">
                <a:latin typeface="Calibri"/>
                <a:cs typeface="Calibri"/>
              </a:rPr>
              <a:t>per</a:t>
            </a:r>
            <a:r>
              <a:rPr dirty="0" spc="-15" b="0">
                <a:latin typeface="Calibri"/>
                <a:cs typeface="Calibri"/>
              </a:rPr>
              <a:t> </a:t>
            </a:r>
            <a:r>
              <a:rPr dirty="0" spc="-5" b="0">
                <a:latin typeface="Calibri"/>
                <a:cs typeface="Calibri"/>
              </a:rPr>
              <a:t>community)</a:t>
            </a:r>
          </a:p>
          <a:p>
            <a:pPr marL="332740" marR="5080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 b="0">
                <a:latin typeface="Calibri"/>
                <a:cs typeface="Calibri"/>
              </a:rPr>
              <a:t>For </a:t>
            </a:r>
            <a:r>
              <a:rPr dirty="0" spc="-5" b="0">
                <a:latin typeface="Calibri"/>
                <a:cs typeface="Calibri"/>
              </a:rPr>
              <a:t>each node </a:t>
            </a:r>
            <a:r>
              <a:rPr dirty="0" spc="40" b="0">
                <a:latin typeface="Cambria Math"/>
                <a:cs typeface="Cambria Math"/>
              </a:rPr>
              <a:t>𝑖</a:t>
            </a:r>
            <a:r>
              <a:rPr dirty="0" spc="40" b="0">
                <a:latin typeface="Calibri"/>
                <a:cs typeface="Calibri"/>
              </a:rPr>
              <a:t>, </a:t>
            </a:r>
            <a:r>
              <a:rPr dirty="0" b="0">
                <a:latin typeface="Calibri"/>
                <a:cs typeface="Calibri"/>
              </a:rPr>
              <a:t>the </a:t>
            </a:r>
            <a:r>
              <a:rPr dirty="0" spc="-5" b="0">
                <a:latin typeface="Calibri"/>
                <a:cs typeface="Calibri"/>
              </a:rPr>
              <a:t>algorithm </a:t>
            </a:r>
            <a:r>
              <a:rPr dirty="0" spc="-15" b="0">
                <a:latin typeface="Calibri"/>
                <a:cs typeface="Calibri"/>
              </a:rPr>
              <a:t>performs </a:t>
            </a:r>
            <a:r>
              <a:rPr dirty="0" spc="-10" b="0">
                <a:latin typeface="Calibri"/>
                <a:cs typeface="Calibri"/>
              </a:rPr>
              <a:t>two  </a:t>
            </a:r>
            <a:r>
              <a:rPr dirty="0" spc="-5" b="0">
                <a:latin typeface="Calibri"/>
                <a:cs typeface="Calibri"/>
              </a:rPr>
              <a:t>calculations: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33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3392932"/>
            <a:ext cx="8256270" cy="3367404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625475" marR="492759" indent="-274320">
              <a:lnSpc>
                <a:spcPts val="3310"/>
              </a:lnSpc>
              <a:spcBef>
                <a:spcPts val="25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Compute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-5">
                <a:latin typeface="Calibri"/>
                <a:cs typeface="Calibri"/>
              </a:rPr>
              <a:t>modularity </a:t>
            </a:r>
            <a:r>
              <a:rPr dirty="0" sz="2800" spc="-15">
                <a:latin typeface="Calibri"/>
                <a:cs typeface="Calibri"/>
              </a:rPr>
              <a:t>delta </a:t>
            </a:r>
            <a:r>
              <a:rPr dirty="0" sz="2800" spc="5">
                <a:latin typeface="Calibri"/>
                <a:cs typeface="Calibri"/>
              </a:rPr>
              <a:t>(</a:t>
            </a:r>
            <a:r>
              <a:rPr dirty="0" sz="2800" spc="5">
                <a:latin typeface="Cambria Math"/>
                <a:cs typeface="Cambria Math"/>
              </a:rPr>
              <a:t>∆𝑄</a:t>
            </a:r>
            <a:r>
              <a:rPr dirty="0" sz="2800" spc="5">
                <a:latin typeface="Calibri"/>
                <a:cs typeface="Calibri"/>
              </a:rPr>
              <a:t>) </a:t>
            </a:r>
            <a:r>
              <a:rPr dirty="0" sz="2800" spc="-5">
                <a:latin typeface="Calibri"/>
                <a:cs typeface="Calibri"/>
              </a:rPr>
              <a:t>when </a:t>
            </a:r>
            <a:r>
              <a:rPr dirty="0" sz="2800" spc="-85">
                <a:latin typeface="Calibri"/>
                <a:cs typeface="Calibri"/>
              </a:rPr>
              <a:t>putting  </a:t>
            </a:r>
            <a:r>
              <a:rPr dirty="0" sz="2800" spc="-5">
                <a:latin typeface="Calibri"/>
                <a:cs typeface="Calibri"/>
              </a:rPr>
              <a:t>node </a:t>
            </a:r>
            <a:r>
              <a:rPr dirty="0" sz="2800">
                <a:latin typeface="Cambria Math"/>
                <a:cs typeface="Cambria Math"/>
              </a:rPr>
              <a:t>𝑖 </a:t>
            </a:r>
            <a:r>
              <a:rPr dirty="0" sz="2800" spc="-20">
                <a:latin typeface="Calibri"/>
                <a:cs typeface="Calibri"/>
              </a:rPr>
              <a:t>into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community </a:t>
            </a:r>
            <a:r>
              <a:rPr dirty="0" sz="2800" spc="-5">
                <a:latin typeface="Calibri"/>
                <a:cs typeface="Calibri"/>
              </a:rPr>
              <a:t>of some neighbor</a:t>
            </a:r>
            <a:r>
              <a:rPr dirty="0" sz="2800" spc="135">
                <a:latin typeface="Calibri"/>
                <a:cs typeface="Calibri"/>
              </a:rPr>
              <a:t> </a:t>
            </a:r>
            <a:r>
              <a:rPr dirty="0" sz="2800">
                <a:latin typeface="Cambria Math"/>
                <a:cs typeface="Cambria Math"/>
              </a:rPr>
              <a:t>𝑗</a:t>
            </a:r>
            <a:endParaRPr sz="2800">
              <a:latin typeface="Cambria Math"/>
              <a:cs typeface="Cambria Math"/>
            </a:endParaRPr>
          </a:p>
          <a:p>
            <a:pPr marL="625475" marR="684530" indent="-274320">
              <a:lnSpc>
                <a:spcPts val="3310"/>
              </a:lnSpc>
              <a:spcBef>
                <a:spcPts val="76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Move </a:t>
            </a:r>
            <a:r>
              <a:rPr dirty="0" sz="2800">
                <a:latin typeface="Cambria Math"/>
                <a:cs typeface="Cambria Math"/>
              </a:rPr>
              <a:t>𝑖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community of node </a:t>
            </a:r>
            <a:r>
              <a:rPr dirty="0" sz="2800">
                <a:latin typeface="Cambria Math"/>
                <a:cs typeface="Cambria Math"/>
              </a:rPr>
              <a:t>𝑗 </a:t>
            </a:r>
            <a:r>
              <a:rPr dirty="0" sz="2800" spc="-10">
                <a:latin typeface="Calibri"/>
                <a:cs typeface="Calibri"/>
              </a:rPr>
              <a:t>that </a:t>
            </a:r>
            <a:r>
              <a:rPr dirty="0" sz="2800" spc="-5">
                <a:latin typeface="Calibri"/>
                <a:cs typeface="Calibri"/>
              </a:rPr>
              <a:t>yields </a:t>
            </a:r>
            <a:r>
              <a:rPr dirty="0" sz="2800" spc="-204">
                <a:latin typeface="Calibri"/>
                <a:cs typeface="Calibri"/>
              </a:rPr>
              <a:t>the  </a:t>
            </a:r>
            <a:r>
              <a:rPr dirty="0" sz="2800" spc="-20">
                <a:latin typeface="Calibri"/>
                <a:cs typeface="Calibri"/>
              </a:rPr>
              <a:t>largest gain </a:t>
            </a:r>
            <a:r>
              <a:rPr dirty="0" sz="2800" spc="-5">
                <a:latin typeface="Calibri"/>
                <a:cs typeface="Calibri"/>
              </a:rPr>
              <a:t>in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∆𝑄</a:t>
            </a:r>
            <a:endParaRPr sz="2800">
              <a:latin typeface="Cambria Math"/>
              <a:cs typeface="Cambria Math"/>
            </a:endParaRPr>
          </a:p>
          <a:p>
            <a:pPr marL="332740" indent="-320040">
              <a:lnSpc>
                <a:spcPts val="367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Phase 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1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runs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until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no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movement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yields 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a</a:t>
            </a:r>
            <a:r>
              <a:rPr dirty="0" sz="3200" spc="1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D60093"/>
                </a:solidFill>
                <a:latin typeface="Calibri"/>
                <a:cs typeface="Calibri"/>
              </a:rPr>
              <a:t>gain</a:t>
            </a:r>
            <a:endParaRPr sz="3200">
              <a:latin typeface="Calibri"/>
              <a:cs typeface="Calibri"/>
            </a:endParaRPr>
          </a:p>
          <a:p>
            <a:pPr marL="311150" marR="5080">
              <a:lnSpc>
                <a:spcPts val="1610"/>
              </a:lnSpc>
              <a:spcBef>
                <a:spcPts val="210"/>
              </a:spcBef>
            </a:pP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This first phase stops when </a:t>
            </a:r>
            <a:r>
              <a:rPr dirty="0" sz="1400">
                <a:solidFill>
                  <a:srgbClr val="008000"/>
                </a:solidFill>
                <a:latin typeface="Arial"/>
                <a:cs typeface="Arial"/>
              </a:rPr>
              <a:t>a </a:t>
            </a: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local maxima of the modularity </a:t>
            </a:r>
            <a:r>
              <a:rPr dirty="0" sz="1400">
                <a:solidFill>
                  <a:srgbClr val="008000"/>
                </a:solidFill>
                <a:latin typeface="Arial"/>
                <a:cs typeface="Arial"/>
              </a:rPr>
              <a:t>is </a:t>
            </a: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attained, i.e., when no individual node  move can improve the</a:t>
            </a:r>
            <a:r>
              <a:rPr dirty="0" sz="1400" spc="-5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400" spc="-15">
                <a:solidFill>
                  <a:srgbClr val="008000"/>
                </a:solidFill>
                <a:latin typeface="Arial"/>
                <a:cs typeface="Arial"/>
              </a:rPr>
              <a:t>modularity.</a:t>
            </a:r>
            <a:endParaRPr sz="1400">
              <a:latin typeface="Arial"/>
              <a:cs typeface="Arial"/>
            </a:endParaRPr>
          </a:p>
          <a:p>
            <a:pPr marL="311150">
              <a:lnSpc>
                <a:spcPts val="1660"/>
              </a:lnSpc>
            </a:pP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Note that the output of the algorithm depends on the order </a:t>
            </a:r>
            <a:r>
              <a:rPr dirty="0" sz="1400">
                <a:solidFill>
                  <a:srgbClr val="008000"/>
                </a:solidFill>
                <a:latin typeface="Arial"/>
                <a:cs typeface="Arial"/>
              </a:rPr>
              <a:t>in </a:t>
            </a: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which the nodes are</a:t>
            </a:r>
            <a:r>
              <a:rPr dirty="0" sz="1400" spc="-3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considered.</a:t>
            </a:r>
            <a:endParaRPr sz="1400">
              <a:latin typeface="Arial"/>
              <a:cs typeface="Arial"/>
            </a:endParaRPr>
          </a:p>
          <a:p>
            <a:pPr marL="311150" marR="46355">
              <a:lnSpc>
                <a:spcPct val="100000"/>
              </a:lnSpc>
              <a:spcBef>
                <a:spcPts val="25"/>
              </a:spcBef>
            </a:pP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Research indicates that the ordering of the nodes does not have </a:t>
            </a:r>
            <a:r>
              <a:rPr dirty="0" sz="1400">
                <a:solidFill>
                  <a:srgbClr val="008000"/>
                </a:solidFill>
                <a:latin typeface="Arial"/>
                <a:cs typeface="Arial"/>
              </a:rPr>
              <a:t>a </a:t>
            </a: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significant influence on the overall  modularity that </a:t>
            </a:r>
            <a:r>
              <a:rPr dirty="0" sz="1400">
                <a:solidFill>
                  <a:srgbClr val="008000"/>
                </a:solidFill>
                <a:latin typeface="Arial"/>
                <a:cs typeface="Arial"/>
              </a:rPr>
              <a:t>is</a:t>
            </a:r>
            <a:r>
              <a:rPr dirty="0" sz="1400" spc="-7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obtained.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12648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680299" y="1857272"/>
            <a:ext cx="1267460" cy="376555"/>
          </a:xfrm>
          <a:custGeom>
            <a:avLst/>
            <a:gdLst/>
            <a:ahLst/>
            <a:cxnLst/>
            <a:rect l="l" t="t" r="r" b="b"/>
            <a:pathLst>
              <a:path w="1267460" h="376555">
                <a:moveTo>
                  <a:pt x="1147357" y="0"/>
                </a:moveTo>
                <a:lnTo>
                  <a:pt x="1141999" y="15279"/>
                </a:lnTo>
                <a:lnTo>
                  <a:pt x="1163790" y="24736"/>
                </a:lnTo>
                <a:lnTo>
                  <a:pt x="1182530" y="37826"/>
                </a:lnTo>
                <a:lnTo>
                  <a:pt x="1210857" y="74909"/>
                </a:lnTo>
                <a:lnTo>
                  <a:pt x="1227525" y="124940"/>
                </a:lnTo>
                <a:lnTo>
                  <a:pt x="1233082" y="186331"/>
                </a:lnTo>
                <a:lnTo>
                  <a:pt x="1231687" y="219533"/>
                </a:lnTo>
                <a:lnTo>
                  <a:pt x="1220525" y="276782"/>
                </a:lnTo>
                <a:lnTo>
                  <a:pt x="1198126" y="321493"/>
                </a:lnTo>
                <a:lnTo>
                  <a:pt x="1164044" y="351655"/>
                </a:lnTo>
                <a:lnTo>
                  <a:pt x="1142594" y="361156"/>
                </a:lnTo>
                <a:lnTo>
                  <a:pt x="1147357" y="376435"/>
                </a:lnTo>
                <a:lnTo>
                  <a:pt x="1198702" y="352349"/>
                </a:lnTo>
                <a:lnTo>
                  <a:pt x="1236455" y="310653"/>
                </a:lnTo>
                <a:lnTo>
                  <a:pt x="1259672" y="254818"/>
                </a:lnTo>
                <a:lnTo>
                  <a:pt x="1267411" y="188316"/>
                </a:lnTo>
                <a:lnTo>
                  <a:pt x="1265470" y="153807"/>
                </a:lnTo>
                <a:lnTo>
                  <a:pt x="1249943" y="92638"/>
                </a:lnTo>
                <a:lnTo>
                  <a:pt x="1219148" y="42843"/>
                </a:lnTo>
                <a:lnTo>
                  <a:pt x="1174648" y="9853"/>
                </a:lnTo>
                <a:lnTo>
                  <a:pt x="1147357" y="0"/>
                </a:lnTo>
                <a:close/>
              </a:path>
              <a:path w="1267460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032401" y="1857272"/>
            <a:ext cx="1235710" cy="376555"/>
          </a:xfrm>
          <a:custGeom>
            <a:avLst/>
            <a:gdLst/>
            <a:ahLst/>
            <a:cxnLst/>
            <a:rect l="l" t="t" r="r" b="b"/>
            <a:pathLst>
              <a:path w="1235709" h="376555">
                <a:moveTo>
                  <a:pt x="1115164" y="0"/>
                </a:moveTo>
                <a:lnTo>
                  <a:pt x="1109806" y="15279"/>
                </a:lnTo>
                <a:lnTo>
                  <a:pt x="1131596" y="24736"/>
                </a:lnTo>
                <a:lnTo>
                  <a:pt x="1150336" y="37826"/>
                </a:lnTo>
                <a:lnTo>
                  <a:pt x="1178664" y="74909"/>
                </a:lnTo>
                <a:lnTo>
                  <a:pt x="1195332" y="124940"/>
                </a:lnTo>
                <a:lnTo>
                  <a:pt x="1200889" y="186331"/>
                </a:lnTo>
                <a:lnTo>
                  <a:pt x="1199493" y="219533"/>
                </a:lnTo>
                <a:lnTo>
                  <a:pt x="1188332" y="276782"/>
                </a:lnTo>
                <a:lnTo>
                  <a:pt x="1165933" y="321493"/>
                </a:lnTo>
                <a:lnTo>
                  <a:pt x="1131851" y="351655"/>
                </a:lnTo>
                <a:lnTo>
                  <a:pt x="1110401" y="361156"/>
                </a:lnTo>
                <a:lnTo>
                  <a:pt x="1115164" y="376435"/>
                </a:lnTo>
                <a:lnTo>
                  <a:pt x="1166509" y="352349"/>
                </a:lnTo>
                <a:lnTo>
                  <a:pt x="1204262" y="310653"/>
                </a:lnTo>
                <a:lnTo>
                  <a:pt x="1227479" y="254818"/>
                </a:lnTo>
                <a:lnTo>
                  <a:pt x="1235218" y="188316"/>
                </a:lnTo>
                <a:lnTo>
                  <a:pt x="1233277" y="153807"/>
                </a:lnTo>
                <a:lnTo>
                  <a:pt x="1217749" y="92638"/>
                </a:lnTo>
                <a:lnTo>
                  <a:pt x="1186954" y="42843"/>
                </a:lnTo>
                <a:lnTo>
                  <a:pt x="1142455" y="9853"/>
                </a:lnTo>
                <a:lnTo>
                  <a:pt x="1115164" y="0"/>
                </a:lnTo>
                <a:close/>
              </a:path>
              <a:path w="1235709" h="376555">
                <a:moveTo>
                  <a:pt x="120055" y="0"/>
                </a:moveTo>
                <a:lnTo>
                  <a:pt x="68833" y="24134"/>
                </a:lnTo>
                <a:lnTo>
                  <a:pt x="31055" y="65980"/>
                </a:lnTo>
                <a:lnTo>
                  <a:pt x="7764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3" y="366594"/>
                </a:lnTo>
                <a:lnTo>
                  <a:pt x="120055" y="376435"/>
                </a:lnTo>
                <a:lnTo>
                  <a:pt x="124818" y="361156"/>
                </a:lnTo>
                <a:lnTo>
                  <a:pt x="103367" y="351655"/>
                </a:lnTo>
                <a:lnTo>
                  <a:pt x="84857" y="338435"/>
                </a:lnTo>
                <a:lnTo>
                  <a:pt x="56654" y="300831"/>
                </a:lnTo>
                <a:lnTo>
                  <a:pt x="39911" y="249683"/>
                </a:lnTo>
                <a:lnTo>
                  <a:pt x="34330" y="186331"/>
                </a:lnTo>
                <a:lnTo>
                  <a:pt x="35725" y="154216"/>
                </a:lnTo>
                <a:lnTo>
                  <a:pt x="46887" y="98504"/>
                </a:lnTo>
                <a:lnTo>
                  <a:pt x="69323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6649" y="1273555"/>
            <a:ext cx="8359140" cy="98171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3000" spc="-10">
                <a:solidFill>
                  <a:srgbClr val="0000FF"/>
                </a:solidFill>
              </a:rPr>
              <a:t>What </a:t>
            </a:r>
            <a:r>
              <a:rPr dirty="0" sz="3000" spc="-5">
                <a:solidFill>
                  <a:srgbClr val="0000FF"/>
                </a:solidFill>
              </a:rPr>
              <a:t>is </a:t>
            </a:r>
            <a:r>
              <a:rPr dirty="0" sz="3000" spc="-5" b="0">
                <a:solidFill>
                  <a:srgbClr val="0000FF"/>
                </a:solidFill>
                <a:latin typeface="Cambria Math"/>
                <a:cs typeface="Cambria Math"/>
              </a:rPr>
              <a:t>𝚫𝑸 </a:t>
            </a:r>
            <a:r>
              <a:rPr dirty="0" sz="3000">
                <a:solidFill>
                  <a:srgbClr val="0000FF"/>
                </a:solidFill>
              </a:rPr>
              <a:t>if </a:t>
            </a:r>
            <a:r>
              <a:rPr dirty="0" sz="3000" spc="-15">
                <a:solidFill>
                  <a:srgbClr val="0000FF"/>
                </a:solidFill>
              </a:rPr>
              <a:t>we move </a:t>
            </a:r>
            <a:r>
              <a:rPr dirty="0" sz="3000">
                <a:solidFill>
                  <a:srgbClr val="0000FF"/>
                </a:solidFill>
              </a:rPr>
              <a:t>node </a:t>
            </a:r>
            <a:r>
              <a:rPr dirty="0" sz="3000" b="0">
                <a:solidFill>
                  <a:srgbClr val="0000FF"/>
                </a:solidFill>
                <a:latin typeface="Cambria Math"/>
                <a:cs typeface="Cambria Math"/>
              </a:rPr>
              <a:t>𝒊 </a:t>
            </a:r>
            <a:r>
              <a:rPr dirty="0" sz="3000" spc="-20">
                <a:solidFill>
                  <a:srgbClr val="0000FF"/>
                </a:solidFill>
              </a:rPr>
              <a:t>to </a:t>
            </a:r>
            <a:r>
              <a:rPr dirty="0" sz="3000" spc="-5">
                <a:solidFill>
                  <a:srgbClr val="0000FF"/>
                </a:solidFill>
              </a:rPr>
              <a:t>community </a:t>
            </a:r>
            <a:r>
              <a:rPr dirty="0" sz="3000" b="0">
                <a:solidFill>
                  <a:srgbClr val="0000FF"/>
                </a:solidFill>
                <a:latin typeface="Cambria Math"/>
                <a:cs typeface="Cambria Math"/>
              </a:rPr>
              <a:t>𝑫 </a:t>
            </a:r>
            <a:r>
              <a:rPr dirty="0" sz="3000" spc="-20">
                <a:solidFill>
                  <a:srgbClr val="0000FF"/>
                </a:solidFill>
              </a:rPr>
              <a:t>to</a:t>
            </a:r>
            <a:r>
              <a:rPr dirty="0" sz="3000" spc="25">
                <a:solidFill>
                  <a:srgbClr val="0000FF"/>
                </a:solidFill>
              </a:rPr>
              <a:t> </a:t>
            </a:r>
            <a:r>
              <a:rPr dirty="0" sz="3000" b="0">
                <a:solidFill>
                  <a:srgbClr val="0000FF"/>
                </a:solidFill>
                <a:latin typeface="Cambria Math"/>
                <a:cs typeface="Cambria Math"/>
              </a:rPr>
              <a:t>𝑪?</a:t>
            </a:r>
            <a:endParaRPr sz="3000">
              <a:latin typeface="Cambria Math"/>
              <a:cs typeface="Cambria Math"/>
            </a:endParaRPr>
          </a:p>
          <a:p>
            <a:pPr algn="ctr" marR="76835">
              <a:lnSpc>
                <a:spcPct val="100000"/>
              </a:lnSpc>
              <a:spcBef>
                <a:spcPts val="85"/>
              </a:spcBef>
              <a:tabLst>
                <a:tab pos="3922395" algn="l"/>
                <a:tab pos="5182870" algn="l"/>
                <a:tab pos="6274435" algn="l"/>
              </a:tabLst>
            </a:pPr>
            <a:r>
              <a:rPr dirty="0" spc="15" b="0">
                <a:latin typeface="Cambria Math"/>
                <a:cs typeface="Cambria Math"/>
              </a:rPr>
              <a:t>Δ𝑄(𝐷  </a:t>
            </a:r>
            <a:r>
              <a:rPr dirty="0" b="0">
                <a:latin typeface="Cambria Math"/>
                <a:cs typeface="Cambria Math"/>
              </a:rPr>
              <a:t>→ 𝑖  → </a:t>
            </a:r>
            <a:r>
              <a:rPr dirty="0" spc="60" b="0">
                <a:latin typeface="Cambria Math"/>
                <a:cs typeface="Cambria Math"/>
              </a:rPr>
              <a:t>𝐶)</a:t>
            </a:r>
            <a:r>
              <a:rPr dirty="0" spc="-320" b="0">
                <a:latin typeface="Cambria Math"/>
                <a:cs typeface="Cambria Math"/>
              </a:rPr>
              <a:t> </a:t>
            </a:r>
            <a:r>
              <a:rPr dirty="0" b="0">
                <a:latin typeface="Cambria Math"/>
                <a:cs typeface="Cambria Math"/>
              </a:rPr>
              <a:t>=</a:t>
            </a:r>
            <a:r>
              <a:rPr dirty="0" spc="175" b="0">
                <a:latin typeface="Cambria Math"/>
                <a:cs typeface="Cambria Math"/>
              </a:rPr>
              <a:t> </a:t>
            </a:r>
            <a:r>
              <a:rPr dirty="0" b="0">
                <a:latin typeface="Cambria Math"/>
                <a:cs typeface="Cambria Math"/>
              </a:rPr>
              <a:t>Δ𝑄	𝐷</a:t>
            </a:r>
            <a:r>
              <a:rPr dirty="0" spc="275" b="0">
                <a:latin typeface="Cambria Math"/>
                <a:cs typeface="Cambria Math"/>
              </a:rPr>
              <a:t> </a:t>
            </a:r>
            <a:r>
              <a:rPr dirty="0" b="0">
                <a:latin typeface="Cambria Math"/>
                <a:cs typeface="Cambria Math"/>
              </a:rPr>
              <a:t>→</a:t>
            </a:r>
            <a:r>
              <a:rPr dirty="0" spc="180" b="0">
                <a:latin typeface="Cambria Math"/>
                <a:cs typeface="Cambria Math"/>
              </a:rPr>
              <a:t> </a:t>
            </a:r>
            <a:r>
              <a:rPr dirty="0" b="0">
                <a:latin typeface="Cambria Math"/>
                <a:cs typeface="Cambria Math"/>
              </a:rPr>
              <a:t>𝑖	+ Δ𝑄	𝑖  →</a:t>
            </a:r>
            <a:r>
              <a:rPr dirty="0" spc="-335" b="0">
                <a:latin typeface="Cambria Math"/>
                <a:cs typeface="Cambria Math"/>
              </a:rPr>
              <a:t> </a:t>
            </a:r>
            <a:r>
              <a:rPr dirty="0" b="0">
                <a:latin typeface="Cambria Math"/>
                <a:cs typeface="Cambria Math"/>
              </a:rPr>
              <a:t>𝐶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91670" y="2306827"/>
            <a:ext cx="10934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Arial"/>
                <a:cs typeface="Arial"/>
              </a:rPr>
              <a:t>Before: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19527" y="2476618"/>
            <a:ext cx="4284408" cy="13048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921591" y="2450083"/>
            <a:ext cx="1689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𝑪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29760" y="3073907"/>
            <a:ext cx="10604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𝑖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05312" y="2334260"/>
            <a:ext cx="1974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𝑫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75940" y="3873500"/>
            <a:ext cx="113093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dirty="0" sz="1800">
                <a:solidFill>
                  <a:srgbClr val="0000FF"/>
                </a:solidFill>
                <a:latin typeface="Arial"/>
                <a:cs typeface="Arial"/>
              </a:rPr>
              <a:t>c</a:t>
            </a:r>
            <a:r>
              <a:rPr dirty="0" sz="1800" spc="-5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dirty="0" sz="1800">
                <a:solidFill>
                  <a:srgbClr val="0000FF"/>
                </a:solidFill>
                <a:latin typeface="Arial"/>
                <a:cs typeface="Arial"/>
              </a:rPr>
              <a:t>mm</a:t>
            </a:r>
            <a:r>
              <a:rPr dirty="0" sz="1800" spc="-5">
                <a:solidFill>
                  <a:srgbClr val="0000FF"/>
                </a:solidFill>
                <a:latin typeface="Arial"/>
                <a:cs typeface="Arial"/>
              </a:rPr>
              <a:t>un</a:t>
            </a:r>
            <a:r>
              <a:rPr dirty="0" sz="180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dirty="0" sz="1800" spc="-5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dirty="0" sz="1800">
                <a:solidFill>
                  <a:srgbClr val="0000FF"/>
                </a:solidFill>
                <a:latin typeface="Arial"/>
                <a:cs typeface="Arial"/>
              </a:rPr>
              <a:t>y  </a:t>
            </a:r>
            <a:r>
              <a:rPr dirty="0" sz="1800" spc="-5">
                <a:solidFill>
                  <a:srgbClr val="0000FF"/>
                </a:solidFill>
                <a:latin typeface="Arial"/>
                <a:cs typeface="Arial"/>
              </a:rPr>
              <a:t>of node</a:t>
            </a:r>
            <a:r>
              <a:rPr dirty="0" sz="1800" spc="-9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FF"/>
                </a:solidFill>
                <a:latin typeface="Cambria Math"/>
                <a:cs typeface="Cambria Math"/>
              </a:rPr>
              <a:t>𝑖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900842" y="4117818"/>
            <a:ext cx="3946744" cy="26494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73740" y="3736340"/>
            <a:ext cx="1939925" cy="653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830"/>
              </a:lnSpc>
              <a:spcBef>
                <a:spcPts val="100"/>
              </a:spcBef>
            </a:pPr>
            <a:r>
              <a:rPr dirty="0" sz="2400" spc="-5" b="1">
                <a:latin typeface="Arial"/>
                <a:cs typeface="Arial"/>
              </a:rPr>
              <a:t>Intermediate:</a:t>
            </a:r>
            <a:endParaRPr sz="2400">
              <a:latin typeface="Arial"/>
              <a:cs typeface="Arial"/>
            </a:endParaRPr>
          </a:p>
          <a:p>
            <a:pPr algn="r" marR="186055">
              <a:lnSpc>
                <a:spcPts val="2110"/>
              </a:lnSpc>
            </a:pP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𝑪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71241" y="4716779"/>
            <a:ext cx="10604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𝑖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92855" y="3925315"/>
            <a:ext cx="7315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𝑫 −</a:t>
            </a:r>
            <a:r>
              <a:rPr dirty="0" sz="1800" spc="-9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Cambria Math"/>
                <a:cs typeface="Cambria Math"/>
              </a:rPr>
              <a:t>{𝒊}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1629" y="5376164"/>
            <a:ext cx="8401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Arial"/>
                <a:cs typeface="Arial"/>
              </a:rPr>
              <a:t>After: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05638" y="5394452"/>
            <a:ext cx="7029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𝑪 +</a:t>
            </a:r>
            <a:r>
              <a:rPr dirty="0" sz="1800" spc="-95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Cambria Math"/>
                <a:cs typeface="Cambria Math"/>
              </a:rPr>
              <a:t>{𝒊}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10861" y="6060947"/>
            <a:ext cx="10604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𝑖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56758" y="5412740"/>
            <a:ext cx="7315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𝑫 −</a:t>
            </a:r>
            <a:r>
              <a:rPr dirty="0" sz="1800" spc="-9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Cambria Math"/>
                <a:cs typeface="Cambria Math"/>
              </a:rPr>
              <a:t>{𝒊}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429816" y="3918611"/>
            <a:ext cx="951230" cy="282575"/>
          </a:xfrm>
          <a:custGeom>
            <a:avLst/>
            <a:gdLst/>
            <a:ahLst/>
            <a:cxnLst/>
            <a:rect l="l" t="t" r="r" b="b"/>
            <a:pathLst>
              <a:path w="951229" h="282575">
                <a:moveTo>
                  <a:pt x="860835" y="0"/>
                </a:moveTo>
                <a:lnTo>
                  <a:pt x="856816" y="11460"/>
                </a:lnTo>
                <a:lnTo>
                  <a:pt x="873159" y="18552"/>
                </a:lnTo>
                <a:lnTo>
                  <a:pt x="887214" y="28370"/>
                </a:lnTo>
                <a:lnTo>
                  <a:pt x="915752" y="73878"/>
                </a:lnTo>
                <a:lnTo>
                  <a:pt x="924087" y="115662"/>
                </a:lnTo>
                <a:lnTo>
                  <a:pt x="925128" y="139749"/>
                </a:lnTo>
                <a:lnTo>
                  <a:pt x="924082" y="164650"/>
                </a:lnTo>
                <a:lnTo>
                  <a:pt x="915710" y="207587"/>
                </a:lnTo>
                <a:lnTo>
                  <a:pt x="887233" y="253826"/>
                </a:lnTo>
                <a:lnTo>
                  <a:pt x="857263" y="270866"/>
                </a:lnTo>
                <a:lnTo>
                  <a:pt x="860835" y="282327"/>
                </a:lnTo>
                <a:lnTo>
                  <a:pt x="899344" y="264263"/>
                </a:lnTo>
                <a:lnTo>
                  <a:pt x="927658" y="232990"/>
                </a:lnTo>
                <a:lnTo>
                  <a:pt x="945071" y="191113"/>
                </a:lnTo>
                <a:lnTo>
                  <a:pt x="950875" y="141237"/>
                </a:lnTo>
                <a:lnTo>
                  <a:pt x="949420" y="115355"/>
                </a:lnTo>
                <a:lnTo>
                  <a:pt x="937774" y="69479"/>
                </a:lnTo>
                <a:lnTo>
                  <a:pt x="914678" y="32133"/>
                </a:lnTo>
                <a:lnTo>
                  <a:pt x="881303" y="7390"/>
                </a:lnTo>
                <a:lnTo>
                  <a:pt x="860835" y="0"/>
                </a:lnTo>
                <a:close/>
              </a:path>
              <a:path w="951229" h="282575">
                <a:moveTo>
                  <a:pt x="90040" y="0"/>
                </a:moveTo>
                <a:lnTo>
                  <a:pt x="51624" y="18101"/>
                </a:lnTo>
                <a:lnTo>
                  <a:pt x="23291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3" y="28370"/>
                </a:lnTo>
                <a:lnTo>
                  <a:pt x="94058" y="11460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465860" y="3262855"/>
            <a:ext cx="161925" cy="1216025"/>
          </a:xfrm>
          <a:custGeom>
            <a:avLst/>
            <a:gdLst/>
            <a:ahLst/>
            <a:cxnLst/>
            <a:rect l="l" t="t" r="r" b="b"/>
            <a:pathLst>
              <a:path w="161925" h="1216025">
                <a:moveTo>
                  <a:pt x="53974" y="1053740"/>
                </a:moveTo>
                <a:lnTo>
                  <a:pt x="0" y="1053740"/>
                </a:lnTo>
                <a:lnTo>
                  <a:pt x="80962" y="1215665"/>
                </a:lnTo>
                <a:lnTo>
                  <a:pt x="134937" y="1107715"/>
                </a:lnTo>
                <a:lnTo>
                  <a:pt x="80962" y="1107715"/>
                </a:lnTo>
                <a:lnTo>
                  <a:pt x="70457" y="1105594"/>
                </a:lnTo>
                <a:lnTo>
                  <a:pt x="61879" y="1099811"/>
                </a:lnTo>
                <a:lnTo>
                  <a:pt x="56095" y="1091232"/>
                </a:lnTo>
                <a:lnTo>
                  <a:pt x="53974" y="1080728"/>
                </a:lnTo>
                <a:lnTo>
                  <a:pt x="53974" y="1053740"/>
                </a:lnTo>
                <a:close/>
              </a:path>
              <a:path w="161925" h="1216025">
                <a:moveTo>
                  <a:pt x="80961" y="0"/>
                </a:moveTo>
                <a:lnTo>
                  <a:pt x="70456" y="2120"/>
                </a:lnTo>
                <a:lnTo>
                  <a:pt x="61878" y="7904"/>
                </a:lnTo>
                <a:lnTo>
                  <a:pt x="56094" y="16482"/>
                </a:lnTo>
                <a:lnTo>
                  <a:pt x="53973" y="26987"/>
                </a:lnTo>
                <a:lnTo>
                  <a:pt x="53974" y="1080728"/>
                </a:lnTo>
                <a:lnTo>
                  <a:pt x="56095" y="1091232"/>
                </a:lnTo>
                <a:lnTo>
                  <a:pt x="61879" y="1099811"/>
                </a:lnTo>
                <a:lnTo>
                  <a:pt x="70457" y="1105594"/>
                </a:lnTo>
                <a:lnTo>
                  <a:pt x="80962" y="1107715"/>
                </a:lnTo>
                <a:lnTo>
                  <a:pt x="91467" y="1105594"/>
                </a:lnTo>
                <a:lnTo>
                  <a:pt x="100045" y="1099811"/>
                </a:lnTo>
                <a:lnTo>
                  <a:pt x="105829" y="1091232"/>
                </a:lnTo>
                <a:lnTo>
                  <a:pt x="107949" y="1080728"/>
                </a:lnTo>
                <a:lnTo>
                  <a:pt x="107948" y="26987"/>
                </a:lnTo>
                <a:lnTo>
                  <a:pt x="105827" y="16482"/>
                </a:lnTo>
                <a:lnTo>
                  <a:pt x="100044" y="7904"/>
                </a:lnTo>
                <a:lnTo>
                  <a:pt x="91465" y="2120"/>
                </a:lnTo>
                <a:lnTo>
                  <a:pt x="80961" y="0"/>
                </a:lnTo>
                <a:close/>
              </a:path>
              <a:path w="161925" h="1216025">
                <a:moveTo>
                  <a:pt x="161924" y="1053740"/>
                </a:moveTo>
                <a:lnTo>
                  <a:pt x="107949" y="1053740"/>
                </a:lnTo>
                <a:lnTo>
                  <a:pt x="107949" y="1080728"/>
                </a:lnTo>
                <a:lnTo>
                  <a:pt x="105829" y="1091232"/>
                </a:lnTo>
                <a:lnTo>
                  <a:pt x="100045" y="1099811"/>
                </a:lnTo>
                <a:lnTo>
                  <a:pt x="91467" y="1105594"/>
                </a:lnTo>
                <a:lnTo>
                  <a:pt x="80962" y="1107715"/>
                </a:lnTo>
                <a:lnTo>
                  <a:pt x="134937" y="1107715"/>
                </a:lnTo>
                <a:lnTo>
                  <a:pt x="161924" y="105374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465860" y="4882186"/>
            <a:ext cx="161925" cy="1216025"/>
          </a:xfrm>
          <a:custGeom>
            <a:avLst/>
            <a:gdLst/>
            <a:ahLst/>
            <a:cxnLst/>
            <a:rect l="l" t="t" r="r" b="b"/>
            <a:pathLst>
              <a:path w="161925" h="1216025">
                <a:moveTo>
                  <a:pt x="53974" y="1053741"/>
                </a:moveTo>
                <a:lnTo>
                  <a:pt x="0" y="1053741"/>
                </a:lnTo>
                <a:lnTo>
                  <a:pt x="80962" y="1215666"/>
                </a:lnTo>
                <a:lnTo>
                  <a:pt x="134937" y="1107716"/>
                </a:lnTo>
                <a:lnTo>
                  <a:pt x="80962" y="1107716"/>
                </a:lnTo>
                <a:lnTo>
                  <a:pt x="70457" y="1105595"/>
                </a:lnTo>
                <a:lnTo>
                  <a:pt x="61879" y="1099812"/>
                </a:lnTo>
                <a:lnTo>
                  <a:pt x="56095" y="1091233"/>
                </a:lnTo>
                <a:lnTo>
                  <a:pt x="53974" y="1080729"/>
                </a:lnTo>
                <a:lnTo>
                  <a:pt x="53974" y="1053741"/>
                </a:lnTo>
                <a:close/>
              </a:path>
              <a:path w="161925" h="1216025">
                <a:moveTo>
                  <a:pt x="107949" y="1053741"/>
                </a:moveTo>
                <a:lnTo>
                  <a:pt x="53974" y="1053741"/>
                </a:lnTo>
                <a:lnTo>
                  <a:pt x="53974" y="1080729"/>
                </a:lnTo>
                <a:lnTo>
                  <a:pt x="56095" y="1091233"/>
                </a:lnTo>
                <a:lnTo>
                  <a:pt x="61879" y="1099812"/>
                </a:lnTo>
                <a:lnTo>
                  <a:pt x="70457" y="1105595"/>
                </a:lnTo>
                <a:lnTo>
                  <a:pt x="80962" y="1107716"/>
                </a:lnTo>
                <a:lnTo>
                  <a:pt x="91467" y="1105595"/>
                </a:lnTo>
                <a:lnTo>
                  <a:pt x="100045" y="1099812"/>
                </a:lnTo>
                <a:lnTo>
                  <a:pt x="105829" y="1091233"/>
                </a:lnTo>
                <a:lnTo>
                  <a:pt x="107949" y="1080729"/>
                </a:lnTo>
                <a:lnTo>
                  <a:pt x="107949" y="1053741"/>
                </a:lnTo>
                <a:close/>
              </a:path>
              <a:path w="161925" h="1216025">
                <a:moveTo>
                  <a:pt x="161924" y="1053741"/>
                </a:moveTo>
                <a:lnTo>
                  <a:pt x="107949" y="1053741"/>
                </a:lnTo>
                <a:lnTo>
                  <a:pt x="107949" y="1080729"/>
                </a:lnTo>
                <a:lnTo>
                  <a:pt x="105829" y="1091233"/>
                </a:lnTo>
                <a:lnTo>
                  <a:pt x="100045" y="1099812"/>
                </a:lnTo>
                <a:lnTo>
                  <a:pt x="91467" y="1105595"/>
                </a:lnTo>
                <a:lnTo>
                  <a:pt x="80962" y="1107716"/>
                </a:lnTo>
                <a:lnTo>
                  <a:pt x="134937" y="1107716"/>
                </a:lnTo>
                <a:lnTo>
                  <a:pt x="161924" y="1053741"/>
                </a:lnTo>
                <a:close/>
              </a:path>
              <a:path w="161925" h="1216025">
                <a:moveTo>
                  <a:pt x="80961" y="0"/>
                </a:moveTo>
                <a:lnTo>
                  <a:pt x="70456" y="2120"/>
                </a:lnTo>
                <a:lnTo>
                  <a:pt x="61878" y="7904"/>
                </a:lnTo>
                <a:lnTo>
                  <a:pt x="56094" y="16482"/>
                </a:lnTo>
                <a:lnTo>
                  <a:pt x="53973" y="26987"/>
                </a:lnTo>
                <a:lnTo>
                  <a:pt x="53974" y="1053741"/>
                </a:lnTo>
                <a:lnTo>
                  <a:pt x="107949" y="1053741"/>
                </a:lnTo>
                <a:lnTo>
                  <a:pt x="107948" y="26987"/>
                </a:lnTo>
                <a:lnTo>
                  <a:pt x="105827" y="16482"/>
                </a:lnTo>
                <a:lnTo>
                  <a:pt x="100044" y="7904"/>
                </a:lnTo>
                <a:lnTo>
                  <a:pt x="91465" y="2120"/>
                </a:lnTo>
                <a:lnTo>
                  <a:pt x="8096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437405" y="5591087"/>
            <a:ext cx="927100" cy="282575"/>
          </a:xfrm>
          <a:custGeom>
            <a:avLst/>
            <a:gdLst/>
            <a:ahLst/>
            <a:cxnLst/>
            <a:rect l="l" t="t" r="r" b="b"/>
            <a:pathLst>
              <a:path w="927100" h="282575">
                <a:moveTo>
                  <a:pt x="836706" y="0"/>
                </a:moveTo>
                <a:lnTo>
                  <a:pt x="832688" y="11459"/>
                </a:lnTo>
                <a:lnTo>
                  <a:pt x="849031" y="18552"/>
                </a:lnTo>
                <a:lnTo>
                  <a:pt x="863086" y="28370"/>
                </a:lnTo>
                <a:lnTo>
                  <a:pt x="891624" y="73879"/>
                </a:lnTo>
                <a:lnTo>
                  <a:pt x="899958" y="115662"/>
                </a:lnTo>
                <a:lnTo>
                  <a:pt x="901000" y="139749"/>
                </a:lnTo>
                <a:lnTo>
                  <a:pt x="899953" y="164650"/>
                </a:lnTo>
                <a:lnTo>
                  <a:pt x="891581" y="207587"/>
                </a:lnTo>
                <a:lnTo>
                  <a:pt x="863104" y="253826"/>
                </a:lnTo>
                <a:lnTo>
                  <a:pt x="833133" y="270867"/>
                </a:lnTo>
                <a:lnTo>
                  <a:pt x="836706" y="282326"/>
                </a:lnTo>
                <a:lnTo>
                  <a:pt x="875215" y="264262"/>
                </a:lnTo>
                <a:lnTo>
                  <a:pt x="903530" y="232990"/>
                </a:lnTo>
                <a:lnTo>
                  <a:pt x="920942" y="191113"/>
                </a:lnTo>
                <a:lnTo>
                  <a:pt x="926746" y="141237"/>
                </a:lnTo>
                <a:lnTo>
                  <a:pt x="925291" y="115355"/>
                </a:lnTo>
                <a:lnTo>
                  <a:pt x="913645" y="69479"/>
                </a:lnTo>
                <a:lnTo>
                  <a:pt x="890549" y="32133"/>
                </a:lnTo>
                <a:lnTo>
                  <a:pt x="857174" y="7390"/>
                </a:lnTo>
                <a:lnTo>
                  <a:pt x="836706" y="0"/>
                </a:lnTo>
                <a:close/>
              </a:path>
              <a:path w="927100" h="282575">
                <a:moveTo>
                  <a:pt x="90041" y="0"/>
                </a:moveTo>
                <a:lnTo>
                  <a:pt x="51625" y="18101"/>
                </a:lnTo>
                <a:lnTo>
                  <a:pt x="23291" y="49485"/>
                </a:lnTo>
                <a:lnTo>
                  <a:pt x="5823" y="91436"/>
                </a:lnTo>
                <a:lnTo>
                  <a:pt x="0" y="141237"/>
                </a:lnTo>
                <a:lnTo>
                  <a:pt x="1451" y="167175"/>
                </a:lnTo>
                <a:lnTo>
                  <a:pt x="13059" y="213052"/>
                </a:lnTo>
                <a:lnTo>
                  <a:pt x="36100" y="250277"/>
                </a:lnTo>
                <a:lnTo>
                  <a:pt x="69512" y="274946"/>
                </a:lnTo>
                <a:lnTo>
                  <a:pt x="90041" y="282326"/>
                </a:lnTo>
                <a:lnTo>
                  <a:pt x="93612" y="270867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4" y="164650"/>
                </a:lnTo>
                <a:lnTo>
                  <a:pt x="25747" y="139749"/>
                </a:lnTo>
                <a:lnTo>
                  <a:pt x="26794" y="115662"/>
                </a:lnTo>
                <a:lnTo>
                  <a:pt x="35165" y="73879"/>
                </a:lnTo>
                <a:lnTo>
                  <a:pt x="63754" y="28370"/>
                </a:lnTo>
                <a:lnTo>
                  <a:pt x="94060" y="11459"/>
                </a:lnTo>
                <a:lnTo>
                  <a:pt x="900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6641733" y="3272705"/>
            <a:ext cx="2151380" cy="949325"/>
          </a:xfrm>
          <a:prstGeom prst="rect">
            <a:avLst/>
          </a:prstGeom>
        </p:spPr>
        <p:txBody>
          <a:bodyPr wrap="square" lIns="0" tIns="127635" rIns="0" bIns="0" rtlCol="0" vert="horz">
            <a:spAutoFit/>
          </a:bodyPr>
          <a:lstStyle/>
          <a:p>
            <a:pPr marL="364490" indent="-352425">
              <a:lnSpc>
                <a:spcPct val="100000"/>
              </a:lnSpc>
              <a:spcBef>
                <a:spcPts val="1005"/>
              </a:spcBef>
            </a:pPr>
            <a:r>
              <a:rPr dirty="0" sz="2000" spc="-5">
                <a:solidFill>
                  <a:srgbClr val="0000FF"/>
                </a:solidFill>
                <a:latin typeface="Arial"/>
                <a:cs typeface="Arial"/>
              </a:rPr>
              <a:t>Removing </a:t>
            </a:r>
            <a:r>
              <a:rPr dirty="0" sz="2000">
                <a:solidFill>
                  <a:srgbClr val="0000FF"/>
                </a:solidFill>
                <a:latin typeface="Cambria Math"/>
                <a:cs typeface="Cambria Math"/>
              </a:rPr>
              <a:t>𝑖  </a:t>
            </a:r>
            <a:r>
              <a:rPr dirty="0" sz="2000" spc="-5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dirty="0" sz="2000" spc="-34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000FF"/>
                </a:solidFill>
                <a:latin typeface="Cambria Math"/>
                <a:cs typeface="Cambria Math"/>
              </a:rPr>
              <a:t>𝐷</a:t>
            </a:r>
            <a:endParaRPr sz="2000">
              <a:latin typeface="Cambria Math"/>
              <a:cs typeface="Cambria Math"/>
            </a:endParaRPr>
          </a:p>
          <a:p>
            <a:pPr marL="364490">
              <a:lnSpc>
                <a:spcPct val="100000"/>
              </a:lnSpc>
              <a:spcBef>
                <a:spcPts val="1085"/>
              </a:spcBef>
              <a:tabLst>
                <a:tab pos="887094" algn="l"/>
              </a:tabLst>
            </a:pPr>
            <a:r>
              <a:rPr dirty="0" sz="2400" spc="-5">
                <a:latin typeface="Cambria Math"/>
                <a:cs typeface="Cambria Math"/>
              </a:rPr>
              <a:t>Δ𝑄	</a:t>
            </a:r>
            <a:r>
              <a:rPr dirty="0" sz="2400">
                <a:latin typeface="Cambria Math"/>
                <a:cs typeface="Cambria Math"/>
              </a:rPr>
              <a:t>𝐷 →</a:t>
            </a:r>
            <a:r>
              <a:rPr dirty="0" sz="2400" spc="229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𝑖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33</a:t>
            </a:fld>
          </a:p>
        </p:txBody>
      </p:sp>
      <p:sp>
        <p:nvSpPr>
          <p:cNvPr id="25" name="object 25"/>
          <p:cNvSpPr txBox="1"/>
          <p:nvPr/>
        </p:nvSpPr>
        <p:spPr>
          <a:xfrm>
            <a:off x="6729083" y="5071533"/>
            <a:ext cx="1802764" cy="82105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45"/>
              </a:spcBef>
            </a:pPr>
            <a:r>
              <a:rPr dirty="0" sz="2000" spc="-5">
                <a:solidFill>
                  <a:srgbClr val="0000FF"/>
                </a:solidFill>
                <a:latin typeface="Arial"/>
                <a:cs typeface="Arial"/>
              </a:rPr>
              <a:t>Merging </a:t>
            </a:r>
            <a:r>
              <a:rPr dirty="0" sz="2000">
                <a:solidFill>
                  <a:srgbClr val="0000FF"/>
                </a:solidFill>
                <a:latin typeface="Cambria Math"/>
                <a:cs typeface="Cambria Math"/>
              </a:rPr>
              <a:t>𝑖  </a:t>
            </a:r>
            <a:r>
              <a:rPr dirty="0" sz="2000" spc="-5">
                <a:solidFill>
                  <a:srgbClr val="0000FF"/>
                </a:solidFill>
                <a:latin typeface="Arial"/>
                <a:cs typeface="Arial"/>
              </a:rPr>
              <a:t>into</a:t>
            </a:r>
            <a:r>
              <a:rPr dirty="0" sz="2000" spc="-34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000FF"/>
                </a:solidFill>
                <a:latin typeface="Cambria Math"/>
                <a:cs typeface="Cambria Math"/>
              </a:rPr>
              <a:t>𝐶</a:t>
            </a:r>
            <a:endParaRPr sz="2000">
              <a:latin typeface="Cambria Math"/>
              <a:cs typeface="Cambria Math"/>
            </a:endParaRPr>
          </a:p>
          <a:p>
            <a:pPr algn="ctr" marL="3175">
              <a:lnSpc>
                <a:spcPct val="100000"/>
              </a:lnSpc>
              <a:spcBef>
                <a:spcPts val="535"/>
              </a:spcBef>
              <a:tabLst>
                <a:tab pos="526415" algn="l"/>
              </a:tabLst>
            </a:pPr>
            <a:r>
              <a:rPr dirty="0" sz="2400" spc="-5">
                <a:latin typeface="Cambria Math"/>
                <a:cs typeface="Cambria Math"/>
              </a:rPr>
              <a:t>Δ𝑄	</a:t>
            </a:r>
            <a:r>
              <a:rPr dirty="0" sz="2400">
                <a:latin typeface="Cambria Math"/>
                <a:cs typeface="Cambria Math"/>
              </a:rPr>
              <a:t>𝑖  →</a:t>
            </a:r>
            <a:r>
              <a:rPr dirty="0" sz="2400" spc="-28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𝐶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26136"/>
            <a:ext cx="4700016" cy="5791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573240" y="1463572"/>
            <a:ext cx="1239520" cy="376555"/>
          </a:xfrm>
          <a:custGeom>
            <a:avLst/>
            <a:gdLst/>
            <a:ahLst/>
            <a:cxnLst/>
            <a:rect l="l" t="t" r="r" b="b"/>
            <a:pathLst>
              <a:path w="1239520" h="376555">
                <a:moveTo>
                  <a:pt x="1119353" y="0"/>
                </a:moveTo>
                <a:lnTo>
                  <a:pt x="1113995" y="15279"/>
                </a:lnTo>
                <a:lnTo>
                  <a:pt x="1135786" y="24736"/>
                </a:lnTo>
                <a:lnTo>
                  <a:pt x="1154526" y="37826"/>
                </a:lnTo>
                <a:lnTo>
                  <a:pt x="1182853" y="74909"/>
                </a:lnTo>
                <a:lnTo>
                  <a:pt x="1199522" y="124940"/>
                </a:lnTo>
                <a:lnTo>
                  <a:pt x="1205078" y="186331"/>
                </a:lnTo>
                <a:lnTo>
                  <a:pt x="1203683" y="219533"/>
                </a:lnTo>
                <a:lnTo>
                  <a:pt x="1192521" y="276782"/>
                </a:lnTo>
                <a:lnTo>
                  <a:pt x="1170122" y="321493"/>
                </a:lnTo>
                <a:lnTo>
                  <a:pt x="1136041" y="351655"/>
                </a:lnTo>
                <a:lnTo>
                  <a:pt x="1114591" y="361156"/>
                </a:lnTo>
                <a:lnTo>
                  <a:pt x="1119353" y="376435"/>
                </a:lnTo>
                <a:lnTo>
                  <a:pt x="1170699" y="352349"/>
                </a:lnTo>
                <a:lnTo>
                  <a:pt x="1208451" y="310653"/>
                </a:lnTo>
                <a:lnTo>
                  <a:pt x="1231669" y="254818"/>
                </a:lnTo>
                <a:lnTo>
                  <a:pt x="1239408" y="188316"/>
                </a:lnTo>
                <a:lnTo>
                  <a:pt x="1237467" y="153807"/>
                </a:lnTo>
                <a:lnTo>
                  <a:pt x="1221939" y="92638"/>
                </a:lnTo>
                <a:lnTo>
                  <a:pt x="1191144" y="42843"/>
                </a:lnTo>
                <a:lnTo>
                  <a:pt x="1146645" y="9853"/>
                </a:lnTo>
                <a:lnTo>
                  <a:pt x="1119353" y="0"/>
                </a:lnTo>
                <a:close/>
              </a:path>
              <a:path w="1239520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099393" y="1946172"/>
            <a:ext cx="527050" cy="376555"/>
          </a:xfrm>
          <a:custGeom>
            <a:avLst/>
            <a:gdLst/>
            <a:ahLst/>
            <a:cxnLst/>
            <a:rect l="l" t="t" r="r" b="b"/>
            <a:pathLst>
              <a:path w="527050" h="376555">
                <a:moveTo>
                  <a:pt x="406566" y="0"/>
                </a:moveTo>
                <a:lnTo>
                  <a:pt x="401208" y="15279"/>
                </a:lnTo>
                <a:lnTo>
                  <a:pt x="422999" y="24736"/>
                </a:lnTo>
                <a:lnTo>
                  <a:pt x="441739" y="37826"/>
                </a:lnTo>
                <a:lnTo>
                  <a:pt x="470066" y="74909"/>
                </a:lnTo>
                <a:lnTo>
                  <a:pt x="486735" y="124940"/>
                </a:lnTo>
                <a:lnTo>
                  <a:pt x="492291" y="186331"/>
                </a:lnTo>
                <a:lnTo>
                  <a:pt x="490895" y="219533"/>
                </a:lnTo>
                <a:lnTo>
                  <a:pt x="479733" y="276782"/>
                </a:lnTo>
                <a:lnTo>
                  <a:pt x="457335" y="321493"/>
                </a:lnTo>
                <a:lnTo>
                  <a:pt x="423253" y="351655"/>
                </a:lnTo>
                <a:lnTo>
                  <a:pt x="401803" y="361156"/>
                </a:lnTo>
                <a:lnTo>
                  <a:pt x="406566" y="376435"/>
                </a:lnTo>
                <a:lnTo>
                  <a:pt x="457911" y="352349"/>
                </a:lnTo>
                <a:lnTo>
                  <a:pt x="495664" y="310653"/>
                </a:lnTo>
                <a:lnTo>
                  <a:pt x="518881" y="254818"/>
                </a:lnTo>
                <a:lnTo>
                  <a:pt x="526620" y="188316"/>
                </a:lnTo>
                <a:lnTo>
                  <a:pt x="524679" y="153807"/>
                </a:lnTo>
                <a:lnTo>
                  <a:pt x="509152" y="92638"/>
                </a:lnTo>
                <a:lnTo>
                  <a:pt x="478357" y="42843"/>
                </a:lnTo>
                <a:lnTo>
                  <a:pt x="433857" y="9853"/>
                </a:lnTo>
                <a:lnTo>
                  <a:pt x="406566" y="0"/>
                </a:lnTo>
                <a:close/>
              </a:path>
              <a:path w="527050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3088005" algn="l"/>
              </a:tabLst>
            </a:pPr>
            <a:r>
              <a:rPr dirty="0" spc="-25"/>
              <a:t>Let’s</a:t>
            </a:r>
            <a:r>
              <a:rPr dirty="0" spc="0"/>
              <a:t> </a:t>
            </a:r>
            <a:r>
              <a:rPr dirty="0" spc="-10"/>
              <a:t>derive</a:t>
            </a:r>
            <a:r>
              <a:rPr dirty="0"/>
              <a:t> </a:t>
            </a:r>
            <a:r>
              <a:rPr dirty="0" spc="-5" b="0">
                <a:latin typeface="Cambria Math"/>
                <a:cs typeface="Cambria Math"/>
              </a:rPr>
              <a:t>𝜟𝑸	</a:t>
            </a:r>
            <a:r>
              <a:rPr dirty="0" b="0">
                <a:latin typeface="Cambria Math"/>
                <a:cs typeface="Cambria Math"/>
              </a:rPr>
              <a:t>𝒊 →</a:t>
            </a:r>
            <a:r>
              <a:rPr dirty="0" spc="260" b="0">
                <a:latin typeface="Cambria Math"/>
                <a:cs typeface="Cambria Math"/>
              </a:rPr>
              <a:t> </a:t>
            </a:r>
            <a:r>
              <a:rPr dirty="0" b="0">
                <a:latin typeface="Cambria Math"/>
                <a:cs typeface="Cambria Math"/>
              </a:rPr>
              <a:t>𝑪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7613650" algn="l"/>
                <a:tab pos="8043545" algn="l"/>
              </a:tabLst>
            </a:pPr>
            <a:r>
              <a:rPr dirty="0" b="0">
                <a:latin typeface="Calibri"/>
                <a:cs typeface="Calibri"/>
              </a:rPr>
              <a:t>Fi</a:t>
            </a:r>
            <a:r>
              <a:rPr dirty="0" spc="-60" b="0">
                <a:latin typeface="Calibri"/>
                <a:cs typeface="Calibri"/>
              </a:rPr>
              <a:t>r</a:t>
            </a:r>
            <a:r>
              <a:rPr dirty="0" spc="-40" b="0">
                <a:latin typeface="Calibri"/>
                <a:cs typeface="Calibri"/>
              </a:rPr>
              <a:t>s</a:t>
            </a:r>
            <a:r>
              <a:rPr dirty="0" b="0">
                <a:latin typeface="Calibri"/>
                <a:cs typeface="Calibri"/>
              </a:rPr>
              <a:t>t, </a:t>
            </a:r>
            <a:r>
              <a:rPr dirty="0" spc="-30" b="0">
                <a:latin typeface="Calibri"/>
                <a:cs typeface="Calibri"/>
              </a:rPr>
              <a:t>w</a:t>
            </a:r>
            <a:r>
              <a:rPr dirty="0" b="0">
                <a:latin typeface="Calibri"/>
                <a:cs typeface="Calibri"/>
              </a:rPr>
              <a:t>e</a:t>
            </a:r>
            <a:r>
              <a:rPr dirty="0" spc="-5" b="0">
                <a:latin typeface="Calibri"/>
                <a:cs typeface="Calibri"/>
              </a:rPr>
              <a:t> </a:t>
            </a:r>
            <a:r>
              <a:rPr dirty="0" spc="0" b="0">
                <a:latin typeface="Calibri"/>
                <a:cs typeface="Calibri"/>
              </a:rPr>
              <a:t>d</a:t>
            </a:r>
            <a:r>
              <a:rPr dirty="0" spc="-5" b="0">
                <a:latin typeface="Calibri"/>
                <a:cs typeface="Calibri"/>
              </a:rPr>
              <a:t>er</a:t>
            </a:r>
            <a:r>
              <a:rPr dirty="0" b="0">
                <a:latin typeface="Calibri"/>
                <a:cs typeface="Calibri"/>
              </a:rPr>
              <a:t>i</a:t>
            </a:r>
            <a:r>
              <a:rPr dirty="0" spc="-30" b="0">
                <a:latin typeface="Calibri"/>
                <a:cs typeface="Calibri"/>
              </a:rPr>
              <a:t>v</a:t>
            </a:r>
            <a:r>
              <a:rPr dirty="0" b="0">
                <a:latin typeface="Calibri"/>
                <a:cs typeface="Calibri"/>
              </a:rPr>
              <a:t>e</a:t>
            </a:r>
            <a:r>
              <a:rPr dirty="0" spc="-5" b="0">
                <a:latin typeface="Calibri"/>
                <a:cs typeface="Calibri"/>
              </a:rPr>
              <a:t> </a:t>
            </a:r>
            <a:r>
              <a:rPr dirty="0" spc="0" b="0">
                <a:latin typeface="Calibri"/>
                <a:cs typeface="Calibri"/>
              </a:rPr>
              <a:t>m</a:t>
            </a:r>
            <a:r>
              <a:rPr dirty="0" spc="-5" b="0">
                <a:latin typeface="Calibri"/>
                <a:cs typeface="Calibri"/>
              </a:rPr>
              <a:t>o</a:t>
            </a:r>
            <a:r>
              <a:rPr dirty="0" spc="0" b="0">
                <a:latin typeface="Calibri"/>
                <a:cs typeface="Calibri"/>
              </a:rPr>
              <a:t>du</a:t>
            </a:r>
            <a:r>
              <a:rPr dirty="0" b="0">
                <a:latin typeface="Calibri"/>
                <a:cs typeface="Calibri"/>
              </a:rPr>
              <a:t>la</a:t>
            </a:r>
            <a:r>
              <a:rPr dirty="0" spc="-5" b="0">
                <a:latin typeface="Calibri"/>
                <a:cs typeface="Calibri"/>
              </a:rPr>
              <a:t>r</a:t>
            </a:r>
            <a:r>
              <a:rPr dirty="0" b="0">
                <a:latin typeface="Calibri"/>
                <a:cs typeface="Calibri"/>
              </a:rPr>
              <a:t>ity </a:t>
            </a:r>
            <a:r>
              <a:rPr dirty="0"/>
              <a:t>w</a:t>
            </a:r>
            <a:r>
              <a:rPr dirty="0" spc="-5"/>
              <a:t>i</a:t>
            </a:r>
            <a:r>
              <a:rPr dirty="0"/>
              <a:t>t</a:t>
            </a:r>
            <a:r>
              <a:rPr dirty="0" spc="-10"/>
              <a:t>h</a:t>
            </a:r>
            <a:r>
              <a:rPr dirty="0"/>
              <a:t>in</a:t>
            </a:r>
            <a:r>
              <a:rPr dirty="0" spc="-5"/>
              <a:t> </a:t>
            </a:r>
            <a:r>
              <a:rPr dirty="0" b="0">
                <a:latin typeface="Cambria Math"/>
                <a:cs typeface="Cambria Math"/>
              </a:rPr>
              <a:t>𝑪</a:t>
            </a:r>
            <a:r>
              <a:rPr dirty="0" b="0">
                <a:latin typeface="Calibri"/>
                <a:cs typeface="Calibri"/>
              </a:rPr>
              <a:t>, i.</a:t>
            </a:r>
            <a:r>
              <a:rPr dirty="0" spc="-5" b="0">
                <a:latin typeface="Calibri"/>
                <a:cs typeface="Calibri"/>
              </a:rPr>
              <a:t>e</a:t>
            </a:r>
            <a:r>
              <a:rPr dirty="0" b="0">
                <a:latin typeface="Calibri"/>
                <a:cs typeface="Calibri"/>
              </a:rPr>
              <a:t>., </a:t>
            </a:r>
            <a:r>
              <a:rPr dirty="0" b="0">
                <a:latin typeface="Cambria Math"/>
                <a:cs typeface="Cambria Math"/>
              </a:rPr>
              <a:t>𝑄	𝐶	</a:t>
            </a:r>
            <a:r>
              <a:rPr dirty="0" b="0">
                <a:latin typeface="Calibri"/>
                <a:cs typeface="Calibri"/>
              </a:rPr>
              <a:t>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382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97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/>
              <a:t>Define:</a:t>
            </a:r>
          </a:p>
          <a:p>
            <a:pPr lvl="1" marL="890905" indent="-228600">
              <a:lnSpc>
                <a:spcPct val="100000"/>
              </a:lnSpc>
              <a:spcBef>
                <a:spcPts val="655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10">
                <a:latin typeface="Cambria Math"/>
                <a:cs typeface="Cambria Math"/>
              </a:rPr>
              <a:t>𝜮</a:t>
            </a:r>
            <a:r>
              <a:rPr dirty="0" baseline="-15432" sz="2700" spc="-15">
                <a:latin typeface="Cambria Math"/>
                <a:cs typeface="Cambria Math"/>
              </a:rPr>
              <a:t>𝒊𝒏 </a:t>
            </a:r>
            <a:r>
              <a:rPr dirty="0" sz="2400">
                <a:latin typeface="Cambria Math"/>
                <a:cs typeface="Cambria Math"/>
              </a:rPr>
              <a:t>≡ </a:t>
            </a:r>
            <a:r>
              <a:rPr dirty="0" baseline="2314" sz="3600" spc="82">
                <a:latin typeface="Cambria Math"/>
                <a:cs typeface="Cambria Math"/>
              </a:rPr>
              <a:t>∑</a:t>
            </a:r>
            <a:r>
              <a:rPr dirty="0" baseline="-18518" sz="2700" spc="82">
                <a:latin typeface="Cambria Math"/>
                <a:cs typeface="Cambria Math"/>
              </a:rPr>
              <a:t>!,"∈2 </a:t>
            </a:r>
            <a:r>
              <a:rPr dirty="0" sz="2400" spc="75">
                <a:latin typeface="Cambria Math"/>
                <a:cs typeface="Cambria Math"/>
              </a:rPr>
              <a:t>𝐴</a:t>
            </a:r>
            <a:r>
              <a:rPr dirty="0" baseline="-15432" sz="2700" spc="112">
                <a:latin typeface="Cambria Math"/>
                <a:cs typeface="Cambria Math"/>
              </a:rPr>
              <a:t>!"</a:t>
            </a:r>
            <a:r>
              <a:rPr dirty="0" sz="2400" spc="75">
                <a:latin typeface="Calibri"/>
                <a:cs typeface="Calibri"/>
              </a:rPr>
              <a:t>… </a:t>
            </a:r>
            <a:r>
              <a:rPr dirty="0" sz="2400" spc="-5">
                <a:solidFill>
                  <a:srgbClr val="008000"/>
                </a:solidFill>
                <a:latin typeface="Calibri"/>
                <a:cs typeface="Calibri"/>
              </a:rPr>
              <a:t>sum of </a:t>
            </a:r>
            <a:r>
              <a:rPr dirty="0" sz="2400">
                <a:solidFill>
                  <a:srgbClr val="008000"/>
                </a:solidFill>
                <a:latin typeface="Calibri"/>
                <a:cs typeface="Calibri"/>
              </a:rPr>
              <a:t>link </a:t>
            </a:r>
            <a:r>
              <a:rPr dirty="0" sz="2400" spc="-10">
                <a:solidFill>
                  <a:srgbClr val="008000"/>
                </a:solidFill>
                <a:latin typeface="Calibri"/>
                <a:cs typeface="Calibri"/>
              </a:rPr>
              <a:t>weights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 spc="-10" u="sng">
                <a:latin typeface="Calibri"/>
                <a:cs typeface="Calibri"/>
              </a:rPr>
              <a:t>between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nodes in  </a:t>
            </a:r>
            <a:r>
              <a:rPr dirty="0" sz="2400" spc="-35">
                <a:latin typeface="Cambria Math"/>
                <a:cs typeface="Cambria Math"/>
              </a:rPr>
              <a:t>𝐶</a:t>
            </a:r>
            <a:endParaRPr sz="2400">
              <a:latin typeface="Cambria Math"/>
              <a:cs typeface="Cambria Math"/>
            </a:endParaRPr>
          </a:p>
          <a:p>
            <a:pPr lvl="1" marL="890905" indent="-228600">
              <a:lnSpc>
                <a:spcPct val="100000"/>
              </a:lnSpc>
              <a:spcBef>
                <a:spcPts val="91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15">
                <a:latin typeface="Cambria Math"/>
                <a:cs typeface="Cambria Math"/>
              </a:rPr>
              <a:t>𝜮</a:t>
            </a:r>
            <a:r>
              <a:rPr dirty="0" baseline="-15432" sz="2700" spc="-22">
                <a:latin typeface="Cambria Math"/>
                <a:cs typeface="Cambria Math"/>
              </a:rPr>
              <a:t>𝒕𝒐𝒕  </a:t>
            </a:r>
            <a:r>
              <a:rPr dirty="0" sz="2400">
                <a:latin typeface="Cambria Math"/>
                <a:cs typeface="Cambria Math"/>
              </a:rPr>
              <a:t>≡ </a:t>
            </a:r>
            <a:r>
              <a:rPr dirty="0" baseline="2314" sz="3600" spc="75">
                <a:latin typeface="Cambria Math"/>
                <a:cs typeface="Cambria Math"/>
              </a:rPr>
              <a:t>∑</a:t>
            </a:r>
            <a:r>
              <a:rPr dirty="0" baseline="-18518" sz="2700" spc="75">
                <a:latin typeface="Cambria Math"/>
                <a:cs typeface="Cambria Math"/>
              </a:rPr>
              <a:t>!∈2 </a:t>
            </a:r>
            <a:r>
              <a:rPr dirty="0" sz="2400" spc="65">
                <a:latin typeface="Cambria Math"/>
                <a:cs typeface="Cambria Math"/>
              </a:rPr>
              <a:t>𝑘</a:t>
            </a:r>
            <a:r>
              <a:rPr dirty="0" baseline="-15432" sz="2700" spc="97">
                <a:latin typeface="Cambria Math"/>
                <a:cs typeface="Cambria Math"/>
              </a:rPr>
              <a:t>!</a:t>
            </a:r>
            <a:r>
              <a:rPr dirty="0" sz="2400" spc="65">
                <a:latin typeface="Calibri"/>
                <a:cs typeface="Calibri"/>
              </a:rPr>
              <a:t>… </a:t>
            </a:r>
            <a:r>
              <a:rPr dirty="0" sz="2400" spc="-5">
                <a:solidFill>
                  <a:srgbClr val="008000"/>
                </a:solidFill>
                <a:latin typeface="Calibri"/>
                <a:cs typeface="Calibri"/>
              </a:rPr>
              <a:t>sum of </a:t>
            </a:r>
            <a:r>
              <a:rPr dirty="0" sz="2400" u="heavy">
                <a:solidFill>
                  <a:srgbClr val="008000"/>
                </a:solidFill>
                <a:latin typeface="Calibri"/>
                <a:cs typeface="Calibri"/>
              </a:rPr>
              <a:t>all</a:t>
            </a:r>
            <a:r>
              <a:rPr dirty="0" sz="240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400" spc="-5">
                <a:solidFill>
                  <a:srgbClr val="008000"/>
                </a:solidFill>
                <a:latin typeface="Calibri"/>
                <a:cs typeface="Calibri"/>
              </a:rPr>
              <a:t>link </a:t>
            </a:r>
            <a:r>
              <a:rPr dirty="0" sz="2400" spc="-10">
                <a:solidFill>
                  <a:srgbClr val="008000"/>
                </a:solidFill>
                <a:latin typeface="Calibri"/>
                <a:cs typeface="Calibri"/>
              </a:rPr>
              <a:t>weights </a:t>
            </a:r>
            <a:r>
              <a:rPr dirty="0" sz="2400" spc="-5">
                <a:latin typeface="Calibri"/>
                <a:cs typeface="Calibri"/>
              </a:rPr>
              <a:t>of nodes in</a:t>
            </a:r>
            <a:r>
              <a:rPr dirty="0" sz="2400" spc="-285">
                <a:latin typeface="Calibri"/>
                <a:cs typeface="Calibri"/>
              </a:rPr>
              <a:t> </a:t>
            </a:r>
            <a:r>
              <a:rPr dirty="0" sz="2400">
                <a:latin typeface="Cambria Math"/>
                <a:cs typeface="Cambria Math"/>
              </a:rPr>
              <a:t>𝐶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14929" y="4163059"/>
            <a:ext cx="6369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574" sz="3600" spc="-7">
                <a:latin typeface="Cambria Math"/>
                <a:cs typeface="Cambria Math"/>
              </a:rPr>
              <a:t>𝜮</a:t>
            </a:r>
            <a:r>
              <a:rPr dirty="0" sz="1800" spc="-20">
                <a:latin typeface="Cambria Math"/>
                <a:cs typeface="Cambria Math"/>
              </a:rPr>
              <a:t>𝒕</a:t>
            </a:r>
            <a:r>
              <a:rPr dirty="0" sz="1800" spc="-30">
                <a:latin typeface="Cambria Math"/>
                <a:cs typeface="Cambria Math"/>
              </a:rPr>
              <a:t>𝒐</a:t>
            </a:r>
            <a:r>
              <a:rPr dirty="0" sz="1800" spc="55">
                <a:latin typeface="Cambria Math"/>
                <a:cs typeface="Cambria Math"/>
              </a:rPr>
              <a:t>𝒕</a:t>
            </a:r>
            <a:r>
              <a:rPr dirty="0" baseline="11574" sz="3600" b="1">
                <a:latin typeface="Corbel"/>
                <a:cs typeface="Corbel"/>
              </a:rPr>
              <a:t>:</a:t>
            </a:r>
            <a:endParaRPr baseline="11574" sz="3600">
              <a:latin typeface="Corbel"/>
              <a:cs typeface="Corbe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26673" y="4147820"/>
            <a:ext cx="5480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𝜮</a:t>
            </a:r>
            <a:r>
              <a:rPr dirty="0" baseline="-15432" sz="2700">
                <a:latin typeface="Cambria Math"/>
                <a:cs typeface="Cambria Math"/>
              </a:rPr>
              <a:t>𝒊𝒏</a:t>
            </a:r>
            <a:r>
              <a:rPr dirty="0" sz="2400" b="1">
                <a:latin typeface="Corbel"/>
                <a:cs typeface="Corbel"/>
              </a:rPr>
              <a:t>: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52356" y="4405338"/>
            <a:ext cx="1797692" cy="11189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399671" y="4205732"/>
            <a:ext cx="1689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𝑪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23738" y="4426515"/>
            <a:ext cx="1807218" cy="11189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675817" y="4227067"/>
            <a:ext cx="1689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𝑪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33</a:t>
            </a:fld>
          </a:p>
        </p:txBody>
      </p:sp>
      <p:sp>
        <p:nvSpPr>
          <p:cNvPr id="13" name="object 13"/>
          <p:cNvSpPr txBox="1"/>
          <p:nvPr/>
        </p:nvSpPr>
        <p:spPr>
          <a:xfrm>
            <a:off x="3680851" y="5202428"/>
            <a:ext cx="8826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35">
                <a:latin typeface="Cambria Math"/>
                <a:cs typeface="Cambria Math"/>
              </a:rPr>
              <a:t>Σ</a:t>
            </a:r>
            <a:r>
              <a:rPr dirty="0" baseline="-14957" sz="1950" spc="52">
                <a:latin typeface="Cambria Math"/>
                <a:cs typeface="Cambria Math"/>
              </a:rPr>
              <a:t>!#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114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10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75131" y="5257291"/>
            <a:ext cx="962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45">
                <a:latin typeface="Cambria Math"/>
                <a:cs typeface="Cambria Math"/>
              </a:rPr>
              <a:t>Σ</a:t>
            </a:r>
            <a:r>
              <a:rPr dirty="0" baseline="-14957" sz="1950" spc="-217">
                <a:latin typeface="Cambria Math"/>
                <a:cs typeface="Cambria Math"/>
              </a:rPr>
              <a:t>$%$  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3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13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26136"/>
            <a:ext cx="4700016" cy="5791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573240" y="1463572"/>
            <a:ext cx="1239520" cy="376555"/>
          </a:xfrm>
          <a:custGeom>
            <a:avLst/>
            <a:gdLst/>
            <a:ahLst/>
            <a:cxnLst/>
            <a:rect l="l" t="t" r="r" b="b"/>
            <a:pathLst>
              <a:path w="1239520" h="376555">
                <a:moveTo>
                  <a:pt x="1119353" y="0"/>
                </a:moveTo>
                <a:lnTo>
                  <a:pt x="1113995" y="15279"/>
                </a:lnTo>
                <a:lnTo>
                  <a:pt x="1135786" y="24736"/>
                </a:lnTo>
                <a:lnTo>
                  <a:pt x="1154526" y="37826"/>
                </a:lnTo>
                <a:lnTo>
                  <a:pt x="1182853" y="74909"/>
                </a:lnTo>
                <a:lnTo>
                  <a:pt x="1199522" y="124940"/>
                </a:lnTo>
                <a:lnTo>
                  <a:pt x="1205078" y="186331"/>
                </a:lnTo>
                <a:lnTo>
                  <a:pt x="1203683" y="219533"/>
                </a:lnTo>
                <a:lnTo>
                  <a:pt x="1192521" y="276782"/>
                </a:lnTo>
                <a:lnTo>
                  <a:pt x="1170122" y="321493"/>
                </a:lnTo>
                <a:lnTo>
                  <a:pt x="1136041" y="351655"/>
                </a:lnTo>
                <a:lnTo>
                  <a:pt x="1114591" y="361156"/>
                </a:lnTo>
                <a:lnTo>
                  <a:pt x="1119353" y="376435"/>
                </a:lnTo>
                <a:lnTo>
                  <a:pt x="1170699" y="352349"/>
                </a:lnTo>
                <a:lnTo>
                  <a:pt x="1208451" y="310653"/>
                </a:lnTo>
                <a:lnTo>
                  <a:pt x="1231669" y="254818"/>
                </a:lnTo>
                <a:lnTo>
                  <a:pt x="1239408" y="188316"/>
                </a:lnTo>
                <a:lnTo>
                  <a:pt x="1237467" y="153807"/>
                </a:lnTo>
                <a:lnTo>
                  <a:pt x="1221939" y="92638"/>
                </a:lnTo>
                <a:lnTo>
                  <a:pt x="1191144" y="42843"/>
                </a:lnTo>
                <a:lnTo>
                  <a:pt x="1146645" y="9853"/>
                </a:lnTo>
                <a:lnTo>
                  <a:pt x="1119353" y="0"/>
                </a:lnTo>
                <a:close/>
              </a:path>
              <a:path w="1239520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099393" y="1946172"/>
            <a:ext cx="527050" cy="376555"/>
          </a:xfrm>
          <a:custGeom>
            <a:avLst/>
            <a:gdLst/>
            <a:ahLst/>
            <a:cxnLst/>
            <a:rect l="l" t="t" r="r" b="b"/>
            <a:pathLst>
              <a:path w="527050" h="376555">
                <a:moveTo>
                  <a:pt x="406566" y="0"/>
                </a:moveTo>
                <a:lnTo>
                  <a:pt x="401208" y="15279"/>
                </a:lnTo>
                <a:lnTo>
                  <a:pt x="422999" y="24736"/>
                </a:lnTo>
                <a:lnTo>
                  <a:pt x="441739" y="37826"/>
                </a:lnTo>
                <a:lnTo>
                  <a:pt x="470066" y="74909"/>
                </a:lnTo>
                <a:lnTo>
                  <a:pt x="486735" y="124940"/>
                </a:lnTo>
                <a:lnTo>
                  <a:pt x="492291" y="186331"/>
                </a:lnTo>
                <a:lnTo>
                  <a:pt x="490895" y="219533"/>
                </a:lnTo>
                <a:lnTo>
                  <a:pt x="479733" y="276782"/>
                </a:lnTo>
                <a:lnTo>
                  <a:pt x="457335" y="321493"/>
                </a:lnTo>
                <a:lnTo>
                  <a:pt x="423253" y="351655"/>
                </a:lnTo>
                <a:lnTo>
                  <a:pt x="401803" y="361156"/>
                </a:lnTo>
                <a:lnTo>
                  <a:pt x="406566" y="376435"/>
                </a:lnTo>
                <a:lnTo>
                  <a:pt x="457911" y="352349"/>
                </a:lnTo>
                <a:lnTo>
                  <a:pt x="495664" y="310653"/>
                </a:lnTo>
                <a:lnTo>
                  <a:pt x="518881" y="254818"/>
                </a:lnTo>
                <a:lnTo>
                  <a:pt x="526620" y="188316"/>
                </a:lnTo>
                <a:lnTo>
                  <a:pt x="524679" y="153807"/>
                </a:lnTo>
                <a:lnTo>
                  <a:pt x="509152" y="92638"/>
                </a:lnTo>
                <a:lnTo>
                  <a:pt x="478357" y="42843"/>
                </a:lnTo>
                <a:lnTo>
                  <a:pt x="433857" y="9853"/>
                </a:lnTo>
                <a:lnTo>
                  <a:pt x="406566" y="0"/>
                </a:lnTo>
                <a:close/>
              </a:path>
              <a:path w="527050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3088005" algn="l"/>
              </a:tabLst>
            </a:pPr>
            <a:r>
              <a:rPr dirty="0" spc="-25"/>
              <a:t>Let’s</a:t>
            </a:r>
            <a:r>
              <a:rPr dirty="0" spc="0"/>
              <a:t> </a:t>
            </a:r>
            <a:r>
              <a:rPr dirty="0" spc="-10"/>
              <a:t>derive</a:t>
            </a:r>
            <a:r>
              <a:rPr dirty="0"/>
              <a:t> </a:t>
            </a:r>
            <a:r>
              <a:rPr dirty="0" spc="-5" b="0">
                <a:latin typeface="Cambria Math"/>
                <a:cs typeface="Cambria Math"/>
              </a:rPr>
              <a:t>𝜟𝑸	</a:t>
            </a:r>
            <a:r>
              <a:rPr dirty="0" b="0">
                <a:latin typeface="Cambria Math"/>
                <a:cs typeface="Cambria Math"/>
              </a:rPr>
              <a:t>𝒊 →</a:t>
            </a:r>
            <a:r>
              <a:rPr dirty="0" spc="260" b="0">
                <a:latin typeface="Cambria Math"/>
                <a:cs typeface="Cambria Math"/>
              </a:rPr>
              <a:t> </a:t>
            </a:r>
            <a:r>
              <a:rPr dirty="0" b="0">
                <a:latin typeface="Cambria Math"/>
                <a:cs typeface="Cambria Math"/>
              </a:rPr>
              <a:t>𝑪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7613650" algn="l"/>
                <a:tab pos="8043545" algn="l"/>
              </a:tabLst>
            </a:pPr>
            <a:r>
              <a:rPr dirty="0" b="0">
                <a:latin typeface="Calibri"/>
                <a:cs typeface="Calibri"/>
              </a:rPr>
              <a:t>Fi</a:t>
            </a:r>
            <a:r>
              <a:rPr dirty="0" spc="-60" b="0">
                <a:latin typeface="Calibri"/>
                <a:cs typeface="Calibri"/>
              </a:rPr>
              <a:t>r</a:t>
            </a:r>
            <a:r>
              <a:rPr dirty="0" spc="-40" b="0">
                <a:latin typeface="Calibri"/>
                <a:cs typeface="Calibri"/>
              </a:rPr>
              <a:t>s</a:t>
            </a:r>
            <a:r>
              <a:rPr dirty="0" b="0">
                <a:latin typeface="Calibri"/>
                <a:cs typeface="Calibri"/>
              </a:rPr>
              <a:t>t, </a:t>
            </a:r>
            <a:r>
              <a:rPr dirty="0" spc="-30" b="0">
                <a:latin typeface="Calibri"/>
                <a:cs typeface="Calibri"/>
              </a:rPr>
              <a:t>w</a:t>
            </a:r>
            <a:r>
              <a:rPr dirty="0" b="0">
                <a:latin typeface="Calibri"/>
                <a:cs typeface="Calibri"/>
              </a:rPr>
              <a:t>e</a:t>
            </a:r>
            <a:r>
              <a:rPr dirty="0" spc="-5" b="0">
                <a:latin typeface="Calibri"/>
                <a:cs typeface="Calibri"/>
              </a:rPr>
              <a:t> </a:t>
            </a:r>
            <a:r>
              <a:rPr dirty="0" spc="0" b="0">
                <a:latin typeface="Calibri"/>
                <a:cs typeface="Calibri"/>
              </a:rPr>
              <a:t>d</a:t>
            </a:r>
            <a:r>
              <a:rPr dirty="0" spc="-5" b="0">
                <a:latin typeface="Calibri"/>
                <a:cs typeface="Calibri"/>
              </a:rPr>
              <a:t>er</a:t>
            </a:r>
            <a:r>
              <a:rPr dirty="0" b="0">
                <a:latin typeface="Calibri"/>
                <a:cs typeface="Calibri"/>
              </a:rPr>
              <a:t>i</a:t>
            </a:r>
            <a:r>
              <a:rPr dirty="0" spc="-30" b="0">
                <a:latin typeface="Calibri"/>
                <a:cs typeface="Calibri"/>
              </a:rPr>
              <a:t>v</a:t>
            </a:r>
            <a:r>
              <a:rPr dirty="0" b="0">
                <a:latin typeface="Calibri"/>
                <a:cs typeface="Calibri"/>
              </a:rPr>
              <a:t>e</a:t>
            </a:r>
            <a:r>
              <a:rPr dirty="0" spc="-5" b="0">
                <a:latin typeface="Calibri"/>
                <a:cs typeface="Calibri"/>
              </a:rPr>
              <a:t> </a:t>
            </a:r>
            <a:r>
              <a:rPr dirty="0" spc="0" b="0">
                <a:latin typeface="Calibri"/>
                <a:cs typeface="Calibri"/>
              </a:rPr>
              <a:t>m</a:t>
            </a:r>
            <a:r>
              <a:rPr dirty="0" spc="-5" b="0">
                <a:latin typeface="Calibri"/>
                <a:cs typeface="Calibri"/>
              </a:rPr>
              <a:t>o</a:t>
            </a:r>
            <a:r>
              <a:rPr dirty="0" spc="0" b="0">
                <a:latin typeface="Calibri"/>
                <a:cs typeface="Calibri"/>
              </a:rPr>
              <a:t>du</a:t>
            </a:r>
            <a:r>
              <a:rPr dirty="0" b="0">
                <a:latin typeface="Calibri"/>
                <a:cs typeface="Calibri"/>
              </a:rPr>
              <a:t>la</a:t>
            </a:r>
            <a:r>
              <a:rPr dirty="0" spc="-5" b="0">
                <a:latin typeface="Calibri"/>
                <a:cs typeface="Calibri"/>
              </a:rPr>
              <a:t>r</a:t>
            </a:r>
            <a:r>
              <a:rPr dirty="0" b="0">
                <a:latin typeface="Calibri"/>
                <a:cs typeface="Calibri"/>
              </a:rPr>
              <a:t>ity </a:t>
            </a:r>
            <a:r>
              <a:rPr dirty="0"/>
              <a:t>w</a:t>
            </a:r>
            <a:r>
              <a:rPr dirty="0" spc="-5"/>
              <a:t>i</a:t>
            </a:r>
            <a:r>
              <a:rPr dirty="0"/>
              <a:t>t</a:t>
            </a:r>
            <a:r>
              <a:rPr dirty="0" spc="-10"/>
              <a:t>h</a:t>
            </a:r>
            <a:r>
              <a:rPr dirty="0"/>
              <a:t>in</a:t>
            </a:r>
            <a:r>
              <a:rPr dirty="0" spc="-5"/>
              <a:t> </a:t>
            </a:r>
            <a:r>
              <a:rPr dirty="0" b="0">
                <a:latin typeface="Cambria Math"/>
                <a:cs typeface="Cambria Math"/>
              </a:rPr>
              <a:t>𝑪</a:t>
            </a:r>
            <a:r>
              <a:rPr dirty="0" b="0">
                <a:latin typeface="Calibri"/>
                <a:cs typeface="Calibri"/>
              </a:rPr>
              <a:t>, i.</a:t>
            </a:r>
            <a:r>
              <a:rPr dirty="0" spc="-5" b="0">
                <a:latin typeface="Calibri"/>
                <a:cs typeface="Calibri"/>
              </a:rPr>
              <a:t>e</a:t>
            </a:r>
            <a:r>
              <a:rPr dirty="0" b="0">
                <a:latin typeface="Calibri"/>
                <a:cs typeface="Calibri"/>
              </a:rPr>
              <a:t>., </a:t>
            </a:r>
            <a:r>
              <a:rPr dirty="0" b="0">
                <a:latin typeface="Cambria Math"/>
                <a:cs typeface="Cambria Math"/>
              </a:rPr>
              <a:t>𝑄	𝐶	</a:t>
            </a:r>
            <a:r>
              <a:rPr dirty="0" b="0">
                <a:latin typeface="Calibri"/>
                <a:cs typeface="Calibri"/>
              </a:rPr>
              <a:t>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382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97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/>
              <a:t>Define:</a:t>
            </a:r>
          </a:p>
          <a:p>
            <a:pPr lvl="1" marL="890905" indent="-228600">
              <a:lnSpc>
                <a:spcPct val="100000"/>
              </a:lnSpc>
              <a:spcBef>
                <a:spcPts val="655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10">
                <a:latin typeface="Cambria Math"/>
                <a:cs typeface="Cambria Math"/>
              </a:rPr>
              <a:t>𝜮</a:t>
            </a:r>
            <a:r>
              <a:rPr dirty="0" baseline="-15432" sz="2700" spc="-15">
                <a:latin typeface="Cambria Math"/>
                <a:cs typeface="Cambria Math"/>
              </a:rPr>
              <a:t>𝒊𝒏 </a:t>
            </a:r>
            <a:r>
              <a:rPr dirty="0" sz="2400">
                <a:latin typeface="Cambria Math"/>
                <a:cs typeface="Cambria Math"/>
              </a:rPr>
              <a:t>≡ </a:t>
            </a:r>
            <a:r>
              <a:rPr dirty="0" baseline="2314" sz="3600" spc="82">
                <a:latin typeface="Cambria Math"/>
                <a:cs typeface="Cambria Math"/>
              </a:rPr>
              <a:t>∑</a:t>
            </a:r>
            <a:r>
              <a:rPr dirty="0" baseline="-18518" sz="2700" spc="82">
                <a:latin typeface="Cambria Math"/>
                <a:cs typeface="Cambria Math"/>
              </a:rPr>
              <a:t>!,"∈2 </a:t>
            </a:r>
            <a:r>
              <a:rPr dirty="0" sz="2400" spc="75">
                <a:latin typeface="Cambria Math"/>
                <a:cs typeface="Cambria Math"/>
              </a:rPr>
              <a:t>𝐴</a:t>
            </a:r>
            <a:r>
              <a:rPr dirty="0" baseline="-15432" sz="2700" spc="112">
                <a:latin typeface="Cambria Math"/>
                <a:cs typeface="Cambria Math"/>
              </a:rPr>
              <a:t>!"</a:t>
            </a:r>
            <a:r>
              <a:rPr dirty="0" sz="2400" spc="75">
                <a:latin typeface="Calibri"/>
                <a:cs typeface="Calibri"/>
              </a:rPr>
              <a:t>… </a:t>
            </a:r>
            <a:r>
              <a:rPr dirty="0" sz="2400" spc="-5">
                <a:latin typeface="Calibri"/>
                <a:cs typeface="Calibri"/>
              </a:rPr>
              <a:t>sum of link </a:t>
            </a:r>
            <a:r>
              <a:rPr dirty="0" sz="2400" spc="-10">
                <a:latin typeface="Calibri"/>
                <a:cs typeface="Calibri"/>
              </a:rPr>
              <a:t>weights </a:t>
            </a:r>
            <a:r>
              <a:rPr dirty="0" sz="2400" spc="-10" u="heavy">
                <a:latin typeface="Calibri"/>
                <a:cs typeface="Calibri"/>
              </a:rPr>
              <a:t>between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nodes in  </a:t>
            </a:r>
            <a:r>
              <a:rPr dirty="0" sz="2400" spc="-35">
                <a:latin typeface="Cambria Math"/>
                <a:cs typeface="Cambria Math"/>
              </a:rPr>
              <a:t>𝐶</a:t>
            </a:r>
            <a:endParaRPr sz="2400">
              <a:latin typeface="Cambria Math"/>
              <a:cs typeface="Cambria Math"/>
            </a:endParaRPr>
          </a:p>
          <a:p>
            <a:pPr lvl="1" marL="890905" indent="-228600">
              <a:lnSpc>
                <a:spcPct val="100000"/>
              </a:lnSpc>
              <a:spcBef>
                <a:spcPts val="91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15">
                <a:latin typeface="Cambria Math"/>
                <a:cs typeface="Cambria Math"/>
              </a:rPr>
              <a:t>𝜮</a:t>
            </a:r>
            <a:r>
              <a:rPr dirty="0" baseline="-15432" sz="2700" spc="-22">
                <a:latin typeface="Cambria Math"/>
                <a:cs typeface="Cambria Math"/>
              </a:rPr>
              <a:t>𝒕𝒐𝒕  </a:t>
            </a:r>
            <a:r>
              <a:rPr dirty="0" sz="2400">
                <a:latin typeface="Cambria Math"/>
                <a:cs typeface="Cambria Math"/>
              </a:rPr>
              <a:t>≡ </a:t>
            </a:r>
            <a:r>
              <a:rPr dirty="0" baseline="2314" sz="3600" spc="75">
                <a:latin typeface="Cambria Math"/>
                <a:cs typeface="Cambria Math"/>
              </a:rPr>
              <a:t>∑</a:t>
            </a:r>
            <a:r>
              <a:rPr dirty="0" baseline="-18518" sz="2700" spc="75">
                <a:latin typeface="Cambria Math"/>
                <a:cs typeface="Cambria Math"/>
              </a:rPr>
              <a:t>!∈2 </a:t>
            </a:r>
            <a:r>
              <a:rPr dirty="0" sz="2400" spc="65">
                <a:latin typeface="Cambria Math"/>
                <a:cs typeface="Cambria Math"/>
              </a:rPr>
              <a:t>𝑘</a:t>
            </a:r>
            <a:r>
              <a:rPr dirty="0" baseline="-15432" sz="2700" spc="97">
                <a:latin typeface="Cambria Math"/>
                <a:cs typeface="Cambria Math"/>
              </a:rPr>
              <a:t>!</a:t>
            </a:r>
            <a:r>
              <a:rPr dirty="0" sz="2400" spc="65">
                <a:latin typeface="Calibri"/>
                <a:cs typeface="Calibri"/>
              </a:rPr>
              <a:t>… </a:t>
            </a:r>
            <a:r>
              <a:rPr dirty="0" sz="2400" spc="-5">
                <a:latin typeface="Calibri"/>
                <a:cs typeface="Calibri"/>
              </a:rPr>
              <a:t>sum of </a:t>
            </a:r>
            <a:r>
              <a:rPr dirty="0" sz="2400" u="heavy">
                <a:latin typeface="Calibri"/>
                <a:cs typeface="Calibri"/>
              </a:rPr>
              <a:t>all</a:t>
            </a:r>
            <a:r>
              <a:rPr dirty="0" sz="240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link </a:t>
            </a:r>
            <a:r>
              <a:rPr dirty="0" sz="2400" spc="-10">
                <a:latin typeface="Calibri"/>
                <a:cs typeface="Calibri"/>
              </a:rPr>
              <a:t>weights </a:t>
            </a:r>
            <a:r>
              <a:rPr dirty="0" sz="2400" spc="-5">
                <a:latin typeface="Calibri"/>
                <a:cs typeface="Calibri"/>
              </a:rPr>
              <a:t>of nodes in</a:t>
            </a:r>
            <a:r>
              <a:rPr dirty="0" sz="2400" spc="-290">
                <a:latin typeface="Calibri"/>
                <a:cs typeface="Calibri"/>
              </a:rPr>
              <a:t> </a:t>
            </a:r>
            <a:r>
              <a:rPr dirty="0" sz="2400">
                <a:latin typeface="Cambria Math"/>
                <a:cs typeface="Cambria Math"/>
              </a:rPr>
              <a:t>𝐶</a:t>
            </a:r>
            <a:endParaRPr sz="2400">
              <a:latin typeface="Cambria Math"/>
              <a:cs typeface="Cambria Math"/>
            </a:endParaRPr>
          </a:p>
          <a:p>
            <a:pPr marL="332740" indent="-320040">
              <a:lnSpc>
                <a:spcPct val="100000"/>
              </a:lnSpc>
              <a:spcBef>
                <a:spcPts val="125"/>
              </a:spcBef>
              <a:buClr>
                <a:srgbClr val="F0AD00"/>
              </a:buClr>
              <a:buSzPct val="78571"/>
              <a:buChar char="▪"/>
              <a:tabLst>
                <a:tab pos="332105" algn="l"/>
                <a:tab pos="332740" algn="l"/>
              </a:tabLst>
            </a:pPr>
            <a:r>
              <a:rPr dirty="0" sz="2800" b="0">
                <a:solidFill>
                  <a:srgbClr val="000000"/>
                </a:solidFill>
                <a:latin typeface="Arial"/>
                <a:cs typeface="Arial"/>
              </a:rPr>
              <a:t>Then, we</a:t>
            </a:r>
            <a:r>
              <a:rPr dirty="0" sz="2800" spc="-9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00" b="0">
                <a:solidFill>
                  <a:srgbClr val="000000"/>
                </a:solidFill>
                <a:latin typeface="Arial"/>
                <a:cs typeface="Arial"/>
              </a:rPr>
              <a:t>have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05058" y="4666494"/>
            <a:ext cx="395605" cy="282575"/>
          </a:xfrm>
          <a:custGeom>
            <a:avLst/>
            <a:gdLst/>
            <a:ahLst/>
            <a:cxnLst/>
            <a:rect l="l" t="t" r="r" b="b"/>
            <a:pathLst>
              <a:path w="395605" h="282575">
                <a:moveTo>
                  <a:pt x="305337" y="0"/>
                </a:moveTo>
                <a:lnTo>
                  <a:pt x="301319" y="11460"/>
                </a:lnTo>
                <a:lnTo>
                  <a:pt x="317662" y="18552"/>
                </a:lnTo>
                <a:lnTo>
                  <a:pt x="331717" y="28370"/>
                </a:lnTo>
                <a:lnTo>
                  <a:pt x="360255" y="73880"/>
                </a:lnTo>
                <a:lnTo>
                  <a:pt x="368589" y="115662"/>
                </a:lnTo>
                <a:lnTo>
                  <a:pt x="369631" y="139749"/>
                </a:lnTo>
                <a:lnTo>
                  <a:pt x="368585" y="164650"/>
                </a:lnTo>
                <a:lnTo>
                  <a:pt x="360213" y="207587"/>
                </a:lnTo>
                <a:lnTo>
                  <a:pt x="331736" y="253826"/>
                </a:lnTo>
                <a:lnTo>
                  <a:pt x="301765" y="270868"/>
                </a:lnTo>
                <a:lnTo>
                  <a:pt x="305337" y="282327"/>
                </a:lnTo>
                <a:lnTo>
                  <a:pt x="343847" y="264263"/>
                </a:lnTo>
                <a:lnTo>
                  <a:pt x="372161" y="232990"/>
                </a:lnTo>
                <a:lnTo>
                  <a:pt x="389574" y="191114"/>
                </a:lnTo>
                <a:lnTo>
                  <a:pt x="395378" y="141237"/>
                </a:lnTo>
                <a:lnTo>
                  <a:pt x="393922" y="115355"/>
                </a:lnTo>
                <a:lnTo>
                  <a:pt x="382277" y="69479"/>
                </a:lnTo>
                <a:lnTo>
                  <a:pt x="359181" y="32133"/>
                </a:lnTo>
                <a:lnTo>
                  <a:pt x="325806" y="7390"/>
                </a:lnTo>
                <a:lnTo>
                  <a:pt x="305337" y="0"/>
                </a:lnTo>
                <a:close/>
              </a:path>
              <a:path w="395605" h="282575">
                <a:moveTo>
                  <a:pt x="90041" y="0"/>
                </a:moveTo>
                <a:lnTo>
                  <a:pt x="51624" y="18101"/>
                </a:lnTo>
                <a:lnTo>
                  <a:pt x="23291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1" y="167176"/>
                </a:lnTo>
                <a:lnTo>
                  <a:pt x="13059" y="213052"/>
                </a:lnTo>
                <a:lnTo>
                  <a:pt x="36100" y="250277"/>
                </a:lnTo>
                <a:lnTo>
                  <a:pt x="69512" y="274946"/>
                </a:lnTo>
                <a:lnTo>
                  <a:pt x="90041" y="282327"/>
                </a:lnTo>
                <a:lnTo>
                  <a:pt x="93612" y="270868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7" y="139749"/>
                </a:lnTo>
                <a:lnTo>
                  <a:pt x="26793" y="115662"/>
                </a:lnTo>
                <a:lnTo>
                  <a:pt x="35165" y="73880"/>
                </a:lnTo>
                <a:lnTo>
                  <a:pt x="63754" y="28370"/>
                </a:lnTo>
                <a:lnTo>
                  <a:pt x="94059" y="11460"/>
                </a:lnTo>
                <a:lnTo>
                  <a:pt x="900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50241" y="4577588"/>
            <a:ext cx="10020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330" algn="l"/>
                <a:tab pos="761365" algn="l"/>
              </a:tabLst>
            </a:pPr>
            <a:r>
              <a:rPr dirty="0" sz="2400">
                <a:latin typeface="Cambria Math"/>
                <a:cs typeface="Cambria Math"/>
              </a:rPr>
              <a:t>𝑄	𝐶	≡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93241" y="4805795"/>
            <a:ext cx="431800" cy="0"/>
          </a:xfrm>
          <a:custGeom>
            <a:avLst/>
            <a:gdLst/>
            <a:ahLst/>
            <a:cxnLst/>
            <a:rect l="l" t="t" r="r" b="b"/>
            <a:pathLst>
              <a:path w="431800" h="0">
                <a:moveTo>
                  <a:pt x="0" y="0"/>
                </a:moveTo>
                <a:lnTo>
                  <a:pt x="4318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907858" y="4345940"/>
            <a:ext cx="194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77493" y="4781803"/>
            <a:ext cx="448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Cambria Math"/>
                <a:cs typeface="Cambria Math"/>
              </a:rPr>
              <a:t>2𝑚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373593" y="5184775"/>
            <a:ext cx="76835" cy="0"/>
          </a:xfrm>
          <a:custGeom>
            <a:avLst/>
            <a:gdLst/>
            <a:ahLst/>
            <a:cxnLst/>
            <a:rect l="l" t="t" r="r" b="b"/>
            <a:pathLst>
              <a:path w="76835" h="0">
                <a:moveTo>
                  <a:pt x="0" y="0"/>
                </a:moveTo>
                <a:lnTo>
                  <a:pt x="76497" y="0"/>
                </a:lnTo>
              </a:path>
            </a:pathLst>
          </a:custGeom>
          <a:ln w="139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435579" y="4437379"/>
            <a:ext cx="0" cy="740410"/>
          </a:xfrm>
          <a:custGeom>
            <a:avLst/>
            <a:gdLst/>
            <a:ahLst/>
            <a:cxnLst/>
            <a:rect l="l" t="t" r="r" b="b"/>
            <a:pathLst>
              <a:path w="0" h="740410">
                <a:moveTo>
                  <a:pt x="0" y="0"/>
                </a:moveTo>
                <a:lnTo>
                  <a:pt x="0" y="740410"/>
                </a:lnTo>
              </a:path>
            </a:pathLst>
          </a:custGeom>
          <a:ln w="290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373593" y="4430395"/>
            <a:ext cx="76835" cy="0"/>
          </a:xfrm>
          <a:custGeom>
            <a:avLst/>
            <a:gdLst/>
            <a:ahLst/>
            <a:cxnLst/>
            <a:rect l="l" t="t" r="r" b="b"/>
            <a:pathLst>
              <a:path w="76835" h="0">
                <a:moveTo>
                  <a:pt x="0" y="0"/>
                </a:moveTo>
                <a:lnTo>
                  <a:pt x="76497" y="0"/>
                </a:lnTo>
              </a:path>
            </a:pathLst>
          </a:custGeom>
          <a:ln w="139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925510" y="5184775"/>
            <a:ext cx="76835" cy="0"/>
          </a:xfrm>
          <a:custGeom>
            <a:avLst/>
            <a:gdLst/>
            <a:ahLst/>
            <a:cxnLst/>
            <a:rect l="l" t="t" r="r" b="b"/>
            <a:pathLst>
              <a:path w="76835" h="0">
                <a:moveTo>
                  <a:pt x="0" y="0"/>
                </a:moveTo>
                <a:lnTo>
                  <a:pt x="76498" y="0"/>
                </a:lnTo>
              </a:path>
            </a:pathLst>
          </a:custGeom>
          <a:ln w="139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940022" y="4437379"/>
            <a:ext cx="0" cy="740410"/>
          </a:xfrm>
          <a:custGeom>
            <a:avLst/>
            <a:gdLst/>
            <a:ahLst/>
            <a:cxnLst/>
            <a:rect l="l" t="t" r="r" b="b"/>
            <a:pathLst>
              <a:path w="0" h="740410">
                <a:moveTo>
                  <a:pt x="0" y="0"/>
                </a:moveTo>
                <a:lnTo>
                  <a:pt x="0" y="740410"/>
                </a:lnTo>
              </a:path>
            </a:pathLst>
          </a:custGeom>
          <a:ln w="290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925510" y="4430395"/>
            <a:ext cx="76835" cy="0"/>
          </a:xfrm>
          <a:custGeom>
            <a:avLst/>
            <a:gdLst/>
            <a:ahLst/>
            <a:cxnLst/>
            <a:rect l="l" t="t" r="r" b="b"/>
            <a:pathLst>
              <a:path w="76835" h="0">
                <a:moveTo>
                  <a:pt x="0" y="0"/>
                </a:moveTo>
                <a:lnTo>
                  <a:pt x="76498" y="0"/>
                </a:lnTo>
              </a:path>
            </a:pathLst>
          </a:custGeom>
          <a:ln w="139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189669" y="4714747"/>
            <a:ext cx="20827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5">
                <a:latin typeface="Cambria Math"/>
                <a:cs typeface="Cambria Math"/>
              </a:rPr>
              <a:t>!"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837941" y="4805795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 h="0">
                <a:moveTo>
                  <a:pt x="0" y="0"/>
                </a:moveTo>
                <a:lnTo>
                  <a:pt x="5334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257362" y="4336796"/>
            <a:ext cx="2105025" cy="1003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ts val="239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baseline="-15432" sz="2700" spc="322">
                <a:latin typeface="Cambria Math"/>
                <a:cs typeface="Cambria Math"/>
              </a:rPr>
              <a:t>!</a:t>
            </a:r>
            <a:r>
              <a:rPr dirty="0" sz="2400" spc="-215">
                <a:latin typeface="Cambria Math"/>
                <a:cs typeface="Cambria Math"/>
              </a:rPr>
              <a:t>𝑘</a:t>
            </a:r>
            <a:r>
              <a:rPr dirty="0" baseline="-15432" sz="2700" spc="195">
                <a:latin typeface="Cambria Math"/>
                <a:cs typeface="Cambria Math"/>
              </a:rPr>
              <a:t>"</a:t>
            </a:r>
            <a:endParaRPr baseline="-15432" sz="2700">
              <a:latin typeface="Cambria Math"/>
              <a:cs typeface="Cambria Math"/>
            </a:endParaRPr>
          </a:p>
          <a:p>
            <a:pPr marL="95885">
              <a:lnSpc>
                <a:spcPts val="2390"/>
              </a:lnSpc>
              <a:tabLst>
                <a:tab pos="751205" algn="l"/>
                <a:tab pos="1215390" algn="l"/>
              </a:tabLst>
            </a:pPr>
            <a:r>
              <a:rPr dirty="0" sz="2400" spc="1850">
                <a:latin typeface="Cambria Math"/>
                <a:cs typeface="Cambria Math"/>
              </a:rPr>
              <a:t>2	</a:t>
            </a:r>
            <a:r>
              <a:rPr dirty="0" sz="2400">
                <a:latin typeface="Cambria Math"/>
                <a:cs typeface="Cambria Math"/>
              </a:rPr>
              <a:t>𝐴	−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1800" spc="75">
                <a:latin typeface="Cambria Math"/>
                <a:cs typeface="Cambria Math"/>
              </a:rPr>
              <a:t>!,"∈9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73374" y="4781803"/>
            <a:ext cx="448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Cambria Math"/>
                <a:cs typeface="Cambria Math"/>
              </a:rPr>
              <a:t>2𝑚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879341" y="4805795"/>
            <a:ext cx="1104900" cy="0"/>
          </a:xfrm>
          <a:custGeom>
            <a:avLst/>
            <a:gdLst/>
            <a:ahLst/>
            <a:cxnLst/>
            <a:rect l="l" t="t" r="r" b="b"/>
            <a:pathLst>
              <a:path w="1104900" h="0">
                <a:moveTo>
                  <a:pt x="0" y="0"/>
                </a:moveTo>
                <a:lnTo>
                  <a:pt x="1104899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204142" y="4781803"/>
            <a:ext cx="448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Cambria Math"/>
                <a:cs typeface="Cambria Math"/>
              </a:rPr>
              <a:t>2𝑚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339841" y="4805795"/>
            <a:ext cx="2159000" cy="0"/>
          </a:xfrm>
          <a:custGeom>
            <a:avLst/>
            <a:gdLst/>
            <a:ahLst/>
            <a:cxnLst/>
            <a:rect l="l" t="t" r="r" b="b"/>
            <a:pathLst>
              <a:path w="2159000" h="0">
                <a:moveTo>
                  <a:pt x="0" y="0"/>
                </a:moveTo>
                <a:lnTo>
                  <a:pt x="2158998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371963" y="4425257"/>
            <a:ext cx="1013460" cy="282575"/>
          </a:xfrm>
          <a:custGeom>
            <a:avLst/>
            <a:gdLst/>
            <a:ahLst/>
            <a:cxnLst/>
            <a:rect l="l" t="t" r="r" b="b"/>
            <a:pathLst>
              <a:path w="1013459" h="282575">
                <a:moveTo>
                  <a:pt x="923255" y="0"/>
                </a:moveTo>
                <a:lnTo>
                  <a:pt x="919237" y="11460"/>
                </a:lnTo>
                <a:lnTo>
                  <a:pt x="935580" y="18552"/>
                </a:lnTo>
                <a:lnTo>
                  <a:pt x="949635" y="28370"/>
                </a:lnTo>
                <a:lnTo>
                  <a:pt x="978173" y="73880"/>
                </a:lnTo>
                <a:lnTo>
                  <a:pt x="986507" y="115662"/>
                </a:lnTo>
                <a:lnTo>
                  <a:pt x="987549" y="139749"/>
                </a:lnTo>
                <a:lnTo>
                  <a:pt x="986503" y="164650"/>
                </a:lnTo>
                <a:lnTo>
                  <a:pt x="978132" y="207587"/>
                </a:lnTo>
                <a:lnTo>
                  <a:pt x="949654" y="253826"/>
                </a:lnTo>
                <a:lnTo>
                  <a:pt x="919684" y="270868"/>
                </a:lnTo>
                <a:lnTo>
                  <a:pt x="923255" y="282327"/>
                </a:lnTo>
                <a:lnTo>
                  <a:pt x="961765" y="264263"/>
                </a:lnTo>
                <a:lnTo>
                  <a:pt x="990080" y="232990"/>
                </a:lnTo>
                <a:lnTo>
                  <a:pt x="1007493" y="191114"/>
                </a:lnTo>
                <a:lnTo>
                  <a:pt x="1013297" y="141237"/>
                </a:lnTo>
                <a:lnTo>
                  <a:pt x="1011841" y="115355"/>
                </a:lnTo>
                <a:lnTo>
                  <a:pt x="1000195" y="69479"/>
                </a:lnTo>
                <a:lnTo>
                  <a:pt x="977099" y="32133"/>
                </a:lnTo>
                <a:lnTo>
                  <a:pt x="943724" y="7390"/>
                </a:lnTo>
                <a:lnTo>
                  <a:pt x="923255" y="0"/>
                </a:lnTo>
                <a:close/>
              </a:path>
              <a:path w="1013459" h="282575">
                <a:moveTo>
                  <a:pt x="90041" y="0"/>
                </a:moveTo>
                <a:lnTo>
                  <a:pt x="51625" y="18101"/>
                </a:lnTo>
                <a:lnTo>
                  <a:pt x="23291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1" y="167176"/>
                </a:lnTo>
                <a:lnTo>
                  <a:pt x="13059" y="213052"/>
                </a:lnTo>
                <a:lnTo>
                  <a:pt x="36100" y="250277"/>
                </a:lnTo>
                <a:lnTo>
                  <a:pt x="69512" y="274946"/>
                </a:lnTo>
                <a:lnTo>
                  <a:pt x="90041" y="282327"/>
                </a:lnTo>
                <a:lnTo>
                  <a:pt x="93612" y="270868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4" y="164650"/>
                </a:lnTo>
                <a:lnTo>
                  <a:pt x="25747" y="139749"/>
                </a:lnTo>
                <a:lnTo>
                  <a:pt x="26794" y="115662"/>
                </a:lnTo>
                <a:lnTo>
                  <a:pt x="35165" y="73880"/>
                </a:lnTo>
                <a:lnTo>
                  <a:pt x="63754" y="28370"/>
                </a:lnTo>
                <a:lnTo>
                  <a:pt x="94060" y="11460"/>
                </a:lnTo>
                <a:lnTo>
                  <a:pt x="900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438826" y="4382294"/>
            <a:ext cx="1034415" cy="368300"/>
          </a:xfrm>
          <a:custGeom>
            <a:avLst/>
            <a:gdLst/>
            <a:ahLst/>
            <a:cxnLst/>
            <a:rect l="l" t="t" r="r" b="b"/>
            <a:pathLst>
              <a:path w="1034415" h="368300">
                <a:moveTo>
                  <a:pt x="937136" y="0"/>
                </a:moveTo>
                <a:lnTo>
                  <a:pt x="933415" y="12203"/>
                </a:lnTo>
                <a:lnTo>
                  <a:pt x="950330" y="20974"/>
                </a:lnTo>
                <a:lnTo>
                  <a:pt x="965060" y="33746"/>
                </a:lnTo>
                <a:lnTo>
                  <a:pt x="987960" y="71288"/>
                </a:lnTo>
                <a:lnTo>
                  <a:pt x="1001858" y="122299"/>
                </a:lnTo>
                <a:lnTo>
                  <a:pt x="1006490" y="184249"/>
                </a:lnTo>
                <a:lnTo>
                  <a:pt x="1005332" y="216521"/>
                </a:lnTo>
                <a:lnTo>
                  <a:pt x="996067" y="272889"/>
                </a:lnTo>
                <a:lnTo>
                  <a:pt x="977603" y="317724"/>
                </a:lnTo>
                <a:lnTo>
                  <a:pt x="950330" y="347229"/>
                </a:lnTo>
                <a:lnTo>
                  <a:pt x="933415" y="355996"/>
                </a:lnTo>
                <a:lnTo>
                  <a:pt x="937136" y="368200"/>
                </a:lnTo>
                <a:lnTo>
                  <a:pt x="978250" y="346285"/>
                </a:lnTo>
                <a:lnTo>
                  <a:pt x="1008722" y="304948"/>
                </a:lnTo>
                <a:lnTo>
                  <a:pt x="1027587" y="249212"/>
                </a:lnTo>
                <a:lnTo>
                  <a:pt x="1033875" y="184100"/>
                </a:lnTo>
                <a:lnTo>
                  <a:pt x="1032303" y="150371"/>
                </a:lnTo>
                <a:lnTo>
                  <a:pt x="1019726" y="89947"/>
                </a:lnTo>
                <a:lnTo>
                  <a:pt x="994816" y="40155"/>
                </a:lnTo>
                <a:lnTo>
                  <a:pt x="959023" y="8529"/>
                </a:lnTo>
                <a:lnTo>
                  <a:pt x="937136" y="0"/>
                </a:lnTo>
                <a:close/>
              </a:path>
              <a:path w="1034415" h="368300">
                <a:moveTo>
                  <a:pt x="96738" y="0"/>
                </a:moveTo>
                <a:lnTo>
                  <a:pt x="55624" y="21914"/>
                </a:lnTo>
                <a:lnTo>
                  <a:pt x="25152" y="63251"/>
                </a:lnTo>
                <a:lnTo>
                  <a:pt x="6288" y="118987"/>
                </a:lnTo>
                <a:lnTo>
                  <a:pt x="0" y="184100"/>
                </a:lnTo>
                <a:lnTo>
                  <a:pt x="1572" y="217828"/>
                </a:lnTo>
                <a:lnTo>
                  <a:pt x="14148" y="278252"/>
                </a:lnTo>
                <a:lnTo>
                  <a:pt x="39058" y="328044"/>
                </a:lnTo>
                <a:lnTo>
                  <a:pt x="74851" y="359670"/>
                </a:lnTo>
                <a:lnTo>
                  <a:pt x="96738" y="368200"/>
                </a:lnTo>
                <a:lnTo>
                  <a:pt x="100459" y="355996"/>
                </a:lnTo>
                <a:lnTo>
                  <a:pt x="83543" y="347229"/>
                </a:lnTo>
                <a:lnTo>
                  <a:pt x="68814" y="334472"/>
                </a:lnTo>
                <a:lnTo>
                  <a:pt x="45913" y="296985"/>
                </a:lnTo>
                <a:lnTo>
                  <a:pt x="32017" y="246068"/>
                </a:lnTo>
                <a:lnTo>
                  <a:pt x="27390" y="184100"/>
                </a:lnTo>
                <a:lnTo>
                  <a:pt x="28543" y="151906"/>
                </a:lnTo>
                <a:lnTo>
                  <a:pt x="37807" y="95426"/>
                </a:lnTo>
                <a:lnTo>
                  <a:pt x="56270" y="50517"/>
                </a:lnTo>
                <a:lnTo>
                  <a:pt x="83543" y="20974"/>
                </a:lnTo>
                <a:lnTo>
                  <a:pt x="100459" y="12203"/>
                </a:lnTo>
                <a:lnTo>
                  <a:pt x="967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555808" y="4397755"/>
            <a:ext cx="3801745" cy="571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3850">
              <a:lnSpc>
                <a:spcPts val="2150"/>
              </a:lnSpc>
              <a:spcBef>
                <a:spcPts val="100"/>
              </a:spcBef>
              <a:tabLst>
                <a:tab pos="1915795" algn="l"/>
                <a:tab pos="2992755" algn="l"/>
              </a:tabLst>
            </a:pPr>
            <a:r>
              <a:rPr dirty="0" baseline="11574" sz="3600" spc="112">
                <a:latin typeface="Cambria Math"/>
                <a:cs typeface="Cambria Math"/>
              </a:rPr>
              <a:t>Σ</a:t>
            </a:r>
            <a:r>
              <a:rPr dirty="0" sz="1800" spc="75">
                <a:latin typeface="Cambria Math"/>
                <a:cs typeface="Cambria Math"/>
              </a:rPr>
              <a:t>!,"∈2</a:t>
            </a:r>
            <a:r>
              <a:rPr dirty="0" baseline="11574" sz="3600" spc="112">
                <a:latin typeface="Cambria Math"/>
                <a:cs typeface="Cambria Math"/>
              </a:rPr>
              <a:t>𝐴</a:t>
            </a:r>
            <a:r>
              <a:rPr dirty="0" sz="1800" spc="75">
                <a:latin typeface="Cambria Math"/>
                <a:cs typeface="Cambria Math"/>
              </a:rPr>
              <a:t>!"	</a:t>
            </a:r>
            <a:r>
              <a:rPr dirty="0" baseline="11574" sz="3600" spc="97">
                <a:latin typeface="Cambria Math"/>
                <a:cs typeface="Cambria Math"/>
              </a:rPr>
              <a:t>Σ</a:t>
            </a:r>
            <a:r>
              <a:rPr dirty="0" sz="1800" spc="65">
                <a:latin typeface="Cambria Math"/>
                <a:cs typeface="Cambria Math"/>
              </a:rPr>
              <a:t>!∈2</a:t>
            </a:r>
            <a:r>
              <a:rPr dirty="0" baseline="11574" sz="3600" spc="97">
                <a:latin typeface="Cambria Math"/>
                <a:cs typeface="Cambria Math"/>
              </a:rPr>
              <a:t>𝑘</a:t>
            </a:r>
            <a:r>
              <a:rPr dirty="0" sz="1800" spc="65">
                <a:latin typeface="Cambria Math"/>
                <a:cs typeface="Cambria Math"/>
              </a:rPr>
              <a:t>!	</a:t>
            </a:r>
            <a:r>
              <a:rPr dirty="0" baseline="11574" sz="3600" spc="0">
                <a:latin typeface="Cambria Math"/>
                <a:cs typeface="Cambria Math"/>
              </a:rPr>
              <a:t>Σ</a:t>
            </a:r>
            <a:r>
              <a:rPr dirty="0" sz="1800" spc="0">
                <a:latin typeface="Cambria Math"/>
                <a:cs typeface="Cambria Math"/>
              </a:rPr>
              <a:t>"∈2</a:t>
            </a:r>
            <a:r>
              <a:rPr dirty="0" baseline="11574" sz="3600" spc="0">
                <a:latin typeface="Cambria Math"/>
                <a:cs typeface="Cambria Math"/>
              </a:rPr>
              <a:t>𝑘</a:t>
            </a:r>
            <a:r>
              <a:rPr dirty="0" sz="1800" spc="0">
                <a:latin typeface="Cambria Math"/>
                <a:cs typeface="Cambria Math"/>
              </a:rPr>
              <a:t>"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ts val="2150"/>
              </a:lnSpc>
              <a:tabLst>
                <a:tab pos="1494155" algn="l"/>
              </a:tabLst>
            </a:pPr>
            <a:r>
              <a:rPr dirty="0" sz="2400">
                <a:latin typeface="Cambria Math"/>
                <a:cs typeface="Cambria Math"/>
              </a:rPr>
              <a:t>=	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037443" y="4870393"/>
            <a:ext cx="628650" cy="282575"/>
          </a:xfrm>
          <a:custGeom>
            <a:avLst/>
            <a:gdLst/>
            <a:ahLst/>
            <a:cxnLst/>
            <a:rect l="l" t="t" r="r" b="b"/>
            <a:pathLst>
              <a:path w="628650" h="282575">
                <a:moveTo>
                  <a:pt x="538446" y="0"/>
                </a:moveTo>
                <a:lnTo>
                  <a:pt x="534428" y="11460"/>
                </a:lnTo>
                <a:lnTo>
                  <a:pt x="550771" y="18552"/>
                </a:lnTo>
                <a:lnTo>
                  <a:pt x="564826" y="28370"/>
                </a:lnTo>
                <a:lnTo>
                  <a:pt x="593364" y="73880"/>
                </a:lnTo>
                <a:lnTo>
                  <a:pt x="601698" y="115662"/>
                </a:lnTo>
                <a:lnTo>
                  <a:pt x="602740" y="139749"/>
                </a:lnTo>
                <a:lnTo>
                  <a:pt x="601694" y="164650"/>
                </a:lnTo>
                <a:lnTo>
                  <a:pt x="593322" y="207587"/>
                </a:lnTo>
                <a:lnTo>
                  <a:pt x="564844" y="253826"/>
                </a:lnTo>
                <a:lnTo>
                  <a:pt x="534874" y="270868"/>
                </a:lnTo>
                <a:lnTo>
                  <a:pt x="538446" y="282327"/>
                </a:lnTo>
                <a:lnTo>
                  <a:pt x="576955" y="264263"/>
                </a:lnTo>
                <a:lnTo>
                  <a:pt x="605270" y="232990"/>
                </a:lnTo>
                <a:lnTo>
                  <a:pt x="622683" y="191114"/>
                </a:lnTo>
                <a:lnTo>
                  <a:pt x="628487" y="141237"/>
                </a:lnTo>
                <a:lnTo>
                  <a:pt x="627031" y="115355"/>
                </a:lnTo>
                <a:lnTo>
                  <a:pt x="615385" y="69479"/>
                </a:lnTo>
                <a:lnTo>
                  <a:pt x="592289" y="32133"/>
                </a:lnTo>
                <a:lnTo>
                  <a:pt x="558915" y="7390"/>
                </a:lnTo>
                <a:lnTo>
                  <a:pt x="538446" y="0"/>
                </a:lnTo>
                <a:close/>
              </a:path>
              <a:path w="628650" h="282575">
                <a:moveTo>
                  <a:pt x="90040" y="0"/>
                </a:moveTo>
                <a:lnTo>
                  <a:pt x="51624" y="18101"/>
                </a:lnTo>
                <a:lnTo>
                  <a:pt x="23291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1" y="167176"/>
                </a:lnTo>
                <a:lnTo>
                  <a:pt x="13059" y="213052"/>
                </a:lnTo>
                <a:lnTo>
                  <a:pt x="36100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2" y="270868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80"/>
                </a:lnTo>
                <a:lnTo>
                  <a:pt x="63754" y="28370"/>
                </a:lnTo>
                <a:lnTo>
                  <a:pt x="94060" y="11460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7124445" y="4781803"/>
            <a:ext cx="7137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7690" algn="l"/>
              </a:tabLst>
            </a:pPr>
            <a:r>
              <a:rPr dirty="0" sz="2400" spc="-5">
                <a:latin typeface="Cambria Math"/>
                <a:cs typeface="Cambria Math"/>
              </a:rPr>
              <a:t>2</a:t>
            </a:r>
            <a:r>
              <a:rPr dirty="0" sz="2400">
                <a:latin typeface="Cambria Math"/>
                <a:cs typeface="Cambria Math"/>
              </a:rPr>
              <a:t>𝑚	</a:t>
            </a:r>
            <a:r>
              <a:rPr dirty="0" baseline="21604" sz="2700" spc="839">
                <a:latin typeface="Cambria Math"/>
                <a:cs typeface="Cambria Math"/>
              </a:rPr>
              <a:t>:</a:t>
            </a:r>
            <a:endParaRPr baseline="21604" sz="27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904741" y="5783695"/>
            <a:ext cx="431800" cy="0"/>
          </a:xfrm>
          <a:custGeom>
            <a:avLst/>
            <a:gdLst/>
            <a:ahLst/>
            <a:cxnLst/>
            <a:rect l="l" t="t" r="r" b="b"/>
            <a:pathLst>
              <a:path w="431800" h="0">
                <a:moveTo>
                  <a:pt x="0" y="0"/>
                </a:moveTo>
                <a:lnTo>
                  <a:pt x="4318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392546" y="5555996"/>
            <a:ext cx="253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725320" y="5484515"/>
            <a:ext cx="764540" cy="602615"/>
          </a:xfrm>
          <a:custGeom>
            <a:avLst/>
            <a:gdLst/>
            <a:ahLst/>
            <a:cxnLst/>
            <a:rect l="l" t="t" r="r" b="b"/>
            <a:pathLst>
              <a:path w="764539" h="602614">
                <a:moveTo>
                  <a:pt x="657526" y="0"/>
                </a:moveTo>
                <a:lnTo>
                  <a:pt x="648894" y="9972"/>
                </a:lnTo>
                <a:lnTo>
                  <a:pt x="666903" y="29803"/>
                </a:lnTo>
                <a:lnTo>
                  <a:pt x="683274" y="54471"/>
                </a:lnTo>
                <a:lnTo>
                  <a:pt x="711105" y="118318"/>
                </a:lnTo>
                <a:lnTo>
                  <a:pt x="721848" y="157311"/>
                </a:lnTo>
                <a:lnTo>
                  <a:pt x="729522" y="200769"/>
                </a:lnTo>
                <a:lnTo>
                  <a:pt x="734127" y="248692"/>
                </a:lnTo>
                <a:lnTo>
                  <a:pt x="735662" y="301079"/>
                </a:lnTo>
                <a:lnTo>
                  <a:pt x="734127" y="353467"/>
                </a:lnTo>
                <a:lnTo>
                  <a:pt x="729522" y="401389"/>
                </a:lnTo>
                <a:lnTo>
                  <a:pt x="721848" y="444847"/>
                </a:lnTo>
                <a:lnTo>
                  <a:pt x="711105" y="483840"/>
                </a:lnTo>
                <a:lnTo>
                  <a:pt x="683274" y="547687"/>
                </a:lnTo>
                <a:lnTo>
                  <a:pt x="648894" y="592187"/>
                </a:lnTo>
                <a:lnTo>
                  <a:pt x="657526" y="602158"/>
                </a:lnTo>
                <a:lnTo>
                  <a:pt x="697785" y="557826"/>
                </a:lnTo>
                <a:lnTo>
                  <a:pt x="732536" y="492100"/>
                </a:lnTo>
                <a:lnTo>
                  <a:pt x="746536" y="451493"/>
                </a:lnTo>
                <a:lnTo>
                  <a:pt x="756535" y="406096"/>
                </a:lnTo>
                <a:lnTo>
                  <a:pt x="762534" y="355908"/>
                </a:lnTo>
                <a:lnTo>
                  <a:pt x="764534" y="300930"/>
                </a:lnTo>
                <a:lnTo>
                  <a:pt x="762534" y="246083"/>
                </a:lnTo>
                <a:lnTo>
                  <a:pt x="756535" y="195988"/>
                </a:lnTo>
                <a:lnTo>
                  <a:pt x="746536" y="150646"/>
                </a:lnTo>
                <a:lnTo>
                  <a:pt x="732536" y="110058"/>
                </a:lnTo>
                <a:lnTo>
                  <a:pt x="715849" y="74521"/>
                </a:lnTo>
                <a:lnTo>
                  <a:pt x="678344" y="19492"/>
                </a:lnTo>
                <a:lnTo>
                  <a:pt x="657526" y="0"/>
                </a:lnTo>
                <a:close/>
              </a:path>
              <a:path w="764539" h="602614">
                <a:moveTo>
                  <a:pt x="107002" y="0"/>
                </a:moveTo>
                <a:lnTo>
                  <a:pt x="66744" y="44332"/>
                </a:lnTo>
                <a:lnTo>
                  <a:pt x="31993" y="110058"/>
                </a:lnTo>
                <a:lnTo>
                  <a:pt x="17994" y="150646"/>
                </a:lnTo>
                <a:lnTo>
                  <a:pt x="7994" y="195988"/>
                </a:lnTo>
                <a:lnTo>
                  <a:pt x="1994" y="246083"/>
                </a:lnTo>
                <a:lnTo>
                  <a:pt x="0" y="301079"/>
                </a:lnTo>
                <a:lnTo>
                  <a:pt x="1994" y="355908"/>
                </a:lnTo>
                <a:lnTo>
                  <a:pt x="7994" y="406096"/>
                </a:lnTo>
                <a:lnTo>
                  <a:pt x="17994" y="451493"/>
                </a:lnTo>
                <a:lnTo>
                  <a:pt x="31993" y="492100"/>
                </a:lnTo>
                <a:lnTo>
                  <a:pt x="48680" y="527637"/>
                </a:lnTo>
                <a:lnTo>
                  <a:pt x="86185" y="582667"/>
                </a:lnTo>
                <a:lnTo>
                  <a:pt x="107002" y="602158"/>
                </a:lnTo>
                <a:lnTo>
                  <a:pt x="115634" y="592187"/>
                </a:lnTo>
                <a:lnTo>
                  <a:pt x="97625" y="572356"/>
                </a:lnTo>
                <a:lnTo>
                  <a:pt x="81254" y="547687"/>
                </a:lnTo>
                <a:lnTo>
                  <a:pt x="53424" y="483840"/>
                </a:lnTo>
                <a:lnTo>
                  <a:pt x="42681" y="444847"/>
                </a:lnTo>
                <a:lnTo>
                  <a:pt x="35007" y="401389"/>
                </a:lnTo>
                <a:lnTo>
                  <a:pt x="30402" y="353467"/>
                </a:lnTo>
                <a:lnTo>
                  <a:pt x="28872" y="300930"/>
                </a:lnTo>
                <a:lnTo>
                  <a:pt x="30402" y="248692"/>
                </a:lnTo>
                <a:lnTo>
                  <a:pt x="35007" y="200769"/>
                </a:lnTo>
                <a:lnTo>
                  <a:pt x="42681" y="157311"/>
                </a:lnTo>
                <a:lnTo>
                  <a:pt x="53424" y="118318"/>
                </a:lnTo>
                <a:lnTo>
                  <a:pt x="81254" y="54471"/>
                </a:lnTo>
                <a:lnTo>
                  <a:pt x="115634" y="9972"/>
                </a:lnTo>
                <a:lnTo>
                  <a:pt x="107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844541" y="5783695"/>
            <a:ext cx="508000" cy="0"/>
          </a:xfrm>
          <a:custGeom>
            <a:avLst/>
            <a:gdLst/>
            <a:ahLst/>
            <a:cxnLst/>
            <a:rect l="l" t="t" r="r" b="b"/>
            <a:pathLst>
              <a:path w="508000" h="0">
                <a:moveTo>
                  <a:pt x="0" y="0"/>
                </a:moveTo>
                <a:lnTo>
                  <a:pt x="5080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4895850" y="5385308"/>
            <a:ext cx="1465580" cy="766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  <a:tabLst>
                <a:tab pos="954405" algn="l"/>
              </a:tabLst>
            </a:pPr>
            <a:r>
              <a:rPr dirty="0" baseline="11574" sz="3600" spc="-7">
                <a:latin typeface="Cambria Math"/>
                <a:cs typeface="Cambria Math"/>
              </a:rPr>
              <a:t>Σ</a:t>
            </a:r>
            <a:r>
              <a:rPr dirty="0" sz="1800" spc="400">
                <a:latin typeface="Cambria Math"/>
                <a:cs typeface="Cambria Math"/>
              </a:rPr>
              <a:t>!</a:t>
            </a:r>
            <a:r>
              <a:rPr dirty="0" sz="1800" spc="380">
                <a:latin typeface="Cambria Math"/>
                <a:cs typeface="Cambria Math"/>
              </a:rPr>
              <a:t>;</a:t>
            </a:r>
            <a:r>
              <a:rPr dirty="0" sz="1800">
                <a:latin typeface="Cambria Math"/>
                <a:cs typeface="Cambria Math"/>
              </a:rPr>
              <a:t>	</a:t>
            </a:r>
            <a:r>
              <a:rPr dirty="0" baseline="11574" sz="3600" spc="-7">
                <a:latin typeface="Cambria Math"/>
                <a:cs typeface="Cambria Math"/>
              </a:rPr>
              <a:t>Σ</a:t>
            </a:r>
            <a:r>
              <a:rPr dirty="0" sz="1800" spc="-445">
                <a:latin typeface="Cambria Math"/>
                <a:cs typeface="Cambria Math"/>
              </a:rPr>
              <a:t>&lt;</a:t>
            </a:r>
            <a:r>
              <a:rPr dirty="0" sz="1800" spc="-445">
                <a:latin typeface="Cambria Math"/>
                <a:cs typeface="Cambria Math"/>
              </a:rPr>
              <a:t>=</a:t>
            </a:r>
            <a:r>
              <a:rPr dirty="0" sz="1800" spc="-560">
                <a:latin typeface="Cambria Math"/>
                <a:cs typeface="Cambria Math"/>
              </a:rPr>
              <a:t>&lt;</a:t>
            </a:r>
            <a:endParaRPr sz="1800">
              <a:latin typeface="Cambria Math"/>
              <a:cs typeface="Cambria Math"/>
            </a:endParaRPr>
          </a:p>
          <a:p>
            <a:pPr marL="12065">
              <a:lnSpc>
                <a:spcPct val="100000"/>
              </a:lnSpc>
              <a:spcBef>
                <a:spcPts val="70"/>
              </a:spcBef>
              <a:tabLst>
                <a:tab pos="996950" algn="l"/>
              </a:tabLst>
            </a:pPr>
            <a:r>
              <a:rPr dirty="0" sz="2400" spc="-5">
                <a:latin typeface="Cambria Math"/>
                <a:cs typeface="Cambria Math"/>
              </a:rPr>
              <a:t>2𝑚	2𝑚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515165" y="5266435"/>
            <a:ext cx="1454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560">
                <a:latin typeface="Cambria Math"/>
                <a:cs typeface="Cambria Math"/>
              </a:rPr>
              <a:t>: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715000" y="5305676"/>
            <a:ext cx="1005840" cy="847090"/>
          </a:xfrm>
          <a:custGeom>
            <a:avLst/>
            <a:gdLst/>
            <a:ahLst/>
            <a:cxnLst/>
            <a:rect l="l" t="t" r="r" b="b"/>
            <a:pathLst>
              <a:path w="1005840" h="847089">
                <a:moveTo>
                  <a:pt x="0" y="0"/>
                </a:moveTo>
                <a:lnTo>
                  <a:pt x="1005840" y="0"/>
                </a:lnTo>
                <a:lnTo>
                  <a:pt x="1005840" y="846708"/>
                </a:lnTo>
                <a:lnTo>
                  <a:pt x="0" y="846708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799275" y="5555996"/>
            <a:ext cx="3059430" cy="600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26034">
              <a:lnSpc>
                <a:spcPts val="2505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  <a:p>
            <a:pPr algn="r" marR="5080">
              <a:lnSpc>
                <a:spcPts val="2025"/>
              </a:lnSpc>
            </a:pPr>
            <a:r>
              <a:rPr dirty="0" sz="2000">
                <a:solidFill>
                  <a:srgbClr val="C00000"/>
                </a:solidFill>
                <a:latin typeface="Arial"/>
                <a:cs typeface="Arial"/>
              </a:rPr>
              <a:t>Links </a:t>
            </a:r>
            <a:r>
              <a:rPr dirty="0" sz="2000" spc="-5">
                <a:solidFill>
                  <a:srgbClr val="C00000"/>
                </a:solidFill>
                <a:latin typeface="Arial"/>
                <a:cs typeface="Arial"/>
              </a:rPr>
              <a:t>within the</a:t>
            </a:r>
            <a:r>
              <a:rPr dirty="0" sz="2000" spc="-5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C00000"/>
                </a:solidFill>
                <a:latin typeface="Arial"/>
                <a:cs typeface="Arial"/>
              </a:rPr>
              <a:t>community</a:t>
            </a:r>
            <a:endParaRPr sz="20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74181" y="5844540"/>
            <a:ext cx="114236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>
                <a:solidFill>
                  <a:srgbClr val="008000"/>
                </a:solidFill>
                <a:latin typeface="Arial"/>
                <a:cs typeface="Arial"/>
              </a:rPr>
              <a:t>Total</a:t>
            </a:r>
            <a:r>
              <a:rPr dirty="0" sz="2000" spc="-7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08000"/>
                </a:solidFill>
                <a:latin typeface="Arial"/>
                <a:cs typeface="Arial"/>
              </a:rPr>
              <a:t>links</a:t>
            </a:r>
            <a:endParaRPr sz="20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33609" y="6321403"/>
            <a:ext cx="325120" cy="235585"/>
          </a:xfrm>
          <a:custGeom>
            <a:avLst/>
            <a:gdLst/>
            <a:ahLst/>
            <a:cxnLst/>
            <a:rect l="l" t="t" r="r" b="b"/>
            <a:pathLst>
              <a:path w="325119" h="235584">
                <a:moveTo>
                  <a:pt x="249897" y="0"/>
                </a:moveTo>
                <a:lnTo>
                  <a:pt x="246548" y="9549"/>
                </a:lnTo>
                <a:lnTo>
                  <a:pt x="260167" y="15460"/>
                </a:lnTo>
                <a:lnTo>
                  <a:pt x="271880" y="23641"/>
                </a:lnTo>
                <a:lnTo>
                  <a:pt x="295661" y="61565"/>
                </a:lnTo>
                <a:lnTo>
                  <a:pt x="303475" y="116457"/>
                </a:lnTo>
                <a:lnTo>
                  <a:pt x="302603" y="137208"/>
                </a:lnTo>
                <a:lnTo>
                  <a:pt x="289522" y="188019"/>
                </a:lnTo>
                <a:lnTo>
                  <a:pt x="260326" y="219785"/>
                </a:lnTo>
                <a:lnTo>
                  <a:pt x="246920" y="225722"/>
                </a:lnTo>
                <a:lnTo>
                  <a:pt x="249897" y="235272"/>
                </a:lnTo>
                <a:lnTo>
                  <a:pt x="294847" y="208564"/>
                </a:lnTo>
                <a:lnTo>
                  <a:pt x="320094" y="159261"/>
                </a:lnTo>
                <a:lnTo>
                  <a:pt x="324931" y="117698"/>
                </a:lnTo>
                <a:lnTo>
                  <a:pt x="323718" y="96129"/>
                </a:lnTo>
                <a:lnTo>
                  <a:pt x="314013" y="57899"/>
                </a:lnTo>
                <a:lnTo>
                  <a:pt x="281910" y="15084"/>
                </a:lnTo>
                <a:lnTo>
                  <a:pt x="266954" y="6158"/>
                </a:lnTo>
                <a:lnTo>
                  <a:pt x="249897" y="0"/>
                </a:lnTo>
                <a:close/>
              </a:path>
              <a:path w="325119" h="235584">
                <a:moveTo>
                  <a:pt x="75034" y="0"/>
                </a:moveTo>
                <a:lnTo>
                  <a:pt x="30164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3" y="177543"/>
                </a:lnTo>
                <a:lnTo>
                  <a:pt x="42943" y="220219"/>
                </a:lnTo>
                <a:lnTo>
                  <a:pt x="75034" y="235272"/>
                </a:lnTo>
                <a:lnTo>
                  <a:pt x="78010" y="225722"/>
                </a:lnTo>
                <a:lnTo>
                  <a:pt x="64604" y="219785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3" y="15460"/>
                </a:lnTo>
                <a:lnTo>
                  <a:pt x="78382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412847" y="6243828"/>
            <a:ext cx="4762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D60093"/>
                </a:solidFill>
                <a:latin typeface="Cambria Math"/>
                <a:cs typeface="Cambria Math"/>
              </a:rPr>
              <a:t>𝑸</a:t>
            </a:r>
            <a:r>
              <a:rPr dirty="0" sz="2000" spc="280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D60093"/>
                </a:solidFill>
                <a:latin typeface="Cambria Math"/>
                <a:cs typeface="Cambria Math"/>
              </a:rPr>
              <a:t>𝑪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33</a:t>
            </a:fld>
          </a:p>
        </p:txBody>
      </p:sp>
      <p:sp>
        <p:nvSpPr>
          <p:cNvPr id="41" name="object 41"/>
          <p:cNvSpPr txBox="1"/>
          <p:nvPr/>
        </p:nvSpPr>
        <p:spPr>
          <a:xfrm>
            <a:off x="1038005" y="6243828"/>
            <a:ext cx="7660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D60093"/>
                </a:solidFill>
                <a:latin typeface="Arial"/>
                <a:cs typeface="Arial"/>
              </a:rPr>
              <a:t>is large when most </a:t>
            </a:r>
            <a:r>
              <a:rPr dirty="0" sz="2000" b="1">
                <a:solidFill>
                  <a:srgbClr val="D60093"/>
                </a:solidFill>
                <a:latin typeface="Arial"/>
                <a:cs typeface="Arial"/>
              </a:rPr>
              <a:t>of </a:t>
            </a:r>
            <a:r>
              <a:rPr dirty="0" sz="2000" spc="-5" b="1">
                <a:solidFill>
                  <a:srgbClr val="D60093"/>
                </a:solidFill>
                <a:latin typeface="Arial"/>
                <a:cs typeface="Arial"/>
              </a:rPr>
              <a:t>the total links are within-community</a:t>
            </a:r>
            <a:r>
              <a:rPr dirty="0" sz="2000" spc="-95" b="1">
                <a:solidFill>
                  <a:srgbClr val="D60093"/>
                </a:solidFill>
                <a:latin typeface="Arial"/>
                <a:cs typeface="Arial"/>
              </a:rPr>
              <a:t> </a:t>
            </a:r>
            <a:r>
              <a:rPr dirty="0" sz="2000" spc="-5" b="1">
                <a:solidFill>
                  <a:srgbClr val="D60093"/>
                </a:solidFill>
                <a:latin typeface="Arial"/>
                <a:cs typeface="Arial"/>
              </a:rPr>
              <a:t>links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26136"/>
            <a:ext cx="4700016" cy="5791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287718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FF0066"/>
                </a:solidFill>
              </a:rPr>
              <a:t>Further</a:t>
            </a:r>
            <a:r>
              <a:rPr dirty="0" spc="-60">
                <a:solidFill>
                  <a:srgbClr val="FF0066"/>
                </a:solidFill>
              </a:rPr>
              <a:t> </a:t>
            </a:r>
            <a:r>
              <a:rPr dirty="0" spc="-10">
                <a:solidFill>
                  <a:srgbClr val="FF0066"/>
                </a:solidFill>
              </a:rPr>
              <a:t>define: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67713" y="1904491"/>
            <a:ext cx="6369050" cy="1257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60960" indent="-228600">
              <a:lnSpc>
                <a:spcPct val="107500"/>
              </a:lnSpc>
              <a:spcBef>
                <a:spcPts val="100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400" spc="-15">
                <a:latin typeface="Cambria Math"/>
                <a:cs typeface="Cambria Math"/>
              </a:rPr>
              <a:t>𝒌</a:t>
            </a:r>
            <a:r>
              <a:rPr dirty="0" baseline="-15432" sz="2700" spc="-22">
                <a:latin typeface="Cambria Math"/>
                <a:cs typeface="Cambria Math"/>
              </a:rPr>
              <a:t>𝒊,𝒊𝒏 </a:t>
            </a:r>
            <a:r>
              <a:rPr dirty="0" sz="2400">
                <a:latin typeface="Cambria Math"/>
                <a:cs typeface="Cambria Math"/>
              </a:rPr>
              <a:t>≡ </a:t>
            </a:r>
            <a:r>
              <a:rPr dirty="0" baseline="2314" sz="3600" spc="75">
                <a:latin typeface="Cambria Math"/>
                <a:cs typeface="Cambria Math"/>
              </a:rPr>
              <a:t>∑</a:t>
            </a:r>
            <a:r>
              <a:rPr dirty="0" baseline="-18518" sz="2700" spc="75">
                <a:latin typeface="Cambria Math"/>
                <a:cs typeface="Cambria Math"/>
              </a:rPr>
              <a:t>"∈2 </a:t>
            </a:r>
            <a:r>
              <a:rPr dirty="0" sz="2400" spc="75">
                <a:latin typeface="Cambria Math"/>
                <a:cs typeface="Cambria Math"/>
              </a:rPr>
              <a:t>𝐴</a:t>
            </a:r>
            <a:r>
              <a:rPr dirty="0" baseline="-15432" sz="2700" spc="112">
                <a:latin typeface="Cambria Math"/>
                <a:cs typeface="Cambria Math"/>
              </a:rPr>
              <a:t>!" </a:t>
            </a:r>
            <a:r>
              <a:rPr dirty="0" sz="2400">
                <a:latin typeface="Cambria Math"/>
                <a:cs typeface="Cambria Math"/>
              </a:rPr>
              <a:t>+ </a:t>
            </a:r>
            <a:r>
              <a:rPr dirty="0" baseline="2314" sz="3600" spc="75">
                <a:latin typeface="Cambria Math"/>
                <a:cs typeface="Cambria Math"/>
              </a:rPr>
              <a:t>∑</a:t>
            </a:r>
            <a:r>
              <a:rPr dirty="0" baseline="-18518" sz="2700" spc="75">
                <a:latin typeface="Cambria Math"/>
                <a:cs typeface="Cambria Math"/>
              </a:rPr>
              <a:t>"∈2 </a:t>
            </a:r>
            <a:r>
              <a:rPr dirty="0" sz="2400" spc="25">
                <a:latin typeface="Cambria Math"/>
                <a:cs typeface="Cambria Math"/>
              </a:rPr>
              <a:t>𝐴</a:t>
            </a:r>
            <a:r>
              <a:rPr dirty="0" baseline="-15432" sz="2700" spc="37">
                <a:latin typeface="Cambria Math"/>
                <a:cs typeface="Cambria Math"/>
              </a:rPr>
              <a:t>"!</a:t>
            </a:r>
            <a:r>
              <a:rPr dirty="0" sz="2400" spc="25">
                <a:latin typeface="Calibri"/>
                <a:cs typeface="Calibri"/>
              </a:rPr>
              <a:t>… </a:t>
            </a:r>
            <a:r>
              <a:rPr dirty="0" sz="2400" spc="-5">
                <a:latin typeface="Calibri"/>
                <a:cs typeface="Calibri"/>
              </a:rPr>
              <a:t>sum of link </a:t>
            </a:r>
            <a:r>
              <a:rPr dirty="0" sz="2400" spc="-10">
                <a:latin typeface="Calibri"/>
                <a:cs typeface="Calibri"/>
              </a:rPr>
              <a:t>weights </a:t>
            </a:r>
            <a:r>
              <a:rPr dirty="0" sz="2400" spc="-10" u="heavy">
                <a:latin typeface="Calibri"/>
                <a:cs typeface="Calibri"/>
              </a:rPr>
              <a:t> between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node </a:t>
            </a:r>
            <a:r>
              <a:rPr dirty="0" sz="2400">
                <a:latin typeface="Cambria Math"/>
                <a:cs typeface="Cambria Math"/>
              </a:rPr>
              <a:t>𝑖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40">
                <a:latin typeface="Calibri"/>
                <a:cs typeface="Calibri"/>
              </a:rPr>
              <a:t> </a:t>
            </a:r>
            <a:r>
              <a:rPr dirty="0" sz="2400">
                <a:latin typeface="Cambria Math"/>
                <a:cs typeface="Cambria Math"/>
              </a:rPr>
              <a:t>𝐶</a:t>
            </a:r>
            <a:endParaRPr sz="2400">
              <a:latin typeface="Cambria Math"/>
              <a:cs typeface="Cambria Math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400" spc="10">
                <a:latin typeface="Cambria Math"/>
                <a:cs typeface="Cambria Math"/>
              </a:rPr>
              <a:t>𝒌</a:t>
            </a:r>
            <a:r>
              <a:rPr dirty="0" baseline="-15432" sz="2700" spc="15">
                <a:latin typeface="Cambria Math"/>
                <a:cs typeface="Cambria Math"/>
              </a:rPr>
              <a:t>𝒊</a:t>
            </a:r>
            <a:r>
              <a:rPr dirty="0" sz="2400" spc="10">
                <a:latin typeface="Calibri"/>
                <a:cs typeface="Calibri"/>
              </a:rPr>
              <a:t>… </a:t>
            </a:r>
            <a:r>
              <a:rPr dirty="0" sz="2400" spc="-5">
                <a:latin typeface="Calibri"/>
                <a:cs typeface="Calibri"/>
              </a:rPr>
              <a:t>sum of </a:t>
            </a:r>
            <a:r>
              <a:rPr dirty="0" sz="2400" u="heavy">
                <a:latin typeface="Calibri"/>
                <a:cs typeface="Calibri"/>
              </a:rPr>
              <a:t>all</a:t>
            </a:r>
            <a:r>
              <a:rPr dirty="0" sz="240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link </a:t>
            </a:r>
            <a:r>
              <a:rPr dirty="0" sz="2400" spc="-10">
                <a:latin typeface="Calibri"/>
                <a:cs typeface="Calibri"/>
              </a:rPr>
              <a:t>weights </a:t>
            </a:r>
            <a:r>
              <a:rPr dirty="0" sz="2400" spc="-5">
                <a:latin typeface="Calibri"/>
                <a:cs typeface="Calibri"/>
              </a:rPr>
              <a:t>(i.e., </a:t>
            </a:r>
            <a:r>
              <a:rPr dirty="0" sz="2400" spc="-10">
                <a:latin typeface="Calibri"/>
                <a:cs typeface="Calibri"/>
              </a:rPr>
              <a:t>degree) </a:t>
            </a:r>
            <a:r>
              <a:rPr dirty="0" sz="2400" spc="-5">
                <a:latin typeface="Calibri"/>
                <a:cs typeface="Calibri"/>
              </a:rPr>
              <a:t>of node  </a:t>
            </a:r>
            <a:r>
              <a:rPr dirty="0" sz="2400" spc="-200">
                <a:latin typeface="Cambria Math"/>
                <a:cs typeface="Cambria Math"/>
              </a:rPr>
              <a:t>𝑖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12501" y="3586988"/>
            <a:ext cx="7353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574" sz="3600" spc="-22">
                <a:latin typeface="Cambria Math"/>
                <a:cs typeface="Cambria Math"/>
              </a:rPr>
              <a:t>𝒌</a:t>
            </a:r>
            <a:r>
              <a:rPr dirty="0" sz="1800" spc="-15">
                <a:latin typeface="Cambria Math"/>
                <a:cs typeface="Cambria Math"/>
              </a:rPr>
              <a:t>𝒊,𝒊𝒏</a:t>
            </a:r>
            <a:r>
              <a:rPr dirty="0" sz="1800" spc="-40">
                <a:latin typeface="Cambria Math"/>
                <a:cs typeface="Cambria Math"/>
              </a:rPr>
              <a:t> </a:t>
            </a:r>
            <a:r>
              <a:rPr dirty="0" baseline="11574" sz="3600" b="1">
                <a:latin typeface="Corbel"/>
                <a:cs typeface="Corbel"/>
              </a:rPr>
              <a:t>:</a:t>
            </a:r>
            <a:endParaRPr baseline="11574" sz="3600">
              <a:latin typeface="Corbel"/>
              <a:cs typeface="Corbe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56718" y="4183787"/>
            <a:ext cx="2198242" cy="11802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904033" y="4047235"/>
            <a:ext cx="1689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𝑪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95798" y="4217577"/>
            <a:ext cx="2203006" cy="11850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943113" y="4083811"/>
            <a:ext cx="1689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𝑪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33</a:t>
            </a:fld>
          </a:p>
        </p:txBody>
      </p:sp>
      <p:sp>
        <p:nvSpPr>
          <p:cNvPr id="10" name="object 10"/>
          <p:cNvSpPr txBox="1"/>
          <p:nvPr/>
        </p:nvSpPr>
        <p:spPr>
          <a:xfrm>
            <a:off x="4560672" y="3519932"/>
            <a:ext cx="4622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Cambria Math"/>
                <a:cs typeface="Cambria Math"/>
              </a:rPr>
              <a:t>𝒌</a:t>
            </a:r>
            <a:r>
              <a:rPr dirty="0" baseline="-15432" sz="2700" spc="-7">
                <a:latin typeface="Cambria Math"/>
                <a:cs typeface="Cambria Math"/>
              </a:rPr>
              <a:t>𝒊</a:t>
            </a:r>
            <a:r>
              <a:rPr dirty="0" baseline="-15432" sz="2700" spc="-67">
                <a:latin typeface="Cambria Math"/>
                <a:cs typeface="Cambria Math"/>
              </a:rPr>
              <a:t> </a:t>
            </a:r>
            <a:r>
              <a:rPr dirty="0" sz="2400" b="1">
                <a:latin typeface="Corbel"/>
                <a:cs typeface="Corbel"/>
              </a:rPr>
              <a:t>: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18443" y="5312155"/>
            <a:ext cx="8547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0802" sz="2700" spc="60">
                <a:latin typeface="Cambria Math"/>
                <a:cs typeface="Cambria Math"/>
              </a:rPr>
              <a:t>𝑘</a:t>
            </a:r>
            <a:r>
              <a:rPr dirty="0" sz="1300" spc="40">
                <a:latin typeface="Cambria Math"/>
                <a:cs typeface="Cambria Math"/>
              </a:rPr>
              <a:t>!,!# </a:t>
            </a:r>
            <a:r>
              <a:rPr dirty="0" baseline="10802" sz="2700">
                <a:latin typeface="Cambria Math"/>
                <a:cs typeface="Cambria Math"/>
              </a:rPr>
              <a:t>=</a:t>
            </a:r>
            <a:r>
              <a:rPr dirty="0" baseline="10802" sz="2700" spc="195">
                <a:latin typeface="Cambria Math"/>
                <a:cs typeface="Cambria Math"/>
              </a:rPr>
              <a:t> </a:t>
            </a:r>
            <a:r>
              <a:rPr dirty="0" baseline="10802" sz="2700">
                <a:latin typeface="Cambria Math"/>
                <a:cs typeface="Cambria Math"/>
              </a:rPr>
              <a:t>4</a:t>
            </a:r>
            <a:endParaRPr baseline="10802" sz="27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33236" y="4367276"/>
            <a:ext cx="984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𝑖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43611" y="4452620"/>
            <a:ext cx="984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𝑖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73605" y="5290820"/>
            <a:ext cx="6502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30">
                <a:latin typeface="Cambria Math"/>
                <a:cs typeface="Cambria Math"/>
              </a:rPr>
              <a:t>𝑘</a:t>
            </a:r>
            <a:r>
              <a:rPr dirty="0" baseline="-14957" sz="1950" spc="44">
                <a:latin typeface="Cambria Math"/>
                <a:cs typeface="Cambria Math"/>
              </a:rPr>
              <a:t>!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13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4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08155" y="2454935"/>
            <a:ext cx="866140" cy="355600"/>
          </a:xfrm>
          <a:custGeom>
            <a:avLst/>
            <a:gdLst/>
            <a:ahLst/>
            <a:cxnLst/>
            <a:rect l="l" t="t" r="r" b="b"/>
            <a:pathLst>
              <a:path w="866139" h="355600">
                <a:moveTo>
                  <a:pt x="866070" y="0"/>
                </a:moveTo>
                <a:lnTo>
                  <a:pt x="0" y="355586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923067" y="2493242"/>
            <a:ext cx="866140" cy="355600"/>
          </a:xfrm>
          <a:custGeom>
            <a:avLst/>
            <a:gdLst/>
            <a:ahLst/>
            <a:cxnLst/>
            <a:rect l="l" t="t" r="r" b="b"/>
            <a:pathLst>
              <a:path w="866140" h="355600">
                <a:moveTo>
                  <a:pt x="866070" y="0"/>
                </a:moveTo>
                <a:lnTo>
                  <a:pt x="0" y="355586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51549" y="2308920"/>
            <a:ext cx="937894" cy="138430"/>
          </a:xfrm>
          <a:custGeom>
            <a:avLst/>
            <a:gdLst/>
            <a:ahLst/>
            <a:cxnLst/>
            <a:rect l="l" t="t" r="r" b="b"/>
            <a:pathLst>
              <a:path w="937895" h="138430">
                <a:moveTo>
                  <a:pt x="937588" y="138409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6637" y="2270613"/>
            <a:ext cx="937894" cy="138430"/>
          </a:xfrm>
          <a:custGeom>
            <a:avLst/>
            <a:gdLst/>
            <a:ahLst/>
            <a:cxnLst/>
            <a:rect l="l" t="t" r="r" b="b"/>
            <a:pathLst>
              <a:path w="937894" h="138430">
                <a:moveTo>
                  <a:pt x="937588" y="138409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5216" y="326136"/>
            <a:ext cx="4700016" cy="5791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96119" y="1990332"/>
            <a:ext cx="1215184" cy="11189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465090" y="2399515"/>
            <a:ext cx="62865" cy="65405"/>
          </a:xfrm>
          <a:custGeom>
            <a:avLst/>
            <a:gdLst/>
            <a:ahLst/>
            <a:cxnLst/>
            <a:rect l="l" t="t" r="r" b="b"/>
            <a:pathLst>
              <a:path w="62864" h="65405">
                <a:moveTo>
                  <a:pt x="31191" y="0"/>
                </a:moveTo>
                <a:lnTo>
                  <a:pt x="19050" y="2551"/>
                </a:lnTo>
                <a:lnTo>
                  <a:pt x="9135" y="9508"/>
                </a:lnTo>
                <a:lnTo>
                  <a:pt x="2451" y="19827"/>
                </a:lnTo>
                <a:lnTo>
                  <a:pt x="0" y="32463"/>
                </a:lnTo>
                <a:lnTo>
                  <a:pt x="2451" y="45100"/>
                </a:lnTo>
                <a:lnTo>
                  <a:pt x="9135" y="55419"/>
                </a:lnTo>
                <a:lnTo>
                  <a:pt x="19050" y="62376"/>
                </a:lnTo>
                <a:lnTo>
                  <a:pt x="31191" y="64927"/>
                </a:lnTo>
                <a:lnTo>
                  <a:pt x="43331" y="62376"/>
                </a:lnTo>
                <a:lnTo>
                  <a:pt x="53246" y="55419"/>
                </a:lnTo>
                <a:lnTo>
                  <a:pt x="59930" y="45100"/>
                </a:lnTo>
                <a:lnTo>
                  <a:pt x="62381" y="32463"/>
                </a:lnTo>
                <a:lnTo>
                  <a:pt x="59930" y="19827"/>
                </a:lnTo>
                <a:lnTo>
                  <a:pt x="53246" y="9508"/>
                </a:lnTo>
                <a:lnTo>
                  <a:pt x="43331" y="2551"/>
                </a:lnTo>
                <a:lnTo>
                  <a:pt x="31191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465090" y="2399515"/>
            <a:ext cx="62865" cy="65405"/>
          </a:xfrm>
          <a:custGeom>
            <a:avLst/>
            <a:gdLst/>
            <a:ahLst/>
            <a:cxnLst/>
            <a:rect l="l" t="t" r="r" b="b"/>
            <a:pathLst>
              <a:path w="62864" h="65405">
                <a:moveTo>
                  <a:pt x="0" y="32464"/>
                </a:moveTo>
                <a:lnTo>
                  <a:pt x="2451" y="19827"/>
                </a:lnTo>
                <a:lnTo>
                  <a:pt x="9135" y="9508"/>
                </a:lnTo>
                <a:lnTo>
                  <a:pt x="19050" y="2551"/>
                </a:lnTo>
                <a:lnTo>
                  <a:pt x="31191" y="0"/>
                </a:lnTo>
                <a:lnTo>
                  <a:pt x="43331" y="2551"/>
                </a:lnTo>
                <a:lnTo>
                  <a:pt x="53246" y="9508"/>
                </a:lnTo>
                <a:lnTo>
                  <a:pt x="59930" y="19827"/>
                </a:lnTo>
                <a:lnTo>
                  <a:pt x="62382" y="32464"/>
                </a:lnTo>
                <a:lnTo>
                  <a:pt x="59930" y="45100"/>
                </a:lnTo>
                <a:lnTo>
                  <a:pt x="53246" y="55419"/>
                </a:lnTo>
                <a:lnTo>
                  <a:pt x="43331" y="62376"/>
                </a:lnTo>
                <a:lnTo>
                  <a:pt x="31191" y="64928"/>
                </a:lnTo>
                <a:lnTo>
                  <a:pt x="19050" y="62376"/>
                </a:lnTo>
                <a:lnTo>
                  <a:pt x="9135" y="55419"/>
                </a:lnTo>
                <a:lnTo>
                  <a:pt x="2451" y="45100"/>
                </a:lnTo>
                <a:lnTo>
                  <a:pt x="0" y="32464"/>
                </a:lnTo>
                <a:close/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162586" y="2138177"/>
            <a:ext cx="640080" cy="628650"/>
          </a:xfrm>
          <a:custGeom>
            <a:avLst/>
            <a:gdLst/>
            <a:ahLst/>
            <a:cxnLst/>
            <a:rect l="l" t="t" r="r" b="b"/>
            <a:pathLst>
              <a:path w="640080" h="628650">
                <a:moveTo>
                  <a:pt x="28148" y="212555"/>
                </a:moveTo>
                <a:lnTo>
                  <a:pt x="5915" y="251863"/>
                </a:lnTo>
                <a:lnTo>
                  <a:pt x="0" y="305462"/>
                </a:lnTo>
                <a:lnTo>
                  <a:pt x="1113" y="312944"/>
                </a:lnTo>
                <a:lnTo>
                  <a:pt x="4879" y="319201"/>
                </a:lnTo>
                <a:lnTo>
                  <a:pt x="10717" y="323590"/>
                </a:lnTo>
                <a:lnTo>
                  <a:pt x="18045" y="325466"/>
                </a:lnTo>
                <a:lnTo>
                  <a:pt x="25527" y="324353"/>
                </a:lnTo>
                <a:lnTo>
                  <a:pt x="31785" y="320587"/>
                </a:lnTo>
                <a:lnTo>
                  <a:pt x="36173" y="314750"/>
                </a:lnTo>
                <a:lnTo>
                  <a:pt x="38050" y="307422"/>
                </a:lnTo>
                <a:lnTo>
                  <a:pt x="39199" y="285090"/>
                </a:lnTo>
                <a:lnTo>
                  <a:pt x="43562" y="257723"/>
                </a:lnTo>
                <a:lnTo>
                  <a:pt x="49296" y="236247"/>
                </a:lnTo>
                <a:lnTo>
                  <a:pt x="49728" y="228695"/>
                </a:lnTo>
                <a:lnTo>
                  <a:pt x="47315" y="221802"/>
                </a:lnTo>
                <a:lnTo>
                  <a:pt x="42494" y="216317"/>
                </a:lnTo>
                <a:lnTo>
                  <a:pt x="35700" y="212987"/>
                </a:lnTo>
                <a:lnTo>
                  <a:pt x="28148" y="212555"/>
                </a:lnTo>
                <a:close/>
              </a:path>
              <a:path w="640080" h="628650">
                <a:moveTo>
                  <a:pt x="110739" y="83976"/>
                </a:moveTo>
                <a:lnTo>
                  <a:pt x="72238" y="114927"/>
                </a:lnTo>
                <a:lnTo>
                  <a:pt x="45830" y="152133"/>
                </a:lnTo>
                <a:lnTo>
                  <a:pt x="43197" y="159244"/>
                </a:lnTo>
                <a:lnTo>
                  <a:pt x="43478" y="166522"/>
                </a:lnTo>
                <a:lnTo>
                  <a:pt x="46475" y="173182"/>
                </a:lnTo>
                <a:lnTo>
                  <a:pt x="51989" y="178360"/>
                </a:lnTo>
                <a:lnTo>
                  <a:pt x="59081" y="180992"/>
                </a:lnTo>
                <a:lnTo>
                  <a:pt x="66379" y="180711"/>
                </a:lnTo>
                <a:lnTo>
                  <a:pt x="73038" y="177714"/>
                </a:lnTo>
                <a:lnTo>
                  <a:pt x="78216" y="172199"/>
                </a:lnTo>
                <a:lnTo>
                  <a:pt x="86259" y="159224"/>
                </a:lnTo>
                <a:lnTo>
                  <a:pt x="102533" y="138031"/>
                </a:lnTo>
                <a:lnTo>
                  <a:pt x="120793" y="118460"/>
                </a:lnTo>
                <a:lnTo>
                  <a:pt x="122318" y="117217"/>
                </a:lnTo>
                <a:lnTo>
                  <a:pt x="126858" y="111166"/>
                </a:lnTo>
                <a:lnTo>
                  <a:pt x="128663" y="104089"/>
                </a:lnTo>
                <a:lnTo>
                  <a:pt x="127682" y="96853"/>
                </a:lnTo>
                <a:lnTo>
                  <a:pt x="123866" y="90321"/>
                </a:lnTo>
                <a:lnTo>
                  <a:pt x="117816" y="85781"/>
                </a:lnTo>
                <a:lnTo>
                  <a:pt x="110739" y="83976"/>
                </a:lnTo>
                <a:close/>
              </a:path>
              <a:path w="640080" h="628650">
                <a:moveTo>
                  <a:pt x="244145" y="10686"/>
                </a:moveTo>
                <a:lnTo>
                  <a:pt x="194406" y="25006"/>
                </a:lnTo>
                <a:lnTo>
                  <a:pt x="155444" y="46608"/>
                </a:lnTo>
                <a:lnTo>
                  <a:pt x="151922" y="60506"/>
                </a:lnTo>
                <a:lnTo>
                  <a:pt x="154430" y="67644"/>
                </a:lnTo>
                <a:lnTo>
                  <a:pt x="159512" y="73248"/>
                </a:lnTo>
                <a:lnTo>
                  <a:pt x="166118" y="76361"/>
                </a:lnTo>
                <a:lnTo>
                  <a:pt x="173410" y="76769"/>
                </a:lnTo>
                <a:lnTo>
                  <a:pt x="180547" y="74260"/>
                </a:lnTo>
                <a:lnTo>
                  <a:pt x="185968" y="71031"/>
                </a:lnTo>
                <a:lnTo>
                  <a:pt x="210679" y="59456"/>
                </a:lnTo>
                <a:lnTo>
                  <a:pt x="236645" y="50232"/>
                </a:lnTo>
                <a:lnTo>
                  <a:pt x="245903" y="47990"/>
                </a:lnTo>
                <a:lnTo>
                  <a:pt x="252727" y="44726"/>
                </a:lnTo>
                <a:lnTo>
                  <a:pt x="257601" y="39287"/>
                </a:lnTo>
                <a:lnTo>
                  <a:pt x="260079" y="32418"/>
                </a:lnTo>
                <a:lnTo>
                  <a:pt x="259718" y="24862"/>
                </a:lnTo>
                <a:lnTo>
                  <a:pt x="256454" y="18038"/>
                </a:lnTo>
                <a:lnTo>
                  <a:pt x="251015" y="13165"/>
                </a:lnTo>
                <a:lnTo>
                  <a:pt x="244145" y="10686"/>
                </a:lnTo>
                <a:close/>
              </a:path>
              <a:path w="640080" h="628650">
                <a:moveTo>
                  <a:pt x="407846" y="38053"/>
                </a:moveTo>
                <a:lnTo>
                  <a:pt x="320702" y="38053"/>
                </a:lnTo>
                <a:lnTo>
                  <a:pt x="349608" y="39578"/>
                </a:lnTo>
                <a:lnTo>
                  <a:pt x="377630" y="43865"/>
                </a:lnTo>
                <a:lnTo>
                  <a:pt x="387329" y="46405"/>
                </a:lnTo>
                <a:lnTo>
                  <a:pt x="394885" y="46767"/>
                </a:lnTo>
                <a:lnTo>
                  <a:pt x="401755" y="44288"/>
                </a:lnTo>
                <a:lnTo>
                  <a:pt x="407194" y="39415"/>
                </a:lnTo>
                <a:lnTo>
                  <a:pt x="407846" y="38053"/>
                </a:lnTo>
                <a:close/>
              </a:path>
              <a:path w="640080" h="628650">
                <a:moveTo>
                  <a:pt x="318818" y="0"/>
                </a:moveTo>
                <a:lnTo>
                  <a:pt x="297496" y="20129"/>
                </a:lnTo>
                <a:lnTo>
                  <a:pt x="299357" y="27461"/>
                </a:lnTo>
                <a:lnTo>
                  <a:pt x="303734" y="33307"/>
                </a:lnTo>
                <a:lnTo>
                  <a:pt x="309984" y="37085"/>
                </a:lnTo>
                <a:lnTo>
                  <a:pt x="317464" y="38214"/>
                </a:lnTo>
                <a:lnTo>
                  <a:pt x="320702" y="38053"/>
                </a:lnTo>
                <a:lnTo>
                  <a:pt x="407846" y="38053"/>
                </a:lnTo>
                <a:lnTo>
                  <a:pt x="410458" y="32590"/>
                </a:lnTo>
                <a:lnTo>
                  <a:pt x="410819" y="25035"/>
                </a:lnTo>
                <a:lnTo>
                  <a:pt x="408341" y="18165"/>
                </a:lnTo>
                <a:lnTo>
                  <a:pt x="403468" y="12727"/>
                </a:lnTo>
                <a:lnTo>
                  <a:pt x="396643" y="9462"/>
                </a:lnTo>
                <a:lnTo>
                  <a:pt x="383269" y="6186"/>
                </a:lnTo>
                <a:lnTo>
                  <a:pt x="351492" y="1523"/>
                </a:lnTo>
                <a:lnTo>
                  <a:pt x="318818" y="0"/>
                </a:lnTo>
                <a:close/>
              </a:path>
              <a:path w="640080" h="628650">
                <a:moveTo>
                  <a:pt x="463936" y="35552"/>
                </a:moveTo>
                <a:lnTo>
                  <a:pt x="456717" y="36658"/>
                </a:lnTo>
                <a:lnTo>
                  <a:pt x="450440" y="40389"/>
                </a:lnTo>
                <a:lnTo>
                  <a:pt x="445919" y="46455"/>
                </a:lnTo>
                <a:lnTo>
                  <a:pt x="444106" y="53799"/>
                </a:lnTo>
                <a:lnTo>
                  <a:pt x="445211" y="61018"/>
                </a:lnTo>
                <a:lnTo>
                  <a:pt x="448943" y="67295"/>
                </a:lnTo>
                <a:lnTo>
                  <a:pt x="455009" y="71815"/>
                </a:lnTo>
                <a:lnTo>
                  <a:pt x="455165" y="71889"/>
                </a:lnTo>
                <a:lnTo>
                  <a:pt x="478381" y="85821"/>
                </a:lnTo>
                <a:lnTo>
                  <a:pt x="500048" y="101815"/>
                </a:lnTo>
                <a:lnTo>
                  <a:pt x="512361" y="112902"/>
                </a:lnTo>
                <a:lnTo>
                  <a:pt x="518892" y="116718"/>
                </a:lnTo>
                <a:lnTo>
                  <a:pt x="544053" y="97586"/>
                </a:lnTo>
                <a:lnTo>
                  <a:pt x="542249" y="90510"/>
                </a:lnTo>
                <a:lnTo>
                  <a:pt x="497879" y="53088"/>
                </a:lnTo>
                <a:lnTo>
                  <a:pt x="471280" y="37365"/>
                </a:lnTo>
                <a:lnTo>
                  <a:pt x="463936" y="35552"/>
                </a:lnTo>
                <a:close/>
              </a:path>
              <a:path w="640080" h="628650">
                <a:moveTo>
                  <a:pt x="571140" y="137827"/>
                </a:moveTo>
                <a:lnTo>
                  <a:pt x="564048" y="140460"/>
                </a:lnTo>
                <a:lnTo>
                  <a:pt x="558534" y="145638"/>
                </a:lnTo>
                <a:lnTo>
                  <a:pt x="555536" y="152298"/>
                </a:lnTo>
                <a:lnTo>
                  <a:pt x="555255" y="159595"/>
                </a:lnTo>
                <a:lnTo>
                  <a:pt x="557888" y="166687"/>
                </a:lnTo>
                <a:lnTo>
                  <a:pt x="568360" y="183589"/>
                </a:lnTo>
                <a:lnTo>
                  <a:pt x="580137" y="207768"/>
                </a:lnTo>
                <a:lnTo>
                  <a:pt x="589026" y="231847"/>
                </a:lnTo>
                <a:lnTo>
                  <a:pt x="593021" y="238271"/>
                </a:lnTo>
                <a:lnTo>
                  <a:pt x="598963" y="242516"/>
                </a:lnTo>
                <a:lnTo>
                  <a:pt x="606064" y="244224"/>
                </a:lnTo>
                <a:lnTo>
                  <a:pt x="613534" y="243033"/>
                </a:lnTo>
                <a:lnTo>
                  <a:pt x="619957" y="239037"/>
                </a:lnTo>
                <a:lnTo>
                  <a:pt x="624202" y="233095"/>
                </a:lnTo>
                <a:lnTo>
                  <a:pt x="625909" y="225994"/>
                </a:lnTo>
                <a:lnTo>
                  <a:pt x="624719" y="218523"/>
                </a:lnTo>
                <a:lnTo>
                  <a:pt x="600748" y="163522"/>
                </a:lnTo>
                <a:lnTo>
                  <a:pt x="578438" y="138108"/>
                </a:lnTo>
                <a:lnTo>
                  <a:pt x="571140" y="137827"/>
                </a:lnTo>
                <a:close/>
              </a:path>
              <a:path w="640080" h="628650">
                <a:moveTo>
                  <a:pt x="619182" y="280941"/>
                </a:moveTo>
                <a:lnTo>
                  <a:pt x="611853" y="282818"/>
                </a:lnTo>
                <a:lnTo>
                  <a:pt x="606016" y="287207"/>
                </a:lnTo>
                <a:lnTo>
                  <a:pt x="602250" y="293464"/>
                </a:lnTo>
                <a:lnTo>
                  <a:pt x="601136" y="300946"/>
                </a:lnTo>
                <a:lnTo>
                  <a:pt x="601875" y="315281"/>
                </a:lnTo>
                <a:lnTo>
                  <a:pt x="600321" y="343512"/>
                </a:lnTo>
                <a:lnTo>
                  <a:pt x="595958" y="370880"/>
                </a:lnTo>
                <a:lnTo>
                  <a:pt x="595429" y="378411"/>
                </a:lnTo>
                <a:lnTo>
                  <a:pt x="597842" y="385304"/>
                </a:lnTo>
                <a:lnTo>
                  <a:pt x="602663" y="390789"/>
                </a:lnTo>
                <a:lnTo>
                  <a:pt x="609456" y="394117"/>
                </a:lnTo>
                <a:lnTo>
                  <a:pt x="617009" y="394551"/>
                </a:lnTo>
                <a:lnTo>
                  <a:pt x="623902" y="392138"/>
                </a:lnTo>
                <a:lnTo>
                  <a:pt x="638370" y="345471"/>
                </a:lnTo>
                <a:lnTo>
                  <a:pt x="639925" y="313321"/>
                </a:lnTo>
                <a:lnTo>
                  <a:pt x="639187" y="298987"/>
                </a:lnTo>
                <a:lnTo>
                  <a:pt x="637310" y="291659"/>
                </a:lnTo>
                <a:lnTo>
                  <a:pt x="632921" y="285821"/>
                </a:lnTo>
                <a:lnTo>
                  <a:pt x="626664" y="282055"/>
                </a:lnTo>
                <a:lnTo>
                  <a:pt x="619182" y="280941"/>
                </a:lnTo>
                <a:close/>
              </a:path>
              <a:path w="640080" h="628650">
                <a:moveTo>
                  <a:pt x="595862" y="370859"/>
                </a:moveTo>
                <a:close/>
              </a:path>
              <a:path w="640080" h="628650">
                <a:moveTo>
                  <a:pt x="589530" y="428103"/>
                </a:moveTo>
                <a:lnTo>
                  <a:pt x="582295" y="429097"/>
                </a:lnTo>
                <a:lnTo>
                  <a:pt x="575960" y="432731"/>
                </a:lnTo>
                <a:lnTo>
                  <a:pt x="571347" y="438726"/>
                </a:lnTo>
                <a:lnTo>
                  <a:pt x="567456" y="446647"/>
                </a:lnTo>
                <a:lnTo>
                  <a:pt x="553276" y="469358"/>
                </a:lnTo>
                <a:lnTo>
                  <a:pt x="536986" y="490571"/>
                </a:lnTo>
                <a:lnTo>
                  <a:pt x="531265" y="496616"/>
                </a:lnTo>
                <a:lnTo>
                  <a:pt x="527321" y="503073"/>
                </a:lnTo>
                <a:lnTo>
                  <a:pt x="545957" y="528603"/>
                </a:lnTo>
                <a:lnTo>
                  <a:pt x="553068" y="526937"/>
                </a:lnTo>
                <a:lnTo>
                  <a:pt x="585664" y="489426"/>
                </a:lnTo>
                <a:lnTo>
                  <a:pt x="605543" y="455527"/>
                </a:lnTo>
                <a:lnTo>
                  <a:pt x="607469" y="448211"/>
                </a:lnTo>
                <a:lnTo>
                  <a:pt x="606475" y="440976"/>
                </a:lnTo>
                <a:lnTo>
                  <a:pt x="602840" y="434642"/>
                </a:lnTo>
                <a:lnTo>
                  <a:pt x="596845" y="430029"/>
                </a:lnTo>
                <a:lnTo>
                  <a:pt x="589530" y="428103"/>
                </a:lnTo>
                <a:close/>
              </a:path>
              <a:path w="640080" h="628650">
                <a:moveTo>
                  <a:pt x="485203" y="540460"/>
                </a:moveTo>
                <a:lnTo>
                  <a:pt x="478067" y="542969"/>
                </a:lnTo>
                <a:lnTo>
                  <a:pt x="453552" y="557571"/>
                </a:lnTo>
                <a:lnTo>
                  <a:pt x="428840" y="569147"/>
                </a:lnTo>
                <a:lnTo>
                  <a:pt x="413080" y="574709"/>
                </a:lnTo>
                <a:lnTo>
                  <a:pt x="406606" y="578622"/>
                </a:lnTo>
                <a:lnTo>
                  <a:pt x="402286" y="584510"/>
                </a:lnTo>
                <a:lnTo>
                  <a:pt x="400489" y="591589"/>
                </a:lnTo>
                <a:lnTo>
                  <a:pt x="401585" y="599074"/>
                </a:lnTo>
                <a:lnTo>
                  <a:pt x="405498" y="605547"/>
                </a:lnTo>
                <a:lnTo>
                  <a:pt x="411386" y="609868"/>
                </a:lnTo>
                <a:lnTo>
                  <a:pt x="418465" y="611665"/>
                </a:lnTo>
                <a:lnTo>
                  <a:pt x="425950" y="610570"/>
                </a:lnTo>
                <a:lnTo>
                  <a:pt x="473050" y="590304"/>
                </a:lnTo>
                <a:lnTo>
                  <a:pt x="506282" y="564014"/>
                </a:lnTo>
                <a:lnTo>
                  <a:pt x="506691" y="556723"/>
                </a:lnTo>
                <a:lnTo>
                  <a:pt x="504182" y="549586"/>
                </a:lnTo>
                <a:lnTo>
                  <a:pt x="499101" y="543981"/>
                </a:lnTo>
                <a:lnTo>
                  <a:pt x="492495" y="540869"/>
                </a:lnTo>
                <a:lnTo>
                  <a:pt x="485203" y="540460"/>
                </a:lnTo>
                <a:close/>
              </a:path>
              <a:path w="640080" h="628650">
                <a:moveTo>
                  <a:pt x="272102" y="586266"/>
                </a:moveTo>
                <a:lnTo>
                  <a:pt x="264547" y="586649"/>
                </a:lnTo>
                <a:lnTo>
                  <a:pt x="257954" y="589791"/>
                </a:lnTo>
                <a:lnTo>
                  <a:pt x="253020" y="595175"/>
                </a:lnTo>
                <a:lnTo>
                  <a:pt x="250442" y="602287"/>
                </a:lnTo>
                <a:lnTo>
                  <a:pt x="250825" y="609842"/>
                </a:lnTo>
                <a:lnTo>
                  <a:pt x="288028" y="627079"/>
                </a:lnTo>
                <a:lnTo>
                  <a:pt x="320702" y="628603"/>
                </a:lnTo>
                <a:lnTo>
                  <a:pt x="346137" y="627344"/>
                </a:lnTo>
                <a:lnTo>
                  <a:pt x="353469" y="625482"/>
                </a:lnTo>
                <a:lnTo>
                  <a:pt x="359314" y="621104"/>
                </a:lnTo>
                <a:lnTo>
                  <a:pt x="363093" y="614855"/>
                </a:lnTo>
                <a:lnTo>
                  <a:pt x="364222" y="607374"/>
                </a:lnTo>
                <a:lnTo>
                  <a:pt x="362359" y="600043"/>
                </a:lnTo>
                <a:lnTo>
                  <a:pt x="357982" y="594197"/>
                </a:lnTo>
                <a:lnTo>
                  <a:pt x="351949" y="590550"/>
                </a:lnTo>
                <a:lnTo>
                  <a:pt x="318818" y="590550"/>
                </a:lnTo>
                <a:lnTo>
                  <a:pt x="289913" y="589026"/>
                </a:lnTo>
                <a:lnTo>
                  <a:pt x="272102" y="586266"/>
                </a:lnTo>
                <a:close/>
              </a:path>
              <a:path w="640080" h="628650">
                <a:moveTo>
                  <a:pt x="344252" y="589290"/>
                </a:moveTo>
                <a:lnTo>
                  <a:pt x="318818" y="590550"/>
                </a:lnTo>
                <a:lnTo>
                  <a:pt x="351949" y="590550"/>
                </a:lnTo>
                <a:lnTo>
                  <a:pt x="351732" y="590419"/>
                </a:lnTo>
                <a:lnTo>
                  <a:pt x="344252" y="589290"/>
                </a:lnTo>
                <a:close/>
              </a:path>
              <a:path w="640080" h="628650">
                <a:moveTo>
                  <a:pt x="128410" y="525595"/>
                </a:moveTo>
                <a:lnTo>
                  <a:pt x="121536" y="528064"/>
                </a:lnTo>
                <a:lnTo>
                  <a:pt x="115944" y="533158"/>
                </a:lnTo>
                <a:lnTo>
                  <a:pt x="112767" y="540023"/>
                </a:lnTo>
                <a:lnTo>
                  <a:pt x="112479" y="547321"/>
                </a:lnTo>
                <a:lnTo>
                  <a:pt x="114948" y="554194"/>
                </a:lnTo>
                <a:lnTo>
                  <a:pt x="168083" y="591163"/>
                </a:lnTo>
                <a:lnTo>
                  <a:pt x="195678" y="602543"/>
                </a:lnTo>
                <a:lnTo>
                  <a:pt x="202897" y="601438"/>
                </a:lnTo>
                <a:lnTo>
                  <a:pt x="209175" y="597706"/>
                </a:lnTo>
                <a:lnTo>
                  <a:pt x="213696" y="591640"/>
                </a:lnTo>
                <a:lnTo>
                  <a:pt x="215509" y="584296"/>
                </a:lnTo>
                <a:lnTo>
                  <a:pt x="214404" y="577077"/>
                </a:lnTo>
                <a:lnTo>
                  <a:pt x="210672" y="570799"/>
                </a:lnTo>
                <a:lnTo>
                  <a:pt x="204607" y="566279"/>
                </a:lnTo>
                <a:lnTo>
                  <a:pt x="184355" y="556713"/>
                </a:lnTo>
                <a:lnTo>
                  <a:pt x="161138" y="542782"/>
                </a:lnTo>
                <a:lnTo>
                  <a:pt x="142572" y="529060"/>
                </a:lnTo>
                <a:lnTo>
                  <a:pt x="135707" y="525883"/>
                </a:lnTo>
                <a:lnTo>
                  <a:pt x="128410" y="525595"/>
                </a:lnTo>
                <a:close/>
              </a:path>
              <a:path w="640080" h="628650">
                <a:moveTo>
                  <a:pt x="41228" y="405200"/>
                </a:moveTo>
                <a:lnTo>
                  <a:pt x="33757" y="406391"/>
                </a:lnTo>
                <a:lnTo>
                  <a:pt x="27334" y="410386"/>
                </a:lnTo>
                <a:lnTo>
                  <a:pt x="23089" y="416328"/>
                </a:lnTo>
                <a:lnTo>
                  <a:pt x="21382" y="423429"/>
                </a:lnTo>
                <a:lnTo>
                  <a:pt x="22572" y="430899"/>
                </a:lnTo>
                <a:lnTo>
                  <a:pt x="54903" y="490945"/>
                </a:lnTo>
                <a:lnTo>
                  <a:pt x="75674" y="508981"/>
                </a:lnTo>
                <a:lnTo>
                  <a:pt x="82965" y="508555"/>
                </a:lnTo>
                <a:lnTo>
                  <a:pt x="89769" y="505249"/>
                </a:lnTo>
                <a:lnTo>
                  <a:pt x="94757" y="499562"/>
                </a:lnTo>
                <a:lnTo>
                  <a:pt x="97096" y="492643"/>
                </a:lnTo>
                <a:lnTo>
                  <a:pt x="96671" y="485353"/>
                </a:lnTo>
                <a:lnTo>
                  <a:pt x="93365" y="478549"/>
                </a:lnTo>
                <a:lnTo>
                  <a:pt x="85197" y="467841"/>
                </a:lnTo>
                <a:lnTo>
                  <a:pt x="71160" y="445014"/>
                </a:lnTo>
                <a:lnTo>
                  <a:pt x="59383" y="420836"/>
                </a:lnTo>
                <a:lnTo>
                  <a:pt x="58267" y="417575"/>
                </a:lnTo>
                <a:lnTo>
                  <a:pt x="54271" y="411152"/>
                </a:lnTo>
                <a:lnTo>
                  <a:pt x="48329" y="406907"/>
                </a:lnTo>
                <a:lnTo>
                  <a:pt x="41228" y="405200"/>
                </a:lnTo>
                <a:close/>
              </a:path>
              <a:path w="640080" h="628650">
                <a:moveTo>
                  <a:pt x="17245" y="325668"/>
                </a:moveTo>
                <a:lnTo>
                  <a:pt x="10148" y="328288"/>
                </a:lnTo>
                <a:lnTo>
                  <a:pt x="4792" y="333253"/>
                </a:lnTo>
                <a:lnTo>
                  <a:pt x="1690" y="339864"/>
                </a:lnTo>
                <a:lnTo>
                  <a:pt x="1351" y="347421"/>
                </a:lnTo>
                <a:lnTo>
                  <a:pt x="2327" y="353693"/>
                </a:lnTo>
                <a:lnTo>
                  <a:pt x="4947" y="360790"/>
                </a:lnTo>
                <a:lnTo>
                  <a:pt x="9912" y="366146"/>
                </a:lnTo>
                <a:lnTo>
                  <a:pt x="16524" y="369248"/>
                </a:lnTo>
                <a:lnTo>
                  <a:pt x="24081" y="369587"/>
                </a:lnTo>
                <a:lnTo>
                  <a:pt x="31177" y="366968"/>
                </a:lnTo>
                <a:lnTo>
                  <a:pt x="36532" y="362002"/>
                </a:lnTo>
                <a:lnTo>
                  <a:pt x="39635" y="355391"/>
                </a:lnTo>
                <a:lnTo>
                  <a:pt x="39974" y="347833"/>
                </a:lnTo>
                <a:lnTo>
                  <a:pt x="38999" y="341562"/>
                </a:lnTo>
                <a:lnTo>
                  <a:pt x="36378" y="334465"/>
                </a:lnTo>
                <a:lnTo>
                  <a:pt x="31413" y="329110"/>
                </a:lnTo>
                <a:lnTo>
                  <a:pt x="24802" y="326007"/>
                </a:lnTo>
                <a:lnTo>
                  <a:pt x="17245" y="325668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012033" y="2041651"/>
            <a:ext cx="1130935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spc="-5">
                <a:solidFill>
                  <a:srgbClr val="0000FF"/>
                </a:solidFill>
                <a:latin typeface="Arial"/>
                <a:cs typeface="Arial"/>
              </a:rPr>
              <a:t>Isolated  </a:t>
            </a:r>
            <a:r>
              <a:rPr dirty="0" sz="1800">
                <a:solidFill>
                  <a:srgbClr val="0000FF"/>
                </a:solidFill>
                <a:latin typeface="Arial"/>
                <a:cs typeface="Arial"/>
              </a:rPr>
              <a:t>c</a:t>
            </a:r>
            <a:r>
              <a:rPr dirty="0" sz="1800" spc="-5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dirty="0" sz="1800">
                <a:solidFill>
                  <a:srgbClr val="0000FF"/>
                </a:solidFill>
                <a:latin typeface="Arial"/>
                <a:cs typeface="Arial"/>
              </a:rPr>
              <a:t>mm</a:t>
            </a:r>
            <a:r>
              <a:rPr dirty="0" sz="1800" spc="-5">
                <a:solidFill>
                  <a:srgbClr val="0000FF"/>
                </a:solidFill>
                <a:latin typeface="Arial"/>
                <a:cs typeface="Arial"/>
              </a:rPr>
              <a:t>un</a:t>
            </a:r>
            <a:r>
              <a:rPr dirty="0" sz="180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dirty="0" sz="1800" spc="-5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dirty="0" sz="1800">
                <a:solidFill>
                  <a:srgbClr val="0000FF"/>
                </a:solidFill>
                <a:latin typeface="Arial"/>
                <a:cs typeface="Arial"/>
              </a:rPr>
              <a:t>y  </a:t>
            </a:r>
            <a:r>
              <a:rPr dirty="0" sz="1800" spc="-5">
                <a:solidFill>
                  <a:srgbClr val="0000FF"/>
                </a:solidFill>
                <a:latin typeface="Arial"/>
                <a:cs typeface="Arial"/>
              </a:rPr>
              <a:t>of node</a:t>
            </a:r>
            <a:r>
              <a:rPr dirty="0" sz="1800" spc="-9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FF"/>
                </a:solidFill>
                <a:latin typeface="Cambria Math"/>
                <a:cs typeface="Cambria Math"/>
              </a:rPr>
              <a:t>𝑖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896328" y="1924437"/>
            <a:ext cx="2222074" cy="12478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595892" y="2261107"/>
            <a:ext cx="984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𝑖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83533" y="2379979"/>
            <a:ext cx="984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𝑖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17312" y="1372443"/>
            <a:ext cx="1902460" cy="352425"/>
          </a:xfrm>
          <a:custGeom>
            <a:avLst/>
            <a:gdLst/>
            <a:ahLst/>
            <a:cxnLst/>
            <a:rect l="l" t="t" r="r" b="b"/>
            <a:pathLst>
              <a:path w="1902460" h="352425">
                <a:moveTo>
                  <a:pt x="1843646" y="0"/>
                </a:moveTo>
                <a:lnTo>
                  <a:pt x="58677" y="0"/>
                </a:lnTo>
                <a:lnTo>
                  <a:pt x="35837" y="4611"/>
                </a:lnTo>
                <a:lnTo>
                  <a:pt x="17186" y="17186"/>
                </a:lnTo>
                <a:lnTo>
                  <a:pt x="4611" y="35837"/>
                </a:lnTo>
                <a:lnTo>
                  <a:pt x="0" y="58677"/>
                </a:lnTo>
                <a:lnTo>
                  <a:pt x="0" y="293383"/>
                </a:lnTo>
                <a:lnTo>
                  <a:pt x="4611" y="316223"/>
                </a:lnTo>
                <a:lnTo>
                  <a:pt x="17186" y="334875"/>
                </a:lnTo>
                <a:lnTo>
                  <a:pt x="35837" y="347450"/>
                </a:lnTo>
                <a:lnTo>
                  <a:pt x="58677" y="352061"/>
                </a:lnTo>
                <a:lnTo>
                  <a:pt x="1843646" y="352061"/>
                </a:lnTo>
                <a:lnTo>
                  <a:pt x="1866486" y="347450"/>
                </a:lnTo>
                <a:lnTo>
                  <a:pt x="1885137" y="334875"/>
                </a:lnTo>
                <a:lnTo>
                  <a:pt x="1897713" y="316223"/>
                </a:lnTo>
                <a:lnTo>
                  <a:pt x="1902324" y="293383"/>
                </a:lnTo>
                <a:lnTo>
                  <a:pt x="1902324" y="58677"/>
                </a:lnTo>
                <a:lnTo>
                  <a:pt x="1897713" y="35837"/>
                </a:lnTo>
                <a:lnTo>
                  <a:pt x="1885137" y="17186"/>
                </a:lnTo>
                <a:lnTo>
                  <a:pt x="1866486" y="4611"/>
                </a:lnTo>
                <a:lnTo>
                  <a:pt x="1843646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93434" y="1348442"/>
            <a:ext cx="1950720" cy="400685"/>
          </a:xfrm>
          <a:custGeom>
            <a:avLst/>
            <a:gdLst/>
            <a:ahLst/>
            <a:cxnLst/>
            <a:rect l="l" t="t" r="r" b="b"/>
            <a:pathLst>
              <a:path w="1950720" h="400685">
                <a:moveTo>
                  <a:pt x="1867525" y="0"/>
                </a:moveTo>
                <a:lnTo>
                  <a:pt x="80149" y="120"/>
                </a:lnTo>
                <a:lnTo>
                  <a:pt x="36945" y="13663"/>
                </a:lnTo>
                <a:lnTo>
                  <a:pt x="6647" y="49770"/>
                </a:lnTo>
                <a:lnTo>
                  <a:pt x="0" y="319791"/>
                </a:lnTo>
                <a:lnTo>
                  <a:pt x="1353" y="333214"/>
                </a:lnTo>
                <a:lnTo>
                  <a:pt x="23526" y="375330"/>
                </a:lnTo>
                <a:lnTo>
                  <a:pt x="65149" y="398266"/>
                </a:lnTo>
                <a:lnTo>
                  <a:pt x="82556" y="400062"/>
                </a:lnTo>
                <a:lnTo>
                  <a:pt x="1869931" y="399940"/>
                </a:lnTo>
                <a:lnTo>
                  <a:pt x="1913136" y="386398"/>
                </a:lnTo>
                <a:lnTo>
                  <a:pt x="1929892" y="371285"/>
                </a:lnTo>
                <a:lnTo>
                  <a:pt x="82556" y="371261"/>
                </a:lnTo>
                <a:lnTo>
                  <a:pt x="71693" y="370142"/>
                </a:lnTo>
                <a:lnTo>
                  <a:pt x="37897" y="347494"/>
                </a:lnTo>
                <a:lnTo>
                  <a:pt x="28678" y="82678"/>
                </a:lnTo>
                <a:lnTo>
                  <a:pt x="29798" y="71814"/>
                </a:lnTo>
                <a:lnTo>
                  <a:pt x="52446" y="38018"/>
                </a:lnTo>
                <a:lnTo>
                  <a:pt x="83038" y="28775"/>
                </a:lnTo>
                <a:lnTo>
                  <a:pt x="1929890" y="28775"/>
                </a:lnTo>
                <a:lnTo>
                  <a:pt x="1926553" y="24731"/>
                </a:lnTo>
                <a:lnTo>
                  <a:pt x="1884933" y="1795"/>
                </a:lnTo>
                <a:lnTo>
                  <a:pt x="1883354" y="1474"/>
                </a:lnTo>
                <a:lnTo>
                  <a:pt x="1867525" y="0"/>
                </a:lnTo>
                <a:close/>
              </a:path>
              <a:path w="1950720" h="400685">
                <a:moveTo>
                  <a:pt x="1929890" y="28775"/>
                </a:moveTo>
                <a:lnTo>
                  <a:pt x="83038" y="28775"/>
                </a:lnTo>
                <a:lnTo>
                  <a:pt x="1867525" y="28799"/>
                </a:lnTo>
                <a:lnTo>
                  <a:pt x="1878388" y="29919"/>
                </a:lnTo>
                <a:lnTo>
                  <a:pt x="1912183" y="52567"/>
                </a:lnTo>
                <a:lnTo>
                  <a:pt x="1921402" y="317384"/>
                </a:lnTo>
                <a:lnTo>
                  <a:pt x="1920283" y="328248"/>
                </a:lnTo>
                <a:lnTo>
                  <a:pt x="1897634" y="362043"/>
                </a:lnTo>
                <a:lnTo>
                  <a:pt x="1867044" y="371285"/>
                </a:lnTo>
                <a:lnTo>
                  <a:pt x="1929892" y="371285"/>
                </a:lnTo>
                <a:lnTo>
                  <a:pt x="1948407" y="334792"/>
                </a:lnTo>
                <a:lnTo>
                  <a:pt x="1950202" y="317384"/>
                </a:lnTo>
                <a:lnTo>
                  <a:pt x="1950081" y="80271"/>
                </a:lnTo>
                <a:lnTo>
                  <a:pt x="1936539" y="37067"/>
                </a:lnTo>
                <a:lnTo>
                  <a:pt x="1935674" y="35786"/>
                </a:lnTo>
                <a:lnTo>
                  <a:pt x="1929890" y="28775"/>
                </a:lnTo>
                <a:close/>
              </a:path>
              <a:path w="1950720" h="400685">
                <a:moveTo>
                  <a:pt x="84001" y="38327"/>
                </a:moveTo>
                <a:lnTo>
                  <a:pt x="45892" y="57962"/>
                </a:lnTo>
                <a:lnTo>
                  <a:pt x="38278" y="82678"/>
                </a:lnTo>
                <a:lnTo>
                  <a:pt x="38303" y="316903"/>
                </a:lnTo>
                <a:lnTo>
                  <a:pt x="57841" y="354048"/>
                </a:lnTo>
                <a:lnTo>
                  <a:pt x="1866080" y="361735"/>
                </a:lnTo>
                <a:lnTo>
                  <a:pt x="1876464" y="360687"/>
                </a:lnTo>
                <a:lnTo>
                  <a:pt x="1884741" y="358118"/>
                </a:lnTo>
                <a:lnTo>
                  <a:pt x="1892240" y="354048"/>
                </a:lnTo>
                <a:lnTo>
                  <a:pt x="1894500" y="352183"/>
                </a:lnTo>
                <a:lnTo>
                  <a:pt x="82556" y="352061"/>
                </a:lnTo>
                <a:lnTo>
                  <a:pt x="75540" y="351233"/>
                </a:lnTo>
                <a:lnTo>
                  <a:pt x="47855" y="315940"/>
                </a:lnTo>
                <a:lnTo>
                  <a:pt x="47878" y="82678"/>
                </a:lnTo>
                <a:lnTo>
                  <a:pt x="69088" y="50831"/>
                </a:lnTo>
                <a:lnTo>
                  <a:pt x="84964" y="47878"/>
                </a:lnTo>
                <a:lnTo>
                  <a:pt x="1894501" y="47878"/>
                </a:lnTo>
                <a:lnTo>
                  <a:pt x="1892240" y="46013"/>
                </a:lnTo>
                <a:lnTo>
                  <a:pt x="1884741" y="41944"/>
                </a:lnTo>
                <a:lnTo>
                  <a:pt x="1876464" y="39373"/>
                </a:lnTo>
                <a:lnTo>
                  <a:pt x="1867525" y="38399"/>
                </a:lnTo>
                <a:lnTo>
                  <a:pt x="84001" y="38327"/>
                </a:lnTo>
                <a:close/>
              </a:path>
              <a:path w="1950720" h="400685">
                <a:moveTo>
                  <a:pt x="1894501" y="47878"/>
                </a:moveTo>
                <a:lnTo>
                  <a:pt x="84964" y="47878"/>
                </a:lnTo>
                <a:lnTo>
                  <a:pt x="1867525" y="47999"/>
                </a:lnTo>
                <a:lnTo>
                  <a:pt x="1874540" y="48828"/>
                </a:lnTo>
                <a:lnTo>
                  <a:pt x="1902080" y="82678"/>
                </a:lnTo>
                <a:lnTo>
                  <a:pt x="1902202" y="317384"/>
                </a:lnTo>
                <a:lnTo>
                  <a:pt x="1901373" y="324399"/>
                </a:lnTo>
                <a:lnTo>
                  <a:pt x="1865117" y="352183"/>
                </a:lnTo>
                <a:lnTo>
                  <a:pt x="1894500" y="352183"/>
                </a:lnTo>
                <a:lnTo>
                  <a:pt x="1911802" y="317384"/>
                </a:lnTo>
                <a:lnTo>
                  <a:pt x="1911729" y="82678"/>
                </a:lnTo>
                <a:lnTo>
                  <a:pt x="1910828" y="73738"/>
                </a:lnTo>
                <a:lnTo>
                  <a:pt x="1908259" y="65460"/>
                </a:lnTo>
                <a:lnTo>
                  <a:pt x="1904188" y="57962"/>
                </a:lnTo>
                <a:lnTo>
                  <a:pt x="1898787" y="51415"/>
                </a:lnTo>
                <a:lnTo>
                  <a:pt x="1894501" y="47878"/>
                </a:lnTo>
                <a:close/>
              </a:path>
            </a:pathLst>
          </a:custGeom>
          <a:solidFill>
            <a:srgbClr val="4D86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13239" y="1310131"/>
            <a:ext cx="1588135" cy="75120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Before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merging</a:t>
            </a:r>
            <a:endParaRPr sz="1800">
              <a:latin typeface="Arial"/>
              <a:cs typeface="Arial"/>
            </a:endParaRPr>
          </a:p>
          <a:p>
            <a:pPr marL="106045">
              <a:lnSpc>
                <a:spcPct val="100000"/>
              </a:lnSpc>
              <a:spcBef>
                <a:spcPts val="695"/>
              </a:spcBef>
            </a:pP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𝑪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617369" y="1346067"/>
            <a:ext cx="1718310" cy="369570"/>
          </a:xfrm>
          <a:custGeom>
            <a:avLst/>
            <a:gdLst/>
            <a:ahLst/>
            <a:cxnLst/>
            <a:rect l="l" t="t" r="r" b="b"/>
            <a:pathLst>
              <a:path w="1718309" h="369569">
                <a:moveTo>
                  <a:pt x="1656486" y="0"/>
                </a:moveTo>
                <a:lnTo>
                  <a:pt x="61555" y="0"/>
                </a:lnTo>
                <a:lnTo>
                  <a:pt x="37595" y="4837"/>
                </a:lnTo>
                <a:lnTo>
                  <a:pt x="18029" y="18029"/>
                </a:lnTo>
                <a:lnTo>
                  <a:pt x="4837" y="37595"/>
                </a:lnTo>
                <a:lnTo>
                  <a:pt x="0" y="61555"/>
                </a:lnTo>
                <a:lnTo>
                  <a:pt x="0" y="307775"/>
                </a:lnTo>
                <a:lnTo>
                  <a:pt x="4837" y="331736"/>
                </a:lnTo>
                <a:lnTo>
                  <a:pt x="18029" y="351302"/>
                </a:lnTo>
                <a:lnTo>
                  <a:pt x="37595" y="364495"/>
                </a:lnTo>
                <a:lnTo>
                  <a:pt x="61555" y="369332"/>
                </a:lnTo>
                <a:lnTo>
                  <a:pt x="1656486" y="369332"/>
                </a:lnTo>
                <a:lnTo>
                  <a:pt x="1680446" y="364495"/>
                </a:lnTo>
                <a:lnTo>
                  <a:pt x="1700012" y="351302"/>
                </a:lnTo>
                <a:lnTo>
                  <a:pt x="1713204" y="331736"/>
                </a:lnTo>
                <a:lnTo>
                  <a:pt x="1718042" y="307775"/>
                </a:lnTo>
                <a:lnTo>
                  <a:pt x="1718042" y="61555"/>
                </a:lnTo>
                <a:lnTo>
                  <a:pt x="1713204" y="37595"/>
                </a:lnTo>
                <a:lnTo>
                  <a:pt x="1700012" y="18029"/>
                </a:lnTo>
                <a:lnTo>
                  <a:pt x="1680446" y="4837"/>
                </a:lnTo>
                <a:lnTo>
                  <a:pt x="1656486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593490" y="1322067"/>
            <a:ext cx="1765935" cy="417830"/>
          </a:xfrm>
          <a:custGeom>
            <a:avLst/>
            <a:gdLst/>
            <a:ahLst/>
            <a:cxnLst/>
            <a:rect l="l" t="t" r="r" b="b"/>
            <a:pathLst>
              <a:path w="1765934" h="417830">
                <a:moveTo>
                  <a:pt x="1680366" y="0"/>
                </a:moveTo>
                <a:lnTo>
                  <a:pt x="83027" y="121"/>
                </a:lnTo>
                <a:lnTo>
                  <a:pt x="38215" y="14155"/>
                </a:lnTo>
                <a:lnTo>
                  <a:pt x="6873" y="51528"/>
                </a:lnTo>
                <a:lnTo>
                  <a:pt x="0" y="334183"/>
                </a:lnTo>
                <a:lnTo>
                  <a:pt x="1412" y="348187"/>
                </a:lnTo>
                <a:lnTo>
                  <a:pt x="24370" y="391756"/>
                </a:lnTo>
                <a:lnTo>
                  <a:pt x="67448" y="415479"/>
                </a:lnTo>
                <a:lnTo>
                  <a:pt x="85435" y="417332"/>
                </a:lnTo>
                <a:lnTo>
                  <a:pt x="1682772" y="417211"/>
                </a:lnTo>
                <a:lnTo>
                  <a:pt x="1727587" y="403176"/>
                </a:lnTo>
                <a:lnTo>
                  <a:pt x="1744071" y="388556"/>
                </a:lnTo>
                <a:lnTo>
                  <a:pt x="85435" y="388532"/>
                </a:lnTo>
                <a:lnTo>
                  <a:pt x="73991" y="387355"/>
                </a:lnTo>
                <a:lnTo>
                  <a:pt x="38389" y="363495"/>
                </a:lnTo>
                <a:lnTo>
                  <a:pt x="28679" y="85556"/>
                </a:lnTo>
                <a:lnTo>
                  <a:pt x="29857" y="74112"/>
                </a:lnTo>
                <a:lnTo>
                  <a:pt x="53715" y="38510"/>
                </a:lnTo>
                <a:lnTo>
                  <a:pt x="85916" y="28775"/>
                </a:lnTo>
                <a:lnTo>
                  <a:pt x="1744071" y="28775"/>
                </a:lnTo>
                <a:lnTo>
                  <a:pt x="1741431" y="25576"/>
                </a:lnTo>
                <a:lnTo>
                  <a:pt x="1698353" y="1854"/>
                </a:lnTo>
                <a:lnTo>
                  <a:pt x="1696775" y="1532"/>
                </a:lnTo>
                <a:lnTo>
                  <a:pt x="1680366" y="0"/>
                </a:lnTo>
                <a:close/>
              </a:path>
              <a:path w="1765934" h="417830">
                <a:moveTo>
                  <a:pt x="1744071" y="28775"/>
                </a:moveTo>
                <a:lnTo>
                  <a:pt x="85916" y="28775"/>
                </a:lnTo>
                <a:lnTo>
                  <a:pt x="1680366" y="28801"/>
                </a:lnTo>
                <a:lnTo>
                  <a:pt x="1691810" y="29978"/>
                </a:lnTo>
                <a:lnTo>
                  <a:pt x="1727410" y="53836"/>
                </a:lnTo>
                <a:lnTo>
                  <a:pt x="1737121" y="331776"/>
                </a:lnTo>
                <a:lnTo>
                  <a:pt x="1735943" y="343220"/>
                </a:lnTo>
                <a:lnTo>
                  <a:pt x="1712084" y="378821"/>
                </a:lnTo>
                <a:lnTo>
                  <a:pt x="1679884" y="388556"/>
                </a:lnTo>
                <a:lnTo>
                  <a:pt x="1744071" y="388556"/>
                </a:lnTo>
                <a:lnTo>
                  <a:pt x="1764068" y="349763"/>
                </a:lnTo>
                <a:lnTo>
                  <a:pt x="1765921" y="331776"/>
                </a:lnTo>
                <a:lnTo>
                  <a:pt x="1765800" y="83149"/>
                </a:lnTo>
                <a:lnTo>
                  <a:pt x="1751760" y="38327"/>
                </a:lnTo>
                <a:lnTo>
                  <a:pt x="1750902" y="37054"/>
                </a:lnTo>
                <a:lnTo>
                  <a:pt x="1744071" y="28775"/>
                </a:lnTo>
                <a:close/>
              </a:path>
              <a:path w="1765934" h="417830">
                <a:moveTo>
                  <a:pt x="86879" y="38327"/>
                </a:moveTo>
                <a:lnTo>
                  <a:pt x="46384" y="59231"/>
                </a:lnTo>
                <a:lnTo>
                  <a:pt x="38279" y="85556"/>
                </a:lnTo>
                <a:lnTo>
                  <a:pt x="38303" y="331294"/>
                </a:lnTo>
                <a:lnTo>
                  <a:pt x="59110" y="370827"/>
                </a:lnTo>
                <a:lnTo>
                  <a:pt x="1678996" y="378997"/>
                </a:lnTo>
                <a:lnTo>
                  <a:pt x="1689886" y="377899"/>
                </a:lnTo>
                <a:lnTo>
                  <a:pt x="1698702" y="375163"/>
                </a:lnTo>
                <a:lnTo>
                  <a:pt x="1706690" y="370827"/>
                </a:lnTo>
                <a:lnTo>
                  <a:pt x="1708356" y="369453"/>
                </a:lnTo>
                <a:lnTo>
                  <a:pt x="85435" y="369332"/>
                </a:lnTo>
                <a:lnTo>
                  <a:pt x="77838" y="368444"/>
                </a:lnTo>
                <a:lnTo>
                  <a:pt x="48766" y="339373"/>
                </a:lnTo>
                <a:lnTo>
                  <a:pt x="47855" y="330332"/>
                </a:lnTo>
                <a:lnTo>
                  <a:pt x="47878" y="85556"/>
                </a:lnTo>
                <a:lnTo>
                  <a:pt x="70846" y="51057"/>
                </a:lnTo>
                <a:lnTo>
                  <a:pt x="87842" y="47878"/>
                </a:lnTo>
                <a:lnTo>
                  <a:pt x="1708354" y="47878"/>
                </a:lnTo>
                <a:lnTo>
                  <a:pt x="1706690" y="46506"/>
                </a:lnTo>
                <a:lnTo>
                  <a:pt x="1698702" y="42170"/>
                </a:lnTo>
                <a:lnTo>
                  <a:pt x="1689886" y="39433"/>
                </a:lnTo>
                <a:lnTo>
                  <a:pt x="1680366" y="38400"/>
                </a:lnTo>
                <a:lnTo>
                  <a:pt x="86879" y="38327"/>
                </a:lnTo>
                <a:close/>
              </a:path>
              <a:path w="1765934" h="417830">
                <a:moveTo>
                  <a:pt x="1708354" y="47878"/>
                </a:moveTo>
                <a:lnTo>
                  <a:pt x="87842" y="47878"/>
                </a:lnTo>
                <a:lnTo>
                  <a:pt x="1680366" y="48000"/>
                </a:lnTo>
                <a:lnTo>
                  <a:pt x="1687962" y="48887"/>
                </a:lnTo>
                <a:lnTo>
                  <a:pt x="1717033" y="77960"/>
                </a:lnTo>
                <a:lnTo>
                  <a:pt x="1717921" y="331776"/>
                </a:lnTo>
                <a:lnTo>
                  <a:pt x="1717033" y="339373"/>
                </a:lnTo>
                <a:lnTo>
                  <a:pt x="1687962" y="368444"/>
                </a:lnTo>
                <a:lnTo>
                  <a:pt x="1677958" y="369453"/>
                </a:lnTo>
                <a:lnTo>
                  <a:pt x="1708356" y="369453"/>
                </a:lnTo>
                <a:lnTo>
                  <a:pt x="1727521" y="331776"/>
                </a:lnTo>
                <a:lnTo>
                  <a:pt x="1727448" y="85556"/>
                </a:lnTo>
                <a:lnTo>
                  <a:pt x="1726488" y="76036"/>
                </a:lnTo>
                <a:lnTo>
                  <a:pt x="1723751" y="67219"/>
                </a:lnTo>
                <a:lnTo>
                  <a:pt x="1719416" y="59231"/>
                </a:lnTo>
                <a:lnTo>
                  <a:pt x="1713663" y="52259"/>
                </a:lnTo>
                <a:lnTo>
                  <a:pt x="1708354" y="47878"/>
                </a:lnTo>
                <a:close/>
              </a:path>
            </a:pathLst>
          </a:custGeom>
          <a:solidFill>
            <a:srgbClr val="4D86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483047" y="1212595"/>
            <a:ext cx="1670685" cy="885190"/>
          </a:xfrm>
          <a:prstGeom prst="rect">
            <a:avLst/>
          </a:prstGeom>
        </p:spPr>
        <p:txBody>
          <a:bodyPr wrap="square" lIns="0" tIns="168275" rIns="0" bIns="0" rtlCol="0" vert="horz">
            <a:spAutoFit/>
          </a:bodyPr>
          <a:lstStyle/>
          <a:p>
            <a:pPr marL="329565">
              <a:lnSpc>
                <a:spcPct val="100000"/>
              </a:lnSpc>
              <a:spcBef>
                <a:spcPts val="1325"/>
              </a:spcBef>
            </a:pPr>
            <a:r>
              <a:rPr dirty="0" sz="1800" spc="-5">
                <a:solidFill>
                  <a:srgbClr val="FFFFFF"/>
                </a:solidFill>
                <a:latin typeface="Corbel"/>
                <a:cs typeface="Corbel"/>
              </a:rPr>
              <a:t>After</a:t>
            </a:r>
            <a:r>
              <a:rPr dirty="0" sz="1800" spc="-9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Corbel"/>
                <a:cs typeface="Corbel"/>
              </a:rPr>
              <a:t>merging</a:t>
            </a:r>
            <a:endParaRPr sz="18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𝑪 +</a:t>
            </a:r>
            <a:r>
              <a:rPr dirty="0" sz="1800" spc="-95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Cambria Math"/>
                <a:cs typeface="Cambria Math"/>
              </a:rPr>
              <a:t>{𝒊}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662593" y="3549277"/>
            <a:ext cx="361950" cy="259079"/>
          </a:xfrm>
          <a:custGeom>
            <a:avLst/>
            <a:gdLst/>
            <a:ahLst/>
            <a:cxnLst/>
            <a:rect l="l" t="t" r="r" b="b"/>
            <a:pathLst>
              <a:path w="361950" h="259079">
                <a:moveTo>
                  <a:pt x="279205" y="0"/>
                </a:moveTo>
                <a:lnTo>
                  <a:pt x="275521" y="10505"/>
                </a:lnTo>
                <a:lnTo>
                  <a:pt x="290503" y="17006"/>
                </a:lnTo>
                <a:lnTo>
                  <a:pt x="303386" y="26006"/>
                </a:lnTo>
                <a:lnTo>
                  <a:pt x="329546" y="67723"/>
                </a:lnTo>
                <a:lnTo>
                  <a:pt x="337186" y="106024"/>
                </a:lnTo>
                <a:lnTo>
                  <a:pt x="338141" y="128103"/>
                </a:lnTo>
                <a:lnTo>
                  <a:pt x="337182" y="150929"/>
                </a:lnTo>
                <a:lnTo>
                  <a:pt x="329508" y="190288"/>
                </a:lnTo>
                <a:lnTo>
                  <a:pt x="303403" y="232674"/>
                </a:lnTo>
                <a:lnTo>
                  <a:pt x="275931" y="248295"/>
                </a:lnTo>
                <a:lnTo>
                  <a:pt x="279205" y="258799"/>
                </a:lnTo>
                <a:lnTo>
                  <a:pt x="314505" y="242241"/>
                </a:lnTo>
                <a:lnTo>
                  <a:pt x="340460" y="213574"/>
                </a:lnTo>
                <a:lnTo>
                  <a:pt x="356422" y="175187"/>
                </a:lnTo>
                <a:lnTo>
                  <a:pt x="361742" y="129468"/>
                </a:lnTo>
                <a:lnTo>
                  <a:pt x="360408" y="105743"/>
                </a:lnTo>
                <a:lnTo>
                  <a:pt x="349732" y="63689"/>
                </a:lnTo>
                <a:lnTo>
                  <a:pt x="328561" y="29455"/>
                </a:lnTo>
                <a:lnTo>
                  <a:pt x="297968" y="6774"/>
                </a:lnTo>
                <a:lnTo>
                  <a:pt x="279205" y="0"/>
                </a:lnTo>
                <a:close/>
              </a:path>
              <a:path w="361950" h="259079">
                <a:moveTo>
                  <a:pt x="82537" y="0"/>
                </a:moveTo>
                <a:lnTo>
                  <a:pt x="47322" y="16592"/>
                </a:lnTo>
                <a:lnTo>
                  <a:pt x="21351" y="45361"/>
                </a:lnTo>
                <a:lnTo>
                  <a:pt x="5337" y="83816"/>
                </a:lnTo>
                <a:lnTo>
                  <a:pt x="0" y="129468"/>
                </a:lnTo>
                <a:lnTo>
                  <a:pt x="1330" y="153244"/>
                </a:lnTo>
                <a:lnTo>
                  <a:pt x="11971" y="195297"/>
                </a:lnTo>
                <a:lnTo>
                  <a:pt x="33092" y="229421"/>
                </a:lnTo>
                <a:lnTo>
                  <a:pt x="82537" y="258799"/>
                </a:lnTo>
                <a:lnTo>
                  <a:pt x="85811" y="248295"/>
                </a:lnTo>
                <a:lnTo>
                  <a:pt x="71064" y="241763"/>
                </a:lnTo>
                <a:lnTo>
                  <a:pt x="58339" y="232674"/>
                </a:lnTo>
                <a:lnTo>
                  <a:pt x="32234" y="190288"/>
                </a:lnTo>
                <a:lnTo>
                  <a:pt x="24560" y="150929"/>
                </a:lnTo>
                <a:lnTo>
                  <a:pt x="23601" y="128103"/>
                </a:lnTo>
                <a:lnTo>
                  <a:pt x="24560" y="106024"/>
                </a:lnTo>
                <a:lnTo>
                  <a:pt x="32234" y="67723"/>
                </a:lnTo>
                <a:lnTo>
                  <a:pt x="58441" y="26006"/>
                </a:lnTo>
                <a:lnTo>
                  <a:pt x="86221" y="10505"/>
                </a:lnTo>
                <a:lnTo>
                  <a:pt x="82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602711" y="3549277"/>
            <a:ext cx="497205" cy="259079"/>
          </a:xfrm>
          <a:custGeom>
            <a:avLst/>
            <a:gdLst/>
            <a:ahLst/>
            <a:cxnLst/>
            <a:rect l="l" t="t" r="r" b="b"/>
            <a:pathLst>
              <a:path w="497205" h="259079">
                <a:moveTo>
                  <a:pt x="414459" y="0"/>
                </a:moveTo>
                <a:lnTo>
                  <a:pt x="410776" y="10505"/>
                </a:lnTo>
                <a:lnTo>
                  <a:pt x="425758" y="17006"/>
                </a:lnTo>
                <a:lnTo>
                  <a:pt x="438641" y="26006"/>
                </a:lnTo>
                <a:lnTo>
                  <a:pt x="464800" y="67723"/>
                </a:lnTo>
                <a:lnTo>
                  <a:pt x="472441" y="106024"/>
                </a:lnTo>
                <a:lnTo>
                  <a:pt x="473396" y="128103"/>
                </a:lnTo>
                <a:lnTo>
                  <a:pt x="472436" y="150929"/>
                </a:lnTo>
                <a:lnTo>
                  <a:pt x="464762" y="190288"/>
                </a:lnTo>
                <a:lnTo>
                  <a:pt x="438658" y="232674"/>
                </a:lnTo>
                <a:lnTo>
                  <a:pt x="411185" y="248295"/>
                </a:lnTo>
                <a:lnTo>
                  <a:pt x="414459" y="258799"/>
                </a:lnTo>
                <a:lnTo>
                  <a:pt x="449760" y="242241"/>
                </a:lnTo>
                <a:lnTo>
                  <a:pt x="475715" y="213574"/>
                </a:lnTo>
                <a:lnTo>
                  <a:pt x="491677" y="175187"/>
                </a:lnTo>
                <a:lnTo>
                  <a:pt x="496997" y="129468"/>
                </a:lnTo>
                <a:lnTo>
                  <a:pt x="495663" y="105743"/>
                </a:lnTo>
                <a:lnTo>
                  <a:pt x="484987" y="63689"/>
                </a:lnTo>
                <a:lnTo>
                  <a:pt x="463816" y="29455"/>
                </a:lnTo>
                <a:lnTo>
                  <a:pt x="433222" y="6774"/>
                </a:lnTo>
                <a:lnTo>
                  <a:pt x="414459" y="0"/>
                </a:lnTo>
                <a:close/>
              </a:path>
              <a:path w="497205" h="259079">
                <a:moveTo>
                  <a:pt x="82537" y="0"/>
                </a:moveTo>
                <a:lnTo>
                  <a:pt x="47322" y="16592"/>
                </a:lnTo>
                <a:lnTo>
                  <a:pt x="21351" y="45361"/>
                </a:lnTo>
                <a:lnTo>
                  <a:pt x="5337" y="83816"/>
                </a:lnTo>
                <a:lnTo>
                  <a:pt x="0" y="129468"/>
                </a:lnTo>
                <a:lnTo>
                  <a:pt x="1330" y="153244"/>
                </a:lnTo>
                <a:lnTo>
                  <a:pt x="11971" y="195297"/>
                </a:lnTo>
                <a:lnTo>
                  <a:pt x="33092" y="229421"/>
                </a:lnTo>
                <a:lnTo>
                  <a:pt x="82537" y="258799"/>
                </a:lnTo>
                <a:lnTo>
                  <a:pt x="85811" y="248295"/>
                </a:lnTo>
                <a:lnTo>
                  <a:pt x="71064" y="241763"/>
                </a:lnTo>
                <a:lnTo>
                  <a:pt x="58339" y="232674"/>
                </a:lnTo>
                <a:lnTo>
                  <a:pt x="32234" y="190288"/>
                </a:lnTo>
                <a:lnTo>
                  <a:pt x="24560" y="150929"/>
                </a:lnTo>
                <a:lnTo>
                  <a:pt x="23601" y="128103"/>
                </a:lnTo>
                <a:lnTo>
                  <a:pt x="24560" y="106024"/>
                </a:lnTo>
                <a:lnTo>
                  <a:pt x="32234" y="67723"/>
                </a:lnTo>
                <a:lnTo>
                  <a:pt x="58441" y="26006"/>
                </a:lnTo>
                <a:lnTo>
                  <a:pt x="86221" y="10505"/>
                </a:lnTo>
                <a:lnTo>
                  <a:pt x="82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707065" y="3548668"/>
            <a:ext cx="288290" cy="260350"/>
          </a:xfrm>
          <a:custGeom>
            <a:avLst/>
            <a:gdLst/>
            <a:ahLst/>
            <a:cxnLst/>
            <a:rect l="l" t="t" r="r" b="b"/>
            <a:pathLst>
              <a:path w="288289" h="260350">
                <a:moveTo>
                  <a:pt x="204765" y="0"/>
                </a:moveTo>
                <a:lnTo>
                  <a:pt x="201218" y="0"/>
                </a:lnTo>
                <a:lnTo>
                  <a:pt x="201218" y="10369"/>
                </a:lnTo>
                <a:lnTo>
                  <a:pt x="203266" y="10369"/>
                </a:lnTo>
                <a:lnTo>
                  <a:pt x="212619" y="11013"/>
                </a:lnTo>
                <a:lnTo>
                  <a:pt x="244722" y="43678"/>
                </a:lnTo>
                <a:lnTo>
                  <a:pt x="245421" y="54707"/>
                </a:lnTo>
                <a:lnTo>
                  <a:pt x="245421" y="61074"/>
                </a:lnTo>
                <a:lnTo>
                  <a:pt x="244511" y="68940"/>
                </a:lnTo>
                <a:lnTo>
                  <a:pt x="240873" y="87676"/>
                </a:lnTo>
                <a:lnTo>
                  <a:pt x="239963" y="94362"/>
                </a:lnTo>
                <a:lnTo>
                  <a:pt x="239963" y="106094"/>
                </a:lnTo>
                <a:lnTo>
                  <a:pt x="242238" y="112438"/>
                </a:lnTo>
                <a:lnTo>
                  <a:pt x="251332" y="122351"/>
                </a:lnTo>
                <a:lnTo>
                  <a:pt x="256744" y="126011"/>
                </a:lnTo>
                <a:lnTo>
                  <a:pt x="263020" y="128376"/>
                </a:lnTo>
                <a:lnTo>
                  <a:pt x="263020" y="130832"/>
                </a:lnTo>
                <a:lnTo>
                  <a:pt x="256744" y="133197"/>
                </a:lnTo>
                <a:lnTo>
                  <a:pt x="251332" y="136859"/>
                </a:lnTo>
                <a:lnTo>
                  <a:pt x="242238" y="146772"/>
                </a:lnTo>
                <a:lnTo>
                  <a:pt x="239963" y="153116"/>
                </a:lnTo>
                <a:lnTo>
                  <a:pt x="239963" y="164848"/>
                </a:lnTo>
                <a:lnTo>
                  <a:pt x="240873" y="171533"/>
                </a:lnTo>
                <a:lnTo>
                  <a:pt x="244511" y="190268"/>
                </a:lnTo>
                <a:lnTo>
                  <a:pt x="245421" y="198136"/>
                </a:lnTo>
                <a:lnTo>
                  <a:pt x="245421" y="204503"/>
                </a:lnTo>
                <a:lnTo>
                  <a:pt x="244722" y="215949"/>
                </a:lnTo>
                <a:lnTo>
                  <a:pt x="220898" y="247221"/>
                </a:lnTo>
                <a:lnTo>
                  <a:pt x="203266" y="249796"/>
                </a:lnTo>
                <a:lnTo>
                  <a:pt x="201218" y="249796"/>
                </a:lnTo>
                <a:lnTo>
                  <a:pt x="201218" y="260164"/>
                </a:lnTo>
                <a:lnTo>
                  <a:pt x="204765" y="260164"/>
                </a:lnTo>
                <a:lnTo>
                  <a:pt x="219785" y="259043"/>
                </a:lnTo>
                <a:lnTo>
                  <a:pt x="259673" y="237487"/>
                </a:lnTo>
                <a:lnTo>
                  <a:pt x="268613" y="202046"/>
                </a:lnTo>
                <a:lnTo>
                  <a:pt x="268413" y="196189"/>
                </a:lnTo>
                <a:lnTo>
                  <a:pt x="267812" y="189939"/>
                </a:lnTo>
                <a:lnTo>
                  <a:pt x="266809" y="183297"/>
                </a:lnTo>
                <a:lnTo>
                  <a:pt x="265407" y="176263"/>
                </a:lnTo>
                <a:lnTo>
                  <a:pt x="263269" y="166621"/>
                </a:lnTo>
                <a:lnTo>
                  <a:pt x="262201" y="160164"/>
                </a:lnTo>
                <a:lnTo>
                  <a:pt x="262201" y="150614"/>
                </a:lnTo>
                <a:lnTo>
                  <a:pt x="264361" y="145498"/>
                </a:lnTo>
                <a:lnTo>
                  <a:pt x="273001" y="137585"/>
                </a:lnTo>
                <a:lnTo>
                  <a:pt x="279528" y="135470"/>
                </a:lnTo>
                <a:lnTo>
                  <a:pt x="288259" y="135199"/>
                </a:lnTo>
                <a:lnTo>
                  <a:pt x="288259" y="124011"/>
                </a:lnTo>
                <a:lnTo>
                  <a:pt x="279528" y="123738"/>
                </a:lnTo>
                <a:lnTo>
                  <a:pt x="273001" y="121624"/>
                </a:lnTo>
                <a:lnTo>
                  <a:pt x="264361" y="113711"/>
                </a:lnTo>
                <a:lnTo>
                  <a:pt x="262201" y="108595"/>
                </a:lnTo>
                <a:lnTo>
                  <a:pt x="262201" y="99046"/>
                </a:lnTo>
                <a:lnTo>
                  <a:pt x="263269" y="92588"/>
                </a:lnTo>
                <a:lnTo>
                  <a:pt x="265407" y="82947"/>
                </a:lnTo>
                <a:lnTo>
                  <a:pt x="266809" y="75913"/>
                </a:lnTo>
                <a:lnTo>
                  <a:pt x="267812" y="69270"/>
                </a:lnTo>
                <a:lnTo>
                  <a:pt x="268413" y="63020"/>
                </a:lnTo>
                <a:lnTo>
                  <a:pt x="268613" y="57162"/>
                </a:lnTo>
                <a:lnTo>
                  <a:pt x="267620" y="43865"/>
                </a:lnTo>
                <a:lnTo>
                  <a:pt x="243762" y="8454"/>
                </a:lnTo>
                <a:lnTo>
                  <a:pt x="219785" y="1121"/>
                </a:lnTo>
                <a:lnTo>
                  <a:pt x="204765" y="0"/>
                </a:lnTo>
                <a:close/>
              </a:path>
              <a:path w="288289" h="260350">
                <a:moveTo>
                  <a:pt x="87039" y="0"/>
                </a:moveTo>
                <a:lnTo>
                  <a:pt x="83492" y="0"/>
                </a:lnTo>
                <a:lnTo>
                  <a:pt x="68473" y="1121"/>
                </a:lnTo>
                <a:lnTo>
                  <a:pt x="28585" y="22608"/>
                </a:lnTo>
                <a:lnTo>
                  <a:pt x="19645" y="57026"/>
                </a:lnTo>
                <a:lnTo>
                  <a:pt x="19845" y="62884"/>
                </a:lnTo>
                <a:lnTo>
                  <a:pt x="20446" y="69134"/>
                </a:lnTo>
                <a:lnTo>
                  <a:pt x="21448" y="75776"/>
                </a:lnTo>
                <a:lnTo>
                  <a:pt x="22851" y="82811"/>
                </a:lnTo>
                <a:lnTo>
                  <a:pt x="24988" y="92452"/>
                </a:lnTo>
                <a:lnTo>
                  <a:pt x="26057" y="98908"/>
                </a:lnTo>
                <a:lnTo>
                  <a:pt x="26057" y="108459"/>
                </a:lnTo>
                <a:lnTo>
                  <a:pt x="23897" y="113574"/>
                </a:lnTo>
                <a:lnTo>
                  <a:pt x="15257" y="121488"/>
                </a:lnTo>
                <a:lnTo>
                  <a:pt x="8731" y="123602"/>
                </a:lnTo>
                <a:lnTo>
                  <a:pt x="0" y="123875"/>
                </a:lnTo>
                <a:lnTo>
                  <a:pt x="0" y="135061"/>
                </a:lnTo>
                <a:lnTo>
                  <a:pt x="8731" y="135335"/>
                </a:lnTo>
                <a:lnTo>
                  <a:pt x="15257" y="137449"/>
                </a:lnTo>
                <a:lnTo>
                  <a:pt x="23897" y="145361"/>
                </a:lnTo>
                <a:lnTo>
                  <a:pt x="26057" y="150478"/>
                </a:lnTo>
                <a:lnTo>
                  <a:pt x="26057" y="160027"/>
                </a:lnTo>
                <a:lnTo>
                  <a:pt x="24988" y="166485"/>
                </a:lnTo>
                <a:lnTo>
                  <a:pt x="22851" y="176126"/>
                </a:lnTo>
                <a:lnTo>
                  <a:pt x="21448" y="183160"/>
                </a:lnTo>
                <a:lnTo>
                  <a:pt x="20446" y="189802"/>
                </a:lnTo>
                <a:lnTo>
                  <a:pt x="19845" y="196053"/>
                </a:lnTo>
                <a:lnTo>
                  <a:pt x="19645" y="201910"/>
                </a:lnTo>
                <a:lnTo>
                  <a:pt x="20638" y="215685"/>
                </a:lnTo>
                <a:lnTo>
                  <a:pt x="44496" y="251710"/>
                </a:lnTo>
                <a:lnTo>
                  <a:pt x="83492" y="260164"/>
                </a:lnTo>
                <a:lnTo>
                  <a:pt x="87039" y="260164"/>
                </a:lnTo>
                <a:lnTo>
                  <a:pt x="87039" y="249796"/>
                </a:lnTo>
                <a:lnTo>
                  <a:pt x="84993" y="249796"/>
                </a:lnTo>
                <a:lnTo>
                  <a:pt x="75639" y="249152"/>
                </a:lnTo>
                <a:lnTo>
                  <a:pt x="45634" y="225563"/>
                </a:lnTo>
                <a:lnTo>
                  <a:pt x="42838" y="204365"/>
                </a:lnTo>
                <a:lnTo>
                  <a:pt x="42838" y="197999"/>
                </a:lnTo>
                <a:lnTo>
                  <a:pt x="43747" y="190132"/>
                </a:lnTo>
                <a:lnTo>
                  <a:pt x="47384" y="171396"/>
                </a:lnTo>
                <a:lnTo>
                  <a:pt x="48295" y="164711"/>
                </a:lnTo>
                <a:lnTo>
                  <a:pt x="48295" y="152979"/>
                </a:lnTo>
                <a:lnTo>
                  <a:pt x="46020" y="146635"/>
                </a:lnTo>
                <a:lnTo>
                  <a:pt x="36926" y="136721"/>
                </a:lnTo>
                <a:lnTo>
                  <a:pt x="31515" y="133061"/>
                </a:lnTo>
                <a:lnTo>
                  <a:pt x="25238" y="130696"/>
                </a:lnTo>
                <a:lnTo>
                  <a:pt x="25238" y="128240"/>
                </a:lnTo>
                <a:lnTo>
                  <a:pt x="31515" y="125876"/>
                </a:lnTo>
                <a:lnTo>
                  <a:pt x="36926" y="122215"/>
                </a:lnTo>
                <a:lnTo>
                  <a:pt x="46020" y="112302"/>
                </a:lnTo>
                <a:lnTo>
                  <a:pt x="48295" y="105957"/>
                </a:lnTo>
                <a:lnTo>
                  <a:pt x="48295" y="94225"/>
                </a:lnTo>
                <a:lnTo>
                  <a:pt x="47384" y="87541"/>
                </a:lnTo>
                <a:lnTo>
                  <a:pt x="43747" y="68804"/>
                </a:lnTo>
                <a:lnTo>
                  <a:pt x="42838" y="60937"/>
                </a:lnTo>
                <a:lnTo>
                  <a:pt x="42838" y="54570"/>
                </a:lnTo>
                <a:lnTo>
                  <a:pt x="43537" y="43601"/>
                </a:lnTo>
                <a:lnTo>
                  <a:pt x="67360" y="12944"/>
                </a:lnTo>
                <a:lnTo>
                  <a:pt x="84993" y="10369"/>
                </a:lnTo>
                <a:lnTo>
                  <a:pt x="87039" y="10369"/>
                </a:lnTo>
                <a:lnTo>
                  <a:pt x="87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426813" y="4608829"/>
            <a:ext cx="70485" cy="0"/>
          </a:xfrm>
          <a:custGeom>
            <a:avLst/>
            <a:gdLst/>
            <a:ahLst/>
            <a:cxnLst/>
            <a:rect l="l" t="t" r="r" b="b"/>
            <a:pathLst>
              <a:path w="70485" h="0">
                <a:moveTo>
                  <a:pt x="0" y="0"/>
                </a:moveTo>
                <a:lnTo>
                  <a:pt x="7012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483635" y="3923029"/>
            <a:ext cx="0" cy="679450"/>
          </a:xfrm>
          <a:custGeom>
            <a:avLst/>
            <a:gdLst/>
            <a:ahLst/>
            <a:cxnLst/>
            <a:rect l="l" t="t" r="r" b="b"/>
            <a:pathLst>
              <a:path w="0" h="679450">
                <a:moveTo>
                  <a:pt x="0" y="0"/>
                </a:moveTo>
                <a:lnTo>
                  <a:pt x="0" y="679450"/>
                </a:lnTo>
              </a:path>
            </a:pathLst>
          </a:custGeom>
          <a:ln w="266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426813" y="3916679"/>
            <a:ext cx="70485" cy="0"/>
          </a:xfrm>
          <a:custGeom>
            <a:avLst/>
            <a:gdLst/>
            <a:ahLst/>
            <a:cxnLst/>
            <a:rect l="l" t="t" r="r" b="b"/>
            <a:pathLst>
              <a:path w="70485" h="0">
                <a:moveTo>
                  <a:pt x="0" y="0"/>
                </a:moveTo>
                <a:lnTo>
                  <a:pt x="7012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42223" y="4608829"/>
            <a:ext cx="70485" cy="0"/>
          </a:xfrm>
          <a:custGeom>
            <a:avLst/>
            <a:gdLst/>
            <a:ahLst/>
            <a:cxnLst/>
            <a:rect l="l" t="t" r="r" b="b"/>
            <a:pathLst>
              <a:path w="70484" h="0">
                <a:moveTo>
                  <a:pt x="0" y="0"/>
                </a:moveTo>
                <a:lnTo>
                  <a:pt x="70122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55525" y="3923029"/>
            <a:ext cx="0" cy="679450"/>
          </a:xfrm>
          <a:custGeom>
            <a:avLst/>
            <a:gdLst/>
            <a:ahLst/>
            <a:cxnLst/>
            <a:rect l="l" t="t" r="r" b="b"/>
            <a:pathLst>
              <a:path w="0" h="679450">
                <a:moveTo>
                  <a:pt x="0" y="0"/>
                </a:moveTo>
                <a:lnTo>
                  <a:pt x="0" y="679450"/>
                </a:lnTo>
              </a:path>
            </a:pathLst>
          </a:custGeom>
          <a:ln w="266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42223" y="3916679"/>
            <a:ext cx="70485" cy="0"/>
          </a:xfrm>
          <a:custGeom>
            <a:avLst/>
            <a:gdLst/>
            <a:ahLst/>
            <a:cxnLst/>
            <a:rect l="l" t="t" r="r" b="b"/>
            <a:pathLst>
              <a:path w="70484" h="0">
                <a:moveTo>
                  <a:pt x="0" y="0"/>
                </a:moveTo>
                <a:lnTo>
                  <a:pt x="70122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16283" y="4260192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412995" y="4051300"/>
            <a:ext cx="108331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5130" algn="l"/>
              </a:tabLst>
            </a:pPr>
            <a:r>
              <a:rPr dirty="0" sz="2200">
                <a:latin typeface="Cambria Math"/>
                <a:cs typeface="Cambria Math"/>
              </a:rPr>
              <a:t>=	</a:t>
            </a:r>
            <a:r>
              <a:rPr dirty="0" baseline="-36616" sz="3300" spc="-7">
                <a:latin typeface="Cambria Math"/>
                <a:cs typeface="Cambria Math"/>
              </a:rPr>
              <a:t>2𝑚</a:t>
            </a:r>
            <a:r>
              <a:rPr dirty="0" baseline="-36616" sz="3300" spc="-89">
                <a:latin typeface="Cambria Math"/>
                <a:cs typeface="Cambria Math"/>
              </a:rPr>
              <a:t> </a:t>
            </a:r>
            <a:r>
              <a:rPr dirty="0" sz="2200">
                <a:latin typeface="Cambria Math"/>
                <a:cs typeface="Cambria Math"/>
              </a:rPr>
              <a:t>−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567572" y="3986943"/>
            <a:ext cx="701040" cy="552450"/>
          </a:xfrm>
          <a:custGeom>
            <a:avLst/>
            <a:gdLst/>
            <a:ahLst/>
            <a:cxnLst/>
            <a:rect l="l" t="t" r="r" b="b"/>
            <a:pathLst>
              <a:path w="701039" h="552450">
                <a:moveTo>
                  <a:pt x="602738" y="0"/>
                </a:moveTo>
                <a:lnTo>
                  <a:pt x="594826" y="9140"/>
                </a:lnTo>
                <a:lnTo>
                  <a:pt x="611333" y="27318"/>
                </a:lnTo>
                <a:lnTo>
                  <a:pt x="626340" y="49931"/>
                </a:lnTo>
                <a:lnTo>
                  <a:pt x="651851" y="108458"/>
                </a:lnTo>
                <a:lnTo>
                  <a:pt x="668734" y="184038"/>
                </a:lnTo>
                <a:lnTo>
                  <a:pt x="672955" y="227967"/>
                </a:lnTo>
                <a:lnTo>
                  <a:pt x="674362" y="275988"/>
                </a:lnTo>
                <a:lnTo>
                  <a:pt x="672955" y="324010"/>
                </a:lnTo>
                <a:lnTo>
                  <a:pt x="668734" y="367939"/>
                </a:lnTo>
                <a:lnTo>
                  <a:pt x="661699" y="407775"/>
                </a:lnTo>
                <a:lnTo>
                  <a:pt x="639846" y="474999"/>
                </a:lnTo>
                <a:lnTo>
                  <a:pt x="611333" y="524658"/>
                </a:lnTo>
                <a:lnTo>
                  <a:pt x="594826" y="542837"/>
                </a:lnTo>
                <a:lnTo>
                  <a:pt x="602738" y="551977"/>
                </a:lnTo>
                <a:lnTo>
                  <a:pt x="639641" y="511340"/>
                </a:lnTo>
                <a:lnTo>
                  <a:pt x="671497" y="451091"/>
                </a:lnTo>
                <a:lnTo>
                  <a:pt x="684329" y="413868"/>
                </a:lnTo>
                <a:lnTo>
                  <a:pt x="693495" y="372254"/>
                </a:lnTo>
                <a:lnTo>
                  <a:pt x="698994" y="326248"/>
                </a:lnTo>
                <a:lnTo>
                  <a:pt x="700828" y="275852"/>
                </a:lnTo>
                <a:lnTo>
                  <a:pt x="698994" y="225575"/>
                </a:lnTo>
                <a:lnTo>
                  <a:pt x="693495" y="179655"/>
                </a:lnTo>
                <a:lnTo>
                  <a:pt x="684329" y="138092"/>
                </a:lnTo>
                <a:lnTo>
                  <a:pt x="671497" y="100886"/>
                </a:lnTo>
                <a:lnTo>
                  <a:pt x="639641" y="40637"/>
                </a:lnTo>
                <a:lnTo>
                  <a:pt x="621821" y="17867"/>
                </a:lnTo>
                <a:lnTo>
                  <a:pt x="602738" y="0"/>
                </a:lnTo>
                <a:close/>
              </a:path>
              <a:path w="701039" h="552450">
                <a:moveTo>
                  <a:pt x="98084" y="0"/>
                </a:moveTo>
                <a:lnTo>
                  <a:pt x="61182" y="40637"/>
                </a:lnTo>
                <a:lnTo>
                  <a:pt x="29326" y="100886"/>
                </a:lnTo>
                <a:lnTo>
                  <a:pt x="16493" y="138092"/>
                </a:lnTo>
                <a:lnTo>
                  <a:pt x="7327" y="179655"/>
                </a:lnTo>
                <a:lnTo>
                  <a:pt x="1828" y="225575"/>
                </a:lnTo>
                <a:lnTo>
                  <a:pt x="0" y="275988"/>
                </a:lnTo>
                <a:lnTo>
                  <a:pt x="1828" y="326248"/>
                </a:lnTo>
                <a:lnTo>
                  <a:pt x="7327" y="372254"/>
                </a:lnTo>
                <a:lnTo>
                  <a:pt x="16493" y="413868"/>
                </a:lnTo>
                <a:lnTo>
                  <a:pt x="29326" y="451091"/>
                </a:lnTo>
                <a:lnTo>
                  <a:pt x="61182" y="511340"/>
                </a:lnTo>
                <a:lnTo>
                  <a:pt x="98084" y="551977"/>
                </a:lnTo>
                <a:lnTo>
                  <a:pt x="105998" y="542837"/>
                </a:lnTo>
                <a:lnTo>
                  <a:pt x="89490" y="524658"/>
                </a:lnTo>
                <a:lnTo>
                  <a:pt x="74483" y="502046"/>
                </a:lnTo>
                <a:lnTo>
                  <a:pt x="48971" y="443519"/>
                </a:lnTo>
                <a:lnTo>
                  <a:pt x="32089" y="367939"/>
                </a:lnTo>
                <a:lnTo>
                  <a:pt x="27868" y="324010"/>
                </a:lnTo>
                <a:lnTo>
                  <a:pt x="26465" y="275852"/>
                </a:lnTo>
                <a:lnTo>
                  <a:pt x="27868" y="227967"/>
                </a:lnTo>
                <a:lnTo>
                  <a:pt x="32089" y="184038"/>
                </a:lnTo>
                <a:lnTo>
                  <a:pt x="39123" y="144201"/>
                </a:lnTo>
                <a:lnTo>
                  <a:pt x="60977" y="76977"/>
                </a:lnTo>
                <a:lnTo>
                  <a:pt x="89490" y="27318"/>
                </a:lnTo>
                <a:lnTo>
                  <a:pt x="105998" y="9140"/>
                </a:lnTo>
                <a:lnTo>
                  <a:pt x="980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679883" y="4260192"/>
            <a:ext cx="469900" cy="0"/>
          </a:xfrm>
          <a:custGeom>
            <a:avLst/>
            <a:gdLst/>
            <a:ahLst/>
            <a:cxnLst/>
            <a:rect l="l" t="t" r="r" b="b"/>
            <a:pathLst>
              <a:path w="469900" h="0">
                <a:moveTo>
                  <a:pt x="0" y="0"/>
                </a:moveTo>
                <a:lnTo>
                  <a:pt x="469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817299" y="3895852"/>
            <a:ext cx="133096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4869" algn="l"/>
              </a:tabLst>
            </a:pPr>
            <a:r>
              <a:rPr dirty="0" baseline="11363" sz="3300" spc="-15">
                <a:latin typeface="Cambria Math"/>
                <a:cs typeface="Cambria Math"/>
              </a:rPr>
              <a:t>Σ</a:t>
            </a:r>
            <a:r>
              <a:rPr dirty="0" sz="1600" spc="30" i="1">
                <a:latin typeface="Cambria Math"/>
                <a:cs typeface="Cambria Math"/>
              </a:rPr>
              <a:t>+,</a:t>
            </a:r>
            <a:r>
              <a:rPr dirty="0" sz="1600" i="1">
                <a:latin typeface="Cambria Math"/>
                <a:cs typeface="Cambria Math"/>
              </a:rPr>
              <a:t>	</a:t>
            </a:r>
            <a:r>
              <a:rPr dirty="0" baseline="11363" sz="3300" spc="-15">
                <a:latin typeface="Cambria Math"/>
                <a:cs typeface="Cambria Math"/>
              </a:rPr>
              <a:t>Σ</a:t>
            </a:r>
            <a:r>
              <a:rPr dirty="0" sz="1600" spc="390" i="1">
                <a:latin typeface="Cambria Math"/>
                <a:cs typeface="Cambria Math"/>
              </a:rPr>
              <a:t>-.</a:t>
            </a:r>
            <a:r>
              <a:rPr dirty="0" sz="1600" spc="165" i="1">
                <a:latin typeface="Cambria Math"/>
                <a:cs typeface="Cambria Math"/>
              </a:rPr>
              <a:t>-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08395" y="4237228"/>
            <a:ext cx="413384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>
                <a:latin typeface="Cambria Math"/>
                <a:cs typeface="Cambria Math"/>
              </a:rPr>
              <a:t>2𝑚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278879" y="3792220"/>
            <a:ext cx="14351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135" i="1">
                <a:latin typeface="Cambria Math"/>
                <a:cs typeface="Cambria Math"/>
              </a:rPr>
              <a:t>/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258534" y="4608829"/>
            <a:ext cx="70485" cy="0"/>
          </a:xfrm>
          <a:custGeom>
            <a:avLst/>
            <a:gdLst/>
            <a:ahLst/>
            <a:cxnLst/>
            <a:rect l="l" t="t" r="r" b="b"/>
            <a:pathLst>
              <a:path w="70485" h="0">
                <a:moveTo>
                  <a:pt x="0" y="0"/>
                </a:moveTo>
                <a:lnTo>
                  <a:pt x="7012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315356" y="3923029"/>
            <a:ext cx="0" cy="679450"/>
          </a:xfrm>
          <a:custGeom>
            <a:avLst/>
            <a:gdLst/>
            <a:ahLst/>
            <a:cxnLst/>
            <a:rect l="l" t="t" r="r" b="b"/>
            <a:pathLst>
              <a:path w="0" h="679450">
                <a:moveTo>
                  <a:pt x="0" y="0"/>
                </a:moveTo>
                <a:lnTo>
                  <a:pt x="0" y="679450"/>
                </a:lnTo>
              </a:path>
            </a:pathLst>
          </a:custGeom>
          <a:ln w="266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258534" y="3916679"/>
            <a:ext cx="70485" cy="0"/>
          </a:xfrm>
          <a:custGeom>
            <a:avLst/>
            <a:gdLst/>
            <a:ahLst/>
            <a:cxnLst/>
            <a:rect l="l" t="t" r="r" b="b"/>
            <a:pathLst>
              <a:path w="70485" h="0">
                <a:moveTo>
                  <a:pt x="0" y="0"/>
                </a:moveTo>
                <a:lnTo>
                  <a:pt x="7012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891063" y="4608829"/>
            <a:ext cx="70485" cy="0"/>
          </a:xfrm>
          <a:custGeom>
            <a:avLst/>
            <a:gdLst/>
            <a:ahLst/>
            <a:cxnLst/>
            <a:rect l="l" t="t" r="r" b="b"/>
            <a:pathLst>
              <a:path w="70485" h="0">
                <a:moveTo>
                  <a:pt x="0" y="0"/>
                </a:moveTo>
                <a:lnTo>
                  <a:pt x="7012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904364" y="3923029"/>
            <a:ext cx="0" cy="679450"/>
          </a:xfrm>
          <a:custGeom>
            <a:avLst/>
            <a:gdLst/>
            <a:ahLst/>
            <a:cxnLst/>
            <a:rect l="l" t="t" r="r" b="b"/>
            <a:pathLst>
              <a:path w="0" h="679450">
                <a:moveTo>
                  <a:pt x="0" y="0"/>
                </a:moveTo>
                <a:lnTo>
                  <a:pt x="0" y="679450"/>
                </a:lnTo>
              </a:path>
            </a:pathLst>
          </a:custGeom>
          <a:ln w="266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891063" y="3916679"/>
            <a:ext cx="70485" cy="0"/>
          </a:xfrm>
          <a:custGeom>
            <a:avLst/>
            <a:gdLst/>
            <a:ahLst/>
            <a:cxnLst/>
            <a:rect l="l" t="t" r="r" b="b"/>
            <a:pathLst>
              <a:path w="70485" h="0">
                <a:moveTo>
                  <a:pt x="0" y="0"/>
                </a:moveTo>
                <a:lnTo>
                  <a:pt x="7012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232083" y="3466084"/>
            <a:ext cx="3173095" cy="946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8330" algn="l"/>
                <a:tab pos="2569845" algn="l"/>
              </a:tabLst>
            </a:pPr>
            <a:r>
              <a:rPr dirty="0" sz="2200" spc="150">
                <a:latin typeface="Cambria Math"/>
                <a:cs typeface="Cambria Math"/>
              </a:rPr>
              <a:t>𝑄</a:t>
            </a:r>
            <a:r>
              <a:rPr dirty="0" baseline="-15625" sz="2400" spc="225" i="1">
                <a:latin typeface="Cambria Math"/>
                <a:cs typeface="Cambria Math"/>
              </a:rPr>
              <a:t>&amp;'()*' </a:t>
            </a:r>
            <a:r>
              <a:rPr dirty="0" sz="2200">
                <a:latin typeface="Cambria Math"/>
                <a:cs typeface="Cambria Math"/>
              </a:rPr>
              <a:t>=</a:t>
            </a:r>
            <a:r>
              <a:rPr dirty="0" sz="2200" spc="135">
                <a:latin typeface="Cambria Math"/>
                <a:cs typeface="Cambria Math"/>
              </a:rPr>
              <a:t> </a:t>
            </a:r>
            <a:r>
              <a:rPr dirty="0" sz="2200">
                <a:latin typeface="Cambria Math"/>
                <a:cs typeface="Cambria Math"/>
              </a:rPr>
              <a:t>𝑄 </a:t>
            </a:r>
            <a:r>
              <a:rPr dirty="0" sz="2200" spc="10">
                <a:latin typeface="Cambria Math"/>
                <a:cs typeface="Cambria Math"/>
              </a:rPr>
              <a:t> </a:t>
            </a:r>
            <a:r>
              <a:rPr dirty="0" sz="2200">
                <a:latin typeface="Cambria Math"/>
                <a:cs typeface="Cambria Math"/>
              </a:rPr>
              <a:t>𝐶	+</a:t>
            </a:r>
            <a:r>
              <a:rPr dirty="0" sz="2200" spc="-5">
                <a:latin typeface="Cambria Math"/>
                <a:cs typeface="Cambria Math"/>
              </a:rPr>
              <a:t> </a:t>
            </a:r>
            <a:r>
              <a:rPr dirty="0" sz="2200">
                <a:latin typeface="Cambria Math"/>
                <a:cs typeface="Cambria Math"/>
              </a:rPr>
              <a:t>𝑄	𝑖</a:t>
            </a:r>
            <a:endParaRPr sz="2200">
              <a:latin typeface="Cambria Math"/>
              <a:cs typeface="Cambria Math"/>
            </a:endParaRPr>
          </a:p>
          <a:p>
            <a:pPr algn="r" marR="5080">
              <a:lnSpc>
                <a:spcPct val="100000"/>
              </a:lnSpc>
              <a:spcBef>
                <a:spcPts val="1964"/>
              </a:spcBef>
              <a:tabLst>
                <a:tab pos="377190" algn="l"/>
              </a:tabLst>
            </a:pPr>
            <a:r>
              <a:rPr dirty="0" sz="2200">
                <a:latin typeface="Cambria Math"/>
                <a:cs typeface="Cambria Math"/>
              </a:rPr>
              <a:t>+	0</a:t>
            </a:r>
            <a:r>
              <a:rPr dirty="0" sz="2200" spc="-105">
                <a:latin typeface="Cambria Math"/>
                <a:cs typeface="Cambria Math"/>
              </a:rPr>
              <a:t> </a:t>
            </a:r>
            <a:r>
              <a:rPr dirty="0" sz="2200">
                <a:latin typeface="Cambria Math"/>
                <a:cs typeface="Cambria Math"/>
              </a:rPr>
              <a:t>−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476699" y="3986943"/>
            <a:ext cx="623570" cy="552450"/>
          </a:xfrm>
          <a:custGeom>
            <a:avLst/>
            <a:gdLst/>
            <a:ahLst/>
            <a:cxnLst/>
            <a:rect l="l" t="t" r="r" b="b"/>
            <a:pathLst>
              <a:path w="623570" h="552450">
                <a:moveTo>
                  <a:pt x="525331" y="0"/>
                </a:moveTo>
                <a:lnTo>
                  <a:pt x="517418" y="9140"/>
                </a:lnTo>
                <a:lnTo>
                  <a:pt x="533926" y="27318"/>
                </a:lnTo>
                <a:lnTo>
                  <a:pt x="548933" y="49931"/>
                </a:lnTo>
                <a:lnTo>
                  <a:pt x="574445" y="108458"/>
                </a:lnTo>
                <a:lnTo>
                  <a:pt x="591327" y="184038"/>
                </a:lnTo>
                <a:lnTo>
                  <a:pt x="595547" y="227967"/>
                </a:lnTo>
                <a:lnTo>
                  <a:pt x="596954" y="275988"/>
                </a:lnTo>
                <a:lnTo>
                  <a:pt x="595547" y="324010"/>
                </a:lnTo>
                <a:lnTo>
                  <a:pt x="591327" y="367939"/>
                </a:lnTo>
                <a:lnTo>
                  <a:pt x="584293" y="407775"/>
                </a:lnTo>
                <a:lnTo>
                  <a:pt x="562439" y="474999"/>
                </a:lnTo>
                <a:lnTo>
                  <a:pt x="533926" y="524658"/>
                </a:lnTo>
                <a:lnTo>
                  <a:pt x="517418" y="542837"/>
                </a:lnTo>
                <a:lnTo>
                  <a:pt x="525331" y="551977"/>
                </a:lnTo>
                <a:lnTo>
                  <a:pt x="562235" y="511340"/>
                </a:lnTo>
                <a:lnTo>
                  <a:pt x="594090" y="451091"/>
                </a:lnTo>
                <a:lnTo>
                  <a:pt x="606923" y="413868"/>
                </a:lnTo>
                <a:lnTo>
                  <a:pt x="616089" y="372254"/>
                </a:lnTo>
                <a:lnTo>
                  <a:pt x="621588" y="326248"/>
                </a:lnTo>
                <a:lnTo>
                  <a:pt x="623421" y="275852"/>
                </a:lnTo>
                <a:lnTo>
                  <a:pt x="621588" y="225575"/>
                </a:lnTo>
                <a:lnTo>
                  <a:pt x="616089" y="179655"/>
                </a:lnTo>
                <a:lnTo>
                  <a:pt x="606923" y="138092"/>
                </a:lnTo>
                <a:lnTo>
                  <a:pt x="594090" y="100886"/>
                </a:lnTo>
                <a:lnTo>
                  <a:pt x="562235" y="40637"/>
                </a:lnTo>
                <a:lnTo>
                  <a:pt x="544414" y="17867"/>
                </a:lnTo>
                <a:lnTo>
                  <a:pt x="525331" y="0"/>
                </a:lnTo>
                <a:close/>
              </a:path>
              <a:path w="623570" h="552450">
                <a:moveTo>
                  <a:pt x="98084" y="0"/>
                </a:moveTo>
                <a:lnTo>
                  <a:pt x="61181" y="40637"/>
                </a:lnTo>
                <a:lnTo>
                  <a:pt x="29326" y="100886"/>
                </a:lnTo>
                <a:lnTo>
                  <a:pt x="16493" y="138092"/>
                </a:lnTo>
                <a:lnTo>
                  <a:pt x="7327" y="179655"/>
                </a:lnTo>
                <a:lnTo>
                  <a:pt x="1828" y="225575"/>
                </a:lnTo>
                <a:lnTo>
                  <a:pt x="0" y="275988"/>
                </a:lnTo>
                <a:lnTo>
                  <a:pt x="1828" y="326248"/>
                </a:lnTo>
                <a:lnTo>
                  <a:pt x="7327" y="372254"/>
                </a:lnTo>
                <a:lnTo>
                  <a:pt x="16493" y="413868"/>
                </a:lnTo>
                <a:lnTo>
                  <a:pt x="29326" y="451091"/>
                </a:lnTo>
                <a:lnTo>
                  <a:pt x="61181" y="511340"/>
                </a:lnTo>
                <a:lnTo>
                  <a:pt x="98084" y="551977"/>
                </a:lnTo>
                <a:lnTo>
                  <a:pt x="105998" y="542837"/>
                </a:lnTo>
                <a:lnTo>
                  <a:pt x="89490" y="524658"/>
                </a:lnTo>
                <a:lnTo>
                  <a:pt x="74483" y="502046"/>
                </a:lnTo>
                <a:lnTo>
                  <a:pt x="48971" y="443519"/>
                </a:lnTo>
                <a:lnTo>
                  <a:pt x="32089" y="367939"/>
                </a:lnTo>
                <a:lnTo>
                  <a:pt x="27868" y="324010"/>
                </a:lnTo>
                <a:lnTo>
                  <a:pt x="26465" y="275852"/>
                </a:lnTo>
                <a:lnTo>
                  <a:pt x="27868" y="227967"/>
                </a:lnTo>
                <a:lnTo>
                  <a:pt x="32089" y="184038"/>
                </a:lnTo>
                <a:lnTo>
                  <a:pt x="39123" y="144201"/>
                </a:lnTo>
                <a:lnTo>
                  <a:pt x="60977" y="76977"/>
                </a:lnTo>
                <a:lnTo>
                  <a:pt x="89490" y="27318"/>
                </a:lnTo>
                <a:lnTo>
                  <a:pt x="105998" y="9140"/>
                </a:lnTo>
                <a:lnTo>
                  <a:pt x="980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597583" y="4260192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3653654" y="3837940"/>
            <a:ext cx="25082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">
                <a:latin typeface="Cambria Math"/>
                <a:cs typeface="Cambria Math"/>
              </a:rPr>
              <a:t>𝑘</a:t>
            </a:r>
            <a:r>
              <a:rPr dirty="0" baseline="-15625" sz="2400" spc="-952" i="1">
                <a:latin typeface="Cambria Math"/>
                <a:cs typeface="Cambria Math"/>
              </a:rPr>
              <a:t>+</a:t>
            </a:r>
            <a:endParaRPr baseline="-15625" sz="240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578850" y="4237228"/>
            <a:ext cx="413384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>
                <a:latin typeface="Cambria Math"/>
                <a:cs typeface="Cambria Math"/>
              </a:rPr>
              <a:t>2𝑚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110600" y="3783076"/>
            <a:ext cx="14351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135" i="1">
                <a:latin typeface="Cambria Math"/>
                <a:cs typeface="Cambria Math"/>
              </a:rPr>
              <a:t>/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6433209" y="3501405"/>
            <a:ext cx="1101090" cy="282575"/>
          </a:xfrm>
          <a:custGeom>
            <a:avLst/>
            <a:gdLst/>
            <a:ahLst/>
            <a:cxnLst/>
            <a:rect l="l" t="t" r="r" b="b"/>
            <a:pathLst>
              <a:path w="1101090" h="282575">
                <a:moveTo>
                  <a:pt x="1010442" y="0"/>
                </a:moveTo>
                <a:lnTo>
                  <a:pt x="1006424" y="11460"/>
                </a:lnTo>
                <a:lnTo>
                  <a:pt x="1022767" y="18552"/>
                </a:lnTo>
                <a:lnTo>
                  <a:pt x="1036822" y="28370"/>
                </a:lnTo>
                <a:lnTo>
                  <a:pt x="1065360" y="73880"/>
                </a:lnTo>
                <a:lnTo>
                  <a:pt x="1073694" y="115662"/>
                </a:lnTo>
                <a:lnTo>
                  <a:pt x="1074736" y="139749"/>
                </a:lnTo>
                <a:lnTo>
                  <a:pt x="1073689" y="164650"/>
                </a:lnTo>
                <a:lnTo>
                  <a:pt x="1065317" y="207587"/>
                </a:lnTo>
                <a:lnTo>
                  <a:pt x="1036840" y="253826"/>
                </a:lnTo>
                <a:lnTo>
                  <a:pt x="1006869" y="270868"/>
                </a:lnTo>
                <a:lnTo>
                  <a:pt x="1010442" y="282327"/>
                </a:lnTo>
                <a:lnTo>
                  <a:pt x="1048951" y="264263"/>
                </a:lnTo>
                <a:lnTo>
                  <a:pt x="1077266" y="232990"/>
                </a:lnTo>
                <a:lnTo>
                  <a:pt x="1094678" y="191114"/>
                </a:lnTo>
                <a:lnTo>
                  <a:pt x="1100482" y="141237"/>
                </a:lnTo>
                <a:lnTo>
                  <a:pt x="1099027" y="115355"/>
                </a:lnTo>
                <a:lnTo>
                  <a:pt x="1087381" y="69479"/>
                </a:lnTo>
                <a:lnTo>
                  <a:pt x="1064285" y="32133"/>
                </a:lnTo>
                <a:lnTo>
                  <a:pt x="1030910" y="7390"/>
                </a:lnTo>
                <a:lnTo>
                  <a:pt x="1010442" y="0"/>
                </a:lnTo>
                <a:close/>
              </a:path>
              <a:path w="1101090" h="282575">
                <a:moveTo>
                  <a:pt x="90041" y="0"/>
                </a:moveTo>
                <a:lnTo>
                  <a:pt x="51625" y="18101"/>
                </a:lnTo>
                <a:lnTo>
                  <a:pt x="23291" y="49485"/>
                </a:lnTo>
                <a:lnTo>
                  <a:pt x="5823" y="91436"/>
                </a:lnTo>
                <a:lnTo>
                  <a:pt x="0" y="141237"/>
                </a:lnTo>
                <a:lnTo>
                  <a:pt x="1451" y="167176"/>
                </a:lnTo>
                <a:lnTo>
                  <a:pt x="13060" y="213052"/>
                </a:lnTo>
                <a:lnTo>
                  <a:pt x="36100" y="250277"/>
                </a:lnTo>
                <a:lnTo>
                  <a:pt x="69512" y="274946"/>
                </a:lnTo>
                <a:lnTo>
                  <a:pt x="90041" y="282327"/>
                </a:lnTo>
                <a:lnTo>
                  <a:pt x="93612" y="270868"/>
                </a:lnTo>
                <a:lnTo>
                  <a:pt x="77526" y="263742"/>
                </a:lnTo>
                <a:lnTo>
                  <a:pt x="63643" y="253826"/>
                </a:lnTo>
                <a:lnTo>
                  <a:pt x="35165" y="207587"/>
                </a:lnTo>
                <a:lnTo>
                  <a:pt x="26794" y="164650"/>
                </a:lnTo>
                <a:lnTo>
                  <a:pt x="25747" y="139749"/>
                </a:lnTo>
                <a:lnTo>
                  <a:pt x="26794" y="115662"/>
                </a:lnTo>
                <a:lnTo>
                  <a:pt x="35165" y="73880"/>
                </a:lnTo>
                <a:lnTo>
                  <a:pt x="63755" y="28370"/>
                </a:lnTo>
                <a:lnTo>
                  <a:pt x="94060" y="11460"/>
                </a:lnTo>
                <a:lnTo>
                  <a:pt x="900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105534" y="3500620"/>
            <a:ext cx="314325" cy="283845"/>
          </a:xfrm>
          <a:custGeom>
            <a:avLst/>
            <a:gdLst/>
            <a:ahLst/>
            <a:cxnLst/>
            <a:rect l="l" t="t" r="r" b="b"/>
            <a:pathLst>
              <a:path w="314325" h="283845">
                <a:moveTo>
                  <a:pt x="223196" y="0"/>
                </a:moveTo>
                <a:lnTo>
                  <a:pt x="219326" y="0"/>
                </a:lnTo>
                <a:lnTo>
                  <a:pt x="219326" y="11310"/>
                </a:lnTo>
                <a:lnTo>
                  <a:pt x="221559" y="11310"/>
                </a:lnTo>
                <a:lnTo>
                  <a:pt x="231763" y="12012"/>
                </a:lnTo>
                <a:lnTo>
                  <a:pt x="264496" y="37448"/>
                </a:lnTo>
                <a:lnTo>
                  <a:pt x="267547" y="59679"/>
                </a:lnTo>
                <a:lnTo>
                  <a:pt x="267360" y="65195"/>
                </a:lnTo>
                <a:lnTo>
                  <a:pt x="266802" y="71325"/>
                </a:lnTo>
                <a:lnTo>
                  <a:pt x="265872" y="78068"/>
                </a:lnTo>
                <a:lnTo>
                  <a:pt x="264570" y="85426"/>
                </a:lnTo>
                <a:lnTo>
                  <a:pt x="262585" y="95646"/>
                </a:lnTo>
                <a:lnTo>
                  <a:pt x="261593" y="102938"/>
                </a:lnTo>
                <a:lnTo>
                  <a:pt x="261593" y="115737"/>
                </a:lnTo>
                <a:lnTo>
                  <a:pt x="264073" y="122659"/>
                </a:lnTo>
                <a:lnTo>
                  <a:pt x="273996" y="133473"/>
                </a:lnTo>
                <a:lnTo>
                  <a:pt x="279899" y="137467"/>
                </a:lnTo>
                <a:lnTo>
                  <a:pt x="286745" y="140046"/>
                </a:lnTo>
                <a:lnTo>
                  <a:pt x="286745" y="142725"/>
                </a:lnTo>
                <a:lnTo>
                  <a:pt x="279899" y="145305"/>
                </a:lnTo>
                <a:lnTo>
                  <a:pt x="273996" y="149298"/>
                </a:lnTo>
                <a:lnTo>
                  <a:pt x="264073" y="160113"/>
                </a:lnTo>
                <a:lnTo>
                  <a:pt x="261593" y="167034"/>
                </a:lnTo>
                <a:lnTo>
                  <a:pt x="261593" y="179833"/>
                </a:lnTo>
                <a:lnTo>
                  <a:pt x="262585" y="187125"/>
                </a:lnTo>
                <a:lnTo>
                  <a:pt x="264570" y="197345"/>
                </a:lnTo>
                <a:lnTo>
                  <a:pt x="265872" y="204703"/>
                </a:lnTo>
                <a:lnTo>
                  <a:pt x="266802" y="211447"/>
                </a:lnTo>
                <a:lnTo>
                  <a:pt x="267360" y="217577"/>
                </a:lnTo>
                <a:lnTo>
                  <a:pt x="267547" y="223093"/>
                </a:lnTo>
                <a:lnTo>
                  <a:pt x="266784" y="235580"/>
                </a:lnTo>
                <a:lnTo>
                  <a:pt x="240794" y="269694"/>
                </a:lnTo>
                <a:lnTo>
                  <a:pt x="221559" y="272503"/>
                </a:lnTo>
                <a:lnTo>
                  <a:pt x="219326" y="272503"/>
                </a:lnTo>
                <a:lnTo>
                  <a:pt x="219326" y="283814"/>
                </a:lnTo>
                <a:lnTo>
                  <a:pt x="223196" y="283814"/>
                </a:lnTo>
                <a:lnTo>
                  <a:pt x="239581" y="282591"/>
                </a:lnTo>
                <a:lnTo>
                  <a:pt x="275508" y="267815"/>
                </a:lnTo>
                <a:lnTo>
                  <a:pt x="292846" y="220413"/>
                </a:lnTo>
                <a:lnTo>
                  <a:pt x="292628" y="214023"/>
                </a:lnTo>
                <a:lnTo>
                  <a:pt x="291973" y="207205"/>
                </a:lnTo>
                <a:lnTo>
                  <a:pt x="290880" y="199959"/>
                </a:lnTo>
                <a:lnTo>
                  <a:pt x="289350" y="192285"/>
                </a:lnTo>
                <a:lnTo>
                  <a:pt x="287018" y="181768"/>
                </a:lnTo>
                <a:lnTo>
                  <a:pt x="285852" y="174724"/>
                </a:lnTo>
                <a:lnTo>
                  <a:pt x="285852" y="164306"/>
                </a:lnTo>
                <a:lnTo>
                  <a:pt x="288208" y="158724"/>
                </a:lnTo>
                <a:lnTo>
                  <a:pt x="297634" y="150092"/>
                </a:lnTo>
                <a:lnTo>
                  <a:pt x="304753" y="147786"/>
                </a:lnTo>
                <a:lnTo>
                  <a:pt x="314278" y="147487"/>
                </a:lnTo>
                <a:lnTo>
                  <a:pt x="314278" y="135284"/>
                </a:lnTo>
                <a:lnTo>
                  <a:pt x="304753" y="134987"/>
                </a:lnTo>
                <a:lnTo>
                  <a:pt x="297634" y="132679"/>
                </a:lnTo>
                <a:lnTo>
                  <a:pt x="288208" y="124047"/>
                </a:lnTo>
                <a:lnTo>
                  <a:pt x="285852" y="118466"/>
                </a:lnTo>
                <a:lnTo>
                  <a:pt x="285852" y="108049"/>
                </a:lnTo>
                <a:lnTo>
                  <a:pt x="287018" y="101004"/>
                </a:lnTo>
                <a:lnTo>
                  <a:pt x="289350" y="90487"/>
                </a:lnTo>
                <a:lnTo>
                  <a:pt x="290880" y="82813"/>
                </a:lnTo>
                <a:lnTo>
                  <a:pt x="291973" y="75567"/>
                </a:lnTo>
                <a:lnTo>
                  <a:pt x="292628" y="68748"/>
                </a:lnTo>
                <a:lnTo>
                  <a:pt x="292846" y="62358"/>
                </a:lnTo>
                <a:lnTo>
                  <a:pt x="291763" y="47852"/>
                </a:lnTo>
                <a:lnTo>
                  <a:pt x="265737" y="9221"/>
                </a:lnTo>
                <a:lnTo>
                  <a:pt x="239581" y="1222"/>
                </a:lnTo>
                <a:lnTo>
                  <a:pt x="223196" y="0"/>
                </a:lnTo>
                <a:close/>
              </a:path>
              <a:path w="314325" h="283845">
                <a:moveTo>
                  <a:pt x="94951" y="0"/>
                </a:moveTo>
                <a:lnTo>
                  <a:pt x="91081" y="0"/>
                </a:lnTo>
                <a:lnTo>
                  <a:pt x="74696" y="1222"/>
                </a:lnTo>
                <a:lnTo>
                  <a:pt x="38769" y="15998"/>
                </a:lnTo>
                <a:lnTo>
                  <a:pt x="21632" y="59531"/>
                </a:lnTo>
                <a:lnTo>
                  <a:pt x="21528" y="65046"/>
                </a:lnTo>
                <a:lnTo>
                  <a:pt x="21649" y="68599"/>
                </a:lnTo>
                <a:lnTo>
                  <a:pt x="22305" y="75417"/>
                </a:lnTo>
                <a:lnTo>
                  <a:pt x="23397" y="82663"/>
                </a:lnTo>
                <a:lnTo>
                  <a:pt x="24927" y="90337"/>
                </a:lnTo>
                <a:lnTo>
                  <a:pt x="27259" y="100855"/>
                </a:lnTo>
                <a:lnTo>
                  <a:pt x="28425" y="107900"/>
                </a:lnTo>
                <a:lnTo>
                  <a:pt x="28425" y="118318"/>
                </a:lnTo>
                <a:lnTo>
                  <a:pt x="26069" y="123898"/>
                </a:lnTo>
                <a:lnTo>
                  <a:pt x="16643" y="132530"/>
                </a:lnTo>
                <a:lnTo>
                  <a:pt x="9525" y="134837"/>
                </a:lnTo>
                <a:lnTo>
                  <a:pt x="0" y="135135"/>
                </a:lnTo>
                <a:lnTo>
                  <a:pt x="0" y="147339"/>
                </a:lnTo>
                <a:lnTo>
                  <a:pt x="9525" y="147637"/>
                </a:lnTo>
                <a:lnTo>
                  <a:pt x="16643" y="149943"/>
                </a:lnTo>
                <a:lnTo>
                  <a:pt x="26069" y="158576"/>
                </a:lnTo>
                <a:lnTo>
                  <a:pt x="28425" y="164156"/>
                </a:lnTo>
                <a:lnTo>
                  <a:pt x="28425" y="174575"/>
                </a:lnTo>
                <a:lnTo>
                  <a:pt x="27259" y="181618"/>
                </a:lnTo>
                <a:lnTo>
                  <a:pt x="24927" y="192137"/>
                </a:lnTo>
                <a:lnTo>
                  <a:pt x="23397" y="199810"/>
                </a:lnTo>
                <a:lnTo>
                  <a:pt x="22305" y="207056"/>
                </a:lnTo>
                <a:lnTo>
                  <a:pt x="21649" y="213874"/>
                </a:lnTo>
                <a:lnTo>
                  <a:pt x="21431" y="220264"/>
                </a:lnTo>
                <a:lnTo>
                  <a:pt x="22514" y="235292"/>
                </a:lnTo>
                <a:lnTo>
                  <a:pt x="48540" y="274591"/>
                </a:lnTo>
                <a:lnTo>
                  <a:pt x="91081" y="283814"/>
                </a:lnTo>
                <a:lnTo>
                  <a:pt x="94951" y="283814"/>
                </a:lnTo>
                <a:lnTo>
                  <a:pt x="94951" y="272503"/>
                </a:lnTo>
                <a:lnTo>
                  <a:pt x="92718" y="272503"/>
                </a:lnTo>
                <a:lnTo>
                  <a:pt x="82514" y="271801"/>
                </a:lnTo>
                <a:lnTo>
                  <a:pt x="49782" y="246068"/>
                </a:lnTo>
                <a:lnTo>
                  <a:pt x="46730" y="222943"/>
                </a:lnTo>
                <a:lnTo>
                  <a:pt x="46917" y="217427"/>
                </a:lnTo>
                <a:lnTo>
                  <a:pt x="47475" y="211298"/>
                </a:lnTo>
                <a:lnTo>
                  <a:pt x="48405" y="204554"/>
                </a:lnTo>
                <a:lnTo>
                  <a:pt x="49707" y="197196"/>
                </a:lnTo>
                <a:lnTo>
                  <a:pt x="51692" y="186977"/>
                </a:lnTo>
                <a:lnTo>
                  <a:pt x="52684" y="179684"/>
                </a:lnTo>
                <a:lnTo>
                  <a:pt x="52684" y="166885"/>
                </a:lnTo>
                <a:lnTo>
                  <a:pt x="50204" y="159965"/>
                </a:lnTo>
                <a:lnTo>
                  <a:pt x="40281" y="149150"/>
                </a:lnTo>
                <a:lnTo>
                  <a:pt x="34378" y="145155"/>
                </a:lnTo>
                <a:lnTo>
                  <a:pt x="27532" y="142576"/>
                </a:lnTo>
                <a:lnTo>
                  <a:pt x="27532" y="139898"/>
                </a:lnTo>
                <a:lnTo>
                  <a:pt x="34378" y="137318"/>
                </a:lnTo>
                <a:lnTo>
                  <a:pt x="40281" y="133324"/>
                </a:lnTo>
                <a:lnTo>
                  <a:pt x="50204" y="122509"/>
                </a:lnTo>
                <a:lnTo>
                  <a:pt x="52684" y="115589"/>
                </a:lnTo>
                <a:lnTo>
                  <a:pt x="52684" y="102789"/>
                </a:lnTo>
                <a:lnTo>
                  <a:pt x="51692" y="95497"/>
                </a:lnTo>
                <a:lnTo>
                  <a:pt x="49707" y="85277"/>
                </a:lnTo>
                <a:lnTo>
                  <a:pt x="48405" y="77920"/>
                </a:lnTo>
                <a:lnTo>
                  <a:pt x="47475" y="71176"/>
                </a:lnTo>
                <a:lnTo>
                  <a:pt x="46917" y="65046"/>
                </a:lnTo>
                <a:lnTo>
                  <a:pt x="46730" y="59531"/>
                </a:lnTo>
                <a:lnTo>
                  <a:pt x="47493" y="47564"/>
                </a:lnTo>
                <a:lnTo>
                  <a:pt x="73483" y="14119"/>
                </a:lnTo>
                <a:lnTo>
                  <a:pt x="92718" y="11310"/>
                </a:lnTo>
                <a:lnTo>
                  <a:pt x="94951" y="11310"/>
                </a:lnTo>
                <a:lnTo>
                  <a:pt x="949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5056792" y="3413252"/>
            <a:ext cx="2262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5740" algn="l"/>
                <a:tab pos="2152015" algn="l"/>
              </a:tabLst>
            </a:pPr>
            <a:r>
              <a:rPr dirty="0" sz="2400" spc="-75">
                <a:latin typeface="Cambria Math"/>
                <a:cs typeface="Cambria Math"/>
              </a:rPr>
              <a:t>𝑄</a:t>
            </a:r>
            <a:r>
              <a:rPr dirty="0" baseline="-15432" sz="2700" spc="-405">
                <a:latin typeface="Cambria Math"/>
                <a:cs typeface="Cambria Math"/>
              </a:rPr>
              <a:t>?</a:t>
            </a:r>
            <a:r>
              <a:rPr dirty="0" baseline="-15432" sz="2700" spc="-757">
                <a:latin typeface="Cambria Math"/>
                <a:cs typeface="Cambria Math"/>
              </a:rPr>
              <a:t>@</a:t>
            </a:r>
            <a:r>
              <a:rPr dirty="0" baseline="-15432" sz="2700" spc="-660">
                <a:latin typeface="Cambria Math"/>
                <a:cs typeface="Cambria Math"/>
              </a:rPr>
              <a:t>A</a:t>
            </a:r>
            <a:r>
              <a:rPr dirty="0" baseline="-15432" sz="2700" spc="-270">
                <a:latin typeface="Cambria Math"/>
                <a:cs typeface="Cambria Math"/>
              </a:rPr>
              <a:t>B</a:t>
            </a:r>
            <a:r>
              <a:rPr dirty="0" baseline="-15432" sz="2700" spc="-195">
                <a:latin typeface="Cambria Math"/>
                <a:cs typeface="Cambria Math"/>
              </a:rPr>
              <a:t>C</a:t>
            </a:r>
            <a:r>
              <a:rPr dirty="0" baseline="-15432" sz="2700" spc="22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𝑄	𝐶</a:t>
            </a:r>
            <a:r>
              <a:rPr dirty="0" sz="2400" spc="1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+	𝑖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147978" y="4428235"/>
            <a:ext cx="253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5475892" y="4656706"/>
            <a:ext cx="1308100" cy="0"/>
          </a:xfrm>
          <a:custGeom>
            <a:avLst/>
            <a:gdLst/>
            <a:ahLst/>
            <a:cxnLst/>
            <a:rect l="l" t="t" r="r" b="b"/>
            <a:pathLst>
              <a:path w="1308100" h="0">
                <a:moveTo>
                  <a:pt x="0" y="0"/>
                </a:moveTo>
                <a:lnTo>
                  <a:pt x="13081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5459636" y="4260595"/>
            <a:ext cx="1316990" cy="763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baseline="11574" sz="3600" spc="382">
                <a:latin typeface="Cambria Math"/>
                <a:cs typeface="Cambria Math"/>
              </a:rPr>
              <a:t>Σ</a:t>
            </a:r>
            <a:r>
              <a:rPr dirty="0" sz="1800" spc="254">
                <a:latin typeface="Cambria Math"/>
                <a:cs typeface="Cambria Math"/>
              </a:rPr>
              <a:t>!; </a:t>
            </a:r>
            <a:r>
              <a:rPr dirty="0" baseline="11574" sz="3600">
                <a:latin typeface="Cambria Math"/>
                <a:cs typeface="Cambria Math"/>
              </a:rPr>
              <a:t>+</a:t>
            </a:r>
            <a:r>
              <a:rPr dirty="0" baseline="11574" sz="3600" spc="-412">
                <a:latin typeface="Cambria Math"/>
                <a:cs typeface="Cambria Math"/>
              </a:rPr>
              <a:t> </a:t>
            </a:r>
            <a:r>
              <a:rPr dirty="0" baseline="11574" sz="3600" spc="262">
                <a:latin typeface="Cambria Math"/>
                <a:cs typeface="Cambria Math"/>
              </a:rPr>
              <a:t>𝑘</a:t>
            </a:r>
            <a:r>
              <a:rPr dirty="0" sz="1800" spc="175">
                <a:latin typeface="Cambria Math"/>
                <a:cs typeface="Cambria Math"/>
              </a:rPr>
              <a:t>!,!;</a:t>
            </a:r>
            <a:endParaRPr sz="1800">
              <a:latin typeface="Cambria Math"/>
              <a:cs typeface="Cambria Math"/>
            </a:endParaRPr>
          </a:p>
          <a:p>
            <a:pPr algn="ctr" marL="8890">
              <a:lnSpc>
                <a:spcPct val="100000"/>
              </a:lnSpc>
              <a:spcBef>
                <a:spcPts val="45"/>
              </a:spcBef>
            </a:pPr>
            <a:r>
              <a:rPr dirty="0" sz="2400" spc="-5">
                <a:latin typeface="Cambria Math"/>
                <a:cs typeface="Cambria Math"/>
              </a:rPr>
              <a:t>2𝑚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833712" y="4428235"/>
            <a:ext cx="253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7166485" y="4357526"/>
            <a:ext cx="1393825" cy="602615"/>
          </a:xfrm>
          <a:custGeom>
            <a:avLst/>
            <a:gdLst/>
            <a:ahLst/>
            <a:cxnLst/>
            <a:rect l="l" t="t" r="r" b="b"/>
            <a:pathLst>
              <a:path w="1393825" h="602614">
                <a:moveTo>
                  <a:pt x="1286367" y="0"/>
                </a:moveTo>
                <a:lnTo>
                  <a:pt x="1277735" y="9972"/>
                </a:lnTo>
                <a:lnTo>
                  <a:pt x="1295743" y="29803"/>
                </a:lnTo>
                <a:lnTo>
                  <a:pt x="1312114" y="54471"/>
                </a:lnTo>
                <a:lnTo>
                  <a:pt x="1339944" y="118319"/>
                </a:lnTo>
                <a:lnTo>
                  <a:pt x="1350688" y="157312"/>
                </a:lnTo>
                <a:lnTo>
                  <a:pt x="1358362" y="200769"/>
                </a:lnTo>
                <a:lnTo>
                  <a:pt x="1362966" y="248692"/>
                </a:lnTo>
                <a:lnTo>
                  <a:pt x="1364501" y="301080"/>
                </a:lnTo>
                <a:lnTo>
                  <a:pt x="1362966" y="353467"/>
                </a:lnTo>
                <a:lnTo>
                  <a:pt x="1358362" y="401390"/>
                </a:lnTo>
                <a:lnTo>
                  <a:pt x="1350688" y="444847"/>
                </a:lnTo>
                <a:lnTo>
                  <a:pt x="1339944" y="483840"/>
                </a:lnTo>
                <a:lnTo>
                  <a:pt x="1312114" y="547687"/>
                </a:lnTo>
                <a:lnTo>
                  <a:pt x="1277735" y="592187"/>
                </a:lnTo>
                <a:lnTo>
                  <a:pt x="1286367" y="602159"/>
                </a:lnTo>
                <a:lnTo>
                  <a:pt x="1326625" y="557827"/>
                </a:lnTo>
                <a:lnTo>
                  <a:pt x="1361376" y="492100"/>
                </a:lnTo>
                <a:lnTo>
                  <a:pt x="1375375" y="451494"/>
                </a:lnTo>
                <a:lnTo>
                  <a:pt x="1385374" y="406096"/>
                </a:lnTo>
                <a:lnTo>
                  <a:pt x="1391374" y="355909"/>
                </a:lnTo>
                <a:lnTo>
                  <a:pt x="1393373" y="300931"/>
                </a:lnTo>
                <a:lnTo>
                  <a:pt x="1391374" y="246083"/>
                </a:lnTo>
                <a:lnTo>
                  <a:pt x="1385374" y="195988"/>
                </a:lnTo>
                <a:lnTo>
                  <a:pt x="1375375" y="150647"/>
                </a:lnTo>
                <a:lnTo>
                  <a:pt x="1361376" y="110059"/>
                </a:lnTo>
                <a:lnTo>
                  <a:pt x="1344688" y="74521"/>
                </a:lnTo>
                <a:lnTo>
                  <a:pt x="1307184" y="19492"/>
                </a:lnTo>
                <a:lnTo>
                  <a:pt x="1286367" y="0"/>
                </a:lnTo>
                <a:close/>
              </a:path>
              <a:path w="1393825" h="602614">
                <a:moveTo>
                  <a:pt x="107000" y="0"/>
                </a:moveTo>
                <a:lnTo>
                  <a:pt x="66743" y="44332"/>
                </a:lnTo>
                <a:lnTo>
                  <a:pt x="31992" y="110059"/>
                </a:lnTo>
                <a:lnTo>
                  <a:pt x="17993" y="150647"/>
                </a:lnTo>
                <a:lnTo>
                  <a:pt x="7993" y="195988"/>
                </a:lnTo>
                <a:lnTo>
                  <a:pt x="1994" y="246083"/>
                </a:lnTo>
                <a:lnTo>
                  <a:pt x="0" y="301080"/>
                </a:lnTo>
                <a:lnTo>
                  <a:pt x="1994" y="355909"/>
                </a:lnTo>
                <a:lnTo>
                  <a:pt x="7993" y="406096"/>
                </a:lnTo>
                <a:lnTo>
                  <a:pt x="17993" y="451494"/>
                </a:lnTo>
                <a:lnTo>
                  <a:pt x="31992" y="492100"/>
                </a:lnTo>
                <a:lnTo>
                  <a:pt x="48679" y="527638"/>
                </a:lnTo>
                <a:lnTo>
                  <a:pt x="86183" y="582667"/>
                </a:lnTo>
                <a:lnTo>
                  <a:pt x="107000" y="602159"/>
                </a:lnTo>
                <a:lnTo>
                  <a:pt x="115633" y="592187"/>
                </a:lnTo>
                <a:lnTo>
                  <a:pt x="97625" y="572355"/>
                </a:lnTo>
                <a:lnTo>
                  <a:pt x="81254" y="547687"/>
                </a:lnTo>
                <a:lnTo>
                  <a:pt x="53423" y="483840"/>
                </a:lnTo>
                <a:lnTo>
                  <a:pt x="42679" y="444847"/>
                </a:lnTo>
                <a:lnTo>
                  <a:pt x="35005" y="401390"/>
                </a:lnTo>
                <a:lnTo>
                  <a:pt x="30401" y="353467"/>
                </a:lnTo>
                <a:lnTo>
                  <a:pt x="28871" y="300931"/>
                </a:lnTo>
                <a:lnTo>
                  <a:pt x="30401" y="248692"/>
                </a:lnTo>
                <a:lnTo>
                  <a:pt x="35005" y="200769"/>
                </a:lnTo>
                <a:lnTo>
                  <a:pt x="42679" y="157312"/>
                </a:lnTo>
                <a:lnTo>
                  <a:pt x="53423" y="118319"/>
                </a:lnTo>
                <a:lnTo>
                  <a:pt x="81254" y="54471"/>
                </a:lnTo>
                <a:lnTo>
                  <a:pt x="115633" y="9972"/>
                </a:lnTo>
                <a:lnTo>
                  <a:pt x="107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291992" y="4656706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 h="0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7259570" y="4181543"/>
            <a:ext cx="1198880" cy="433705"/>
          </a:xfrm>
          <a:prstGeom prst="rect">
            <a:avLst/>
          </a:prstGeom>
          <a:ln w="38100">
            <a:solidFill>
              <a:srgbClr val="008000"/>
            </a:solidFill>
          </a:ln>
        </p:spPr>
        <p:txBody>
          <a:bodyPr wrap="square" lIns="0" tIns="72390" rIns="0" bIns="0" rtlCol="0" vert="horz">
            <a:spAutoFit/>
          </a:bodyPr>
          <a:lstStyle/>
          <a:p>
            <a:pPr marL="12700">
              <a:lnSpc>
                <a:spcPts val="2540"/>
              </a:lnSpc>
              <a:spcBef>
                <a:spcPts val="570"/>
              </a:spcBef>
            </a:pPr>
            <a:r>
              <a:rPr dirty="0" baseline="11574" sz="3600" spc="-547">
                <a:latin typeface="Cambria Math"/>
                <a:cs typeface="Cambria Math"/>
              </a:rPr>
              <a:t>Σ</a:t>
            </a:r>
            <a:r>
              <a:rPr dirty="0" sz="1800" spc="-365">
                <a:latin typeface="Cambria Math"/>
                <a:cs typeface="Cambria Math"/>
              </a:rPr>
              <a:t>&lt;=&lt;               </a:t>
            </a:r>
            <a:r>
              <a:rPr dirty="0" baseline="11574" sz="3600">
                <a:latin typeface="Cambria Math"/>
                <a:cs typeface="Cambria Math"/>
              </a:rPr>
              <a:t>+</a:t>
            </a:r>
            <a:r>
              <a:rPr dirty="0" baseline="11574" sz="3600" spc="-89">
                <a:latin typeface="Cambria Math"/>
                <a:cs typeface="Cambria Math"/>
              </a:rPr>
              <a:t> </a:t>
            </a:r>
            <a:r>
              <a:rPr dirty="0" baseline="11574" sz="3600" spc="75">
                <a:latin typeface="Cambria Math"/>
                <a:cs typeface="Cambria Math"/>
              </a:rPr>
              <a:t>𝑘</a:t>
            </a:r>
            <a:r>
              <a:rPr dirty="0" sz="1800" spc="50">
                <a:latin typeface="Cambria Math"/>
                <a:cs typeface="Cambria Math"/>
              </a:rPr>
              <a:t>!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635908" y="4632452"/>
            <a:ext cx="448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Cambria Math"/>
                <a:cs typeface="Cambria Math"/>
              </a:rPr>
              <a:t>2𝑚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572469" y="4129532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60">
                <a:latin typeface="Cambria Math"/>
                <a:cs typeface="Cambria Math"/>
              </a:rPr>
              <a:t>: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1924683" y="5274189"/>
            <a:ext cx="2198244" cy="11802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3172000" y="5135371"/>
            <a:ext cx="1689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𝑪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4787301" y="5307978"/>
            <a:ext cx="2203006" cy="118506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6034618" y="5174996"/>
            <a:ext cx="1689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𝑪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588662" y="4931155"/>
            <a:ext cx="447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50">
                <a:latin typeface="Cambria Math"/>
                <a:cs typeface="Cambria Math"/>
              </a:rPr>
              <a:t>𝑘</a:t>
            </a:r>
            <a:r>
              <a:rPr dirty="0" baseline="-15432" sz="2700" spc="75">
                <a:latin typeface="Cambria Math"/>
                <a:cs typeface="Cambria Math"/>
              </a:rPr>
              <a:t>!</a:t>
            </a:r>
            <a:r>
              <a:rPr dirty="0" baseline="-15432" sz="2700" spc="0">
                <a:latin typeface="Cambria Math"/>
                <a:cs typeface="Cambria Math"/>
              </a:rPr>
              <a:t> </a:t>
            </a:r>
            <a:r>
              <a:rPr dirty="0" sz="2400" b="1">
                <a:latin typeface="Corbel"/>
                <a:cs typeface="Corbel"/>
              </a:rPr>
              <a:t>: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086409" y="6403340"/>
            <a:ext cx="8547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0802" sz="2700" spc="60">
                <a:latin typeface="Cambria Math"/>
                <a:cs typeface="Cambria Math"/>
              </a:rPr>
              <a:t>𝑘</a:t>
            </a:r>
            <a:r>
              <a:rPr dirty="0" sz="1300" spc="40">
                <a:latin typeface="Cambria Math"/>
                <a:cs typeface="Cambria Math"/>
              </a:rPr>
              <a:t>!,!# </a:t>
            </a:r>
            <a:r>
              <a:rPr dirty="0" baseline="10802" sz="2700">
                <a:latin typeface="Cambria Math"/>
                <a:cs typeface="Cambria Math"/>
              </a:rPr>
              <a:t>=</a:t>
            </a:r>
            <a:r>
              <a:rPr dirty="0" baseline="10802" sz="2700" spc="195">
                <a:latin typeface="Cambria Math"/>
                <a:cs typeface="Cambria Math"/>
              </a:rPr>
              <a:t> </a:t>
            </a:r>
            <a:r>
              <a:rPr dirty="0" baseline="10802" sz="2700">
                <a:latin typeface="Cambria Math"/>
                <a:cs typeface="Cambria Math"/>
              </a:rPr>
              <a:t>4</a:t>
            </a:r>
            <a:endParaRPr baseline="10802" sz="2700">
              <a:latin typeface="Cambria Math"/>
              <a:cs typeface="Cambria Math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801202" y="5458459"/>
            <a:ext cx="984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𝑖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735114" y="5543803"/>
            <a:ext cx="984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𝑖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933025" y="6317996"/>
            <a:ext cx="6502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30">
                <a:latin typeface="Cambria Math"/>
                <a:cs typeface="Cambria Math"/>
              </a:rPr>
              <a:t>𝑘</a:t>
            </a:r>
            <a:r>
              <a:rPr dirty="0" baseline="-14957" sz="1950" spc="44">
                <a:latin typeface="Cambria Math"/>
                <a:cs typeface="Cambria Math"/>
              </a:rPr>
              <a:t>!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13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4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5403279" y="4192131"/>
            <a:ext cx="1423670" cy="412115"/>
          </a:xfrm>
          <a:custGeom>
            <a:avLst/>
            <a:gdLst/>
            <a:ahLst/>
            <a:cxnLst/>
            <a:rect l="l" t="t" r="r" b="b"/>
            <a:pathLst>
              <a:path w="1423670" h="412114">
                <a:moveTo>
                  <a:pt x="0" y="0"/>
                </a:moveTo>
                <a:lnTo>
                  <a:pt x="1423128" y="0"/>
                </a:lnTo>
                <a:lnTo>
                  <a:pt x="1423128" y="411884"/>
                </a:lnTo>
                <a:lnTo>
                  <a:pt x="0" y="411884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7241373" y="3785108"/>
            <a:ext cx="15805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5">
                <a:latin typeface="Corbel"/>
                <a:cs typeface="Corbel"/>
              </a:rPr>
              <a:t>“</a:t>
            </a:r>
            <a:r>
              <a:rPr dirty="0" sz="1800" spc="-85">
                <a:latin typeface="Cambria Math"/>
                <a:cs typeface="Cambria Math"/>
              </a:rPr>
              <a:t>Σ</a:t>
            </a:r>
            <a:r>
              <a:rPr dirty="0" baseline="-14957" sz="1950" spc="-127">
                <a:latin typeface="Cambria Math"/>
                <a:cs typeface="Cambria Math"/>
              </a:rPr>
              <a:t>$%$</a:t>
            </a:r>
            <a:r>
              <a:rPr dirty="0" sz="1800" spc="-85">
                <a:latin typeface="Cambria Math"/>
                <a:cs typeface="Cambria Math"/>
              </a:rPr>
              <a:t>”  </a:t>
            </a:r>
            <a:r>
              <a:rPr dirty="0" sz="1800" spc="-5">
                <a:latin typeface="Arial"/>
                <a:cs typeface="Arial"/>
              </a:rPr>
              <a:t>of </a:t>
            </a: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𝑪 +</a:t>
            </a:r>
            <a:r>
              <a:rPr dirty="0" sz="1800" spc="-18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Cambria Math"/>
                <a:cs typeface="Cambria Math"/>
              </a:rPr>
              <a:t>{𝒊}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4" name="object 7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75" name="object 7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6" name="object 7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33</a:t>
            </a:fld>
          </a:p>
        </p:txBody>
      </p:sp>
      <p:sp>
        <p:nvSpPr>
          <p:cNvPr id="72" name="object 72"/>
          <p:cNvSpPr txBox="1"/>
          <p:nvPr/>
        </p:nvSpPr>
        <p:spPr>
          <a:xfrm>
            <a:off x="5352712" y="3809491"/>
            <a:ext cx="15011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30">
                <a:latin typeface="Corbel"/>
                <a:cs typeface="Corbel"/>
              </a:rPr>
              <a:t>“</a:t>
            </a:r>
            <a:r>
              <a:rPr dirty="0" sz="1800" spc="30">
                <a:latin typeface="Cambria Math"/>
                <a:cs typeface="Cambria Math"/>
              </a:rPr>
              <a:t>Σ</a:t>
            </a:r>
            <a:r>
              <a:rPr dirty="0" baseline="-17094" sz="1950" spc="44">
                <a:latin typeface="Cambria Math"/>
                <a:cs typeface="Cambria Math"/>
              </a:rPr>
              <a:t>!#</a:t>
            </a:r>
            <a:r>
              <a:rPr dirty="0" sz="1800" spc="30">
                <a:latin typeface="Cambria Math"/>
                <a:cs typeface="Cambria Math"/>
              </a:rPr>
              <a:t>” </a:t>
            </a:r>
            <a:r>
              <a:rPr dirty="0" sz="1800" spc="-5">
                <a:latin typeface="Arial"/>
                <a:cs typeface="Arial"/>
              </a:rPr>
              <a:t>of </a:t>
            </a: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𝑪 +</a:t>
            </a:r>
            <a:r>
              <a:rPr dirty="0" sz="1800" spc="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Cambria Math"/>
                <a:cs typeface="Cambria Math"/>
              </a:rPr>
              <a:t>{𝒊}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55141" y="4904739"/>
            <a:ext cx="197802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70000" algn="l"/>
              </a:tabLst>
            </a:pPr>
            <a:r>
              <a:rPr dirty="0" sz="2800">
                <a:solidFill>
                  <a:srgbClr val="FF0066"/>
                </a:solidFill>
                <a:latin typeface="Arial"/>
                <a:cs typeface="Arial"/>
              </a:rPr>
              <a:t>Recall:	</a:t>
            </a:r>
            <a:r>
              <a:rPr dirty="0" baseline="3472" sz="3600" spc="270">
                <a:latin typeface="Cambria Math"/>
                <a:cs typeface="Cambria Math"/>
              </a:rPr>
              <a:t>𝑘</a:t>
            </a:r>
            <a:r>
              <a:rPr dirty="0" baseline="-9259" sz="2700" spc="270">
                <a:latin typeface="Cambria Math"/>
                <a:cs typeface="Cambria Math"/>
              </a:rPr>
              <a:t>!,!;</a:t>
            </a:r>
            <a:r>
              <a:rPr dirty="0" baseline="-9259" sz="2700" spc="-37">
                <a:latin typeface="Cambria Math"/>
                <a:cs typeface="Cambria Math"/>
              </a:rPr>
              <a:t> </a:t>
            </a:r>
            <a:r>
              <a:rPr dirty="0" baseline="3472" sz="3600" b="1">
                <a:latin typeface="Corbel"/>
                <a:cs typeface="Corbel"/>
              </a:rPr>
              <a:t>:</a:t>
            </a:r>
            <a:endParaRPr baseline="3472" sz="36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12648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16030" y="1463572"/>
            <a:ext cx="1235710" cy="376555"/>
          </a:xfrm>
          <a:custGeom>
            <a:avLst/>
            <a:gdLst/>
            <a:ahLst/>
            <a:cxnLst/>
            <a:rect l="l" t="t" r="r" b="b"/>
            <a:pathLst>
              <a:path w="1235710" h="376555">
                <a:moveTo>
                  <a:pt x="1115162" y="0"/>
                </a:moveTo>
                <a:lnTo>
                  <a:pt x="1109804" y="15279"/>
                </a:lnTo>
                <a:lnTo>
                  <a:pt x="1131595" y="24736"/>
                </a:lnTo>
                <a:lnTo>
                  <a:pt x="1150335" y="37826"/>
                </a:lnTo>
                <a:lnTo>
                  <a:pt x="1178662" y="74909"/>
                </a:lnTo>
                <a:lnTo>
                  <a:pt x="1195331" y="124940"/>
                </a:lnTo>
                <a:lnTo>
                  <a:pt x="1200887" y="186331"/>
                </a:lnTo>
                <a:lnTo>
                  <a:pt x="1199492" y="219533"/>
                </a:lnTo>
                <a:lnTo>
                  <a:pt x="1188330" y="276782"/>
                </a:lnTo>
                <a:lnTo>
                  <a:pt x="1165931" y="321493"/>
                </a:lnTo>
                <a:lnTo>
                  <a:pt x="1131850" y="351655"/>
                </a:lnTo>
                <a:lnTo>
                  <a:pt x="1110400" y="361156"/>
                </a:lnTo>
                <a:lnTo>
                  <a:pt x="1115162" y="376435"/>
                </a:lnTo>
                <a:lnTo>
                  <a:pt x="1166508" y="352349"/>
                </a:lnTo>
                <a:lnTo>
                  <a:pt x="1204260" y="310653"/>
                </a:lnTo>
                <a:lnTo>
                  <a:pt x="1227478" y="254818"/>
                </a:lnTo>
                <a:lnTo>
                  <a:pt x="1235217" y="188316"/>
                </a:lnTo>
                <a:lnTo>
                  <a:pt x="1233276" y="153807"/>
                </a:lnTo>
                <a:lnTo>
                  <a:pt x="1217748" y="92638"/>
                </a:lnTo>
                <a:lnTo>
                  <a:pt x="1186953" y="42843"/>
                </a:lnTo>
                <a:lnTo>
                  <a:pt x="1142454" y="9853"/>
                </a:lnTo>
                <a:lnTo>
                  <a:pt x="1115162" y="0"/>
                </a:lnTo>
                <a:close/>
              </a:path>
              <a:path w="1235710" h="376555">
                <a:moveTo>
                  <a:pt x="120054" y="0"/>
                </a:moveTo>
                <a:lnTo>
                  <a:pt x="68833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7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199517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1030605" algn="l"/>
              </a:tabLst>
            </a:pPr>
            <a:r>
              <a:rPr dirty="0" b="0">
                <a:latin typeface="Cambria Math"/>
                <a:cs typeface="Cambria Math"/>
              </a:rPr>
              <a:t>Δ𝑄	𝑖  →</a:t>
            </a:r>
            <a:r>
              <a:rPr dirty="0" spc="-335" b="0">
                <a:latin typeface="Cambria Math"/>
                <a:cs typeface="Cambria Math"/>
              </a:rPr>
              <a:t> </a:t>
            </a:r>
            <a:r>
              <a:rPr dirty="0" b="0">
                <a:latin typeface="Cambria Math"/>
                <a:cs typeface="Cambria Math"/>
              </a:rPr>
              <a:t>𝐶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887154" y="1431035"/>
            <a:ext cx="308292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284" sz="4800">
                <a:latin typeface="Cambria Math"/>
                <a:cs typeface="Cambria Math"/>
              </a:rPr>
              <a:t>= </a:t>
            </a:r>
            <a:r>
              <a:rPr dirty="0" baseline="11284" sz="4800" spc="37">
                <a:latin typeface="Cambria Math"/>
                <a:cs typeface="Cambria Math"/>
              </a:rPr>
              <a:t>𝑄</a:t>
            </a:r>
            <a:r>
              <a:rPr dirty="0" sz="2300" spc="25">
                <a:latin typeface="Cambria Math"/>
                <a:cs typeface="Cambria Math"/>
              </a:rPr>
              <a:t>()*+, </a:t>
            </a:r>
            <a:r>
              <a:rPr dirty="0" baseline="11284" sz="4800">
                <a:latin typeface="Cambria Math"/>
                <a:cs typeface="Cambria Math"/>
              </a:rPr>
              <a:t>−</a:t>
            </a:r>
            <a:r>
              <a:rPr dirty="0" baseline="11284" sz="4800" spc="345">
                <a:latin typeface="Cambria Math"/>
                <a:cs typeface="Cambria Math"/>
              </a:rPr>
              <a:t> </a:t>
            </a:r>
            <a:r>
              <a:rPr dirty="0" baseline="11284" sz="4800" spc="225">
                <a:latin typeface="Cambria Math"/>
                <a:cs typeface="Cambria Math"/>
              </a:rPr>
              <a:t>𝑄</a:t>
            </a:r>
            <a:r>
              <a:rPr dirty="0" sz="2300" spc="150">
                <a:latin typeface="Cambria Math"/>
                <a:cs typeface="Cambria Math"/>
              </a:rPr>
              <a:t>-+).,+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12314" y="2058924"/>
            <a:ext cx="32956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=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06630" y="2758439"/>
            <a:ext cx="100330" cy="0"/>
          </a:xfrm>
          <a:custGeom>
            <a:avLst/>
            <a:gdLst/>
            <a:ahLst/>
            <a:cxnLst/>
            <a:rect l="l" t="t" r="r" b="b"/>
            <a:pathLst>
              <a:path w="100329" h="0">
                <a:moveTo>
                  <a:pt x="0" y="0"/>
                </a:moveTo>
                <a:lnTo>
                  <a:pt x="99814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586997" y="1977389"/>
            <a:ext cx="0" cy="772160"/>
          </a:xfrm>
          <a:custGeom>
            <a:avLst/>
            <a:gdLst/>
            <a:ahLst/>
            <a:cxnLst/>
            <a:rect l="l" t="t" r="r" b="b"/>
            <a:pathLst>
              <a:path w="0" h="772160">
                <a:moveTo>
                  <a:pt x="0" y="0"/>
                </a:moveTo>
                <a:lnTo>
                  <a:pt x="0" y="772160"/>
                </a:lnTo>
              </a:path>
            </a:pathLst>
          </a:custGeom>
          <a:ln w="388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506630" y="1967864"/>
            <a:ext cx="100330" cy="0"/>
          </a:xfrm>
          <a:custGeom>
            <a:avLst/>
            <a:gdLst/>
            <a:ahLst/>
            <a:cxnLst/>
            <a:rect l="l" t="t" r="r" b="b"/>
            <a:pathLst>
              <a:path w="100329" h="0">
                <a:moveTo>
                  <a:pt x="0" y="0"/>
                </a:moveTo>
                <a:lnTo>
                  <a:pt x="99814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965545" y="2758439"/>
            <a:ext cx="100330" cy="0"/>
          </a:xfrm>
          <a:custGeom>
            <a:avLst/>
            <a:gdLst/>
            <a:ahLst/>
            <a:cxnLst/>
            <a:rect l="l" t="t" r="r" b="b"/>
            <a:pathLst>
              <a:path w="100330" h="0">
                <a:moveTo>
                  <a:pt x="0" y="0"/>
                </a:moveTo>
                <a:lnTo>
                  <a:pt x="99814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984992" y="1977389"/>
            <a:ext cx="0" cy="772160"/>
          </a:xfrm>
          <a:custGeom>
            <a:avLst/>
            <a:gdLst/>
            <a:ahLst/>
            <a:cxnLst/>
            <a:rect l="l" t="t" r="r" b="b"/>
            <a:pathLst>
              <a:path w="0" h="772160">
                <a:moveTo>
                  <a:pt x="0" y="0"/>
                </a:moveTo>
                <a:lnTo>
                  <a:pt x="0" y="772160"/>
                </a:lnTo>
              </a:path>
            </a:pathLst>
          </a:custGeom>
          <a:ln w="388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965545" y="1967864"/>
            <a:ext cx="100330" cy="0"/>
          </a:xfrm>
          <a:custGeom>
            <a:avLst/>
            <a:gdLst/>
            <a:ahLst/>
            <a:cxnLst/>
            <a:rect l="l" t="t" r="r" b="b"/>
            <a:pathLst>
              <a:path w="100330" h="0">
                <a:moveTo>
                  <a:pt x="0" y="0"/>
                </a:moveTo>
                <a:lnTo>
                  <a:pt x="99814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77464" y="2364739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 h="0">
                <a:moveTo>
                  <a:pt x="0" y="0"/>
                </a:moveTo>
                <a:lnTo>
                  <a:pt x="1269999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471417" y="2377439"/>
            <a:ext cx="47307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475">
                <a:latin typeface="Cambria Math"/>
                <a:cs typeface="Cambria Math"/>
              </a:rPr>
              <a:t>23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61589" y="1869948"/>
            <a:ext cx="169354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2077" sz="3450" spc="434">
                <a:latin typeface="Cambria Math"/>
                <a:cs typeface="Cambria Math"/>
              </a:rPr>
              <a:t>/</a:t>
            </a:r>
            <a:r>
              <a:rPr dirty="0" sz="1900" spc="290">
                <a:latin typeface="Cambria Math"/>
                <a:cs typeface="Cambria Math"/>
              </a:rPr>
              <a:t>!"</a:t>
            </a:r>
            <a:r>
              <a:rPr dirty="0" baseline="12077" sz="3450" spc="434">
                <a:latin typeface="Cambria Math"/>
                <a:cs typeface="Cambria Math"/>
              </a:rPr>
              <a:t>01</a:t>
            </a:r>
            <a:r>
              <a:rPr dirty="0" sz="1900" spc="290">
                <a:latin typeface="Cambria Math"/>
                <a:cs typeface="Cambria Math"/>
              </a:rPr>
              <a:t>!,!"</a:t>
            </a:r>
            <a:r>
              <a:rPr dirty="0" sz="1900" spc="10">
                <a:latin typeface="Cambria Math"/>
                <a:cs typeface="Cambria Math"/>
              </a:rPr>
              <a:t> </a:t>
            </a:r>
            <a:r>
              <a:rPr dirty="0" baseline="-26041" sz="4800">
                <a:latin typeface="Cambria Math"/>
                <a:cs typeface="Cambria Math"/>
              </a:rPr>
              <a:t>−</a:t>
            </a:r>
            <a:endParaRPr baseline="-26041" sz="48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867021" y="2027784"/>
            <a:ext cx="1407795" cy="670560"/>
          </a:xfrm>
          <a:custGeom>
            <a:avLst/>
            <a:gdLst/>
            <a:ahLst/>
            <a:cxnLst/>
            <a:rect l="l" t="t" r="r" b="b"/>
            <a:pathLst>
              <a:path w="1407795" h="670560">
                <a:moveTo>
                  <a:pt x="1262522" y="0"/>
                </a:moveTo>
                <a:lnTo>
                  <a:pt x="1256172" y="15875"/>
                </a:lnTo>
                <a:lnTo>
                  <a:pt x="1281156" y="36183"/>
                </a:lnTo>
                <a:lnTo>
                  <a:pt x="1303325" y="62582"/>
                </a:lnTo>
                <a:lnTo>
                  <a:pt x="1339218" y="133648"/>
                </a:lnTo>
                <a:lnTo>
                  <a:pt x="1352458" y="177471"/>
                </a:lnTo>
                <a:lnTo>
                  <a:pt x="1361914" y="225697"/>
                </a:lnTo>
                <a:lnTo>
                  <a:pt x="1367588" y="278327"/>
                </a:lnTo>
                <a:lnTo>
                  <a:pt x="1369480" y="335360"/>
                </a:lnTo>
                <a:lnTo>
                  <a:pt x="1367601" y="391492"/>
                </a:lnTo>
                <a:lnTo>
                  <a:pt x="1361964" y="443606"/>
                </a:lnTo>
                <a:lnTo>
                  <a:pt x="1352569" y="491703"/>
                </a:lnTo>
                <a:lnTo>
                  <a:pt x="1339416" y="535781"/>
                </a:lnTo>
                <a:lnTo>
                  <a:pt x="1322940" y="574749"/>
                </a:lnTo>
                <a:lnTo>
                  <a:pt x="1281318" y="634082"/>
                </a:lnTo>
                <a:lnTo>
                  <a:pt x="1256172" y="654447"/>
                </a:lnTo>
                <a:lnTo>
                  <a:pt x="1262522" y="670322"/>
                </a:lnTo>
                <a:lnTo>
                  <a:pt x="1322177" y="622597"/>
                </a:lnTo>
                <a:lnTo>
                  <a:pt x="1346889" y="587945"/>
                </a:lnTo>
                <a:lnTo>
                  <a:pt x="1368190" y="546100"/>
                </a:lnTo>
                <a:lnTo>
                  <a:pt x="1385336" y="498822"/>
                </a:lnTo>
                <a:lnTo>
                  <a:pt x="1397583" y="447873"/>
                </a:lnTo>
                <a:lnTo>
                  <a:pt x="1404931" y="393253"/>
                </a:lnTo>
                <a:lnTo>
                  <a:pt x="1407380" y="334962"/>
                </a:lnTo>
                <a:lnTo>
                  <a:pt x="1404931" y="276374"/>
                </a:lnTo>
                <a:lnTo>
                  <a:pt x="1397583" y="221655"/>
                </a:lnTo>
                <a:lnTo>
                  <a:pt x="1385336" y="170805"/>
                </a:lnTo>
                <a:lnTo>
                  <a:pt x="1368190" y="123825"/>
                </a:lnTo>
                <a:lnTo>
                  <a:pt x="1346889" y="82302"/>
                </a:lnTo>
                <a:lnTo>
                  <a:pt x="1322177" y="47824"/>
                </a:lnTo>
                <a:lnTo>
                  <a:pt x="1294055" y="20389"/>
                </a:lnTo>
                <a:lnTo>
                  <a:pt x="1262522" y="0"/>
                </a:lnTo>
                <a:close/>
              </a:path>
              <a:path w="1407795" h="670560">
                <a:moveTo>
                  <a:pt x="144660" y="0"/>
                </a:moveTo>
                <a:lnTo>
                  <a:pt x="85153" y="47824"/>
                </a:lnTo>
                <a:lnTo>
                  <a:pt x="60479" y="82302"/>
                </a:lnTo>
                <a:lnTo>
                  <a:pt x="39190" y="123825"/>
                </a:lnTo>
                <a:lnTo>
                  <a:pt x="22044" y="170805"/>
                </a:lnTo>
                <a:lnTo>
                  <a:pt x="9797" y="221655"/>
                </a:lnTo>
                <a:lnTo>
                  <a:pt x="2449" y="276374"/>
                </a:lnTo>
                <a:lnTo>
                  <a:pt x="0" y="334962"/>
                </a:lnTo>
                <a:lnTo>
                  <a:pt x="2449" y="393253"/>
                </a:lnTo>
                <a:lnTo>
                  <a:pt x="9797" y="447873"/>
                </a:lnTo>
                <a:lnTo>
                  <a:pt x="22044" y="498822"/>
                </a:lnTo>
                <a:lnTo>
                  <a:pt x="39190" y="546100"/>
                </a:lnTo>
                <a:lnTo>
                  <a:pt x="60479" y="587945"/>
                </a:lnTo>
                <a:lnTo>
                  <a:pt x="85153" y="622597"/>
                </a:lnTo>
                <a:lnTo>
                  <a:pt x="113214" y="650056"/>
                </a:lnTo>
                <a:lnTo>
                  <a:pt x="144660" y="670322"/>
                </a:lnTo>
                <a:lnTo>
                  <a:pt x="151208" y="654447"/>
                </a:lnTo>
                <a:lnTo>
                  <a:pt x="125982" y="634082"/>
                </a:lnTo>
                <a:lnTo>
                  <a:pt x="103682" y="607516"/>
                </a:lnTo>
                <a:lnTo>
                  <a:pt x="67864" y="535781"/>
                </a:lnTo>
                <a:lnTo>
                  <a:pt x="54755" y="491703"/>
                </a:lnTo>
                <a:lnTo>
                  <a:pt x="45392" y="443606"/>
                </a:lnTo>
                <a:lnTo>
                  <a:pt x="39774" y="391492"/>
                </a:lnTo>
                <a:lnTo>
                  <a:pt x="37901" y="335360"/>
                </a:lnTo>
                <a:lnTo>
                  <a:pt x="39793" y="278327"/>
                </a:lnTo>
                <a:lnTo>
                  <a:pt x="45466" y="225697"/>
                </a:lnTo>
                <a:lnTo>
                  <a:pt x="54923" y="177471"/>
                </a:lnTo>
                <a:lnTo>
                  <a:pt x="68163" y="133648"/>
                </a:lnTo>
                <a:lnTo>
                  <a:pt x="84701" y="95070"/>
                </a:lnTo>
                <a:lnTo>
                  <a:pt x="126224" y="36183"/>
                </a:lnTo>
                <a:lnTo>
                  <a:pt x="151208" y="15875"/>
                </a:lnTo>
                <a:lnTo>
                  <a:pt x="1446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033264" y="2364739"/>
            <a:ext cx="1079500" cy="0"/>
          </a:xfrm>
          <a:custGeom>
            <a:avLst/>
            <a:gdLst/>
            <a:ahLst/>
            <a:cxnLst/>
            <a:rect l="l" t="t" r="r" b="b"/>
            <a:pathLst>
              <a:path w="1079500" h="0">
                <a:moveTo>
                  <a:pt x="0" y="0"/>
                </a:moveTo>
                <a:lnTo>
                  <a:pt x="1079499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018659" y="1999488"/>
            <a:ext cx="109093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2077" sz="3450" spc="97">
                <a:latin typeface="Cambria Math"/>
                <a:cs typeface="Cambria Math"/>
              </a:rPr>
              <a:t>/</a:t>
            </a:r>
            <a:r>
              <a:rPr dirty="0" sz="1900" spc="65">
                <a:latin typeface="Cambria Math"/>
                <a:cs typeface="Cambria Math"/>
              </a:rPr>
              <a:t>$%$</a:t>
            </a:r>
            <a:r>
              <a:rPr dirty="0" baseline="12077" sz="3450" spc="97">
                <a:latin typeface="Cambria Math"/>
                <a:cs typeface="Cambria Math"/>
              </a:rPr>
              <a:t>01</a:t>
            </a:r>
            <a:r>
              <a:rPr dirty="0" sz="1900" spc="65">
                <a:latin typeface="Cambria Math"/>
                <a:cs typeface="Cambria Math"/>
              </a:rPr>
              <a:t>!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30825" y="2377439"/>
            <a:ext cx="47307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475">
                <a:latin typeface="Cambria Math"/>
                <a:cs typeface="Cambria Math"/>
              </a:rPr>
              <a:t>23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96659" y="1813560"/>
            <a:ext cx="19494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50">
                <a:latin typeface="Cambria Math"/>
                <a:cs typeface="Cambria Math"/>
              </a:rPr>
              <a:t>2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42564" y="2961132"/>
            <a:ext cx="32956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−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422300" y="3660140"/>
            <a:ext cx="100330" cy="0"/>
          </a:xfrm>
          <a:custGeom>
            <a:avLst/>
            <a:gdLst/>
            <a:ahLst/>
            <a:cxnLst/>
            <a:rect l="l" t="t" r="r" b="b"/>
            <a:pathLst>
              <a:path w="100329" h="0">
                <a:moveTo>
                  <a:pt x="0" y="0"/>
                </a:moveTo>
                <a:lnTo>
                  <a:pt x="99813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502666" y="2879089"/>
            <a:ext cx="0" cy="772160"/>
          </a:xfrm>
          <a:custGeom>
            <a:avLst/>
            <a:gdLst/>
            <a:ahLst/>
            <a:cxnLst/>
            <a:rect l="l" t="t" r="r" b="b"/>
            <a:pathLst>
              <a:path w="0" h="772160">
                <a:moveTo>
                  <a:pt x="0" y="0"/>
                </a:moveTo>
                <a:lnTo>
                  <a:pt x="0" y="772160"/>
                </a:lnTo>
              </a:path>
            </a:pathLst>
          </a:custGeom>
          <a:ln w="388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422300" y="2869564"/>
            <a:ext cx="100330" cy="0"/>
          </a:xfrm>
          <a:custGeom>
            <a:avLst/>
            <a:gdLst/>
            <a:ahLst/>
            <a:cxnLst/>
            <a:rect l="l" t="t" r="r" b="b"/>
            <a:pathLst>
              <a:path w="100329" h="0">
                <a:moveTo>
                  <a:pt x="0" y="0"/>
                </a:moveTo>
                <a:lnTo>
                  <a:pt x="99813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671474" y="3660140"/>
            <a:ext cx="100330" cy="0"/>
          </a:xfrm>
          <a:custGeom>
            <a:avLst/>
            <a:gdLst/>
            <a:ahLst/>
            <a:cxnLst/>
            <a:rect l="l" t="t" r="r" b="b"/>
            <a:pathLst>
              <a:path w="100329" h="0">
                <a:moveTo>
                  <a:pt x="0" y="0"/>
                </a:moveTo>
                <a:lnTo>
                  <a:pt x="99814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690921" y="2879089"/>
            <a:ext cx="0" cy="772160"/>
          </a:xfrm>
          <a:custGeom>
            <a:avLst/>
            <a:gdLst/>
            <a:ahLst/>
            <a:cxnLst/>
            <a:rect l="l" t="t" r="r" b="b"/>
            <a:pathLst>
              <a:path w="0" h="772160">
                <a:moveTo>
                  <a:pt x="0" y="0"/>
                </a:moveTo>
                <a:lnTo>
                  <a:pt x="0" y="772160"/>
                </a:lnTo>
              </a:path>
            </a:pathLst>
          </a:custGeom>
          <a:ln w="388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671474" y="2869564"/>
            <a:ext cx="100330" cy="0"/>
          </a:xfrm>
          <a:custGeom>
            <a:avLst/>
            <a:gdLst/>
            <a:ahLst/>
            <a:cxnLst/>
            <a:rect l="l" t="t" r="r" b="b"/>
            <a:pathLst>
              <a:path w="100329" h="0">
                <a:moveTo>
                  <a:pt x="0" y="0"/>
                </a:moveTo>
                <a:lnTo>
                  <a:pt x="99814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775964" y="3266440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 h="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767518" y="2787396"/>
            <a:ext cx="87820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2077" sz="3450" spc="525">
                <a:latin typeface="Cambria Math"/>
                <a:cs typeface="Cambria Math"/>
              </a:rPr>
              <a:t>/</a:t>
            </a:r>
            <a:r>
              <a:rPr dirty="0" sz="1900" spc="350">
                <a:latin typeface="Cambria Math"/>
                <a:cs typeface="Cambria Math"/>
              </a:rPr>
              <a:t>!"</a:t>
            </a:r>
            <a:r>
              <a:rPr dirty="0" sz="1900" spc="-5">
                <a:latin typeface="Cambria Math"/>
                <a:cs typeface="Cambria Math"/>
              </a:rPr>
              <a:t> </a:t>
            </a:r>
            <a:r>
              <a:rPr dirty="0" baseline="-23437" sz="4800">
                <a:latin typeface="Cambria Math"/>
                <a:cs typeface="Cambria Math"/>
              </a:rPr>
              <a:t>−</a:t>
            </a:r>
            <a:endParaRPr baseline="-23437" sz="48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757356" y="2929484"/>
            <a:ext cx="908050" cy="670560"/>
          </a:xfrm>
          <a:custGeom>
            <a:avLst/>
            <a:gdLst/>
            <a:ahLst/>
            <a:cxnLst/>
            <a:rect l="l" t="t" r="r" b="b"/>
            <a:pathLst>
              <a:path w="908050" h="670560">
                <a:moveTo>
                  <a:pt x="762840" y="0"/>
                </a:moveTo>
                <a:lnTo>
                  <a:pt x="756490" y="15875"/>
                </a:lnTo>
                <a:lnTo>
                  <a:pt x="781475" y="36183"/>
                </a:lnTo>
                <a:lnTo>
                  <a:pt x="803644" y="62582"/>
                </a:lnTo>
                <a:lnTo>
                  <a:pt x="839537" y="133648"/>
                </a:lnTo>
                <a:lnTo>
                  <a:pt x="852776" y="177472"/>
                </a:lnTo>
                <a:lnTo>
                  <a:pt x="862233" y="225698"/>
                </a:lnTo>
                <a:lnTo>
                  <a:pt x="867907" y="278327"/>
                </a:lnTo>
                <a:lnTo>
                  <a:pt x="869798" y="335360"/>
                </a:lnTo>
                <a:lnTo>
                  <a:pt x="867919" y="391492"/>
                </a:lnTo>
                <a:lnTo>
                  <a:pt x="862282" y="443607"/>
                </a:lnTo>
                <a:lnTo>
                  <a:pt x="852888" y="491703"/>
                </a:lnTo>
                <a:lnTo>
                  <a:pt x="839735" y="535781"/>
                </a:lnTo>
                <a:lnTo>
                  <a:pt x="823259" y="574749"/>
                </a:lnTo>
                <a:lnTo>
                  <a:pt x="781636" y="634082"/>
                </a:lnTo>
                <a:lnTo>
                  <a:pt x="756490" y="654447"/>
                </a:lnTo>
                <a:lnTo>
                  <a:pt x="762840" y="670322"/>
                </a:lnTo>
                <a:lnTo>
                  <a:pt x="822495" y="622598"/>
                </a:lnTo>
                <a:lnTo>
                  <a:pt x="847207" y="587945"/>
                </a:lnTo>
                <a:lnTo>
                  <a:pt x="868508" y="546100"/>
                </a:lnTo>
                <a:lnTo>
                  <a:pt x="885654" y="498822"/>
                </a:lnTo>
                <a:lnTo>
                  <a:pt x="897902" y="447873"/>
                </a:lnTo>
                <a:lnTo>
                  <a:pt x="905251" y="393253"/>
                </a:lnTo>
                <a:lnTo>
                  <a:pt x="907700" y="334962"/>
                </a:lnTo>
                <a:lnTo>
                  <a:pt x="905251" y="276374"/>
                </a:lnTo>
                <a:lnTo>
                  <a:pt x="897902" y="221655"/>
                </a:lnTo>
                <a:lnTo>
                  <a:pt x="885654" y="170805"/>
                </a:lnTo>
                <a:lnTo>
                  <a:pt x="868508" y="123825"/>
                </a:lnTo>
                <a:lnTo>
                  <a:pt x="847207" y="82302"/>
                </a:lnTo>
                <a:lnTo>
                  <a:pt x="822495" y="47824"/>
                </a:lnTo>
                <a:lnTo>
                  <a:pt x="794373" y="20389"/>
                </a:lnTo>
                <a:lnTo>
                  <a:pt x="762840" y="0"/>
                </a:lnTo>
                <a:close/>
              </a:path>
              <a:path w="908050" h="670560">
                <a:moveTo>
                  <a:pt x="144660" y="0"/>
                </a:moveTo>
                <a:lnTo>
                  <a:pt x="85153" y="47824"/>
                </a:lnTo>
                <a:lnTo>
                  <a:pt x="60479" y="82302"/>
                </a:lnTo>
                <a:lnTo>
                  <a:pt x="39190" y="123825"/>
                </a:lnTo>
                <a:lnTo>
                  <a:pt x="22044" y="170805"/>
                </a:lnTo>
                <a:lnTo>
                  <a:pt x="9797" y="221655"/>
                </a:lnTo>
                <a:lnTo>
                  <a:pt x="2449" y="276374"/>
                </a:lnTo>
                <a:lnTo>
                  <a:pt x="0" y="334962"/>
                </a:lnTo>
                <a:lnTo>
                  <a:pt x="2449" y="393253"/>
                </a:lnTo>
                <a:lnTo>
                  <a:pt x="9797" y="447873"/>
                </a:lnTo>
                <a:lnTo>
                  <a:pt x="22044" y="498822"/>
                </a:lnTo>
                <a:lnTo>
                  <a:pt x="39190" y="546100"/>
                </a:lnTo>
                <a:lnTo>
                  <a:pt x="60479" y="587945"/>
                </a:lnTo>
                <a:lnTo>
                  <a:pt x="85153" y="622598"/>
                </a:lnTo>
                <a:lnTo>
                  <a:pt x="113214" y="650057"/>
                </a:lnTo>
                <a:lnTo>
                  <a:pt x="144660" y="670322"/>
                </a:lnTo>
                <a:lnTo>
                  <a:pt x="151208" y="654447"/>
                </a:lnTo>
                <a:lnTo>
                  <a:pt x="125982" y="634082"/>
                </a:lnTo>
                <a:lnTo>
                  <a:pt x="103682" y="607516"/>
                </a:lnTo>
                <a:lnTo>
                  <a:pt x="67864" y="535781"/>
                </a:lnTo>
                <a:lnTo>
                  <a:pt x="54755" y="491703"/>
                </a:lnTo>
                <a:lnTo>
                  <a:pt x="45391" y="443607"/>
                </a:lnTo>
                <a:lnTo>
                  <a:pt x="39773" y="391492"/>
                </a:lnTo>
                <a:lnTo>
                  <a:pt x="37900" y="335360"/>
                </a:lnTo>
                <a:lnTo>
                  <a:pt x="39792" y="278327"/>
                </a:lnTo>
                <a:lnTo>
                  <a:pt x="45466" y="225698"/>
                </a:lnTo>
                <a:lnTo>
                  <a:pt x="54923" y="177472"/>
                </a:lnTo>
                <a:lnTo>
                  <a:pt x="68163" y="133648"/>
                </a:lnTo>
                <a:lnTo>
                  <a:pt x="84701" y="95070"/>
                </a:lnTo>
                <a:lnTo>
                  <a:pt x="126224" y="36183"/>
                </a:lnTo>
                <a:lnTo>
                  <a:pt x="151208" y="15875"/>
                </a:lnTo>
                <a:lnTo>
                  <a:pt x="1446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918964" y="3266440"/>
            <a:ext cx="584200" cy="0"/>
          </a:xfrm>
          <a:custGeom>
            <a:avLst/>
            <a:gdLst/>
            <a:ahLst/>
            <a:cxnLst/>
            <a:rect l="l" t="t" r="r" b="b"/>
            <a:pathLst>
              <a:path w="584200" h="0">
                <a:moveTo>
                  <a:pt x="0" y="0"/>
                </a:moveTo>
                <a:lnTo>
                  <a:pt x="5842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4908994" y="2898647"/>
            <a:ext cx="59055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2077" sz="3450" spc="434">
                <a:latin typeface="Cambria Math"/>
                <a:cs typeface="Cambria Math"/>
              </a:rPr>
              <a:t>/</a:t>
            </a:r>
            <a:r>
              <a:rPr dirty="0" sz="1900" spc="-200">
                <a:latin typeface="Cambria Math"/>
                <a:cs typeface="Cambria Math"/>
              </a:rPr>
              <a:t>$</a:t>
            </a:r>
            <a:r>
              <a:rPr dirty="0" sz="1900" spc="-345">
                <a:latin typeface="Cambria Math"/>
                <a:cs typeface="Cambria Math"/>
              </a:rPr>
              <a:t>%</a:t>
            </a:r>
            <a:r>
              <a:rPr dirty="0" sz="1900" spc="-65">
                <a:latin typeface="Cambria Math"/>
                <a:cs typeface="Cambria Math"/>
              </a:rPr>
              <a:t>$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687314" y="2715767"/>
            <a:ext cx="607695" cy="758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345"/>
              </a:lnSpc>
              <a:spcBef>
                <a:spcPts val="100"/>
              </a:spcBef>
            </a:pPr>
            <a:r>
              <a:rPr dirty="0" sz="2300" spc="50">
                <a:latin typeface="Cambria Math"/>
                <a:cs typeface="Cambria Math"/>
              </a:rPr>
              <a:t>2</a:t>
            </a:r>
            <a:endParaRPr sz="2300">
              <a:latin typeface="Cambria Math"/>
              <a:cs typeface="Cambria Math"/>
            </a:endParaRPr>
          </a:p>
          <a:p>
            <a:pPr marL="290830">
              <a:lnSpc>
                <a:spcPts val="3425"/>
              </a:lnSpc>
            </a:pPr>
            <a:r>
              <a:rPr dirty="0" sz="3200">
                <a:latin typeface="Cambria Math"/>
                <a:cs typeface="Cambria Math"/>
              </a:rPr>
              <a:t>−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407086" y="2929484"/>
            <a:ext cx="783590" cy="670560"/>
          </a:xfrm>
          <a:custGeom>
            <a:avLst/>
            <a:gdLst/>
            <a:ahLst/>
            <a:cxnLst/>
            <a:rect l="l" t="t" r="r" b="b"/>
            <a:pathLst>
              <a:path w="783590" h="670560">
                <a:moveTo>
                  <a:pt x="638126" y="0"/>
                </a:moveTo>
                <a:lnTo>
                  <a:pt x="631776" y="15875"/>
                </a:lnTo>
                <a:lnTo>
                  <a:pt x="656761" y="36183"/>
                </a:lnTo>
                <a:lnTo>
                  <a:pt x="678930" y="62582"/>
                </a:lnTo>
                <a:lnTo>
                  <a:pt x="714823" y="133648"/>
                </a:lnTo>
                <a:lnTo>
                  <a:pt x="728062" y="177472"/>
                </a:lnTo>
                <a:lnTo>
                  <a:pt x="737519" y="225698"/>
                </a:lnTo>
                <a:lnTo>
                  <a:pt x="743193" y="278327"/>
                </a:lnTo>
                <a:lnTo>
                  <a:pt x="745084" y="335360"/>
                </a:lnTo>
                <a:lnTo>
                  <a:pt x="743205" y="391492"/>
                </a:lnTo>
                <a:lnTo>
                  <a:pt x="737568" y="443607"/>
                </a:lnTo>
                <a:lnTo>
                  <a:pt x="728174" y="491703"/>
                </a:lnTo>
                <a:lnTo>
                  <a:pt x="715021" y="535781"/>
                </a:lnTo>
                <a:lnTo>
                  <a:pt x="698545" y="574749"/>
                </a:lnTo>
                <a:lnTo>
                  <a:pt x="656922" y="634082"/>
                </a:lnTo>
                <a:lnTo>
                  <a:pt x="631776" y="654447"/>
                </a:lnTo>
                <a:lnTo>
                  <a:pt x="638126" y="670322"/>
                </a:lnTo>
                <a:lnTo>
                  <a:pt x="697781" y="622598"/>
                </a:lnTo>
                <a:lnTo>
                  <a:pt x="722493" y="587945"/>
                </a:lnTo>
                <a:lnTo>
                  <a:pt x="743794" y="546100"/>
                </a:lnTo>
                <a:lnTo>
                  <a:pt x="760940" y="498822"/>
                </a:lnTo>
                <a:lnTo>
                  <a:pt x="773188" y="447873"/>
                </a:lnTo>
                <a:lnTo>
                  <a:pt x="780537" y="393253"/>
                </a:lnTo>
                <a:lnTo>
                  <a:pt x="782986" y="334962"/>
                </a:lnTo>
                <a:lnTo>
                  <a:pt x="780537" y="276374"/>
                </a:lnTo>
                <a:lnTo>
                  <a:pt x="773188" y="221655"/>
                </a:lnTo>
                <a:lnTo>
                  <a:pt x="760940" y="170805"/>
                </a:lnTo>
                <a:lnTo>
                  <a:pt x="743794" y="123825"/>
                </a:lnTo>
                <a:lnTo>
                  <a:pt x="722493" y="82302"/>
                </a:lnTo>
                <a:lnTo>
                  <a:pt x="697781" y="47824"/>
                </a:lnTo>
                <a:lnTo>
                  <a:pt x="669659" y="20389"/>
                </a:lnTo>
                <a:lnTo>
                  <a:pt x="638126" y="0"/>
                </a:lnTo>
                <a:close/>
              </a:path>
              <a:path w="783590" h="670560">
                <a:moveTo>
                  <a:pt x="144660" y="0"/>
                </a:moveTo>
                <a:lnTo>
                  <a:pt x="85153" y="47824"/>
                </a:lnTo>
                <a:lnTo>
                  <a:pt x="60479" y="82302"/>
                </a:lnTo>
                <a:lnTo>
                  <a:pt x="39190" y="123825"/>
                </a:lnTo>
                <a:lnTo>
                  <a:pt x="22044" y="170805"/>
                </a:lnTo>
                <a:lnTo>
                  <a:pt x="9797" y="221655"/>
                </a:lnTo>
                <a:lnTo>
                  <a:pt x="2449" y="276374"/>
                </a:lnTo>
                <a:lnTo>
                  <a:pt x="0" y="334962"/>
                </a:lnTo>
                <a:lnTo>
                  <a:pt x="2449" y="393253"/>
                </a:lnTo>
                <a:lnTo>
                  <a:pt x="9797" y="447873"/>
                </a:lnTo>
                <a:lnTo>
                  <a:pt x="22044" y="498822"/>
                </a:lnTo>
                <a:lnTo>
                  <a:pt x="39190" y="546100"/>
                </a:lnTo>
                <a:lnTo>
                  <a:pt x="60479" y="587945"/>
                </a:lnTo>
                <a:lnTo>
                  <a:pt x="85153" y="622598"/>
                </a:lnTo>
                <a:lnTo>
                  <a:pt x="113214" y="650057"/>
                </a:lnTo>
                <a:lnTo>
                  <a:pt x="144660" y="670322"/>
                </a:lnTo>
                <a:lnTo>
                  <a:pt x="151208" y="654447"/>
                </a:lnTo>
                <a:lnTo>
                  <a:pt x="125982" y="634082"/>
                </a:lnTo>
                <a:lnTo>
                  <a:pt x="103682" y="607516"/>
                </a:lnTo>
                <a:lnTo>
                  <a:pt x="67864" y="535781"/>
                </a:lnTo>
                <a:lnTo>
                  <a:pt x="54755" y="491703"/>
                </a:lnTo>
                <a:lnTo>
                  <a:pt x="45391" y="443607"/>
                </a:lnTo>
                <a:lnTo>
                  <a:pt x="39773" y="391492"/>
                </a:lnTo>
                <a:lnTo>
                  <a:pt x="37900" y="335360"/>
                </a:lnTo>
                <a:lnTo>
                  <a:pt x="39792" y="278327"/>
                </a:lnTo>
                <a:lnTo>
                  <a:pt x="45466" y="225698"/>
                </a:lnTo>
                <a:lnTo>
                  <a:pt x="54922" y="177472"/>
                </a:lnTo>
                <a:lnTo>
                  <a:pt x="68162" y="133648"/>
                </a:lnTo>
                <a:lnTo>
                  <a:pt x="84701" y="95070"/>
                </a:lnTo>
                <a:lnTo>
                  <a:pt x="126224" y="36183"/>
                </a:lnTo>
                <a:lnTo>
                  <a:pt x="151208" y="15875"/>
                </a:lnTo>
                <a:lnTo>
                  <a:pt x="1446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569964" y="3266440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 h="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6644005" y="2837688"/>
            <a:ext cx="29591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130">
                <a:latin typeface="Cambria Math"/>
                <a:cs typeface="Cambria Math"/>
              </a:rPr>
              <a:t>1</a:t>
            </a:r>
            <a:r>
              <a:rPr dirty="0" baseline="-14619" sz="2850" spc="247">
                <a:latin typeface="Cambria Math"/>
                <a:cs typeface="Cambria Math"/>
              </a:rPr>
              <a:t>!</a:t>
            </a:r>
            <a:endParaRPr baseline="-14619" sz="285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769550" y="3279647"/>
            <a:ext cx="326199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14120" algn="l"/>
                <a:tab pos="2801620" algn="l"/>
              </a:tabLst>
            </a:pPr>
            <a:r>
              <a:rPr dirty="0" sz="2300" spc="475">
                <a:latin typeface="Cambria Math"/>
                <a:cs typeface="Cambria Math"/>
              </a:rPr>
              <a:t>2</a:t>
            </a:r>
            <a:r>
              <a:rPr dirty="0" sz="2300" spc="459">
                <a:latin typeface="Cambria Math"/>
                <a:cs typeface="Cambria Math"/>
              </a:rPr>
              <a:t>3</a:t>
            </a:r>
            <a:r>
              <a:rPr dirty="0" sz="2300">
                <a:latin typeface="Cambria Math"/>
                <a:cs typeface="Cambria Math"/>
              </a:rPr>
              <a:t>	</a:t>
            </a:r>
            <a:r>
              <a:rPr dirty="0" sz="2300" spc="475">
                <a:latin typeface="Cambria Math"/>
                <a:cs typeface="Cambria Math"/>
              </a:rPr>
              <a:t>2</a:t>
            </a:r>
            <a:r>
              <a:rPr dirty="0" sz="2300" spc="459">
                <a:latin typeface="Cambria Math"/>
                <a:cs typeface="Cambria Math"/>
              </a:rPr>
              <a:t>3</a:t>
            </a:r>
            <a:r>
              <a:rPr dirty="0" sz="2300">
                <a:latin typeface="Cambria Math"/>
                <a:cs typeface="Cambria Math"/>
              </a:rPr>
              <a:t>	</a:t>
            </a:r>
            <a:r>
              <a:rPr dirty="0" sz="2300" spc="475">
                <a:latin typeface="Cambria Math"/>
                <a:cs typeface="Cambria Math"/>
              </a:rPr>
              <a:t>23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212328" y="2715767"/>
            <a:ext cx="19494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50">
                <a:latin typeface="Cambria Math"/>
                <a:cs typeface="Cambria Math"/>
              </a:rPr>
              <a:t>2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516030" y="3749572"/>
            <a:ext cx="1267460" cy="376555"/>
          </a:xfrm>
          <a:custGeom>
            <a:avLst/>
            <a:gdLst/>
            <a:ahLst/>
            <a:cxnLst/>
            <a:rect l="l" t="t" r="r" b="b"/>
            <a:pathLst>
              <a:path w="1267460" h="376554">
                <a:moveTo>
                  <a:pt x="1147357" y="0"/>
                </a:moveTo>
                <a:lnTo>
                  <a:pt x="1141999" y="15279"/>
                </a:lnTo>
                <a:lnTo>
                  <a:pt x="1163790" y="24736"/>
                </a:lnTo>
                <a:lnTo>
                  <a:pt x="1182530" y="37826"/>
                </a:lnTo>
                <a:lnTo>
                  <a:pt x="1210857" y="74909"/>
                </a:lnTo>
                <a:lnTo>
                  <a:pt x="1227526" y="124940"/>
                </a:lnTo>
                <a:lnTo>
                  <a:pt x="1233082" y="186333"/>
                </a:lnTo>
                <a:lnTo>
                  <a:pt x="1231687" y="219533"/>
                </a:lnTo>
                <a:lnTo>
                  <a:pt x="1220525" y="276783"/>
                </a:lnTo>
                <a:lnTo>
                  <a:pt x="1198126" y="321493"/>
                </a:lnTo>
                <a:lnTo>
                  <a:pt x="1164044" y="351655"/>
                </a:lnTo>
                <a:lnTo>
                  <a:pt x="1142594" y="361156"/>
                </a:lnTo>
                <a:lnTo>
                  <a:pt x="1147357" y="376435"/>
                </a:lnTo>
                <a:lnTo>
                  <a:pt x="1198702" y="352350"/>
                </a:lnTo>
                <a:lnTo>
                  <a:pt x="1236455" y="310653"/>
                </a:lnTo>
                <a:lnTo>
                  <a:pt x="1259672" y="254818"/>
                </a:lnTo>
                <a:lnTo>
                  <a:pt x="1267411" y="188316"/>
                </a:lnTo>
                <a:lnTo>
                  <a:pt x="1265470" y="153807"/>
                </a:lnTo>
                <a:lnTo>
                  <a:pt x="1249943" y="92638"/>
                </a:lnTo>
                <a:lnTo>
                  <a:pt x="1219148" y="42843"/>
                </a:lnTo>
                <a:lnTo>
                  <a:pt x="1174648" y="9853"/>
                </a:lnTo>
                <a:lnTo>
                  <a:pt x="1147357" y="0"/>
                </a:lnTo>
                <a:close/>
              </a:path>
              <a:path w="1267460" h="376554">
                <a:moveTo>
                  <a:pt x="120054" y="0"/>
                </a:moveTo>
                <a:lnTo>
                  <a:pt x="68833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3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3"/>
                </a:lnTo>
                <a:lnTo>
                  <a:pt x="35724" y="154216"/>
                </a:lnTo>
                <a:lnTo>
                  <a:pt x="46887" y="98505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618108" y="3634740"/>
            <a:ext cx="203263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1030605" algn="l"/>
              </a:tabLst>
            </a:pPr>
            <a:r>
              <a:rPr dirty="0" sz="3200">
                <a:latin typeface="Cambria Math"/>
                <a:cs typeface="Cambria Math"/>
              </a:rPr>
              <a:t>Δ𝑄	𝐷  →</a:t>
            </a:r>
            <a:r>
              <a:rPr dirty="0" sz="3200" spc="-340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𝑖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919158" y="3634740"/>
            <a:ext cx="3999229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>
                <a:latin typeface="Calibri"/>
                <a:cs typeface="Calibri"/>
              </a:rPr>
              <a:t>be </a:t>
            </a:r>
            <a:r>
              <a:rPr dirty="0" sz="3200" spc="-10">
                <a:latin typeface="Calibri"/>
                <a:cs typeface="Calibri"/>
              </a:rPr>
              <a:t>derived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similarly.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18108" y="4448555"/>
            <a:ext cx="539496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In </a:t>
            </a:r>
            <a:r>
              <a:rPr dirty="0" sz="3200" spc="-30" b="1">
                <a:latin typeface="Calibri"/>
                <a:cs typeface="Calibri"/>
              </a:rPr>
              <a:t>summary, </a:t>
            </a:r>
            <a:r>
              <a:rPr dirty="0" sz="3200" spc="-15" b="1">
                <a:latin typeface="Calibri"/>
                <a:cs typeface="Calibri"/>
              </a:rPr>
              <a:t>we </a:t>
            </a:r>
            <a:r>
              <a:rPr dirty="0" sz="3200" spc="-10" b="1">
                <a:latin typeface="Calibri"/>
                <a:cs typeface="Calibri"/>
              </a:rPr>
              <a:t>can compute: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783187" y="5288190"/>
            <a:ext cx="1267460" cy="376555"/>
          </a:xfrm>
          <a:custGeom>
            <a:avLst/>
            <a:gdLst/>
            <a:ahLst/>
            <a:cxnLst/>
            <a:rect l="l" t="t" r="r" b="b"/>
            <a:pathLst>
              <a:path w="1267460" h="376554">
                <a:moveTo>
                  <a:pt x="1147357" y="0"/>
                </a:moveTo>
                <a:lnTo>
                  <a:pt x="1142000" y="15279"/>
                </a:lnTo>
                <a:lnTo>
                  <a:pt x="1163791" y="24736"/>
                </a:lnTo>
                <a:lnTo>
                  <a:pt x="1182531" y="37826"/>
                </a:lnTo>
                <a:lnTo>
                  <a:pt x="1210857" y="74909"/>
                </a:lnTo>
                <a:lnTo>
                  <a:pt x="1227526" y="124941"/>
                </a:lnTo>
                <a:lnTo>
                  <a:pt x="1233082" y="186333"/>
                </a:lnTo>
                <a:lnTo>
                  <a:pt x="1231687" y="219533"/>
                </a:lnTo>
                <a:lnTo>
                  <a:pt x="1220525" y="276782"/>
                </a:lnTo>
                <a:lnTo>
                  <a:pt x="1198126" y="321493"/>
                </a:lnTo>
                <a:lnTo>
                  <a:pt x="1164044" y="351655"/>
                </a:lnTo>
                <a:lnTo>
                  <a:pt x="1142594" y="361156"/>
                </a:lnTo>
                <a:lnTo>
                  <a:pt x="1147357" y="376435"/>
                </a:lnTo>
                <a:lnTo>
                  <a:pt x="1198703" y="352350"/>
                </a:lnTo>
                <a:lnTo>
                  <a:pt x="1236456" y="310653"/>
                </a:lnTo>
                <a:lnTo>
                  <a:pt x="1259673" y="254818"/>
                </a:lnTo>
                <a:lnTo>
                  <a:pt x="1267413" y="188316"/>
                </a:lnTo>
                <a:lnTo>
                  <a:pt x="1265472" y="153807"/>
                </a:lnTo>
                <a:lnTo>
                  <a:pt x="1249943" y="92639"/>
                </a:lnTo>
                <a:lnTo>
                  <a:pt x="1219148" y="42843"/>
                </a:lnTo>
                <a:lnTo>
                  <a:pt x="1174649" y="9853"/>
                </a:lnTo>
                <a:lnTo>
                  <a:pt x="1147357" y="0"/>
                </a:lnTo>
                <a:close/>
              </a:path>
              <a:path w="1267460" h="376554">
                <a:moveTo>
                  <a:pt x="120055" y="0"/>
                </a:moveTo>
                <a:lnTo>
                  <a:pt x="68833" y="24134"/>
                </a:lnTo>
                <a:lnTo>
                  <a:pt x="31055" y="65980"/>
                </a:lnTo>
                <a:lnTo>
                  <a:pt x="7763" y="121915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3"/>
                </a:lnTo>
                <a:lnTo>
                  <a:pt x="92683" y="366594"/>
                </a:lnTo>
                <a:lnTo>
                  <a:pt x="120055" y="376435"/>
                </a:lnTo>
                <a:lnTo>
                  <a:pt x="124818" y="361156"/>
                </a:lnTo>
                <a:lnTo>
                  <a:pt x="103367" y="351655"/>
                </a:lnTo>
                <a:lnTo>
                  <a:pt x="84857" y="338435"/>
                </a:lnTo>
                <a:lnTo>
                  <a:pt x="56654" y="300831"/>
                </a:lnTo>
                <a:lnTo>
                  <a:pt x="39911" y="249683"/>
                </a:lnTo>
                <a:lnTo>
                  <a:pt x="34330" y="186333"/>
                </a:lnTo>
                <a:lnTo>
                  <a:pt x="35725" y="154216"/>
                </a:lnTo>
                <a:lnTo>
                  <a:pt x="46887" y="98505"/>
                </a:lnTo>
                <a:lnTo>
                  <a:pt x="69323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135290" y="5288190"/>
            <a:ext cx="1235710" cy="376555"/>
          </a:xfrm>
          <a:custGeom>
            <a:avLst/>
            <a:gdLst/>
            <a:ahLst/>
            <a:cxnLst/>
            <a:rect l="l" t="t" r="r" b="b"/>
            <a:pathLst>
              <a:path w="1235709" h="376554">
                <a:moveTo>
                  <a:pt x="1115162" y="0"/>
                </a:moveTo>
                <a:lnTo>
                  <a:pt x="1109806" y="15279"/>
                </a:lnTo>
                <a:lnTo>
                  <a:pt x="1131596" y="24736"/>
                </a:lnTo>
                <a:lnTo>
                  <a:pt x="1150336" y="37826"/>
                </a:lnTo>
                <a:lnTo>
                  <a:pt x="1178662" y="74909"/>
                </a:lnTo>
                <a:lnTo>
                  <a:pt x="1195331" y="124941"/>
                </a:lnTo>
                <a:lnTo>
                  <a:pt x="1200887" y="186333"/>
                </a:lnTo>
                <a:lnTo>
                  <a:pt x="1199492" y="219533"/>
                </a:lnTo>
                <a:lnTo>
                  <a:pt x="1188330" y="276782"/>
                </a:lnTo>
                <a:lnTo>
                  <a:pt x="1165932" y="321493"/>
                </a:lnTo>
                <a:lnTo>
                  <a:pt x="1131850" y="351655"/>
                </a:lnTo>
                <a:lnTo>
                  <a:pt x="1110400" y="361156"/>
                </a:lnTo>
                <a:lnTo>
                  <a:pt x="1115162" y="376435"/>
                </a:lnTo>
                <a:lnTo>
                  <a:pt x="1166509" y="352350"/>
                </a:lnTo>
                <a:lnTo>
                  <a:pt x="1204262" y="310653"/>
                </a:lnTo>
                <a:lnTo>
                  <a:pt x="1227479" y="254818"/>
                </a:lnTo>
                <a:lnTo>
                  <a:pt x="1235218" y="188316"/>
                </a:lnTo>
                <a:lnTo>
                  <a:pt x="1233277" y="153807"/>
                </a:lnTo>
                <a:lnTo>
                  <a:pt x="1217749" y="92639"/>
                </a:lnTo>
                <a:lnTo>
                  <a:pt x="1186954" y="42843"/>
                </a:lnTo>
                <a:lnTo>
                  <a:pt x="1142454" y="9853"/>
                </a:lnTo>
                <a:lnTo>
                  <a:pt x="1115162" y="0"/>
                </a:lnTo>
                <a:close/>
              </a:path>
              <a:path w="1235709" h="376554">
                <a:moveTo>
                  <a:pt x="120054" y="0"/>
                </a:moveTo>
                <a:lnTo>
                  <a:pt x="68833" y="24134"/>
                </a:lnTo>
                <a:lnTo>
                  <a:pt x="31055" y="65980"/>
                </a:lnTo>
                <a:lnTo>
                  <a:pt x="7763" y="121915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3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3"/>
                </a:lnTo>
                <a:lnTo>
                  <a:pt x="35724" y="154216"/>
                </a:lnTo>
                <a:lnTo>
                  <a:pt x="46887" y="98505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783418" y="5063680"/>
            <a:ext cx="7786370" cy="838835"/>
          </a:xfrm>
          <a:prstGeom prst="rect">
            <a:avLst/>
          </a:prstGeom>
          <a:ln w="38100">
            <a:solidFill>
              <a:srgbClr val="0000FF"/>
            </a:solidFill>
          </a:ln>
        </p:spPr>
        <p:txBody>
          <a:bodyPr wrap="square" lIns="0" tIns="103505" rIns="0" bIns="0" rtlCol="0" vert="horz">
            <a:spAutoFit/>
          </a:bodyPr>
          <a:lstStyle/>
          <a:p>
            <a:pPr marL="190500">
              <a:lnSpc>
                <a:spcPct val="100000"/>
              </a:lnSpc>
              <a:spcBef>
                <a:spcPts val="815"/>
              </a:spcBef>
              <a:tabLst>
                <a:tab pos="4113529" algn="l"/>
                <a:tab pos="5374005" algn="l"/>
                <a:tab pos="6465570" algn="l"/>
              </a:tabLst>
            </a:pPr>
            <a:r>
              <a:rPr dirty="0" sz="3200" spc="15">
                <a:latin typeface="Cambria Math"/>
                <a:cs typeface="Cambria Math"/>
              </a:rPr>
              <a:t>Δ𝑄(𝐷  </a:t>
            </a:r>
            <a:r>
              <a:rPr dirty="0" sz="3200">
                <a:latin typeface="Cambria Math"/>
                <a:cs typeface="Cambria Math"/>
              </a:rPr>
              <a:t>→ 𝑖  → </a:t>
            </a:r>
            <a:r>
              <a:rPr dirty="0" sz="3200" spc="60">
                <a:latin typeface="Cambria Math"/>
                <a:cs typeface="Cambria Math"/>
              </a:rPr>
              <a:t>𝐶)</a:t>
            </a:r>
            <a:r>
              <a:rPr dirty="0" sz="3200" spc="-320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17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Δ𝑄	𝐷</a:t>
            </a:r>
            <a:r>
              <a:rPr dirty="0" sz="3200" spc="27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→</a:t>
            </a:r>
            <a:r>
              <a:rPr dirty="0" sz="3200" spc="180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𝑖	+ Δ𝑄	𝑖  →</a:t>
            </a:r>
            <a:r>
              <a:rPr dirty="0" sz="3200" spc="-33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𝐶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33</a:t>
            </a:fld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4424"/>
            <a:ext cx="6925056" cy="5547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56463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30">
                <a:solidFill>
                  <a:srgbClr val="008000"/>
                </a:solidFill>
              </a:rPr>
              <a:t>Iterate </a:t>
            </a:r>
            <a:r>
              <a:rPr dirty="0" spc="-10">
                <a:solidFill>
                  <a:srgbClr val="008000"/>
                </a:solidFill>
              </a:rPr>
              <a:t>until </a:t>
            </a:r>
            <a:r>
              <a:rPr dirty="0" spc="-5">
                <a:solidFill>
                  <a:srgbClr val="008000"/>
                </a:solidFill>
              </a:rPr>
              <a:t>no node </a:t>
            </a:r>
            <a:r>
              <a:rPr dirty="0" spc="-10">
                <a:solidFill>
                  <a:srgbClr val="008000"/>
                </a:solidFill>
              </a:rPr>
              <a:t>moves </a:t>
            </a:r>
            <a:r>
              <a:rPr dirty="0" spc="-15">
                <a:solidFill>
                  <a:srgbClr val="008000"/>
                </a:solidFill>
              </a:rPr>
              <a:t>to </a:t>
            </a:r>
            <a:r>
              <a:rPr dirty="0">
                <a:solidFill>
                  <a:srgbClr val="008000"/>
                </a:solidFill>
              </a:rPr>
              <a:t>a </a:t>
            </a:r>
            <a:r>
              <a:rPr dirty="0" spc="-10">
                <a:solidFill>
                  <a:srgbClr val="008000"/>
                </a:solidFill>
              </a:rPr>
              <a:t>new  </a:t>
            </a:r>
            <a:r>
              <a:rPr dirty="0" spc="-5">
                <a:solidFill>
                  <a:srgbClr val="008000"/>
                </a:solidFill>
              </a:rPr>
              <a:t>community</a:t>
            </a:r>
            <a:r>
              <a:rPr dirty="0" spc="-5" b="0">
                <a:latin typeface="Calibri"/>
                <a:cs typeface="Calibri"/>
              </a:rPr>
              <a:t>:</a:t>
            </a:r>
          </a:p>
        </p:txBody>
      </p:sp>
      <p:sp>
        <p:nvSpPr>
          <p:cNvPr id="4" name="object 4"/>
          <p:cNvSpPr/>
          <p:nvPr/>
        </p:nvSpPr>
        <p:spPr>
          <a:xfrm>
            <a:off x="4030864" y="3457373"/>
            <a:ext cx="1882139" cy="329565"/>
          </a:xfrm>
          <a:custGeom>
            <a:avLst/>
            <a:gdLst/>
            <a:ahLst/>
            <a:cxnLst/>
            <a:rect l="l" t="t" r="r" b="b"/>
            <a:pathLst>
              <a:path w="1882139" h="329564">
                <a:moveTo>
                  <a:pt x="1776891" y="0"/>
                </a:moveTo>
                <a:lnTo>
                  <a:pt x="1772203" y="13370"/>
                </a:lnTo>
                <a:lnTo>
                  <a:pt x="1791270" y="21644"/>
                </a:lnTo>
                <a:lnTo>
                  <a:pt x="1807667" y="33099"/>
                </a:lnTo>
                <a:lnTo>
                  <a:pt x="1832453" y="65547"/>
                </a:lnTo>
                <a:lnTo>
                  <a:pt x="1847039" y="109324"/>
                </a:lnTo>
                <a:lnTo>
                  <a:pt x="1851901" y="163041"/>
                </a:lnTo>
                <a:lnTo>
                  <a:pt x="1850680" y="192092"/>
                </a:lnTo>
                <a:lnTo>
                  <a:pt x="1840913" y="242185"/>
                </a:lnTo>
                <a:lnTo>
                  <a:pt x="1821314" y="281307"/>
                </a:lnTo>
                <a:lnTo>
                  <a:pt x="1791493" y="307699"/>
                </a:lnTo>
                <a:lnTo>
                  <a:pt x="1772724" y="316011"/>
                </a:lnTo>
                <a:lnTo>
                  <a:pt x="1776891" y="329382"/>
                </a:lnTo>
                <a:lnTo>
                  <a:pt x="1821818" y="308306"/>
                </a:lnTo>
                <a:lnTo>
                  <a:pt x="1854852" y="271821"/>
                </a:lnTo>
                <a:lnTo>
                  <a:pt x="1875167" y="222966"/>
                </a:lnTo>
                <a:lnTo>
                  <a:pt x="1881939" y="164777"/>
                </a:lnTo>
                <a:lnTo>
                  <a:pt x="1880241" y="134581"/>
                </a:lnTo>
                <a:lnTo>
                  <a:pt x="1866654" y="81059"/>
                </a:lnTo>
                <a:lnTo>
                  <a:pt x="1839708" y="37488"/>
                </a:lnTo>
                <a:lnTo>
                  <a:pt x="1800771" y="8621"/>
                </a:lnTo>
                <a:lnTo>
                  <a:pt x="1776891" y="0"/>
                </a:lnTo>
                <a:close/>
              </a:path>
              <a:path w="1882139" h="329564">
                <a:moveTo>
                  <a:pt x="105048" y="0"/>
                </a:moveTo>
                <a:lnTo>
                  <a:pt x="60229" y="21117"/>
                </a:lnTo>
                <a:lnTo>
                  <a:pt x="27174" y="57732"/>
                </a:lnTo>
                <a:lnTo>
                  <a:pt x="6793" y="106676"/>
                </a:lnTo>
                <a:lnTo>
                  <a:pt x="0" y="164777"/>
                </a:lnTo>
                <a:lnTo>
                  <a:pt x="1692" y="195038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70"/>
                </a:lnTo>
                <a:lnTo>
                  <a:pt x="105048" y="329382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40"/>
                </a:lnTo>
                <a:lnTo>
                  <a:pt x="41025" y="86193"/>
                </a:lnTo>
                <a:lnTo>
                  <a:pt x="60657" y="47733"/>
                </a:lnTo>
                <a:lnTo>
                  <a:pt x="90739" y="21644"/>
                </a:lnTo>
                <a:lnTo>
                  <a:pt x="109735" y="13370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013913" y="3965373"/>
            <a:ext cx="1882139" cy="329565"/>
          </a:xfrm>
          <a:custGeom>
            <a:avLst/>
            <a:gdLst/>
            <a:ahLst/>
            <a:cxnLst/>
            <a:rect l="l" t="t" r="r" b="b"/>
            <a:pathLst>
              <a:path w="1882139" h="329564">
                <a:moveTo>
                  <a:pt x="1776892" y="0"/>
                </a:moveTo>
                <a:lnTo>
                  <a:pt x="1772203" y="13370"/>
                </a:lnTo>
                <a:lnTo>
                  <a:pt x="1791271" y="21645"/>
                </a:lnTo>
                <a:lnTo>
                  <a:pt x="1807668" y="33099"/>
                </a:lnTo>
                <a:lnTo>
                  <a:pt x="1832455" y="65547"/>
                </a:lnTo>
                <a:lnTo>
                  <a:pt x="1847039" y="109324"/>
                </a:lnTo>
                <a:lnTo>
                  <a:pt x="1851901" y="163041"/>
                </a:lnTo>
                <a:lnTo>
                  <a:pt x="1850680" y="192092"/>
                </a:lnTo>
                <a:lnTo>
                  <a:pt x="1840913" y="242185"/>
                </a:lnTo>
                <a:lnTo>
                  <a:pt x="1821314" y="281307"/>
                </a:lnTo>
                <a:lnTo>
                  <a:pt x="1791493" y="307699"/>
                </a:lnTo>
                <a:lnTo>
                  <a:pt x="1772724" y="316012"/>
                </a:lnTo>
                <a:lnTo>
                  <a:pt x="1776892" y="329382"/>
                </a:lnTo>
                <a:lnTo>
                  <a:pt x="1821819" y="308307"/>
                </a:lnTo>
                <a:lnTo>
                  <a:pt x="1854852" y="271823"/>
                </a:lnTo>
                <a:lnTo>
                  <a:pt x="1875167" y="222966"/>
                </a:lnTo>
                <a:lnTo>
                  <a:pt x="1881939" y="164778"/>
                </a:lnTo>
                <a:lnTo>
                  <a:pt x="1880241" y="134582"/>
                </a:lnTo>
                <a:lnTo>
                  <a:pt x="1866654" y="81059"/>
                </a:lnTo>
                <a:lnTo>
                  <a:pt x="1839709" y="37488"/>
                </a:lnTo>
                <a:lnTo>
                  <a:pt x="1800772" y="8622"/>
                </a:lnTo>
                <a:lnTo>
                  <a:pt x="1776892" y="0"/>
                </a:lnTo>
                <a:close/>
              </a:path>
              <a:path w="1882139" h="329564">
                <a:moveTo>
                  <a:pt x="105048" y="0"/>
                </a:moveTo>
                <a:lnTo>
                  <a:pt x="60229" y="21118"/>
                </a:lnTo>
                <a:lnTo>
                  <a:pt x="27174" y="57732"/>
                </a:lnTo>
                <a:lnTo>
                  <a:pt x="6793" y="106676"/>
                </a:lnTo>
                <a:lnTo>
                  <a:pt x="0" y="164778"/>
                </a:lnTo>
                <a:lnTo>
                  <a:pt x="1693" y="195039"/>
                </a:lnTo>
                <a:lnTo>
                  <a:pt x="15236" y="248561"/>
                </a:lnTo>
                <a:lnTo>
                  <a:pt x="42116" y="291991"/>
                </a:lnTo>
                <a:lnTo>
                  <a:pt x="81097" y="320771"/>
                </a:lnTo>
                <a:lnTo>
                  <a:pt x="105048" y="329382"/>
                </a:lnTo>
                <a:lnTo>
                  <a:pt x="109214" y="316012"/>
                </a:lnTo>
                <a:lnTo>
                  <a:pt x="90446" y="307699"/>
                </a:lnTo>
                <a:lnTo>
                  <a:pt x="74249" y="296131"/>
                </a:lnTo>
                <a:lnTo>
                  <a:pt x="49571" y="263227"/>
                </a:lnTo>
                <a:lnTo>
                  <a:pt x="34922" y="218473"/>
                </a:lnTo>
                <a:lnTo>
                  <a:pt x="30039" y="163041"/>
                </a:lnTo>
                <a:lnTo>
                  <a:pt x="31260" y="134940"/>
                </a:lnTo>
                <a:lnTo>
                  <a:pt x="41026" y="86193"/>
                </a:lnTo>
                <a:lnTo>
                  <a:pt x="60657" y="47733"/>
                </a:lnTo>
                <a:lnTo>
                  <a:pt x="90739" y="21645"/>
                </a:lnTo>
                <a:lnTo>
                  <a:pt x="109736" y="13370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56563" y="2414523"/>
            <a:ext cx="7061834" cy="321310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287020" marR="5080" indent="-274320">
              <a:lnSpc>
                <a:spcPts val="3310"/>
              </a:lnSpc>
              <a:spcBef>
                <a:spcPts val="2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For </a:t>
            </a:r>
            <a:r>
              <a:rPr dirty="0" sz="2800" spc="-5">
                <a:latin typeface="Calibri"/>
                <a:cs typeface="Calibri"/>
              </a:rPr>
              <a:t>each node </a:t>
            </a:r>
            <a:r>
              <a:rPr dirty="0" sz="2800">
                <a:latin typeface="Cambria Math"/>
                <a:cs typeface="Cambria Math"/>
              </a:rPr>
              <a:t>𝑖 ∈ 𝑉 </a:t>
            </a:r>
            <a:r>
              <a:rPr dirty="0" sz="2800" spc="-10">
                <a:latin typeface="Calibri"/>
                <a:cs typeface="Calibri"/>
              </a:rPr>
              <a:t>currently </a:t>
            </a:r>
            <a:r>
              <a:rPr dirty="0" sz="2800" spc="-5">
                <a:latin typeface="Calibri"/>
                <a:cs typeface="Calibri"/>
              </a:rPr>
              <a:t>in community </a:t>
            </a:r>
            <a:r>
              <a:rPr dirty="0" sz="2800" spc="-145">
                <a:latin typeface="Cambria Math"/>
                <a:cs typeface="Cambria Math"/>
              </a:rPr>
              <a:t>𝐶</a:t>
            </a:r>
            <a:r>
              <a:rPr dirty="0" sz="2800" spc="-145">
                <a:latin typeface="Calibri"/>
                <a:cs typeface="Calibri"/>
              </a:rPr>
              <a:t>,  </a:t>
            </a:r>
            <a:r>
              <a:rPr dirty="0" sz="2800" spc="-10">
                <a:latin typeface="Calibri"/>
                <a:cs typeface="Calibri"/>
              </a:rPr>
              <a:t>compute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best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community</a:t>
            </a:r>
            <a:r>
              <a:rPr dirty="0" sz="2800" spc="-5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𝐶′</a:t>
            </a:r>
            <a:r>
              <a:rPr dirty="0" sz="280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3190240" algn="l"/>
              </a:tabLst>
            </a:pPr>
            <a:r>
              <a:rPr dirty="0" sz="2800" spc="-120">
                <a:latin typeface="Cambria Math"/>
                <a:cs typeface="Cambria Math"/>
              </a:rPr>
              <a:t>𝐶</a:t>
            </a:r>
            <a:r>
              <a:rPr dirty="0" baseline="29166" sz="3000" spc="-179">
                <a:latin typeface="Cambria Math"/>
                <a:cs typeface="Cambria Math"/>
              </a:rPr>
              <a:t>2 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75">
                <a:latin typeface="Cambria Math"/>
                <a:cs typeface="Cambria Math"/>
              </a:rPr>
              <a:t> </a:t>
            </a:r>
            <a:r>
              <a:rPr dirty="0" sz="2800" spc="-30">
                <a:latin typeface="Cambria Math"/>
                <a:cs typeface="Cambria Math"/>
              </a:rPr>
              <a:t>argmax</a:t>
            </a:r>
            <a:r>
              <a:rPr dirty="0" baseline="-15277" sz="3000" spc="-44">
                <a:latin typeface="Cambria Math"/>
                <a:cs typeface="Cambria Math"/>
              </a:rPr>
              <a:t>32</a:t>
            </a:r>
            <a:r>
              <a:rPr dirty="0" baseline="-15277" sz="3000" spc="165">
                <a:latin typeface="Cambria Math"/>
                <a:cs typeface="Cambria Math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Δ𝑄	</a:t>
            </a:r>
            <a:r>
              <a:rPr dirty="0" sz="2800">
                <a:latin typeface="Cambria Math"/>
                <a:cs typeface="Cambria Math"/>
              </a:rPr>
              <a:t>𝐶  → 𝑖 →</a:t>
            </a:r>
            <a:r>
              <a:rPr dirty="0" sz="2800" spc="14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𝐶′</a:t>
            </a:r>
            <a:endParaRPr sz="2800">
              <a:latin typeface="Cambria Math"/>
              <a:cs typeface="Cambria Math"/>
            </a:endParaRPr>
          </a:p>
          <a:p>
            <a:pPr marL="287020" marR="883919" indent="-274320">
              <a:lnSpc>
                <a:spcPct val="101400"/>
              </a:lnSpc>
              <a:spcBef>
                <a:spcPts val="5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1173480" algn="l"/>
                <a:tab pos="3068955" algn="l"/>
              </a:tabLst>
            </a:pPr>
            <a:r>
              <a:rPr dirty="0" sz="2800" spc="-5">
                <a:latin typeface="Calibri"/>
                <a:cs typeface="Calibri"/>
              </a:rPr>
              <a:t>If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Δ𝑄	</a:t>
            </a:r>
            <a:r>
              <a:rPr dirty="0" sz="2800">
                <a:latin typeface="Cambria Math"/>
                <a:cs typeface="Cambria Math"/>
              </a:rPr>
              <a:t>𝐶  → 𝑖</a:t>
            </a:r>
            <a:r>
              <a:rPr dirty="0" sz="2800" spc="7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→</a:t>
            </a:r>
            <a:r>
              <a:rPr dirty="0" sz="2800" spc="15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𝐶′	&gt; </a:t>
            </a:r>
            <a:r>
              <a:rPr dirty="0" sz="2800" spc="-5">
                <a:latin typeface="Cambria Math"/>
                <a:cs typeface="Cambria Math"/>
              </a:rPr>
              <a:t>0</a:t>
            </a:r>
            <a:r>
              <a:rPr dirty="0" sz="2800" spc="-5">
                <a:latin typeface="Calibri"/>
                <a:cs typeface="Calibri"/>
              </a:rPr>
              <a:t>, then</a:t>
            </a:r>
            <a:r>
              <a:rPr dirty="0" sz="2800" spc="125">
                <a:latin typeface="Calibri"/>
                <a:cs typeface="Calibri"/>
              </a:rPr>
              <a:t>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update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the 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community: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540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>
                <a:latin typeface="Cambria Math"/>
                <a:cs typeface="Cambria Math"/>
              </a:rPr>
              <a:t>𝐶  ← 𝐶 −</a:t>
            </a:r>
            <a:r>
              <a:rPr dirty="0" sz="2400" spc="-130">
                <a:latin typeface="Cambria Math"/>
                <a:cs typeface="Cambria Math"/>
              </a:rPr>
              <a:t> </a:t>
            </a:r>
            <a:r>
              <a:rPr dirty="0" sz="2400" spc="15">
                <a:latin typeface="Cambria Math"/>
                <a:cs typeface="Cambria Math"/>
              </a:rPr>
              <a:t>{𝑖}</a:t>
            </a:r>
            <a:endParaRPr sz="2400">
              <a:latin typeface="Cambria Math"/>
              <a:cs typeface="Cambria Math"/>
            </a:endParaRPr>
          </a:p>
          <a:p>
            <a:pPr lvl="1" marL="552450" indent="-228600">
              <a:lnSpc>
                <a:spcPct val="100000"/>
              </a:lnSpc>
              <a:spcBef>
                <a:spcPts val="620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>
                <a:latin typeface="Cambria Math"/>
                <a:cs typeface="Cambria Math"/>
              </a:rPr>
              <a:t>𝐶′ ← 𝐶′ +</a:t>
            </a:r>
            <a:r>
              <a:rPr dirty="0" sz="2400" spc="190">
                <a:latin typeface="Cambria Math"/>
                <a:cs typeface="Cambria Math"/>
              </a:rPr>
              <a:t> </a:t>
            </a:r>
            <a:r>
              <a:rPr dirty="0" sz="2400" spc="15">
                <a:latin typeface="Cambria Math"/>
                <a:cs typeface="Cambria Math"/>
              </a:rPr>
              <a:t>{𝑖}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40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38327"/>
            <a:ext cx="7583424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23175" cy="149161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b="0">
                <a:latin typeface="Calibri"/>
                <a:cs typeface="Calibri"/>
              </a:rPr>
              <a:t>The </a:t>
            </a:r>
            <a:r>
              <a:rPr dirty="0" spc="-5" b="0">
                <a:latin typeface="Calibri"/>
                <a:cs typeface="Calibri"/>
              </a:rPr>
              <a:t>communities </a:t>
            </a:r>
            <a:r>
              <a:rPr dirty="0" spc="-10" b="0">
                <a:latin typeface="Calibri"/>
                <a:cs typeface="Calibri"/>
              </a:rPr>
              <a:t>obtained </a:t>
            </a:r>
            <a:r>
              <a:rPr dirty="0" b="0">
                <a:latin typeface="Calibri"/>
                <a:cs typeface="Calibri"/>
              </a:rPr>
              <a:t>in the </a:t>
            </a:r>
            <a:r>
              <a:rPr dirty="0" spc="-25" b="0">
                <a:latin typeface="Calibri"/>
                <a:cs typeface="Calibri"/>
              </a:rPr>
              <a:t>first </a:t>
            </a:r>
            <a:r>
              <a:rPr dirty="0" spc="-5" b="0">
                <a:latin typeface="Calibri"/>
                <a:cs typeface="Calibri"/>
              </a:rPr>
              <a:t>phase  </a:t>
            </a:r>
            <a:r>
              <a:rPr dirty="0" spc="-20" b="0">
                <a:latin typeface="Calibri"/>
                <a:cs typeface="Calibri"/>
              </a:rPr>
              <a:t>are contracted </a:t>
            </a:r>
            <a:r>
              <a:rPr dirty="0" spc="-15" b="0">
                <a:latin typeface="Calibri"/>
                <a:cs typeface="Calibri"/>
              </a:rPr>
              <a:t>into </a:t>
            </a:r>
            <a:r>
              <a:rPr dirty="0" spc="-10">
                <a:solidFill>
                  <a:srgbClr val="0000FF"/>
                </a:solidFill>
              </a:rPr>
              <a:t>super-nodes</a:t>
            </a:r>
            <a:r>
              <a:rPr dirty="0" spc="-10" b="0">
                <a:latin typeface="Calibri"/>
                <a:cs typeface="Calibri"/>
              </a:rPr>
              <a:t>, </a:t>
            </a:r>
            <a:r>
              <a:rPr dirty="0" b="0">
                <a:latin typeface="Calibri"/>
                <a:cs typeface="Calibri"/>
              </a:rPr>
              <a:t>and the  </a:t>
            </a:r>
            <a:r>
              <a:rPr dirty="0" spc="-15" b="0">
                <a:latin typeface="Calibri"/>
                <a:cs typeface="Calibri"/>
              </a:rPr>
              <a:t>network </a:t>
            </a:r>
            <a:r>
              <a:rPr dirty="0" b="0">
                <a:latin typeface="Calibri"/>
                <a:cs typeface="Calibri"/>
              </a:rPr>
              <a:t>is </a:t>
            </a:r>
            <a:r>
              <a:rPr dirty="0" spc="-20" b="0">
                <a:latin typeface="Calibri"/>
                <a:cs typeface="Calibri"/>
              </a:rPr>
              <a:t>created</a:t>
            </a:r>
            <a:r>
              <a:rPr dirty="0" spc="-5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accordingly: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42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899155"/>
            <a:ext cx="7789545" cy="36474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625475" marR="5080" indent="-274320">
              <a:lnSpc>
                <a:spcPct val="99600"/>
              </a:lnSpc>
              <a:spcBef>
                <a:spcPts val="11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Super-nodes </a:t>
            </a:r>
            <a:r>
              <a:rPr dirty="0" sz="2800" spc="-15">
                <a:latin typeface="Calibri"/>
                <a:cs typeface="Calibri"/>
              </a:rPr>
              <a:t>are </a:t>
            </a:r>
            <a:r>
              <a:rPr dirty="0" sz="2800" spc="-10">
                <a:latin typeface="Calibri"/>
                <a:cs typeface="Calibri"/>
              </a:rPr>
              <a:t>connected </a:t>
            </a:r>
            <a:r>
              <a:rPr dirty="0" sz="2800" spc="-5">
                <a:latin typeface="Calibri"/>
                <a:cs typeface="Calibri"/>
              </a:rPr>
              <a:t>if </a:t>
            </a:r>
            <a:r>
              <a:rPr dirty="0" sz="2800" spc="-15">
                <a:latin typeface="Calibri"/>
                <a:cs typeface="Calibri"/>
              </a:rPr>
              <a:t>there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15">
                <a:latin typeface="Calibri"/>
                <a:cs typeface="Calibri"/>
              </a:rPr>
              <a:t>at </a:t>
            </a:r>
            <a:r>
              <a:rPr dirty="0" sz="2800" spc="-10">
                <a:latin typeface="Calibri"/>
                <a:cs typeface="Calibri"/>
              </a:rPr>
              <a:t>least </a:t>
            </a:r>
            <a:r>
              <a:rPr dirty="0" sz="2800" spc="-135">
                <a:latin typeface="Calibri"/>
                <a:cs typeface="Calibri"/>
              </a:rPr>
              <a:t>one  </a:t>
            </a:r>
            <a:r>
              <a:rPr dirty="0" sz="2800" spc="-10">
                <a:latin typeface="Calibri"/>
                <a:cs typeface="Calibri"/>
              </a:rPr>
              <a:t>edge </a:t>
            </a:r>
            <a:r>
              <a:rPr dirty="0" sz="2800" spc="-15">
                <a:latin typeface="Calibri"/>
                <a:cs typeface="Calibri"/>
              </a:rPr>
              <a:t>between </a:t>
            </a:r>
            <a:r>
              <a:rPr dirty="0" sz="2800" spc="-5">
                <a:latin typeface="Calibri"/>
                <a:cs typeface="Calibri"/>
              </a:rPr>
              <a:t>the nodes of the </a:t>
            </a:r>
            <a:r>
              <a:rPr dirty="0" sz="2800" spc="-10">
                <a:latin typeface="Calibri"/>
                <a:cs typeface="Calibri"/>
              </a:rPr>
              <a:t>corresponding  </a:t>
            </a:r>
            <a:r>
              <a:rPr dirty="0" sz="2800" spc="-5">
                <a:latin typeface="Calibri"/>
                <a:cs typeface="Calibri"/>
              </a:rPr>
              <a:t>communities</a:t>
            </a:r>
            <a:endParaRPr sz="2800">
              <a:latin typeface="Calibri"/>
              <a:cs typeface="Calibri"/>
            </a:endParaRPr>
          </a:p>
          <a:p>
            <a:pPr marL="625475" marR="288290" indent="-274320">
              <a:lnSpc>
                <a:spcPct val="99600"/>
              </a:lnSpc>
              <a:spcBef>
                <a:spcPts val="75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weight </a:t>
            </a:r>
            <a:r>
              <a:rPr dirty="0" sz="2800" spc="-5">
                <a:latin typeface="Calibri"/>
                <a:cs typeface="Calibri"/>
              </a:rPr>
              <a:t>of the </a:t>
            </a:r>
            <a:r>
              <a:rPr dirty="0" sz="2800" spc="-10">
                <a:latin typeface="Calibri"/>
                <a:cs typeface="Calibri"/>
              </a:rPr>
              <a:t>edge </a:t>
            </a:r>
            <a:r>
              <a:rPr dirty="0" sz="2800" spc="-15">
                <a:latin typeface="Calibri"/>
                <a:cs typeface="Calibri"/>
              </a:rPr>
              <a:t>between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two </a:t>
            </a:r>
            <a:r>
              <a:rPr dirty="0" sz="2800" spc="-110">
                <a:latin typeface="Calibri"/>
                <a:cs typeface="Calibri"/>
              </a:rPr>
              <a:t>super-  </a:t>
            </a:r>
            <a:r>
              <a:rPr dirty="0" sz="2800" spc="-5">
                <a:latin typeface="Calibri"/>
                <a:cs typeface="Calibri"/>
              </a:rPr>
              <a:t>nodes is the </a:t>
            </a:r>
            <a:r>
              <a:rPr dirty="0" sz="2800">
                <a:latin typeface="Calibri"/>
                <a:cs typeface="Calibri"/>
              </a:rPr>
              <a:t>sum </a:t>
            </a:r>
            <a:r>
              <a:rPr dirty="0" sz="2800" spc="-5">
                <a:latin typeface="Calibri"/>
                <a:cs typeface="Calibri"/>
              </a:rPr>
              <a:t>of the </a:t>
            </a:r>
            <a:r>
              <a:rPr dirty="0" sz="2800" spc="-15">
                <a:latin typeface="Calibri"/>
                <a:cs typeface="Calibri"/>
              </a:rPr>
              <a:t>weights from </a:t>
            </a:r>
            <a:r>
              <a:rPr dirty="0" sz="2800" spc="-5">
                <a:latin typeface="Calibri"/>
                <a:cs typeface="Calibri"/>
              </a:rPr>
              <a:t>all </a:t>
            </a:r>
            <a:r>
              <a:rPr dirty="0" sz="2800" spc="-10">
                <a:latin typeface="Calibri"/>
                <a:cs typeface="Calibri"/>
              </a:rPr>
              <a:t>edges  between </a:t>
            </a:r>
            <a:r>
              <a:rPr dirty="0" sz="2800" spc="-5">
                <a:latin typeface="Calibri"/>
                <a:cs typeface="Calibri"/>
              </a:rPr>
              <a:t>their </a:t>
            </a:r>
            <a:r>
              <a:rPr dirty="0" sz="2800" spc="-10">
                <a:latin typeface="Calibri"/>
                <a:cs typeface="Calibri"/>
              </a:rPr>
              <a:t>corresponding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communities</a:t>
            </a:r>
            <a:endParaRPr sz="2800">
              <a:latin typeface="Calibri"/>
              <a:cs typeface="Calibri"/>
            </a:endParaRPr>
          </a:p>
          <a:p>
            <a:pPr marL="332740" marR="1054735" indent="-320040">
              <a:lnSpc>
                <a:spcPts val="3890"/>
              </a:lnSpc>
              <a:spcBef>
                <a:spcPts val="2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Phase 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1 is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then run 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on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the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super-node 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network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4424"/>
            <a:ext cx="6931152" cy="5547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014209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0">
                <a:latin typeface="Calibri"/>
                <a:cs typeface="Calibri"/>
              </a:rPr>
              <a:t>Super nodes </a:t>
            </a:r>
            <a:r>
              <a:rPr dirty="0" spc="-20" b="0">
                <a:latin typeface="Calibri"/>
                <a:cs typeface="Calibri"/>
              </a:rPr>
              <a:t>are </a:t>
            </a:r>
            <a:r>
              <a:rPr dirty="0" spc="-15" b="0">
                <a:latin typeface="Calibri"/>
                <a:cs typeface="Calibri"/>
              </a:rPr>
              <a:t>constructed </a:t>
            </a:r>
            <a:r>
              <a:rPr dirty="0" spc="-5" b="0">
                <a:latin typeface="Calibri"/>
                <a:cs typeface="Calibri"/>
              </a:rPr>
              <a:t>by </a:t>
            </a:r>
            <a:r>
              <a:rPr dirty="0" spc="-10" b="0">
                <a:latin typeface="Calibri"/>
                <a:cs typeface="Calibri"/>
              </a:rPr>
              <a:t>merging  </a:t>
            </a:r>
            <a:r>
              <a:rPr dirty="0" spc="-5" b="0">
                <a:latin typeface="Calibri"/>
                <a:cs typeface="Calibri"/>
              </a:rPr>
              <a:t>nodes </a:t>
            </a:r>
            <a:r>
              <a:rPr dirty="0" b="0">
                <a:latin typeface="Calibri"/>
                <a:cs typeface="Calibri"/>
              </a:rPr>
              <a:t>in the </a:t>
            </a:r>
            <a:r>
              <a:rPr dirty="0" spc="-5" b="0">
                <a:latin typeface="Calibri"/>
                <a:cs typeface="Calibri"/>
              </a:rPr>
              <a:t>same</a:t>
            </a:r>
            <a:r>
              <a:rPr dirty="0" spc="-45" b="0">
                <a:latin typeface="Calibri"/>
                <a:cs typeface="Calibri"/>
              </a:rPr>
              <a:t> </a:t>
            </a:r>
            <a:r>
              <a:rPr dirty="0" spc="-25" b="0">
                <a:latin typeface="Calibri"/>
                <a:cs typeface="Calibri"/>
              </a:rPr>
              <a:t>community.</a:t>
            </a:r>
          </a:p>
        </p:txBody>
      </p:sp>
      <p:sp>
        <p:nvSpPr>
          <p:cNvPr id="4" name="object 4"/>
          <p:cNvSpPr/>
          <p:nvPr/>
        </p:nvSpPr>
        <p:spPr>
          <a:xfrm>
            <a:off x="349976" y="3346891"/>
            <a:ext cx="2940322" cy="2819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640130" y="3877817"/>
            <a:ext cx="472440" cy="1477645"/>
          </a:xfrm>
          <a:custGeom>
            <a:avLst/>
            <a:gdLst/>
            <a:ahLst/>
            <a:cxnLst/>
            <a:rect l="l" t="t" r="r" b="b"/>
            <a:pathLst>
              <a:path w="472439" h="1477645">
                <a:moveTo>
                  <a:pt x="471822" y="0"/>
                </a:moveTo>
                <a:lnTo>
                  <a:pt x="0" y="1477113"/>
                </a:lnTo>
              </a:path>
            </a:pathLst>
          </a:custGeom>
          <a:ln w="349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34093" y="5138522"/>
            <a:ext cx="1779905" cy="405765"/>
          </a:xfrm>
          <a:custGeom>
            <a:avLst/>
            <a:gdLst/>
            <a:ahLst/>
            <a:cxnLst/>
            <a:rect l="l" t="t" r="r" b="b"/>
            <a:pathLst>
              <a:path w="1779904" h="405764">
                <a:moveTo>
                  <a:pt x="1779851" y="0"/>
                </a:moveTo>
                <a:lnTo>
                  <a:pt x="0" y="405176"/>
                </a:lnTo>
              </a:path>
            </a:pathLst>
          </a:custGeom>
          <a:ln w="349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386257" y="3877817"/>
            <a:ext cx="1284605" cy="1127760"/>
          </a:xfrm>
          <a:custGeom>
            <a:avLst/>
            <a:gdLst/>
            <a:ahLst/>
            <a:cxnLst/>
            <a:rect l="l" t="t" r="r" b="b"/>
            <a:pathLst>
              <a:path w="1284604" h="1127760">
                <a:moveTo>
                  <a:pt x="0" y="0"/>
                </a:moveTo>
                <a:lnTo>
                  <a:pt x="1284498" y="1127226"/>
                </a:lnTo>
              </a:path>
            </a:pathLst>
          </a:custGeom>
          <a:ln w="349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28716" y="2617723"/>
            <a:ext cx="2540635" cy="106489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127000">
              <a:lnSpc>
                <a:spcPts val="2110"/>
              </a:lnSpc>
              <a:spcBef>
                <a:spcPts val="210"/>
              </a:spcBef>
            </a:pPr>
            <a:r>
              <a:rPr dirty="0" sz="1800" spc="-5">
                <a:latin typeface="Arial"/>
                <a:cs typeface="Arial"/>
              </a:rPr>
              <a:t>Community assignment  obtained after </a:t>
            </a:r>
            <a:r>
              <a:rPr dirty="0" sz="1800">
                <a:latin typeface="Arial"/>
                <a:cs typeface="Arial"/>
              </a:rPr>
              <a:t>1</a:t>
            </a:r>
            <a:r>
              <a:rPr dirty="0" baseline="23148" sz="1800">
                <a:latin typeface="Arial"/>
                <a:cs typeface="Arial"/>
              </a:rPr>
              <a:t>st</a:t>
            </a:r>
            <a:r>
              <a:rPr dirty="0" baseline="23148" sz="1800" spc="-104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phase</a:t>
            </a:r>
            <a:endParaRPr sz="18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965"/>
              </a:spcBef>
            </a:pPr>
            <a:r>
              <a:rPr dirty="0" sz="2400" spc="-195">
                <a:latin typeface="Cambria Math"/>
                <a:cs typeface="Cambria Math"/>
              </a:rPr>
              <a:t>𝐶</a:t>
            </a:r>
            <a:r>
              <a:rPr dirty="0" baseline="-15432" sz="2700" spc="0">
                <a:latin typeface="Cambria Math"/>
                <a:cs typeface="Cambria Math"/>
              </a:rPr>
              <a:t>E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1155" y="4428235"/>
            <a:ext cx="3225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40">
                <a:latin typeface="Cambria Math"/>
                <a:cs typeface="Cambria Math"/>
              </a:rPr>
              <a:t>𝐶</a:t>
            </a:r>
            <a:r>
              <a:rPr dirty="0" baseline="-15432" sz="2700" spc="839">
                <a:latin typeface="Cambria Math"/>
                <a:cs typeface="Cambria Math"/>
              </a:rPr>
              <a:t>: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27588" y="5815076"/>
            <a:ext cx="2076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𝐶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92307" y="5952235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75">
                <a:latin typeface="Cambria Math"/>
                <a:cs typeface="Cambria Math"/>
              </a:rPr>
              <a:t>F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72467" y="3157220"/>
            <a:ext cx="3155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95">
                <a:latin typeface="Cambria Math"/>
                <a:cs typeface="Cambria Math"/>
              </a:rPr>
              <a:t>𝐶</a:t>
            </a:r>
            <a:r>
              <a:rPr dirty="0" baseline="-15432" sz="2700" spc="0">
                <a:latin typeface="Cambria Math"/>
                <a:cs typeface="Cambria Math"/>
              </a:rPr>
              <a:t>E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86510" y="5095747"/>
            <a:ext cx="3225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40">
                <a:latin typeface="Cambria Math"/>
                <a:cs typeface="Cambria Math"/>
              </a:rPr>
              <a:t>𝐶</a:t>
            </a:r>
            <a:r>
              <a:rPr dirty="0" baseline="-15432" sz="2700" spc="839">
                <a:latin typeface="Cambria Math"/>
                <a:cs typeface="Cambria Math"/>
              </a:rPr>
              <a:t>: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94126" y="4461764"/>
            <a:ext cx="2076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𝐶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58844" y="4601971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75">
                <a:latin typeface="Cambria Math"/>
                <a:cs typeface="Cambria Math"/>
              </a:rPr>
              <a:t>F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850365" y="3084595"/>
            <a:ext cx="717550" cy="659765"/>
          </a:xfrm>
          <a:custGeom>
            <a:avLst/>
            <a:gdLst/>
            <a:ahLst/>
            <a:cxnLst/>
            <a:rect l="l" t="t" r="r" b="b"/>
            <a:pathLst>
              <a:path w="717550" h="659764">
                <a:moveTo>
                  <a:pt x="0" y="329872"/>
                </a:moveTo>
                <a:lnTo>
                  <a:pt x="3274" y="285110"/>
                </a:lnTo>
                <a:lnTo>
                  <a:pt x="12813" y="242178"/>
                </a:lnTo>
                <a:lnTo>
                  <a:pt x="28189" y="201470"/>
                </a:lnTo>
                <a:lnTo>
                  <a:pt x="48975" y="163379"/>
                </a:lnTo>
                <a:lnTo>
                  <a:pt x="74743" y="128297"/>
                </a:lnTo>
                <a:lnTo>
                  <a:pt x="105066" y="96617"/>
                </a:lnTo>
                <a:lnTo>
                  <a:pt x="139516" y="68732"/>
                </a:lnTo>
                <a:lnTo>
                  <a:pt x="177666" y="45037"/>
                </a:lnTo>
                <a:lnTo>
                  <a:pt x="219089" y="25922"/>
                </a:lnTo>
                <a:lnTo>
                  <a:pt x="263356" y="11783"/>
                </a:lnTo>
                <a:lnTo>
                  <a:pt x="310042" y="3011"/>
                </a:lnTo>
                <a:lnTo>
                  <a:pt x="358718" y="0"/>
                </a:lnTo>
                <a:lnTo>
                  <a:pt x="407394" y="3011"/>
                </a:lnTo>
                <a:lnTo>
                  <a:pt x="454080" y="11783"/>
                </a:lnTo>
                <a:lnTo>
                  <a:pt x="498347" y="25922"/>
                </a:lnTo>
                <a:lnTo>
                  <a:pt x="539770" y="45037"/>
                </a:lnTo>
                <a:lnTo>
                  <a:pt x="577920" y="68732"/>
                </a:lnTo>
                <a:lnTo>
                  <a:pt x="612370" y="96617"/>
                </a:lnTo>
                <a:lnTo>
                  <a:pt x="642693" y="128297"/>
                </a:lnTo>
                <a:lnTo>
                  <a:pt x="668461" y="163379"/>
                </a:lnTo>
                <a:lnTo>
                  <a:pt x="689247" y="201470"/>
                </a:lnTo>
                <a:lnTo>
                  <a:pt x="704623" y="242178"/>
                </a:lnTo>
                <a:lnTo>
                  <a:pt x="714162" y="285110"/>
                </a:lnTo>
                <a:lnTo>
                  <a:pt x="717437" y="329872"/>
                </a:lnTo>
                <a:lnTo>
                  <a:pt x="714162" y="374633"/>
                </a:lnTo>
                <a:lnTo>
                  <a:pt x="704623" y="417565"/>
                </a:lnTo>
                <a:lnTo>
                  <a:pt x="689247" y="458273"/>
                </a:lnTo>
                <a:lnTo>
                  <a:pt x="668461" y="496364"/>
                </a:lnTo>
                <a:lnTo>
                  <a:pt x="642693" y="531446"/>
                </a:lnTo>
                <a:lnTo>
                  <a:pt x="612370" y="563126"/>
                </a:lnTo>
                <a:lnTo>
                  <a:pt x="577920" y="591011"/>
                </a:lnTo>
                <a:lnTo>
                  <a:pt x="539770" y="614706"/>
                </a:lnTo>
                <a:lnTo>
                  <a:pt x="498347" y="633821"/>
                </a:lnTo>
                <a:lnTo>
                  <a:pt x="454080" y="647960"/>
                </a:lnTo>
                <a:lnTo>
                  <a:pt x="407394" y="656732"/>
                </a:lnTo>
                <a:lnTo>
                  <a:pt x="358718" y="659744"/>
                </a:lnTo>
                <a:lnTo>
                  <a:pt x="310042" y="656732"/>
                </a:lnTo>
                <a:lnTo>
                  <a:pt x="263356" y="647960"/>
                </a:lnTo>
                <a:lnTo>
                  <a:pt x="219089" y="633821"/>
                </a:lnTo>
                <a:lnTo>
                  <a:pt x="177666" y="614706"/>
                </a:lnTo>
                <a:lnTo>
                  <a:pt x="139516" y="591011"/>
                </a:lnTo>
                <a:lnTo>
                  <a:pt x="105066" y="563126"/>
                </a:lnTo>
                <a:lnTo>
                  <a:pt x="74743" y="531446"/>
                </a:lnTo>
                <a:lnTo>
                  <a:pt x="48975" y="496364"/>
                </a:lnTo>
                <a:lnTo>
                  <a:pt x="28189" y="458273"/>
                </a:lnTo>
                <a:lnTo>
                  <a:pt x="12813" y="417565"/>
                </a:lnTo>
                <a:lnTo>
                  <a:pt x="3274" y="374633"/>
                </a:lnTo>
                <a:lnTo>
                  <a:pt x="0" y="32987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055141" y="3555570"/>
            <a:ext cx="387985" cy="377825"/>
          </a:xfrm>
          <a:custGeom>
            <a:avLst/>
            <a:gdLst/>
            <a:ahLst/>
            <a:cxnLst/>
            <a:rect l="l" t="t" r="r" b="b"/>
            <a:pathLst>
              <a:path w="387985" h="377825">
                <a:moveTo>
                  <a:pt x="193963" y="0"/>
                </a:moveTo>
                <a:lnTo>
                  <a:pt x="149489" y="4985"/>
                </a:lnTo>
                <a:lnTo>
                  <a:pt x="108663" y="19186"/>
                </a:lnTo>
                <a:lnTo>
                  <a:pt x="72649" y="41470"/>
                </a:lnTo>
                <a:lnTo>
                  <a:pt x="42611" y="70703"/>
                </a:lnTo>
                <a:lnTo>
                  <a:pt x="19714" y="105752"/>
                </a:lnTo>
                <a:lnTo>
                  <a:pt x="5122" y="145485"/>
                </a:lnTo>
                <a:lnTo>
                  <a:pt x="0" y="188767"/>
                </a:lnTo>
                <a:lnTo>
                  <a:pt x="5122" y="232050"/>
                </a:lnTo>
                <a:lnTo>
                  <a:pt x="19714" y="271783"/>
                </a:lnTo>
                <a:lnTo>
                  <a:pt x="42611" y="306832"/>
                </a:lnTo>
                <a:lnTo>
                  <a:pt x="72649" y="336065"/>
                </a:lnTo>
                <a:lnTo>
                  <a:pt x="108663" y="358349"/>
                </a:lnTo>
                <a:lnTo>
                  <a:pt x="149489" y="372549"/>
                </a:lnTo>
                <a:lnTo>
                  <a:pt x="193963" y="377535"/>
                </a:lnTo>
                <a:lnTo>
                  <a:pt x="238437" y="372549"/>
                </a:lnTo>
                <a:lnTo>
                  <a:pt x="279263" y="358349"/>
                </a:lnTo>
                <a:lnTo>
                  <a:pt x="315277" y="336065"/>
                </a:lnTo>
                <a:lnTo>
                  <a:pt x="345315" y="306832"/>
                </a:lnTo>
                <a:lnTo>
                  <a:pt x="368211" y="271783"/>
                </a:lnTo>
                <a:lnTo>
                  <a:pt x="382803" y="232050"/>
                </a:lnTo>
                <a:lnTo>
                  <a:pt x="387926" y="188767"/>
                </a:lnTo>
                <a:lnTo>
                  <a:pt x="382803" y="145485"/>
                </a:lnTo>
                <a:lnTo>
                  <a:pt x="368211" y="105752"/>
                </a:lnTo>
                <a:lnTo>
                  <a:pt x="345315" y="70703"/>
                </a:lnTo>
                <a:lnTo>
                  <a:pt x="315277" y="41470"/>
                </a:lnTo>
                <a:lnTo>
                  <a:pt x="279263" y="19186"/>
                </a:lnTo>
                <a:lnTo>
                  <a:pt x="238437" y="4985"/>
                </a:lnTo>
                <a:lnTo>
                  <a:pt x="193963" y="0"/>
                </a:lnTo>
                <a:close/>
              </a:path>
            </a:pathLst>
          </a:custGeom>
          <a:solidFill>
            <a:srgbClr val="F0A7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055141" y="3555570"/>
            <a:ext cx="387985" cy="377825"/>
          </a:xfrm>
          <a:custGeom>
            <a:avLst/>
            <a:gdLst/>
            <a:ahLst/>
            <a:cxnLst/>
            <a:rect l="l" t="t" r="r" b="b"/>
            <a:pathLst>
              <a:path w="387985" h="377825">
                <a:moveTo>
                  <a:pt x="0" y="188768"/>
                </a:moveTo>
                <a:lnTo>
                  <a:pt x="5122" y="145485"/>
                </a:lnTo>
                <a:lnTo>
                  <a:pt x="19714" y="105752"/>
                </a:lnTo>
                <a:lnTo>
                  <a:pt x="42611" y="70703"/>
                </a:lnTo>
                <a:lnTo>
                  <a:pt x="72649" y="41470"/>
                </a:lnTo>
                <a:lnTo>
                  <a:pt x="108663" y="19186"/>
                </a:lnTo>
                <a:lnTo>
                  <a:pt x="149489" y="4985"/>
                </a:lnTo>
                <a:lnTo>
                  <a:pt x="193963" y="0"/>
                </a:lnTo>
                <a:lnTo>
                  <a:pt x="238437" y="4985"/>
                </a:lnTo>
                <a:lnTo>
                  <a:pt x="279263" y="19186"/>
                </a:lnTo>
                <a:lnTo>
                  <a:pt x="315277" y="41470"/>
                </a:lnTo>
                <a:lnTo>
                  <a:pt x="345315" y="70703"/>
                </a:lnTo>
                <a:lnTo>
                  <a:pt x="368212" y="105752"/>
                </a:lnTo>
                <a:lnTo>
                  <a:pt x="382804" y="145485"/>
                </a:lnTo>
                <a:lnTo>
                  <a:pt x="387927" y="188768"/>
                </a:lnTo>
                <a:lnTo>
                  <a:pt x="382804" y="232050"/>
                </a:lnTo>
                <a:lnTo>
                  <a:pt x="368212" y="271783"/>
                </a:lnTo>
                <a:lnTo>
                  <a:pt x="345315" y="306832"/>
                </a:lnTo>
                <a:lnTo>
                  <a:pt x="315277" y="336065"/>
                </a:lnTo>
                <a:lnTo>
                  <a:pt x="279263" y="358349"/>
                </a:lnTo>
                <a:lnTo>
                  <a:pt x="238437" y="372550"/>
                </a:lnTo>
                <a:lnTo>
                  <a:pt x="193963" y="377536"/>
                </a:lnTo>
                <a:lnTo>
                  <a:pt x="149489" y="372550"/>
                </a:lnTo>
                <a:lnTo>
                  <a:pt x="108663" y="358349"/>
                </a:lnTo>
                <a:lnTo>
                  <a:pt x="72649" y="336065"/>
                </a:lnTo>
                <a:lnTo>
                  <a:pt x="42611" y="306832"/>
                </a:lnTo>
                <a:lnTo>
                  <a:pt x="19714" y="271783"/>
                </a:lnTo>
                <a:lnTo>
                  <a:pt x="5122" y="232050"/>
                </a:lnTo>
                <a:lnTo>
                  <a:pt x="0" y="188768"/>
                </a:lnTo>
                <a:close/>
              </a:path>
            </a:pathLst>
          </a:custGeom>
          <a:ln w="38100">
            <a:solidFill>
              <a:srgbClr val="D9253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116655" y="5523950"/>
            <a:ext cx="717550" cy="659765"/>
          </a:xfrm>
          <a:custGeom>
            <a:avLst/>
            <a:gdLst/>
            <a:ahLst/>
            <a:cxnLst/>
            <a:rect l="l" t="t" r="r" b="b"/>
            <a:pathLst>
              <a:path w="717550" h="659764">
                <a:moveTo>
                  <a:pt x="0" y="329872"/>
                </a:moveTo>
                <a:lnTo>
                  <a:pt x="3274" y="285110"/>
                </a:lnTo>
                <a:lnTo>
                  <a:pt x="12813" y="242178"/>
                </a:lnTo>
                <a:lnTo>
                  <a:pt x="28189" y="201470"/>
                </a:lnTo>
                <a:lnTo>
                  <a:pt x="48975" y="163379"/>
                </a:lnTo>
                <a:lnTo>
                  <a:pt x="74743" y="128297"/>
                </a:lnTo>
                <a:lnTo>
                  <a:pt x="105066" y="96617"/>
                </a:lnTo>
                <a:lnTo>
                  <a:pt x="139516" y="68732"/>
                </a:lnTo>
                <a:lnTo>
                  <a:pt x="177666" y="45037"/>
                </a:lnTo>
                <a:lnTo>
                  <a:pt x="219089" y="25922"/>
                </a:lnTo>
                <a:lnTo>
                  <a:pt x="263356" y="11783"/>
                </a:lnTo>
                <a:lnTo>
                  <a:pt x="310042" y="3011"/>
                </a:lnTo>
                <a:lnTo>
                  <a:pt x="358718" y="0"/>
                </a:lnTo>
                <a:lnTo>
                  <a:pt x="407394" y="3011"/>
                </a:lnTo>
                <a:lnTo>
                  <a:pt x="454080" y="11783"/>
                </a:lnTo>
                <a:lnTo>
                  <a:pt x="498347" y="25922"/>
                </a:lnTo>
                <a:lnTo>
                  <a:pt x="539770" y="45037"/>
                </a:lnTo>
                <a:lnTo>
                  <a:pt x="577920" y="68732"/>
                </a:lnTo>
                <a:lnTo>
                  <a:pt x="612370" y="96617"/>
                </a:lnTo>
                <a:lnTo>
                  <a:pt x="642693" y="128297"/>
                </a:lnTo>
                <a:lnTo>
                  <a:pt x="668461" y="163379"/>
                </a:lnTo>
                <a:lnTo>
                  <a:pt x="689247" y="201470"/>
                </a:lnTo>
                <a:lnTo>
                  <a:pt x="704623" y="242178"/>
                </a:lnTo>
                <a:lnTo>
                  <a:pt x="714162" y="285110"/>
                </a:lnTo>
                <a:lnTo>
                  <a:pt x="717437" y="329872"/>
                </a:lnTo>
                <a:lnTo>
                  <a:pt x="714162" y="374633"/>
                </a:lnTo>
                <a:lnTo>
                  <a:pt x="704623" y="417565"/>
                </a:lnTo>
                <a:lnTo>
                  <a:pt x="689247" y="458273"/>
                </a:lnTo>
                <a:lnTo>
                  <a:pt x="668461" y="496364"/>
                </a:lnTo>
                <a:lnTo>
                  <a:pt x="642693" y="531446"/>
                </a:lnTo>
                <a:lnTo>
                  <a:pt x="612370" y="563126"/>
                </a:lnTo>
                <a:lnTo>
                  <a:pt x="577920" y="591011"/>
                </a:lnTo>
                <a:lnTo>
                  <a:pt x="539770" y="614706"/>
                </a:lnTo>
                <a:lnTo>
                  <a:pt x="498347" y="633821"/>
                </a:lnTo>
                <a:lnTo>
                  <a:pt x="454080" y="647960"/>
                </a:lnTo>
                <a:lnTo>
                  <a:pt x="407394" y="656732"/>
                </a:lnTo>
                <a:lnTo>
                  <a:pt x="358718" y="659744"/>
                </a:lnTo>
                <a:lnTo>
                  <a:pt x="310042" y="656732"/>
                </a:lnTo>
                <a:lnTo>
                  <a:pt x="263356" y="647960"/>
                </a:lnTo>
                <a:lnTo>
                  <a:pt x="219089" y="633821"/>
                </a:lnTo>
                <a:lnTo>
                  <a:pt x="177666" y="614706"/>
                </a:lnTo>
                <a:lnTo>
                  <a:pt x="139516" y="591011"/>
                </a:lnTo>
                <a:lnTo>
                  <a:pt x="105066" y="563126"/>
                </a:lnTo>
                <a:lnTo>
                  <a:pt x="74743" y="531446"/>
                </a:lnTo>
                <a:lnTo>
                  <a:pt x="48975" y="496364"/>
                </a:lnTo>
                <a:lnTo>
                  <a:pt x="28189" y="458273"/>
                </a:lnTo>
                <a:lnTo>
                  <a:pt x="12813" y="417565"/>
                </a:lnTo>
                <a:lnTo>
                  <a:pt x="3274" y="374633"/>
                </a:lnTo>
                <a:lnTo>
                  <a:pt x="0" y="32987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709960" y="4993058"/>
            <a:ext cx="717550" cy="659765"/>
          </a:xfrm>
          <a:custGeom>
            <a:avLst/>
            <a:gdLst/>
            <a:ahLst/>
            <a:cxnLst/>
            <a:rect l="l" t="t" r="r" b="b"/>
            <a:pathLst>
              <a:path w="717550" h="659764">
                <a:moveTo>
                  <a:pt x="0" y="329872"/>
                </a:moveTo>
                <a:lnTo>
                  <a:pt x="3274" y="285110"/>
                </a:lnTo>
                <a:lnTo>
                  <a:pt x="12813" y="242178"/>
                </a:lnTo>
                <a:lnTo>
                  <a:pt x="28189" y="201470"/>
                </a:lnTo>
                <a:lnTo>
                  <a:pt x="48975" y="163379"/>
                </a:lnTo>
                <a:lnTo>
                  <a:pt x="74743" y="128297"/>
                </a:lnTo>
                <a:lnTo>
                  <a:pt x="105066" y="96617"/>
                </a:lnTo>
                <a:lnTo>
                  <a:pt x="139516" y="68732"/>
                </a:lnTo>
                <a:lnTo>
                  <a:pt x="177666" y="45037"/>
                </a:lnTo>
                <a:lnTo>
                  <a:pt x="219089" y="25922"/>
                </a:lnTo>
                <a:lnTo>
                  <a:pt x="263356" y="11783"/>
                </a:lnTo>
                <a:lnTo>
                  <a:pt x="310042" y="3011"/>
                </a:lnTo>
                <a:lnTo>
                  <a:pt x="358718" y="0"/>
                </a:lnTo>
                <a:lnTo>
                  <a:pt x="407394" y="3011"/>
                </a:lnTo>
                <a:lnTo>
                  <a:pt x="454080" y="11783"/>
                </a:lnTo>
                <a:lnTo>
                  <a:pt x="498347" y="25922"/>
                </a:lnTo>
                <a:lnTo>
                  <a:pt x="539770" y="45037"/>
                </a:lnTo>
                <a:lnTo>
                  <a:pt x="577920" y="68732"/>
                </a:lnTo>
                <a:lnTo>
                  <a:pt x="612370" y="96617"/>
                </a:lnTo>
                <a:lnTo>
                  <a:pt x="642693" y="128297"/>
                </a:lnTo>
                <a:lnTo>
                  <a:pt x="668461" y="163379"/>
                </a:lnTo>
                <a:lnTo>
                  <a:pt x="689247" y="201470"/>
                </a:lnTo>
                <a:lnTo>
                  <a:pt x="704623" y="242178"/>
                </a:lnTo>
                <a:lnTo>
                  <a:pt x="714162" y="285110"/>
                </a:lnTo>
                <a:lnTo>
                  <a:pt x="717437" y="329872"/>
                </a:lnTo>
                <a:lnTo>
                  <a:pt x="714162" y="374633"/>
                </a:lnTo>
                <a:lnTo>
                  <a:pt x="704623" y="417565"/>
                </a:lnTo>
                <a:lnTo>
                  <a:pt x="689247" y="458273"/>
                </a:lnTo>
                <a:lnTo>
                  <a:pt x="668461" y="496364"/>
                </a:lnTo>
                <a:lnTo>
                  <a:pt x="642693" y="531446"/>
                </a:lnTo>
                <a:lnTo>
                  <a:pt x="612370" y="563126"/>
                </a:lnTo>
                <a:lnTo>
                  <a:pt x="577920" y="591011"/>
                </a:lnTo>
                <a:lnTo>
                  <a:pt x="539770" y="614706"/>
                </a:lnTo>
                <a:lnTo>
                  <a:pt x="498347" y="633821"/>
                </a:lnTo>
                <a:lnTo>
                  <a:pt x="454080" y="647960"/>
                </a:lnTo>
                <a:lnTo>
                  <a:pt x="407394" y="656732"/>
                </a:lnTo>
                <a:lnTo>
                  <a:pt x="358718" y="659744"/>
                </a:lnTo>
                <a:lnTo>
                  <a:pt x="310042" y="656732"/>
                </a:lnTo>
                <a:lnTo>
                  <a:pt x="263356" y="647960"/>
                </a:lnTo>
                <a:lnTo>
                  <a:pt x="219089" y="633821"/>
                </a:lnTo>
                <a:lnTo>
                  <a:pt x="177666" y="614706"/>
                </a:lnTo>
                <a:lnTo>
                  <a:pt x="139516" y="591011"/>
                </a:lnTo>
                <a:lnTo>
                  <a:pt x="105066" y="563126"/>
                </a:lnTo>
                <a:lnTo>
                  <a:pt x="74743" y="531446"/>
                </a:lnTo>
                <a:lnTo>
                  <a:pt x="48975" y="496364"/>
                </a:lnTo>
                <a:lnTo>
                  <a:pt x="28189" y="458273"/>
                </a:lnTo>
                <a:lnTo>
                  <a:pt x="12813" y="417565"/>
                </a:lnTo>
                <a:lnTo>
                  <a:pt x="3274" y="374633"/>
                </a:lnTo>
                <a:lnTo>
                  <a:pt x="0" y="32987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446166" y="5354930"/>
            <a:ext cx="387985" cy="377825"/>
          </a:xfrm>
          <a:custGeom>
            <a:avLst/>
            <a:gdLst/>
            <a:ahLst/>
            <a:cxnLst/>
            <a:rect l="l" t="t" r="r" b="b"/>
            <a:pathLst>
              <a:path w="387985" h="377825">
                <a:moveTo>
                  <a:pt x="193963" y="0"/>
                </a:moveTo>
                <a:lnTo>
                  <a:pt x="149489" y="4985"/>
                </a:lnTo>
                <a:lnTo>
                  <a:pt x="108663" y="19186"/>
                </a:lnTo>
                <a:lnTo>
                  <a:pt x="72649" y="41470"/>
                </a:lnTo>
                <a:lnTo>
                  <a:pt x="42611" y="70703"/>
                </a:lnTo>
                <a:lnTo>
                  <a:pt x="19714" y="105752"/>
                </a:lnTo>
                <a:lnTo>
                  <a:pt x="5122" y="145485"/>
                </a:lnTo>
                <a:lnTo>
                  <a:pt x="0" y="188767"/>
                </a:lnTo>
                <a:lnTo>
                  <a:pt x="5122" y="232050"/>
                </a:lnTo>
                <a:lnTo>
                  <a:pt x="19714" y="271783"/>
                </a:lnTo>
                <a:lnTo>
                  <a:pt x="42611" y="306832"/>
                </a:lnTo>
                <a:lnTo>
                  <a:pt x="72649" y="336065"/>
                </a:lnTo>
                <a:lnTo>
                  <a:pt x="108663" y="358349"/>
                </a:lnTo>
                <a:lnTo>
                  <a:pt x="149489" y="372550"/>
                </a:lnTo>
                <a:lnTo>
                  <a:pt x="193963" y="377535"/>
                </a:lnTo>
                <a:lnTo>
                  <a:pt x="238437" y="372550"/>
                </a:lnTo>
                <a:lnTo>
                  <a:pt x="279263" y="358349"/>
                </a:lnTo>
                <a:lnTo>
                  <a:pt x="315277" y="336065"/>
                </a:lnTo>
                <a:lnTo>
                  <a:pt x="345315" y="306832"/>
                </a:lnTo>
                <a:lnTo>
                  <a:pt x="368211" y="271783"/>
                </a:lnTo>
                <a:lnTo>
                  <a:pt x="382803" y="232050"/>
                </a:lnTo>
                <a:lnTo>
                  <a:pt x="387926" y="188767"/>
                </a:lnTo>
                <a:lnTo>
                  <a:pt x="382803" y="145485"/>
                </a:lnTo>
                <a:lnTo>
                  <a:pt x="368211" y="105752"/>
                </a:lnTo>
                <a:lnTo>
                  <a:pt x="345315" y="70703"/>
                </a:lnTo>
                <a:lnTo>
                  <a:pt x="315277" y="41470"/>
                </a:lnTo>
                <a:lnTo>
                  <a:pt x="279263" y="19186"/>
                </a:lnTo>
                <a:lnTo>
                  <a:pt x="238437" y="4985"/>
                </a:lnTo>
                <a:lnTo>
                  <a:pt x="193963" y="0"/>
                </a:lnTo>
                <a:close/>
              </a:path>
            </a:pathLst>
          </a:custGeom>
          <a:solidFill>
            <a:srgbClr val="F0A7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446166" y="5354930"/>
            <a:ext cx="387985" cy="377825"/>
          </a:xfrm>
          <a:custGeom>
            <a:avLst/>
            <a:gdLst/>
            <a:ahLst/>
            <a:cxnLst/>
            <a:rect l="l" t="t" r="r" b="b"/>
            <a:pathLst>
              <a:path w="387985" h="377825">
                <a:moveTo>
                  <a:pt x="0" y="188768"/>
                </a:moveTo>
                <a:lnTo>
                  <a:pt x="5122" y="145485"/>
                </a:lnTo>
                <a:lnTo>
                  <a:pt x="19714" y="105752"/>
                </a:lnTo>
                <a:lnTo>
                  <a:pt x="42611" y="70703"/>
                </a:lnTo>
                <a:lnTo>
                  <a:pt x="72649" y="41470"/>
                </a:lnTo>
                <a:lnTo>
                  <a:pt x="108663" y="19186"/>
                </a:lnTo>
                <a:lnTo>
                  <a:pt x="149489" y="4985"/>
                </a:lnTo>
                <a:lnTo>
                  <a:pt x="193963" y="0"/>
                </a:lnTo>
                <a:lnTo>
                  <a:pt x="238437" y="4985"/>
                </a:lnTo>
                <a:lnTo>
                  <a:pt x="279263" y="19186"/>
                </a:lnTo>
                <a:lnTo>
                  <a:pt x="315277" y="41470"/>
                </a:lnTo>
                <a:lnTo>
                  <a:pt x="345315" y="70703"/>
                </a:lnTo>
                <a:lnTo>
                  <a:pt x="368212" y="105752"/>
                </a:lnTo>
                <a:lnTo>
                  <a:pt x="382804" y="145485"/>
                </a:lnTo>
                <a:lnTo>
                  <a:pt x="387927" y="188768"/>
                </a:lnTo>
                <a:lnTo>
                  <a:pt x="382804" y="232050"/>
                </a:lnTo>
                <a:lnTo>
                  <a:pt x="368212" y="271783"/>
                </a:lnTo>
                <a:lnTo>
                  <a:pt x="345315" y="306832"/>
                </a:lnTo>
                <a:lnTo>
                  <a:pt x="315277" y="336065"/>
                </a:lnTo>
                <a:lnTo>
                  <a:pt x="279263" y="358349"/>
                </a:lnTo>
                <a:lnTo>
                  <a:pt x="238437" y="372550"/>
                </a:lnTo>
                <a:lnTo>
                  <a:pt x="193963" y="377536"/>
                </a:lnTo>
                <a:lnTo>
                  <a:pt x="149489" y="372550"/>
                </a:lnTo>
                <a:lnTo>
                  <a:pt x="108663" y="358349"/>
                </a:lnTo>
                <a:lnTo>
                  <a:pt x="72649" y="336065"/>
                </a:lnTo>
                <a:lnTo>
                  <a:pt x="42611" y="306832"/>
                </a:lnTo>
                <a:lnTo>
                  <a:pt x="19714" y="271783"/>
                </a:lnTo>
                <a:lnTo>
                  <a:pt x="5122" y="232050"/>
                </a:lnTo>
                <a:lnTo>
                  <a:pt x="0" y="188768"/>
                </a:lnTo>
                <a:close/>
              </a:path>
            </a:pathLst>
          </a:custGeom>
          <a:ln w="38100">
            <a:solidFill>
              <a:srgbClr val="D9253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613944" y="4949755"/>
            <a:ext cx="387985" cy="377825"/>
          </a:xfrm>
          <a:custGeom>
            <a:avLst/>
            <a:gdLst/>
            <a:ahLst/>
            <a:cxnLst/>
            <a:rect l="l" t="t" r="r" b="b"/>
            <a:pathLst>
              <a:path w="387984" h="377825">
                <a:moveTo>
                  <a:pt x="193963" y="0"/>
                </a:moveTo>
                <a:lnTo>
                  <a:pt x="149489" y="4985"/>
                </a:lnTo>
                <a:lnTo>
                  <a:pt x="108663" y="19186"/>
                </a:lnTo>
                <a:lnTo>
                  <a:pt x="72649" y="41470"/>
                </a:lnTo>
                <a:lnTo>
                  <a:pt x="42611" y="70703"/>
                </a:lnTo>
                <a:lnTo>
                  <a:pt x="19714" y="105752"/>
                </a:lnTo>
                <a:lnTo>
                  <a:pt x="5122" y="145485"/>
                </a:lnTo>
                <a:lnTo>
                  <a:pt x="0" y="188767"/>
                </a:lnTo>
                <a:lnTo>
                  <a:pt x="5122" y="232050"/>
                </a:lnTo>
                <a:lnTo>
                  <a:pt x="19714" y="271783"/>
                </a:lnTo>
                <a:lnTo>
                  <a:pt x="42611" y="306832"/>
                </a:lnTo>
                <a:lnTo>
                  <a:pt x="72649" y="336065"/>
                </a:lnTo>
                <a:lnTo>
                  <a:pt x="108663" y="358349"/>
                </a:lnTo>
                <a:lnTo>
                  <a:pt x="149489" y="372549"/>
                </a:lnTo>
                <a:lnTo>
                  <a:pt x="193963" y="377535"/>
                </a:lnTo>
                <a:lnTo>
                  <a:pt x="238437" y="372549"/>
                </a:lnTo>
                <a:lnTo>
                  <a:pt x="279263" y="358349"/>
                </a:lnTo>
                <a:lnTo>
                  <a:pt x="315277" y="336065"/>
                </a:lnTo>
                <a:lnTo>
                  <a:pt x="345315" y="306832"/>
                </a:lnTo>
                <a:lnTo>
                  <a:pt x="368211" y="271783"/>
                </a:lnTo>
                <a:lnTo>
                  <a:pt x="382803" y="232050"/>
                </a:lnTo>
                <a:lnTo>
                  <a:pt x="387926" y="188767"/>
                </a:lnTo>
                <a:lnTo>
                  <a:pt x="382803" y="145485"/>
                </a:lnTo>
                <a:lnTo>
                  <a:pt x="368211" y="105752"/>
                </a:lnTo>
                <a:lnTo>
                  <a:pt x="345315" y="70703"/>
                </a:lnTo>
                <a:lnTo>
                  <a:pt x="315277" y="41470"/>
                </a:lnTo>
                <a:lnTo>
                  <a:pt x="279263" y="19186"/>
                </a:lnTo>
                <a:lnTo>
                  <a:pt x="238437" y="4985"/>
                </a:lnTo>
                <a:lnTo>
                  <a:pt x="193963" y="0"/>
                </a:lnTo>
                <a:close/>
              </a:path>
            </a:pathLst>
          </a:custGeom>
          <a:solidFill>
            <a:srgbClr val="F0A7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613944" y="4949755"/>
            <a:ext cx="387985" cy="377825"/>
          </a:xfrm>
          <a:custGeom>
            <a:avLst/>
            <a:gdLst/>
            <a:ahLst/>
            <a:cxnLst/>
            <a:rect l="l" t="t" r="r" b="b"/>
            <a:pathLst>
              <a:path w="387984" h="377825">
                <a:moveTo>
                  <a:pt x="0" y="188768"/>
                </a:moveTo>
                <a:lnTo>
                  <a:pt x="5122" y="145485"/>
                </a:lnTo>
                <a:lnTo>
                  <a:pt x="19714" y="105752"/>
                </a:lnTo>
                <a:lnTo>
                  <a:pt x="42611" y="70703"/>
                </a:lnTo>
                <a:lnTo>
                  <a:pt x="72649" y="41470"/>
                </a:lnTo>
                <a:lnTo>
                  <a:pt x="108663" y="19186"/>
                </a:lnTo>
                <a:lnTo>
                  <a:pt x="149489" y="4985"/>
                </a:lnTo>
                <a:lnTo>
                  <a:pt x="193963" y="0"/>
                </a:lnTo>
                <a:lnTo>
                  <a:pt x="238437" y="4985"/>
                </a:lnTo>
                <a:lnTo>
                  <a:pt x="279263" y="19186"/>
                </a:lnTo>
                <a:lnTo>
                  <a:pt x="315277" y="41470"/>
                </a:lnTo>
                <a:lnTo>
                  <a:pt x="345315" y="70703"/>
                </a:lnTo>
                <a:lnTo>
                  <a:pt x="368212" y="105752"/>
                </a:lnTo>
                <a:lnTo>
                  <a:pt x="382804" y="145485"/>
                </a:lnTo>
                <a:lnTo>
                  <a:pt x="387927" y="188768"/>
                </a:lnTo>
                <a:lnTo>
                  <a:pt x="382804" y="232050"/>
                </a:lnTo>
                <a:lnTo>
                  <a:pt x="368212" y="271783"/>
                </a:lnTo>
                <a:lnTo>
                  <a:pt x="345315" y="306832"/>
                </a:lnTo>
                <a:lnTo>
                  <a:pt x="315277" y="336065"/>
                </a:lnTo>
                <a:lnTo>
                  <a:pt x="279263" y="358349"/>
                </a:lnTo>
                <a:lnTo>
                  <a:pt x="238437" y="372550"/>
                </a:lnTo>
                <a:lnTo>
                  <a:pt x="193963" y="377536"/>
                </a:lnTo>
                <a:lnTo>
                  <a:pt x="149489" y="372550"/>
                </a:lnTo>
                <a:lnTo>
                  <a:pt x="108663" y="358349"/>
                </a:lnTo>
                <a:lnTo>
                  <a:pt x="72649" y="336065"/>
                </a:lnTo>
                <a:lnTo>
                  <a:pt x="42611" y="306832"/>
                </a:lnTo>
                <a:lnTo>
                  <a:pt x="19714" y="271783"/>
                </a:lnTo>
                <a:lnTo>
                  <a:pt x="5122" y="232050"/>
                </a:lnTo>
                <a:lnTo>
                  <a:pt x="0" y="188768"/>
                </a:lnTo>
                <a:close/>
              </a:path>
            </a:pathLst>
          </a:custGeom>
          <a:ln w="38100">
            <a:solidFill>
              <a:srgbClr val="D9253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882402" y="2494991"/>
            <a:ext cx="640715" cy="54292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77470">
              <a:lnSpc>
                <a:spcPct val="100000"/>
              </a:lnSpc>
              <a:spcBef>
                <a:spcPts val="795"/>
              </a:spcBef>
            </a:pPr>
            <a:r>
              <a:rPr dirty="0" sz="1400" spc="1430">
                <a:latin typeface="Cambria Math"/>
                <a:cs typeface="Cambria Math"/>
              </a:rPr>
              <a:t>,</a:t>
            </a:r>
            <a:r>
              <a:rPr dirty="0" sz="1400" spc="335">
                <a:latin typeface="Cambria Math"/>
                <a:cs typeface="Cambria Math"/>
              </a:rPr>
              <a:t> </a:t>
            </a:r>
            <a:r>
              <a:rPr dirty="0" sz="1400" spc="50">
                <a:latin typeface="Cambria Math"/>
                <a:cs typeface="Cambria Math"/>
              </a:rPr>
              <a:t>𝐴</a:t>
            </a:r>
            <a:r>
              <a:rPr dirty="0" baseline="-13888" sz="1500" spc="75">
                <a:latin typeface="Cambria Math"/>
                <a:cs typeface="Cambria Math"/>
              </a:rPr>
              <a:t>!"</a:t>
            </a:r>
            <a:endParaRPr baseline="-13888" sz="15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1000" spc="25">
                <a:latin typeface="Cambria Math"/>
                <a:cs typeface="Cambria Math"/>
              </a:rPr>
              <a:t>!,"∈%</a:t>
            </a:r>
            <a:r>
              <a:rPr dirty="0" baseline="-13888" sz="1200" spc="37">
                <a:latin typeface="Cambria Math"/>
                <a:cs typeface="Cambria Math"/>
              </a:rPr>
              <a:t>!</a:t>
            </a:r>
            <a:endParaRPr baseline="-13888" sz="12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64412" y="6186119"/>
            <a:ext cx="640715" cy="54292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77470">
              <a:lnSpc>
                <a:spcPct val="100000"/>
              </a:lnSpc>
              <a:spcBef>
                <a:spcPts val="795"/>
              </a:spcBef>
            </a:pPr>
            <a:r>
              <a:rPr dirty="0" sz="1400" spc="1430">
                <a:latin typeface="Cambria Math"/>
                <a:cs typeface="Cambria Math"/>
              </a:rPr>
              <a:t>,</a:t>
            </a:r>
            <a:r>
              <a:rPr dirty="0" sz="1400" spc="335">
                <a:latin typeface="Cambria Math"/>
                <a:cs typeface="Cambria Math"/>
              </a:rPr>
              <a:t> </a:t>
            </a:r>
            <a:r>
              <a:rPr dirty="0" sz="1400" spc="50">
                <a:latin typeface="Cambria Math"/>
                <a:cs typeface="Cambria Math"/>
              </a:rPr>
              <a:t>𝐴</a:t>
            </a:r>
            <a:r>
              <a:rPr dirty="0" baseline="-16666" sz="1500" spc="75">
                <a:latin typeface="Cambria Math"/>
                <a:cs typeface="Cambria Math"/>
              </a:rPr>
              <a:t>!"</a:t>
            </a:r>
            <a:endParaRPr baseline="-16666" sz="15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1000" spc="5">
                <a:latin typeface="Cambria Math"/>
                <a:cs typeface="Cambria Math"/>
              </a:rPr>
              <a:t>!,"∈%</a:t>
            </a:r>
            <a:r>
              <a:rPr dirty="0" baseline="-13888" sz="1200" spc="7">
                <a:latin typeface="Cambria Math"/>
                <a:cs typeface="Cambria Math"/>
              </a:rPr>
              <a:t>"</a:t>
            </a:r>
            <a:endParaRPr baseline="-13888" sz="12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465502" y="5183327"/>
            <a:ext cx="640715" cy="54292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77470">
              <a:lnSpc>
                <a:spcPct val="100000"/>
              </a:lnSpc>
              <a:spcBef>
                <a:spcPts val="795"/>
              </a:spcBef>
            </a:pPr>
            <a:r>
              <a:rPr dirty="0" sz="1400" spc="1430">
                <a:latin typeface="Cambria Math"/>
                <a:cs typeface="Cambria Math"/>
              </a:rPr>
              <a:t>,</a:t>
            </a:r>
            <a:r>
              <a:rPr dirty="0" sz="1400" spc="335">
                <a:latin typeface="Cambria Math"/>
                <a:cs typeface="Cambria Math"/>
              </a:rPr>
              <a:t> </a:t>
            </a:r>
            <a:r>
              <a:rPr dirty="0" sz="1400" spc="50">
                <a:latin typeface="Cambria Math"/>
                <a:cs typeface="Cambria Math"/>
              </a:rPr>
              <a:t>𝐴</a:t>
            </a:r>
            <a:r>
              <a:rPr dirty="0" baseline="-16666" sz="1500" spc="75">
                <a:latin typeface="Cambria Math"/>
                <a:cs typeface="Cambria Math"/>
              </a:rPr>
              <a:t>!"</a:t>
            </a:r>
            <a:endParaRPr baseline="-16666" sz="15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1000" spc="-20">
                <a:latin typeface="Cambria Math"/>
                <a:cs typeface="Cambria Math"/>
              </a:rPr>
              <a:t>!,"∈%</a:t>
            </a:r>
            <a:r>
              <a:rPr dirty="0" baseline="-13888" sz="1200" spc="-30">
                <a:latin typeface="Cambria Math"/>
                <a:cs typeface="Cambria Math"/>
              </a:rPr>
              <a:t>#</a:t>
            </a:r>
            <a:endParaRPr baseline="-13888" sz="12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62281" y="4317694"/>
            <a:ext cx="605790" cy="54292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algn="ctr" marL="8255">
              <a:lnSpc>
                <a:spcPct val="100000"/>
              </a:lnSpc>
              <a:spcBef>
                <a:spcPts val="795"/>
              </a:spcBef>
            </a:pPr>
            <a:r>
              <a:rPr dirty="0" sz="1400" spc="1430">
                <a:latin typeface="Cambria Math"/>
                <a:cs typeface="Cambria Math"/>
              </a:rPr>
              <a:t>,</a:t>
            </a:r>
            <a:endParaRPr sz="14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495"/>
              </a:spcBef>
            </a:pPr>
            <a:r>
              <a:rPr dirty="0" sz="1000" spc="0">
                <a:latin typeface="Cambria Math"/>
                <a:cs typeface="Cambria Math"/>
              </a:rPr>
              <a:t>!∈%</a:t>
            </a:r>
            <a:r>
              <a:rPr dirty="0" baseline="-13888" sz="1200" spc="0">
                <a:latin typeface="Cambria Math"/>
                <a:cs typeface="Cambria Math"/>
              </a:rPr>
              <a:t>!</a:t>
            </a:r>
            <a:r>
              <a:rPr dirty="0" sz="1000" spc="0">
                <a:latin typeface="Cambria Math"/>
                <a:cs typeface="Cambria Math"/>
              </a:rPr>
              <a:t>,"∈%</a:t>
            </a:r>
            <a:r>
              <a:rPr dirty="0" baseline="-13888" sz="1200" spc="0">
                <a:latin typeface="Cambria Math"/>
                <a:cs typeface="Cambria Math"/>
              </a:rPr>
              <a:t>"</a:t>
            </a:r>
            <a:endParaRPr baseline="-13888" sz="12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80453" y="4442460"/>
            <a:ext cx="24574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904" sz="2100">
                <a:latin typeface="Cambria Math"/>
                <a:cs typeface="Cambria Math"/>
              </a:rPr>
              <a:t>𝐴</a:t>
            </a:r>
            <a:r>
              <a:rPr dirty="0" sz="1000" spc="75">
                <a:latin typeface="Cambria Math"/>
                <a:cs typeface="Cambria Math"/>
              </a:rPr>
              <a:t>!"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987113" y="3853179"/>
            <a:ext cx="605790" cy="54991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algn="ctr" marL="8255">
              <a:lnSpc>
                <a:spcPct val="100000"/>
              </a:lnSpc>
              <a:spcBef>
                <a:spcPts val="825"/>
              </a:spcBef>
            </a:pPr>
            <a:r>
              <a:rPr dirty="0" sz="1400" spc="1430">
                <a:latin typeface="Cambria Math"/>
                <a:cs typeface="Cambria Math"/>
              </a:rPr>
              <a:t>,</a:t>
            </a:r>
            <a:endParaRPr sz="14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515"/>
              </a:spcBef>
            </a:pPr>
            <a:r>
              <a:rPr dirty="0" sz="1000" spc="-15">
                <a:latin typeface="Cambria Math"/>
                <a:cs typeface="Cambria Math"/>
              </a:rPr>
              <a:t>!∈%</a:t>
            </a:r>
            <a:r>
              <a:rPr dirty="0" baseline="-13888" sz="1200" spc="-22">
                <a:latin typeface="Cambria Math"/>
                <a:cs typeface="Cambria Math"/>
              </a:rPr>
              <a:t>!</a:t>
            </a:r>
            <a:r>
              <a:rPr dirty="0" sz="1000" spc="-15">
                <a:latin typeface="Cambria Math"/>
                <a:cs typeface="Cambria Math"/>
              </a:rPr>
              <a:t>,"∈%</a:t>
            </a:r>
            <a:r>
              <a:rPr dirty="0" baseline="-13888" sz="1200" spc="-22">
                <a:latin typeface="Cambria Math"/>
                <a:cs typeface="Cambria Math"/>
              </a:rPr>
              <a:t>#</a:t>
            </a:r>
            <a:endParaRPr baseline="-13888" sz="12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605285" y="3982211"/>
            <a:ext cx="24574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904" sz="2100">
                <a:latin typeface="Cambria Math"/>
                <a:cs typeface="Cambria Math"/>
              </a:rPr>
              <a:t>𝐴</a:t>
            </a:r>
            <a:r>
              <a:rPr dirty="0" sz="1000" spc="75">
                <a:latin typeface="Cambria Math"/>
                <a:cs typeface="Cambria Math"/>
              </a:rPr>
              <a:t>!"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537402" y="5407659"/>
            <a:ext cx="605790" cy="54991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algn="ctr" marL="8255">
              <a:lnSpc>
                <a:spcPct val="100000"/>
              </a:lnSpc>
              <a:spcBef>
                <a:spcPts val="825"/>
              </a:spcBef>
            </a:pPr>
            <a:r>
              <a:rPr dirty="0" sz="1400" spc="1430">
                <a:latin typeface="Cambria Math"/>
                <a:cs typeface="Cambria Math"/>
              </a:rPr>
              <a:t>,</a:t>
            </a:r>
            <a:endParaRPr sz="14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515"/>
              </a:spcBef>
            </a:pPr>
            <a:r>
              <a:rPr dirty="0" sz="1000" spc="-25">
                <a:latin typeface="Cambria Math"/>
                <a:cs typeface="Cambria Math"/>
              </a:rPr>
              <a:t>!∈%</a:t>
            </a:r>
            <a:r>
              <a:rPr dirty="0" baseline="-13888" sz="1200" spc="-37">
                <a:latin typeface="Cambria Math"/>
                <a:cs typeface="Cambria Math"/>
              </a:rPr>
              <a:t>"</a:t>
            </a:r>
            <a:r>
              <a:rPr dirty="0" sz="1000" spc="-25">
                <a:latin typeface="Cambria Math"/>
                <a:cs typeface="Cambria Math"/>
              </a:rPr>
              <a:t>,"∈%</a:t>
            </a:r>
            <a:r>
              <a:rPr dirty="0" baseline="-13888" sz="1200" spc="-37">
                <a:latin typeface="Cambria Math"/>
                <a:cs typeface="Cambria Math"/>
              </a:rPr>
              <a:t>#</a:t>
            </a:r>
            <a:endParaRPr baseline="-13888" sz="12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155574" y="5536691"/>
            <a:ext cx="24574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904" sz="2100">
                <a:latin typeface="Cambria Math"/>
                <a:cs typeface="Cambria Math"/>
              </a:rPr>
              <a:t>𝐴</a:t>
            </a:r>
            <a:r>
              <a:rPr dirty="0" sz="1000" spc="75">
                <a:latin typeface="Cambria Math"/>
                <a:cs typeface="Cambria Math"/>
              </a:rPr>
              <a:t>!"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782952" y="4045526"/>
            <a:ext cx="1009650" cy="1093470"/>
          </a:xfrm>
          <a:custGeom>
            <a:avLst/>
            <a:gdLst/>
            <a:ahLst/>
            <a:cxnLst/>
            <a:rect l="l" t="t" r="r" b="b"/>
            <a:pathLst>
              <a:path w="1009650" h="1093470">
                <a:moveTo>
                  <a:pt x="504670" y="0"/>
                </a:moveTo>
                <a:lnTo>
                  <a:pt x="504670" y="273249"/>
                </a:lnTo>
                <a:lnTo>
                  <a:pt x="0" y="273249"/>
                </a:lnTo>
                <a:lnTo>
                  <a:pt x="0" y="819746"/>
                </a:lnTo>
                <a:lnTo>
                  <a:pt x="504670" y="819746"/>
                </a:lnTo>
                <a:lnTo>
                  <a:pt x="504670" y="1092996"/>
                </a:lnTo>
                <a:lnTo>
                  <a:pt x="1009338" y="546498"/>
                </a:lnTo>
                <a:lnTo>
                  <a:pt x="504670" y="0"/>
                </a:lnTo>
                <a:close/>
              </a:path>
            </a:pathLst>
          </a:custGeom>
          <a:solidFill>
            <a:srgbClr val="C4E2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782952" y="4045526"/>
            <a:ext cx="1009650" cy="1093470"/>
          </a:xfrm>
          <a:custGeom>
            <a:avLst/>
            <a:gdLst/>
            <a:ahLst/>
            <a:cxnLst/>
            <a:rect l="l" t="t" r="r" b="b"/>
            <a:pathLst>
              <a:path w="1009650" h="1093470">
                <a:moveTo>
                  <a:pt x="0" y="273249"/>
                </a:moveTo>
                <a:lnTo>
                  <a:pt x="504669" y="273249"/>
                </a:lnTo>
                <a:lnTo>
                  <a:pt x="504669" y="0"/>
                </a:lnTo>
                <a:lnTo>
                  <a:pt x="1009339" y="546498"/>
                </a:lnTo>
                <a:lnTo>
                  <a:pt x="504669" y="1092996"/>
                </a:lnTo>
                <a:lnTo>
                  <a:pt x="504669" y="819747"/>
                </a:lnTo>
                <a:lnTo>
                  <a:pt x="0" y="819747"/>
                </a:lnTo>
                <a:lnTo>
                  <a:pt x="0" y="273249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42</a:t>
            </a:fld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51104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4227" y="6694423"/>
            <a:ext cx="343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3/6/21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73615" y="6694423"/>
            <a:ext cx="26390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CS246: </a:t>
            </a: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Mining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Massive</a:t>
            </a:r>
            <a:r>
              <a:rPr dirty="0" sz="900" spc="1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Datasets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43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3400" y="1171968"/>
            <a:ext cx="8305800" cy="54117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959117" y="3030200"/>
            <a:ext cx="280670" cy="314325"/>
          </a:xfrm>
          <a:custGeom>
            <a:avLst/>
            <a:gdLst/>
            <a:ahLst/>
            <a:cxnLst/>
            <a:rect l="l" t="t" r="r" b="b"/>
            <a:pathLst>
              <a:path w="280670" h="314325">
                <a:moveTo>
                  <a:pt x="280328" y="0"/>
                </a:moveTo>
                <a:lnTo>
                  <a:pt x="0" y="31370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49503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961713" y="1158618"/>
            <a:ext cx="5074865" cy="55101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096000" y="1295400"/>
            <a:ext cx="2667000" cy="1704339"/>
          </a:xfrm>
          <a:custGeom>
            <a:avLst/>
            <a:gdLst/>
            <a:ahLst/>
            <a:cxnLst/>
            <a:rect l="l" t="t" r="r" b="b"/>
            <a:pathLst>
              <a:path w="2667000" h="1704339">
                <a:moveTo>
                  <a:pt x="2383006" y="0"/>
                </a:moveTo>
                <a:lnTo>
                  <a:pt x="283992" y="0"/>
                </a:lnTo>
                <a:lnTo>
                  <a:pt x="237927" y="3716"/>
                </a:lnTo>
                <a:lnTo>
                  <a:pt x="194228" y="14478"/>
                </a:lnTo>
                <a:lnTo>
                  <a:pt x="153481" y="31698"/>
                </a:lnTo>
                <a:lnTo>
                  <a:pt x="116269" y="54793"/>
                </a:lnTo>
                <a:lnTo>
                  <a:pt x="83179" y="83179"/>
                </a:lnTo>
                <a:lnTo>
                  <a:pt x="54793" y="116269"/>
                </a:lnTo>
                <a:lnTo>
                  <a:pt x="31698" y="153481"/>
                </a:lnTo>
                <a:lnTo>
                  <a:pt x="14478" y="194228"/>
                </a:lnTo>
                <a:lnTo>
                  <a:pt x="3716" y="237927"/>
                </a:lnTo>
                <a:lnTo>
                  <a:pt x="0" y="283992"/>
                </a:lnTo>
                <a:lnTo>
                  <a:pt x="0" y="1419923"/>
                </a:lnTo>
                <a:lnTo>
                  <a:pt x="3716" y="1465988"/>
                </a:lnTo>
                <a:lnTo>
                  <a:pt x="14478" y="1509687"/>
                </a:lnTo>
                <a:lnTo>
                  <a:pt x="31698" y="1550434"/>
                </a:lnTo>
                <a:lnTo>
                  <a:pt x="54793" y="1587646"/>
                </a:lnTo>
                <a:lnTo>
                  <a:pt x="83179" y="1620737"/>
                </a:lnTo>
                <a:lnTo>
                  <a:pt x="116269" y="1649122"/>
                </a:lnTo>
                <a:lnTo>
                  <a:pt x="153481" y="1672218"/>
                </a:lnTo>
                <a:lnTo>
                  <a:pt x="194228" y="1689438"/>
                </a:lnTo>
                <a:lnTo>
                  <a:pt x="237927" y="1700200"/>
                </a:lnTo>
                <a:lnTo>
                  <a:pt x="283992" y="1703917"/>
                </a:lnTo>
                <a:lnTo>
                  <a:pt x="2383006" y="1703917"/>
                </a:lnTo>
                <a:lnTo>
                  <a:pt x="2429071" y="1700200"/>
                </a:lnTo>
                <a:lnTo>
                  <a:pt x="2472770" y="1689438"/>
                </a:lnTo>
                <a:lnTo>
                  <a:pt x="2513517" y="1672218"/>
                </a:lnTo>
                <a:lnTo>
                  <a:pt x="2550729" y="1649122"/>
                </a:lnTo>
                <a:lnTo>
                  <a:pt x="2583820" y="1620737"/>
                </a:lnTo>
                <a:lnTo>
                  <a:pt x="2612205" y="1587646"/>
                </a:lnTo>
                <a:lnTo>
                  <a:pt x="2635301" y="1550434"/>
                </a:lnTo>
                <a:lnTo>
                  <a:pt x="2652521" y="1509687"/>
                </a:lnTo>
                <a:lnTo>
                  <a:pt x="2663282" y="1465988"/>
                </a:lnTo>
                <a:lnTo>
                  <a:pt x="2667000" y="1419923"/>
                </a:lnTo>
                <a:lnTo>
                  <a:pt x="2667000" y="283992"/>
                </a:lnTo>
                <a:lnTo>
                  <a:pt x="2663282" y="237927"/>
                </a:lnTo>
                <a:lnTo>
                  <a:pt x="2652521" y="194228"/>
                </a:lnTo>
                <a:lnTo>
                  <a:pt x="2635301" y="153481"/>
                </a:lnTo>
                <a:lnTo>
                  <a:pt x="2612205" y="116269"/>
                </a:lnTo>
                <a:lnTo>
                  <a:pt x="2583820" y="83179"/>
                </a:lnTo>
                <a:lnTo>
                  <a:pt x="2550729" y="54793"/>
                </a:lnTo>
                <a:lnTo>
                  <a:pt x="2513517" y="31698"/>
                </a:lnTo>
                <a:lnTo>
                  <a:pt x="2472770" y="14478"/>
                </a:lnTo>
                <a:lnTo>
                  <a:pt x="2429071" y="3716"/>
                </a:lnTo>
                <a:lnTo>
                  <a:pt x="2383006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071999" y="1283417"/>
            <a:ext cx="2715260" cy="1739900"/>
          </a:xfrm>
          <a:custGeom>
            <a:avLst/>
            <a:gdLst/>
            <a:ahLst/>
            <a:cxnLst/>
            <a:rect l="l" t="t" r="r" b="b"/>
            <a:pathLst>
              <a:path w="2715259" h="1739900">
                <a:moveTo>
                  <a:pt x="2499706" y="1727200"/>
                </a:moveTo>
                <a:lnTo>
                  <a:pt x="217566" y="1727200"/>
                </a:lnTo>
                <a:lnTo>
                  <a:pt x="247138" y="1739900"/>
                </a:lnTo>
                <a:lnTo>
                  <a:pt x="2470218" y="1739900"/>
                </a:lnTo>
                <a:lnTo>
                  <a:pt x="2499706" y="1727200"/>
                </a:lnTo>
                <a:close/>
              </a:path>
              <a:path w="2715259" h="1739900">
                <a:moveTo>
                  <a:pt x="2525798" y="12700"/>
                </a:moveTo>
                <a:lnTo>
                  <a:pt x="187034" y="12700"/>
                </a:lnTo>
                <a:lnTo>
                  <a:pt x="160164" y="38100"/>
                </a:lnTo>
                <a:lnTo>
                  <a:pt x="134837" y="50800"/>
                </a:lnTo>
                <a:lnTo>
                  <a:pt x="111205" y="63500"/>
                </a:lnTo>
                <a:lnTo>
                  <a:pt x="89419" y="88900"/>
                </a:lnTo>
                <a:lnTo>
                  <a:pt x="69630" y="101600"/>
                </a:lnTo>
                <a:lnTo>
                  <a:pt x="51989" y="127000"/>
                </a:lnTo>
                <a:lnTo>
                  <a:pt x="36654" y="152400"/>
                </a:lnTo>
                <a:lnTo>
                  <a:pt x="23779" y="177800"/>
                </a:lnTo>
                <a:lnTo>
                  <a:pt x="13524" y="215900"/>
                </a:lnTo>
                <a:lnTo>
                  <a:pt x="6045" y="241300"/>
                </a:lnTo>
                <a:lnTo>
                  <a:pt x="1497" y="266700"/>
                </a:lnTo>
                <a:lnTo>
                  <a:pt x="0" y="304800"/>
                </a:lnTo>
                <a:lnTo>
                  <a:pt x="30" y="1435100"/>
                </a:lnTo>
                <a:lnTo>
                  <a:pt x="1741" y="1473200"/>
                </a:lnTo>
                <a:lnTo>
                  <a:pt x="14230" y="1536700"/>
                </a:lnTo>
                <a:lnTo>
                  <a:pt x="37764" y="1587500"/>
                </a:lnTo>
                <a:lnTo>
                  <a:pt x="71089" y="1638300"/>
                </a:lnTo>
                <a:lnTo>
                  <a:pt x="91037" y="1651000"/>
                </a:lnTo>
                <a:lnTo>
                  <a:pt x="112974" y="1676400"/>
                </a:lnTo>
                <a:lnTo>
                  <a:pt x="136748" y="1689100"/>
                </a:lnTo>
                <a:lnTo>
                  <a:pt x="162209" y="1714500"/>
                </a:lnTo>
                <a:lnTo>
                  <a:pt x="189202" y="1727200"/>
                </a:lnTo>
                <a:lnTo>
                  <a:pt x="2527966" y="1727200"/>
                </a:lnTo>
                <a:lnTo>
                  <a:pt x="2554836" y="1714500"/>
                </a:lnTo>
                <a:lnTo>
                  <a:pt x="251482" y="1714500"/>
                </a:lnTo>
                <a:lnTo>
                  <a:pt x="224737" y="1701800"/>
                </a:lnTo>
                <a:lnTo>
                  <a:pt x="199100" y="1689100"/>
                </a:lnTo>
                <a:lnTo>
                  <a:pt x="174708" y="1689100"/>
                </a:lnTo>
                <a:lnTo>
                  <a:pt x="151702" y="1663700"/>
                </a:lnTo>
                <a:lnTo>
                  <a:pt x="130221" y="1651000"/>
                </a:lnTo>
                <a:lnTo>
                  <a:pt x="110408" y="1638300"/>
                </a:lnTo>
                <a:lnTo>
                  <a:pt x="92402" y="1612900"/>
                </a:lnTo>
                <a:lnTo>
                  <a:pt x="76346" y="1600200"/>
                </a:lnTo>
                <a:lnTo>
                  <a:pt x="50642" y="1549400"/>
                </a:lnTo>
                <a:lnTo>
                  <a:pt x="34418" y="1498600"/>
                </a:lnTo>
                <a:lnTo>
                  <a:pt x="30212" y="1460500"/>
                </a:lnTo>
                <a:lnTo>
                  <a:pt x="28794" y="1435100"/>
                </a:lnTo>
                <a:lnTo>
                  <a:pt x="28799" y="304800"/>
                </a:lnTo>
                <a:lnTo>
                  <a:pt x="34514" y="241300"/>
                </a:lnTo>
                <a:lnTo>
                  <a:pt x="50825" y="190500"/>
                </a:lnTo>
                <a:lnTo>
                  <a:pt x="76603" y="139700"/>
                </a:lnTo>
                <a:lnTo>
                  <a:pt x="92694" y="127000"/>
                </a:lnTo>
                <a:lnTo>
                  <a:pt x="110732" y="101600"/>
                </a:lnTo>
                <a:lnTo>
                  <a:pt x="130576" y="88900"/>
                </a:lnTo>
                <a:lnTo>
                  <a:pt x="152085" y="76200"/>
                </a:lnTo>
                <a:lnTo>
                  <a:pt x="175117" y="50800"/>
                </a:lnTo>
                <a:lnTo>
                  <a:pt x="199533" y="50800"/>
                </a:lnTo>
                <a:lnTo>
                  <a:pt x="225192" y="38100"/>
                </a:lnTo>
                <a:lnTo>
                  <a:pt x="251954" y="25400"/>
                </a:lnTo>
                <a:lnTo>
                  <a:pt x="2552791" y="25400"/>
                </a:lnTo>
                <a:lnTo>
                  <a:pt x="2525798" y="12700"/>
                </a:lnTo>
                <a:close/>
              </a:path>
              <a:path w="2715259" h="1739900">
                <a:moveTo>
                  <a:pt x="2552791" y="25400"/>
                </a:moveTo>
                <a:lnTo>
                  <a:pt x="2463518" y="25400"/>
                </a:lnTo>
                <a:lnTo>
                  <a:pt x="2490262" y="38100"/>
                </a:lnTo>
                <a:lnTo>
                  <a:pt x="2515900" y="50800"/>
                </a:lnTo>
                <a:lnTo>
                  <a:pt x="2540292" y="50800"/>
                </a:lnTo>
                <a:lnTo>
                  <a:pt x="2563298" y="76200"/>
                </a:lnTo>
                <a:lnTo>
                  <a:pt x="2584778" y="88900"/>
                </a:lnTo>
                <a:lnTo>
                  <a:pt x="2604592" y="101600"/>
                </a:lnTo>
                <a:lnTo>
                  <a:pt x="2622598" y="127000"/>
                </a:lnTo>
                <a:lnTo>
                  <a:pt x="2638654" y="152400"/>
                </a:lnTo>
                <a:lnTo>
                  <a:pt x="2652621" y="165100"/>
                </a:lnTo>
                <a:lnTo>
                  <a:pt x="2673724" y="215900"/>
                </a:lnTo>
                <a:lnTo>
                  <a:pt x="2684788" y="279400"/>
                </a:lnTo>
                <a:lnTo>
                  <a:pt x="2686206" y="304800"/>
                </a:lnTo>
                <a:lnTo>
                  <a:pt x="2686199" y="1435100"/>
                </a:lnTo>
                <a:lnTo>
                  <a:pt x="2684740" y="1473200"/>
                </a:lnTo>
                <a:lnTo>
                  <a:pt x="2673583" y="1524000"/>
                </a:lnTo>
                <a:lnTo>
                  <a:pt x="2652398" y="1574800"/>
                </a:lnTo>
                <a:lnTo>
                  <a:pt x="2622306" y="1612900"/>
                </a:lnTo>
                <a:lnTo>
                  <a:pt x="2604268" y="1638300"/>
                </a:lnTo>
                <a:lnTo>
                  <a:pt x="2584424" y="1651000"/>
                </a:lnTo>
                <a:lnTo>
                  <a:pt x="2562915" y="1663700"/>
                </a:lnTo>
                <a:lnTo>
                  <a:pt x="2539883" y="1689100"/>
                </a:lnTo>
                <a:lnTo>
                  <a:pt x="2515467" y="1701800"/>
                </a:lnTo>
                <a:lnTo>
                  <a:pt x="2489808" y="1701800"/>
                </a:lnTo>
                <a:lnTo>
                  <a:pt x="2463046" y="1714500"/>
                </a:lnTo>
                <a:lnTo>
                  <a:pt x="2554836" y="1714500"/>
                </a:lnTo>
                <a:lnTo>
                  <a:pt x="2580163" y="1689100"/>
                </a:lnTo>
                <a:lnTo>
                  <a:pt x="2603794" y="1676400"/>
                </a:lnTo>
                <a:lnTo>
                  <a:pt x="2625581" y="1651000"/>
                </a:lnTo>
                <a:lnTo>
                  <a:pt x="2645370" y="1638300"/>
                </a:lnTo>
                <a:lnTo>
                  <a:pt x="2663009" y="1612900"/>
                </a:lnTo>
                <a:lnTo>
                  <a:pt x="2678346" y="1587500"/>
                </a:lnTo>
                <a:lnTo>
                  <a:pt x="2691220" y="1562100"/>
                </a:lnTo>
                <a:lnTo>
                  <a:pt x="2701476" y="1524000"/>
                </a:lnTo>
                <a:lnTo>
                  <a:pt x="2708955" y="1498600"/>
                </a:lnTo>
                <a:lnTo>
                  <a:pt x="2713503" y="1473200"/>
                </a:lnTo>
                <a:lnTo>
                  <a:pt x="2714999" y="1435100"/>
                </a:lnTo>
                <a:lnTo>
                  <a:pt x="2714969" y="304800"/>
                </a:lnTo>
                <a:lnTo>
                  <a:pt x="2713259" y="266700"/>
                </a:lnTo>
                <a:lnTo>
                  <a:pt x="2708474" y="241300"/>
                </a:lnTo>
                <a:lnTo>
                  <a:pt x="2700770" y="215900"/>
                </a:lnTo>
                <a:lnTo>
                  <a:pt x="2690304" y="177800"/>
                </a:lnTo>
                <a:lnTo>
                  <a:pt x="2677234" y="152400"/>
                </a:lnTo>
                <a:lnTo>
                  <a:pt x="2661719" y="127000"/>
                </a:lnTo>
                <a:lnTo>
                  <a:pt x="2643910" y="101600"/>
                </a:lnTo>
                <a:lnTo>
                  <a:pt x="2623962" y="88900"/>
                </a:lnTo>
                <a:lnTo>
                  <a:pt x="2602025" y="63500"/>
                </a:lnTo>
                <a:lnTo>
                  <a:pt x="2578251" y="50800"/>
                </a:lnTo>
                <a:lnTo>
                  <a:pt x="2552791" y="25400"/>
                </a:lnTo>
                <a:close/>
              </a:path>
              <a:path w="2715259" h="1739900">
                <a:moveTo>
                  <a:pt x="231791" y="50800"/>
                </a:moveTo>
                <a:lnTo>
                  <a:pt x="203700" y="50800"/>
                </a:lnTo>
                <a:lnTo>
                  <a:pt x="180102" y="63500"/>
                </a:lnTo>
                <a:lnTo>
                  <a:pt x="157834" y="76200"/>
                </a:lnTo>
                <a:lnTo>
                  <a:pt x="137032" y="88900"/>
                </a:lnTo>
                <a:lnTo>
                  <a:pt x="117835" y="114300"/>
                </a:lnTo>
                <a:lnTo>
                  <a:pt x="100383" y="127000"/>
                </a:lnTo>
                <a:lnTo>
                  <a:pt x="84809" y="152400"/>
                </a:lnTo>
                <a:lnTo>
                  <a:pt x="71249" y="177800"/>
                </a:lnTo>
                <a:lnTo>
                  <a:pt x="59841" y="190500"/>
                </a:lnTo>
                <a:lnTo>
                  <a:pt x="44005" y="241300"/>
                </a:lnTo>
                <a:lnTo>
                  <a:pt x="39848" y="279400"/>
                </a:lnTo>
                <a:lnTo>
                  <a:pt x="38381" y="1435100"/>
                </a:lnTo>
                <a:lnTo>
                  <a:pt x="39701" y="1460500"/>
                </a:lnTo>
                <a:lnTo>
                  <a:pt x="43715" y="1485900"/>
                </a:lnTo>
                <a:lnTo>
                  <a:pt x="50290" y="1524000"/>
                </a:lnTo>
                <a:lnTo>
                  <a:pt x="59291" y="1536700"/>
                </a:lnTo>
                <a:lnTo>
                  <a:pt x="70584" y="1562100"/>
                </a:lnTo>
                <a:lnTo>
                  <a:pt x="84034" y="1587500"/>
                </a:lnTo>
                <a:lnTo>
                  <a:pt x="99507" y="1612900"/>
                </a:lnTo>
                <a:lnTo>
                  <a:pt x="116865" y="1625600"/>
                </a:lnTo>
                <a:lnTo>
                  <a:pt x="135971" y="1651000"/>
                </a:lnTo>
                <a:lnTo>
                  <a:pt x="156686" y="1663700"/>
                </a:lnTo>
                <a:lnTo>
                  <a:pt x="178874" y="1676400"/>
                </a:lnTo>
                <a:lnTo>
                  <a:pt x="202399" y="1689100"/>
                </a:lnTo>
                <a:lnTo>
                  <a:pt x="227128" y="1701800"/>
                </a:lnTo>
                <a:lnTo>
                  <a:pt x="280167" y="1701800"/>
                </a:lnTo>
                <a:lnTo>
                  <a:pt x="254379" y="1689100"/>
                </a:lnTo>
                <a:lnTo>
                  <a:pt x="229519" y="1689100"/>
                </a:lnTo>
                <a:lnTo>
                  <a:pt x="205699" y="1676400"/>
                </a:lnTo>
                <a:lnTo>
                  <a:pt x="161670" y="1651000"/>
                </a:lnTo>
                <a:lnTo>
                  <a:pt x="123322" y="1625600"/>
                </a:lnTo>
                <a:lnTo>
                  <a:pt x="106611" y="1600200"/>
                </a:lnTo>
                <a:lnTo>
                  <a:pt x="91721" y="1587500"/>
                </a:lnTo>
                <a:lnTo>
                  <a:pt x="67939" y="1536700"/>
                </a:lnTo>
                <a:lnTo>
                  <a:pt x="53013" y="1485900"/>
                </a:lnTo>
                <a:lnTo>
                  <a:pt x="47969" y="1435100"/>
                </a:lnTo>
                <a:lnTo>
                  <a:pt x="48000" y="304800"/>
                </a:lnTo>
                <a:lnTo>
                  <a:pt x="53494" y="254000"/>
                </a:lnTo>
                <a:lnTo>
                  <a:pt x="68855" y="203200"/>
                </a:lnTo>
                <a:lnTo>
                  <a:pt x="93013" y="152400"/>
                </a:lnTo>
                <a:lnTo>
                  <a:pt x="108070" y="139700"/>
                </a:lnTo>
                <a:lnTo>
                  <a:pt x="124940" y="114300"/>
                </a:lnTo>
                <a:lnTo>
                  <a:pt x="143489" y="101600"/>
                </a:lnTo>
                <a:lnTo>
                  <a:pt x="163582" y="88900"/>
                </a:lnTo>
                <a:lnTo>
                  <a:pt x="185085" y="76200"/>
                </a:lnTo>
                <a:lnTo>
                  <a:pt x="207865" y="63500"/>
                </a:lnTo>
                <a:lnTo>
                  <a:pt x="231791" y="50800"/>
                </a:lnTo>
                <a:close/>
              </a:path>
              <a:path w="2715259" h="1739900">
                <a:moveTo>
                  <a:pt x="2512601" y="50800"/>
                </a:moveTo>
                <a:lnTo>
                  <a:pt x="2485481" y="50800"/>
                </a:lnTo>
                <a:lnTo>
                  <a:pt x="2509301" y="63500"/>
                </a:lnTo>
                <a:lnTo>
                  <a:pt x="2531959" y="76200"/>
                </a:lnTo>
                <a:lnTo>
                  <a:pt x="2553329" y="88900"/>
                </a:lnTo>
                <a:lnTo>
                  <a:pt x="2573280" y="101600"/>
                </a:lnTo>
                <a:lnTo>
                  <a:pt x="2591678" y="114300"/>
                </a:lnTo>
                <a:lnTo>
                  <a:pt x="2608389" y="139700"/>
                </a:lnTo>
                <a:lnTo>
                  <a:pt x="2623278" y="152400"/>
                </a:lnTo>
                <a:lnTo>
                  <a:pt x="2647061" y="203200"/>
                </a:lnTo>
                <a:lnTo>
                  <a:pt x="2661986" y="254000"/>
                </a:lnTo>
                <a:lnTo>
                  <a:pt x="2667030" y="304800"/>
                </a:lnTo>
                <a:lnTo>
                  <a:pt x="2666999" y="1435100"/>
                </a:lnTo>
                <a:lnTo>
                  <a:pt x="2661504" y="1485900"/>
                </a:lnTo>
                <a:lnTo>
                  <a:pt x="2646145" y="1536700"/>
                </a:lnTo>
                <a:lnTo>
                  <a:pt x="2621987" y="1587500"/>
                </a:lnTo>
                <a:lnTo>
                  <a:pt x="2606930" y="1600200"/>
                </a:lnTo>
                <a:lnTo>
                  <a:pt x="2590059" y="1625600"/>
                </a:lnTo>
                <a:lnTo>
                  <a:pt x="2551417" y="1651000"/>
                </a:lnTo>
                <a:lnTo>
                  <a:pt x="2507133" y="1676400"/>
                </a:lnTo>
                <a:lnTo>
                  <a:pt x="2483209" y="1689100"/>
                </a:lnTo>
                <a:lnTo>
                  <a:pt x="2458265" y="1689100"/>
                </a:lnTo>
                <a:lnTo>
                  <a:pt x="2432423" y="1701800"/>
                </a:lnTo>
                <a:lnTo>
                  <a:pt x="2486508" y="1701800"/>
                </a:lnTo>
                <a:lnTo>
                  <a:pt x="2511300" y="1689100"/>
                </a:lnTo>
                <a:lnTo>
                  <a:pt x="2534898" y="1676400"/>
                </a:lnTo>
                <a:lnTo>
                  <a:pt x="2557166" y="1663700"/>
                </a:lnTo>
                <a:lnTo>
                  <a:pt x="2577967" y="1651000"/>
                </a:lnTo>
                <a:lnTo>
                  <a:pt x="2597163" y="1625600"/>
                </a:lnTo>
                <a:lnTo>
                  <a:pt x="2614617" y="1612900"/>
                </a:lnTo>
                <a:lnTo>
                  <a:pt x="2630191" y="1587500"/>
                </a:lnTo>
                <a:lnTo>
                  <a:pt x="2643750" y="1562100"/>
                </a:lnTo>
                <a:lnTo>
                  <a:pt x="2655159" y="1549400"/>
                </a:lnTo>
                <a:lnTo>
                  <a:pt x="2670995" y="1498600"/>
                </a:lnTo>
                <a:lnTo>
                  <a:pt x="2675152" y="1460500"/>
                </a:lnTo>
                <a:lnTo>
                  <a:pt x="2676618" y="304800"/>
                </a:lnTo>
                <a:lnTo>
                  <a:pt x="2675298" y="279400"/>
                </a:lnTo>
                <a:lnTo>
                  <a:pt x="2664710" y="228600"/>
                </a:lnTo>
                <a:lnTo>
                  <a:pt x="2644416" y="177800"/>
                </a:lnTo>
                <a:lnTo>
                  <a:pt x="2615493" y="127000"/>
                </a:lnTo>
                <a:lnTo>
                  <a:pt x="2598135" y="114300"/>
                </a:lnTo>
                <a:lnTo>
                  <a:pt x="2579029" y="88900"/>
                </a:lnTo>
                <a:lnTo>
                  <a:pt x="2558313" y="76200"/>
                </a:lnTo>
                <a:lnTo>
                  <a:pt x="2536125" y="63500"/>
                </a:lnTo>
                <a:lnTo>
                  <a:pt x="2512601" y="50800"/>
                </a:lnTo>
                <a:close/>
              </a:path>
              <a:path w="2715259" h="1739900">
                <a:moveTo>
                  <a:pt x="282577" y="38100"/>
                </a:moveTo>
                <a:lnTo>
                  <a:pt x="254344" y="38100"/>
                </a:lnTo>
                <a:lnTo>
                  <a:pt x="228492" y="50800"/>
                </a:lnTo>
                <a:lnTo>
                  <a:pt x="256735" y="50800"/>
                </a:lnTo>
                <a:lnTo>
                  <a:pt x="282577" y="38100"/>
                </a:lnTo>
                <a:close/>
              </a:path>
              <a:path w="2715259" h="1739900">
                <a:moveTo>
                  <a:pt x="2462068" y="38100"/>
                </a:moveTo>
                <a:lnTo>
                  <a:pt x="2434833" y="38100"/>
                </a:lnTo>
                <a:lnTo>
                  <a:pt x="2460621" y="50800"/>
                </a:lnTo>
                <a:lnTo>
                  <a:pt x="2487871" y="50800"/>
                </a:lnTo>
                <a:lnTo>
                  <a:pt x="2462068" y="38100"/>
                </a:lnTo>
                <a:close/>
              </a:path>
              <a:path w="2715259" h="1739900">
                <a:moveTo>
                  <a:pt x="2467862" y="0"/>
                </a:moveTo>
                <a:lnTo>
                  <a:pt x="244782" y="0"/>
                </a:lnTo>
                <a:lnTo>
                  <a:pt x="215292" y="12700"/>
                </a:lnTo>
                <a:lnTo>
                  <a:pt x="2497434" y="12700"/>
                </a:lnTo>
                <a:lnTo>
                  <a:pt x="2467862" y="0"/>
                </a:lnTo>
                <a:close/>
              </a:path>
            </a:pathLst>
          </a:custGeom>
          <a:solidFill>
            <a:srgbClr val="4D86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340087" y="1425447"/>
            <a:ext cx="1624965" cy="406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500" spc="-5" b="0">
                <a:solidFill>
                  <a:srgbClr val="FFFFFF"/>
                </a:solidFill>
                <a:latin typeface="Corbel"/>
                <a:cs typeface="Corbel"/>
              </a:rPr>
              <a:t>2M</a:t>
            </a:r>
            <a:r>
              <a:rPr dirty="0" sz="2500" spc="-85" b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500" spc="-5" b="0">
                <a:solidFill>
                  <a:srgbClr val="FFFFFF"/>
                </a:solidFill>
                <a:latin typeface="Corbel"/>
                <a:cs typeface="Corbel"/>
              </a:rPr>
              <a:t>nodes</a:t>
            </a:r>
            <a:endParaRPr sz="2500">
              <a:latin typeface="Corbel"/>
              <a:cs typeface="Corbe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44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6340087" y="1741932"/>
            <a:ext cx="2040255" cy="106807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332740" marR="5080" indent="-320040">
              <a:lnSpc>
                <a:spcPts val="2020"/>
              </a:lnSpc>
              <a:spcBef>
                <a:spcPts val="484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000" spc="-20" b="1">
                <a:solidFill>
                  <a:srgbClr val="FFFFFF"/>
                </a:solidFill>
                <a:latin typeface="Corbel"/>
                <a:cs typeface="Corbel"/>
              </a:rPr>
              <a:t>Red </a:t>
            </a:r>
            <a:r>
              <a:rPr dirty="0" sz="2000" spc="-5" b="1">
                <a:solidFill>
                  <a:srgbClr val="FFFFFF"/>
                </a:solidFill>
                <a:latin typeface="Corbel"/>
                <a:cs typeface="Corbel"/>
              </a:rPr>
              <a:t>nodes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:  French</a:t>
            </a:r>
            <a:r>
              <a:rPr dirty="0" sz="20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orbel"/>
                <a:cs typeface="Corbel"/>
              </a:rPr>
              <a:t>speakers</a:t>
            </a:r>
            <a:endParaRPr sz="2000">
              <a:latin typeface="Corbel"/>
              <a:cs typeface="Corbel"/>
            </a:endParaRPr>
          </a:p>
          <a:p>
            <a:pPr marL="332740" indent="-320040">
              <a:lnSpc>
                <a:spcPts val="1639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000" spc="-5" b="1">
                <a:solidFill>
                  <a:srgbClr val="FFFFFF"/>
                </a:solidFill>
                <a:latin typeface="Corbel"/>
                <a:cs typeface="Corbel"/>
              </a:rPr>
              <a:t>Green</a:t>
            </a:r>
            <a:r>
              <a:rPr dirty="0" sz="2000" spc="-60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 b="1">
                <a:solidFill>
                  <a:srgbClr val="FFFFFF"/>
                </a:solidFill>
                <a:latin typeface="Corbel"/>
                <a:cs typeface="Corbel"/>
              </a:rPr>
              <a:t>nodes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:</a:t>
            </a:r>
            <a:endParaRPr sz="2000">
              <a:latin typeface="Corbel"/>
              <a:cs typeface="Corbel"/>
            </a:endParaRPr>
          </a:p>
          <a:p>
            <a:pPr marL="332105">
              <a:lnSpc>
                <a:spcPts val="2150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Dutch</a:t>
            </a:r>
            <a:r>
              <a:rPr dirty="0" sz="2000" spc="-4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orbel"/>
                <a:cs typeface="Corbel"/>
              </a:rPr>
              <a:t>speakers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6187" y="6247891"/>
            <a:ext cx="34175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Adopted from Blondel et al.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2008.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9495" y="347472"/>
            <a:ext cx="541020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234505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0000FF"/>
                </a:solidFill>
              </a:rPr>
              <a:t>Modularity: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44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1920747"/>
            <a:ext cx="7617459" cy="33966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625475" marR="5080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0">
                <a:latin typeface="Calibri"/>
                <a:cs typeface="Calibri"/>
              </a:rPr>
              <a:t>Overall </a:t>
            </a:r>
            <a:r>
              <a:rPr dirty="0" sz="2800" spc="-5">
                <a:latin typeface="Calibri"/>
                <a:cs typeface="Calibri"/>
              </a:rPr>
              <a:t>quality of the partitioning of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 spc="-160">
                <a:latin typeface="Calibri"/>
                <a:cs typeface="Calibri"/>
              </a:rPr>
              <a:t>into  </a:t>
            </a:r>
            <a:r>
              <a:rPr dirty="0" sz="2800" spc="-5">
                <a:latin typeface="Calibri"/>
                <a:cs typeface="Calibri"/>
              </a:rPr>
              <a:t>communities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Used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10">
                <a:latin typeface="Calibri"/>
                <a:cs typeface="Calibri"/>
              </a:rPr>
              <a:t>determine </a:t>
            </a:r>
            <a:r>
              <a:rPr dirty="0" sz="2800" spc="-5">
                <a:latin typeface="Calibri"/>
                <a:cs typeface="Calibri"/>
              </a:rPr>
              <a:t>the number of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communities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3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Louvain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modularity</a:t>
            </a:r>
            <a:r>
              <a:rPr dirty="0" sz="3200" spc="-4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maximization: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Greedy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strategy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1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0">
                <a:latin typeface="Calibri"/>
                <a:cs typeface="Calibri"/>
              </a:rPr>
              <a:t>Great </a:t>
            </a:r>
            <a:r>
              <a:rPr dirty="0" sz="2800" spc="-10">
                <a:latin typeface="Calibri"/>
                <a:cs typeface="Calibri"/>
              </a:rPr>
              <a:t>performance, scales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20">
                <a:latin typeface="Calibri"/>
                <a:cs typeface="Calibri"/>
              </a:rPr>
              <a:t>large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networks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4736" y="3060192"/>
            <a:ext cx="5428488" cy="18105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38251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19594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5991860" algn="l"/>
              </a:tabLst>
            </a:pPr>
            <a:r>
              <a:rPr dirty="0">
                <a:solidFill>
                  <a:srgbClr val="0000FF"/>
                </a:solidFill>
              </a:rPr>
              <a:t>No</a:t>
            </a:r>
            <a:r>
              <a:rPr dirty="0" spc="-5">
                <a:solidFill>
                  <a:srgbClr val="0000FF"/>
                </a:solidFill>
              </a:rPr>
              <a:t>n-o</a:t>
            </a:r>
            <a:r>
              <a:rPr dirty="0" spc="-35">
                <a:solidFill>
                  <a:srgbClr val="0000FF"/>
                </a:solidFill>
              </a:rPr>
              <a:t>v</a:t>
            </a:r>
            <a:r>
              <a:rPr dirty="0">
                <a:solidFill>
                  <a:srgbClr val="0000FF"/>
                </a:solidFill>
              </a:rPr>
              <a:t>e</a:t>
            </a:r>
            <a:r>
              <a:rPr dirty="0" spc="-5">
                <a:solidFill>
                  <a:srgbClr val="0000FF"/>
                </a:solidFill>
              </a:rPr>
              <a:t>r</a:t>
            </a:r>
            <a:r>
              <a:rPr dirty="0">
                <a:solidFill>
                  <a:srgbClr val="0000FF"/>
                </a:solidFill>
              </a:rPr>
              <a:t>l</a:t>
            </a:r>
            <a:r>
              <a:rPr dirty="0" spc="-5">
                <a:solidFill>
                  <a:srgbClr val="0000FF"/>
                </a:solidFill>
              </a:rPr>
              <a:t>app</a:t>
            </a:r>
            <a:r>
              <a:rPr dirty="0">
                <a:solidFill>
                  <a:srgbClr val="0000FF"/>
                </a:solidFill>
              </a:rPr>
              <a:t>i</a:t>
            </a:r>
            <a:r>
              <a:rPr dirty="0" spc="-5">
                <a:solidFill>
                  <a:srgbClr val="0000FF"/>
                </a:solidFill>
              </a:rPr>
              <a:t>n</a:t>
            </a:r>
            <a:r>
              <a:rPr dirty="0">
                <a:solidFill>
                  <a:srgbClr val="0000FF"/>
                </a:solidFill>
              </a:rPr>
              <a:t>g </a:t>
            </a:r>
            <a:r>
              <a:rPr dirty="0" spc="-10">
                <a:solidFill>
                  <a:srgbClr val="0000FF"/>
                </a:solidFill>
              </a:rPr>
              <a:t>v</a:t>
            </a:r>
            <a:r>
              <a:rPr dirty="0" spc="-5">
                <a:solidFill>
                  <a:srgbClr val="0000FF"/>
                </a:solidFill>
              </a:rPr>
              <a:t>s</a:t>
            </a:r>
            <a:r>
              <a:rPr dirty="0">
                <a:solidFill>
                  <a:srgbClr val="0000FF"/>
                </a:solidFill>
              </a:rPr>
              <a:t>. </a:t>
            </a:r>
            <a:r>
              <a:rPr dirty="0" spc="-5">
                <a:solidFill>
                  <a:srgbClr val="0000FF"/>
                </a:solidFill>
              </a:rPr>
              <a:t>o</a:t>
            </a:r>
            <a:r>
              <a:rPr dirty="0" spc="-35">
                <a:solidFill>
                  <a:srgbClr val="0000FF"/>
                </a:solidFill>
              </a:rPr>
              <a:t>v</a:t>
            </a:r>
            <a:r>
              <a:rPr dirty="0">
                <a:solidFill>
                  <a:srgbClr val="0000FF"/>
                </a:solidFill>
              </a:rPr>
              <a:t>e</a:t>
            </a:r>
            <a:r>
              <a:rPr dirty="0" spc="-5">
                <a:solidFill>
                  <a:srgbClr val="0000FF"/>
                </a:solidFill>
              </a:rPr>
              <a:t>r</a:t>
            </a:r>
            <a:r>
              <a:rPr dirty="0">
                <a:solidFill>
                  <a:srgbClr val="0000FF"/>
                </a:solidFill>
              </a:rPr>
              <a:t>l</a:t>
            </a:r>
            <a:r>
              <a:rPr dirty="0" spc="-5">
                <a:solidFill>
                  <a:srgbClr val="0000FF"/>
                </a:solidFill>
              </a:rPr>
              <a:t>app</a:t>
            </a:r>
            <a:r>
              <a:rPr dirty="0">
                <a:solidFill>
                  <a:srgbClr val="0000FF"/>
                </a:solidFill>
              </a:rPr>
              <a:t>i</a:t>
            </a:r>
            <a:r>
              <a:rPr dirty="0" spc="-5">
                <a:solidFill>
                  <a:srgbClr val="0000FF"/>
                </a:solidFill>
              </a:rPr>
              <a:t>n</a:t>
            </a:r>
            <a:r>
              <a:rPr dirty="0">
                <a:solidFill>
                  <a:srgbClr val="0000FF"/>
                </a:solidFill>
              </a:rPr>
              <a:t>g	</a:t>
            </a:r>
            <a:r>
              <a:rPr dirty="0" spc="-20">
                <a:solidFill>
                  <a:srgbClr val="0000FF"/>
                </a:solidFill>
              </a:rPr>
              <a:t>c</a:t>
            </a:r>
            <a:r>
              <a:rPr dirty="0">
                <a:solidFill>
                  <a:srgbClr val="0000FF"/>
                </a:solidFill>
              </a:rPr>
              <a:t>o</a:t>
            </a:r>
            <a:r>
              <a:rPr dirty="0" spc="-5">
                <a:solidFill>
                  <a:srgbClr val="0000FF"/>
                </a:solidFill>
              </a:rPr>
              <a:t>mmun</a:t>
            </a:r>
            <a:r>
              <a:rPr dirty="0">
                <a:solidFill>
                  <a:srgbClr val="0000FF"/>
                </a:solidFill>
              </a:rPr>
              <a:t>ities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227" y="6694423"/>
            <a:ext cx="343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3/6/21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73615" y="6694423"/>
            <a:ext cx="30022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</a:t>
            </a:r>
            <a:r>
              <a:rPr dirty="0" sz="900" spc="4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Graphs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47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9600" y="2145529"/>
            <a:ext cx="4132345" cy="39623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105400" y="2133600"/>
            <a:ext cx="3810000" cy="42029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68147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48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9593" y="1268760"/>
            <a:ext cx="6336704" cy="55585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245160" y="6112764"/>
            <a:ext cx="207518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latin typeface="Corbel"/>
                <a:cs typeface="Corbel"/>
              </a:rPr>
              <a:t>Nodes: Users  Edges:</a:t>
            </a:r>
            <a:r>
              <a:rPr dirty="0" sz="2000" spc="-35" b="1">
                <a:latin typeface="Corbel"/>
                <a:cs typeface="Corbel"/>
              </a:rPr>
              <a:t> </a:t>
            </a:r>
            <a:r>
              <a:rPr dirty="0" sz="2000" spc="-5" b="1">
                <a:latin typeface="Corbel"/>
                <a:cs typeface="Corbel"/>
              </a:rPr>
              <a:t>Friendships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12159" y="1772815"/>
            <a:ext cx="3024505" cy="1624330"/>
          </a:xfrm>
          <a:custGeom>
            <a:avLst/>
            <a:gdLst/>
            <a:ahLst/>
            <a:cxnLst/>
            <a:rect l="l" t="t" r="r" b="b"/>
            <a:pathLst>
              <a:path w="3024504" h="1624329">
                <a:moveTo>
                  <a:pt x="1260139" y="908490"/>
                </a:moveTo>
                <a:lnTo>
                  <a:pt x="504056" y="908490"/>
                </a:lnTo>
                <a:lnTo>
                  <a:pt x="45213" y="1624088"/>
                </a:lnTo>
                <a:lnTo>
                  <a:pt x="1260139" y="908490"/>
                </a:lnTo>
                <a:close/>
              </a:path>
              <a:path w="3024504" h="1624329">
                <a:moveTo>
                  <a:pt x="2872917" y="0"/>
                </a:moveTo>
                <a:lnTo>
                  <a:pt x="151418" y="0"/>
                </a:lnTo>
                <a:lnTo>
                  <a:pt x="103558" y="7719"/>
                </a:lnTo>
                <a:lnTo>
                  <a:pt x="61992" y="29215"/>
                </a:lnTo>
                <a:lnTo>
                  <a:pt x="29215" y="61993"/>
                </a:lnTo>
                <a:lnTo>
                  <a:pt x="7719" y="103559"/>
                </a:lnTo>
                <a:lnTo>
                  <a:pt x="0" y="151419"/>
                </a:lnTo>
                <a:lnTo>
                  <a:pt x="0" y="757074"/>
                </a:lnTo>
                <a:lnTo>
                  <a:pt x="7719" y="804931"/>
                </a:lnTo>
                <a:lnTo>
                  <a:pt x="29215" y="846497"/>
                </a:lnTo>
                <a:lnTo>
                  <a:pt x="61992" y="879275"/>
                </a:lnTo>
                <a:lnTo>
                  <a:pt x="103558" y="900771"/>
                </a:lnTo>
                <a:lnTo>
                  <a:pt x="151418" y="908490"/>
                </a:lnTo>
                <a:lnTo>
                  <a:pt x="2872917" y="908490"/>
                </a:lnTo>
                <a:lnTo>
                  <a:pt x="2920777" y="900771"/>
                </a:lnTo>
                <a:lnTo>
                  <a:pt x="2962343" y="879275"/>
                </a:lnTo>
                <a:lnTo>
                  <a:pt x="2995121" y="846497"/>
                </a:lnTo>
                <a:lnTo>
                  <a:pt x="3016616" y="804931"/>
                </a:lnTo>
                <a:lnTo>
                  <a:pt x="3024335" y="757074"/>
                </a:lnTo>
                <a:lnTo>
                  <a:pt x="3024336" y="151419"/>
                </a:lnTo>
                <a:lnTo>
                  <a:pt x="3016616" y="103559"/>
                </a:lnTo>
                <a:lnTo>
                  <a:pt x="2995121" y="61993"/>
                </a:lnTo>
                <a:lnTo>
                  <a:pt x="2962343" y="29215"/>
                </a:lnTo>
                <a:lnTo>
                  <a:pt x="2920777" y="7719"/>
                </a:lnTo>
                <a:lnTo>
                  <a:pt x="28729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988159" y="1756983"/>
            <a:ext cx="3072765" cy="1663700"/>
          </a:xfrm>
          <a:custGeom>
            <a:avLst/>
            <a:gdLst/>
            <a:ahLst/>
            <a:cxnLst/>
            <a:rect l="l" t="t" r="r" b="b"/>
            <a:pathLst>
              <a:path w="3072765" h="1663700">
                <a:moveTo>
                  <a:pt x="75549" y="1647385"/>
                </a:moveTo>
                <a:lnTo>
                  <a:pt x="73253" y="1651000"/>
                </a:lnTo>
                <a:lnTo>
                  <a:pt x="47375" y="1651000"/>
                </a:lnTo>
                <a:lnTo>
                  <a:pt x="51925" y="1663700"/>
                </a:lnTo>
                <a:lnTo>
                  <a:pt x="81394" y="1663700"/>
                </a:lnTo>
                <a:lnTo>
                  <a:pt x="86743" y="1660554"/>
                </a:lnTo>
                <a:lnTo>
                  <a:pt x="75549" y="1647385"/>
                </a:lnTo>
                <a:close/>
              </a:path>
              <a:path w="3072765" h="1663700">
                <a:moveTo>
                  <a:pt x="94184" y="1656177"/>
                </a:moveTo>
                <a:lnTo>
                  <a:pt x="86743" y="1660554"/>
                </a:lnTo>
                <a:lnTo>
                  <a:pt x="89416" y="1663700"/>
                </a:lnTo>
                <a:lnTo>
                  <a:pt x="94184" y="1656177"/>
                </a:lnTo>
                <a:close/>
              </a:path>
              <a:path w="3072765" h="1663700">
                <a:moveTo>
                  <a:pt x="75624" y="1647267"/>
                </a:moveTo>
                <a:lnTo>
                  <a:pt x="86743" y="1660554"/>
                </a:lnTo>
                <a:lnTo>
                  <a:pt x="94184" y="1656177"/>
                </a:lnTo>
                <a:lnTo>
                  <a:pt x="97466" y="1651000"/>
                </a:lnTo>
                <a:lnTo>
                  <a:pt x="81335" y="1651000"/>
                </a:lnTo>
                <a:lnTo>
                  <a:pt x="75624" y="1647267"/>
                </a:lnTo>
                <a:close/>
              </a:path>
              <a:path w="3072765" h="1663700">
                <a:moveTo>
                  <a:pt x="2981553" y="927100"/>
                </a:moveTo>
                <a:lnTo>
                  <a:pt x="1282442" y="927100"/>
                </a:lnTo>
                <a:lnTo>
                  <a:pt x="128348" y="1602279"/>
                </a:lnTo>
                <a:lnTo>
                  <a:pt x="94184" y="1656177"/>
                </a:lnTo>
                <a:lnTo>
                  <a:pt x="1290683" y="952500"/>
                </a:lnTo>
                <a:lnTo>
                  <a:pt x="2950194" y="952500"/>
                </a:lnTo>
                <a:lnTo>
                  <a:pt x="2966272" y="939800"/>
                </a:lnTo>
                <a:lnTo>
                  <a:pt x="2981553" y="927100"/>
                </a:lnTo>
                <a:close/>
              </a:path>
              <a:path w="3072765" h="1663700">
                <a:moveTo>
                  <a:pt x="57053" y="1625624"/>
                </a:moveTo>
                <a:lnTo>
                  <a:pt x="49010" y="1638300"/>
                </a:lnTo>
                <a:lnTo>
                  <a:pt x="45852" y="1638300"/>
                </a:lnTo>
                <a:lnTo>
                  <a:pt x="45329" y="1651000"/>
                </a:lnTo>
                <a:lnTo>
                  <a:pt x="73253" y="1651000"/>
                </a:lnTo>
                <a:lnTo>
                  <a:pt x="69213" y="1643076"/>
                </a:lnTo>
                <a:lnTo>
                  <a:pt x="61904" y="1638300"/>
                </a:lnTo>
                <a:lnTo>
                  <a:pt x="65838" y="1635960"/>
                </a:lnTo>
                <a:lnTo>
                  <a:pt x="57053" y="1625624"/>
                </a:lnTo>
                <a:close/>
              </a:path>
              <a:path w="3072765" h="1663700">
                <a:moveTo>
                  <a:pt x="69213" y="1643076"/>
                </a:moveTo>
                <a:lnTo>
                  <a:pt x="73253" y="1651000"/>
                </a:lnTo>
                <a:lnTo>
                  <a:pt x="75549" y="1647385"/>
                </a:lnTo>
                <a:lnTo>
                  <a:pt x="75230" y="1647009"/>
                </a:lnTo>
                <a:lnTo>
                  <a:pt x="69213" y="1643076"/>
                </a:lnTo>
                <a:close/>
              </a:path>
              <a:path w="3072765" h="1663700">
                <a:moveTo>
                  <a:pt x="103542" y="1616791"/>
                </a:moveTo>
                <a:lnTo>
                  <a:pt x="89919" y="1624761"/>
                </a:lnTo>
                <a:lnTo>
                  <a:pt x="75624" y="1647267"/>
                </a:lnTo>
                <a:lnTo>
                  <a:pt x="81335" y="1651000"/>
                </a:lnTo>
                <a:lnTo>
                  <a:pt x="103542" y="1616791"/>
                </a:lnTo>
                <a:close/>
              </a:path>
              <a:path w="3072765" h="1663700">
                <a:moveTo>
                  <a:pt x="128348" y="1602279"/>
                </a:moveTo>
                <a:lnTo>
                  <a:pt x="103542" y="1616791"/>
                </a:lnTo>
                <a:lnTo>
                  <a:pt x="81335" y="1651000"/>
                </a:lnTo>
                <a:lnTo>
                  <a:pt x="97466" y="1651000"/>
                </a:lnTo>
                <a:lnTo>
                  <a:pt x="128348" y="1602279"/>
                </a:lnTo>
                <a:close/>
              </a:path>
              <a:path w="3072765" h="1663700">
                <a:moveTo>
                  <a:pt x="75230" y="1647009"/>
                </a:moveTo>
                <a:lnTo>
                  <a:pt x="75549" y="1647385"/>
                </a:lnTo>
                <a:lnTo>
                  <a:pt x="75230" y="1647009"/>
                </a:lnTo>
                <a:close/>
              </a:path>
              <a:path w="3072765" h="1663700">
                <a:moveTo>
                  <a:pt x="89919" y="1624761"/>
                </a:moveTo>
                <a:lnTo>
                  <a:pt x="67479" y="1637889"/>
                </a:lnTo>
                <a:lnTo>
                  <a:pt x="75230" y="1647009"/>
                </a:lnTo>
                <a:lnTo>
                  <a:pt x="75624" y="1647267"/>
                </a:lnTo>
                <a:lnTo>
                  <a:pt x="89919" y="1624761"/>
                </a:lnTo>
                <a:close/>
              </a:path>
              <a:path w="3072765" h="1663700">
                <a:moveTo>
                  <a:pt x="67479" y="1637889"/>
                </a:moveTo>
                <a:lnTo>
                  <a:pt x="66777" y="1638300"/>
                </a:lnTo>
                <a:lnTo>
                  <a:pt x="69213" y="1643076"/>
                </a:lnTo>
                <a:lnTo>
                  <a:pt x="75230" y="1647009"/>
                </a:lnTo>
                <a:lnTo>
                  <a:pt x="67479" y="1637889"/>
                </a:lnTo>
                <a:close/>
              </a:path>
              <a:path w="3072765" h="1663700">
                <a:moveTo>
                  <a:pt x="93107" y="1619742"/>
                </a:moveTo>
                <a:lnTo>
                  <a:pt x="65838" y="1635960"/>
                </a:lnTo>
                <a:lnTo>
                  <a:pt x="67479" y="1637889"/>
                </a:lnTo>
                <a:lnTo>
                  <a:pt x="89919" y="1624761"/>
                </a:lnTo>
                <a:lnTo>
                  <a:pt x="93107" y="1619742"/>
                </a:lnTo>
                <a:close/>
              </a:path>
              <a:path w="3072765" h="1663700">
                <a:moveTo>
                  <a:pt x="108990" y="1594735"/>
                </a:moveTo>
                <a:lnTo>
                  <a:pt x="57090" y="1625565"/>
                </a:lnTo>
                <a:lnTo>
                  <a:pt x="65838" y="1635960"/>
                </a:lnTo>
                <a:lnTo>
                  <a:pt x="93107" y="1619742"/>
                </a:lnTo>
                <a:lnTo>
                  <a:pt x="108990" y="1594735"/>
                </a:lnTo>
                <a:close/>
              </a:path>
              <a:path w="3072765" h="1663700">
                <a:moveTo>
                  <a:pt x="533044" y="927100"/>
                </a:moveTo>
                <a:lnTo>
                  <a:pt x="77313" y="927100"/>
                </a:lnTo>
                <a:lnTo>
                  <a:pt x="92828" y="939800"/>
                </a:lnTo>
                <a:lnTo>
                  <a:pt x="108230" y="939800"/>
                </a:lnTo>
                <a:lnTo>
                  <a:pt x="124415" y="952500"/>
                </a:lnTo>
                <a:lnTo>
                  <a:pt x="484158" y="952500"/>
                </a:lnTo>
                <a:lnTo>
                  <a:pt x="57090" y="1625565"/>
                </a:lnTo>
                <a:lnTo>
                  <a:pt x="108990" y="1594735"/>
                </a:lnTo>
                <a:lnTo>
                  <a:pt x="533044" y="927100"/>
                </a:lnTo>
                <a:close/>
              </a:path>
              <a:path w="3072765" h="1663700">
                <a:moveTo>
                  <a:pt x="123428" y="1586159"/>
                </a:moveTo>
                <a:lnTo>
                  <a:pt x="108990" y="1594735"/>
                </a:lnTo>
                <a:lnTo>
                  <a:pt x="93107" y="1619742"/>
                </a:lnTo>
                <a:lnTo>
                  <a:pt x="106985" y="1611488"/>
                </a:lnTo>
                <a:lnTo>
                  <a:pt x="123428" y="1586159"/>
                </a:lnTo>
                <a:close/>
              </a:path>
              <a:path w="3072765" h="1663700">
                <a:moveTo>
                  <a:pt x="131905" y="1596666"/>
                </a:moveTo>
                <a:lnTo>
                  <a:pt x="106985" y="1611488"/>
                </a:lnTo>
                <a:lnTo>
                  <a:pt x="103542" y="1616791"/>
                </a:lnTo>
                <a:lnTo>
                  <a:pt x="128348" y="1602279"/>
                </a:lnTo>
                <a:lnTo>
                  <a:pt x="131905" y="1596666"/>
                </a:lnTo>
                <a:close/>
              </a:path>
              <a:path w="3072765" h="1663700">
                <a:moveTo>
                  <a:pt x="147708" y="1571736"/>
                </a:moveTo>
                <a:lnTo>
                  <a:pt x="123428" y="1586159"/>
                </a:lnTo>
                <a:lnTo>
                  <a:pt x="106985" y="1611488"/>
                </a:lnTo>
                <a:lnTo>
                  <a:pt x="131905" y="1596666"/>
                </a:lnTo>
                <a:lnTo>
                  <a:pt x="147708" y="1571736"/>
                </a:lnTo>
                <a:close/>
              </a:path>
              <a:path w="3072765" h="1663700">
                <a:moveTo>
                  <a:pt x="2949606" y="901700"/>
                </a:moveTo>
                <a:lnTo>
                  <a:pt x="1275651" y="901700"/>
                </a:lnTo>
                <a:lnTo>
                  <a:pt x="147708" y="1571736"/>
                </a:lnTo>
                <a:lnTo>
                  <a:pt x="131905" y="1596666"/>
                </a:lnTo>
                <a:lnTo>
                  <a:pt x="1279047" y="914400"/>
                </a:lnTo>
                <a:lnTo>
                  <a:pt x="2936995" y="914400"/>
                </a:lnTo>
                <a:lnTo>
                  <a:pt x="2949606" y="901700"/>
                </a:lnTo>
                <a:close/>
              </a:path>
              <a:path w="3072765" h="1663700">
                <a:moveTo>
                  <a:pt x="549114" y="914400"/>
                </a:moveTo>
                <a:lnTo>
                  <a:pt x="538166" y="914400"/>
                </a:lnTo>
                <a:lnTo>
                  <a:pt x="543217" y="927100"/>
                </a:lnTo>
                <a:lnTo>
                  <a:pt x="543020" y="939800"/>
                </a:lnTo>
                <a:lnTo>
                  <a:pt x="123428" y="1586159"/>
                </a:lnTo>
                <a:lnTo>
                  <a:pt x="147708" y="1571736"/>
                </a:lnTo>
                <a:lnTo>
                  <a:pt x="548260" y="939800"/>
                </a:lnTo>
                <a:lnTo>
                  <a:pt x="550983" y="939800"/>
                </a:lnTo>
                <a:lnTo>
                  <a:pt x="552041" y="927100"/>
                </a:lnTo>
                <a:lnTo>
                  <a:pt x="551422" y="927100"/>
                </a:lnTo>
                <a:lnTo>
                  <a:pt x="549114" y="914400"/>
                </a:lnTo>
                <a:close/>
              </a:path>
              <a:path w="3072765" h="1663700">
                <a:moveTo>
                  <a:pt x="41" y="774981"/>
                </a:moveTo>
                <a:lnTo>
                  <a:pt x="1056" y="800100"/>
                </a:lnTo>
                <a:lnTo>
                  <a:pt x="3832" y="812800"/>
                </a:lnTo>
                <a:lnTo>
                  <a:pt x="8270" y="838200"/>
                </a:lnTo>
                <a:lnTo>
                  <a:pt x="14277" y="850900"/>
                </a:lnTo>
                <a:lnTo>
                  <a:pt x="21763" y="863600"/>
                </a:lnTo>
                <a:lnTo>
                  <a:pt x="29946" y="876300"/>
                </a:lnTo>
                <a:lnTo>
                  <a:pt x="30614" y="876300"/>
                </a:lnTo>
                <a:lnTo>
                  <a:pt x="50811" y="901700"/>
                </a:lnTo>
                <a:lnTo>
                  <a:pt x="51894" y="901700"/>
                </a:lnTo>
                <a:lnTo>
                  <a:pt x="76373" y="927100"/>
                </a:lnTo>
                <a:lnTo>
                  <a:pt x="145627" y="927100"/>
                </a:lnTo>
                <a:lnTo>
                  <a:pt x="131587" y="914400"/>
                </a:lnTo>
                <a:lnTo>
                  <a:pt x="105327" y="914400"/>
                </a:lnTo>
                <a:lnTo>
                  <a:pt x="93546" y="901700"/>
                </a:lnTo>
                <a:lnTo>
                  <a:pt x="53783" y="863600"/>
                </a:lnTo>
                <a:lnTo>
                  <a:pt x="35316" y="825500"/>
                </a:lnTo>
                <a:lnTo>
                  <a:pt x="29527" y="800100"/>
                </a:lnTo>
                <a:lnTo>
                  <a:pt x="7029" y="800100"/>
                </a:lnTo>
                <a:lnTo>
                  <a:pt x="1886" y="787400"/>
                </a:lnTo>
                <a:lnTo>
                  <a:pt x="41" y="774981"/>
                </a:lnTo>
                <a:close/>
              </a:path>
              <a:path w="3072765" h="1663700">
                <a:moveTo>
                  <a:pt x="3072306" y="774700"/>
                </a:moveTo>
                <a:lnTo>
                  <a:pt x="3043673" y="774700"/>
                </a:lnTo>
                <a:lnTo>
                  <a:pt x="3042761" y="800100"/>
                </a:lnTo>
                <a:lnTo>
                  <a:pt x="3040514" y="812800"/>
                </a:lnTo>
                <a:lnTo>
                  <a:pt x="3025736" y="850900"/>
                </a:lnTo>
                <a:lnTo>
                  <a:pt x="3000576" y="889000"/>
                </a:lnTo>
                <a:lnTo>
                  <a:pt x="2978790" y="901700"/>
                </a:lnTo>
                <a:lnTo>
                  <a:pt x="2966600" y="914400"/>
                </a:lnTo>
                <a:lnTo>
                  <a:pt x="2940295" y="914400"/>
                </a:lnTo>
                <a:lnTo>
                  <a:pt x="2926238" y="927100"/>
                </a:lnTo>
                <a:lnTo>
                  <a:pt x="2995964" y="927100"/>
                </a:lnTo>
                <a:lnTo>
                  <a:pt x="3020441" y="901700"/>
                </a:lnTo>
                <a:lnTo>
                  <a:pt x="3021525" y="901700"/>
                </a:lnTo>
                <a:lnTo>
                  <a:pt x="3041722" y="876300"/>
                </a:lnTo>
                <a:lnTo>
                  <a:pt x="3042389" y="876300"/>
                </a:lnTo>
                <a:lnTo>
                  <a:pt x="3051682" y="863600"/>
                </a:lnTo>
                <a:lnTo>
                  <a:pt x="3058975" y="850900"/>
                </a:lnTo>
                <a:lnTo>
                  <a:pt x="3064772" y="825500"/>
                </a:lnTo>
                <a:lnTo>
                  <a:pt x="3068985" y="812800"/>
                </a:lnTo>
                <a:lnTo>
                  <a:pt x="3071524" y="800100"/>
                </a:lnTo>
                <a:lnTo>
                  <a:pt x="3065307" y="800100"/>
                </a:lnTo>
                <a:lnTo>
                  <a:pt x="3070450" y="787400"/>
                </a:lnTo>
                <a:lnTo>
                  <a:pt x="3072295" y="774981"/>
                </a:lnTo>
                <a:lnTo>
                  <a:pt x="3072306" y="774700"/>
                </a:lnTo>
                <a:close/>
              </a:path>
              <a:path w="3072765" h="1663700">
                <a:moveTo>
                  <a:pt x="536830" y="901700"/>
                </a:moveTo>
                <a:lnTo>
                  <a:pt x="121429" y="901700"/>
                </a:lnTo>
                <a:lnTo>
                  <a:pt x="133977" y="914400"/>
                </a:lnTo>
                <a:lnTo>
                  <a:pt x="544906" y="914400"/>
                </a:lnTo>
                <a:lnTo>
                  <a:pt x="536830" y="901700"/>
                </a:lnTo>
                <a:close/>
              </a:path>
              <a:path w="3072765" h="1663700">
                <a:moveTo>
                  <a:pt x="47977" y="774859"/>
                </a:moveTo>
                <a:lnTo>
                  <a:pt x="46114" y="787400"/>
                </a:lnTo>
                <a:lnTo>
                  <a:pt x="41008" y="800007"/>
                </a:lnTo>
                <a:lnTo>
                  <a:pt x="44330" y="825500"/>
                </a:lnTo>
                <a:lnTo>
                  <a:pt x="48873" y="838200"/>
                </a:lnTo>
                <a:lnTo>
                  <a:pt x="54583" y="838200"/>
                </a:lnTo>
                <a:lnTo>
                  <a:pt x="61628" y="850900"/>
                </a:lnTo>
                <a:lnTo>
                  <a:pt x="78578" y="876300"/>
                </a:lnTo>
                <a:lnTo>
                  <a:pt x="99123" y="889000"/>
                </a:lnTo>
                <a:lnTo>
                  <a:pt x="109493" y="901700"/>
                </a:lnTo>
                <a:lnTo>
                  <a:pt x="124729" y="901700"/>
                </a:lnTo>
                <a:lnTo>
                  <a:pt x="113659" y="889000"/>
                </a:lnTo>
                <a:lnTo>
                  <a:pt x="104698" y="889000"/>
                </a:lnTo>
                <a:lnTo>
                  <a:pt x="85398" y="863600"/>
                </a:lnTo>
                <a:lnTo>
                  <a:pt x="57522" y="825500"/>
                </a:lnTo>
                <a:lnTo>
                  <a:pt x="48507" y="787400"/>
                </a:lnTo>
                <a:lnTo>
                  <a:pt x="47977" y="774859"/>
                </a:lnTo>
                <a:close/>
              </a:path>
              <a:path w="3072765" h="1663700">
                <a:moveTo>
                  <a:pt x="3024357" y="774845"/>
                </a:moveTo>
                <a:lnTo>
                  <a:pt x="3018284" y="812800"/>
                </a:lnTo>
                <a:lnTo>
                  <a:pt x="3002862" y="850900"/>
                </a:lnTo>
                <a:lnTo>
                  <a:pt x="2986938" y="863600"/>
                </a:lnTo>
                <a:lnTo>
                  <a:pt x="2967638" y="889000"/>
                </a:lnTo>
                <a:lnTo>
                  <a:pt x="2956632" y="889000"/>
                </a:lnTo>
                <a:lnTo>
                  <a:pt x="2945441" y="901700"/>
                </a:lnTo>
                <a:lnTo>
                  <a:pt x="2961615" y="901700"/>
                </a:lnTo>
                <a:lnTo>
                  <a:pt x="2973213" y="889000"/>
                </a:lnTo>
                <a:lnTo>
                  <a:pt x="2993758" y="876300"/>
                </a:lnTo>
                <a:lnTo>
                  <a:pt x="3010708" y="850900"/>
                </a:lnTo>
                <a:lnTo>
                  <a:pt x="3017088" y="850900"/>
                </a:lnTo>
                <a:lnTo>
                  <a:pt x="3022914" y="838200"/>
                </a:lnTo>
                <a:lnTo>
                  <a:pt x="3027582" y="825500"/>
                </a:lnTo>
                <a:lnTo>
                  <a:pt x="3031025" y="812800"/>
                </a:lnTo>
                <a:lnTo>
                  <a:pt x="3033172" y="800100"/>
                </a:lnTo>
                <a:lnTo>
                  <a:pt x="3031365" y="800100"/>
                </a:lnTo>
                <a:lnTo>
                  <a:pt x="3026222" y="787400"/>
                </a:lnTo>
                <a:lnTo>
                  <a:pt x="3024357" y="774845"/>
                </a:lnTo>
                <a:close/>
              </a:path>
              <a:path w="3072765" h="1663700">
                <a:moveTo>
                  <a:pt x="28662" y="774700"/>
                </a:moveTo>
                <a:lnTo>
                  <a:pt x="30" y="774700"/>
                </a:lnTo>
                <a:lnTo>
                  <a:pt x="41" y="774981"/>
                </a:lnTo>
                <a:lnTo>
                  <a:pt x="1886" y="787400"/>
                </a:lnTo>
                <a:lnTo>
                  <a:pt x="7029" y="800100"/>
                </a:lnTo>
                <a:lnTo>
                  <a:pt x="29527" y="800100"/>
                </a:lnTo>
                <a:lnTo>
                  <a:pt x="28662" y="774700"/>
                </a:lnTo>
                <a:close/>
              </a:path>
              <a:path w="3072765" h="1663700">
                <a:moveTo>
                  <a:pt x="38381" y="774700"/>
                </a:moveTo>
                <a:lnTo>
                  <a:pt x="28662" y="774700"/>
                </a:lnTo>
                <a:lnTo>
                  <a:pt x="29527" y="800100"/>
                </a:lnTo>
                <a:lnTo>
                  <a:pt x="40971" y="800100"/>
                </a:lnTo>
                <a:lnTo>
                  <a:pt x="39016" y="787400"/>
                </a:lnTo>
                <a:lnTo>
                  <a:pt x="38381" y="774700"/>
                </a:lnTo>
                <a:close/>
              </a:path>
              <a:path w="3072765" h="1663700">
                <a:moveTo>
                  <a:pt x="3040890" y="762000"/>
                </a:moveTo>
                <a:lnTo>
                  <a:pt x="3033936" y="762000"/>
                </a:lnTo>
                <a:lnTo>
                  <a:pt x="3033936" y="774700"/>
                </a:lnTo>
                <a:lnTo>
                  <a:pt x="3024366" y="774700"/>
                </a:lnTo>
                <a:lnTo>
                  <a:pt x="3024377" y="774981"/>
                </a:lnTo>
                <a:lnTo>
                  <a:pt x="3026222" y="787400"/>
                </a:lnTo>
                <a:lnTo>
                  <a:pt x="3031365" y="800100"/>
                </a:lnTo>
                <a:lnTo>
                  <a:pt x="3033172" y="800100"/>
                </a:lnTo>
                <a:lnTo>
                  <a:pt x="3034348" y="774700"/>
                </a:lnTo>
                <a:lnTo>
                  <a:pt x="3040890" y="762000"/>
                </a:lnTo>
                <a:close/>
              </a:path>
              <a:path w="3072765" h="1663700">
                <a:moveTo>
                  <a:pt x="3043673" y="774700"/>
                </a:moveTo>
                <a:lnTo>
                  <a:pt x="3034348" y="774700"/>
                </a:lnTo>
                <a:lnTo>
                  <a:pt x="3033172" y="800100"/>
                </a:lnTo>
                <a:lnTo>
                  <a:pt x="3042761" y="800100"/>
                </a:lnTo>
                <a:lnTo>
                  <a:pt x="3043673" y="774700"/>
                </a:lnTo>
                <a:close/>
              </a:path>
              <a:path w="3072765" h="1663700">
                <a:moveTo>
                  <a:pt x="3072298" y="774958"/>
                </a:moveTo>
                <a:lnTo>
                  <a:pt x="3070450" y="787400"/>
                </a:lnTo>
                <a:lnTo>
                  <a:pt x="3065307" y="800100"/>
                </a:lnTo>
                <a:lnTo>
                  <a:pt x="3071524" y="800100"/>
                </a:lnTo>
                <a:lnTo>
                  <a:pt x="3072298" y="774958"/>
                </a:lnTo>
                <a:close/>
              </a:path>
              <a:path w="3072765" h="1663700">
                <a:moveTo>
                  <a:pt x="47970" y="774700"/>
                </a:moveTo>
                <a:lnTo>
                  <a:pt x="38381" y="774700"/>
                </a:lnTo>
                <a:lnTo>
                  <a:pt x="39016" y="787400"/>
                </a:lnTo>
                <a:lnTo>
                  <a:pt x="41008" y="800007"/>
                </a:lnTo>
                <a:lnTo>
                  <a:pt x="46114" y="787400"/>
                </a:lnTo>
                <a:lnTo>
                  <a:pt x="47959" y="774981"/>
                </a:lnTo>
                <a:lnTo>
                  <a:pt x="47970" y="774700"/>
                </a:lnTo>
                <a:close/>
              </a:path>
              <a:path w="3072765" h="1663700">
                <a:moveTo>
                  <a:pt x="93546" y="50800"/>
                </a:moveTo>
                <a:lnTo>
                  <a:pt x="50811" y="50800"/>
                </a:lnTo>
                <a:lnTo>
                  <a:pt x="30615" y="76200"/>
                </a:lnTo>
                <a:lnTo>
                  <a:pt x="29946" y="76200"/>
                </a:lnTo>
                <a:lnTo>
                  <a:pt x="20654" y="88900"/>
                </a:lnTo>
                <a:lnTo>
                  <a:pt x="13361" y="101600"/>
                </a:lnTo>
                <a:lnTo>
                  <a:pt x="7564" y="127000"/>
                </a:lnTo>
                <a:lnTo>
                  <a:pt x="3351" y="139700"/>
                </a:lnTo>
                <a:lnTo>
                  <a:pt x="812" y="152400"/>
                </a:lnTo>
                <a:lnTo>
                  <a:pt x="0" y="177800"/>
                </a:lnTo>
                <a:lnTo>
                  <a:pt x="41" y="774981"/>
                </a:lnTo>
                <a:lnTo>
                  <a:pt x="30" y="774700"/>
                </a:lnTo>
                <a:lnTo>
                  <a:pt x="1825" y="774700"/>
                </a:lnTo>
                <a:lnTo>
                  <a:pt x="6816" y="762000"/>
                </a:lnTo>
                <a:lnTo>
                  <a:pt x="14248" y="762000"/>
                </a:lnTo>
                <a:lnTo>
                  <a:pt x="23394" y="749300"/>
                </a:lnTo>
                <a:lnTo>
                  <a:pt x="28801" y="749300"/>
                </a:lnTo>
                <a:lnTo>
                  <a:pt x="28801" y="177800"/>
                </a:lnTo>
                <a:lnTo>
                  <a:pt x="31822" y="139700"/>
                </a:lnTo>
                <a:lnTo>
                  <a:pt x="46600" y="101600"/>
                </a:lnTo>
                <a:lnTo>
                  <a:pt x="71760" y="76200"/>
                </a:lnTo>
                <a:lnTo>
                  <a:pt x="93546" y="50800"/>
                </a:lnTo>
                <a:close/>
              </a:path>
              <a:path w="3072765" h="1663700">
                <a:moveTo>
                  <a:pt x="3072337" y="749300"/>
                </a:moveTo>
                <a:lnTo>
                  <a:pt x="3048942" y="749300"/>
                </a:lnTo>
                <a:lnTo>
                  <a:pt x="3058087" y="762000"/>
                </a:lnTo>
                <a:lnTo>
                  <a:pt x="3065519" y="762000"/>
                </a:lnTo>
                <a:lnTo>
                  <a:pt x="3070511" y="774700"/>
                </a:lnTo>
                <a:lnTo>
                  <a:pt x="3072306" y="774700"/>
                </a:lnTo>
                <a:lnTo>
                  <a:pt x="3072298" y="774958"/>
                </a:lnTo>
                <a:lnTo>
                  <a:pt x="3072337" y="749300"/>
                </a:lnTo>
                <a:close/>
              </a:path>
              <a:path w="3072765" h="1663700">
                <a:moveTo>
                  <a:pt x="48000" y="762000"/>
                </a:moveTo>
                <a:lnTo>
                  <a:pt x="40316" y="762000"/>
                </a:lnTo>
                <a:lnTo>
                  <a:pt x="45683" y="774700"/>
                </a:lnTo>
                <a:lnTo>
                  <a:pt x="47970" y="774700"/>
                </a:lnTo>
                <a:lnTo>
                  <a:pt x="47977" y="774859"/>
                </a:lnTo>
                <a:lnTo>
                  <a:pt x="48000" y="762000"/>
                </a:lnTo>
                <a:close/>
              </a:path>
              <a:path w="3072765" h="1663700">
                <a:moveTo>
                  <a:pt x="2962843" y="50800"/>
                </a:moveTo>
                <a:lnTo>
                  <a:pt x="2947607" y="50800"/>
                </a:lnTo>
                <a:lnTo>
                  <a:pt x="2958677" y="63500"/>
                </a:lnTo>
                <a:lnTo>
                  <a:pt x="2967638" y="63500"/>
                </a:lnTo>
                <a:lnTo>
                  <a:pt x="2986938" y="88900"/>
                </a:lnTo>
                <a:lnTo>
                  <a:pt x="3014814" y="127000"/>
                </a:lnTo>
                <a:lnTo>
                  <a:pt x="3023829" y="165100"/>
                </a:lnTo>
                <a:lnTo>
                  <a:pt x="3024366" y="177800"/>
                </a:lnTo>
                <a:lnTo>
                  <a:pt x="3024357" y="774845"/>
                </a:lnTo>
                <a:lnTo>
                  <a:pt x="3024366" y="774700"/>
                </a:lnTo>
                <a:lnTo>
                  <a:pt x="3026653" y="774700"/>
                </a:lnTo>
                <a:lnTo>
                  <a:pt x="3032020" y="762000"/>
                </a:lnTo>
                <a:lnTo>
                  <a:pt x="3033936" y="762000"/>
                </a:lnTo>
                <a:lnTo>
                  <a:pt x="3033955" y="177800"/>
                </a:lnTo>
                <a:lnTo>
                  <a:pt x="3028006" y="139700"/>
                </a:lnTo>
                <a:lnTo>
                  <a:pt x="3010708" y="101600"/>
                </a:lnTo>
                <a:lnTo>
                  <a:pt x="2973213" y="63500"/>
                </a:lnTo>
                <a:lnTo>
                  <a:pt x="2962843" y="50800"/>
                </a:lnTo>
                <a:close/>
              </a:path>
              <a:path w="3072765" h="1663700">
                <a:moveTo>
                  <a:pt x="15828" y="762000"/>
                </a:moveTo>
                <a:lnTo>
                  <a:pt x="6816" y="762000"/>
                </a:lnTo>
                <a:lnTo>
                  <a:pt x="1825" y="774700"/>
                </a:lnTo>
                <a:lnTo>
                  <a:pt x="9599" y="774700"/>
                </a:lnTo>
                <a:lnTo>
                  <a:pt x="15828" y="762000"/>
                </a:lnTo>
                <a:close/>
              </a:path>
              <a:path w="3072765" h="1663700">
                <a:moveTo>
                  <a:pt x="23394" y="749300"/>
                </a:moveTo>
                <a:lnTo>
                  <a:pt x="14248" y="762000"/>
                </a:lnTo>
                <a:lnTo>
                  <a:pt x="15828" y="762000"/>
                </a:lnTo>
                <a:lnTo>
                  <a:pt x="9599" y="774700"/>
                </a:lnTo>
                <a:lnTo>
                  <a:pt x="28801" y="774700"/>
                </a:lnTo>
                <a:lnTo>
                  <a:pt x="28800" y="756731"/>
                </a:lnTo>
                <a:lnTo>
                  <a:pt x="23394" y="749300"/>
                </a:lnTo>
                <a:close/>
              </a:path>
              <a:path w="3072765" h="1663700">
                <a:moveTo>
                  <a:pt x="38400" y="762000"/>
                </a:moveTo>
                <a:lnTo>
                  <a:pt x="31446" y="762000"/>
                </a:lnTo>
                <a:lnTo>
                  <a:pt x="37988" y="774700"/>
                </a:lnTo>
                <a:lnTo>
                  <a:pt x="38400" y="774700"/>
                </a:lnTo>
                <a:lnTo>
                  <a:pt x="38400" y="762000"/>
                </a:lnTo>
                <a:close/>
              </a:path>
              <a:path w="3072765" h="1663700">
                <a:moveTo>
                  <a:pt x="126895" y="50800"/>
                </a:moveTo>
                <a:lnTo>
                  <a:pt x="110721" y="50800"/>
                </a:lnTo>
                <a:lnTo>
                  <a:pt x="99123" y="63500"/>
                </a:lnTo>
                <a:lnTo>
                  <a:pt x="78578" y="76200"/>
                </a:lnTo>
                <a:lnTo>
                  <a:pt x="61628" y="101600"/>
                </a:lnTo>
                <a:lnTo>
                  <a:pt x="55248" y="101600"/>
                </a:lnTo>
                <a:lnTo>
                  <a:pt x="49422" y="114300"/>
                </a:lnTo>
                <a:lnTo>
                  <a:pt x="44754" y="127000"/>
                </a:lnTo>
                <a:lnTo>
                  <a:pt x="41311" y="139700"/>
                </a:lnTo>
                <a:lnTo>
                  <a:pt x="39164" y="165100"/>
                </a:lnTo>
                <a:lnTo>
                  <a:pt x="38400" y="177800"/>
                </a:lnTo>
                <a:lnTo>
                  <a:pt x="38400" y="774700"/>
                </a:lnTo>
                <a:lnTo>
                  <a:pt x="45683" y="774700"/>
                </a:lnTo>
                <a:lnTo>
                  <a:pt x="40316" y="762000"/>
                </a:lnTo>
                <a:lnTo>
                  <a:pt x="48000" y="762000"/>
                </a:lnTo>
                <a:lnTo>
                  <a:pt x="48000" y="177800"/>
                </a:lnTo>
                <a:lnTo>
                  <a:pt x="48751" y="165100"/>
                </a:lnTo>
                <a:lnTo>
                  <a:pt x="58437" y="127000"/>
                </a:lnTo>
                <a:lnTo>
                  <a:pt x="85398" y="88900"/>
                </a:lnTo>
                <a:lnTo>
                  <a:pt x="104698" y="63500"/>
                </a:lnTo>
                <a:lnTo>
                  <a:pt x="115704" y="63500"/>
                </a:lnTo>
                <a:lnTo>
                  <a:pt x="126895" y="50800"/>
                </a:lnTo>
                <a:close/>
              </a:path>
              <a:path w="3072765" h="1663700">
                <a:moveTo>
                  <a:pt x="3033936" y="762000"/>
                </a:moveTo>
                <a:lnTo>
                  <a:pt x="3032020" y="762000"/>
                </a:lnTo>
                <a:lnTo>
                  <a:pt x="3026653" y="774700"/>
                </a:lnTo>
                <a:lnTo>
                  <a:pt x="3033936" y="774700"/>
                </a:lnTo>
                <a:lnTo>
                  <a:pt x="3033936" y="762000"/>
                </a:lnTo>
                <a:close/>
              </a:path>
              <a:path w="3072765" h="1663700">
                <a:moveTo>
                  <a:pt x="3048942" y="749300"/>
                </a:moveTo>
                <a:lnTo>
                  <a:pt x="3043536" y="756731"/>
                </a:lnTo>
                <a:lnTo>
                  <a:pt x="3043535" y="774700"/>
                </a:lnTo>
                <a:lnTo>
                  <a:pt x="3062737" y="774700"/>
                </a:lnTo>
                <a:lnTo>
                  <a:pt x="3056508" y="762000"/>
                </a:lnTo>
                <a:lnTo>
                  <a:pt x="3058087" y="762000"/>
                </a:lnTo>
                <a:lnTo>
                  <a:pt x="3048942" y="749300"/>
                </a:lnTo>
                <a:close/>
              </a:path>
              <a:path w="3072765" h="1663700">
                <a:moveTo>
                  <a:pt x="3065519" y="762000"/>
                </a:moveTo>
                <a:lnTo>
                  <a:pt x="3056508" y="762000"/>
                </a:lnTo>
                <a:lnTo>
                  <a:pt x="3062737" y="774700"/>
                </a:lnTo>
                <a:lnTo>
                  <a:pt x="3070511" y="774700"/>
                </a:lnTo>
                <a:lnTo>
                  <a:pt x="3065519" y="762000"/>
                </a:lnTo>
                <a:close/>
              </a:path>
              <a:path w="3072765" h="1663700">
                <a:moveTo>
                  <a:pt x="28801" y="756732"/>
                </a:moveTo>
                <a:lnTo>
                  <a:pt x="28801" y="762000"/>
                </a:lnTo>
                <a:lnTo>
                  <a:pt x="32632" y="762000"/>
                </a:lnTo>
                <a:lnTo>
                  <a:pt x="28801" y="756732"/>
                </a:lnTo>
                <a:close/>
              </a:path>
              <a:path w="3072765" h="1663700">
                <a:moveTo>
                  <a:pt x="3043536" y="756731"/>
                </a:moveTo>
                <a:lnTo>
                  <a:pt x="3039704" y="762000"/>
                </a:lnTo>
                <a:lnTo>
                  <a:pt x="3043536" y="762000"/>
                </a:lnTo>
                <a:lnTo>
                  <a:pt x="3043536" y="756731"/>
                </a:lnTo>
                <a:close/>
              </a:path>
              <a:path w="3072765" h="1663700">
                <a:moveTo>
                  <a:pt x="28801" y="749300"/>
                </a:moveTo>
                <a:lnTo>
                  <a:pt x="23394" y="749300"/>
                </a:lnTo>
                <a:lnTo>
                  <a:pt x="28801" y="756732"/>
                </a:lnTo>
                <a:lnTo>
                  <a:pt x="28801" y="749300"/>
                </a:lnTo>
                <a:close/>
              </a:path>
              <a:path w="3072765" h="1663700">
                <a:moveTo>
                  <a:pt x="3021525" y="50800"/>
                </a:moveTo>
                <a:lnTo>
                  <a:pt x="2978790" y="50800"/>
                </a:lnTo>
                <a:lnTo>
                  <a:pt x="3000576" y="76200"/>
                </a:lnTo>
                <a:lnTo>
                  <a:pt x="3018553" y="88900"/>
                </a:lnTo>
                <a:lnTo>
                  <a:pt x="3025959" y="101600"/>
                </a:lnTo>
                <a:lnTo>
                  <a:pt x="3040611" y="139700"/>
                </a:lnTo>
                <a:lnTo>
                  <a:pt x="3043542" y="177800"/>
                </a:lnTo>
                <a:lnTo>
                  <a:pt x="3043536" y="756731"/>
                </a:lnTo>
                <a:lnTo>
                  <a:pt x="3048942" y="749300"/>
                </a:lnTo>
                <a:lnTo>
                  <a:pt x="3072337" y="749300"/>
                </a:lnTo>
                <a:lnTo>
                  <a:pt x="3072306" y="177800"/>
                </a:lnTo>
                <a:lnTo>
                  <a:pt x="3071280" y="152400"/>
                </a:lnTo>
                <a:lnTo>
                  <a:pt x="3068504" y="139700"/>
                </a:lnTo>
                <a:lnTo>
                  <a:pt x="3064066" y="114300"/>
                </a:lnTo>
                <a:lnTo>
                  <a:pt x="3058059" y="101600"/>
                </a:lnTo>
                <a:lnTo>
                  <a:pt x="3050573" y="88900"/>
                </a:lnTo>
                <a:lnTo>
                  <a:pt x="3042390" y="76200"/>
                </a:lnTo>
                <a:lnTo>
                  <a:pt x="3041721" y="76200"/>
                </a:lnTo>
                <a:lnTo>
                  <a:pt x="3021525" y="50800"/>
                </a:lnTo>
                <a:close/>
              </a:path>
              <a:path w="3072765" h="1663700">
                <a:moveTo>
                  <a:pt x="146098" y="25400"/>
                </a:moveTo>
                <a:lnTo>
                  <a:pt x="76373" y="25400"/>
                </a:lnTo>
                <a:lnTo>
                  <a:pt x="51896" y="50800"/>
                </a:lnTo>
                <a:lnTo>
                  <a:pt x="105736" y="50800"/>
                </a:lnTo>
                <a:lnTo>
                  <a:pt x="118563" y="38100"/>
                </a:lnTo>
                <a:lnTo>
                  <a:pt x="132041" y="38100"/>
                </a:lnTo>
                <a:lnTo>
                  <a:pt x="146098" y="25400"/>
                </a:lnTo>
                <a:close/>
              </a:path>
              <a:path w="3072765" h="1663700">
                <a:moveTo>
                  <a:pt x="2938359" y="38100"/>
                </a:moveTo>
                <a:lnTo>
                  <a:pt x="135341" y="38100"/>
                </a:lnTo>
                <a:lnTo>
                  <a:pt x="122730" y="50800"/>
                </a:lnTo>
                <a:lnTo>
                  <a:pt x="2950907" y="50800"/>
                </a:lnTo>
                <a:lnTo>
                  <a:pt x="2938359" y="38100"/>
                </a:lnTo>
                <a:close/>
              </a:path>
              <a:path w="3072765" h="1663700">
                <a:moveTo>
                  <a:pt x="2995963" y="25400"/>
                </a:moveTo>
                <a:lnTo>
                  <a:pt x="2926709" y="25400"/>
                </a:lnTo>
                <a:lnTo>
                  <a:pt x="2940749" y="38100"/>
                </a:lnTo>
                <a:lnTo>
                  <a:pt x="2954206" y="38100"/>
                </a:lnTo>
                <a:lnTo>
                  <a:pt x="2967009" y="50800"/>
                </a:lnTo>
                <a:lnTo>
                  <a:pt x="3020441" y="50800"/>
                </a:lnTo>
                <a:lnTo>
                  <a:pt x="2995963" y="25400"/>
                </a:lnTo>
                <a:close/>
              </a:path>
              <a:path w="3072765" h="1663700">
                <a:moveTo>
                  <a:pt x="2979508" y="12700"/>
                </a:moveTo>
                <a:lnTo>
                  <a:pt x="106064" y="12700"/>
                </a:lnTo>
                <a:lnTo>
                  <a:pt x="90783" y="25400"/>
                </a:lnTo>
                <a:lnTo>
                  <a:pt x="2995023" y="25400"/>
                </a:lnTo>
                <a:lnTo>
                  <a:pt x="2979508" y="12700"/>
                </a:lnTo>
                <a:close/>
              </a:path>
              <a:path w="3072765" h="1663700">
                <a:moveTo>
                  <a:pt x="2947921" y="0"/>
                </a:moveTo>
                <a:lnTo>
                  <a:pt x="138926" y="0"/>
                </a:lnTo>
                <a:lnTo>
                  <a:pt x="122143" y="12700"/>
                </a:lnTo>
                <a:lnTo>
                  <a:pt x="2964106" y="12700"/>
                </a:lnTo>
                <a:lnTo>
                  <a:pt x="2947921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184477" y="1822195"/>
            <a:ext cx="2679065" cy="760095"/>
          </a:xfrm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 marR="5080" indent="308610">
              <a:lnSpc>
                <a:spcPct val="100800"/>
              </a:lnSpc>
              <a:spcBef>
                <a:spcPts val="75"/>
              </a:spcBef>
            </a:pPr>
            <a:r>
              <a:rPr dirty="0" sz="2400" spc="-5">
                <a:latin typeface="Corbel"/>
                <a:cs typeface="Corbel"/>
              </a:rPr>
              <a:t>Can </a:t>
            </a:r>
            <a:r>
              <a:rPr dirty="0" sz="2400">
                <a:latin typeface="Corbel"/>
                <a:cs typeface="Corbel"/>
              </a:rPr>
              <a:t>we </a:t>
            </a:r>
            <a:r>
              <a:rPr dirty="0" sz="2400" spc="-5">
                <a:latin typeface="Corbel"/>
                <a:cs typeface="Corbel"/>
              </a:rPr>
              <a:t>identify  social</a:t>
            </a:r>
            <a:r>
              <a:rPr dirty="0" sz="2400" spc="-40">
                <a:latin typeface="Corbel"/>
                <a:cs typeface="Corbel"/>
              </a:rPr>
              <a:t> </a:t>
            </a:r>
            <a:r>
              <a:rPr dirty="0" sz="2400" spc="-5">
                <a:latin typeface="Corbel"/>
                <a:cs typeface="Corbel"/>
              </a:rPr>
              <a:t>communities?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73615" y="6694423"/>
            <a:ext cx="30022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</a:t>
            </a:r>
            <a:r>
              <a:rPr dirty="0" sz="900" spc="4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Graphs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4227" y="6694423"/>
            <a:ext cx="343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3/6/21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68147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49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16164" y="1371600"/>
            <a:ext cx="6947962" cy="4708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9942" y="2645155"/>
            <a:ext cx="162052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0">
                <a:solidFill>
                  <a:srgbClr val="00B050"/>
                </a:solidFill>
                <a:latin typeface="Arial"/>
                <a:cs typeface="Arial"/>
              </a:rPr>
              <a:t>High</a:t>
            </a:r>
            <a:r>
              <a:rPr dirty="0" sz="2400" spc="-105" b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400" b="0">
                <a:solidFill>
                  <a:srgbClr val="00B050"/>
                </a:solidFill>
                <a:latin typeface="Arial"/>
                <a:cs typeface="Arial"/>
              </a:rPr>
              <a:t>school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48425" y="2669539"/>
            <a:ext cx="13315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B48200"/>
                </a:solidFill>
                <a:latin typeface="Arial"/>
                <a:cs typeface="Arial"/>
              </a:rPr>
              <a:t>Company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5629" y="4397755"/>
            <a:ext cx="25006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0000"/>
                </a:solidFill>
                <a:latin typeface="Arial"/>
                <a:cs typeface="Arial"/>
              </a:rPr>
              <a:t>Stanford</a:t>
            </a:r>
            <a:r>
              <a:rPr dirty="0" sz="2400" spc="-4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Arial"/>
                <a:cs typeface="Arial"/>
              </a:rPr>
              <a:t>(Squash)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16673" y="3916171"/>
            <a:ext cx="28733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996633"/>
                </a:solidFill>
                <a:latin typeface="Arial"/>
                <a:cs typeface="Arial"/>
              </a:rPr>
              <a:t>Stanford</a:t>
            </a:r>
            <a:r>
              <a:rPr dirty="0" sz="2400" spc="-30">
                <a:solidFill>
                  <a:srgbClr val="996633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996633"/>
                </a:solidFill>
                <a:latin typeface="Arial"/>
                <a:cs typeface="Arial"/>
              </a:rPr>
              <a:t>(Basketball)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7419" y="6250940"/>
            <a:ext cx="25920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Corbel"/>
                <a:cs typeface="Corbel"/>
              </a:rPr>
              <a:t>Social</a:t>
            </a:r>
            <a:r>
              <a:rPr dirty="0" sz="2400" spc="-20" b="1">
                <a:latin typeface="Corbel"/>
                <a:cs typeface="Corbel"/>
              </a:rPr>
              <a:t> </a:t>
            </a:r>
            <a:r>
              <a:rPr dirty="0" sz="2400" spc="-5" b="1">
                <a:latin typeface="Corbel"/>
                <a:cs typeface="Corbel"/>
              </a:rPr>
              <a:t>communities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97485" y="5642564"/>
            <a:ext cx="391160" cy="731520"/>
          </a:xfrm>
          <a:custGeom>
            <a:avLst/>
            <a:gdLst/>
            <a:ahLst/>
            <a:cxnLst/>
            <a:rect l="l" t="t" r="r" b="b"/>
            <a:pathLst>
              <a:path w="391160" h="731520">
                <a:moveTo>
                  <a:pt x="368278" y="33535"/>
                </a:moveTo>
                <a:lnTo>
                  <a:pt x="352290" y="43621"/>
                </a:lnTo>
                <a:lnTo>
                  <a:pt x="0" y="720387"/>
                </a:lnTo>
                <a:lnTo>
                  <a:pt x="1813" y="726139"/>
                </a:lnTo>
                <a:lnTo>
                  <a:pt x="11146" y="730997"/>
                </a:lnTo>
                <a:lnTo>
                  <a:pt x="16897" y="729183"/>
                </a:lnTo>
                <a:lnTo>
                  <a:pt x="369187" y="52416"/>
                </a:lnTo>
                <a:lnTo>
                  <a:pt x="368278" y="33535"/>
                </a:lnTo>
                <a:close/>
              </a:path>
              <a:path w="391160" h="731520">
                <a:moveTo>
                  <a:pt x="386645" y="18880"/>
                </a:moveTo>
                <a:lnTo>
                  <a:pt x="369187" y="52416"/>
                </a:lnTo>
                <a:lnTo>
                  <a:pt x="371989" y="110595"/>
                </a:lnTo>
                <a:lnTo>
                  <a:pt x="376454" y="114649"/>
                </a:lnTo>
                <a:lnTo>
                  <a:pt x="386962" y="114143"/>
                </a:lnTo>
                <a:lnTo>
                  <a:pt x="391017" y="109678"/>
                </a:lnTo>
                <a:lnTo>
                  <a:pt x="386645" y="18880"/>
                </a:lnTo>
                <a:close/>
              </a:path>
              <a:path w="391160" h="731520">
                <a:moveTo>
                  <a:pt x="369746" y="10086"/>
                </a:moveTo>
                <a:lnTo>
                  <a:pt x="292863" y="58585"/>
                </a:lnTo>
                <a:lnTo>
                  <a:pt x="291532" y="64467"/>
                </a:lnTo>
                <a:lnTo>
                  <a:pt x="297145" y="73365"/>
                </a:lnTo>
                <a:lnTo>
                  <a:pt x="303027" y="74697"/>
                </a:lnTo>
                <a:lnTo>
                  <a:pt x="352290" y="43621"/>
                </a:lnTo>
                <a:lnTo>
                  <a:pt x="369746" y="10086"/>
                </a:lnTo>
                <a:close/>
              </a:path>
              <a:path w="391160" h="731520">
                <a:moveTo>
                  <a:pt x="386565" y="17226"/>
                </a:moveTo>
                <a:lnTo>
                  <a:pt x="367493" y="17226"/>
                </a:lnTo>
                <a:lnTo>
                  <a:pt x="382088" y="24823"/>
                </a:lnTo>
                <a:lnTo>
                  <a:pt x="368278" y="33535"/>
                </a:lnTo>
                <a:lnTo>
                  <a:pt x="369187" y="52416"/>
                </a:lnTo>
                <a:lnTo>
                  <a:pt x="386645" y="18880"/>
                </a:lnTo>
                <a:lnTo>
                  <a:pt x="386565" y="17226"/>
                </a:lnTo>
                <a:close/>
              </a:path>
              <a:path w="391160" h="731520">
                <a:moveTo>
                  <a:pt x="376736" y="5894"/>
                </a:moveTo>
                <a:lnTo>
                  <a:pt x="376047" y="6111"/>
                </a:lnTo>
                <a:lnTo>
                  <a:pt x="369746" y="10086"/>
                </a:lnTo>
                <a:lnTo>
                  <a:pt x="352290" y="43621"/>
                </a:lnTo>
                <a:lnTo>
                  <a:pt x="368278" y="33535"/>
                </a:lnTo>
                <a:lnTo>
                  <a:pt x="367493" y="17226"/>
                </a:lnTo>
                <a:lnTo>
                  <a:pt x="386565" y="17226"/>
                </a:lnTo>
                <a:lnTo>
                  <a:pt x="386287" y="11444"/>
                </a:lnTo>
                <a:lnTo>
                  <a:pt x="386068" y="10752"/>
                </a:lnTo>
                <a:lnTo>
                  <a:pt x="376736" y="5894"/>
                </a:lnTo>
                <a:close/>
              </a:path>
              <a:path w="391160" h="731520">
                <a:moveTo>
                  <a:pt x="367493" y="17226"/>
                </a:moveTo>
                <a:lnTo>
                  <a:pt x="368278" y="33535"/>
                </a:lnTo>
                <a:lnTo>
                  <a:pt x="382088" y="24823"/>
                </a:lnTo>
                <a:lnTo>
                  <a:pt x="367493" y="17226"/>
                </a:lnTo>
                <a:close/>
              </a:path>
              <a:path w="391160" h="731520">
                <a:moveTo>
                  <a:pt x="386287" y="11444"/>
                </a:moveTo>
                <a:lnTo>
                  <a:pt x="386645" y="18880"/>
                </a:lnTo>
                <a:lnTo>
                  <a:pt x="387882" y="16503"/>
                </a:lnTo>
                <a:lnTo>
                  <a:pt x="386287" y="11444"/>
                </a:lnTo>
                <a:close/>
              </a:path>
              <a:path w="391160" h="731520">
                <a:moveTo>
                  <a:pt x="386019" y="5894"/>
                </a:moveTo>
                <a:lnTo>
                  <a:pt x="376736" y="5894"/>
                </a:lnTo>
                <a:lnTo>
                  <a:pt x="386068" y="10752"/>
                </a:lnTo>
                <a:lnTo>
                  <a:pt x="386287" y="11444"/>
                </a:lnTo>
                <a:lnTo>
                  <a:pt x="386019" y="5894"/>
                </a:lnTo>
                <a:close/>
              </a:path>
              <a:path w="391160" h="731520">
                <a:moveTo>
                  <a:pt x="376047" y="6111"/>
                </a:moveTo>
                <a:lnTo>
                  <a:pt x="370984" y="7707"/>
                </a:lnTo>
                <a:lnTo>
                  <a:pt x="369746" y="10086"/>
                </a:lnTo>
                <a:lnTo>
                  <a:pt x="376047" y="6111"/>
                </a:lnTo>
                <a:close/>
              </a:path>
              <a:path w="391160" h="731520">
                <a:moveTo>
                  <a:pt x="385735" y="0"/>
                </a:moveTo>
                <a:lnTo>
                  <a:pt x="376047" y="6111"/>
                </a:lnTo>
                <a:lnTo>
                  <a:pt x="376736" y="5894"/>
                </a:lnTo>
                <a:lnTo>
                  <a:pt x="386019" y="5894"/>
                </a:lnTo>
                <a:lnTo>
                  <a:pt x="385735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245160" y="6112764"/>
            <a:ext cx="207518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latin typeface="Corbel"/>
                <a:cs typeface="Corbel"/>
              </a:rPr>
              <a:t>Nodes: Users  Edges:</a:t>
            </a:r>
            <a:r>
              <a:rPr dirty="0" sz="2000" spc="-35" b="1">
                <a:latin typeface="Corbel"/>
                <a:cs typeface="Corbel"/>
              </a:rPr>
              <a:t> </a:t>
            </a:r>
            <a:r>
              <a:rPr dirty="0" sz="2000" spc="-5" b="1">
                <a:latin typeface="Corbel"/>
                <a:cs typeface="Corbel"/>
              </a:rPr>
              <a:t>Friendships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73615" y="6694423"/>
            <a:ext cx="30022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</a:t>
            </a:r>
            <a:r>
              <a:rPr dirty="0" sz="900" spc="4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Graphs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4227" y="6694423"/>
            <a:ext cx="343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3/6/21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7624" y="1219200"/>
            <a:ext cx="6767897" cy="5638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8015" y="347472"/>
            <a:ext cx="6882383" cy="4267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964406" y="3067243"/>
            <a:ext cx="3072130" cy="1260475"/>
          </a:xfrm>
          <a:custGeom>
            <a:avLst/>
            <a:gdLst/>
            <a:ahLst/>
            <a:cxnLst/>
            <a:rect l="l" t="t" r="r" b="b"/>
            <a:pathLst>
              <a:path w="3072129" h="1260475">
                <a:moveTo>
                  <a:pt x="2920671" y="351950"/>
                </a:moveTo>
                <a:lnTo>
                  <a:pt x="199171" y="351950"/>
                </a:lnTo>
                <a:lnTo>
                  <a:pt x="151311" y="359669"/>
                </a:lnTo>
                <a:lnTo>
                  <a:pt x="109746" y="381165"/>
                </a:lnTo>
                <a:lnTo>
                  <a:pt x="76968" y="413942"/>
                </a:lnTo>
                <a:lnTo>
                  <a:pt x="55472" y="455508"/>
                </a:lnTo>
                <a:lnTo>
                  <a:pt x="47753" y="503365"/>
                </a:lnTo>
                <a:lnTo>
                  <a:pt x="47753" y="1109021"/>
                </a:lnTo>
                <a:lnTo>
                  <a:pt x="55472" y="1156880"/>
                </a:lnTo>
                <a:lnTo>
                  <a:pt x="76968" y="1198446"/>
                </a:lnTo>
                <a:lnTo>
                  <a:pt x="109746" y="1231224"/>
                </a:lnTo>
                <a:lnTo>
                  <a:pt x="151311" y="1252720"/>
                </a:lnTo>
                <a:lnTo>
                  <a:pt x="199171" y="1260439"/>
                </a:lnTo>
                <a:lnTo>
                  <a:pt x="2920671" y="1260439"/>
                </a:lnTo>
                <a:lnTo>
                  <a:pt x="2968530" y="1252720"/>
                </a:lnTo>
                <a:lnTo>
                  <a:pt x="3010096" y="1231224"/>
                </a:lnTo>
                <a:lnTo>
                  <a:pt x="3042874" y="1198446"/>
                </a:lnTo>
                <a:lnTo>
                  <a:pt x="3064369" y="1156880"/>
                </a:lnTo>
                <a:lnTo>
                  <a:pt x="3072089" y="1109021"/>
                </a:lnTo>
                <a:lnTo>
                  <a:pt x="3072088" y="503365"/>
                </a:lnTo>
                <a:lnTo>
                  <a:pt x="3064369" y="455508"/>
                </a:lnTo>
                <a:lnTo>
                  <a:pt x="3042874" y="413942"/>
                </a:lnTo>
                <a:lnTo>
                  <a:pt x="3010096" y="381165"/>
                </a:lnTo>
                <a:lnTo>
                  <a:pt x="2968530" y="359669"/>
                </a:lnTo>
                <a:lnTo>
                  <a:pt x="2920671" y="351950"/>
                </a:lnTo>
                <a:close/>
              </a:path>
              <a:path w="3072129" h="1260475">
                <a:moveTo>
                  <a:pt x="0" y="0"/>
                </a:moveTo>
                <a:lnTo>
                  <a:pt x="551809" y="351950"/>
                </a:lnTo>
                <a:lnTo>
                  <a:pt x="1307892" y="3519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940440" y="3043583"/>
            <a:ext cx="3120390" cy="1308100"/>
          </a:xfrm>
          <a:custGeom>
            <a:avLst/>
            <a:gdLst/>
            <a:ahLst/>
            <a:cxnLst/>
            <a:rect l="l" t="t" r="r" b="b"/>
            <a:pathLst>
              <a:path w="3120390" h="1308100">
                <a:moveTo>
                  <a:pt x="3013991" y="1295400"/>
                </a:moveTo>
                <a:lnTo>
                  <a:pt x="155949" y="1295400"/>
                </a:lnTo>
                <a:lnTo>
                  <a:pt x="172134" y="1308100"/>
                </a:lnTo>
                <a:lnTo>
                  <a:pt x="2997913" y="1308100"/>
                </a:lnTo>
                <a:lnTo>
                  <a:pt x="3013991" y="1295400"/>
                </a:lnTo>
                <a:close/>
              </a:path>
              <a:path w="3120390" h="1308100">
                <a:moveTo>
                  <a:pt x="3042740" y="1282700"/>
                </a:moveTo>
                <a:lnTo>
                  <a:pt x="125032" y="1282700"/>
                </a:lnTo>
                <a:lnTo>
                  <a:pt x="140547" y="1295400"/>
                </a:lnTo>
                <a:lnTo>
                  <a:pt x="3029272" y="1295400"/>
                </a:lnTo>
                <a:lnTo>
                  <a:pt x="3042740" y="1282700"/>
                </a:lnTo>
                <a:close/>
              </a:path>
              <a:path w="3120390" h="1308100">
                <a:moveTo>
                  <a:pt x="47719" y="533400"/>
                </a:moveTo>
                <a:lnTo>
                  <a:pt x="47749" y="1143000"/>
                </a:lnTo>
                <a:lnTo>
                  <a:pt x="51551" y="1181100"/>
                </a:lnTo>
                <a:lnTo>
                  <a:pt x="69483" y="1219200"/>
                </a:lnTo>
                <a:lnTo>
                  <a:pt x="77665" y="1231900"/>
                </a:lnTo>
                <a:lnTo>
                  <a:pt x="78333" y="1231900"/>
                </a:lnTo>
                <a:lnTo>
                  <a:pt x="98530" y="1257300"/>
                </a:lnTo>
                <a:lnTo>
                  <a:pt x="99613" y="1257300"/>
                </a:lnTo>
                <a:lnTo>
                  <a:pt x="124093" y="1282700"/>
                </a:lnTo>
                <a:lnTo>
                  <a:pt x="179306" y="1282700"/>
                </a:lnTo>
                <a:lnTo>
                  <a:pt x="165849" y="1270000"/>
                </a:lnTo>
                <a:lnTo>
                  <a:pt x="153046" y="1270000"/>
                </a:lnTo>
                <a:lnTo>
                  <a:pt x="141265" y="1257300"/>
                </a:lnTo>
                <a:lnTo>
                  <a:pt x="101502" y="1219200"/>
                </a:lnTo>
                <a:lnTo>
                  <a:pt x="83035" y="1181100"/>
                </a:lnTo>
                <a:lnTo>
                  <a:pt x="76513" y="1143000"/>
                </a:lnTo>
                <a:lnTo>
                  <a:pt x="76519" y="558800"/>
                </a:lnTo>
                <a:lnTo>
                  <a:pt x="61967" y="558800"/>
                </a:lnTo>
                <a:lnTo>
                  <a:pt x="54535" y="546100"/>
                </a:lnTo>
                <a:lnTo>
                  <a:pt x="49544" y="546100"/>
                </a:lnTo>
                <a:lnTo>
                  <a:pt x="47719" y="533400"/>
                </a:lnTo>
                <a:close/>
              </a:path>
              <a:path w="3120390" h="1308100">
                <a:moveTo>
                  <a:pt x="3110456" y="533400"/>
                </a:moveTo>
                <a:lnTo>
                  <a:pt x="3091254" y="533400"/>
                </a:lnTo>
                <a:lnTo>
                  <a:pt x="3091254" y="1143000"/>
                </a:lnTo>
                <a:lnTo>
                  <a:pt x="3090480" y="1155700"/>
                </a:lnTo>
                <a:lnTo>
                  <a:pt x="3079648" y="1193800"/>
                </a:lnTo>
                <a:lnTo>
                  <a:pt x="3048295" y="1244600"/>
                </a:lnTo>
                <a:lnTo>
                  <a:pt x="3026509" y="1257300"/>
                </a:lnTo>
                <a:lnTo>
                  <a:pt x="3014319" y="1270000"/>
                </a:lnTo>
                <a:lnTo>
                  <a:pt x="3001492" y="1270000"/>
                </a:lnTo>
                <a:lnTo>
                  <a:pt x="2988014" y="1282700"/>
                </a:lnTo>
                <a:lnTo>
                  <a:pt x="3043683" y="1282700"/>
                </a:lnTo>
                <a:lnTo>
                  <a:pt x="3068160" y="1257300"/>
                </a:lnTo>
                <a:lnTo>
                  <a:pt x="3069244" y="1257300"/>
                </a:lnTo>
                <a:lnTo>
                  <a:pt x="3089441" y="1231900"/>
                </a:lnTo>
                <a:lnTo>
                  <a:pt x="3090108" y="1231900"/>
                </a:lnTo>
                <a:lnTo>
                  <a:pt x="3099402" y="1219200"/>
                </a:lnTo>
                <a:lnTo>
                  <a:pt x="3106694" y="1206500"/>
                </a:lnTo>
                <a:lnTo>
                  <a:pt x="3112491" y="1193800"/>
                </a:lnTo>
                <a:lnTo>
                  <a:pt x="3116704" y="1168400"/>
                </a:lnTo>
                <a:lnTo>
                  <a:pt x="3119243" y="1155700"/>
                </a:lnTo>
                <a:lnTo>
                  <a:pt x="3120056" y="1143000"/>
                </a:lnTo>
                <a:lnTo>
                  <a:pt x="3120056" y="558800"/>
                </a:lnTo>
                <a:lnTo>
                  <a:pt x="3105806" y="558800"/>
                </a:lnTo>
                <a:lnTo>
                  <a:pt x="3113238" y="546100"/>
                </a:lnTo>
                <a:lnTo>
                  <a:pt x="3110456" y="546100"/>
                </a:lnTo>
                <a:lnTo>
                  <a:pt x="3110456" y="533400"/>
                </a:lnTo>
                <a:close/>
              </a:path>
              <a:path w="3120390" h="1308100">
                <a:moveTo>
                  <a:pt x="196242" y="1257300"/>
                </a:moveTo>
                <a:lnTo>
                  <a:pt x="157212" y="1257300"/>
                </a:lnTo>
                <a:lnTo>
                  <a:pt x="169148" y="1270000"/>
                </a:lnTo>
                <a:lnTo>
                  <a:pt x="208866" y="1270000"/>
                </a:lnTo>
                <a:lnTo>
                  <a:pt x="196242" y="1257300"/>
                </a:lnTo>
                <a:close/>
              </a:path>
              <a:path w="3120390" h="1308100">
                <a:moveTo>
                  <a:pt x="3009334" y="1257300"/>
                </a:moveTo>
                <a:lnTo>
                  <a:pt x="2981415" y="1257300"/>
                </a:lnTo>
                <a:lnTo>
                  <a:pt x="2969176" y="1270000"/>
                </a:lnTo>
                <a:lnTo>
                  <a:pt x="2997325" y="1270000"/>
                </a:lnTo>
                <a:lnTo>
                  <a:pt x="3009334" y="1257300"/>
                </a:lnTo>
                <a:close/>
              </a:path>
              <a:path w="3120390" h="1308100">
                <a:moveTo>
                  <a:pt x="95698" y="533254"/>
                </a:moveTo>
                <a:lnTo>
                  <a:pt x="95689" y="533400"/>
                </a:lnTo>
                <a:lnTo>
                  <a:pt x="93402" y="546100"/>
                </a:lnTo>
                <a:lnTo>
                  <a:pt x="88035" y="546100"/>
                </a:lnTo>
                <a:lnTo>
                  <a:pt x="86120" y="549266"/>
                </a:lnTo>
                <a:lnTo>
                  <a:pt x="86100" y="1143000"/>
                </a:lnTo>
                <a:lnTo>
                  <a:pt x="92049" y="1181100"/>
                </a:lnTo>
                <a:lnTo>
                  <a:pt x="109347" y="1219200"/>
                </a:lnTo>
                <a:lnTo>
                  <a:pt x="126297" y="1231900"/>
                </a:lnTo>
                <a:lnTo>
                  <a:pt x="146842" y="1257300"/>
                </a:lnTo>
                <a:lnTo>
                  <a:pt x="172448" y="1257300"/>
                </a:lnTo>
                <a:lnTo>
                  <a:pt x="161378" y="1244600"/>
                </a:lnTo>
                <a:lnTo>
                  <a:pt x="152417" y="1244600"/>
                </a:lnTo>
                <a:lnTo>
                  <a:pt x="133117" y="1231900"/>
                </a:lnTo>
                <a:lnTo>
                  <a:pt x="117193" y="1206500"/>
                </a:lnTo>
                <a:lnTo>
                  <a:pt x="110506" y="1193800"/>
                </a:lnTo>
                <a:lnTo>
                  <a:pt x="105241" y="1193800"/>
                </a:lnTo>
                <a:lnTo>
                  <a:pt x="101065" y="1181100"/>
                </a:lnTo>
                <a:lnTo>
                  <a:pt x="98040" y="1168400"/>
                </a:lnTo>
                <a:lnTo>
                  <a:pt x="96226" y="1155700"/>
                </a:lnTo>
                <a:lnTo>
                  <a:pt x="95689" y="1143000"/>
                </a:lnTo>
                <a:lnTo>
                  <a:pt x="95698" y="533254"/>
                </a:lnTo>
                <a:close/>
              </a:path>
              <a:path w="3120390" h="1308100">
                <a:moveTo>
                  <a:pt x="3072078" y="533240"/>
                </a:moveTo>
                <a:lnTo>
                  <a:pt x="3072055" y="1143000"/>
                </a:lnTo>
                <a:lnTo>
                  <a:pt x="3066003" y="1181100"/>
                </a:lnTo>
                <a:lnTo>
                  <a:pt x="3056158" y="1206500"/>
                </a:lnTo>
                <a:lnTo>
                  <a:pt x="3050581" y="1206500"/>
                </a:lnTo>
                <a:lnTo>
                  <a:pt x="3034657" y="1231900"/>
                </a:lnTo>
                <a:lnTo>
                  <a:pt x="3015357" y="1244600"/>
                </a:lnTo>
                <a:lnTo>
                  <a:pt x="3004351" y="1257300"/>
                </a:lnTo>
                <a:lnTo>
                  <a:pt x="3020932" y="1257300"/>
                </a:lnTo>
                <a:lnTo>
                  <a:pt x="3041477" y="1231900"/>
                </a:lnTo>
                <a:lnTo>
                  <a:pt x="3058428" y="1219200"/>
                </a:lnTo>
                <a:lnTo>
                  <a:pt x="3075301" y="1181100"/>
                </a:lnTo>
                <a:lnTo>
                  <a:pt x="3081655" y="1143000"/>
                </a:lnTo>
                <a:lnTo>
                  <a:pt x="3081655" y="549266"/>
                </a:lnTo>
                <a:lnTo>
                  <a:pt x="3079739" y="546100"/>
                </a:lnTo>
                <a:lnTo>
                  <a:pt x="3074372" y="546100"/>
                </a:lnTo>
                <a:lnTo>
                  <a:pt x="3072085" y="533400"/>
                </a:lnTo>
                <a:lnTo>
                  <a:pt x="3072078" y="533240"/>
                </a:lnTo>
                <a:close/>
              </a:path>
              <a:path w="3120390" h="1308100">
                <a:moveTo>
                  <a:pt x="76520" y="533400"/>
                </a:moveTo>
                <a:lnTo>
                  <a:pt x="57318" y="533400"/>
                </a:lnTo>
                <a:lnTo>
                  <a:pt x="57318" y="546100"/>
                </a:lnTo>
                <a:lnTo>
                  <a:pt x="54535" y="546100"/>
                </a:lnTo>
                <a:lnTo>
                  <a:pt x="61967" y="558800"/>
                </a:lnTo>
                <a:lnTo>
                  <a:pt x="76519" y="558800"/>
                </a:lnTo>
                <a:lnTo>
                  <a:pt x="76520" y="533400"/>
                </a:lnTo>
                <a:close/>
              </a:path>
              <a:path w="3120390" h="1308100">
                <a:moveTo>
                  <a:pt x="86120" y="537185"/>
                </a:moveTo>
                <a:lnTo>
                  <a:pt x="85707" y="546100"/>
                </a:lnTo>
                <a:lnTo>
                  <a:pt x="76519" y="546100"/>
                </a:lnTo>
                <a:lnTo>
                  <a:pt x="76519" y="558800"/>
                </a:lnTo>
                <a:lnTo>
                  <a:pt x="80352" y="558800"/>
                </a:lnTo>
                <a:lnTo>
                  <a:pt x="86120" y="549266"/>
                </a:lnTo>
                <a:lnTo>
                  <a:pt x="86120" y="537185"/>
                </a:lnTo>
                <a:close/>
              </a:path>
              <a:path w="3120390" h="1308100">
                <a:moveTo>
                  <a:pt x="3081674" y="533400"/>
                </a:moveTo>
                <a:lnTo>
                  <a:pt x="3081655" y="549266"/>
                </a:lnTo>
                <a:lnTo>
                  <a:pt x="3087423" y="558800"/>
                </a:lnTo>
                <a:lnTo>
                  <a:pt x="3091254" y="558800"/>
                </a:lnTo>
                <a:lnTo>
                  <a:pt x="3091254" y="546100"/>
                </a:lnTo>
                <a:lnTo>
                  <a:pt x="3082067" y="546100"/>
                </a:lnTo>
                <a:lnTo>
                  <a:pt x="3081674" y="533400"/>
                </a:lnTo>
                <a:close/>
              </a:path>
              <a:path w="3120390" h="1308100">
                <a:moveTo>
                  <a:pt x="3120056" y="533400"/>
                </a:moveTo>
                <a:lnTo>
                  <a:pt x="3118230" y="546100"/>
                </a:lnTo>
                <a:lnTo>
                  <a:pt x="3113238" y="546100"/>
                </a:lnTo>
                <a:lnTo>
                  <a:pt x="3105806" y="558800"/>
                </a:lnTo>
                <a:lnTo>
                  <a:pt x="3120056" y="558800"/>
                </a:lnTo>
                <a:lnTo>
                  <a:pt x="3120056" y="533400"/>
                </a:lnTo>
                <a:close/>
              </a:path>
              <a:path w="3120390" h="1308100">
                <a:moveTo>
                  <a:pt x="87280" y="518352"/>
                </a:moveTo>
                <a:lnTo>
                  <a:pt x="86883" y="520700"/>
                </a:lnTo>
                <a:lnTo>
                  <a:pt x="86120" y="537185"/>
                </a:lnTo>
                <a:lnTo>
                  <a:pt x="86120" y="549266"/>
                </a:lnTo>
                <a:lnTo>
                  <a:pt x="88035" y="546100"/>
                </a:lnTo>
                <a:lnTo>
                  <a:pt x="93402" y="546100"/>
                </a:lnTo>
                <a:lnTo>
                  <a:pt x="95689" y="533400"/>
                </a:lnTo>
                <a:lnTo>
                  <a:pt x="95667" y="533049"/>
                </a:lnTo>
                <a:lnTo>
                  <a:pt x="93833" y="520700"/>
                </a:lnTo>
                <a:lnTo>
                  <a:pt x="88690" y="520700"/>
                </a:lnTo>
                <a:lnTo>
                  <a:pt x="87280" y="518352"/>
                </a:lnTo>
                <a:close/>
              </a:path>
              <a:path w="3120390" h="1308100">
                <a:moveTo>
                  <a:pt x="3080632" y="518124"/>
                </a:moveTo>
                <a:lnTo>
                  <a:pt x="3079084" y="520700"/>
                </a:lnTo>
                <a:lnTo>
                  <a:pt x="3073941" y="520700"/>
                </a:lnTo>
                <a:lnTo>
                  <a:pt x="3072107" y="533049"/>
                </a:lnTo>
                <a:lnTo>
                  <a:pt x="3072085" y="533400"/>
                </a:lnTo>
                <a:lnTo>
                  <a:pt x="3074372" y="546100"/>
                </a:lnTo>
                <a:lnTo>
                  <a:pt x="3079739" y="546100"/>
                </a:lnTo>
                <a:lnTo>
                  <a:pt x="3081655" y="549266"/>
                </a:lnTo>
                <a:lnTo>
                  <a:pt x="3081674" y="533400"/>
                </a:lnTo>
                <a:lnTo>
                  <a:pt x="3081039" y="520700"/>
                </a:lnTo>
                <a:lnTo>
                  <a:pt x="3080632" y="518124"/>
                </a:lnTo>
                <a:close/>
              </a:path>
              <a:path w="3120390" h="1308100">
                <a:moveTo>
                  <a:pt x="57318" y="533400"/>
                </a:moveTo>
                <a:lnTo>
                  <a:pt x="47719" y="533400"/>
                </a:lnTo>
                <a:lnTo>
                  <a:pt x="49544" y="546100"/>
                </a:lnTo>
                <a:lnTo>
                  <a:pt x="57318" y="546100"/>
                </a:lnTo>
                <a:lnTo>
                  <a:pt x="57318" y="533400"/>
                </a:lnTo>
                <a:close/>
              </a:path>
              <a:path w="3120390" h="1308100">
                <a:moveTo>
                  <a:pt x="3120056" y="533400"/>
                </a:moveTo>
                <a:lnTo>
                  <a:pt x="3110456" y="533400"/>
                </a:lnTo>
                <a:lnTo>
                  <a:pt x="3110456" y="546100"/>
                </a:lnTo>
                <a:lnTo>
                  <a:pt x="3118230" y="546100"/>
                </a:lnTo>
                <a:lnTo>
                  <a:pt x="3120056" y="533400"/>
                </a:lnTo>
                <a:close/>
              </a:path>
              <a:path w="3120390" h="1308100">
                <a:moveTo>
                  <a:pt x="81061" y="508000"/>
                </a:moveTo>
                <a:lnTo>
                  <a:pt x="79541" y="508000"/>
                </a:lnTo>
                <a:lnTo>
                  <a:pt x="77294" y="520700"/>
                </a:lnTo>
                <a:lnTo>
                  <a:pt x="76381" y="533400"/>
                </a:lnTo>
                <a:lnTo>
                  <a:pt x="86120" y="533400"/>
                </a:lnTo>
                <a:lnTo>
                  <a:pt x="86120" y="537185"/>
                </a:lnTo>
                <a:lnTo>
                  <a:pt x="86883" y="520700"/>
                </a:lnTo>
                <a:lnTo>
                  <a:pt x="87280" y="518352"/>
                </a:lnTo>
                <a:lnTo>
                  <a:pt x="81061" y="508000"/>
                </a:lnTo>
                <a:close/>
              </a:path>
              <a:path w="3120390" h="1308100">
                <a:moveTo>
                  <a:pt x="47771" y="533049"/>
                </a:moveTo>
                <a:lnTo>
                  <a:pt x="47719" y="533400"/>
                </a:lnTo>
                <a:lnTo>
                  <a:pt x="47771" y="533049"/>
                </a:lnTo>
                <a:close/>
              </a:path>
              <a:path w="3120390" h="1308100">
                <a:moveTo>
                  <a:pt x="79541" y="508000"/>
                </a:moveTo>
                <a:lnTo>
                  <a:pt x="62377" y="508000"/>
                </a:lnTo>
                <a:lnTo>
                  <a:pt x="54748" y="520700"/>
                </a:lnTo>
                <a:lnTo>
                  <a:pt x="49605" y="520700"/>
                </a:lnTo>
                <a:lnTo>
                  <a:pt x="47771" y="533049"/>
                </a:lnTo>
                <a:lnTo>
                  <a:pt x="47749" y="533400"/>
                </a:lnTo>
                <a:lnTo>
                  <a:pt x="76381" y="533400"/>
                </a:lnTo>
                <a:lnTo>
                  <a:pt x="77294" y="520700"/>
                </a:lnTo>
                <a:lnTo>
                  <a:pt x="79541" y="508000"/>
                </a:lnTo>
                <a:close/>
              </a:path>
              <a:path w="3120390" h="1308100">
                <a:moveTo>
                  <a:pt x="3088330" y="508000"/>
                </a:moveTo>
                <a:lnTo>
                  <a:pt x="3086713" y="508000"/>
                </a:lnTo>
                <a:lnTo>
                  <a:pt x="3080632" y="518124"/>
                </a:lnTo>
                <a:lnTo>
                  <a:pt x="3081039" y="520700"/>
                </a:lnTo>
                <a:lnTo>
                  <a:pt x="3081674" y="533400"/>
                </a:lnTo>
                <a:lnTo>
                  <a:pt x="3091392" y="533400"/>
                </a:lnTo>
                <a:lnTo>
                  <a:pt x="3090528" y="520700"/>
                </a:lnTo>
                <a:lnTo>
                  <a:pt x="3088330" y="508000"/>
                </a:lnTo>
                <a:close/>
              </a:path>
              <a:path w="3120390" h="1308100">
                <a:moveTo>
                  <a:pt x="3069244" y="406400"/>
                </a:moveTo>
                <a:lnTo>
                  <a:pt x="3026509" y="406400"/>
                </a:lnTo>
                <a:lnTo>
                  <a:pt x="3048295" y="431800"/>
                </a:lnTo>
                <a:lnTo>
                  <a:pt x="3066272" y="457200"/>
                </a:lnTo>
                <a:lnTo>
                  <a:pt x="3084739" y="495300"/>
                </a:lnTo>
                <a:lnTo>
                  <a:pt x="3091392" y="533400"/>
                </a:lnTo>
                <a:lnTo>
                  <a:pt x="3120025" y="533400"/>
                </a:lnTo>
                <a:lnTo>
                  <a:pt x="3120003" y="533049"/>
                </a:lnTo>
                <a:lnTo>
                  <a:pt x="3118169" y="520700"/>
                </a:lnTo>
                <a:lnTo>
                  <a:pt x="3113026" y="520700"/>
                </a:lnTo>
                <a:lnTo>
                  <a:pt x="3105397" y="508000"/>
                </a:lnTo>
                <a:lnTo>
                  <a:pt x="3118999" y="508000"/>
                </a:lnTo>
                <a:lnTo>
                  <a:pt x="3116223" y="495300"/>
                </a:lnTo>
                <a:lnTo>
                  <a:pt x="3111785" y="482600"/>
                </a:lnTo>
                <a:lnTo>
                  <a:pt x="3105778" y="469900"/>
                </a:lnTo>
                <a:lnTo>
                  <a:pt x="3098292" y="444500"/>
                </a:lnTo>
                <a:lnTo>
                  <a:pt x="3090109" y="431800"/>
                </a:lnTo>
                <a:lnTo>
                  <a:pt x="3089440" y="431800"/>
                </a:lnTo>
                <a:lnTo>
                  <a:pt x="3069244" y="406400"/>
                </a:lnTo>
                <a:close/>
              </a:path>
              <a:path w="3120390" h="1308100">
                <a:moveTo>
                  <a:pt x="3120014" y="533118"/>
                </a:moveTo>
                <a:lnTo>
                  <a:pt x="3120025" y="533400"/>
                </a:lnTo>
                <a:lnTo>
                  <a:pt x="3120014" y="533118"/>
                </a:lnTo>
                <a:close/>
              </a:path>
              <a:path w="3120390" h="1308100">
                <a:moveTo>
                  <a:pt x="186359" y="406400"/>
                </a:moveTo>
                <a:lnTo>
                  <a:pt x="158440" y="406400"/>
                </a:lnTo>
                <a:lnTo>
                  <a:pt x="146842" y="419100"/>
                </a:lnTo>
                <a:lnTo>
                  <a:pt x="126297" y="431800"/>
                </a:lnTo>
                <a:lnTo>
                  <a:pt x="102967" y="469900"/>
                </a:lnTo>
                <a:lnTo>
                  <a:pt x="89030" y="508000"/>
                </a:lnTo>
                <a:lnTo>
                  <a:pt x="87280" y="518352"/>
                </a:lnTo>
                <a:lnTo>
                  <a:pt x="88690" y="520700"/>
                </a:lnTo>
                <a:lnTo>
                  <a:pt x="93833" y="520700"/>
                </a:lnTo>
                <a:lnTo>
                  <a:pt x="95698" y="533254"/>
                </a:lnTo>
                <a:lnTo>
                  <a:pt x="101771" y="495300"/>
                </a:lnTo>
                <a:lnTo>
                  <a:pt x="117193" y="457200"/>
                </a:lnTo>
                <a:lnTo>
                  <a:pt x="152417" y="431800"/>
                </a:lnTo>
                <a:lnTo>
                  <a:pt x="163423" y="419100"/>
                </a:lnTo>
                <a:lnTo>
                  <a:pt x="174614" y="419100"/>
                </a:lnTo>
                <a:lnTo>
                  <a:pt x="186359" y="406400"/>
                </a:lnTo>
                <a:close/>
              </a:path>
              <a:path w="3120390" h="1308100">
                <a:moveTo>
                  <a:pt x="3020932" y="419100"/>
                </a:moveTo>
                <a:lnTo>
                  <a:pt x="3006396" y="419100"/>
                </a:lnTo>
                <a:lnTo>
                  <a:pt x="3015357" y="431800"/>
                </a:lnTo>
                <a:lnTo>
                  <a:pt x="3034657" y="444500"/>
                </a:lnTo>
                <a:lnTo>
                  <a:pt x="3050581" y="457200"/>
                </a:lnTo>
                <a:lnTo>
                  <a:pt x="3066709" y="495300"/>
                </a:lnTo>
                <a:lnTo>
                  <a:pt x="3072078" y="533240"/>
                </a:lnTo>
                <a:lnTo>
                  <a:pt x="3073941" y="520700"/>
                </a:lnTo>
                <a:lnTo>
                  <a:pt x="3079084" y="520700"/>
                </a:lnTo>
                <a:lnTo>
                  <a:pt x="3080632" y="518124"/>
                </a:lnTo>
                <a:lnTo>
                  <a:pt x="3065472" y="469900"/>
                </a:lnTo>
                <a:lnTo>
                  <a:pt x="3041477" y="431800"/>
                </a:lnTo>
                <a:lnTo>
                  <a:pt x="3020932" y="419100"/>
                </a:lnTo>
                <a:close/>
              </a:path>
              <a:path w="3120390" h="1308100">
                <a:moveTo>
                  <a:pt x="3118999" y="508000"/>
                </a:moveTo>
                <a:lnTo>
                  <a:pt x="3105397" y="508000"/>
                </a:lnTo>
                <a:lnTo>
                  <a:pt x="3113026" y="520700"/>
                </a:lnTo>
                <a:lnTo>
                  <a:pt x="3118169" y="520700"/>
                </a:lnTo>
                <a:lnTo>
                  <a:pt x="3120014" y="533118"/>
                </a:lnTo>
                <a:lnTo>
                  <a:pt x="3118999" y="508000"/>
                </a:lnTo>
                <a:close/>
              </a:path>
              <a:path w="3120390" h="1308100">
                <a:moveTo>
                  <a:pt x="141265" y="406400"/>
                </a:moveTo>
                <a:lnTo>
                  <a:pt x="98530" y="406400"/>
                </a:lnTo>
                <a:lnTo>
                  <a:pt x="78334" y="431800"/>
                </a:lnTo>
                <a:lnTo>
                  <a:pt x="77665" y="431800"/>
                </a:lnTo>
                <a:lnTo>
                  <a:pt x="68373" y="444500"/>
                </a:lnTo>
                <a:lnTo>
                  <a:pt x="61080" y="469900"/>
                </a:lnTo>
                <a:lnTo>
                  <a:pt x="55283" y="482600"/>
                </a:lnTo>
                <a:lnTo>
                  <a:pt x="51070" y="495300"/>
                </a:lnTo>
                <a:lnTo>
                  <a:pt x="48531" y="520700"/>
                </a:lnTo>
                <a:lnTo>
                  <a:pt x="47771" y="533049"/>
                </a:lnTo>
                <a:lnTo>
                  <a:pt x="49605" y="520700"/>
                </a:lnTo>
                <a:lnTo>
                  <a:pt x="54748" y="520700"/>
                </a:lnTo>
                <a:lnTo>
                  <a:pt x="62377" y="508000"/>
                </a:lnTo>
                <a:lnTo>
                  <a:pt x="79541" y="508000"/>
                </a:lnTo>
                <a:lnTo>
                  <a:pt x="83176" y="495300"/>
                </a:lnTo>
                <a:lnTo>
                  <a:pt x="88126" y="469900"/>
                </a:lnTo>
                <a:lnTo>
                  <a:pt x="94319" y="457200"/>
                </a:lnTo>
                <a:lnTo>
                  <a:pt x="101502" y="457200"/>
                </a:lnTo>
                <a:lnTo>
                  <a:pt x="119479" y="431800"/>
                </a:lnTo>
                <a:lnTo>
                  <a:pt x="141265" y="406400"/>
                </a:lnTo>
                <a:close/>
              </a:path>
              <a:path w="3120390" h="1308100">
                <a:moveTo>
                  <a:pt x="2998626" y="406400"/>
                </a:moveTo>
                <a:lnTo>
                  <a:pt x="2983687" y="406400"/>
                </a:lnTo>
                <a:lnTo>
                  <a:pt x="2995326" y="419100"/>
                </a:lnTo>
                <a:lnTo>
                  <a:pt x="3010562" y="419100"/>
                </a:lnTo>
                <a:lnTo>
                  <a:pt x="2998626" y="406400"/>
                </a:lnTo>
                <a:close/>
              </a:path>
              <a:path w="3120390" h="1308100">
                <a:moveTo>
                  <a:pt x="166282" y="393700"/>
                </a:moveTo>
                <a:lnTo>
                  <a:pt x="124093" y="393700"/>
                </a:lnTo>
                <a:lnTo>
                  <a:pt x="99615" y="406400"/>
                </a:lnTo>
                <a:lnTo>
                  <a:pt x="153455" y="406400"/>
                </a:lnTo>
                <a:lnTo>
                  <a:pt x="166282" y="393700"/>
                </a:lnTo>
                <a:close/>
              </a:path>
              <a:path w="3120390" h="1308100">
                <a:moveTo>
                  <a:pt x="543161" y="393700"/>
                </a:moveTo>
                <a:lnTo>
                  <a:pt x="196207" y="393700"/>
                </a:lnTo>
                <a:lnTo>
                  <a:pt x="183060" y="406400"/>
                </a:lnTo>
                <a:lnTo>
                  <a:pt x="562869" y="406400"/>
                </a:lnTo>
                <a:lnTo>
                  <a:pt x="543161" y="393700"/>
                </a:lnTo>
                <a:close/>
              </a:path>
              <a:path w="3120390" h="1308100">
                <a:moveTo>
                  <a:pt x="21643" y="0"/>
                </a:moveTo>
                <a:lnTo>
                  <a:pt x="13607" y="12700"/>
                </a:lnTo>
                <a:lnTo>
                  <a:pt x="6820" y="12700"/>
                </a:lnTo>
                <a:lnTo>
                  <a:pt x="2006" y="25400"/>
                </a:lnTo>
                <a:lnTo>
                  <a:pt x="0" y="25400"/>
                </a:lnTo>
                <a:lnTo>
                  <a:pt x="995" y="38100"/>
                </a:lnTo>
                <a:lnTo>
                  <a:pt x="4759" y="38100"/>
                </a:lnTo>
                <a:lnTo>
                  <a:pt x="11060" y="50800"/>
                </a:lnTo>
                <a:lnTo>
                  <a:pt x="562869" y="406400"/>
                </a:lnTo>
                <a:lnTo>
                  <a:pt x="570842" y="375018"/>
                </a:lnTo>
                <a:lnTo>
                  <a:pt x="101490" y="73537"/>
                </a:lnTo>
                <a:lnTo>
                  <a:pt x="17730" y="50800"/>
                </a:lnTo>
                <a:lnTo>
                  <a:pt x="23644" y="39028"/>
                </a:lnTo>
                <a:lnTo>
                  <a:pt x="20224" y="38100"/>
                </a:lnTo>
                <a:lnTo>
                  <a:pt x="31550" y="13054"/>
                </a:lnTo>
                <a:lnTo>
                  <a:pt x="30203" y="12700"/>
                </a:lnTo>
                <a:lnTo>
                  <a:pt x="21643" y="0"/>
                </a:lnTo>
                <a:close/>
              </a:path>
              <a:path w="3120390" h="1308100">
                <a:moveTo>
                  <a:pt x="595455" y="393700"/>
                </a:moveTo>
                <a:lnTo>
                  <a:pt x="566095" y="393700"/>
                </a:lnTo>
                <a:lnTo>
                  <a:pt x="562869" y="406400"/>
                </a:lnTo>
                <a:lnTo>
                  <a:pt x="590175" y="406400"/>
                </a:lnTo>
                <a:lnTo>
                  <a:pt x="595455" y="393700"/>
                </a:lnTo>
                <a:close/>
              </a:path>
              <a:path w="3120390" h="1308100">
                <a:moveTo>
                  <a:pt x="122418" y="65859"/>
                </a:moveTo>
                <a:lnTo>
                  <a:pt x="160595" y="89582"/>
                </a:lnTo>
                <a:lnTo>
                  <a:pt x="1327656" y="406400"/>
                </a:lnTo>
                <a:lnTo>
                  <a:pt x="2986078" y="406400"/>
                </a:lnTo>
                <a:lnTo>
                  <a:pt x="2972979" y="393700"/>
                </a:lnTo>
                <a:lnTo>
                  <a:pt x="1329338" y="393700"/>
                </a:lnTo>
                <a:lnTo>
                  <a:pt x="122418" y="65859"/>
                </a:lnTo>
                <a:close/>
              </a:path>
              <a:path w="3120390" h="1308100">
                <a:moveTo>
                  <a:pt x="3043682" y="393700"/>
                </a:moveTo>
                <a:lnTo>
                  <a:pt x="3001925" y="393700"/>
                </a:lnTo>
                <a:lnTo>
                  <a:pt x="3014728" y="406400"/>
                </a:lnTo>
                <a:lnTo>
                  <a:pt x="3068160" y="406400"/>
                </a:lnTo>
                <a:lnTo>
                  <a:pt x="3043682" y="393700"/>
                </a:lnTo>
                <a:close/>
              </a:path>
              <a:path w="3120390" h="1308100">
                <a:moveTo>
                  <a:pt x="484039" y="355600"/>
                </a:moveTo>
                <a:lnTo>
                  <a:pt x="186645" y="355600"/>
                </a:lnTo>
                <a:lnTo>
                  <a:pt x="169862" y="368300"/>
                </a:lnTo>
                <a:lnTo>
                  <a:pt x="153783" y="368300"/>
                </a:lnTo>
                <a:lnTo>
                  <a:pt x="138502" y="381000"/>
                </a:lnTo>
                <a:lnTo>
                  <a:pt x="125032" y="393700"/>
                </a:lnTo>
                <a:lnTo>
                  <a:pt x="208380" y="393700"/>
                </a:lnTo>
                <a:lnTo>
                  <a:pt x="223380" y="381000"/>
                </a:lnTo>
                <a:lnTo>
                  <a:pt x="523454" y="381000"/>
                </a:lnTo>
                <a:lnTo>
                  <a:pt x="484039" y="355600"/>
                </a:lnTo>
                <a:close/>
              </a:path>
              <a:path w="3120390" h="1308100">
                <a:moveTo>
                  <a:pt x="588681" y="355600"/>
                </a:moveTo>
                <a:lnTo>
                  <a:pt x="575776" y="355600"/>
                </a:lnTo>
                <a:lnTo>
                  <a:pt x="574832" y="359313"/>
                </a:lnTo>
                <a:lnTo>
                  <a:pt x="588914" y="368300"/>
                </a:lnTo>
                <a:lnTo>
                  <a:pt x="591392" y="381000"/>
                </a:lnTo>
                <a:lnTo>
                  <a:pt x="587806" y="393700"/>
                </a:lnTo>
                <a:lnTo>
                  <a:pt x="598815" y="393700"/>
                </a:lnTo>
                <a:lnTo>
                  <a:pt x="599756" y="381000"/>
                </a:lnTo>
                <a:lnTo>
                  <a:pt x="598240" y="368300"/>
                </a:lnTo>
                <a:lnTo>
                  <a:pt x="594478" y="368300"/>
                </a:lnTo>
                <a:lnTo>
                  <a:pt x="588681" y="355600"/>
                </a:lnTo>
                <a:close/>
              </a:path>
              <a:path w="3120390" h="1308100">
                <a:moveTo>
                  <a:pt x="41758" y="15736"/>
                </a:moveTo>
                <a:lnTo>
                  <a:pt x="117885" y="63042"/>
                </a:lnTo>
                <a:lnTo>
                  <a:pt x="1331018" y="381000"/>
                </a:lnTo>
                <a:lnTo>
                  <a:pt x="2944637" y="381000"/>
                </a:lnTo>
                <a:lnTo>
                  <a:pt x="2959877" y="393700"/>
                </a:lnTo>
                <a:lnTo>
                  <a:pt x="3042742" y="393700"/>
                </a:lnTo>
                <a:lnTo>
                  <a:pt x="3011825" y="368300"/>
                </a:lnTo>
                <a:lnTo>
                  <a:pt x="2995640" y="368300"/>
                </a:lnTo>
                <a:lnTo>
                  <a:pt x="2978773" y="355600"/>
                </a:lnTo>
                <a:lnTo>
                  <a:pt x="1335031" y="355600"/>
                </a:lnTo>
                <a:lnTo>
                  <a:pt x="41758" y="15736"/>
                </a:lnTo>
                <a:close/>
              </a:path>
              <a:path w="3120390" h="1308100">
                <a:moveTo>
                  <a:pt x="570842" y="375018"/>
                </a:moveTo>
                <a:lnTo>
                  <a:pt x="569322" y="381000"/>
                </a:lnTo>
                <a:lnTo>
                  <a:pt x="580155" y="381000"/>
                </a:lnTo>
                <a:lnTo>
                  <a:pt x="570842" y="375018"/>
                </a:lnTo>
                <a:close/>
              </a:path>
              <a:path w="3120390" h="1308100">
                <a:moveTo>
                  <a:pt x="569014" y="355600"/>
                </a:moveTo>
                <a:lnTo>
                  <a:pt x="540611" y="355600"/>
                </a:lnTo>
                <a:lnTo>
                  <a:pt x="570842" y="375018"/>
                </a:lnTo>
                <a:lnTo>
                  <a:pt x="574832" y="359313"/>
                </a:lnTo>
                <a:lnTo>
                  <a:pt x="569014" y="355600"/>
                </a:lnTo>
                <a:close/>
              </a:path>
              <a:path w="3120390" h="1308100">
                <a:moveTo>
                  <a:pt x="145953" y="85608"/>
                </a:moveTo>
                <a:lnTo>
                  <a:pt x="574832" y="359313"/>
                </a:lnTo>
                <a:lnTo>
                  <a:pt x="575776" y="355600"/>
                </a:lnTo>
                <a:lnTo>
                  <a:pt x="588681" y="355600"/>
                </a:lnTo>
                <a:lnTo>
                  <a:pt x="160595" y="89582"/>
                </a:lnTo>
                <a:lnTo>
                  <a:pt x="145953" y="85608"/>
                </a:lnTo>
                <a:close/>
              </a:path>
              <a:path w="3120390" h="1308100">
                <a:moveTo>
                  <a:pt x="109516" y="62354"/>
                </a:moveTo>
                <a:lnTo>
                  <a:pt x="145953" y="85608"/>
                </a:lnTo>
                <a:lnTo>
                  <a:pt x="160595" y="89582"/>
                </a:lnTo>
                <a:lnTo>
                  <a:pt x="122418" y="65859"/>
                </a:lnTo>
                <a:lnTo>
                  <a:pt x="109516" y="62354"/>
                </a:lnTo>
                <a:close/>
              </a:path>
              <a:path w="3120390" h="1308100">
                <a:moveTo>
                  <a:pt x="65441" y="50382"/>
                </a:moveTo>
                <a:lnTo>
                  <a:pt x="101490" y="73537"/>
                </a:lnTo>
                <a:lnTo>
                  <a:pt x="145953" y="85608"/>
                </a:lnTo>
                <a:lnTo>
                  <a:pt x="109516" y="62354"/>
                </a:lnTo>
                <a:lnTo>
                  <a:pt x="65441" y="50382"/>
                </a:lnTo>
                <a:close/>
              </a:path>
              <a:path w="3120390" h="1308100">
                <a:moveTo>
                  <a:pt x="23644" y="39028"/>
                </a:moveTo>
                <a:lnTo>
                  <a:pt x="17730" y="50800"/>
                </a:lnTo>
                <a:lnTo>
                  <a:pt x="101490" y="73537"/>
                </a:lnTo>
                <a:lnTo>
                  <a:pt x="65441" y="50382"/>
                </a:lnTo>
                <a:lnTo>
                  <a:pt x="23644" y="39028"/>
                </a:lnTo>
                <a:close/>
              </a:path>
              <a:path w="3120390" h="1308100">
                <a:moveTo>
                  <a:pt x="105513" y="59800"/>
                </a:moveTo>
                <a:lnTo>
                  <a:pt x="109516" y="62354"/>
                </a:lnTo>
                <a:lnTo>
                  <a:pt x="122418" y="65859"/>
                </a:lnTo>
                <a:lnTo>
                  <a:pt x="117885" y="63042"/>
                </a:lnTo>
                <a:lnTo>
                  <a:pt x="105513" y="59800"/>
                </a:lnTo>
                <a:close/>
              </a:path>
              <a:path w="3120390" h="1308100">
                <a:moveTo>
                  <a:pt x="36094" y="14248"/>
                </a:moveTo>
                <a:lnTo>
                  <a:pt x="35618" y="15194"/>
                </a:lnTo>
                <a:lnTo>
                  <a:pt x="105513" y="59800"/>
                </a:lnTo>
                <a:lnTo>
                  <a:pt x="117885" y="63042"/>
                </a:lnTo>
                <a:lnTo>
                  <a:pt x="41758" y="15736"/>
                </a:lnTo>
                <a:lnTo>
                  <a:pt x="36094" y="14248"/>
                </a:lnTo>
                <a:close/>
              </a:path>
              <a:path w="3120390" h="1308100">
                <a:moveTo>
                  <a:pt x="35618" y="15194"/>
                </a:moveTo>
                <a:lnTo>
                  <a:pt x="29529" y="27314"/>
                </a:lnTo>
                <a:lnTo>
                  <a:pt x="62587" y="48549"/>
                </a:lnTo>
                <a:lnTo>
                  <a:pt x="105513" y="59800"/>
                </a:lnTo>
                <a:lnTo>
                  <a:pt x="35618" y="15194"/>
                </a:lnTo>
                <a:close/>
              </a:path>
              <a:path w="3120390" h="1308100">
                <a:moveTo>
                  <a:pt x="23949" y="38422"/>
                </a:moveTo>
                <a:lnTo>
                  <a:pt x="23644" y="39028"/>
                </a:lnTo>
                <a:lnTo>
                  <a:pt x="65441" y="50382"/>
                </a:lnTo>
                <a:lnTo>
                  <a:pt x="62587" y="48549"/>
                </a:lnTo>
                <a:lnTo>
                  <a:pt x="23949" y="38422"/>
                </a:lnTo>
                <a:close/>
              </a:path>
              <a:path w="3120390" h="1308100">
                <a:moveTo>
                  <a:pt x="29529" y="27314"/>
                </a:moveTo>
                <a:lnTo>
                  <a:pt x="23949" y="38422"/>
                </a:lnTo>
                <a:lnTo>
                  <a:pt x="62587" y="48549"/>
                </a:lnTo>
                <a:lnTo>
                  <a:pt x="29529" y="27314"/>
                </a:lnTo>
                <a:close/>
              </a:path>
              <a:path w="3120390" h="1308100">
                <a:moveTo>
                  <a:pt x="26548" y="25400"/>
                </a:moveTo>
                <a:lnTo>
                  <a:pt x="22719" y="38100"/>
                </a:lnTo>
                <a:lnTo>
                  <a:pt x="23949" y="38422"/>
                </a:lnTo>
                <a:lnTo>
                  <a:pt x="29529" y="27314"/>
                </a:lnTo>
                <a:lnTo>
                  <a:pt x="26548" y="25400"/>
                </a:lnTo>
                <a:close/>
              </a:path>
              <a:path w="3120390" h="1308100">
                <a:moveTo>
                  <a:pt x="36871" y="12700"/>
                </a:moveTo>
                <a:lnTo>
                  <a:pt x="36094" y="14248"/>
                </a:lnTo>
                <a:lnTo>
                  <a:pt x="41758" y="15736"/>
                </a:lnTo>
                <a:lnTo>
                  <a:pt x="36871" y="12700"/>
                </a:lnTo>
                <a:close/>
              </a:path>
              <a:path w="3120390" h="1308100">
                <a:moveTo>
                  <a:pt x="32766" y="13373"/>
                </a:moveTo>
                <a:lnTo>
                  <a:pt x="35618" y="15194"/>
                </a:lnTo>
                <a:lnTo>
                  <a:pt x="36094" y="14248"/>
                </a:lnTo>
                <a:lnTo>
                  <a:pt x="32766" y="13373"/>
                </a:lnTo>
                <a:close/>
              </a:path>
              <a:path w="3120390" h="1308100">
                <a:moveTo>
                  <a:pt x="31710" y="12700"/>
                </a:moveTo>
                <a:lnTo>
                  <a:pt x="31550" y="13054"/>
                </a:lnTo>
                <a:lnTo>
                  <a:pt x="32766" y="13373"/>
                </a:lnTo>
                <a:lnTo>
                  <a:pt x="31710" y="1270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181302" y="3468115"/>
            <a:ext cx="2686685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 indent="311785">
              <a:lnSpc>
                <a:spcPct val="100800"/>
              </a:lnSpc>
              <a:spcBef>
                <a:spcPts val="75"/>
              </a:spcBef>
            </a:pPr>
            <a:r>
              <a:rPr dirty="0" sz="2400" spc="-5" b="1">
                <a:latin typeface="Corbel"/>
                <a:cs typeface="Corbel"/>
              </a:rPr>
              <a:t>Can </a:t>
            </a:r>
            <a:r>
              <a:rPr dirty="0" sz="2400" b="1">
                <a:latin typeface="Corbel"/>
                <a:cs typeface="Corbel"/>
              </a:rPr>
              <a:t>we </a:t>
            </a:r>
            <a:r>
              <a:rPr dirty="0" sz="2400" spc="-5" b="1">
                <a:latin typeface="Corbel"/>
                <a:cs typeface="Corbel"/>
              </a:rPr>
              <a:t>identify  functional</a:t>
            </a:r>
            <a:r>
              <a:rPr dirty="0" sz="2400" spc="-40" b="1">
                <a:latin typeface="Corbel"/>
                <a:cs typeface="Corbel"/>
              </a:rPr>
              <a:t> </a:t>
            </a:r>
            <a:r>
              <a:rPr dirty="0" sz="2400" spc="-5" b="1">
                <a:latin typeface="Corbel"/>
                <a:cs typeface="Corbel"/>
              </a:rPr>
              <a:t>modules?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45160" y="6177876"/>
            <a:ext cx="2136775" cy="584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985"/>
              </a:lnSpc>
            </a:pPr>
            <a:r>
              <a:rPr dirty="0" sz="2000" spc="-5" b="1">
                <a:latin typeface="Corbel"/>
                <a:cs typeface="Corbel"/>
              </a:rPr>
              <a:t>Nodes:</a:t>
            </a:r>
            <a:r>
              <a:rPr dirty="0" sz="2000" spc="-50" b="1">
                <a:latin typeface="Corbel"/>
                <a:cs typeface="Corbel"/>
              </a:rPr>
              <a:t> </a:t>
            </a:r>
            <a:r>
              <a:rPr dirty="0" sz="2000" spc="-5" b="1">
                <a:latin typeface="Corbel"/>
                <a:cs typeface="Corbel"/>
              </a:rPr>
              <a:t>Proteins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</a:pPr>
            <a:r>
              <a:rPr dirty="0" sz="2000" spc="-5" b="1">
                <a:latin typeface="Corbel"/>
                <a:cs typeface="Corbel"/>
              </a:rPr>
              <a:t>Edges:</a:t>
            </a:r>
            <a:r>
              <a:rPr dirty="0" sz="2000" spc="-25" b="1">
                <a:latin typeface="Corbel"/>
                <a:cs typeface="Corbel"/>
              </a:rPr>
              <a:t> </a:t>
            </a:r>
            <a:r>
              <a:rPr dirty="0" sz="2000" spc="-5" b="1">
                <a:latin typeface="Corbel"/>
                <a:cs typeface="Corbel"/>
              </a:rPr>
              <a:t>Interactions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50</a:t>
            </a:fld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882383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19200" y="1143001"/>
            <a:ext cx="6233120" cy="56330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35940" y="5391403"/>
            <a:ext cx="26092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Corbel"/>
                <a:cs typeface="Corbel"/>
              </a:rPr>
              <a:t>Functional</a:t>
            </a:r>
            <a:r>
              <a:rPr dirty="0" sz="2400" spc="-30" b="1">
                <a:latin typeface="Corbel"/>
                <a:cs typeface="Corbel"/>
              </a:rPr>
              <a:t> </a:t>
            </a:r>
            <a:r>
              <a:rPr dirty="0" sz="2400" spc="-5" b="1">
                <a:latin typeface="Corbel"/>
                <a:cs typeface="Corbel"/>
              </a:rPr>
              <a:t>modules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58524" y="4952617"/>
            <a:ext cx="659130" cy="443865"/>
          </a:xfrm>
          <a:custGeom>
            <a:avLst/>
            <a:gdLst/>
            <a:ahLst/>
            <a:cxnLst/>
            <a:rect l="l" t="t" r="r" b="b"/>
            <a:pathLst>
              <a:path w="659130" h="443864">
                <a:moveTo>
                  <a:pt x="627494" y="21329"/>
                </a:moveTo>
                <a:lnTo>
                  <a:pt x="608625" y="22461"/>
                </a:lnTo>
                <a:lnTo>
                  <a:pt x="1183" y="427422"/>
                </a:lnTo>
                <a:lnTo>
                  <a:pt x="0" y="433336"/>
                </a:lnTo>
                <a:lnTo>
                  <a:pt x="5836" y="442090"/>
                </a:lnTo>
                <a:lnTo>
                  <a:pt x="11750" y="443273"/>
                </a:lnTo>
                <a:lnTo>
                  <a:pt x="619191" y="38312"/>
                </a:lnTo>
                <a:lnTo>
                  <a:pt x="627494" y="21329"/>
                </a:lnTo>
                <a:close/>
              </a:path>
              <a:path w="659130" h="443864">
                <a:moveTo>
                  <a:pt x="650649" y="17340"/>
                </a:moveTo>
                <a:lnTo>
                  <a:pt x="619191" y="38312"/>
                </a:lnTo>
                <a:lnTo>
                  <a:pt x="593610" y="90638"/>
                </a:lnTo>
                <a:lnTo>
                  <a:pt x="595569" y="96343"/>
                </a:lnTo>
                <a:lnTo>
                  <a:pt x="605020" y="100963"/>
                </a:lnTo>
                <a:lnTo>
                  <a:pt x="610725" y="99005"/>
                </a:lnTo>
                <a:lnTo>
                  <a:pt x="650649" y="17340"/>
                </a:lnTo>
                <a:close/>
              </a:path>
              <a:path w="659130" h="443864">
                <a:moveTo>
                  <a:pt x="651883" y="6659"/>
                </a:moveTo>
                <a:lnTo>
                  <a:pt x="634665" y="6659"/>
                </a:lnTo>
                <a:lnTo>
                  <a:pt x="643794" y="20351"/>
                </a:lnTo>
                <a:lnTo>
                  <a:pt x="627494" y="21329"/>
                </a:lnTo>
                <a:lnTo>
                  <a:pt x="619191" y="38312"/>
                </a:lnTo>
                <a:lnTo>
                  <a:pt x="650649" y="17340"/>
                </a:lnTo>
                <a:lnTo>
                  <a:pt x="653927" y="10635"/>
                </a:lnTo>
                <a:lnTo>
                  <a:pt x="654067" y="9936"/>
                </a:lnTo>
                <a:lnTo>
                  <a:pt x="651883" y="6659"/>
                </a:lnTo>
                <a:close/>
              </a:path>
              <a:path w="659130" h="443864">
                <a:moveTo>
                  <a:pt x="640082" y="1490"/>
                </a:moveTo>
                <a:lnTo>
                  <a:pt x="549343" y="6934"/>
                </a:lnTo>
                <a:lnTo>
                  <a:pt x="545341" y="11446"/>
                </a:lnTo>
                <a:lnTo>
                  <a:pt x="545971" y="21949"/>
                </a:lnTo>
                <a:lnTo>
                  <a:pt x="550484" y="25949"/>
                </a:lnTo>
                <a:lnTo>
                  <a:pt x="608625" y="22461"/>
                </a:lnTo>
                <a:lnTo>
                  <a:pt x="640082" y="1490"/>
                </a:lnTo>
                <a:close/>
              </a:path>
              <a:path w="659130" h="443864">
                <a:moveTo>
                  <a:pt x="647534" y="1043"/>
                </a:moveTo>
                <a:lnTo>
                  <a:pt x="640082" y="1490"/>
                </a:lnTo>
                <a:lnTo>
                  <a:pt x="608625" y="22461"/>
                </a:lnTo>
                <a:lnTo>
                  <a:pt x="627494" y="21329"/>
                </a:lnTo>
                <a:lnTo>
                  <a:pt x="634665" y="6659"/>
                </a:lnTo>
                <a:lnTo>
                  <a:pt x="651883" y="6659"/>
                </a:lnTo>
                <a:lnTo>
                  <a:pt x="648230" y="1182"/>
                </a:lnTo>
                <a:lnTo>
                  <a:pt x="647534" y="1043"/>
                </a:lnTo>
                <a:close/>
              </a:path>
              <a:path w="659130" h="443864">
                <a:moveTo>
                  <a:pt x="634665" y="6659"/>
                </a:moveTo>
                <a:lnTo>
                  <a:pt x="627494" y="21329"/>
                </a:lnTo>
                <a:lnTo>
                  <a:pt x="643794" y="20351"/>
                </a:lnTo>
                <a:lnTo>
                  <a:pt x="634665" y="6659"/>
                </a:lnTo>
                <a:close/>
              </a:path>
              <a:path w="659130" h="443864">
                <a:moveTo>
                  <a:pt x="653927" y="10635"/>
                </a:moveTo>
                <a:lnTo>
                  <a:pt x="650649" y="17340"/>
                </a:lnTo>
                <a:lnTo>
                  <a:pt x="652884" y="15850"/>
                </a:lnTo>
                <a:lnTo>
                  <a:pt x="653927" y="10635"/>
                </a:lnTo>
                <a:close/>
              </a:path>
              <a:path w="659130" h="443864">
                <a:moveTo>
                  <a:pt x="658952" y="358"/>
                </a:moveTo>
                <a:lnTo>
                  <a:pt x="647534" y="1043"/>
                </a:lnTo>
                <a:lnTo>
                  <a:pt x="648230" y="1182"/>
                </a:lnTo>
                <a:lnTo>
                  <a:pt x="654067" y="9936"/>
                </a:lnTo>
                <a:lnTo>
                  <a:pt x="653927" y="10635"/>
                </a:lnTo>
                <a:lnTo>
                  <a:pt x="658952" y="358"/>
                </a:lnTo>
                <a:close/>
              </a:path>
              <a:path w="659130" h="443864">
                <a:moveTo>
                  <a:pt x="642317" y="0"/>
                </a:moveTo>
                <a:lnTo>
                  <a:pt x="640082" y="1490"/>
                </a:lnTo>
                <a:lnTo>
                  <a:pt x="647534" y="1043"/>
                </a:lnTo>
                <a:lnTo>
                  <a:pt x="642317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245160" y="6177876"/>
            <a:ext cx="2136775" cy="584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985"/>
              </a:lnSpc>
            </a:pPr>
            <a:r>
              <a:rPr dirty="0" sz="2000" spc="-5" b="1">
                <a:latin typeface="Corbel"/>
                <a:cs typeface="Corbel"/>
              </a:rPr>
              <a:t>Nodes:</a:t>
            </a:r>
            <a:r>
              <a:rPr dirty="0" sz="2000" spc="-50" b="1">
                <a:latin typeface="Corbel"/>
                <a:cs typeface="Corbel"/>
              </a:rPr>
              <a:t> </a:t>
            </a:r>
            <a:r>
              <a:rPr dirty="0" sz="2000" spc="-5" b="1">
                <a:latin typeface="Corbel"/>
                <a:cs typeface="Corbel"/>
              </a:rPr>
              <a:t>Proteins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</a:pPr>
            <a:r>
              <a:rPr dirty="0" sz="2000" spc="-5" b="1">
                <a:latin typeface="Corbel"/>
                <a:cs typeface="Corbel"/>
              </a:rPr>
              <a:t>Edges:</a:t>
            </a:r>
            <a:r>
              <a:rPr dirty="0" sz="2000" spc="-25" b="1">
                <a:latin typeface="Corbel"/>
                <a:cs typeface="Corbel"/>
              </a:rPr>
              <a:t> </a:t>
            </a:r>
            <a:r>
              <a:rPr dirty="0" sz="2000" spc="-5" b="1">
                <a:latin typeface="Corbel"/>
                <a:cs typeface="Corbel"/>
              </a:rPr>
              <a:t>Interactions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50</a:t>
            </a:fld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3255264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37882" y="1303503"/>
            <a:ext cx="2909132" cy="19314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02170" y="3355340"/>
            <a:ext cx="1125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Corbel"/>
                <a:cs typeface="Corbel"/>
              </a:rPr>
              <a:t>Network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33247" y="3355340"/>
            <a:ext cx="22104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Corbel"/>
                <a:cs typeface="Corbel"/>
              </a:rPr>
              <a:t>Adjacency</a:t>
            </a:r>
            <a:r>
              <a:rPr dirty="0" sz="2400" spc="-60">
                <a:latin typeface="Corbel"/>
                <a:cs typeface="Corbel"/>
              </a:rPr>
              <a:t> </a:t>
            </a:r>
            <a:r>
              <a:rPr dirty="0" sz="2400" spc="-5">
                <a:latin typeface="Corbel"/>
                <a:cs typeface="Corbel"/>
              </a:rPr>
              <a:t>matrix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74208" y="1466088"/>
            <a:ext cx="2075688" cy="1938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349899" y="1379419"/>
            <a:ext cx="2139061" cy="209458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165360" y="1093724"/>
            <a:ext cx="63563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0">
                <a:latin typeface="Corbel"/>
                <a:cs typeface="Corbel"/>
              </a:rPr>
              <a:t>N</a:t>
            </a:r>
            <a:r>
              <a:rPr dirty="0" sz="1800" b="0">
                <a:latin typeface="Corbel"/>
                <a:cs typeface="Corbel"/>
              </a:rPr>
              <a:t>o</a:t>
            </a:r>
            <a:r>
              <a:rPr dirty="0" sz="1800" spc="-5" b="0">
                <a:latin typeface="Corbel"/>
                <a:cs typeface="Corbel"/>
              </a:rPr>
              <a:t>d</a:t>
            </a:r>
            <a:r>
              <a:rPr dirty="0" sz="1800" b="0">
                <a:latin typeface="Corbel"/>
                <a:cs typeface="Corbel"/>
              </a:rPr>
              <a:t>es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64097" y="2141994"/>
            <a:ext cx="254000" cy="63563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800"/>
              </a:lnSpc>
            </a:pPr>
            <a:r>
              <a:rPr dirty="0" sz="1800" spc="-5">
                <a:latin typeface="Corbel"/>
                <a:cs typeface="Corbel"/>
              </a:rPr>
              <a:t>N</a:t>
            </a:r>
            <a:r>
              <a:rPr dirty="0" sz="1800">
                <a:latin typeface="Corbel"/>
                <a:cs typeface="Corbel"/>
              </a:rPr>
              <a:t>o</a:t>
            </a:r>
            <a:r>
              <a:rPr dirty="0" sz="1800" spc="-5">
                <a:latin typeface="Corbel"/>
                <a:cs typeface="Corbel"/>
              </a:rPr>
              <a:t>d</a:t>
            </a:r>
            <a:r>
              <a:rPr dirty="0" sz="1800">
                <a:latin typeface="Corbel"/>
                <a:cs typeface="Corbel"/>
              </a:rPr>
              <a:t>es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334001" y="4082666"/>
            <a:ext cx="2634951" cy="207985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16905" y="4174946"/>
            <a:ext cx="3596805" cy="19983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60226" y="1132425"/>
            <a:ext cx="366395" cy="24466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755"/>
              </a:lnSpc>
            </a:pPr>
            <a:r>
              <a:rPr dirty="0" sz="2400" b="1">
                <a:solidFill>
                  <a:srgbClr val="D60093"/>
                </a:solidFill>
                <a:latin typeface="Arial"/>
                <a:cs typeface="Arial"/>
              </a:rPr>
              <a:t>N</a:t>
            </a:r>
            <a:r>
              <a:rPr dirty="0" sz="2400" spc="-10" b="1">
                <a:solidFill>
                  <a:srgbClr val="D60093"/>
                </a:solidFill>
                <a:latin typeface="Arial"/>
                <a:cs typeface="Arial"/>
              </a:rPr>
              <a:t>on</a:t>
            </a:r>
            <a:r>
              <a:rPr dirty="0" sz="2400" spc="10" b="1">
                <a:solidFill>
                  <a:srgbClr val="D60093"/>
                </a:solidFill>
                <a:latin typeface="Arial"/>
                <a:cs typeface="Arial"/>
              </a:rPr>
              <a:t>-</a:t>
            </a:r>
            <a:r>
              <a:rPr dirty="0" sz="2400" spc="-5" b="1">
                <a:solidFill>
                  <a:srgbClr val="D60093"/>
                </a:solidFill>
                <a:latin typeface="Arial"/>
                <a:cs typeface="Arial"/>
              </a:rPr>
              <a:t>o</a:t>
            </a:r>
            <a:r>
              <a:rPr dirty="0" sz="2400" b="1">
                <a:solidFill>
                  <a:srgbClr val="D60093"/>
                </a:solidFill>
                <a:latin typeface="Arial"/>
                <a:cs typeface="Arial"/>
              </a:rPr>
              <a:t>ver</a:t>
            </a:r>
            <a:r>
              <a:rPr dirty="0" sz="2400" spc="-5" b="1">
                <a:solidFill>
                  <a:srgbClr val="D60093"/>
                </a:solidFill>
                <a:latin typeface="Arial"/>
                <a:cs typeface="Arial"/>
              </a:rPr>
              <a:t>l</a:t>
            </a:r>
            <a:r>
              <a:rPr dirty="0" sz="2400" b="1">
                <a:solidFill>
                  <a:srgbClr val="D60093"/>
                </a:solidFill>
                <a:latin typeface="Arial"/>
                <a:cs typeface="Arial"/>
              </a:rPr>
              <a:t>a</a:t>
            </a:r>
            <a:r>
              <a:rPr dirty="0" sz="2400" spc="-5" b="1">
                <a:solidFill>
                  <a:srgbClr val="D60093"/>
                </a:solidFill>
                <a:latin typeface="Arial"/>
                <a:cs typeface="Arial"/>
              </a:rPr>
              <a:t>pping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56</a:t>
            </a:fld>
          </a:p>
        </p:txBody>
      </p:sp>
      <p:sp>
        <p:nvSpPr>
          <p:cNvPr id="13" name="object 13"/>
          <p:cNvSpPr txBox="1"/>
          <p:nvPr/>
        </p:nvSpPr>
        <p:spPr>
          <a:xfrm>
            <a:off x="430192" y="4292101"/>
            <a:ext cx="366395" cy="180149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755"/>
              </a:lnSpc>
            </a:pPr>
            <a:r>
              <a:rPr dirty="0" sz="2400" spc="-5" b="1">
                <a:solidFill>
                  <a:srgbClr val="D60093"/>
                </a:solidFill>
                <a:latin typeface="Arial"/>
                <a:cs typeface="Arial"/>
              </a:rPr>
              <a:t>O</a:t>
            </a:r>
            <a:r>
              <a:rPr dirty="0" sz="2400" b="1">
                <a:solidFill>
                  <a:srgbClr val="D60093"/>
                </a:solidFill>
                <a:latin typeface="Arial"/>
                <a:cs typeface="Arial"/>
              </a:rPr>
              <a:t>ver</a:t>
            </a:r>
            <a:r>
              <a:rPr dirty="0" sz="2400" spc="-5" b="1">
                <a:solidFill>
                  <a:srgbClr val="D60093"/>
                </a:solidFill>
                <a:latin typeface="Arial"/>
                <a:cs typeface="Arial"/>
              </a:rPr>
              <a:t>l</a:t>
            </a:r>
            <a:r>
              <a:rPr dirty="0" sz="2400" b="1">
                <a:solidFill>
                  <a:srgbClr val="D60093"/>
                </a:solidFill>
                <a:latin typeface="Arial"/>
                <a:cs typeface="Arial"/>
              </a:rPr>
              <a:t>a</a:t>
            </a:r>
            <a:r>
              <a:rPr dirty="0" sz="2400" spc="-5" b="1">
                <a:solidFill>
                  <a:srgbClr val="D60093"/>
                </a:solidFill>
                <a:latin typeface="Arial"/>
                <a:cs typeface="Arial"/>
              </a:rPr>
              <a:t>pping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3368040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566659" cy="14916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</a:pPr>
            <a:r>
              <a:rPr dirty="0" spc="-10">
                <a:solidFill>
                  <a:srgbClr val="D60093"/>
                </a:solidFill>
              </a:rPr>
              <a:t>Step</a:t>
            </a:r>
            <a:r>
              <a:rPr dirty="0" spc="-105">
                <a:solidFill>
                  <a:srgbClr val="D60093"/>
                </a:solidFill>
              </a:rPr>
              <a:t> </a:t>
            </a:r>
            <a:r>
              <a:rPr dirty="0">
                <a:solidFill>
                  <a:srgbClr val="D60093"/>
                </a:solidFill>
              </a:rPr>
              <a:t>1)</a:t>
            </a:r>
          </a:p>
          <a:p>
            <a:pPr marL="332740" marR="5080" indent="-320040">
              <a:lnSpc>
                <a:spcPts val="3910"/>
              </a:lnSpc>
              <a:spcBef>
                <a:spcPts val="4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0">
                <a:latin typeface="Calibri"/>
                <a:cs typeface="Calibri"/>
              </a:rPr>
              <a:t>Define </a:t>
            </a:r>
            <a:r>
              <a:rPr dirty="0" b="0">
                <a:latin typeface="Calibri"/>
                <a:cs typeface="Calibri"/>
              </a:rPr>
              <a:t>a </a:t>
            </a:r>
            <a:r>
              <a:rPr dirty="0" spc="-20" b="0">
                <a:latin typeface="Calibri"/>
                <a:cs typeface="Calibri"/>
              </a:rPr>
              <a:t>generative </a:t>
            </a:r>
            <a:r>
              <a:rPr dirty="0" spc="-5" b="0">
                <a:latin typeface="Calibri"/>
                <a:cs typeface="Calibri"/>
              </a:rPr>
              <a:t>model </a:t>
            </a:r>
            <a:r>
              <a:rPr dirty="0" spc="-25" b="0">
                <a:latin typeface="Calibri"/>
                <a:cs typeface="Calibri"/>
              </a:rPr>
              <a:t>for </a:t>
            </a:r>
            <a:r>
              <a:rPr dirty="0" spc="-15" b="0">
                <a:latin typeface="Calibri"/>
                <a:cs typeface="Calibri"/>
              </a:rPr>
              <a:t>graphs </a:t>
            </a:r>
            <a:r>
              <a:rPr dirty="0" spc="-10" b="0">
                <a:latin typeface="Calibri"/>
                <a:cs typeface="Calibri"/>
              </a:rPr>
              <a:t>that </a:t>
            </a:r>
            <a:r>
              <a:rPr dirty="0" b="0">
                <a:latin typeface="Calibri"/>
                <a:cs typeface="Calibri"/>
              </a:rPr>
              <a:t>is  </a:t>
            </a:r>
            <a:r>
              <a:rPr dirty="0" spc="-5" b="0">
                <a:latin typeface="Calibri"/>
                <a:cs typeface="Calibri"/>
              </a:rPr>
              <a:t>based on node community</a:t>
            </a:r>
            <a:r>
              <a:rPr dirty="0" spc="25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affiliations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56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899155"/>
            <a:ext cx="8298180" cy="288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3329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 b="1">
                <a:latin typeface="Calibri"/>
                <a:cs typeface="Calibri"/>
              </a:rPr>
              <a:t>Community Affiliation </a:t>
            </a:r>
            <a:r>
              <a:rPr dirty="0" sz="2800" spc="-15" b="1">
                <a:latin typeface="Calibri"/>
                <a:cs typeface="Calibri"/>
              </a:rPr>
              <a:t>Graph </a:t>
            </a:r>
            <a:r>
              <a:rPr dirty="0" sz="2800" spc="-5" b="1">
                <a:latin typeface="Calibri"/>
                <a:cs typeface="Calibri"/>
              </a:rPr>
              <a:t>Model</a:t>
            </a:r>
            <a:r>
              <a:rPr dirty="0" sz="2800" spc="-3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(AGM)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3810"/>
              </a:lnSpc>
            </a:pP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Step</a:t>
            </a:r>
            <a:r>
              <a:rPr dirty="0" sz="3200" spc="-10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2)</a:t>
            </a:r>
            <a:endParaRPr sz="3200">
              <a:latin typeface="Calibri"/>
              <a:cs typeface="Calibri"/>
            </a:endParaRPr>
          </a:p>
          <a:p>
            <a:pPr marL="332740" marR="5080" indent="-320040">
              <a:lnSpc>
                <a:spcPts val="3820"/>
              </a:lnSpc>
              <a:spcBef>
                <a:spcPts val="19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latin typeface="Calibri"/>
                <a:cs typeface="Calibri"/>
              </a:rPr>
              <a:t>Given </a:t>
            </a:r>
            <a:r>
              <a:rPr dirty="0" sz="3200" spc="-15">
                <a:latin typeface="Calibri"/>
                <a:cs typeface="Calibri"/>
              </a:rPr>
              <a:t>graph </a:t>
            </a:r>
            <a:r>
              <a:rPr dirty="0" sz="3200" spc="60">
                <a:latin typeface="Cambria Math"/>
                <a:cs typeface="Cambria Math"/>
              </a:rPr>
              <a:t>𝐺, </a:t>
            </a:r>
            <a:r>
              <a:rPr dirty="0" sz="3200" spc="-30">
                <a:latin typeface="Calibri"/>
                <a:cs typeface="Calibri"/>
              </a:rPr>
              <a:t>make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assumption </a:t>
            </a:r>
            <a:r>
              <a:rPr dirty="0" sz="3200" spc="-10">
                <a:latin typeface="Calibri"/>
                <a:cs typeface="Calibri"/>
              </a:rPr>
              <a:t>that </a:t>
            </a:r>
            <a:r>
              <a:rPr dirty="0" sz="3200">
                <a:latin typeface="Cambria Math"/>
                <a:cs typeface="Cambria Math"/>
              </a:rPr>
              <a:t>𝐺 </a:t>
            </a:r>
            <a:r>
              <a:rPr dirty="0" sz="3200" spc="-15">
                <a:latin typeface="Calibri"/>
                <a:cs typeface="Calibri"/>
              </a:rPr>
              <a:t>was  </a:t>
            </a:r>
            <a:r>
              <a:rPr dirty="0" sz="3200" spc="-20">
                <a:latin typeface="Calibri"/>
                <a:cs typeface="Calibri"/>
              </a:rPr>
              <a:t>generated </a:t>
            </a:r>
            <a:r>
              <a:rPr dirty="0" sz="3200" spc="-5">
                <a:latin typeface="Calibri"/>
                <a:cs typeface="Calibri"/>
              </a:rPr>
              <a:t>by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AGM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74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alibri"/>
                <a:cs typeface="Calibri"/>
              </a:rPr>
              <a:t>Find the </a:t>
            </a:r>
            <a:r>
              <a:rPr dirty="0" sz="3200" spc="-15">
                <a:latin typeface="Calibri"/>
                <a:cs typeface="Calibri"/>
              </a:rPr>
              <a:t>best </a:t>
            </a:r>
            <a:r>
              <a:rPr dirty="0" sz="3200" spc="-10">
                <a:latin typeface="Calibri"/>
                <a:cs typeface="Calibri"/>
              </a:rPr>
              <a:t>AGM that could </a:t>
            </a:r>
            <a:r>
              <a:rPr dirty="0" sz="3200" spc="-20">
                <a:latin typeface="Calibri"/>
                <a:cs typeface="Calibri"/>
              </a:rPr>
              <a:t>have </a:t>
            </a:r>
            <a:r>
              <a:rPr dirty="0" sz="3200" spc="-25">
                <a:latin typeface="Calibri"/>
                <a:cs typeface="Calibri"/>
              </a:rPr>
              <a:t>generated</a:t>
            </a:r>
            <a:r>
              <a:rPr dirty="0" sz="3200" spc="90">
                <a:latin typeface="Calibri"/>
                <a:cs typeface="Calibri"/>
              </a:rPr>
              <a:t> </a:t>
            </a:r>
            <a:r>
              <a:rPr dirty="0" sz="3200">
                <a:latin typeface="Cambria Math"/>
                <a:cs typeface="Cambria Math"/>
              </a:rPr>
              <a:t>𝐺</a:t>
            </a:r>
            <a:endParaRPr sz="3200">
              <a:latin typeface="Cambria Math"/>
              <a:cs typeface="Cambria Math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And this </a:t>
            </a:r>
            <a:r>
              <a:rPr dirty="0" sz="3200" spc="-35" b="1">
                <a:latin typeface="Calibri"/>
                <a:cs typeface="Calibri"/>
              </a:rPr>
              <a:t>way </a:t>
            </a:r>
            <a:r>
              <a:rPr dirty="0" sz="3200" spc="-15" b="1">
                <a:latin typeface="Calibri"/>
                <a:cs typeface="Calibri"/>
              </a:rPr>
              <a:t>we </a:t>
            </a:r>
            <a:r>
              <a:rPr dirty="0" sz="3200" spc="-10" b="1">
                <a:latin typeface="Calibri"/>
                <a:cs typeface="Calibri"/>
              </a:rPr>
              <a:t>discover</a:t>
            </a:r>
            <a:r>
              <a:rPr dirty="0" sz="3200" spc="5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communities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6679" y="377952"/>
            <a:ext cx="9037320" cy="4846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68282" y="1628800"/>
            <a:ext cx="2520141" cy="13969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467" y="1689607"/>
            <a:ext cx="138239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">
                <a:latin typeface="Arial"/>
                <a:cs typeface="Arial"/>
              </a:rPr>
              <a:t>Communities,</a:t>
            </a:r>
            <a:r>
              <a:rPr dirty="0" sz="1500" spc="-55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C</a:t>
            </a:r>
            <a:endParaRPr sz="1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3119119"/>
            <a:ext cx="7040245" cy="3036570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980440">
              <a:lnSpc>
                <a:spcPct val="100000"/>
              </a:lnSpc>
              <a:spcBef>
                <a:spcPts val="785"/>
              </a:spcBef>
              <a:tabLst>
                <a:tab pos="6033770" algn="l"/>
              </a:tabLst>
            </a:pPr>
            <a:r>
              <a:rPr dirty="0" sz="1800" b="1">
                <a:solidFill>
                  <a:srgbClr val="00B050"/>
                </a:solidFill>
                <a:latin typeface="Arial"/>
                <a:cs typeface="Arial"/>
              </a:rPr>
              <a:t>Community</a:t>
            </a:r>
            <a:r>
              <a:rPr dirty="0" sz="1800" spc="-6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B050"/>
                </a:solidFill>
                <a:latin typeface="Arial"/>
                <a:cs typeface="Arial"/>
              </a:rPr>
              <a:t>Affiliation	Network</a:t>
            </a:r>
            <a:endParaRPr sz="1800">
              <a:latin typeface="Arial"/>
              <a:cs typeface="Arial"/>
            </a:endParaRPr>
          </a:p>
          <a:p>
            <a:pPr marL="332740" marR="5080" indent="-320040">
              <a:lnSpc>
                <a:spcPts val="3790"/>
              </a:lnSpc>
              <a:spcBef>
                <a:spcPts val="13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 b="1">
                <a:solidFill>
                  <a:srgbClr val="D60093"/>
                </a:solidFill>
                <a:latin typeface="Calibri"/>
                <a:cs typeface="Calibri"/>
              </a:rPr>
              <a:t>Generative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model</a:t>
            </a:r>
            <a:r>
              <a:rPr dirty="0" sz="3200" spc="-5">
                <a:solidFill>
                  <a:srgbClr val="D60093"/>
                </a:solidFill>
                <a:latin typeface="Calibri"/>
                <a:cs typeface="Calibri"/>
              </a:rPr>
              <a:t>: </a:t>
            </a:r>
            <a:r>
              <a:rPr dirty="0" sz="3200" spc="-5" b="1">
                <a:latin typeface="Calibri"/>
                <a:cs typeface="Calibri"/>
              </a:rPr>
              <a:t>How </a:t>
            </a:r>
            <a:r>
              <a:rPr dirty="0" sz="3200" b="1">
                <a:latin typeface="Calibri"/>
                <a:cs typeface="Calibri"/>
              </a:rPr>
              <a:t>is a </a:t>
            </a:r>
            <a:r>
              <a:rPr dirty="0" sz="3200" spc="-10" b="1">
                <a:latin typeface="Calibri"/>
                <a:cs typeface="Calibri"/>
              </a:rPr>
              <a:t>network  </a:t>
            </a:r>
            <a:r>
              <a:rPr dirty="0" sz="3200" spc="-25" b="1">
                <a:latin typeface="Calibri"/>
                <a:cs typeface="Calibri"/>
              </a:rPr>
              <a:t>generated </a:t>
            </a:r>
            <a:r>
              <a:rPr dirty="0" sz="3200" spc="-15" b="1">
                <a:latin typeface="Calibri"/>
                <a:cs typeface="Calibri"/>
              </a:rPr>
              <a:t>from </a:t>
            </a:r>
            <a:r>
              <a:rPr dirty="0" sz="3200" spc="-10" b="1">
                <a:latin typeface="Calibri"/>
                <a:cs typeface="Calibri"/>
              </a:rPr>
              <a:t>community</a:t>
            </a:r>
            <a:r>
              <a:rPr dirty="0" sz="3200" spc="7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affiliations?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Model</a:t>
            </a:r>
            <a:r>
              <a:rPr dirty="0" sz="3200" spc="-8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0000FF"/>
                </a:solidFill>
                <a:latin typeface="Calibri"/>
                <a:cs typeface="Calibri"/>
              </a:rPr>
              <a:t>parameters: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Nodes </a:t>
            </a:r>
            <a:r>
              <a:rPr dirty="0" sz="2800" spc="-5" b="1" i="1">
                <a:latin typeface="Calibri"/>
                <a:cs typeface="Calibri"/>
              </a:rPr>
              <a:t>V</a:t>
            </a:r>
            <a:r>
              <a:rPr dirty="0" sz="2800" spc="-5">
                <a:latin typeface="Calibri"/>
                <a:cs typeface="Calibri"/>
              </a:rPr>
              <a:t>, Communities </a:t>
            </a:r>
            <a:r>
              <a:rPr dirty="0" sz="2800" spc="-5" b="1" i="1">
                <a:latin typeface="Calibri"/>
                <a:cs typeface="Calibri"/>
              </a:rPr>
              <a:t>C</a:t>
            </a:r>
            <a:r>
              <a:rPr dirty="0" sz="2800" spc="-5">
                <a:latin typeface="Calibri"/>
                <a:cs typeface="Calibri"/>
              </a:rPr>
              <a:t>, </a:t>
            </a:r>
            <a:r>
              <a:rPr dirty="0" sz="2800" spc="-10">
                <a:latin typeface="Calibri"/>
                <a:cs typeface="Calibri"/>
              </a:rPr>
              <a:t>Memberships</a:t>
            </a:r>
            <a:r>
              <a:rPr dirty="0" sz="2800" spc="0">
                <a:latin typeface="Calibri"/>
                <a:cs typeface="Calibri"/>
              </a:rPr>
              <a:t> </a:t>
            </a:r>
            <a:r>
              <a:rPr dirty="0" sz="2800" b="1" i="1">
                <a:latin typeface="Calibri"/>
                <a:cs typeface="Calibri"/>
              </a:rPr>
              <a:t>M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1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Each </a:t>
            </a:r>
            <a:r>
              <a:rPr dirty="0" sz="2800" spc="-5">
                <a:latin typeface="Calibri"/>
                <a:cs typeface="Calibri"/>
              </a:rPr>
              <a:t>community </a:t>
            </a:r>
            <a:r>
              <a:rPr dirty="0" sz="2800" b="1" i="1">
                <a:latin typeface="Times New Roman"/>
                <a:cs typeface="Times New Roman"/>
              </a:rPr>
              <a:t>c </a:t>
            </a:r>
            <a:r>
              <a:rPr dirty="0" sz="2800" spc="-5">
                <a:latin typeface="Calibri"/>
                <a:cs typeface="Calibri"/>
              </a:rPr>
              <a:t>has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single </a:t>
            </a:r>
            <a:r>
              <a:rPr dirty="0" sz="2800" spc="-10">
                <a:latin typeface="Calibri"/>
                <a:cs typeface="Calibri"/>
              </a:rPr>
              <a:t>probability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75" b="1" i="1">
                <a:latin typeface="Times New Roman"/>
                <a:cs typeface="Times New Roman"/>
              </a:rPr>
              <a:t>p</a:t>
            </a:r>
            <a:r>
              <a:rPr dirty="0" baseline="-17543" sz="2850" spc="-262" b="1" i="1">
                <a:latin typeface="Times New Roman"/>
                <a:cs typeface="Times New Roman"/>
              </a:rPr>
              <a:t>c</a:t>
            </a:r>
            <a:endParaRPr baseline="-17543" sz="28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242815" y="1685544"/>
            <a:ext cx="1511808" cy="9540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309755" y="1751808"/>
            <a:ext cx="1371600" cy="769620"/>
          </a:xfrm>
          <a:custGeom>
            <a:avLst/>
            <a:gdLst/>
            <a:ahLst/>
            <a:cxnLst/>
            <a:rect l="l" t="t" r="r" b="b"/>
            <a:pathLst>
              <a:path w="1371600" h="769619">
                <a:moveTo>
                  <a:pt x="0" y="192298"/>
                </a:moveTo>
                <a:lnTo>
                  <a:pt x="987004" y="192298"/>
                </a:lnTo>
                <a:lnTo>
                  <a:pt x="987004" y="0"/>
                </a:lnTo>
                <a:lnTo>
                  <a:pt x="1371600" y="384595"/>
                </a:lnTo>
                <a:lnTo>
                  <a:pt x="987004" y="769191"/>
                </a:lnTo>
                <a:lnTo>
                  <a:pt x="987004" y="576894"/>
                </a:lnTo>
                <a:lnTo>
                  <a:pt x="0" y="576894"/>
                </a:lnTo>
                <a:lnTo>
                  <a:pt x="0" y="192298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449833" y="1922779"/>
            <a:ext cx="8572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Model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91575" y="1979314"/>
            <a:ext cx="2208321" cy="119407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419872" y="3005335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5" h="144144">
                <a:moveTo>
                  <a:pt x="72007" y="0"/>
                </a:moveTo>
                <a:lnTo>
                  <a:pt x="43979" y="5658"/>
                </a:lnTo>
                <a:lnTo>
                  <a:pt x="21090" y="21090"/>
                </a:lnTo>
                <a:lnTo>
                  <a:pt x="5658" y="43979"/>
                </a:lnTo>
                <a:lnTo>
                  <a:pt x="0" y="72007"/>
                </a:lnTo>
                <a:lnTo>
                  <a:pt x="5658" y="100037"/>
                </a:lnTo>
                <a:lnTo>
                  <a:pt x="21090" y="122925"/>
                </a:lnTo>
                <a:lnTo>
                  <a:pt x="43979" y="138357"/>
                </a:lnTo>
                <a:lnTo>
                  <a:pt x="72007" y="144016"/>
                </a:lnTo>
                <a:lnTo>
                  <a:pt x="100036" y="138357"/>
                </a:lnTo>
                <a:lnTo>
                  <a:pt x="122924" y="122925"/>
                </a:lnTo>
                <a:lnTo>
                  <a:pt x="138356" y="100037"/>
                </a:lnTo>
                <a:lnTo>
                  <a:pt x="144015" y="72007"/>
                </a:lnTo>
                <a:lnTo>
                  <a:pt x="138356" y="43979"/>
                </a:lnTo>
                <a:lnTo>
                  <a:pt x="122924" y="21090"/>
                </a:lnTo>
                <a:lnTo>
                  <a:pt x="100036" y="5658"/>
                </a:lnTo>
                <a:lnTo>
                  <a:pt x="72007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395831" y="2981295"/>
            <a:ext cx="192405" cy="192405"/>
          </a:xfrm>
          <a:custGeom>
            <a:avLst/>
            <a:gdLst/>
            <a:ahLst/>
            <a:cxnLst/>
            <a:rect l="l" t="t" r="r" b="b"/>
            <a:pathLst>
              <a:path w="192404" h="192405">
                <a:moveTo>
                  <a:pt x="96855" y="0"/>
                </a:moveTo>
                <a:lnTo>
                  <a:pt x="95242" y="0"/>
                </a:lnTo>
                <a:lnTo>
                  <a:pt x="77530" y="1785"/>
                </a:lnTo>
                <a:lnTo>
                  <a:pt x="41702" y="16845"/>
                </a:lnTo>
                <a:lnTo>
                  <a:pt x="7855" y="57952"/>
                </a:lnTo>
                <a:lnTo>
                  <a:pt x="0" y="95241"/>
                </a:lnTo>
                <a:lnTo>
                  <a:pt x="0" y="96855"/>
                </a:lnTo>
                <a:lnTo>
                  <a:pt x="7856" y="134143"/>
                </a:lnTo>
                <a:lnTo>
                  <a:pt x="41704" y="175252"/>
                </a:lnTo>
                <a:lnTo>
                  <a:pt x="77530" y="190310"/>
                </a:lnTo>
                <a:lnTo>
                  <a:pt x="95241" y="192096"/>
                </a:lnTo>
                <a:lnTo>
                  <a:pt x="96855" y="192096"/>
                </a:lnTo>
                <a:lnTo>
                  <a:pt x="134145" y="184240"/>
                </a:lnTo>
                <a:lnTo>
                  <a:pt x="164659" y="163231"/>
                </a:lnTo>
                <a:lnTo>
                  <a:pt x="96048" y="163231"/>
                </a:lnTo>
                <a:lnTo>
                  <a:pt x="82497" y="161865"/>
                </a:lnTo>
                <a:lnTo>
                  <a:pt x="48540" y="143555"/>
                </a:lnTo>
                <a:lnTo>
                  <a:pt x="30231" y="109598"/>
                </a:lnTo>
                <a:lnTo>
                  <a:pt x="28945" y="95241"/>
                </a:lnTo>
                <a:lnTo>
                  <a:pt x="30231" y="82497"/>
                </a:lnTo>
                <a:lnTo>
                  <a:pt x="48540" y="48540"/>
                </a:lnTo>
                <a:lnTo>
                  <a:pt x="82497" y="30231"/>
                </a:lnTo>
                <a:lnTo>
                  <a:pt x="96048" y="28864"/>
                </a:lnTo>
                <a:lnTo>
                  <a:pt x="164659" y="28864"/>
                </a:lnTo>
                <a:lnTo>
                  <a:pt x="164504" y="28676"/>
                </a:lnTo>
                <a:lnTo>
                  <a:pt x="132693" y="7244"/>
                </a:lnTo>
                <a:lnTo>
                  <a:pt x="114565" y="1785"/>
                </a:lnTo>
                <a:lnTo>
                  <a:pt x="96855" y="0"/>
                </a:lnTo>
                <a:close/>
              </a:path>
              <a:path w="192404" h="192405">
                <a:moveTo>
                  <a:pt x="164659" y="28864"/>
                </a:moveTo>
                <a:lnTo>
                  <a:pt x="96048" y="28864"/>
                </a:lnTo>
                <a:lnTo>
                  <a:pt x="109598" y="30231"/>
                </a:lnTo>
                <a:lnTo>
                  <a:pt x="122203" y="34142"/>
                </a:lnTo>
                <a:lnTo>
                  <a:pt x="151761" y="58484"/>
                </a:lnTo>
                <a:lnTo>
                  <a:pt x="163150" y="95241"/>
                </a:lnTo>
                <a:lnTo>
                  <a:pt x="163150" y="96855"/>
                </a:lnTo>
                <a:lnTo>
                  <a:pt x="151761" y="133611"/>
                </a:lnTo>
                <a:lnTo>
                  <a:pt x="122203" y="157953"/>
                </a:lnTo>
                <a:lnTo>
                  <a:pt x="96048" y="163231"/>
                </a:lnTo>
                <a:lnTo>
                  <a:pt x="164659" y="163231"/>
                </a:lnTo>
                <a:lnTo>
                  <a:pt x="189990" y="116141"/>
                </a:lnTo>
                <a:lnTo>
                  <a:pt x="192096" y="96855"/>
                </a:lnTo>
                <a:lnTo>
                  <a:pt x="192096" y="95241"/>
                </a:lnTo>
                <a:lnTo>
                  <a:pt x="184240" y="57951"/>
                </a:lnTo>
                <a:lnTo>
                  <a:pt x="175252" y="41702"/>
                </a:lnTo>
                <a:lnTo>
                  <a:pt x="164659" y="28864"/>
                </a:lnTo>
                <a:close/>
              </a:path>
              <a:path w="192404" h="192405">
                <a:moveTo>
                  <a:pt x="96048" y="38512"/>
                </a:moveTo>
                <a:lnTo>
                  <a:pt x="55360" y="55359"/>
                </a:lnTo>
                <a:lnTo>
                  <a:pt x="38595" y="95241"/>
                </a:lnTo>
                <a:lnTo>
                  <a:pt x="38595" y="96855"/>
                </a:lnTo>
                <a:lnTo>
                  <a:pt x="55360" y="136737"/>
                </a:lnTo>
                <a:lnTo>
                  <a:pt x="96048" y="153583"/>
                </a:lnTo>
                <a:lnTo>
                  <a:pt x="107674" y="152411"/>
                </a:lnTo>
                <a:lnTo>
                  <a:pt x="118454" y="149064"/>
                </a:lnTo>
                <a:lnTo>
                  <a:pt x="127905" y="143934"/>
                </a:lnTo>
                <a:lnTo>
                  <a:pt x="96048" y="143934"/>
                </a:lnTo>
                <a:lnTo>
                  <a:pt x="86346" y="142956"/>
                </a:lnTo>
                <a:lnTo>
                  <a:pt x="51920" y="114705"/>
                </a:lnTo>
                <a:lnTo>
                  <a:pt x="48243" y="95241"/>
                </a:lnTo>
                <a:lnTo>
                  <a:pt x="49140" y="86344"/>
                </a:lnTo>
                <a:lnTo>
                  <a:pt x="77391" y="51918"/>
                </a:lnTo>
                <a:lnTo>
                  <a:pt x="96048" y="48162"/>
                </a:lnTo>
                <a:lnTo>
                  <a:pt x="127907" y="48162"/>
                </a:lnTo>
                <a:lnTo>
                  <a:pt x="118454" y="43031"/>
                </a:lnTo>
                <a:lnTo>
                  <a:pt x="107674" y="39684"/>
                </a:lnTo>
                <a:lnTo>
                  <a:pt x="96048" y="38512"/>
                </a:lnTo>
                <a:close/>
              </a:path>
              <a:path w="192404" h="192405">
                <a:moveTo>
                  <a:pt x="127907" y="48162"/>
                </a:moveTo>
                <a:lnTo>
                  <a:pt x="96048" y="48162"/>
                </a:lnTo>
                <a:lnTo>
                  <a:pt x="105751" y="49140"/>
                </a:lnTo>
                <a:lnTo>
                  <a:pt x="114705" y="51918"/>
                </a:lnTo>
                <a:lnTo>
                  <a:pt x="142956" y="86344"/>
                </a:lnTo>
                <a:lnTo>
                  <a:pt x="143854" y="95241"/>
                </a:lnTo>
                <a:lnTo>
                  <a:pt x="143853" y="96855"/>
                </a:lnTo>
                <a:lnTo>
                  <a:pt x="122822" y="135770"/>
                </a:lnTo>
                <a:lnTo>
                  <a:pt x="96048" y="143934"/>
                </a:lnTo>
                <a:lnTo>
                  <a:pt x="127905" y="143934"/>
                </a:lnTo>
                <a:lnTo>
                  <a:pt x="152411" y="107674"/>
                </a:lnTo>
                <a:lnTo>
                  <a:pt x="153502" y="95241"/>
                </a:lnTo>
                <a:lnTo>
                  <a:pt x="152411" y="84421"/>
                </a:lnTo>
                <a:lnTo>
                  <a:pt x="149064" y="73642"/>
                </a:lnTo>
                <a:lnTo>
                  <a:pt x="143766" y="63879"/>
                </a:lnTo>
                <a:lnTo>
                  <a:pt x="136737" y="55359"/>
                </a:lnTo>
                <a:lnTo>
                  <a:pt x="128216" y="48329"/>
                </a:lnTo>
                <a:lnTo>
                  <a:pt x="127907" y="4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707903" y="3005335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5" h="144144">
                <a:moveTo>
                  <a:pt x="72009" y="0"/>
                </a:moveTo>
                <a:lnTo>
                  <a:pt x="43979" y="5658"/>
                </a:lnTo>
                <a:lnTo>
                  <a:pt x="21090" y="21090"/>
                </a:lnTo>
                <a:lnTo>
                  <a:pt x="5658" y="43979"/>
                </a:lnTo>
                <a:lnTo>
                  <a:pt x="0" y="72007"/>
                </a:lnTo>
                <a:lnTo>
                  <a:pt x="5658" y="100037"/>
                </a:lnTo>
                <a:lnTo>
                  <a:pt x="21090" y="122925"/>
                </a:lnTo>
                <a:lnTo>
                  <a:pt x="43979" y="138357"/>
                </a:lnTo>
                <a:lnTo>
                  <a:pt x="72009" y="144016"/>
                </a:lnTo>
                <a:lnTo>
                  <a:pt x="100037" y="138357"/>
                </a:lnTo>
                <a:lnTo>
                  <a:pt x="122926" y="122925"/>
                </a:lnTo>
                <a:lnTo>
                  <a:pt x="138358" y="100037"/>
                </a:lnTo>
                <a:lnTo>
                  <a:pt x="144016" y="72007"/>
                </a:lnTo>
                <a:lnTo>
                  <a:pt x="138358" y="43979"/>
                </a:lnTo>
                <a:lnTo>
                  <a:pt x="122926" y="21090"/>
                </a:lnTo>
                <a:lnTo>
                  <a:pt x="100037" y="5658"/>
                </a:lnTo>
                <a:lnTo>
                  <a:pt x="72009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683863" y="2981295"/>
            <a:ext cx="192405" cy="192405"/>
          </a:xfrm>
          <a:custGeom>
            <a:avLst/>
            <a:gdLst/>
            <a:ahLst/>
            <a:cxnLst/>
            <a:rect l="l" t="t" r="r" b="b"/>
            <a:pathLst>
              <a:path w="192404" h="192405">
                <a:moveTo>
                  <a:pt x="96855" y="0"/>
                </a:moveTo>
                <a:lnTo>
                  <a:pt x="95242" y="0"/>
                </a:lnTo>
                <a:lnTo>
                  <a:pt x="77530" y="1785"/>
                </a:lnTo>
                <a:lnTo>
                  <a:pt x="41702" y="16845"/>
                </a:lnTo>
                <a:lnTo>
                  <a:pt x="7855" y="57952"/>
                </a:lnTo>
                <a:lnTo>
                  <a:pt x="0" y="95241"/>
                </a:lnTo>
                <a:lnTo>
                  <a:pt x="0" y="96855"/>
                </a:lnTo>
                <a:lnTo>
                  <a:pt x="7856" y="134143"/>
                </a:lnTo>
                <a:lnTo>
                  <a:pt x="41702" y="175252"/>
                </a:lnTo>
                <a:lnTo>
                  <a:pt x="77530" y="190310"/>
                </a:lnTo>
                <a:lnTo>
                  <a:pt x="95241" y="192096"/>
                </a:lnTo>
                <a:lnTo>
                  <a:pt x="96855" y="192096"/>
                </a:lnTo>
                <a:lnTo>
                  <a:pt x="134143" y="184240"/>
                </a:lnTo>
                <a:lnTo>
                  <a:pt x="164659" y="163231"/>
                </a:lnTo>
                <a:lnTo>
                  <a:pt x="96048" y="163231"/>
                </a:lnTo>
                <a:lnTo>
                  <a:pt x="82497" y="161865"/>
                </a:lnTo>
                <a:lnTo>
                  <a:pt x="48540" y="143555"/>
                </a:lnTo>
                <a:lnTo>
                  <a:pt x="30231" y="109598"/>
                </a:lnTo>
                <a:lnTo>
                  <a:pt x="28945" y="95241"/>
                </a:lnTo>
                <a:lnTo>
                  <a:pt x="30231" y="82497"/>
                </a:lnTo>
                <a:lnTo>
                  <a:pt x="48540" y="48540"/>
                </a:lnTo>
                <a:lnTo>
                  <a:pt x="82497" y="30231"/>
                </a:lnTo>
                <a:lnTo>
                  <a:pt x="96048" y="28864"/>
                </a:lnTo>
                <a:lnTo>
                  <a:pt x="164659" y="28864"/>
                </a:lnTo>
                <a:lnTo>
                  <a:pt x="164504" y="28676"/>
                </a:lnTo>
                <a:lnTo>
                  <a:pt x="132693" y="7244"/>
                </a:lnTo>
                <a:lnTo>
                  <a:pt x="114565" y="1785"/>
                </a:lnTo>
                <a:lnTo>
                  <a:pt x="96855" y="0"/>
                </a:lnTo>
                <a:close/>
              </a:path>
              <a:path w="192404" h="192405">
                <a:moveTo>
                  <a:pt x="164659" y="28864"/>
                </a:moveTo>
                <a:lnTo>
                  <a:pt x="96048" y="28864"/>
                </a:lnTo>
                <a:lnTo>
                  <a:pt x="109598" y="30231"/>
                </a:lnTo>
                <a:lnTo>
                  <a:pt x="122201" y="34142"/>
                </a:lnTo>
                <a:lnTo>
                  <a:pt x="151761" y="58484"/>
                </a:lnTo>
                <a:lnTo>
                  <a:pt x="163150" y="95241"/>
                </a:lnTo>
                <a:lnTo>
                  <a:pt x="163150" y="96855"/>
                </a:lnTo>
                <a:lnTo>
                  <a:pt x="151761" y="133611"/>
                </a:lnTo>
                <a:lnTo>
                  <a:pt x="122201" y="157953"/>
                </a:lnTo>
                <a:lnTo>
                  <a:pt x="96048" y="163231"/>
                </a:lnTo>
                <a:lnTo>
                  <a:pt x="164659" y="163231"/>
                </a:lnTo>
                <a:lnTo>
                  <a:pt x="189990" y="116141"/>
                </a:lnTo>
                <a:lnTo>
                  <a:pt x="192096" y="96855"/>
                </a:lnTo>
                <a:lnTo>
                  <a:pt x="192096" y="95241"/>
                </a:lnTo>
                <a:lnTo>
                  <a:pt x="184239" y="57951"/>
                </a:lnTo>
                <a:lnTo>
                  <a:pt x="175252" y="41702"/>
                </a:lnTo>
                <a:lnTo>
                  <a:pt x="164659" y="28864"/>
                </a:lnTo>
                <a:close/>
              </a:path>
              <a:path w="192404" h="192405">
                <a:moveTo>
                  <a:pt x="96048" y="38512"/>
                </a:moveTo>
                <a:lnTo>
                  <a:pt x="55359" y="55359"/>
                </a:lnTo>
                <a:lnTo>
                  <a:pt x="38594" y="95241"/>
                </a:lnTo>
                <a:lnTo>
                  <a:pt x="38594" y="96855"/>
                </a:lnTo>
                <a:lnTo>
                  <a:pt x="55359" y="136737"/>
                </a:lnTo>
                <a:lnTo>
                  <a:pt x="96048" y="153583"/>
                </a:lnTo>
                <a:lnTo>
                  <a:pt x="107674" y="152411"/>
                </a:lnTo>
                <a:lnTo>
                  <a:pt x="118454" y="149064"/>
                </a:lnTo>
                <a:lnTo>
                  <a:pt x="127905" y="143934"/>
                </a:lnTo>
                <a:lnTo>
                  <a:pt x="96048" y="143934"/>
                </a:lnTo>
                <a:lnTo>
                  <a:pt x="86346" y="142956"/>
                </a:lnTo>
                <a:lnTo>
                  <a:pt x="51918" y="114705"/>
                </a:lnTo>
                <a:lnTo>
                  <a:pt x="48243" y="95241"/>
                </a:lnTo>
                <a:lnTo>
                  <a:pt x="49140" y="86344"/>
                </a:lnTo>
                <a:lnTo>
                  <a:pt x="77391" y="51918"/>
                </a:lnTo>
                <a:lnTo>
                  <a:pt x="96048" y="48162"/>
                </a:lnTo>
                <a:lnTo>
                  <a:pt x="127907" y="48162"/>
                </a:lnTo>
                <a:lnTo>
                  <a:pt x="118454" y="43031"/>
                </a:lnTo>
                <a:lnTo>
                  <a:pt x="107674" y="39684"/>
                </a:lnTo>
                <a:lnTo>
                  <a:pt x="96048" y="38512"/>
                </a:lnTo>
                <a:close/>
              </a:path>
              <a:path w="192404" h="192405">
                <a:moveTo>
                  <a:pt x="127907" y="48162"/>
                </a:moveTo>
                <a:lnTo>
                  <a:pt x="96048" y="48162"/>
                </a:lnTo>
                <a:lnTo>
                  <a:pt x="105751" y="49140"/>
                </a:lnTo>
                <a:lnTo>
                  <a:pt x="114705" y="51918"/>
                </a:lnTo>
                <a:lnTo>
                  <a:pt x="142956" y="86344"/>
                </a:lnTo>
                <a:lnTo>
                  <a:pt x="143852" y="95241"/>
                </a:lnTo>
                <a:lnTo>
                  <a:pt x="143852" y="96855"/>
                </a:lnTo>
                <a:lnTo>
                  <a:pt x="122822" y="135770"/>
                </a:lnTo>
                <a:lnTo>
                  <a:pt x="96048" y="143934"/>
                </a:lnTo>
                <a:lnTo>
                  <a:pt x="127905" y="143934"/>
                </a:lnTo>
                <a:lnTo>
                  <a:pt x="152411" y="107674"/>
                </a:lnTo>
                <a:lnTo>
                  <a:pt x="153502" y="95241"/>
                </a:lnTo>
                <a:lnTo>
                  <a:pt x="152411" y="84421"/>
                </a:lnTo>
                <a:lnTo>
                  <a:pt x="149064" y="73642"/>
                </a:lnTo>
                <a:lnTo>
                  <a:pt x="143766" y="63879"/>
                </a:lnTo>
                <a:lnTo>
                  <a:pt x="136737" y="55359"/>
                </a:lnTo>
                <a:lnTo>
                  <a:pt x="128216" y="48329"/>
                </a:lnTo>
                <a:lnTo>
                  <a:pt x="127907" y="4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995935" y="3005335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5" h="144144">
                <a:moveTo>
                  <a:pt x="72009" y="0"/>
                </a:moveTo>
                <a:lnTo>
                  <a:pt x="43979" y="5658"/>
                </a:lnTo>
                <a:lnTo>
                  <a:pt x="21090" y="21090"/>
                </a:lnTo>
                <a:lnTo>
                  <a:pt x="5658" y="43979"/>
                </a:lnTo>
                <a:lnTo>
                  <a:pt x="0" y="72007"/>
                </a:lnTo>
                <a:lnTo>
                  <a:pt x="5658" y="100037"/>
                </a:lnTo>
                <a:lnTo>
                  <a:pt x="21090" y="122925"/>
                </a:lnTo>
                <a:lnTo>
                  <a:pt x="43979" y="138357"/>
                </a:lnTo>
                <a:lnTo>
                  <a:pt x="72009" y="144016"/>
                </a:lnTo>
                <a:lnTo>
                  <a:pt x="100037" y="138357"/>
                </a:lnTo>
                <a:lnTo>
                  <a:pt x="122926" y="122925"/>
                </a:lnTo>
                <a:lnTo>
                  <a:pt x="138358" y="100037"/>
                </a:lnTo>
                <a:lnTo>
                  <a:pt x="144016" y="72007"/>
                </a:lnTo>
                <a:lnTo>
                  <a:pt x="138358" y="43979"/>
                </a:lnTo>
                <a:lnTo>
                  <a:pt x="122926" y="21090"/>
                </a:lnTo>
                <a:lnTo>
                  <a:pt x="100037" y="5658"/>
                </a:lnTo>
                <a:lnTo>
                  <a:pt x="72009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971895" y="2981295"/>
            <a:ext cx="192405" cy="192405"/>
          </a:xfrm>
          <a:custGeom>
            <a:avLst/>
            <a:gdLst/>
            <a:ahLst/>
            <a:cxnLst/>
            <a:rect l="l" t="t" r="r" b="b"/>
            <a:pathLst>
              <a:path w="192404" h="192405">
                <a:moveTo>
                  <a:pt x="96855" y="0"/>
                </a:moveTo>
                <a:lnTo>
                  <a:pt x="95242" y="0"/>
                </a:lnTo>
                <a:lnTo>
                  <a:pt x="77530" y="1785"/>
                </a:lnTo>
                <a:lnTo>
                  <a:pt x="41702" y="16845"/>
                </a:lnTo>
                <a:lnTo>
                  <a:pt x="7855" y="57952"/>
                </a:lnTo>
                <a:lnTo>
                  <a:pt x="0" y="95241"/>
                </a:lnTo>
                <a:lnTo>
                  <a:pt x="0" y="96855"/>
                </a:lnTo>
                <a:lnTo>
                  <a:pt x="7856" y="134143"/>
                </a:lnTo>
                <a:lnTo>
                  <a:pt x="41704" y="175252"/>
                </a:lnTo>
                <a:lnTo>
                  <a:pt x="77530" y="190310"/>
                </a:lnTo>
                <a:lnTo>
                  <a:pt x="95241" y="192096"/>
                </a:lnTo>
                <a:lnTo>
                  <a:pt x="96855" y="192096"/>
                </a:lnTo>
                <a:lnTo>
                  <a:pt x="134143" y="184240"/>
                </a:lnTo>
                <a:lnTo>
                  <a:pt x="164659" y="163231"/>
                </a:lnTo>
                <a:lnTo>
                  <a:pt x="96048" y="163231"/>
                </a:lnTo>
                <a:lnTo>
                  <a:pt x="82497" y="161865"/>
                </a:lnTo>
                <a:lnTo>
                  <a:pt x="48540" y="143555"/>
                </a:lnTo>
                <a:lnTo>
                  <a:pt x="30231" y="109598"/>
                </a:lnTo>
                <a:lnTo>
                  <a:pt x="28945" y="95241"/>
                </a:lnTo>
                <a:lnTo>
                  <a:pt x="30231" y="82497"/>
                </a:lnTo>
                <a:lnTo>
                  <a:pt x="48540" y="48540"/>
                </a:lnTo>
                <a:lnTo>
                  <a:pt x="82497" y="30231"/>
                </a:lnTo>
                <a:lnTo>
                  <a:pt x="96048" y="28864"/>
                </a:lnTo>
                <a:lnTo>
                  <a:pt x="164659" y="28864"/>
                </a:lnTo>
                <a:lnTo>
                  <a:pt x="164504" y="28676"/>
                </a:lnTo>
                <a:lnTo>
                  <a:pt x="132693" y="7244"/>
                </a:lnTo>
                <a:lnTo>
                  <a:pt x="114565" y="1785"/>
                </a:lnTo>
                <a:lnTo>
                  <a:pt x="96855" y="0"/>
                </a:lnTo>
                <a:close/>
              </a:path>
              <a:path w="192404" h="192405">
                <a:moveTo>
                  <a:pt x="164659" y="28864"/>
                </a:moveTo>
                <a:lnTo>
                  <a:pt x="96048" y="28864"/>
                </a:lnTo>
                <a:lnTo>
                  <a:pt x="109598" y="30231"/>
                </a:lnTo>
                <a:lnTo>
                  <a:pt x="122203" y="34142"/>
                </a:lnTo>
                <a:lnTo>
                  <a:pt x="151761" y="58484"/>
                </a:lnTo>
                <a:lnTo>
                  <a:pt x="163150" y="95241"/>
                </a:lnTo>
                <a:lnTo>
                  <a:pt x="163150" y="96855"/>
                </a:lnTo>
                <a:lnTo>
                  <a:pt x="151761" y="133611"/>
                </a:lnTo>
                <a:lnTo>
                  <a:pt x="122203" y="157953"/>
                </a:lnTo>
                <a:lnTo>
                  <a:pt x="96048" y="163231"/>
                </a:lnTo>
                <a:lnTo>
                  <a:pt x="164659" y="163231"/>
                </a:lnTo>
                <a:lnTo>
                  <a:pt x="189990" y="116141"/>
                </a:lnTo>
                <a:lnTo>
                  <a:pt x="192096" y="96855"/>
                </a:lnTo>
                <a:lnTo>
                  <a:pt x="192096" y="95241"/>
                </a:lnTo>
                <a:lnTo>
                  <a:pt x="184239" y="57951"/>
                </a:lnTo>
                <a:lnTo>
                  <a:pt x="175252" y="41702"/>
                </a:lnTo>
                <a:lnTo>
                  <a:pt x="164659" y="28864"/>
                </a:lnTo>
                <a:close/>
              </a:path>
              <a:path w="192404" h="192405">
                <a:moveTo>
                  <a:pt x="96048" y="38512"/>
                </a:moveTo>
                <a:lnTo>
                  <a:pt x="55360" y="55359"/>
                </a:lnTo>
                <a:lnTo>
                  <a:pt x="38594" y="95241"/>
                </a:lnTo>
                <a:lnTo>
                  <a:pt x="38594" y="96855"/>
                </a:lnTo>
                <a:lnTo>
                  <a:pt x="55360" y="136737"/>
                </a:lnTo>
                <a:lnTo>
                  <a:pt x="96048" y="153583"/>
                </a:lnTo>
                <a:lnTo>
                  <a:pt x="107674" y="152411"/>
                </a:lnTo>
                <a:lnTo>
                  <a:pt x="118454" y="149064"/>
                </a:lnTo>
                <a:lnTo>
                  <a:pt x="127905" y="143934"/>
                </a:lnTo>
                <a:lnTo>
                  <a:pt x="96048" y="143934"/>
                </a:lnTo>
                <a:lnTo>
                  <a:pt x="86346" y="142956"/>
                </a:lnTo>
                <a:lnTo>
                  <a:pt x="51920" y="114705"/>
                </a:lnTo>
                <a:lnTo>
                  <a:pt x="48243" y="95241"/>
                </a:lnTo>
                <a:lnTo>
                  <a:pt x="49140" y="86344"/>
                </a:lnTo>
                <a:lnTo>
                  <a:pt x="77391" y="51918"/>
                </a:lnTo>
                <a:lnTo>
                  <a:pt x="96048" y="48162"/>
                </a:lnTo>
                <a:lnTo>
                  <a:pt x="127907" y="48162"/>
                </a:lnTo>
                <a:lnTo>
                  <a:pt x="118454" y="43031"/>
                </a:lnTo>
                <a:lnTo>
                  <a:pt x="107674" y="39684"/>
                </a:lnTo>
                <a:lnTo>
                  <a:pt x="96048" y="38512"/>
                </a:lnTo>
                <a:close/>
              </a:path>
              <a:path w="192404" h="192405">
                <a:moveTo>
                  <a:pt x="127907" y="48162"/>
                </a:moveTo>
                <a:lnTo>
                  <a:pt x="96048" y="48162"/>
                </a:lnTo>
                <a:lnTo>
                  <a:pt x="105751" y="49140"/>
                </a:lnTo>
                <a:lnTo>
                  <a:pt x="114705" y="51918"/>
                </a:lnTo>
                <a:lnTo>
                  <a:pt x="142956" y="86344"/>
                </a:lnTo>
                <a:lnTo>
                  <a:pt x="143852" y="95241"/>
                </a:lnTo>
                <a:lnTo>
                  <a:pt x="143852" y="96855"/>
                </a:lnTo>
                <a:lnTo>
                  <a:pt x="122822" y="135770"/>
                </a:lnTo>
                <a:lnTo>
                  <a:pt x="96048" y="143934"/>
                </a:lnTo>
                <a:lnTo>
                  <a:pt x="127905" y="143934"/>
                </a:lnTo>
                <a:lnTo>
                  <a:pt x="152411" y="107674"/>
                </a:lnTo>
                <a:lnTo>
                  <a:pt x="153502" y="95241"/>
                </a:lnTo>
                <a:lnTo>
                  <a:pt x="152411" y="84421"/>
                </a:lnTo>
                <a:lnTo>
                  <a:pt x="149064" y="73642"/>
                </a:lnTo>
                <a:lnTo>
                  <a:pt x="143766" y="63879"/>
                </a:lnTo>
                <a:lnTo>
                  <a:pt x="136737" y="55359"/>
                </a:lnTo>
                <a:lnTo>
                  <a:pt x="128216" y="48329"/>
                </a:lnTo>
                <a:lnTo>
                  <a:pt x="127907" y="4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283967" y="3005335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5" h="144144">
                <a:moveTo>
                  <a:pt x="72007" y="0"/>
                </a:moveTo>
                <a:lnTo>
                  <a:pt x="43979" y="5658"/>
                </a:lnTo>
                <a:lnTo>
                  <a:pt x="21090" y="21090"/>
                </a:lnTo>
                <a:lnTo>
                  <a:pt x="5658" y="43979"/>
                </a:lnTo>
                <a:lnTo>
                  <a:pt x="0" y="72007"/>
                </a:lnTo>
                <a:lnTo>
                  <a:pt x="5658" y="100037"/>
                </a:lnTo>
                <a:lnTo>
                  <a:pt x="21090" y="122925"/>
                </a:lnTo>
                <a:lnTo>
                  <a:pt x="43979" y="138357"/>
                </a:lnTo>
                <a:lnTo>
                  <a:pt x="72007" y="144016"/>
                </a:lnTo>
                <a:lnTo>
                  <a:pt x="100036" y="138357"/>
                </a:lnTo>
                <a:lnTo>
                  <a:pt x="122925" y="122925"/>
                </a:lnTo>
                <a:lnTo>
                  <a:pt x="138357" y="100037"/>
                </a:lnTo>
                <a:lnTo>
                  <a:pt x="144016" y="72007"/>
                </a:lnTo>
                <a:lnTo>
                  <a:pt x="138357" y="43979"/>
                </a:lnTo>
                <a:lnTo>
                  <a:pt x="122925" y="21090"/>
                </a:lnTo>
                <a:lnTo>
                  <a:pt x="100036" y="5658"/>
                </a:lnTo>
                <a:lnTo>
                  <a:pt x="72007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259927" y="2981295"/>
            <a:ext cx="192405" cy="192405"/>
          </a:xfrm>
          <a:custGeom>
            <a:avLst/>
            <a:gdLst/>
            <a:ahLst/>
            <a:cxnLst/>
            <a:rect l="l" t="t" r="r" b="b"/>
            <a:pathLst>
              <a:path w="192404" h="192405">
                <a:moveTo>
                  <a:pt x="96854" y="0"/>
                </a:moveTo>
                <a:lnTo>
                  <a:pt x="95241" y="0"/>
                </a:lnTo>
                <a:lnTo>
                  <a:pt x="77530" y="1785"/>
                </a:lnTo>
                <a:lnTo>
                  <a:pt x="41702" y="16845"/>
                </a:lnTo>
                <a:lnTo>
                  <a:pt x="7855" y="57952"/>
                </a:lnTo>
                <a:lnTo>
                  <a:pt x="0" y="95241"/>
                </a:lnTo>
                <a:lnTo>
                  <a:pt x="0" y="96855"/>
                </a:lnTo>
                <a:lnTo>
                  <a:pt x="7854" y="134143"/>
                </a:lnTo>
                <a:lnTo>
                  <a:pt x="41702" y="175252"/>
                </a:lnTo>
                <a:lnTo>
                  <a:pt x="77530" y="190310"/>
                </a:lnTo>
                <a:lnTo>
                  <a:pt x="95241" y="192096"/>
                </a:lnTo>
                <a:lnTo>
                  <a:pt x="96855" y="192096"/>
                </a:lnTo>
                <a:lnTo>
                  <a:pt x="134143" y="184240"/>
                </a:lnTo>
                <a:lnTo>
                  <a:pt x="164659" y="163231"/>
                </a:lnTo>
                <a:lnTo>
                  <a:pt x="96047" y="163231"/>
                </a:lnTo>
                <a:lnTo>
                  <a:pt x="82497" y="161865"/>
                </a:lnTo>
                <a:lnTo>
                  <a:pt x="48540" y="143555"/>
                </a:lnTo>
                <a:lnTo>
                  <a:pt x="30229" y="109598"/>
                </a:lnTo>
                <a:lnTo>
                  <a:pt x="28945" y="95241"/>
                </a:lnTo>
                <a:lnTo>
                  <a:pt x="30229" y="82497"/>
                </a:lnTo>
                <a:lnTo>
                  <a:pt x="48540" y="48540"/>
                </a:lnTo>
                <a:lnTo>
                  <a:pt x="82497" y="30231"/>
                </a:lnTo>
                <a:lnTo>
                  <a:pt x="96047" y="28864"/>
                </a:lnTo>
                <a:lnTo>
                  <a:pt x="164659" y="28864"/>
                </a:lnTo>
                <a:lnTo>
                  <a:pt x="164504" y="28676"/>
                </a:lnTo>
                <a:lnTo>
                  <a:pt x="132693" y="7244"/>
                </a:lnTo>
                <a:lnTo>
                  <a:pt x="114565" y="1785"/>
                </a:lnTo>
                <a:lnTo>
                  <a:pt x="96854" y="0"/>
                </a:lnTo>
                <a:close/>
              </a:path>
              <a:path w="192404" h="192405">
                <a:moveTo>
                  <a:pt x="164659" y="28864"/>
                </a:moveTo>
                <a:lnTo>
                  <a:pt x="96047" y="28864"/>
                </a:lnTo>
                <a:lnTo>
                  <a:pt x="109598" y="30231"/>
                </a:lnTo>
                <a:lnTo>
                  <a:pt x="122201" y="34142"/>
                </a:lnTo>
                <a:lnTo>
                  <a:pt x="151761" y="58484"/>
                </a:lnTo>
                <a:lnTo>
                  <a:pt x="163150" y="95241"/>
                </a:lnTo>
                <a:lnTo>
                  <a:pt x="163150" y="96855"/>
                </a:lnTo>
                <a:lnTo>
                  <a:pt x="151761" y="133611"/>
                </a:lnTo>
                <a:lnTo>
                  <a:pt x="122201" y="157953"/>
                </a:lnTo>
                <a:lnTo>
                  <a:pt x="96047" y="163231"/>
                </a:lnTo>
                <a:lnTo>
                  <a:pt x="164659" y="163231"/>
                </a:lnTo>
                <a:lnTo>
                  <a:pt x="189989" y="116141"/>
                </a:lnTo>
                <a:lnTo>
                  <a:pt x="192096" y="96855"/>
                </a:lnTo>
                <a:lnTo>
                  <a:pt x="192096" y="95241"/>
                </a:lnTo>
                <a:lnTo>
                  <a:pt x="184239" y="57951"/>
                </a:lnTo>
                <a:lnTo>
                  <a:pt x="175252" y="41702"/>
                </a:lnTo>
                <a:lnTo>
                  <a:pt x="164659" y="28864"/>
                </a:lnTo>
                <a:close/>
              </a:path>
              <a:path w="192404" h="192405">
                <a:moveTo>
                  <a:pt x="96047" y="38512"/>
                </a:moveTo>
                <a:lnTo>
                  <a:pt x="55359" y="55359"/>
                </a:lnTo>
                <a:lnTo>
                  <a:pt x="38594" y="95241"/>
                </a:lnTo>
                <a:lnTo>
                  <a:pt x="38594" y="96855"/>
                </a:lnTo>
                <a:lnTo>
                  <a:pt x="55359" y="136737"/>
                </a:lnTo>
                <a:lnTo>
                  <a:pt x="96047" y="153583"/>
                </a:lnTo>
                <a:lnTo>
                  <a:pt x="107674" y="152411"/>
                </a:lnTo>
                <a:lnTo>
                  <a:pt x="118454" y="149064"/>
                </a:lnTo>
                <a:lnTo>
                  <a:pt x="127905" y="143934"/>
                </a:lnTo>
                <a:lnTo>
                  <a:pt x="96047" y="143934"/>
                </a:lnTo>
                <a:lnTo>
                  <a:pt x="86344" y="142956"/>
                </a:lnTo>
                <a:lnTo>
                  <a:pt x="51918" y="114705"/>
                </a:lnTo>
                <a:lnTo>
                  <a:pt x="48243" y="95241"/>
                </a:lnTo>
                <a:lnTo>
                  <a:pt x="49140" y="86344"/>
                </a:lnTo>
                <a:lnTo>
                  <a:pt x="77391" y="51918"/>
                </a:lnTo>
                <a:lnTo>
                  <a:pt x="96047" y="48162"/>
                </a:lnTo>
                <a:lnTo>
                  <a:pt x="127907" y="48162"/>
                </a:lnTo>
                <a:lnTo>
                  <a:pt x="118454" y="43031"/>
                </a:lnTo>
                <a:lnTo>
                  <a:pt x="107674" y="39684"/>
                </a:lnTo>
                <a:lnTo>
                  <a:pt x="96047" y="38512"/>
                </a:lnTo>
                <a:close/>
              </a:path>
              <a:path w="192404" h="192405">
                <a:moveTo>
                  <a:pt x="127907" y="48162"/>
                </a:moveTo>
                <a:lnTo>
                  <a:pt x="96047" y="48162"/>
                </a:lnTo>
                <a:lnTo>
                  <a:pt x="105750" y="49140"/>
                </a:lnTo>
                <a:lnTo>
                  <a:pt x="114705" y="51918"/>
                </a:lnTo>
                <a:lnTo>
                  <a:pt x="142956" y="86344"/>
                </a:lnTo>
                <a:lnTo>
                  <a:pt x="143852" y="95241"/>
                </a:lnTo>
                <a:lnTo>
                  <a:pt x="143852" y="96855"/>
                </a:lnTo>
                <a:lnTo>
                  <a:pt x="122821" y="135770"/>
                </a:lnTo>
                <a:lnTo>
                  <a:pt x="96047" y="143934"/>
                </a:lnTo>
                <a:lnTo>
                  <a:pt x="127905" y="143934"/>
                </a:lnTo>
                <a:lnTo>
                  <a:pt x="152411" y="107674"/>
                </a:lnTo>
                <a:lnTo>
                  <a:pt x="153502" y="95241"/>
                </a:lnTo>
                <a:lnTo>
                  <a:pt x="152411" y="84421"/>
                </a:lnTo>
                <a:lnTo>
                  <a:pt x="149064" y="73642"/>
                </a:lnTo>
                <a:lnTo>
                  <a:pt x="143765" y="63879"/>
                </a:lnTo>
                <a:lnTo>
                  <a:pt x="136735" y="55359"/>
                </a:lnTo>
                <a:lnTo>
                  <a:pt x="128216" y="48329"/>
                </a:lnTo>
                <a:lnTo>
                  <a:pt x="127907" y="4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978151" y="1700808"/>
            <a:ext cx="289591" cy="28953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979711" y="1700808"/>
            <a:ext cx="288290" cy="288290"/>
          </a:xfrm>
          <a:custGeom>
            <a:avLst/>
            <a:gdLst/>
            <a:ahLst/>
            <a:cxnLst/>
            <a:rect l="l" t="t" r="r" b="b"/>
            <a:pathLst>
              <a:path w="288289" h="288289">
                <a:moveTo>
                  <a:pt x="0" y="0"/>
                </a:moveTo>
                <a:lnTo>
                  <a:pt x="288032" y="0"/>
                </a:lnTo>
                <a:lnTo>
                  <a:pt x="288032" y="288032"/>
                </a:lnTo>
                <a:lnTo>
                  <a:pt x="0" y="288032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983992" y="1700808"/>
            <a:ext cx="291863" cy="2895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987823" y="1700808"/>
            <a:ext cx="288290" cy="288290"/>
          </a:xfrm>
          <a:custGeom>
            <a:avLst/>
            <a:gdLst/>
            <a:ahLst/>
            <a:cxnLst/>
            <a:rect l="l" t="t" r="r" b="b"/>
            <a:pathLst>
              <a:path w="288289" h="288289">
                <a:moveTo>
                  <a:pt x="0" y="0"/>
                </a:moveTo>
                <a:lnTo>
                  <a:pt x="288032" y="0"/>
                </a:lnTo>
                <a:lnTo>
                  <a:pt x="288032" y="288032"/>
                </a:lnTo>
                <a:lnTo>
                  <a:pt x="0" y="288032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390668" y="1988839"/>
            <a:ext cx="741680" cy="1037590"/>
          </a:xfrm>
          <a:custGeom>
            <a:avLst/>
            <a:gdLst/>
            <a:ahLst/>
            <a:cxnLst/>
            <a:rect l="l" t="t" r="r" b="b"/>
            <a:pathLst>
              <a:path w="741680" h="1037589">
                <a:moveTo>
                  <a:pt x="0" y="1037587"/>
                </a:moveTo>
                <a:lnTo>
                  <a:pt x="741171" y="0"/>
                </a:lnTo>
              </a:path>
            </a:pathLst>
          </a:custGeom>
          <a:ln w="1905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627783" y="1988839"/>
            <a:ext cx="504190" cy="1016635"/>
          </a:xfrm>
          <a:custGeom>
            <a:avLst/>
            <a:gdLst/>
            <a:ahLst/>
            <a:cxnLst/>
            <a:rect l="l" t="t" r="r" b="b"/>
            <a:pathLst>
              <a:path w="504189" h="1016635">
                <a:moveTo>
                  <a:pt x="0" y="1016496"/>
                </a:moveTo>
                <a:lnTo>
                  <a:pt x="504056" y="0"/>
                </a:lnTo>
              </a:path>
            </a:pathLst>
          </a:custGeom>
          <a:ln w="1905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915815" y="1988839"/>
            <a:ext cx="216535" cy="1016635"/>
          </a:xfrm>
          <a:custGeom>
            <a:avLst/>
            <a:gdLst/>
            <a:ahLst/>
            <a:cxnLst/>
            <a:rect l="l" t="t" r="r" b="b"/>
            <a:pathLst>
              <a:path w="216535" h="1016635">
                <a:moveTo>
                  <a:pt x="0" y="1016496"/>
                </a:moveTo>
                <a:lnTo>
                  <a:pt x="216024" y="0"/>
                </a:lnTo>
              </a:path>
            </a:pathLst>
          </a:custGeom>
          <a:ln w="1905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131840" y="1988839"/>
            <a:ext cx="72390" cy="1016635"/>
          </a:xfrm>
          <a:custGeom>
            <a:avLst/>
            <a:gdLst/>
            <a:ahLst/>
            <a:cxnLst/>
            <a:rect l="l" t="t" r="r" b="b"/>
            <a:pathLst>
              <a:path w="72389" h="1016635">
                <a:moveTo>
                  <a:pt x="72008" y="1016496"/>
                </a:moveTo>
                <a:lnTo>
                  <a:pt x="0" y="0"/>
                </a:lnTo>
              </a:path>
            </a:pathLst>
          </a:custGeom>
          <a:ln w="1905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131840" y="1988839"/>
            <a:ext cx="309245" cy="1037590"/>
          </a:xfrm>
          <a:custGeom>
            <a:avLst/>
            <a:gdLst/>
            <a:ahLst/>
            <a:cxnLst/>
            <a:rect l="l" t="t" r="r" b="b"/>
            <a:pathLst>
              <a:path w="309245" h="1037589">
                <a:moveTo>
                  <a:pt x="309123" y="1037587"/>
                </a:moveTo>
                <a:lnTo>
                  <a:pt x="0" y="0"/>
                </a:lnTo>
              </a:path>
            </a:pathLst>
          </a:custGeom>
          <a:ln w="1905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131840" y="1988839"/>
            <a:ext cx="597535" cy="1037590"/>
          </a:xfrm>
          <a:custGeom>
            <a:avLst/>
            <a:gdLst/>
            <a:ahLst/>
            <a:cxnLst/>
            <a:rect l="l" t="t" r="r" b="b"/>
            <a:pathLst>
              <a:path w="597535" h="1037589">
                <a:moveTo>
                  <a:pt x="597155" y="1037587"/>
                </a:moveTo>
                <a:lnTo>
                  <a:pt x="0" y="0"/>
                </a:lnTo>
              </a:path>
            </a:pathLst>
          </a:custGeom>
          <a:ln w="1905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131839" y="1988839"/>
            <a:ext cx="885190" cy="1037590"/>
          </a:xfrm>
          <a:custGeom>
            <a:avLst/>
            <a:gdLst/>
            <a:ahLst/>
            <a:cxnLst/>
            <a:rect l="l" t="t" r="r" b="b"/>
            <a:pathLst>
              <a:path w="885189" h="1037589">
                <a:moveTo>
                  <a:pt x="885187" y="1037587"/>
                </a:moveTo>
                <a:lnTo>
                  <a:pt x="0" y="0"/>
                </a:lnTo>
              </a:path>
            </a:pathLst>
          </a:custGeom>
          <a:ln w="1905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131839" y="1988839"/>
            <a:ext cx="1173480" cy="1037590"/>
          </a:xfrm>
          <a:custGeom>
            <a:avLst/>
            <a:gdLst/>
            <a:ahLst/>
            <a:cxnLst/>
            <a:rect l="l" t="t" r="r" b="b"/>
            <a:pathLst>
              <a:path w="1173479" h="1037589">
                <a:moveTo>
                  <a:pt x="1173219" y="1037587"/>
                </a:moveTo>
                <a:lnTo>
                  <a:pt x="0" y="0"/>
                </a:lnTo>
              </a:path>
            </a:pathLst>
          </a:custGeom>
          <a:ln w="1905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626403" y="1650492"/>
            <a:ext cx="26289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 i="1">
                <a:latin typeface="Times New Roman"/>
                <a:cs typeface="Times New Roman"/>
              </a:rPr>
              <a:t>p</a:t>
            </a:r>
            <a:r>
              <a:rPr dirty="0" baseline="-17094" sz="1950" b="1" i="1">
                <a:latin typeface="Times New Roman"/>
                <a:cs typeface="Times New Roman"/>
              </a:rPr>
              <a:t>A</a:t>
            </a:r>
            <a:endParaRPr baseline="-17094" sz="19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56</a:t>
            </a:fld>
          </a:p>
        </p:txBody>
      </p:sp>
      <p:sp>
        <p:nvSpPr>
          <p:cNvPr id="31" name="object 31"/>
          <p:cNvSpPr txBox="1"/>
          <p:nvPr/>
        </p:nvSpPr>
        <p:spPr>
          <a:xfrm>
            <a:off x="2634515" y="1650492"/>
            <a:ext cx="26289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 i="1">
                <a:latin typeface="Times New Roman"/>
                <a:cs typeface="Times New Roman"/>
              </a:rPr>
              <a:t>p</a:t>
            </a:r>
            <a:r>
              <a:rPr dirty="0" baseline="-17094" sz="1950" b="1" i="1">
                <a:latin typeface="Times New Roman"/>
                <a:cs typeface="Times New Roman"/>
              </a:rPr>
              <a:t>B</a:t>
            </a:r>
            <a:endParaRPr baseline="-17094" sz="19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530" y="2338832"/>
            <a:ext cx="1435100" cy="830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latin typeface="Arial"/>
                <a:cs typeface="Arial"/>
              </a:rPr>
              <a:t>Memberships,</a:t>
            </a:r>
            <a:r>
              <a:rPr dirty="0" sz="1500" spc="-110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M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350">
              <a:latin typeface="Times New Roman"/>
              <a:cs typeface="Times New Roman"/>
            </a:endParaRPr>
          </a:p>
          <a:p>
            <a:pPr marL="19050">
              <a:lnSpc>
                <a:spcPct val="100000"/>
              </a:lnSpc>
            </a:pPr>
            <a:r>
              <a:rPr dirty="0" sz="1500">
                <a:latin typeface="Arial"/>
                <a:cs typeface="Arial"/>
              </a:rPr>
              <a:t>Nodes,</a:t>
            </a:r>
            <a:r>
              <a:rPr dirty="0" sz="1500" spc="-110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V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6199632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6563" y="3813555"/>
            <a:ext cx="7742555" cy="198501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287020" marR="530860" indent="-274320">
              <a:lnSpc>
                <a:spcPts val="3100"/>
              </a:lnSpc>
              <a:spcBef>
                <a:spcPts val="42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Nodes in community </a:t>
            </a:r>
            <a:r>
              <a:rPr dirty="0" sz="2800" b="1" i="1">
                <a:latin typeface="Times New Roman"/>
                <a:cs typeface="Times New Roman"/>
              </a:rPr>
              <a:t>c </a:t>
            </a:r>
            <a:r>
              <a:rPr dirty="0" sz="2800" spc="-5">
                <a:latin typeface="Calibri"/>
                <a:cs typeface="Calibri"/>
              </a:rPr>
              <a:t>connect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each other </a:t>
            </a:r>
            <a:r>
              <a:rPr dirty="0" sz="2800" spc="-305">
                <a:latin typeface="Calibri"/>
                <a:cs typeface="Calibri"/>
              </a:rPr>
              <a:t>by  </a:t>
            </a:r>
            <a:r>
              <a:rPr dirty="0" sz="2800" spc="-5">
                <a:latin typeface="Calibri"/>
                <a:cs typeface="Calibri"/>
              </a:rPr>
              <a:t>flipping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coin </a:t>
            </a:r>
            <a:r>
              <a:rPr dirty="0" sz="2800" spc="-5">
                <a:latin typeface="Calibri"/>
                <a:cs typeface="Calibri"/>
              </a:rPr>
              <a:t>with </a:t>
            </a:r>
            <a:r>
              <a:rPr dirty="0" sz="2800" spc="-10">
                <a:latin typeface="Calibri"/>
                <a:cs typeface="Calibri"/>
              </a:rPr>
              <a:t>probability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p</a:t>
            </a:r>
            <a:r>
              <a:rPr dirty="0" baseline="-17543" sz="2850" b="1" i="1">
                <a:latin typeface="Times New Roman"/>
                <a:cs typeface="Times New Roman"/>
              </a:rPr>
              <a:t>c</a:t>
            </a:r>
            <a:endParaRPr baseline="-17543" sz="2850">
              <a:latin typeface="Times New Roman"/>
              <a:cs typeface="Times New Roman"/>
            </a:endParaRPr>
          </a:p>
          <a:p>
            <a:pPr marL="287020" marR="240665" indent="-274320">
              <a:lnSpc>
                <a:spcPts val="3100"/>
              </a:lnSpc>
              <a:spcBef>
                <a:spcPts val="5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solidFill>
                  <a:srgbClr val="D60093"/>
                </a:solidFill>
                <a:latin typeface="Calibri"/>
                <a:cs typeface="Calibri"/>
              </a:rPr>
              <a:t>Nodes </a:t>
            </a: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that </a:t>
            </a:r>
            <a:r>
              <a:rPr dirty="0" sz="2800" spc="-5" b="1">
                <a:solidFill>
                  <a:srgbClr val="D60093"/>
                </a:solidFill>
                <a:latin typeface="Calibri"/>
                <a:cs typeface="Calibri"/>
              </a:rPr>
              <a:t>belong </a:t>
            </a:r>
            <a:r>
              <a:rPr dirty="0" sz="2800" spc="-15" b="1">
                <a:solidFill>
                  <a:srgbClr val="D60093"/>
                </a:solidFill>
                <a:latin typeface="Calibri"/>
                <a:cs typeface="Calibri"/>
              </a:rPr>
              <a:t>to </a:t>
            </a:r>
            <a:r>
              <a:rPr dirty="0" sz="2800" spc="-5" b="1">
                <a:solidFill>
                  <a:srgbClr val="D60093"/>
                </a:solidFill>
                <a:latin typeface="Calibri"/>
                <a:cs typeface="Calibri"/>
              </a:rPr>
              <a:t>multiple communities </a:t>
            </a:r>
            <a:r>
              <a:rPr dirty="0" sz="2800" spc="-170" b="1">
                <a:solidFill>
                  <a:srgbClr val="D60093"/>
                </a:solidFill>
                <a:latin typeface="Calibri"/>
                <a:cs typeface="Calibri"/>
              </a:rPr>
              <a:t>have  </a:t>
            </a:r>
            <a:r>
              <a:rPr dirty="0" sz="2800" spc="-5" b="1">
                <a:solidFill>
                  <a:srgbClr val="D60093"/>
                </a:solidFill>
                <a:latin typeface="Calibri"/>
                <a:cs typeface="Calibri"/>
              </a:rPr>
              <a:t>multiple </a:t>
            </a: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coin</a:t>
            </a:r>
            <a:r>
              <a:rPr dirty="0" sz="2800" spc="-5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flips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175"/>
              </a:spcBef>
              <a:buClr>
                <a:srgbClr val="E66C7D"/>
              </a:buClr>
              <a:buFont typeface="Malgun Gothic"/>
              <a:buChar char="▪"/>
              <a:tabLst>
                <a:tab pos="551815" algn="l"/>
                <a:tab pos="552450" algn="l"/>
              </a:tabLst>
            </a:pPr>
            <a:r>
              <a:rPr dirty="0" sz="1700" spc="-5">
                <a:latin typeface="Calibri"/>
                <a:cs typeface="Calibri"/>
              </a:rPr>
              <a:t>If they “miss” the </a:t>
            </a:r>
            <a:r>
              <a:rPr dirty="0" sz="1700" spc="-15">
                <a:latin typeface="Calibri"/>
                <a:cs typeface="Calibri"/>
              </a:rPr>
              <a:t>first </a:t>
            </a:r>
            <a:r>
              <a:rPr dirty="0" sz="1700" spc="-5">
                <a:latin typeface="Calibri"/>
                <a:cs typeface="Calibri"/>
              </a:rPr>
              <a:t>time, they </a:t>
            </a:r>
            <a:r>
              <a:rPr dirty="0" sz="1700" spc="-10">
                <a:latin typeface="Calibri"/>
                <a:cs typeface="Calibri"/>
              </a:rPr>
              <a:t>get </a:t>
            </a:r>
            <a:r>
              <a:rPr dirty="0" sz="1700" spc="-5">
                <a:latin typeface="Calibri"/>
                <a:cs typeface="Calibri"/>
              </a:rPr>
              <a:t>another chance </a:t>
            </a:r>
            <a:r>
              <a:rPr dirty="0" sz="1700" spc="-10">
                <a:latin typeface="Calibri"/>
                <a:cs typeface="Calibri"/>
              </a:rPr>
              <a:t>through </a:t>
            </a:r>
            <a:r>
              <a:rPr dirty="0" sz="1700" spc="-5">
                <a:latin typeface="Calibri"/>
                <a:cs typeface="Calibri"/>
              </a:rPr>
              <a:t>the </a:t>
            </a:r>
            <a:r>
              <a:rPr dirty="0" sz="1700" spc="-10">
                <a:latin typeface="Calibri"/>
                <a:cs typeface="Calibri"/>
              </a:rPr>
              <a:t>next</a:t>
            </a:r>
            <a:r>
              <a:rPr dirty="0" sz="1700" spc="180">
                <a:latin typeface="Calibri"/>
                <a:cs typeface="Calibri"/>
              </a:rPr>
              <a:t> </a:t>
            </a:r>
            <a:r>
              <a:rPr dirty="0" sz="1700" spc="-5">
                <a:latin typeface="Calibri"/>
                <a:cs typeface="Calibri"/>
              </a:rPr>
              <a:t>community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67" y="1433575"/>
            <a:ext cx="138239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">
                <a:latin typeface="Arial"/>
                <a:cs typeface="Arial"/>
              </a:rPr>
              <a:t>Communities,</a:t>
            </a:r>
            <a:r>
              <a:rPr dirty="0" sz="1500" spc="-5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C</a:t>
            </a:r>
            <a:endParaRPr sz="1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2919666"/>
            <a:ext cx="5648325" cy="871855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980440">
              <a:lnSpc>
                <a:spcPct val="100000"/>
              </a:lnSpc>
              <a:spcBef>
                <a:spcPts val="335"/>
              </a:spcBef>
            </a:pPr>
            <a:r>
              <a:rPr dirty="0" sz="1800" b="1">
                <a:solidFill>
                  <a:srgbClr val="00B050"/>
                </a:solidFill>
                <a:latin typeface="Arial"/>
                <a:cs typeface="Arial"/>
              </a:rPr>
              <a:t>Community</a:t>
            </a:r>
            <a:r>
              <a:rPr dirty="0" sz="1800" spc="-12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B050"/>
                </a:solidFill>
                <a:latin typeface="Arial"/>
                <a:cs typeface="Arial"/>
              </a:rPr>
              <a:t>Affiliation</a:t>
            </a:r>
            <a:endParaRPr sz="180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42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Given </a:t>
            </a:r>
            <a:r>
              <a:rPr dirty="0" sz="3200" spc="-25" b="1">
                <a:latin typeface="Calibri"/>
                <a:cs typeface="Calibri"/>
              </a:rPr>
              <a:t>parameters </a:t>
            </a:r>
            <a:r>
              <a:rPr dirty="0" sz="3200" spc="-85" b="1">
                <a:latin typeface="Calibri"/>
                <a:cs typeface="Calibri"/>
              </a:rPr>
              <a:t>(</a:t>
            </a:r>
            <a:r>
              <a:rPr dirty="0" sz="3200" spc="-85" b="1" i="1">
                <a:latin typeface="Calibri"/>
                <a:cs typeface="Calibri"/>
              </a:rPr>
              <a:t>V, </a:t>
            </a:r>
            <a:r>
              <a:rPr dirty="0" sz="3200" spc="-5" b="1" i="1">
                <a:latin typeface="Calibri"/>
                <a:cs typeface="Calibri"/>
              </a:rPr>
              <a:t>C, </a:t>
            </a:r>
            <a:r>
              <a:rPr dirty="0" sz="3200" b="1" i="1">
                <a:latin typeface="Calibri"/>
                <a:cs typeface="Calibri"/>
              </a:rPr>
              <a:t>M</a:t>
            </a:r>
            <a:r>
              <a:rPr dirty="0" sz="3200" b="1">
                <a:latin typeface="Calibri"/>
                <a:cs typeface="Calibri"/>
              </a:rPr>
              <a:t>,</a:t>
            </a:r>
            <a:r>
              <a:rPr dirty="0" sz="3200" spc="7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{</a:t>
            </a:r>
            <a:r>
              <a:rPr dirty="0" sz="3200" b="1" i="1">
                <a:latin typeface="Times New Roman"/>
                <a:cs typeface="Times New Roman"/>
              </a:rPr>
              <a:t>p</a:t>
            </a:r>
            <a:r>
              <a:rPr dirty="0" baseline="-18518" sz="3150" b="1" i="1">
                <a:latin typeface="Times New Roman"/>
                <a:cs typeface="Times New Roman"/>
              </a:rPr>
              <a:t>c</a:t>
            </a:r>
            <a:r>
              <a:rPr dirty="0" sz="3200" b="1">
                <a:latin typeface="Calibri"/>
                <a:cs typeface="Calibri"/>
              </a:rPr>
              <a:t>})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39275" y="2949955"/>
            <a:ext cx="9277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B050"/>
                </a:solidFill>
                <a:latin typeface="Arial"/>
                <a:cs typeface="Arial"/>
              </a:rPr>
              <a:t>Network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242815" y="1426463"/>
            <a:ext cx="1511808" cy="9540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309755" y="1494608"/>
            <a:ext cx="1371600" cy="769620"/>
          </a:xfrm>
          <a:custGeom>
            <a:avLst/>
            <a:gdLst/>
            <a:ahLst/>
            <a:cxnLst/>
            <a:rect l="l" t="t" r="r" b="b"/>
            <a:pathLst>
              <a:path w="1371600" h="769619">
                <a:moveTo>
                  <a:pt x="0" y="192298"/>
                </a:moveTo>
                <a:lnTo>
                  <a:pt x="987004" y="192298"/>
                </a:lnTo>
                <a:lnTo>
                  <a:pt x="987004" y="0"/>
                </a:lnTo>
                <a:lnTo>
                  <a:pt x="1371600" y="384595"/>
                </a:lnTo>
                <a:lnTo>
                  <a:pt x="987004" y="769191"/>
                </a:lnTo>
                <a:lnTo>
                  <a:pt x="987004" y="576894"/>
                </a:lnTo>
                <a:lnTo>
                  <a:pt x="0" y="576894"/>
                </a:lnTo>
                <a:lnTo>
                  <a:pt x="0" y="192298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449833" y="1666748"/>
            <a:ext cx="8572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Model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91575" y="1722115"/>
            <a:ext cx="2208321" cy="11940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419872" y="2748136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5" h="144144">
                <a:moveTo>
                  <a:pt x="72007" y="0"/>
                </a:moveTo>
                <a:lnTo>
                  <a:pt x="43979" y="5658"/>
                </a:lnTo>
                <a:lnTo>
                  <a:pt x="21090" y="21090"/>
                </a:lnTo>
                <a:lnTo>
                  <a:pt x="5658" y="43979"/>
                </a:lnTo>
                <a:lnTo>
                  <a:pt x="0" y="72007"/>
                </a:lnTo>
                <a:lnTo>
                  <a:pt x="5658" y="100036"/>
                </a:lnTo>
                <a:lnTo>
                  <a:pt x="21090" y="122924"/>
                </a:lnTo>
                <a:lnTo>
                  <a:pt x="43979" y="138356"/>
                </a:lnTo>
                <a:lnTo>
                  <a:pt x="72007" y="144015"/>
                </a:lnTo>
                <a:lnTo>
                  <a:pt x="100036" y="138356"/>
                </a:lnTo>
                <a:lnTo>
                  <a:pt x="122924" y="122924"/>
                </a:lnTo>
                <a:lnTo>
                  <a:pt x="138356" y="100036"/>
                </a:lnTo>
                <a:lnTo>
                  <a:pt x="144015" y="72007"/>
                </a:lnTo>
                <a:lnTo>
                  <a:pt x="138356" y="43979"/>
                </a:lnTo>
                <a:lnTo>
                  <a:pt x="122924" y="21090"/>
                </a:lnTo>
                <a:lnTo>
                  <a:pt x="100036" y="5658"/>
                </a:lnTo>
                <a:lnTo>
                  <a:pt x="72007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395831" y="2724095"/>
            <a:ext cx="192405" cy="192405"/>
          </a:xfrm>
          <a:custGeom>
            <a:avLst/>
            <a:gdLst/>
            <a:ahLst/>
            <a:cxnLst/>
            <a:rect l="l" t="t" r="r" b="b"/>
            <a:pathLst>
              <a:path w="192404" h="192405">
                <a:moveTo>
                  <a:pt x="96855" y="0"/>
                </a:moveTo>
                <a:lnTo>
                  <a:pt x="95242" y="0"/>
                </a:lnTo>
                <a:lnTo>
                  <a:pt x="77530" y="1785"/>
                </a:lnTo>
                <a:lnTo>
                  <a:pt x="41702" y="16845"/>
                </a:lnTo>
                <a:lnTo>
                  <a:pt x="7855" y="57952"/>
                </a:lnTo>
                <a:lnTo>
                  <a:pt x="0" y="95241"/>
                </a:lnTo>
                <a:lnTo>
                  <a:pt x="0" y="96855"/>
                </a:lnTo>
                <a:lnTo>
                  <a:pt x="1785" y="114565"/>
                </a:lnTo>
                <a:lnTo>
                  <a:pt x="16845" y="150393"/>
                </a:lnTo>
                <a:lnTo>
                  <a:pt x="57952" y="184241"/>
                </a:lnTo>
                <a:lnTo>
                  <a:pt x="95241" y="192096"/>
                </a:lnTo>
                <a:lnTo>
                  <a:pt x="96855" y="192096"/>
                </a:lnTo>
                <a:lnTo>
                  <a:pt x="134145" y="184241"/>
                </a:lnTo>
                <a:lnTo>
                  <a:pt x="164659" y="163231"/>
                </a:lnTo>
                <a:lnTo>
                  <a:pt x="96048" y="163231"/>
                </a:lnTo>
                <a:lnTo>
                  <a:pt x="82497" y="161866"/>
                </a:lnTo>
                <a:lnTo>
                  <a:pt x="48540" y="143555"/>
                </a:lnTo>
                <a:lnTo>
                  <a:pt x="30231" y="109598"/>
                </a:lnTo>
                <a:lnTo>
                  <a:pt x="28945" y="96855"/>
                </a:lnTo>
                <a:lnTo>
                  <a:pt x="28946" y="95241"/>
                </a:lnTo>
                <a:lnTo>
                  <a:pt x="40335" y="58486"/>
                </a:lnTo>
                <a:lnTo>
                  <a:pt x="69894" y="34143"/>
                </a:lnTo>
                <a:lnTo>
                  <a:pt x="96048" y="28864"/>
                </a:lnTo>
                <a:lnTo>
                  <a:pt x="164658" y="28864"/>
                </a:lnTo>
                <a:lnTo>
                  <a:pt x="164503" y="28676"/>
                </a:lnTo>
                <a:lnTo>
                  <a:pt x="132693" y="7244"/>
                </a:lnTo>
                <a:lnTo>
                  <a:pt x="114565" y="1785"/>
                </a:lnTo>
                <a:lnTo>
                  <a:pt x="96855" y="0"/>
                </a:lnTo>
                <a:close/>
              </a:path>
              <a:path w="192404" h="192405">
                <a:moveTo>
                  <a:pt x="164658" y="28864"/>
                </a:moveTo>
                <a:lnTo>
                  <a:pt x="96048" y="28864"/>
                </a:lnTo>
                <a:lnTo>
                  <a:pt x="109598" y="30231"/>
                </a:lnTo>
                <a:lnTo>
                  <a:pt x="122203" y="34143"/>
                </a:lnTo>
                <a:lnTo>
                  <a:pt x="151761" y="58486"/>
                </a:lnTo>
                <a:lnTo>
                  <a:pt x="163150" y="95241"/>
                </a:lnTo>
                <a:lnTo>
                  <a:pt x="163150" y="96855"/>
                </a:lnTo>
                <a:lnTo>
                  <a:pt x="161866" y="109598"/>
                </a:lnTo>
                <a:lnTo>
                  <a:pt x="143555" y="143555"/>
                </a:lnTo>
                <a:lnTo>
                  <a:pt x="109598" y="161866"/>
                </a:lnTo>
                <a:lnTo>
                  <a:pt x="96048" y="163231"/>
                </a:lnTo>
                <a:lnTo>
                  <a:pt x="164659" y="163231"/>
                </a:lnTo>
                <a:lnTo>
                  <a:pt x="189990" y="116142"/>
                </a:lnTo>
                <a:lnTo>
                  <a:pt x="192096" y="96855"/>
                </a:lnTo>
                <a:lnTo>
                  <a:pt x="192096" y="95241"/>
                </a:lnTo>
                <a:lnTo>
                  <a:pt x="184240" y="57951"/>
                </a:lnTo>
                <a:lnTo>
                  <a:pt x="175251" y="41702"/>
                </a:lnTo>
                <a:lnTo>
                  <a:pt x="164658" y="28864"/>
                </a:lnTo>
                <a:close/>
              </a:path>
              <a:path w="192404" h="192405">
                <a:moveTo>
                  <a:pt x="96048" y="38514"/>
                </a:moveTo>
                <a:lnTo>
                  <a:pt x="55360" y="55360"/>
                </a:lnTo>
                <a:lnTo>
                  <a:pt x="38595" y="95241"/>
                </a:lnTo>
                <a:lnTo>
                  <a:pt x="38595" y="96855"/>
                </a:lnTo>
                <a:lnTo>
                  <a:pt x="39684" y="107675"/>
                </a:lnTo>
                <a:lnTo>
                  <a:pt x="63879" y="143766"/>
                </a:lnTo>
                <a:lnTo>
                  <a:pt x="96048" y="153583"/>
                </a:lnTo>
                <a:lnTo>
                  <a:pt x="107674" y="152411"/>
                </a:lnTo>
                <a:lnTo>
                  <a:pt x="118454" y="149064"/>
                </a:lnTo>
                <a:lnTo>
                  <a:pt x="127905" y="143935"/>
                </a:lnTo>
                <a:lnTo>
                  <a:pt x="96048" y="143935"/>
                </a:lnTo>
                <a:lnTo>
                  <a:pt x="86346" y="142956"/>
                </a:lnTo>
                <a:lnTo>
                  <a:pt x="51920" y="114705"/>
                </a:lnTo>
                <a:lnTo>
                  <a:pt x="48243" y="96855"/>
                </a:lnTo>
                <a:lnTo>
                  <a:pt x="48243" y="95241"/>
                </a:lnTo>
                <a:lnTo>
                  <a:pt x="69274" y="56325"/>
                </a:lnTo>
                <a:lnTo>
                  <a:pt x="96048" y="48162"/>
                </a:lnTo>
                <a:lnTo>
                  <a:pt x="127905" y="48162"/>
                </a:lnTo>
                <a:lnTo>
                  <a:pt x="118454" y="43031"/>
                </a:lnTo>
                <a:lnTo>
                  <a:pt x="107674" y="39686"/>
                </a:lnTo>
                <a:lnTo>
                  <a:pt x="96048" y="38514"/>
                </a:lnTo>
                <a:close/>
              </a:path>
              <a:path w="192404" h="192405">
                <a:moveTo>
                  <a:pt x="127905" y="48162"/>
                </a:moveTo>
                <a:lnTo>
                  <a:pt x="96048" y="48162"/>
                </a:lnTo>
                <a:lnTo>
                  <a:pt x="105751" y="49140"/>
                </a:lnTo>
                <a:lnTo>
                  <a:pt x="114705" y="51920"/>
                </a:lnTo>
                <a:lnTo>
                  <a:pt x="142956" y="86346"/>
                </a:lnTo>
                <a:lnTo>
                  <a:pt x="143854" y="96855"/>
                </a:lnTo>
                <a:lnTo>
                  <a:pt x="142956" y="105751"/>
                </a:lnTo>
                <a:lnTo>
                  <a:pt x="114705" y="140177"/>
                </a:lnTo>
                <a:lnTo>
                  <a:pt x="96048" y="143935"/>
                </a:lnTo>
                <a:lnTo>
                  <a:pt x="127905" y="143935"/>
                </a:lnTo>
                <a:lnTo>
                  <a:pt x="152411" y="107675"/>
                </a:lnTo>
                <a:lnTo>
                  <a:pt x="153502" y="96855"/>
                </a:lnTo>
                <a:lnTo>
                  <a:pt x="153502" y="95241"/>
                </a:lnTo>
                <a:lnTo>
                  <a:pt x="136737" y="55360"/>
                </a:lnTo>
                <a:lnTo>
                  <a:pt x="128216" y="48331"/>
                </a:lnTo>
                <a:lnTo>
                  <a:pt x="127905" y="4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707903" y="2748136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5" h="144144">
                <a:moveTo>
                  <a:pt x="72009" y="0"/>
                </a:moveTo>
                <a:lnTo>
                  <a:pt x="43979" y="5658"/>
                </a:lnTo>
                <a:lnTo>
                  <a:pt x="21090" y="21090"/>
                </a:lnTo>
                <a:lnTo>
                  <a:pt x="5658" y="43979"/>
                </a:lnTo>
                <a:lnTo>
                  <a:pt x="0" y="72007"/>
                </a:lnTo>
                <a:lnTo>
                  <a:pt x="5658" y="100036"/>
                </a:lnTo>
                <a:lnTo>
                  <a:pt x="21090" y="122924"/>
                </a:lnTo>
                <a:lnTo>
                  <a:pt x="43979" y="138356"/>
                </a:lnTo>
                <a:lnTo>
                  <a:pt x="72009" y="144015"/>
                </a:lnTo>
                <a:lnTo>
                  <a:pt x="100037" y="138356"/>
                </a:lnTo>
                <a:lnTo>
                  <a:pt x="122926" y="122924"/>
                </a:lnTo>
                <a:lnTo>
                  <a:pt x="138358" y="100036"/>
                </a:lnTo>
                <a:lnTo>
                  <a:pt x="144016" y="72007"/>
                </a:lnTo>
                <a:lnTo>
                  <a:pt x="138358" y="43979"/>
                </a:lnTo>
                <a:lnTo>
                  <a:pt x="122926" y="21090"/>
                </a:lnTo>
                <a:lnTo>
                  <a:pt x="100037" y="5658"/>
                </a:lnTo>
                <a:lnTo>
                  <a:pt x="72009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683863" y="2724095"/>
            <a:ext cx="192405" cy="192405"/>
          </a:xfrm>
          <a:custGeom>
            <a:avLst/>
            <a:gdLst/>
            <a:ahLst/>
            <a:cxnLst/>
            <a:rect l="l" t="t" r="r" b="b"/>
            <a:pathLst>
              <a:path w="192404" h="192405">
                <a:moveTo>
                  <a:pt x="96855" y="0"/>
                </a:moveTo>
                <a:lnTo>
                  <a:pt x="95242" y="0"/>
                </a:lnTo>
                <a:lnTo>
                  <a:pt x="77530" y="1785"/>
                </a:lnTo>
                <a:lnTo>
                  <a:pt x="41702" y="16845"/>
                </a:lnTo>
                <a:lnTo>
                  <a:pt x="7855" y="57952"/>
                </a:lnTo>
                <a:lnTo>
                  <a:pt x="0" y="95241"/>
                </a:lnTo>
                <a:lnTo>
                  <a:pt x="0" y="96855"/>
                </a:lnTo>
                <a:lnTo>
                  <a:pt x="1785" y="114565"/>
                </a:lnTo>
                <a:lnTo>
                  <a:pt x="16844" y="150393"/>
                </a:lnTo>
                <a:lnTo>
                  <a:pt x="57952" y="184241"/>
                </a:lnTo>
                <a:lnTo>
                  <a:pt x="95241" y="192096"/>
                </a:lnTo>
                <a:lnTo>
                  <a:pt x="96855" y="192096"/>
                </a:lnTo>
                <a:lnTo>
                  <a:pt x="134143" y="184241"/>
                </a:lnTo>
                <a:lnTo>
                  <a:pt x="164659" y="163231"/>
                </a:lnTo>
                <a:lnTo>
                  <a:pt x="96048" y="163231"/>
                </a:lnTo>
                <a:lnTo>
                  <a:pt x="82497" y="161866"/>
                </a:lnTo>
                <a:lnTo>
                  <a:pt x="48540" y="143555"/>
                </a:lnTo>
                <a:lnTo>
                  <a:pt x="30231" y="109598"/>
                </a:lnTo>
                <a:lnTo>
                  <a:pt x="28945" y="96855"/>
                </a:lnTo>
                <a:lnTo>
                  <a:pt x="28946" y="95241"/>
                </a:lnTo>
                <a:lnTo>
                  <a:pt x="40335" y="58486"/>
                </a:lnTo>
                <a:lnTo>
                  <a:pt x="69894" y="34143"/>
                </a:lnTo>
                <a:lnTo>
                  <a:pt x="96048" y="28864"/>
                </a:lnTo>
                <a:lnTo>
                  <a:pt x="164658" y="28864"/>
                </a:lnTo>
                <a:lnTo>
                  <a:pt x="164503" y="28676"/>
                </a:lnTo>
                <a:lnTo>
                  <a:pt x="132693" y="7244"/>
                </a:lnTo>
                <a:lnTo>
                  <a:pt x="114565" y="1785"/>
                </a:lnTo>
                <a:lnTo>
                  <a:pt x="96855" y="0"/>
                </a:lnTo>
                <a:close/>
              </a:path>
              <a:path w="192404" h="192405">
                <a:moveTo>
                  <a:pt x="164658" y="28864"/>
                </a:moveTo>
                <a:lnTo>
                  <a:pt x="96048" y="28864"/>
                </a:lnTo>
                <a:lnTo>
                  <a:pt x="109598" y="30231"/>
                </a:lnTo>
                <a:lnTo>
                  <a:pt x="122201" y="34143"/>
                </a:lnTo>
                <a:lnTo>
                  <a:pt x="151761" y="58486"/>
                </a:lnTo>
                <a:lnTo>
                  <a:pt x="163150" y="95241"/>
                </a:lnTo>
                <a:lnTo>
                  <a:pt x="163150" y="96855"/>
                </a:lnTo>
                <a:lnTo>
                  <a:pt x="161865" y="109598"/>
                </a:lnTo>
                <a:lnTo>
                  <a:pt x="143555" y="143555"/>
                </a:lnTo>
                <a:lnTo>
                  <a:pt x="109598" y="161866"/>
                </a:lnTo>
                <a:lnTo>
                  <a:pt x="96048" y="163231"/>
                </a:lnTo>
                <a:lnTo>
                  <a:pt x="164659" y="163231"/>
                </a:lnTo>
                <a:lnTo>
                  <a:pt x="189990" y="116142"/>
                </a:lnTo>
                <a:lnTo>
                  <a:pt x="192096" y="96855"/>
                </a:lnTo>
                <a:lnTo>
                  <a:pt x="192096" y="95241"/>
                </a:lnTo>
                <a:lnTo>
                  <a:pt x="184239" y="57951"/>
                </a:lnTo>
                <a:lnTo>
                  <a:pt x="175251" y="41702"/>
                </a:lnTo>
                <a:lnTo>
                  <a:pt x="164658" y="28864"/>
                </a:lnTo>
                <a:close/>
              </a:path>
              <a:path w="192404" h="192405">
                <a:moveTo>
                  <a:pt x="96048" y="38514"/>
                </a:moveTo>
                <a:lnTo>
                  <a:pt x="55359" y="55360"/>
                </a:lnTo>
                <a:lnTo>
                  <a:pt x="38594" y="95241"/>
                </a:lnTo>
                <a:lnTo>
                  <a:pt x="38594" y="96855"/>
                </a:lnTo>
                <a:lnTo>
                  <a:pt x="39684" y="107675"/>
                </a:lnTo>
                <a:lnTo>
                  <a:pt x="63879" y="143766"/>
                </a:lnTo>
                <a:lnTo>
                  <a:pt x="96048" y="153583"/>
                </a:lnTo>
                <a:lnTo>
                  <a:pt x="107674" y="152411"/>
                </a:lnTo>
                <a:lnTo>
                  <a:pt x="118454" y="149064"/>
                </a:lnTo>
                <a:lnTo>
                  <a:pt x="127905" y="143935"/>
                </a:lnTo>
                <a:lnTo>
                  <a:pt x="96048" y="143935"/>
                </a:lnTo>
                <a:lnTo>
                  <a:pt x="86346" y="142956"/>
                </a:lnTo>
                <a:lnTo>
                  <a:pt x="51918" y="114705"/>
                </a:lnTo>
                <a:lnTo>
                  <a:pt x="48243" y="96855"/>
                </a:lnTo>
                <a:lnTo>
                  <a:pt x="48243" y="95241"/>
                </a:lnTo>
                <a:lnTo>
                  <a:pt x="69273" y="56325"/>
                </a:lnTo>
                <a:lnTo>
                  <a:pt x="96048" y="48162"/>
                </a:lnTo>
                <a:lnTo>
                  <a:pt x="127905" y="48162"/>
                </a:lnTo>
                <a:lnTo>
                  <a:pt x="118454" y="43031"/>
                </a:lnTo>
                <a:lnTo>
                  <a:pt x="107674" y="39686"/>
                </a:lnTo>
                <a:lnTo>
                  <a:pt x="96048" y="38514"/>
                </a:lnTo>
                <a:close/>
              </a:path>
              <a:path w="192404" h="192405">
                <a:moveTo>
                  <a:pt x="127905" y="48162"/>
                </a:moveTo>
                <a:lnTo>
                  <a:pt x="96048" y="48162"/>
                </a:lnTo>
                <a:lnTo>
                  <a:pt x="105751" y="49140"/>
                </a:lnTo>
                <a:lnTo>
                  <a:pt x="114705" y="51920"/>
                </a:lnTo>
                <a:lnTo>
                  <a:pt x="142956" y="86346"/>
                </a:lnTo>
                <a:lnTo>
                  <a:pt x="143852" y="96855"/>
                </a:lnTo>
                <a:lnTo>
                  <a:pt x="142956" y="105751"/>
                </a:lnTo>
                <a:lnTo>
                  <a:pt x="114705" y="140177"/>
                </a:lnTo>
                <a:lnTo>
                  <a:pt x="96048" y="143935"/>
                </a:lnTo>
                <a:lnTo>
                  <a:pt x="127905" y="143935"/>
                </a:lnTo>
                <a:lnTo>
                  <a:pt x="152411" y="107675"/>
                </a:lnTo>
                <a:lnTo>
                  <a:pt x="153502" y="96855"/>
                </a:lnTo>
                <a:lnTo>
                  <a:pt x="153502" y="95241"/>
                </a:lnTo>
                <a:lnTo>
                  <a:pt x="136737" y="55360"/>
                </a:lnTo>
                <a:lnTo>
                  <a:pt x="128216" y="48331"/>
                </a:lnTo>
                <a:lnTo>
                  <a:pt x="127905" y="4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995935" y="2748136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5" h="144144">
                <a:moveTo>
                  <a:pt x="72009" y="0"/>
                </a:moveTo>
                <a:lnTo>
                  <a:pt x="43979" y="5658"/>
                </a:lnTo>
                <a:lnTo>
                  <a:pt x="21090" y="21090"/>
                </a:lnTo>
                <a:lnTo>
                  <a:pt x="5658" y="43979"/>
                </a:lnTo>
                <a:lnTo>
                  <a:pt x="0" y="72007"/>
                </a:lnTo>
                <a:lnTo>
                  <a:pt x="5658" y="100036"/>
                </a:lnTo>
                <a:lnTo>
                  <a:pt x="21090" y="122924"/>
                </a:lnTo>
                <a:lnTo>
                  <a:pt x="43979" y="138356"/>
                </a:lnTo>
                <a:lnTo>
                  <a:pt x="72009" y="144015"/>
                </a:lnTo>
                <a:lnTo>
                  <a:pt x="100037" y="138356"/>
                </a:lnTo>
                <a:lnTo>
                  <a:pt x="122926" y="122924"/>
                </a:lnTo>
                <a:lnTo>
                  <a:pt x="138358" y="100036"/>
                </a:lnTo>
                <a:lnTo>
                  <a:pt x="144016" y="72007"/>
                </a:lnTo>
                <a:lnTo>
                  <a:pt x="138358" y="43979"/>
                </a:lnTo>
                <a:lnTo>
                  <a:pt x="122926" y="21090"/>
                </a:lnTo>
                <a:lnTo>
                  <a:pt x="100037" y="5658"/>
                </a:lnTo>
                <a:lnTo>
                  <a:pt x="72009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971895" y="2724095"/>
            <a:ext cx="192405" cy="192405"/>
          </a:xfrm>
          <a:custGeom>
            <a:avLst/>
            <a:gdLst/>
            <a:ahLst/>
            <a:cxnLst/>
            <a:rect l="l" t="t" r="r" b="b"/>
            <a:pathLst>
              <a:path w="192404" h="192405">
                <a:moveTo>
                  <a:pt x="96855" y="0"/>
                </a:moveTo>
                <a:lnTo>
                  <a:pt x="95242" y="0"/>
                </a:lnTo>
                <a:lnTo>
                  <a:pt x="77530" y="1785"/>
                </a:lnTo>
                <a:lnTo>
                  <a:pt x="41702" y="16845"/>
                </a:lnTo>
                <a:lnTo>
                  <a:pt x="7855" y="57952"/>
                </a:lnTo>
                <a:lnTo>
                  <a:pt x="0" y="95241"/>
                </a:lnTo>
                <a:lnTo>
                  <a:pt x="0" y="96855"/>
                </a:lnTo>
                <a:lnTo>
                  <a:pt x="1785" y="114565"/>
                </a:lnTo>
                <a:lnTo>
                  <a:pt x="16844" y="150393"/>
                </a:lnTo>
                <a:lnTo>
                  <a:pt x="57952" y="184241"/>
                </a:lnTo>
                <a:lnTo>
                  <a:pt x="95241" y="192096"/>
                </a:lnTo>
                <a:lnTo>
                  <a:pt x="96855" y="192096"/>
                </a:lnTo>
                <a:lnTo>
                  <a:pt x="134143" y="184241"/>
                </a:lnTo>
                <a:lnTo>
                  <a:pt x="164659" y="163231"/>
                </a:lnTo>
                <a:lnTo>
                  <a:pt x="96048" y="163231"/>
                </a:lnTo>
                <a:lnTo>
                  <a:pt x="82497" y="161866"/>
                </a:lnTo>
                <a:lnTo>
                  <a:pt x="48540" y="143555"/>
                </a:lnTo>
                <a:lnTo>
                  <a:pt x="30231" y="109598"/>
                </a:lnTo>
                <a:lnTo>
                  <a:pt x="28945" y="96855"/>
                </a:lnTo>
                <a:lnTo>
                  <a:pt x="28946" y="95241"/>
                </a:lnTo>
                <a:lnTo>
                  <a:pt x="40335" y="58486"/>
                </a:lnTo>
                <a:lnTo>
                  <a:pt x="69894" y="34143"/>
                </a:lnTo>
                <a:lnTo>
                  <a:pt x="96048" y="28864"/>
                </a:lnTo>
                <a:lnTo>
                  <a:pt x="164658" y="28864"/>
                </a:lnTo>
                <a:lnTo>
                  <a:pt x="164503" y="28676"/>
                </a:lnTo>
                <a:lnTo>
                  <a:pt x="132693" y="7244"/>
                </a:lnTo>
                <a:lnTo>
                  <a:pt x="114565" y="1785"/>
                </a:lnTo>
                <a:lnTo>
                  <a:pt x="96855" y="0"/>
                </a:lnTo>
                <a:close/>
              </a:path>
              <a:path w="192404" h="192405">
                <a:moveTo>
                  <a:pt x="164658" y="28864"/>
                </a:moveTo>
                <a:lnTo>
                  <a:pt x="96048" y="28864"/>
                </a:lnTo>
                <a:lnTo>
                  <a:pt x="109598" y="30231"/>
                </a:lnTo>
                <a:lnTo>
                  <a:pt x="122203" y="34143"/>
                </a:lnTo>
                <a:lnTo>
                  <a:pt x="151761" y="58486"/>
                </a:lnTo>
                <a:lnTo>
                  <a:pt x="163150" y="95241"/>
                </a:lnTo>
                <a:lnTo>
                  <a:pt x="163150" y="96855"/>
                </a:lnTo>
                <a:lnTo>
                  <a:pt x="161866" y="109598"/>
                </a:lnTo>
                <a:lnTo>
                  <a:pt x="143555" y="143555"/>
                </a:lnTo>
                <a:lnTo>
                  <a:pt x="109598" y="161866"/>
                </a:lnTo>
                <a:lnTo>
                  <a:pt x="96048" y="163231"/>
                </a:lnTo>
                <a:lnTo>
                  <a:pt x="164659" y="163231"/>
                </a:lnTo>
                <a:lnTo>
                  <a:pt x="189990" y="116142"/>
                </a:lnTo>
                <a:lnTo>
                  <a:pt x="192096" y="96855"/>
                </a:lnTo>
                <a:lnTo>
                  <a:pt x="192096" y="95241"/>
                </a:lnTo>
                <a:lnTo>
                  <a:pt x="184239" y="57951"/>
                </a:lnTo>
                <a:lnTo>
                  <a:pt x="175251" y="41702"/>
                </a:lnTo>
                <a:lnTo>
                  <a:pt x="164658" y="28864"/>
                </a:lnTo>
                <a:close/>
              </a:path>
              <a:path w="192404" h="192405">
                <a:moveTo>
                  <a:pt x="96048" y="38514"/>
                </a:moveTo>
                <a:lnTo>
                  <a:pt x="55360" y="55360"/>
                </a:lnTo>
                <a:lnTo>
                  <a:pt x="38594" y="95241"/>
                </a:lnTo>
                <a:lnTo>
                  <a:pt x="38594" y="96855"/>
                </a:lnTo>
                <a:lnTo>
                  <a:pt x="39684" y="107675"/>
                </a:lnTo>
                <a:lnTo>
                  <a:pt x="63879" y="143766"/>
                </a:lnTo>
                <a:lnTo>
                  <a:pt x="96048" y="153583"/>
                </a:lnTo>
                <a:lnTo>
                  <a:pt x="107674" y="152411"/>
                </a:lnTo>
                <a:lnTo>
                  <a:pt x="118454" y="149064"/>
                </a:lnTo>
                <a:lnTo>
                  <a:pt x="127905" y="143935"/>
                </a:lnTo>
                <a:lnTo>
                  <a:pt x="96048" y="143935"/>
                </a:lnTo>
                <a:lnTo>
                  <a:pt x="86346" y="142956"/>
                </a:lnTo>
                <a:lnTo>
                  <a:pt x="51920" y="114705"/>
                </a:lnTo>
                <a:lnTo>
                  <a:pt x="48243" y="96855"/>
                </a:lnTo>
                <a:lnTo>
                  <a:pt x="48243" y="95241"/>
                </a:lnTo>
                <a:lnTo>
                  <a:pt x="69274" y="56325"/>
                </a:lnTo>
                <a:lnTo>
                  <a:pt x="96048" y="48162"/>
                </a:lnTo>
                <a:lnTo>
                  <a:pt x="127905" y="48162"/>
                </a:lnTo>
                <a:lnTo>
                  <a:pt x="118454" y="43031"/>
                </a:lnTo>
                <a:lnTo>
                  <a:pt x="107674" y="39686"/>
                </a:lnTo>
                <a:lnTo>
                  <a:pt x="96048" y="38514"/>
                </a:lnTo>
                <a:close/>
              </a:path>
              <a:path w="192404" h="192405">
                <a:moveTo>
                  <a:pt x="127905" y="48162"/>
                </a:moveTo>
                <a:lnTo>
                  <a:pt x="96048" y="48162"/>
                </a:lnTo>
                <a:lnTo>
                  <a:pt x="105751" y="49140"/>
                </a:lnTo>
                <a:lnTo>
                  <a:pt x="114705" y="51920"/>
                </a:lnTo>
                <a:lnTo>
                  <a:pt x="142956" y="86346"/>
                </a:lnTo>
                <a:lnTo>
                  <a:pt x="143852" y="96855"/>
                </a:lnTo>
                <a:lnTo>
                  <a:pt x="142956" y="105751"/>
                </a:lnTo>
                <a:lnTo>
                  <a:pt x="114705" y="140177"/>
                </a:lnTo>
                <a:lnTo>
                  <a:pt x="96048" y="143935"/>
                </a:lnTo>
                <a:lnTo>
                  <a:pt x="127905" y="143935"/>
                </a:lnTo>
                <a:lnTo>
                  <a:pt x="152411" y="107675"/>
                </a:lnTo>
                <a:lnTo>
                  <a:pt x="153502" y="96855"/>
                </a:lnTo>
                <a:lnTo>
                  <a:pt x="153502" y="95241"/>
                </a:lnTo>
                <a:lnTo>
                  <a:pt x="136737" y="55360"/>
                </a:lnTo>
                <a:lnTo>
                  <a:pt x="128216" y="48331"/>
                </a:lnTo>
                <a:lnTo>
                  <a:pt x="127905" y="4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283967" y="2748136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5" h="144144">
                <a:moveTo>
                  <a:pt x="72007" y="0"/>
                </a:moveTo>
                <a:lnTo>
                  <a:pt x="43979" y="5658"/>
                </a:lnTo>
                <a:lnTo>
                  <a:pt x="21090" y="21090"/>
                </a:lnTo>
                <a:lnTo>
                  <a:pt x="5658" y="43979"/>
                </a:lnTo>
                <a:lnTo>
                  <a:pt x="0" y="72007"/>
                </a:lnTo>
                <a:lnTo>
                  <a:pt x="5658" y="100036"/>
                </a:lnTo>
                <a:lnTo>
                  <a:pt x="21090" y="122924"/>
                </a:lnTo>
                <a:lnTo>
                  <a:pt x="43979" y="138356"/>
                </a:lnTo>
                <a:lnTo>
                  <a:pt x="72007" y="144015"/>
                </a:lnTo>
                <a:lnTo>
                  <a:pt x="100036" y="138356"/>
                </a:lnTo>
                <a:lnTo>
                  <a:pt x="122925" y="122924"/>
                </a:lnTo>
                <a:lnTo>
                  <a:pt x="138357" y="100036"/>
                </a:lnTo>
                <a:lnTo>
                  <a:pt x="144016" y="72007"/>
                </a:lnTo>
                <a:lnTo>
                  <a:pt x="138357" y="43979"/>
                </a:lnTo>
                <a:lnTo>
                  <a:pt x="122925" y="21090"/>
                </a:lnTo>
                <a:lnTo>
                  <a:pt x="100036" y="5658"/>
                </a:lnTo>
                <a:lnTo>
                  <a:pt x="72007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259927" y="2724095"/>
            <a:ext cx="192405" cy="192405"/>
          </a:xfrm>
          <a:custGeom>
            <a:avLst/>
            <a:gdLst/>
            <a:ahLst/>
            <a:cxnLst/>
            <a:rect l="l" t="t" r="r" b="b"/>
            <a:pathLst>
              <a:path w="192404" h="192405">
                <a:moveTo>
                  <a:pt x="96854" y="0"/>
                </a:moveTo>
                <a:lnTo>
                  <a:pt x="95241" y="0"/>
                </a:lnTo>
                <a:lnTo>
                  <a:pt x="77530" y="1785"/>
                </a:lnTo>
                <a:lnTo>
                  <a:pt x="41702" y="16845"/>
                </a:lnTo>
                <a:lnTo>
                  <a:pt x="7855" y="57952"/>
                </a:lnTo>
                <a:lnTo>
                  <a:pt x="0" y="95241"/>
                </a:lnTo>
                <a:lnTo>
                  <a:pt x="0" y="96855"/>
                </a:lnTo>
                <a:lnTo>
                  <a:pt x="1785" y="114565"/>
                </a:lnTo>
                <a:lnTo>
                  <a:pt x="16844" y="150393"/>
                </a:lnTo>
                <a:lnTo>
                  <a:pt x="57952" y="184241"/>
                </a:lnTo>
                <a:lnTo>
                  <a:pt x="95241" y="192096"/>
                </a:lnTo>
                <a:lnTo>
                  <a:pt x="96855" y="192096"/>
                </a:lnTo>
                <a:lnTo>
                  <a:pt x="134143" y="184241"/>
                </a:lnTo>
                <a:lnTo>
                  <a:pt x="164659" y="163231"/>
                </a:lnTo>
                <a:lnTo>
                  <a:pt x="96047" y="163231"/>
                </a:lnTo>
                <a:lnTo>
                  <a:pt x="82497" y="161866"/>
                </a:lnTo>
                <a:lnTo>
                  <a:pt x="48540" y="143555"/>
                </a:lnTo>
                <a:lnTo>
                  <a:pt x="30229" y="109598"/>
                </a:lnTo>
                <a:lnTo>
                  <a:pt x="28945" y="96855"/>
                </a:lnTo>
                <a:lnTo>
                  <a:pt x="28945" y="95241"/>
                </a:lnTo>
                <a:lnTo>
                  <a:pt x="40335" y="58486"/>
                </a:lnTo>
                <a:lnTo>
                  <a:pt x="69893" y="34143"/>
                </a:lnTo>
                <a:lnTo>
                  <a:pt x="96047" y="28864"/>
                </a:lnTo>
                <a:lnTo>
                  <a:pt x="164658" y="28864"/>
                </a:lnTo>
                <a:lnTo>
                  <a:pt x="164503" y="28676"/>
                </a:lnTo>
                <a:lnTo>
                  <a:pt x="132693" y="7244"/>
                </a:lnTo>
                <a:lnTo>
                  <a:pt x="114565" y="1785"/>
                </a:lnTo>
                <a:lnTo>
                  <a:pt x="96854" y="0"/>
                </a:lnTo>
                <a:close/>
              </a:path>
              <a:path w="192404" h="192405">
                <a:moveTo>
                  <a:pt x="164658" y="28864"/>
                </a:moveTo>
                <a:lnTo>
                  <a:pt x="96047" y="28864"/>
                </a:lnTo>
                <a:lnTo>
                  <a:pt x="109598" y="30231"/>
                </a:lnTo>
                <a:lnTo>
                  <a:pt x="122201" y="34143"/>
                </a:lnTo>
                <a:lnTo>
                  <a:pt x="151761" y="58486"/>
                </a:lnTo>
                <a:lnTo>
                  <a:pt x="163150" y="95241"/>
                </a:lnTo>
                <a:lnTo>
                  <a:pt x="163150" y="96855"/>
                </a:lnTo>
                <a:lnTo>
                  <a:pt x="161865" y="109598"/>
                </a:lnTo>
                <a:lnTo>
                  <a:pt x="143555" y="143555"/>
                </a:lnTo>
                <a:lnTo>
                  <a:pt x="109598" y="161866"/>
                </a:lnTo>
                <a:lnTo>
                  <a:pt x="96047" y="163231"/>
                </a:lnTo>
                <a:lnTo>
                  <a:pt x="164659" y="163231"/>
                </a:lnTo>
                <a:lnTo>
                  <a:pt x="189989" y="116142"/>
                </a:lnTo>
                <a:lnTo>
                  <a:pt x="192096" y="96855"/>
                </a:lnTo>
                <a:lnTo>
                  <a:pt x="192096" y="95241"/>
                </a:lnTo>
                <a:lnTo>
                  <a:pt x="184239" y="57951"/>
                </a:lnTo>
                <a:lnTo>
                  <a:pt x="175251" y="41702"/>
                </a:lnTo>
                <a:lnTo>
                  <a:pt x="164658" y="28864"/>
                </a:lnTo>
                <a:close/>
              </a:path>
              <a:path w="192404" h="192405">
                <a:moveTo>
                  <a:pt x="96047" y="38514"/>
                </a:moveTo>
                <a:lnTo>
                  <a:pt x="55359" y="55360"/>
                </a:lnTo>
                <a:lnTo>
                  <a:pt x="38594" y="95241"/>
                </a:lnTo>
                <a:lnTo>
                  <a:pt x="38594" y="96855"/>
                </a:lnTo>
                <a:lnTo>
                  <a:pt x="39684" y="107675"/>
                </a:lnTo>
                <a:lnTo>
                  <a:pt x="63879" y="143766"/>
                </a:lnTo>
                <a:lnTo>
                  <a:pt x="96047" y="153583"/>
                </a:lnTo>
                <a:lnTo>
                  <a:pt x="107674" y="152411"/>
                </a:lnTo>
                <a:lnTo>
                  <a:pt x="118454" y="149064"/>
                </a:lnTo>
                <a:lnTo>
                  <a:pt x="127905" y="143935"/>
                </a:lnTo>
                <a:lnTo>
                  <a:pt x="96047" y="143935"/>
                </a:lnTo>
                <a:lnTo>
                  <a:pt x="86344" y="142956"/>
                </a:lnTo>
                <a:lnTo>
                  <a:pt x="51918" y="114705"/>
                </a:lnTo>
                <a:lnTo>
                  <a:pt x="48243" y="96855"/>
                </a:lnTo>
                <a:lnTo>
                  <a:pt x="48243" y="95241"/>
                </a:lnTo>
                <a:lnTo>
                  <a:pt x="69273" y="56325"/>
                </a:lnTo>
                <a:lnTo>
                  <a:pt x="96047" y="48162"/>
                </a:lnTo>
                <a:lnTo>
                  <a:pt x="127905" y="48162"/>
                </a:lnTo>
                <a:lnTo>
                  <a:pt x="118454" y="43031"/>
                </a:lnTo>
                <a:lnTo>
                  <a:pt x="107674" y="39686"/>
                </a:lnTo>
                <a:lnTo>
                  <a:pt x="96047" y="38514"/>
                </a:lnTo>
                <a:close/>
              </a:path>
              <a:path w="192404" h="192405">
                <a:moveTo>
                  <a:pt x="127905" y="48162"/>
                </a:moveTo>
                <a:lnTo>
                  <a:pt x="96047" y="48162"/>
                </a:lnTo>
                <a:lnTo>
                  <a:pt x="105750" y="49140"/>
                </a:lnTo>
                <a:lnTo>
                  <a:pt x="114705" y="51920"/>
                </a:lnTo>
                <a:lnTo>
                  <a:pt x="142956" y="86346"/>
                </a:lnTo>
                <a:lnTo>
                  <a:pt x="143852" y="96855"/>
                </a:lnTo>
                <a:lnTo>
                  <a:pt x="142956" y="105751"/>
                </a:lnTo>
                <a:lnTo>
                  <a:pt x="114705" y="140177"/>
                </a:lnTo>
                <a:lnTo>
                  <a:pt x="96047" y="143935"/>
                </a:lnTo>
                <a:lnTo>
                  <a:pt x="127905" y="143935"/>
                </a:lnTo>
                <a:lnTo>
                  <a:pt x="152411" y="107675"/>
                </a:lnTo>
                <a:lnTo>
                  <a:pt x="153502" y="96855"/>
                </a:lnTo>
                <a:lnTo>
                  <a:pt x="153502" y="95241"/>
                </a:lnTo>
                <a:lnTo>
                  <a:pt x="136735" y="55360"/>
                </a:lnTo>
                <a:lnTo>
                  <a:pt x="128216" y="48331"/>
                </a:lnTo>
                <a:lnTo>
                  <a:pt x="127905" y="4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978151" y="1443608"/>
            <a:ext cx="289591" cy="2907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979711" y="1443607"/>
            <a:ext cx="288290" cy="288290"/>
          </a:xfrm>
          <a:custGeom>
            <a:avLst/>
            <a:gdLst/>
            <a:ahLst/>
            <a:cxnLst/>
            <a:rect l="l" t="t" r="r" b="b"/>
            <a:pathLst>
              <a:path w="288289" h="288289">
                <a:moveTo>
                  <a:pt x="0" y="0"/>
                </a:moveTo>
                <a:lnTo>
                  <a:pt x="288032" y="0"/>
                </a:lnTo>
                <a:lnTo>
                  <a:pt x="288032" y="288032"/>
                </a:lnTo>
                <a:lnTo>
                  <a:pt x="0" y="288032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983992" y="1443608"/>
            <a:ext cx="291863" cy="2907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987823" y="1443607"/>
            <a:ext cx="288290" cy="288290"/>
          </a:xfrm>
          <a:custGeom>
            <a:avLst/>
            <a:gdLst/>
            <a:ahLst/>
            <a:cxnLst/>
            <a:rect l="l" t="t" r="r" b="b"/>
            <a:pathLst>
              <a:path w="288289" h="288289">
                <a:moveTo>
                  <a:pt x="0" y="0"/>
                </a:moveTo>
                <a:lnTo>
                  <a:pt x="288032" y="0"/>
                </a:lnTo>
                <a:lnTo>
                  <a:pt x="288032" y="288032"/>
                </a:lnTo>
                <a:lnTo>
                  <a:pt x="0" y="288032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390668" y="1731640"/>
            <a:ext cx="741680" cy="1037590"/>
          </a:xfrm>
          <a:custGeom>
            <a:avLst/>
            <a:gdLst/>
            <a:ahLst/>
            <a:cxnLst/>
            <a:rect l="l" t="t" r="r" b="b"/>
            <a:pathLst>
              <a:path w="741680" h="1037589">
                <a:moveTo>
                  <a:pt x="0" y="1037587"/>
                </a:moveTo>
                <a:lnTo>
                  <a:pt x="741171" y="0"/>
                </a:lnTo>
              </a:path>
            </a:pathLst>
          </a:custGeom>
          <a:ln w="1905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627783" y="1731640"/>
            <a:ext cx="504190" cy="1016635"/>
          </a:xfrm>
          <a:custGeom>
            <a:avLst/>
            <a:gdLst/>
            <a:ahLst/>
            <a:cxnLst/>
            <a:rect l="l" t="t" r="r" b="b"/>
            <a:pathLst>
              <a:path w="504189" h="1016635">
                <a:moveTo>
                  <a:pt x="0" y="1016496"/>
                </a:moveTo>
                <a:lnTo>
                  <a:pt x="504056" y="0"/>
                </a:lnTo>
              </a:path>
            </a:pathLst>
          </a:custGeom>
          <a:ln w="1905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915815" y="1731640"/>
            <a:ext cx="216535" cy="1016635"/>
          </a:xfrm>
          <a:custGeom>
            <a:avLst/>
            <a:gdLst/>
            <a:ahLst/>
            <a:cxnLst/>
            <a:rect l="l" t="t" r="r" b="b"/>
            <a:pathLst>
              <a:path w="216535" h="1016635">
                <a:moveTo>
                  <a:pt x="0" y="1016496"/>
                </a:moveTo>
                <a:lnTo>
                  <a:pt x="216024" y="0"/>
                </a:lnTo>
              </a:path>
            </a:pathLst>
          </a:custGeom>
          <a:ln w="1905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131840" y="1731640"/>
            <a:ext cx="72390" cy="1016635"/>
          </a:xfrm>
          <a:custGeom>
            <a:avLst/>
            <a:gdLst/>
            <a:ahLst/>
            <a:cxnLst/>
            <a:rect l="l" t="t" r="r" b="b"/>
            <a:pathLst>
              <a:path w="72389" h="1016635">
                <a:moveTo>
                  <a:pt x="72008" y="1016496"/>
                </a:moveTo>
                <a:lnTo>
                  <a:pt x="0" y="0"/>
                </a:lnTo>
              </a:path>
            </a:pathLst>
          </a:custGeom>
          <a:ln w="1905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131840" y="1731640"/>
            <a:ext cx="309245" cy="1037590"/>
          </a:xfrm>
          <a:custGeom>
            <a:avLst/>
            <a:gdLst/>
            <a:ahLst/>
            <a:cxnLst/>
            <a:rect l="l" t="t" r="r" b="b"/>
            <a:pathLst>
              <a:path w="309245" h="1037589">
                <a:moveTo>
                  <a:pt x="309123" y="1037587"/>
                </a:moveTo>
                <a:lnTo>
                  <a:pt x="0" y="0"/>
                </a:lnTo>
              </a:path>
            </a:pathLst>
          </a:custGeom>
          <a:ln w="1905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131840" y="1731640"/>
            <a:ext cx="597535" cy="1037590"/>
          </a:xfrm>
          <a:custGeom>
            <a:avLst/>
            <a:gdLst/>
            <a:ahLst/>
            <a:cxnLst/>
            <a:rect l="l" t="t" r="r" b="b"/>
            <a:pathLst>
              <a:path w="597535" h="1037589">
                <a:moveTo>
                  <a:pt x="597155" y="1037587"/>
                </a:moveTo>
                <a:lnTo>
                  <a:pt x="0" y="0"/>
                </a:lnTo>
              </a:path>
            </a:pathLst>
          </a:custGeom>
          <a:ln w="1905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131839" y="1731640"/>
            <a:ext cx="885190" cy="1037590"/>
          </a:xfrm>
          <a:custGeom>
            <a:avLst/>
            <a:gdLst/>
            <a:ahLst/>
            <a:cxnLst/>
            <a:rect l="l" t="t" r="r" b="b"/>
            <a:pathLst>
              <a:path w="885189" h="1037589">
                <a:moveTo>
                  <a:pt x="885187" y="1037587"/>
                </a:moveTo>
                <a:lnTo>
                  <a:pt x="0" y="0"/>
                </a:lnTo>
              </a:path>
            </a:pathLst>
          </a:custGeom>
          <a:ln w="1905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131839" y="1731640"/>
            <a:ext cx="1173480" cy="1037590"/>
          </a:xfrm>
          <a:custGeom>
            <a:avLst/>
            <a:gdLst/>
            <a:ahLst/>
            <a:cxnLst/>
            <a:rect l="l" t="t" r="r" b="b"/>
            <a:pathLst>
              <a:path w="1173479" h="1037589">
                <a:moveTo>
                  <a:pt x="1173219" y="1037587"/>
                </a:moveTo>
                <a:lnTo>
                  <a:pt x="0" y="0"/>
                </a:lnTo>
              </a:path>
            </a:pathLst>
          </a:custGeom>
          <a:ln w="1905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626403" y="1391411"/>
            <a:ext cx="25336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i="1">
                <a:latin typeface="Times New Roman"/>
                <a:cs typeface="Times New Roman"/>
              </a:rPr>
              <a:t>p</a:t>
            </a:r>
            <a:r>
              <a:rPr dirty="0" baseline="-17094" sz="1950" i="1">
                <a:latin typeface="Times New Roman"/>
                <a:cs typeface="Times New Roman"/>
              </a:rPr>
              <a:t>A</a:t>
            </a:r>
            <a:endParaRPr baseline="-17094" sz="19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634515" y="1391411"/>
            <a:ext cx="25336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i="1">
                <a:latin typeface="Times New Roman"/>
                <a:cs typeface="Times New Roman"/>
              </a:rPr>
              <a:t>p</a:t>
            </a:r>
            <a:r>
              <a:rPr dirty="0" baseline="-17094" sz="1950" i="1">
                <a:latin typeface="Times New Roman"/>
                <a:cs typeface="Times New Roman"/>
              </a:rPr>
              <a:t>B</a:t>
            </a:r>
            <a:endParaRPr baseline="-17094" sz="19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30" y="2079751"/>
            <a:ext cx="1435100" cy="830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latin typeface="Arial"/>
                <a:cs typeface="Arial"/>
              </a:rPr>
              <a:t>Memberships,</a:t>
            </a:r>
            <a:r>
              <a:rPr dirty="0" sz="1500" spc="-11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M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350">
              <a:latin typeface="Times New Roman"/>
              <a:cs typeface="Times New Roman"/>
            </a:endParaRPr>
          </a:p>
          <a:p>
            <a:pPr marL="19050">
              <a:lnSpc>
                <a:spcPct val="100000"/>
              </a:lnSpc>
            </a:pPr>
            <a:r>
              <a:rPr dirty="0" sz="1500">
                <a:latin typeface="Arial"/>
                <a:cs typeface="Arial"/>
              </a:rPr>
              <a:t>Nodes,</a:t>
            </a:r>
            <a:r>
              <a:rPr dirty="0" sz="1500" spc="-11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V</a:t>
            </a:r>
            <a:endParaRPr sz="15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110387" y="5981327"/>
            <a:ext cx="6585812" cy="62351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601007" y="5957327"/>
            <a:ext cx="3576954" cy="696595"/>
          </a:xfrm>
          <a:custGeom>
            <a:avLst/>
            <a:gdLst/>
            <a:ahLst/>
            <a:cxnLst/>
            <a:rect l="l" t="t" r="r" b="b"/>
            <a:pathLst>
              <a:path w="3576954" h="696595">
                <a:moveTo>
                  <a:pt x="3552391" y="0"/>
                </a:moveTo>
                <a:lnTo>
                  <a:pt x="24000" y="0"/>
                </a:lnTo>
                <a:lnTo>
                  <a:pt x="14658" y="1886"/>
                </a:lnTo>
                <a:lnTo>
                  <a:pt x="7029" y="7029"/>
                </a:lnTo>
                <a:lnTo>
                  <a:pt x="1886" y="14658"/>
                </a:lnTo>
                <a:lnTo>
                  <a:pt x="0" y="23999"/>
                </a:lnTo>
                <a:lnTo>
                  <a:pt x="0" y="672071"/>
                </a:lnTo>
                <a:lnTo>
                  <a:pt x="1886" y="681413"/>
                </a:lnTo>
                <a:lnTo>
                  <a:pt x="7029" y="689042"/>
                </a:lnTo>
                <a:lnTo>
                  <a:pt x="14658" y="694185"/>
                </a:lnTo>
                <a:lnTo>
                  <a:pt x="24000" y="696072"/>
                </a:lnTo>
                <a:lnTo>
                  <a:pt x="3552391" y="696072"/>
                </a:lnTo>
                <a:lnTo>
                  <a:pt x="3561733" y="694185"/>
                </a:lnTo>
                <a:lnTo>
                  <a:pt x="3569362" y="689042"/>
                </a:lnTo>
                <a:lnTo>
                  <a:pt x="3574506" y="681413"/>
                </a:lnTo>
                <a:lnTo>
                  <a:pt x="3576392" y="672071"/>
                </a:lnTo>
                <a:lnTo>
                  <a:pt x="3576392" y="667271"/>
                </a:lnTo>
                <a:lnTo>
                  <a:pt x="28799" y="667271"/>
                </a:lnTo>
                <a:lnTo>
                  <a:pt x="28799" y="28800"/>
                </a:lnTo>
                <a:lnTo>
                  <a:pt x="3576392" y="28800"/>
                </a:lnTo>
                <a:lnTo>
                  <a:pt x="3576392" y="23999"/>
                </a:lnTo>
                <a:lnTo>
                  <a:pt x="3574506" y="14658"/>
                </a:lnTo>
                <a:lnTo>
                  <a:pt x="3569362" y="7029"/>
                </a:lnTo>
                <a:lnTo>
                  <a:pt x="3561733" y="1886"/>
                </a:lnTo>
                <a:lnTo>
                  <a:pt x="3552391" y="0"/>
                </a:lnTo>
                <a:close/>
              </a:path>
              <a:path w="3576954" h="696595">
                <a:moveTo>
                  <a:pt x="3576392" y="28800"/>
                </a:moveTo>
                <a:lnTo>
                  <a:pt x="3547591" y="28800"/>
                </a:lnTo>
                <a:lnTo>
                  <a:pt x="3547591" y="667271"/>
                </a:lnTo>
                <a:lnTo>
                  <a:pt x="3576392" y="667271"/>
                </a:lnTo>
                <a:lnTo>
                  <a:pt x="3576392" y="28800"/>
                </a:lnTo>
                <a:close/>
              </a:path>
              <a:path w="3576954" h="696595">
                <a:moveTo>
                  <a:pt x="3537991" y="38399"/>
                </a:moveTo>
                <a:lnTo>
                  <a:pt x="38399" y="38399"/>
                </a:lnTo>
                <a:lnTo>
                  <a:pt x="38399" y="657671"/>
                </a:lnTo>
                <a:lnTo>
                  <a:pt x="3537991" y="657671"/>
                </a:lnTo>
                <a:lnTo>
                  <a:pt x="3537991" y="648071"/>
                </a:lnTo>
                <a:lnTo>
                  <a:pt x="47999" y="648071"/>
                </a:lnTo>
                <a:lnTo>
                  <a:pt x="47999" y="48000"/>
                </a:lnTo>
                <a:lnTo>
                  <a:pt x="3537991" y="48000"/>
                </a:lnTo>
                <a:lnTo>
                  <a:pt x="3537991" y="38399"/>
                </a:lnTo>
                <a:close/>
              </a:path>
              <a:path w="3576954" h="696595">
                <a:moveTo>
                  <a:pt x="3537991" y="48000"/>
                </a:moveTo>
                <a:lnTo>
                  <a:pt x="3528391" y="48000"/>
                </a:lnTo>
                <a:lnTo>
                  <a:pt x="3528391" y="648071"/>
                </a:lnTo>
                <a:lnTo>
                  <a:pt x="3537991" y="648071"/>
                </a:lnTo>
                <a:lnTo>
                  <a:pt x="3537991" y="4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012159" y="1371600"/>
            <a:ext cx="2520141" cy="13969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5031740" y="6092444"/>
            <a:ext cx="3820795" cy="5651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97500"/>
              </a:lnSpc>
              <a:spcBef>
                <a:spcPts val="135"/>
              </a:spcBef>
            </a:pP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Note: 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If </a:t>
            </a: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nodes 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u </a:t>
            </a: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and 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v </a:t>
            </a: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have no communities in common,  then p(u,v)=0. </a:t>
            </a:r>
            <a:r>
              <a:rPr dirty="0" sz="1200" spc="-10">
                <a:solidFill>
                  <a:srgbClr val="008000"/>
                </a:solidFill>
                <a:latin typeface="Arial"/>
                <a:cs typeface="Arial"/>
              </a:rPr>
              <a:t>We </a:t>
            </a: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resolve this by having 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a </a:t>
            </a: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background  “epsilon” community that every node is 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a </a:t>
            </a: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member</a:t>
            </a:r>
            <a:r>
              <a:rPr dirty="0" sz="1200" spc="2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of.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56</a:t>
            </a:fld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79901" y="3581400"/>
            <a:ext cx="4864098" cy="32765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143000"/>
            <a:ext cx="5867400" cy="24569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084832" y="4379976"/>
            <a:ext cx="1929383" cy="18714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33600" y="4404956"/>
            <a:ext cx="1828800" cy="17672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33600" y="4404956"/>
            <a:ext cx="1828800" cy="1767839"/>
          </a:xfrm>
          <a:custGeom>
            <a:avLst/>
            <a:gdLst/>
            <a:ahLst/>
            <a:cxnLst/>
            <a:rect l="l" t="t" r="r" b="b"/>
            <a:pathLst>
              <a:path w="1828800" h="1767839">
                <a:moveTo>
                  <a:pt x="418360" y="0"/>
                </a:moveTo>
                <a:lnTo>
                  <a:pt x="418360" y="1116254"/>
                </a:lnTo>
                <a:lnTo>
                  <a:pt x="1386987" y="1116254"/>
                </a:lnTo>
                <a:lnTo>
                  <a:pt x="1386987" y="883622"/>
                </a:lnTo>
                <a:lnTo>
                  <a:pt x="1828799" y="1325434"/>
                </a:lnTo>
                <a:lnTo>
                  <a:pt x="1386987" y="1767244"/>
                </a:lnTo>
                <a:lnTo>
                  <a:pt x="1386987" y="1534612"/>
                </a:lnTo>
                <a:lnTo>
                  <a:pt x="0" y="1534612"/>
                </a:lnTo>
                <a:lnTo>
                  <a:pt x="0" y="0"/>
                </a:lnTo>
                <a:lnTo>
                  <a:pt x="41836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324014" y="3544315"/>
            <a:ext cx="18542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20" b="1">
                <a:latin typeface="Tahoma"/>
                <a:cs typeface="Tahoma"/>
              </a:rPr>
              <a:t>Mo</a:t>
            </a:r>
            <a:r>
              <a:rPr dirty="0" sz="4800" spc="15" b="1">
                <a:latin typeface="Tahoma"/>
                <a:cs typeface="Tahoma"/>
              </a:rPr>
              <a:t>d</a:t>
            </a:r>
            <a:r>
              <a:rPr dirty="0" sz="4800" spc="-130" b="1">
                <a:latin typeface="Tahoma"/>
                <a:cs typeface="Tahoma"/>
              </a:rPr>
              <a:t>el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2739" y="5997955"/>
            <a:ext cx="262382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25" b="1">
                <a:latin typeface="Tahoma"/>
                <a:cs typeface="Tahoma"/>
              </a:rPr>
              <a:t>N</a:t>
            </a:r>
            <a:r>
              <a:rPr dirty="0" sz="4800" spc="25" b="1">
                <a:latin typeface="Tahoma"/>
                <a:cs typeface="Tahoma"/>
              </a:rPr>
              <a:t>e</a:t>
            </a:r>
            <a:r>
              <a:rPr dirty="0" sz="4800" spc="-409" b="1">
                <a:latin typeface="Tahoma"/>
                <a:cs typeface="Tahoma"/>
              </a:rPr>
              <a:t>t</a:t>
            </a:r>
            <a:r>
              <a:rPr dirty="0" sz="4800" spc="75" b="1">
                <a:latin typeface="Tahoma"/>
                <a:cs typeface="Tahoma"/>
              </a:rPr>
              <a:t>w</a:t>
            </a:r>
            <a:r>
              <a:rPr dirty="0" sz="4800" spc="5" b="1">
                <a:latin typeface="Tahoma"/>
                <a:cs typeface="Tahoma"/>
              </a:rPr>
              <a:t>o</a:t>
            </a:r>
            <a:r>
              <a:rPr dirty="0" sz="4800" spc="-110" b="1">
                <a:latin typeface="Tahoma"/>
                <a:cs typeface="Tahoma"/>
              </a:rPr>
              <a:t>r</a:t>
            </a:r>
            <a:r>
              <a:rPr dirty="0" sz="4800" spc="65" b="1">
                <a:latin typeface="Tahoma"/>
                <a:cs typeface="Tahoma"/>
              </a:rPr>
              <a:t>k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48640" y="350520"/>
            <a:ext cx="5321808" cy="548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56</a:t>
            </a:fld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395020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3960495" cy="247015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 b="1">
                <a:solidFill>
                  <a:srgbClr val="0000FF"/>
                </a:solidFill>
                <a:latin typeface="Calibri"/>
                <a:cs typeface="Calibri"/>
              </a:rPr>
              <a:t>AGM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can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express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a 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variety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of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community  structures:</a:t>
            </a:r>
            <a:endParaRPr sz="3200">
              <a:latin typeface="Calibri"/>
              <a:cs typeface="Calibri"/>
            </a:endParaRPr>
          </a:p>
          <a:p>
            <a:pPr marL="332740" marR="245110">
              <a:lnSpc>
                <a:spcPts val="3910"/>
              </a:lnSpc>
              <a:spcBef>
                <a:spcPts val="20"/>
              </a:spcBef>
            </a:pPr>
            <a:r>
              <a:rPr dirty="0" sz="3200" spc="-5">
                <a:latin typeface="Calibri"/>
                <a:cs typeface="Calibri"/>
              </a:rPr>
              <a:t>Non-overlapping,  Overlapping,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Nested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32397" y="6712593"/>
            <a:ext cx="11430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35"/>
              </a:lnSpc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57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24475" y="1438275"/>
            <a:ext cx="3743325" cy="22955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4263754"/>
            <a:ext cx="3772052" cy="25180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324475" y="3945878"/>
            <a:ext cx="3743325" cy="289307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050624" y="33019"/>
            <a:ext cx="100330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0">
                <a:solidFill>
                  <a:srgbClr val="FFFFFF"/>
                </a:solidFill>
                <a:latin typeface="Arial"/>
                <a:cs typeface="Arial"/>
              </a:rPr>
              <a:t>[icdm</a:t>
            </a:r>
            <a:r>
              <a:rPr dirty="0" sz="1800" spc="-7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0">
                <a:solidFill>
                  <a:srgbClr val="FFFFFF"/>
                </a:solidFill>
                <a:latin typeface="Arial"/>
                <a:cs typeface="Arial"/>
              </a:rPr>
              <a:t>‘12]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4227" y="6694423"/>
            <a:ext cx="343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3/6/21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73615" y="6694423"/>
            <a:ext cx="30022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</a:t>
            </a:r>
            <a:r>
              <a:rPr dirty="0" sz="900" spc="4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Graphs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320040"/>
            <a:ext cx="6665976" cy="6431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16140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0000FF"/>
                </a:solidFill>
              </a:rPr>
              <a:t>Detecting </a:t>
            </a:r>
            <a:r>
              <a:rPr dirty="0" spc="-5">
                <a:solidFill>
                  <a:srgbClr val="0000FF"/>
                </a:solidFill>
              </a:rPr>
              <a:t>communities </a:t>
            </a:r>
            <a:r>
              <a:rPr dirty="0">
                <a:solidFill>
                  <a:srgbClr val="0000FF"/>
                </a:solidFill>
              </a:rPr>
              <a:t>with</a:t>
            </a:r>
            <a:r>
              <a:rPr dirty="0" spc="-60">
                <a:solidFill>
                  <a:srgbClr val="0000FF"/>
                </a:solidFill>
              </a:rPr>
              <a:t> </a:t>
            </a:r>
            <a:r>
              <a:rPr dirty="0" spc="-15">
                <a:solidFill>
                  <a:srgbClr val="0000FF"/>
                </a:solidFill>
              </a:rPr>
              <a:t>AGM: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58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9600" y="2487349"/>
            <a:ext cx="2805112" cy="1523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42944" y="2795016"/>
            <a:ext cx="1511808" cy="9540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810000" y="2861158"/>
            <a:ext cx="1371600" cy="769620"/>
          </a:xfrm>
          <a:custGeom>
            <a:avLst/>
            <a:gdLst/>
            <a:ahLst/>
            <a:cxnLst/>
            <a:rect l="l" t="t" r="r" b="b"/>
            <a:pathLst>
              <a:path w="1371600" h="769620">
                <a:moveTo>
                  <a:pt x="0" y="192298"/>
                </a:moveTo>
                <a:lnTo>
                  <a:pt x="987004" y="192298"/>
                </a:lnTo>
                <a:lnTo>
                  <a:pt x="987004" y="0"/>
                </a:lnTo>
                <a:lnTo>
                  <a:pt x="1371600" y="384595"/>
                </a:lnTo>
                <a:lnTo>
                  <a:pt x="987004" y="769191"/>
                </a:lnTo>
                <a:lnTo>
                  <a:pt x="987004" y="576894"/>
                </a:lnTo>
                <a:lnTo>
                  <a:pt x="0" y="576894"/>
                </a:lnTo>
                <a:lnTo>
                  <a:pt x="0" y="192298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379272" y="3038612"/>
            <a:ext cx="29845" cy="330200"/>
          </a:xfrm>
          <a:custGeom>
            <a:avLst/>
            <a:gdLst/>
            <a:ahLst/>
            <a:cxnLst/>
            <a:rect l="l" t="t" r="r" b="b"/>
            <a:pathLst>
              <a:path w="29845" h="330200">
                <a:moveTo>
                  <a:pt x="0" y="329829"/>
                </a:moveTo>
                <a:lnTo>
                  <a:pt x="2968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958998" y="3090401"/>
            <a:ext cx="510540" cy="434975"/>
          </a:xfrm>
          <a:custGeom>
            <a:avLst/>
            <a:gdLst/>
            <a:ahLst/>
            <a:cxnLst/>
            <a:rect l="l" t="t" r="r" b="b"/>
            <a:pathLst>
              <a:path w="510539" h="434975">
                <a:moveTo>
                  <a:pt x="0" y="0"/>
                </a:moveTo>
                <a:lnTo>
                  <a:pt x="510031" y="43490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557736" y="2793445"/>
            <a:ext cx="177165" cy="819150"/>
          </a:xfrm>
          <a:custGeom>
            <a:avLst/>
            <a:gdLst/>
            <a:ahLst/>
            <a:cxnLst/>
            <a:rect l="l" t="t" r="r" b="b"/>
            <a:pathLst>
              <a:path w="177165" h="819150">
                <a:moveTo>
                  <a:pt x="0" y="818542"/>
                </a:moveTo>
                <a:lnTo>
                  <a:pt x="17676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622878" y="2928832"/>
            <a:ext cx="786130" cy="306705"/>
          </a:xfrm>
          <a:custGeom>
            <a:avLst/>
            <a:gdLst/>
            <a:ahLst/>
            <a:cxnLst/>
            <a:rect l="l" t="t" r="r" b="b"/>
            <a:pathLst>
              <a:path w="786129" h="306705">
                <a:moveTo>
                  <a:pt x="0" y="306696"/>
                </a:moveTo>
                <a:lnTo>
                  <a:pt x="78607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622878" y="3239188"/>
            <a:ext cx="631190" cy="252095"/>
          </a:xfrm>
          <a:custGeom>
            <a:avLst/>
            <a:gdLst/>
            <a:ahLst/>
            <a:cxnLst/>
            <a:rect l="l" t="t" r="r" b="b"/>
            <a:pathLst>
              <a:path w="631190" h="252095">
                <a:moveTo>
                  <a:pt x="0" y="0"/>
                </a:moveTo>
                <a:lnTo>
                  <a:pt x="630945" y="25183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131682" y="3239044"/>
            <a:ext cx="365760" cy="635"/>
          </a:xfrm>
          <a:custGeom>
            <a:avLst/>
            <a:gdLst/>
            <a:ahLst/>
            <a:cxnLst/>
            <a:rect l="l" t="t" r="r" b="b"/>
            <a:pathLst>
              <a:path w="365759" h="635">
                <a:moveTo>
                  <a:pt x="0" y="144"/>
                </a:moveTo>
                <a:lnTo>
                  <a:pt x="36574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180491" y="3354727"/>
            <a:ext cx="553085" cy="438150"/>
          </a:xfrm>
          <a:custGeom>
            <a:avLst/>
            <a:gdLst/>
            <a:ahLst/>
            <a:cxnLst/>
            <a:rect l="l" t="t" r="r" b="b"/>
            <a:pathLst>
              <a:path w="553084" h="438150">
                <a:moveTo>
                  <a:pt x="0" y="0"/>
                </a:moveTo>
                <a:lnTo>
                  <a:pt x="552523" y="43779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734495" y="2762333"/>
            <a:ext cx="357505" cy="506095"/>
          </a:xfrm>
          <a:custGeom>
            <a:avLst/>
            <a:gdLst/>
            <a:ahLst/>
            <a:cxnLst/>
            <a:rect l="l" t="t" r="r" b="b"/>
            <a:pathLst>
              <a:path w="357504" h="506095">
                <a:moveTo>
                  <a:pt x="357290" y="50571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557736" y="3354727"/>
            <a:ext cx="445770" cy="266065"/>
          </a:xfrm>
          <a:custGeom>
            <a:avLst/>
            <a:gdLst/>
            <a:ahLst/>
            <a:cxnLst/>
            <a:rect l="l" t="t" r="r" b="b"/>
            <a:pathLst>
              <a:path w="445770" h="266064">
                <a:moveTo>
                  <a:pt x="0" y="265684"/>
                </a:moveTo>
                <a:lnTo>
                  <a:pt x="44534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432287" y="3489406"/>
            <a:ext cx="251460" cy="245745"/>
          </a:xfrm>
          <a:custGeom>
            <a:avLst/>
            <a:gdLst/>
            <a:ahLst/>
            <a:cxnLst/>
            <a:rect l="l" t="t" r="r" b="b"/>
            <a:pathLst>
              <a:path w="251459" h="245745">
                <a:moveTo>
                  <a:pt x="125448" y="0"/>
                </a:moveTo>
                <a:lnTo>
                  <a:pt x="76617" y="9633"/>
                </a:lnTo>
                <a:lnTo>
                  <a:pt x="36742" y="35903"/>
                </a:lnTo>
                <a:lnTo>
                  <a:pt x="9858" y="74867"/>
                </a:lnTo>
                <a:lnTo>
                  <a:pt x="0" y="122581"/>
                </a:lnTo>
                <a:lnTo>
                  <a:pt x="9858" y="170296"/>
                </a:lnTo>
                <a:lnTo>
                  <a:pt x="36742" y="209261"/>
                </a:lnTo>
                <a:lnTo>
                  <a:pt x="76617" y="235531"/>
                </a:lnTo>
                <a:lnTo>
                  <a:pt x="125448" y="245164"/>
                </a:lnTo>
                <a:lnTo>
                  <a:pt x="174278" y="235531"/>
                </a:lnTo>
                <a:lnTo>
                  <a:pt x="214153" y="209261"/>
                </a:lnTo>
                <a:lnTo>
                  <a:pt x="241037" y="170296"/>
                </a:lnTo>
                <a:lnTo>
                  <a:pt x="250896" y="122581"/>
                </a:lnTo>
                <a:lnTo>
                  <a:pt x="241037" y="74867"/>
                </a:lnTo>
                <a:lnTo>
                  <a:pt x="214153" y="35903"/>
                </a:lnTo>
                <a:lnTo>
                  <a:pt x="174278" y="9633"/>
                </a:lnTo>
                <a:lnTo>
                  <a:pt x="12544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432287" y="3489406"/>
            <a:ext cx="251460" cy="245745"/>
          </a:xfrm>
          <a:custGeom>
            <a:avLst/>
            <a:gdLst/>
            <a:ahLst/>
            <a:cxnLst/>
            <a:rect l="l" t="t" r="r" b="b"/>
            <a:pathLst>
              <a:path w="251459" h="245745">
                <a:moveTo>
                  <a:pt x="0" y="122582"/>
                </a:moveTo>
                <a:lnTo>
                  <a:pt x="9858" y="74867"/>
                </a:lnTo>
                <a:lnTo>
                  <a:pt x="36743" y="35903"/>
                </a:lnTo>
                <a:lnTo>
                  <a:pt x="76618" y="9633"/>
                </a:lnTo>
                <a:lnTo>
                  <a:pt x="125448" y="0"/>
                </a:lnTo>
                <a:lnTo>
                  <a:pt x="174278" y="9633"/>
                </a:lnTo>
                <a:lnTo>
                  <a:pt x="214153" y="35903"/>
                </a:lnTo>
                <a:lnTo>
                  <a:pt x="241038" y="74867"/>
                </a:lnTo>
                <a:lnTo>
                  <a:pt x="250897" y="122582"/>
                </a:lnTo>
                <a:lnTo>
                  <a:pt x="241038" y="170297"/>
                </a:lnTo>
                <a:lnTo>
                  <a:pt x="214153" y="209261"/>
                </a:lnTo>
                <a:lnTo>
                  <a:pt x="174278" y="235531"/>
                </a:lnTo>
                <a:lnTo>
                  <a:pt x="125448" y="245165"/>
                </a:lnTo>
                <a:lnTo>
                  <a:pt x="76618" y="235531"/>
                </a:lnTo>
                <a:lnTo>
                  <a:pt x="36743" y="209261"/>
                </a:lnTo>
                <a:lnTo>
                  <a:pt x="9858" y="170297"/>
                </a:lnTo>
                <a:lnTo>
                  <a:pt x="0" y="122582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744845" y="2881139"/>
            <a:ext cx="251460" cy="245745"/>
          </a:xfrm>
          <a:custGeom>
            <a:avLst/>
            <a:gdLst/>
            <a:ahLst/>
            <a:cxnLst/>
            <a:rect l="l" t="t" r="r" b="b"/>
            <a:pathLst>
              <a:path w="251460" h="245744">
                <a:moveTo>
                  <a:pt x="125448" y="0"/>
                </a:moveTo>
                <a:lnTo>
                  <a:pt x="76617" y="9633"/>
                </a:lnTo>
                <a:lnTo>
                  <a:pt x="36742" y="35903"/>
                </a:lnTo>
                <a:lnTo>
                  <a:pt x="9858" y="74867"/>
                </a:lnTo>
                <a:lnTo>
                  <a:pt x="0" y="122582"/>
                </a:lnTo>
                <a:lnTo>
                  <a:pt x="9858" y="170297"/>
                </a:lnTo>
                <a:lnTo>
                  <a:pt x="36742" y="209261"/>
                </a:lnTo>
                <a:lnTo>
                  <a:pt x="76617" y="235531"/>
                </a:lnTo>
                <a:lnTo>
                  <a:pt x="125448" y="245164"/>
                </a:lnTo>
                <a:lnTo>
                  <a:pt x="174278" y="235531"/>
                </a:lnTo>
                <a:lnTo>
                  <a:pt x="214153" y="209261"/>
                </a:lnTo>
                <a:lnTo>
                  <a:pt x="241037" y="170297"/>
                </a:lnTo>
                <a:lnTo>
                  <a:pt x="250896" y="122582"/>
                </a:lnTo>
                <a:lnTo>
                  <a:pt x="241037" y="74867"/>
                </a:lnTo>
                <a:lnTo>
                  <a:pt x="214153" y="35903"/>
                </a:lnTo>
                <a:lnTo>
                  <a:pt x="174278" y="9633"/>
                </a:lnTo>
                <a:lnTo>
                  <a:pt x="12544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744845" y="2881139"/>
            <a:ext cx="251460" cy="245745"/>
          </a:xfrm>
          <a:custGeom>
            <a:avLst/>
            <a:gdLst/>
            <a:ahLst/>
            <a:cxnLst/>
            <a:rect l="l" t="t" r="r" b="b"/>
            <a:pathLst>
              <a:path w="251460" h="245744">
                <a:moveTo>
                  <a:pt x="0" y="122582"/>
                </a:moveTo>
                <a:lnTo>
                  <a:pt x="9858" y="74867"/>
                </a:lnTo>
                <a:lnTo>
                  <a:pt x="36743" y="35903"/>
                </a:lnTo>
                <a:lnTo>
                  <a:pt x="76618" y="9633"/>
                </a:lnTo>
                <a:lnTo>
                  <a:pt x="125448" y="0"/>
                </a:lnTo>
                <a:lnTo>
                  <a:pt x="174278" y="9633"/>
                </a:lnTo>
                <a:lnTo>
                  <a:pt x="214153" y="35903"/>
                </a:lnTo>
                <a:lnTo>
                  <a:pt x="241038" y="74867"/>
                </a:lnTo>
                <a:lnTo>
                  <a:pt x="250897" y="122582"/>
                </a:lnTo>
                <a:lnTo>
                  <a:pt x="241038" y="170297"/>
                </a:lnTo>
                <a:lnTo>
                  <a:pt x="214153" y="209261"/>
                </a:lnTo>
                <a:lnTo>
                  <a:pt x="174278" y="235531"/>
                </a:lnTo>
                <a:lnTo>
                  <a:pt x="125448" y="245165"/>
                </a:lnTo>
                <a:lnTo>
                  <a:pt x="76618" y="235531"/>
                </a:lnTo>
                <a:lnTo>
                  <a:pt x="36743" y="209261"/>
                </a:lnTo>
                <a:lnTo>
                  <a:pt x="9858" y="170297"/>
                </a:lnTo>
                <a:lnTo>
                  <a:pt x="0" y="122582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609046" y="2639749"/>
            <a:ext cx="251460" cy="245745"/>
          </a:xfrm>
          <a:custGeom>
            <a:avLst/>
            <a:gdLst/>
            <a:ahLst/>
            <a:cxnLst/>
            <a:rect l="l" t="t" r="r" b="b"/>
            <a:pathLst>
              <a:path w="251459" h="245744">
                <a:moveTo>
                  <a:pt x="125449" y="0"/>
                </a:moveTo>
                <a:lnTo>
                  <a:pt x="76618" y="9633"/>
                </a:lnTo>
                <a:lnTo>
                  <a:pt x="36743" y="35903"/>
                </a:lnTo>
                <a:lnTo>
                  <a:pt x="9858" y="74867"/>
                </a:lnTo>
                <a:lnTo>
                  <a:pt x="0" y="122582"/>
                </a:lnTo>
                <a:lnTo>
                  <a:pt x="9858" y="170297"/>
                </a:lnTo>
                <a:lnTo>
                  <a:pt x="36743" y="209261"/>
                </a:lnTo>
                <a:lnTo>
                  <a:pt x="76618" y="235532"/>
                </a:lnTo>
                <a:lnTo>
                  <a:pt x="125449" y="245165"/>
                </a:lnTo>
                <a:lnTo>
                  <a:pt x="174279" y="235532"/>
                </a:lnTo>
                <a:lnTo>
                  <a:pt x="214154" y="209261"/>
                </a:lnTo>
                <a:lnTo>
                  <a:pt x="241039" y="170297"/>
                </a:lnTo>
                <a:lnTo>
                  <a:pt x="250897" y="122582"/>
                </a:lnTo>
                <a:lnTo>
                  <a:pt x="241039" y="74867"/>
                </a:lnTo>
                <a:lnTo>
                  <a:pt x="214154" y="35903"/>
                </a:lnTo>
                <a:lnTo>
                  <a:pt x="174279" y="9633"/>
                </a:lnTo>
                <a:lnTo>
                  <a:pt x="12544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609046" y="2639749"/>
            <a:ext cx="251460" cy="245745"/>
          </a:xfrm>
          <a:custGeom>
            <a:avLst/>
            <a:gdLst/>
            <a:ahLst/>
            <a:cxnLst/>
            <a:rect l="l" t="t" r="r" b="b"/>
            <a:pathLst>
              <a:path w="251459" h="245744">
                <a:moveTo>
                  <a:pt x="0" y="122582"/>
                </a:moveTo>
                <a:lnTo>
                  <a:pt x="9858" y="74867"/>
                </a:lnTo>
                <a:lnTo>
                  <a:pt x="36743" y="35903"/>
                </a:lnTo>
                <a:lnTo>
                  <a:pt x="76618" y="9633"/>
                </a:lnTo>
                <a:lnTo>
                  <a:pt x="125448" y="0"/>
                </a:lnTo>
                <a:lnTo>
                  <a:pt x="174278" y="9633"/>
                </a:lnTo>
                <a:lnTo>
                  <a:pt x="214153" y="35903"/>
                </a:lnTo>
                <a:lnTo>
                  <a:pt x="241038" y="74867"/>
                </a:lnTo>
                <a:lnTo>
                  <a:pt x="250897" y="122582"/>
                </a:lnTo>
                <a:lnTo>
                  <a:pt x="241038" y="170297"/>
                </a:lnTo>
                <a:lnTo>
                  <a:pt x="214153" y="209261"/>
                </a:lnTo>
                <a:lnTo>
                  <a:pt x="174278" y="235531"/>
                </a:lnTo>
                <a:lnTo>
                  <a:pt x="125448" y="245165"/>
                </a:lnTo>
                <a:lnTo>
                  <a:pt x="76618" y="235531"/>
                </a:lnTo>
                <a:lnTo>
                  <a:pt x="36743" y="209261"/>
                </a:lnTo>
                <a:lnTo>
                  <a:pt x="9858" y="170297"/>
                </a:lnTo>
                <a:lnTo>
                  <a:pt x="0" y="122582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966334" y="3145464"/>
            <a:ext cx="251460" cy="245745"/>
          </a:xfrm>
          <a:custGeom>
            <a:avLst/>
            <a:gdLst/>
            <a:ahLst/>
            <a:cxnLst/>
            <a:rect l="l" t="t" r="r" b="b"/>
            <a:pathLst>
              <a:path w="251459" h="245745">
                <a:moveTo>
                  <a:pt x="125448" y="0"/>
                </a:moveTo>
                <a:lnTo>
                  <a:pt x="76618" y="9633"/>
                </a:lnTo>
                <a:lnTo>
                  <a:pt x="36743" y="35903"/>
                </a:lnTo>
                <a:lnTo>
                  <a:pt x="9858" y="74867"/>
                </a:lnTo>
                <a:lnTo>
                  <a:pt x="0" y="122582"/>
                </a:lnTo>
                <a:lnTo>
                  <a:pt x="9858" y="170297"/>
                </a:lnTo>
                <a:lnTo>
                  <a:pt x="36743" y="209261"/>
                </a:lnTo>
                <a:lnTo>
                  <a:pt x="76618" y="235531"/>
                </a:lnTo>
                <a:lnTo>
                  <a:pt x="125448" y="245164"/>
                </a:lnTo>
                <a:lnTo>
                  <a:pt x="174278" y="235531"/>
                </a:lnTo>
                <a:lnTo>
                  <a:pt x="214154" y="209261"/>
                </a:lnTo>
                <a:lnTo>
                  <a:pt x="241038" y="170297"/>
                </a:lnTo>
                <a:lnTo>
                  <a:pt x="250897" y="122582"/>
                </a:lnTo>
                <a:lnTo>
                  <a:pt x="241038" y="74867"/>
                </a:lnTo>
                <a:lnTo>
                  <a:pt x="214154" y="35903"/>
                </a:lnTo>
                <a:lnTo>
                  <a:pt x="174278" y="9633"/>
                </a:lnTo>
                <a:lnTo>
                  <a:pt x="12544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966334" y="3145464"/>
            <a:ext cx="251460" cy="245745"/>
          </a:xfrm>
          <a:custGeom>
            <a:avLst/>
            <a:gdLst/>
            <a:ahLst/>
            <a:cxnLst/>
            <a:rect l="l" t="t" r="r" b="b"/>
            <a:pathLst>
              <a:path w="251459" h="245745">
                <a:moveTo>
                  <a:pt x="0" y="122582"/>
                </a:moveTo>
                <a:lnTo>
                  <a:pt x="9858" y="74867"/>
                </a:lnTo>
                <a:lnTo>
                  <a:pt x="36743" y="35903"/>
                </a:lnTo>
                <a:lnTo>
                  <a:pt x="76618" y="9633"/>
                </a:lnTo>
                <a:lnTo>
                  <a:pt x="125448" y="0"/>
                </a:lnTo>
                <a:lnTo>
                  <a:pt x="174278" y="9633"/>
                </a:lnTo>
                <a:lnTo>
                  <a:pt x="214153" y="35903"/>
                </a:lnTo>
                <a:lnTo>
                  <a:pt x="241038" y="74867"/>
                </a:lnTo>
                <a:lnTo>
                  <a:pt x="250897" y="122582"/>
                </a:lnTo>
                <a:lnTo>
                  <a:pt x="241038" y="170297"/>
                </a:lnTo>
                <a:lnTo>
                  <a:pt x="214153" y="209261"/>
                </a:lnTo>
                <a:lnTo>
                  <a:pt x="174278" y="235531"/>
                </a:lnTo>
                <a:lnTo>
                  <a:pt x="125448" y="245165"/>
                </a:lnTo>
                <a:lnTo>
                  <a:pt x="76618" y="235531"/>
                </a:lnTo>
                <a:lnTo>
                  <a:pt x="36743" y="209261"/>
                </a:lnTo>
                <a:lnTo>
                  <a:pt x="9858" y="170297"/>
                </a:lnTo>
                <a:lnTo>
                  <a:pt x="0" y="122582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497430" y="3116459"/>
            <a:ext cx="251460" cy="245745"/>
          </a:xfrm>
          <a:custGeom>
            <a:avLst/>
            <a:gdLst/>
            <a:ahLst/>
            <a:cxnLst/>
            <a:rect l="l" t="t" r="r" b="b"/>
            <a:pathLst>
              <a:path w="251459" h="245745">
                <a:moveTo>
                  <a:pt x="125448" y="0"/>
                </a:moveTo>
                <a:lnTo>
                  <a:pt x="76617" y="9633"/>
                </a:lnTo>
                <a:lnTo>
                  <a:pt x="36742" y="35904"/>
                </a:lnTo>
                <a:lnTo>
                  <a:pt x="9858" y="74868"/>
                </a:lnTo>
                <a:lnTo>
                  <a:pt x="0" y="122582"/>
                </a:lnTo>
                <a:lnTo>
                  <a:pt x="9858" y="170297"/>
                </a:lnTo>
                <a:lnTo>
                  <a:pt x="36742" y="209262"/>
                </a:lnTo>
                <a:lnTo>
                  <a:pt x="76617" y="235532"/>
                </a:lnTo>
                <a:lnTo>
                  <a:pt x="125448" y="245165"/>
                </a:lnTo>
                <a:lnTo>
                  <a:pt x="174278" y="235532"/>
                </a:lnTo>
                <a:lnTo>
                  <a:pt x="214154" y="209262"/>
                </a:lnTo>
                <a:lnTo>
                  <a:pt x="241038" y="170297"/>
                </a:lnTo>
                <a:lnTo>
                  <a:pt x="250897" y="122582"/>
                </a:lnTo>
                <a:lnTo>
                  <a:pt x="241038" y="74868"/>
                </a:lnTo>
                <a:lnTo>
                  <a:pt x="214154" y="35904"/>
                </a:lnTo>
                <a:lnTo>
                  <a:pt x="174278" y="9633"/>
                </a:lnTo>
                <a:lnTo>
                  <a:pt x="12544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497430" y="3116459"/>
            <a:ext cx="251460" cy="245745"/>
          </a:xfrm>
          <a:custGeom>
            <a:avLst/>
            <a:gdLst/>
            <a:ahLst/>
            <a:cxnLst/>
            <a:rect l="l" t="t" r="r" b="b"/>
            <a:pathLst>
              <a:path w="251459" h="245745">
                <a:moveTo>
                  <a:pt x="0" y="122582"/>
                </a:moveTo>
                <a:lnTo>
                  <a:pt x="9858" y="74867"/>
                </a:lnTo>
                <a:lnTo>
                  <a:pt x="36743" y="35903"/>
                </a:lnTo>
                <a:lnTo>
                  <a:pt x="76618" y="9633"/>
                </a:lnTo>
                <a:lnTo>
                  <a:pt x="125448" y="0"/>
                </a:lnTo>
                <a:lnTo>
                  <a:pt x="174278" y="9633"/>
                </a:lnTo>
                <a:lnTo>
                  <a:pt x="214153" y="35903"/>
                </a:lnTo>
                <a:lnTo>
                  <a:pt x="241038" y="74867"/>
                </a:lnTo>
                <a:lnTo>
                  <a:pt x="250897" y="122582"/>
                </a:lnTo>
                <a:lnTo>
                  <a:pt x="241038" y="170297"/>
                </a:lnTo>
                <a:lnTo>
                  <a:pt x="214153" y="209261"/>
                </a:lnTo>
                <a:lnTo>
                  <a:pt x="174278" y="235531"/>
                </a:lnTo>
                <a:lnTo>
                  <a:pt x="125448" y="245165"/>
                </a:lnTo>
                <a:lnTo>
                  <a:pt x="76618" y="235531"/>
                </a:lnTo>
                <a:lnTo>
                  <a:pt x="36743" y="209261"/>
                </a:lnTo>
                <a:lnTo>
                  <a:pt x="9858" y="170297"/>
                </a:lnTo>
                <a:lnTo>
                  <a:pt x="0" y="122582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696271" y="3756614"/>
            <a:ext cx="251460" cy="245745"/>
          </a:xfrm>
          <a:custGeom>
            <a:avLst/>
            <a:gdLst/>
            <a:ahLst/>
            <a:cxnLst/>
            <a:rect l="l" t="t" r="r" b="b"/>
            <a:pathLst>
              <a:path w="251459" h="245745">
                <a:moveTo>
                  <a:pt x="125448" y="0"/>
                </a:moveTo>
                <a:lnTo>
                  <a:pt x="76617" y="9633"/>
                </a:lnTo>
                <a:lnTo>
                  <a:pt x="36742" y="35904"/>
                </a:lnTo>
                <a:lnTo>
                  <a:pt x="9858" y="74868"/>
                </a:lnTo>
                <a:lnTo>
                  <a:pt x="0" y="122582"/>
                </a:lnTo>
                <a:lnTo>
                  <a:pt x="9858" y="170297"/>
                </a:lnTo>
                <a:lnTo>
                  <a:pt x="36742" y="209262"/>
                </a:lnTo>
                <a:lnTo>
                  <a:pt x="76617" y="235532"/>
                </a:lnTo>
                <a:lnTo>
                  <a:pt x="125448" y="245165"/>
                </a:lnTo>
                <a:lnTo>
                  <a:pt x="174278" y="235532"/>
                </a:lnTo>
                <a:lnTo>
                  <a:pt x="214153" y="209262"/>
                </a:lnTo>
                <a:lnTo>
                  <a:pt x="241037" y="170297"/>
                </a:lnTo>
                <a:lnTo>
                  <a:pt x="250896" y="122582"/>
                </a:lnTo>
                <a:lnTo>
                  <a:pt x="241037" y="74868"/>
                </a:lnTo>
                <a:lnTo>
                  <a:pt x="214153" y="35904"/>
                </a:lnTo>
                <a:lnTo>
                  <a:pt x="174278" y="9633"/>
                </a:lnTo>
                <a:lnTo>
                  <a:pt x="12544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696271" y="3756614"/>
            <a:ext cx="251460" cy="245745"/>
          </a:xfrm>
          <a:custGeom>
            <a:avLst/>
            <a:gdLst/>
            <a:ahLst/>
            <a:cxnLst/>
            <a:rect l="l" t="t" r="r" b="b"/>
            <a:pathLst>
              <a:path w="251459" h="245745">
                <a:moveTo>
                  <a:pt x="0" y="122582"/>
                </a:moveTo>
                <a:lnTo>
                  <a:pt x="9858" y="74867"/>
                </a:lnTo>
                <a:lnTo>
                  <a:pt x="36743" y="35903"/>
                </a:lnTo>
                <a:lnTo>
                  <a:pt x="76618" y="9633"/>
                </a:lnTo>
                <a:lnTo>
                  <a:pt x="125448" y="0"/>
                </a:lnTo>
                <a:lnTo>
                  <a:pt x="174278" y="9633"/>
                </a:lnTo>
                <a:lnTo>
                  <a:pt x="214153" y="35903"/>
                </a:lnTo>
                <a:lnTo>
                  <a:pt x="241038" y="74867"/>
                </a:lnTo>
                <a:lnTo>
                  <a:pt x="250897" y="122582"/>
                </a:lnTo>
                <a:lnTo>
                  <a:pt x="241038" y="170297"/>
                </a:lnTo>
                <a:lnTo>
                  <a:pt x="214153" y="209261"/>
                </a:lnTo>
                <a:lnTo>
                  <a:pt x="174278" y="235531"/>
                </a:lnTo>
                <a:lnTo>
                  <a:pt x="125448" y="245165"/>
                </a:lnTo>
                <a:lnTo>
                  <a:pt x="76618" y="235531"/>
                </a:lnTo>
                <a:lnTo>
                  <a:pt x="36743" y="209261"/>
                </a:lnTo>
                <a:lnTo>
                  <a:pt x="9858" y="170297"/>
                </a:lnTo>
                <a:lnTo>
                  <a:pt x="0" y="122582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283502" y="2793446"/>
            <a:ext cx="251460" cy="245745"/>
          </a:xfrm>
          <a:custGeom>
            <a:avLst/>
            <a:gdLst/>
            <a:ahLst/>
            <a:cxnLst/>
            <a:rect l="l" t="t" r="r" b="b"/>
            <a:pathLst>
              <a:path w="251459" h="245744">
                <a:moveTo>
                  <a:pt x="125449" y="0"/>
                </a:moveTo>
                <a:lnTo>
                  <a:pt x="76618" y="9633"/>
                </a:lnTo>
                <a:lnTo>
                  <a:pt x="36743" y="35903"/>
                </a:lnTo>
                <a:lnTo>
                  <a:pt x="9858" y="74867"/>
                </a:lnTo>
                <a:lnTo>
                  <a:pt x="0" y="122581"/>
                </a:lnTo>
                <a:lnTo>
                  <a:pt x="9858" y="170296"/>
                </a:lnTo>
                <a:lnTo>
                  <a:pt x="36743" y="209261"/>
                </a:lnTo>
                <a:lnTo>
                  <a:pt x="76618" y="235531"/>
                </a:lnTo>
                <a:lnTo>
                  <a:pt x="125449" y="245164"/>
                </a:lnTo>
                <a:lnTo>
                  <a:pt x="174279" y="235531"/>
                </a:lnTo>
                <a:lnTo>
                  <a:pt x="214154" y="209261"/>
                </a:lnTo>
                <a:lnTo>
                  <a:pt x="241039" y="170296"/>
                </a:lnTo>
                <a:lnTo>
                  <a:pt x="250897" y="122581"/>
                </a:lnTo>
                <a:lnTo>
                  <a:pt x="241039" y="74867"/>
                </a:lnTo>
                <a:lnTo>
                  <a:pt x="214154" y="35903"/>
                </a:lnTo>
                <a:lnTo>
                  <a:pt x="174279" y="9633"/>
                </a:lnTo>
                <a:lnTo>
                  <a:pt x="12544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283502" y="2793446"/>
            <a:ext cx="251460" cy="245745"/>
          </a:xfrm>
          <a:custGeom>
            <a:avLst/>
            <a:gdLst/>
            <a:ahLst/>
            <a:cxnLst/>
            <a:rect l="l" t="t" r="r" b="b"/>
            <a:pathLst>
              <a:path w="251459" h="245744">
                <a:moveTo>
                  <a:pt x="0" y="122582"/>
                </a:moveTo>
                <a:lnTo>
                  <a:pt x="9858" y="74867"/>
                </a:lnTo>
                <a:lnTo>
                  <a:pt x="36743" y="35903"/>
                </a:lnTo>
                <a:lnTo>
                  <a:pt x="76618" y="9633"/>
                </a:lnTo>
                <a:lnTo>
                  <a:pt x="125448" y="0"/>
                </a:lnTo>
                <a:lnTo>
                  <a:pt x="174278" y="9633"/>
                </a:lnTo>
                <a:lnTo>
                  <a:pt x="214153" y="35903"/>
                </a:lnTo>
                <a:lnTo>
                  <a:pt x="241038" y="74867"/>
                </a:lnTo>
                <a:lnTo>
                  <a:pt x="250897" y="122582"/>
                </a:lnTo>
                <a:lnTo>
                  <a:pt x="241038" y="170297"/>
                </a:lnTo>
                <a:lnTo>
                  <a:pt x="214153" y="209261"/>
                </a:lnTo>
                <a:lnTo>
                  <a:pt x="174278" y="235531"/>
                </a:lnTo>
                <a:lnTo>
                  <a:pt x="125448" y="245165"/>
                </a:lnTo>
                <a:lnTo>
                  <a:pt x="76618" y="235531"/>
                </a:lnTo>
                <a:lnTo>
                  <a:pt x="36743" y="209261"/>
                </a:lnTo>
                <a:lnTo>
                  <a:pt x="9858" y="170297"/>
                </a:lnTo>
                <a:lnTo>
                  <a:pt x="0" y="122582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253822" y="3368441"/>
            <a:ext cx="251460" cy="245745"/>
          </a:xfrm>
          <a:custGeom>
            <a:avLst/>
            <a:gdLst/>
            <a:ahLst/>
            <a:cxnLst/>
            <a:rect l="l" t="t" r="r" b="b"/>
            <a:pathLst>
              <a:path w="251459" h="245745">
                <a:moveTo>
                  <a:pt x="125449" y="0"/>
                </a:moveTo>
                <a:lnTo>
                  <a:pt x="76618" y="9633"/>
                </a:lnTo>
                <a:lnTo>
                  <a:pt x="36743" y="35904"/>
                </a:lnTo>
                <a:lnTo>
                  <a:pt x="9858" y="74868"/>
                </a:lnTo>
                <a:lnTo>
                  <a:pt x="0" y="122582"/>
                </a:lnTo>
                <a:lnTo>
                  <a:pt x="9858" y="170297"/>
                </a:lnTo>
                <a:lnTo>
                  <a:pt x="36743" y="209261"/>
                </a:lnTo>
                <a:lnTo>
                  <a:pt x="76618" y="235532"/>
                </a:lnTo>
                <a:lnTo>
                  <a:pt x="125449" y="245165"/>
                </a:lnTo>
                <a:lnTo>
                  <a:pt x="174279" y="235532"/>
                </a:lnTo>
                <a:lnTo>
                  <a:pt x="214154" y="209261"/>
                </a:lnTo>
                <a:lnTo>
                  <a:pt x="241038" y="170297"/>
                </a:lnTo>
                <a:lnTo>
                  <a:pt x="250897" y="122582"/>
                </a:lnTo>
                <a:lnTo>
                  <a:pt x="241038" y="74868"/>
                </a:lnTo>
                <a:lnTo>
                  <a:pt x="214154" y="35904"/>
                </a:lnTo>
                <a:lnTo>
                  <a:pt x="174279" y="9633"/>
                </a:lnTo>
                <a:lnTo>
                  <a:pt x="12544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253822" y="3368441"/>
            <a:ext cx="251460" cy="245745"/>
          </a:xfrm>
          <a:custGeom>
            <a:avLst/>
            <a:gdLst/>
            <a:ahLst/>
            <a:cxnLst/>
            <a:rect l="l" t="t" r="r" b="b"/>
            <a:pathLst>
              <a:path w="251459" h="245745">
                <a:moveTo>
                  <a:pt x="0" y="122582"/>
                </a:moveTo>
                <a:lnTo>
                  <a:pt x="9858" y="74867"/>
                </a:lnTo>
                <a:lnTo>
                  <a:pt x="36743" y="35903"/>
                </a:lnTo>
                <a:lnTo>
                  <a:pt x="76618" y="9633"/>
                </a:lnTo>
                <a:lnTo>
                  <a:pt x="125448" y="0"/>
                </a:lnTo>
                <a:lnTo>
                  <a:pt x="174278" y="9633"/>
                </a:lnTo>
                <a:lnTo>
                  <a:pt x="214153" y="35903"/>
                </a:lnTo>
                <a:lnTo>
                  <a:pt x="241038" y="74867"/>
                </a:lnTo>
                <a:lnTo>
                  <a:pt x="250897" y="122582"/>
                </a:lnTo>
                <a:lnTo>
                  <a:pt x="241038" y="170297"/>
                </a:lnTo>
                <a:lnTo>
                  <a:pt x="214153" y="209261"/>
                </a:lnTo>
                <a:lnTo>
                  <a:pt x="174278" y="235531"/>
                </a:lnTo>
                <a:lnTo>
                  <a:pt x="125448" y="245165"/>
                </a:lnTo>
                <a:lnTo>
                  <a:pt x="76618" y="235531"/>
                </a:lnTo>
                <a:lnTo>
                  <a:pt x="36743" y="209261"/>
                </a:lnTo>
                <a:lnTo>
                  <a:pt x="9858" y="170297"/>
                </a:lnTo>
                <a:lnTo>
                  <a:pt x="0" y="122582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736847" y="2801111"/>
            <a:ext cx="1511808" cy="9540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810000" y="2868349"/>
            <a:ext cx="1371600" cy="769620"/>
          </a:xfrm>
          <a:custGeom>
            <a:avLst/>
            <a:gdLst/>
            <a:ahLst/>
            <a:cxnLst/>
            <a:rect l="l" t="t" r="r" b="b"/>
            <a:pathLst>
              <a:path w="1371600" h="769620">
                <a:moveTo>
                  <a:pt x="1371600" y="576892"/>
                </a:moveTo>
                <a:lnTo>
                  <a:pt x="384595" y="576892"/>
                </a:lnTo>
                <a:lnTo>
                  <a:pt x="384595" y="769191"/>
                </a:lnTo>
                <a:lnTo>
                  <a:pt x="0" y="384595"/>
                </a:lnTo>
                <a:lnTo>
                  <a:pt x="384595" y="0"/>
                </a:lnTo>
                <a:lnTo>
                  <a:pt x="384595" y="192297"/>
                </a:lnTo>
                <a:lnTo>
                  <a:pt x="1371600" y="192297"/>
                </a:lnTo>
                <a:lnTo>
                  <a:pt x="1371600" y="576892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554227" y="6694423"/>
            <a:ext cx="343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3/6/21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43408" y="4216327"/>
            <a:ext cx="7442834" cy="2640965"/>
          </a:xfrm>
          <a:prstGeom prst="rect">
            <a:avLst/>
          </a:prstGeom>
        </p:spPr>
        <p:txBody>
          <a:bodyPr wrap="square" lIns="0" tIns="173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dirty="0" sz="4000" spc="-10" b="1">
                <a:solidFill>
                  <a:srgbClr val="8000FF"/>
                </a:solidFill>
                <a:latin typeface="Calibri"/>
                <a:cs typeface="Calibri"/>
              </a:rPr>
              <a:t>Given </a:t>
            </a:r>
            <a:r>
              <a:rPr dirty="0" sz="4000" b="1">
                <a:solidFill>
                  <a:srgbClr val="8000FF"/>
                </a:solidFill>
                <a:latin typeface="Calibri"/>
                <a:cs typeface="Calibri"/>
              </a:rPr>
              <a:t>a </a:t>
            </a:r>
            <a:r>
              <a:rPr dirty="0" sz="4000" spc="-15" b="1">
                <a:solidFill>
                  <a:srgbClr val="8000FF"/>
                </a:solidFill>
                <a:latin typeface="Calibri"/>
                <a:cs typeface="Calibri"/>
              </a:rPr>
              <a:t>Graph, </a:t>
            </a:r>
            <a:r>
              <a:rPr dirty="0" sz="4000" spc="-5" b="1">
                <a:solidFill>
                  <a:srgbClr val="8000FF"/>
                </a:solidFill>
                <a:latin typeface="Calibri"/>
                <a:cs typeface="Calibri"/>
              </a:rPr>
              <a:t>find the model</a:t>
            </a:r>
            <a:r>
              <a:rPr dirty="0" sz="4000" spc="-30" b="1">
                <a:solidFill>
                  <a:srgbClr val="8000FF"/>
                </a:solidFill>
                <a:latin typeface="Calibri"/>
                <a:cs typeface="Calibri"/>
              </a:rPr>
              <a:t> </a:t>
            </a:r>
            <a:r>
              <a:rPr dirty="0" sz="4000">
                <a:solidFill>
                  <a:srgbClr val="8000FF"/>
                </a:solidFill>
                <a:latin typeface="Cambria Math"/>
                <a:cs typeface="Cambria Math"/>
              </a:rPr>
              <a:t>𝑭</a:t>
            </a:r>
            <a:endParaRPr sz="4000">
              <a:latin typeface="Cambria Math"/>
              <a:cs typeface="Cambria Math"/>
            </a:endParaRPr>
          </a:p>
          <a:p>
            <a:pPr marL="3638550" indent="-423545">
              <a:lnSpc>
                <a:spcPct val="100000"/>
              </a:lnSpc>
              <a:spcBef>
                <a:spcPts val="885"/>
              </a:spcBef>
              <a:buFont typeface="Calibri"/>
              <a:buAutoNum type="arabicParenR"/>
              <a:tabLst>
                <a:tab pos="3638550" algn="l"/>
                <a:tab pos="3639185" algn="l"/>
              </a:tabLst>
            </a:pPr>
            <a:r>
              <a:rPr dirty="0" sz="2800" spc="-15">
                <a:latin typeface="Calibri"/>
                <a:cs typeface="Calibri"/>
              </a:rPr>
              <a:t>Affiliation graph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b="1" i="1">
                <a:latin typeface="Calibri"/>
                <a:cs typeface="Calibri"/>
              </a:rPr>
              <a:t>M</a:t>
            </a:r>
            <a:endParaRPr sz="2800">
              <a:latin typeface="Calibri"/>
              <a:cs typeface="Calibri"/>
            </a:endParaRPr>
          </a:p>
          <a:p>
            <a:pPr marL="3638550" indent="-423545">
              <a:lnSpc>
                <a:spcPts val="3325"/>
              </a:lnSpc>
              <a:spcBef>
                <a:spcPts val="45"/>
              </a:spcBef>
              <a:buFont typeface="Calibri"/>
              <a:buAutoNum type="arabicParenR"/>
              <a:tabLst>
                <a:tab pos="3638550" algn="l"/>
                <a:tab pos="3639185" algn="l"/>
              </a:tabLst>
            </a:pPr>
            <a:r>
              <a:rPr dirty="0" sz="2800" spc="-5">
                <a:latin typeface="Calibri"/>
                <a:cs typeface="Calibri"/>
              </a:rPr>
              <a:t>Number of </a:t>
            </a:r>
            <a:r>
              <a:rPr dirty="0" sz="2800" spc="-10">
                <a:latin typeface="Calibri"/>
                <a:cs typeface="Calibri"/>
              </a:rPr>
              <a:t>communities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C</a:t>
            </a:r>
            <a:endParaRPr sz="2800">
              <a:latin typeface="Calibri"/>
              <a:cs typeface="Calibri"/>
            </a:endParaRPr>
          </a:p>
          <a:p>
            <a:pPr marL="3638550" indent="-423545">
              <a:lnSpc>
                <a:spcPts val="3325"/>
              </a:lnSpc>
              <a:buFont typeface="Calibri"/>
              <a:buAutoNum type="arabicParenR"/>
              <a:tabLst>
                <a:tab pos="3638550" algn="l"/>
                <a:tab pos="3639185" algn="l"/>
              </a:tabLst>
            </a:pPr>
            <a:r>
              <a:rPr dirty="0" sz="2800" spc="-25">
                <a:latin typeface="Calibri"/>
                <a:cs typeface="Calibri"/>
              </a:rPr>
              <a:t>Parameters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5" b="1" i="1">
                <a:latin typeface="Calibri"/>
                <a:cs typeface="Calibri"/>
              </a:rPr>
              <a:t>p</a:t>
            </a:r>
            <a:r>
              <a:rPr dirty="0" baseline="-17543" sz="2850" spc="-7" b="1" i="1">
                <a:latin typeface="Calibri"/>
                <a:cs typeface="Calibri"/>
              </a:rPr>
              <a:t>c</a:t>
            </a:r>
            <a:endParaRPr baseline="-17543" sz="2850">
              <a:latin typeface="Calibri"/>
              <a:cs typeface="Calibri"/>
            </a:endParaRPr>
          </a:p>
          <a:p>
            <a:pPr marL="1542415">
              <a:lnSpc>
                <a:spcPct val="100000"/>
              </a:lnSpc>
              <a:spcBef>
                <a:spcPts val="25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</a:t>
            </a:r>
            <a:r>
              <a:rPr dirty="0" sz="900" spc="4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Graphs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322783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8192134" cy="1973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</a:pPr>
            <a:r>
              <a:rPr dirty="0" sz="3200" spc="-5" b="1">
                <a:solidFill>
                  <a:srgbClr val="FF0066"/>
                </a:solidFill>
                <a:latin typeface="Calibri"/>
                <a:cs typeface="Calibri"/>
              </a:rPr>
              <a:t>How </a:t>
            </a:r>
            <a:r>
              <a:rPr dirty="0" sz="3200" spc="-15" b="1">
                <a:solidFill>
                  <a:srgbClr val="FF0066"/>
                </a:solidFill>
                <a:latin typeface="Calibri"/>
                <a:cs typeface="Calibri"/>
              </a:rPr>
              <a:t>to estimate </a:t>
            </a:r>
            <a:r>
              <a:rPr dirty="0" sz="3200" spc="-5" b="1">
                <a:solidFill>
                  <a:srgbClr val="FF0066"/>
                </a:solidFill>
                <a:latin typeface="Calibri"/>
                <a:cs typeface="Calibri"/>
              </a:rPr>
              <a:t>model </a:t>
            </a:r>
            <a:r>
              <a:rPr dirty="0" sz="3200" spc="-25" b="1">
                <a:solidFill>
                  <a:srgbClr val="FF0066"/>
                </a:solidFill>
                <a:latin typeface="Calibri"/>
                <a:cs typeface="Calibri"/>
              </a:rPr>
              <a:t>parameters </a:t>
            </a:r>
            <a:r>
              <a:rPr dirty="0" sz="3200">
                <a:solidFill>
                  <a:srgbClr val="FF0066"/>
                </a:solidFill>
                <a:latin typeface="Cambria Math"/>
                <a:cs typeface="Cambria Math"/>
              </a:rPr>
              <a:t>𝑭 </a:t>
            </a:r>
            <a:r>
              <a:rPr dirty="0" sz="3200" spc="-10" b="1">
                <a:solidFill>
                  <a:srgbClr val="FF0066"/>
                </a:solidFill>
                <a:latin typeface="Calibri"/>
                <a:cs typeface="Calibri"/>
              </a:rPr>
              <a:t>given </a:t>
            </a:r>
            <a:r>
              <a:rPr dirty="0" sz="3200" b="1">
                <a:solidFill>
                  <a:srgbClr val="FF0066"/>
                </a:solidFill>
                <a:latin typeface="Calibri"/>
                <a:cs typeface="Calibri"/>
              </a:rPr>
              <a:t>a</a:t>
            </a:r>
            <a:r>
              <a:rPr dirty="0" sz="3200" spc="75" b="1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0066"/>
                </a:solidFill>
                <a:latin typeface="Cambria Math"/>
                <a:cs typeface="Cambria Math"/>
              </a:rPr>
              <a:t>𝑮</a:t>
            </a:r>
            <a:r>
              <a:rPr dirty="0" sz="3200" b="1">
                <a:solidFill>
                  <a:srgbClr val="FF0066"/>
                </a:solidFill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Maximum </a:t>
            </a:r>
            <a:r>
              <a:rPr dirty="0" sz="3200" spc="-15" b="1">
                <a:latin typeface="Calibri"/>
                <a:cs typeface="Calibri"/>
              </a:rPr>
              <a:t>likelihood</a:t>
            </a:r>
            <a:r>
              <a:rPr dirty="0" sz="3200" spc="-20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estimation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spcBef>
                <a:spcPts val="7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latin typeface="Calibri"/>
                <a:cs typeface="Calibri"/>
              </a:rPr>
              <a:t>Given </a:t>
            </a:r>
            <a:r>
              <a:rPr dirty="0" sz="3200" spc="-15">
                <a:latin typeface="Calibri"/>
                <a:cs typeface="Calibri"/>
              </a:rPr>
              <a:t>real graph </a:t>
            </a:r>
            <a:r>
              <a:rPr dirty="0" sz="3200">
                <a:latin typeface="Cambria Math"/>
                <a:cs typeface="Cambria Math"/>
              </a:rPr>
              <a:t>𝐺</a:t>
            </a:r>
            <a:endParaRPr sz="3200">
              <a:latin typeface="Cambria Math"/>
              <a:cs typeface="Cambria Math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alibri"/>
                <a:cs typeface="Calibri"/>
              </a:rPr>
              <a:t>Find </a:t>
            </a:r>
            <a:r>
              <a:rPr dirty="0" sz="3200" spc="-15">
                <a:latin typeface="Calibri"/>
                <a:cs typeface="Calibri"/>
              </a:rPr>
              <a:t>model/parameters </a:t>
            </a:r>
            <a:r>
              <a:rPr dirty="0" sz="3200">
                <a:latin typeface="Cambria Math"/>
                <a:cs typeface="Cambria Math"/>
              </a:rPr>
              <a:t>𝐹</a:t>
            </a:r>
            <a:r>
              <a:rPr dirty="0" sz="3200" spc="125">
                <a:latin typeface="Cambria Math"/>
                <a:cs typeface="Cambria Math"/>
              </a:rPr>
              <a:t> </a:t>
            </a:r>
            <a:r>
              <a:rPr dirty="0" sz="3200" spc="-5">
                <a:latin typeface="Calibri"/>
                <a:cs typeface="Calibri"/>
              </a:rPr>
              <a:t>which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4669173"/>
            <a:ext cx="8086090" cy="163893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40" b="1">
                <a:solidFill>
                  <a:srgbClr val="008000"/>
                </a:solidFill>
                <a:latin typeface="Calibri"/>
                <a:cs typeface="Calibri"/>
              </a:rPr>
              <a:t>To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solve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this </a:t>
            </a:r>
            <a:r>
              <a:rPr dirty="0" sz="3200" spc="-15" b="1">
                <a:solidFill>
                  <a:srgbClr val="008000"/>
                </a:solidFill>
                <a:latin typeface="Calibri"/>
                <a:cs typeface="Calibri"/>
              </a:rPr>
              <a:t>we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need</a:t>
            </a:r>
            <a:r>
              <a:rPr dirty="0" sz="3200" spc="110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to: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0">
                <a:latin typeface="Calibri"/>
                <a:cs typeface="Calibri"/>
              </a:rPr>
              <a:t>Efficiently </a:t>
            </a:r>
            <a:r>
              <a:rPr dirty="0" sz="2800" spc="-15">
                <a:latin typeface="Calibri"/>
                <a:cs typeface="Calibri"/>
              </a:rPr>
              <a:t>calculate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𝑷(𝑮|𝑭)</a:t>
            </a:r>
            <a:endParaRPr sz="2800">
              <a:latin typeface="Cambria Math"/>
              <a:cs typeface="Cambria Math"/>
            </a:endParaRPr>
          </a:p>
          <a:p>
            <a:pPr lvl="1" marL="625475" indent="-274320">
              <a:lnSpc>
                <a:spcPct val="100000"/>
              </a:lnSpc>
              <a:spcBef>
                <a:spcPts val="7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Then </a:t>
            </a:r>
            <a:r>
              <a:rPr dirty="0" sz="2800" spc="-15">
                <a:latin typeface="Calibri"/>
                <a:cs typeface="Calibri"/>
              </a:rPr>
              <a:t>maximize over </a:t>
            </a:r>
            <a:r>
              <a:rPr dirty="0" sz="2800">
                <a:latin typeface="Cambria Math"/>
                <a:cs typeface="Cambria Math"/>
              </a:rPr>
              <a:t>𝑭 </a:t>
            </a:r>
            <a:r>
              <a:rPr dirty="0" sz="2800">
                <a:latin typeface="Calibri"/>
                <a:cs typeface="Calibri"/>
              </a:rPr>
              <a:t>(e.g., </a:t>
            </a:r>
            <a:r>
              <a:rPr dirty="0" sz="2800" spc="-5">
                <a:latin typeface="Calibri"/>
                <a:cs typeface="Calibri"/>
              </a:rPr>
              <a:t>using </a:t>
            </a:r>
            <a:r>
              <a:rPr dirty="0" sz="2800" spc="-15">
                <a:latin typeface="Calibri"/>
                <a:cs typeface="Calibri"/>
              </a:rPr>
              <a:t>gradient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 spc="-70">
                <a:latin typeface="Calibri"/>
                <a:cs typeface="Calibri"/>
              </a:rPr>
              <a:t>descent)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4227" y="6694423"/>
            <a:ext cx="343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3/6/21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3615" y="6694423"/>
            <a:ext cx="48037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Social and Information Network Analysis,</a:t>
            </a:r>
            <a:r>
              <a:rPr dirty="0" sz="900" spc="10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59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17351" y="3360860"/>
            <a:ext cx="1373149" cy="137865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72000" y="3352800"/>
            <a:ext cx="1447800" cy="14478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54929" y="3234435"/>
            <a:ext cx="6456680" cy="1366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70785" algn="l"/>
                <a:tab pos="6108065" algn="l"/>
              </a:tabLst>
            </a:pPr>
            <a:r>
              <a:rPr dirty="0" sz="8800" spc="0">
                <a:latin typeface="Corbel"/>
                <a:cs typeface="Corbel"/>
              </a:rPr>
              <a:t>P</a:t>
            </a:r>
            <a:r>
              <a:rPr dirty="0" sz="8800">
                <a:latin typeface="Corbel"/>
                <a:cs typeface="Corbel"/>
              </a:rPr>
              <a:t>(	|	)</a:t>
            </a:r>
            <a:endParaRPr sz="8800">
              <a:latin typeface="Corbel"/>
              <a:cs typeface="Corbe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65141" y="3968706"/>
            <a:ext cx="1066800" cy="228600"/>
          </a:xfrm>
          <a:custGeom>
            <a:avLst/>
            <a:gdLst/>
            <a:ahLst/>
            <a:cxnLst/>
            <a:rect l="l" t="t" r="r" b="b"/>
            <a:pathLst>
              <a:path w="10668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1066800" y="171450"/>
                </a:lnTo>
                <a:lnTo>
                  <a:pt x="106680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031200" y="3910765"/>
            <a:ext cx="1125220" cy="344805"/>
          </a:xfrm>
          <a:custGeom>
            <a:avLst/>
            <a:gdLst/>
            <a:ahLst/>
            <a:cxnLst/>
            <a:rect l="l" t="t" r="r" b="b"/>
            <a:pathLst>
              <a:path w="1125220" h="344804">
                <a:moveTo>
                  <a:pt x="172239" y="0"/>
                </a:moveTo>
                <a:lnTo>
                  <a:pt x="0" y="172241"/>
                </a:lnTo>
                <a:lnTo>
                  <a:pt x="172239" y="344482"/>
                </a:lnTo>
                <a:lnTo>
                  <a:pt x="172239" y="274952"/>
                </a:lnTo>
                <a:lnTo>
                  <a:pt x="143440" y="274952"/>
                </a:lnTo>
                <a:lnTo>
                  <a:pt x="40728" y="172241"/>
                </a:lnTo>
                <a:lnTo>
                  <a:pt x="143440" y="69529"/>
                </a:lnTo>
                <a:lnTo>
                  <a:pt x="172239" y="69529"/>
                </a:lnTo>
                <a:lnTo>
                  <a:pt x="172239" y="0"/>
                </a:lnTo>
                <a:close/>
              </a:path>
              <a:path w="1125220" h="344804">
                <a:moveTo>
                  <a:pt x="172239" y="69529"/>
                </a:moveTo>
                <a:lnTo>
                  <a:pt x="143440" y="69529"/>
                </a:lnTo>
                <a:lnTo>
                  <a:pt x="143440" y="119890"/>
                </a:lnTo>
                <a:lnTo>
                  <a:pt x="1095941" y="119890"/>
                </a:lnTo>
                <a:lnTo>
                  <a:pt x="1095941" y="224590"/>
                </a:lnTo>
                <a:lnTo>
                  <a:pt x="143440" y="224590"/>
                </a:lnTo>
                <a:lnTo>
                  <a:pt x="143440" y="274952"/>
                </a:lnTo>
                <a:lnTo>
                  <a:pt x="172239" y="274952"/>
                </a:lnTo>
                <a:lnTo>
                  <a:pt x="172239" y="253390"/>
                </a:lnTo>
                <a:lnTo>
                  <a:pt x="1124741" y="253390"/>
                </a:lnTo>
                <a:lnTo>
                  <a:pt x="1124741" y="91090"/>
                </a:lnTo>
                <a:lnTo>
                  <a:pt x="172239" y="91090"/>
                </a:lnTo>
                <a:lnTo>
                  <a:pt x="172239" y="69529"/>
                </a:lnTo>
                <a:close/>
              </a:path>
              <a:path w="1125220" h="344804">
                <a:moveTo>
                  <a:pt x="133840" y="92706"/>
                </a:moveTo>
                <a:lnTo>
                  <a:pt x="54305" y="172241"/>
                </a:lnTo>
                <a:lnTo>
                  <a:pt x="133840" y="251776"/>
                </a:lnTo>
                <a:lnTo>
                  <a:pt x="133840" y="228600"/>
                </a:lnTo>
                <a:lnTo>
                  <a:pt x="124240" y="228600"/>
                </a:lnTo>
                <a:lnTo>
                  <a:pt x="67881" y="172241"/>
                </a:lnTo>
                <a:lnTo>
                  <a:pt x="124240" y="115882"/>
                </a:lnTo>
                <a:lnTo>
                  <a:pt x="133840" y="115882"/>
                </a:lnTo>
                <a:lnTo>
                  <a:pt x="133840" y="92706"/>
                </a:lnTo>
                <a:close/>
              </a:path>
              <a:path w="1125220" h="344804">
                <a:moveTo>
                  <a:pt x="133840" y="115882"/>
                </a:moveTo>
                <a:lnTo>
                  <a:pt x="124240" y="115882"/>
                </a:lnTo>
                <a:lnTo>
                  <a:pt x="124240" y="139090"/>
                </a:lnTo>
                <a:lnTo>
                  <a:pt x="1076741" y="139090"/>
                </a:lnTo>
                <a:lnTo>
                  <a:pt x="1076741" y="205390"/>
                </a:lnTo>
                <a:lnTo>
                  <a:pt x="124240" y="205390"/>
                </a:lnTo>
                <a:lnTo>
                  <a:pt x="124240" y="228600"/>
                </a:lnTo>
                <a:lnTo>
                  <a:pt x="133840" y="228600"/>
                </a:lnTo>
                <a:lnTo>
                  <a:pt x="133840" y="214990"/>
                </a:lnTo>
                <a:lnTo>
                  <a:pt x="1086341" y="214990"/>
                </a:lnTo>
                <a:lnTo>
                  <a:pt x="1086341" y="129490"/>
                </a:lnTo>
                <a:lnTo>
                  <a:pt x="133840" y="129490"/>
                </a:lnTo>
                <a:lnTo>
                  <a:pt x="133840" y="115882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143881" y="3684523"/>
            <a:ext cx="6248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Corbel"/>
                <a:cs typeface="Corbel"/>
              </a:rPr>
              <a:t>M</a:t>
            </a:r>
            <a:r>
              <a:rPr dirty="0" sz="1800">
                <a:latin typeface="Corbel"/>
                <a:cs typeface="Corbel"/>
              </a:rPr>
              <a:t>o</a:t>
            </a:r>
            <a:r>
              <a:rPr dirty="0" sz="1800" spc="-5">
                <a:latin typeface="Corbel"/>
                <a:cs typeface="Corbel"/>
              </a:rPr>
              <a:t>d</a:t>
            </a:r>
            <a:r>
              <a:rPr dirty="0" sz="1800" spc="0">
                <a:latin typeface="Corbel"/>
                <a:cs typeface="Corbel"/>
              </a:rPr>
              <a:t>e</a:t>
            </a:r>
            <a:r>
              <a:rPr dirty="0" sz="1800">
                <a:latin typeface="Corbel"/>
                <a:cs typeface="Corbel"/>
              </a:rPr>
              <a:t>l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3315" y="3887723"/>
            <a:ext cx="137731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">
                <a:latin typeface="Corbel"/>
                <a:cs typeface="Corbel"/>
              </a:rPr>
              <a:t>arg</a:t>
            </a:r>
            <a:r>
              <a:rPr dirty="0" sz="3200" spc="-95">
                <a:latin typeface="Corbel"/>
                <a:cs typeface="Corbel"/>
              </a:rPr>
              <a:t> </a:t>
            </a:r>
            <a:r>
              <a:rPr dirty="0" sz="3200" spc="-5">
                <a:latin typeface="Corbel"/>
                <a:cs typeface="Corbel"/>
              </a:rPr>
              <a:t>max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27181" y="3480308"/>
            <a:ext cx="588645" cy="1031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600">
                <a:solidFill>
                  <a:srgbClr val="008000"/>
                </a:solidFill>
                <a:latin typeface="Cambria Math"/>
                <a:cs typeface="Cambria Math"/>
              </a:rPr>
              <a:t>𝑮</a:t>
            </a:r>
            <a:endParaRPr sz="66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74420" y="3362451"/>
            <a:ext cx="708660" cy="1366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800">
                <a:latin typeface="Cambria Math"/>
                <a:cs typeface="Cambria Math"/>
              </a:rPr>
              <a:t>𝐹</a:t>
            </a:r>
            <a:endParaRPr sz="8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67930" y="4209795"/>
            <a:ext cx="24320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𝐹</a:t>
            </a:r>
            <a:endParaRPr sz="2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71856"/>
            <a:ext cx="6038088" cy="5608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5708" y="1272540"/>
            <a:ext cx="6563359" cy="100711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32740" marR="5080" indent="-320040">
              <a:lnSpc>
                <a:spcPct val="101200"/>
              </a:lnSpc>
              <a:spcBef>
                <a:spcPts val="5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3826510" algn="l"/>
              </a:tabLst>
            </a:pPr>
            <a:r>
              <a:rPr dirty="0" spc="-10" b="0">
                <a:solidFill>
                  <a:srgbClr val="0000FF"/>
                </a:solidFill>
                <a:latin typeface="Calibri"/>
                <a:cs typeface="Calibri"/>
              </a:rPr>
              <a:t>Given </a:t>
            </a:r>
            <a:r>
              <a:rPr dirty="0" b="0" i="1">
                <a:solidFill>
                  <a:srgbClr val="0000FF"/>
                </a:solidFill>
                <a:latin typeface="Times New Roman"/>
                <a:cs typeface="Times New Roman"/>
              </a:rPr>
              <a:t>G </a:t>
            </a:r>
            <a:r>
              <a:rPr dirty="0" b="0">
                <a:solidFill>
                  <a:srgbClr val="0000FF"/>
                </a:solidFill>
                <a:latin typeface="Calibri"/>
                <a:cs typeface="Calibri"/>
              </a:rPr>
              <a:t>and </a:t>
            </a:r>
            <a:r>
              <a:rPr dirty="0" b="0" i="1">
                <a:solidFill>
                  <a:srgbClr val="0000FF"/>
                </a:solidFill>
                <a:latin typeface="Times New Roman"/>
                <a:cs typeface="Times New Roman"/>
              </a:rPr>
              <a:t>F </a:t>
            </a:r>
            <a:r>
              <a:rPr dirty="0" spc="-15" b="0">
                <a:solidFill>
                  <a:srgbClr val="0000FF"/>
                </a:solidFill>
                <a:latin typeface="Calibri"/>
                <a:cs typeface="Calibri"/>
              </a:rPr>
              <a:t>we calculate</a:t>
            </a:r>
            <a:r>
              <a:rPr dirty="0" spc="-140" b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pc="-15" b="0">
                <a:solidFill>
                  <a:srgbClr val="0000FF"/>
                </a:solidFill>
                <a:latin typeface="Calibri"/>
                <a:cs typeface="Calibri"/>
              </a:rPr>
              <a:t>likelihood  </a:t>
            </a:r>
            <a:r>
              <a:rPr dirty="0" spc="-10" b="0">
                <a:solidFill>
                  <a:srgbClr val="0000FF"/>
                </a:solidFill>
                <a:latin typeface="Calibri"/>
                <a:cs typeface="Calibri"/>
              </a:rPr>
              <a:t>that </a:t>
            </a:r>
            <a:r>
              <a:rPr dirty="0" b="0" i="1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dirty="0" spc="-55" b="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pc="-20" b="0">
                <a:solidFill>
                  <a:srgbClr val="0000FF"/>
                </a:solidFill>
                <a:latin typeface="Calibri"/>
                <a:cs typeface="Calibri"/>
              </a:rPr>
              <a:t>generated</a:t>
            </a:r>
            <a:r>
              <a:rPr dirty="0" spc="0" b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b="0" i="1">
                <a:solidFill>
                  <a:srgbClr val="0000FF"/>
                </a:solidFill>
                <a:latin typeface="Times New Roman"/>
                <a:cs typeface="Times New Roman"/>
              </a:rPr>
              <a:t>G:	</a:t>
            </a:r>
            <a:r>
              <a:rPr dirty="0" spc="-5" i="1">
                <a:solidFill>
                  <a:srgbClr val="0000FF"/>
                </a:solidFill>
                <a:latin typeface="Times New Roman"/>
                <a:cs typeface="Times New Roman"/>
              </a:rPr>
              <a:t>P(G|F)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424112" y="2706687"/>
          <a:ext cx="3167380" cy="1857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1050"/>
                <a:gridCol w="781050"/>
                <a:gridCol w="781050"/>
                <a:gridCol w="781050"/>
              </a:tblGrid>
              <a:tr h="419100">
                <a:tc>
                  <a:txBody>
                    <a:bodyPr/>
                    <a:lstStyle/>
                    <a:p>
                      <a:pPr algn="r" marR="762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40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240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2400">
                          <a:latin typeface="Arial"/>
                          <a:cs typeface="Arial"/>
                        </a:rPr>
                        <a:t>25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1524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400" spc="-5">
                          <a:latin typeface="Arial"/>
                          <a:cs typeface="Arial"/>
                        </a:rPr>
                        <a:t>0.10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400" spc="-5">
                          <a:latin typeface="Arial"/>
                          <a:cs typeface="Arial"/>
                        </a:rPr>
                        <a:t>0.10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400" spc="-5">
                          <a:latin typeface="Arial"/>
                          <a:cs typeface="Arial"/>
                        </a:rPr>
                        <a:t>0.04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r" marR="7620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40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240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2400">
                          <a:latin typeface="Arial"/>
                          <a:cs typeface="Arial"/>
                        </a:rPr>
                        <a:t>05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400" spc="-5">
                          <a:latin typeface="Arial"/>
                          <a:cs typeface="Arial"/>
                        </a:rPr>
                        <a:t>0.15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400" spc="-5">
                          <a:latin typeface="Arial"/>
                          <a:cs typeface="Arial"/>
                        </a:rPr>
                        <a:t>0.02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400" spc="-5">
                          <a:latin typeface="Arial"/>
                          <a:cs typeface="Arial"/>
                        </a:rPr>
                        <a:t>0.06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r" marR="7620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40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240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2400">
                          <a:latin typeface="Arial"/>
                          <a:cs typeface="Arial"/>
                        </a:rPr>
                        <a:t>05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400" spc="-5">
                          <a:latin typeface="Arial"/>
                          <a:cs typeface="Arial"/>
                        </a:rPr>
                        <a:t>0.02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400" spc="-5">
                          <a:latin typeface="Arial"/>
                          <a:cs typeface="Arial"/>
                        </a:rPr>
                        <a:t>0.15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400" spc="-5">
                          <a:latin typeface="Arial"/>
                          <a:cs typeface="Arial"/>
                        </a:rPr>
                        <a:t>0.06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r" marR="7620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40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240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2400">
                          <a:latin typeface="Arial"/>
                          <a:cs typeface="Arial"/>
                        </a:rPr>
                        <a:t>01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400" spc="-5">
                          <a:latin typeface="Arial"/>
                          <a:cs typeface="Arial"/>
                        </a:rPr>
                        <a:t>0.03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400" spc="-5">
                          <a:latin typeface="Arial"/>
                          <a:cs typeface="Arial"/>
                        </a:rPr>
                        <a:t>0.03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400" spc="-5">
                          <a:latin typeface="Arial"/>
                          <a:cs typeface="Arial"/>
                        </a:rPr>
                        <a:t>0.09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1752600" y="3400425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495300" y="0"/>
                </a:moveTo>
                <a:lnTo>
                  <a:pt x="495300" y="114300"/>
                </a:lnTo>
                <a:lnTo>
                  <a:pt x="0" y="114300"/>
                </a:lnTo>
                <a:lnTo>
                  <a:pt x="0" y="342900"/>
                </a:lnTo>
                <a:lnTo>
                  <a:pt x="495300" y="342900"/>
                </a:lnTo>
                <a:lnTo>
                  <a:pt x="495300" y="457200"/>
                </a:lnTo>
                <a:lnTo>
                  <a:pt x="609600" y="228600"/>
                </a:lnTo>
                <a:lnTo>
                  <a:pt x="49530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52600" y="3400425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609600" y="228600"/>
                </a:moveTo>
                <a:lnTo>
                  <a:pt x="495300" y="457200"/>
                </a:lnTo>
                <a:lnTo>
                  <a:pt x="495300" y="342900"/>
                </a:lnTo>
                <a:lnTo>
                  <a:pt x="0" y="342900"/>
                </a:lnTo>
                <a:lnTo>
                  <a:pt x="0" y="114300"/>
                </a:lnTo>
                <a:lnTo>
                  <a:pt x="495300" y="114300"/>
                </a:lnTo>
                <a:lnTo>
                  <a:pt x="495300" y="0"/>
                </a:lnTo>
                <a:lnTo>
                  <a:pt x="609600" y="228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772400" y="1433512"/>
            <a:ext cx="457200" cy="228600"/>
          </a:xfrm>
          <a:custGeom>
            <a:avLst/>
            <a:gdLst/>
            <a:ahLst/>
            <a:cxnLst/>
            <a:rect l="l" t="t" r="r" b="b"/>
            <a:pathLst>
              <a:path w="457200" h="228600">
                <a:moveTo>
                  <a:pt x="0" y="0"/>
                </a:moveTo>
                <a:lnTo>
                  <a:pt x="457200" y="2286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229600" y="1690687"/>
            <a:ext cx="0" cy="457200"/>
          </a:xfrm>
          <a:custGeom>
            <a:avLst/>
            <a:gdLst/>
            <a:ahLst/>
            <a:cxnLst/>
            <a:rect l="l" t="t" r="r" b="b"/>
            <a:pathLst>
              <a:path w="0" h="457200">
                <a:moveTo>
                  <a:pt x="0" y="0"/>
                </a:moveTo>
                <a:lnTo>
                  <a:pt x="1" y="4572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96200" y="1690687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0" y="228600"/>
                </a:moveTo>
                <a:lnTo>
                  <a:pt x="5334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696200" y="1919287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0" y="0"/>
                </a:moveTo>
                <a:lnTo>
                  <a:pt x="533400" y="2286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696200" y="1371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539" y="5988"/>
                </a:lnTo>
                <a:lnTo>
                  <a:pt x="22318" y="22318"/>
                </a:lnTo>
                <a:lnTo>
                  <a:pt x="5988" y="46539"/>
                </a:lnTo>
                <a:lnTo>
                  <a:pt x="0" y="76200"/>
                </a:lnTo>
                <a:lnTo>
                  <a:pt x="5988" y="105860"/>
                </a:lnTo>
                <a:lnTo>
                  <a:pt x="22318" y="130081"/>
                </a:lnTo>
                <a:lnTo>
                  <a:pt x="46539" y="146411"/>
                </a:lnTo>
                <a:lnTo>
                  <a:pt x="76200" y="152400"/>
                </a:lnTo>
                <a:lnTo>
                  <a:pt x="105860" y="146411"/>
                </a:lnTo>
                <a:lnTo>
                  <a:pt x="130081" y="130081"/>
                </a:lnTo>
                <a:lnTo>
                  <a:pt x="146411" y="105860"/>
                </a:lnTo>
                <a:lnTo>
                  <a:pt x="152400" y="76200"/>
                </a:lnTo>
                <a:lnTo>
                  <a:pt x="146411" y="46539"/>
                </a:lnTo>
                <a:lnTo>
                  <a:pt x="130081" y="22318"/>
                </a:lnTo>
                <a:lnTo>
                  <a:pt x="105860" y="5988"/>
                </a:lnTo>
                <a:lnTo>
                  <a:pt x="7620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696200" y="1371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lnTo>
                  <a:pt x="5988" y="46539"/>
                </a:lnTo>
                <a:lnTo>
                  <a:pt x="22318" y="22318"/>
                </a:lnTo>
                <a:lnTo>
                  <a:pt x="46539" y="5988"/>
                </a:lnTo>
                <a:lnTo>
                  <a:pt x="76200" y="0"/>
                </a:lnTo>
                <a:lnTo>
                  <a:pt x="105860" y="5988"/>
                </a:lnTo>
                <a:lnTo>
                  <a:pt x="130081" y="22318"/>
                </a:lnTo>
                <a:lnTo>
                  <a:pt x="146411" y="46539"/>
                </a:lnTo>
                <a:lnTo>
                  <a:pt x="152400" y="76200"/>
                </a:lnTo>
                <a:lnTo>
                  <a:pt x="146411" y="105860"/>
                </a:lnTo>
                <a:lnTo>
                  <a:pt x="130081" y="130081"/>
                </a:lnTo>
                <a:lnTo>
                  <a:pt x="105860" y="146411"/>
                </a:lnTo>
                <a:lnTo>
                  <a:pt x="76200" y="152400"/>
                </a:lnTo>
                <a:lnTo>
                  <a:pt x="46539" y="146411"/>
                </a:lnTo>
                <a:lnTo>
                  <a:pt x="22318" y="130081"/>
                </a:lnTo>
                <a:lnTo>
                  <a:pt x="5988" y="105860"/>
                </a:lnTo>
                <a:lnTo>
                  <a:pt x="0" y="762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620000" y="184308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539" y="5988"/>
                </a:lnTo>
                <a:lnTo>
                  <a:pt x="22318" y="22318"/>
                </a:lnTo>
                <a:lnTo>
                  <a:pt x="5988" y="46539"/>
                </a:lnTo>
                <a:lnTo>
                  <a:pt x="0" y="76200"/>
                </a:lnTo>
                <a:lnTo>
                  <a:pt x="5988" y="105860"/>
                </a:lnTo>
                <a:lnTo>
                  <a:pt x="22318" y="130081"/>
                </a:lnTo>
                <a:lnTo>
                  <a:pt x="46539" y="146411"/>
                </a:lnTo>
                <a:lnTo>
                  <a:pt x="76200" y="152400"/>
                </a:lnTo>
                <a:lnTo>
                  <a:pt x="105860" y="146411"/>
                </a:lnTo>
                <a:lnTo>
                  <a:pt x="130081" y="130081"/>
                </a:lnTo>
                <a:lnTo>
                  <a:pt x="146411" y="105860"/>
                </a:lnTo>
                <a:lnTo>
                  <a:pt x="152400" y="76200"/>
                </a:lnTo>
                <a:lnTo>
                  <a:pt x="146411" y="46539"/>
                </a:lnTo>
                <a:lnTo>
                  <a:pt x="130081" y="22318"/>
                </a:lnTo>
                <a:lnTo>
                  <a:pt x="105860" y="5988"/>
                </a:lnTo>
                <a:lnTo>
                  <a:pt x="7620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620000" y="184308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lnTo>
                  <a:pt x="5988" y="46539"/>
                </a:lnTo>
                <a:lnTo>
                  <a:pt x="22318" y="22318"/>
                </a:lnTo>
                <a:lnTo>
                  <a:pt x="46539" y="5988"/>
                </a:lnTo>
                <a:lnTo>
                  <a:pt x="76200" y="0"/>
                </a:lnTo>
                <a:lnTo>
                  <a:pt x="105860" y="5988"/>
                </a:lnTo>
                <a:lnTo>
                  <a:pt x="130081" y="22318"/>
                </a:lnTo>
                <a:lnTo>
                  <a:pt x="146411" y="46539"/>
                </a:lnTo>
                <a:lnTo>
                  <a:pt x="152400" y="76200"/>
                </a:lnTo>
                <a:lnTo>
                  <a:pt x="146411" y="105860"/>
                </a:lnTo>
                <a:lnTo>
                  <a:pt x="130081" y="130081"/>
                </a:lnTo>
                <a:lnTo>
                  <a:pt x="105860" y="146411"/>
                </a:lnTo>
                <a:lnTo>
                  <a:pt x="76200" y="152400"/>
                </a:lnTo>
                <a:lnTo>
                  <a:pt x="46539" y="146411"/>
                </a:lnTo>
                <a:lnTo>
                  <a:pt x="22318" y="130081"/>
                </a:lnTo>
                <a:lnTo>
                  <a:pt x="5988" y="105860"/>
                </a:lnTo>
                <a:lnTo>
                  <a:pt x="0" y="762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153400" y="1600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539" y="5988"/>
                </a:lnTo>
                <a:lnTo>
                  <a:pt x="22318" y="22318"/>
                </a:lnTo>
                <a:lnTo>
                  <a:pt x="5988" y="46539"/>
                </a:lnTo>
                <a:lnTo>
                  <a:pt x="0" y="76200"/>
                </a:lnTo>
                <a:lnTo>
                  <a:pt x="5988" y="105860"/>
                </a:lnTo>
                <a:lnTo>
                  <a:pt x="22318" y="130081"/>
                </a:lnTo>
                <a:lnTo>
                  <a:pt x="46539" y="146411"/>
                </a:lnTo>
                <a:lnTo>
                  <a:pt x="76200" y="152400"/>
                </a:lnTo>
                <a:lnTo>
                  <a:pt x="105860" y="146411"/>
                </a:lnTo>
                <a:lnTo>
                  <a:pt x="130081" y="130081"/>
                </a:lnTo>
                <a:lnTo>
                  <a:pt x="146411" y="105860"/>
                </a:lnTo>
                <a:lnTo>
                  <a:pt x="152400" y="76200"/>
                </a:lnTo>
                <a:lnTo>
                  <a:pt x="146411" y="46539"/>
                </a:lnTo>
                <a:lnTo>
                  <a:pt x="130081" y="22318"/>
                </a:lnTo>
                <a:lnTo>
                  <a:pt x="105860" y="5988"/>
                </a:lnTo>
                <a:lnTo>
                  <a:pt x="7620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153400" y="1600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lnTo>
                  <a:pt x="5988" y="46539"/>
                </a:lnTo>
                <a:lnTo>
                  <a:pt x="22318" y="22318"/>
                </a:lnTo>
                <a:lnTo>
                  <a:pt x="46539" y="5988"/>
                </a:lnTo>
                <a:lnTo>
                  <a:pt x="76200" y="0"/>
                </a:lnTo>
                <a:lnTo>
                  <a:pt x="105860" y="5988"/>
                </a:lnTo>
                <a:lnTo>
                  <a:pt x="130081" y="22318"/>
                </a:lnTo>
                <a:lnTo>
                  <a:pt x="146411" y="46539"/>
                </a:lnTo>
                <a:lnTo>
                  <a:pt x="152400" y="76200"/>
                </a:lnTo>
                <a:lnTo>
                  <a:pt x="146411" y="105860"/>
                </a:lnTo>
                <a:lnTo>
                  <a:pt x="130081" y="130081"/>
                </a:lnTo>
                <a:lnTo>
                  <a:pt x="105860" y="146411"/>
                </a:lnTo>
                <a:lnTo>
                  <a:pt x="76200" y="152400"/>
                </a:lnTo>
                <a:lnTo>
                  <a:pt x="46539" y="146411"/>
                </a:lnTo>
                <a:lnTo>
                  <a:pt x="22318" y="130081"/>
                </a:lnTo>
                <a:lnTo>
                  <a:pt x="5988" y="105860"/>
                </a:lnTo>
                <a:lnTo>
                  <a:pt x="0" y="762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153400" y="207168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539" y="5988"/>
                </a:lnTo>
                <a:lnTo>
                  <a:pt x="22318" y="22318"/>
                </a:lnTo>
                <a:lnTo>
                  <a:pt x="5988" y="46539"/>
                </a:lnTo>
                <a:lnTo>
                  <a:pt x="0" y="76200"/>
                </a:lnTo>
                <a:lnTo>
                  <a:pt x="5988" y="105860"/>
                </a:lnTo>
                <a:lnTo>
                  <a:pt x="22318" y="130081"/>
                </a:lnTo>
                <a:lnTo>
                  <a:pt x="46539" y="146411"/>
                </a:lnTo>
                <a:lnTo>
                  <a:pt x="76200" y="152400"/>
                </a:lnTo>
                <a:lnTo>
                  <a:pt x="105860" y="146411"/>
                </a:lnTo>
                <a:lnTo>
                  <a:pt x="130081" y="130081"/>
                </a:lnTo>
                <a:lnTo>
                  <a:pt x="146411" y="105860"/>
                </a:lnTo>
                <a:lnTo>
                  <a:pt x="152400" y="76200"/>
                </a:lnTo>
                <a:lnTo>
                  <a:pt x="146411" y="46539"/>
                </a:lnTo>
                <a:lnTo>
                  <a:pt x="130081" y="22318"/>
                </a:lnTo>
                <a:lnTo>
                  <a:pt x="105860" y="5988"/>
                </a:lnTo>
                <a:lnTo>
                  <a:pt x="7620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153400" y="207168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lnTo>
                  <a:pt x="5988" y="46539"/>
                </a:lnTo>
                <a:lnTo>
                  <a:pt x="22318" y="22318"/>
                </a:lnTo>
                <a:lnTo>
                  <a:pt x="46539" y="5988"/>
                </a:lnTo>
                <a:lnTo>
                  <a:pt x="76200" y="0"/>
                </a:lnTo>
                <a:lnTo>
                  <a:pt x="105860" y="5988"/>
                </a:lnTo>
                <a:lnTo>
                  <a:pt x="130081" y="22318"/>
                </a:lnTo>
                <a:lnTo>
                  <a:pt x="146411" y="46539"/>
                </a:lnTo>
                <a:lnTo>
                  <a:pt x="152400" y="76200"/>
                </a:lnTo>
                <a:lnTo>
                  <a:pt x="146411" y="105860"/>
                </a:lnTo>
                <a:lnTo>
                  <a:pt x="130081" y="130081"/>
                </a:lnTo>
                <a:lnTo>
                  <a:pt x="105860" y="146411"/>
                </a:lnTo>
                <a:lnTo>
                  <a:pt x="76200" y="152400"/>
                </a:lnTo>
                <a:lnTo>
                  <a:pt x="46539" y="146411"/>
                </a:lnTo>
                <a:lnTo>
                  <a:pt x="22318" y="130081"/>
                </a:lnTo>
                <a:lnTo>
                  <a:pt x="5988" y="105860"/>
                </a:lnTo>
                <a:lnTo>
                  <a:pt x="0" y="762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696198" y="2300288"/>
            <a:ext cx="457200" cy="262255"/>
          </a:xfrm>
          <a:custGeom>
            <a:avLst/>
            <a:gdLst/>
            <a:ahLst/>
            <a:cxnLst/>
            <a:rect l="l" t="t" r="r" b="b"/>
            <a:pathLst>
              <a:path w="457200" h="262255">
                <a:moveTo>
                  <a:pt x="457200" y="196452"/>
                </a:moveTo>
                <a:lnTo>
                  <a:pt x="0" y="196452"/>
                </a:lnTo>
                <a:lnTo>
                  <a:pt x="228600" y="261936"/>
                </a:lnTo>
                <a:lnTo>
                  <a:pt x="457200" y="196452"/>
                </a:lnTo>
                <a:close/>
              </a:path>
              <a:path w="457200" h="262255">
                <a:moveTo>
                  <a:pt x="342900" y="0"/>
                </a:moveTo>
                <a:lnTo>
                  <a:pt x="114300" y="0"/>
                </a:lnTo>
                <a:lnTo>
                  <a:pt x="114300" y="196452"/>
                </a:lnTo>
                <a:lnTo>
                  <a:pt x="342900" y="196452"/>
                </a:lnTo>
                <a:lnTo>
                  <a:pt x="34290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696198" y="2300288"/>
            <a:ext cx="457200" cy="262255"/>
          </a:xfrm>
          <a:custGeom>
            <a:avLst/>
            <a:gdLst/>
            <a:ahLst/>
            <a:cxnLst/>
            <a:rect l="l" t="t" r="r" b="b"/>
            <a:pathLst>
              <a:path w="457200" h="262255">
                <a:moveTo>
                  <a:pt x="228600" y="261937"/>
                </a:moveTo>
                <a:lnTo>
                  <a:pt x="0" y="196452"/>
                </a:lnTo>
                <a:lnTo>
                  <a:pt x="114300" y="196452"/>
                </a:lnTo>
                <a:lnTo>
                  <a:pt x="114300" y="0"/>
                </a:lnTo>
                <a:lnTo>
                  <a:pt x="342900" y="0"/>
                </a:lnTo>
                <a:lnTo>
                  <a:pt x="342900" y="196452"/>
                </a:lnTo>
                <a:lnTo>
                  <a:pt x="457200" y="196452"/>
                </a:lnTo>
                <a:lnTo>
                  <a:pt x="228600" y="26193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6996112" y="2700337"/>
          <a:ext cx="1719580" cy="1743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9100"/>
                <a:gridCol w="419100"/>
                <a:gridCol w="419100"/>
                <a:gridCol w="419100"/>
              </a:tblGrid>
              <a:tr h="393700">
                <a:tc>
                  <a:txBody>
                    <a:bodyPr/>
                    <a:lstStyle/>
                    <a:p>
                      <a:pPr algn="r" marR="12128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dirty="0" sz="200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4605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dirty="0" sz="200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46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dirty="0" sz="200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46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dirty="0" sz="200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4605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r" marR="12128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200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200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200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200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r" marR="12128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200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200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200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200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r" marR="12128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00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2413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00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00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00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7816850" y="4592828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607254" y="4149878"/>
            <a:ext cx="528320" cy="546100"/>
          </a:xfrm>
          <a:custGeom>
            <a:avLst/>
            <a:gdLst/>
            <a:ahLst/>
            <a:cxnLst/>
            <a:rect l="l" t="t" r="r" b="b"/>
            <a:pathLst>
              <a:path w="528320" h="546100">
                <a:moveTo>
                  <a:pt x="184007" y="0"/>
                </a:moveTo>
                <a:lnTo>
                  <a:pt x="0" y="135643"/>
                </a:lnTo>
                <a:lnTo>
                  <a:pt x="252210" y="477781"/>
                </a:lnTo>
                <a:lnTo>
                  <a:pt x="160206" y="545603"/>
                </a:lnTo>
                <a:lnTo>
                  <a:pt x="428285" y="524008"/>
                </a:lnTo>
                <a:lnTo>
                  <a:pt x="501077" y="342137"/>
                </a:lnTo>
                <a:lnTo>
                  <a:pt x="436218" y="342137"/>
                </a:lnTo>
                <a:lnTo>
                  <a:pt x="184007" y="0"/>
                </a:lnTo>
                <a:close/>
              </a:path>
              <a:path w="528320" h="546100">
                <a:moveTo>
                  <a:pt x="528222" y="274317"/>
                </a:moveTo>
                <a:lnTo>
                  <a:pt x="436218" y="342137"/>
                </a:lnTo>
                <a:lnTo>
                  <a:pt x="501077" y="342137"/>
                </a:lnTo>
                <a:lnTo>
                  <a:pt x="528222" y="274317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607254" y="4149879"/>
            <a:ext cx="528320" cy="546100"/>
          </a:xfrm>
          <a:custGeom>
            <a:avLst/>
            <a:gdLst/>
            <a:ahLst/>
            <a:cxnLst/>
            <a:rect l="l" t="t" r="r" b="b"/>
            <a:pathLst>
              <a:path w="528320" h="546100">
                <a:moveTo>
                  <a:pt x="428285" y="524008"/>
                </a:moveTo>
                <a:lnTo>
                  <a:pt x="160206" y="545603"/>
                </a:lnTo>
                <a:lnTo>
                  <a:pt x="252210" y="477781"/>
                </a:lnTo>
                <a:lnTo>
                  <a:pt x="0" y="135643"/>
                </a:lnTo>
                <a:lnTo>
                  <a:pt x="184007" y="0"/>
                </a:lnTo>
                <a:lnTo>
                  <a:pt x="436218" y="342138"/>
                </a:lnTo>
                <a:lnTo>
                  <a:pt x="528222" y="274317"/>
                </a:lnTo>
                <a:lnTo>
                  <a:pt x="428285" y="52400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436662" y="4139535"/>
            <a:ext cx="514350" cy="544195"/>
          </a:xfrm>
          <a:custGeom>
            <a:avLst/>
            <a:gdLst/>
            <a:ahLst/>
            <a:cxnLst/>
            <a:rect l="l" t="t" r="r" b="b"/>
            <a:pathLst>
              <a:path w="514350" h="544195">
                <a:moveTo>
                  <a:pt x="0" y="303731"/>
                </a:moveTo>
                <a:lnTo>
                  <a:pt x="121664" y="543587"/>
                </a:lnTo>
                <a:lnTo>
                  <a:pt x="390602" y="541347"/>
                </a:lnTo>
                <a:lnTo>
                  <a:pt x="292952" y="481944"/>
                </a:lnTo>
                <a:lnTo>
                  <a:pt x="365227" y="363136"/>
                </a:lnTo>
                <a:lnTo>
                  <a:pt x="97651" y="363136"/>
                </a:lnTo>
                <a:lnTo>
                  <a:pt x="0" y="303731"/>
                </a:lnTo>
                <a:close/>
              </a:path>
              <a:path w="514350" h="544195">
                <a:moveTo>
                  <a:pt x="318559" y="0"/>
                </a:moveTo>
                <a:lnTo>
                  <a:pt x="97651" y="363136"/>
                </a:lnTo>
                <a:lnTo>
                  <a:pt x="365227" y="363136"/>
                </a:lnTo>
                <a:lnTo>
                  <a:pt x="513859" y="118807"/>
                </a:lnTo>
                <a:lnTo>
                  <a:pt x="31855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436663" y="4139536"/>
            <a:ext cx="514350" cy="544195"/>
          </a:xfrm>
          <a:custGeom>
            <a:avLst/>
            <a:gdLst/>
            <a:ahLst/>
            <a:cxnLst/>
            <a:rect l="l" t="t" r="r" b="b"/>
            <a:pathLst>
              <a:path w="514350" h="544195">
                <a:moveTo>
                  <a:pt x="121664" y="543587"/>
                </a:moveTo>
                <a:lnTo>
                  <a:pt x="0" y="303732"/>
                </a:lnTo>
                <a:lnTo>
                  <a:pt x="97650" y="363136"/>
                </a:lnTo>
                <a:lnTo>
                  <a:pt x="318558" y="0"/>
                </a:lnTo>
                <a:lnTo>
                  <a:pt x="513859" y="118807"/>
                </a:lnTo>
                <a:lnTo>
                  <a:pt x="292951" y="481944"/>
                </a:lnTo>
                <a:lnTo>
                  <a:pt x="390602" y="541348"/>
                </a:lnTo>
                <a:lnTo>
                  <a:pt x="121664" y="543587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657512" y="4753697"/>
            <a:ext cx="1350645" cy="584835"/>
          </a:xfrm>
          <a:prstGeom prst="rect">
            <a:avLst/>
          </a:prstGeom>
          <a:ln w="28575">
            <a:solidFill>
              <a:srgbClr val="CC0000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83185">
              <a:lnSpc>
                <a:spcPct val="100000"/>
              </a:lnSpc>
              <a:spcBef>
                <a:spcPts val="150"/>
              </a:spcBef>
            </a:pPr>
            <a:r>
              <a:rPr dirty="0" sz="3200" spc="-5" b="1" i="1">
                <a:latin typeface="Times New Roman"/>
                <a:cs typeface="Times New Roman"/>
              </a:rPr>
              <a:t>P</a:t>
            </a:r>
            <a:r>
              <a:rPr dirty="0" sz="3200" spc="-5" i="1">
                <a:latin typeface="Times New Roman"/>
                <a:cs typeface="Times New Roman"/>
              </a:rPr>
              <a:t>(G|F</a:t>
            </a:r>
            <a:r>
              <a:rPr dirty="0" sz="2800" spc="-5" i="1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460740" y="1685035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193244" y="18795"/>
            <a:ext cx="87249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solidFill>
                  <a:srgbClr val="FFFFFF"/>
                </a:solidFill>
                <a:latin typeface="Corbel"/>
                <a:cs typeface="Corbel"/>
              </a:rPr>
              <a:t>[ICML</a:t>
            </a:r>
            <a:r>
              <a:rPr dirty="0" sz="1600" spc="-5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spc="-5">
                <a:solidFill>
                  <a:srgbClr val="FFFFFF"/>
                </a:solidFill>
                <a:latin typeface="Corbel"/>
                <a:cs typeface="Corbel"/>
              </a:rPr>
              <a:t>‘07]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4227" y="6694423"/>
            <a:ext cx="343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3/6/21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467090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60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39459" y="6501891"/>
            <a:ext cx="6534150" cy="355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720"/>
              </a:lnSpc>
              <a:spcBef>
                <a:spcPts val="100"/>
              </a:spcBef>
              <a:tabLst>
                <a:tab pos="3302000" algn="l"/>
              </a:tabLst>
            </a:pPr>
            <a:r>
              <a:rPr dirty="0" baseline="1736" sz="2400" spc="-15">
                <a:solidFill>
                  <a:srgbClr val="008000"/>
                </a:solidFill>
                <a:latin typeface="Arial"/>
                <a:cs typeface="Arial"/>
              </a:rPr>
              <a:t>Likelihood </a:t>
            </a:r>
            <a:r>
              <a:rPr dirty="0" baseline="1736" sz="2400" spc="-7">
                <a:solidFill>
                  <a:srgbClr val="008000"/>
                </a:solidFill>
                <a:latin typeface="Arial"/>
                <a:cs typeface="Arial"/>
              </a:rPr>
              <a:t>of edges in</a:t>
            </a:r>
            <a:r>
              <a:rPr dirty="0" baseline="1736" sz="2400" spc="112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baseline="1736" sz="2400" spc="-7">
                <a:solidFill>
                  <a:srgbClr val="008000"/>
                </a:solidFill>
                <a:latin typeface="Arial"/>
                <a:cs typeface="Arial"/>
              </a:rPr>
              <a:t>the</a:t>
            </a:r>
            <a:r>
              <a:rPr dirty="0" baseline="1736" sz="2400" spc="7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baseline="1736" sz="2400" spc="-7">
                <a:solidFill>
                  <a:srgbClr val="008000"/>
                </a:solidFill>
                <a:latin typeface="Arial"/>
                <a:cs typeface="Arial"/>
              </a:rPr>
              <a:t>graph	</a:t>
            </a:r>
            <a:r>
              <a:rPr dirty="0" sz="1600" spc="-10">
                <a:solidFill>
                  <a:srgbClr val="008000"/>
                </a:solidFill>
                <a:latin typeface="Arial"/>
                <a:cs typeface="Arial"/>
              </a:rPr>
              <a:t>Likelihood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of edges not in the</a:t>
            </a:r>
            <a:r>
              <a:rPr dirty="0" sz="1600" spc="3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graph</a:t>
            </a:r>
            <a:endParaRPr sz="1600">
              <a:latin typeface="Arial"/>
              <a:cs typeface="Arial"/>
            </a:endParaRPr>
          </a:p>
          <a:p>
            <a:pPr marL="587375">
              <a:lnSpc>
                <a:spcPts val="880"/>
              </a:lnSpc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Social and Information Network Analysis,</a:t>
            </a:r>
            <a:r>
              <a:rPr dirty="0" sz="900" spc="10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15002" y="2856483"/>
            <a:ext cx="708660" cy="1366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800">
                <a:latin typeface="Cambria Math"/>
                <a:cs typeface="Cambria Math"/>
              </a:rPr>
              <a:t>𝐹</a:t>
            </a:r>
            <a:endParaRPr sz="88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67738" y="4714747"/>
            <a:ext cx="33940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5">
                <a:solidFill>
                  <a:srgbClr val="008000"/>
                </a:solidFill>
                <a:latin typeface="Cambria Math"/>
                <a:cs typeface="Cambria Math"/>
              </a:rPr>
              <a:t>𝑃(𝑢, </a:t>
            </a:r>
            <a:r>
              <a:rPr dirty="0" sz="1800" spc="5">
                <a:solidFill>
                  <a:srgbClr val="008000"/>
                </a:solidFill>
                <a:latin typeface="Cambria Math"/>
                <a:cs typeface="Cambria Math"/>
              </a:rPr>
              <a:t>𝑣)</a:t>
            </a:r>
            <a:r>
              <a:rPr dirty="0" sz="1800" spc="5">
                <a:solidFill>
                  <a:srgbClr val="008000"/>
                </a:solidFill>
                <a:latin typeface="Arial"/>
                <a:cs typeface="Arial"/>
              </a:rPr>
              <a:t>: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Edge prob. of edge </a:t>
            </a:r>
            <a:r>
              <a:rPr dirty="0" sz="1800" spc="10">
                <a:solidFill>
                  <a:srgbClr val="008000"/>
                </a:solidFill>
                <a:latin typeface="Cambria Math"/>
                <a:cs typeface="Cambria Math"/>
              </a:rPr>
              <a:t>(𝑢,</a:t>
            </a:r>
            <a:r>
              <a:rPr dirty="0" sz="1800" spc="-26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1800" spc="15">
                <a:solidFill>
                  <a:srgbClr val="008000"/>
                </a:solidFill>
                <a:latin typeface="Cambria Math"/>
                <a:cs typeface="Cambria Math"/>
              </a:rPr>
              <a:t>𝑣)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984754" y="4442019"/>
            <a:ext cx="554355" cy="287020"/>
          </a:xfrm>
          <a:custGeom>
            <a:avLst/>
            <a:gdLst/>
            <a:ahLst/>
            <a:cxnLst/>
            <a:rect l="l" t="t" r="r" b="b"/>
            <a:pathLst>
              <a:path w="554355" h="287020">
                <a:moveTo>
                  <a:pt x="470852" y="25762"/>
                </a:moveTo>
                <a:lnTo>
                  <a:pt x="2839" y="261214"/>
                </a:lnTo>
                <a:lnTo>
                  <a:pt x="0" y="269803"/>
                </a:lnTo>
                <a:lnTo>
                  <a:pt x="7091" y="283902"/>
                </a:lnTo>
                <a:lnTo>
                  <a:pt x="15681" y="286740"/>
                </a:lnTo>
                <a:lnTo>
                  <a:pt x="483694" y="51289"/>
                </a:lnTo>
                <a:lnTo>
                  <a:pt x="470852" y="25762"/>
                </a:lnTo>
                <a:close/>
              </a:path>
              <a:path w="554355" h="287020">
                <a:moveTo>
                  <a:pt x="542067" y="15794"/>
                </a:moveTo>
                <a:lnTo>
                  <a:pt x="490664" y="15794"/>
                </a:lnTo>
                <a:lnTo>
                  <a:pt x="499253" y="18634"/>
                </a:lnTo>
                <a:lnTo>
                  <a:pt x="506346" y="32732"/>
                </a:lnTo>
                <a:lnTo>
                  <a:pt x="503506" y="41321"/>
                </a:lnTo>
                <a:lnTo>
                  <a:pt x="483694" y="51289"/>
                </a:lnTo>
                <a:lnTo>
                  <a:pt x="496536" y="76815"/>
                </a:lnTo>
                <a:lnTo>
                  <a:pt x="542067" y="15794"/>
                </a:lnTo>
                <a:close/>
              </a:path>
              <a:path w="554355" h="287020">
                <a:moveTo>
                  <a:pt x="490664" y="15794"/>
                </a:moveTo>
                <a:lnTo>
                  <a:pt x="470852" y="25762"/>
                </a:lnTo>
                <a:lnTo>
                  <a:pt x="483694" y="51289"/>
                </a:lnTo>
                <a:lnTo>
                  <a:pt x="503506" y="41321"/>
                </a:lnTo>
                <a:lnTo>
                  <a:pt x="506346" y="32732"/>
                </a:lnTo>
                <a:lnTo>
                  <a:pt x="499253" y="18634"/>
                </a:lnTo>
                <a:lnTo>
                  <a:pt x="490664" y="15794"/>
                </a:lnTo>
                <a:close/>
              </a:path>
              <a:path w="554355" h="287020">
                <a:moveTo>
                  <a:pt x="553853" y="0"/>
                </a:moveTo>
                <a:lnTo>
                  <a:pt x="458010" y="236"/>
                </a:lnTo>
                <a:lnTo>
                  <a:pt x="470852" y="25762"/>
                </a:lnTo>
                <a:lnTo>
                  <a:pt x="490664" y="15794"/>
                </a:lnTo>
                <a:lnTo>
                  <a:pt x="542067" y="15794"/>
                </a:lnTo>
                <a:lnTo>
                  <a:pt x="553853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441081" y="5697653"/>
            <a:ext cx="816610" cy="329565"/>
          </a:xfrm>
          <a:custGeom>
            <a:avLst/>
            <a:gdLst/>
            <a:ahLst/>
            <a:cxnLst/>
            <a:rect l="l" t="t" r="r" b="b"/>
            <a:pathLst>
              <a:path w="816610" h="329564">
                <a:moveTo>
                  <a:pt x="425405" y="3129"/>
                </a:moveTo>
                <a:lnTo>
                  <a:pt x="398665" y="3129"/>
                </a:lnTo>
                <a:lnTo>
                  <a:pt x="398665" y="326259"/>
                </a:lnTo>
                <a:lnTo>
                  <a:pt x="425405" y="326259"/>
                </a:lnTo>
                <a:lnTo>
                  <a:pt x="425405" y="3129"/>
                </a:lnTo>
                <a:close/>
              </a:path>
              <a:path w="816610" h="329564">
                <a:moveTo>
                  <a:pt x="710980" y="0"/>
                </a:moveTo>
                <a:lnTo>
                  <a:pt x="706292" y="13369"/>
                </a:lnTo>
                <a:lnTo>
                  <a:pt x="725359" y="21644"/>
                </a:lnTo>
                <a:lnTo>
                  <a:pt x="741756" y="33098"/>
                </a:lnTo>
                <a:lnTo>
                  <a:pt x="766542" y="65546"/>
                </a:lnTo>
                <a:lnTo>
                  <a:pt x="781128" y="109323"/>
                </a:lnTo>
                <a:lnTo>
                  <a:pt x="785990" y="163041"/>
                </a:lnTo>
                <a:lnTo>
                  <a:pt x="784769" y="192092"/>
                </a:lnTo>
                <a:lnTo>
                  <a:pt x="775002" y="242185"/>
                </a:lnTo>
                <a:lnTo>
                  <a:pt x="755403" y="281306"/>
                </a:lnTo>
                <a:lnTo>
                  <a:pt x="725581" y="307699"/>
                </a:lnTo>
                <a:lnTo>
                  <a:pt x="706813" y="316011"/>
                </a:lnTo>
                <a:lnTo>
                  <a:pt x="710980" y="329381"/>
                </a:lnTo>
                <a:lnTo>
                  <a:pt x="755907" y="308306"/>
                </a:lnTo>
                <a:lnTo>
                  <a:pt x="788941" y="271822"/>
                </a:lnTo>
                <a:lnTo>
                  <a:pt x="809256" y="222966"/>
                </a:lnTo>
                <a:lnTo>
                  <a:pt x="816028" y="164777"/>
                </a:lnTo>
                <a:lnTo>
                  <a:pt x="814330" y="134581"/>
                </a:lnTo>
                <a:lnTo>
                  <a:pt x="800743" y="81059"/>
                </a:lnTo>
                <a:lnTo>
                  <a:pt x="773797" y="37488"/>
                </a:lnTo>
                <a:lnTo>
                  <a:pt x="734860" y="8621"/>
                </a:lnTo>
                <a:lnTo>
                  <a:pt x="710980" y="0"/>
                </a:lnTo>
                <a:close/>
              </a:path>
              <a:path w="816610" h="329564">
                <a:moveTo>
                  <a:pt x="105048" y="0"/>
                </a:moveTo>
                <a:lnTo>
                  <a:pt x="60228" y="21118"/>
                </a:lnTo>
                <a:lnTo>
                  <a:pt x="27172" y="57732"/>
                </a:lnTo>
                <a:lnTo>
                  <a:pt x="6793" y="106675"/>
                </a:lnTo>
                <a:lnTo>
                  <a:pt x="0" y="164777"/>
                </a:lnTo>
                <a:lnTo>
                  <a:pt x="1692" y="195038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70"/>
                </a:lnTo>
                <a:lnTo>
                  <a:pt x="105048" y="329381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39"/>
                </a:lnTo>
                <a:lnTo>
                  <a:pt x="41025" y="86192"/>
                </a:lnTo>
                <a:lnTo>
                  <a:pt x="60657" y="47732"/>
                </a:lnTo>
                <a:lnTo>
                  <a:pt x="90739" y="21644"/>
                </a:lnTo>
                <a:lnTo>
                  <a:pt x="109735" y="13369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167765" y="5596635"/>
            <a:ext cx="149796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9255" algn="l"/>
                <a:tab pos="741045" algn="l"/>
                <a:tab pos="1219200" algn="l"/>
              </a:tabLst>
            </a:pPr>
            <a:r>
              <a:rPr dirty="0" sz="2800">
                <a:latin typeface="Cambria Math"/>
                <a:cs typeface="Cambria Math"/>
              </a:rPr>
              <a:t>𝑃	𝐺	𝐹	=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773398" y="6228824"/>
            <a:ext cx="548005" cy="235585"/>
          </a:xfrm>
          <a:custGeom>
            <a:avLst/>
            <a:gdLst/>
            <a:ahLst/>
            <a:cxnLst/>
            <a:rect l="l" t="t" r="r" b="b"/>
            <a:pathLst>
              <a:path w="548004" h="235585">
                <a:moveTo>
                  <a:pt x="472846" y="0"/>
                </a:moveTo>
                <a:lnTo>
                  <a:pt x="469497" y="9549"/>
                </a:lnTo>
                <a:lnTo>
                  <a:pt x="483117" y="15460"/>
                </a:lnTo>
                <a:lnTo>
                  <a:pt x="494829" y="23641"/>
                </a:lnTo>
                <a:lnTo>
                  <a:pt x="518611" y="61565"/>
                </a:lnTo>
                <a:lnTo>
                  <a:pt x="526423" y="116457"/>
                </a:lnTo>
                <a:lnTo>
                  <a:pt x="525551" y="137208"/>
                </a:lnTo>
                <a:lnTo>
                  <a:pt x="512471" y="188019"/>
                </a:lnTo>
                <a:lnTo>
                  <a:pt x="483275" y="219785"/>
                </a:lnTo>
                <a:lnTo>
                  <a:pt x="469869" y="225722"/>
                </a:lnTo>
                <a:lnTo>
                  <a:pt x="472846" y="235272"/>
                </a:lnTo>
                <a:lnTo>
                  <a:pt x="517796" y="208564"/>
                </a:lnTo>
                <a:lnTo>
                  <a:pt x="543043" y="159261"/>
                </a:lnTo>
                <a:lnTo>
                  <a:pt x="547880" y="117698"/>
                </a:lnTo>
                <a:lnTo>
                  <a:pt x="546667" y="96129"/>
                </a:lnTo>
                <a:lnTo>
                  <a:pt x="536962" y="57899"/>
                </a:lnTo>
                <a:lnTo>
                  <a:pt x="504859" y="15084"/>
                </a:lnTo>
                <a:lnTo>
                  <a:pt x="489903" y="6158"/>
                </a:lnTo>
                <a:lnTo>
                  <a:pt x="472846" y="0"/>
                </a:lnTo>
                <a:close/>
              </a:path>
              <a:path w="548004" h="235585">
                <a:moveTo>
                  <a:pt x="75034" y="0"/>
                </a:moveTo>
                <a:lnTo>
                  <a:pt x="30165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3" y="177543"/>
                </a:lnTo>
                <a:lnTo>
                  <a:pt x="42943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5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4" y="15460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2846133" y="5415991"/>
            <a:ext cx="1990089" cy="1066800"/>
          </a:xfrm>
          <a:prstGeom prst="rect">
            <a:avLst/>
          </a:prstGeom>
        </p:spPr>
        <p:txBody>
          <a:bodyPr wrap="square" lIns="0" tIns="193040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1520"/>
              </a:spcBef>
              <a:tabLst>
                <a:tab pos="901700" algn="l"/>
              </a:tabLst>
            </a:pPr>
            <a:r>
              <a:rPr dirty="0" sz="2800" spc="2390">
                <a:latin typeface="Cambria Math"/>
                <a:cs typeface="Cambria Math"/>
              </a:rPr>
              <a:t>O	</a:t>
            </a:r>
            <a:r>
              <a:rPr dirty="0" sz="2800" spc="25">
                <a:latin typeface="Cambria Math"/>
                <a:cs typeface="Cambria Math"/>
              </a:rPr>
              <a:t>𝑃(𝑢,</a:t>
            </a:r>
            <a:r>
              <a:rPr dirty="0" sz="2800" spc="-225">
                <a:latin typeface="Cambria Math"/>
                <a:cs typeface="Cambria Math"/>
              </a:rPr>
              <a:t> </a:t>
            </a:r>
            <a:r>
              <a:rPr dirty="0" sz="2800" spc="30">
                <a:latin typeface="Cambria Math"/>
                <a:cs typeface="Cambria Math"/>
              </a:rPr>
              <a:t>𝑣)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000" spc="85">
                <a:latin typeface="Cambria Math"/>
                <a:cs typeface="Cambria Math"/>
              </a:rPr>
              <a:t>4,6</a:t>
            </a:r>
            <a:r>
              <a:rPr dirty="0" sz="2000" spc="390">
                <a:latin typeface="Cambria Math"/>
                <a:cs typeface="Cambria Math"/>
              </a:rPr>
              <a:t> </a:t>
            </a:r>
            <a:r>
              <a:rPr dirty="0" sz="2000" spc="105">
                <a:latin typeface="Cambria Math"/>
                <a:cs typeface="Cambria Math"/>
              </a:rPr>
              <a:t>∈7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904712" y="6228824"/>
            <a:ext cx="548005" cy="235585"/>
          </a:xfrm>
          <a:custGeom>
            <a:avLst/>
            <a:gdLst/>
            <a:ahLst/>
            <a:cxnLst/>
            <a:rect l="l" t="t" r="r" b="b"/>
            <a:pathLst>
              <a:path w="548004" h="235585">
                <a:moveTo>
                  <a:pt x="472846" y="0"/>
                </a:moveTo>
                <a:lnTo>
                  <a:pt x="469497" y="9549"/>
                </a:lnTo>
                <a:lnTo>
                  <a:pt x="483117" y="15460"/>
                </a:lnTo>
                <a:lnTo>
                  <a:pt x="494829" y="23641"/>
                </a:lnTo>
                <a:lnTo>
                  <a:pt x="518610" y="61565"/>
                </a:lnTo>
                <a:lnTo>
                  <a:pt x="526423" y="116457"/>
                </a:lnTo>
                <a:lnTo>
                  <a:pt x="525551" y="137208"/>
                </a:lnTo>
                <a:lnTo>
                  <a:pt x="512471" y="188019"/>
                </a:lnTo>
                <a:lnTo>
                  <a:pt x="483275" y="219785"/>
                </a:lnTo>
                <a:lnTo>
                  <a:pt x="469869" y="225722"/>
                </a:lnTo>
                <a:lnTo>
                  <a:pt x="472846" y="235272"/>
                </a:lnTo>
                <a:lnTo>
                  <a:pt x="517796" y="208564"/>
                </a:lnTo>
                <a:lnTo>
                  <a:pt x="543043" y="159261"/>
                </a:lnTo>
                <a:lnTo>
                  <a:pt x="547880" y="117698"/>
                </a:lnTo>
                <a:lnTo>
                  <a:pt x="546667" y="96129"/>
                </a:lnTo>
                <a:lnTo>
                  <a:pt x="536961" y="57899"/>
                </a:lnTo>
                <a:lnTo>
                  <a:pt x="504859" y="15084"/>
                </a:lnTo>
                <a:lnTo>
                  <a:pt x="489903" y="6158"/>
                </a:lnTo>
                <a:lnTo>
                  <a:pt x="472846" y="0"/>
                </a:lnTo>
                <a:close/>
              </a:path>
              <a:path w="548004" h="235585">
                <a:moveTo>
                  <a:pt x="75034" y="0"/>
                </a:moveTo>
                <a:lnTo>
                  <a:pt x="30165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3" y="177543"/>
                </a:lnTo>
                <a:lnTo>
                  <a:pt x="42943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5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4" y="15460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853376" y="5697653"/>
            <a:ext cx="782955" cy="329565"/>
          </a:xfrm>
          <a:custGeom>
            <a:avLst/>
            <a:gdLst/>
            <a:ahLst/>
            <a:cxnLst/>
            <a:rect l="l" t="t" r="r" b="b"/>
            <a:pathLst>
              <a:path w="782954" h="329564">
                <a:moveTo>
                  <a:pt x="677771" y="0"/>
                </a:moveTo>
                <a:lnTo>
                  <a:pt x="673082" y="13369"/>
                </a:lnTo>
                <a:lnTo>
                  <a:pt x="692149" y="21644"/>
                </a:lnTo>
                <a:lnTo>
                  <a:pt x="708547" y="33098"/>
                </a:lnTo>
                <a:lnTo>
                  <a:pt x="733333" y="65546"/>
                </a:lnTo>
                <a:lnTo>
                  <a:pt x="747918" y="109323"/>
                </a:lnTo>
                <a:lnTo>
                  <a:pt x="752779" y="163041"/>
                </a:lnTo>
                <a:lnTo>
                  <a:pt x="751558" y="192092"/>
                </a:lnTo>
                <a:lnTo>
                  <a:pt x="741791" y="242185"/>
                </a:lnTo>
                <a:lnTo>
                  <a:pt x="722193" y="281306"/>
                </a:lnTo>
                <a:lnTo>
                  <a:pt x="692371" y="307699"/>
                </a:lnTo>
                <a:lnTo>
                  <a:pt x="673602" y="316011"/>
                </a:lnTo>
                <a:lnTo>
                  <a:pt x="677771" y="329381"/>
                </a:lnTo>
                <a:lnTo>
                  <a:pt x="722698" y="308306"/>
                </a:lnTo>
                <a:lnTo>
                  <a:pt x="755731" y="271822"/>
                </a:lnTo>
                <a:lnTo>
                  <a:pt x="776046" y="222966"/>
                </a:lnTo>
                <a:lnTo>
                  <a:pt x="782817" y="164777"/>
                </a:lnTo>
                <a:lnTo>
                  <a:pt x="781119" y="134581"/>
                </a:lnTo>
                <a:lnTo>
                  <a:pt x="767533" y="81059"/>
                </a:lnTo>
                <a:lnTo>
                  <a:pt x="740587" y="37488"/>
                </a:lnTo>
                <a:lnTo>
                  <a:pt x="701650" y="8621"/>
                </a:lnTo>
                <a:lnTo>
                  <a:pt x="677771" y="0"/>
                </a:lnTo>
                <a:close/>
              </a:path>
              <a:path w="782954" h="329564">
                <a:moveTo>
                  <a:pt x="105048" y="0"/>
                </a:moveTo>
                <a:lnTo>
                  <a:pt x="60228" y="21118"/>
                </a:lnTo>
                <a:lnTo>
                  <a:pt x="27174" y="57732"/>
                </a:lnTo>
                <a:lnTo>
                  <a:pt x="6793" y="106675"/>
                </a:lnTo>
                <a:lnTo>
                  <a:pt x="0" y="164777"/>
                </a:lnTo>
                <a:lnTo>
                  <a:pt x="1693" y="195038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70"/>
                </a:lnTo>
                <a:lnTo>
                  <a:pt x="105048" y="329381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50" y="296130"/>
                </a:lnTo>
                <a:lnTo>
                  <a:pt x="49573" y="263227"/>
                </a:lnTo>
                <a:lnTo>
                  <a:pt x="34922" y="218473"/>
                </a:lnTo>
                <a:lnTo>
                  <a:pt x="30039" y="163041"/>
                </a:lnTo>
                <a:lnTo>
                  <a:pt x="31260" y="134939"/>
                </a:lnTo>
                <a:lnTo>
                  <a:pt x="41027" y="86192"/>
                </a:lnTo>
                <a:lnTo>
                  <a:pt x="60657" y="47732"/>
                </a:lnTo>
                <a:lnTo>
                  <a:pt x="90739" y="21644"/>
                </a:lnTo>
                <a:lnTo>
                  <a:pt x="109736" y="13369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4977447" y="5415991"/>
            <a:ext cx="2850515" cy="1066800"/>
          </a:xfrm>
          <a:prstGeom prst="rect">
            <a:avLst/>
          </a:prstGeom>
        </p:spPr>
        <p:txBody>
          <a:bodyPr wrap="square" lIns="0" tIns="193040" rIns="0" bIns="0" rtlCol="0" vert="horz">
            <a:spAutoFit/>
          </a:bodyPr>
          <a:lstStyle/>
          <a:p>
            <a:pPr marL="107950">
              <a:lnSpc>
                <a:spcPct val="100000"/>
              </a:lnSpc>
              <a:spcBef>
                <a:spcPts val="1520"/>
              </a:spcBef>
              <a:tabLst>
                <a:tab pos="847090" algn="l"/>
                <a:tab pos="1991995" algn="l"/>
                <a:tab pos="2689860" algn="l"/>
              </a:tabLst>
            </a:pPr>
            <a:r>
              <a:rPr dirty="0" sz="2800" spc="2390">
                <a:latin typeface="Cambria Math"/>
                <a:cs typeface="Cambria Math"/>
              </a:rPr>
              <a:t>O</a:t>
            </a:r>
            <a:r>
              <a:rPr dirty="0" sz="2800" spc="2390">
                <a:latin typeface="Cambria Math"/>
                <a:cs typeface="Cambria Math"/>
              </a:rPr>
              <a:t>	(1</a:t>
            </a:r>
            <a:r>
              <a:rPr dirty="0" sz="2800" spc="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− 𝑃	</a:t>
            </a:r>
            <a:r>
              <a:rPr dirty="0" sz="2800" spc="75">
                <a:latin typeface="Cambria Math"/>
                <a:cs typeface="Cambria Math"/>
              </a:rPr>
              <a:t>𝑢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	)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000" spc="85">
                <a:latin typeface="Cambria Math"/>
                <a:cs typeface="Cambria Math"/>
              </a:rPr>
              <a:t>4,6</a:t>
            </a:r>
            <a:r>
              <a:rPr dirty="0" sz="2000" spc="400">
                <a:latin typeface="Cambria Math"/>
                <a:cs typeface="Cambria Math"/>
              </a:rPr>
              <a:t> </a:t>
            </a:r>
            <a:r>
              <a:rPr dirty="0" sz="2000" spc="105">
                <a:latin typeface="Cambria Math"/>
                <a:cs typeface="Cambria Math"/>
              </a:rPr>
              <a:t>∉7</a:t>
            </a:r>
            <a:endParaRPr sz="20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786079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29246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FF0066"/>
                </a:solidFill>
              </a:rPr>
              <a:t>“Relax” </a:t>
            </a:r>
            <a:r>
              <a:rPr dirty="0" spc="-5">
                <a:solidFill>
                  <a:srgbClr val="FF0066"/>
                </a:solidFill>
              </a:rPr>
              <a:t>the </a:t>
            </a:r>
            <a:r>
              <a:rPr dirty="0" spc="-15">
                <a:solidFill>
                  <a:srgbClr val="FF0066"/>
                </a:solidFill>
              </a:rPr>
              <a:t>AGM: </a:t>
            </a:r>
            <a:r>
              <a:rPr dirty="0" spc="-10">
                <a:solidFill>
                  <a:srgbClr val="0000FF"/>
                </a:solidFill>
              </a:rPr>
              <a:t>Memberships </a:t>
            </a:r>
            <a:r>
              <a:rPr dirty="0" spc="-25">
                <a:solidFill>
                  <a:srgbClr val="0000FF"/>
                </a:solidFill>
              </a:rPr>
              <a:t>have</a:t>
            </a:r>
            <a:r>
              <a:rPr dirty="0" spc="15">
                <a:solidFill>
                  <a:srgbClr val="0000FF"/>
                </a:solidFill>
              </a:rPr>
              <a:t> </a:t>
            </a:r>
            <a:r>
              <a:rPr dirty="0" spc="-15">
                <a:solidFill>
                  <a:srgbClr val="0000FF"/>
                </a:solidFill>
              </a:rPr>
              <a:t>strengths</a:t>
            </a:r>
          </a:p>
        </p:txBody>
      </p:sp>
      <p:sp>
        <p:nvSpPr>
          <p:cNvPr id="4" name="object 4"/>
          <p:cNvSpPr/>
          <p:nvPr/>
        </p:nvSpPr>
        <p:spPr>
          <a:xfrm>
            <a:off x="2819400" y="2697013"/>
            <a:ext cx="3871912" cy="21035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71800" y="28956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0" y="0"/>
                </a:moveTo>
                <a:lnTo>
                  <a:pt x="381000" y="0"/>
                </a:lnTo>
                <a:lnTo>
                  <a:pt x="3810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105400" y="28956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0" y="0"/>
                </a:moveTo>
                <a:lnTo>
                  <a:pt x="381000" y="0"/>
                </a:lnTo>
                <a:lnTo>
                  <a:pt x="3810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785110" y="3508755"/>
            <a:ext cx="54419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904" sz="4200" spc="-457">
                <a:latin typeface="Cambria Math"/>
                <a:cs typeface="Cambria Math"/>
              </a:rPr>
              <a:t>𝐹</a:t>
            </a:r>
            <a:r>
              <a:rPr dirty="0" sz="2000" spc="225">
                <a:latin typeface="Cambria Math"/>
                <a:cs typeface="Cambria Math"/>
              </a:rPr>
              <a:t>49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50"/>
              <a:t> </a:t>
            </a:r>
            <a:r>
              <a:rPr dirty="0" spc="-5"/>
              <a:t>Graphs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62</a:t>
            </a:fld>
          </a:p>
        </p:txBody>
      </p:sp>
      <p:sp>
        <p:nvSpPr>
          <p:cNvPr id="8" name="object 8"/>
          <p:cNvSpPr txBox="1"/>
          <p:nvPr/>
        </p:nvSpPr>
        <p:spPr>
          <a:xfrm>
            <a:off x="6223581" y="3496564"/>
            <a:ext cx="52260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904" sz="4200" spc="-457">
                <a:latin typeface="Cambria Math"/>
                <a:cs typeface="Cambria Math"/>
              </a:rPr>
              <a:t>𝐹</a:t>
            </a:r>
            <a:r>
              <a:rPr dirty="0" sz="2000" spc="30">
                <a:latin typeface="Cambria Math"/>
                <a:cs typeface="Cambria Math"/>
              </a:rPr>
              <a:t>6</a:t>
            </a:r>
            <a:r>
              <a:rPr dirty="0" sz="2000" spc="825">
                <a:latin typeface="Cambria Math"/>
                <a:cs typeface="Cambria Math"/>
              </a:rPr>
              <a:t>: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27340" y="33019"/>
            <a:ext cx="1117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[wsdm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‘13]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6563" y="4611115"/>
            <a:ext cx="6599555" cy="1724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23414">
              <a:lnSpc>
                <a:spcPct val="100000"/>
              </a:lnSpc>
              <a:spcBef>
                <a:spcPts val="100"/>
              </a:spcBef>
              <a:tabLst>
                <a:tab pos="5401945" algn="l"/>
              </a:tabLst>
            </a:pPr>
            <a:r>
              <a:rPr dirty="0" sz="2400">
                <a:latin typeface="Cambria Math"/>
                <a:cs typeface="Cambria Math"/>
              </a:rPr>
              <a:t>𝑢	𝑣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300">
              <a:latin typeface="Times New Roman"/>
              <a:cs typeface="Times New Roman"/>
            </a:endParaRPr>
          </a:p>
          <a:p>
            <a:pPr marL="287020" indent="-274320">
              <a:lnSpc>
                <a:spcPts val="3335"/>
              </a:lnSpc>
              <a:spcBef>
                <a:spcPts val="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55">
                <a:latin typeface="Cambria Math"/>
                <a:cs typeface="Cambria Math"/>
              </a:rPr>
              <a:t>𝐹</a:t>
            </a:r>
            <a:r>
              <a:rPr dirty="0" baseline="-16666" sz="3000" spc="82">
                <a:latin typeface="Cambria Math"/>
                <a:cs typeface="Cambria Math"/>
              </a:rPr>
              <a:t>49</a:t>
            </a:r>
            <a:r>
              <a:rPr dirty="0" sz="2800" spc="55">
                <a:latin typeface="Cambria Math"/>
                <a:cs typeface="Cambria Math"/>
              </a:rPr>
              <a:t>: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membership </a:t>
            </a:r>
            <a:r>
              <a:rPr dirty="0" sz="2800" spc="-20">
                <a:latin typeface="Calibri"/>
                <a:cs typeface="Calibri"/>
              </a:rPr>
              <a:t>strength </a:t>
            </a:r>
            <a:r>
              <a:rPr dirty="0" sz="2800" spc="-5">
                <a:latin typeface="Calibri"/>
                <a:cs typeface="Calibri"/>
              </a:rPr>
              <a:t>of node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mbria Math"/>
                <a:cs typeface="Cambria Math"/>
              </a:rPr>
              <a:t>𝑢</a:t>
            </a:r>
            <a:endParaRPr sz="2800">
              <a:latin typeface="Cambria Math"/>
              <a:cs typeface="Cambria Math"/>
            </a:endParaRPr>
          </a:p>
          <a:p>
            <a:pPr marL="287020">
              <a:lnSpc>
                <a:spcPts val="3335"/>
              </a:lnSpc>
            </a:pP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community </a:t>
            </a:r>
            <a:r>
              <a:rPr dirty="0" sz="2800">
                <a:latin typeface="Cambria Math"/>
                <a:cs typeface="Cambria Math"/>
              </a:rPr>
              <a:t>𝑨 </a:t>
            </a:r>
            <a:r>
              <a:rPr dirty="0" sz="2800" spc="25">
                <a:latin typeface="Calibri"/>
                <a:cs typeface="Calibri"/>
              </a:rPr>
              <a:t>(</a:t>
            </a:r>
            <a:r>
              <a:rPr dirty="0" sz="2800" spc="25">
                <a:latin typeface="Cambria Math"/>
                <a:cs typeface="Cambria Math"/>
              </a:rPr>
              <a:t>𝐹</a:t>
            </a:r>
            <a:r>
              <a:rPr dirty="0" baseline="-16666" sz="3000" spc="37">
                <a:latin typeface="Cambria Math"/>
                <a:cs typeface="Cambria Math"/>
              </a:rPr>
              <a:t>49  </a:t>
            </a:r>
            <a:r>
              <a:rPr dirty="0" sz="2800">
                <a:latin typeface="Cambria Math"/>
                <a:cs typeface="Cambria Math"/>
              </a:rPr>
              <a:t>= 𝟎</a:t>
            </a:r>
            <a:r>
              <a:rPr dirty="0" sz="2800">
                <a:latin typeface="Calibri"/>
                <a:cs typeface="Calibri"/>
              </a:rPr>
              <a:t>: no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membership)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786079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196340"/>
            <a:ext cx="798385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 b="0">
                <a:latin typeface="Calibri"/>
                <a:cs typeface="Calibri"/>
              </a:rPr>
              <a:t>For </a:t>
            </a:r>
            <a:r>
              <a:rPr dirty="0" spc="-5" b="0">
                <a:latin typeface="Calibri"/>
                <a:cs typeface="Calibri"/>
              </a:rPr>
              <a:t>community </a:t>
            </a:r>
            <a:r>
              <a:rPr dirty="0" spc="60" b="0">
                <a:latin typeface="Cambria Math"/>
                <a:cs typeface="Cambria Math"/>
              </a:rPr>
              <a:t>𝐶</a:t>
            </a:r>
            <a:r>
              <a:rPr dirty="0" spc="60" b="0">
                <a:latin typeface="Calibri"/>
                <a:cs typeface="Calibri"/>
              </a:rPr>
              <a:t>, </a:t>
            </a:r>
            <a:r>
              <a:rPr dirty="0" spc="-15" b="0">
                <a:latin typeface="Calibri"/>
                <a:cs typeface="Calibri"/>
              </a:rPr>
              <a:t>we </a:t>
            </a:r>
            <a:r>
              <a:rPr dirty="0" spc="-5" b="0">
                <a:latin typeface="Calibri"/>
                <a:cs typeface="Calibri"/>
              </a:rPr>
              <a:t>model </a:t>
            </a:r>
            <a:r>
              <a:rPr dirty="0" b="0">
                <a:latin typeface="Calibri"/>
                <a:cs typeface="Calibri"/>
              </a:rPr>
              <a:t>the </a:t>
            </a:r>
            <a:r>
              <a:rPr dirty="0" spc="-10" b="0">
                <a:latin typeface="Calibri"/>
                <a:cs typeface="Calibri"/>
              </a:rPr>
              <a:t>probability</a:t>
            </a:r>
            <a:r>
              <a:rPr dirty="0" spc="-5" b="0">
                <a:latin typeface="Calibri"/>
                <a:cs typeface="Calibri"/>
              </a:rPr>
              <a:t> of</a:t>
            </a:r>
          </a:p>
        </p:txBody>
      </p:sp>
      <p:sp>
        <p:nvSpPr>
          <p:cNvPr id="4" name="object 4"/>
          <p:cNvSpPr/>
          <p:nvPr/>
        </p:nvSpPr>
        <p:spPr>
          <a:xfrm>
            <a:off x="2004663" y="2289072"/>
            <a:ext cx="924560" cy="376555"/>
          </a:xfrm>
          <a:custGeom>
            <a:avLst/>
            <a:gdLst/>
            <a:ahLst/>
            <a:cxnLst/>
            <a:rect l="l" t="t" r="r" b="b"/>
            <a:pathLst>
              <a:path w="924560" h="376555">
                <a:moveTo>
                  <a:pt x="804139" y="0"/>
                </a:moveTo>
                <a:lnTo>
                  <a:pt x="798781" y="15279"/>
                </a:lnTo>
                <a:lnTo>
                  <a:pt x="820572" y="24736"/>
                </a:lnTo>
                <a:lnTo>
                  <a:pt x="839312" y="37826"/>
                </a:lnTo>
                <a:lnTo>
                  <a:pt x="867639" y="74909"/>
                </a:lnTo>
                <a:lnTo>
                  <a:pt x="884308" y="124940"/>
                </a:lnTo>
                <a:lnTo>
                  <a:pt x="889864" y="186331"/>
                </a:lnTo>
                <a:lnTo>
                  <a:pt x="888469" y="219533"/>
                </a:lnTo>
                <a:lnTo>
                  <a:pt x="877307" y="276782"/>
                </a:lnTo>
                <a:lnTo>
                  <a:pt x="854908" y="321493"/>
                </a:lnTo>
                <a:lnTo>
                  <a:pt x="820827" y="351655"/>
                </a:lnTo>
                <a:lnTo>
                  <a:pt x="799377" y="361156"/>
                </a:lnTo>
                <a:lnTo>
                  <a:pt x="804139" y="376435"/>
                </a:lnTo>
                <a:lnTo>
                  <a:pt x="855485" y="352349"/>
                </a:lnTo>
                <a:lnTo>
                  <a:pt x="893237" y="310653"/>
                </a:lnTo>
                <a:lnTo>
                  <a:pt x="916455" y="254818"/>
                </a:lnTo>
                <a:lnTo>
                  <a:pt x="924194" y="188316"/>
                </a:lnTo>
                <a:lnTo>
                  <a:pt x="922253" y="153807"/>
                </a:lnTo>
                <a:lnTo>
                  <a:pt x="906725" y="92638"/>
                </a:lnTo>
                <a:lnTo>
                  <a:pt x="875930" y="42843"/>
                </a:lnTo>
                <a:lnTo>
                  <a:pt x="831431" y="9853"/>
                </a:lnTo>
                <a:lnTo>
                  <a:pt x="804139" y="0"/>
                </a:lnTo>
                <a:close/>
              </a:path>
              <a:path w="924560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7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352919" y="2207688"/>
            <a:ext cx="621665" cy="53340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>
              <a:lnSpc>
                <a:spcPts val="3710"/>
              </a:lnSpc>
              <a:spcBef>
                <a:spcPts val="484"/>
              </a:spcBef>
            </a:pPr>
            <a:r>
              <a:rPr dirty="0" baseline="11284" sz="4800" spc="0">
                <a:solidFill>
                  <a:srgbClr val="FF0066"/>
                </a:solidFill>
                <a:latin typeface="Cambria Math"/>
                <a:cs typeface="Cambria Math"/>
              </a:rPr>
              <a:t>𝑭</a:t>
            </a:r>
            <a:r>
              <a:rPr dirty="0" sz="2300" spc="10">
                <a:solidFill>
                  <a:srgbClr val="FF0066"/>
                </a:solidFill>
                <a:latin typeface="Cambria Math"/>
                <a:cs typeface="Cambria Math"/>
              </a:rPr>
              <a:t>𝒗</a:t>
            </a:r>
            <a:r>
              <a:rPr dirty="0" sz="2300">
                <a:solidFill>
                  <a:srgbClr val="FF0066"/>
                </a:solidFill>
                <a:latin typeface="Cambria Math"/>
                <a:cs typeface="Cambria Math"/>
              </a:rPr>
              <a:t>𝑪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8149" y="1677924"/>
            <a:ext cx="6236970" cy="1010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𝑢 </a:t>
            </a: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>
                <a:latin typeface="Cambria Math"/>
                <a:cs typeface="Cambria Math"/>
              </a:rPr>
              <a:t>𝑣 </a:t>
            </a:r>
            <a:r>
              <a:rPr dirty="0" sz="3200" spc="-5">
                <a:latin typeface="Calibri"/>
                <a:cs typeface="Calibri"/>
              </a:rPr>
              <a:t>being </a:t>
            </a:r>
            <a:r>
              <a:rPr dirty="0" sz="3200" spc="-15">
                <a:latin typeface="Calibri"/>
                <a:cs typeface="Calibri"/>
              </a:rPr>
              <a:t>connected</a:t>
            </a:r>
            <a:r>
              <a:rPr dirty="0" sz="3200" spc="2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as</a:t>
            </a:r>
            <a:endParaRPr sz="3200">
              <a:latin typeface="Calibri"/>
              <a:cs typeface="Calibri"/>
            </a:endParaRPr>
          </a:p>
          <a:p>
            <a:pPr marL="548640">
              <a:lnSpc>
                <a:spcPct val="100000"/>
              </a:lnSpc>
              <a:spcBef>
                <a:spcPts val="70"/>
              </a:spcBef>
              <a:tabLst>
                <a:tab pos="1198880" algn="l"/>
                <a:tab pos="2138680" algn="l"/>
                <a:tab pos="6055360" algn="l"/>
              </a:tabLst>
            </a:pPr>
            <a:r>
              <a:rPr dirty="0" sz="3200">
                <a:solidFill>
                  <a:srgbClr val="FF0066"/>
                </a:solidFill>
                <a:latin typeface="Cambria Math"/>
                <a:cs typeface="Cambria Math"/>
              </a:rPr>
              <a:t>𝑷</a:t>
            </a:r>
            <a:r>
              <a:rPr dirty="0" baseline="-15700" sz="3450">
                <a:solidFill>
                  <a:srgbClr val="FF0066"/>
                </a:solidFill>
                <a:latin typeface="Cambria Math"/>
                <a:cs typeface="Cambria Math"/>
              </a:rPr>
              <a:t>𝑪	</a:t>
            </a:r>
            <a:r>
              <a:rPr dirty="0" sz="3200" spc="-5">
                <a:solidFill>
                  <a:srgbClr val="FF0066"/>
                </a:solidFill>
                <a:latin typeface="Cambria Math"/>
                <a:cs typeface="Cambria Math"/>
              </a:rPr>
              <a:t>𝒖</a:t>
            </a:r>
            <a:r>
              <a:rPr dirty="0" sz="3200">
                <a:solidFill>
                  <a:srgbClr val="FF0066"/>
                </a:solidFill>
                <a:latin typeface="Cambria Math"/>
                <a:cs typeface="Cambria Math"/>
              </a:rPr>
              <a:t>,</a:t>
            </a:r>
            <a:r>
              <a:rPr dirty="0" sz="3200" spc="-165">
                <a:solidFill>
                  <a:srgbClr val="FF0066"/>
                </a:solidFill>
                <a:latin typeface="Cambria Math"/>
                <a:cs typeface="Cambria Math"/>
              </a:rPr>
              <a:t> </a:t>
            </a:r>
            <a:r>
              <a:rPr dirty="0" sz="3200">
                <a:solidFill>
                  <a:srgbClr val="FF0066"/>
                </a:solidFill>
                <a:latin typeface="Cambria Math"/>
                <a:cs typeface="Cambria Math"/>
              </a:rPr>
              <a:t>𝒗	=</a:t>
            </a:r>
            <a:r>
              <a:rPr dirty="0" sz="3200" spc="175">
                <a:solidFill>
                  <a:srgbClr val="FF0066"/>
                </a:solidFill>
                <a:latin typeface="Cambria Math"/>
                <a:cs typeface="Cambria Math"/>
              </a:rPr>
              <a:t> </a:t>
            </a:r>
            <a:r>
              <a:rPr dirty="0" sz="3200">
                <a:solidFill>
                  <a:srgbClr val="FF0066"/>
                </a:solidFill>
                <a:latin typeface="Cambria Math"/>
                <a:cs typeface="Cambria Math"/>
              </a:rPr>
              <a:t>𝟏 − 𝒆𝒙𝒑</a:t>
            </a:r>
            <a:r>
              <a:rPr dirty="0" sz="3200" spc="-5">
                <a:solidFill>
                  <a:srgbClr val="FF0066"/>
                </a:solidFill>
                <a:latin typeface="Cambria Math"/>
                <a:cs typeface="Cambria Math"/>
              </a:rPr>
              <a:t>(−</a:t>
            </a:r>
            <a:r>
              <a:rPr dirty="0" sz="3200" spc="0">
                <a:solidFill>
                  <a:srgbClr val="FF0066"/>
                </a:solidFill>
                <a:latin typeface="Cambria Math"/>
                <a:cs typeface="Cambria Math"/>
              </a:rPr>
              <a:t>𝑭</a:t>
            </a:r>
            <a:r>
              <a:rPr dirty="0" baseline="-15700" sz="3450" spc="37">
                <a:solidFill>
                  <a:srgbClr val="FF0066"/>
                </a:solidFill>
                <a:latin typeface="Cambria Math"/>
                <a:cs typeface="Cambria Math"/>
              </a:rPr>
              <a:t>𝒖</a:t>
            </a:r>
            <a:r>
              <a:rPr dirty="0" baseline="-15700" sz="3450">
                <a:solidFill>
                  <a:srgbClr val="FF0066"/>
                </a:solidFill>
                <a:latin typeface="Cambria Math"/>
                <a:cs typeface="Cambria Math"/>
              </a:rPr>
              <a:t>𝑪</a:t>
            </a:r>
            <a:r>
              <a:rPr dirty="0" baseline="-15700" sz="3450" spc="157">
                <a:solidFill>
                  <a:srgbClr val="FF0066"/>
                </a:solidFill>
                <a:latin typeface="Cambria Math"/>
                <a:cs typeface="Cambria Math"/>
              </a:rPr>
              <a:t> </a:t>
            </a:r>
            <a:r>
              <a:rPr dirty="0" sz="3200">
                <a:solidFill>
                  <a:srgbClr val="FF0066"/>
                </a:solidFill>
                <a:latin typeface="Cambria Math"/>
                <a:cs typeface="Cambria Math"/>
              </a:rPr>
              <a:t>⋅	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40533" y="2847773"/>
            <a:ext cx="782955" cy="329565"/>
          </a:xfrm>
          <a:custGeom>
            <a:avLst/>
            <a:gdLst/>
            <a:ahLst/>
            <a:cxnLst/>
            <a:rect l="l" t="t" r="r" b="b"/>
            <a:pathLst>
              <a:path w="782955" h="329564">
                <a:moveTo>
                  <a:pt x="677771" y="0"/>
                </a:moveTo>
                <a:lnTo>
                  <a:pt x="673082" y="13370"/>
                </a:lnTo>
                <a:lnTo>
                  <a:pt x="692149" y="21645"/>
                </a:lnTo>
                <a:lnTo>
                  <a:pt x="708547" y="33099"/>
                </a:lnTo>
                <a:lnTo>
                  <a:pt x="733333" y="65547"/>
                </a:lnTo>
                <a:lnTo>
                  <a:pt x="747918" y="109324"/>
                </a:lnTo>
                <a:lnTo>
                  <a:pt x="752779" y="163041"/>
                </a:lnTo>
                <a:lnTo>
                  <a:pt x="751558" y="192092"/>
                </a:lnTo>
                <a:lnTo>
                  <a:pt x="741791" y="242185"/>
                </a:lnTo>
                <a:lnTo>
                  <a:pt x="722193" y="281307"/>
                </a:lnTo>
                <a:lnTo>
                  <a:pt x="692371" y="307699"/>
                </a:lnTo>
                <a:lnTo>
                  <a:pt x="673602" y="316011"/>
                </a:lnTo>
                <a:lnTo>
                  <a:pt x="677771" y="329382"/>
                </a:lnTo>
                <a:lnTo>
                  <a:pt x="722698" y="308307"/>
                </a:lnTo>
                <a:lnTo>
                  <a:pt x="755731" y="271823"/>
                </a:lnTo>
                <a:lnTo>
                  <a:pt x="776046" y="222966"/>
                </a:lnTo>
                <a:lnTo>
                  <a:pt x="782817" y="164777"/>
                </a:lnTo>
                <a:lnTo>
                  <a:pt x="781119" y="134581"/>
                </a:lnTo>
                <a:lnTo>
                  <a:pt x="767533" y="81059"/>
                </a:lnTo>
                <a:lnTo>
                  <a:pt x="740587" y="37488"/>
                </a:lnTo>
                <a:lnTo>
                  <a:pt x="701650" y="8622"/>
                </a:lnTo>
                <a:lnTo>
                  <a:pt x="677771" y="0"/>
                </a:lnTo>
                <a:close/>
              </a:path>
              <a:path w="782955" h="329564">
                <a:moveTo>
                  <a:pt x="105048" y="0"/>
                </a:moveTo>
                <a:lnTo>
                  <a:pt x="60229" y="21118"/>
                </a:lnTo>
                <a:lnTo>
                  <a:pt x="27174" y="57732"/>
                </a:lnTo>
                <a:lnTo>
                  <a:pt x="6793" y="106676"/>
                </a:lnTo>
                <a:lnTo>
                  <a:pt x="0" y="164777"/>
                </a:lnTo>
                <a:lnTo>
                  <a:pt x="1693" y="195038"/>
                </a:lnTo>
                <a:lnTo>
                  <a:pt x="15236" y="248561"/>
                </a:lnTo>
                <a:lnTo>
                  <a:pt x="42116" y="291991"/>
                </a:lnTo>
                <a:lnTo>
                  <a:pt x="81097" y="320771"/>
                </a:lnTo>
                <a:lnTo>
                  <a:pt x="105048" y="329382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2" y="218473"/>
                </a:lnTo>
                <a:lnTo>
                  <a:pt x="30039" y="163041"/>
                </a:lnTo>
                <a:lnTo>
                  <a:pt x="31260" y="134940"/>
                </a:lnTo>
                <a:lnTo>
                  <a:pt x="41026" y="86193"/>
                </a:lnTo>
                <a:lnTo>
                  <a:pt x="60657" y="47733"/>
                </a:lnTo>
                <a:lnTo>
                  <a:pt x="90739" y="21645"/>
                </a:lnTo>
                <a:lnTo>
                  <a:pt x="109736" y="13370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56563" y="2746755"/>
            <a:ext cx="38989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1578610" algn="l"/>
                <a:tab pos="2887980" algn="l"/>
              </a:tabLst>
            </a:pPr>
            <a:r>
              <a:rPr dirty="0" sz="2800" spc="185">
                <a:latin typeface="Cambria Math"/>
                <a:cs typeface="Cambria Math"/>
              </a:rPr>
              <a:t>𝑃</a:t>
            </a:r>
            <a:r>
              <a:rPr dirty="0" baseline="-15277" sz="3000" spc="277">
                <a:latin typeface="Cambria Math"/>
                <a:cs typeface="Cambria Math"/>
              </a:rPr>
              <a:t>;</a:t>
            </a:r>
            <a:r>
              <a:rPr dirty="0" baseline="-15277" sz="3000" spc="825">
                <a:latin typeface="Cambria Math"/>
                <a:cs typeface="Cambria Math"/>
              </a:rPr>
              <a:t> </a:t>
            </a:r>
            <a:r>
              <a:rPr dirty="0" sz="2800" spc="30">
                <a:latin typeface="Cambria Math"/>
                <a:cs typeface="Cambria Math"/>
              </a:rPr>
              <a:t>𝑢,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	</a:t>
            </a:r>
            <a:r>
              <a:rPr dirty="0" sz="2800" spc="-10">
                <a:latin typeface="Calibri"/>
                <a:cs typeface="Calibri"/>
              </a:rPr>
              <a:t>satisfies	</a:t>
            </a:r>
            <a:r>
              <a:rPr dirty="0" sz="2800">
                <a:latin typeface="Cambria Math"/>
                <a:cs typeface="Cambria Math"/>
              </a:rPr>
              <a:t>0 ≤</a:t>
            </a:r>
            <a:r>
              <a:rPr dirty="0" sz="2800" spc="225">
                <a:latin typeface="Cambria Math"/>
                <a:cs typeface="Cambria Math"/>
              </a:rPr>
              <a:t> </a:t>
            </a:r>
            <a:r>
              <a:rPr dirty="0" sz="2800" spc="185">
                <a:latin typeface="Cambria Math"/>
                <a:cs typeface="Cambria Math"/>
              </a:rPr>
              <a:t>𝑃</a:t>
            </a:r>
            <a:r>
              <a:rPr dirty="0" baseline="-15277" sz="3000" spc="277">
                <a:latin typeface="Cambria Math"/>
                <a:cs typeface="Cambria Math"/>
              </a:rPr>
              <a:t>;</a:t>
            </a:r>
            <a:endParaRPr baseline="-15277" sz="30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903100" y="2847773"/>
            <a:ext cx="782955" cy="329565"/>
          </a:xfrm>
          <a:custGeom>
            <a:avLst/>
            <a:gdLst/>
            <a:ahLst/>
            <a:cxnLst/>
            <a:rect l="l" t="t" r="r" b="b"/>
            <a:pathLst>
              <a:path w="782954" h="329564">
                <a:moveTo>
                  <a:pt x="677769" y="0"/>
                </a:moveTo>
                <a:lnTo>
                  <a:pt x="673082" y="13370"/>
                </a:lnTo>
                <a:lnTo>
                  <a:pt x="692149" y="21645"/>
                </a:lnTo>
                <a:lnTo>
                  <a:pt x="708546" y="33099"/>
                </a:lnTo>
                <a:lnTo>
                  <a:pt x="733332" y="65547"/>
                </a:lnTo>
                <a:lnTo>
                  <a:pt x="747918" y="109324"/>
                </a:lnTo>
                <a:lnTo>
                  <a:pt x="752779" y="163041"/>
                </a:lnTo>
                <a:lnTo>
                  <a:pt x="751558" y="192092"/>
                </a:lnTo>
                <a:lnTo>
                  <a:pt x="741791" y="242185"/>
                </a:lnTo>
                <a:lnTo>
                  <a:pt x="722193" y="281307"/>
                </a:lnTo>
                <a:lnTo>
                  <a:pt x="692371" y="307699"/>
                </a:lnTo>
                <a:lnTo>
                  <a:pt x="673602" y="316011"/>
                </a:lnTo>
                <a:lnTo>
                  <a:pt x="677769" y="329382"/>
                </a:lnTo>
                <a:lnTo>
                  <a:pt x="722697" y="308307"/>
                </a:lnTo>
                <a:lnTo>
                  <a:pt x="755731" y="271823"/>
                </a:lnTo>
                <a:lnTo>
                  <a:pt x="776046" y="222966"/>
                </a:lnTo>
                <a:lnTo>
                  <a:pt x="782817" y="164777"/>
                </a:lnTo>
                <a:lnTo>
                  <a:pt x="781119" y="134581"/>
                </a:lnTo>
                <a:lnTo>
                  <a:pt x="767533" y="81059"/>
                </a:lnTo>
                <a:lnTo>
                  <a:pt x="740587" y="37488"/>
                </a:lnTo>
                <a:lnTo>
                  <a:pt x="701649" y="8622"/>
                </a:lnTo>
                <a:lnTo>
                  <a:pt x="677769" y="0"/>
                </a:lnTo>
                <a:close/>
              </a:path>
              <a:path w="782954" h="329564">
                <a:moveTo>
                  <a:pt x="105048" y="0"/>
                </a:moveTo>
                <a:lnTo>
                  <a:pt x="60228" y="21118"/>
                </a:lnTo>
                <a:lnTo>
                  <a:pt x="27172" y="57732"/>
                </a:lnTo>
                <a:lnTo>
                  <a:pt x="6793" y="106676"/>
                </a:lnTo>
                <a:lnTo>
                  <a:pt x="0" y="164777"/>
                </a:lnTo>
                <a:lnTo>
                  <a:pt x="1692" y="195038"/>
                </a:lnTo>
                <a:lnTo>
                  <a:pt x="15236" y="248561"/>
                </a:lnTo>
                <a:lnTo>
                  <a:pt x="42116" y="291991"/>
                </a:lnTo>
                <a:lnTo>
                  <a:pt x="81097" y="320771"/>
                </a:lnTo>
                <a:lnTo>
                  <a:pt x="105048" y="329382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40"/>
                </a:lnTo>
                <a:lnTo>
                  <a:pt x="41025" y="86193"/>
                </a:lnTo>
                <a:lnTo>
                  <a:pt x="60657" y="47733"/>
                </a:lnTo>
                <a:lnTo>
                  <a:pt x="90739" y="21645"/>
                </a:lnTo>
                <a:lnTo>
                  <a:pt x="109735" y="13370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006721" y="2746755"/>
            <a:ext cx="56515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30">
                <a:latin typeface="Cambria Math"/>
                <a:cs typeface="Cambria Math"/>
              </a:rPr>
              <a:t>𝑢,</a:t>
            </a:r>
            <a:r>
              <a:rPr dirty="0" sz="2800" spc="-24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03265" y="2746755"/>
            <a:ext cx="148145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≤ 1</a:t>
            </a:r>
            <a:r>
              <a:rPr dirty="0" sz="2800" spc="80">
                <a:latin typeface="Cambria Math"/>
                <a:cs typeface="Cambria Math"/>
              </a:rPr>
              <a:t> </a:t>
            </a:r>
            <a:r>
              <a:rPr dirty="0" sz="2800" spc="-10">
                <a:latin typeface="Calibri"/>
                <a:cs typeface="Calibri"/>
              </a:rPr>
              <a:t>(</a:t>
            </a: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valid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30883" y="3176523"/>
            <a:ext cx="512508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probability</a:t>
            </a:r>
            <a:r>
              <a:rPr dirty="0" sz="2800" spc="-10">
                <a:latin typeface="Calibri"/>
                <a:cs typeface="Calibri"/>
              </a:rPr>
              <a:t>) because </a:t>
            </a:r>
            <a:r>
              <a:rPr dirty="0" sz="2800" spc="190">
                <a:latin typeface="Cambria Math"/>
                <a:cs typeface="Cambria Math"/>
              </a:rPr>
              <a:t>𝐹</a:t>
            </a:r>
            <a:r>
              <a:rPr dirty="0" baseline="-16666" sz="3000" spc="284">
                <a:latin typeface="Cambria Math"/>
                <a:cs typeface="Cambria Math"/>
              </a:rPr>
              <a:t>4; </a:t>
            </a:r>
            <a:r>
              <a:rPr dirty="0" sz="2800">
                <a:latin typeface="Cambria Math"/>
                <a:cs typeface="Cambria Math"/>
              </a:rPr>
              <a:t>⋅ </a:t>
            </a:r>
            <a:r>
              <a:rPr dirty="0" sz="2800" spc="130">
                <a:latin typeface="Cambria Math"/>
                <a:cs typeface="Cambria Math"/>
              </a:rPr>
              <a:t>𝐹</a:t>
            </a:r>
            <a:r>
              <a:rPr dirty="0" baseline="-16666" sz="3000" spc="195">
                <a:latin typeface="Cambria Math"/>
                <a:cs typeface="Cambria Math"/>
              </a:rPr>
              <a:t>6; </a:t>
            </a:r>
            <a:r>
              <a:rPr dirty="0" sz="2800">
                <a:latin typeface="Cambria Math"/>
                <a:cs typeface="Cambria Math"/>
              </a:rPr>
              <a:t>≥</a:t>
            </a:r>
            <a:r>
              <a:rPr dirty="0" sz="2800" spc="315">
                <a:latin typeface="Cambria Math"/>
                <a:cs typeface="Cambria Math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0.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49302" y="3762138"/>
            <a:ext cx="668655" cy="282575"/>
          </a:xfrm>
          <a:custGeom>
            <a:avLst/>
            <a:gdLst/>
            <a:ahLst/>
            <a:cxnLst/>
            <a:rect l="l" t="t" r="r" b="b"/>
            <a:pathLst>
              <a:path w="668655" h="282575">
                <a:moveTo>
                  <a:pt x="578514" y="0"/>
                </a:moveTo>
                <a:lnTo>
                  <a:pt x="574495" y="11459"/>
                </a:lnTo>
                <a:lnTo>
                  <a:pt x="590838" y="18552"/>
                </a:lnTo>
                <a:lnTo>
                  <a:pt x="604893" y="28370"/>
                </a:lnTo>
                <a:lnTo>
                  <a:pt x="633431" y="73878"/>
                </a:lnTo>
                <a:lnTo>
                  <a:pt x="641766" y="115662"/>
                </a:lnTo>
                <a:lnTo>
                  <a:pt x="642807" y="139749"/>
                </a:lnTo>
                <a:lnTo>
                  <a:pt x="641761" y="164650"/>
                </a:lnTo>
                <a:lnTo>
                  <a:pt x="633389" y="207587"/>
                </a:lnTo>
                <a:lnTo>
                  <a:pt x="604912" y="253826"/>
                </a:lnTo>
                <a:lnTo>
                  <a:pt x="574942" y="270866"/>
                </a:lnTo>
                <a:lnTo>
                  <a:pt x="578514" y="282327"/>
                </a:lnTo>
                <a:lnTo>
                  <a:pt x="617023" y="264263"/>
                </a:lnTo>
                <a:lnTo>
                  <a:pt x="645337" y="232990"/>
                </a:lnTo>
                <a:lnTo>
                  <a:pt x="662750" y="191113"/>
                </a:lnTo>
                <a:lnTo>
                  <a:pt x="668554" y="141237"/>
                </a:lnTo>
                <a:lnTo>
                  <a:pt x="667099" y="115355"/>
                </a:lnTo>
                <a:lnTo>
                  <a:pt x="655453" y="69479"/>
                </a:lnTo>
                <a:lnTo>
                  <a:pt x="632357" y="32133"/>
                </a:lnTo>
                <a:lnTo>
                  <a:pt x="598982" y="7390"/>
                </a:lnTo>
                <a:lnTo>
                  <a:pt x="578514" y="0"/>
                </a:lnTo>
                <a:close/>
              </a:path>
              <a:path w="668655" h="282575">
                <a:moveTo>
                  <a:pt x="90040" y="0"/>
                </a:moveTo>
                <a:lnTo>
                  <a:pt x="51624" y="18101"/>
                </a:lnTo>
                <a:lnTo>
                  <a:pt x="23290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267713" y="3672332"/>
            <a:ext cx="11550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400" spc="-85">
                <a:latin typeface="Cambria Math"/>
                <a:cs typeface="Cambria Math"/>
              </a:rPr>
              <a:t>𝑃</a:t>
            </a:r>
            <a:r>
              <a:rPr dirty="0" baseline="-15432" sz="2700" spc="-127">
                <a:latin typeface="Cambria Math"/>
                <a:cs typeface="Cambria Math"/>
              </a:rPr>
              <a:t>2 </a:t>
            </a:r>
            <a:r>
              <a:rPr dirty="0" sz="2400" spc="25">
                <a:latin typeface="Cambria Math"/>
                <a:cs typeface="Cambria Math"/>
              </a:rPr>
              <a:t>𝑢,  </a:t>
            </a:r>
            <a:r>
              <a:rPr dirty="0" sz="2400" spc="-105">
                <a:latin typeface="Cambria Math"/>
                <a:cs typeface="Cambria Math"/>
              </a:rPr>
              <a:t>𝑣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16580" y="3672332"/>
            <a:ext cx="5765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= 0 </a:t>
            </a:r>
            <a:r>
              <a:rPr dirty="0" sz="2400" spc="-10">
                <a:latin typeface="Calibri"/>
                <a:cs typeface="Calibri"/>
              </a:rPr>
              <a:t>iff </a:t>
            </a:r>
            <a:r>
              <a:rPr dirty="0" sz="2400" spc="-5">
                <a:latin typeface="Cambria Math"/>
                <a:cs typeface="Cambria Math"/>
              </a:rPr>
              <a:t>𝐹</a:t>
            </a:r>
            <a:r>
              <a:rPr dirty="0" baseline="-15432" sz="2700" spc="-7">
                <a:latin typeface="Cambria Math"/>
                <a:cs typeface="Cambria Math"/>
              </a:rPr>
              <a:t>L2 </a:t>
            </a:r>
            <a:r>
              <a:rPr dirty="0" sz="2400">
                <a:latin typeface="Cambria Math"/>
                <a:cs typeface="Cambria Math"/>
              </a:rPr>
              <a:t>⋅ </a:t>
            </a:r>
            <a:r>
              <a:rPr dirty="0" sz="2400" spc="-225">
                <a:latin typeface="Cambria Math"/>
                <a:cs typeface="Cambria Math"/>
              </a:rPr>
              <a:t>𝐹</a:t>
            </a:r>
            <a:r>
              <a:rPr dirty="0" baseline="-15432" sz="2700" spc="-337">
                <a:latin typeface="Cambria Math"/>
                <a:cs typeface="Cambria Math"/>
              </a:rPr>
              <a:t>M2    </a:t>
            </a:r>
            <a:r>
              <a:rPr dirty="0" sz="2400">
                <a:latin typeface="Cambria Math"/>
                <a:cs typeface="Cambria Math"/>
              </a:rPr>
              <a:t>= 0 </a:t>
            </a:r>
            <a:r>
              <a:rPr dirty="0" sz="2400" spc="-5">
                <a:latin typeface="Calibri"/>
                <a:cs typeface="Calibri"/>
              </a:rPr>
              <a:t>(i.e., </a:t>
            </a:r>
            <a:r>
              <a:rPr dirty="0" sz="2400" spc="-5">
                <a:latin typeface="Cambria Math"/>
                <a:cs typeface="Cambria Math"/>
              </a:rPr>
              <a:t>𝐹</a:t>
            </a:r>
            <a:r>
              <a:rPr dirty="0" baseline="-15432" sz="2700" spc="-7">
                <a:latin typeface="Cambria Math"/>
                <a:cs typeface="Cambria Math"/>
              </a:rPr>
              <a:t>L2  </a:t>
            </a:r>
            <a:r>
              <a:rPr dirty="0" sz="2400">
                <a:latin typeface="Cambria Math"/>
                <a:cs typeface="Cambria Math"/>
              </a:rPr>
              <a:t>= 0 </a:t>
            </a:r>
            <a:r>
              <a:rPr dirty="0" sz="2400" spc="-5">
                <a:latin typeface="Calibri"/>
                <a:cs typeface="Calibri"/>
              </a:rPr>
              <a:t>or </a:t>
            </a:r>
            <a:r>
              <a:rPr dirty="0" sz="2400" spc="-225">
                <a:latin typeface="Cambria Math"/>
                <a:cs typeface="Cambria Math"/>
              </a:rPr>
              <a:t>𝐹</a:t>
            </a:r>
            <a:r>
              <a:rPr dirty="0" baseline="-15432" sz="2700" spc="-337">
                <a:latin typeface="Cambria Math"/>
                <a:cs typeface="Cambria Math"/>
              </a:rPr>
              <a:t>M2   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290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</a:t>
            </a:r>
            <a:r>
              <a:rPr dirty="0" sz="2400" spc="-5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32508" y="4040123"/>
            <a:ext cx="5200650" cy="763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9850" marR="5080" indent="-57150">
              <a:lnSpc>
                <a:spcPct val="121000"/>
              </a:lnSpc>
              <a:spcBef>
                <a:spcPts val="100"/>
              </a:spcBef>
              <a:buClr>
                <a:srgbClr val="6BB76D"/>
              </a:buClr>
              <a:buFont typeface="Malgun Gothic"/>
              <a:buChar char="▪"/>
              <a:tabLst>
                <a:tab pos="195580" algn="l"/>
              </a:tabLst>
            </a:pPr>
            <a:r>
              <a:rPr dirty="0" sz="2000" spc="-5">
                <a:latin typeface="Calibri"/>
                <a:cs typeface="Calibri"/>
              </a:rPr>
              <a:t>Nodes </a:t>
            </a:r>
            <a:r>
              <a:rPr dirty="0" sz="2000">
                <a:latin typeface="Cambria Math"/>
                <a:cs typeface="Cambria Math"/>
              </a:rPr>
              <a:t>𝑢 </a:t>
            </a:r>
            <a:r>
              <a:rPr dirty="0" sz="2000" spc="-5">
                <a:latin typeface="Calibri"/>
                <a:cs typeface="Calibri"/>
              </a:rPr>
              <a:t>or </a:t>
            </a:r>
            <a:r>
              <a:rPr dirty="0" sz="2000">
                <a:latin typeface="Cambria Math"/>
                <a:cs typeface="Cambria Math"/>
              </a:rPr>
              <a:t>𝑣 </a:t>
            </a:r>
            <a:r>
              <a:rPr dirty="0" sz="2000" spc="-10">
                <a:latin typeface="Calibri"/>
                <a:cs typeface="Calibri"/>
              </a:rPr>
              <a:t>are </a:t>
            </a:r>
            <a:r>
              <a:rPr dirty="0" sz="2000" spc="-5">
                <a:solidFill>
                  <a:srgbClr val="C00000"/>
                </a:solidFill>
                <a:latin typeface="Calibri"/>
                <a:cs typeface="Calibri"/>
              </a:rPr>
              <a:t>not </a:t>
            </a:r>
            <a:r>
              <a:rPr dirty="0" sz="2000" spc="-10">
                <a:latin typeface="Calibri"/>
                <a:cs typeface="Calibri"/>
              </a:rPr>
              <a:t>connected </a:t>
            </a:r>
            <a:r>
              <a:rPr dirty="0" sz="2000" spc="-5">
                <a:latin typeface="Calibri"/>
                <a:cs typeface="Calibri"/>
              </a:rPr>
              <a:t>via </a:t>
            </a:r>
            <a:r>
              <a:rPr dirty="0" sz="2000">
                <a:latin typeface="Cambria Math"/>
                <a:cs typeface="Cambria Math"/>
              </a:rPr>
              <a:t>𝐶 </a:t>
            </a:r>
            <a:r>
              <a:rPr dirty="0" sz="2000" spc="-10">
                <a:latin typeface="Calibri"/>
                <a:cs typeface="Calibri"/>
              </a:rPr>
              <a:t>iff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at </a:t>
            </a:r>
            <a:r>
              <a:rPr dirty="0" sz="2000" spc="-45" b="1">
                <a:solidFill>
                  <a:srgbClr val="C00000"/>
                </a:solidFill>
                <a:latin typeface="Calibri"/>
                <a:cs typeface="Calibri"/>
              </a:rPr>
              <a:t>least 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one of them </a:t>
            </a:r>
            <a:r>
              <a:rPr dirty="0" sz="2000" spc="-5">
                <a:solidFill>
                  <a:srgbClr val="C00000"/>
                </a:solidFill>
                <a:latin typeface="Calibri"/>
                <a:cs typeface="Calibri"/>
              </a:rPr>
              <a:t>has </a:t>
            </a:r>
            <a:r>
              <a:rPr dirty="0" sz="2000" spc="-20">
                <a:solidFill>
                  <a:srgbClr val="C00000"/>
                </a:solidFill>
                <a:latin typeface="Calibri"/>
                <a:cs typeface="Calibri"/>
              </a:rPr>
              <a:t>zero </a:t>
            </a:r>
            <a:r>
              <a:rPr dirty="0" sz="2000" spc="-5">
                <a:solidFill>
                  <a:srgbClr val="C00000"/>
                </a:solidFill>
                <a:latin typeface="Calibri"/>
                <a:cs typeface="Calibri"/>
              </a:rPr>
              <a:t>membership </a:t>
            </a:r>
            <a:r>
              <a:rPr dirty="0" sz="2000" spc="-15">
                <a:solidFill>
                  <a:srgbClr val="C00000"/>
                </a:solidFill>
                <a:latin typeface="Calibri"/>
                <a:cs typeface="Calibri"/>
              </a:rPr>
              <a:t>strength for</a:t>
            </a:r>
            <a:r>
              <a:rPr dirty="0" sz="2000" spc="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30">
                <a:solidFill>
                  <a:srgbClr val="C00000"/>
                </a:solidFill>
                <a:latin typeface="Cambria Math"/>
                <a:cs typeface="Cambria Math"/>
              </a:rPr>
              <a:t>𝐶</a:t>
            </a:r>
            <a:r>
              <a:rPr dirty="0" sz="2000" spc="30">
                <a:solidFill>
                  <a:srgbClr val="C00000"/>
                </a:solidFill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49302" y="4943238"/>
            <a:ext cx="668655" cy="282575"/>
          </a:xfrm>
          <a:custGeom>
            <a:avLst/>
            <a:gdLst/>
            <a:ahLst/>
            <a:cxnLst/>
            <a:rect l="l" t="t" r="r" b="b"/>
            <a:pathLst>
              <a:path w="668655" h="282575">
                <a:moveTo>
                  <a:pt x="578514" y="0"/>
                </a:moveTo>
                <a:lnTo>
                  <a:pt x="574495" y="11460"/>
                </a:lnTo>
                <a:lnTo>
                  <a:pt x="590838" y="18552"/>
                </a:lnTo>
                <a:lnTo>
                  <a:pt x="604893" y="28370"/>
                </a:lnTo>
                <a:lnTo>
                  <a:pt x="633431" y="73878"/>
                </a:lnTo>
                <a:lnTo>
                  <a:pt x="641766" y="115662"/>
                </a:lnTo>
                <a:lnTo>
                  <a:pt x="642807" y="139749"/>
                </a:lnTo>
                <a:lnTo>
                  <a:pt x="641761" y="164650"/>
                </a:lnTo>
                <a:lnTo>
                  <a:pt x="633389" y="207587"/>
                </a:lnTo>
                <a:lnTo>
                  <a:pt x="604912" y="253826"/>
                </a:lnTo>
                <a:lnTo>
                  <a:pt x="574942" y="270866"/>
                </a:lnTo>
                <a:lnTo>
                  <a:pt x="578514" y="282327"/>
                </a:lnTo>
                <a:lnTo>
                  <a:pt x="617023" y="264263"/>
                </a:lnTo>
                <a:lnTo>
                  <a:pt x="645337" y="232990"/>
                </a:lnTo>
                <a:lnTo>
                  <a:pt x="662750" y="191113"/>
                </a:lnTo>
                <a:lnTo>
                  <a:pt x="668554" y="141237"/>
                </a:lnTo>
                <a:lnTo>
                  <a:pt x="667099" y="115355"/>
                </a:lnTo>
                <a:lnTo>
                  <a:pt x="655453" y="69479"/>
                </a:lnTo>
                <a:lnTo>
                  <a:pt x="632357" y="32133"/>
                </a:lnTo>
                <a:lnTo>
                  <a:pt x="598982" y="7390"/>
                </a:lnTo>
                <a:lnTo>
                  <a:pt x="578514" y="0"/>
                </a:lnTo>
                <a:close/>
              </a:path>
              <a:path w="668655" h="282575">
                <a:moveTo>
                  <a:pt x="90040" y="0"/>
                </a:moveTo>
                <a:lnTo>
                  <a:pt x="51624" y="18101"/>
                </a:lnTo>
                <a:lnTo>
                  <a:pt x="23290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58" y="11460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267713" y="4793996"/>
            <a:ext cx="5601335" cy="117665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80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  <a:tab pos="1361440" algn="l"/>
              </a:tabLst>
            </a:pPr>
            <a:r>
              <a:rPr dirty="0" sz="2400" spc="-85">
                <a:latin typeface="Cambria Math"/>
                <a:cs typeface="Cambria Math"/>
              </a:rPr>
              <a:t>𝑃</a:t>
            </a:r>
            <a:r>
              <a:rPr dirty="0" baseline="-15432" sz="2700" spc="-127">
                <a:latin typeface="Cambria Math"/>
                <a:cs typeface="Cambria Math"/>
              </a:rPr>
              <a:t>2 </a:t>
            </a:r>
            <a:r>
              <a:rPr dirty="0" baseline="-15432" sz="2700" spc="209">
                <a:latin typeface="Cambria Math"/>
                <a:cs typeface="Cambria Math"/>
              </a:rPr>
              <a:t> </a:t>
            </a:r>
            <a:r>
              <a:rPr dirty="0" sz="2400" spc="25">
                <a:latin typeface="Cambria Math"/>
                <a:cs typeface="Cambria Math"/>
              </a:rPr>
              <a:t>𝑢,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𝑣	≈ 1 </a:t>
            </a:r>
            <a:r>
              <a:rPr dirty="0" sz="2400" spc="-10">
                <a:latin typeface="Calibri"/>
                <a:cs typeface="Calibri"/>
              </a:rPr>
              <a:t>iff </a:t>
            </a:r>
            <a:r>
              <a:rPr dirty="0" sz="2400" spc="-5">
                <a:latin typeface="Cambria Math"/>
                <a:cs typeface="Cambria Math"/>
              </a:rPr>
              <a:t>𝐹</a:t>
            </a:r>
            <a:r>
              <a:rPr dirty="0" baseline="-15432" sz="2700" spc="-7">
                <a:latin typeface="Cambria Math"/>
                <a:cs typeface="Cambria Math"/>
              </a:rPr>
              <a:t>L2 </a:t>
            </a:r>
            <a:r>
              <a:rPr dirty="0" sz="2400">
                <a:latin typeface="Cambria Math"/>
                <a:cs typeface="Cambria Math"/>
              </a:rPr>
              <a:t>⋅ </a:t>
            </a:r>
            <a:r>
              <a:rPr dirty="0" sz="2400" spc="-225">
                <a:latin typeface="Cambria Math"/>
                <a:cs typeface="Cambria Math"/>
              </a:rPr>
              <a:t>𝐹</a:t>
            </a:r>
            <a:r>
              <a:rPr dirty="0" baseline="-15432" sz="2700" spc="-337">
                <a:latin typeface="Cambria Math"/>
                <a:cs typeface="Cambria Math"/>
              </a:rPr>
              <a:t>M2   </a:t>
            </a:r>
            <a:r>
              <a:rPr dirty="0" sz="2400" spc="-5">
                <a:latin typeface="Calibri"/>
                <a:cs typeface="Calibri"/>
              </a:rPr>
              <a:t>is</a:t>
            </a:r>
            <a:r>
              <a:rPr dirty="0" sz="2400" spc="190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large.</a:t>
            </a:r>
            <a:endParaRPr sz="2400">
              <a:latin typeface="Calibri"/>
              <a:cs typeface="Calibri"/>
            </a:endParaRPr>
          </a:p>
          <a:p>
            <a:pPr lvl="1" marL="460375" indent="-182880">
              <a:lnSpc>
                <a:spcPct val="100000"/>
              </a:lnSpc>
              <a:spcBef>
                <a:spcPts val="400"/>
              </a:spcBef>
              <a:buClr>
                <a:srgbClr val="6BB76D"/>
              </a:buClr>
              <a:buFont typeface="Malgun Gothic"/>
              <a:buChar char="▪"/>
              <a:tabLst>
                <a:tab pos="460375" algn="l"/>
              </a:tabLst>
            </a:pPr>
            <a:r>
              <a:rPr dirty="0" sz="2000" spc="-5">
                <a:latin typeface="Calibri"/>
                <a:cs typeface="Calibri"/>
              </a:rPr>
              <a:t>Nodes </a:t>
            </a:r>
            <a:r>
              <a:rPr dirty="0" sz="2000">
                <a:latin typeface="Cambria Math"/>
                <a:cs typeface="Cambria Math"/>
              </a:rPr>
              <a:t>𝑢 </a:t>
            </a:r>
            <a:r>
              <a:rPr dirty="0" sz="2000" spc="-5">
                <a:latin typeface="Calibri"/>
                <a:cs typeface="Calibri"/>
              </a:rPr>
              <a:t>or </a:t>
            </a:r>
            <a:r>
              <a:rPr dirty="0" sz="2000">
                <a:latin typeface="Cambria Math"/>
                <a:cs typeface="Cambria Math"/>
              </a:rPr>
              <a:t>𝑣 </a:t>
            </a:r>
            <a:r>
              <a:rPr dirty="0" sz="2000" spc="-10">
                <a:latin typeface="Calibri"/>
                <a:cs typeface="Calibri"/>
              </a:rPr>
              <a:t>are connected </a:t>
            </a:r>
            <a:r>
              <a:rPr dirty="0" sz="2000" spc="-5">
                <a:latin typeface="Calibri"/>
                <a:cs typeface="Calibri"/>
              </a:rPr>
              <a:t>via </a:t>
            </a:r>
            <a:r>
              <a:rPr dirty="0" sz="2000">
                <a:latin typeface="Cambria Math"/>
                <a:cs typeface="Cambria Math"/>
              </a:rPr>
              <a:t>𝐶 </a:t>
            </a:r>
            <a:r>
              <a:rPr dirty="0" sz="2000" spc="-10">
                <a:latin typeface="Calibri"/>
                <a:cs typeface="Calibri"/>
              </a:rPr>
              <a:t>iff </a:t>
            </a:r>
            <a:r>
              <a:rPr dirty="0" sz="2000" spc="-5" b="1">
                <a:solidFill>
                  <a:srgbClr val="0000FF"/>
                </a:solidFill>
                <a:latin typeface="Calibri"/>
                <a:cs typeface="Calibri"/>
              </a:rPr>
              <a:t>both </a:t>
            </a:r>
            <a:r>
              <a:rPr dirty="0" sz="2000">
                <a:solidFill>
                  <a:srgbClr val="0000FF"/>
                </a:solidFill>
                <a:latin typeface="Cambria Math"/>
                <a:cs typeface="Cambria Math"/>
              </a:rPr>
              <a:t>𝑢 </a:t>
            </a:r>
            <a:r>
              <a:rPr dirty="0" sz="2000" spc="-5">
                <a:solidFill>
                  <a:srgbClr val="0000FF"/>
                </a:solidFill>
                <a:latin typeface="Calibri"/>
                <a:cs typeface="Calibri"/>
              </a:rPr>
              <a:t>and  </a:t>
            </a:r>
            <a:r>
              <a:rPr dirty="0" sz="2000" spc="-160">
                <a:solidFill>
                  <a:srgbClr val="0000FF"/>
                </a:solidFill>
                <a:latin typeface="Cambria Math"/>
                <a:cs typeface="Cambria Math"/>
              </a:rPr>
              <a:t>𝑣</a:t>
            </a:r>
            <a:endParaRPr sz="2000">
              <a:latin typeface="Cambria Math"/>
              <a:cs typeface="Cambria Math"/>
            </a:endParaRPr>
          </a:p>
          <a:p>
            <a:pPr marL="448309">
              <a:lnSpc>
                <a:spcPct val="100000"/>
              </a:lnSpc>
              <a:spcBef>
                <a:spcPts val="500"/>
              </a:spcBef>
            </a:pPr>
            <a:r>
              <a:rPr dirty="0" sz="2000" spc="-15">
                <a:solidFill>
                  <a:srgbClr val="0000FF"/>
                </a:solidFill>
                <a:latin typeface="Calibri"/>
                <a:cs typeface="Calibri"/>
              </a:rPr>
              <a:t>have </a:t>
            </a:r>
            <a:r>
              <a:rPr dirty="0" sz="2000" spc="-5">
                <a:solidFill>
                  <a:srgbClr val="0000FF"/>
                </a:solidFill>
                <a:latin typeface="Calibri"/>
                <a:cs typeface="Calibri"/>
              </a:rPr>
              <a:t>nigh membership </a:t>
            </a:r>
            <a:r>
              <a:rPr dirty="0" sz="2000" spc="-15">
                <a:solidFill>
                  <a:srgbClr val="0000FF"/>
                </a:solidFill>
                <a:latin typeface="Calibri"/>
                <a:cs typeface="Calibri"/>
              </a:rPr>
              <a:t>strength for</a:t>
            </a:r>
            <a:r>
              <a:rPr dirty="0" sz="200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000" spc="30">
                <a:solidFill>
                  <a:srgbClr val="0000FF"/>
                </a:solidFill>
                <a:latin typeface="Cambria Math"/>
                <a:cs typeface="Cambria Math"/>
              </a:rPr>
              <a:t>𝐶.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36082" y="4283529"/>
            <a:ext cx="555625" cy="462915"/>
          </a:xfrm>
          <a:prstGeom prst="rect">
            <a:avLst/>
          </a:prstGeom>
          <a:solidFill>
            <a:srgbClr val="C4E2C5"/>
          </a:solidFill>
          <a:ln w="38100">
            <a:solidFill>
              <a:srgbClr val="008000"/>
            </a:solidFill>
          </a:ln>
        </p:spPr>
        <p:txBody>
          <a:bodyPr wrap="square" lIns="0" tIns="28575" rIns="0" bIns="0" rtlCol="0" vert="horz">
            <a:spAutoFit/>
          </a:bodyPr>
          <a:lstStyle/>
          <a:p>
            <a:pPr marL="173355">
              <a:lnSpc>
                <a:spcPct val="100000"/>
              </a:lnSpc>
              <a:spcBef>
                <a:spcPts val="225"/>
              </a:spcBef>
            </a:pPr>
            <a:r>
              <a:rPr dirty="0" sz="2400">
                <a:latin typeface="Cambria Math"/>
                <a:cs typeface="Cambria Math"/>
              </a:rPr>
              <a:t>𝐶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188800" y="5867400"/>
            <a:ext cx="547370" cy="544830"/>
          </a:xfrm>
          <a:custGeom>
            <a:avLst/>
            <a:gdLst/>
            <a:ahLst/>
            <a:cxnLst/>
            <a:rect l="l" t="t" r="r" b="b"/>
            <a:pathLst>
              <a:path w="547370" h="544829">
                <a:moveTo>
                  <a:pt x="273641" y="0"/>
                </a:moveTo>
                <a:lnTo>
                  <a:pt x="224454" y="4384"/>
                </a:lnTo>
                <a:lnTo>
                  <a:pt x="178159" y="17025"/>
                </a:lnTo>
                <a:lnTo>
                  <a:pt x="135529" y="37155"/>
                </a:lnTo>
                <a:lnTo>
                  <a:pt x="97337" y="64004"/>
                </a:lnTo>
                <a:lnTo>
                  <a:pt x="64356" y="96804"/>
                </a:lnTo>
                <a:lnTo>
                  <a:pt x="37360" y="134787"/>
                </a:lnTo>
                <a:lnTo>
                  <a:pt x="17119" y="177183"/>
                </a:lnTo>
                <a:lnTo>
                  <a:pt x="4408" y="223224"/>
                </a:lnTo>
                <a:lnTo>
                  <a:pt x="0" y="272142"/>
                </a:lnTo>
                <a:lnTo>
                  <a:pt x="4408" y="321061"/>
                </a:lnTo>
                <a:lnTo>
                  <a:pt x="17119" y="367102"/>
                </a:lnTo>
                <a:lnTo>
                  <a:pt x="37360" y="409498"/>
                </a:lnTo>
                <a:lnTo>
                  <a:pt x="64356" y="447481"/>
                </a:lnTo>
                <a:lnTo>
                  <a:pt x="97337" y="480281"/>
                </a:lnTo>
                <a:lnTo>
                  <a:pt x="135529" y="507130"/>
                </a:lnTo>
                <a:lnTo>
                  <a:pt x="178159" y="527259"/>
                </a:lnTo>
                <a:lnTo>
                  <a:pt x="224454" y="539901"/>
                </a:lnTo>
                <a:lnTo>
                  <a:pt x="273641" y="544285"/>
                </a:lnTo>
                <a:lnTo>
                  <a:pt x="322829" y="539901"/>
                </a:lnTo>
                <a:lnTo>
                  <a:pt x="369124" y="527259"/>
                </a:lnTo>
                <a:lnTo>
                  <a:pt x="411753" y="507130"/>
                </a:lnTo>
                <a:lnTo>
                  <a:pt x="449945" y="480281"/>
                </a:lnTo>
                <a:lnTo>
                  <a:pt x="482926" y="447481"/>
                </a:lnTo>
                <a:lnTo>
                  <a:pt x="509923" y="409498"/>
                </a:lnTo>
                <a:lnTo>
                  <a:pt x="530163" y="367102"/>
                </a:lnTo>
                <a:lnTo>
                  <a:pt x="542874" y="321061"/>
                </a:lnTo>
                <a:lnTo>
                  <a:pt x="547283" y="272142"/>
                </a:lnTo>
                <a:lnTo>
                  <a:pt x="542874" y="223224"/>
                </a:lnTo>
                <a:lnTo>
                  <a:pt x="530163" y="177183"/>
                </a:lnTo>
                <a:lnTo>
                  <a:pt x="509923" y="134787"/>
                </a:lnTo>
                <a:lnTo>
                  <a:pt x="482926" y="96804"/>
                </a:lnTo>
                <a:lnTo>
                  <a:pt x="449945" y="64004"/>
                </a:lnTo>
                <a:lnTo>
                  <a:pt x="411753" y="37155"/>
                </a:lnTo>
                <a:lnTo>
                  <a:pt x="369124" y="17025"/>
                </a:lnTo>
                <a:lnTo>
                  <a:pt x="322829" y="4384"/>
                </a:lnTo>
                <a:lnTo>
                  <a:pt x="273641" y="0"/>
                </a:lnTo>
                <a:close/>
              </a:path>
            </a:pathLst>
          </a:custGeom>
          <a:solidFill>
            <a:srgbClr val="F0A7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188800" y="5867400"/>
            <a:ext cx="547370" cy="544830"/>
          </a:xfrm>
          <a:custGeom>
            <a:avLst/>
            <a:gdLst/>
            <a:ahLst/>
            <a:cxnLst/>
            <a:rect l="l" t="t" r="r" b="b"/>
            <a:pathLst>
              <a:path w="547370" h="544829">
                <a:moveTo>
                  <a:pt x="0" y="272143"/>
                </a:moveTo>
                <a:lnTo>
                  <a:pt x="4408" y="223224"/>
                </a:lnTo>
                <a:lnTo>
                  <a:pt x="17119" y="177183"/>
                </a:lnTo>
                <a:lnTo>
                  <a:pt x="37360" y="134787"/>
                </a:lnTo>
                <a:lnTo>
                  <a:pt x="64357" y="96804"/>
                </a:lnTo>
                <a:lnTo>
                  <a:pt x="97337" y="64004"/>
                </a:lnTo>
                <a:lnTo>
                  <a:pt x="135529" y="37155"/>
                </a:lnTo>
                <a:lnTo>
                  <a:pt x="178159" y="17025"/>
                </a:lnTo>
                <a:lnTo>
                  <a:pt x="224454" y="4384"/>
                </a:lnTo>
                <a:lnTo>
                  <a:pt x="273641" y="0"/>
                </a:lnTo>
                <a:lnTo>
                  <a:pt x="322828" y="4384"/>
                </a:lnTo>
                <a:lnTo>
                  <a:pt x="369123" y="17025"/>
                </a:lnTo>
                <a:lnTo>
                  <a:pt x="411753" y="37155"/>
                </a:lnTo>
                <a:lnTo>
                  <a:pt x="449945" y="64004"/>
                </a:lnTo>
                <a:lnTo>
                  <a:pt x="482925" y="96804"/>
                </a:lnTo>
                <a:lnTo>
                  <a:pt x="509922" y="134787"/>
                </a:lnTo>
                <a:lnTo>
                  <a:pt x="530163" y="177183"/>
                </a:lnTo>
                <a:lnTo>
                  <a:pt x="542874" y="223224"/>
                </a:lnTo>
                <a:lnTo>
                  <a:pt x="547283" y="272143"/>
                </a:lnTo>
                <a:lnTo>
                  <a:pt x="542874" y="321061"/>
                </a:lnTo>
                <a:lnTo>
                  <a:pt x="530163" y="367102"/>
                </a:lnTo>
                <a:lnTo>
                  <a:pt x="509922" y="409498"/>
                </a:lnTo>
                <a:lnTo>
                  <a:pt x="482925" y="447481"/>
                </a:lnTo>
                <a:lnTo>
                  <a:pt x="449945" y="480281"/>
                </a:lnTo>
                <a:lnTo>
                  <a:pt x="411753" y="507130"/>
                </a:lnTo>
                <a:lnTo>
                  <a:pt x="369123" y="527260"/>
                </a:lnTo>
                <a:lnTo>
                  <a:pt x="322828" y="539901"/>
                </a:lnTo>
                <a:lnTo>
                  <a:pt x="273641" y="544286"/>
                </a:lnTo>
                <a:lnTo>
                  <a:pt x="224454" y="539901"/>
                </a:lnTo>
                <a:lnTo>
                  <a:pt x="178159" y="527260"/>
                </a:lnTo>
                <a:lnTo>
                  <a:pt x="135529" y="507130"/>
                </a:lnTo>
                <a:lnTo>
                  <a:pt x="97337" y="480281"/>
                </a:lnTo>
                <a:lnTo>
                  <a:pt x="64357" y="447481"/>
                </a:lnTo>
                <a:lnTo>
                  <a:pt x="37360" y="409498"/>
                </a:lnTo>
                <a:lnTo>
                  <a:pt x="17119" y="367102"/>
                </a:lnTo>
                <a:lnTo>
                  <a:pt x="4408" y="321061"/>
                </a:lnTo>
                <a:lnTo>
                  <a:pt x="0" y="272143"/>
                </a:lnTo>
                <a:close/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386229" y="5867400"/>
            <a:ext cx="547370" cy="544830"/>
          </a:xfrm>
          <a:custGeom>
            <a:avLst/>
            <a:gdLst/>
            <a:ahLst/>
            <a:cxnLst/>
            <a:rect l="l" t="t" r="r" b="b"/>
            <a:pathLst>
              <a:path w="547370" h="544829">
                <a:moveTo>
                  <a:pt x="273640" y="0"/>
                </a:moveTo>
                <a:lnTo>
                  <a:pt x="224453" y="4384"/>
                </a:lnTo>
                <a:lnTo>
                  <a:pt x="178158" y="17025"/>
                </a:lnTo>
                <a:lnTo>
                  <a:pt x="135528" y="37155"/>
                </a:lnTo>
                <a:lnTo>
                  <a:pt x="97337" y="64004"/>
                </a:lnTo>
                <a:lnTo>
                  <a:pt x="64356" y="96804"/>
                </a:lnTo>
                <a:lnTo>
                  <a:pt x="37359" y="134787"/>
                </a:lnTo>
                <a:lnTo>
                  <a:pt x="17119" y="177183"/>
                </a:lnTo>
                <a:lnTo>
                  <a:pt x="4408" y="223224"/>
                </a:lnTo>
                <a:lnTo>
                  <a:pt x="0" y="272142"/>
                </a:lnTo>
                <a:lnTo>
                  <a:pt x="4408" y="321061"/>
                </a:lnTo>
                <a:lnTo>
                  <a:pt x="17119" y="367102"/>
                </a:lnTo>
                <a:lnTo>
                  <a:pt x="37359" y="409498"/>
                </a:lnTo>
                <a:lnTo>
                  <a:pt x="64356" y="447481"/>
                </a:lnTo>
                <a:lnTo>
                  <a:pt x="97337" y="480281"/>
                </a:lnTo>
                <a:lnTo>
                  <a:pt x="135528" y="507130"/>
                </a:lnTo>
                <a:lnTo>
                  <a:pt x="178158" y="527259"/>
                </a:lnTo>
                <a:lnTo>
                  <a:pt x="224453" y="539901"/>
                </a:lnTo>
                <a:lnTo>
                  <a:pt x="273640" y="544285"/>
                </a:lnTo>
                <a:lnTo>
                  <a:pt x="322828" y="539901"/>
                </a:lnTo>
                <a:lnTo>
                  <a:pt x="369123" y="527259"/>
                </a:lnTo>
                <a:lnTo>
                  <a:pt x="411753" y="507130"/>
                </a:lnTo>
                <a:lnTo>
                  <a:pt x="449944" y="480281"/>
                </a:lnTo>
                <a:lnTo>
                  <a:pt x="482925" y="447481"/>
                </a:lnTo>
                <a:lnTo>
                  <a:pt x="509922" y="409498"/>
                </a:lnTo>
                <a:lnTo>
                  <a:pt x="530162" y="367102"/>
                </a:lnTo>
                <a:lnTo>
                  <a:pt x="542873" y="321061"/>
                </a:lnTo>
                <a:lnTo>
                  <a:pt x="547282" y="272142"/>
                </a:lnTo>
                <a:lnTo>
                  <a:pt x="542873" y="223224"/>
                </a:lnTo>
                <a:lnTo>
                  <a:pt x="530162" y="177183"/>
                </a:lnTo>
                <a:lnTo>
                  <a:pt x="509922" y="134787"/>
                </a:lnTo>
                <a:lnTo>
                  <a:pt x="482925" y="96804"/>
                </a:lnTo>
                <a:lnTo>
                  <a:pt x="449944" y="64004"/>
                </a:lnTo>
                <a:lnTo>
                  <a:pt x="411753" y="37155"/>
                </a:lnTo>
                <a:lnTo>
                  <a:pt x="369123" y="17025"/>
                </a:lnTo>
                <a:lnTo>
                  <a:pt x="322828" y="4384"/>
                </a:lnTo>
                <a:lnTo>
                  <a:pt x="273640" y="0"/>
                </a:lnTo>
                <a:close/>
              </a:path>
            </a:pathLst>
          </a:custGeom>
          <a:solidFill>
            <a:srgbClr val="F0A7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386229" y="5867400"/>
            <a:ext cx="547370" cy="544830"/>
          </a:xfrm>
          <a:custGeom>
            <a:avLst/>
            <a:gdLst/>
            <a:ahLst/>
            <a:cxnLst/>
            <a:rect l="l" t="t" r="r" b="b"/>
            <a:pathLst>
              <a:path w="547370" h="544829">
                <a:moveTo>
                  <a:pt x="0" y="272143"/>
                </a:moveTo>
                <a:lnTo>
                  <a:pt x="4408" y="223224"/>
                </a:lnTo>
                <a:lnTo>
                  <a:pt x="17119" y="177183"/>
                </a:lnTo>
                <a:lnTo>
                  <a:pt x="37360" y="134787"/>
                </a:lnTo>
                <a:lnTo>
                  <a:pt x="64357" y="96804"/>
                </a:lnTo>
                <a:lnTo>
                  <a:pt x="97337" y="64004"/>
                </a:lnTo>
                <a:lnTo>
                  <a:pt x="135529" y="37155"/>
                </a:lnTo>
                <a:lnTo>
                  <a:pt x="178159" y="17025"/>
                </a:lnTo>
                <a:lnTo>
                  <a:pt x="224454" y="4384"/>
                </a:lnTo>
                <a:lnTo>
                  <a:pt x="273641" y="0"/>
                </a:lnTo>
                <a:lnTo>
                  <a:pt x="322828" y="4384"/>
                </a:lnTo>
                <a:lnTo>
                  <a:pt x="369123" y="17025"/>
                </a:lnTo>
                <a:lnTo>
                  <a:pt x="411753" y="37155"/>
                </a:lnTo>
                <a:lnTo>
                  <a:pt x="449945" y="64004"/>
                </a:lnTo>
                <a:lnTo>
                  <a:pt x="482925" y="96804"/>
                </a:lnTo>
                <a:lnTo>
                  <a:pt x="509922" y="134787"/>
                </a:lnTo>
                <a:lnTo>
                  <a:pt x="530163" y="177183"/>
                </a:lnTo>
                <a:lnTo>
                  <a:pt x="542874" y="223224"/>
                </a:lnTo>
                <a:lnTo>
                  <a:pt x="547283" y="272143"/>
                </a:lnTo>
                <a:lnTo>
                  <a:pt x="542874" y="321061"/>
                </a:lnTo>
                <a:lnTo>
                  <a:pt x="530163" y="367102"/>
                </a:lnTo>
                <a:lnTo>
                  <a:pt x="509922" y="409498"/>
                </a:lnTo>
                <a:lnTo>
                  <a:pt x="482925" y="447481"/>
                </a:lnTo>
                <a:lnTo>
                  <a:pt x="449945" y="480281"/>
                </a:lnTo>
                <a:lnTo>
                  <a:pt x="411753" y="507130"/>
                </a:lnTo>
                <a:lnTo>
                  <a:pt x="369123" y="527260"/>
                </a:lnTo>
                <a:lnTo>
                  <a:pt x="322828" y="539901"/>
                </a:lnTo>
                <a:lnTo>
                  <a:pt x="273641" y="544286"/>
                </a:lnTo>
                <a:lnTo>
                  <a:pt x="224454" y="539901"/>
                </a:lnTo>
                <a:lnTo>
                  <a:pt x="178159" y="527260"/>
                </a:lnTo>
                <a:lnTo>
                  <a:pt x="135529" y="507130"/>
                </a:lnTo>
                <a:lnTo>
                  <a:pt x="97337" y="480281"/>
                </a:lnTo>
                <a:lnTo>
                  <a:pt x="64357" y="447481"/>
                </a:lnTo>
                <a:lnTo>
                  <a:pt x="37360" y="409498"/>
                </a:lnTo>
                <a:lnTo>
                  <a:pt x="17119" y="367102"/>
                </a:lnTo>
                <a:lnTo>
                  <a:pt x="4408" y="321061"/>
                </a:lnTo>
                <a:lnTo>
                  <a:pt x="0" y="272143"/>
                </a:lnTo>
                <a:close/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7358295" y="5927852"/>
            <a:ext cx="2006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𝑢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48801" y="5927852"/>
            <a:ext cx="1917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𝑣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462442" y="4759191"/>
            <a:ext cx="565150" cy="1108710"/>
          </a:xfrm>
          <a:custGeom>
            <a:avLst/>
            <a:gdLst/>
            <a:ahLst/>
            <a:cxnLst/>
            <a:rect l="l" t="t" r="r" b="b"/>
            <a:pathLst>
              <a:path w="565150" h="1108710">
                <a:moveTo>
                  <a:pt x="564816" y="0"/>
                </a:moveTo>
                <a:lnTo>
                  <a:pt x="0" y="110820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8027258" y="4759191"/>
            <a:ext cx="633095" cy="1108710"/>
          </a:xfrm>
          <a:custGeom>
            <a:avLst/>
            <a:gdLst/>
            <a:ahLst/>
            <a:cxnLst/>
            <a:rect l="l" t="t" r="r" b="b"/>
            <a:pathLst>
              <a:path w="633095" h="1108710">
                <a:moveTo>
                  <a:pt x="0" y="0"/>
                </a:moveTo>
                <a:lnTo>
                  <a:pt x="632612" y="110820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7223614" y="5100828"/>
            <a:ext cx="38989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111" sz="3000" spc="-330">
                <a:latin typeface="Cambria Math"/>
                <a:cs typeface="Cambria Math"/>
              </a:rPr>
              <a:t>𝐹</a:t>
            </a:r>
            <a:r>
              <a:rPr dirty="0" sz="1500" spc="300">
                <a:latin typeface="Cambria Math"/>
                <a:cs typeface="Cambria Math"/>
              </a:rPr>
              <a:t>*</a:t>
            </a:r>
            <a:r>
              <a:rPr dirty="0" sz="1500" spc="-215">
                <a:latin typeface="Cambria Math"/>
                <a:cs typeface="Cambria Math"/>
              </a:rPr>
              <a:t>+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478615" y="5134355"/>
            <a:ext cx="3740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111" sz="3000" spc="-330">
                <a:latin typeface="Cambria Math"/>
                <a:cs typeface="Cambria Math"/>
              </a:rPr>
              <a:t>𝐹</a:t>
            </a:r>
            <a:r>
              <a:rPr dirty="0" sz="1500" spc="509">
                <a:latin typeface="Cambria Math"/>
                <a:cs typeface="Cambria Math"/>
              </a:rPr>
              <a:t>,</a:t>
            </a:r>
            <a:r>
              <a:rPr dirty="0" sz="1500" spc="-215">
                <a:latin typeface="Cambria Math"/>
                <a:cs typeface="Cambria Math"/>
              </a:rPr>
              <a:t>+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743291" y="6125255"/>
            <a:ext cx="657225" cy="28575"/>
          </a:xfrm>
          <a:custGeom>
            <a:avLst/>
            <a:gdLst/>
            <a:ahLst/>
            <a:cxnLst/>
            <a:rect l="l" t="t" r="r" b="b"/>
            <a:pathLst>
              <a:path w="657225" h="28575">
                <a:moveTo>
                  <a:pt x="650828" y="0"/>
                </a:moveTo>
                <a:lnTo>
                  <a:pt x="585787" y="0"/>
                </a:lnTo>
                <a:lnTo>
                  <a:pt x="577896" y="0"/>
                </a:lnTo>
                <a:lnTo>
                  <a:pt x="571500" y="6396"/>
                </a:lnTo>
                <a:lnTo>
                  <a:pt x="571500" y="22178"/>
                </a:lnTo>
                <a:lnTo>
                  <a:pt x="577896" y="28575"/>
                </a:lnTo>
                <a:lnTo>
                  <a:pt x="650828" y="28575"/>
                </a:lnTo>
                <a:lnTo>
                  <a:pt x="657224" y="22178"/>
                </a:lnTo>
                <a:lnTo>
                  <a:pt x="657225" y="6396"/>
                </a:lnTo>
                <a:lnTo>
                  <a:pt x="650828" y="0"/>
                </a:lnTo>
                <a:close/>
              </a:path>
              <a:path w="657225" h="28575">
                <a:moveTo>
                  <a:pt x="536528" y="0"/>
                </a:moveTo>
                <a:lnTo>
                  <a:pt x="463596" y="0"/>
                </a:lnTo>
                <a:lnTo>
                  <a:pt x="457200" y="6396"/>
                </a:lnTo>
                <a:lnTo>
                  <a:pt x="457200" y="22178"/>
                </a:lnTo>
                <a:lnTo>
                  <a:pt x="463596" y="28575"/>
                </a:lnTo>
                <a:lnTo>
                  <a:pt x="536528" y="28575"/>
                </a:lnTo>
                <a:lnTo>
                  <a:pt x="542924" y="22178"/>
                </a:lnTo>
                <a:lnTo>
                  <a:pt x="542925" y="6396"/>
                </a:lnTo>
                <a:lnTo>
                  <a:pt x="536528" y="0"/>
                </a:lnTo>
                <a:close/>
              </a:path>
              <a:path w="657225" h="28575">
                <a:moveTo>
                  <a:pt x="422228" y="0"/>
                </a:moveTo>
                <a:lnTo>
                  <a:pt x="357187" y="0"/>
                </a:lnTo>
                <a:lnTo>
                  <a:pt x="349296" y="0"/>
                </a:lnTo>
                <a:lnTo>
                  <a:pt x="342900" y="6397"/>
                </a:lnTo>
                <a:lnTo>
                  <a:pt x="342900" y="22178"/>
                </a:lnTo>
                <a:lnTo>
                  <a:pt x="349296" y="28575"/>
                </a:lnTo>
                <a:lnTo>
                  <a:pt x="422228" y="28575"/>
                </a:lnTo>
                <a:lnTo>
                  <a:pt x="428624" y="22178"/>
                </a:lnTo>
                <a:lnTo>
                  <a:pt x="428625" y="6397"/>
                </a:lnTo>
                <a:lnTo>
                  <a:pt x="422228" y="0"/>
                </a:lnTo>
                <a:close/>
              </a:path>
              <a:path w="657225" h="28575">
                <a:moveTo>
                  <a:pt x="307928" y="0"/>
                </a:moveTo>
                <a:lnTo>
                  <a:pt x="242887" y="0"/>
                </a:lnTo>
                <a:lnTo>
                  <a:pt x="234996" y="0"/>
                </a:lnTo>
                <a:lnTo>
                  <a:pt x="228600" y="6397"/>
                </a:lnTo>
                <a:lnTo>
                  <a:pt x="228600" y="22178"/>
                </a:lnTo>
                <a:lnTo>
                  <a:pt x="234996" y="28575"/>
                </a:lnTo>
                <a:lnTo>
                  <a:pt x="307928" y="28575"/>
                </a:lnTo>
                <a:lnTo>
                  <a:pt x="314324" y="22178"/>
                </a:lnTo>
                <a:lnTo>
                  <a:pt x="314325" y="6397"/>
                </a:lnTo>
                <a:lnTo>
                  <a:pt x="307928" y="0"/>
                </a:lnTo>
                <a:close/>
              </a:path>
              <a:path w="657225" h="28575">
                <a:moveTo>
                  <a:pt x="193628" y="0"/>
                </a:moveTo>
                <a:lnTo>
                  <a:pt x="128587" y="0"/>
                </a:lnTo>
                <a:lnTo>
                  <a:pt x="120696" y="0"/>
                </a:lnTo>
                <a:lnTo>
                  <a:pt x="114300" y="6397"/>
                </a:lnTo>
                <a:lnTo>
                  <a:pt x="114300" y="22179"/>
                </a:lnTo>
                <a:lnTo>
                  <a:pt x="120696" y="28575"/>
                </a:lnTo>
                <a:lnTo>
                  <a:pt x="193628" y="28575"/>
                </a:lnTo>
                <a:lnTo>
                  <a:pt x="200024" y="22179"/>
                </a:lnTo>
                <a:lnTo>
                  <a:pt x="200025" y="6397"/>
                </a:lnTo>
                <a:lnTo>
                  <a:pt x="193628" y="0"/>
                </a:lnTo>
                <a:close/>
              </a:path>
              <a:path w="657225" h="28575">
                <a:moveTo>
                  <a:pt x="79328" y="0"/>
                </a:moveTo>
                <a:lnTo>
                  <a:pt x="14287" y="1"/>
                </a:lnTo>
                <a:lnTo>
                  <a:pt x="6396" y="1"/>
                </a:lnTo>
                <a:lnTo>
                  <a:pt x="0" y="6397"/>
                </a:lnTo>
                <a:lnTo>
                  <a:pt x="0" y="22179"/>
                </a:lnTo>
                <a:lnTo>
                  <a:pt x="6396" y="28576"/>
                </a:lnTo>
                <a:lnTo>
                  <a:pt x="79328" y="28575"/>
                </a:lnTo>
                <a:lnTo>
                  <a:pt x="85724" y="22179"/>
                </a:lnTo>
                <a:lnTo>
                  <a:pt x="85725" y="6397"/>
                </a:lnTo>
                <a:lnTo>
                  <a:pt x="7932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7614362" y="6359652"/>
            <a:ext cx="890269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65">
                <a:latin typeface="Cambria Math"/>
                <a:cs typeface="Cambria Math"/>
              </a:rPr>
              <a:t>𝑃</a:t>
            </a:r>
            <a:r>
              <a:rPr dirty="0" baseline="-14814" sz="2250" spc="-97">
                <a:latin typeface="Cambria Math"/>
                <a:cs typeface="Cambria Math"/>
              </a:rPr>
              <a:t>+</a:t>
            </a:r>
            <a:r>
              <a:rPr dirty="0" sz="2000" spc="-65">
                <a:latin typeface="Cambria Math"/>
                <a:cs typeface="Cambria Math"/>
              </a:rPr>
              <a:t>(𝑢,</a:t>
            </a:r>
            <a:r>
              <a:rPr dirty="0" sz="2000" spc="-180">
                <a:latin typeface="Cambria Math"/>
                <a:cs typeface="Cambria Math"/>
              </a:rPr>
              <a:t> </a:t>
            </a:r>
            <a:r>
              <a:rPr dirty="0" sz="2000" spc="25">
                <a:latin typeface="Cambria Math"/>
                <a:cs typeface="Cambria Math"/>
              </a:rPr>
              <a:t>𝑣)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400751" y="1788667"/>
            <a:ext cx="1473200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b="1">
                <a:latin typeface="Arial"/>
                <a:cs typeface="Arial"/>
              </a:rPr>
              <a:t>Non-n</a:t>
            </a:r>
            <a:r>
              <a:rPr dirty="0" sz="1800" spc="-5" b="1">
                <a:latin typeface="Arial"/>
                <a:cs typeface="Arial"/>
              </a:rPr>
              <a:t>e</a:t>
            </a:r>
            <a:r>
              <a:rPr dirty="0" sz="1800" b="1">
                <a:latin typeface="Arial"/>
                <a:cs typeface="Arial"/>
              </a:rPr>
              <a:t>g</a:t>
            </a:r>
            <a:r>
              <a:rPr dirty="0" sz="1800" spc="-5" b="1">
                <a:latin typeface="Arial"/>
                <a:cs typeface="Arial"/>
              </a:rPr>
              <a:t>a</a:t>
            </a:r>
            <a:r>
              <a:rPr dirty="0" sz="1800" b="1">
                <a:latin typeface="Arial"/>
                <a:cs typeface="Arial"/>
              </a:rPr>
              <a:t>ti</a:t>
            </a:r>
            <a:r>
              <a:rPr dirty="0" sz="1800" spc="-5" b="1">
                <a:latin typeface="Arial"/>
                <a:cs typeface="Arial"/>
              </a:rPr>
              <a:t>v</a:t>
            </a:r>
            <a:r>
              <a:rPr dirty="0" sz="1800" b="1">
                <a:latin typeface="Arial"/>
                <a:cs typeface="Arial"/>
              </a:rPr>
              <a:t>e  </a:t>
            </a:r>
            <a:r>
              <a:rPr dirty="0" sz="1800" spc="-5" b="1">
                <a:latin typeface="Arial"/>
                <a:cs typeface="Arial"/>
              </a:rPr>
              <a:t>membership  strength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025515" y="2160059"/>
            <a:ext cx="333375" cy="162560"/>
          </a:xfrm>
          <a:custGeom>
            <a:avLst/>
            <a:gdLst/>
            <a:ahLst/>
            <a:cxnLst/>
            <a:rect l="l" t="t" r="r" b="b"/>
            <a:pathLst>
              <a:path w="333375" h="162560">
                <a:moveTo>
                  <a:pt x="60618" y="84358"/>
                </a:moveTo>
                <a:lnTo>
                  <a:pt x="0" y="158597"/>
                </a:lnTo>
                <a:lnTo>
                  <a:pt x="95761" y="162548"/>
                </a:lnTo>
                <a:lnTo>
                  <a:pt x="88133" y="145577"/>
                </a:lnTo>
                <a:lnTo>
                  <a:pt x="63818" y="145577"/>
                </a:lnTo>
                <a:lnTo>
                  <a:pt x="55361" y="142365"/>
                </a:lnTo>
                <a:lnTo>
                  <a:pt x="48892" y="127970"/>
                </a:lnTo>
                <a:lnTo>
                  <a:pt x="52104" y="119513"/>
                </a:lnTo>
                <a:lnTo>
                  <a:pt x="72332" y="110421"/>
                </a:lnTo>
                <a:lnTo>
                  <a:pt x="60618" y="84358"/>
                </a:lnTo>
                <a:close/>
              </a:path>
              <a:path w="333375" h="162560">
                <a:moveTo>
                  <a:pt x="72332" y="110421"/>
                </a:moveTo>
                <a:lnTo>
                  <a:pt x="52104" y="119513"/>
                </a:lnTo>
                <a:lnTo>
                  <a:pt x="48892" y="127970"/>
                </a:lnTo>
                <a:lnTo>
                  <a:pt x="55361" y="142365"/>
                </a:lnTo>
                <a:lnTo>
                  <a:pt x="63818" y="145577"/>
                </a:lnTo>
                <a:lnTo>
                  <a:pt x="84047" y="136485"/>
                </a:lnTo>
                <a:lnTo>
                  <a:pt x="72332" y="110421"/>
                </a:lnTo>
                <a:close/>
              </a:path>
              <a:path w="333375" h="162560">
                <a:moveTo>
                  <a:pt x="84047" y="136485"/>
                </a:moveTo>
                <a:lnTo>
                  <a:pt x="63818" y="145577"/>
                </a:lnTo>
                <a:lnTo>
                  <a:pt x="88133" y="145577"/>
                </a:lnTo>
                <a:lnTo>
                  <a:pt x="84047" y="136485"/>
                </a:lnTo>
                <a:close/>
              </a:path>
              <a:path w="333375" h="162560">
                <a:moveTo>
                  <a:pt x="317999" y="0"/>
                </a:moveTo>
                <a:lnTo>
                  <a:pt x="72332" y="110421"/>
                </a:lnTo>
                <a:lnTo>
                  <a:pt x="84047" y="136485"/>
                </a:lnTo>
                <a:lnTo>
                  <a:pt x="329713" y="26062"/>
                </a:lnTo>
                <a:lnTo>
                  <a:pt x="332925" y="17606"/>
                </a:lnTo>
                <a:lnTo>
                  <a:pt x="326456" y="3211"/>
                </a:lnTo>
                <a:lnTo>
                  <a:pt x="3179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322559" y="2217637"/>
            <a:ext cx="703580" cy="574675"/>
          </a:xfrm>
          <a:custGeom>
            <a:avLst/>
            <a:gdLst/>
            <a:ahLst/>
            <a:cxnLst/>
            <a:rect l="l" t="t" r="r" b="b"/>
            <a:pathLst>
              <a:path w="703579" h="574675">
                <a:moveTo>
                  <a:pt x="0" y="0"/>
                </a:moveTo>
                <a:lnTo>
                  <a:pt x="702956" y="0"/>
                </a:lnTo>
                <a:lnTo>
                  <a:pt x="702956" y="574153"/>
                </a:lnTo>
                <a:lnTo>
                  <a:pt x="0" y="574153"/>
                </a:lnTo>
                <a:lnTo>
                  <a:pt x="0" y="0"/>
                </a:lnTo>
                <a:close/>
              </a:path>
            </a:pathLst>
          </a:custGeom>
          <a:solidFill>
            <a:srgbClr val="F0AD00">
              <a:alpha val="3803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50"/>
              <a:t> </a:t>
            </a:r>
            <a:r>
              <a:rPr dirty="0" spc="-5"/>
              <a:t>Graphs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62</a:t>
            </a:fld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786079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53745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0">
                <a:latin typeface="Calibri"/>
                <a:cs typeface="Calibri"/>
              </a:rPr>
              <a:t>Nodes </a:t>
            </a:r>
            <a:r>
              <a:rPr dirty="0" b="0">
                <a:latin typeface="Cambria Math"/>
                <a:cs typeface="Cambria Math"/>
              </a:rPr>
              <a:t>𝑢 </a:t>
            </a:r>
            <a:r>
              <a:rPr dirty="0" b="0">
                <a:latin typeface="Calibri"/>
                <a:cs typeface="Calibri"/>
              </a:rPr>
              <a:t>and </a:t>
            </a:r>
            <a:r>
              <a:rPr dirty="0" b="0">
                <a:latin typeface="Cambria Math"/>
                <a:cs typeface="Cambria Math"/>
              </a:rPr>
              <a:t>𝑣 </a:t>
            </a:r>
            <a:r>
              <a:rPr dirty="0" spc="-10" b="0">
                <a:latin typeface="Calibri"/>
                <a:cs typeface="Calibri"/>
              </a:rPr>
              <a:t>can connected </a:t>
            </a:r>
            <a:r>
              <a:rPr dirty="0" b="0">
                <a:latin typeface="Calibri"/>
                <a:cs typeface="Calibri"/>
              </a:rPr>
              <a:t>via multiple  </a:t>
            </a:r>
            <a:r>
              <a:rPr dirty="0" spc="-5" b="0">
                <a:latin typeface="Calibri"/>
                <a:cs typeface="Calibri"/>
              </a:rPr>
              <a:t>communities </a:t>
            </a:r>
            <a:r>
              <a:rPr dirty="0" b="0">
                <a:latin typeface="Cambria Math"/>
                <a:cs typeface="Cambria Math"/>
              </a:rPr>
              <a:t>∈ Γ </a:t>
            </a:r>
            <a:r>
              <a:rPr dirty="0" b="0">
                <a:latin typeface="Calibri"/>
                <a:cs typeface="Calibri"/>
              </a:rPr>
              <a:t>(a </a:t>
            </a:r>
            <a:r>
              <a:rPr dirty="0" spc="-10" b="0">
                <a:latin typeface="Calibri"/>
                <a:cs typeface="Calibri"/>
              </a:rPr>
              <a:t>set </a:t>
            </a:r>
            <a:r>
              <a:rPr dirty="0" b="0">
                <a:latin typeface="Calibri"/>
                <a:cs typeface="Calibri"/>
              </a:rPr>
              <a:t>of all</a:t>
            </a:r>
            <a:r>
              <a:rPr dirty="0" spc="204" b="0">
                <a:latin typeface="Calibri"/>
                <a:cs typeface="Calibri"/>
              </a:rPr>
              <a:t> </a:t>
            </a:r>
            <a:r>
              <a:rPr dirty="0" spc="-5" b="0">
                <a:latin typeface="Calibri"/>
                <a:cs typeface="Calibri"/>
              </a:rPr>
              <a:t>communities).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4765548"/>
            <a:ext cx="763143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latin typeface="Calibri"/>
                <a:cs typeface="Calibri"/>
              </a:rPr>
              <a:t>Probability that </a:t>
            </a:r>
            <a:r>
              <a:rPr dirty="0" sz="3200">
                <a:latin typeface="Cambria Math"/>
                <a:cs typeface="Cambria Math"/>
              </a:rPr>
              <a:t>𝑢 </a:t>
            </a: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>
                <a:latin typeface="Cambria Math"/>
                <a:cs typeface="Cambria Math"/>
              </a:rPr>
              <a:t>𝑣 </a:t>
            </a:r>
            <a:r>
              <a:rPr dirty="0" sz="3200" spc="-20">
                <a:latin typeface="Calibri"/>
                <a:cs typeface="Calibri"/>
              </a:rPr>
              <a:t>are </a:t>
            </a:r>
            <a:r>
              <a:rPr dirty="0" sz="3200" spc="-10">
                <a:latin typeface="Calibri"/>
                <a:cs typeface="Calibri"/>
              </a:rPr>
              <a:t>connected </a:t>
            </a:r>
            <a:r>
              <a:rPr dirty="0" sz="3200" spc="-5">
                <a:latin typeface="Calibri"/>
                <a:cs typeface="Calibri"/>
              </a:rPr>
              <a:t>by</a:t>
            </a:r>
            <a:r>
              <a:rPr dirty="0" sz="3200" spc="275">
                <a:latin typeface="Calibri"/>
                <a:cs typeface="Calibri"/>
              </a:rPr>
              <a:t> </a:t>
            </a:r>
            <a:r>
              <a:rPr dirty="0" sz="3200" spc="-25">
                <a:solidFill>
                  <a:srgbClr val="C00000"/>
                </a:solidFill>
                <a:latin typeface="Calibri"/>
                <a:cs typeface="Calibri"/>
              </a:rPr>
              <a:t>at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8149" y="5247132"/>
            <a:ext cx="495109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>
                <a:solidFill>
                  <a:srgbClr val="C00000"/>
                </a:solidFill>
                <a:latin typeface="Calibri"/>
                <a:cs typeface="Calibri"/>
              </a:rPr>
              <a:t>least </a:t>
            </a: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one of the</a:t>
            </a:r>
            <a:r>
              <a:rPr dirty="0" sz="3200" spc="-5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communities</a:t>
            </a:r>
            <a:r>
              <a:rPr dirty="0" sz="3200" spc="-5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04199" y="6010073"/>
            <a:ext cx="782955" cy="329565"/>
          </a:xfrm>
          <a:custGeom>
            <a:avLst/>
            <a:gdLst/>
            <a:ahLst/>
            <a:cxnLst/>
            <a:rect l="l" t="t" r="r" b="b"/>
            <a:pathLst>
              <a:path w="782955" h="329564">
                <a:moveTo>
                  <a:pt x="677771" y="0"/>
                </a:moveTo>
                <a:lnTo>
                  <a:pt x="673082" y="13369"/>
                </a:lnTo>
                <a:lnTo>
                  <a:pt x="692149" y="21644"/>
                </a:lnTo>
                <a:lnTo>
                  <a:pt x="708547" y="33098"/>
                </a:lnTo>
                <a:lnTo>
                  <a:pt x="733333" y="65546"/>
                </a:lnTo>
                <a:lnTo>
                  <a:pt x="747918" y="109323"/>
                </a:lnTo>
                <a:lnTo>
                  <a:pt x="752779" y="163041"/>
                </a:lnTo>
                <a:lnTo>
                  <a:pt x="751558" y="192092"/>
                </a:lnTo>
                <a:lnTo>
                  <a:pt x="741791" y="242185"/>
                </a:lnTo>
                <a:lnTo>
                  <a:pt x="722193" y="281306"/>
                </a:lnTo>
                <a:lnTo>
                  <a:pt x="692371" y="307699"/>
                </a:lnTo>
                <a:lnTo>
                  <a:pt x="673602" y="316011"/>
                </a:lnTo>
                <a:lnTo>
                  <a:pt x="677771" y="329381"/>
                </a:lnTo>
                <a:lnTo>
                  <a:pt x="722698" y="308306"/>
                </a:lnTo>
                <a:lnTo>
                  <a:pt x="755731" y="271822"/>
                </a:lnTo>
                <a:lnTo>
                  <a:pt x="776046" y="222966"/>
                </a:lnTo>
                <a:lnTo>
                  <a:pt x="782817" y="164777"/>
                </a:lnTo>
                <a:lnTo>
                  <a:pt x="781119" y="134581"/>
                </a:lnTo>
                <a:lnTo>
                  <a:pt x="767533" y="81059"/>
                </a:lnTo>
                <a:lnTo>
                  <a:pt x="740587" y="37488"/>
                </a:lnTo>
                <a:lnTo>
                  <a:pt x="701650" y="8621"/>
                </a:lnTo>
                <a:lnTo>
                  <a:pt x="677771" y="0"/>
                </a:lnTo>
                <a:close/>
              </a:path>
              <a:path w="782955" h="329564">
                <a:moveTo>
                  <a:pt x="105048" y="0"/>
                </a:moveTo>
                <a:lnTo>
                  <a:pt x="60229" y="21118"/>
                </a:lnTo>
                <a:lnTo>
                  <a:pt x="27174" y="57732"/>
                </a:lnTo>
                <a:lnTo>
                  <a:pt x="6793" y="106675"/>
                </a:lnTo>
                <a:lnTo>
                  <a:pt x="0" y="164777"/>
                </a:lnTo>
                <a:lnTo>
                  <a:pt x="1693" y="195038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70"/>
                </a:lnTo>
                <a:lnTo>
                  <a:pt x="105048" y="329381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2" y="218473"/>
                </a:lnTo>
                <a:lnTo>
                  <a:pt x="30039" y="163041"/>
                </a:lnTo>
                <a:lnTo>
                  <a:pt x="31260" y="134939"/>
                </a:lnTo>
                <a:lnTo>
                  <a:pt x="41026" y="86192"/>
                </a:lnTo>
                <a:lnTo>
                  <a:pt x="60657" y="47732"/>
                </a:lnTo>
                <a:lnTo>
                  <a:pt x="90739" y="21644"/>
                </a:lnTo>
                <a:lnTo>
                  <a:pt x="109736" y="13369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56563" y="5907532"/>
            <a:ext cx="245681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663575" algn="l"/>
                <a:tab pos="1459865" algn="l"/>
                <a:tab pos="1901825" algn="l"/>
              </a:tabLst>
            </a:pPr>
            <a:r>
              <a:rPr dirty="0" sz="2800">
                <a:latin typeface="Cambria Math"/>
                <a:cs typeface="Cambria Math"/>
              </a:rPr>
              <a:t>𝑃	</a:t>
            </a:r>
            <a:r>
              <a:rPr dirty="0" sz="2800" spc="30">
                <a:latin typeface="Cambria Math"/>
                <a:cs typeface="Cambria Math"/>
              </a:rPr>
              <a:t>𝑢,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	=	1</a:t>
            </a:r>
            <a:r>
              <a:rPr dirty="0" sz="2800" spc="-10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−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81562" y="5959980"/>
            <a:ext cx="2165985" cy="429895"/>
          </a:xfrm>
          <a:custGeom>
            <a:avLst/>
            <a:gdLst/>
            <a:ahLst/>
            <a:cxnLst/>
            <a:rect l="l" t="t" r="r" b="b"/>
            <a:pathLst>
              <a:path w="2165985" h="429895">
                <a:moveTo>
                  <a:pt x="2052885" y="0"/>
                </a:moveTo>
                <a:lnTo>
                  <a:pt x="2048544" y="14237"/>
                </a:lnTo>
                <a:lnTo>
                  <a:pt x="2068279" y="24471"/>
                </a:lnTo>
                <a:lnTo>
                  <a:pt x="2085463" y="39371"/>
                </a:lnTo>
                <a:lnTo>
                  <a:pt x="2112181" y="83170"/>
                </a:lnTo>
                <a:lnTo>
                  <a:pt x="2128393" y="142682"/>
                </a:lnTo>
                <a:lnTo>
                  <a:pt x="2133798" y="214957"/>
                </a:lnTo>
                <a:lnTo>
                  <a:pt x="2132447" y="252608"/>
                </a:lnTo>
                <a:lnTo>
                  <a:pt x="2121638" y="318372"/>
                </a:lnTo>
                <a:lnTo>
                  <a:pt x="2100097" y="370678"/>
                </a:lnTo>
                <a:lnTo>
                  <a:pt x="2068279" y="405101"/>
                </a:lnTo>
                <a:lnTo>
                  <a:pt x="2048544" y="415329"/>
                </a:lnTo>
                <a:lnTo>
                  <a:pt x="2052885" y="429567"/>
                </a:lnTo>
                <a:lnTo>
                  <a:pt x="2100851" y="404000"/>
                </a:lnTo>
                <a:lnTo>
                  <a:pt x="2136402" y="355773"/>
                </a:lnTo>
                <a:lnTo>
                  <a:pt x="2158410" y="290748"/>
                </a:lnTo>
                <a:lnTo>
                  <a:pt x="2165746" y="214783"/>
                </a:lnTo>
                <a:lnTo>
                  <a:pt x="2163912" y="175434"/>
                </a:lnTo>
                <a:lnTo>
                  <a:pt x="2149240" y="104939"/>
                </a:lnTo>
                <a:lnTo>
                  <a:pt x="2120178" y="46848"/>
                </a:lnTo>
                <a:lnTo>
                  <a:pt x="2078420" y="9951"/>
                </a:lnTo>
                <a:lnTo>
                  <a:pt x="2052885" y="0"/>
                </a:lnTo>
                <a:close/>
              </a:path>
              <a:path w="2165985" h="429895">
                <a:moveTo>
                  <a:pt x="112861" y="0"/>
                </a:moveTo>
                <a:lnTo>
                  <a:pt x="64895" y="25567"/>
                </a:lnTo>
                <a:lnTo>
                  <a:pt x="29344" y="73793"/>
                </a:lnTo>
                <a:lnTo>
                  <a:pt x="7336" y="138819"/>
                </a:lnTo>
                <a:lnTo>
                  <a:pt x="0" y="214783"/>
                </a:lnTo>
                <a:lnTo>
                  <a:pt x="1834" y="254133"/>
                </a:lnTo>
                <a:lnTo>
                  <a:pt x="16506" y="324628"/>
                </a:lnTo>
                <a:lnTo>
                  <a:pt x="45568" y="382719"/>
                </a:lnTo>
                <a:lnTo>
                  <a:pt x="87326" y="419616"/>
                </a:lnTo>
                <a:lnTo>
                  <a:pt x="112861" y="429567"/>
                </a:lnTo>
                <a:lnTo>
                  <a:pt x="117201" y="415329"/>
                </a:lnTo>
                <a:lnTo>
                  <a:pt x="97467" y="405101"/>
                </a:lnTo>
                <a:lnTo>
                  <a:pt x="80283" y="390218"/>
                </a:lnTo>
                <a:lnTo>
                  <a:pt x="53566" y="346484"/>
                </a:lnTo>
                <a:lnTo>
                  <a:pt x="37352" y="287080"/>
                </a:lnTo>
                <a:lnTo>
                  <a:pt x="31954" y="214783"/>
                </a:lnTo>
                <a:lnTo>
                  <a:pt x="33299" y="177224"/>
                </a:lnTo>
                <a:lnTo>
                  <a:pt x="44108" y="111331"/>
                </a:lnTo>
                <a:lnTo>
                  <a:pt x="65649" y="58937"/>
                </a:lnTo>
                <a:lnTo>
                  <a:pt x="97467" y="24471"/>
                </a:lnTo>
                <a:lnTo>
                  <a:pt x="117201" y="14237"/>
                </a:lnTo>
                <a:lnTo>
                  <a:pt x="1128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504762" y="6010073"/>
            <a:ext cx="782955" cy="329565"/>
          </a:xfrm>
          <a:custGeom>
            <a:avLst/>
            <a:gdLst/>
            <a:ahLst/>
            <a:cxnLst/>
            <a:rect l="l" t="t" r="r" b="b"/>
            <a:pathLst>
              <a:path w="782954" h="329564">
                <a:moveTo>
                  <a:pt x="677769" y="0"/>
                </a:moveTo>
                <a:lnTo>
                  <a:pt x="673082" y="13369"/>
                </a:lnTo>
                <a:lnTo>
                  <a:pt x="692149" y="21644"/>
                </a:lnTo>
                <a:lnTo>
                  <a:pt x="708546" y="33098"/>
                </a:lnTo>
                <a:lnTo>
                  <a:pt x="733332" y="65546"/>
                </a:lnTo>
                <a:lnTo>
                  <a:pt x="747918" y="109323"/>
                </a:lnTo>
                <a:lnTo>
                  <a:pt x="752779" y="163041"/>
                </a:lnTo>
                <a:lnTo>
                  <a:pt x="751558" y="192092"/>
                </a:lnTo>
                <a:lnTo>
                  <a:pt x="741791" y="242185"/>
                </a:lnTo>
                <a:lnTo>
                  <a:pt x="722193" y="281306"/>
                </a:lnTo>
                <a:lnTo>
                  <a:pt x="692371" y="307699"/>
                </a:lnTo>
                <a:lnTo>
                  <a:pt x="673602" y="316011"/>
                </a:lnTo>
                <a:lnTo>
                  <a:pt x="677769" y="329381"/>
                </a:lnTo>
                <a:lnTo>
                  <a:pt x="722697" y="308306"/>
                </a:lnTo>
                <a:lnTo>
                  <a:pt x="755731" y="271822"/>
                </a:lnTo>
                <a:lnTo>
                  <a:pt x="776046" y="222966"/>
                </a:lnTo>
                <a:lnTo>
                  <a:pt x="782817" y="164777"/>
                </a:lnTo>
                <a:lnTo>
                  <a:pt x="781119" y="134581"/>
                </a:lnTo>
                <a:lnTo>
                  <a:pt x="767533" y="81059"/>
                </a:lnTo>
                <a:lnTo>
                  <a:pt x="740587" y="37488"/>
                </a:lnTo>
                <a:lnTo>
                  <a:pt x="701649" y="8621"/>
                </a:lnTo>
                <a:lnTo>
                  <a:pt x="677769" y="0"/>
                </a:lnTo>
                <a:close/>
              </a:path>
              <a:path w="782954" h="329564">
                <a:moveTo>
                  <a:pt x="105048" y="0"/>
                </a:moveTo>
                <a:lnTo>
                  <a:pt x="60228" y="21118"/>
                </a:lnTo>
                <a:lnTo>
                  <a:pt x="27172" y="57732"/>
                </a:lnTo>
                <a:lnTo>
                  <a:pt x="6793" y="106675"/>
                </a:lnTo>
                <a:lnTo>
                  <a:pt x="0" y="164777"/>
                </a:lnTo>
                <a:lnTo>
                  <a:pt x="1692" y="195038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70"/>
                </a:lnTo>
                <a:lnTo>
                  <a:pt x="105048" y="329381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39"/>
                </a:lnTo>
                <a:lnTo>
                  <a:pt x="41025" y="86192"/>
                </a:lnTo>
                <a:lnTo>
                  <a:pt x="60657" y="47732"/>
                </a:lnTo>
                <a:lnTo>
                  <a:pt x="90739" y="21644"/>
                </a:lnTo>
                <a:lnTo>
                  <a:pt x="109735" y="13369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478720" y="5922702"/>
            <a:ext cx="2682240" cy="495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340"/>
              </a:lnSpc>
              <a:tabLst>
                <a:tab pos="1284605" algn="l"/>
              </a:tabLst>
            </a:pPr>
            <a:r>
              <a:rPr dirty="0" baseline="1984" sz="4200" spc="315">
                <a:latin typeface="Cambria Math"/>
                <a:cs typeface="Cambria Math"/>
              </a:rPr>
              <a:t>∏</a:t>
            </a:r>
            <a:r>
              <a:rPr dirty="0" baseline="-18055" sz="3000" spc="315">
                <a:latin typeface="Cambria Math"/>
                <a:cs typeface="Cambria Math"/>
              </a:rPr>
              <a:t>;∈C</a:t>
            </a:r>
            <a:r>
              <a:rPr dirty="0" baseline="-18055" sz="3000" spc="697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1	− </a:t>
            </a:r>
            <a:r>
              <a:rPr dirty="0" sz="2800" spc="185">
                <a:latin typeface="Cambria Math"/>
                <a:cs typeface="Cambria Math"/>
              </a:rPr>
              <a:t>𝑃</a:t>
            </a:r>
            <a:r>
              <a:rPr dirty="0" baseline="-16666" sz="3000" spc="277">
                <a:latin typeface="Cambria Math"/>
                <a:cs typeface="Cambria Math"/>
              </a:rPr>
              <a:t>; </a:t>
            </a:r>
            <a:r>
              <a:rPr dirty="0" sz="2800" spc="30">
                <a:latin typeface="Cambria Math"/>
                <a:cs typeface="Cambria Math"/>
              </a:rPr>
              <a:t>𝑢,</a:t>
            </a:r>
            <a:r>
              <a:rPr dirty="0" sz="2800" spc="114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38698" y="2474812"/>
            <a:ext cx="518159" cy="435609"/>
          </a:xfrm>
          <a:prstGeom prst="rect">
            <a:avLst/>
          </a:prstGeom>
          <a:solidFill>
            <a:srgbClr val="C4E2C5"/>
          </a:solidFill>
          <a:ln w="38100">
            <a:solidFill>
              <a:srgbClr val="008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20"/>
              </a:spcBef>
            </a:pPr>
            <a:r>
              <a:rPr dirty="0" sz="2400" spc="-95">
                <a:latin typeface="Cambria Math"/>
                <a:cs typeface="Cambria Math"/>
              </a:rPr>
              <a:t>𝐶</a:t>
            </a:r>
            <a:r>
              <a:rPr dirty="0" baseline="-15432" sz="2700" spc="-142">
                <a:latin typeface="Cambria Math"/>
                <a:cs typeface="Cambria Math"/>
              </a:rPr>
              <a:t>E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956445" y="3996752"/>
            <a:ext cx="510540" cy="512445"/>
          </a:xfrm>
          <a:custGeom>
            <a:avLst/>
            <a:gdLst/>
            <a:ahLst/>
            <a:cxnLst/>
            <a:rect l="l" t="t" r="r" b="b"/>
            <a:pathLst>
              <a:path w="510539" h="512445">
                <a:moveTo>
                  <a:pt x="255196" y="0"/>
                </a:moveTo>
                <a:lnTo>
                  <a:pt x="209324" y="4126"/>
                </a:lnTo>
                <a:lnTo>
                  <a:pt x="166150" y="16023"/>
                </a:lnTo>
                <a:lnTo>
                  <a:pt x="126393" y="34968"/>
                </a:lnTo>
                <a:lnTo>
                  <a:pt x="90776" y="60237"/>
                </a:lnTo>
                <a:lnTo>
                  <a:pt x="60019" y="91107"/>
                </a:lnTo>
                <a:lnTo>
                  <a:pt x="34841" y="126854"/>
                </a:lnTo>
                <a:lnTo>
                  <a:pt x="15965" y="166755"/>
                </a:lnTo>
                <a:lnTo>
                  <a:pt x="4111" y="210087"/>
                </a:lnTo>
                <a:lnTo>
                  <a:pt x="0" y="256125"/>
                </a:lnTo>
                <a:lnTo>
                  <a:pt x="4111" y="302165"/>
                </a:lnTo>
                <a:lnTo>
                  <a:pt x="15965" y="345496"/>
                </a:lnTo>
                <a:lnTo>
                  <a:pt x="34841" y="385397"/>
                </a:lnTo>
                <a:lnTo>
                  <a:pt x="60019" y="421144"/>
                </a:lnTo>
                <a:lnTo>
                  <a:pt x="90776" y="452014"/>
                </a:lnTo>
                <a:lnTo>
                  <a:pt x="126393" y="477283"/>
                </a:lnTo>
                <a:lnTo>
                  <a:pt x="166150" y="496228"/>
                </a:lnTo>
                <a:lnTo>
                  <a:pt x="209324" y="508125"/>
                </a:lnTo>
                <a:lnTo>
                  <a:pt x="255196" y="512251"/>
                </a:lnTo>
                <a:lnTo>
                  <a:pt x="301068" y="508125"/>
                </a:lnTo>
                <a:lnTo>
                  <a:pt x="344242" y="496228"/>
                </a:lnTo>
                <a:lnTo>
                  <a:pt x="383998" y="477283"/>
                </a:lnTo>
                <a:lnTo>
                  <a:pt x="419615" y="452014"/>
                </a:lnTo>
                <a:lnTo>
                  <a:pt x="450373" y="421144"/>
                </a:lnTo>
                <a:lnTo>
                  <a:pt x="475550" y="385397"/>
                </a:lnTo>
                <a:lnTo>
                  <a:pt x="494426" y="345496"/>
                </a:lnTo>
                <a:lnTo>
                  <a:pt x="506281" y="302165"/>
                </a:lnTo>
                <a:lnTo>
                  <a:pt x="510392" y="256125"/>
                </a:lnTo>
                <a:lnTo>
                  <a:pt x="506281" y="210087"/>
                </a:lnTo>
                <a:lnTo>
                  <a:pt x="494426" y="166755"/>
                </a:lnTo>
                <a:lnTo>
                  <a:pt x="475550" y="126854"/>
                </a:lnTo>
                <a:lnTo>
                  <a:pt x="450373" y="91107"/>
                </a:lnTo>
                <a:lnTo>
                  <a:pt x="419615" y="60237"/>
                </a:lnTo>
                <a:lnTo>
                  <a:pt x="383998" y="34968"/>
                </a:lnTo>
                <a:lnTo>
                  <a:pt x="344242" y="16023"/>
                </a:lnTo>
                <a:lnTo>
                  <a:pt x="301068" y="4126"/>
                </a:lnTo>
                <a:lnTo>
                  <a:pt x="255196" y="0"/>
                </a:lnTo>
                <a:close/>
              </a:path>
            </a:pathLst>
          </a:custGeom>
          <a:solidFill>
            <a:srgbClr val="F0A7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956445" y="3996752"/>
            <a:ext cx="510540" cy="512445"/>
          </a:xfrm>
          <a:custGeom>
            <a:avLst/>
            <a:gdLst/>
            <a:ahLst/>
            <a:cxnLst/>
            <a:rect l="l" t="t" r="r" b="b"/>
            <a:pathLst>
              <a:path w="510539" h="512445">
                <a:moveTo>
                  <a:pt x="0" y="256126"/>
                </a:moveTo>
                <a:lnTo>
                  <a:pt x="4111" y="210087"/>
                </a:lnTo>
                <a:lnTo>
                  <a:pt x="15965" y="166755"/>
                </a:lnTo>
                <a:lnTo>
                  <a:pt x="34841" y="126854"/>
                </a:lnTo>
                <a:lnTo>
                  <a:pt x="60018" y="91107"/>
                </a:lnTo>
                <a:lnTo>
                  <a:pt x="90776" y="60237"/>
                </a:lnTo>
                <a:lnTo>
                  <a:pt x="126393" y="34968"/>
                </a:lnTo>
                <a:lnTo>
                  <a:pt x="166149" y="16023"/>
                </a:lnTo>
                <a:lnTo>
                  <a:pt x="209324" y="4126"/>
                </a:lnTo>
                <a:lnTo>
                  <a:pt x="255196" y="0"/>
                </a:lnTo>
                <a:lnTo>
                  <a:pt x="301067" y="4126"/>
                </a:lnTo>
                <a:lnTo>
                  <a:pt x="344242" y="16023"/>
                </a:lnTo>
                <a:lnTo>
                  <a:pt x="383998" y="34968"/>
                </a:lnTo>
                <a:lnTo>
                  <a:pt x="419615" y="60237"/>
                </a:lnTo>
                <a:lnTo>
                  <a:pt x="450373" y="91107"/>
                </a:lnTo>
                <a:lnTo>
                  <a:pt x="475550" y="126854"/>
                </a:lnTo>
                <a:lnTo>
                  <a:pt x="494426" y="166755"/>
                </a:lnTo>
                <a:lnTo>
                  <a:pt x="506280" y="210087"/>
                </a:lnTo>
                <a:lnTo>
                  <a:pt x="510392" y="256126"/>
                </a:lnTo>
                <a:lnTo>
                  <a:pt x="506280" y="302164"/>
                </a:lnTo>
                <a:lnTo>
                  <a:pt x="494426" y="345496"/>
                </a:lnTo>
                <a:lnTo>
                  <a:pt x="475550" y="385397"/>
                </a:lnTo>
                <a:lnTo>
                  <a:pt x="450373" y="421144"/>
                </a:lnTo>
                <a:lnTo>
                  <a:pt x="419615" y="452014"/>
                </a:lnTo>
                <a:lnTo>
                  <a:pt x="383998" y="477283"/>
                </a:lnTo>
                <a:lnTo>
                  <a:pt x="344242" y="496228"/>
                </a:lnTo>
                <a:lnTo>
                  <a:pt x="301067" y="508125"/>
                </a:lnTo>
                <a:lnTo>
                  <a:pt x="255196" y="512252"/>
                </a:lnTo>
                <a:lnTo>
                  <a:pt x="209324" y="508125"/>
                </a:lnTo>
                <a:lnTo>
                  <a:pt x="166149" y="496228"/>
                </a:lnTo>
                <a:lnTo>
                  <a:pt x="126393" y="477283"/>
                </a:lnTo>
                <a:lnTo>
                  <a:pt x="90776" y="452014"/>
                </a:lnTo>
                <a:lnTo>
                  <a:pt x="60018" y="421144"/>
                </a:lnTo>
                <a:lnTo>
                  <a:pt x="34841" y="385397"/>
                </a:lnTo>
                <a:lnTo>
                  <a:pt x="15965" y="345496"/>
                </a:lnTo>
                <a:lnTo>
                  <a:pt x="4111" y="302164"/>
                </a:lnTo>
                <a:lnTo>
                  <a:pt x="0" y="256126"/>
                </a:lnTo>
                <a:close/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073159" y="3996752"/>
            <a:ext cx="510540" cy="512445"/>
          </a:xfrm>
          <a:custGeom>
            <a:avLst/>
            <a:gdLst/>
            <a:ahLst/>
            <a:cxnLst/>
            <a:rect l="l" t="t" r="r" b="b"/>
            <a:pathLst>
              <a:path w="510539" h="512445">
                <a:moveTo>
                  <a:pt x="255195" y="0"/>
                </a:moveTo>
                <a:lnTo>
                  <a:pt x="209323" y="4126"/>
                </a:lnTo>
                <a:lnTo>
                  <a:pt x="166149" y="16023"/>
                </a:lnTo>
                <a:lnTo>
                  <a:pt x="126393" y="34968"/>
                </a:lnTo>
                <a:lnTo>
                  <a:pt x="90775" y="60237"/>
                </a:lnTo>
                <a:lnTo>
                  <a:pt x="60018" y="91107"/>
                </a:lnTo>
                <a:lnTo>
                  <a:pt x="34841" y="126854"/>
                </a:lnTo>
                <a:lnTo>
                  <a:pt x="15965" y="166755"/>
                </a:lnTo>
                <a:lnTo>
                  <a:pt x="4111" y="210087"/>
                </a:lnTo>
                <a:lnTo>
                  <a:pt x="0" y="256125"/>
                </a:lnTo>
                <a:lnTo>
                  <a:pt x="4111" y="302165"/>
                </a:lnTo>
                <a:lnTo>
                  <a:pt x="15965" y="345496"/>
                </a:lnTo>
                <a:lnTo>
                  <a:pt x="34841" y="385397"/>
                </a:lnTo>
                <a:lnTo>
                  <a:pt x="60018" y="421144"/>
                </a:lnTo>
                <a:lnTo>
                  <a:pt x="90775" y="452014"/>
                </a:lnTo>
                <a:lnTo>
                  <a:pt x="126393" y="477283"/>
                </a:lnTo>
                <a:lnTo>
                  <a:pt x="166149" y="496228"/>
                </a:lnTo>
                <a:lnTo>
                  <a:pt x="209323" y="508125"/>
                </a:lnTo>
                <a:lnTo>
                  <a:pt x="255195" y="512251"/>
                </a:lnTo>
                <a:lnTo>
                  <a:pt x="301066" y="508125"/>
                </a:lnTo>
                <a:lnTo>
                  <a:pt x="344241" y="496228"/>
                </a:lnTo>
                <a:lnTo>
                  <a:pt x="383997" y="477283"/>
                </a:lnTo>
                <a:lnTo>
                  <a:pt x="419614" y="452014"/>
                </a:lnTo>
                <a:lnTo>
                  <a:pt x="450372" y="421144"/>
                </a:lnTo>
                <a:lnTo>
                  <a:pt x="475549" y="385397"/>
                </a:lnTo>
                <a:lnTo>
                  <a:pt x="494425" y="345496"/>
                </a:lnTo>
                <a:lnTo>
                  <a:pt x="506279" y="302165"/>
                </a:lnTo>
                <a:lnTo>
                  <a:pt x="510391" y="256125"/>
                </a:lnTo>
                <a:lnTo>
                  <a:pt x="506279" y="210087"/>
                </a:lnTo>
                <a:lnTo>
                  <a:pt x="494425" y="166755"/>
                </a:lnTo>
                <a:lnTo>
                  <a:pt x="475549" y="126854"/>
                </a:lnTo>
                <a:lnTo>
                  <a:pt x="450372" y="91107"/>
                </a:lnTo>
                <a:lnTo>
                  <a:pt x="419614" y="60237"/>
                </a:lnTo>
                <a:lnTo>
                  <a:pt x="383997" y="34968"/>
                </a:lnTo>
                <a:lnTo>
                  <a:pt x="344241" y="16023"/>
                </a:lnTo>
                <a:lnTo>
                  <a:pt x="301066" y="4126"/>
                </a:lnTo>
                <a:lnTo>
                  <a:pt x="255195" y="0"/>
                </a:lnTo>
                <a:close/>
              </a:path>
            </a:pathLst>
          </a:custGeom>
          <a:solidFill>
            <a:srgbClr val="F0A7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073159" y="3996752"/>
            <a:ext cx="510540" cy="512445"/>
          </a:xfrm>
          <a:custGeom>
            <a:avLst/>
            <a:gdLst/>
            <a:ahLst/>
            <a:cxnLst/>
            <a:rect l="l" t="t" r="r" b="b"/>
            <a:pathLst>
              <a:path w="510539" h="512445">
                <a:moveTo>
                  <a:pt x="0" y="256126"/>
                </a:moveTo>
                <a:lnTo>
                  <a:pt x="4111" y="210087"/>
                </a:lnTo>
                <a:lnTo>
                  <a:pt x="15965" y="166755"/>
                </a:lnTo>
                <a:lnTo>
                  <a:pt x="34841" y="126854"/>
                </a:lnTo>
                <a:lnTo>
                  <a:pt x="60018" y="91107"/>
                </a:lnTo>
                <a:lnTo>
                  <a:pt x="90776" y="60237"/>
                </a:lnTo>
                <a:lnTo>
                  <a:pt x="126393" y="34968"/>
                </a:lnTo>
                <a:lnTo>
                  <a:pt x="166149" y="16023"/>
                </a:lnTo>
                <a:lnTo>
                  <a:pt x="209324" y="4126"/>
                </a:lnTo>
                <a:lnTo>
                  <a:pt x="255196" y="0"/>
                </a:lnTo>
                <a:lnTo>
                  <a:pt x="301067" y="4126"/>
                </a:lnTo>
                <a:lnTo>
                  <a:pt x="344242" y="16023"/>
                </a:lnTo>
                <a:lnTo>
                  <a:pt x="383998" y="34968"/>
                </a:lnTo>
                <a:lnTo>
                  <a:pt x="419615" y="60237"/>
                </a:lnTo>
                <a:lnTo>
                  <a:pt x="450373" y="91107"/>
                </a:lnTo>
                <a:lnTo>
                  <a:pt x="475550" y="126854"/>
                </a:lnTo>
                <a:lnTo>
                  <a:pt x="494426" y="166755"/>
                </a:lnTo>
                <a:lnTo>
                  <a:pt x="506280" y="210087"/>
                </a:lnTo>
                <a:lnTo>
                  <a:pt x="510392" y="256126"/>
                </a:lnTo>
                <a:lnTo>
                  <a:pt x="506280" y="302164"/>
                </a:lnTo>
                <a:lnTo>
                  <a:pt x="494426" y="345496"/>
                </a:lnTo>
                <a:lnTo>
                  <a:pt x="475550" y="385397"/>
                </a:lnTo>
                <a:lnTo>
                  <a:pt x="450373" y="421144"/>
                </a:lnTo>
                <a:lnTo>
                  <a:pt x="419615" y="452014"/>
                </a:lnTo>
                <a:lnTo>
                  <a:pt x="383998" y="477283"/>
                </a:lnTo>
                <a:lnTo>
                  <a:pt x="344242" y="496228"/>
                </a:lnTo>
                <a:lnTo>
                  <a:pt x="301067" y="508125"/>
                </a:lnTo>
                <a:lnTo>
                  <a:pt x="255196" y="512252"/>
                </a:lnTo>
                <a:lnTo>
                  <a:pt x="209324" y="508125"/>
                </a:lnTo>
                <a:lnTo>
                  <a:pt x="166149" y="496228"/>
                </a:lnTo>
                <a:lnTo>
                  <a:pt x="126393" y="477283"/>
                </a:lnTo>
                <a:lnTo>
                  <a:pt x="90776" y="452014"/>
                </a:lnTo>
                <a:lnTo>
                  <a:pt x="60018" y="421144"/>
                </a:lnTo>
                <a:lnTo>
                  <a:pt x="34841" y="385397"/>
                </a:lnTo>
                <a:lnTo>
                  <a:pt x="15965" y="345496"/>
                </a:lnTo>
                <a:lnTo>
                  <a:pt x="4111" y="302164"/>
                </a:lnTo>
                <a:lnTo>
                  <a:pt x="0" y="256126"/>
                </a:lnTo>
                <a:close/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697571" y="2898903"/>
            <a:ext cx="514350" cy="1097915"/>
          </a:xfrm>
          <a:custGeom>
            <a:avLst/>
            <a:gdLst/>
            <a:ahLst/>
            <a:cxnLst/>
            <a:rect l="l" t="t" r="r" b="b"/>
            <a:pathLst>
              <a:path w="514350" h="1097914">
                <a:moveTo>
                  <a:pt x="0" y="0"/>
                </a:moveTo>
                <a:lnTo>
                  <a:pt x="514071" y="10978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697571" y="2898903"/>
            <a:ext cx="1631314" cy="1097915"/>
          </a:xfrm>
          <a:custGeom>
            <a:avLst/>
            <a:gdLst/>
            <a:ahLst/>
            <a:cxnLst/>
            <a:rect l="l" t="t" r="r" b="b"/>
            <a:pathLst>
              <a:path w="1631314" h="1097914">
                <a:moveTo>
                  <a:pt x="0" y="0"/>
                </a:moveTo>
                <a:lnTo>
                  <a:pt x="1630784" y="10978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470010" y="3494532"/>
            <a:ext cx="4718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111" sz="3000" spc="-330">
                <a:latin typeface="Cambria Math"/>
                <a:cs typeface="Cambria Math"/>
              </a:rPr>
              <a:t>𝐹</a:t>
            </a:r>
            <a:r>
              <a:rPr dirty="0" sz="1500" spc="325">
                <a:latin typeface="Cambria Math"/>
                <a:cs typeface="Cambria Math"/>
              </a:rPr>
              <a:t>*</a:t>
            </a:r>
            <a:r>
              <a:rPr dirty="0" sz="1500" spc="-310">
                <a:latin typeface="Cambria Math"/>
                <a:cs typeface="Cambria Math"/>
              </a:rPr>
              <a:t>+</a:t>
            </a:r>
            <a:r>
              <a:rPr dirty="0" baseline="-13888" sz="1800" spc="-172">
                <a:latin typeface="Cambria Math"/>
                <a:cs typeface="Cambria Math"/>
              </a:rPr>
              <a:t>&amp;</a:t>
            </a:r>
            <a:endParaRPr baseline="-13888" sz="1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47914" y="2958084"/>
            <a:ext cx="37846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111" sz="3000" spc="-330">
                <a:latin typeface="Cambria Math"/>
                <a:cs typeface="Cambria Math"/>
              </a:rPr>
              <a:t>𝐹</a:t>
            </a:r>
            <a:r>
              <a:rPr dirty="0" sz="1500" spc="545">
                <a:latin typeface="Cambria Math"/>
                <a:cs typeface="Cambria Math"/>
              </a:rPr>
              <a:t>,</a:t>
            </a:r>
            <a:r>
              <a:rPr dirty="0" sz="1500" spc="-215">
                <a:latin typeface="Cambria Math"/>
                <a:cs typeface="Cambria Math"/>
              </a:rPr>
              <a:t>+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89227" y="3099307"/>
            <a:ext cx="1162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4">
                <a:latin typeface="Cambria Math"/>
                <a:cs typeface="Cambria Math"/>
              </a:rPr>
              <a:t>&amp;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452552" y="4238592"/>
            <a:ext cx="635000" cy="28575"/>
          </a:xfrm>
          <a:custGeom>
            <a:avLst/>
            <a:gdLst/>
            <a:ahLst/>
            <a:cxnLst/>
            <a:rect l="l" t="t" r="r" b="b"/>
            <a:pathLst>
              <a:path w="635000" h="28575">
                <a:moveTo>
                  <a:pt x="628498" y="0"/>
                </a:moveTo>
                <a:lnTo>
                  <a:pt x="555566" y="0"/>
                </a:lnTo>
                <a:lnTo>
                  <a:pt x="549170" y="6395"/>
                </a:lnTo>
                <a:lnTo>
                  <a:pt x="549170" y="22178"/>
                </a:lnTo>
                <a:lnTo>
                  <a:pt x="555566" y="28575"/>
                </a:lnTo>
                <a:lnTo>
                  <a:pt x="628498" y="28575"/>
                </a:lnTo>
                <a:lnTo>
                  <a:pt x="634895" y="22178"/>
                </a:lnTo>
                <a:lnTo>
                  <a:pt x="634895" y="6395"/>
                </a:lnTo>
                <a:lnTo>
                  <a:pt x="628498" y="0"/>
                </a:lnTo>
                <a:close/>
              </a:path>
              <a:path w="635000" h="28575">
                <a:moveTo>
                  <a:pt x="514198" y="0"/>
                </a:moveTo>
                <a:lnTo>
                  <a:pt x="441266" y="0"/>
                </a:lnTo>
                <a:lnTo>
                  <a:pt x="434872" y="6395"/>
                </a:lnTo>
                <a:lnTo>
                  <a:pt x="434870" y="22178"/>
                </a:lnTo>
                <a:lnTo>
                  <a:pt x="441266" y="28575"/>
                </a:lnTo>
                <a:lnTo>
                  <a:pt x="514198" y="28575"/>
                </a:lnTo>
                <a:lnTo>
                  <a:pt x="520595" y="22178"/>
                </a:lnTo>
                <a:lnTo>
                  <a:pt x="520595" y="6395"/>
                </a:lnTo>
                <a:lnTo>
                  <a:pt x="514198" y="0"/>
                </a:lnTo>
                <a:close/>
              </a:path>
              <a:path w="635000" h="28575">
                <a:moveTo>
                  <a:pt x="399898" y="0"/>
                </a:moveTo>
                <a:lnTo>
                  <a:pt x="326966" y="0"/>
                </a:lnTo>
                <a:lnTo>
                  <a:pt x="320570" y="6396"/>
                </a:lnTo>
                <a:lnTo>
                  <a:pt x="320570" y="22178"/>
                </a:lnTo>
                <a:lnTo>
                  <a:pt x="326966" y="28575"/>
                </a:lnTo>
                <a:lnTo>
                  <a:pt x="399898" y="28575"/>
                </a:lnTo>
                <a:lnTo>
                  <a:pt x="406295" y="22178"/>
                </a:lnTo>
                <a:lnTo>
                  <a:pt x="406295" y="6396"/>
                </a:lnTo>
                <a:lnTo>
                  <a:pt x="399898" y="0"/>
                </a:lnTo>
                <a:close/>
              </a:path>
              <a:path w="635000" h="28575">
                <a:moveTo>
                  <a:pt x="285598" y="0"/>
                </a:moveTo>
                <a:lnTo>
                  <a:pt x="212666" y="0"/>
                </a:lnTo>
                <a:lnTo>
                  <a:pt x="206270" y="6396"/>
                </a:lnTo>
                <a:lnTo>
                  <a:pt x="206270" y="22178"/>
                </a:lnTo>
                <a:lnTo>
                  <a:pt x="212666" y="28575"/>
                </a:lnTo>
                <a:lnTo>
                  <a:pt x="285598" y="28575"/>
                </a:lnTo>
                <a:lnTo>
                  <a:pt x="291995" y="22178"/>
                </a:lnTo>
                <a:lnTo>
                  <a:pt x="291995" y="6396"/>
                </a:lnTo>
                <a:lnTo>
                  <a:pt x="285598" y="0"/>
                </a:lnTo>
                <a:close/>
              </a:path>
              <a:path w="635000" h="28575">
                <a:moveTo>
                  <a:pt x="171298" y="0"/>
                </a:moveTo>
                <a:lnTo>
                  <a:pt x="98366" y="0"/>
                </a:lnTo>
                <a:lnTo>
                  <a:pt x="91970" y="6396"/>
                </a:lnTo>
                <a:lnTo>
                  <a:pt x="91970" y="22178"/>
                </a:lnTo>
                <a:lnTo>
                  <a:pt x="98366" y="28575"/>
                </a:lnTo>
                <a:lnTo>
                  <a:pt x="171298" y="28575"/>
                </a:lnTo>
                <a:lnTo>
                  <a:pt x="177695" y="22178"/>
                </a:lnTo>
                <a:lnTo>
                  <a:pt x="177695" y="6396"/>
                </a:lnTo>
                <a:lnTo>
                  <a:pt x="171298" y="0"/>
                </a:lnTo>
                <a:close/>
              </a:path>
              <a:path w="635000" h="28575">
                <a:moveTo>
                  <a:pt x="56998" y="0"/>
                </a:moveTo>
                <a:lnTo>
                  <a:pt x="6395" y="0"/>
                </a:lnTo>
                <a:lnTo>
                  <a:pt x="0" y="6396"/>
                </a:lnTo>
                <a:lnTo>
                  <a:pt x="0" y="22179"/>
                </a:lnTo>
                <a:lnTo>
                  <a:pt x="6395" y="28575"/>
                </a:lnTo>
                <a:lnTo>
                  <a:pt x="56998" y="28575"/>
                </a:lnTo>
                <a:lnTo>
                  <a:pt x="63394" y="22179"/>
                </a:lnTo>
                <a:lnTo>
                  <a:pt x="63395" y="6396"/>
                </a:lnTo>
                <a:lnTo>
                  <a:pt x="5699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683472" y="2451882"/>
            <a:ext cx="518159" cy="435609"/>
          </a:xfrm>
          <a:prstGeom prst="rect">
            <a:avLst/>
          </a:prstGeom>
          <a:solidFill>
            <a:srgbClr val="C4E2C5"/>
          </a:solidFill>
          <a:ln w="38100">
            <a:solidFill>
              <a:srgbClr val="008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30"/>
              </a:spcBef>
            </a:pPr>
            <a:r>
              <a:rPr dirty="0" sz="2400" spc="204">
                <a:latin typeface="Cambria Math"/>
                <a:cs typeface="Cambria Math"/>
              </a:rPr>
              <a:t>𝐶</a:t>
            </a:r>
            <a:r>
              <a:rPr dirty="0" baseline="-15432" sz="2700" spc="307">
                <a:latin typeface="Cambria Math"/>
                <a:cs typeface="Cambria Math"/>
              </a:rPr>
              <a:t>: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35834" y="2451882"/>
            <a:ext cx="518159" cy="435609"/>
          </a:xfrm>
          <a:prstGeom prst="rect">
            <a:avLst/>
          </a:prstGeom>
          <a:solidFill>
            <a:srgbClr val="C4E2C5"/>
          </a:solidFill>
          <a:ln w="38100">
            <a:solidFill>
              <a:srgbClr val="008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30"/>
              </a:spcBef>
            </a:pPr>
            <a:r>
              <a:rPr dirty="0" sz="2400" spc="-35">
                <a:latin typeface="Cambria Math"/>
                <a:cs typeface="Cambria Math"/>
              </a:rPr>
              <a:t>𝐶</a:t>
            </a:r>
            <a:r>
              <a:rPr dirty="0" baseline="-15432" sz="2700" spc="-52">
                <a:latin typeface="Cambria Math"/>
                <a:cs typeface="Cambria Math"/>
              </a:rPr>
              <a:t>F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56631" y="2332227"/>
            <a:ext cx="29337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…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211642" y="2887295"/>
            <a:ext cx="730885" cy="1109980"/>
          </a:xfrm>
          <a:custGeom>
            <a:avLst/>
            <a:gdLst/>
            <a:ahLst/>
            <a:cxnLst/>
            <a:rect l="l" t="t" r="r" b="b"/>
            <a:pathLst>
              <a:path w="730885" h="1109979">
                <a:moveTo>
                  <a:pt x="730705" y="0"/>
                </a:moveTo>
                <a:lnTo>
                  <a:pt x="0" y="110945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942348" y="2887295"/>
            <a:ext cx="386080" cy="1109980"/>
          </a:xfrm>
          <a:custGeom>
            <a:avLst/>
            <a:gdLst/>
            <a:ahLst/>
            <a:cxnLst/>
            <a:rect l="l" t="t" r="r" b="b"/>
            <a:pathLst>
              <a:path w="386079" h="1109979">
                <a:moveTo>
                  <a:pt x="0" y="0"/>
                </a:moveTo>
                <a:lnTo>
                  <a:pt x="386008" y="110945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338892" y="2887295"/>
            <a:ext cx="855980" cy="1097915"/>
          </a:xfrm>
          <a:custGeom>
            <a:avLst/>
            <a:gdLst/>
            <a:ahLst/>
            <a:cxnLst/>
            <a:rect l="l" t="t" r="r" b="b"/>
            <a:pathLst>
              <a:path w="855979" h="1097914">
                <a:moveTo>
                  <a:pt x="855816" y="0"/>
                </a:moveTo>
                <a:lnTo>
                  <a:pt x="0" y="10978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4821021" y="3412235"/>
            <a:ext cx="457834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111" sz="3000" spc="-330">
                <a:latin typeface="Cambria Math"/>
                <a:cs typeface="Cambria Math"/>
              </a:rPr>
              <a:t>𝐹</a:t>
            </a:r>
            <a:r>
              <a:rPr dirty="0" sz="1500" spc="545">
                <a:latin typeface="Cambria Math"/>
                <a:cs typeface="Cambria Math"/>
              </a:rPr>
              <a:t>,</a:t>
            </a:r>
            <a:r>
              <a:rPr dirty="0" sz="1500" spc="-310">
                <a:latin typeface="Cambria Math"/>
                <a:cs typeface="Cambria Math"/>
              </a:rPr>
              <a:t>+</a:t>
            </a:r>
            <a:r>
              <a:rPr dirty="0" baseline="-13888" sz="1800" spc="637">
                <a:latin typeface="Cambria Math"/>
                <a:cs typeface="Cambria Math"/>
              </a:rPr>
              <a:t>'</a:t>
            </a:r>
            <a:endParaRPr baseline="-13888" sz="18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211642" y="2887295"/>
            <a:ext cx="1983105" cy="1109980"/>
          </a:xfrm>
          <a:custGeom>
            <a:avLst/>
            <a:gdLst/>
            <a:ahLst/>
            <a:cxnLst/>
            <a:rect l="l" t="t" r="r" b="b"/>
            <a:pathLst>
              <a:path w="1983104" h="1109979">
                <a:moveTo>
                  <a:pt x="1983066" y="0"/>
                </a:moveTo>
                <a:lnTo>
                  <a:pt x="0" y="110945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4332648" y="2836164"/>
            <a:ext cx="4718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111" sz="3000" spc="-330">
                <a:latin typeface="Cambria Math"/>
                <a:cs typeface="Cambria Math"/>
              </a:rPr>
              <a:t>𝐹</a:t>
            </a:r>
            <a:r>
              <a:rPr dirty="0" sz="1500" spc="325">
                <a:latin typeface="Cambria Math"/>
                <a:cs typeface="Cambria Math"/>
              </a:rPr>
              <a:t>*</a:t>
            </a:r>
            <a:r>
              <a:rPr dirty="0" sz="1500" spc="-310">
                <a:latin typeface="Cambria Math"/>
                <a:cs typeface="Cambria Math"/>
              </a:rPr>
              <a:t>+</a:t>
            </a:r>
            <a:r>
              <a:rPr dirty="0" baseline="-13888" sz="1800" spc="637">
                <a:latin typeface="Cambria Math"/>
                <a:cs typeface="Cambria Math"/>
              </a:rPr>
              <a:t>'</a:t>
            </a:r>
            <a:endParaRPr baseline="-13888" sz="1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107376" y="4056379"/>
            <a:ext cx="1301750" cy="673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790"/>
              </a:lnSpc>
              <a:spcBef>
                <a:spcPts val="100"/>
              </a:spcBef>
              <a:tabLst>
                <a:tab pos="1109980" algn="l"/>
              </a:tabLst>
            </a:pPr>
            <a:r>
              <a:rPr dirty="0" sz="2400">
                <a:latin typeface="Cambria Math"/>
                <a:cs typeface="Cambria Math"/>
              </a:rPr>
              <a:t>𝑢	𝑣</a:t>
            </a:r>
            <a:endParaRPr sz="2400">
              <a:latin typeface="Cambria Math"/>
              <a:cs typeface="Cambria Math"/>
            </a:endParaRPr>
          </a:p>
          <a:p>
            <a:pPr algn="ctr" marL="31750">
              <a:lnSpc>
                <a:spcPts val="2310"/>
              </a:lnSpc>
            </a:pPr>
            <a:r>
              <a:rPr dirty="0" sz="2000" spc="15">
                <a:latin typeface="Cambria Math"/>
                <a:cs typeface="Cambria Math"/>
              </a:rPr>
              <a:t>𝑃(𝑢,</a:t>
            </a:r>
            <a:r>
              <a:rPr dirty="0" sz="2000" spc="-200">
                <a:latin typeface="Cambria Math"/>
                <a:cs typeface="Cambria Math"/>
              </a:rPr>
              <a:t> </a:t>
            </a:r>
            <a:r>
              <a:rPr dirty="0" sz="2000" spc="25">
                <a:latin typeface="Cambria Math"/>
                <a:cs typeface="Cambria Math"/>
              </a:rPr>
              <a:t>𝑣)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416749" y="5851475"/>
            <a:ext cx="3039745" cy="629920"/>
          </a:xfrm>
          <a:custGeom>
            <a:avLst/>
            <a:gdLst/>
            <a:ahLst/>
            <a:cxnLst/>
            <a:rect l="l" t="t" r="r" b="b"/>
            <a:pathLst>
              <a:path w="3039745" h="629920">
                <a:moveTo>
                  <a:pt x="0" y="0"/>
                </a:moveTo>
                <a:lnTo>
                  <a:pt x="3039276" y="0"/>
                </a:lnTo>
                <a:lnTo>
                  <a:pt x="3039276" y="629399"/>
                </a:lnTo>
                <a:lnTo>
                  <a:pt x="0" y="629399"/>
                </a:lnTo>
                <a:lnTo>
                  <a:pt x="0" y="0"/>
                </a:lnTo>
                <a:close/>
              </a:path>
            </a:pathLst>
          </a:custGeom>
          <a:solidFill>
            <a:srgbClr val="F0AD00">
              <a:alpha val="3803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6599576" y="5531611"/>
            <a:ext cx="2310130" cy="85788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60"/>
              </a:spcBef>
            </a:pPr>
            <a:r>
              <a:rPr dirty="0" sz="1800" spc="-5">
                <a:latin typeface="Arial"/>
                <a:cs typeface="Arial"/>
              </a:rPr>
              <a:t>Probability that </a:t>
            </a:r>
            <a:r>
              <a:rPr dirty="0" sz="1800">
                <a:latin typeface="Cambria Math"/>
                <a:cs typeface="Cambria Math"/>
              </a:rPr>
              <a:t>𝑢 </a:t>
            </a:r>
            <a:r>
              <a:rPr dirty="0" sz="1800">
                <a:latin typeface="Corbel"/>
                <a:cs typeface="Corbel"/>
              </a:rPr>
              <a:t>and </a:t>
            </a:r>
            <a:r>
              <a:rPr dirty="0" sz="1800">
                <a:latin typeface="Cambria Math"/>
                <a:cs typeface="Cambria Math"/>
              </a:rPr>
              <a:t>𝑣  </a:t>
            </a:r>
            <a:r>
              <a:rPr dirty="0" sz="1800" spc="-5">
                <a:latin typeface="Arial"/>
                <a:cs typeface="Arial"/>
              </a:rPr>
              <a:t>are </a:t>
            </a:r>
            <a:r>
              <a:rPr dirty="0" sz="1800" b="1" i="1">
                <a:solidFill>
                  <a:srgbClr val="C00000"/>
                </a:solidFill>
                <a:latin typeface="Arial"/>
                <a:cs typeface="Arial"/>
              </a:rPr>
              <a:t>not </a:t>
            </a:r>
            <a:r>
              <a:rPr dirty="0" sz="1800" spc="-5">
                <a:latin typeface="Arial"/>
                <a:cs typeface="Arial"/>
              </a:rPr>
              <a:t>connected by  any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communities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50"/>
              <a:t> </a:t>
            </a:r>
            <a:r>
              <a:rPr dirty="0" spc="-5"/>
              <a:t>Graphs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62</a:t>
            </a:fld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786079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105880" y="1463572"/>
            <a:ext cx="924560" cy="376555"/>
          </a:xfrm>
          <a:custGeom>
            <a:avLst/>
            <a:gdLst/>
            <a:ahLst/>
            <a:cxnLst/>
            <a:rect l="l" t="t" r="r" b="b"/>
            <a:pathLst>
              <a:path w="924560" h="376555">
                <a:moveTo>
                  <a:pt x="804139" y="0"/>
                </a:moveTo>
                <a:lnTo>
                  <a:pt x="798781" y="15279"/>
                </a:lnTo>
                <a:lnTo>
                  <a:pt x="820572" y="24736"/>
                </a:lnTo>
                <a:lnTo>
                  <a:pt x="839312" y="37826"/>
                </a:lnTo>
                <a:lnTo>
                  <a:pt x="867639" y="74909"/>
                </a:lnTo>
                <a:lnTo>
                  <a:pt x="884308" y="124940"/>
                </a:lnTo>
                <a:lnTo>
                  <a:pt x="889864" y="186331"/>
                </a:lnTo>
                <a:lnTo>
                  <a:pt x="888469" y="219533"/>
                </a:lnTo>
                <a:lnTo>
                  <a:pt x="877307" y="276782"/>
                </a:lnTo>
                <a:lnTo>
                  <a:pt x="854908" y="321493"/>
                </a:lnTo>
                <a:lnTo>
                  <a:pt x="820827" y="351655"/>
                </a:lnTo>
                <a:lnTo>
                  <a:pt x="799377" y="361156"/>
                </a:lnTo>
                <a:lnTo>
                  <a:pt x="804139" y="376435"/>
                </a:lnTo>
                <a:lnTo>
                  <a:pt x="855485" y="352349"/>
                </a:lnTo>
                <a:lnTo>
                  <a:pt x="893237" y="310653"/>
                </a:lnTo>
                <a:lnTo>
                  <a:pt x="916455" y="254818"/>
                </a:lnTo>
                <a:lnTo>
                  <a:pt x="924194" y="188316"/>
                </a:lnTo>
                <a:lnTo>
                  <a:pt x="922253" y="153807"/>
                </a:lnTo>
                <a:lnTo>
                  <a:pt x="906725" y="92638"/>
                </a:lnTo>
                <a:lnTo>
                  <a:pt x="875930" y="42843"/>
                </a:lnTo>
                <a:lnTo>
                  <a:pt x="831431" y="9853"/>
                </a:lnTo>
                <a:lnTo>
                  <a:pt x="804139" y="0"/>
                </a:lnTo>
                <a:close/>
              </a:path>
              <a:path w="924560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7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357251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2620645" algn="l"/>
                <a:tab pos="3447415" algn="l"/>
              </a:tabLst>
            </a:pPr>
            <a:r>
              <a:rPr dirty="0">
                <a:solidFill>
                  <a:srgbClr val="FF0066"/>
                </a:solidFill>
              </a:rPr>
              <a:t>E</a:t>
            </a:r>
            <a:r>
              <a:rPr dirty="0" spc="0">
                <a:solidFill>
                  <a:srgbClr val="FF0066"/>
                </a:solidFill>
              </a:rPr>
              <a:t>x</a:t>
            </a:r>
            <a:r>
              <a:rPr dirty="0" spc="-5">
                <a:solidFill>
                  <a:srgbClr val="FF0066"/>
                </a:solidFill>
              </a:rPr>
              <a:t>pand</a:t>
            </a:r>
            <a:r>
              <a:rPr dirty="0">
                <a:solidFill>
                  <a:srgbClr val="FF0066"/>
                </a:solidFill>
              </a:rPr>
              <a:t>i</a:t>
            </a:r>
            <a:r>
              <a:rPr dirty="0" spc="-5">
                <a:solidFill>
                  <a:srgbClr val="FF0066"/>
                </a:solidFill>
              </a:rPr>
              <a:t>n</a:t>
            </a:r>
            <a:r>
              <a:rPr dirty="0">
                <a:solidFill>
                  <a:srgbClr val="FF0066"/>
                </a:solidFill>
              </a:rPr>
              <a:t>g</a:t>
            </a:r>
            <a:r>
              <a:rPr dirty="0" spc="-10">
                <a:solidFill>
                  <a:srgbClr val="FF0066"/>
                </a:solidFill>
              </a:rPr>
              <a:t> </a:t>
            </a:r>
            <a:r>
              <a:rPr dirty="0" b="0">
                <a:solidFill>
                  <a:srgbClr val="FF0066"/>
                </a:solidFill>
                <a:latin typeface="Cambria Math"/>
                <a:cs typeface="Cambria Math"/>
              </a:rPr>
              <a:t>𝑷	</a:t>
            </a:r>
            <a:r>
              <a:rPr dirty="0" spc="-5" b="0">
                <a:solidFill>
                  <a:srgbClr val="FF0066"/>
                </a:solidFill>
                <a:latin typeface="Cambria Math"/>
                <a:cs typeface="Cambria Math"/>
              </a:rPr>
              <a:t>𝒖</a:t>
            </a:r>
            <a:r>
              <a:rPr dirty="0" b="0">
                <a:solidFill>
                  <a:srgbClr val="FF0066"/>
                </a:solidFill>
                <a:latin typeface="Cambria Math"/>
                <a:cs typeface="Cambria Math"/>
              </a:rPr>
              <a:t>,</a:t>
            </a:r>
            <a:r>
              <a:rPr dirty="0" spc="-165" b="0">
                <a:solidFill>
                  <a:srgbClr val="FF0066"/>
                </a:solidFill>
                <a:latin typeface="Cambria Math"/>
                <a:cs typeface="Cambria Math"/>
              </a:rPr>
              <a:t> </a:t>
            </a:r>
            <a:r>
              <a:rPr dirty="0" b="0">
                <a:solidFill>
                  <a:srgbClr val="FF0066"/>
                </a:solidFill>
                <a:latin typeface="Cambria Math"/>
                <a:cs typeface="Cambria Math"/>
              </a:rPr>
              <a:t>𝒗	</a:t>
            </a:r>
            <a:r>
              <a:rPr dirty="0">
                <a:solidFill>
                  <a:srgbClr val="FF0066"/>
                </a:solidFill>
              </a:rPr>
              <a:t>:</a:t>
            </a:r>
          </a:p>
        </p:txBody>
      </p:sp>
      <p:sp>
        <p:nvSpPr>
          <p:cNvPr id="5" name="object 5"/>
          <p:cNvSpPr/>
          <p:nvPr/>
        </p:nvSpPr>
        <p:spPr>
          <a:xfrm>
            <a:off x="2085097" y="2390573"/>
            <a:ext cx="782955" cy="329565"/>
          </a:xfrm>
          <a:custGeom>
            <a:avLst/>
            <a:gdLst/>
            <a:ahLst/>
            <a:cxnLst/>
            <a:rect l="l" t="t" r="r" b="b"/>
            <a:pathLst>
              <a:path w="782955" h="329564">
                <a:moveTo>
                  <a:pt x="677771" y="0"/>
                </a:moveTo>
                <a:lnTo>
                  <a:pt x="673082" y="13370"/>
                </a:lnTo>
                <a:lnTo>
                  <a:pt x="692149" y="21645"/>
                </a:lnTo>
                <a:lnTo>
                  <a:pt x="708546" y="33099"/>
                </a:lnTo>
                <a:lnTo>
                  <a:pt x="733333" y="65547"/>
                </a:lnTo>
                <a:lnTo>
                  <a:pt x="747918" y="109324"/>
                </a:lnTo>
                <a:lnTo>
                  <a:pt x="752779" y="163041"/>
                </a:lnTo>
                <a:lnTo>
                  <a:pt x="751558" y="192092"/>
                </a:lnTo>
                <a:lnTo>
                  <a:pt x="741791" y="242185"/>
                </a:lnTo>
                <a:lnTo>
                  <a:pt x="722193" y="281307"/>
                </a:lnTo>
                <a:lnTo>
                  <a:pt x="692371" y="307699"/>
                </a:lnTo>
                <a:lnTo>
                  <a:pt x="673602" y="316011"/>
                </a:lnTo>
                <a:lnTo>
                  <a:pt x="677771" y="329382"/>
                </a:lnTo>
                <a:lnTo>
                  <a:pt x="722698" y="308306"/>
                </a:lnTo>
                <a:lnTo>
                  <a:pt x="755731" y="271821"/>
                </a:lnTo>
                <a:lnTo>
                  <a:pt x="776046" y="222966"/>
                </a:lnTo>
                <a:lnTo>
                  <a:pt x="782817" y="164777"/>
                </a:lnTo>
                <a:lnTo>
                  <a:pt x="781119" y="134581"/>
                </a:lnTo>
                <a:lnTo>
                  <a:pt x="767533" y="81059"/>
                </a:lnTo>
                <a:lnTo>
                  <a:pt x="740587" y="37488"/>
                </a:lnTo>
                <a:lnTo>
                  <a:pt x="701650" y="8622"/>
                </a:lnTo>
                <a:lnTo>
                  <a:pt x="677771" y="0"/>
                </a:lnTo>
                <a:close/>
              </a:path>
              <a:path w="782955" h="329564">
                <a:moveTo>
                  <a:pt x="105048" y="0"/>
                </a:moveTo>
                <a:lnTo>
                  <a:pt x="60229" y="21118"/>
                </a:lnTo>
                <a:lnTo>
                  <a:pt x="27174" y="57732"/>
                </a:lnTo>
                <a:lnTo>
                  <a:pt x="6793" y="106676"/>
                </a:lnTo>
                <a:lnTo>
                  <a:pt x="0" y="164777"/>
                </a:lnTo>
                <a:lnTo>
                  <a:pt x="1693" y="195038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70"/>
                </a:lnTo>
                <a:lnTo>
                  <a:pt x="105048" y="329382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2" y="218473"/>
                </a:lnTo>
                <a:lnTo>
                  <a:pt x="30039" y="163041"/>
                </a:lnTo>
                <a:lnTo>
                  <a:pt x="31260" y="134940"/>
                </a:lnTo>
                <a:lnTo>
                  <a:pt x="41026" y="86193"/>
                </a:lnTo>
                <a:lnTo>
                  <a:pt x="60657" y="47733"/>
                </a:lnTo>
                <a:lnTo>
                  <a:pt x="90739" y="21645"/>
                </a:lnTo>
                <a:lnTo>
                  <a:pt x="109735" y="13370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811782" y="2289555"/>
            <a:ext cx="9423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9255" algn="l"/>
              </a:tabLst>
            </a:pPr>
            <a:r>
              <a:rPr dirty="0" sz="2800">
                <a:latin typeface="Cambria Math"/>
                <a:cs typeface="Cambria Math"/>
              </a:rPr>
              <a:t>𝑃	</a:t>
            </a:r>
            <a:r>
              <a:rPr dirty="0" sz="2800" spc="30">
                <a:latin typeface="Cambria Math"/>
                <a:cs typeface="Cambria Math"/>
              </a:rPr>
              <a:t>𝑢,</a:t>
            </a:r>
            <a:r>
              <a:rPr dirty="0" sz="2800" spc="-24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27383" y="2340480"/>
            <a:ext cx="2165985" cy="429895"/>
          </a:xfrm>
          <a:custGeom>
            <a:avLst/>
            <a:gdLst/>
            <a:ahLst/>
            <a:cxnLst/>
            <a:rect l="l" t="t" r="r" b="b"/>
            <a:pathLst>
              <a:path w="2165984" h="429894">
                <a:moveTo>
                  <a:pt x="2052885" y="0"/>
                </a:moveTo>
                <a:lnTo>
                  <a:pt x="2048544" y="14237"/>
                </a:lnTo>
                <a:lnTo>
                  <a:pt x="2068278" y="24471"/>
                </a:lnTo>
                <a:lnTo>
                  <a:pt x="2085463" y="39371"/>
                </a:lnTo>
                <a:lnTo>
                  <a:pt x="2112181" y="83171"/>
                </a:lnTo>
                <a:lnTo>
                  <a:pt x="2128393" y="142683"/>
                </a:lnTo>
                <a:lnTo>
                  <a:pt x="2133798" y="214957"/>
                </a:lnTo>
                <a:lnTo>
                  <a:pt x="2132447" y="252609"/>
                </a:lnTo>
                <a:lnTo>
                  <a:pt x="2121638" y="318372"/>
                </a:lnTo>
                <a:lnTo>
                  <a:pt x="2100097" y="370679"/>
                </a:lnTo>
                <a:lnTo>
                  <a:pt x="2068278" y="405102"/>
                </a:lnTo>
                <a:lnTo>
                  <a:pt x="2048544" y="415330"/>
                </a:lnTo>
                <a:lnTo>
                  <a:pt x="2052885" y="429568"/>
                </a:lnTo>
                <a:lnTo>
                  <a:pt x="2100851" y="404000"/>
                </a:lnTo>
                <a:lnTo>
                  <a:pt x="2136402" y="355773"/>
                </a:lnTo>
                <a:lnTo>
                  <a:pt x="2158410" y="290748"/>
                </a:lnTo>
                <a:lnTo>
                  <a:pt x="2165746" y="214783"/>
                </a:lnTo>
                <a:lnTo>
                  <a:pt x="2163912" y="175434"/>
                </a:lnTo>
                <a:lnTo>
                  <a:pt x="2149240" y="104939"/>
                </a:lnTo>
                <a:lnTo>
                  <a:pt x="2120178" y="46848"/>
                </a:lnTo>
                <a:lnTo>
                  <a:pt x="2078420" y="9951"/>
                </a:lnTo>
                <a:lnTo>
                  <a:pt x="2052885" y="0"/>
                </a:lnTo>
                <a:close/>
              </a:path>
              <a:path w="2165984" h="429894">
                <a:moveTo>
                  <a:pt x="112861" y="0"/>
                </a:moveTo>
                <a:lnTo>
                  <a:pt x="64895" y="25567"/>
                </a:lnTo>
                <a:lnTo>
                  <a:pt x="29344" y="73794"/>
                </a:lnTo>
                <a:lnTo>
                  <a:pt x="7336" y="138819"/>
                </a:lnTo>
                <a:lnTo>
                  <a:pt x="0" y="214783"/>
                </a:lnTo>
                <a:lnTo>
                  <a:pt x="1834" y="254133"/>
                </a:lnTo>
                <a:lnTo>
                  <a:pt x="16506" y="324628"/>
                </a:lnTo>
                <a:lnTo>
                  <a:pt x="45568" y="382719"/>
                </a:lnTo>
                <a:lnTo>
                  <a:pt x="87326" y="419617"/>
                </a:lnTo>
                <a:lnTo>
                  <a:pt x="112861" y="429568"/>
                </a:lnTo>
                <a:lnTo>
                  <a:pt x="117201" y="415330"/>
                </a:lnTo>
                <a:lnTo>
                  <a:pt x="97467" y="405102"/>
                </a:lnTo>
                <a:lnTo>
                  <a:pt x="80283" y="390218"/>
                </a:lnTo>
                <a:lnTo>
                  <a:pt x="53566" y="346485"/>
                </a:lnTo>
                <a:lnTo>
                  <a:pt x="37352" y="287080"/>
                </a:lnTo>
                <a:lnTo>
                  <a:pt x="31954" y="214783"/>
                </a:lnTo>
                <a:lnTo>
                  <a:pt x="33299" y="177225"/>
                </a:lnTo>
                <a:lnTo>
                  <a:pt x="44108" y="111331"/>
                </a:lnTo>
                <a:lnTo>
                  <a:pt x="65649" y="58938"/>
                </a:lnTo>
                <a:lnTo>
                  <a:pt x="97467" y="24471"/>
                </a:lnTo>
                <a:lnTo>
                  <a:pt x="117201" y="14237"/>
                </a:lnTo>
                <a:lnTo>
                  <a:pt x="1128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985261" y="2113178"/>
            <a:ext cx="2402840" cy="1059815"/>
          </a:xfrm>
          <a:prstGeom prst="rect">
            <a:avLst/>
          </a:prstGeom>
        </p:spPr>
        <p:txBody>
          <a:bodyPr wrap="square" lIns="0" tIns="1885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85"/>
              </a:spcBef>
              <a:tabLst>
                <a:tab pos="454025" algn="l"/>
                <a:tab pos="1770380" algn="l"/>
                <a:tab pos="2124075" algn="l"/>
              </a:tabLst>
            </a:pPr>
            <a:r>
              <a:rPr dirty="0" sz="2800">
                <a:latin typeface="Cambria Math"/>
                <a:cs typeface="Cambria Math"/>
              </a:rPr>
              <a:t>=	1</a:t>
            </a:r>
            <a:r>
              <a:rPr dirty="0" sz="2800" spc="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− </a:t>
            </a:r>
            <a:r>
              <a:rPr dirty="0" sz="2800" spc="2390">
                <a:latin typeface="Cambria Math"/>
                <a:cs typeface="Cambria Math"/>
              </a:rPr>
              <a:t>O</a:t>
            </a:r>
            <a:r>
              <a:rPr dirty="0" sz="2800">
                <a:latin typeface="Cambria Math"/>
                <a:cs typeface="Cambria Math"/>
              </a:rPr>
              <a:t>	1	−</a:t>
            </a:r>
            <a:endParaRPr sz="2800">
              <a:latin typeface="Cambria Math"/>
              <a:cs typeface="Cambria Math"/>
            </a:endParaRPr>
          </a:p>
          <a:p>
            <a:pPr algn="ctr" marL="279400">
              <a:lnSpc>
                <a:spcPct val="100000"/>
              </a:lnSpc>
              <a:spcBef>
                <a:spcPts val="985"/>
              </a:spcBef>
            </a:pPr>
            <a:r>
              <a:rPr dirty="0" sz="2000" spc="285">
                <a:latin typeface="Cambria Math"/>
                <a:cs typeface="Cambria Math"/>
              </a:rPr>
              <a:t>;∈C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50583" y="2390573"/>
            <a:ext cx="782955" cy="329565"/>
          </a:xfrm>
          <a:custGeom>
            <a:avLst/>
            <a:gdLst/>
            <a:ahLst/>
            <a:cxnLst/>
            <a:rect l="l" t="t" r="r" b="b"/>
            <a:pathLst>
              <a:path w="782954" h="329564">
                <a:moveTo>
                  <a:pt x="677769" y="0"/>
                </a:moveTo>
                <a:lnTo>
                  <a:pt x="673082" y="13370"/>
                </a:lnTo>
                <a:lnTo>
                  <a:pt x="692149" y="21645"/>
                </a:lnTo>
                <a:lnTo>
                  <a:pt x="708546" y="33099"/>
                </a:lnTo>
                <a:lnTo>
                  <a:pt x="733332" y="65547"/>
                </a:lnTo>
                <a:lnTo>
                  <a:pt x="747918" y="109324"/>
                </a:lnTo>
                <a:lnTo>
                  <a:pt x="752779" y="163041"/>
                </a:lnTo>
                <a:lnTo>
                  <a:pt x="751558" y="192092"/>
                </a:lnTo>
                <a:lnTo>
                  <a:pt x="741791" y="242185"/>
                </a:lnTo>
                <a:lnTo>
                  <a:pt x="722193" y="281307"/>
                </a:lnTo>
                <a:lnTo>
                  <a:pt x="692371" y="307699"/>
                </a:lnTo>
                <a:lnTo>
                  <a:pt x="673602" y="316011"/>
                </a:lnTo>
                <a:lnTo>
                  <a:pt x="677769" y="329382"/>
                </a:lnTo>
                <a:lnTo>
                  <a:pt x="722697" y="308306"/>
                </a:lnTo>
                <a:lnTo>
                  <a:pt x="755731" y="271821"/>
                </a:lnTo>
                <a:lnTo>
                  <a:pt x="776046" y="222966"/>
                </a:lnTo>
                <a:lnTo>
                  <a:pt x="782817" y="164777"/>
                </a:lnTo>
                <a:lnTo>
                  <a:pt x="781119" y="134581"/>
                </a:lnTo>
                <a:lnTo>
                  <a:pt x="767533" y="81059"/>
                </a:lnTo>
                <a:lnTo>
                  <a:pt x="740587" y="37488"/>
                </a:lnTo>
                <a:lnTo>
                  <a:pt x="701649" y="8622"/>
                </a:lnTo>
                <a:lnTo>
                  <a:pt x="677769" y="0"/>
                </a:lnTo>
                <a:close/>
              </a:path>
              <a:path w="782954" h="329564">
                <a:moveTo>
                  <a:pt x="105048" y="0"/>
                </a:moveTo>
                <a:lnTo>
                  <a:pt x="60228" y="21118"/>
                </a:lnTo>
                <a:lnTo>
                  <a:pt x="27172" y="57732"/>
                </a:lnTo>
                <a:lnTo>
                  <a:pt x="6793" y="106676"/>
                </a:lnTo>
                <a:lnTo>
                  <a:pt x="0" y="164777"/>
                </a:lnTo>
                <a:lnTo>
                  <a:pt x="1692" y="195038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70"/>
                </a:lnTo>
                <a:lnTo>
                  <a:pt x="105048" y="329382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40"/>
                </a:lnTo>
                <a:lnTo>
                  <a:pt x="41025" y="86193"/>
                </a:lnTo>
                <a:lnTo>
                  <a:pt x="60657" y="47733"/>
                </a:lnTo>
                <a:lnTo>
                  <a:pt x="90739" y="21645"/>
                </a:lnTo>
                <a:lnTo>
                  <a:pt x="109735" y="13370"/>
                </a:lnTo>
                <a:lnTo>
                  <a:pt x="105048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453634" y="2319966"/>
            <a:ext cx="1052830" cy="464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220"/>
              </a:lnSpc>
            </a:pPr>
            <a:r>
              <a:rPr dirty="0" sz="2800" spc="185">
                <a:solidFill>
                  <a:srgbClr val="008000"/>
                </a:solidFill>
                <a:latin typeface="Cambria Math"/>
                <a:cs typeface="Cambria Math"/>
              </a:rPr>
              <a:t>𝑃</a:t>
            </a:r>
            <a:r>
              <a:rPr dirty="0" baseline="-15277" sz="3000" spc="277">
                <a:solidFill>
                  <a:srgbClr val="008000"/>
                </a:solidFill>
                <a:latin typeface="Cambria Math"/>
                <a:cs typeface="Cambria Math"/>
              </a:rPr>
              <a:t>; </a:t>
            </a:r>
            <a:r>
              <a:rPr dirty="0" sz="2800" spc="30">
                <a:solidFill>
                  <a:srgbClr val="008000"/>
                </a:solidFill>
                <a:latin typeface="Cambria Math"/>
                <a:cs typeface="Cambria Math"/>
              </a:rPr>
              <a:t>𝑢,</a:t>
            </a:r>
            <a:r>
              <a:rPr dirty="0" sz="2800" spc="114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008000"/>
                </a:solidFill>
                <a:latin typeface="Cambria Math"/>
                <a:cs typeface="Cambria Math"/>
              </a:rPr>
              <a:t>𝑣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307894" y="3558938"/>
            <a:ext cx="1537335" cy="282575"/>
          </a:xfrm>
          <a:custGeom>
            <a:avLst/>
            <a:gdLst/>
            <a:ahLst/>
            <a:cxnLst/>
            <a:rect l="l" t="t" r="r" b="b"/>
            <a:pathLst>
              <a:path w="1537335" h="282575">
                <a:moveTo>
                  <a:pt x="1447004" y="0"/>
                </a:moveTo>
                <a:lnTo>
                  <a:pt x="1442986" y="11459"/>
                </a:lnTo>
                <a:lnTo>
                  <a:pt x="1459329" y="18552"/>
                </a:lnTo>
                <a:lnTo>
                  <a:pt x="1473384" y="28370"/>
                </a:lnTo>
                <a:lnTo>
                  <a:pt x="1501922" y="73878"/>
                </a:lnTo>
                <a:lnTo>
                  <a:pt x="1510256" y="115662"/>
                </a:lnTo>
                <a:lnTo>
                  <a:pt x="1511298" y="139749"/>
                </a:lnTo>
                <a:lnTo>
                  <a:pt x="1510252" y="164650"/>
                </a:lnTo>
                <a:lnTo>
                  <a:pt x="1501880" y="207587"/>
                </a:lnTo>
                <a:lnTo>
                  <a:pt x="1473402" y="253826"/>
                </a:lnTo>
                <a:lnTo>
                  <a:pt x="1443432" y="270866"/>
                </a:lnTo>
                <a:lnTo>
                  <a:pt x="1447004" y="282327"/>
                </a:lnTo>
                <a:lnTo>
                  <a:pt x="1485514" y="264263"/>
                </a:lnTo>
                <a:lnTo>
                  <a:pt x="1513828" y="232990"/>
                </a:lnTo>
                <a:lnTo>
                  <a:pt x="1531241" y="191113"/>
                </a:lnTo>
                <a:lnTo>
                  <a:pt x="1537045" y="141237"/>
                </a:lnTo>
                <a:lnTo>
                  <a:pt x="1535589" y="115355"/>
                </a:lnTo>
                <a:lnTo>
                  <a:pt x="1523943" y="69479"/>
                </a:lnTo>
                <a:lnTo>
                  <a:pt x="1500847" y="32133"/>
                </a:lnTo>
                <a:lnTo>
                  <a:pt x="1467473" y="7390"/>
                </a:lnTo>
                <a:lnTo>
                  <a:pt x="1447004" y="0"/>
                </a:lnTo>
                <a:close/>
              </a:path>
              <a:path w="1537335" h="282575">
                <a:moveTo>
                  <a:pt x="90041" y="0"/>
                </a:moveTo>
                <a:lnTo>
                  <a:pt x="51625" y="18101"/>
                </a:lnTo>
                <a:lnTo>
                  <a:pt x="23291" y="49485"/>
                </a:lnTo>
                <a:lnTo>
                  <a:pt x="5823" y="91436"/>
                </a:lnTo>
                <a:lnTo>
                  <a:pt x="0" y="141237"/>
                </a:lnTo>
                <a:lnTo>
                  <a:pt x="1451" y="167175"/>
                </a:lnTo>
                <a:lnTo>
                  <a:pt x="13060" y="213051"/>
                </a:lnTo>
                <a:lnTo>
                  <a:pt x="36100" y="250277"/>
                </a:lnTo>
                <a:lnTo>
                  <a:pt x="69512" y="274946"/>
                </a:lnTo>
                <a:lnTo>
                  <a:pt x="90041" y="282327"/>
                </a:lnTo>
                <a:lnTo>
                  <a:pt x="93612" y="270866"/>
                </a:lnTo>
                <a:lnTo>
                  <a:pt x="77526" y="263742"/>
                </a:lnTo>
                <a:lnTo>
                  <a:pt x="63643" y="253826"/>
                </a:lnTo>
                <a:lnTo>
                  <a:pt x="35165" y="207587"/>
                </a:lnTo>
                <a:lnTo>
                  <a:pt x="26794" y="164650"/>
                </a:lnTo>
                <a:lnTo>
                  <a:pt x="25747" y="139749"/>
                </a:lnTo>
                <a:lnTo>
                  <a:pt x="26794" y="115662"/>
                </a:lnTo>
                <a:lnTo>
                  <a:pt x="35165" y="73878"/>
                </a:lnTo>
                <a:lnTo>
                  <a:pt x="63755" y="28370"/>
                </a:lnTo>
                <a:lnTo>
                  <a:pt x="94060" y="11459"/>
                </a:lnTo>
                <a:lnTo>
                  <a:pt x="900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453322" y="3334003"/>
            <a:ext cx="3282315" cy="90043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2400">
                <a:latin typeface="Cambria Math"/>
                <a:cs typeface="Cambria Math"/>
              </a:rPr>
              <a:t>= 1 − </a:t>
            </a:r>
            <a:r>
              <a:rPr dirty="0" sz="2400" spc="2025">
                <a:latin typeface="Cambria Math"/>
                <a:cs typeface="Cambria Math"/>
              </a:rPr>
              <a:t>D</a:t>
            </a:r>
            <a:r>
              <a:rPr dirty="0" sz="2400" spc="0">
                <a:latin typeface="Cambria Math"/>
                <a:cs typeface="Cambria Math"/>
              </a:rPr>
              <a:t> </a:t>
            </a:r>
            <a:r>
              <a:rPr dirty="0" sz="2400" spc="-15">
                <a:latin typeface="Cambria Math"/>
                <a:cs typeface="Cambria Math"/>
              </a:rPr>
              <a:t>exp  </a:t>
            </a:r>
            <a:r>
              <a:rPr dirty="0" sz="2400" spc="-5">
                <a:latin typeface="Cambria Math"/>
                <a:cs typeface="Cambria Math"/>
              </a:rPr>
              <a:t>−𝐹</a:t>
            </a:r>
            <a:r>
              <a:rPr dirty="0" baseline="-15432" sz="2700" spc="-7">
                <a:latin typeface="Cambria Math"/>
                <a:cs typeface="Cambria Math"/>
              </a:rPr>
              <a:t>L2 </a:t>
            </a:r>
            <a:r>
              <a:rPr dirty="0" sz="2400">
                <a:latin typeface="Cambria Math"/>
                <a:cs typeface="Cambria Math"/>
              </a:rPr>
              <a:t>⋅ </a:t>
            </a:r>
            <a:r>
              <a:rPr dirty="0" sz="2400" spc="-235">
                <a:latin typeface="Cambria Math"/>
                <a:cs typeface="Cambria Math"/>
              </a:rPr>
              <a:t>𝐹</a:t>
            </a:r>
            <a:r>
              <a:rPr dirty="0" baseline="-15432" sz="2700" spc="-352">
                <a:latin typeface="Cambria Math"/>
                <a:cs typeface="Cambria Math"/>
              </a:rPr>
              <a:t>M2</a:t>
            </a:r>
            <a:endParaRPr baseline="-15432" sz="2700">
              <a:latin typeface="Cambria Math"/>
              <a:cs typeface="Cambria Math"/>
            </a:endParaRPr>
          </a:p>
          <a:p>
            <a:pPr marL="877569">
              <a:lnSpc>
                <a:spcPct val="100000"/>
              </a:lnSpc>
              <a:spcBef>
                <a:spcPts val="790"/>
              </a:spcBef>
            </a:pPr>
            <a:r>
              <a:rPr dirty="0" sz="1800" spc="-25">
                <a:latin typeface="Cambria Math"/>
                <a:cs typeface="Cambria Math"/>
              </a:rPr>
              <a:t>2∈N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49119" y="4550155"/>
            <a:ext cx="13296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= 1 −</a:t>
            </a:r>
            <a:r>
              <a:rPr dirty="0" sz="2400" spc="30">
                <a:latin typeface="Cambria Math"/>
                <a:cs typeface="Cambria Math"/>
              </a:rPr>
              <a:t> </a:t>
            </a:r>
            <a:r>
              <a:rPr dirty="0" sz="2400" spc="-15">
                <a:latin typeface="Cambria Math"/>
                <a:cs typeface="Cambria Math"/>
              </a:rPr>
              <a:t>exp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740401" y="4213176"/>
            <a:ext cx="2212340" cy="1133475"/>
          </a:xfrm>
          <a:custGeom>
            <a:avLst/>
            <a:gdLst/>
            <a:ahLst/>
            <a:cxnLst/>
            <a:rect l="l" t="t" r="r" b="b"/>
            <a:pathLst>
              <a:path w="2212340" h="1133475">
                <a:moveTo>
                  <a:pt x="2047478" y="0"/>
                </a:moveTo>
                <a:lnTo>
                  <a:pt x="2037358" y="10269"/>
                </a:lnTo>
                <a:lnTo>
                  <a:pt x="2063890" y="48473"/>
                </a:lnTo>
                <a:lnTo>
                  <a:pt x="2087768" y="91410"/>
                </a:lnTo>
                <a:lnTo>
                  <a:pt x="2108991" y="139080"/>
                </a:lnTo>
                <a:lnTo>
                  <a:pt x="2127559" y="191482"/>
                </a:lnTo>
                <a:lnTo>
                  <a:pt x="2143471" y="248617"/>
                </a:lnTo>
                <a:lnTo>
                  <a:pt x="2154613" y="298741"/>
                </a:lnTo>
                <a:lnTo>
                  <a:pt x="2163729" y="349945"/>
                </a:lnTo>
                <a:lnTo>
                  <a:pt x="2170819" y="402227"/>
                </a:lnTo>
                <a:lnTo>
                  <a:pt x="2175883" y="455588"/>
                </a:lnTo>
                <a:lnTo>
                  <a:pt x="2178921" y="510028"/>
                </a:lnTo>
                <a:lnTo>
                  <a:pt x="2179931" y="565696"/>
                </a:lnTo>
                <a:lnTo>
                  <a:pt x="2178921" y="619834"/>
                </a:lnTo>
                <a:lnTo>
                  <a:pt x="2175883" y="673456"/>
                </a:lnTo>
                <a:lnTo>
                  <a:pt x="2170819" y="726412"/>
                </a:lnTo>
                <a:lnTo>
                  <a:pt x="2163729" y="778702"/>
                </a:lnTo>
                <a:lnTo>
                  <a:pt x="2154613" y="830327"/>
                </a:lnTo>
                <a:lnTo>
                  <a:pt x="2143471" y="881286"/>
                </a:lnTo>
                <a:lnTo>
                  <a:pt x="2127559" y="939552"/>
                </a:lnTo>
                <a:lnTo>
                  <a:pt x="2108991" y="992848"/>
                </a:lnTo>
                <a:lnTo>
                  <a:pt x="2087768" y="1041172"/>
                </a:lnTo>
                <a:lnTo>
                  <a:pt x="2063890" y="1084526"/>
                </a:lnTo>
                <a:lnTo>
                  <a:pt x="2037358" y="1122908"/>
                </a:lnTo>
                <a:lnTo>
                  <a:pt x="2047478" y="1132880"/>
                </a:lnTo>
                <a:lnTo>
                  <a:pt x="2076479" y="1095283"/>
                </a:lnTo>
                <a:lnTo>
                  <a:pt x="2102997" y="1052382"/>
                </a:lnTo>
                <a:lnTo>
                  <a:pt x="2127032" y="1004176"/>
                </a:lnTo>
                <a:lnTo>
                  <a:pt x="2148585" y="950666"/>
                </a:lnTo>
                <a:lnTo>
                  <a:pt x="2167656" y="891852"/>
                </a:lnTo>
                <a:lnTo>
                  <a:pt x="2179482" y="847563"/>
                </a:lnTo>
                <a:lnTo>
                  <a:pt x="2189488" y="802507"/>
                </a:lnTo>
                <a:lnTo>
                  <a:pt x="2197676" y="756681"/>
                </a:lnTo>
                <a:lnTo>
                  <a:pt x="2204043" y="710088"/>
                </a:lnTo>
                <a:lnTo>
                  <a:pt x="2208592" y="662725"/>
                </a:lnTo>
                <a:lnTo>
                  <a:pt x="2211321" y="614595"/>
                </a:lnTo>
                <a:lnTo>
                  <a:pt x="2212228" y="565547"/>
                </a:lnTo>
                <a:lnTo>
                  <a:pt x="2211321" y="515828"/>
                </a:lnTo>
                <a:lnTo>
                  <a:pt x="2208592" y="467001"/>
                </a:lnTo>
                <a:lnTo>
                  <a:pt x="2204043" y="419217"/>
                </a:lnTo>
                <a:lnTo>
                  <a:pt x="2197676" y="372474"/>
                </a:lnTo>
                <a:lnTo>
                  <a:pt x="2189488" y="326773"/>
                </a:lnTo>
                <a:lnTo>
                  <a:pt x="2179482" y="282114"/>
                </a:lnTo>
                <a:lnTo>
                  <a:pt x="2167656" y="238497"/>
                </a:lnTo>
                <a:lnTo>
                  <a:pt x="2148585" y="180689"/>
                </a:lnTo>
                <a:lnTo>
                  <a:pt x="2127032" y="127936"/>
                </a:lnTo>
                <a:lnTo>
                  <a:pt x="2102997" y="80236"/>
                </a:lnTo>
                <a:lnTo>
                  <a:pt x="2076479" y="37591"/>
                </a:lnTo>
                <a:lnTo>
                  <a:pt x="2047478" y="0"/>
                </a:lnTo>
                <a:close/>
              </a:path>
              <a:path w="2212340" h="1133475">
                <a:moveTo>
                  <a:pt x="164753" y="0"/>
                </a:moveTo>
                <a:lnTo>
                  <a:pt x="135701" y="37591"/>
                </a:lnTo>
                <a:lnTo>
                  <a:pt x="109150" y="80236"/>
                </a:lnTo>
                <a:lnTo>
                  <a:pt x="85100" y="127936"/>
                </a:lnTo>
                <a:lnTo>
                  <a:pt x="63549" y="180689"/>
                </a:lnTo>
                <a:lnTo>
                  <a:pt x="44499" y="238497"/>
                </a:lnTo>
                <a:lnTo>
                  <a:pt x="32693" y="282114"/>
                </a:lnTo>
                <a:lnTo>
                  <a:pt x="22704" y="326773"/>
                </a:lnTo>
                <a:lnTo>
                  <a:pt x="14530" y="372474"/>
                </a:lnTo>
                <a:lnTo>
                  <a:pt x="8173" y="419217"/>
                </a:lnTo>
                <a:lnTo>
                  <a:pt x="3632" y="467001"/>
                </a:lnTo>
                <a:lnTo>
                  <a:pt x="908" y="515828"/>
                </a:lnTo>
                <a:lnTo>
                  <a:pt x="0" y="565696"/>
                </a:lnTo>
                <a:lnTo>
                  <a:pt x="908" y="614595"/>
                </a:lnTo>
                <a:lnTo>
                  <a:pt x="3632" y="662725"/>
                </a:lnTo>
                <a:lnTo>
                  <a:pt x="8173" y="710088"/>
                </a:lnTo>
                <a:lnTo>
                  <a:pt x="14530" y="756681"/>
                </a:lnTo>
                <a:lnTo>
                  <a:pt x="22704" y="802507"/>
                </a:lnTo>
                <a:lnTo>
                  <a:pt x="32693" y="847563"/>
                </a:lnTo>
                <a:lnTo>
                  <a:pt x="44499" y="891852"/>
                </a:lnTo>
                <a:lnTo>
                  <a:pt x="63549" y="950666"/>
                </a:lnTo>
                <a:lnTo>
                  <a:pt x="85100" y="1004176"/>
                </a:lnTo>
                <a:lnTo>
                  <a:pt x="109150" y="1052382"/>
                </a:lnTo>
                <a:lnTo>
                  <a:pt x="135701" y="1095283"/>
                </a:lnTo>
                <a:lnTo>
                  <a:pt x="164753" y="1132880"/>
                </a:lnTo>
                <a:lnTo>
                  <a:pt x="174724" y="1122908"/>
                </a:lnTo>
                <a:lnTo>
                  <a:pt x="148194" y="1084526"/>
                </a:lnTo>
                <a:lnTo>
                  <a:pt x="124325" y="1041172"/>
                </a:lnTo>
                <a:lnTo>
                  <a:pt x="103117" y="992848"/>
                </a:lnTo>
                <a:lnTo>
                  <a:pt x="84570" y="939552"/>
                </a:lnTo>
                <a:lnTo>
                  <a:pt x="68684" y="881286"/>
                </a:lnTo>
                <a:lnTo>
                  <a:pt x="57565" y="830327"/>
                </a:lnTo>
                <a:lnTo>
                  <a:pt x="48468" y="778702"/>
                </a:lnTo>
                <a:lnTo>
                  <a:pt x="41393" y="726412"/>
                </a:lnTo>
                <a:lnTo>
                  <a:pt x="36339" y="673456"/>
                </a:lnTo>
                <a:lnTo>
                  <a:pt x="33306" y="619834"/>
                </a:lnTo>
                <a:lnTo>
                  <a:pt x="32296" y="565547"/>
                </a:lnTo>
                <a:lnTo>
                  <a:pt x="33308" y="510028"/>
                </a:lnTo>
                <a:lnTo>
                  <a:pt x="36347" y="455588"/>
                </a:lnTo>
                <a:lnTo>
                  <a:pt x="41411" y="402227"/>
                </a:lnTo>
                <a:lnTo>
                  <a:pt x="48501" y="349945"/>
                </a:lnTo>
                <a:lnTo>
                  <a:pt x="57617" y="298741"/>
                </a:lnTo>
                <a:lnTo>
                  <a:pt x="68759" y="248617"/>
                </a:lnTo>
                <a:lnTo>
                  <a:pt x="84665" y="191482"/>
                </a:lnTo>
                <a:lnTo>
                  <a:pt x="103215" y="139080"/>
                </a:lnTo>
                <a:lnTo>
                  <a:pt x="124408" y="91410"/>
                </a:lnTo>
                <a:lnTo>
                  <a:pt x="148244" y="48473"/>
                </a:lnTo>
                <a:lnTo>
                  <a:pt x="174724" y="10269"/>
                </a:lnTo>
                <a:lnTo>
                  <a:pt x="1647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912108" y="4420108"/>
            <a:ext cx="1846580" cy="893444"/>
          </a:xfrm>
          <a:prstGeom prst="rect">
            <a:avLst/>
          </a:prstGeom>
        </p:spPr>
        <p:txBody>
          <a:bodyPr wrap="square" lIns="0" tIns="142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2400">
                <a:latin typeface="Cambria Math"/>
                <a:cs typeface="Cambria Math"/>
              </a:rPr>
              <a:t>− </a:t>
            </a:r>
            <a:r>
              <a:rPr dirty="0" sz="2400" spc="1850">
                <a:latin typeface="Cambria Math"/>
                <a:cs typeface="Cambria Math"/>
              </a:rPr>
              <a:t>2</a:t>
            </a:r>
            <a:r>
              <a:rPr dirty="0" sz="2400" spc="-229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𝐹</a:t>
            </a:r>
            <a:r>
              <a:rPr dirty="0" baseline="-15432" sz="2700" spc="-7">
                <a:latin typeface="Cambria Math"/>
                <a:cs typeface="Cambria Math"/>
              </a:rPr>
              <a:t>L2 </a:t>
            </a:r>
            <a:r>
              <a:rPr dirty="0" sz="2400">
                <a:latin typeface="Cambria Math"/>
                <a:cs typeface="Cambria Math"/>
              </a:rPr>
              <a:t>⋅ </a:t>
            </a:r>
            <a:r>
              <a:rPr dirty="0" sz="2400" spc="-235">
                <a:latin typeface="Cambria Math"/>
                <a:cs typeface="Cambria Math"/>
              </a:rPr>
              <a:t>𝐹</a:t>
            </a:r>
            <a:r>
              <a:rPr dirty="0" baseline="-15432" sz="2700" spc="-352">
                <a:latin typeface="Cambria Math"/>
                <a:cs typeface="Cambria Math"/>
              </a:rPr>
              <a:t>M2</a:t>
            </a:r>
            <a:endParaRPr baseline="-15432" sz="2700">
              <a:latin typeface="Cambria Math"/>
              <a:cs typeface="Cambria Math"/>
            </a:endParaRPr>
          </a:p>
          <a:p>
            <a:pPr marL="297180">
              <a:lnSpc>
                <a:spcPct val="100000"/>
              </a:lnSpc>
              <a:spcBef>
                <a:spcPts val="765"/>
              </a:spcBef>
            </a:pPr>
            <a:r>
              <a:rPr dirty="0" sz="1800" spc="-150">
                <a:latin typeface="Cambria Math"/>
                <a:cs typeface="Cambria Math"/>
              </a:rPr>
              <a:t>O∈N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908606" y="5489338"/>
            <a:ext cx="1118870" cy="282575"/>
          </a:xfrm>
          <a:custGeom>
            <a:avLst/>
            <a:gdLst/>
            <a:ahLst/>
            <a:cxnLst/>
            <a:rect l="l" t="t" r="r" b="b"/>
            <a:pathLst>
              <a:path w="1118870" h="282575">
                <a:moveTo>
                  <a:pt x="1028793" y="0"/>
                </a:moveTo>
                <a:lnTo>
                  <a:pt x="1024775" y="11459"/>
                </a:lnTo>
                <a:lnTo>
                  <a:pt x="1041118" y="18552"/>
                </a:lnTo>
                <a:lnTo>
                  <a:pt x="1055173" y="28370"/>
                </a:lnTo>
                <a:lnTo>
                  <a:pt x="1083711" y="73878"/>
                </a:lnTo>
                <a:lnTo>
                  <a:pt x="1092045" y="115662"/>
                </a:lnTo>
                <a:lnTo>
                  <a:pt x="1093087" y="139749"/>
                </a:lnTo>
                <a:lnTo>
                  <a:pt x="1092041" y="164650"/>
                </a:lnTo>
                <a:lnTo>
                  <a:pt x="1083669" y="207587"/>
                </a:lnTo>
                <a:lnTo>
                  <a:pt x="1055191" y="253826"/>
                </a:lnTo>
                <a:lnTo>
                  <a:pt x="1025221" y="270867"/>
                </a:lnTo>
                <a:lnTo>
                  <a:pt x="1028793" y="282326"/>
                </a:lnTo>
                <a:lnTo>
                  <a:pt x="1067303" y="264262"/>
                </a:lnTo>
                <a:lnTo>
                  <a:pt x="1095617" y="232990"/>
                </a:lnTo>
                <a:lnTo>
                  <a:pt x="1113030" y="191113"/>
                </a:lnTo>
                <a:lnTo>
                  <a:pt x="1118834" y="141237"/>
                </a:lnTo>
                <a:lnTo>
                  <a:pt x="1117378" y="115355"/>
                </a:lnTo>
                <a:lnTo>
                  <a:pt x="1105733" y="69479"/>
                </a:lnTo>
                <a:lnTo>
                  <a:pt x="1082637" y="32133"/>
                </a:lnTo>
                <a:lnTo>
                  <a:pt x="1049262" y="7390"/>
                </a:lnTo>
                <a:lnTo>
                  <a:pt x="1028793" y="0"/>
                </a:lnTo>
                <a:close/>
              </a:path>
              <a:path w="1118870" h="282575">
                <a:moveTo>
                  <a:pt x="90041" y="0"/>
                </a:moveTo>
                <a:lnTo>
                  <a:pt x="51625" y="18101"/>
                </a:lnTo>
                <a:lnTo>
                  <a:pt x="23291" y="49485"/>
                </a:lnTo>
                <a:lnTo>
                  <a:pt x="5823" y="91436"/>
                </a:lnTo>
                <a:lnTo>
                  <a:pt x="0" y="141237"/>
                </a:lnTo>
                <a:lnTo>
                  <a:pt x="1451" y="167175"/>
                </a:lnTo>
                <a:lnTo>
                  <a:pt x="13060" y="213052"/>
                </a:lnTo>
                <a:lnTo>
                  <a:pt x="36100" y="250277"/>
                </a:lnTo>
                <a:lnTo>
                  <a:pt x="69512" y="274945"/>
                </a:lnTo>
                <a:lnTo>
                  <a:pt x="90041" y="282326"/>
                </a:lnTo>
                <a:lnTo>
                  <a:pt x="93612" y="270867"/>
                </a:lnTo>
                <a:lnTo>
                  <a:pt x="77526" y="263741"/>
                </a:lnTo>
                <a:lnTo>
                  <a:pt x="63643" y="253826"/>
                </a:lnTo>
                <a:lnTo>
                  <a:pt x="35165" y="207587"/>
                </a:lnTo>
                <a:lnTo>
                  <a:pt x="26794" y="164650"/>
                </a:lnTo>
                <a:lnTo>
                  <a:pt x="25747" y="139749"/>
                </a:lnTo>
                <a:lnTo>
                  <a:pt x="26794" y="115662"/>
                </a:lnTo>
                <a:lnTo>
                  <a:pt x="35165" y="73878"/>
                </a:lnTo>
                <a:lnTo>
                  <a:pt x="63755" y="28370"/>
                </a:lnTo>
                <a:lnTo>
                  <a:pt x="94060" y="11459"/>
                </a:lnTo>
                <a:lnTo>
                  <a:pt x="900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564701" y="5400547"/>
            <a:ext cx="22294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= 1 − </a:t>
            </a:r>
            <a:r>
              <a:rPr dirty="0" sz="2400" spc="-15">
                <a:latin typeface="Cambria Math"/>
                <a:cs typeface="Cambria Math"/>
              </a:rPr>
              <a:t>exp </a:t>
            </a:r>
            <a:r>
              <a:rPr dirty="0" sz="2400" spc="-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−𝑭</a:t>
            </a:r>
            <a:r>
              <a:rPr dirty="0" baseline="27777" sz="2700">
                <a:latin typeface="Cambria Math"/>
                <a:cs typeface="Cambria Math"/>
              </a:rPr>
              <a:t>Q</a:t>
            </a:r>
            <a:r>
              <a:rPr dirty="0" sz="2400">
                <a:latin typeface="Cambria Math"/>
                <a:cs typeface="Cambria Math"/>
              </a:rPr>
              <a:t>𝑭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17885" y="5537708"/>
            <a:ext cx="5143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3220" algn="l"/>
              </a:tabLst>
            </a:pPr>
            <a:r>
              <a:rPr dirty="0" sz="1800">
                <a:latin typeface="Cambria Math"/>
                <a:cs typeface="Cambria Math"/>
              </a:rPr>
              <a:t>𝒖	𝒗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35529" y="2913379"/>
            <a:ext cx="26098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8000"/>
                </a:solidFill>
                <a:latin typeface="Cambria Math"/>
                <a:cs typeface="Cambria Math"/>
              </a:rPr>
              <a:t>1 − </a:t>
            </a:r>
            <a:r>
              <a:rPr dirty="0" sz="2400" spc="-10">
                <a:solidFill>
                  <a:srgbClr val="008000"/>
                </a:solidFill>
                <a:latin typeface="Cambria Math"/>
                <a:cs typeface="Cambria Math"/>
              </a:rPr>
              <a:t>exp(−𝐹</a:t>
            </a:r>
            <a:r>
              <a:rPr dirty="0" baseline="-15432" sz="2700" spc="-15">
                <a:solidFill>
                  <a:srgbClr val="008000"/>
                </a:solidFill>
                <a:latin typeface="Cambria Math"/>
                <a:cs typeface="Cambria Math"/>
              </a:rPr>
              <a:t>L2 </a:t>
            </a:r>
            <a:r>
              <a:rPr dirty="0" sz="2400">
                <a:solidFill>
                  <a:srgbClr val="008000"/>
                </a:solidFill>
                <a:latin typeface="Cambria Math"/>
                <a:cs typeface="Cambria Math"/>
              </a:rPr>
              <a:t>⋅</a:t>
            </a:r>
            <a:r>
              <a:rPr dirty="0" sz="2400" spc="55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2400" spc="-145">
                <a:solidFill>
                  <a:srgbClr val="008000"/>
                </a:solidFill>
                <a:latin typeface="Cambria Math"/>
                <a:cs typeface="Cambria Math"/>
              </a:rPr>
              <a:t>𝐹</a:t>
            </a:r>
            <a:r>
              <a:rPr dirty="0" baseline="-15432" sz="2700" spc="-217">
                <a:solidFill>
                  <a:srgbClr val="008000"/>
                </a:solidFill>
                <a:latin typeface="Cambria Math"/>
                <a:cs typeface="Cambria Math"/>
              </a:rPr>
              <a:t>M2</a:t>
            </a:r>
            <a:r>
              <a:rPr dirty="0" sz="2400" spc="-145">
                <a:solidFill>
                  <a:srgbClr val="008000"/>
                </a:solidFill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394454" y="2249248"/>
            <a:ext cx="1278890" cy="629920"/>
          </a:xfrm>
          <a:custGeom>
            <a:avLst/>
            <a:gdLst/>
            <a:ahLst/>
            <a:cxnLst/>
            <a:rect l="l" t="t" r="r" b="b"/>
            <a:pathLst>
              <a:path w="1278890" h="629919">
                <a:moveTo>
                  <a:pt x="0" y="0"/>
                </a:moveTo>
                <a:lnTo>
                  <a:pt x="1278488" y="0"/>
                </a:lnTo>
                <a:lnTo>
                  <a:pt x="1278488" y="629399"/>
                </a:lnTo>
                <a:lnTo>
                  <a:pt x="0" y="629399"/>
                </a:lnTo>
                <a:lnTo>
                  <a:pt x="0" y="0"/>
                </a:lnTo>
                <a:close/>
              </a:path>
            </a:pathLst>
          </a:custGeom>
          <a:solidFill>
            <a:srgbClr val="F0AD00">
              <a:alpha val="3803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964669" y="5394452"/>
            <a:ext cx="2394585" cy="70866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800" spc="10">
                <a:latin typeface="Cambria Math"/>
                <a:cs typeface="Cambria Math"/>
              </a:rPr>
              <a:t>𝑭</a:t>
            </a:r>
            <a:r>
              <a:rPr dirty="0" baseline="-17094" sz="1950" spc="15">
                <a:latin typeface="Cambria Math"/>
                <a:cs typeface="Cambria Math"/>
              </a:rPr>
              <a:t>𝒖𝑪</a:t>
            </a:r>
            <a:r>
              <a:rPr dirty="0" sz="1800" spc="10">
                <a:latin typeface="Corbel"/>
                <a:cs typeface="Corbel"/>
              </a:rPr>
              <a:t>: </a:t>
            </a:r>
            <a:r>
              <a:rPr dirty="0" sz="1800">
                <a:latin typeface="Corbel"/>
                <a:cs typeface="Corbel"/>
              </a:rPr>
              <a:t>A </a:t>
            </a:r>
            <a:r>
              <a:rPr dirty="0" sz="1800" spc="-5">
                <a:latin typeface="Corbel"/>
                <a:cs typeface="Corbel"/>
              </a:rPr>
              <a:t>vector </a:t>
            </a:r>
            <a:r>
              <a:rPr dirty="0" sz="1800">
                <a:latin typeface="Corbel"/>
                <a:cs typeface="Corbel"/>
              </a:rPr>
              <a:t>of</a:t>
            </a:r>
            <a:r>
              <a:rPr dirty="0" sz="1800" spc="-125">
                <a:latin typeface="Corbel"/>
                <a:cs typeface="Corbel"/>
              </a:rPr>
              <a:t> </a:t>
            </a:r>
            <a:r>
              <a:rPr dirty="0" sz="1800" spc="150">
                <a:latin typeface="Cambria Math"/>
                <a:cs typeface="Cambria Math"/>
              </a:rPr>
              <a:t>{𝐹</a:t>
            </a:r>
            <a:r>
              <a:rPr dirty="0" baseline="-17094" sz="1950" spc="225">
                <a:latin typeface="Cambria Math"/>
                <a:cs typeface="Cambria Math"/>
              </a:rPr>
              <a:t>)*</a:t>
            </a:r>
            <a:r>
              <a:rPr dirty="0" sz="1800" spc="150">
                <a:latin typeface="Cambria Math"/>
                <a:cs typeface="Cambria Math"/>
              </a:rPr>
              <a:t>}</a:t>
            </a:r>
            <a:r>
              <a:rPr dirty="0" baseline="-17094" sz="1950" spc="225">
                <a:latin typeface="Cambria Math"/>
                <a:cs typeface="Cambria Math"/>
              </a:rPr>
              <a:t>*∈,</a:t>
            </a:r>
            <a:endParaRPr baseline="-17094" sz="19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800" spc="5">
                <a:latin typeface="Cambria Math"/>
                <a:cs typeface="Cambria Math"/>
              </a:rPr>
              <a:t>𝑭</a:t>
            </a:r>
            <a:r>
              <a:rPr dirty="0" baseline="-17094" sz="1950" spc="7">
                <a:latin typeface="Cambria Math"/>
                <a:cs typeface="Cambria Math"/>
              </a:rPr>
              <a:t>𝒗𝑪</a:t>
            </a:r>
            <a:r>
              <a:rPr dirty="0" sz="1800" spc="5">
                <a:latin typeface="Corbel"/>
                <a:cs typeface="Corbel"/>
              </a:rPr>
              <a:t>: </a:t>
            </a:r>
            <a:r>
              <a:rPr dirty="0" sz="1800">
                <a:latin typeface="Corbel"/>
                <a:cs typeface="Corbel"/>
              </a:rPr>
              <a:t>A </a:t>
            </a:r>
            <a:r>
              <a:rPr dirty="0" sz="1800" spc="-5">
                <a:latin typeface="Corbel"/>
                <a:cs typeface="Corbel"/>
              </a:rPr>
              <a:t>vector </a:t>
            </a:r>
            <a:r>
              <a:rPr dirty="0" sz="1800">
                <a:latin typeface="Corbel"/>
                <a:cs typeface="Corbel"/>
              </a:rPr>
              <a:t>of</a:t>
            </a:r>
            <a:r>
              <a:rPr dirty="0" sz="1800" spc="-110">
                <a:latin typeface="Corbel"/>
                <a:cs typeface="Corbel"/>
              </a:rPr>
              <a:t> </a:t>
            </a:r>
            <a:r>
              <a:rPr dirty="0" sz="1800" spc="165">
                <a:latin typeface="Cambria Math"/>
                <a:cs typeface="Cambria Math"/>
              </a:rPr>
              <a:t>{𝐹</a:t>
            </a:r>
            <a:r>
              <a:rPr dirty="0" baseline="-17094" sz="1950" spc="247">
                <a:latin typeface="Cambria Math"/>
                <a:cs typeface="Cambria Math"/>
              </a:rPr>
              <a:t>.*</a:t>
            </a:r>
            <a:r>
              <a:rPr dirty="0" sz="1800" spc="165">
                <a:latin typeface="Cambria Math"/>
                <a:cs typeface="Cambria Math"/>
              </a:rPr>
              <a:t>}</a:t>
            </a:r>
            <a:r>
              <a:rPr dirty="0" baseline="-17094" sz="1950" spc="247">
                <a:latin typeface="Cambria Math"/>
                <a:cs typeface="Cambria Math"/>
              </a:rPr>
              <a:t>*∈,</a:t>
            </a:r>
            <a:endParaRPr baseline="-17094" sz="195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191000" y="5721699"/>
            <a:ext cx="762000" cy="272415"/>
          </a:xfrm>
          <a:custGeom>
            <a:avLst/>
            <a:gdLst/>
            <a:ahLst/>
            <a:cxnLst/>
            <a:rect l="l" t="t" r="r" b="b"/>
            <a:pathLst>
              <a:path w="762000" h="272414">
                <a:moveTo>
                  <a:pt x="762000" y="0"/>
                </a:moveTo>
                <a:lnTo>
                  <a:pt x="755085" y="52966"/>
                </a:lnTo>
                <a:lnTo>
                  <a:pt x="736227" y="96218"/>
                </a:lnTo>
                <a:lnTo>
                  <a:pt x="708258" y="125379"/>
                </a:lnTo>
                <a:lnTo>
                  <a:pt x="674008" y="136072"/>
                </a:lnTo>
                <a:lnTo>
                  <a:pt x="468991" y="136071"/>
                </a:lnTo>
                <a:lnTo>
                  <a:pt x="434741" y="146765"/>
                </a:lnTo>
                <a:lnTo>
                  <a:pt x="406772" y="175926"/>
                </a:lnTo>
                <a:lnTo>
                  <a:pt x="387914" y="219178"/>
                </a:lnTo>
                <a:lnTo>
                  <a:pt x="381000" y="272143"/>
                </a:lnTo>
                <a:lnTo>
                  <a:pt x="374085" y="219178"/>
                </a:lnTo>
                <a:lnTo>
                  <a:pt x="355227" y="175926"/>
                </a:lnTo>
                <a:lnTo>
                  <a:pt x="327258" y="146765"/>
                </a:lnTo>
                <a:lnTo>
                  <a:pt x="293008" y="136071"/>
                </a:lnTo>
                <a:lnTo>
                  <a:pt x="87991" y="136071"/>
                </a:lnTo>
                <a:lnTo>
                  <a:pt x="53741" y="125378"/>
                </a:lnTo>
                <a:lnTo>
                  <a:pt x="25772" y="96217"/>
                </a:lnTo>
                <a:lnTo>
                  <a:pt x="6914" y="52965"/>
                </a:lnTo>
                <a:lnTo>
                  <a:pt x="0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095568" y="6074155"/>
            <a:ext cx="13722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Inner</a:t>
            </a:r>
            <a:r>
              <a:rPr dirty="0" sz="1800" spc="-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product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50"/>
              <a:t> </a:t>
            </a:r>
            <a:r>
              <a:rPr dirty="0" spc="-5"/>
              <a:t>Graphs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62</a:t>
            </a:fld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389534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92084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/>
              <a:t>Prob. </a:t>
            </a:r>
            <a:r>
              <a:rPr dirty="0"/>
              <a:t>of </a:t>
            </a:r>
            <a:r>
              <a:rPr dirty="0" spc="-5"/>
              <a:t>nodes </a:t>
            </a:r>
            <a:r>
              <a:rPr dirty="0" spc="-5" b="0">
                <a:latin typeface="Cambria Math"/>
                <a:cs typeface="Cambria Math"/>
              </a:rPr>
              <a:t>𝒖, </a:t>
            </a:r>
            <a:r>
              <a:rPr dirty="0" b="0">
                <a:latin typeface="Cambria Math"/>
                <a:cs typeface="Cambria Math"/>
              </a:rPr>
              <a:t>𝒗 </a:t>
            </a:r>
            <a:r>
              <a:rPr dirty="0" spc="-5"/>
              <a:t>linking </a:t>
            </a:r>
            <a:r>
              <a:rPr dirty="0"/>
              <a:t>is </a:t>
            </a:r>
            <a:r>
              <a:rPr dirty="0" spc="-10"/>
              <a:t>proportional</a:t>
            </a:r>
            <a:r>
              <a:rPr dirty="0" spc="-114"/>
              <a:t> </a:t>
            </a:r>
            <a:r>
              <a:rPr dirty="0" spc="-15"/>
              <a:t>to  </a:t>
            </a:r>
            <a:r>
              <a:rPr dirty="0" spc="-5"/>
              <a:t>the </a:t>
            </a:r>
            <a:r>
              <a:rPr dirty="0" spc="-15"/>
              <a:t>strength </a:t>
            </a:r>
            <a:r>
              <a:rPr dirty="0"/>
              <a:t>of </a:t>
            </a:r>
            <a:r>
              <a:rPr dirty="0" spc="-15"/>
              <a:t>shared</a:t>
            </a:r>
            <a:r>
              <a:rPr dirty="0" spc="-40"/>
              <a:t> </a:t>
            </a:r>
            <a:r>
              <a:rPr dirty="0" spc="-10"/>
              <a:t>memberships:</a:t>
            </a:r>
          </a:p>
        </p:txBody>
      </p:sp>
      <p:sp>
        <p:nvSpPr>
          <p:cNvPr id="4" name="object 4"/>
          <p:cNvSpPr/>
          <p:nvPr/>
        </p:nvSpPr>
        <p:spPr>
          <a:xfrm>
            <a:off x="2290984" y="2454172"/>
            <a:ext cx="924560" cy="376555"/>
          </a:xfrm>
          <a:custGeom>
            <a:avLst/>
            <a:gdLst/>
            <a:ahLst/>
            <a:cxnLst/>
            <a:rect l="l" t="t" r="r" b="b"/>
            <a:pathLst>
              <a:path w="924560" h="376555">
                <a:moveTo>
                  <a:pt x="804139" y="0"/>
                </a:moveTo>
                <a:lnTo>
                  <a:pt x="798781" y="15279"/>
                </a:lnTo>
                <a:lnTo>
                  <a:pt x="820572" y="24736"/>
                </a:lnTo>
                <a:lnTo>
                  <a:pt x="839312" y="37826"/>
                </a:lnTo>
                <a:lnTo>
                  <a:pt x="867639" y="74909"/>
                </a:lnTo>
                <a:lnTo>
                  <a:pt x="884308" y="124940"/>
                </a:lnTo>
                <a:lnTo>
                  <a:pt x="889864" y="186331"/>
                </a:lnTo>
                <a:lnTo>
                  <a:pt x="888469" y="219533"/>
                </a:lnTo>
                <a:lnTo>
                  <a:pt x="877307" y="276782"/>
                </a:lnTo>
                <a:lnTo>
                  <a:pt x="854908" y="321493"/>
                </a:lnTo>
                <a:lnTo>
                  <a:pt x="820827" y="351655"/>
                </a:lnTo>
                <a:lnTo>
                  <a:pt x="799377" y="361156"/>
                </a:lnTo>
                <a:lnTo>
                  <a:pt x="804139" y="376435"/>
                </a:lnTo>
                <a:lnTo>
                  <a:pt x="855485" y="352349"/>
                </a:lnTo>
                <a:lnTo>
                  <a:pt x="893237" y="310653"/>
                </a:lnTo>
                <a:lnTo>
                  <a:pt x="916455" y="254818"/>
                </a:lnTo>
                <a:lnTo>
                  <a:pt x="924194" y="188316"/>
                </a:lnTo>
                <a:lnTo>
                  <a:pt x="922253" y="153807"/>
                </a:lnTo>
                <a:lnTo>
                  <a:pt x="906725" y="92638"/>
                </a:lnTo>
                <a:lnTo>
                  <a:pt x="875930" y="42843"/>
                </a:lnTo>
                <a:lnTo>
                  <a:pt x="831431" y="9853"/>
                </a:lnTo>
                <a:lnTo>
                  <a:pt x="804139" y="0"/>
                </a:lnTo>
                <a:close/>
              </a:path>
              <a:path w="924560" h="376555">
                <a:moveTo>
                  <a:pt x="120054" y="0"/>
                </a:moveTo>
                <a:lnTo>
                  <a:pt x="68833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986978" y="2339340"/>
            <a:ext cx="478155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6880" algn="l"/>
                <a:tab pos="1376680" algn="l"/>
                <a:tab pos="4599305" algn="l"/>
              </a:tabLst>
            </a:pPr>
            <a:r>
              <a:rPr dirty="0" sz="3200">
                <a:solidFill>
                  <a:srgbClr val="0000FF"/>
                </a:solidFill>
                <a:latin typeface="Cambria Math"/>
                <a:cs typeface="Cambria Math"/>
              </a:rPr>
              <a:t>𝐏	</a:t>
            </a:r>
            <a:r>
              <a:rPr dirty="0" sz="3200" spc="-5">
                <a:solidFill>
                  <a:srgbClr val="0000FF"/>
                </a:solidFill>
                <a:latin typeface="Cambria Math"/>
                <a:cs typeface="Cambria Math"/>
              </a:rPr>
              <a:t>𝒖</a:t>
            </a:r>
            <a:r>
              <a:rPr dirty="0" sz="3200">
                <a:solidFill>
                  <a:srgbClr val="0000FF"/>
                </a:solidFill>
                <a:latin typeface="Cambria Math"/>
                <a:cs typeface="Cambria Math"/>
              </a:rPr>
              <a:t>,</a:t>
            </a:r>
            <a:r>
              <a:rPr dirty="0" sz="3200" spc="-165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3200">
                <a:solidFill>
                  <a:srgbClr val="0000FF"/>
                </a:solidFill>
                <a:latin typeface="Cambria Math"/>
                <a:cs typeface="Cambria Math"/>
              </a:rPr>
              <a:t>𝒗	=</a:t>
            </a:r>
            <a:r>
              <a:rPr dirty="0" sz="3200" spc="175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3200">
                <a:solidFill>
                  <a:srgbClr val="0000FF"/>
                </a:solidFill>
                <a:latin typeface="Cambria Math"/>
                <a:cs typeface="Cambria Math"/>
              </a:rPr>
              <a:t>𝟏 − 𝐞</a:t>
            </a:r>
            <a:r>
              <a:rPr dirty="0" sz="3200" spc="-10">
                <a:solidFill>
                  <a:srgbClr val="0000FF"/>
                </a:solidFill>
                <a:latin typeface="Cambria Math"/>
                <a:cs typeface="Cambria Math"/>
              </a:rPr>
              <a:t>𝐱</a:t>
            </a:r>
            <a:r>
              <a:rPr dirty="0" sz="3200" spc="0">
                <a:solidFill>
                  <a:srgbClr val="0000FF"/>
                </a:solidFill>
                <a:latin typeface="Cambria Math"/>
                <a:cs typeface="Cambria Math"/>
              </a:rPr>
              <a:t>𝐩</a:t>
            </a:r>
            <a:r>
              <a:rPr dirty="0" sz="3200" spc="-5">
                <a:solidFill>
                  <a:srgbClr val="0000FF"/>
                </a:solidFill>
                <a:latin typeface="Cambria Math"/>
                <a:cs typeface="Cambria Math"/>
              </a:rPr>
              <a:t>(−</a:t>
            </a:r>
            <a:r>
              <a:rPr dirty="0" sz="3200" spc="0">
                <a:solidFill>
                  <a:srgbClr val="0000FF"/>
                </a:solidFill>
                <a:latin typeface="Cambria Math"/>
                <a:cs typeface="Cambria Math"/>
              </a:rPr>
              <a:t>𝑭</a:t>
            </a:r>
            <a:r>
              <a:rPr dirty="0" baseline="28985" sz="3450" spc="225">
                <a:solidFill>
                  <a:srgbClr val="0000FF"/>
                </a:solidFill>
                <a:latin typeface="Cambria Math"/>
                <a:cs typeface="Cambria Math"/>
              </a:rPr>
              <a:t>𝑻</a:t>
            </a:r>
            <a:r>
              <a:rPr dirty="0" sz="3200">
                <a:solidFill>
                  <a:srgbClr val="0000FF"/>
                </a:solidFill>
                <a:latin typeface="Cambria Math"/>
                <a:cs typeface="Cambria Math"/>
              </a:rPr>
              <a:t>𝑭	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108" y="2535935"/>
            <a:ext cx="7934325" cy="1282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1976755">
              <a:lnSpc>
                <a:spcPts val="2500"/>
              </a:lnSpc>
              <a:spcBef>
                <a:spcPts val="100"/>
              </a:spcBef>
              <a:tabLst>
                <a:tab pos="468630" algn="l"/>
              </a:tabLst>
            </a:pPr>
            <a:r>
              <a:rPr dirty="0" sz="2300">
                <a:solidFill>
                  <a:srgbClr val="0000FF"/>
                </a:solidFill>
                <a:latin typeface="Cambria Math"/>
                <a:cs typeface="Cambria Math"/>
              </a:rPr>
              <a:t>𝒖	𝒗</a:t>
            </a:r>
            <a:endParaRPr sz="2300">
              <a:latin typeface="Cambria Math"/>
              <a:cs typeface="Cambria Math"/>
            </a:endParaRPr>
          </a:p>
          <a:p>
            <a:pPr marL="332740" indent="-320040">
              <a:lnSpc>
                <a:spcPts val="357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FF0066"/>
                </a:solidFill>
                <a:latin typeface="Calibri"/>
                <a:cs typeface="Calibri"/>
              </a:rPr>
              <a:t>Given </a:t>
            </a:r>
            <a:r>
              <a:rPr dirty="0" sz="3200" b="1">
                <a:solidFill>
                  <a:srgbClr val="FF0066"/>
                </a:solidFill>
                <a:latin typeface="Calibri"/>
                <a:cs typeface="Calibri"/>
              </a:rPr>
              <a:t>a </a:t>
            </a:r>
            <a:r>
              <a:rPr dirty="0" sz="3200" spc="-10" b="1">
                <a:solidFill>
                  <a:srgbClr val="FF0066"/>
                </a:solidFill>
                <a:latin typeface="Calibri"/>
                <a:cs typeface="Calibri"/>
              </a:rPr>
              <a:t>network </a:t>
            </a:r>
            <a:r>
              <a:rPr dirty="0" sz="3200" spc="-5">
                <a:solidFill>
                  <a:srgbClr val="FF0066"/>
                </a:solidFill>
                <a:latin typeface="Cambria Math"/>
                <a:cs typeface="Cambria Math"/>
              </a:rPr>
              <a:t>𝑮(𝑽, 𝑬)</a:t>
            </a:r>
            <a:r>
              <a:rPr dirty="0" sz="3200" spc="-5" b="1">
                <a:solidFill>
                  <a:srgbClr val="FF0066"/>
                </a:solidFill>
                <a:latin typeface="Calibri"/>
                <a:cs typeface="Calibri"/>
              </a:rPr>
              <a:t>, </a:t>
            </a:r>
            <a:r>
              <a:rPr dirty="0" sz="3200" spc="-15" b="1">
                <a:solidFill>
                  <a:srgbClr val="FF0066"/>
                </a:solidFill>
                <a:latin typeface="Calibri"/>
                <a:cs typeface="Calibri"/>
              </a:rPr>
              <a:t>we maximize</a:t>
            </a:r>
            <a:r>
              <a:rPr dirty="0" sz="3200" spc="-155" b="1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FF0066"/>
                </a:solidFill>
                <a:latin typeface="Calibri"/>
                <a:cs typeface="Calibri"/>
              </a:rPr>
              <a:t>the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ts val="3829"/>
              </a:lnSpc>
            </a:pPr>
            <a:r>
              <a:rPr dirty="0" sz="3200" spc="-10" b="1">
                <a:solidFill>
                  <a:srgbClr val="FF0066"/>
                </a:solidFill>
                <a:latin typeface="Calibri"/>
                <a:cs typeface="Calibri"/>
              </a:rPr>
              <a:t>likelihood </a:t>
            </a:r>
            <a:r>
              <a:rPr dirty="0" sz="3200" spc="-5" b="1">
                <a:solidFill>
                  <a:srgbClr val="FF0066"/>
                </a:solidFill>
                <a:latin typeface="Calibri"/>
                <a:cs typeface="Calibri"/>
              </a:rPr>
              <a:t>(probability) </a:t>
            </a:r>
            <a:r>
              <a:rPr dirty="0" sz="3200" b="1">
                <a:solidFill>
                  <a:srgbClr val="FF0066"/>
                </a:solidFill>
                <a:latin typeface="Calibri"/>
                <a:cs typeface="Calibri"/>
              </a:rPr>
              <a:t>of </a:t>
            </a:r>
            <a:r>
              <a:rPr dirty="0" sz="3200">
                <a:solidFill>
                  <a:srgbClr val="FF0066"/>
                </a:solidFill>
                <a:latin typeface="Cambria Math"/>
                <a:cs typeface="Cambria Math"/>
              </a:rPr>
              <a:t>𝑮 </a:t>
            </a:r>
            <a:r>
              <a:rPr dirty="0" sz="3200" spc="-5" b="1">
                <a:solidFill>
                  <a:srgbClr val="FF0066"/>
                </a:solidFill>
                <a:latin typeface="Calibri"/>
                <a:cs typeface="Calibri"/>
              </a:rPr>
              <a:t>under our model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54011" y="4126050"/>
            <a:ext cx="697230" cy="282575"/>
          </a:xfrm>
          <a:custGeom>
            <a:avLst/>
            <a:gdLst/>
            <a:ahLst/>
            <a:cxnLst/>
            <a:rect l="l" t="t" r="r" b="b"/>
            <a:pathLst>
              <a:path w="697230" h="282575">
                <a:moveTo>
                  <a:pt x="364868" y="2655"/>
                </a:moveTo>
                <a:lnTo>
                  <a:pt x="341948" y="2655"/>
                </a:lnTo>
                <a:lnTo>
                  <a:pt x="341948" y="279624"/>
                </a:lnTo>
                <a:lnTo>
                  <a:pt x="364868" y="279624"/>
                </a:lnTo>
                <a:lnTo>
                  <a:pt x="364868" y="2655"/>
                </a:lnTo>
                <a:close/>
              </a:path>
              <a:path w="697230" h="282575">
                <a:moveTo>
                  <a:pt x="606581" y="0"/>
                </a:moveTo>
                <a:lnTo>
                  <a:pt x="602562" y="11459"/>
                </a:lnTo>
                <a:lnTo>
                  <a:pt x="618905" y="18552"/>
                </a:lnTo>
                <a:lnTo>
                  <a:pt x="632960" y="28370"/>
                </a:lnTo>
                <a:lnTo>
                  <a:pt x="661498" y="73878"/>
                </a:lnTo>
                <a:lnTo>
                  <a:pt x="669833" y="115662"/>
                </a:lnTo>
                <a:lnTo>
                  <a:pt x="670874" y="139749"/>
                </a:lnTo>
                <a:lnTo>
                  <a:pt x="669828" y="164650"/>
                </a:lnTo>
                <a:lnTo>
                  <a:pt x="661457" y="207587"/>
                </a:lnTo>
                <a:lnTo>
                  <a:pt x="632979" y="253826"/>
                </a:lnTo>
                <a:lnTo>
                  <a:pt x="603009" y="270866"/>
                </a:lnTo>
                <a:lnTo>
                  <a:pt x="606581" y="282327"/>
                </a:lnTo>
                <a:lnTo>
                  <a:pt x="645090" y="264263"/>
                </a:lnTo>
                <a:lnTo>
                  <a:pt x="673404" y="232990"/>
                </a:lnTo>
                <a:lnTo>
                  <a:pt x="690818" y="191113"/>
                </a:lnTo>
                <a:lnTo>
                  <a:pt x="696622" y="141237"/>
                </a:lnTo>
                <a:lnTo>
                  <a:pt x="695167" y="115355"/>
                </a:lnTo>
                <a:lnTo>
                  <a:pt x="683520" y="69479"/>
                </a:lnTo>
                <a:lnTo>
                  <a:pt x="660424" y="32133"/>
                </a:lnTo>
                <a:lnTo>
                  <a:pt x="627049" y="7390"/>
                </a:lnTo>
                <a:lnTo>
                  <a:pt x="606581" y="0"/>
                </a:lnTo>
                <a:close/>
              </a:path>
              <a:path w="697230" h="282575">
                <a:moveTo>
                  <a:pt x="90040" y="0"/>
                </a:moveTo>
                <a:lnTo>
                  <a:pt x="51624" y="18101"/>
                </a:lnTo>
                <a:lnTo>
                  <a:pt x="23291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1" y="167175"/>
                </a:lnTo>
                <a:lnTo>
                  <a:pt x="13059" y="213051"/>
                </a:lnTo>
                <a:lnTo>
                  <a:pt x="36100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3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18180" y="4038091"/>
            <a:ext cx="12846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280" algn="l"/>
                <a:tab pos="1043305" algn="l"/>
              </a:tabLst>
            </a:pPr>
            <a:r>
              <a:rPr dirty="0" sz="2400">
                <a:latin typeface="Cambria Math"/>
                <a:cs typeface="Cambria Math"/>
              </a:rPr>
              <a:t>𝑃	𝐺 </a:t>
            </a:r>
            <a:r>
              <a:rPr dirty="0" sz="2400" spc="-19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𝑭	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93806" y="4573642"/>
            <a:ext cx="472440" cy="212090"/>
          </a:xfrm>
          <a:custGeom>
            <a:avLst/>
            <a:gdLst/>
            <a:ahLst/>
            <a:cxnLst/>
            <a:rect l="l" t="t" r="r" b="b"/>
            <a:pathLst>
              <a:path w="472439" h="212089">
                <a:moveTo>
                  <a:pt x="404867" y="0"/>
                </a:moveTo>
                <a:lnTo>
                  <a:pt x="401853" y="8595"/>
                </a:lnTo>
                <a:lnTo>
                  <a:pt x="414110" y="13914"/>
                </a:lnTo>
                <a:lnTo>
                  <a:pt x="424651" y="21277"/>
                </a:lnTo>
                <a:lnTo>
                  <a:pt x="446055" y="55409"/>
                </a:lnTo>
                <a:lnTo>
                  <a:pt x="453087" y="104811"/>
                </a:lnTo>
                <a:lnTo>
                  <a:pt x="452302" y="123487"/>
                </a:lnTo>
                <a:lnTo>
                  <a:pt x="440529" y="169217"/>
                </a:lnTo>
                <a:lnTo>
                  <a:pt x="414253" y="197806"/>
                </a:lnTo>
                <a:lnTo>
                  <a:pt x="402187" y="203150"/>
                </a:lnTo>
                <a:lnTo>
                  <a:pt x="404867" y="211744"/>
                </a:lnTo>
                <a:lnTo>
                  <a:pt x="445322" y="187708"/>
                </a:lnTo>
                <a:lnTo>
                  <a:pt x="468044" y="143335"/>
                </a:lnTo>
                <a:lnTo>
                  <a:pt x="472398" y="105928"/>
                </a:lnTo>
                <a:lnTo>
                  <a:pt x="471306" y="86516"/>
                </a:lnTo>
                <a:lnTo>
                  <a:pt x="454929" y="37114"/>
                </a:lnTo>
                <a:lnTo>
                  <a:pt x="420218" y="5542"/>
                </a:lnTo>
                <a:lnTo>
                  <a:pt x="404867" y="0"/>
                </a:lnTo>
                <a:close/>
              </a:path>
              <a:path w="472439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4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7"/>
                </a:lnTo>
                <a:lnTo>
                  <a:pt x="31868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314605" y="4573642"/>
            <a:ext cx="472440" cy="212090"/>
          </a:xfrm>
          <a:custGeom>
            <a:avLst/>
            <a:gdLst/>
            <a:ahLst/>
            <a:cxnLst/>
            <a:rect l="l" t="t" r="r" b="b"/>
            <a:pathLst>
              <a:path w="472439" h="212089">
                <a:moveTo>
                  <a:pt x="404867" y="0"/>
                </a:moveTo>
                <a:lnTo>
                  <a:pt x="401853" y="8595"/>
                </a:lnTo>
                <a:lnTo>
                  <a:pt x="414110" y="13914"/>
                </a:lnTo>
                <a:lnTo>
                  <a:pt x="424651" y="21277"/>
                </a:lnTo>
                <a:lnTo>
                  <a:pt x="446054" y="55409"/>
                </a:lnTo>
                <a:lnTo>
                  <a:pt x="453086" y="104811"/>
                </a:lnTo>
                <a:lnTo>
                  <a:pt x="452301" y="123487"/>
                </a:lnTo>
                <a:lnTo>
                  <a:pt x="440529" y="169217"/>
                </a:lnTo>
                <a:lnTo>
                  <a:pt x="414252" y="197806"/>
                </a:lnTo>
                <a:lnTo>
                  <a:pt x="402187" y="203150"/>
                </a:lnTo>
                <a:lnTo>
                  <a:pt x="404867" y="211744"/>
                </a:lnTo>
                <a:lnTo>
                  <a:pt x="445322" y="187708"/>
                </a:lnTo>
                <a:lnTo>
                  <a:pt x="468043" y="143335"/>
                </a:lnTo>
                <a:lnTo>
                  <a:pt x="472396" y="105928"/>
                </a:lnTo>
                <a:lnTo>
                  <a:pt x="471305" y="86516"/>
                </a:lnTo>
                <a:lnTo>
                  <a:pt x="454929" y="37114"/>
                </a:lnTo>
                <a:lnTo>
                  <a:pt x="420218" y="5542"/>
                </a:lnTo>
                <a:lnTo>
                  <a:pt x="404867" y="0"/>
                </a:lnTo>
                <a:close/>
              </a:path>
              <a:path w="472439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4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7"/>
                </a:lnTo>
                <a:lnTo>
                  <a:pt x="31868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79921" y="4126050"/>
            <a:ext cx="668655" cy="282575"/>
          </a:xfrm>
          <a:custGeom>
            <a:avLst/>
            <a:gdLst/>
            <a:ahLst/>
            <a:cxnLst/>
            <a:rect l="l" t="t" r="r" b="b"/>
            <a:pathLst>
              <a:path w="668654" h="282575">
                <a:moveTo>
                  <a:pt x="578515" y="0"/>
                </a:moveTo>
                <a:lnTo>
                  <a:pt x="574497" y="11459"/>
                </a:lnTo>
                <a:lnTo>
                  <a:pt x="590840" y="18552"/>
                </a:lnTo>
                <a:lnTo>
                  <a:pt x="604895" y="28370"/>
                </a:lnTo>
                <a:lnTo>
                  <a:pt x="633433" y="73878"/>
                </a:lnTo>
                <a:lnTo>
                  <a:pt x="641767" y="115662"/>
                </a:lnTo>
                <a:lnTo>
                  <a:pt x="642809" y="139749"/>
                </a:lnTo>
                <a:lnTo>
                  <a:pt x="641762" y="164650"/>
                </a:lnTo>
                <a:lnTo>
                  <a:pt x="633390" y="207587"/>
                </a:lnTo>
                <a:lnTo>
                  <a:pt x="604913" y="253826"/>
                </a:lnTo>
                <a:lnTo>
                  <a:pt x="574942" y="270866"/>
                </a:lnTo>
                <a:lnTo>
                  <a:pt x="578515" y="282327"/>
                </a:lnTo>
                <a:lnTo>
                  <a:pt x="617024" y="264263"/>
                </a:lnTo>
                <a:lnTo>
                  <a:pt x="645339" y="232990"/>
                </a:lnTo>
                <a:lnTo>
                  <a:pt x="662751" y="191113"/>
                </a:lnTo>
                <a:lnTo>
                  <a:pt x="668555" y="141237"/>
                </a:lnTo>
                <a:lnTo>
                  <a:pt x="667100" y="115355"/>
                </a:lnTo>
                <a:lnTo>
                  <a:pt x="655454" y="69479"/>
                </a:lnTo>
                <a:lnTo>
                  <a:pt x="632358" y="32133"/>
                </a:lnTo>
                <a:lnTo>
                  <a:pt x="598983" y="7390"/>
                </a:lnTo>
                <a:lnTo>
                  <a:pt x="578515" y="0"/>
                </a:lnTo>
                <a:close/>
              </a:path>
              <a:path w="668654" h="282575">
                <a:moveTo>
                  <a:pt x="90041" y="0"/>
                </a:moveTo>
                <a:lnTo>
                  <a:pt x="51625" y="18101"/>
                </a:lnTo>
                <a:lnTo>
                  <a:pt x="23291" y="49485"/>
                </a:lnTo>
                <a:lnTo>
                  <a:pt x="5823" y="91436"/>
                </a:lnTo>
                <a:lnTo>
                  <a:pt x="0" y="141237"/>
                </a:lnTo>
                <a:lnTo>
                  <a:pt x="1451" y="167175"/>
                </a:lnTo>
                <a:lnTo>
                  <a:pt x="13060" y="213051"/>
                </a:lnTo>
                <a:lnTo>
                  <a:pt x="36100" y="250277"/>
                </a:lnTo>
                <a:lnTo>
                  <a:pt x="69512" y="274946"/>
                </a:lnTo>
                <a:lnTo>
                  <a:pt x="90041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4" y="164650"/>
                </a:lnTo>
                <a:lnTo>
                  <a:pt x="25747" y="139749"/>
                </a:lnTo>
                <a:lnTo>
                  <a:pt x="26794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60" y="11459"/>
                </a:lnTo>
                <a:lnTo>
                  <a:pt x="900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553343" y="3903979"/>
            <a:ext cx="4261485" cy="90043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1155"/>
              </a:spcBef>
              <a:tabLst>
                <a:tab pos="770255" algn="l"/>
                <a:tab pos="1913255" algn="l"/>
                <a:tab pos="2545080" algn="l"/>
                <a:tab pos="3526154" algn="l"/>
                <a:tab pos="4121785" algn="l"/>
              </a:tabLst>
            </a:pPr>
            <a:r>
              <a:rPr dirty="0" sz="2400" spc="2025">
                <a:latin typeface="Cambria Math"/>
                <a:cs typeface="Cambria Math"/>
              </a:rPr>
              <a:t>D</a:t>
            </a:r>
            <a:r>
              <a:rPr dirty="0" sz="2400" spc="2025">
                <a:latin typeface="Cambria Math"/>
                <a:cs typeface="Cambria Math"/>
              </a:rPr>
              <a:t>	</a:t>
            </a:r>
            <a:r>
              <a:rPr dirty="0" sz="2400" spc="50">
                <a:latin typeface="Cambria Math"/>
                <a:cs typeface="Cambria Math"/>
              </a:rPr>
              <a:t>𝑃</a:t>
            </a:r>
            <a:r>
              <a:rPr dirty="0" sz="2400">
                <a:latin typeface="Cambria Math"/>
                <a:cs typeface="Cambria Math"/>
              </a:rPr>
              <a:t>(</a:t>
            </a:r>
            <a:r>
              <a:rPr dirty="0" sz="2400" spc="50">
                <a:latin typeface="Cambria Math"/>
                <a:cs typeface="Cambria Math"/>
              </a:rPr>
              <a:t>𝑢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60">
                <a:latin typeface="Cambria Math"/>
                <a:cs typeface="Cambria Math"/>
              </a:rPr>
              <a:t>𝑣</a:t>
            </a:r>
            <a:r>
              <a:rPr dirty="0" sz="2400">
                <a:latin typeface="Cambria Math"/>
                <a:cs typeface="Cambria Math"/>
              </a:rPr>
              <a:t>)	</a:t>
            </a:r>
            <a:r>
              <a:rPr dirty="0" sz="2400" spc="2025">
                <a:latin typeface="Cambria Math"/>
                <a:cs typeface="Cambria Math"/>
              </a:rPr>
              <a:t>D</a:t>
            </a:r>
            <a:r>
              <a:rPr dirty="0" sz="2400">
                <a:latin typeface="Cambria Math"/>
                <a:cs typeface="Cambria Math"/>
              </a:rPr>
              <a:t>	(1 −</a:t>
            </a:r>
            <a:r>
              <a:rPr dirty="0" sz="2400" spc="-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𝑃	</a:t>
            </a:r>
            <a:r>
              <a:rPr dirty="0" sz="2400" spc="50">
                <a:latin typeface="Cambria Math"/>
                <a:cs typeface="Cambria Math"/>
              </a:rPr>
              <a:t>𝑢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𝑣	)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  <a:tabLst>
                <a:tab pos="1833245" algn="l"/>
              </a:tabLst>
            </a:pPr>
            <a:r>
              <a:rPr dirty="0" sz="1800" spc="-90">
                <a:latin typeface="Cambria Math"/>
                <a:cs typeface="Cambria Math"/>
              </a:rPr>
              <a:t>L,M </a:t>
            </a:r>
            <a:r>
              <a:rPr dirty="0" sz="1800" spc="35">
                <a:latin typeface="Cambria Math"/>
                <a:cs typeface="Cambria Math"/>
              </a:rPr>
              <a:t> </a:t>
            </a:r>
            <a:r>
              <a:rPr dirty="0" sz="1800" spc="-30">
                <a:latin typeface="Cambria Math"/>
                <a:cs typeface="Cambria Math"/>
              </a:rPr>
              <a:t>∈U	</a:t>
            </a:r>
            <a:r>
              <a:rPr dirty="0" sz="1800" spc="-90">
                <a:latin typeface="Cambria Math"/>
                <a:cs typeface="Cambria Math"/>
              </a:rPr>
              <a:t>L,M </a:t>
            </a:r>
            <a:r>
              <a:rPr dirty="0" sz="1800" spc="-55">
                <a:latin typeface="Cambria Math"/>
                <a:cs typeface="Cambria Math"/>
              </a:rPr>
              <a:t> </a:t>
            </a:r>
            <a:r>
              <a:rPr dirty="0" sz="1800" spc="-25">
                <a:latin typeface="Cambria Math"/>
                <a:cs typeface="Cambria Math"/>
              </a:rPr>
              <a:t>∉U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474472" y="5654250"/>
            <a:ext cx="472440" cy="212090"/>
          </a:xfrm>
          <a:custGeom>
            <a:avLst/>
            <a:gdLst/>
            <a:ahLst/>
            <a:cxnLst/>
            <a:rect l="l" t="t" r="r" b="b"/>
            <a:pathLst>
              <a:path w="472439" h="212089">
                <a:moveTo>
                  <a:pt x="404865" y="0"/>
                </a:moveTo>
                <a:lnTo>
                  <a:pt x="401852" y="8594"/>
                </a:lnTo>
                <a:lnTo>
                  <a:pt x="414109" y="13914"/>
                </a:lnTo>
                <a:lnTo>
                  <a:pt x="424651" y="21277"/>
                </a:lnTo>
                <a:lnTo>
                  <a:pt x="446054" y="55409"/>
                </a:lnTo>
                <a:lnTo>
                  <a:pt x="453086" y="104812"/>
                </a:lnTo>
                <a:lnTo>
                  <a:pt x="452301" y="123487"/>
                </a:lnTo>
                <a:lnTo>
                  <a:pt x="440528" y="169217"/>
                </a:lnTo>
                <a:lnTo>
                  <a:pt x="414252" y="197806"/>
                </a:lnTo>
                <a:lnTo>
                  <a:pt x="402187" y="203150"/>
                </a:lnTo>
                <a:lnTo>
                  <a:pt x="404865" y="211745"/>
                </a:lnTo>
                <a:lnTo>
                  <a:pt x="445321" y="187708"/>
                </a:lnTo>
                <a:lnTo>
                  <a:pt x="468043" y="143335"/>
                </a:lnTo>
                <a:lnTo>
                  <a:pt x="472396" y="105928"/>
                </a:lnTo>
                <a:lnTo>
                  <a:pt x="471305" y="86516"/>
                </a:lnTo>
                <a:lnTo>
                  <a:pt x="454927" y="37113"/>
                </a:lnTo>
                <a:lnTo>
                  <a:pt x="420217" y="5542"/>
                </a:lnTo>
                <a:lnTo>
                  <a:pt x="404865" y="0"/>
                </a:lnTo>
                <a:close/>
              </a:path>
              <a:path w="472439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2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09" y="203150"/>
                </a:lnTo>
                <a:lnTo>
                  <a:pt x="58143" y="197806"/>
                </a:lnTo>
                <a:lnTo>
                  <a:pt x="47731" y="190369"/>
                </a:lnTo>
                <a:lnTo>
                  <a:pt x="26374" y="155690"/>
                </a:lnTo>
                <a:lnTo>
                  <a:pt x="19310" y="104812"/>
                </a:lnTo>
                <a:lnTo>
                  <a:pt x="20095" y="86747"/>
                </a:lnTo>
                <a:lnTo>
                  <a:pt x="31868" y="42136"/>
                </a:lnTo>
                <a:lnTo>
                  <a:pt x="58332" y="13914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280888" y="5163695"/>
            <a:ext cx="2451735" cy="368300"/>
          </a:xfrm>
          <a:custGeom>
            <a:avLst/>
            <a:gdLst/>
            <a:ahLst/>
            <a:cxnLst/>
            <a:rect l="l" t="t" r="r" b="b"/>
            <a:pathLst>
              <a:path w="2451735" h="368300">
                <a:moveTo>
                  <a:pt x="2354393" y="0"/>
                </a:moveTo>
                <a:lnTo>
                  <a:pt x="2350673" y="12204"/>
                </a:lnTo>
                <a:lnTo>
                  <a:pt x="2367588" y="20976"/>
                </a:lnTo>
                <a:lnTo>
                  <a:pt x="2382317" y="33747"/>
                </a:lnTo>
                <a:lnTo>
                  <a:pt x="2405218" y="71288"/>
                </a:lnTo>
                <a:lnTo>
                  <a:pt x="2419115" y="122299"/>
                </a:lnTo>
                <a:lnTo>
                  <a:pt x="2423748" y="184249"/>
                </a:lnTo>
                <a:lnTo>
                  <a:pt x="2422589" y="216521"/>
                </a:lnTo>
                <a:lnTo>
                  <a:pt x="2413324" y="272890"/>
                </a:lnTo>
                <a:lnTo>
                  <a:pt x="2394860" y="317725"/>
                </a:lnTo>
                <a:lnTo>
                  <a:pt x="2367588" y="347230"/>
                </a:lnTo>
                <a:lnTo>
                  <a:pt x="2350673" y="355997"/>
                </a:lnTo>
                <a:lnTo>
                  <a:pt x="2354393" y="368200"/>
                </a:lnTo>
                <a:lnTo>
                  <a:pt x="2395507" y="346285"/>
                </a:lnTo>
                <a:lnTo>
                  <a:pt x="2425979" y="304948"/>
                </a:lnTo>
                <a:lnTo>
                  <a:pt x="2444843" y="249213"/>
                </a:lnTo>
                <a:lnTo>
                  <a:pt x="2451131" y="184100"/>
                </a:lnTo>
                <a:lnTo>
                  <a:pt x="2449559" y="150372"/>
                </a:lnTo>
                <a:lnTo>
                  <a:pt x="2436983" y="89948"/>
                </a:lnTo>
                <a:lnTo>
                  <a:pt x="2412073" y="40155"/>
                </a:lnTo>
                <a:lnTo>
                  <a:pt x="2376280" y="8529"/>
                </a:lnTo>
                <a:lnTo>
                  <a:pt x="2354393" y="0"/>
                </a:lnTo>
                <a:close/>
              </a:path>
              <a:path w="2451735" h="368300">
                <a:moveTo>
                  <a:pt x="96738" y="0"/>
                </a:moveTo>
                <a:lnTo>
                  <a:pt x="55624" y="21914"/>
                </a:lnTo>
                <a:lnTo>
                  <a:pt x="25152" y="63252"/>
                </a:lnTo>
                <a:lnTo>
                  <a:pt x="6288" y="118988"/>
                </a:lnTo>
                <a:lnTo>
                  <a:pt x="0" y="184100"/>
                </a:lnTo>
                <a:lnTo>
                  <a:pt x="1572" y="217828"/>
                </a:lnTo>
                <a:lnTo>
                  <a:pt x="14148" y="278253"/>
                </a:lnTo>
                <a:lnTo>
                  <a:pt x="39058" y="328045"/>
                </a:lnTo>
                <a:lnTo>
                  <a:pt x="74851" y="359671"/>
                </a:lnTo>
                <a:lnTo>
                  <a:pt x="96738" y="368200"/>
                </a:lnTo>
                <a:lnTo>
                  <a:pt x="100459" y="355997"/>
                </a:lnTo>
                <a:lnTo>
                  <a:pt x="83543" y="347230"/>
                </a:lnTo>
                <a:lnTo>
                  <a:pt x="68814" y="334472"/>
                </a:lnTo>
                <a:lnTo>
                  <a:pt x="45914" y="296986"/>
                </a:lnTo>
                <a:lnTo>
                  <a:pt x="32017" y="246069"/>
                </a:lnTo>
                <a:lnTo>
                  <a:pt x="27390" y="184100"/>
                </a:lnTo>
                <a:lnTo>
                  <a:pt x="28543" y="151907"/>
                </a:lnTo>
                <a:lnTo>
                  <a:pt x="37807" y="95426"/>
                </a:lnTo>
                <a:lnTo>
                  <a:pt x="56271" y="50518"/>
                </a:lnTo>
                <a:lnTo>
                  <a:pt x="83543" y="20976"/>
                </a:lnTo>
                <a:lnTo>
                  <a:pt x="100459" y="12204"/>
                </a:lnTo>
                <a:lnTo>
                  <a:pt x="967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829686" y="5654250"/>
            <a:ext cx="472440" cy="212090"/>
          </a:xfrm>
          <a:custGeom>
            <a:avLst/>
            <a:gdLst/>
            <a:ahLst/>
            <a:cxnLst/>
            <a:rect l="l" t="t" r="r" b="b"/>
            <a:pathLst>
              <a:path w="472439" h="212089">
                <a:moveTo>
                  <a:pt x="404865" y="0"/>
                </a:moveTo>
                <a:lnTo>
                  <a:pt x="401852" y="8594"/>
                </a:lnTo>
                <a:lnTo>
                  <a:pt x="414109" y="13914"/>
                </a:lnTo>
                <a:lnTo>
                  <a:pt x="424651" y="21277"/>
                </a:lnTo>
                <a:lnTo>
                  <a:pt x="446054" y="55409"/>
                </a:lnTo>
                <a:lnTo>
                  <a:pt x="453086" y="104812"/>
                </a:lnTo>
                <a:lnTo>
                  <a:pt x="452301" y="123487"/>
                </a:lnTo>
                <a:lnTo>
                  <a:pt x="440528" y="169217"/>
                </a:lnTo>
                <a:lnTo>
                  <a:pt x="414252" y="197806"/>
                </a:lnTo>
                <a:lnTo>
                  <a:pt x="402187" y="203150"/>
                </a:lnTo>
                <a:lnTo>
                  <a:pt x="404865" y="211745"/>
                </a:lnTo>
                <a:lnTo>
                  <a:pt x="445321" y="187708"/>
                </a:lnTo>
                <a:lnTo>
                  <a:pt x="468043" y="143335"/>
                </a:lnTo>
                <a:lnTo>
                  <a:pt x="472396" y="105928"/>
                </a:lnTo>
                <a:lnTo>
                  <a:pt x="471305" y="86516"/>
                </a:lnTo>
                <a:lnTo>
                  <a:pt x="454927" y="37113"/>
                </a:lnTo>
                <a:lnTo>
                  <a:pt x="420217" y="5542"/>
                </a:lnTo>
                <a:lnTo>
                  <a:pt x="404865" y="0"/>
                </a:lnTo>
                <a:close/>
              </a:path>
              <a:path w="472439" h="212089">
                <a:moveTo>
                  <a:pt x="67529" y="0"/>
                </a:moveTo>
                <a:lnTo>
                  <a:pt x="27147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2"/>
                </a:lnTo>
                <a:lnTo>
                  <a:pt x="52133" y="206209"/>
                </a:lnTo>
                <a:lnTo>
                  <a:pt x="67529" y="211745"/>
                </a:lnTo>
                <a:lnTo>
                  <a:pt x="70209" y="203150"/>
                </a:lnTo>
                <a:lnTo>
                  <a:pt x="58143" y="197806"/>
                </a:lnTo>
                <a:lnTo>
                  <a:pt x="47731" y="190369"/>
                </a:lnTo>
                <a:lnTo>
                  <a:pt x="26373" y="155690"/>
                </a:lnTo>
                <a:lnTo>
                  <a:pt x="19310" y="104812"/>
                </a:lnTo>
                <a:lnTo>
                  <a:pt x="20095" y="86747"/>
                </a:lnTo>
                <a:lnTo>
                  <a:pt x="31866" y="42136"/>
                </a:lnTo>
                <a:lnTo>
                  <a:pt x="58332" y="13914"/>
                </a:lnTo>
                <a:lnTo>
                  <a:pt x="70544" y="8594"/>
                </a:lnTo>
                <a:lnTo>
                  <a:pt x="675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130022" y="5117084"/>
            <a:ext cx="6233160" cy="766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989"/>
              </a:lnSpc>
              <a:spcBef>
                <a:spcPts val="100"/>
              </a:spcBef>
              <a:tabLst>
                <a:tab pos="494030" algn="l"/>
                <a:tab pos="1260475" algn="l"/>
                <a:tab pos="3364229" algn="l"/>
                <a:tab pos="3851275" algn="l"/>
                <a:tab pos="4534535" algn="l"/>
                <a:tab pos="6093460" algn="l"/>
              </a:tabLst>
            </a:pPr>
            <a:r>
              <a:rPr dirty="0" sz="2400">
                <a:latin typeface="Cambria Math"/>
                <a:cs typeface="Cambria Math"/>
              </a:rPr>
              <a:t>=	</a:t>
            </a:r>
            <a:r>
              <a:rPr dirty="0" sz="2400" spc="2025">
                <a:latin typeface="Cambria Math"/>
                <a:cs typeface="Cambria Math"/>
              </a:rPr>
              <a:t>D</a:t>
            </a:r>
            <a:r>
              <a:rPr dirty="0" sz="2400" spc="2025">
                <a:latin typeface="Cambria Math"/>
                <a:cs typeface="Cambria Math"/>
              </a:rPr>
              <a:t>	</a:t>
            </a:r>
            <a:r>
              <a:rPr dirty="0" sz="2400" spc="2025">
                <a:solidFill>
                  <a:srgbClr val="0000FF"/>
                </a:solidFill>
                <a:latin typeface="Cambria Math"/>
                <a:cs typeface="Cambria Math"/>
              </a:rPr>
              <a:t>𝟏</a:t>
            </a:r>
            <a:r>
              <a:rPr dirty="0" sz="2400" spc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0000FF"/>
                </a:solidFill>
                <a:latin typeface="Cambria Math"/>
                <a:cs typeface="Cambria Math"/>
              </a:rPr>
              <a:t>−</a:t>
            </a:r>
            <a:r>
              <a:rPr dirty="0" sz="2400" spc="-5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0000FF"/>
                </a:solidFill>
                <a:latin typeface="Cambria Math"/>
                <a:cs typeface="Cambria Math"/>
              </a:rPr>
              <a:t>𝐞𝐱</a:t>
            </a:r>
            <a:r>
              <a:rPr dirty="0" sz="2400" spc="-10">
                <a:solidFill>
                  <a:srgbClr val="0000FF"/>
                </a:solidFill>
                <a:latin typeface="Cambria Math"/>
                <a:cs typeface="Cambria Math"/>
              </a:rPr>
              <a:t>𝐩</a:t>
            </a:r>
            <a:r>
              <a:rPr dirty="0" sz="2400">
                <a:solidFill>
                  <a:srgbClr val="0000FF"/>
                </a:solidFill>
                <a:latin typeface="Cambria Math"/>
                <a:cs typeface="Cambria Math"/>
              </a:rPr>
              <a:t>(</a:t>
            </a:r>
            <a:r>
              <a:rPr dirty="0" sz="2400" spc="-10">
                <a:solidFill>
                  <a:srgbClr val="0000FF"/>
                </a:solidFill>
                <a:latin typeface="Cambria Math"/>
                <a:cs typeface="Cambria Math"/>
              </a:rPr>
              <a:t>−</a:t>
            </a:r>
            <a:r>
              <a:rPr dirty="0" sz="2400">
                <a:solidFill>
                  <a:srgbClr val="0000FF"/>
                </a:solidFill>
                <a:latin typeface="Cambria Math"/>
                <a:cs typeface="Cambria Math"/>
              </a:rPr>
              <a:t>𝑭</a:t>
            </a:r>
            <a:r>
              <a:rPr dirty="0" baseline="27777" sz="2700" spc="112">
                <a:solidFill>
                  <a:srgbClr val="0000FF"/>
                </a:solidFill>
                <a:latin typeface="Cambria Math"/>
                <a:cs typeface="Cambria Math"/>
              </a:rPr>
              <a:t>𝑻</a:t>
            </a:r>
            <a:r>
              <a:rPr dirty="0" sz="2400">
                <a:solidFill>
                  <a:srgbClr val="0000FF"/>
                </a:solidFill>
                <a:latin typeface="Cambria Math"/>
                <a:cs typeface="Cambria Math"/>
              </a:rPr>
              <a:t>𝑭	)	</a:t>
            </a:r>
            <a:r>
              <a:rPr dirty="0" sz="2400" spc="2025">
                <a:latin typeface="Cambria Math"/>
                <a:cs typeface="Cambria Math"/>
              </a:rPr>
              <a:t>D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>
                <a:solidFill>
                  <a:srgbClr val="0000FF"/>
                </a:solidFill>
                <a:latin typeface="Cambria Math"/>
                <a:cs typeface="Cambria Math"/>
              </a:rPr>
              <a:t>𝐞𝐱</a:t>
            </a:r>
            <a:r>
              <a:rPr dirty="0" sz="2400" spc="-10">
                <a:solidFill>
                  <a:srgbClr val="0000FF"/>
                </a:solidFill>
                <a:latin typeface="Cambria Math"/>
                <a:cs typeface="Cambria Math"/>
              </a:rPr>
              <a:t>𝐩</a:t>
            </a:r>
            <a:r>
              <a:rPr dirty="0" sz="2400">
                <a:solidFill>
                  <a:srgbClr val="0000FF"/>
                </a:solidFill>
                <a:latin typeface="Cambria Math"/>
                <a:cs typeface="Cambria Math"/>
              </a:rPr>
              <a:t>(</a:t>
            </a:r>
            <a:r>
              <a:rPr dirty="0" sz="2400" spc="-10">
                <a:solidFill>
                  <a:srgbClr val="0000FF"/>
                </a:solidFill>
                <a:latin typeface="Cambria Math"/>
                <a:cs typeface="Cambria Math"/>
              </a:rPr>
              <a:t>−</a:t>
            </a:r>
            <a:r>
              <a:rPr dirty="0" sz="2400">
                <a:solidFill>
                  <a:srgbClr val="0000FF"/>
                </a:solidFill>
                <a:latin typeface="Cambria Math"/>
                <a:cs typeface="Cambria Math"/>
              </a:rPr>
              <a:t>𝑭</a:t>
            </a:r>
            <a:r>
              <a:rPr dirty="0" baseline="27777" sz="2700" spc="112">
                <a:solidFill>
                  <a:srgbClr val="0000FF"/>
                </a:solidFill>
                <a:latin typeface="Cambria Math"/>
                <a:cs typeface="Cambria Math"/>
              </a:rPr>
              <a:t>𝑻</a:t>
            </a:r>
            <a:r>
              <a:rPr dirty="0" sz="2400">
                <a:solidFill>
                  <a:srgbClr val="0000FF"/>
                </a:solidFill>
                <a:latin typeface="Cambria Math"/>
                <a:cs typeface="Cambria Math"/>
              </a:rPr>
              <a:t>𝑭	)</a:t>
            </a:r>
            <a:endParaRPr sz="2400">
              <a:latin typeface="Cambria Math"/>
              <a:cs typeface="Cambria Math"/>
            </a:endParaRPr>
          </a:p>
          <a:p>
            <a:pPr marL="2867660">
              <a:lnSpc>
                <a:spcPts val="1270"/>
              </a:lnSpc>
              <a:tabLst>
                <a:tab pos="3218815" algn="l"/>
                <a:tab pos="5596255" algn="l"/>
                <a:tab pos="5947410" algn="l"/>
              </a:tabLst>
            </a:pPr>
            <a:r>
              <a:rPr dirty="0" sz="1800">
                <a:solidFill>
                  <a:srgbClr val="0000FF"/>
                </a:solidFill>
                <a:latin typeface="Cambria Math"/>
                <a:cs typeface="Cambria Math"/>
              </a:rPr>
              <a:t>𝒖	𝒗	𝒖	𝒗</a:t>
            </a:r>
            <a:endParaRPr sz="1800">
              <a:latin typeface="Cambria Math"/>
              <a:cs typeface="Cambria Math"/>
            </a:endParaRPr>
          </a:p>
          <a:p>
            <a:pPr marL="416559">
              <a:lnSpc>
                <a:spcPct val="100000"/>
              </a:lnSpc>
              <a:spcBef>
                <a:spcPts val="405"/>
              </a:spcBef>
              <a:tabLst>
                <a:tab pos="3771265" algn="l"/>
              </a:tabLst>
            </a:pPr>
            <a:r>
              <a:rPr dirty="0" sz="1800" spc="-90">
                <a:latin typeface="Cambria Math"/>
                <a:cs typeface="Cambria Math"/>
              </a:rPr>
              <a:t>L,M </a:t>
            </a:r>
            <a:r>
              <a:rPr dirty="0" sz="1800" spc="35">
                <a:latin typeface="Cambria Math"/>
                <a:cs typeface="Cambria Math"/>
              </a:rPr>
              <a:t> </a:t>
            </a:r>
            <a:r>
              <a:rPr dirty="0" sz="1800" spc="-30">
                <a:latin typeface="Cambria Math"/>
                <a:cs typeface="Cambria Math"/>
              </a:rPr>
              <a:t>∈U	</a:t>
            </a:r>
            <a:r>
              <a:rPr dirty="0" sz="1800" spc="-90">
                <a:latin typeface="Cambria Math"/>
                <a:cs typeface="Cambria Math"/>
              </a:rPr>
              <a:t>L,M </a:t>
            </a:r>
            <a:r>
              <a:rPr dirty="0" sz="1800" spc="-55">
                <a:latin typeface="Cambria Math"/>
                <a:cs typeface="Cambria Math"/>
              </a:rPr>
              <a:t> </a:t>
            </a:r>
            <a:r>
              <a:rPr dirty="0" sz="1800" spc="-25">
                <a:latin typeface="Cambria Math"/>
                <a:cs typeface="Cambria Math"/>
              </a:rPr>
              <a:t>∉U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50"/>
              <a:t> </a:t>
            </a:r>
            <a:r>
              <a:rPr dirty="0" spc="-5"/>
              <a:t>Graphs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62</a:t>
            </a:fld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389534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523480" cy="1491615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32740" marR="5080" indent="-320040">
              <a:lnSpc>
                <a:spcPct val="101200"/>
              </a:lnSpc>
              <a:spcBef>
                <a:spcPts val="5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 b="0">
                <a:solidFill>
                  <a:srgbClr val="D60093"/>
                </a:solidFill>
                <a:latin typeface="Calibri"/>
                <a:cs typeface="Calibri"/>
              </a:rPr>
              <a:t>Likelihood </a:t>
            </a:r>
            <a:r>
              <a:rPr dirty="0" spc="-20" b="0">
                <a:solidFill>
                  <a:srgbClr val="D60093"/>
                </a:solidFill>
                <a:latin typeface="Calibri"/>
                <a:cs typeface="Calibri"/>
              </a:rPr>
              <a:t>involves </a:t>
            </a:r>
            <a:r>
              <a:rPr dirty="0" b="0">
                <a:solidFill>
                  <a:srgbClr val="D60093"/>
                </a:solidFill>
                <a:latin typeface="Calibri"/>
                <a:cs typeface="Calibri"/>
              </a:rPr>
              <a:t>a </a:t>
            </a:r>
            <a:r>
              <a:rPr dirty="0" spc="-10" b="0">
                <a:solidFill>
                  <a:srgbClr val="D60093"/>
                </a:solidFill>
                <a:latin typeface="Calibri"/>
                <a:cs typeface="Calibri"/>
              </a:rPr>
              <a:t>product </a:t>
            </a:r>
            <a:r>
              <a:rPr dirty="0" spc="-5" b="0">
                <a:solidFill>
                  <a:srgbClr val="D60093"/>
                </a:solidFill>
                <a:latin typeface="Calibri"/>
                <a:cs typeface="Calibri"/>
              </a:rPr>
              <a:t>of </a:t>
            </a:r>
            <a:r>
              <a:rPr dirty="0" spc="-15" b="0">
                <a:solidFill>
                  <a:srgbClr val="D60093"/>
                </a:solidFill>
                <a:latin typeface="Calibri"/>
                <a:cs typeface="Calibri"/>
              </a:rPr>
              <a:t>many </a:t>
            </a:r>
            <a:r>
              <a:rPr dirty="0" spc="-5" b="0">
                <a:solidFill>
                  <a:srgbClr val="D60093"/>
                </a:solidFill>
                <a:latin typeface="Calibri"/>
                <a:cs typeface="Calibri"/>
              </a:rPr>
              <a:t>small  </a:t>
            </a:r>
            <a:r>
              <a:rPr dirty="0" spc="-10" b="0">
                <a:solidFill>
                  <a:srgbClr val="D60093"/>
                </a:solidFill>
                <a:latin typeface="Calibri"/>
                <a:cs typeface="Calibri"/>
              </a:rPr>
              <a:t>probabilities </a:t>
            </a:r>
            <a:r>
              <a:rPr dirty="0" spc="1350" b="0">
                <a:solidFill>
                  <a:srgbClr val="D60093"/>
                </a:solidFill>
                <a:latin typeface="Arial"/>
                <a:cs typeface="Arial"/>
              </a:rPr>
              <a:t>à</a:t>
            </a:r>
            <a:r>
              <a:rPr dirty="0" spc="-130" b="0">
                <a:solidFill>
                  <a:srgbClr val="D60093"/>
                </a:solidFill>
                <a:latin typeface="Arial"/>
                <a:cs typeface="Arial"/>
              </a:rPr>
              <a:t> </a:t>
            </a:r>
            <a:r>
              <a:rPr dirty="0" spc="-5" b="0">
                <a:solidFill>
                  <a:srgbClr val="D60093"/>
                </a:solidFill>
                <a:latin typeface="Calibri"/>
                <a:cs typeface="Calibri"/>
              </a:rPr>
              <a:t>Numerically </a:t>
            </a:r>
            <a:r>
              <a:rPr dirty="0" spc="-10" b="0">
                <a:solidFill>
                  <a:srgbClr val="D60093"/>
                </a:solidFill>
                <a:latin typeface="Calibri"/>
                <a:cs typeface="Calibri"/>
              </a:rPr>
              <a:t>unstable.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60" b="0">
                <a:latin typeface="Calibri"/>
                <a:cs typeface="Calibri"/>
              </a:rPr>
              <a:t>We </a:t>
            </a:r>
            <a:r>
              <a:rPr dirty="0" spc="-10" b="0">
                <a:latin typeface="Calibri"/>
                <a:cs typeface="Calibri"/>
              </a:rPr>
              <a:t>consider </a:t>
            </a:r>
            <a:r>
              <a:rPr dirty="0" b="0">
                <a:latin typeface="Calibri"/>
                <a:cs typeface="Calibri"/>
              </a:rPr>
              <a:t>the </a:t>
            </a:r>
            <a:r>
              <a:rPr dirty="0">
                <a:solidFill>
                  <a:srgbClr val="008000"/>
                </a:solidFill>
              </a:rPr>
              <a:t>log</a:t>
            </a:r>
            <a:r>
              <a:rPr dirty="0" spc="55">
                <a:solidFill>
                  <a:srgbClr val="008000"/>
                </a:solidFill>
              </a:rPr>
              <a:t> </a:t>
            </a:r>
            <a:r>
              <a:rPr dirty="0" spc="-15" b="0">
                <a:latin typeface="Calibri"/>
                <a:cs typeface="Calibri"/>
              </a:rPr>
              <a:t>likelihood:</a:t>
            </a:r>
          </a:p>
        </p:txBody>
      </p:sp>
      <p:sp>
        <p:nvSpPr>
          <p:cNvPr id="4" name="object 4"/>
          <p:cNvSpPr/>
          <p:nvPr/>
        </p:nvSpPr>
        <p:spPr>
          <a:xfrm>
            <a:off x="1625758" y="2924072"/>
            <a:ext cx="928369" cy="376555"/>
          </a:xfrm>
          <a:custGeom>
            <a:avLst/>
            <a:gdLst/>
            <a:ahLst/>
            <a:cxnLst/>
            <a:rect l="l" t="t" r="r" b="b"/>
            <a:pathLst>
              <a:path w="928369" h="376554">
                <a:moveTo>
                  <a:pt x="485941" y="3539"/>
                </a:moveTo>
                <a:lnTo>
                  <a:pt x="455382" y="3539"/>
                </a:lnTo>
                <a:lnTo>
                  <a:pt x="455382" y="372831"/>
                </a:lnTo>
                <a:lnTo>
                  <a:pt x="485941" y="372831"/>
                </a:lnTo>
                <a:lnTo>
                  <a:pt x="485941" y="3539"/>
                </a:lnTo>
                <a:close/>
              </a:path>
              <a:path w="928369" h="376554">
                <a:moveTo>
                  <a:pt x="120054" y="0"/>
                </a:moveTo>
                <a:lnTo>
                  <a:pt x="68833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3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7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  <a:path w="928369" h="376554">
                <a:moveTo>
                  <a:pt x="808203" y="0"/>
                </a:moveTo>
                <a:lnTo>
                  <a:pt x="802845" y="15279"/>
                </a:lnTo>
                <a:lnTo>
                  <a:pt x="824636" y="24736"/>
                </a:lnTo>
                <a:lnTo>
                  <a:pt x="843376" y="37826"/>
                </a:lnTo>
                <a:lnTo>
                  <a:pt x="871703" y="74909"/>
                </a:lnTo>
                <a:lnTo>
                  <a:pt x="888372" y="124940"/>
                </a:lnTo>
                <a:lnTo>
                  <a:pt x="893928" y="186331"/>
                </a:lnTo>
                <a:lnTo>
                  <a:pt x="892533" y="219533"/>
                </a:lnTo>
                <a:lnTo>
                  <a:pt x="881371" y="276782"/>
                </a:lnTo>
                <a:lnTo>
                  <a:pt x="858972" y="321493"/>
                </a:lnTo>
                <a:lnTo>
                  <a:pt x="824891" y="351655"/>
                </a:lnTo>
                <a:lnTo>
                  <a:pt x="803441" y="361156"/>
                </a:lnTo>
                <a:lnTo>
                  <a:pt x="808203" y="376435"/>
                </a:lnTo>
                <a:lnTo>
                  <a:pt x="859549" y="352350"/>
                </a:lnTo>
                <a:lnTo>
                  <a:pt x="897301" y="310653"/>
                </a:lnTo>
                <a:lnTo>
                  <a:pt x="920519" y="254818"/>
                </a:lnTo>
                <a:lnTo>
                  <a:pt x="928258" y="188316"/>
                </a:lnTo>
                <a:lnTo>
                  <a:pt x="926317" y="153807"/>
                </a:lnTo>
                <a:lnTo>
                  <a:pt x="910789" y="92638"/>
                </a:lnTo>
                <a:lnTo>
                  <a:pt x="879994" y="42843"/>
                </a:lnTo>
                <a:lnTo>
                  <a:pt x="835495" y="9853"/>
                </a:lnTo>
                <a:lnTo>
                  <a:pt x="8082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8108" y="2808732"/>
            <a:ext cx="215328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40460" algn="l"/>
                <a:tab pos="1542415" algn="l"/>
                <a:tab pos="1971039" algn="l"/>
              </a:tabLst>
            </a:pPr>
            <a:r>
              <a:rPr dirty="0" sz="3100" spc="40" b="1">
                <a:solidFill>
                  <a:srgbClr val="008000"/>
                </a:solidFill>
                <a:latin typeface="Cambria Math"/>
                <a:cs typeface="Cambria Math"/>
              </a:rPr>
              <a:t>l</a:t>
            </a:r>
            <a:r>
              <a:rPr dirty="0" sz="3100" spc="75" b="1">
                <a:solidFill>
                  <a:srgbClr val="008000"/>
                </a:solidFill>
                <a:latin typeface="Cambria Math"/>
                <a:cs typeface="Cambria Math"/>
              </a:rPr>
              <a:t>o</a:t>
            </a:r>
            <a:r>
              <a:rPr dirty="0" sz="3100" spc="75" b="1">
                <a:solidFill>
                  <a:srgbClr val="008000"/>
                </a:solidFill>
                <a:latin typeface="Cambria Math"/>
                <a:cs typeface="Cambria Math"/>
              </a:rPr>
              <a:t>g</a:t>
            </a:r>
            <a:r>
              <a:rPr dirty="0" sz="3200" spc="-5">
                <a:latin typeface="Cambria Math"/>
                <a:cs typeface="Cambria Math"/>
              </a:rPr>
              <a:t>(</a:t>
            </a:r>
            <a:r>
              <a:rPr dirty="0" sz="3200">
                <a:latin typeface="Cambria Math"/>
                <a:cs typeface="Cambria Math"/>
              </a:rPr>
              <a:t>𝑃	𝐺	𝑭	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871" y="3594100"/>
            <a:ext cx="90360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60">
                <a:latin typeface="Cambria Math"/>
                <a:cs typeface="Cambria Math"/>
              </a:rPr>
              <a:t> </a:t>
            </a:r>
            <a:r>
              <a:rPr dirty="0" sz="2800" spc="-5">
                <a:solidFill>
                  <a:srgbClr val="008000"/>
                </a:solidFill>
                <a:latin typeface="Cambria Math"/>
                <a:cs typeface="Cambria Math"/>
              </a:rPr>
              <a:t>𝐥𝐨𝐠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19261" y="3485007"/>
            <a:ext cx="7301230" cy="906780"/>
          </a:xfrm>
          <a:custGeom>
            <a:avLst/>
            <a:gdLst/>
            <a:ahLst/>
            <a:cxnLst/>
            <a:rect l="l" t="t" r="r" b="b"/>
            <a:pathLst>
              <a:path w="7301230" h="906779">
                <a:moveTo>
                  <a:pt x="7145688" y="0"/>
                </a:moveTo>
                <a:lnTo>
                  <a:pt x="7137527" y="13022"/>
                </a:lnTo>
                <a:lnTo>
                  <a:pt x="7166436" y="47738"/>
                </a:lnTo>
                <a:lnTo>
                  <a:pt x="7191873" y="89204"/>
                </a:lnTo>
                <a:lnTo>
                  <a:pt x="7213838" y="137420"/>
                </a:lnTo>
                <a:lnTo>
                  <a:pt x="7232331" y="192385"/>
                </a:lnTo>
                <a:lnTo>
                  <a:pt x="7244395" y="240148"/>
                </a:lnTo>
                <a:lnTo>
                  <a:pt x="7253778" y="290092"/>
                </a:lnTo>
                <a:lnTo>
                  <a:pt x="7260480" y="342217"/>
                </a:lnTo>
                <a:lnTo>
                  <a:pt x="7264502" y="396522"/>
                </a:lnTo>
                <a:lnTo>
                  <a:pt x="7265842" y="453008"/>
                </a:lnTo>
                <a:lnTo>
                  <a:pt x="7264509" y="508390"/>
                </a:lnTo>
                <a:lnTo>
                  <a:pt x="7260508" y="562022"/>
                </a:lnTo>
                <a:lnTo>
                  <a:pt x="7253841" y="613903"/>
                </a:lnTo>
                <a:lnTo>
                  <a:pt x="7244506" y="664034"/>
                </a:lnTo>
                <a:lnTo>
                  <a:pt x="7232505" y="712415"/>
                </a:lnTo>
                <a:lnTo>
                  <a:pt x="7214067" y="768292"/>
                </a:lnTo>
                <a:lnTo>
                  <a:pt x="7192091" y="817159"/>
                </a:lnTo>
                <a:lnTo>
                  <a:pt x="7166578" y="859016"/>
                </a:lnTo>
                <a:lnTo>
                  <a:pt x="7137527" y="893861"/>
                </a:lnTo>
                <a:lnTo>
                  <a:pt x="7145688" y="906711"/>
                </a:lnTo>
                <a:lnTo>
                  <a:pt x="7179530" y="872435"/>
                </a:lnTo>
                <a:lnTo>
                  <a:pt x="7209693" y="830378"/>
                </a:lnTo>
                <a:lnTo>
                  <a:pt x="7236177" y="780539"/>
                </a:lnTo>
                <a:lnTo>
                  <a:pt x="7258983" y="722920"/>
                </a:lnTo>
                <a:lnTo>
                  <a:pt x="7274079" y="672751"/>
                </a:lnTo>
                <a:lnTo>
                  <a:pt x="7285820" y="620657"/>
                </a:lnTo>
                <a:lnTo>
                  <a:pt x="7294207" y="566640"/>
                </a:lnTo>
                <a:lnTo>
                  <a:pt x="7299239" y="510699"/>
                </a:lnTo>
                <a:lnTo>
                  <a:pt x="7300916" y="452835"/>
                </a:lnTo>
                <a:lnTo>
                  <a:pt x="7299239" y="394230"/>
                </a:lnTo>
                <a:lnTo>
                  <a:pt x="7294207" y="337875"/>
                </a:lnTo>
                <a:lnTo>
                  <a:pt x="7285820" y="283771"/>
                </a:lnTo>
                <a:lnTo>
                  <a:pt x="7274079" y="231918"/>
                </a:lnTo>
                <a:lnTo>
                  <a:pt x="7258983" y="182314"/>
                </a:lnTo>
                <a:lnTo>
                  <a:pt x="7236177" y="125471"/>
                </a:lnTo>
                <a:lnTo>
                  <a:pt x="7209693" y="76138"/>
                </a:lnTo>
                <a:lnTo>
                  <a:pt x="7179530" y="34314"/>
                </a:lnTo>
                <a:lnTo>
                  <a:pt x="7145688" y="0"/>
                </a:lnTo>
                <a:close/>
              </a:path>
              <a:path w="7301230" h="906779">
                <a:moveTo>
                  <a:pt x="155223" y="0"/>
                </a:moveTo>
                <a:lnTo>
                  <a:pt x="121380" y="34314"/>
                </a:lnTo>
                <a:lnTo>
                  <a:pt x="91217" y="76138"/>
                </a:lnTo>
                <a:lnTo>
                  <a:pt x="64733" y="125471"/>
                </a:lnTo>
                <a:lnTo>
                  <a:pt x="41927" y="182314"/>
                </a:lnTo>
                <a:lnTo>
                  <a:pt x="26831" y="231918"/>
                </a:lnTo>
                <a:lnTo>
                  <a:pt x="15090" y="283771"/>
                </a:lnTo>
                <a:lnTo>
                  <a:pt x="6704" y="337875"/>
                </a:lnTo>
                <a:lnTo>
                  <a:pt x="1672" y="394230"/>
                </a:lnTo>
                <a:lnTo>
                  <a:pt x="0" y="453008"/>
                </a:lnTo>
                <a:lnTo>
                  <a:pt x="1672" y="510699"/>
                </a:lnTo>
                <a:lnTo>
                  <a:pt x="6704" y="566640"/>
                </a:lnTo>
                <a:lnTo>
                  <a:pt x="15090" y="620657"/>
                </a:lnTo>
                <a:lnTo>
                  <a:pt x="26831" y="672751"/>
                </a:lnTo>
                <a:lnTo>
                  <a:pt x="41927" y="722920"/>
                </a:lnTo>
                <a:lnTo>
                  <a:pt x="64733" y="780539"/>
                </a:lnTo>
                <a:lnTo>
                  <a:pt x="91217" y="830378"/>
                </a:lnTo>
                <a:lnTo>
                  <a:pt x="121380" y="872435"/>
                </a:lnTo>
                <a:lnTo>
                  <a:pt x="155223" y="906711"/>
                </a:lnTo>
                <a:lnTo>
                  <a:pt x="163382" y="893861"/>
                </a:lnTo>
                <a:lnTo>
                  <a:pt x="134332" y="859016"/>
                </a:lnTo>
                <a:lnTo>
                  <a:pt x="108819" y="817159"/>
                </a:lnTo>
                <a:lnTo>
                  <a:pt x="86843" y="768292"/>
                </a:lnTo>
                <a:lnTo>
                  <a:pt x="68406" y="712415"/>
                </a:lnTo>
                <a:lnTo>
                  <a:pt x="56404" y="664034"/>
                </a:lnTo>
                <a:lnTo>
                  <a:pt x="47070" y="613903"/>
                </a:lnTo>
                <a:lnTo>
                  <a:pt x="40402" y="562022"/>
                </a:lnTo>
                <a:lnTo>
                  <a:pt x="36402" y="508390"/>
                </a:lnTo>
                <a:lnTo>
                  <a:pt x="35072" y="452835"/>
                </a:lnTo>
                <a:lnTo>
                  <a:pt x="36405" y="396522"/>
                </a:lnTo>
                <a:lnTo>
                  <a:pt x="40416" y="342217"/>
                </a:lnTo>
                <a:lnTo>
                  <a:pt x="47101" y="290092"/>
                </a:lnTo>
                <a:lnTo>
                  <a:pt x="56460" y="240148"/>
                </a:lnTo>
                <a:lnTo>
                  <a:pt x="68493" y="192385"/>
                </a:lnTo>
                <a:lnTo>
                  <a:pt x="86958" y="137420"/>
                </a:lnTo>
                <a:lnTo>
                  <a:pt x="108927" y="89204"/>
                </a:lnTo>
                <a:lnTo>
                  <a:pt x="134402" y="47738"/>
                </a:lnTo>
                <a:lnTo>
                  <a:pt x="163382" y="13022"/>
                </a:lnTo>
                <a:lnTo>
                  <a:pt x="1552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816435" y="4226975"/>
            <a:ext cx="548005" cy="235585"/>
          </a:xfrm>
          <a:custGeom>
            <a:avLst/>
            <a:gdLst/>
            <a:ahLst/>
            <a:cxnLst/>
            <a:rect l="l" t="t" r="r" b="b"/>
            <a:pathLst>
              <a:path w="548005" h="235585">
                <a:moveTo>
                  <a:pt x="472846" y="0"/>
                </a:moveTo>
                <a:lnTo>
                  <a:pt x="469497" y="9549"/>
                </a:lnTo>
                <a:lnTo>
                  <a:pt x="483117" y="15459"/>
                </a:lnTo>
                <a:lnTo>
                  <a:pt x="494829" y="23641"/>
                </a:lnTo>
                <a:lnTo>
                  <a:pt x="518610" y="61565"/>
                </a:lnTo>
                <a:lnTo>
                  <a:pt x="526423" y="116457"/>
                </a:lnTo>
                <a:lnTo>
                  <a:pt x="525551" y="137208"/>
                </a:lnTo>
                <a:lnTo>
                  <a:pt x="512471" y="188019"/>
                </a:lnTo>
                <a:lnTo>
                  <a:pt x="483275" y="219784"/>
                </a:lnTo>
                <a:lnTo>
                  <a:pt x="469869" y="225722"/>
                </a:lnTo>
                <a:lnTo>
                  <a:pt x="472846" y="235272"/>
                </a:lnTo>
                <a:lnTo>
                  <a:pt x="517796" y="208564"/>
                </a:lnTo>
                <a:lnTo>
                  <a:pt x="543043" y="159261"/>
                </a:lnTo>
                <a:lnTo>
                  <a:pt x="547880" y="117698"/>
                </a:lnTo>
                <a:lnTo>
                  <a:pt x="546667" y="96129"/>
                </a:lnTo>
                <a:lnTo>
                  <a:pt x="536962" y="57899"/>
                </a:lnTo>
                <a:lnTo>
                  <a:pt x="504859" y="15084"/>
                </a:lnTo>
                <a:lnTo>
                  <a:pt x="489903" y="6158"/>
                </a:lnTo>
                <a:lnTo>
                  <a:pt x="472846" y="0"/>
                </a:lnTo>
                <a:close/>
              </a:path>
              <a:path w="548005" h="235585">
                <a:moveTo>
                  <a:pt x="75034" y="0"/>
                </a:moveTo>
                <a:lnTo>
                  <a:pt x="30164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3" y="177543"/>
                </a:lnTo>
                <a:lnTo>
                  <a:pt x="42943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4" y="15459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758941" y="3645711"/>
            <a:ext cx="2859405" cy="429895"/>
          </a:xfrm>
          <a:custGeom>
            <a:avLst/>
            <a:gdLst/>
            <a:ahLst/>
            <a:cxnLst/>
            <a:rect l="l" t="t" r="r" b="b"/>
            <a:pathLst>
              <a:path w="2859404" h="429895">
                <a:moveTo>
                  <a:pt x="2746179" y="0"/>
                </a:moveTo>
                <a:lnTo>
                  <a:pt x="2741838" y="14237"/>
                </a:lnTo>
                <a:lnTo>
                  <a:pt x="2761572" y="24471"/>
                </a:lnTo>
                <a:lnTo>
                  <a:pt x="2778756" y="39370"/>
                </a:lnTo>
                <a:lnTo>
                  <a:pt x="2805474" y="83169"/>
                </a:lnTo>
                <a:lnTo>
                  <a:pt x="2821687" y="142682"/>
                </a:lnTo>
                <a:lnTo>
                  <a:pt x="2827092" y="214956"/>
                </a:lnTo>
                <a:lnTo>
                  <a:pt x="2825741" y="252607"/>
                </a:lnTo>
                <a:lnTo>
                  <a:pt x="2814932" y="318371"/>
                </a:lnTo>
                <a:lnTo>
                  <a:pt x="2793390" y="370678"/>
                </a:lnTo>
                <a:lnTo>
                  <a:pt x="2761572" y="405101"/>
                </a:lnTo>
                <a:lnTo>
                  <a:pt x="2741838" y="415329"/>
                </a:lnTo>
                <a:lnTo>
                  <a:pt x="2746179" y="429567"/>
                </a:lnTo>
                <a:lnTo>
                  <a:pt x="2794145" y="403999"/>
                </a:lnTo>
                <a:lnTo>
                  <a:pt x="2829695" y="355772"/>
                </a:lnTo>
                <a:lnTo>
                  <a:pt x="2851704" y="290747"/>
                </a:lnTo>
                <a:lnTo>
                  <a:pt x="2859040" y="214783"/>
                </a:lnTo>
                <a:lnTo>
                  <a:pt x="2857206" y="175433"/>
                </a:lnTo>
                <a:lnTo>
                  <a:pt x="2842534" y="104938"/>
                </a:lnTo>
                <a:lnTo>
                  <a:pt x="2813472" y="46847"/>
                </a:lnTo>
                <a:lnTo>
                  <a:pt x="2771714" y="9951"/>
                </a:lnTo>
                <a:lnTo>
                  <a:pt x="2746179" y="0"/>
                </a:lnTo>
                <a:close/>
              </a:path>
              <a:path w="2859404" h="429895">
                <a:moveTo>
                  <a:pt x="112862" y="0"/>
                </a:moveTo>
                <a:lnTo>
                  <a:pt x="64895" y="25567"/>
                </a:lnTo>
                <a:lnTo>
                  <a:pt x="29344" y="73793"/>
                </a:lnTo>
                <a:lnTo>
                  <a:pt x="7336" y="138818"/>
                </a:lnTo>
                <a:lnTo>
                  <a:pt x="0" y="214783"/>
                </a:lnTo>
                <a:lnTo>
                  <a:pt x="1834" y="254132"/>
                </a:lnTo>
                <a:lnTo>
                  <a:pt x="16506" y="324627"/>
                </a:lnTo>
                <a:lnTo>
                  <a:pt x="45568" y="382718"/>
                </a:lnTo>
                <a:lnTo>
                  <a:pt x="87327" y="419615"/>
                </a:lnTo>
                <a:lnTo>
                  <a:pt x="112862" y="429567"/>
                </a:lnTo>
                <a:lnTo>
                  <a:pt x="117203" y="415329"/>
                </a:lnTo>
                <a:lnTo>
                  <a:pt x="97468" y="405101"/>
                </a:lnTo>
                <a:lnTo>
                  <a:pt x="80284" y="390217"/>
                </a:lnTo>
                <a:lnTo>
                  <a:pt x="53566" y="346483"/>
                </a:lnTo>
                <a:lnTo>
                  <a:pt x="37353" y="287079"/>
                </a:lnTo>
                <a:lnTo>
                  <a:pt x="31955" y="214783"/>
                </a:lnTo>
                <a:lnTo>
                  <a:pt x="33300" y="177224"/>
                </a:lnTo>
                <a:lnTo>
                  <a:pt x="44108" y="111330"/>
                </a:lnTo>
                <a:lnTo>
                  <a:pt x="65649" y="58936"/>
                </a:lnTo>
                <a:lnTo>
                  <a:pt x="97468" y="24471"/>
                </a:lnTo>
                <a:lnTo>
                  <a:pt x="117203" y="14237"/>
                </a:lnTo>
                <a:lnTo>
                  <a:pt x="1128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748829" y="3768852"/>
            <a:ext cx="5880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2275" algn="l"/>
              </a:tabLst>
            </a:pPr>
            <a:r>
              <a:rPr dirty="0" sz="2000">
                <a:solidFill>
                  <a:srgbClr val="0000FF"/>
                </a:solidFill>
                <a:latin typeface="Cambria Math"/>
                <a:cs typeface="Cambria Math"/>
              </a:rPr>
              <a:t>𝒖	𝒗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89170" y="3413455"/>
            <a:ext cx="3613150" cy="1066800"/>
          </a:xfrm>
          <a:prstGeom prst="rect">
            <a:avLst/>
          </a:prstGeom>
        </p:spPr>
        <p:txBody>
          <a:bodyPr wrap="square" lIns="0" tIns="193040" rIns="0" bIns="0" rtlCol="0" vert="horz">
            <a:spAutoFit/>
          </a:bodyPr>
          <a:lstStyle/>
          <a:p>
            <a:pPr marL="102870">
              <a:lnSpc>
                <a:spcPct val="100000"/>
              </a:lnSpc>
              <a:spcBef>
                <a:spcPts val="1520"/>
              </a:spcBef>
              <a:tabLst>
                <a:tab pos="998219" algn="l"/>
                <a:tab pos="3452495" algn="l"/>
              </a:tabLst>
            </a:pPr>
            <a:r>
              <a:rPr dirty="0" sz="2800" spc="2390">
                <a:latin typeface="Cambria Math"/>
                <a:cs typeface="Cambria Math"/>
              </a:rPr>
              <a:t>O</a:t>
            </a:r>
            <a:r>
              <a:rPr dirty="0" sz="2800" spc="2390">
                <a:latin typeface="Cambria Math"/>
                <a:cs typeface="Cambria Math"/>
              </a:rPr>
              <a:t>	</a:t>
            </a:r>
            <a:r>
              <a:rPr dirty="0" sz="2800" spc="2390">
                <a:solidFill>
                  <a:srgbClr val="0000FF"/>
                </a:solidFill>
                <a:latin typeface="Cambria Math"/>
                <a:cs typeface="Cambria Math"/>
              </a:rPr>
              <a:t>𝟏</a:t>
            </a:r>
            <a:r>
              <a:rPr dirty="0" sz="2800" spc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0000FF"/>
                </a:solidFill>
                <a:latin typeface="Cambria Math"/>
                <a:cs typeface="Cambria Math"/>
              </a:rPr>
              <a:t>− </a:t>
            </a:r>
            <a:r>
              <a:rPr dirty="0" sz="2800" spc="-5">
                <a:solidFill>
                  <a:srgbClr val="0000FF"/>
                </a:solidFill>
                <a:latin typeface="Cambria Math"/>
                <a:cs typeface="Cambria Math"/>
              </a:rPr>
              <a:t>𝐞</a:t>
            </a:r>
            <a:r>
              <a:rPr dirty="0" sz="2800">
                <a:solidFill>
                  <a:srgbClr val="0000FF"/>
                </a:solidFill>
                <a:latin typeface="Cambria Math"/>
                <a:cs typeface="Cambria Math"/>
              </a:rPr>
              <a:t>𝐱𝐩(</a:t>
            </a:r>
            <a:r>
              <a:rPr dirty="0" sz="2800" spc="-5">
                <a:solidFill>
                  <a:srgbClr val="0000FF"/>
                </a:solidFill>
                <a:latin typeface="Cambria Math"/>
                <a:cs typeface="Cambria Math"/>
              </a:rPr>
              <a:t>−𝑭</a:t>
            </a:r>
            <a:r>
              <a:rPr dirty="0" baseline="29166" sz="3000" spc="195">
                <a:solidFill>
                  <a:srgbClr val="0000FF"/>
                </a:solidFill>
                <a:latin typeface="Cambria Math"/>
                <a:cs typeface="Cambria Math"/>
              </a:rPr>
              <a:t>𝑻</a:t>
            </a:r>
            <a:r>
              <a:rPr dirty="0" sz="2800">
                <a:solidFill>
                  <a:srgbClr val="0000FF"/>
                </a:solidFill>
                <a:latin typeface="Cambria Math"/>
                <a:cs typeface="Cambria Math"/>
              </a:rPr>
              <a:t>𝑭	)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000" spc="85">
                <a:latin typeface="Cambria Math"/>
                <a:cs typeface="Cambria Math"/>
              </a:rPr>
              <a:t>4,6</a:t>
            </a:r>
            <a:r>
              <a:rPr dirty="0" sz="2000" spc="385">
                <a:latin typeface="Cambria Math"/>
                <a:cs typeface="Cambria Math"/>
              </a:rPr>
              <a:t> </a:t>
            </a:r>
            <a:r>
              <a:rPr dirty="0" sz="2000" spc="-10">
                <a:latin typeface="Cambria Math"/>
                <a:cs typeface="Cambria Math"/>
              </a:rPr>
              <a:t>∈D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730829" y="4226975"/>
            <a:ext cx="548005" cy="235585"/>
          </a:xfrm>
          <a:custGeom>
            <a:avLst/>
            <a:gdLst/>
            <a:ahLst/>
            <a:cxnLst/>
            <a:rect l="l" t="t" r="r" b="b"/>
            <a:pathLst>
              <a:path w="548004" h="235585">
                <a:moveTo>
                  <a:pt x="472846" y="0"/>
                </a:moveTo>
                <a:lnTo>
                  <a:pt x="469497" y="9549"/>
                </a:lnTo>
                <a:lnTo>
                  <a:pt x="483116" y="15459"/>
                </a:lnTo>
                <a:lnTo>
                  <a:pt x="494828" y="23641"/>
                </a:lnTo>
                <a:lnTo>
                  <a:pt x="518610" y="61565"/>
                </a:lnTo>
                <a:lnTo>
                  <a:pt x="526423" y="116457"/>
                </a:lnTo>
                <a:lnTo>
                  <a:pt x="525551" y="137208"/>
                </a:lnTo>
                <a:lnTo>
                  <a:pt x="512471" y="188019"/>
                </a:lnTo>
                <a:lnTo>
                  <a:pt x="483275" y="219784"/>
                </a:lnTo>
                <a:lnTo>
                  <a:pt x="469869" y="225722"/>
                </a:lnTo>
                <a:lnTo>
                  <a:pt x="472846" y="235272"/>
                </a:lnTo>
                <a:lnTo>
                  <a:pt x="517796" y="208564"/>
                </a:lnTo>
                <a:lnTo>
                  <a:pt x="543043" y="159261"/>
                </a:lnTo>
                <a:lnTo>
                  <a:pt x="547880" y="117698"/>
                </a:lnTo>
                <a:lnTo>
                  <a:pt x="546667" y="96129"/>
                </a:lnTo>
                <a:lnTo>
                  <a:pt x="536961" y="57899"/>
                </a:lnTo>
                <a:lnTo>
                  <a:pt x="504859" y="15084"/>
                </a:lnTo>
                <a:lnTo>
                  <a:pt x="489903" y="6158"/>
                </a:lnTo>
                <a:lnTo>
                  <a:pt x="472846" y="0"/>
                </a:lnTo>
                <a:close/>
              </a:path>
              <a:path w="548004" h="235585">
                <a:moveTo>
                  <a:pt x="75034" y="0"/>
                </a:moveTo>
                <a:lnTo>
                  <a:pt x="30164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2" y="177543"/>
                </a:lnTo>
                <a:lnTo>
                  <a:pt x="42942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5" y="116457"/>
                </a:lnTo>
                <a:lnTo>
                  <a:pt x="22327" y="96385"/>
                </a:lnTo>
                <a:lnTo>
                  <a:pt x="35408" y="46818"/>
                </a:lnTo>
                <a:lnTo>
                  <a:pt x="64813" y="15459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931639" y="3768852"/>
            <a:ext cx="5880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2275" algn="l"/>
              </a:tabLst>
            </a:pPr>
            <a:r>
              <a:rPr dirty="0" sz="2000">
                <a:solidFill>
                  <a:srgbClr val="0000FF"/>
                </a:solidFill>
                <a:latin typeface="Cambria Math"/>
                <a:cs typeface="Cambria Math"/>
              </a:rPr>
              <a:t>𝒖	𝒗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03564" y="3413455"/>
            <a:ext cx="2881630" cy="1066800"/>
          </a:xfrm>
          <a:prstGeom prst="rect">
            <a:avLst/>
          </a:prstGeom>
        </p:spPr>
        <p:txBody>
          <a:bodyPr wrap="square" lIns="0" tIns="193040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1520"/>
              </a:spcBef>
              <a:tabLst>
                <a:tab pos="902335" algn="l"/>
                <a:tab pos="2720975" algn="l"/>
              </a:tabLst>
            </a:pPr>
            <a:r>
              <a:rPr dirty="0" sz="2800" spc="2390">
                <a:latin typeface="Cambria Math"/>
                <a:cs typeface="Cambria Math"/>
              </a:rPr>
              <a:t>O</a:t>
            </a:r>
            <a:r>
              <a:rPr dirty="0" sz="2800" spc="2390">
                <a:latin typeface="Cambria Math"/>
                <a:cs typeface="Cambria Math"/>
              </a:rPr>
              <a:t>	</a:t>
            </a:r>
            <a:r>
              <a:rPr dirty="0" sz="2800" spc="-5">
                <a:solidFill>
                  <a:srgbClr val="0000FF"/>
                </a:solidFill>
                <a:latin typeface="Cambria Math"/>
                <a:cs typeface="Cambria Math"/>
              </a:rPr>
              <a:t>𝐞</a:t>
            </a:r>
            <a:r>
              <a:rPr dirty="0" sz="2800">
                <a:solidFill>
                  <a:srgbClr val="0000FF"/>
                </a:solidFill>
                <a:latin typeface="Cambria Math"/>
                <a:cs typeface="Cambria Math"/>
              </a:rPr>
              <a:t>𝐱𝐩(</a:t>
            </a:r>
            <a:r>
              <a:rPr dirty="0" sz="2800" spc="-5">
                <a:solidFill>
                  <a:srgbClr val="0000FF"/>
                </a:solidFill>
                <a:latin typeface="Cambria Math"/>
                <a:cs typeface="Cambria Math"/>
              </a:rPr>
              <a:t>−𝑭</a:t>
            </a:r>
            <a:r>
              <a:rPr dirty="0" baseline="29166" sz="3000" spc="195">
                <a:solidFill>
                  <a:srgbClr val="0000FF"/>
                </a:solidFill>
                <a:latin typeface="Cambria Math"/>
                <a:cs typeface="Cambria Math"/>
              </a:rPr>
              <a:t>𝑻</a:t>
            </a:r>
            <a:r>
              <a:rPr dirty="0" sz="2800">
                <a:solidFill>
                  <a:srgbClr val="0000FF"/>
                </a:solidFill>
                <a:latin typeface="Cambria Math"/>
                <a:cs typeface="Cambria Math"/>
              </a:rPr>
              <a:t>𝑭	)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000" spc="85">
                <a:latin typeface="Cambria Math"/>
                <a:cs typeface="Cambria Math"/>
              </a:rPr>
              <a:t>4,6</a:t>
            </a:r>
            <a:r>
              <a:rPr dirty="0" sz="2000" spc="390">
                <a:latin typeface="Cambria Math"/>
                <a:cs typeface="Cambria Math"/>
              </a:rPr>
              <a:t> </a:t>
            </a:r>
            <a:r>
              <a:rPr dirty="0" sz="2000" spc="-10">
                <a:latin typeface="Cambria Math"/>
                <a:cs typeface="Cambria Math"/>
              </a:rPr>
              <a:t>∉D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38813" y="5441753"/>
            <a:ext cx="548005" cy="235585"/>
          </a:xfrm>
          <a:custGeom>
            <a:avLst/>
            <a:gdLst/>
            <a:ahLst/>
            <a:cxnLst/>
            <a:rect l="l" t="t" r="r" b="b"/>
            <a:pathLst>
              <a:path w="548005" h="235585">
                <a:moveTo>
                  <a:pt x="472845" y="0"/>
                </a:moveTo>
                <a:lnTo>
                  <a:pt x="469496" y="9549"/>
                </a:lnTo>
                <a:lnTo>
                  <a:pt x="483116" y="15459"/>
                </a:lnTo>
                <a:lnTo>
                  <a:pt x="494828" y="23641"/>
                </a:lnTo>
                <a:lnTo>
                  <a:pt x="518610" y="61565"/>
                </a:lnTo>
                <a:lnTo>
                  <a:pt x="526424" y="116457"/>
                </a:lnTo>
                <a:lnTo>
                  <a:pt x="525552" y="137208"/>
                </a:lnTo>
                <a:lnTo>
                  <a:pt x="512470" y="188019"/>
                </a:lnTo>
                <a:lnTo>
                  <a:pt x="483274" y="219784"/>
                </a:lnTo>
                <a:lnTo>
                  <a:pt x="469868" y="225722"/>
                </a:lnTo>
                <a:lnTo>
                  <a:pt x="472845" y="235272"/>
                </a:lnTo>
                <a:lnTo>
                  <a:pt x="517796" y="208564"/>
                </a:lnTo>
                <a:lnTo>
                  <a:pt x="543042" y="159261"/>
                </a:lnTo>
                <a:lnTo>
                  <a:pt x="547879" y="117698"/>
                </a:lnTo>
                <a:lnTo>
                  <a:pt x="546666" y="96129"/>
                </a:lnTo>
                <a:lnTo>
                  <a:pt x="536962" y="57899"/>
                </a:lnTo>
                <a:lnTo>
                  <a:pt x="504859" y="15084"/>
                </a:lnTo>
                <a:lnTo>
                  <a:pt x="489902" y="6158"/>
                </a:lnTo>
                <a:lnTo>
                  <a:pt x="472845" y="0"/>
                </a:lnTo>
                <a:close/>
              </a:path>
              <a:path w="548005" h="235585">
                <a:moveTo>
                  <a:pt x="75034" y="0"/>
                </a:moveTo>
                <a:lnTo>
                  <a:pt x="30164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2" y="177543"/>
                </a:lnTo>
                <a:lnTo>
                  <a:pt x="42942" y="220218"/>
                </a:lnTo>
                <a:lnTo>
                  <a:pt x="75034" y="235272"/>
                </a:lnTo>
                <a:lnTo>
                  <a:pt x="78010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5" y="116457"/>
                </a:lnTo>
                <a:lnTo>
                  <a:pt x="22327" y="96385"/>
                </a:lnTo>
                <a:lnTo>
                  <a:pt x="35408" y="46818"/>
                </a:lnTo>
                <a:lnTo>
                  <a:pt x="64813" y="15459"/>
                </a:lnTo>
                <a:lnTo>
                  <a:pt x="78382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502528" y="4910582"/>
            <a:ext cx="2760345" cy="329565"/>
          </a:xfrm>
          <a:custGeom>
            <a:avLst/>
            <a:gdLst/>
            <a:ahLst/>
            <a:cxnLst/>
            <a:rect l="l" t="t" r="r" b="b"/>
            <a:pathLst>
              <a:path w="2760345" h="329564">
                <a:moveTo>
                  <a:pt x="2654905" y="0"/>
                </a:moveTo>
                <a:lnTo>
                  <a:pt x="2650216" y="13369"/>
                </a:lnTo>
                <a:lnTo>
                  <a:pt x="2669284" y="21643"/>
                </a:lnTo>
                <a:lnTo>
                  <a:pt x="2685681" y="33098"/>
                </a:lnTo>
                <a:lnTo>
                  <a:pt x="2710468" y="65545"/>
                </a:lnTo>
                <a:lnTo>
                  <a:pt x="2725052" y="109323"/>
                </a:lnTo>
                <a:lnTo>
                  <a:pt x="2729914" y="163041"/>
                </a:lnTo>
                <a:lnTo>
                  <a:pt x="2728693" y="192092"/>
                </a:lnTo>
                <a:lnTo>
                  <a:pt x="2718926" y="242184"/>
                </a:lnTo>
                <a:lnTo>
                  <a:pt x="2699328" y="281305"/>
                </a:lnTo>
                <a:lnTo>
                  <a:pt x="2669507" y="307698"/>
                </a:lnTo>
                <a:lnTo>
                  <a:pt x="2650738" y="316011"/>
                </a:lnTo>
                <a:lnTo>
                  <a:pt x="2654905" y="329380"/>
                </a:lnTo>
                <a:lnTo>
                  <a:pt x="2699832" y="308306"/>
                </a:lnTo>
                <a:lnTo>
                  <a:pt x="2732867" y="271821"/>
                </a:lnTo>
                <a:lnTo>
                  <a:pt x="2753181" y="222965"/>
                </a:lnTo>
                <a:lnTo>
                  <a:pt x="2759953" y="164777"/>
                </a:lnTo>
                <a:lnTo>
                  <a:pt x="2758255" y="134581"/>
                </a:lnTo>
                <a:lnTo>
                  <a:pt x="2744668" y="81058"/>
                </a:lnTo>
                <a:lnTo>
                  <a:pt x="2717722" y="37488"/>
                </a:lnTo>
                <a:lnTo>
                  <a:pt x="2678785" y="8621"/>
                </a:lnTo>
                <a:lnTo>
                  <a:pt x="2654905" y="0"/>
                </a:lnTo>
                <a:close/>
              </a:path>
              <a:path w="2760345" h="329564">
                <a:moveTo>
                  <a:pt x="105046" y="0"/>
                </a:moveTo>
                <a:lnTo>
                  <a:pt x="60228" y="21117"/>
                </a:lnTo>
                <a:lnTo>
                  <a:pt x="27172" y="57732"/>
                </a:lnTo>
                <a:lnTo>
                  <a:pt x="6793" y="106675"/>
                </a:lnTo>
                <a:lnTo>
                  <a:pt x="0" y="164777"/>
                </a:lnTo>
                <a:lnTo>
                  <a:pt x="1692" y="195037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6" y="320769"/>
                </a:lnTo>
                <a:lnTo>
                  <a:pt x="105046" y="329380"/>
                </a:lnTo>
                <a:lnTo>
                  <a:pt x="109214" y="316011"/>
                </a:lnTo>
                <a:lnTo>
                  <a:pt x="90446" y="307698"/>
                </a:lnTo>
                <a:lnTo>
                  <a:pt x="74249" y="296129"/>
                </a:lnTo>
                <a:lnTo>
                  <a:pt x="49571" y="263226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39"/>
                </a:lnTo>
                <a:lnTo>
                  <a:pt x="41025" y="86191"/>
                </a:lnTo>
                <a:lnTo>
                  <a:pt x="60657" y="47732"/>
                </a:lnTo>
                <a:lnTo>
                  <a:pt x="90739" y="21643"/>
                </a:lnTo>
                <a:lnTo>
                  <a:pt x="109735" y="13369"/>
                </a:lnTo>
                <a:lnTo>
                  <a:pt x="1050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809803" y="4910582"/>
            <a:ext cx="1305560" cy="329565"/>
          </a:xfrm>
          <a:custGeom>
            <a:avLst/>
            <a:gdLst/>
            <a:ahLst/>
            <a:cxnLst/>
            <a:rect l="l" t="t" r="r" b="b"/>
            <a:pathLst>
              <a:path w="1305560" h="329564">
                <a:moveTo>
                  <a:pt x="1200057" y="0"/>
                </a:moveTo>
                <a:lnTo>
                  <a:pt x="1195368" y="13369"/>
                </a:lnTo>
                <a:lnTo>
                  <a:pt x="1214435" y="21643"/>
                </a:lnTo>
                <a:lnTo>
                  <a:pt x="1230833" y="33098"/>
                </a:lnTo>
                <a:lnTo>
                  <a:pt x="1255619" y="65545"/>
                </a:lnTo>
                <a:lnTo>
                  <a:pt x="1270204" y="109323"/>
                </a:lnTo>
                <a:lnTo>
                  <a:pt x="1275066" y="163041"/>
                </a:lnTo>
                <a:lnTo>
                  <a:pt x="1273845" y="192092"/>
                </a:lnTo>
                <a:lnTo>
                  <a:pt x="1264078" y="242184"/>
                </a:lnTo>
                <a:lnTo>
                  <a:pt x="1244480" y="281305"/>
                </a:lnTo>
                <a:lnTo>
                  <a:pt x="1214658" y="307698"/>
                </a:lnTo>
                <a:lnTo>
                  <a:pt x="1195890" y="316011"/>
                </a:lnTo>
                <a:lnTo>
                  <a:pt x="1200057" y="329380"/>
                </a:lnTo>
                <a:lnTo>
                  <a:pt x="1244984" y="308306"/>
                </a:lnTo>
                <a:lnTo>
                  <a:pt x="1278018" y="271821"/>
                </a:lnTo>
                <a:lnTo>
                  <a:pt x="1298333" y="222965"/>
                </a:lnTo>
                <a:lnTo>
                  <a:pt x="1305105" y="164777"/>
                </a:lnTo>
                <a:lnTo>
                  <a:pt x="1303406" y="134581"/>
                </a:lnTo>
                <a:lnTo>
                  <a:pt x="1289819" y="81058"/>
                </a:lnTo>
                <a:lnTo>
                  <a:pt x="1262874" y="37488"/>
                </a:lnTo>
                <a:lnTo>
                  <a:pt x="1223937" y="8621"/>
                </a:lnTo>
                <a:lnTo>
                  <a:pt x="1200057" y="0"/>
                </a:lnTo>
                <a:close/>
              </a:path>
              <a:path w="1305560" h="329564">
                <a:moveTo>
                  <a:pt x="105046" y="0"/>
                </a:moveTo>
                <a:lnTo>
                  <a:pt x="60228" y="21117"/>
                </a:lnTo>
                <a:lnTo>
                  <a:pt x="27172" y="57732"/>
                </a:lnTo>
                <a:lnTo>
                  <a:pt x="6793" y="106675"/>
                </a:lnTo>
                <a:lnTo>
                  <a:pt x="0" y="164777"/>
                </a:lnTo>
                <a:lnTo>
                  <a:pt x="1692" y="195037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6" y="320769"/>
                </a:lnTo>
                <a:lnTo>
                  <a:pt x="105046" y="329380"/>
                </a:lnTo>
                <a:lnTo>
                  <a:pt x="109214" y="316011"/>
                </a:lnTo>
                <a:lnTo>
                  <a:pt x="90446" y="307698"/>
                </a:lnTo>
                <a:lnTo>
                  <a:pt x="74249" y="296129"/>
                </a:lnTo>
                <a:lnTo>
                  <a:pt x="49571" y="263226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39"/>
                </a:lnTo>
                <a:lnTo>
                  <a:pt x="41025" y="86191"/>
                </a:lnTo>
                <a:lnTo>
                  <a:pt x="60657" y="47732"/>
                </a:lnTo>
                <a:lnTo>
                  <a:pt x="90739" y="21643"/>
                </a:lnTo>
                <a:lnTo>
                  <a:pt x="109735" y="13369"/>
                </a:lnTo>
                <a:lnTo>
                  <a:pt x="1050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39870" y="4622291"/>
            <a:ext cx="4201795" cy="1074420"/>
          </a:xfrm>
          <a:prstGeom prst="rect">
            <a:avLst/>
          </a:prstGeom>
        </p:spPr>
        <p:txBody>
          <a:bodyPr wrap="square" lIns="0" tIns="1974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5"/>
              </a:spcBef>
              <a:tabLst>
                <a:tab pos="607060" algn="l"/>
                <a:tab pos="1369060" algn="l"/>
                <a:tab pos="1978660" algn="l"/>
                <a:tab pos="3286125" algn="l"/>
              </a:tabLst>
            </a:pP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2335">
                <a:latin typeface="Cambria Math"/>
                <a:cs typeface="Cambria Math"/>
              </a:rPr>
              <a:t>a	</a:t>
            </a:r>
            <a:r>
              <a:rPr dirty="0" sz="2800" spc="-5">
                <a:latin typeface="Cambria Math"/>
                <a:cs typeface="Cambria Math"/>
              </a:rPr>
              <a:t>log	</a:t>
            </a:r>
            <a:r>
              <a:rPr dirty="0" sz="2800">
                <a:latin typeface="Cambria Math"/>
                <a:cs typeface="Cambria Math"/>
              </a:rPr>
              <a:t>1</a:t>
            </a:r>
            <a:r>
              <a:rPr dirty="0" sz="2800" spc="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− </a:t>
            </a:r>
            <a:r>
              <a:rPr dirty="0" sz="2800" spc="-15">
                <a:latin typeface="Cambria Math"/>
                <a:cs typeface="Cambria Math"/>
              </a:rPr>
              <a:t>exp	</a:t>
            </a:r>
            <a:r>
              <a:rPr dirty="0" sz="2800" spc="-5">
                <a:latin typeface="Cambria Math"/>
                <a:cs typeface="Cambria Math"/>
              </a:rPr>
              <a:t>−𝑭</a:t>
            </a:r>
            <a:r>
              <a:rPr dirty="0" baseline="27777" sz="3000" spc="-7">
                <a:latin typeface="Cambria Math"/>
                <a:cs typeface="Cambria Math"/>
              </a:rPr>
              <a:t>H</a:t>
            </a:r>
            <a:r>
              <a:rPr dirty="0" sz="2800" spc="-5">
                <a:latin typeface="Cambria Math"/>
                <a:cs typeface="Cambria Math"/>
              </a:rPr>
              <a:t>𝑭</a:t>
            </a:r>
            <a:endParaRPr sz="2800">
              <a:latin typeface="Cambria Math"/>
              <a:cs typeface="Cambria Math"/>
            </a:endParaRPr>
          </a:p>
          <a:p>
            <a:pPr marL="483870">
              <a:lnSpc>
                <a:spcPct val="100000"/>
              </a:lnSpc>
              <a:spcBef>
                <a:spcPts val="1035"/>
              </a:spcBef>
            </a:pPr>
            <a:r>
              <a:rPr dirty="0" sz="2000" spc="85">
                <a:latin typeface="Cambria Math"/>
                <a:cs typeface="Cambria Math"/>
              </a:rPr>
              <a:t>4,6</a:t>
            </a:r>
            <a:r>
              <a:rPr dirty="0" sz="2000" spc="385">
                <a:latin typeface="Cambria Math"/>
                <a:cs typeface="Cambria Math"/>
              </a:rPr>
              <a:t> </a:t>
            </a:r>
            <a:r>
              <a:rPr dirty="0" sz="2000" spc="-10">
                <a:latin typeface="Cambria Math"/>
                <a:cs typeface="Cambria Math"/>
              </a:rPr>
              <a:t>∈D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05547" y="4981955"/>
            <a:ext cx="5880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2275" algn="l"/>
              </a:tabLst>
            </a:pPr>
            <a:r>
              <a:rPr dirty="0" sz="2000">
                <a:latin typeface="Cambria Math"/>
                <a:cs typeface="Cambria Math"/>
              </a:rPr>
              <a:t>𝒖	𝒗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739146" y="5441753"/>
            <a:ext cx="548005" cy="235585"/>
          </a:xfrm>
          <a:custGeom>
            <a:avLst/>
            <a:gdLst/>
            <a:ahLst/>
            <a:cxnLst/>
            <a:rect l="l" t="t" r="r" b="b"/>
            <a:pathLst>
              <a:path w="548004" h="235585">
                <a:moveTo>
                  <a:pt x="472846" y="0"/>
                </a:moveTo>
                <a:lnTo>
                  <a:pt x="469497" y="9549"/>
                </a:lnTo>
                <a:lnTo>
                  <a:pt x="483116" y="15459"/>
                </a:lnTo>
                <a:lnTo>
                  <a:pt x="494828" y="23641"/>
                </a:lnTo>
                <a:lnTo>
                  <a:pt x="518610" y="61565"/>
                </a:lnTo>
                <a:lnTo>
                  <a:pt x="526423" y="116457"/>
                </a:lnTo>
                <a:lnTo>
                  <a:pt x="525551" y="137208"/>
                </a:lnTo>
                <a:lnTo>
                  <a:pt x="512471" y="188019"/>
                </a:lnTo>
                <a:lnTo>
                  <a:pt x="483275" y="219784"/>
                </a:lnTo>
                <a:lnTo>
                  <a:pt x="469869" y="225722"/>
                </a:lnTo>
                <a:lnTo>
                  <a:pt x="472846" y="235272"/>
                </a:lnTo>
                <a:lnTo>
                  <a:pt x="517796" y="208564"/>
                </a:lnTo>
                <a:lnTo>
                  <a:pt x="543043" y="159261"/>
                </a:lnTo>
                <a:lnTo>
                  <a:pt x="547880" y="117698"/>
                </a:lnTo>
                <a:lnTo>
                  <a:pt x="546667" y="96129"/>
                </a:lnTo>
                <a:lnTo>
                  <a:pt x="536962" y="57899"/>
                </a:lnTo>
                <a:lnTo>
                  <a:pt x="504859" y="15084"/>
                </a:lnTo>
                <a:lnTo>
                  <a:pt x="489903" y="6158"/>
                </a:lnTo>
                <a:lnTo>
                  <a:pt x="472846" y="0"/>
                </a:lnTo>
                <a:close/>
              </a:path>
              <a:path w="548004" h="235585">
                <a:moveTo>
                  <a:pt x="75034" y="0"/>
                </a:moveTo>
                <a:lnTo>
                  <a:pt x="30164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3" y="177543"/>
                </a:lnTo>
                <a:lnTo>
                  <a:pt x="42943" y="220218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4" y="15459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360015" y="4622291"/>
            <a:ext cx="2004695" cy="1074420"/>
          </a:xfrm>
          <a:prstGeom prst="rect">
            <a:avLst/>
          </a:prstGeom>
        </p:spPr>
        <p:txBody>
          <a:bodyPr wrap="square" lIns="0" tIns="1974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5"/>
              </a:spcBef>
              <a:tabLst>
                <a:tab pos="589915" algn="l"/>
                <a:tab pos="1353820" algn="l"/>
              </a:tabLst>
            </a:pPr>
            <a:r>
              <a:rPr dirty="0" sz="2800">
                <a:latin typeface="Cambria Math"/>
                <a:cs typeface="Cambria Math"/>
              </a:rPr>
              <a:t>−	</a:t>
            </a:r>
            <a:r>
              <a:rPr dirty="0" sz="2800" spc="2335">
                <a:latin typeface="Cambria Math"/>
                <a:cs typeface="Cambria Math"/>
              </a:rPr>
              <a:t>a	</a:t>
            </a:r>
            <a:r>
              <a:rPr dirty="0" sz="2800">
                <a:latin typeface="Cambria Math"/>
                <a:cs typeface="Cambria Math"/>
              </a:rPr>
              <a:t>𝑭</a:t>
            </a:r>
            <a:r>
              <a:rPr dirty="0" baseline="27777" sz="3000">
                <a:latin typeface="Cambria Math"/>
                <a:cs typeface="Cambria Math"/>
              </a:rPr>
              <a:t>H</a:t>
            </a:r>
            <a:r>
              <a:rPr dirty="0" sz="2800">
                <a:latin typeface="Cambria Math"/>
                <a:cs typeface="Cambria Math"/>
              </a:rPr>
              <a:t>𝑭</a:t>
            </a:r>
            <a:endParaRPr sz="2800">
              <a:latin typeface="Cambria Math"/>
              <a:cs typeface="Cambria Math"/>
            </a:endParaRPr>
          </a:p>
          <a:p>
            <a:pPr marL="464184">
              <a:lnSpc>
                <a:spcPct val="100000"/>
              </a:lnSpc>
              <a:spcBef>
                <a:spcPts val="1035"/>
              </a:spcBef>
            </a:pPr>
            <a:r>
              <a:rPr dirty="0" sz="2000" spc="85">
                <a:latin typeface="Cambria Math"/>
                <a:cs typeface="Cambria Math"/>
              </a:rPr>
              <a:t>4,6</a:t>
            </a:r>
            <a:r>
              <a:rPr dirty="0" sz="2000" spc="390">
                <a:latin typeface="Cambria Math"/>
                <a:cs typeface="Cambria Math"/>
              </a:rPr>
              <a:t> </a:t>
            </a:r>
            <a:r>
              <a:rPr dirty="0" sz="2000" spc="-10">
                <a:latin typeface="Cambria Math"/>
                <a:cs typeface="Cambria Math"/>
              </a:rPr>
              <a:t>∉D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50"/>
              <a:t> </a:t>
            </a:r>
            <a:r>
              <a:rPr dirty="0" spc="-5"/>
              <a:t>Graphs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62</a:t>
            </a:fld>
          </a:p>
        </p:txBody>
      </p:sp>
      <p:sp>
        <p:nvSpPr>
          <p:cNvPr id="22" name="object 22"/>
          <p:cNvSpPr txBox="1"/>
          <p:nvPr/>
        </p:nvSpPr>
        <p:spPr>
          <a:xfrm>
            <a:off x="6928719" y="4981955"/>
            <a:ext cx="5880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2275" algn="l"/>
              </a:tabLst>
            </a:pPr>
            <a:r>
              <a:rPr dirty="0" sz="2000">
                <a:latin typeface="Cambria Math"/>
                <a:cs typeface="Cambria Math"/>
              </a:rPr>
              <a:t>𝒖	𝒗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8750" y="5856732"/>
            <a:ext cx="379666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FF0066"/>
                </a:solidFill>
                <a:latin typeface="Cambria Math"/>
                <a:cs typeface="Cambria Math"/>
              </a:rPr>
              <a:t>≡ </a:t>
            </a:r>
            <a:r>
              <a:rPr dirty="0" sz="3200" spc="-5">
                <a:solidFill>
                  <a:srgbClr val="FF0066"/>
                </a:solidFill>
                <a:latin typeface="Cambria Math"/>
                <a:cs typeface="Cambria Math"/>
              </a:rPr>
              <a:t>ℓ(𝑭)</a:t>
            </a:r>
            <a:r>
              <a:rPr dirty="0" sz="3200" spc="-5">
                <a:latin typeface="Corbel"/>
                <a:cs typeface="Corbel"/>
              </a:rPr>
              <a:t>: </a:t>
            </a:r>
            <a:r>
              <a:rPr dirty="0" sz="3200" b="1">
                <a:latin typeface="Corbel"/>
                <a:cs typeface="Corbel"/>
              </a:rPr>
              <a:t>Our</a:t>
            </a:r>
            <a:r>
              <a:rPr dirty="0" sz="3200" spc="150" b="1">
                <a:latin typeface="Corbel"/>
                <a:cs typeface="Corbel"/>
              </a:rPr>
              <a:t> </a:t>
            </a:r>
            <a:r>
              <a:rPr dirty="0" sz="3200" spc="-5" b="1">
                <a:latin typeface="Corbel"/>
                <a:cs typeface="Corbel"/>
              </a:rPr>
              <a:t>objective</a:t>
            </a:r>
            <a:endParaRPr sz="3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389534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88073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C00000"/>
                </a:solidFill>
              </a:rPr>
              <a:t>Optimizing</a:t>
            </a:r>
            <a:r>
              <a:rPr dirty="0" spc="-70">
                <a:solidFill>
                  <a:srgbClr val="C00000"/>
                </a:solidFill>
              </a:rPr>
              <a:t> </a:t>
            </a:r>
            <a:r>
              <a:rPr dirty="0" spc="-5" b="0">
                <a:solidFill>
                  <a:srgbClr val="FF0066"/>
                </a:solidFill>
                <a:latin typeface="Cambria Math"/>
                <a:cs typeface="Cambria Math"/>
              </a:rPr>
              <a:t>ℓ(𝑭)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0">
                <a:latin typeface="Calibri"/>
                <a:cs typeface="Calibri"/>
              </a:rPr>
              <a:t>Start </a:t>
            </a:r>
            <a:r>
              <a:rPr dirty="0" b="0">
                <a:latin typeface="Calibri"/>
                <a:cs typeface="Calibri"/>
              </a:rPr>
              <a:t>with </a:t>
            </a:r>
            <a:r>
              <a:rPr dirty="0" spc="-15" b="0">
                <a:latin typeface="Calibri"/>
                <a:cs typeface="Calibri"/>
              </a:rPr>
              <a:t>random </a:t>
            </a:r>
            <a:r>
              <a:rPr dirty="0" spc="-10" b="0">
                <a:latin typeface="Calibri"/>
                <a:cs typeface="Calibri"/>
              </a:rPr>
              <a:t>membership</a:t>
            </a:r>
            <a:r>
              <a:rPr dirty="0" spc="10" b="0">
                <a:latin typeface="Calibri"/>
                <a:cs typeface="Calibri"/>
              </a:rPr>
              <a:t> </a:t>
            </a:r>
            <a:r>
              <a:rPr dirty="0" b="0">
                <a:latin typeface="Cambria Math"/>
                <a:cs typeface="Cambria Math"/>
              </a:rPr>
              <a:t>𝑭</a:t>
            </a:r>
          </a:p>
        </p:txBody>
      </p:sp>
      <p:sp>
        <p:nvSpPr>
          <p:cNvPr id="4" name="object 4"/>
          <p:cNvSpPr/>
          <p:nvPr/>
        </p:nvSpPr>
        <p:spPr>
          <a:xfrm>
            <a:off x="1347698" y="5775695"/>
            <a:ext cx="459740" cy="329565"/>
          </a:xfrm>
          <a:custGeom>
            <a:avLst/>
            <a:gdLst/>
            <a:ahLst/>
            <a:cxnLst/>
            <a:rect l="l" t="t" r="r" b="b"/>
            <a:pathLst>
              <a:path w="459739" h="329564">
                <a:moveTo>
                  <a:pt x="354619" y="0"/>
                </a:moveTo>
                <a:lnTo>
                  <a:pt x="349930" y="13369"/>
                </a:lnTo>
                <a:lnTo>
                  <a:pt x="368997" y="21644"/>
                </a:lnTo>
                <a:lnTo>
                  <a:pt x="385395" y="33098"/>
                </a:lnTo>
                <a:lnTo>
                  <a:pt x="410182" y="65546"/>
                </a:lnTo>
                <a:lnTo>
                  <a:pt x="424766" y="109323"/>
                </a:lnTo>
                <a:lnTo>
                  <a:pt x="429628" y="163041"/>
                </a:lnTo>
                <a:lnTo>
                  <a:pt x="428407" y="192092"/>
                </a:lnTo>
                <a:lnTo>
                  <a:pt x="418640" y="242185"/>
                </a:lnTo>
                <a:lnTo>
                  <a:pt x="399041" y="281306"/>
                </a:lnTo>
                <a:lnTo>
                  <a:pt x="369220" y="307699"/>
                </a:lnTo>
                <a:lnTo>
                  <a:pt x="350451" y="316011"/>
                </a:lnTo>
                <a:lnTo>
                  <a:pt x="354619" y="329381"/>
                </a:lnTo>
                <a:lnTo>
                  <a:pt x="399546" y="308306"/>
                </a:lnTo>
                <a:lnTo>
                  <a:pt x="432579" y="271822"/>
                </a:lnTo>
                <a:lnTo>
                  <a:pt x="452894" y="222966"/>
                </a:lnTo>
                <a:lnTo>
                  <a:pt x="459666" y="164777"/>
                </a:lnTo>
                <a:lnTo>
                  <a:pt x="457968" y="134581"/>
                </a:lnTo>
                <a:lnTo>
                  <a:pt x="444381" y="81059"/>
                </a:lnTo>
                <a:lnTo>
                  <a:pt x="417436" y="37488"/>
                </a:lnTo>
                <a:lnTo>
                  <a:pt x="378499" y="8621"/>
                </a:lnTo>
                <a:lnTo>
                  <a:pt x="354619" y="0"/>
                </a:lnTo>
                <a:close/>
              </a:path>
              <a:path w="459739" h="329564">
                <a:moveTo>
                  <a:pt x="105048" y="0"/>
                </a:moveTo>
                <a:lnTo>
                  <a:pt x="60228" y="21118"/>
                </a:lnTo>
                <a:lnTo>
                  <a:pt x="27174" y="57732"/>
                </a:lnTo>
                <a:lnTo>
                  <a:pt x="6793" y="106675"/>
                </a:lnTo>
                <a:lnTo>
                  <a:pt x="0" y="164777"/>
                </a:lnTo>
                <a:lnTo>
                  <a:pt x="1693" y="195038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70"/>
                </a:lnTo>
                <a:lnTo>
                  <a:pt x="105048" y="329381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2" y="218473"/>
                </a:lnTo>
                <a:lnTo>
                  <a:pt x="30039" y="163041"/>
                </a:lnTo>
                <a:lnTo>
                  <a:pt x="31259" y="134939"/>
                </a:lnTo>
                <a:lnTo>
                  <a:pt x="41026" y="86192"/>
                </a:lnTo>
                <a:lnTo>
                  <a:pt x="60657" y="47732"/>
                </a:lnTo>
                <a:lnTo>
                  <a:pt x="90739" y="21644"/>
                </a:lnTo>
                <a:lnTo>
                  <a:pt x="109735" y="13369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21157" y="5703246"/>
            <a:ext cx="770255" cy="4171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220"/>
              </a:lnSpc>
              <a:tabLst>
                <a:tab pos="542290" algn="l"/>
              </a:tabLst>
            </a:pPr>
            <a:r>
              <a:rPr dirty="0" sz="2800" spc="-10">
                <a:latin typeface="Cambria Math"/>
                <a:cs typeface="Cambria Math"/>
              </a:rPr>
              <a:t>∇</a:t>
            </a:r>
            <a:r>
              <a:rPr dirty="0" sz="2800">
                <a:latin typeface="Cambria Math"/>
                <a:cs typeface="Cambria Math"/>
              </a:rPr>
              <a:t>ℓ	𝑭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24711" y="5492191"/>
            <a:ext cx="1351280" cy="1066800"/>
          </a:xfrm>
          <a:prstGeom prst="rect">
            <a:avLst/>
          </a:prstGeom>
        </p:spPr>
        <p:txBody>
          <a:bodyPr wrap="square" lIns="0" tIns="193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20"/>
              </a:spcBef>
              <a:tabLst>
                <a:tab pos="622300" algn="l"/>
              </a:tabLst>
            </a:pP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2335">
                <a:latin typeface="Cambria Math"/>
                <a:cs typeface="Cambria Math"/>
              </a:rPr>
              <a:t>a</a:t>
            </a:r>
            <a:endParaRPr sz="2800">
              <a:latin typeface="Cambria Math"/>
              <a:cs typeface="Cambria Math"/>
            </a:endParaRPr>
          </a:p>
          <a:p>
            <a:pPr marL="376555">
              <a:lnSpc>
                <a:spcPct val="100000"/>
              </a:lnSpc>
              <a:spcBef>
                <a:spcPts val="1010"/>
              </a:spcBef>
            </a:pPr>
            <a:r>
              <a:rPr dirty="0" sz="2000" spc="75">
                <a:latin typeface="Cambria Math"/>
                <a:cs typeface="Cambria Math"/>
              </a:rPr>
              <a:t>6∈𝒩(4)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53870" y="5487047"/>
            <a:ext cx="2877185" cy="906780"/>
          </a:xfrm>
          <a:custGeom>
            <a:avLst/>
            <a:gdLst/>
            <a:ahLst/>
            <a:cxnLst/>
            <a:rect l="l" t="t" r="r" b="b"/>
            <a:pathLst>
              <a:path w="2877185" h="906779">
                <a:moveTo>
                  <a:pt x="2721898" y="0"/>
                </a:moveTo>
                <a:lnTo>
                  <a:pt x="2713737" y="13022"/>
                </a:lnTo>
                <a:lnTo>
                  <a:pt x="2742646" y="47738"/>
                </a:lnTo>
                <a:lnTo>
                  <a:pt x="2768083" y="89204"/>
                </a:lnTo>
                <a:lnTo>
                  <a:pt x="2790048" y="137420"/>
                </a:lnTo>
                <a:lnTo>
                  <a:pt x="2808540" y="192385"/>
                </a:lnTo>
                <a:lnTo>
                  <a:pt x="2820604" y="240148"/>
                </a:lnTo>
                <a:lnTo>
                  <a:pt x="2829987" y="290092"/>
                </a:lnTo>
                <a:lnTo>
                  <a:pt x="2836690" y="342216"/>
                </a:lnTo>
                <a:lnTo>
                  <a:pt x="2840711" y="396522"/>
                </a:lnTo>
                <a:lnTo>
                  <a:pt x="2842051" y="453008"/>
                </a:lnTo>
                <a:lnTo>
                  <a:pt x="2840718" y="508390"/>
                </a:lnTo>
                <a:lnTo>
                  <a:pt x="2836717" y="562022"/>
                </a:lnTo>
                <a:lnTo>
                  <a:pt x="2830050" y="613903"/>
                </a:lnTo>
                <a:lnTo>
                  <a:pt x="2820715" y="664034"/>
                </a:lnTo>
                <a:lnTo>
                  <a:pt x="2808714" y="712415"/>
                </a:lnTo>
                <a:lnTo>
                  <a:pt x="2790276" y="768293"/>
                </a:lnTo>
                <a:lnTo>
                  <a:pt x="2768301" y="817159"/>
                </a:lnTo>
                <a:lnTo>
                  <a:pt x="2742788" y="859016"/>
                </a:lnTo>
                <a:lnTo>
                  <a:pt x="2713737" y="893862"/>
                </a:lnTo>
                <a:lnTo>
                  <a:pt x="2721898" y="906711"/>
                </a:lnTo>
                <a:lnTo>
                  <a:pt x="2755740" y="872434"/>
                </a:lnTo>
                <a:lnTo>
                  <a:pt x="2785903" y="830377"/>
                </a:lnTo>
                <a:lnTo>
                  <a:pt x="2812388" y="780539"/>
                </a:lnTo>
                <a:lnTo>
                  <a:pt x="2835193" y="722920"/>
                </a:lnTo>
                <a:lnTo>
                  <a:pt x="2850288" y="672751"/>
                </a:lnTo>
                <a:lnTo>
                  <a:pt x="2862029" y="620657"/>
                </a:lnTo>
                <a:lnTo>
                  <a:pt x="2870416" y="566640"/>
                </a:lnTo>
                <a:lnTo>
                  <a:pt x="2875448" y="510699"/>
                </a:lnTo>
                <a:lnTo>
                  <a:pt x="2877125" y="452834"/>
                </a:lnTo>
                <a:lnTo>
                  <a:pt x="2875448" y="394230"/>
                </a:lnTo>
                <a:lnTo>
                  <a:pt x="2870416" y="337876"/>
                </a:lnTo>
                <a:lnTo>
                  <a:pt x="2862029" y="283772"/>
                </a:lnTo>
                <a:lnTo>
                  <a:pt x="2850288" y="231918"/>
                </a:lnTo>
                <a:lnTo>
                  <a:pt x="2835193" y="182315"/>
                </a:lnTo>
                <a:lnTo>
                  <a:pt x="2812388" y="125472"/>
                </a:lnTo>
                <a:lnTo>
                  <a:pt x="2785903" y="76138"/>
                </a:lnTo>
                <a:lnTo>
                  <a:pt x="2755740" y="34314"/>
                </a:lnTo>
                <a:lnTo>
                  <a:pt x="2721898" y="0"/>
                </a:lnTo>
                <a:close/>
              </a:path>
              <a:path w="2877185" h="906779">
                <a:moveTo>
                  <a:pt x="155223" y="0"/>
                </a:moveTo>
                <a:lnTo>
                  <a:pt x="121381" y="34314"/>
                </a:lnTo>
                <a:lnTo>
                  <a:pt x="91217" y="76138"/>
                </a:lnTo>
                <a:lnTo>
                  <a:pt x="64733" y="125472"/>
                </a:lnTo>
                <a:lnTo>
                  <a:pt x="41927" y="182315"/>
                </a:lnTo>
                <a:lnTo>
                  <a:pt x="26831" y="231918"/>
                </a:lnTo>
                <a:lnTo>
                  <a:pt x="15090" y="283772"/>
                </a:lnTo>
                <a:lnTo>
                  <a:pt x="6704" y="337876"/>
                </a:lnTo>
                <a:lnTo>
                  <a:pt x="1672" y="394230"/>
                </a:lnTo>
                <a:lnTo>
                  <a:pt x="0" y="453008"/>
                </a:lnTo>
                <a:lnTo>
                  <a:pt x="1672" y="510699"/>
                </a:lnTo>
                <a:lnTo>
                  <a:pt x="6704" y="566640"/>
                </a:lnTo>
                <a:lnTo>
                  <a:pt x="15090" y="620657"/>
                </a:lnTo>
                <a:lnTo>
                  <a:pt x="26831" y="672751"/>
                </a:lnTo>
                <a:lnTo>
                  <a:pt x="41927" y="722920"/>
                </a:lnTo>
                <a:lnTo>
                  <a:pt x="64733" y="780539"/>
                </a:lnTo>
                <a:lnTo>
                  <a:pt x="91217" y="830377"/>
                </a:lnTo>
                <a:lnTo>
                  <a:pt x="121381" y="872434"/>
                </a:lnTo>
                <a:lnTo>
                  <a:pt x="155223" y="906711"/>
                </a:lnTo>
                <a:lnTo>
                  <a:pt x="163384" y="893862"/>
                </a:lnTo>
                <a:lnTo>
                  <a:pt x="134333" y="859016"/>
                </a:lnTo>
                <a:lnTo>
                  <a:pt x="108820" y="817159"/>
                </a:lnTo>
                <a:lnTo>
                  <a:pt x="86844" y="768293"/>
                </a:lnTo>
                <a:lnTo>
                  <a:pt x="68407" y="712415"/>
                </a:lnTo>
                <a:lnTo>
                  <a:pt x="56405" y="664034"/>
                </a:lnTo>
                <a:lnTo>
                  <a:pt x="47071" y="613903"/>
                </a:lnTo>
                <a:lnTo>
                  <a:pt x="40403" y="562022"/>
                </a:lnTo>
                <a:lnTo>
                  <a:pt x="36403" y="508390"/>
                </a:lnTo>
                <a:lnTo>
                  <a:pt x="35073" y="452834"/>
                </a:lnTo>
                <a:lnTo>
                  <a:pt x="36406" y="396522"/>
                </a:lnTo>
                <a:lnTo>
                  <a:pt x="40417" y="342216"/>
                </a:lnTo>
                <a:lnTo>
                  <a:pt x="47102" y="290092"/>
                </a:lnTo>
                <a:lnTo>
                  <a:pt x="56460" y="240148"/>
                </a:lnTo>
                <a:lnTo>
                  <a:pt x="68493" y="192385"/>
                </a:lnTo>
                <a:lnTo>
                  <a:pt x="86958" y="137420"/>
                </a:lnTo>
                <a:lnTo>
                  <a:pt x="108928" y="89204"/>
                </a:lnTo>
                <a:lnTo>
                  <a:pt x="134403" y="47738"/>
                </a:lnTo>
                <a:lnTo>
                  <a:pt x="163384" y="13022"/>
                </a:lnTo>
                <a:lnTo>
                  <a:pt x="1552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531325" y="5940361"/>
            <a:ext cx="2527300" cy="0"/>
          </a:xfrm>
          <a:custGeom>
            <a:avLst/>
            <a:gdLst/>
            <a:ahLst/>
            <a:cxnLst/>
            <a:rect l="l" t="t" r="r" b="b"/>
            <a:pathLst>
              <a:path w="2527300" h="0">
                <a:moveTo>
                  <a:pt x="0" y="0"/>
                </a:moveTo>
                <a:lnTo>
                  <a:pt x="25273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005477" y="5579364"/>
            <a:ext cx="5880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2275" algn="l"/>
              </a:tabLst>
            </a:pPr>
            <a:r>
              <a:rPr dirty="0" sz="2000">
                <a:latin typeface="Cambria Math"/>
                <a:cs typeface="Cambria Math"/>
              </a:rPr>
              <a:t>𝒖	𝒗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25965" y="5404611"/>
            <a:ext cx="1932939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72285" algn="l"/>
              </a:tabLst>
            </a:pPr>
            <a:r>
              <a:rPr dirty="0" sz="2800" spc="-30">
                <a:latin typeface="Cambria Math"/>
                <a:cs typeface="Cambria Math"/>
              </a:rPr>
              <a:t>e</a:t>
            </a:r>
            <a:r>
              <a:rPr dirty="0" sz="2800" spc="-5">
                <a:latin typeface="Cambria Math"/>
                <a:cs typeface="Cambria Math"/>
              </a:rPr>
              <a:t>x</a:t>
            </a:r>
            <a:r>
              <a:rPr dirty="0" sz="2800">
                <a:latin typeface="Cambria Math"/>
                <a:cs typeface="Cambria Math"/>
              </a:rPr>
              <a:t>p(</a:t>
            </a:r>
            <a:r>
              <a:rPr dirty="0" sz="2800" spc="-5">
                <a:latin typeface="Cambria Math"/>
                <a:cs typeface="Cambria Math"/>
              </a:rPr>
              <a:t>−𝑭</a:t>
            </a:r>
            <a:r>
              <a:rPr dirty="0" baseline="29166" sz="3000" spc="0">
                <a:latin typeface="Cambria Math"/>
                <a:cs typeface="Cambria Math"/>
              </a:rPr>
              <a:t>H</a:t>
            </a:r>
            <a:r>
              <a:rPr dirty="0" sz="2800">
                <a:latin typeface="Cambria Math"/>
                <a:cs typeface="Cambria Math"/>
              </a:rPr>
              <a:t>𝑭	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15484" y="6100571"/>
            <a:ext cx="5880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2275" algn="l"/>
              </a:tabLst>
            </a:pPr>
            <a:r>
              <a:rPr dirty="0" sz="2000">
                <a:latin typeface="Cambria Math"/>
                <a:cs typeface="Cambria Math"/>
              </a:rPr>
              <a:t>𝒖	𝒗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16021" y="5925820"/>
            <a:ext cx="255333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92045" algn="l"/>
              </a:tabLst>
            </a:pPr>
            <a:r>
              <a:rPr dirty="0" sz="2800">
                <a:latin typeface="Cambria Math"/>
                <a:cs typeface="Cambria Math"/>
              </a:rPr>
              <a:t>1</a:t>
            </a:r>
            <a:r>
              <a:rPr dirty="0" sz="2800" spc="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− </a:t>
            </a:r>
            <a:r>
              <a:rPr dirty="0" sz="2800" spc="-30">
                <a:latin typeface="Cambria Math"/>
                <a:cs typeface="Cambria Math"/>
              </a:rPr>
              <a:t>e</a:t>
            </a:r>
            <a:r>
              <a:rPr dirty="0" sz="2800" spc="-5">
                <a:latin typeface="Cambria Math"/>
                <a:cs typeface="Cambria Math"/>
              </a:rPr>
              <a:t>x</a:t>
            </a:r>
            <a:r>
              <a:rPr dirty="0" sz="2800">
                <a:latin typeface="Cambria Math"/>
                <a:cs typeface="Cambria Math"/>
              </a:rPr>
              <a:t>p(</a:t>
            </a:r>
            <a:r>
              <a:rPr dirty="0" sz="2800" spc="-5">
                <a:latin typeface="Cambria Math"/>
                <a:cs typeface="Cambria Math"/>
              </a:rPr>
              <a:t>−𝑭</a:t>
            </a:r>
            <a:r>
              <a:rPr dirty="0" baseline="29166" sz="3000" spc="0">
                <a:latin typeface="Cambria Math"/>
                <a:cs typeface="Cambria Math"/>
              </a:rPr>
              <a:t>H</a:t>
            </a:r>
            <a:r>
              <a:rPr dirty="0" sz="2800">
                <a:latin typeface="Cambria Math"/>
                <a:cs typeface="Cambria Math"/>
              </a:rPr>
              <a:t>𝑭	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26468" y="5672835"/>
            <a:ext cx="94678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1135" indent="-178435">
              <a:lnSpc>
                <a:spcPct val="100000"/>
              </a:lnSpc>
              <a:spcBef>
                <a:spcPts val="100"/>
              </a:spcBef>
              <a:buChar char="·"/>
              <a:tabLst>
                <a:tab pos="191770" algn="l"/>
              </a:tabLst>
            </a:pPr>
            <a:r>
              <a:rPr dirty="0" sz="2800" spc="-5">
                <a:latin typeface="Cambria Math"/>
                <a:cs typeface="Cambria Math"/>
              </a:rPr>
              <a:t>𝑭</a:t>
            </a:r>
            <a:r>
              <a:rPr dirty="0" baseline="-16666" sz="3000" spc="-7">
                <a:latin typeface="Cambria Math"/>
                <a:cs typeface="Cambria Math"/>
              </a:rPr>
              <a:t>𝒗</a:t>
            </a:r>
            <a:r>
              <a:rPr dirty="0" baseline="-16666" sz="3000" spc="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−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25894" y="5492191"/>
            <a:ext cx="991869" cy="1066800"/>
          </a:xfrm>
          <a:prstGeom prst="rect">
            <a:avLst/>
          </a:prstGeom>
        </p:spPr>
        <p:txBody>
          <a:bodyPr wrap="square" lIns="0" tIns="19304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520"/>
              </a:spcBef>
            </a:pPr>
            <a:r>
              <a:rPr dirty="0" sz="2800" spc="2335">
                <a:latin typeface="Cambria Math"/>
                <a:cs typeface="Cambria Math"/>
              </a:rPr>
              <a:t>a</a:t>
            </a:r>
            <a:endParaRPr sz="28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1010"/>
              </a:spcBef>
            </a:pPr>
            <a:r>
              <a:rPr dirty="0" sz="2000" spc="75">
                <a:latin typeface="Cambria Math"/>
                <a:cs typeface="Cambria Math"/>
              </a:rPr>
              <a:t>6∉𝒩(4)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54023" y="5672835"/>
            <a:ext cx="4051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latin typeface="Cambria Math"/>
                <a:cs typeface="Cambria Math"/>
              </a:rPr>
              <a:t>𝑭</a:t>
            </a:r>
            <a:r>
              <a:rPr dirty="0" baseline="-16666" sz="3000">
                <a:latin typeface="Cambria Math"/>
                <a:cs typeface="Cambria Math"/>
              </a:rPr>
              <a:t>𝒗</a:t>
            </a:r>
            <a:endParaRPr baseline="-16666" sz="30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70856" y="5659287"/>
            <a:ext cx="1045210" cy="566420"/>
          </a:xfrm>
          <a:custGeom>
            <a:avLst/>
            <a:gdLst/>
            <a:ahLst/>
            <a:cxnLst/>
            <a:rect l="l" t="t" r="r" b="b"/>
            <a:pathLst>
              <a:path w="1045210" h="566420">
                <a:moveTo>
                  <a:pt x="0" y="0"/>
                </a:moveTo>
                <a:lnTo>
                  <a:pt x="1045029" y="0"/>
                </a:lnTo>
                <a:lnTo>
                  <a:pt x="1045029" y="566057"/>
                </a:lnTo>
                <a:lnTo>
                  <a:pt x="0" y="566057"/>
                </a:lnTo>
                <a:lnTo>
                  <a:pt x="0" y="0"/>
                </a:lnTo>
                <a:close/>
              </a:path>
            </a:pathLst>
          </a:custGeom>
          <a:solidFill>
            <a:srgbClr val="F0AD00">
              <a:alpha val="3803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18108" y="2230773"/>
            <a:ext cx="8051165" cy="313626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30">
                <a:latin typeface="Calibri"/>
                <a:cs typeface="Calibri"/>
              </a:rPr>
              <a:t>Iterate </a:t>
            </a:r>
            <a:r>
              <a:rPr dirty="0" sz="3200" spc="-5">
                <a:latin typeface="Calibri"/>
                <a:cs typeface="Calibri"/>
              </a:rPr>
              <a:t>until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convergence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For </a:t>
            </a:r>
            <a:r>
              <a:rPr dirty="0" sz="2800">
                <a:latin typeface="Cambria Math"/>
                <a:cs typeface="Cambria Math"/>
              </a:rPr>
              <a:t>𝑢  ∈</a:t>
            </a:r>
            <a:r>
              <a:rPr dirty="0" sz="2800" spc="-30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𝑽</a:t>
            </a:r>
            <a:endParaRPr sz="2800">
              <a:latin typeface="Cambria Math"/>
              <a:cs typeface="Cambria Math"/>
            </a:endParaRPr>
          </a:p>
          <a:p>
            <a:pPr lvl="2" marL="890905" marR="860425" indent="-228600">
              <a:lnSpc>
                <a:spcPct val="100000"/>
              </a:lnSpc>
              <a:spcBef>
                <a:spcPts val="64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10">
                <a:latin typeface="Calibri"/>
                <a:cs typeface="Calibri"/>
              </a:rPr>
              <a:t>Update membership </a:t>
            </a:r>
            <a:r>
              <a:rPr dirty="0" sz="2400">
                <a:latin typeface="Cambria Math"/>
                <a:cs typeface="Cambria Math"/>
              </a:rPr>
              <a:t>𝑭</a:t>
            </a:r>
            <a:r>
              <a:rPr dirty="0" baseline="-15432" sz="2700">
                <a:latin typeface="Cambria Math"/>
                <a:cs typeface="Cambria Math"/>
              </a:rPr>
              <a:t>𝒖 </a:t>
            </a:r>
            <a:r>
              <a:rPr dirty="0" sz="2400" spc="-20">
                <a:latin typeface="Calibri"/>
                <a:cs typeface="Calibri"/>
              </a:rPr>
              <a:t>for </a:t>
            </a:r>
            <a:r>
              <a:rPr dirty="0" sz="2400" spc="-5">
                <a:latin typeface="Calibri"/>
                <a:cs typeface="Calibri"/>
              </a:rPr>
              <a:t>node </a:t>
            </a:r>
            <a:r>
              <a:rPr dirty="0" sz="2400">
                <a:latin typeface="Cambria Math"/>
                <a:cs typeface="Cambria Math"/>
              </a:rPr>
              <a:t>𝑢 </a:t>
            </a:r>
            <a:r>
              <a:rPr dirty="0" sz="2400" spc="-5">
                <a:latin typeface="Calibri"/>
                <a:cs typeface="Calibri"/>
              </a:rPr>
              <a:t>while fixing </a:t>
            </a:r>
            <a:r>
              <a:rPr dirty="0" sz="2400" spc="-85">
                <a:latin typeface="Calibri"/>
                <a:cs typeface="Calibri"/>
              </a:rPr>
              <a:t>the  </a:t>
            </a:r>
            <a:r>
              <a:rPr dirty="0" sz="2400" spc="-10">
                <a:latin typeface="Calibri"/>
                <a:cs typeface="Calibri"/>
              </a:rPr>
              <a:t>memberships </a:t>
            </a:r>
            <a:r>
              <a:rPr dirty="0" sz="2400" spc="-5">
                <a:latin typeface="Calibri"/>
                <a:cs typeface="Calibri"/>
              </a:rPr>
              <a:t>of all other nodes</a:t>
            </a:r>
            <a:endParaRPr sz="2400">
              <a:latin typeface="Calibri"/>
              <a:cs typeface="Calibri"/>
            </a:endParaRPr>
          </a:p>
          <a:p>
            <a:pPr lvl="2" marL="890905" marR="5080" indent="-228600">
              <a:lnSpc>
                <a:spcPct val="100800"/>
              </a:lnSpc>
              <a:spcBef>
                <a:spcPts val="505"/>
              </a:spcBef>
              <a:buClr>
                <a:srgbClr val="E66C7D"/>
              </a:buClr>
              <a:buFont typeface="Malgun Gothic"/>
              <a:buChar char="▪"/>
              <a:tabLst>
                <a:tab pos="959485" algn="l"/>
              </a:tabLst>
            </a:pPr>
            <a:r>
              <a:rPr dirty="0" sz="2400" spc="-20">
                <a:latin typeface="Calibri"/>
                <a:cs typeface="Calibri"/>
              </a:rPr>
              <a:t>Specifically, </a:t>
            </a:r>
            <a:r>
              <a:rPr dirty="0" sz="2400" spc="-15">
                <a:latin typeface="Calibri"/>
                <a:cs typeface="Calibri"/>
              </a:rPr>
              <a:t>we </a:t>
            </a:r>
            <a:r>
              <a:rPr dirty="0" sz="2400">
                <a:latin typeface="Calibri"/>
                <a:cs typeface="Calibri"/>
              </a:rPr>
              <a:t>do </a:t>
            </a:r>
            <a:r>
              <a:rPr dirty="0" sz="2400" spc="-15" b="1">
                <a:solidFill>
                  <a:srgbClr val="008000"/>
                </a:solidFill>
                <a:latin typeface="Calibri"/>
                <a:cs typeface="Calibri"/>
              </a:rPr>
              <a:t>gradient </a:t>
            </a:r>
            <a:r>
              <a:rPr dirty="0" sz="2400" spc="-5" b="1">
                <a:solidFill>
                  <a:srgbClr val="008000"/>
                </a:solidFill>
                <a:latin typeface="Calibri"/>
                <a:cs typeface="Calibri"/>
              </a:rPr>
              <a:t>ascent, </a:t>
            </a:r>
            <a:r>
              <a:rPr dirty="0" sz="2400" spc="-10">
                <a:latin typeface="Calibri"/>
                <a:cs typeface="Calibri"/>
              </a:rPr>
              <a:t>where </a:t>
            </a:r>
            <a:r>
              <a:rPr dirty="0" sz="2400" spc="-15">
                <a:latin typeface="Calibri"/>
                <a:cs typeface="Calibri"/>
              </a:rPr>
              <a:t>we </a:t>
            </a:r>
            <a:r>
              <a:rPr dirty="0" sz="2400" spc="-25">
                <a:latin typeface="Calibri"/>
                <a:cs typeface="Calibri"/>
              </a:rPr>
              <a:t>make </a:t>
            </a:r>
            <a:r>
              <a:rPr dirty="0" sz="2400" spc="-65">
                <a:latin typeface="Calibri"/>
                <a:cs typeface="Calibri"/>
              </a:rPr>
              <a:t>small  </a:t>
            </a:r>
            <a:r>
              <a:rPr dirty="0" sz="2400" spc="-10">
                <a:latin typeface="Calibri"/>
                <a:cs typeface="Calibri"/>
              </a:rPr>
              <a:t>changes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>
                <a:latin typeface="Cambria Math"/>
                <a:cs typeface="Cambria Math"/>
              </a:rPr>
              <a:t>𝑭</a:t>
            </a:r>
            <a:r>
              <a:rPr dirty="0" baseline="-15432" sz="2700">
                <a:latin typeface="Cambria Math"/>
                <a:cs typeface="Cambria Math"/>
              </a:rPr>
              <a:t>𝒖 </a:t>
            </a:r>
            <a:r>
              <a:rPr dirty="0" sz="2400" spc="-10">
                <a:latin typeface="Calibri"/>
                <a:cs typeface="Calibri"/>
              </a:rPr>
              <a:t>that </a:t>
            </a:r>
            <a:r>
              <a:rPr dirty="0" sz="2400" spc="-5">
                <a:latin typeface="Calibri"/>
                <a:cs typeface="Calibri"/>
              </a:rPr>
              <a:t>lead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10">
                <a:latin typeface="Calibri"/>
                <a:cs typeface="Calibri"/>
              </a:rPr>
              <a:t>increase </a:t>
            </a:r>
            <a:r>
              <a:rPr dirty="0" sz="2400" spc="-5">
                <a:latin typeface="Calibri"/>
                <a:cs typeface="Calibri"/>
              </a:rPr>
              <a:t>in</a:t>
            </a:r>
            <a:r>
              <a:rPr dirty="0" sz="2400" spc="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log-likelihood.</a:t>
            </a:r>
            <a:endParaRPr sz="2400">
              <a:latin typeface="Calibri"/>
              <a:cs typeface="Calibri"/>
            </a:endParaRPr>
          </a:p>
          <a:p>
            <a:pPr marL="332740">
              <a:lnSpc>
                <a:spcPct val="100000"/>
              </a:lnSpc>
              <a:spcBef>
                <a:spcPts val="760"/>
              </a:spcBef>
            </a:pPr>
            <a:r>
              <a:rPr dirty="0" sz="2000" spc="-5" b="1">
                <a:solidFill>
                  <a:srgbClr val="008000"/>
                </a:solidFill>
                <a:latin typeface="Arial"/>
                <a:cs typeface="Arial"/>
              </a:rPr>
              <a:t>Partial derivative </a:t>
            </a:r>
            <a:r>
              <a:rPr dirty="0" sz="2000" spc="-40" b="1">
                <a:solidFill>
                  <a:srgbClr val="008000"/>
                </a:solidFill>
                <a:latin typeface="Arial"/>
                <a:cs typeface="Arial"/>
              </a:rPr>
              <a:t>w.r.t.</a:t>
            </a:r>
            <a:r>
              <a:rPr dirty="0" sz="2000" spc="-90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008000"/>
                </a:solidFill>
                <a:latin typeface="Cambria Math"/>
                <a:cs typeface="Cambria Math"/>
              </a:rPr>
              <a:t>𝑭</a:t>
            </a:r>
            <a:r>
              <a:rPr dirty="0" baseline="-14814" sz="2250" spc="-7">
                <a:solidFill>
                  <a:srgbClr val="008000"/>
                </a:solidFill>
                <a:latin typeface="Cambria Math"/>
                <a:cs typeface="Cambria Math"/>
              </a:rPr>
              <a:t>𝒖</a:t>
            </a:r>
            <a:endParaRPr baseline="-14814" sz="225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50"/>
              <a:t> </a:t>
            </a:r>
            <a:r>
              <a:rPr dirty="0" spc="-5"/>
              <a:t>Graphs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62</a:t>
            </a:fld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389534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36079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FF0066"/>
                </a:solidFill>
              </a:rPr>
              <a:t>Time </a:t>
            </a:r>
            <a:r>
              <a:rPr dirty="0" spc="-10">
                <a:solidFill>
                  <a:srgbClr val="FF0066"/>
                </a:solidFill>
              </a:rPr>
              <a:t>complexity </a:t>
            </a:r>
            <a:r>
              <a:rPr dirty="0">
                <a:solidFill>
                  <a:srgbClr val="FF0066"/>
                </a:solidFill>
              </a:rPr>
              <a:t>of </a:t>
            </a:r>
            <a:r>
              <a:rPr dirty="0" spc="-20">
                <a:solidFill>
                  <a:srgbClr val="FF0066"/>
                </a:solidFill>
              </a:rPr>
              <a:t>gradient</a:t>
            </a:r>
            <a:r>
              <a:rPr dirty="0">
                <a:solidFill>
                  <a:srgbClr val="FF0066"/>
                </a:solidFill>
              </a:rPr>
              <a:t> </a:t>
            </a:r>
            <a:r>
              <a:rPr dirty="0" spc="-10">
                <a:solidFill>
                  <a:srgbClr val="FF0066"/>
                </a:solidFill>
              </a:rPr>
              <a:t>ascent: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538" y="5437123"/>
            <a:ext cx="7282180" cy="11169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332740" marR="5080" indent="-320040">
              <a:lnSpc>
                <a:spcPct val="100800"/>
              </a:lnSpc>
              <a:spcBef>
                <a:spcPts val="75"/>
              </a:spcBef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baseline="2314" sz="3600" spc="-337">
                <a:latin typeface="Cambria Math"/>
                <a:cs typeface="Cambria Math"/>
              </a:rPr>
              <a:t>∑</a:t>
            </a:r>
            <a:r>
              <a:rPr dirty="0" baseline="-15432" sz="2700" spc="-337">
                <a:latin typeface="Cambria Math"/>
                <a:cs typeface="Cambria Math"/>
              </a:rPr>
              <a:t>M </a:t>
            </a:r>
            <a:r>
              <a:rPr dirty="0" sz="2400">
                <a:latin typeface="Cambria Math"/>
                <a:cs typeface="Cambria Math"/>
              </a:rPr>
              <a:t>𝑭</a:t>
            </a:r>
            <a:r>
              <a:rPr dirty="0" baseline="-15432" sz="2700">
                <a:latin typeface="Cambria Math"/>
                <a:cs typeface="Cambria Math"/>
              </a:rPr>
              <a:t>𝒗 </a:t>
            </a:r>
            <a:r>
              <a:rPr dirty="0" sz="2400" spc="-10">
                <a:latin typeface="Calibri"/>
                <a:cs typeface="Calibri"/>
              </a:rPr>
              <a:t>can </a:t>
            </a:r>
            <a:r>
              <a:rPr dirty="0" sz="2400">
                <a:latin typeface="Calibri"/>
                <a:cs typeface="Calibri"/>
              </a:rPr>
              <a:t>be </a:t>
            </a:r>
            <a:r>
              <a:rPr dirty="0" sz="2400" spc="-10">
                <a:latin typeface="Calibri"/>
                <a:cs typeface="Calibri"/>
              </a:rPr>
              <a:t>computed </a:t>
            </a:r>
            <a:r>
              <a:rPr dirty="0" sz="2400" spc="-15">
                <a:latin typeface="Calibri"/>
                <a:cs typeface="Calibri"/>
              </a:rPr>
              <a:t>at </a:t>
            </a:r>
            <a:r>
              <a:rPr dirty="0" sz="2400" spc="-5">
                <a:latin typeface="Calibri"/>
                <a:cs typeface="Calibri"/>
              </a:rPr>
              <a:t>the beginning </a:t>
            </a:r>
            <a:r>
              <a:rPr dirty="0" sz="2400">
                <a:latin typeface="Calibri"/>
                <a:cs typeface="Calibri"/>
              </a:rPr>
              <a:t>and </a:t>
            </a:r>
            <a:r>
              <a:rPr dirty="0" sz="2400" spc="-10">
                <a:latin typeface="Calibri"/>
                <a:cs typeface="Calibri"/>
              </a:rPr>
              <a:t>efficiently  updated </a:t>
            </a:r>
            <a:r>
              <a:rPr dirty="0" sz="2400" spc="-5">
                <a:latin typeface="Calibri"/>
                <a:cs typeface="Calibri"/>
              </a:rPr>
              <a:t>whenever </a:t>
            </a:r>
            <a:r>
              <a:rPr dirty="0" sz="2400">
                <a:latin typeface="Cambria Math"/>
                <a:cs typeface="Cambria Math"/>
              </a:rPr>
              <a:t>𝑭</a:t>
            </a:r>
            <a:r>
              <a:rPr dirty="0" baseline="-15432" sz="2700">
                <a:latin typeface="Cambria Math"/>
                <a:cs typeface="Cambria Math"/>
              </a:rPr>
              <a:t>𝒖 </a:t>
            </a:r>
            <a:r>
              <a:rPr dirty="0" sz="2400" spc="-5">
                <a:latin typeface="Calibri"/>
                <a:cs typeface="Calibri"/>
              </a:rPr>
              <a:t>is</a:t>
            </a:r>
            <a:r>
              <a:rPr dirty="0" sz="2400" spc="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updated.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ts val="2810"/>
              </a:lnSpc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400">
                <a:latin typeface="Calibri"/>
                <a:cs typeface="Calibri"/>
              </a:rPr>
              <a:t>The </a:t>
            </a:r>
            <a:r>
              <a:rPr dirty="0" sz="2400" spc="-15">
                <a:latin typeface="Calibri"/>
                <a:cs typeface="Calibri"/>
              </a:rPr>
              <a:t>gradient step </a:t>
            </a:r>
            <a:r>
              <a:rPr dirty="0" sz="2400" spc="-25">
                <a:latin typeface="Calibri"/>
                <a:cs typeface="Calibri"/>
              </a:rPr>
              <a:t>takes </a:t>
            </a:r>
            <a:r>
              <a:rPr dirty="0" sz="2400" spc="-5" b="1">
                <a:latin typeface="Calibri"/>
                <a:cs typeface="Calibri"/>
              </a:rPr>
              <a:t>linear time </a:t>
            </a:r>
            <a:r>
              <a:rPr dirty="0" sz="2400" spc="-5">
                <a:latin typeface="Calibri"/>
                <a:cs typeface="Calibri"/>
              </a:rPr>
              <a:t>in the </a:t>
            </a:r>
            <a:r>
              <a:rPr dirty="0" sz="2400" spc="-10">
                <a:latin typeface="Calibri"/>
                <a:cs typeface="Calibri"/>
              </a:rPr>
              <a:t>degree </a:t>
            </a:r>
            <a:r>
              <a:rPr dirty="0" sz="2400" spc="-5">
                <a:latin typeface="Calibri"/>
                <a:cs typeface="Calibri"/>
              </a:rPr>
              <a:t>of</a:t>
            </a:r>
            <a:r>
              <a:rPr dirty="0" sz="2400" spc="65">
                <a:latin typeface="Calibri"/>
                <a:cs typeface="Calibri"/>
              </a:rPr>
              <a:t> </a:t>
            </a:r>
            <a:r>
              <a:rPr dirty="0" sz="2400" spc="25">
                <a:latin typeface="Cambria Math"/>
                <a:cs typeface="Cambria Math"/>
              </a:rPr>
              <a:t>𝑢</a:t>
            </a:r>
            <a:r>
              <a:rPr dirty="0" sz="2400" spc="25">
                <a:latin typeface="Calibri"/>
                <a:cs typeface="Calibri"/>
              </a:rPr>
              <a:t>!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8798" y="2544488"/>
            <a:ext cx="427355" cy="306070"/>
          </a:xfrm>
          <a:custGeom>
            <a:avLst/>
            <a:gdLst/>
            <a:ahLst/>
            <a:cxnLst/>
            <a:rect l="l" t="t" r="r" b="b"/>
            <a:pathLst>
              <a:path w="427355" h="306069">
                <a:moveTo>
                  <a:pt x="329628" y="0"/>
                </a:moveTo>
                <a:lnTo>
                  <a:pt x="325274" y="12414"/>
                </a:lnTo>
                <a:lnTo>
                  <a:pt x="342979" y="20098"/>
                </a:lnTo>
                <a:lnTo>
                  <a:pt x="358206" y="30734"/>
                </a:lnTo>
                <a:lnTo>
                  <a:pt x="389122" y="80035"/>
                </a:lnTo>
                <a:lnTo>
                  <a:pt x="398151" y="125301"/>
                </a:lnTo>
                <a:lnTo>
                  <a:pt x="399280" y="151395"/>
                </a:lnTo>
                <a:lnTo>
                  <a:pt x="398146" y="178371"/>
                </a:lnTo>
                <a:lnTo>
                  <a:pt x="389076" y="224886"/>
                </a:lnTo>
                <a:lnTo>
                  <a:pt x="370878" y="261213"/>
                </a:lnTo>
                <a:lnTo>
                  <a:pt x="325758" y="293438"/>
                </a:lnTo>
                <a:lnTo>
                  <a:pt x="329628" y="305854"/>
                </a:lnTo>
                <a:lnTo>
                  <a:pt x="371346" y="286284"/>
                </a:lnTo>
                <a:lnTo>
                  <a:pt x="402021" y="252406"/>
                </a:lnTo>
                <a:lnTo>
                  <a:pt x="420885" y="207039"/>
                </a:lnTo>
                <a:lnTo>
                  <a:pt x="427173" y="153007"/>
                </a:lnTo>
                <a:lnTo>
                  <a:pt x="425596" y="124968"/>
                </a:lnTo>
                <a:lnTo>
                  <a:pt x="412979" y="75269"/>
                </a:lnTo>
                <a:lnTo>
                  <a:pt x="387958" y="34810"/>
                </a:lnTo>
                <a:lnTo>
                  <a:pt x="351802" y="8006"/>
                </a:lnTo>
                <a:lnTo>
                  <a:pt x="329628" y="0"/>
                </a:lnTo>
                <a:close/>
              </a:path>
              <a:path w="427355" h="306069">
                <a:moveTo>
                  <a:pt x="97543" y="0"/>
                </a:moveTo>
                <a:lnTo>
                  <a:pt x="55926" y="19609"/>
                </a:lnTo>
                <a:lnTo>
                  <a:pt x="25232" y="53609"/>
                </a:lnTo>
                <a:lnTo>
                  <a:pt x="6307" y="99055"/>
                </a:lnTo>
                <a:lnTo>
                  <a:pt x="0" y="153007"/>
                </a:lnTo>
                <a:lnTo>
                  <a:pt x="1571" y="181106"/>
                </a:lnTo>
                <a:lnTo>
                  <a:pt x="14147" y="230806"/>
                </a:lnTo>
                <a:lnTo>
                  <a:pt x="39107" y="271134"/>
                </a:lnTo>
                <a:lnTo>
                  <a:pt x="75303" y="297858"/>
                </a:lnTo>
                <a:lnTo>
                  <a:pt x="97543" y="305854"/>
                </a:lnTo>
                <a:lnTo>
                  <a:pt x="101413" y="293438"/>
                </a:lnTo>
                <a:lnTo>
                  <a:pt x="83985" y="285720"/>
                </a:lnTo>
                <a:lnTo>
                  <a:pt x="68945" y="274978"/>
                </a:lnTo>
                <a:lnTo>
                  <a:pt x="46031" y="244425"/>
                </a:lnTo>
                <a:lnTo>
                  <a:pt x="32426" y="202868"/>
                </a:lnTo>
                <a:lnTo>
                  <a:pt x="27891" y="151395"/>
                </a:lnTo>
                <a:lnTo>
                  <a:pt x="29025" y="125301"/>
                </a:lnTo>
                <a:lnTo>
                  <a:pt x="38095" y="80035"/>
                </a:lnTo>
                <a:lnTo>
                  <a:pt x="56324" y="44323"/>
                </a:lnTo>
                <a:lnTo>
                  <a:pt x="101897" y="12414"/>
                </a:lnTo>
                <a:lnTo>
                  <a:pt x="975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54085" y="2276426"/>
            <a:ext cx="2670810" cy="842010"/>
          </a:xfrm>
          <a:custGeom>
            <a:avLst/>
            <a:gdLst/>
            <a:ahLst/>
            <a:cxnLst/>
            <a:rect l="l" t="t" r="r" b="b"/>
            <a:pathLst>
              <a:path w="2670810" h="842010">
                <a:moveTo>
                  <a:pt x="2526491" y="0"/>
                </a:moveTo>
                <a:lnTo>
                  <a:pt x="2518913" y="12091"/>
                </a:lnTo>
                <a:lnTo>
                  <a:pt x="2545758" y="44328"/>
                </a:lnTo>
                <a:lnTo>
                  <a:pt x="2569378" y="82832"/>
                </a:lnTo>
                <a:lnTo>
                  <a:pt x="2589774" y="127603"/>
                </a:lnTo>
                <a:lnTo>
                  <a:pt x="2606945" y="178643"/>
                </a:lnTo>
                <a:lnTo>
                  <a:pt x="2618148" y="222994"/>
                </a:lnTo>
                <a:lnTo>
                  <a:pt x="2626861" y="269370"/>
                </a:lnTo>
                <a:lnTo>
                  <a:pt x="2633084" y="317772"/>
                </a:lnTo>
                <a:lnTo>
                  <a:pt x="2636818" y="368199"/>
                </a:lnTo>
                <a:lnTo>
                  <a:pt x="2638063" y="420650"/>
                </a:lnTo>
                <a:lnTo>
                  <a:pt x="2636825" y="472076"/>
                </a:lnTo>
                <a:lnTo>
                  <a:pt x="2633110" y="521877"/>
                </a:lnTo>
                <a:lnTo>
                  <a:pt x="2626919" y="570052"/>
                </a:lnTo>
                <a:lnTo>
                  <a:pt x="2618251" y="616603"/>
                </a:lnTo>
                <a:lnTo>
                  <a:pt x="2607107" y="661529"/>
                </a:lnTo>
                <a:lnTo>
                  <a:pt x="2589986" y="713414"/>
                </a:lnTo>
                <a:lnTo>
                  <a:pt x="2569580" y="758790"/>
                </a:lnTo>
                <a:lnTo>
                  <a:pt x="2545889" y="797657"/>
                </a:lnTo>
                <a:lnTo>
                  <a:pt x="2518913" y="830014"/>
                </a:lnTo>
                <a:lnTo>
                  <a:pt x="2526491" y="841945"/>
                </a:lnTo>
                <a:lnTo>
                  <a:pt x="2557916" y="810117"/>
                </a:lnTo>
                <a:lnTo>
                  <a:pt x="2585925" y="771064"/>
                </a:lnTo>
                <a:lnTo>
                  <a:pt x="2610517" y="724785"/>
                </a:lnTo>
                <a:lnTo>
                  <a:pt x="2631694" y="671282"/>
                </a:lnTo>
                <a:lnTo>
                  <a:pt x="2645712" y="624696"/>
                </a:lnTo>
                <a:lnTo>
                  <a:pt x="2656614" y="576324"/>
                </a:lnTo>
                <a:lnTo>
                  <a:pt x="2664401" y="526165"/>
                </a:lnTo>
                <a:lnTo>
                  <a:pt x="2669073" y="474220"/>
                </a:lnTo>
                <a:lnTo>
                  <a:pt x="2670631" y="420489"/>
                </a:lnTo>
                <a:lnTo>
                  <a:pt x="2669073" y="366070"/>
                </a:lnTo>
                <a:lnTo>
                  <a:pt x="2664401" y="313741"/>
                </a:lnTo>
                <a:lnTo>
                  <a:pt x="2656614" y="263501"/>
                </a:lnTo>
                <a:lnTo>
                  <a:pt x="2645712" y="215352"/>
                </a:lnTo>
                <a:lnTo>
                  <a:pt x="2631694" y="169292"/>
                </a:lnTo>
                <a:lnTo>
                  <a:pt x="2610517" y="116509"/>
                </a:lnTo>
                <a:lnTo>
                  <a:pt x="2585925" y="70699"/>
                </a:lnTo>
                <a:lnTo>
                  <a:pt x="2557916" y="31863"/>
                </a:lnTo>
                <a:lnTo>
                  <a:pt x="2526491" y="0"/>
                </a:lnTo>
                <a:close/>
              </a:path>
              <a:path w="2670810" h="842010">
                <a:moveTo>
                  <a:pt x="144135" y="0"/>
                </a:moveTo>
                <a:lnTo>
                  <a:pt x="112710" y="31863"/>
                </a:lnTo>
                <a:lnTo>
                  <a:pt x="84701" y="70699"/>
                </a:lnTo>
                <a:lnTo>
                  <a:pt x="60109" y="116509"/>
                </a:lnTo>
                <a:lnTo>
                  <a:pt x="38932" y="169292"/>
                </a:lnTo>
                <a:lnTo>
                  <a:pt x="24915" y="215352"/>
                </a:lnTo>
                <a:lnTo>
                  <a:pt x="14012" y="263501"/>
                </a:lnTo>
                <a:lnTo>
                  <a:pt x="6225" y="313741"/>
                </a:lnTo>
                <a:lnTo>
                  <a:pt x="1552" y="366070"/>
                </a:lnTo>
                <a:lnTo>
                  <a:pt x="0" y="420650"/>
                </a:lnTo>
                <a:lnTo>
                  <a:pt x="1552" y="474220"/>
                </a:lnTo>
                <a:lnTo>
                  <a:pt x="6225" y="526165"/>
                </a:lnTo>
                <a:lnTo>
                  <a:pt x="14012" y="576324"/>
                </a:lnTo>
                <a:lnTo>
                  <a:pt x="24915" y="624696"/>
                </a:lnTo>
                <a:lnTo>
                  <a:pt x="38932" y="671282"/>
                </a:lnTo>
                <a:lnTo>
                  <a:pt x="60109" y="724785"/>
                </a:lnTo>
                <a:lnTo>
                  <a:pt x="84701" y="771064"/>
                </a:lnTo>
                <a:lnTo>
                  <a:pt x="112710" y="810117"/>
                </a:lnTo>
                <a:lnTo>
                  <a:pt x="144135" y="841945"/>
                </a:lnTo>
                <a:lnTo>
                  <a:pt x="151713" y="830014"/>
                </a:lnTo>
                <a:lnTo>
                  <a:pt x="124737" y="797657"/>
                </a:lnTo>
                <a:lnTo>
                  <a:pt x="101046" y="758790"/>
                </a:lnTo>
                <a:lnTo>
                  <a:pt x="80641" y="713414"/>
                </a:lnTo>
                <a:lnTo>
                  <a:pt x="63520" y="661529"/>
                </a:lnTo>
                <a:lnTo>
                  <a:pt x="52376" y="616603"/>
                </a:lnTo>
                <a:lnTo>
                  <a:pt x="43708" y="570052"/>
                </a:lnTo>
                <a:lnTo>
                  <a:pt x="37517" y="521877"/>
                </a:lnTo>
                <a:lnTo>
                  <a:pt x="33802" y="472076"/>
                </a:lnTo>
                <a:lnTo>
                  <a:pt x="32568" y="420489"/>
                </a:lnTo>
                <a:lnTo>
                  <a:pt x="33805" y="368199"/>
                </a:lnTo>
                <a:lnTo>
                  <a:pt x="37530" y="317772"/>
                </a:lnTo>
                <a:lnTo>
                  <a:pt x="43737" y="269370"/>
                </a:lnTo>
                <a:lnTo>
                  <a:pt x="52427" y="222994"/>
                </a:lnTo>
                <a:lnTo>
                  <a:pt x="63600" y="178643"/>
                </a:lnTo>
                <a:lnTo>
                  <a:pt x="80746" y="127603"/>
                </a:lnTo>
                <a:lnTo>
                  <a:pt x="101147" y="82832"/>
                </a:lnTo>
                <a:lnTo>
                  <a:pt x="124802" y="44328"/>
                </a:lnTo>
                <a:lnTo>
                  <a:pt x="151713" y="12091"/>
                </a:lnTo>
                <a:lnTo>
                  <a:pt x="1441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174430" y="2190829"/>
            <a:ext cx="4274185" cy="10756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924560">
              <a:lnSpc>
                <a:spcPts val="1175"/>
              </a:lnSpc>
            </a:pPr>
            <a:r>
              <a:rPr dirty="0" sz="1900" spc="530">
                <a:latin typeface="Cambria Math"/>
                <a:cs typeface="Cambria Math"/>
              </a:rPr>
              <a:t>-</a:t>
            </a:r>
            <a:endParaRPr sz="1900">
              <a:latin typeface="Cambria Math"/>
              <a:cs typeface="Cambria Math"/>
            </a:endParaRPr>
          </a:p>
          <a:p>
            <a:pPr marL="229235">
              <a:lnSpc>
                <a:spcPts val="2110"/>
              </a:lnSpc>
              <a:tabLst>
                <a:tab pos="1429385" algn="l"/>
              </a:tabLst>
            </a:pPr>
            <a:r>
              <a:rPr dirty="0" baseline="-41666" sz="3900" spc="1687">
                <a:latin typeface="Cambria Math"/>
                <a:cs typeface="Cambria Math"/>
              </a:rPr>
              <a:t>%	</a:t>
            </a:r>
            <a:r>
              <a:rPr dirty="0" sz="2600" spc="5">
                <a:latin typeface="Cambria Math"/>
                <a:cs typeface="Cambria Math"/>
              </a:rPr>
              <a:t>exp(−𝑭</a:t>
            </a:r>
            <a:r>
              <a:rPr dirty="0" baseline="-16081" sz="2850" spc="7">
                <a:latin typeface="Cambria Math"/>
                <a:cs typeface="Cambria Math"/>
              </a:rPr>
              <a:t>𝒖</a:t>
            </a:r>
            <a:r>
              <a:rPr dirty="0" sz="2600" spc="5">
                <a:latin typeface="Cambria Math"/>
                <a:cs typeface="Cambria Math"/>
              </a:rPr>
              <a:t>𝑭</a:t>
            </a:r>
            <a:r>
              <a:rPr dirty="0" baseline="-16081" sz="2850" spc="7">
                <a:latin typeface="Cambria Math"/>
                <a:cs typeface="Cambria Math"/>
              </a:rPr>
              <a:t>𝒗</a:t>
            </a:r>
            <a:r>
              <a:rPr dirty="0" sz="2600" spc="5">
                <a:latin typeface="Cambria Math"/>
                <a:cs typeface="Cambria Math"/>
              </a:rPr>
              <a:t>)</a:t>
            </a:r>
            <a:endParaRPr sz="2600">
              <a:latin typeface="Cambria Math"/>
              <a:cs typeface="Cambria Math"/>
            </a:endParaRPr>
          </a:p>
          <a:p>
            <a:pPr marL="1141730">
              <a:lnSpc>
                <a:spcPts val="875"/>
              </a:lnSpc>
              <a:spcBef>
                <a:spcPts val="695"/>
              </a:spcBef>
              <a:tabLst>
                <a:tab pos="3750310" algn="l"/>
              </a:tabLst>
            </a:pPr>
            <a:r>
              <a:rPr dirty="0" sz="2600">
                <a:latin typeface="Cambria Math"/>
                <a:cs typeface="Cambria Math"/>
              </a:rPr>
              <a:t>1 − </a:t>
            </a:r>
            <a:r>
              <a:rPr dirty="0" sz="2600" spc="5">
                <a:latin typeface="Cambria Math"/>
                <a:cs typeface="Cambria Math"/>
              </a:rPr>
              <a:t>exp(−𝑭</a:t>
            </a:r>
            <a:r>
              <a:rPr dirty="0" baseline="-16081" sz="2850" spc="7">
                <a:latin typeface="Cambria Math"/>
                <a:cs typeface="Cambria Math"/>
              </a:rPr>
              <a:t>𝒖</a:t>
            </a:r>
            <a:r>
              <a:rPr dirty="0" sz="2600" spc="5">
                <a:latin typeface="Cambria Math"/>
                <a:cs typeface="Cambria Math"/>
              </a:rPr>
              <a:t>𝑭</a:t>
            </a:r>
            <a:r>
              <a:rPr dirty="0" baseline="-16081" sz="2850" spc="7">
                <a:latin typeface="Cambria Math"/>
                <a:cs typeface="Cambria Math"/>
              </a:rPr>
              <a:t>𝒗</a:t>
            </a:r>
            <a:r>
              <a:rPr dirty="0" sz="2600" spc="5">
                <a:latin typeface="Cambria Math"/>
                <a:cs typeface="Cambria Math"/>
              </a:rPr>
              <a:t>)	</a:t>
            </a:r>
            <a:r>
              <a:rPr dirty="0" baseline="39529" sz="3900">
                <a:latin typeface="Cambria Math"/>
                <a:cs typeface="Cambria Math"/>
              </a:rPr>
              <a:t>⋅</a:t>
            </a:r>
            <a:r>
              <a:rPr dirty="0" baseline="39529" sz="3900" spc="-150">
                <a:latin typeface="Cambria Math"/>
                <a:cs typeface="Cambria Math"/>
              </a:rPr>
              <a:t> </a:t>
            </a:r>
            <a:r>
              <a:rPr dirty="0" baseline="39529" sz="3900">
                <a:latin typeface="Cambria Math"/>
                <a:cs typeface="Cambria Math"/>
              </a:rPr>
              <a:t>𝑭</a:t>
            </a:r>
            <a:r>
              <a:rPr dirty="0" baseline="38011" sz="2850">
                <a:latin typeface="Cambria Math"/>
                <a:cs typeface="Cambria Math"/>
              </a:rPr>
              <a:t>𝒗</a:t>
            </a:r>
            <a:endParaRPr baseline="38011" sz="2850">
              <a:latin typeface="Cambria Math"/>
              <a:cs typeface="Cambria Math"/>
            </a:endParaRPr>
          </a:p>
          <a:p>
            <a:pPr marL="2812415">
              <a:lnSpc>
                <a:spcPts val="1120"/>
              </a:lnSpc>
            </a:pPr>
            <a:r>
              <a:rPr dirty="0" sz="1900" spc="530">
                <a:latin typeface="Cambria Math"/>
                <a:cs typeface="Cambria Math"/>
              </a:rPr>
              <a:t>-</a:t>
            </a:r>
            <a:endParaRPr sz="19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r>
              <a:rPr dirty="0" sz="1900" spc="50">
                <a:latin typeface="Cambria Math"/>
                <a:cs typeface="Cambria Math"/>
              </a:rPr>
              <a:t>&amp;∈𝒩(*)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54443" y="2478213"/>
            <a:ext cx="1311910" cy="788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31140">
              <a:lnSpc>
                <a:spcPts val="2990"/>
              </a:lnSpc>
              <a:tabLst>
                <a:tab pos="955675" algn="l"/>
              </a:tabLst>
            </a:pPr>
            <a:r>
              <a:rPr dirty="0" sz="2600" spc="1125">
                <a:latin typeface="Cambria Math"/>
                <a:cs typeface="Cambria Math"/>
              </a:rPr>
              <a:t>%</a:t>
            </a:r>
            <a:r>
              <a:rPr dirty="0" sz="2600" spc="1125">
                <a:latin typeface="Cambria Math"/>
                <a:cs typeface="Cambria Math"/>
              </a:rPr>
              <a:t>	𝑭</a:t>
            </a:r>
            <a:r>
              <a:rPr dirty="0" baseline="-16081" sz="2850" spc="1687">
                <a:latin typeface="Cambria Math"/>
                <a:cs typeface="Cambria Math"/>
              </a:rPr>
              <a:t>𝒗</a:t>
            </a:r>
            <a:endParaRPr baseline="-16081" sz="28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r>
              <a:rPr dirty="0" sz="1900" spc="50">
                <a:latin typeface="Cambria Math"/>
                <a:cs typeface="Cambria Math"/>
              </a:rPr>
              <a:t>&amp;∉𝒩(*)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44890" y="4208191"/>
            <a:ext cx="926465" cy="979805"/>
          </a:xfrm>
          <a:prstGeom prst="rect">
            <a:avLst/>
          </a:prstGeom>
        </p:spPr>
        <p:txBody>
          <a:bodyPr wrap="square" lIns="0" tIns="1676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20"/>
              </a:spcBef>
            </a:pPr>
            <a:r>
              <a:rPr dirty="0" sz="2600" spc="1125">
                <a:latin typeface="Cambria Math"/>
                <a:cs typeface="Cambria Math"/>
              </a:rPr>
              <a:t>%</a:t>
            </a:r>
            <a:endParaRPr sz="26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890"/>
              </a:spcBef>
            </a:pPr>
            <a:r>
              <a:rPr dirty="0" sz="1900" spc="-195">
                <a:latin typeface="Cambria Math"/>
                <a:cs typeface="Cambria Math"/>
              </a:rPr>
              <a:t>&amp;</a:t>
            </a:r>
            <a:r>
              <a:rPr dirty="0" sz="1900" spc="-5">
                <a:latin typeface="Cambria Math"/>
                <a:cs typeface="Cambria Math"/>
              </a:rPr>
              <a:t>∉</a:t>
            </a:r>
            <a:r>
              <a:rPr dirty="0" sz="1900" spc="65">
                <a:latin typeface="Cambria Math"/>
                <a:cs typeface="Cambria Math"/>
              </a:rPr>
              <a:t>𝒩</a:t>
            </a:r>
            <a:r>
              <a:rPr dirty="0" sz="1900" spc="-5">
                <a:latin typeface="Cambria Math"/>
                <a:cs typeface="Cambria Math"/>
              </a:rPr>
              <a:t>(</a:t>
            </a:r>
            <a:r>
              <a:rPr dirty="0" sz="1900" spc="450">
                <a:latin typeface="Cambria Math"/>
                <a:cs typeface="Cambria Math"/>
              </a:rPr>
              <a:t>*</a:t>
            </a:r>
            <a:r>
              <a:rPr dirty="0" sz="1900">
                <a:latin typeface="Cambria Math"/>
                <a:cs typeface="Cambria Math"/>
              </a:rPr>
              <a:t>)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36213" y="4392357"/>
            <a:ext cx="848994" cy="788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990"/>
              </a:lnSpc>
            </a:pPr>
            <a:r>
              <a:rPr dirty="0" sz="2600" spc="1125">
                <a:latin typeface="Cambria Math"/>
                <a:cs typeface="Cambria Math"/>
              </a:rPr>
              <a:t>%</a:t>
            </a:r>
            <a:r>
              <a:rPr dirty="0" sz="2600" spc="-240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𝑭</a:t>
            </a:r>
            <a:r>
              <a:rPr dirty="0" baseline="-16081" sz="2850">
                <a:latin typeface="Cambria Math"/>
                <a:cs typeface="Cambria Math"/>
              </a:rPr>
              <a:t>𝒗</a:t>
            </a:r>
            <a:endParaRPr baseline="-16081" sz="2850">
              <a:latin typeface="Cambria Math"/>
              <a:cs typeface="Cambria Math"/>
            </a:endParaRPr>
          </a:p>
          <a:p>
            <a:pPr marL="147320">
              <a:lnSpc>
                <a:spcPct val="100000"/>
              </a:lnSpc>
              <a:spcBef>
                <a:spcPts val="890"/>
              </a:spcBef>
            </a:pPr>
            <a:r>
              <a:rPr dirty="0" sz="1900" spc="-235">
                <a:latin typeface="Cambria Math"/>
                <a:cs typeface="Cambria Math"/>
              </a:rPr>
              <a:t>&amp;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00629" y="4208191"/>
            <a:ext cx="4085590" cy="979805"/>
          </a:xfrm>
          <a:prstGeom prst="rect">
            <a:avLst/>
          </a:prstGeom>
        </p:spPr>
        <p:txBody>
          <a:bodyPr wrap="square" lIns="0" tIns="1676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20"/>
              </a:spcBef>
              <a:tabLst>
                <a:tab pos="1670685" algn="l"/>
                <a:tab pos="2993390" algn="l"/>
                <a:tab pos="3716020" algn="l"/>
              </a:tabLst>
            </a:pPr>
            <a:r>
              <a:rPr dirty="0" sz="2600" spc="-509">
                <a:latin typeface="Cambria Math"/>
                <a:cs typeface="Cambria Math"/>
              </a:rPr>
              <a:t>𝐹</a:t>
            </a:r>
            <a:r>
              <a:rPr dirty="0" baseline="-16081" sz="2850" spc="-352">
                <a:latin typeface="Cambria Math"/>
                <a:cs typeface="Cambria Math"/>
              </a:rPr>
              <a:t>&amp;</a:t>
            </a:r>
            <a:r>
              <a:rPr dirty="0" baseline="-16081" sz="2850">
                <a:latin typeface="Cambria Math"/>
                <a:cs typeface="Cambria Math"/>
              </a:rPr>
              <a:t> </a:t>
            </a:r>
            <a:r>
              <a:rPr dirty="0" baseline="-16081" sz="2850" spc="-292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=	− 𝑭</a:t>
            </a:r>
            <a:r>
              <a:rPr dirty="0" baseline="-16081" sz="2850">
                <a:latin typeface="Cambria Math"/>
                <a:cs typeface="Cambria Math"/>
              </a:rPr>
              <a:t>𝒖</a:t>
            </a:r>
            <a:r>
              <a:rPr dirty="0" baseline="-16081" sz="2850" spc="112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−	</a:t>
            </a:r>
            <a:r>
              <a:rPr dirty="0" sz="2600" spc="1125">
                <a:latin typeface="Cambria Math"/>
                <a:cs typeface="Cambria Math"/>
              </a:rPr>
              <a:t>%</a:t>
            </a:r>
            <a:r>
              <a:rPr dirty="0" sz="2600">
                <a:latin typeface="Cambria Math"/>
                <a:cs typeface="Cambria Math"/>
              </a:rPr>
              <a:t>	𝑭</a:t>
            </a:r>
            <a:r>
              <a:rPr dirty="0" baseline="-16081" sz="2850">
                <a:latin typeface="Cambria Math"/>
                <a:cs typeface="Cambria Math"/>
              </a:rPr>
              <a:t>𝒗</a:t>
            </a:r>
            <a:endParaRPr baseline="-16081" sz="2850">
              <a:latin typeface="Cambria Math"/>
              <a:cs typeface="Cambria Math"/>
            </a:endParaRPr>
          </a:p>
          <a:p>
            <a:pPr algn="r" marR="415925">
              <a:lnSpc>
                <a:spcPct val="100000"/>
              </a:lnSpc>
              <a:spcBef>
                <a:spcPts val="890"/>
              </a:spcBef>
            </a:pPr>
            <a:r>
              <a:rPr dirty="0" sz="1900" spc="-195">
                <a:latin typeface="Cambria Math"/>
                <a:cs typeface="Cambria Math"/>
              </a:rPr>
              <a:t>&amp;</a:t>
            </a:r>
            <a:r>
              <a:rPr dirty="0" sz="1900">
                <a:latin typeface="Cambria Math"/>
                <a:cs typeface="Cambria Math"/>
              </a:rPr>
              <a:t>∈</a:t>
            </a:r>
            <a:r>
              <a:rPr dirty="0" sz="1900" spc="65">
                <a:latin typeface="Cambria Math"/>
                <a:cs typeface="Cambria Math"/>
              </a:rPr>
              <a:t>𝒩</a:t>
            </a:r>
            <a:r>
              <a:rPr dirty="0" sz="1900" spc="-5">
                <a:latin typeface="Cambria Math"/>
                <a:cs typeface="Cambria Math"/>
              </a:rPr>
              <a:t>(</a:t>
            </a:r>
            <a:r>
              <a:rPr dirty="0" sz="1900" spc="450">
                <a:latin typeface="Cambria Math"/>
                <a:cs typeface="Cambria Math"/>
              </a:rPr>
              <a:t>*</a:t>
            </a:r>
            <a:r>
              <a:rPr dirty="0" sz="1900">
                <a:latin typeface="Cambria Math"/>
                <a:cs typeface="Cambria Math"/>
              </a:rPr>
              <a:t>)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085422" y="2186161"/>
            <a:ext cx="4446270" cy="1090295"/>
          </a:xfrm>
          <a:custGeom>
            <a:avLst/>
            <a:gdLst/>
            <a:ahLst/>
            <a:cxnLst/>
            <a:rect l="l" t="t" r="r" b="b"/>
            <a:pathLst>
              <a:path w="4446270" h="1090295">
                <a:moveTo>
                  <a:pt x="0" y="0"/>
                </a:moveTo>
                <a:lnTo>
                  <a:pt x="4446005" y="0"/>
                </a:lnTo>
                <a:lnTo>
                  <a:pt x="4446005" y="1090151"/>
                </a:lnTo>
                <a:lnTo>
                  <a:pt x="0" y="1090151"/>
                </a:lnTo>
                <a:lnTo>
                  <a:pt x="0" y="0"/>
                </a:lnTo>
                <a:close/>
              </a:path>
            </a:pathLst>
          </a:custGeom>
          <a:solidFill>
            <a:srgbClr val="F0AD00">
              <a:alpha val="3803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164162" y="1824227"/>
            <a:ext cx="34328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Linear in </a:t>
            </a:r>
            <a:r>
              <a:rPr dirty="0" sz="2000" spc="-5">
                <a:latin typeface="Arial"/>
                <a:cs typeface="Arial"/>
              </a:rPr>
              <a:t>the degree </a:t>
            </a:r>
            <a:r>
              <a:rPr dirty="0" sz="2000">
                <a:latin typeface="Arial"/>
                <a:cs typeface="Arial"/>
              </a:rPr>
              <a:t>of </a:t>
            </a:r>
            <a:r>
              <a:rPr dirty="0" sz="2000">
                <a:latin typeface="Cambria Math"/>
                <a:cs typeface="Cambria Math"/>
              </a:rPr>
              <a:t>𝑢</a:t>
            </a:r>
            <a:r>
              <a:rPr dirty="0" sz="2000" spc="55">
                <a:latin typeface="Cambria Math"/>
                <a:cs typeface="Cambria Math"/>
              </a:rPr>
              <a:t> </a:t>
            </a:r>
            <a:r>
              <a:rPr dirty="0" sz="2000" spc="-5">
                <a:latin typeface="Arial"/>
                <a:cs typeface="Arial"/>
              </a:rPr>
              <a:t>(fast)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66962" y="1808988"/>
            <a:ext cx="28454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0000FF"/>
                </a:solidFill>
                <a:latin typeface="Arial"/>
                <a:cs typeface="Arial"/>
              </a:rPr>
              <a:t>Linear in </a:t>
            </a:r>
            <a:r>
              <a:rPr dirty="0" sz="2000" b="1">
                <a:solidFill>
                  <a:srgbClr val="0000FF"/>
                </a:solidFill>
                <a:latin typeface="Arial"/>
                <a:cs typeface="Arial"/>
              </a:rPr>
              <a:t>#nodes</a:t>
            </a:r>
            <a:r>
              <a:rPr dirty="0" sz="2000" spc="-9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Arial"/>
                <a:cs typeface="Arial"/>
              </a:rPr>
              <a:t>(slow)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850512" y="2237204"/>
            <a:ext cx="1517650" cy="1090295"/>
          </a:xfrm>
          <a:custGeom>
            <a:avLst/>
            <a:gdLst/>
            <a:ahLst/>
            <a:cxnLst/>
            <a:rect l="l" t="t" r="r" b="b"/>
            <a:pathLst>
              <a:path w="1517650" h="1090295">
                <a:moveTo>
                  <a:pt x="0" y="0"/>
                </a:moveTo>
                <a:lnTo>
                  <a:pt x="1517202" y="0"/>
                </a:lnTo>
                <a:lnTo>
                  <a:pt x="1517202" y="1090150"/>
                </a:lnTo>
                <a:lnTo>
                  <a:pt x="0" y="1090150"/>
                </a:lnTo>
                <a:lnTo>
                  <a:pt x="0" y="0"/>
                </a:lnTo>
                <a:close/>
              </a:path>
            </a:pathLst>
          </a:custGeom>
          <a:solidFill>
            <a:srgbClr val="00B0F0">
              <a:alpha val="3803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702310" y="4167074"/>
            <a:ext cx="989965" cy="1028700"/>
          </a:xfrm>
          <a:custGeom>
            <a:avLst/>
            <a:gdLst/>
            <a:ahLst/>
            <a:cxnLst/>
            <a:rect l="l" t="t" r="r" b="b"/>
            <a:pathLst>
              <a:path w="989964" h="1028700">
                <a:moveTo>
                  <a:pt x="0" y="0"/>
                </a:moveTo>
                <a:lnTo>
                  <a:pt x="989432" y="0"/>
                </a:lnTo>
                <a:lnTo>
                  <a:pt x="989432" y="1028180"/>
                </a:lnTo>
                <a:lnTo>
                  <a:pt x="0" y="1028180"/>
                </a:lnTo>
                <a:lnTo>
                  <a:pt x="0" y="0"/>
                </a:lnTo>
                <a:close/>
              </a:path>
            </a:pathLst>
          </a:custGeom>
          <a:solidFill>
            <a:srgbClr val="F0AD00">
              <a:alpha val="3803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18108" y="2449068"/>
            <a:ext cx="6957695" cy="1699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3050">
              <a:lnSpc>
                <a:spcPct val="100000"/>
              </a:lnSpc>
              <a:spcBef>
                <a:spcPts val="100"/>
              </a:spcBef>
              <a:tabLst>
                <a:tab pos="778510" algn="l"/>
                <a:tab pos="1217930" algn="l"/>
                <a:tab pos="5916295" algn="l"/>
              </a:tabLst>
            </a:pPr>
            <a:r>
              <a:rPr dirty="0" sz="2600">
                <a:latin typeface="Cambria Math"/>
                <a:cs typeface="Cambria Math"/>
              </a:rPr>
              <a:t>∇ℓ	𝑭	=	−</a:t>
            </a:r>
            <a:endParaRPr sz="26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550">
              <a:latin typeface="Times New Roman"/>
              <a:cs typeface="Times New Roman"/>
            </a:endParaRPr>
          </a:p>
          <a:p>
            <a:pPr marL="332740" indent="-320040">
              <a:lnSpc>
                <a:spcPts val="382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solidFill>
                  <a:srgbClr val="0000FF"/>
                </a:solidFill>
                <a:latin typeface="Calibri"/>
                <a:cs typeface="Calibri"/>
              </a:rPr>
              <a:t>Naïve </a:t>
            </a:r>
            <a:r>
              <a:rPr dirty="0" sz="3200" spc="-15">
                <a:solidFill>
                  <a:srgbClr val="0000FF"/>
                </a:solidFill>
                <a:latin typeface="Calibri"/>
                <a:cs typeface="Calibri"/>
              </a:rPr>
              <a:t>gradient </a:t>
            </a:r>
            <a:r>
              <a:rPr dirty="0" sz="3200" spc="-10">
                <a:solidFill>
                  <a:srgbClr val="0000FF"/>
                </a:solidFill>
                <a:latin typeface="Calibri"/>
                <a:cs typeface="Calibri"/>
              </a:rPr>
              <a:t>ascent </a:t>
            </a:r>
            <a:r>
              <a:rPr dirty="0" sz="3200">
                <a:solidFill>
                  <a:srgbClr val="0000FF"/>
                </a:solidFill>
                <a:latin typeface="Calibri"/>
                <a:cs typeface="Calibri"/>
              </a:rPr>
              <a:t>is </a:t>
            </a:r>
            <a:r>
              <a:rPr dirty="0" sz="3200" spc="-5">
                <a:solidFill>
                  <a:srgbClr val="0000FF"/>
                </a:solidFill>
                <a:latin typeface="Calibri"/>
                <a:cs typeface="Calibri"/>
              </a:rPr>
              <a:t>slow! </a:t>
            </a:r>
            <a:r>
              <a:rPr dirty="0" sz="3200" spc="-10" b="1">
                <a:solidFill>
                  <a:srgbClr val="FF0066"/>
                </a:solidFill>
                <a:latin typeface="Calibri"/>
                <a:cs typeface="Calibri"/>
              </a:rPr>
              <a:t>However:</a:t>
            </a:r>
            <a:endParaRPr sz="3200">
              <a:latin typeface="Calibri"/>
              <a:cs typeface="Calibri"/>
            </a:endParaRPr>
          </a:p>
          <a:p>
            <a:pPr marL="3067050">
              <a:lnSpc>
                <a:spcPts val="2140"/>
              </a:lnSpc>
            </a:pP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Can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be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efficiently</a:t>
            </a:r>
            <a:r>
              <a:rPr dirty="0" sz="1800" spc="-2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updated!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50"/>
              <a:t> </a:t>
            </a:r>
            <a:r>
              <a:rPr dirty="0" spc="-5"/>
              <a:t>Graphs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62</a:t>
            </a:fld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94080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4641850" cy="197358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32740" marR="5080" indent="-320040">
              <a:lnSpc>
                <a:spcPct val="99800"/>
              </a:lnSpc>
              <a:spcBef>
                <a:spcPts val="10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FF0066"/>
                </a:solidFill>
              </a:rPr>
              <a:t>BigCLAM </a:t>
            </a:r>
            <a:r>
              <a:rPr dirty="0" spc="-10" b="0">
                <a:latin typeface="Calibri"/>
                <a:cs typeface="Calibri"/>
              </a:rPr>
              <a:t>defines </a:t>
            </a:r>
            <a:r>
              <a:rPr dirty="0" b="0">
                <a:latin typeface="Calibri"/>
                <a:cs typeface="Calibri"/>
              </a:rPr>
              <a:t>the  </a:t>
            </a:r>
            <a:r>
              <a:rPr dirty="0" spc="-5" b="0">
                <a:latin typeface="Calibri"/>
                <a:cs typeface="Calibri"/>
              </a:rPr>
              <a:t>model </a:t>
            </a:r>
            <a:r>
              <a:rPr dirty="0" spc="-15" b="0">
                <a:latin typeface="Calibri"/>
                <a:cs typeface="Calibri"/>
              </a:rPr>
              <a:t>to </a:t>
            </a:r>
            <a:r>
              <a:rPr dirty="0" spc="-25" b="0">
                <a:latin typeface="Calibri"/>
                <a:cs typeface="Calibri"/>
              </a:rPr>
              <a:t>generate </a:t>
            </a:r>
            <a:r>
              <a:rPr dirty="0" b="0">
                <a:latin typeface="Calibri"/>
                <a:cs typeface="Calibri"/>
              </a:rPr>
              <a:t>a  </a:t>
            </a:r>
            <a:r>
              <a:rPr dirty="0" spc="-15" b="0">
                <a:latin typeface="Calibri"/>
                <a:cs typeface="Calibri"/>
              </a:rPr>
              <a:t>network </a:t>
            </a:r>
            <a:r>
              <a:rPr dirty="0" spc="-5" b="0">
                <a:latin typeface="Calibri"/>
                <a:cs typeface="Calibri"/>
              </a:rPr>
              <a:t>with </a:t>
            </a:r>
            <a:r>
              <a:rPr dirty="0" spc="-10"/>
              <a:t>overlapping  </a:t>
            </a:r>
            <a:r>
              <a:rPr dirty="0" spc="-5"/>
              <a:t>community</a:t>
            </a:r>
            <a:r>
              <a:rPr dirty="0" spc="-95"/>
              <a:t> </a:t>
            </a:r>
            <a:r>
              <a:rPr dirty="0" spc="-10"/>
              <a:t>structure</a:t>
            </a:r>
            <a:r>
              <a:rPr dirty="0" spc="-10" b="0">
                <a:latin typeface="Calibri"/>
                <a:cs typeface="Calibri"/>
              </a:rPr>
              <a:t>.</a:t>
            </a:r>
          </a:p>
        </p:txBody>
      </p:sp>
      <p:sp>
        <p:nvSpPr>
          <p:cNvPr id="4" name="object 4"/>
          <p:cNvSpPr/>
          <p:nvPr/>
        </p:nvSpPr>
        <p:spPr>
          <a:xfrm>
            <a:off x="7212083" y="2219316"/>
            <a:ext cx="1726176" cy="12415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693228" y="1295400"/>
            <a:ext cx="2082228" cy="93095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400800" y="2505455"/>
            <a:ext cx="749807" cy="7741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450402" y="2531364"/>
            <a:ext cx="649006" cy="6696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450403" y="2531364"/>
            <a:ext cx="649605" cy="669925"/>
          </a:xfrm>
          <a:custGeom>
            <a:avLst/>
            <a:gdLst/>
            <a:ahLst/>
            <a:cxnLst/>
            <a:rect l="l" t="t" r="r" b="b"/>
            <a:pathLst>
              <a:path w="649604" h="669925">
                <a:moveTo>
                  <a:pt x="153639" y="0"/>
                </a:moveTo>
                <a:lnTo>
                  <a:pt x="153639" y="430543"/>
                </a:lnTo>
                <a:lnTo>
                  <a:pt x="486754" y="430543"/>
                </a:lnTo>
                <a:lnTo>
                  <a:pt x="486754" y="345111"/>
                </a:lnTo>
                <a:lnTo>
                  <a:pt x="649006" y="507363"/>
                </a:lnTo>
                <a:lnTo>
                  <a:pt x="486754" y="669614"/>
                </a:lnTo>
                <a:lnTo>
                  <a:pt x="486754" y="584181"/>
                </a:lnTo>
                <a:lnTo>
                  <a:pt x="0" y="584181"/>
                </a:lnTo>
                <a:lnTo>
                  <a:pt x="0" y="0"/>
                </a:lnTo>
                <a:lnTo>
                  <a:pt x="153639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213892" y="2198115"/>
            <a:ext cx="154686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15" b="1">
                <a:latin typeface="Tahoma"/>
                <a:cs typeface="Tahoma"/>
              </a:rPr>
              <a:t>Mo</a:t>
            </a:r>
            <a:r>
              <a:rPr dirty="0" sz="4000" spc="5" b="1">
                <a:latin typeface="Tahoma"/>
                <a:cs typeface="Tahoma"/>
              </a:rPr>
              <a:t>d</a:t>
            </a:r>
            <a:r>
              <a:rPr dirty="0" sz="4000" spc="-114" b="1">
                <a:latin typeface="Tahoma"/>
                <a:cs typeface="Tahoma"/>
              </a:rPr>
              <a:t>el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3/6/21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50"/>
              <a:t> </a:t>
            </a:r>
            <a:r>
              <a:rPr dirty="0" spc="-5"/>
              <a:t>Graphs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62</a:t>
            </a:fld>
          </a:p>
        </p:txBody>
      </p:sp>
      <p:sp>
        <p:nvSpPr>
          <p:cNvPr id="10" name="object 10"/>
          <p:cNvSpPr txBox="1"/>
          <p:nvPr/>
        </p:nvSpPr>
        <p:spPr>
          <a:xfrm>
            <a:off x="618108" y="2817875"/>
            <a:ext cx="7885430" cy="3143885"/>
          </a:xfrm>
          <a:prstGeom prst="rect">
            <a:avLst/>
          </a:prstGeom>
        </p:spPr>
        <p:txBody>
          <a:bodyPr wrap="square" lIns="0" tIns="32258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540"/>
              </a:spcBef>
            </a:pPr>
            <a:r>
              <a:rPr dirty="0" sz="4000" spc="25" b="1">
                <a:latin typeface="Tahoma"/>
                <a:cs typeface="Tahoma"/>
              </a:rPr>
              <a:t>Ne</a:t>
            </a:r>
            <a:r>
              <a:rPr dirty="0" sz="4000" spc="-355" b="1">
                <a:latin typeface="Tahoma"/>
                <a:cs typeface="Tahoma"/>
              </a:rPr>
              <a:t>t</a:t>
            </a:r>
            <a:r>
              <a:rPr dirty="0" sz="4000" spc="55" b="1">
                <a:latin typeface="Tahoma"/>
                <a:cs typeface="Tahoma"/>
              </a:rPr>
              <a:t>w</a:t>
            </a:r>
            <a:r>
              <a:rPr dirty="0" sz="4000" b="1">
                <a:latin typeface="Tahoma"/>
                <a:cs typeface="Tahoma"/>
              </a:rPr>
              <a:t>o</a:t>
            </a:r>
            <a:r>
              <a:rPr dirty="0" sz="4000" spc="-20" b="1">
                <a:latin typeface="Tahoma"/>
                <a:cs typeface="Tahoma"/>
              </a:rPr>
              <a:t>rk</a:t>
            </a:r>
            <a:endParaRPr sz="4000">
              <a:latin typeface="Tahoma"/>
              <a:cs typeface="Tahoma"/>
            </a:endParaRPr>
          </a:p>
          <a:p>
            <a:pPr marL="332740" marR="51435" indent="-320040">
              <a:lnSpc>
                <a:spcPct val="100000"/>
              </a:lnSpc>
              <a:spcBef>
                <a:spcPts val="195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latin typeface="Calibri"/>
                <a:cs typeface="Calibri"/>
              </a:rPr>
              <a:t>Given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15">
                <a:latin typeface="Calibri"/>
                <a:cs typeface="Calibri"/>
              </a:rPr>
              <a:t>graph, </a:t>
            </a:r>
            <a:r>
              <a:rPr dirty="0" sz="3200" spc="-25" b="1">
                <a:solidFill>
                  <a:srgbClr val="FF0066"/>
                </a:solidFill>
                <a:latin typeface="Calibri"/>
                <a:cs typeface="Calibri"/>
              </a:rPr>
              <a:t>BigCLAM</a:t>
            </a:r>
            <a:r>
              <a:rPr dirty="0" sz="3200" spc="-25">
                <a:latin typeface="Calibri"/>
                <a:cs typeface="Calibri"/>
              </a:rPr>
              <a:t>’s </a:t>
            </a:r>
            <a:r>
              <a:rPr dirty="0" sz="3200" spc="-20">
                <a:latin typeface="Calibri"/>
                <a:cs typeface="Calibri"/>
              </a:rPr>
              <a:t>parameters  </a:t>
            </a:r>
            <a:r>
              <a:rPr dirty="0" sz="3200" spc="-10">
                <a:latin typeface="Calibri"/>
                <a:cs typeface="Calibri"/>
              </a:rPr>
              <a:t>(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membership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strength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of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each node</a:t>
            </a:r>
            <a:r>
              <a:rPr dirty="0" sz="3200" spc="-5">
                <a:latin typeface="Calibri"/>
                <a:cs typeface="Calibri"/>
              </a:rPr>
              <a:t>)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>
                <a:latin typeface="Calibri"/>
                <a:cs typeface="Calibri"/>
              </a:rPr>
              <a:t>be  </a:t>
            </a:r>
            <a:r>
              <a:rPr dirty="0" sz="3200" spc="-15">
                <a:latin typeface="Calibri"/>
                <a:cs typeface="Calibri"/>
              </a:rPr>
              <a:t>estimated </a:t>
            </a:r>
            <a:r>
              <a:rPr dirty="0" sz="3200" spc="-10">
                <a:latin typeface="Calibri"/>
                <a:cs typeface="Calibri"/>
              </a:rPr>
              <a:t>by </a:t>
            </a:r>
            <a:r>
              <a:rPr dirty="0" sz="3200" spc="-5">
                <a:latin typeface="Calibri"/>
                <a:cs typeface="Calibri"/>
              </a:rPr>
              <a:t>maximizing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log-likelihood </a:t>
            </a:r>
            <a:r>
              <a:rPr dirty="0" sz="3200">
                <a:latin typeface="Calibri"/>
                <a:cs typeface="Calibri"/>
              </a:rPr>
              <a:t>of  </a:t>
            </a:r>
            <a:r>
              <a:rPr dirty="0" sz="3200" spc="-15">
                <a:latin typeface="Calibri"/>
                <a:cs typeface="Calibri"/>
              </a:rPr>
              <a:t>generating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5">
                <a:latin typeface="Calibri"/>
                <a:cs typeface="Calibri"/>
              </a:rPr>
              <a:t>graph </a:t>
            </a:r>
            <a:r>
              <a:rPr dirty="0" sz="3200" spc="-5">
                <a:latin typeface="Calibri"/>
                <a:cs typeface="Calibri"/>
              </a:rPr>
              <a:t>under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5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model.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2026-10-20T23:56:13Z</dcterms:created>
  <dcterms:modified xsi:type="dcterms:W3CDTF">2026-10-20T23:56:13Z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2021-03-06T00:00:00Z</vt:filetime>
  </property>
  <property fmtid="{D5CDD505-2E9C-101B-9397-08002B2CF9AE}" pid="3" name="LastSaved">
    <vt:filetime>2026-10-20T00:00:00Z</vt:filetime>
  </property>
</Properties>
</file>