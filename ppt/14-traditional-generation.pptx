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D6009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D6009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D6009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996696"/>
            <a:ext cx="9144000" cy="11277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8094" y="1348740"/>
            <a:ext cx="5648325" cy="906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D60093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8108" y="1826259"/>
            <a:ext cx="7931784" cy="3518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54224" y="6699893"/>
            <a:ext cx="40068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2673596" y="6699893"/>
            <a:ext cx="4027804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06984" y="6699893"/>
            <a:ext cx="165100" cy="165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3F3F3F"/>
                </a:solidFill>
                <a:latin typeface="Calibri"/>
                <a:cs typeface="Calibri"/>
              </a:defRPr>
            </a:lvl1pPr>
          </a:lstStyle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7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2.png"/><Relationship Id="rId3" Type="http://schemas.openxmlformats.org/officeDocument/2006/relationships/image" Target="../media/image13.jpg"/><Relationship Id="rId4" Type="http://schemas.openxmlformats.org/officeDocument/2006/relationships/image" Target="../media/image14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20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49.jp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9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image" Target="../media/image71.jpg"/><Relationship Id="rId4" Type="http://schemas.openxmlformats.org/officeDocument/2006/relationships/image" Target="../media/image72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3.png"/><Relationship Id="rId3" Type="http://schemas.openxmlformats.org/officeDocument/2006/relationships/hyperlink" Target="http://cs224w.stanford.edu/" TargetMode="Externa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image" Target="../media/image75.png"/><Relationship Id="rId4" Type="http://schemas.openxmlformats.org/officeDocument/2006/relationships/hyperlink" Target="http://cs224w.stanford.edu/" TargetMode="Externa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openxmlformats.org/officeDocument/2006/relationships/hyperlink" Target="http://cs224w.stanford.edu/" TargetMode="Externa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hyperlink" Target="http://cs224w.stanford.edu/" TargetMode="Externa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image" Target="../media/image79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91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2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3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6.png"/><Relationship Id="rId3" Type="http://schemas.openxmlformats.org/officeDocument/2006/relationships/image" Target="../media/image97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8.png"/><Relationship Id="rId3" Type="http://schemas.openxmlformats.org/officeDocument/2006/relationships/image" Target="../media/image99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0.png"/><Relationship Id="rId3" Type="http://schemas.openxmlformats.org/officeDocument/2006/relationships/image" Target="../media/image101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2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106.png"/><Relationship Id="rId7" Type="http://schemas.openxmlformats.org/officeDocument/2006/relationships/image" Target="../media/image107.png"/><Relationship Id="rId8" Type="http://schemas.openxmlformats.org/officeDocument/2006/relationships/image" Target="../media/image108.png"/><Relationship Id="rId9" Type="http://schemas.openxmlformats.org/officeDocument/2006/relationships/image" Target="../media/image109.png"/><Relationship Id="rId10" Type="http://schemas.openxmlformats.org/officeDocument/2006/relationships/image" Target="../media/image110.png"/><Relationship Id="rId11" Type="http://schemas.openxmlformats.org/officeDocument/2006/relationships/image" Target="../media/image111.png"/><Relationship Id="rId12" Type="http://schemas.openxmlformats.org/officeDocument/2006/relationships/image" Target="../media/image112.png"/><Relationship Id="rId13" Type="http://schemas.openxmlformats.org/officeDocument/2006/relationships/image" Target="../media/image113.png"/><Relationship Id="rId14" Type="http://schemas.openxmlformats.org/officeDocument/2006/relationships/image" Target="../media/image114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5.png"/><Relationship Id="rId3" Type="http://schemas.openxmlformats.org/officeDocument/2006/relationships/image" Target="../media/image116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7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Relationship Id="rId5" Type="http://schemas.openxmlformats.org/officeDocument/2006/relationships/hyperlink" Target="http://cs224w.stanford.edu/" TargetMode="External"/><Relationship Id="rId6" Type="http://schemas.openxmlformats.org/officeDocument/2006/relationships/image" Target="../media/image121.jp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2.png"/><Relationship Id="rId3" Type="http://schemas.openxmlformats.org/officeDocument/2006/relationships/image" Target="../media/image123.png"/><Relationship Id="rId4" Type="http://schemas.openxmlformats.org/officeDocument/2006/relationships/image" Target="../media/image124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5.png"/><Relationship Id="rId3" Type="http://schemas.openxmlformats.org/officeDocument/2006/relationships/image" Target="../media/image126.png"/><Relationship Id="rId4" Type="http://schemas.openxmlformats.org/officeDocument/2006/relationships/image" Target="../media/image127.png"/><Relationship Id="rId5" Type="http://schemas.openxmlformats.org/officeDocument/2006/relationships/image" Target="../media/image128.png"/><Relationship Id="rId6" Type="http://schemas.openxmlformats.org/officeDocument/2006/relationships/image" Target="../media/image129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0.png"/><Relationship Id="rId3" Type="http://schemas.openxmlformats.org/officeDocument/2006/relationships/image" Target="../media/image131.pn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2.png"/><Relationship Id="rId3" Type="http://schemas.openxmlformats.org/officeDocument/2006/relationships/image" Target="../media/image133.png"/><Relationship Id="rId4" Type="http://schemas.openxmlformats.org/officeDocument/2006/relationships/image" Target="../media/image134.png"/><Relationship Id="rId5" Type="http://schemas.openxmlformats.org/officeDocument/2006/relationships/image" Target="../media/image135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6.png"/><Relationship Id="rId3" Type="http://schemas.openxmlformats.org/officeDocument/2006/relationships/image" Target="../media/image137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8.png"/><Relationship Id="rId3" Type="http://schemas.openxmlformats.org/officeDocument/2006/relationships/image" Target="../media/image139.png"/><Relationship Id="rId4" Type="http://schemas.openxmlformats.org/officeDocument/2006/relationships/image" Target="../media/image140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1.png"/><Relationship Id="rId3" Type="http://schemas.openxmlformats.org/officeDocument/2006/relationships/image" Target="../media/image142.pn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3.png"/><Relationship Id="rId3" Type="http://schemas.openxmlformats.org/officeDocument/2006/relationships/image" Target="../media/image144.png"/><Relationship Id="rId4" Type="http://schemas.openxmlformats.org/officeDocument/2006/relationships/image" Target="../media/image145.png"/><Relationship Id="rId5" Type="http://schemas.openxmlformats.org/officeDocument/2006/relationships/image" Target="../media/image146.png"/><Relationship Id="rId6" Type="http://schemas.openxmlformats.org/officeDocument/2006/relationships/image" Target="../media/image147.png"/><Relationship Id="rId7" Type="http://schemas.openxmlformats.org/officeDocument/2006/relationships/image" Target="../media/image148.png"/><Relationship Id="rId8" Type="http://schemas.openxmlformats.org/officeDocument/2006/relationships/image" Target="../media/image149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0.png"/><Relationship Id="rId3" Type="http://schemas.openxmlformats.org/officeDocument/2006/relationships/image" Target="../media/image151.png"/><Relationship Id="rId4" Type="http://schemas.openxmlformats.org/officeDocument/2006/relationships/image" Target="../media/image152.png"/><Relationship Id="rId5" Type="http://schemas.openxmlformats.org/officeDocument/2006/relationships/image" Target="../media/image153.png"/><Relationship Id="rId6" Type="http://schemas.openxmlformats.org/officeDocument/2006/relationships/image" Target="../media/image154.png"/><Relationship Id="rId7" Type="http://schemas.openxmlformats.org/officeDocument/2006/relationships/image" Target="../media/image155.png"/><Relationship Id="rId8" Type="http://schemas.openxmlformats.org/officeDocument/2006/relationships/image" Target="../media/image156.pn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7.png"/><Relationship Id="rId3" Type="http://schemas.openxmlformats.org/officeDocument/2006/relationships/image" Target="../media/image158.png"/><Relationship Id="rId4" Type="http://schemas.openxmlformats.org/officeDocument/2006/relationships/image" Target="../media/image159.png"/><Relationship Id="rId5" Type="http://schemas.openxmlformats.org/officeDocument/2006/relationships/image" Target="../media/image160.png"/><Relationship Id="rId6" Type="http://schemas.openxmlformats.org/officeDocument/2006/relationships/image" Target="../media/image161.png"/><Relationship Id="rId7" Type="http://schemas.openxmlformats.org/officeDocument/2006/relationships/image" Target="../media/image162.png"/><Relationship Id="rId8" Type="http://schemas.openxmlformats.org/officeDocument/2006/relationships/image" Target="../media/image163.pn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4.png"/><Relationship Id="rId3" Type="http://schemas.openxmlformats.org/officeDocument/2006/relationships/image" Target="../media/image165.png"/><Relationship Id="rId4" Type="http://schemas.openxmlformats.org/officeDocument/2006/relationships/image" Target="../media/image166.png"/><Relationship Id="rId5" Type="http://schemas.openxmlformats.org/officeDocument/2006/relationships/image" Target="../media/image167.png"/><Relationship Id="rId6" Type="http://schemas.openxmlformats.org/officeDocument/2006/relationships/image" Target="../media/image168.png"/><Relationship Id="rId7" Type="http://schemas.openxmlformats.org/officeDocument/2006/relationships/image" Target="../media/image169.png"/><Relationship Id="rId8" Type="http://schemas.openxmlformats.org/officeDocument/2006/relationships/image" Target="../media/image170.pn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1.png"/><Relationship Id="rId3" Type="http://schemas.openxmlformats.org/officeDocument/2006/relationships/image" Target="../media/image172.pn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3.png"/><Relationship Id="rId3" Type="http://schemas.openxmlformats.org/officeDocument/2006/relationships/image" Target="../media/image174.png"/><Relationship Id="rId4" Type="http://schemas.openxmlformats.org/officeDocument/2006/relationships/image" Target="../media/image175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6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8576" y="3108960"/>
            <a:ext cx="7577328" cy="12923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5216" y="341375"/>
            <a:ext cx="7943088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08" y="1252365"/>
            <a:ext cx="7334884" cy="1120775"/>
          </a:xfrm>
          <a:prstGeom prst="rect"/>
        </p:spPr>
        <p:txBody>
          <a:bodyPr wrap="square" lIns="0" tIns="108585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8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So </a:t>
            </a:r>
            <a:r>
              <a:rPr dirty="0" spc="-90" b="0">
                <a:solidFill>
                  <a:srgbClr val="000000"/>
                </a:solidFill>
                <a:latin typeface="Calibri"/>
                <a:cs typeface="Calibri"/>
              </a:rPr>
              <a:t>far,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we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have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been </a:t>
            </a:r>
            <a:r>
              <a:rPr dirty="0" spc="-5">
                <a:solidFill>
                  <a:srgbClr val="000000"/>
                </a:solidFill>
              </a:rPr>
              <a:t>learning </a:t>
            </a:r>
            <a:r>
              <a:rPr dirty="0" spc="-15">
                <a:solidFill>
                  <a:srgbClr val="000000"/>
                </a:solidFill>
              </a:rPr>
              <a:t>from</a:t>
            </a:r>
            <a:r>
              <a:rPr dirty="0" spc="110">
                <a:solidFill>
                  <a:srgbClr val="000000"/>
                </a:solidFill>
              </a:rPr>
              <a:t> </a:t>
            </a:r>
            <a:r>
              <a:rPr dirty="0" spc="-20">
                <a:solidFill>
                  <a:srgbClr val="000000"/>
                </a:solidFill>
              </a:rPr>
              <a:t>graphs</a:t>
            </a: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assume the </a:t>
            </a:r>
            <a:r>
              <a:rPr dirty="0" sz="2800" spc="-15">
                <a:latin typeface="Calibri"/>
                <a:cs typeface="Calibri"/>
              </a:rPr>
              <a:t>graphs are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given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5756148"/>
            <a:ext cx="662495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But how </a:t>
            </a: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are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these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graphs</a:t>
            </a:r>
            <a:r>
              <a:rPr dirty="0" sz="3200" spc="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25" b="1">
                <a:solidFill>
                  <a:srgbClr val="C00000"/>
                </a:solidFill>
                <a:latin typeface="Calibri"/>
                <a:cs typeface="Calibri"/>
              </a:rPr>
              <a:t>generated?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6166" y="2785800"/>
            <a:ext cx="2743199" cy="186030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18417" y="2804441"/>
            <a:ext cx="2382845" cy="182302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721323" y="4623815"/>
            <a:ext cx="126238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 credit:</a:t>
            </a:r>
            <a:r>
              <a:rPr dirty="0" sz="1100" spc="-25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Science</a:t>
            </a:r>
            <a:endParaRPr sz="11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6794" y="4625826"/>
            <a:ext cx="8392795" cy="62039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390525">
              <a:lnSpc>
                <a:spcPct val="100000"/>
              </a:lnSpc>
              <a:spcBef>
                <a:spcPts val="250"/>
              </a:spcBef>
              <a:tabLst>
                <a:tab pos="5998210" algn="l"/>
              </a:tabLst>
            </a:pP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Image</a:t>
            </a:r>
            <a:r>
              <a:rPr dirty="0" sz="1100" spc="1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credit:</a:t>
            </a:r>
            <a:r>
              <a:rPr dirty="0" sz="1100" spc="0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Medium</a:t>
            </a:r>
            <a:r>
              <a:rPr dirty="0" sz="1100" spc="-5">
                <a:solidFill>
                  <a:srgbClr val="A6A6A6"/>
                </a:solidFill>
                <a:latin typeface="Corbel"/>
                <a:cs typeface="Corbel"/>
              </a:rPr>
              <a:t>	Image credit: </a:t>
            </a:r>
            <a:r>
              <a:rPr dirty="0" sz="1100" u="sng">
                <a:solidFill>
                  <a:srgbClr val="A6A6A6"/>
                </a:solidFill>
                <a:latin typeface="Corbel"/>
                <a:cs typeface="Corbel"/>
              </a:rPr>
              <a:t>Lumen</a:t>
            </a:r>
            <a:r>
              <a:rPr dirty="0" sz="1100" spc="-45" u="sng">
                <a:solidFill>
                  <a:srgbClr val="A6A6A6"/>
                </a:solidFill>
                <a:latin typeface="Corbel"/>
                <a:cs typeface="Corbel"/>
              </a:rPr>
              <a:t> </a:t>
            </a:r>
            <a:r>
              <a:rPr dirty="0" sz="1100" spc="-5" u="sng">
                <a:solidFill>
                  <a:srgbClr val="A6A6A6"/>
                </a:solidFill>
                <a:latin typeface="Corbel"/>
                <a:cs typeface="Corbel"/>
              </a:rPr>
              <a:t>Learning</a:t>
            </a:r>
            <a:endParaRPr sz="11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330"/>
              </a:spcBef>
              <a:tabLst>
                <a:tab pos="2389505" algn="l"/>
                <a:tab pos="5088890" algn="l"/>
              </a:tabLst>
            </a:pPr>
            <a:r>
              <a:rPr dirty="0" sz="2400" spc="-5" b="1">
                <a:latin typeface="Calibri"/>
                <a:cs typeface="Calibri"/>
              </a:rPr>
              <a:t>Social</a:t>
            </a:r>
            <a:r>
              <a:rPr dirty="0" sz="2400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Networks	</a:t>
            </a:r>
            <a:r>
              <a:rPr dirty="0" baseline="1157" sz="3600" spc="-15" b="1">
                <a:latin typeface="Calibri"/>
                <a:cs typeface="Calibri"/>
              </a:rPr>
              <a:t>Economic</a:t>
            </a:r>
            <a:r>
              <a:rPr dirty="0" baseline="1157" sz="3600" b="1">
                <a:latin typeface="Calibri"/>
                <a:cs typeface="Calibri"/>
              </a:rPr>
              <a:t> </a:t>
            </a:r>
            <a:r>
              <a:rPr dirty="0" baseline="1157" sz="3600" spc="-22" b="1">
                <a:latin typeface="Calibri"/>
                <a:cs typeface="Calibri"/>
              </a:rPr>
              <a:t>Networks	</a:t>
            </a:r>
            <a:r>
              <a:rPr dirty="0" sz="2400" spc="-10" b="1">
                <a:latin typeface="Calibri"/>
                <a:cs typeface="Calibri"/>
              </a:rPr>
              <a:t>Communication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spc="-15" b="1">
                <a:latin typeface="Calibri"/>
                <a:cs typeface="Calibri"/>
              </a:rPr>
              <a:t>Networks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999905" y="2652410"/>
            <a:ext cx="2686894" cy="198068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47472"/>
            <a:ext cx="777240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44474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 b="0">
                <a:solidFill>
                  <a:srgbClr val="000000"/>
                </a:solidFill>
                <a:latin typeface="Calibri"/>
                <a:cs typeface="Calibri"/>
              </a:rPr>
              <a:t>We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want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generate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realistic graphs,</a:t>
            </a:r>
            <a:r>
              <a:rPr dirty="0" spc="19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using</a:t>
            </a:r>
          </a:p>
          <a:p>
            <a:pPr marL="332740">
              <a:lnSpc>
                <a:spcPts val="3815"/>
              </a:lnSpc>
            </a:pPr>
            <a:r>
              <a:rPr dirty="0" spc="-20">
                <a:solidFill>
                  <a:srgbClr val="000000"/>
                </a:solidFill>
              </a:rPr>
              <a:t>graph generative</a:t>
            </a:r>
            <a:r>
              <a:rPr dirty="0" spc="-60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models</a:t>
            </a:r>
          </a:p>
        </p:txBody>
      </p:sp>
      <p:sp>
        <p:nvSpPr>
          <p:cNvPr id="4" name="object 4"/>
          <p:cNvSpPr/>
          <p:nvPr/>
        </p:nvSpPr>
        <p:spPr>
          <a:xfrm>
            <a:off x="6708490" y="3490759"/>
            <a:ext cx="2133600" cy="17357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170830" y="5226811"/>
            <a:ext cx="14351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5" b="1">
                <a:latin typeface="Corbel"/>
                <a:cs typeface="Corbel"/>
              </a:rPr>
              <a:t>Real</a:t>
            </a:r>
            <a:r>
              <a:rPr dirty="0" sz="2400" spc="-70" b="1">
                <a:latin typeface="Corbel"/>
                <a:cs typeface="Corbel"/>
              </a:rPr>
              <a:t> </a:t>
            </a:r>
            <a:r>
              <a:rPr dirty="0" sz="2400" spc="-5" b="1">
                <a:latin typeface="Corbel"/>
                <a:cs typeface="Corbel"/>
              </a:rPr>
              <a:t>graph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74599" y="5226811"/>
            <a:ext cx="21304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Corbel"/>
                <a:cs typeface="Corbel"/>
              </a:rPr>
              <a:t>Synthetic</a:t>
            </a:r>
            <a:r>
              <a:rPr dirty="0" sz="2400" spc="-35" b="1">
                <a:latin typeface="Corbel"/>
                <a:cs typeface="Corbel"/>
              </a:rPr>
              <a:t> </a:t>
            </a:r>
            <a:r>
              <a:rPr dirty="0" sz="2400" spc="-5" b="1">
                <a:latin typeface="Corbel"/>
                <a:cs typeface="Corbel"/>
              </a:rPr>
              <a:t>graph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784688" y="3376005"/>
            <a:ext cx="2416003" cy="181200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16695" y="4241153"/>
            <a:ext cx="609600" cy="381000"/>
          </a:xfrm>
          <a:custGeom>
            <a:avLst/>
            <a:gdLst/>
            <a:ahLst/>
            <a:cxnLst/>
            <a:rect l="l" t="t" r="r" b="b"/>
            <a:pathLst>
              <a:path w="609600" h="381000">
                <a:moveTo>
                  <a:pt x="457200" y="0"/>
                </a:moveTo>
                <a:lnTo>
                  <a:pt x="457200" y="95250"/>
                </a:lnTo>
                <a:lnTo>
                  <a:pt x="0" y="95250"/>
                </a:lnTo>
                <a:lnTo>
                  <a:pt x="0" y="285750"/>
                </a:lnTo>
                <a:lnTo>
                  <a:pt x="457200" y="285750"/>
                </a:lnTo>
                <a:lnTo>
                  <a:pt x="457200" y="381000"/>
                </a:lnTo>
                <a:lnTo>
                  <a:pt x="609600" y="190500"/>
                </a:lnTo>
                <a:lnTo>
                  <a:pt x="45720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16695" y="4241153"/>
            <a:ext cx="609600" cy="381000"/>
          </a:xfrm>
          <a:custGeom>
            <a:avLst/>
            <a:gdLst/>
            <a:ahLst/>
            <a:cxnLst/>
            <a:rect l="l" t="t" r="r" b="b"/>
            <a:pathLst>
              <a:path w="609600" h="381000">
                <a:moveTo>
                  <a:pt x="0" y="95250"/>
                </a:moveTo>
                <a:lnTo>
                  <a:pt x="457200" y="95250"/>
                </a:lnTo>
                <a:lnTo>
                  <a:pt x="457200" y="0"/>
                </a:lnTo>
                <a:lnTo>
                  <a:pt x="609600" y="190500"/>
                </a:lnTo>
                <a:lnTo>
                  <a:pt x="457200" y="381000"/>
                </a:lnTo>
                <a:lnTo>
                  <a:pt x="457200" y="285750"/>
                </a:lnTo>
                <a:lnTo>
                  <a:pt x="0" y="285750"/>
                </a:lnTo>
                <a:lnTo>
                  <a:pt x="0" y="952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88080" y="3646463"/>
            <a:ext cx="1393190" cy="1570990"/>
          </a:xfrm>
          <a:custGeom>
            <a:avLst/>
            <a:gdLst/>
            <a:ahLst/>
            <a:cxnLst/>
            <a:rect l="l" t="t" r="r" b="b"/>
            <a:pathLst>
              <a:path w="1393190" h="1570989">
                <a:moveTo>
                  <a:pt x="1368898" y="0"/>
                </a:moveTo>
                <a:lnTo>
                  <a:pt x="23999" y="0"/>
                </a:lnTo>
                <a:lnTo>
                  <a:pt x="14658" y="1885"/>
                </a:lnTo>
                <a:lnTo>
                  <a:pt x="7029" y="7028"/>
                </a:lnTo>
                <a:lnTo>
                  <a:pt x="1886" y="14657"/>
                </a:lnTo>
                <a:lnTo>
                  <a:pt x="0" y="23999"/>
                </a:lnTo>
                <a:lnTo>
                  <a:pt x="0" y="1546379"/>
                </a:lnTo>
                <a:lnTo>
                  <a:pt x="1886" y="1555721"/>
                </a:lnTo>
                <a:lnTo>
                  <a:pt x="7029" y="1563350"/>
                </a:lnTo>
                <a:lnTo>
                  <a:pt x="14658" y="1568494"/>
                </a:lnTo>
                <a:lnTo>
                  <a:pt x="23999" y="1570380"/>
                </a:lnTo>
                <a:lnTo>
                  <a:pt x="1368898" y="1570380"/>
                </a:lnTo>
                <a:lnTo>
                  <a:pt x="1378240" y="1568494"/>
                </a:lnTo>
                <a:lnTo>
                  <a:pt x="1385868" y="1563350"/>
                </a:lnTo>
                <a:lnTo>
                  <a:pt x="1391012" y="1555721"/>
                </a:lnTo>
                <a:lnTo>
                  <a:pt x="1392898" y="1546379"/>
                </a:lnTo>
                <a:lnTo>
                  <a:pt x="1392898" y="1541580"/>
                </a:lnTo>
                <a:lnTo>
                  <a:pt x="28800" y="1541580"/>
                </a:lnTo>
                <a:lnTo>
                  <a:pt x="28800" y="28799"/>
                </a:lnTo>
                <a:lnTo>
                  <a:pt x="1392898" y="28799"/>
                </a:lnTo>
                <a:lnTo>
                  <a:pt x="1392898" y="23999"/>
                </a:lnTo>
                <a:lnTo>
                  <a:pt x="1391012" y="14657"/>
                </a:lnTo>
                <a:lnTo>
                  <a:pt x="1385868" y="7028"/>
                </a:lnTo>
                <a:lnTo>
                  <a:pt x="1378240" y="1885"/>
                </a:lnTo>
                <a:lnTo>
                  <a:pt x="1368898" y="0"/>
                </a:lnTo>
                <a:close/>
              </a:path>
              <a:path w="1393190" h="1570989">
                <a:moveTo>
                  <a:pt x="1392898" y="28799"/>
                </a:moveTo>
                <a:lnTo>
                  <a:pt x="1364097" y="28799"/>
                </a:lnTo>
                <a:lnTo>
                  <a:pt x="1364097" y="1541580"/>
                </a:lnTo>
                <a:lnTo>
                  <a:pt x="1392898" y="1541580"/>
                </a:lnTo>
                <a:lnTo>
                  <a:pt x="1392898" y="28799"/>
                </a:lnTo>
                <a:close/>
              </a:path>
              <a:path w="1393190" h="1570989">
                <a:moveTo>
                  <a:pt x="1354497" y="38399"/>
                </a:moveTo>
                <a:lnTo>
                  <a:pt x="38399" y="38399"/>
                </a:lnTo>
                <a:lnTo>
                  <a:pt x="38399" y="1531980"/>
                </a:lnTo>
                <a:lnTo>
                  <a:pt x="1354497" y="1531980"/>
                </a:lnTo>
                <a:lnTo>
                  <a:pt x="1354497" y="1522380"/>
                </a:lnTo>
                <a:lnTo>
                  <a:pt x="48000" y="1522380"/>
                </a:lnTo>
                <a:lnTo>
                  <a:pt x="48000" y="47999"/>
                </a:lnTo>
                <a:lnTo>
                  <a:pt x="1354497" y="47999"/>
                </a:lnTo>
                <a:lnTo>
                  <a:pt x="1354497" y="38399"/>
                </a:lnTo>
                <a:close/>
              </a:path>
              <a:path w="1393190" h="1570989">
                <a:moveTo>
                  <a:pt x="1354497" y="47999"/>
                </a:moveTo>
                <a:lnTo>
                  <a:pt x="1344897" y="47999"/>
                </a:lnTo>
                <a:lnTo>
                  <a:pt x="1344897" y="1522380"/>
                </a:lnTo>
                <a:lnTo>
                  <a:pt x="1354497" y="1522380"/>
                </a:lnTo>
                <a:lnTo>
                  <a:pt x="1354497" y="47999"/>
                </a:lnTo>
                <a:close/>
              </a:path>
            </a:pathLst>
          </a:custGeom>
          <a:solidFill>
            <a:srgbClr val="B07E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12079" y="3670462"/>
            <a:ext cx="1344930" cy="1522730"/>
          </a:xfrm>
          <a:prstGeom prst="rect">
            <a:avLst/>
          </a:prstGeom>
          <a:solidFill>
            <a:srgbClr val="F0AD00"/>
          </a:solidFill>
        </p:spPr>
        <p:txBody>
          <a:bodyPr wrap="square" lIns="0" tIns="571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5"/>
              </a:spcBef>
            </a:pPr>
            <a:endParaRPr sz="1950">
              <a:latin typeface="Times New Roman"/>
              <a:cs typeface="Times New Roman"/>
            </a:endParaRPr>
          </a:p>
          <a:p>
            <a:pPr algn="ctr" marL="92075" marR="85090" indent="635">
              <a:lnSpc>
                <a:spcPct val="100000"/>
              </a:lnSpc>
            </a:pPr>
            <a:r>
              <a:rPr dirty="0" sz="2000" spc="-10" b="1">
                <a:solidFill>
                  <a:srgbClr val="FFFFFF"/>
                </a:solidFill>
                <a:latin typeface="Calibri"/>
                <a:cs typeface="Calibri"/>
              </a:rPr>
              <a:t>Graph  </a:t>
            </a:r>
            <a:r>
              <a:rPr dirty="0" sz="2000" b="1">
                <a:solidFill>
                  <a:srgbClr val="FFFFFF"/>
                </a:solidFill>
                <a:latin typeface="Calibri"/>
                <a:cs typeface="Calibri"/>
              </a:rPr>
              <a:t>G</a:t>
            </a:r>
            <a:r>
              <a:rPr dirty="0" sz="2000" spc="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2000" b="1">
                <a:solidFill>
                  <a:srgbClr val="FFFFFF"/>
                </a:solidFill>
                <a:latin typeface="Calibri"/>
                <a:cs typeface="Calibri"/>
              </a:rPr>
              <a:t>n</a:t>
            </a:r>
            <a:r>
              <a:rPr dirty="0" sz="2000" spc="0" b="1">
                <a:solidFill>
                  <a:srgbClr val="FFFFFF"/>
                </a:solidFill>
                <a:latin typeface="Calibri"/>
                <a:cs typeface="Calibri"/>
              </a:rPr>
              <a:t>e</a:t>
            </a:r>
            <a:r>
              <a:rPr dirty="0" sz="2000" spc="-45" b="1">
                <a:solidFill>
                  <a:srgbClr val="FFFFFF"/>
                </a:solidFill>
                <a:latin typeface="Calibri"/>
                <a:cs typeface="Calibri"/>
              </a:rPr>
              <a:t>r</a:t>
            </a:r>
            <a:r>
              <a:rPr dirty="0" sz="2000" spc="-20" b="1">
                <a:solidFill>
                  <a:srgbClr val="FFFFFF"/>
                </a:solidFill>
                <a:latin typeface="Calibri"/>
                <a:cs typeface="Calibri"/>
              </a:rPr>
              <a:t>a</a:t>
            </a:r>
            <a:r>
              <a:rPr dirty="0" sz="2000" spc="-10" b="1">
                <a:solidFill>
                  <a:srgbClr val="FFFFFF"/>
                </a:solidFill>
                <a:latin typeface="Calibri"/>
                <a:cs typeface="Calibri"/>
              </a:rPr>
              <a:t>t</a:t>
            </a:r>
            <a:r>
              <a:rPr dirty="0" sz="2000" spc="-5" b="1">
                <a:solidFill>
                  <a:srgbClr val="FFFFFF"/>
                </a:solidFill>
                <a:latin typeface="Calibri"/>
                <a:cs typeface="Calibri"/>
              </a:rPr>
              <a:t>i</a:t>
            </a:r>
            <a:r>
              <a:rPr dirty="0" sz="2000" spc="-20" b="1">
                <a:solidFill>
                  <a:srgbClr val="FFFFFF"/>
                </a:solidFill>
                <a:latin typeface="Calibri"/>
                <a:cs typeface="Calibri"/>
              </a:rPr>
              <a:t>v</a:t>
            </a:r>
            <a:r>
              <a:rPr dirty="0" sz="2000" b="1">
                <a:solidFill>
                  <a:srgbClr val="FFFFFF"/>
                </a:solidFill>
                <a:latin typeface="Calibri"/>
                <a:cs typeface="Calibri"/>
              </a:rPr>
              <a:t>e  </a:t>
            </a:r>
            <a:r>
              <a:rPr dirty="0" sz="2000" spc="-5" b="1">
                <a:solidFill>
                  <a:srgbClr val="FFFFFF"/>
                </a:solidFill>
                <a:latin typeface="Calibri"/>
                <a:cs typeface="Calibri"/>
              </a:rPr>
              <a:t>Model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8397" y="3782059"/>
            <a:ext cx="124650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0000FF"/>
                </a:solidFill>
                <a:latin typeface="Corbel"/>
                <a:cs typeface="Corbel"/>
              </a:rPr>
              <a:t>G</a:t>
            </a:r>
            <a:r>
              <a:rPr dirty="0" sz="2400" spc="-10" b="1">
                <a:solidFill>
                  <a:srgbClr val="0000FF"/>
                </a:solidFill>
                <a:latin typeface="Corbel"/>
                <a:cs typeface="Corbel"/>
              </a:rPr>
              <a:t>e</a:t>
            </a:r>
            <a:r>
              <a:rPr dirty="0" sz="2400" spc="0" b="1">
                <a:solidFill>
                  <a:srgbClr val="0000FF"/>
                </a:solidFill>
                <a:latin typeface="Corbel"/>
                <a:cs typeface="Corbel"/>
              </a:rPr>
              <a:t>n</a:t>
            </a:r>
            <a:r>
              <a:rPr dirty="0" sz="2400" spc="-10" b="1">
                <a:solidFill>
                  <a:srgbClr val="0000FF"/>
                </a:solidFill>
                <a:latin typeface="Corbel"/>
                <a:cs typeface="Corbel"/>
              </a:rPr>
              <a:t>e</a:t>
            </a:r>
            <a:r>
              <a:rPr dirty="0" sz="2400" spc="-5" b="1">
                <a:solidFill>
                  <a:srgbClr val="0000FF"/>
                </a:solidFill>
                <a:latin typeface="Corbel"/>
                <a:cs typeface="Corbel"/>
              </a:rPr>
              <a:t>r</a:t>
            </a:r>
            <a:r>
              <a:rPr dirty="0" sz="2400" b="1">
                <a:solidFill>
                  <a:srgbClr val="0000FF"/>
                </a:solidFill>
                <a:latin typeface="Corbel"/>
                <a:cs typeface="Corbel"/>
              </a:rPr>
              <a:t>ate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42399" y="4043172"/>
            <a:ext cx="423545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>
                <a:latin typeface="Cambria Math"/>
                <a:cs typeface="Cambria Math"/>
              </a:rPr>
              <a:t>~</a:t>
            </a:r>
            <a:endParaRPr sz="44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52671" y="3613403"/>
            <a:ext cx="9023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0000FF"/>
                </a:solidFill>
                <a:latin typeface="Corbel"/>
                <a:cs typeface="Corbel"/>
              </a:rPr>
              <a:t>which</a:t>
            </a:r>
            <a:r>
              <a:rPr dirty="0" sz="2000" spc="-90" b="1">
                <a:solidFill>
                  <a:srgbClr val="0000FF"/>
                </a:solidFill>
                <a:latin typeface="Corbel"/>
                <a:cs typeface="Corbel"/>
              </a:rPr>
              <a:t> </a:t>
            </a:r>
            <a:r>
              <a:rPr dirty="0" sz="2000" b="1">
                <a:solidFill>
                  <a:srgbClr val="0000FF"/>
                </a:solidFill>
                <a:latin typeface="Corbel"/>
                <a:cs typeface="Corbel"/>
              </a:rPr>
              <a:t>is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452671" y="3918203"/>
            <a:ext cx="104902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0000FF"/>
                </a:solidFill>
                <a:latin typeface="Corbel"/>
                <a:cs typeface="Corbel"/>
              </a:rPr>
              <a:t>similar</a:t>
            </a:r>
            <a:r>
              <a:rPr dirty="0" sz="2000" spc="-80" b="1">
                <a:solidFill>
                  <a:srgbClr val="0000FF"/>
                </a:solidFill>
                <a:latin typeface="Corbel"/>
                <a:cs typeface="Corbel"/>
              </a:rPr>
              <a:t> </a:t>
            </a:r>
            <a:r>
              <a:rPr dirty="0" sz="2000" b="1">
                <a:solidFill>
                  <a:srgbClr val="0000FF"/>
                </a:solidFill>
                <a:latin typeface="Corbel"/>
                <a:cs typeface="Corbel"/>
              </a:rPr>
              <a:t>to</a:t>
            </a:r>
            <a:endParaRPr sz="20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5591" y="365759"/>
            <a:ext cx="8086344" cy="4998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618108" y="1348740"/>
            <a:ext cx="7919084" cy="39300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Insights </a:t>
            </a:r>
            <a:r>
              <a:rPr dirty="0" sz="3200">
                <a:latin typeface="Calibri"/>
                <a:cs typeface="Calibri"/>
              </a:rPr>
              <a:t>– </a:t>
            </a: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15">
                <a:latin typeface="Calibri"/>
                <a:cs typeface="Calibri"/>
              </a:rPr>
              <a:t>understand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15">
                <a:latin typeface="Calibri"/>
                <a:cs typeface="Calibri"/>
              </a:rPr>
              <a:t>formulation  </a:t>
            </a:r>
            <a:r>
              <a:rPr dirty="0" sz="3200" spc="-5">
                <a:latin typeface="Calibri"/>
                <a:cs typeface="Calibri"/>
              </a:rPr>
              <a:t>of</a:t>
            </a:r>
            <a:r>
              <a:rPr dirty="0" sz="3200" spc="-6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graphs</a:t>
            </a:r>
            <a:endParaRPr sz="3200">
              <a:latin typeface="Calibri"/>
              <a:cs typeface="Calibri"/>
            </a:endParaRPr>
          </a:p>
          <a:p>
            <a:pPr marL="332740" marR="70612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Predictions </a:t>
            </a:r>
            <a:r>
              <a:rPr dirty="0" sz="3200">
                <a:latin typeface="Calibri"/>
                <a:cs typeface="Calibri"/>
              </a:rPr>
              <a:t>– </a:t>
            </a: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 spc="-10">
                <a:latin typeface="Calibri"/>
                <a:cs typeface="Calibri"/>
              </a:rPr>
              <a:t>can predict </a:t>
            </a:r>
            <a:r>
              <a:rPr dirty="0" sz="3200" spc="-5">
                <a:latin typeface="Calibri"/>
                <a:cs typeface="Calibri"/>
              </a:rPr>
              <a:t>how </a:t>
            </a:r>
            <a:r>
              <a:rPr dirty="0" sz="3200">
                <a:latin typeface="Calibri"/>
                <a:cs typeface="Calibri"/>
              </a:rPr>
              <a:t>will the  </a:t>
            </a:r>
            <a:r>
              <a:rPr dirty="0" sz="3200" spc="-15">
                <a:latin typeface="Calibri"/>
                <a:cs typeface="Calibri"/>
              </a:rPr>
              <a:t>graph </a:t>
            </a:r>
            <a:r>
              <a:rPr dirty="0" sz="3200" spc="-5">
                <a:latin typeface="Calibri"/>
                <a:cs typeface="Calibri"/>
              </a:rPr>
              <a:t>further</a:t>
            </a:r>
            <a:r>
              <a:rPr dirty="0" sz="3200" spc="-3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evolve</a:t>
            </a:r>
            <a:endParaRPr sz="3200">
              <a:latin typeface="Calibri"/>
              <a:cs typeface="Calibri"/>
            </a:endParaRPr>
          </a:p>
          <a:p>
            <a:pPr marL="332740" marR="364490" indent="-320040">
              <a:lnSpc>
                <a:spcPts val="3790"/>
              </a:lnSpc>
              <a:spcBef>
                <a:spcPts val="114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Simulations </a:t>
            </a:r>
            <a:r>
              <a:rPr dirty="0" sz="3200">
                <a:latin typeface="Calibri"/>
                <a:cs typeface="Calibri"/>
              </a:rPr>
              <a:t>– </a:t>
            </a: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5">
                <a:latin typeface="Calibri"/>
                <a:cs typeface="Calibri"/>
              </a:rPr>
              <a:t>use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same </a:t>
            </a:r>
            <a:r>
              <a:rPr dirty="0" sz="3200" spc="-15">
                <a:latin typeface="Calibri"/>
                <a:cs typeface="Calibri"/>
              </a:rPr>
              <a:t>process  to general </a:t>
            </a:r>
            <a:r>
              <a:rPr dirty="0" sz="3200" spc="-10">
                <a:latin typeface="Calibri"/>
                <a:cs typeface="Calibri"/>
              </a:rPr>
              <a:t>novel </a:t>
            </a:r>
            <a:r>
              <a:rPr dirty="0" sz="3200" spc="-15">
                <a:latin typeface="Calibri"/>
                <a:cs typeface="Calibri"/>
              </a:rPr>
              <a:t>graph</a:t>
            </a:r>
            <a:r>
              <a:rPr dirty="0" sz="3200" spc="-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instances</a:t>
            </a:r>
            <a:endParaRPr sz="3200">
              <a:latin typeface="Calibri"/>
              <a:cs typeface="Calibri"/>
            </a:endParaRPr>
          </a:p>
          <a:p>
            <a:pPr marL="332740" indent="-320040">
              <a:lnSpc>
                <a:spcPts val="36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Anomaly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detection </a:t>
            </a:r>
            <a:r>
              <a:rPr dirty="0" sz="3200">
                <a:latin typeface="Calibri"/>
                <a:cs typeface="Calibri"/>
              </a:rPr>
              <a:t>- </a:t>
            </a: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5">
                <a:latin typeface="Calibri"/>
                <a:cs typeface="Calibri"/>
              </a:rPr>
              <a:t>decide </a:t>
            </a:r>
            <a:r>
              <a:rPr dirty="0" sz="3200">
                <a:latin typeface="Calibri"/>
                <a:cs typeface="Calibri"/>
              </a:rPr>
              <a:t>if a</a:t>
            </a:r>
            <a:r>
              <a:rPr dirty="0" sz="3200" spc="5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</a:t>
            </a:r>
            <a:endParaRPr sz="3200">
              <a:latin typeface="Calibri"/>
              <a:cs typeface="Calibri"/>
            </a:endParaRPr>
          </a:p>
          <a:p>
            <a:pPr marL="332740">
              <a:lnSpc>
                <a:spcPct val="100000"/>
              </a:lnSpc>
              <a:spcBef>
                <a:spcPts val="75"/>
              </a:spcBef>
            </a:pPr>
            <a:r>
              <a:rPr dirty="0" sz="3200">
                <a:latin typeface="Calibri"/>
                <a:cs typeface="Calibri"/>
              </a:rPr>
              <a:t>is </a:t>
            </a:r>
            <a:r>
              <a:rPr dirty="0" sz="3200" spc="-5">
                <a:latin typeface="Calibri"/>
                <a:cs typeface="Calibri"/>
              </a:rPr>
              <a:t>normal </a:t>
            </a:r>
            <a:r>
              <a:rPr dirty="0" sz="3200">
                <a:latin typeface="Calibri"/>
                <a:cs typeface="Calibri"/>
              </a:rPr>
              <a:t>/ </a:t>
            </a:r>
            <a:r>
              <a:rPr dirty="0" sz="3200" spc="-5">
                <a:latin typeface="Calibri"/>
                <a:cs typeface="Calibri"/>
              </a:rPr>
              <a:t>abnormal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5216" y="341375"/>
            <a:ext cx="7504176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846570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000000"/>
                </a:solidFill>
              </a:rPr>
              <a:t>Step </a:t>
            </a:r>
            <a:r>
              <a:rPr dirty="0">
                <a:solidFill>
                  <a:srgbClr val="000000"/>
                </a:solidFill>
              </a:rPr>
              <a:t>1: </a:t>
            </a:r>
            <a:r>
              <a:rPr dirty="0" spc="-10">
                <a:solidFill>
                  <a:srgbClr val="479249"/>
                </a:solidFill>
              </a:rPr>
              <a:t>Properties </a:t>
            </a:r>
            <a:r>
              <a:rPr dirty="0">
                <a:solidFill>
                  <a:srgbClr val="479249"/>
                </a:solidFill>
              </a:rPr>
              <a:t>of </a:t>
            </a:r>
            <a:r>
              <a:rPr dirty="0" spc="-10">
                <a:solidFill>
                  <a:srgbClr val="479249"/>
                </a:solidFill>
              </a:rPr>
              <a:t>real-world</a:t>
            </a:r>
            <a:r>
              <a:rPr dirty="0" spc="-5">
                <a:solidFill>
                  <a:srgbClr val="479249"/>
                </a:solidFill>
              </a:rPr>
              <a:t> </a:t>
            </a:r>
            <a:r>
              <a:rPr dirty="0" spc="-20">
                <a:solidFill>
                  <a:srgbClr val="479249"/>
                </a:solidFill>
              </a:rPr>
              <a:t>graphs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64147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2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1920747"/>
            <a:ext cx="8072755" cy="3817620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625475" marR="752475" indent="-274320">
              <a:lnSpc>
                <a:spcPct val="100699"/>
              </a:lnSpc>
              <a:spcBef>
                <a:spcPts val="7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successful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20">
                <a:latin typeface="Calibri"/>
                <a:cs typeface="Calibri"/>
              </a:rPr>
              <a:t>generative </a:t>
            </a:r>
            <a:r>
              <a:rPr dirty="0" sz="2800" spc="-5">
                <a:latin typeface="Calibri"/>
                <a:cs typeface="Calibri"/>
              </a:rPr>
              <a:t>model should </a:t>
            </a:r>
            <a:r>
              <a:rPr dirty="0" sz="2800" spc="-210">
                <a:latin typeface="Calibri"/>
                <a:cs typeface="Calibri"/>
              </a:rPr>
              <a:t>fit  </a:t>
            </a:r>
            <a:r>
              <a:rPr dirty="0" sz="2800" spc="-5">
                <a:latin typeface="Calibri"/>
                <a:cs typeface="Calibri"/>
              </a:rPr>
              <a:t>these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properties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Step </a:t>
            </a:r>
            <a:r>
              <a:rPr dirty="0" sz="3200" b="1">
                <a:latin typeface="Calibri"/>
                <a:cs typeface="Calibri"/>
              </a:rPr>
              <a:t>2: </a:t>
            </a:r>
            <a:r>
              <a:rPr dirty="0" sz="3200" spc="-25" b="1">
                <a:solidFill>
                  <a:srgbClr val="0070C0"/>
                </a:solidFill>
                <a:latin typeface="Calibri"/>
                <a:cs typeface="Calibri"/>
              </a:rPr>
              <a:t>Traditional </a:t>
            </a:r>
            <a:r>
              <a:rPr dirty="0" sz="3200" spc="-20" b="1">
                <a:solidFill>
                  <a:srgbClr val="0070C0"/>
                </a:solidFill>
                <a:latin typeface="Calibri"/>
                <a:cs typeface="Calibri"/>
              </a:rPr>
              <a:t>graph generative</a:t>
            </a:r>
            <a:r>
              <a:rPr dirty="0" sz="3200" spc="-15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70C0"/>
                </a:solidFill>
                <a:latin typeface="Calibri"/>
                <a:cs typeface="Calibri"/>
              </a:rPr>
              <a:t>models</a:t>
            </a:r>
            <a:endParaRPr sz="3200">
              <a:latin typeface="Calibri"/>
              <a:cs typeface="Calibri"/>
            </a:endParaRPr>
          </a:p>
          <a:p>
            <a:pPr lvl="1" marL="625475" marR="5080" indent="-274320">
              <a:lnSpc>
                <a:spcPts val="3290"/>
              </a:lnSpc>
              <a:spcBef>
                <a:spcPts val="93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Each </a:t>
            </a:r>
            <a:r>
              <a:rPr dirty="0" sz="2800" spc="-10">
                <a:latin typeface="Calibri"/>
                <a:cs typeface="Calibri"/>
              </a:rPr>
              <a:t>come </a:t>
            </a: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 spc="-25">
                <a:latin typeface="Calibri"/>
                <a:cs typeface="Calibri"/>
              </a:rPr>
              <a:t>different </a:t>
            </a:r>
            <a:r>
              <a:rPr dirty="0" sz="2800" spc="-5">
                <a:latin typeface="Calibri"/>
                <a:cs typeface="Calibri"/>
              </a:rPr>
              <a:t>assumptions on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110">
                <a:latin typeface="Calibri"/>
                <a:cs typeface="Calibri"/>
              </a:rPr>
              <a:t>graph  </a:t>
            </a:r>
            <a:r>
              <a:rPr dirty="0" sz="2800" spc="-15">
                <a:latin typeface="Calibri"/>
                <a:cs typeface="Calibri"/>
              </a:rPr>
              <a:t>formulation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process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7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Step </a:t>
            </a:r>
            <a:r>
              <a:rPr dirty="0" sz="3200" b="1">
                <a:latin typeface="Calibri"/>
                <a:cs typeface="Calibri"/>
              </a:rPr>
              <a:t>3: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Deep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graph generative</a:t>
            </a:r>
            <a:r>
              <a:rPr dirty="0" sz="32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C00000"/>
                </a:solidFill>
                <a:latin typeface="Calibri"/>
                <a:cs typeface="Calibri"/>
              </a:rPr>
              <a:t>models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Learn the </a:t>
            </a:r>
            <a:r>
              <a:rPr dirty="0" sz="2800" spc="-15">
                <a:latin typeface="Calibri"/>
                <a:cs typeface="Calibri"/>
              </a:rPr>
              <a:t>graph formulation </a:t>
            </a:r>
            <a:r>
              <a:rPr dirty="0" sz="2800" spc="-10">
                <a:latin typeface="Calibri"/>
                <a:cs typeface="Calibri"/>
              </a:rPr>
              <a:t>process </a:t>
            </a:r>
            <a:r>
              <a:rPr dirty="0" sz="2800" spc="-15">
                <a:latin typeface="Calibri"/>
                <a:cs typeface="Calibri"/>
              </a:rPr>
              <a:t>from </a:t>
            </a:r>
            <a:r>
              <a:rPr dirty="0" sz="2800" spc="-5">
                <a:latin typeface="Calibri"/>
                <a:cs typeface="Calibri"/>
              </a:rPr>
              <a:t>the</a:t>
            </a:r>
            <a:r>
              <a:rPr dirty="0" sz="2800" spc="65">
                <a:latin typeface="Calibri"/>
                <a:cs typeface="Calibri"/>
              </a:rPr>
              <a:t> </a:t>
            </a:r>
            <a:r>
              <a:rPr dirty="0" sz="2800" spc="-20"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Cover </a:t>
            </a:r>
            <a:r>
              <a:rPr dirty="0" sz="2800" spc="-5">
                <a:latin typeface="Calibri"/>
                <a:cs typeface="Calibri"/>
              </a:rPr>
              <a:t>in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next</a:t>
            </a:r>
            <a:r>
              <a:rPr dirty="0" sz="2800" spc="-10">
                <a:latin typeface="Calibri"/>
                <a:cs typeface="Calibri"/>
              </a:rPr>
              <a:t> lecture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4672" y="3108960"/>
            <a:ext cx="8129016" cy="12923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5216" y="350520"/>
            <a:ext cx="7229856" cy="548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79613" y="1420875"/>
            <a:ext cx="654685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75">
                <a:solidFill>
                  <a:srgbClr val="0070C0"/>
                </a:solidFill>
              </a:rPr>
              <a:t>We </a:t>
            </a:r>
            <a:r>
              <a:rPr dirty="0" sz="4000" spc="-5">
                <a:solidFill>
                  <a:srgbClr val="0070C0"/>
                </a:solidFill>
              </a:rPr>
              <a:t>will </a:t>
            </a:r>
            <a:r>
              <a:rPr dirty="0" sz="4000" spc="-20">
                <a:solidFill>
                  <a:srgbClr val="0070C0"/>
                </a:solidFill>
              </a:rPr>
              <a:t>characterize </a:t>
            </a:r>
            <a:r>
              <a:rPr dirty="0" sz="4000" spc="-15">
                <a:solidFill>
                  <a:srgbClr val="0070C0"/>
                </a:solidFill>
              </a:rPr>
              <a:t>graphs</a:t>
            </a:r>
            <a:r>
              <a:rPr dirty="0" sz="4000" spc="10">
                <a:solidFill>
                  <a:srgbClr val="0070C0"/>
                </a:solidFill>
              </a:rPr>
              <a:t> </a:t>
            </a:r>
            <a:r>
              <a:rPr dirty="0" sz="4000" spc="-10">
                <a:solidFill>
                  <a:srgbClr val="0070C0"/>
                </a:solidFill>
              </a:rPr>
              <a:t>by:</a:t>
            </a:r>
            <a:endParaRPr sz="4000"/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64134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9613" y="2030476"/>
            <a:ext cx="6386195" cy="3683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5498465" algn="l"/>
                <a:tab pos="5596255" algn="l"/>
              </a:tabLst>
            </a:pPr>
            <a:r>
              <a:rPr dirty="0" sz="4000" b="1">
                <a:latin typeface="Calibri"/>
                <a:cs typeface="Calibri"/>
              </a:rPr>
              <a:t>D</a:t>
            </a:r>
            <a:r>
              <a:rPr dirty="0" sz="4000" spc="-5" b="1">
                <a:latin typeface="Calibri"/>
                <a:cs typeface="Calibri"/>
              </a:rPr>
              <a:t>e</a:t>
            </a:r>
            <a:r>
              <a:rPr dirty="0" sz="4000" b="1">
                <a:latin typeface="Calibri"/>
                <a:cs typeface="Calibri"/>
              </a:rPr>
              <a:t>g</a:t>
            </a:r>
            <a:r>
              <a:rPr dirty="0" sz="4000" spc="-40" b="1">
                <a:latin typeface="Calibri"/>
                <a:cs typeface="Calibri"/>
              </a:rPr>
              <a:t>r</a:t>
            </a:r>
            <a:r>
              <a:rPr dirty="0" sz="4000" spc="-5" b="1">
                <a:latin typeface="Calibri"/>
                <a:cs typeface="Calibri"/>
              </a:rPr>
              <a:t>e</a:t>
            </a:r>
            <a:r>
              <a:rPr dirty="0" sz="4000" b="1">
                <a:latin typeface="Calibri"/>
                <a:cs typeface="Calibri"/>
              </a:rPr>
              <a:t>e</a:t>
            </a:r>
            <a:r>
              <a:rPr dirty="0" sz="4000" spc="-5" b="1">
                <a:latin typeface="Calibri"/>
                <a:cs typeface="Calibri"/>
              </a:rPr>
              <a:t> </a:t>
            </a:r>
            <a:r>
              <a:rPr dirty="0" sz="4000" b="1">
                <a:latin typeface="Calibri"/>
                <a:cs typeface="Calibri"/>
              </a:rPr>
              <a:t>d</a:t>
            </a:r>
            <a:r>
              <a:rPr dirty="0" sz="4000" spc="0" b="1">
                <a:latin typeface="Calibri"/>
                <a:cs typeface="Calibri"/>
              </a:rPr>
              <a:t>i</a:t>
            </a:r>
            <a:r>
              <a:rPr dirty="0" sz="4000" spc="-45" b="1">
                <a:latin typeface="Calibri"/>
                <a:cs typeface="Calibri"/>
              </a:rPr>
              <a:t>s</a:t>
            </a:r>
            <a:r>
              <a:rPr dirty="0" sz="4000" b="1">
                <a:latin typeface="Calibri"/>
                <a:cs typeface="Calibri"/>
              </a:rPr>
              <a:t>tri</a:t>
            </a:r>
            <a:r>
              <a:rPr dirty="0" sz="4000" spc="-5" b="1">
                <a:latin typeface="Calibri"/>
                <a:cs typeface="Calibri"/>
              </a:rPr>
              <a:t>b</a:t>
            </a:r>
            <a:r>
              <a:rPr dirty="0" sz="4000" b="1">
                <a:latin typeface="Calibri"/>
                <a:cs typeface="Calibri"/>
              </a:rPr>
              <a:t>ut</a:t>
            </a:r>
            <a:r>
              <a:rPr dirty="0" sz="4000" spc="0" b="1">
                <a:latin typeface="Calibri"/>
                <a:cs typeface="Calibri"/>
              </a:rPr>
              <a:t>i</a:t>
            </a:r>
            <a:r>
              <a:rPr dirty="0" sz="4000" spc="-5" b="1">
                <a:latin typeface="Calibri"/>
                <a:cs typeface="Calibri"/>
              </a:rPr>
              <a:t>o</a:t>
            </a:r>
            <a:r>
              <a:rPr dirty="0" sz="4000" b="1">
                <a:latin typeface="Calibri"/>
                <a:cs typeface="Calibri"/>
              </a:rPr>
              <a:t>n:	</a:t>
            </a:r>
            <a:r>
              <a:rPr dirty="0" sz="4000" spc="-10" i="1">
                <a:latin typeface="Times New Roman"/>
                <a:cs typeface="Times New Roman"/>
              </a:rPr>
              <a:t>P</a:t>
            </a:r>
            <a:r>
              <a:rPr dirty="0" sz="4000" spc="0" i="1">
                <a:latin typeface="Times New Roman"/>
                <a:cs typeface="Times New Roman"/>
              </a:rPr>
              <a:t>(</a:t>
            </a:r>
            <a:r>
              <a:rPr dirty="0" sz="4000" spc="-5" i="1">
                <a:latin typeface="Times New Roman"/>
                <a:cs typeface="Times New Roman"/>
              </a:rPr>
              <a:t>k</a:t>
            </a:r>
            <a:r>
              <a:rPr dirty="0" sz="4000" i="1">
                <a:latin typeface="Times New Roman"/>
                <a:cs typeface="Times New Roman"/>
              </a:rPr>
              <a:t>) </a:t>
            </a:r>
            <a:r>
              <a:rPr dirty="0" sz="4000" i="1">
                <a:latin typeface="Times New Roman"/>
                <a:cs typeface="Times New Roman"/>
              </a:rPr>
              <a:t> </a:t>
            </a:r>
            <a:r>
              <a:rPr dirty="0" sz="4000" spc="-15" b="1">
                <a:latin typeface="Calibri"/>
                <a:cs typeface="Calibri"/>
              </a:rPr>
              <a:t>Clustering</a:t>
            </a:r>
            <a:r>
              <a:rPr dirty="0" sz="4000" spc="15" b="1">
                <a:latin typeface="Calibri"/>
                <a:cs typeface="Calibri"/>
              </a:rPr>
              <a:t> </a:t>
            </a:r>
            <a:r>
              <a:rPr dirty="0" sz="4000" spc="-10" b="1">
                <a:latin typeface="Calibri"/>
                <a:cs typeface="Calibri"/>
              </a:rPr>
              <a:t>coefficient:	</a:t>
            </a:r>
            <a:r>
              <a:rPr dirty="0" sz="4000" i="1">
                <a:latin typeface="Times New Roman"/>
                <a:cs typeface="Times New Roman"/>
              </a:rPr>
              <a:t>C  </a:t>
            </a:r>
            <a:r>
              <a:rPr dirty="0" sz="4000" spc="-10" b="1">
                <a:latin typeface="Calibri"/>
                <a:cs typeface="Calibri"/>
              </a:rPr>
              <a:t>Connected</a:t>
            </a:r>
            <a:r>
              <a:rPr dirty="0" sz="4000" spc="0" b="1">
                <a:latin typeface="Calibri"/>
                <a:cs typeface="Calibri"/>
              </a:rPr>
              <a:t> </a:t>
            </a:r>
            <a:r>
              <a:rPr dirty="0" sz="4000" spc="-10" b="1">
                <a:latin typeface="Calibri"/>
                <a:cs typeface="Calibri"/>
              </a:rPr>
              <a:t>components:		</a:t>
            </a:r>
            <a:r>
              <a:rPr dirty="0" sz="4000" i="1">
                <a:latin typeface="Times New Roman"/>
                <a:cs typeface="Times New Roman"/>
              </a:rPr>
              <a:t>s  </a:t>
            </a:r>
            <a:r>
              <a:rPr dirty="0" sz="4000" spc="-35" b="1">
                <a:latin typeface="Calibri"/>
                <a:cs typeface="Calibri"/>
              </a:rPr>
              <a:t>Path</a:t>
            </a:r>
            <a:r>
              <a:rPr dirty="0" sz="4000" spc="-5" b="1">
                <a:latin typeface="Calibri"/>
                <a:cs typeface="Calibri"/>
              </a:rPr>
              <a:t> length:	</a:t>
            </a:r>
            <a:r>
              <a:rPr dirty="0" sz="4000" i="1">
                <a:latin typeface="Times New Roman"/>
                <a:cs typeface="Times New Roman"/>
              </a:rPr>
              <a:t>h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31334" y="6066028"/>
            <a:ext cx="708152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5">
                <a:solidFill>
                  <a:srgbClr val="008000"/>
                </a:solidFill>
                <a:latin typeface="Arial"/>
                <a:cs typeface="Arial"/>
              </a:rPr>
              <a:t>We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have introduced these notions in Lecture 1&amp;2. Here we give 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a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quick</a:t>
            </a:r>
            <a:r>
              <a:rPr dirty="0" sz="1600" spc="10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recap.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7472"/>
            <a:ext cx="556564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18095" y="1348740"/>
            <a:ext cx="7186295" cy="1491615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332740" marR="5080" indent="-320040">
              <a:lnSpc>
                <a:spcPct val="101200"/>
              </a:lnSpc>
              <a:spcBef>
                <a:spcPts val="5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8000FF"/>
                </a:solidFill>
              </a:rPr>
              <a:t>Degree distribution </a:t>
            </a:r>
            <a:r>
              <a:rPr dirty="0" spc="-5" i="1">
                <a:solidFill>
                  <a:srgbClr val="8000FF"/>
                </a:solidFill>
                <a:latin typeface="Times New Roman"/>
                <a:cs typeface="Times New Roman"/>
              </a:rPr>
              <a:t>P(k)</a:t>
            </a:r>
            <a:r>
              <a:rPr dirty="0" spc="-5">
                <a:solidFill>
                  <a:srgbClr val="8000FF"/>
                </a:solidFill>
              </a:rPr>
              <a:t>: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Probability </a:t>
            </a:r>
            <a:r>
              <a:rPr dirty="0" spc="-85" b="0">
                <a:solidFill>
                  <a:srgbClr val="000000"/>
                </a:solidFill>
                <a:latin typeface="Calibri"/>
                <a:cs typeface="Calibri"/>
              </a:rPr>
              <a:t>that 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randomly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chosen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node has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degree</a:t>
            </a:r>
            <a:r>
              <a:rPr dirty="0" spc="-2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i="1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</a:p>
          <a:p>
            <a:pPr marL="808355">
              <a:lnSpc>
                <a:spcPts val="3815"/>
              </a:lnSpc>
            </a:pPr>
            <a:r>
              <a:rPr dirty="0" i="1">
                <a:solidFill>
                  <a:srgbClr val="000000"/>
                </a:solidFill>
                <a:latin typeface="Times New Roman"/>
                <a:cs typeface="Times New Roman"/>
              </a:rPr>
              <a:t>N</a:t>
            </a:r>
            <a:r>
              <a:rPr dirty="0" baseline="-18518" sz="3150" i="1">
                <a:solidFill>
                  <a:srgbClr val="000000"/>
                </a:solidFill>
                <a:latin typeface="Times New Roman"/>
                <a:cs typeface="Times New Roman"/>
              </a:rPr>
              <a:t>k </a:t>
            </a:r>
            <a:r>
              <a:rPr dirty="0" sz="3200" b="0">
                <a:solidFill>
                  <a:srgbClr val="000000"/>
                </a:solidFill>
                <a:latin typeface="Times New Roman"/>
                <a:cs typeface="Times New Roman"/>
              </a:rPr>
              <a:t>=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# </a:t>
            </a:r>
            <a:r>
              <a:rPr dirty="0" sz="3200" spc="-5" b="0">
                <a:solidFill>
                  <a:srgbClr val="000000"/>
                </a:solidFill>
                <a:latin typeface="Calibri"/>
                <a:cs typeface="Calibri"/>
              </a:rPr>
              <a:t>nodes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with </a:t>
            </a:r>
            <a:r>
              <a:rPr dirty="0" sz="3200" spc="-15" b="0">
                <a:solidFill>
                  <a:srgbClr val="000000"/>
                </a:solidFill>
                <a:latin typeface="Calibri"/>
                <a:cs typeface="Calibri"/>
              </a:rPr>
              <a:t>degree</a:t>
            </a:r>
            <a:r>
              <a:rPr dirty="0" sz="3200" spc="-1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i="1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8095" y="2808732"/>
            <a:ext cx="409511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z="3200" spc="-10">
                <a:latin typeface="Calibri"/>
                <a:cs typeface="Calibri"/>
              </a:rPr>
              <a:t>Normalized</a:t>
            </a:r>
            <a:r>
              <a:rPr dirty="0" sz="3200" spc="-15">
                <a:latin typeface="Calibri"/>
                <a:cs typeface="Calibri"/>
              </a:rPr>
              <a:t> </a:t>
            </a:r>
            <a:r>
              <a:rPr dirty="0" sz="3200" spc="-45">
                <a:latin typeface="Calibri"/>
                <a:cs typeface="Calibri"/>
              </a:rPr>
              <a:t>histogram: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13750" y="3305555"/>
            <a:ext cx="221932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 b="1" i="1">
                <a:latin typeface="Times New Roman"/>
                <a:cs typeface="Times New Roman"/>
              </a:rPr>
              <a:t>P(k) </a:t>
            </a:r>
            <a:r>
              <a:rPr dirty="0" sz="3200" b="1" i="1">
                <a:latin typeface="Times New Roman"/>
                <a:cs typeface="Times New Roman"/>
              </a:rPr>
              <a:t>= N</a:t>
            </a:r>
            <a:r>
              <a:rPr dirty="0" baseline="-18518" sz="3150" b="1" i="1">
                <a:latin typeface="Times New Roman"/>
                <a:cs typeface="Times New Roman"/>
              </a:rPr>
              <a:t>k </a:t>
            </a:r>
            <a:r>
              <a:rPr dirty="0" sz="3200" b="1" i="1">
                <a:latin typeface="Times New Roman"/>
                <a:cs typeface="Times New Roman"/>
              </a:rPr>
              <a:t>/</a:t>
            </a:r>
            <a:r>
              <a:rPr dirty="0" sz="3200" spc="-90" b="1" i="1">
                <a:latin typeface="Times New Roman"/>
                <a:cs typeface="Times New Roman"/>
              </a:rPr>
              <a:t> </a:t>
            </a:r>
            <a:r>
              <a:rPr dirty="0" sz="3200" b="1" i="1">
                <a:latin typeface="Times New Roman"/>
                <a:cs typeface="Times New Roman"/>
              </a:rPr>
              <a:t>N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68050" y="3305555"/>
            <a:ext cx="138620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4690" algn="l"/>
              </a:tabLst>
            </a:pPr>
            <a:r>
              <a:rPr dirty="0" sz="3200">
                <a:latin typeface="Segoe UI Symbol"/>
                <a:cs typeface="Segoe UI Symbol"/>
              </a:rPr>
              <a:t>➔	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p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l</a:t>
            </a:r>
            <a:r>
              <a:rPr dirty="0" sz="3200" spc="0" b="1">
                <a:solidFill>
                  <a:srgbClr val="D60093"/>
                </a:solidFill>
                <a:latin typeface="Calibri"/>
                <a:cs typeface="Calibri"/>
              </a:rPr>
              <a:t>o</a:t>
            </a:r>
            <a:r>
              <a:rPr dirty="0" sz="3200" b="1">
                <a:solidFill>
                  <a:srgbClr val="D60093"/>
                </a:solidFill>
                <a:latin typeface="Calibri"/>
                <a:cs typeface="Calibri"/>
              </a:rPr>
              <a:t>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492772" y="4114800"/>
            <a:ext cx="114300" cy="1638300"/>
          </a:xfrm>
          <a:custGeom>
            <a:avLst/>
            <a:gdLst/>
            <a:ahLst/>
            <a:cxnLst/>
            <a:rect l="l" t="t" r="r" b="b"/>
            <a:pathLst>
              <a:path w="114300" h="1638300">
                <a:moveTo>
                  <a:pt x="38099" y="114286"/>
                </a:moveTo>
                <a:lnTo>
                  <a:pt x="37061" y="1638026"/>
                </a:lnTo>
                <a:lnTo>
                  <a:pt x="75161" y="1638051"/>
                </a:lnTo>
                <a:lnTo>
                  <a:pt x="76199" y="114313"/>
                </a:lnTo>
                <a:lnTo>
                  <a:pt x="38099" y="114286"/>
                </a:lnTo>
                <a:close/>
              </a:path>
              <a:path w="114300" h="1638300">
                <a:moveTo>
                  <a:pt x="104765" y="95237"/>
                </a:moveTo>
                <a:lnTo>
                  <a:pt x="38112" y="95237"/>
                </a:lnTo>
                <a:lnTo>
                  <a:pt x="76212" y="95262"/>
                </a:lnTo>
                <a:lnTo>
                  <a:pt x="76199" y="114313"/>
                </a:lnTo>
                <a:lnTo>
                  <a:pt x="114300" y="114339"/>
                </a:lnTo>
                <a:lnTo>
                  <a:pt x="104765" y="95237"/>
                </a:lnTo>
                <a:close/>
              </a:path>
              <a:path w="114300" h="1638300">
                <a:moveTo>
                  <a:pt x="38112" y="95237"/>
                </a:moveTo>
                <a:lnTo>
                  <a:pt x="38099" y="114286"/>
                </a:lnTo>
                <a:lnTo>
                  <a:pt x="76199" y="114313"/>
                </a:lnTo>
                <a:lnTo>
                  <a:pt x="76212" y="95262"/>
                </a:lnTo>
                <a:lnTo>
                  <a:pt x="38112" y="95237"/>
                </a:lnTo>
                <a:close/>
              </a:path>
              <a:path w="114300" h="1638300">
                <a:moveTo>
                  <a:pt x="57227" y="0"/>
                </a:moveTo>
                <a:lnTo>
                  <a:pt x="0" y="114260"/>
                </a:lnTo>
                <a:lnTo>
                  <a:pt x="38099" y="114286"/>
                </a:lnTo>
                <a:lnTo>
                  <a:pt x="38112" y="95237"/>
                </a:lnTo>
                <a:lnTo>
                  <a:pt x="104765" y="95237"/>
                </a:lnTo>
                <a:lnTo>
                  <a:pt x="572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548867" y="5697453"/>
            <a:ext cx="2221865" cy="114300"/>
          </a:xfrm>
          <a:custGeom>
            <a:avLst/>
            <a:gdLst/>
            <a:ahLst/>
            <a:cxnLst/>
            <a:rect l="l" t="t" r="r" b="b"/>
            <a:pathLst>
              <a:path w="2221865" h="114300">
                <a:moveTo>
                  <a:pt x="2106959" y="76200"/>
                </a:moveTo>
                <a:lnTo>
                  <a:pt x="2106927" y="114299"/>
                </a:lnTo>
                <a:lnTo>
                  <a:pt x="2183255" y="76216"/>
                </a:lnTo>
                <a:lnTo>
                  <a:pt x="2106959" y="76200"/>
                </a:lnTo>
                <a:close/>
              </a:path>
              <a:path w="2221865" h="114300">
                <a:moveTo>
                  <a:pt x="2106991" y="38100"/>
                </a:moveTo>
                <a:lnTo>
                  <a:pt x="2106959" y="76200"/>
                </a:lnTo>
                <a:lnTo>
                  <a:pt x="2126014" y="76216"/>
                </a:lnTo>
                <a:lnTo>
                  <a:pt x="2126046" y="38116"/>
                </a:lnTo>
                <a:lnTo>
                  <a:pt x="2106991" y="38100"/>
                </a:lnTo>
                <a:close/>
              </a:path>
              <a:path w="2221865" h="114300">
                <a:moveTo>
                  <a:pt x="2107023" y="0"/>
                </a:moveTo>
                <a:lnTo>
                  <a:pt x="2106991" y="38100"/>
                </a:lnTo>
                <a:lnTo>
                  <a:pt x="2126046" y="38116"/>
                </a:lnTo>
                <a:lnTo>
                  <a:pt x="2126014" y="76216"/>
                </a:lnTo>
                <a:lnTo>
                  <a:pt x="2183255" y="76216"/>
                </a:lnTo>
                <a:lnTo>
                  <a:pt x="2221275" y="57245"/>
                </a:lnTo>
                <a:lnTo>
                  <a:pt x="2107023" y="0"/>
                </a:lnTo>
                <a:close/>
              </a:path>
              <a:path w="2221865" h="114300">
                <a:moveTo>
                  <a:pt x="31" y="36335"/>
                </a:moveTo>
                <a:lnTo>
                  <a:pt x="0" y="74435"/>
                </a:lnTo>
                <a:lnTo>
                  <a:pt x="2106959" y="76200"/>
                </a:lnTo>
                <a:lnTo>
                  <a:pt x="2106991" y="38100"/>
                </a:lnTo>
                <a:lnTo>
                  <a:pt x="31" y="363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8462624" y="5823203"/>
            <a:ext cx="124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1" i="1">
                <a:latin typeface="Arial"/>
                <a:cs typeface="Arial"/>
              </a:rPr>
              <a:t>k</a:t>
            </a:r>
            <a:endParaRPr sz="1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21572" y="5802884"/>
            <a:ext cx="12807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8940" algn="l"/>
                <a:tab pos="792480" algn="l"/>
                <a:tab pos="1183005" algn="l"/>
              </a:tabLst>
            </a:pPr>
            <a:r>
              <a:rPr dirty="0" sz="1200" spc="-5" b="1">
                <a:latin typeface="Arial"/>
                <a:cs typeface="Arial"/>
              </a:rPr>
              <a:t>1</a:t>
            </a:r>
            <a:r>
              <a:rPr dirty="0" sz="1200" spc="-5" b="1">
                <a:latin typeface="Arial"/>
                <a:cs typeface="Arial"/>
              </a:rPr>
              <a:t>	</a:t>
            </a:r>
            <a:r>
              <a:rPr dirty="0" sz="1200" spc="-5" b="1">
                <a:latin typeface="Arial"/>
                <a:cs typeface="Arial"/>
              </a:rPr>
              <a:t>2</a:t>
            </a:r>
            <a:r>
              <a:rPr dirty="0" sz="1200" spc="-5" b="1">
                <a:latin typeface="Arial"/>
                <a:cs typeface="Arial"/>
              </a:rPr>
              <a:t>	</a:t>
            </a:r>
            <a:r>
              <a:rPr dirty="0" sz="1200" spc="-5" b="1">
                <a:latin typeface="Arial"/>
                <a:cs typeface="Arial"/>
              </a:rPr>
              <a:t>3</a:t>
            </a:r>
            <a:r>
              <a:rPr dirty="0" sz="1200" spc="-5" b="1">
                <a:latin typeface="Arial"/>
                <a:cs typeface="Arial"/>
              </a:rPr>
              <a:t>	</a:t>
            </a:r>
            <a:r>
              <a:rPr dirty="0" sz="1200" spc="-5" b="1"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30809" y="4043859"/>
            <a:ext cx="387985" cy="1623060"/>
          </a:xfrm>
          <a:prstGeom prst="rect">
            <a:avLst/>
          </a:prstGeom>
        </p:spPr>
        <p:txBody>
          <a:bodyPr wrap="square" lIns="0" tIns="142875" rIns="0" bIns="0" rtlCol="0" vert="horz">
            <a:spAutoFit/>
          </a:bodyPr>
          <a:lstStyle/>
          <a:p>
            <a:pPr marL="42545">
              <a:lnSpc>
                <a:spcPct val="100000"/>
              </a:lnSpc>
              <a:spcBef>
                <a:spcPts val="1125"/>
              </a:spcBef>
            </a:pPr>
            <a:r>
              <a:rPr dirty="0" sz="1450" spc="-30" b="1" i="1">
                <a:latin typeface="Trebuchet MS"/>
                <a:cs typeface="Trebuchet MS"/>
              </a:rPr>
              <a:t>P</a:t>
            </a:r>
            <a:r>
              <a:rPr dirty="0" sz="1450" spc="-25" b="1" i="1">
                <a:latin typeface="Trebuchet MS"/>
                <a:cs typeface="Trebuchet MS"/>
              </a:rPr>
              <a:t>(</a:t>
            </a:r>
            <a:r>
              <a:rPr dirty="0" sz="1450" spc="-25" b="1" i="1">
                <a:latin typeface="Trebuchet MS"/>
                <a:cs typeface="Trebuchet MS"/>
              </a:rPr>
              <a:t>k</a:t>
            </a:r>
            <a:r>
              <a:rPr dirty="0" sz="1450" spc="-20" b="1" i="1">
                <a:latin typeface="Trebuchet MS"/>
                <a:cs typeface="Trebuchet MS"/>
              </a:rPr>
              <a:t>)</a:t>
            </a:r>
            <a:endParaRPr sz="14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815"/>
              </a:spcBef>
            </a:pPr>
            <a:r>
              <a:rPr dirty="0" sz="1200" spc="-5" b="1" i="1">
                <a:latin typeface="Arial"/>
                <a:cs typeface="Arial"/>
              </a:rPr>
              <a:t>0.6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dirty="0" sz="1200" spc="-5" b="1" i="1">
                <a:latin typeface="Arial"/>
                <a:cs typeface="Arial"/>
              </a:rPr>
              <a:t>0.5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-5" b="1" i="1">
                <a:latin typeface="Arial"/>
                <a:cs typeface="Arial"/>
              </a:rPr>
              <a:t>0.4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1200" spc="-5" b="1" i="1">
                <a:latin typeface="Arial"/>
                <a:cs typeface="Arial"/>
              </a:rPr>
              <a:t>0.3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200" spc="-5" b="1" i="1">
                <a:latin typeface="Arial"/>
                <a:cs typeface="Arial"/>
              </a:rPr>
              <a:t>0.2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200" spc="-5" b="1" i="1">
                <a:latin typeface="Arial"/>
                <a:cs typeface="Arial"/>
              </a:rPr>
              <a:t>0.1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742862" y="4568725"/>
            <a:ext cx="265430" cy="1161415"/>
          </a:xfrm>
          <a:custGeom>
            <a:avLst/>
            <a:gdLst/>
            <a:ahLst/>
            <a:cxnLst/>
            <a:rect l="l" t="t" r="r" b="b"/>
            <a:pathLst>
              <a:path w="265429" h="1161414">
                <a:moveTo>
                  <a:pt x="0" y="0"/>
                </a:moveTo>
                <a:lnTo>
                  <a:pt x="265175" y="0"/>
                </a:lnTo>
                <a:lnTo>
                  <a:pt x="265175" y="1160859"/>
                </a:lnTo>
                <a:lnTo>
                  <a:pt x="0" y="1160859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615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139196" y="5550992"/>
            <a:ext cx="265430" cy="179070"/>
          </a:xfrm>
          <a:custGeom>
            <a:avLst/>
            <a:gdLst/>
            <a:ahLst/>
            <a:cxnLst/>
            <a:rect l="l" t="t" r="r" b="b"/>
            <a:pathLst>
              <a:path w="265429" h="179070">
                <a:moveTo>
                  <a:pt x="0" y="0"/>
                </a:moveTo>
                <a:lnTo>
                  <a:pt x="265175" y="0"/>
                </a:lnTo>
                <a:lnTo>
                  <a:pt x="265175" y="178593"/>
                </a:lnTo>
                <a:lnTo>
                  <a:pt x="0" y="178593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615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535533" y="5372397"/>
            <a:ext cx="265430" cy="357505"/>
          </a:xfrm>
          <a:custGeom>
            <a:avLst/>
            <a:gdLst/>
            <a:ahLst/>
            <a:cxnLst/>
            <a:rect l="l" t="t" r="r" b="b"/>
            <a:pathLst>
              <a:path w="265429" h="357504">
                <a:moveTo>
                  <a:pt x="0" y="0"/>
                </a:moveTo>
                <a:lnTo>
                  <a:pt x="265175" y="0"/>
                </a:lnTo>
                <a:lnTo>
                  <a:pt x="265175" y="357187"/>
                </a:lnTo>
                <a:lnTo>
                  <a:pt x="0" y="357187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615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931867" y="5550992"/>
            <a:ext cx="265430" cy="179070"/>
          </a:xfrm>
          <a:custGeom>
            <a:avLst/>
            <a:gdLst/>
            <a:ahLst/>
            <a:cxnLst/>
            <a:rect l="l" t="t" r="r" b="b"/>
            <a:pathLst>
              <a:path w="265429" h="179070">
                <a:moveTo>
                  <a:pt x="0" y="0"/>
                </a:moveTo>
                <a:lnTo>
                  <a:pt x="265175" y="0"/>
                </a:lnTo>
                <a:lnTo>
                  <a:pt x="265175" y="178593"/>
                </a:lnTo>
                <a:lnTo>
                  <a:pt x="0" y="178593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6156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76716" y="5989113"/>
            <a:ext cx="707390" cy="98425"/>
          </a:xfrm>
          <a:custGeom>
            <a:avLst/>
            <a:gdLst/>
            <a:ahLst/>
            <a:cxnLst/>
            <a:rect l="l" t="t" r="r" b="b"/>
            <a:pathLst>
              <a:path w="707389" h="98425">
                <a:moveTo>
                  <a:pt x="0" y="0"/>
                </a:moveTo>
                <a:lnTo>
                  <a:pt x="707308" y="9824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69503" y="4762879"/>
            <a:ext cx="558165" cy="487045"/>
          </a:xfrm>
          <a:custGeom>
            <a:avLst/>
            <a:gdLst/>
            <a:ahLst/>
            <a:cxnLst/>
            <a:rect l="l" t="t" r="r" b="b"/>
            <a:pathLst>
              <a:path w="558165" h="487045">
                <a:moveTo>
                  <a:pt x="0" y="0"/>
                </a:moveTo>
                <a:lnTo>
                  <a:pt x="557721" y="48680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624134" y="4430612"/>
            <a:ext cx="193675" cy="916305"/>
          </a:xfrm>
          <a:custGeom>
            <a:avLst/>
            <a:gdLst/>
            <a:ahLst/>
            <a:cxnLst/>
            <a:rect l="l" t="t" r="r" b="b"/>
            <a:pathLst>
              <a:path w="193675" h="916304">
                <a:moveTo>
                  <a:pt x="0" y="915882"/>
                </a:moveTo>
                <a:lnTo>
                  <a:pt x="193262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788714" y="4582096"/>
            <a:ext cx="859790" cy="343535"/>
          </a:xfrm>
          <a:custGeom>
            <a:avLst/>
            <a:gdLst/>
            <a:ahLst/>
            <a:cxnLst/>
            <a:rect l="l" t="t" r="r" b="b"/>
            <a:pathLst>
              <a:path w="859789" h="343535">
                <a:moveTo>
                  <a:pt x="0" y="343168"/>
                </a:moveTo>
                <a:lnTo>
                  <a:pt x="85945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788640" y="4942834"/>
            <a:ext cx="1337310" cy="215265"/>
          </a:xfrm>
          <a:custGeom>
            <a:avLst/>
            <a:gdLst/>
            <a:ahLst/>
            <a:cxnLst/>
            <a:rect l="l" t="t" r="r" b="b"/>
            <a:pathLst>
              <a:path w="1337310" h="215264">
                <a:moveTo>
                  <a:pt x="0" y="0"/>
                </a:moveTo>
                <a:lnTo>
                  <a:pt x="1336683" y="21496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251547" y="4929198"/>
            <a:ext cx="400050" cy="635"/>
          </a:xfrm>
          <a:custGeom>
            <a:avLst/>
            <a:gdLst/>
            <a:ahLst/>
            <a:cxnLst/>
            <a:rect l="l" t="t" r="r" b="b"/>
            <a:pathLst>
              <a:path w="400050" h="635">
                <a:moveTo>
                  <a:pt x="0" y="369"/>
                </a:moveTo>
                <a:lnTo>
                  <a:pt x="40000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305024" y="5058637"/>
            <a:ext cx="604520" cy="490220"/>
          </a:xfrm>
          <a:custGeom>
            <a:avLst/>
            <a:gdLst/>
            <a:ahLst/>
            <a:cxnLst/>
            <a:rect l="l" t="t" r="r" b="b"/>
            <a:pathLst>
              <a:path w="604519" h="490220">
                <a:moveTo>
                  <a:pt x="0" y="0"/>
                </a:moveTo>
                <a:lnTo>
                  <a:pt x="604259" y="48976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817397" y="4395797"/>
            <a:ext cx="391160" cy="566420"/>
          </a:xfrm>
          <a:custGeom>
            <a:avLst/>
            <a:gdLst/>
            <a:ahLst/>
            <a:cxnLst/>
            <a:rect l="l" t="t" r="r" b="b"/>
            <a:pathLst>
              <a:path w="391160" h="566420">
                <a:moveTo>
                  <a:pt x="390645" y="565855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624247" y="5058637"/>
            <a:ext cx="487045" cy="297815"/>
          </a:xfrm>
          <a:custGeom>
            <a:avLst/>
            <a:gdLst/>
            <a:ahLst/>
            <a:cxnLst/>
            <a:rect l="l" t="t" r="r" b="b"/>
            <a:pathLst>
              <a:path w="487044" h="297814">
                <a:moveTo>
                  <a:pt x="0" y="297328"/>
                </a:moveTo>
                <a:lnTo>
                  <a:pt x="48680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884004" y="595029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137160" y="0"/>
                </a:moveTo>
                <a:lnTo>
                  <a:pt x="93807" y="6992"/>
                </a:lnTo>
                <a:lnTo>
                  <a:pt x="56155" y="26463"/>
                </a:lnTo>
                <a:lnTo>
                  <a:pt x="26464" y="56155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4" y="218164"/>
                </a:lnTo>
                <a:lnTo>
                  <a:pt x="56155" y="247856"/>
                </a:lnTo>
                <a:lnTo>
                  <a:pt x="93807" y="267327"/>
                </a:lnTo>
                <a:lnTo>
                  <a:pt x="137160" y="274320"/>
                </a:lnTo>
                <a:lnTo>
                  <a:pt x="180513" y="267327"/>
                </a:lnTo>
                <a:lnTo>
                  <a:pt x="218165" y="247856"/>
                </a:lnTo>
                <a:lnTo>
                  <a:pt x="247856" y="218164"/>
                </a:lnTo>
                <a:lnTo>
                  <a:pt x="267327" y="180513"/>
                </a:lnTo>
                <a:lnTo>
                  <a:pt x="274319" y="137160"/>
                </a:lnTo>
                <a:lnTo>
                  <a:pt x="267327" y="93806"/>
                </a:lnTo>
                <a:lnTo>
                  <a:pt x="247856" y="56155"/>
                </a:lnTo>
                <a:lnTo>
                  <a:pt x="218165" y="26463"/>
                </a:lnTo>
                <a:lnTo>
                  <a:pt x="180513" y="6992"/>
                </a:lnTo>
                <a:lnTo>
                  <a:pt x="1371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884004" y="5950290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0" y="137160"/>
                </a:move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60" y="0"/>
                </a:lnTo>
                <a:lnTo>
                  <a:pt x="180513" y="6992"/>
                </a:lnTo>
                <a:lnTo>
                  <a:pt x="218164" y="26463"/>
                </a:lnTo>
                <a:lnTo>
                  <a:pt x="247856" y="56155"/>
                </a:lnTo>
                <a:lnTo>
                  <a:pt x="267327" y="93806"/>
                </a:lnTo>
                <a:lnTo>
                  <a:pt x="274320" y="137160"/>
                </a:lnTo>
                <a:lnTo>
                  <a:pt x="267327" y="180513"/>
                </a:lnTo>
                <a:lnTo>
                  <a:pt x="247856" y="218164"/>
                </a:lnTo>
                <a:lnTo>
                  <a:pt x="218164" y="247856"/>
                </a:lnTo>
                <a:lnTo>
                  <a:pt x="180513" y="267327"/>
                </a:lnTo>
                <a:lnTo>
                  <a:pt x="137160" y="274320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6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902396" y="585195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137159" y="0"/>
                </a:moveTo>
                <a:lnTo>
                  <a:pt x="93806" y="6992"/>
                </a:lnTo>
                <a:lnTo>
                  <a:pt x="56155" y="26463"/>
                </a:lnTo>
                <a:lnTo>
                  <a:pt x="26463" y="56155"/>
                </a:lnTo>
                <a:lnTo>
                  <a:pt x="6992" y="93806"/>
                </a:lnTo>
                <a:lnTo>
                  <a:pt x="0" y="137159"/>
                </a:lnTo>
                <a:lnTo>
                  <a:pt x="6992" y="180513"/>
                </a:lnTo>
                <a:lnTo>
                  <a:pt x="26463" y="218164"/>
                </a:lnTo>
                <a:lnTo>
                  <a:pt x="56155" y="247856"/>
                </a:lnTo>
                <a:lnTo>
                  <a:pt x="93806" y="267327"/>
                </a:lnTo>
                <a:lnTo>
                  <a:pt x="137159" y="274319"/>
                </a:lnTo>
                <a:lnTo>
                  <a:pt x="180513" y="267327"/>
                </a:lnTo>
                <a:lnTo>
                  <a:pt x="218164" y="247856"/>
                </a:lnTo>
                <a:lnTo>
                  <a:pt x="247856" y="218164"/>
                </a:lnTo>
                <a:lnTo>
                  <a:pt x="267327" y="180513"/>
                </a:lnTo>
                <a:lnTo>
                  <a:pt x="274320" y="137159"/>
                </a:lnTo>
                <a:lnTo>
                  <a:pt x="267327" y="93806"/>
                </a:lnTo>
                <a:lnTo>
                  <a:pt x="247856" y="56155"/>
                </a:lnTo>
                <a:lnTo>
                  <a:pt x="218164" y="26463"/>
                </a:lnTo>
                <a:lnTo>
                  <a:pt x="180513" y="6992"/>
                </a:lnTo>
                <a:lnTo>
                  <a:pt x="13715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902396" y="585195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0" y="137160"/>
                </a:move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60" y="0"/>
                </a:lnTo>
                <a:lnTo>
                  <a:pt x="180513" y="6992"/>
                </a:lnTo>
                <a:lnTo>
                  <a:pt x="218164" y="26463"/>
                </a:lnTo>
                <a:lnTo>
                  <a:pt x="247856" y="56155"/>
                </a:lnTo>
                <a:lnTo>
                  <a:pt x="267327" y="93806"/>
                </a:lnTo>
                <a:lnTo>
                  <a:pt x="274320" y="137160"/>
                </a:lnTo>
                <a:lnTo>
                  <a:pt x="267327" y="180513"/>
                </a:lnTo>
                <a:lnTo>
                  <a:pt x="247856" y="218164"/>
                </a:lnTo>
                <a:lnTo>
                  <a:pt x="218164" y="247856"/>
                </a:lnTo>
                <a:lnTo>
                  <a:pt x="180513" y="267327"/>
                </a:lnTo>
                <a:lnTo>
                  <a:pt x="137160" y="274320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6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486974" y="52093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137160" y="0"/>
                </a:moveTo>
                <a:lnTo>
                  <a:pt x="93807" y="6992"/>
                </a:lnTo>
                <a:lnTo>
                  <a:pt x="56155" y="26463"/>
                </a:lnTo>
                <a:lnTo>
                  <a:pt x="26464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4" y="218165"/>
                </a:lnTo>
                <a:lnTo>
                  <a:pt x="56155" y="247856"/>
                </a:lnTo>
                <a:lnTo>
                  <a:pt x="93807" y="267327"/>
                </a:lnTo>
                <a:lnTo>
                  <a:pt x="137160" y="274320"/>
                </a:lnTo>
                <a:lnTo>
                  <a:pt x="180513" y="267327"/>
                </a:lnTo>
                <a:lnTo>
                  <a:pt x="218165" y="247856"/>
                </a:lnTo>
                <a:lnTo>
                  <a:pt x="247856" y="218165"/>
                </a:lnTo>
                <a:lnTo>
                  <a:pt x="267327" y="180513"/>
                </a:lnTo>
                <a:lnTo>
                  <a:pt x="274319" y="137160"/>
                </a:lnTo>
                <a:lnTo>
                  <a:pt x="267327" y="93806"/>
                </a:lnTo>
                <a:lnTo>
                  <a:pt x="247856" y="56154"/>
                </a:lnTo>
                <a:lnTo>
                  <a:pt x="218165" y="26463"/>
                </a:lnTo>
                <a:lnTo>
                  <a:pt x="180513" y="6992"/>
                </a:lnTo>
                <a:lnTo>
                  <a:pt x="1371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486974" y="52093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0" y="137160"/>
                </a:move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60" y="0"/>
                </a:lnTo>
                <a:lnTo>
                  <a:pt x="180513" y="6992"/>
                </a:lnTo>
                <a:lnTo>
                  <a:pt x="218164" y="26463"/>
                </a:lnTo>
                <a:lnTo>
                  <a:pt x="247856" y="56155"/>
                </a:lnTo>
                <a:lnTo>
                  <a:pt x="267327" y="93806"/>
                </a:lnTo>
                <a:lnTo>
                  <a:pt x="274320" y="137160"/>
                </a:lnTo>
                <a:lnTo>
                  <a:pt x="267327" y="180513"/>
                </a:lnTo>
                <a:lnTo>
                  <a:pt x="247856" y="218164"/>
                </a:lnTo>
                <a:lnTo>
                  <a:pt x="218164" y="247856"/>
                </a:lnTo>
                <a:lnTo>
                  <a:pt x="180513" y="267327"/>
                </a:lnTo>
                <a:lnTo>
                  <a:pt x="137160" y="274320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6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35357" y="45287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137159" y="0"/>
                </a:moveTo>
                <a:lnTo>
                  <a:pt x="93806" y="6992"/>
                </a:lnTo>
                <a:lnTo>
                  <a:pt x="56155" y="26464"/>
                </a:lnTo>
                <a:lnTo>
                  <a:pt x="26463" y="56155"/>
                </a:lnTo>
                <a:lnTo>
                  <a:pt x="6992" y="93807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5" y="247856"/>
                </a:lnTo>
                <a:lnTo>
                  <a:pt x="93806" y="267327"/>
                </a:lnTo>
                <a:lnTo>
                  <a:pt x="137159" y="274319"/>
                </a:lnTo>
                <a:lnTo>
                  <a:pt x="180513" y="267327"/>
                </a:lnTo>
                <a:lnTo>
                  <a:pt x="218164" y="247856"/>
                </a:lnTo>
                <a:lnTo>
                  <a:pt x="247856" y="218165"/>
                </a:lnTo>
                <a:lnTo>
                  <a:pt x="267327" y="180513"/>
                </a:lnTo>
                <a:lnTo>
                  <a:pt x="274319" y="137160"/>
                </a:lnTo>
                <a:lnTo>
                  <a:pt x="267327" y="93807"/>
                </a:lnTo>
                <a:lnTo>
                  <a:pt x="247856" y="56155"/>
                </a:lnTo>
                <a:lnTo>
                  <a:pt x="218164" y="26464"/>
                </a:lnTo>
                <a:lnTo>
                  <a:pt x="180513" y="6992"/>
                </a:lnTo>
                <a:lnTo>
                  <a:pt x="13715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35357" y="452873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0" y="137160"/>
                </a:move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60" y="0"/>
                </a:lnTo>
                <a:lnTo>
                  <a:pt x="180513" y="6992"/>
                </a:lnTo>
                <a:lnTo>
                  <a:pt x="218164" y="26463"/>
                </a:lnTo>
                <a:lnTo>
                  <a:pt x="247856" y="56155"/>
                </a:lnTo>
                <a:lnTo>
                  <a:pt x="267327" y="93806"/>
                </a:lnTo>
                <a:lnTo>
                  <a:pt x="274320" y="137160"/>
                </a:lnTo>
                <a:lnTo>
                  <a:pt x="267327" y="180513"/>
                </a:lnTo>
                <a:lnTo>
                  <a:pt x="247856" y="218164"/>
                </a:lnTo>
                <a:lnTo>
                  <a:pt x="218164" y="247856"/>
                </a:lnTo>
                <a:lnTo>
                  <a:pt x="180513" y="267327"/>
                </a:lnTo>
                <a:lnTo>
                  <a:pt x="137160" y="274320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6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680236" y="4258637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137160" y="0"/>
                </a:moveTo>
                <a:lnTo>
                  <a:pt x="93806" y="6992"/>
                </a:lnTo>
                <a:lnTo>
                  <a:pt x="56154" y="26463"/>
                </a:lnTo>
                <a:lnTo>
                  <a:pt x="26463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4" y="247856"/>
                </a:lnTo>
                <a:lnTo>
                  <a:pt x="93806" y="267327"/>
                </a:lnTo>
                <a:lnTo>
                  <a:pt x="137160" y="274320"/>
                </a:lnTo>
                <a:lnTo>
                  <a:pt x="180513" y="267327"/>
                </a:lnTo>
                <a:lnTo>
                  <a:pt x="218165" y="247856"/>
                </a:lnTo>
                <a:lnTo>
                  <a:pt x="247856" y="218165"/>
                </a:lnTo>
                <a:lnTo>
                  <a:pt x="267327" y="180513"/>
                </a:lnTo>
                <a:lnTo>
                  <a:pt x="274319" y="137160"/>
                </a:lnTo>
                <a:lnTo>
                  <a:pt x="267327" y="93806"/>
                </a:lnTo>
                <a:lnTo>
                  <a:pt x="247856" y="56154"/>
                </a:lnTo>
                <a:lnTo>
                  <a:pt x="218165" y="26463"/>
                </a:lnTo>
                <a:lnTo>
                  <a:pt x="180513" y="6992"/>
                </a:lnTo>
                <a:lnTo>
                  <a:pt x="1371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680236" y="4258637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0" y="137160"/>
                </a:move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60" y="0"/>
                </a:lnTo>
                <a:lnTo>
                  <a:pt x="180513" y="6992"/>
                </a:lnTo>
                <a:lnTo>
                  <a:pt x="218164" y="26463"/>
                </a:lnTo>
                <a:lnTo>
                  <a:pt x="247856" y="56155"/>
                </a:lnTo>
                <a:lnTo>
                  <a:pt x="267327" y="93806"/>
                </a:lnTo>
                <a:lnTo>
                  <a:pt x="274320" y="137160"/>
                </a:lnTo>
                <a:lnTo>
                  <a:pt x="267327" y="180513"/>
                </a:lnTo>
                <a:lnTo>
                  <a:pt x="247856" y="218164"/>
                </a:lnTo>
                <a:lnTo>
                  <a:pt x="218164" y="247856"/>
                </a:lnTo>
                <a:lnTo>
                  <a:pt x="180513" y="267327"/>
                </a:lnTo>
                <a:lnTo>
                  <a:pt x="137160" y="274320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6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070878" y="482449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137160" y="0"/>
                </a:moveTo>
                <a:lnTo>
                  <a:pt x="93807" y="6992"/>
                </a:lnTo>
                <a:lnTo>
                  <a:pt x="56155" y="26463"/>
                </a:lnTo>
                <a:lnTo>
                  <a:pt x="26464" y="56154"/>
                </a:lnTo>
                <a:lnTo>
                  <a:pt x="6992" y="93806"/>
                </a:lnTo>
                <a:lnTo>
                  <a:pt x="0" y="137159"/>
                </a:lnTo>
                <a:lnTo>
                  <a:pt x="6992" y="180512"/>
                </a:lnTo>
                <a:lnTo>
                  <a:pt x="26464" y="218164"/>
                </a:lnTo>
                <a:lnTo>
                  <a:pt x="56155" y="247855"/>
                </a:lnTo>
                <a:lnTo>
                  <a:pt x="93807" y="267327"/>
                </a:lnTo>
                <a:lnTo>
                  <a:pt x="137160" y="274319"/>
                </a:lnTo>
                <a:lnTo>
                  <a:pt x="180513" y="267327"/>
                </a:lnTo>
                <a:lnTo>
                  <a:pt x="218165" y="247855"/>
                </a:lnTo>
                <a:lnTo>
                  <a:pt x="247856" y="218164"/>
                </a:lnTo>
                <a:lnTo>
                  <a:pt x="267327" y="180512"/>
                </a:lnTo>
                <a:lnTo>
                  <a:pt x="274320" y="137159"/>
                </a:lnTo>
                <a:lnTo>
                  <a:pt x="267327" y="93806"/>
                </a:lnTo>
                <a:lnTo>
                  <a:pt x="247856" y="56154"/>
                </a:lnTo>
                <a:lnTo>
                  <a:pt x="218165" y="26463"/>
                </a:lnTo>
                <a:lnTo>
                  <a:pt x="180513" y="6992"/>
                </a:lnTo>
                <a:lnTo>
                  <a:pt x="1371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070878" y="482449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0" y="137160"/>
                </a:move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60" y="0"/>
                </a:lnTo>
                <a:lnTo>
                  <a:pt x="180513" y="6992"/>
                </a:lnTo>
                <a:lnTo>
                  <a:pt x="218164" y="26463"/>
                </a:lnTo>
                <a:lnTo>
                  <a:pt x="247856" y="56155"/>
                </a:lnTo>
                <a:lnTo>
                  <a:pt x="267327" y="93806"/>
                </a:lnTo>
                <a:lnTo>
                  <a:pt x="274320" y="137160"/>
                </a:lnTo>
                <a:lnTo>
                  <a:pt x="267327" y="180513"/>
                </a:lnTo>
                <a:lnTo>
                  <a:pt x="247856" y="218164"/>
                </a:lnTo>
                <a:lnTo>
                  <a:pt x="218164" y="247856"/>
                </a:lnTo>
                <a:lnTo>
                  <a:pt x="180513" y="267327"/>
                </a:lnTo>
                <a:lnTo>
                  <a:pt x="137160" y="274320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6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651555" y="4792037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137160" y="0"/>
                </a:moveTo>
                <a:lnTo>
                  <a:pt x="93806" y="6992"/>
                </a:lnTo>
                <a:lnTo>
                  <a:pt x="56154" y="26463"/>
                </a:lnTo>
                <a:lnTo>
                  <a:pt x="26463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4" y="247856"/>
                </a:lnTo>
                <a:lnTo>
                  <a:pt x="93806" y="267327"/>
                </a:lnTo>
                <a:lnTo>
                  <a:pt x="137160" y="274320"/>
                </a:lnTo>
                <a:lnTo>
                  <a:pt x="180512" y="267327"/>
                </a:lnTo>
                <a:lnTo>
                  <a:pt x="218164" y="247856"/>
                </a:lnTo>
                <a:lnTo>
                  <a:pt x="247855" y="218165"/>
                </a:lnTo>
                <a:lnTo>
                  <a:pt x="267327" y="180513"/>
                </a:lnTo>
                <a:lnTo>
                  <a:pt x="274320" y="137160"/>
                </a:lnTo>
                <a:lnTo>
                  <a:pt x="267327" y="93806"/>
                </a:lnTo>
                <a:lnTo>
                  <a:pt x="247855" y="56154"/>
                </a:lnTo>
                <a:lnTo>
                  <a:pt x="218164" y="26463"/>
                </a:lnTo>
                <a:lnTo>
                  <a:pt x="180512" y="6992"/>
                </a:lnTo>
                <a:lnTo>
                  <a:pt x="1371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651555" y="4792037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0" y="137160"/>
                </a:move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60" y="0"/>
                </a:lnTo>
                <a:lnTo>
                  <a:pt x="180513" y="6992"/>
                </a:lnTo>
                <a:lnTo>
                  <a:pt x="218164" y="26463"/>
                </a:lnTo>
                <a:lnTo>
                  <a:pt x="247856" y="56155"/>
                </a:lnTo>
                <a:lnTo>
                  <a:pt x="267327" y="93806"/>
                </a:lnTo>
                <a:lnTo>
                  <a:pt x="274320" y="137160"/>
                </a:lnTo>
                <a:lnTo>
                  <a:pt x="267327" y="180513"/>
                </a:lnTo>
                <a:lnTo>
                  <a:pt x="247856" y="218164"/>
                </a:lnTo>
                <a:lnTo>
                  <a:pt x="218164" y="247856"/>
                </a:lnTo>
                <a:lnTo>
                  <a:pt x="180513" y="267327"/>
                </a:lnTo>
                <a:lnTo>
                  <a:pt x="137160" y="274320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6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868956" y="5508317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137160" y="0"/>
                </a:moveTo>
                <a:lnTo>
                  <a:pt x="93806" y="6992"/>
                </a:lnTo>
                <a:lnTo>
                  <a:pt x="56154" y="26463"/>
                </a:lnTo>
                <a:lnTo>
                  <a:pt x="26463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4" y="247856"/>
                </a:lnTo>
                <a:lnTo>
                  <a:pt x="93806" y="267327"/>
                </a:lnTo>
                <a:lnTo>
                  <a:pt x="137160" y="274320"/>
                </a:lnTo>
                <a:lnTo>
                  <a:pt x="180513" y="267327"/>
                </a:lnTo>
                <a:lnTo>
                  <a:pt x="218165" y="247856"/>
                </a:lnTo>
                <a:lnTo>
                  <a:pt x="247856" y="218165"/>
                </a:lnTo>
                <a:lnTo>
                  <a:pt x="267327" y="180513"/>
                </a:lnTo>
                <a:lnTo>
                  <a:pt x="274320" y="137160"/>
                </a:lnTo>
                <a:lnTo>
                  <a:pt x="267327" y="93806"/>
                </a:lnTo>
                <a:lnTo>
                  <a:pt x="247856" y="56154"/>
                </a:lnTo>
                <a:lnTo>
                  <a:pt x="218165" y="26463"/>
                </a:lnTo>
                <a:lnTo>
                  <a:pt x="180513" y="6992"/>
                </a:lnTo>
                <a:lnTo>
                  <a:pt x="1371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868956" y="5508317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19" h="274320">
                <a:moveTo>
                  <a:pt x="0" y="137160"/>
                </a:move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60" y="0"/>
                </a:lnTo>
                <a:lnTo>
                  <a:pt x="180513" y="6992"/>
                </a:lnTo>
                <a:lnTo>
                  <a:pt x="218164" y="26463"/>
                </a:lnTo>
                <a:lnTo>
                  <a:pt x="247856" y="56155"/>
                </a:lnTo>
                <a:lnTo>
                  <a:pt x="267327" y="93806"/>
                </a:lnTo>
                <a:lnTo>
                  <a:pt x="274320" y="137160"/>
                </a:lnTo>
                <a:lnTo>
                  <a:pt x="267327" y="180513"/>
                </a:lnTo>
                <a:lnTo>
                  <a:pt x="247856" y="218164"/>
                </a:lnTo>
                <a:lnTo>
                  <a:pt x="218164" y="247856"/>
                </a:lnTo>
                <a:lnTo>
                  <a:pt x="180513" y="267327"/>
                </a:lnTo>
                <a:lnTo>
                  <a:pt x="137160" y="274320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6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511008" y="443061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60" y="0"/>
                </a:moveTo>
                <a:lnTo>
                  <a:pt x="93806" y="6992"/>
                </a:lnTo>
                <a:lnTo>
                  <a:pt x="56154" y="26463"/>
                </a:lnTo>
                <a:lnTo>
                  <a:pt x="26463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4" y="247856"/>
                </a:lnTo>
                <a:lnTo>
                  <a:pt x="93806" y="267327"/>
                </a:lnTo>
                <a:lnTo>
                  <a:pt x="137160" y="274319"/>
                </a:lnTo>
                <a:lnTo>
                  <a:pt x="180513" y="267327"/>
                </a:lnTo>
                <a:lnTo>
                  <a:pt x="218165" y="247856"/>
                </a:lnTo>
                <a:lnTo>
                  <a:pt x="247856" y="218165"/>
                </a:lnTo>
                <a:lnTo>
                  <a:pt x="267327" y="180513"/>
                </a:lnTo>
                <a:lnTo>
                  <a:pt x="274319" y="137160"/>
                </a:lnTo>
                <a:lnTo>
                  <a:pt x="267327" y="93806"/>
                </a:lnTo>
                <a:lnTo>
                  <a:pt x="247856" y="56154"/>
                </a:lnTo>
                <a:lnTo>
                  <a:pt x="218165" y="26463"/>
                </a:lnTo>
                <a:lnTo>
                  <a:pt x="180513" y="6992"/>
                </a:lnTo>
                <a:lnTo>
                  <a:pt x="1371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511008" y="4430612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137160"/>
                </a:move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60" y="0"/>
                </a:lnTo>
                <a:lnTo>
                  <a:pt x="180513" y="6992"/>
                </a:lnTo>
                <a:lnTo>
                  <a:pt x="218164" y="26463"/>
                </a:lnTo>
                <a:lnTo>
                  <a:pt x="247856" y="56155"/>
                </a:lnTo>
                <a:lnTo>
                  <a:pt x="267327" y="93806"/>
                </a:lnTo>
                <a:lnTo>
                  <a:pt x="274320" y="137160"/>
                </a:lnTo>
                <a:lnTo>
                  <a:pt x="267327" y="180513"/>
                </a:lnTo>
                <a:lnTo>
                  <a:pt x="247856" y="218164"/>
                </a:lnTo>
                <a:lnTo>
                  <a:pt x="218164" y="247856"/>
                </a:lnTo>
                <a:lnTo>
                  <a:pt x="180513" y="267327"/>
                </a:lnTo>
                <a:lnTo>
                  <a:pt x="137160" y="274320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6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125323" y="5020637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137160" y="0"/>
                </a:moveTo>
                <a:lnTo>
                  <a:pt x="93806" y="6992"/>
                </a:lnTo>
                <a:lnTo>
                  <a:pt x="56154" y="26463"/>
                </a:lnTo>
                <a:lnTo>
                  <a:pt x="26463" y="56154"/>
                </a:lnTo>
                <a:lnTo>
                  <a:pt x="6992" y="93806"/>
                </a:lnTo>
                <a:lnTo>
                  <a:pt x="0" y="137160"/>
                </a:lnTo>
                <a:lnTo>
                  <a:pt x="6992" y="180513"/>
                </a:lnTo>
                <a:lnTo>
                  <a:pt x="26463" y="218165"/>
                </a:lnTo>
                <a:lnTo>
                  <a:pt x="56154" y="247856"/>
                </a:lnTo>
                <a:lnTo>
                  <a:pt x="93806" y="267327"/>
                </a:lnTo>
                <a:lnTo>
                  <a:pt x="137160" y="274320"/>
                </a:lnTo>
                <a:lnTo>
                  <a:pt x="180512" y="267327"/>
                </a:lnTo>
                <a:lnTo>
                  <a:pt x="218164" y="247856"/>
                </a:lnTo>
                <a:lnTo>
                  <a:pt x="247855" y="218165"/>
                </a:lnTo>
                <a:lnTo>
                  <a:pt x="267327" y="180513"/>
                </a:lnTo>
                <a:lnTo>
                  <a:pt x="274320" y="137160"/>
                </a:lnTo>
                <a:lnTo>
                  <a:pt x="267327" y="93806"/>
                </a:lnTo>
                <a:lnTo>
                  <a:pt x="247855" y="56154"/>
                </a:lnTo>
                <a:lnTo>
                  <a:pt x="218164" y="26463"/>
                </a:lnTo>
                <a:lnTo>
                  <a:pt x="180512" y="6992"/>
                </a:lnTo>
                <a:lnTo>
                  <a:pt x="13716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125323" y="5020637"/>
            <a:ext cx="274320" cy="274320"/>
          </a:xfrm>
          <a:custGeom>
            <a:avLst/>
            <a:gdLst/>
            <a:ahLst/>
            <a:cxnLst/>
            <a:rect l="l" t="t" r="r" b="b"/>
            <a:pathLst>
              <a:path w="274320" h="274320">
                <a:moveTo>
                  <a:pt x="0" y="137160"/>
                </a:moveTo>
                <a:lnTo>
                  <a:pt x="6992" y="93806"/>
                </a:lnTo>
                <a:lnTo>
                  <a:pt x="26463" y="56155"/>
                </a:lnTo>
                <a:lnTo>
                  <a:pt x="56155" y="26463"/>
                </a:lnTo>
                <a:lnTo>
                  <a:pt x="93806" y="6992"/>
                </a:lnTo>
                <a:lnTo>
                  <a:pt x="137160" y="0"/>
                </a:lnTo>
                <a:lnTo>
                  <a:pt x="180513" y="6992"/>
                </a:lnTo>
                <a:lnTo>
                  <a:pt x="218164" y="26463"/>
                </a:lnTo>
                <a:lnTo>
                  <a:pt x="247856" y="56155"/>
                </a:lnTo>
                <a:lnTo>
                  <a:pt x="267327" y="93806"/>
                </a:lnTo>
                <a:lnTo>
                  <a:pt x="274320" y="137160"/>
                </a:lnTo>
                <a:lnTo>
                  <a:pt x="267327" y="180513"/>
                </a:lnTo>
                <a:lnTo>
                  <a:pt x="247856" y="218164"/>
                </a:lnTo>
                <a:lnTo>
                  <a:pt x="218164" y="247856"/>
                </a:lnTo>
                <a:lnTo>
                  <a:pt x="180513" y="267327"/>
                </a:lnTo>
                <a:lnTo>
                  <a:pt x="137160" y="274320"/>
                </a:lnTo>
                <a:lnTo>
                  <a:pt x="93806" y="267327"/>
                </a:lnTo>
                <a:lnTo>
                  <a:pt x="56155" y="247856"/>
                </a:lnTo>
                <a:lnTo>
                  <a:pt x="26463" y="218164"/>
                </a:lnTo>
                <a:lnTo>
                  <a:pt x="6992" y="180513"/>
                </a:lnTo>
                <a:lnTo>
                  <a:pt x="0" y="13716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744320" y="4800600"/>
            <a:ext cx="914400" cy="587375"/>
          </a:xfrm>
          <a:custGeom>
            <a:avLst/>
            <a:gdLst/>
            <a:ahLst/>
            <a:cxnLst/>
            <a:rect l="l" t="t" r="r" b="b"/>
            <a:pathLst>
              <a:path w="914400" h="587375">
                <a:moveTo>
                  <a:pt x="0" y="146710"/>
                </a:moveTo>
                <a:lnTo>
                  <a:pt x="620981" y="146710"/>
                </a:lnTo>
                <a:lnTo>
                  <a:pt x="620981" y="0"/>
                </a:lnTo>
                <a:lnTo>
                  <a:pt x="914400" y="293420"/>
                </a:lnTo>
                <a:lnTo>
                  <a:pt x="620981" y="586839"/>
                </a:lnTo>
                <a:lnTo>
                  <a:pt x="620981" y="440129"/>
                </a:lnTo>
                <a:lnTo>
                  <a:pt x="0" y="440129"/>
                </a:lnTo>
                <a:lnTo>
                  <a:pt x="0" y="14671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8764134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69976" y="341375"/>
            <a:ext cx="5992368" cy="563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095" y="1348740"/>
            <a:ext cx="401129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pc="-10">
                <a:solidFill>
                  <a:srgbClr val="8000FF"/>
                </a:solidFill>
              </a:rPr>
              <a:t>Clustering</a:t>
            </a:r>
            <a:r>
              <a:rPr dirty="0" spc="-5">
                <a:solidFill>
                  <a:srgbClr val="8000FF"/>
                </a:solidFill>
              </a:rPr>
              <a:t> </a:t>
            </a:r>
            <a:r>
              <a:rPr dirty="0" spc="-35">
                <a:solidFill>
                  <a:srgbClr val="8000FF"/>
                </a:solidFill>
              </a:rPr>
              <a:t>coefficient:</a:t>
            </a:r>
          </a:p>
        </p:txBody>
      </p:sp>
      <p:sp>
        <p:nvSpPr>
          <p:cNvPr id="6" name="object 6"/>
          <p:cNvSpPr/>
          <p:nvPr/>
        </p:nvSpPr>
        <p:spPr>
          <a:xfrm>
            <a:off x="1344167" y="2929127"/>
            <a:ext cx="2060448" cy="917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498335" y="5248655"/>
            <a:ext cx="2075688" cy="11094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590800" y="3874008"/>
            <a:ext cx="3806952" cy="129844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18095" y="1853691"/>
            <a:ext cx="7713980" cy="4265295"/>
          </a:xfrm>
          <a:prstGeom prst="rect">
            <a:avLst/>
          </a:prstGeom>
        </p:spPr>
        <p:txBody>
          <a:bodyPr wrap="square" lIns="0" tIns="79375" rIns="0" bIns="0" rtlCol="0" vert="horz">
            <a:spAutoFit/>
          </a:bodyPr>
          <a:lstStyle/>
          <a:p>
            <a:pPr marL="808355" indent="-457200">
              <a:lnSpc>
                <a:spcPct val="100000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800" spc="-5">
                <a:latin typeface="Calibri"/>
                <a:cs typeface="Calibri"/>
              </a:rPr>
              <a:t>How </a:t>
            </a:r>
            <a:r>
              <a:rPr dirty="0" sz="2800" spc="-10">
                <a:latin typeface="Calibri"/>
                <a:cs typeface="Calibri"/>
              </a:rPr>
              <a:t>connected </a:t>
            </a:r>
            <a:r>
              <a:rPr dirty="0" sz="2800" spc="-15">
                <a:latin typeface="Calibri"/>
                <a:cs typeface="Calibri"/>
              </a:rPr>
              <a:t>are </a:t>
            </a:r>
            <a:r>
              <a:rPr dirty="0" sz="2800" spc="-60" b="1" i="1">
                <a:latin typeface="Times New Roman"/>
                <a:cs typeface="Times New Roman"/>
              </a:rPr>
              <a:t>i</a:t>
            </a:r>
            <a:r>
              <a:rPr dirty="0" sz="2800" spc="-60">
                <a:latin typeface="Calibri"/>
                <a:cs typeface="Calibri"/>
              </a:rPr>
              <a:t>’s </a:t>
            </a:r>
            <a:r>
              <a:rPr dirty="0" sz="2800" spc="-10">
                <a:latin typeface="Calibri"/>
                <a:cs typeface="Calibri"/>
              </a:rPr>
              <a:t>neighbors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each</a:t>
            </a:r>
            <a:r>
              <a:rPr dirty="0" sz="2800" spc="10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other?</a:t>
            </a:r>
            <a:endParaRPr sz="2800">
              <a:latin typeface="Calibri"/>
              <a:cs typeface="Calibri"/>
            </a:endParaRPr>
          </a:p>
          <a:p>
            <a:pPr marL="808355" indent="-457200">
              <a:lnSpc>
                <a:spcPct val="100000"/>
              </a:lnSpc>
              <a:spcBef>
                <a:spcPts val="525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800" spc="-5">
                <a:latin typeface="Calibri"/>
                <a:cs typeface="Calibri"/>
              </a:rPr>
              <a:t>Node </a:t>
            </a:r>
            <a:r>
              <a:rPr dirty="0" sz="2800" b="1" i="1">
                <a:latin typeface="Times New Roman"/>
                <a:cs typeface="Times New Roman"/>
              </a:rPr>
              <a:t>i </a:t>
            </a: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 spc="-15">
                <a:latin typeface="Calibri"/>
                <a:cs typeface="Calibri"/>
              </a:rPr>
              <a:t>degree</a:t>
            </a:r>
            <a:r>
              <a:rPr dirty="0" sz="2800" spc="-110">
                <a:latin typeface="Calibri"/>
                <a:cs typeface="Calibri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k</a:t>
            </a:r>
            <a:r>
              <a:rPr dirty="0" baseline="-17543" sz="2850" b="1" i="1">
                <a:latin typeface="Times New Roman"/>
                <a:cs typeface="Times New Roman"/>
              </a:rPr>
              <a:t>i</a:t>
            </a:r>
            <a:endParaRPr baseline="-17543" sz="2850">
              <a:latin typeface="Times New Roman"/>
              <a:cs typeface="Times New Roman"/>
            </a:endParaRPr>
          </a:p>
          <a:p>
            <a:pPr marL="3196590">
              <a:lnSpc>
                <a:spcPts val="1485"/>
              </a:lnSpc>
              <a:spcBef>
                <a:spcPts val="1380"/>
              </a:spcBef>
            </a:pPr>
            <a:r>
              <a:rPr dirty="0" sz="1800" spc="-5" b="1">
                <a:solidFill>
                  <a:srgbClr val="008000"/>
                </a:solidFill>
                <a:latin typeface="Corbel"/>
                <a:cs typeface="Corbel"/>
              </a:rPr>
              <a:t>where </a:t>
            </a:r>
            <a:r>
              <a:rPr dirty="0" sz="1800" b="1" i="1">
                <a:solidFill>
                  <a:srgbClr val="008000"/>
                </a:solidFill>
                <a:latin typeface="Times New Roman"/>
                <a:cs typeface="Times New Roman"/>
              </a:rPr>
              <a:t>e</a:t>
            </a:r>
            <a:r>
              <a:rPr dirty="0" baseline="-13888" sz="1800" b="1" i="1">
                <a:solidFill>
                  <a:srgbClr val="008000"/>
                </a:solidFill>
                <a:latin typeface="Times New Roman"/>
                <a:cs typeface="Times New Roman"/>
              </a:rPr>
              <a:t>i </a:t>
            </a:r>
            <a:r>
              <a:rPr dirty="0" sz="1800" b="1">
                <a:solidFill>
                  <a:srgbClr val="008000"/>
                </a:solidFill>
                <a:latin typeface="Corbel"/>
                <a:cs typeface="Corbel"/>
              </a:rPr>
              <a:t>is the </a:t>
            </a:r>
            <a:r>
              <a:rPr dirty="0" sz="1800" spc="-5" b="1">
                <a:solidFill>
                  <a:srgbClr val="008000"/>
                </a:solidFill>
                <a:latin typeface="Corbel"/>
                <a:cs typeface="Corbel"/>
              </a:rPr>
              <a:t>number </a:t>
            </a:r>
            <a:r>
              <a:rPr dirty="0" sz="1800" b="1">
                <a:solidFill>
                  <a:srgbClr val="008000"/>
                </a:solidFill>
                <a:latin typeface="Corbel"/>
                <a:cs typeface="Corbel"/>
              </a:rPr>
              <a:t>of</a:t>
            </a:r>
            <a:r>
              <a:rPr dirty="0" sz="1800" spc="-25" b="1">
                <a:solidFill>
                  <a:srgbClr val="008000"/>
                </a:solidFill>
                <a:latin typeface="Corbel"/>
                <a:cs typeface="Corbel"/>
              </a:rPr>
              <a:t> </a:t>
            </a:r>
            <a:r>
              <a:rPr dirty="0" sz="1800" spc="-5" b="1">
                <a:solidFill>
                  <a:srgbClr val="008000"/>
                </a:solidFill>
                <a:latin typeface="Corbel"/>
                <a:cs typeface="Corbel"/>
              </a:rPr>
              <a:t>edges</a:t>
            </a:r>
            <a:endParaRPr sz="1800">
              <a:latin typeface="Corbel"/>
              <a:cs typeface="Corbel"/>
            </a:endParaRPr>
          </a:p>
          <a:p>
            <a:pPr marL="3196590" indent="-2845435">
              <a:lnSpc>
                <a:spcPts val="3165"/>
              </a:lnSpc>
              <a:buClr>
                <a:srgbClr val="60B5CC"/>
              </a:buClr>
              <a:buSzPct val="177777"/>
              <a:buFont typeface="Malgun Gothic"/>
              <a:buChar char="▪"/>
              <a:tabLst>
                <a:tab pos="3196590" algn="l"/>
                <a:tab pos="3197225" algn="l"/>
              </a:tabLst>
            </a:pPr>
            <a:r>
              <a:rPr dirty="0" sz="1800" spc="-5" b="1">
                <a:solidFill>
                  <a:srgbClr val="008000"/>
                </a:solidFill>
                <a:latin typeface="Corbel"/>
                <a:cs typeface="Corbel"/>
              </a:rPr>
              <a:t>between </a:t>
            </a:r>
            <a:r>
              <a:rPr dirty="0" sz="1800" b="1">
                <a:solidFill>
                  <a:srgbClr val="008000"/>
                </a:solidFill>
                <a:latin typeface="Corbel"/>
                <a:cs typeface="Corbel"/>
              </a:rPr>
              <a:t>the </a:t>
            </a:r>
            <a:r>
              <a:rPr dirty="0" sz="1800" spc="-5" b="1">
                <a:solidFill>
                  <a:srgbClr val="008000"/>
                </a:solidFill>
                <a:latin typeface="Corbel"/>
                <a:cs typeface="Corbel"/>
              </a:rPr>
              <a:t>neighbors </a:t>
            </a:r>
            <a:r>
              <a:rPr dirty="0" sz="1800" b="1">
                <a:solidFill>
                  <a:srgbClr val="008000"/>
                </a:solidFill>
                <a:latin typeface="Corbel"/>
                <a:cs typeface="Corbel"/>
              </a:rPr>
              <a:t>of </a:t>
            </a:r>
            <a:r>
              <a:rPr dirty="0" sz="1800" spc="-5" b="1">
                <a:solidFill>
                  <a:srgbClr val="008000"/>
                </a:solidFill>
                <a:latin typeface="Corbel"/>
                <a:cs typeface="Corbel"/>
              </a:rPr>
              <a:t>node</a:t>
            </a:r>
            <a:r>
              <a:rPr dirty="0" sz="1800" spc="5" b="1">
                <a:solidFill>
                  <a:srgbClr val="008000"/>
                </a:solidFill>
                <a:latin typeface="Corbel"/>
                <a:cs typeface="Corbel"/>
              </a:rPr>
              <a:t> </a:t>
            </a:r>
            <a:r>
              <a:rPr dirty="0" sz="1800" b="1" i="1">
                <a:solidFill>
                  <a:srgbClr val="008000"/>
                </a:solidFill>
                <a:latin typeface="Times New Roman"/>
                <a:cs typeface="Times New Roman"/>
              </a:rPr>
              <a:t>i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4000">
              <a:latin typeface="Times New Roman"/>
              <a:cs typeface="Times New Roman"/>
            </a:endParaRPr>
          </a:p>
          <a:p>
            <a:pPr algn="r" marR="205740">
              <a:lnSpc>
                <a:spcPct val="100000"/>
              </a:lnSpc>
            </a:pPr>
            <a:r>
              <a:rPr dirty="0" sz="2000" i="1">
                <a:latin typeface="Times New Roman"/>
                <a:cs typeface="Times New Roman"/>
              </a:rPr>
              <a:t>C</a:t>
            </a:r>
            <a:r>
              <a:rPr dirty="0" baseline="-17094" sz="1950" i="1">
                <a:latin typeface="Times New Roman"/>
                <a:cs typeface="Times New Roman"/>
              </a:rPr>
              <a:t>i </a:t>
            </a:r>
            <a:r>
              <a:rPr dirty="0" sz="2100" spc="-65" i="1">
                <a:latin typeface="Cambria Math"/>
                <a:cs typeface="Cambria Math"/>
              </a:rPr>
              <a:t>∈</a:t>
            </a:r>
            <a:r>
              <a:rPr dirty="0" sz="2100" spc="-35" i="1">
                <a:latin typeface="Cambria Math"/>
                <a:cs typeface="Cambria Math"/>
              </a:rPr>
              <a:t> </a:t>
            </a:r>
            <a:r>
              <a:rPr dirty="0" sz="2000" spc="-5" i="1">
                <a:latin typeface="Times New Roman"/>
                <a:cs typeface="Times New Roman"/>
              </a:rPr>
              <a:t>[0,1]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95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20" b="1">
                <a:solidFill>
                  <a:srgbClr val="008000"/>
                </a:solidFill>
                <a:latin typeface="Calibri"/>
                <a:cs typeface="Calibri"/>
              </a:rPr>
              <a:t>Graph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clustering</a:t>
            </a:r>
            <a:r>
              <a:rPr dirty="0" sz="3200" spc="-6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coefficient: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SzPct val="92857"/>
              <a:buFont typeface="Malgun Gothic"/>
              <a:buChar char="▪"/>
              <a:tabLst>
                <a:tab pos="625475" algn="l"/>
              </a:tabLst>
            </a:pPr>
            <a:r>
              <a:rPr dirty="0" sz="2800" spc="-85">
                <a:latin typeface="Calibri"/>
                <a:cs typeface="Calibri"/>
              </a:rPr>
              <a:t>Take </a:t>
            </a:r>
            <a:r>
              <a:rPr dirty="0" sz="2800" spc="-30">
                <a:latin typeface="Calibri"/>
                <a:cs typeface="Calibri"/>
              </a:rPr>
              <a:t>average </a:t>
            </a:r>
            <a:r>
              <a:rPr dirty="0" sz="2800" spc="-15">
                <a:latin typeface="Calibri"/>
                <a:cs typeface="Calibri"/>
              </a:rPr>
              <a:t>over </a:t>
            </a:r>
            <a:r>
              <a:rPr dirty="0" sz="2800" spc="-5">
                <a:latin typeface="Calibri"/>
                <a:cs typeface="Calibri"/>
              </a:rPr>
              <a:t>all the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nodes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764134" y="6699893"/>
            <a:ext cx="10922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7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69976" y="347472"/>
            <a:ext cx="382828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095" y="1348740"/>
            <a:ext cx="718502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pc="-15"/>
              <a:t>Size </a:t>
            </a:r>
            <a:r>
              <a:rPr dirty="0"/>
              <a:t>of </a:t>
            </a:r>
            <a:r>
              <a:rPr dirty="0" spc="-5"/>
              <a:t>the </a:t>
            </a:r>
            <a:r>
              <a:rPr dirty="0" spc="-20"/>
              <a:t>largest </a:t>
            </a:r>
            <a:r>
              <a:rPr dirty="0" spc="-10"/>
              <a:t>connected</a:t>
            </a:r>
            <a:r>
              <a:rPr dirty="0" spc="25"/>
              <a:t> </a:t>
            </a:r>
            <a:r>
              <a:rPr dirty="0" spc="-40"/>
              <a:t>component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8095" y="1920747"/>
            <a:ext cx="7811770" cy="13646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808355" marR="5080" indent="-457200">
              <a:lnSpc>
                <a:spcPts val="3290"/>
              </a:lnSpc>
              <a:spcBef>
                <a:spcPts val="265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800" spc="-20">
                <a:latin typeface="Calibri"/>
                <a:cs typeface="Calibri"/>
              </a:rPr>
              <a:t>Largest </a:t>
            </a:r>
            <a:r>
              <a:rPr dirty="0" sz="2800" spc="-10">
                <a:latin typeface="Calibri"/>
                <a:cs typeface="Calibri"/>
              </a:rPr>
              <a:t>set </a:t>
            </a:r>
            <a:r>
              <a:rPr dirty="0" sz="2800" spc="-15">
                <a:latin typeface="Calibri"/>
                <a:cs typeface="Calibri"/>
              </a:rPr>
              <a:t>where </a:t>
            </a:r>
            <a:r>
              <a:rPr dirty="0" sz="2800" spc="-20">
                <a:latin typeface="Calibri"/>
                <a:cs typeface="Calibri"/>
              </a:rPr>
              <a:t>any </a:t>
            </a:r>
            <a:r>
              <a:rPr dirty="0" sz="2800" spc="-15">
                <a:latin typeface="Calibri"/>
                <a:cs typeface="Calibri"/>
              </a:rPr>
              <a:t>two </a:t>
            </a:r>
            <a:r>
              <a:rPr dirty="0" sz="2800" spc="-10">
                <a:latin typeface="Calibri"/>
                <a:cs typeface="Calibri"/>
              </a:rPr>
              <a:t>vertices can </a:t>
            </a:r>
            <a:r>
              <a:rPr dirty="0" sz="2800">
                <a:latin typeface="Calibri"/>
                <a:cs typeface="Calibri"/>
              </a:rPr>
              <a:t>be </a:t>
            </a:r>
            <a:r>
              <a:rPr dirty="0" sz="2800" spc="-5">
                <a:latin typeface="Calibri"/>
                <a:cs typeface="Calibri"/>
              </a:rPr>
              <a:t>joined  by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-9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path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00"/>
              </a:lnSpc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z="3200" spc="-20" b="1">
                <a:latin typeface="Calibri"/>
                <a:cs typeface="Calibri"/>
              </a:rPr>
              <a:t>Largest </a:t>
            </a:r>
            <a:r>
              <a:rPr dirty="0" sz="3200" spc="-10" b="1">
                <a:latin typeface="Calibri"/>
                <a:cs typeface="Calibri"/>
              </a:rPr>
              <a:t>component </a:t>
            </a:r>
            <a:r>
              <a:rPr dirty="0" sz="3200" b="1">
                <a:latin typeface="Calibri"/>
                <a:cs typeface="Calibri"/>
              </a:rPr>
              <a:t>= </a:t>
            </a:r>
            <a:r>
              <a:rPr dirty="0" sz="3200" spc="-10" b="1">
                <a:latin typeface="Calibri"/>
                <a:cs typeface="Calibri"/>
              </a:rPr>
              <a:t>Giant</a:t>
            </a:r>
            <a:r>
              <a:rPr dirty="0" sz="3200" spc="-2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component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46335" y="3958844"/>
            <a:ext cx="5340985" cy="19297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latin typeface="Calibri"/>
                <a:cs typeface="Calibri"/>
              </a:rPr>
              <a:t>How </a:t>
            </a:r>
            <a:r>
              <a:rPr dirty="0" sz="2400" spc="-10" b="1">
                <a:latin typeface="Calibri"/>
                <a:cs typeface="Calibri"/>
              </a:rPr>
              <a:t>to </a:t>
            </a:r>
            <a:r>
              <a:rPr dirty="0" sz="2400" spc="-5" b="1">
                <a:latin typeface="Calibri"/>
                <a:cs typeface="Calibri"/>
              </a:rPr>
              <a:t>find </a:t>
            </a:r>
            <a:r>
              <a:rPr dirty="0" sz="2400" spc="-10" b="1">
                <a:latin typeface="Calibri"/>
                <a:cs typeface="Calibri"/>
              </a:rPr>
              <a:t>connected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components:</a:t>
            </a:r>
            <a:endParaRPr sz="2400">
              <a:latin typeface="Calibri"/>
              <a:cs typeface="Calibri"/>
            </a:endParaRPr>
          </a:p>
          <a:p>
            <a:pPr marL="298450" marR="1181100" indent="-285750">
              <a:lnSpc>
                <a:spcPct val="100000"/>
              </a:lnSpc>
              <a:spcBef>
                <a:spcPts val="110"/>
              </a:spcBef>
              <a:buSzPct val="90000"/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2000" spc="-5">
                <a:latin typeface="Calibri"/>
                <a:cs typeface="Calibri"/>
              </a:rPr>
              <a:t>Start </a:t>
            </a:r>
            <a:r>
              <a:rPr dirty="0" sz="2000" spc="-10">
                <a:latin typeface="Calibri"/>
                <a:cs typeface="Calibri"/>
              </a:rPr>
              <a:t>from random </a:t>
            </a:r>
            <a:r>
              <a:rPr dirty="0" sz="2000" spc="-5">
                <a:latin typeface="Calibri"/>
                <a:cs typeface="Calibri"/>
              </a:rPr>
              <a:t>node and </a:t>
            </a:r>
            <a:r>
              <a:rPr dirty="0" sz="2000" spc="-10">
                <a:latin typeface="Calibri"/>
                <a:cs typeface="Calibri"/>
              </a:rPr>
              <a:t>perform  </a:t>
            </a:r>
            <a:r>
              <a:rPr dirty="0" sz="2000" spc="-5">
                <a:latin typeface="Calibri"/>
                <a:cs typeface="Calibri"/>
              </a:rPr>
              <a:t>Breadth </a:t>
            </a:r>
            <a:r>
              <a:rPr dirty="0" sz="2000" spc="-15">
                <a:latin typeface="Calibri"/>
                <a:cs typeface="Calibri"/>
              </a:rPr>
              <a:t>First </a:t>
            </a:r>
            <a:r>
              <a:rPr dirty="0" sz="2000" spc="-5">
                <a:latin typeface="Calibri"/>
                <a:cs typeface="Calibri"/>
              </a:rPr>
              <a:t>Search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(BFS)</a:t>
            </a:r>
            <a:endParaRPr sz="20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SzPct val="90000"/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2000" spc="-5">
                <a:latin typeface="Calibri"/>
                <a:cs typeface="Calibri"/>
              </a:rPr>
              <a:t>Label the nodes that </a:t>
            </a:r>
            <a:r>
              <a:rPr dirty="0" sz="2000" spc="-10">
                <a:latin typeface="Calibri"/>
                <a:cs typeface="Calibri"/>
              </a:rPr>
              <a:t>BFS</a:t>
            </a:r>
            <a:r>
              <a:rPr dirty="0" sz="2000">
                <a:latin typeface="Calibri"/>
                <a:cs typeface="Calibri"/>
              </a:rPr>
              <a:t> </a:t>
            </a:r>
            <a:r>
              <a:rPr dirty="0" sz="2000" spc="-5">
                <a:latin typeface="Calibri"/>
                <a:cs typeface="Calibri"/>
              </a:rPr>
              <a:t>visits</a:t>
            </a:r>
            <a:endParaRPr sz="20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SzPct val="90000"/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2000" spc="-5">
                <a:latin typeface="Calibri"/>
                <a:cs typeface="Calibri"/>
              </a:rPr>
              <a:t>If </a:t>
            </a:r>
            <a:r>
              <a:rPr dirty="0" sz="2000">
                <a:latin typeface="Calibri"/>
                <a:cs typeface="Calibri"/>
              </a:rPr>
              <a:t>all </a:t>
            </a:r>
            <a:r>
              <a:rPr dirty="0" sz="2000" spc="-5">
                <a:latin typeface="Calibri"/>
                <a:cs typeface="Calibri"/>
              </a:rPr>
              <a:t>nodes </a:t>
            </a:r>
            <a:r>
              <a:rPr dirty="0" sz="2000" spc="-10">
                <a:latin typeface="Calibri"/>
                <a:cs typeface="Calibri"/>
              </a:rPr>
              <a:t>are </a:t>
            </a:r>
            <a:r>
              <a:rPr dirty="0" sz="2000" spc="-5">
                <a:latin typeface="Calibri"/>
                <a:cs typeface="Calibri"/>
              </a:rPr>
              <a:t>visited, the </a:t>
            </a:r>
            <a:r>
              <a:rPr dirty="0" sz="2000" spc="-10">
                <a:latin typeface="Calibri"/>
                <a:cs typeface="Calibri"/>
              </a:rPr>
              <a:t>network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connected</a:t>
            </a:r>
            <a:endParaRPr sz="2000">
              <a:latin typeface="Calibri"/>
              <a:cs typeface="Calibri"/>
            </a:endParaRPr>
          </a:p>
          <a:p>
            <a:pPr marL="298450" indent="-285750">
              <a:lnSpc>
                <a:spcPct val="100000"/>
              </a:lnSpc>
              <a:buSzPct val="90000"/>
              <a:buFont typeface="Arial"/>
              <a:buChar char="•"/>
              <a:tabLst>
                <a:tab pos="297815" algn="l"/>
                <a:tab pos="298450" algn="l"/>
              </a:tabLst>
            </a:pPr>
            <a:r>
              <a:rPr dirty="0" sz="2000" spc="-5">
                <a:latin typeface="Calibri"/>
                <a:cs typeface="Calibri"/>
              </a:rPr>
              <a:t>Otherwise find </a:t>
            </a:r>
            <a:r>
              <a:rPr dirty="0" sz="2000">
                <a:latin typeface="Calibri"/>
                <a:cs typeface="Calibri"/>
              </a:rPr>
              <a:t>an </a:t>
            </a:r>
            <a:r>
              <a:rPr dirty="0" sz="2000" spc="-10">
                <a:latin typeface="Calibri"/>
                <a:cs typeface="Calibri"/>
              </a:rPr>
              <a:t>unvisited </a:t>
            </a:r>
            <a:r>
              <a:rPr dirty="0" sz="2000" spc="-5">
                <a:latin typeface="Calibri"/>
                <a:cs typeface="Calibri"/>
              </a:rPr>
              <a:t>node and </a:t>
            </a:r>
            <a:r>
              <a:rPr dirty="0" sz="2000" spc="-10">
                <a:latin typeface="Calibri"/>
                <a:cs typeface="Calibri"/>
              </a:rPr>
              <a:t>repeat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BFS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93488" y="5153659"/>
            <a:ext cx="1384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5" b="1">
                <a:latin typeface="Arial"/>
                <a:cs typeface="Arial"/>
              </a:rPr>
              <a:t>D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98809" y="5001259"/>
            <a:ext cx="1384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5" b="1">
                <a:latin typeface="Arial"/>
                <a:cs typeface="Arial"/>
              </a:rPr>
              <a:t>C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68892" y="4004564"/>
            <a:ext cx="1301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45" b="1"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62322" y="3715003"/>
            <a:ext cx="1327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B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945731" y="4403383"/>
            <a:ext cx="533400" cy="636905"/>
          </a:xfrm>
          <a:custGeom>
            <a:avLst/>
            <a:gdLst/>
            <a:ahLst/>
            <a:cxnLst/>
            <a:rect l="l" t="t" r="r" b="b"/>
            <a:pathLst>
              <a:path w="533400" h="636904">
                <a:moveTo>
                  <a:pt x="0" y="636900"/>
                </a:moveTo>
                <a:lnTo>
                  <a:pt x="5334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635278" y="3913809"/>
            <a:ext cx="815975" cy="424815"/>
          </a:xfrm>
          <a:custGeom>
            <a:avLst/>
            <a:gdLst/>
            <a:ahLst/>
            <a:cxnLst/>
            <a:rect l="l" t="t" r="r" b="b"/>
            <a:pathLst>
              <a:path w="815975" h="424814">
                <a:moveTo>
                  <a:pt x="0" y="424800"/>
                </a:moveTo>
                <a:lnTo>
                  <a:pt x="8157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515573" y="3940417"/>
            <a:ext cx="125730" cy="984250"/>
          </a:xfrm>
          <a:custGeom>
            <a:avLst/>
            <a:gdLst/>
            <a:ahLst/>
            <a:cxnLst/>
            <a:rect l="l" t="t" r="r" b="b"/>
            <a:pathLst>
              <a:path w="125730" h="984250">
                <a:moveTo>
                  <a:pt x="125400" y="98400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608496" y="4403267"/>
            <a:ext cx="968375" cy="548005"/>
          </a:xfrm>
          <a:custGeom>
            <a:avLst/>
            <a:gdLst/>
            <a:ahLst/>
            <a:cxnLst/>
            <a:rect l="l" t="t" r="r" b="b"/>
            <a:pathLst>
              <a:path w="968375" h="548004">
                <a:moveTo>
                  <a:pt x="0" y="0"/>
                </a:moveTo>
                <a:lnTo>
                  <a:pt x="967800" y="5478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543837" y="5342352"/>
            <a:ext cx="0" cy="544195"/>
          </a:xfrm>
          <a:custGeom>
            <a:avLst/>
            <a:gdLst/>
            <a:ahLst/>
            <a:cxnLst/>
            <a:rect l="l" t="t" r="r" b="b"/>
            <a:pathLst>
              <a:path w="0" h="544195">
                <a:moveTo>
                  <a:pt x="1" y="54360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643945" y="5519420"/>
            <a:ext cx="1384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15" b="1">
                <a:latin typeface="Arial"/>
                <a:cs typeface="Arial"/>
              </a:rPr>
              <a:t>H</a:t>
            </a:r>
            <a:endParaRPr sz="12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71242" y="5098796"/>
            <a:ext cx="1162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F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58542" y="5839459"/>
            <a:ext cx="1416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 b="1">
                <a:latin typeface="Arial"/>
                <a:cs typeface="Arial"/>
              </a:rPr>
              <a:t>G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452398" y="4247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40" y="0"/>
                </a:moveTo>
                <a:lnTo>
                  <a:pt x="55847" y="7185"/>
                </a:lnTo>
                <a:lnTo>
                  <a:pt x="26782" y="26782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2" y="156098"/>
                </a:lnTo>
                <a:lnTo>
                  <a:pt x="55847" y="175694"/>
                </a:lnTo>
                <a:lnTo>
                  <a:pt x="91440" y="182880"/>
                </a:lnTo>
                <a:lnTo>
                  <a:pt x="127032" y="175694"/>
                </a:lnTo>
                <a:lnTo>
                  <a:pt x="156098" y="156098"/>
                </a:lnTo>
                <a:lnTo>
                  <a:pt x="175694" y="127032"/>
                </a:lnTo>
                <a:lnTo>
                  <a:pt x="182880" y="91440"/>
                </a:lnTo>
                <a:lnTo>
                  <a:pt x="175694" y="55847"/>
                </a:lnTo>
                <a:lnTo>
                  <a:pt x="156098" y="26782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452398" y="4247169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89633" y="501350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39" y="0"/>
                </a:moveTo>
                <a:lnTo>
                  <a:pt x="55847" y="7185"/>
                </a:lnTo>
                <a:lnTo>
                  <a:pt x="26782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2" y="156098"/>
                </a:lnTo>
                <a:lnTo>
                  <a:pt x="55847" y="175694"/>
                </a:lnTo>
                <a:lnTo>
                  <a:pt x="91439" y="182879"/>
                </a:lnTo>
                <a:lnTo>
                  <a:pt x="127032" y="175694"/>
                </a:lnTo>
                <a:lnTo>
                  <a:pt x="156097" y="156098"/>
                </a:lnTo>
                <a:lnTo>
                  <a:pt x="175694" y="127032"/>
                </a:lnTo>
                <a:lnTo>
                  <a:pt x="182879" y="91439"/>
                </a:lnTo>
                <a:lnTo>
                  <a:pt x="175694" y="55847"/>
                </a:lnTo>
                <a:lnTo>
                  <a:pt x="156097" y="26782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89633" y="501350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424198" y="375763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39" y="0"/>
                </a:moveTo>
                <a:lnTo>
                  <a:pt x="55847" y="7185"/>
                </a:lnTo>
                <a:lnTo>
                  <a:pt x="26782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2" y="156098"/>
                </a:lnTo>
                <a:lnTo>
                  <a:pt x="55847" y="175694"/>
                </a:lnTo>
                <a:lnTo>
                  <a:pt x="91439" y="182879"/>
                </a:lnTo>
                <a:lnTo>
                  <a:pt x="127032" y="175694"/>
                </a:lnTo>
                <a:lnTo>
                  <a:pt x="156098" y="156098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8" y="26782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424198" y="3757638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549533" y="492441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40" y="0"/>
                </a:moveTo>
                <a:lnTo>
                  <a:pt x="55847" y="7185"/>
                </a:lnTo>
                <a:lnTo>
                  <a:pt x="26782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2" y="156098"/>
                </a:lnTo>
                <a:lnTo>
                  <a:pt x="55847" y="175694"/>
                </a:lnTo>
                <a:lnTo>
                  <a:pt x="91440" y="182879"/>
                </a:lnTo>
                <a:lnTo>
                  <a:pt x="127032" y="175694"/>
                </a:lnTo>
                <a:lnTo>
                  <a:pt x="156098" y="156098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8" y="26782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549533" y="492441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452398" y="515947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40" y="0"/>
                </a:moveTo>
                <a:lnTo>
                  <a:pt x="55847" y="7185"/>
                </a:lnTo>
                <a:lnTo>
                  <a:pt x="26782" y="26782"/>
                </a:lnTo>
                <a:lnTo>
                  <a:pt x="7185" y="55847"/>
                </a:lnTo>
                <a:lnTo>
                  <a:pt x="0" y="91439"/>
                </a:lnTo>
                <a:lnTo>
                  <a:pt x="7185" y="127032"/>
                </a:lnTo>
                <a:lnTo>
                  <a:pt x="26782" y="156098"/>
                </a:lnTo>
                <a:lnTo>
                  <a:pt x="55847" y="175694"/>
                </a:lnTo>
                <a:lnTo>
                  <a:pt x="91440" y="182879"/>
                </a:lnTo>
                <a:lnTo>
                  <a:pt x="127032" y="175694"/>
                </a:lnTo>
                <a:lnTo>
                  <a:pt x="156098" y="156098"/>
                </a:lnTo>
                <a:lnTo>
                  <a:pt x="175694" y="127032"/>
                </a:lnTo>
                <a:lnTo>
                  <a:pt x="182880" y="91439"/>
                </a:lnTo>
                <a:lnTo>
                  <a:pt x="175694" y="55847"/>
                </a:lnTo>
                <a:lnTo>
                  <a:pt x="156098" y="26782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452398" y="515947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452398" y="588595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40" y="0"/>
                </a:moveTo>
                <a:lnTo>
                  <a:pt x="55847" y="7185"/>
                </a:lnTo>
                <a:lnTo>
                  <a:pt x="26782" y="26782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2"/>
                </a:lnTo>
                <a:lnTo>
                  <a:pt x="26782" y="156097"/>
                </a:lnTo>
                <a:lnTo>
                  <a:pt x="55847" y="175694"/>
                </a:lnTo>
                <a:lnTo>
                  <a:pt x="91440" y="182880"/>
                </a:lnTo>
                <a:lnTo>
                  <a:pt x="127032" y="175694"/>
                </a:lnTo>
                <a:lnTo>
                  <a:pt x="156098" y="156097"/>
                </a:lnTo>
                <a:lnTo>
                  <a:pt x="175694" y="127032"/>
                </a:lnTo>
                <a:lnTo>
                  <a:pt x="182880" y="91440"/>
                </a:lnTo>
                <a:lnTo>
                  <a:pt x="175694" y="55847"/>
                </a:lnTo>
                <a:lnTo>
                  <a:pt x="156098" y="26782"/>
                </a:lnTo>
                <a:lnTo>
                  <a:pt x="127032" y="7185"/>
                </a:lnTo>
                <a:lnTo>
                  <a:pt x="9144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452398" y="5885952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424198" y="558792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91439" y="0"/>
                </a:moveTo>
                <a:lnTo>
                  <a:pt x="55847" y="7185"/>
                </a:lnTo>
                <a:lnTo>
                  <a:pt x="26782" y="26782"/>
                </a:lnTo>
                <a:lnTo>
                  <a:pt x="7185" y="55847"/>
                </a:lnTo>
                <a:lnTo>
                  <a:pt x="0" y="91440"/>
                </a:lnTo>
                <a:lnTo>
                  <a:pt x="7185" y="127033"/>
                </a:lnTo>
                <a:lnTo>
                  <a:pt x="26782" y="156098"/>
                </a:lnTo>
                <a:lnTo>
                  <a:pt x="55847" y="175694"/>
                </a:lnTo>
                <a:lnTo>
                  <a:pt x="91439" y="182880"/>
                </a:lnTo>
                <a:lnTo>
                  <a:pt x="127032" y="175694"/>
                </a:lnTo>
                <a:lnTo>
                  <a:pt x="156098" y="156098"/>
                </a:lnTo>
                <a:lnTo>
                  <a:pt x="175694" y="127033"/>
                </a:lnTo>
                <a:lnTo>
                  <a:pt x="182880" y="91440"/>
                </a:lnTo>
                <a:lnTo>
                  <a:pt x="175694" y="55847"/>
                </a:lnTo>
                <a:lnTo>
                  <a:pt x="156098" y="26782"/>
                </a:lnTo>
                <a:lnTo>
                  <a:pt x="127032" y="7185"/>
                </a:lnTo>
                <a:lnTo>
                  <a:pt x="9143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424198" y="5587921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79">
                <a:moveTo>
                  <a:pt x="0" y="91440"/>
                </a:moveTo>
                <a:lnTo>
                  <a:pt x="7185" y="55847"/>
                </a:lnTo>
                <a:lnTo>
                  <a:pt x="26782" y="26782"/>
                </a:lnTo>
                <a:lnTo>
                  <a:pt x="55847" y="7185"/>
                </a:lnTo>
                <a:lnTo>
                  <a:pt x="91440" y="0"/>
                </a:lnTo>
                <a:lnTo>
                  <a:pt x="127032" y="7185"/>
                </a:lnTo>
                <a:lnTo>
                  <a:pt x="156097" y="26782"/>
                </a:lnTo>
                <a:lnTo>
                  <a:pt x="175694" y="55847"/>
                </a:lnTo>
                <a:lnTo>
                  <a:pt x="182880" y="91440"/>
                </a:lnTo>
                <a:lnTo>
                  <a:pt x="175694" y="127032"/>
                </a:lnTo>
                <a:lnTo>
                  <a:pt x="156097" y="156097"/>
                </a:lnTo>
                <a:lnTo>
                  <a:pt x="127032" y="175694"/>
                </a:lnTo>
                <a:lnTo>
                  <a:pt x="91440" y="182880"/>
                </a:lnTo>
                <a:lnTo>
                  <a:pt x="55847" y="175694"/>
                </a:lnTo>
                <a:lnTo>
                  <a:pt x="26782" y="156097"/>
                </a:lnTo>
                <a:lnTo>
                  <a:pt x="7185" y="127032"/>
                </a:lnTo>
                <a:lnTo>
                  <a:pt x="0" y="91440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8719684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69976" y="347472"/>
            <a:ext cx="3779520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095" y="1348740"/>
            <a:ext cx="793432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pc="-10"/>
              <a:t>Diameter: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maximum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(shortest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path) 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distance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between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any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pair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of nodes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in a</a:t>
            </a:r>
            <a:r>
              <a:rPr dirty="0" spc="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</a:t>
            </a:r>
          </a:p>
        </p:txBody>
      </p:sp>
      <p:sp>
        <p:nvSpPr>
          <p:cNvPr id="6" name="object 6"/>
          <p:cNvSpPr/>
          <p:nvPr/>
        </p:nvSpPr>
        <p:spPr>
          <a:xfrm>
            <a:off x="1524000" y="3810000"/>
            <a:ext cx="2609088" cy="11125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18095" y="2680716"/>
            <a:ext cx="8338184" cy="3779520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332740" marR="160655" indent="-320040">
              <a:lnSpc>
                <a:spcPts val="3820"/>
              </a:lnSpc>
              <a:spcBef>
                <a:spcPts val="24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z="3200" spc="-35" b="1">
                <a:solidFill>
                  <a:srgbClr val="0000FF"/>
                </a:solidFill>
                <a:latin typeface="Calibri"/>
                <a:cs typeface="Calibri"/>
              </a:rPr>
              <a:t>Average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path length </a:t>
            </a:r>
            <a:r>
              <a:rPr dirty="0" sz="3200" spc="-25">
                <a:latin typeface="Calibri"/>
                <a:cs typeface="Calibri"/>
              </a:rPr>
              <a:t>for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10">
                <a:latin typeface="Calibri"/>
                <a:cs typeface="Calibri"/>
              </a:rPr>
              <a:t>connected </a:t>
            </a:r>
            <a:r>
              <a:rPr dirty="0" sz="3200" spc="-15">
                <a:latin typeface="Calibri"/>
                <a:cs typeface="Calibri"/>
              </a:rPr>
              <a:t>graph </a:t>
            </a:r>
            <a:r>
              <a:rPr dirty="0" sz="3200">
                <a:latin typeface="Calibri"/>
                <a:cs typeface="Calibri"/>
              </a:rPr>
              <a:t>or </a:t>
            </a:r>
            <a:r>
              <a:rPr dirty="0" sz="3200" spc="-315">
                <a:latin typeface="Calibri"/>
                <a:cs typeface="Calibri"/>
              </a:rPr>
              <a:t>a  </a:t>
            </a:r>
            <a:r>
              <a:rPr dirty="0" sz="3200" spc="-15">
                <a:latin typeface="Calibri"/>
                <a:cs typeface="Calibri"/>
              </a:rPr>
              <a:t>strongly </a:t>
            </a:r>
            <a:r>
              <a:rPr dirty="0" sz="3200" spc="-10">
                <a:latin typeface="Calibri"/>
                <a:cs typeface="Calibri"/>
              </a:rPr>
              <a:t>connected </a:t>
            </a:r>
            <a:r>
              <a:rPr dirty="0" sz="3200" spc="-15">
                <a:latin typeface="Calibri"/>
                <a:cs typeface="Calibri"/>
              </a:rPr>
              <a:t>directed</a:t>
            </a:r>
            <a:r>
              <a:rPr dirty="0" sz="3200" spc="15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</a:t>
            </a:r>
            <a:endParaRPr sz="3200">
              <a:latin typeface="Calibri"/>
              <a:cs typeface="Calibri"/>
            </a:endParaRPr>
          </a:p>
          <a:p>
            <a:pPr lvl="1" marL="4147185" indent="-285750">
              <a:lnSpc>
                <a:spcPct val="100000"/>
              </a:lnSpc>
              <a:spcBef>
                <a:spcPts val="2030"/>
              </a:spcBef>
              <a:buSzPct val="90000"/>
              <a:buFont typeface="Arial"/>
              <a:buChar char="•"/>
              <a:tabLst>
                <a:tab pos="4147185" algn="l"/>
                <a:tab pos="4147820" algn="l"/>
              </a:tabLst>
            </a:pPr>
            <a:r>
              <a:rPr dirty="0" sz="2000" b="1" i="1">
                <a:solidFill>
                  <a:srgbClr val="008000"/>
                </a:solidFill>
                <a:latin typeface="Times New Roman"/>
                <a:cs typeface="Times New Roman"/>
              </a:rPr>
              <a:t>h</a:t>
            </a:r>
            <a:r>
              <a:rPr dirty="0" baseline="-17094" sz="1950" b="1" i="1">
                <a:solidFill>
                  <a:srgbClr val="008000"/>
                </a:solidFill>
                <a:latin typeface="Times New Roman"/>
                <a:cs typeface="Times New Roman"/>
              </a:rPr>
              <a:t>ij </a:t>
            </a:r>
            <a:r>
              <a:rPr dirty="0" sz="2000" spc="-5">
                <a:solidFill>
                  <a:srgbClr val="008000"/>
                </a:solidFill>
                <a:latin typeface="Corbel"/>
                <a:cs typeface="Corbel"/>
              </a:rPr>
              <a:t>is the distance from node </a:t>
            </a:r>
            <a:r>
              <a:rPr dirty="0" sz="2000" b="1" i="1">
                <a:solidFill>
                  <a:srgbClr val="008000"/>
                </a:solidFill>
                <a:latin typeface="Times New Roman"/>
                <a:cs typeface="Times New Roman"/>
              </a:rPr>
              <a:t>i </a:t>
            </a:r>
            <a:r>
              <a:rPr dirty="0" sz="2000">
                <a:solidFill>
                  <a:srgbClr val="008000"/>
                </a:solidFill>
                <a:latin typeface="Corbel"/>
                <a:cs typeface="Corbel"/>
              </a:rPr>
              <a:t>to </a:t>
            </a:r>
            <a:r>
              <a:rPr dirty="0" sz="2000" spc="-5">
                <a:solidFill>
                  <a:srgbClr val="008000"/>
                </a:solidFill>
                <a:latin typeface="Corbel"/>
                <a:cs typeface="Corbel"/>
              </a:rPr>
              <a:t>node</a:t>
            </a:r>
            <a:r>
              <a:rPr dirty="0" sz="2000" spc="-75">
                <a:solidFill>
                  <a:srgbClr val="008000"/>
                </a:solidFill>
                <a:latin typeface="Corbel"/>
                <a:cs typeface="Corbel"/>
              </a:rPr>
              <a:t> </a:t>
            </a:r>
            <a:r>
              <a:rPr dirty="0" sz="2000" b="1" i="1">
                <a:solidFill>
                  <a:srgbClr val="008000"/>
                </a:solidFill>
                <a:latin typeface="Times New Roman"/>
                <a:cs typeface="Times New Roman"/>
              </a:rPr>
              <a:t>j</a:t>
            </a:r>
            <a:endParaRPr sz="2000">
              <a:latin typeface="Times New Roman"/>
              <a:cs typeface="Times New Roman"/>
            </a:endParaRPr>
          </a:p>
          <a:p>
            <a:pPr lvl="1" marL="4147185" marR="177165" indent="-285750">
              <a:lnSpc>
                <a:spcPct val="100000"/>
              </a:lnSpc>
              <a:buSzPct val="90000"/>
              <a:buFont typeface="Arial"/>
              <a:buChar char="•"/>
              <a:tabLst>
                <a:tab pos="4147185" algn="l"/>
                <a:tab pos="4147820" algn="l"/>
              </a:tabLst>
            </a:pPr>
            <a:r>
              <a:rPr dirty="0" sz="2000" spc="0" b="1" i="1">
                <a:solidFill>
                  <a:srgbClr val="008000"/>
                </a:solidFill>
                <a:latin typeface="Times New Roman"/>
                <a:cs typeface="Times New Roman"/>
              </a:rPr>
              <a:t>E</a:t>
            </a:r>
            <a:r>
              <a:rPr dirty="0" baseline="-17094" sz="1950" spc="0" b="1" i="1">
                <a:solidFill>
                  <a:srgbClr val="008000"/>
                </a:solidFill>
                <a:latin typeface="Times New Roman"/>
                <a:cs typeface="Times New Roman"/>
              </a:rPr>
              <a:t>max </a:t>
            </a:r>
            <a:r>
              <a:rPr dirty="0" sz="2000">
                <a:solidFill>
                  <a:srgbClr val="008000"/>
                </a:solidFill>
                <a:latin typeface="Calibri"/>
                <a:cs typeface="Calibri"/>
              </a:rPr>
              <a:t>is </a:t>
            </a:r>
            <a:r>
              <a:rPr dirty="0" sz="2000" spc="-5">
                <a:solidFill>
                  <a:srgbClr val="008000"/>
                </a:solidFill>
                <a:latin typeface="Calibri"/>
                <a:cs typeface="Calibri"/>
              </a:rPr>
              <a:t>the max number of </a:t>
            </a:r>
            <a:r>
              <a:rPr dirty="0" sz="2000" spc="-10">
                <a:solidFill>
                  <a:srgbClr val="008000"/>
                </a:solidFill>
                <a:latin typeface="Calibri"/>
                <a:cs typeface="Calibri"/>
              </a:rPr>
              <a:t>edges (total  </a:t>
            </a:r>
            <a:r>
              <a:rPr dirty="0" sz="2000" spc="-5">
                <a:solidFill>
                  <a:srgbClr val="008000"/>
                </a:solidFill>
                <a:latin typeface="Calibri"/>
                <a:cs typeface="Calibri"/>
              </a:rPr>
              <a:t>number of node </a:t>
            </a:r>
            <a:r>
              <a:rPr dirty="0" sz="2000" spc="-10">
                <a:solidFill>
                  <a:srgbClr val="008000"/>
                </a:solidFill>
                <a:latin typeface="Calibri"/>
                <a:cs typeface="Calibri"/>
              </a:rPr>
              <a:t>pairs) </a:t>
            </a:r>
            <a:r>
              <a:rPr dirty="0" sz="2000" i="1">
                <a:solidFill>
                  <a:srgbClr val="008000"/>
                </a:solidFill>
                <a:latin typeface="Times New Roman"/>
                <a:cs typeface="Times New Roman"/>
              </a:rPr>
              <a:t>=</a:t>
            </a:r>
            <a:r>
              <a:rPr dirty="0" sz="2000" spc="-10" i="1">
                <a:solidFill>
                  <a:srgbClr val="008000"/>
                </a:solidFill>
                <a:latin typeface="Times New Roman"/>
                <a:cs typeface="Times New Roman"/>
              </a:rPr>
              <a:t> </a:t>
            </a:r>
            <a:r>
              <a:rPr dirty="0" sz="2000" spc="-5" i="1">
                <a:solidFill>
                  <a:srgbClr val="008000"/>
                </a:solidFill>
                <a:latin typeface="Times New Roman"/>
                <a:cs typeface="Times New Roman"/>
              </a:rPr>
              <a:t>n(n-1)/2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2150">
              <a:latin typeface="Times New Roman"/>
              <a:cs typeface="Times New Roman"/>
            </a:endParaRPr>
          </a:p>
          <a:p>
            <a:pPr marL="625475" marR="5080" indent="-274320">
              <a:lnSpc>
                <a:spcPct val="99600"/>
              </a:lnSpc>
              <a:buClr>
                <a:srgbClr val="60B5CC"/>
              </a:buClr>
              <a:buSzPct val="85714"/>
              <a:buFont typeface="Malgun Gothic"/>
              <a:buChar char="▪"/>
              <a:tabLst>
                <a:tab pos="625475" algn="l"/>
              </a:tabLst>
            </a:pPr>
            <a:r>
              <a:rPr dirty="0" sz="2800" spc="-15">
                <a:latin typeface="Calibri"/>
                <a:cs typeface="Calibri"/>
              </a:rPr>
              <a:t>Many </a:t>
            </a:r>
            <a:r>
              <a:rPr dirty="0" sz="2800" spc="-5">
                <a:latin typeface="Calibri"/>
                <a:cs typeface="Calibri"/>
              </a:rPr>
              <a:t>times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10">
                <a:latin typeface="Calibri"/>
                <a:cs typeface="Calibri"/>
              </a:rPr>
              <a:t>compute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30">
                <a:latin typeface="Calibri"/>
                <a:cs typeface="Calibri"/>
              </a:rPr>
              <a:t>average </a:t>
            </a:r>
            <a:r>
              <a:rPr dirty="0" sz="2800" spc="-5">
                <a:latin typeface="Calibri"/>
                <a:cs typeface="Calibri"/>
              </a:rPr>
              <a:t>only </a:t>
            </a:r>
            <a:r>
              <a:rPr dirty="0" sz="2800" spc="-15">
                <a:latin typeface="Calibri"/>
                <a:cs typeface="Calibri"/>
              </a:rPr>
              <a:t>over </a:t>
            </a:r>
            <a:r>
              <a:rPr dirty="0" sz="2800">
                <a:latin typeface="Calibri"/>
                <a:cs typeface="Calibri"/>
              </a:rPr>
              <a:t>the  </a:t>
            </a:r>
            <a:r>
              <a:rPr dirty="0" sz="2800" spc="-10">
                <a:latin typeface="Calibri"/>
                <a:cs typeface="Calibri"/>
              </a:rPr>
              <a:t>connected </a:t>
            </a:r>
            <a:r>
              <a:rPr dirty="0" sz="2800" spc="-15">
                <a:latin typeface="Calibri"/>
                <a:cs typeface="Calibri"/>
              </a:rPr>
              <a:t>pairs </a:t>
            </a:r>
            <a:r>
              <a:rPr dirty="0" sz="2800" spc="-5">
                <a:latin typeface="Calibri"/>
                <a:cs typeface="Calibri"/>
              </a:rPr>
              <a:t>of nodes </a:t>
            </a:r>
            <a:r>
              <a:rPr dirty="0" sz="2800" spc="-10">
                <a:latin typeface="Calibri"/>
                <a:cs typeface="Calibri"/>
              </a:rPr>
              <a:t>(that </a:t>
            </a:r>
            <a:r>
              <a:rPr dirty="0" sz="2800" spc="-5">
                <a:latin typeface="Calibri"/>
                <a:cs typeface="Calibri"/>
              </a:rPr>
              <a:t>is, </a:t>
            </a:r>
            <a:r>
              <a:rPr dirty="0" sz="2800" spc="-15">
                <a:latin typeface="Calibri"/>
                <a:cs typeface="Calibri"/>
              </a:rPr>
              <a:t>we ignore </a:t>
            </a:r>
            <a:r>
              <a:rPr dirty="0" sz="2800" spc="-10">
                <a:latin typeface="Calibri"/>
                <a:cs typeface="Calibri"/>
              </a:rPr>
              <a:t>“infinite”  </a:t>
            </a:r>
            <a:r>
              <a:rPr dirty="0" sz="2800" spc="-15">
                <a:latin typeface="Calibri"/>
                <a:cs typeface="Calibri"/>
              </a:rPr>
              <a:t>length</a:t>
            </a:r>
            <a:r>
              <a:rPr dirty="0" sz="2800" spc="-5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paths)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06984" y="6699893"/>
            <a:ext cx="16573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14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69976" y="347472"/>
            <a:ext cx="579729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513695" y="1348740"/>
            <a:ext cx="3671570" cy="995044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469265" algn="l"/>
                <a:tab pos="469900" algn="l"/>
              </a:tabLst>
            </a:pPr>
            <a:r>
              <a:rPr dirty="0" spc="-5"/>
              <a:t>MSN</a:t>
            </a:r>
            <a:r>
              <a:rPr dirty="0" spc="-50"/>
              <a:t> </a:t>
            </a:r>
            <a:r>
              <a:rPr dirty="0" spc="-10"/>
              <a:t>Messenger:</a:t>
            </a:r>
          </a:p>
          <a:p>
            <a:pPr marL="469900" indent="-457200">
              <a:lnSpc>
                <a:spcPts val="3815"/>
              </a:lnSpc>
              <a:buClr>
                <a:srgbClr val="F0AD00"/>
              </a:buClr>
              <a:buSzPct val="81250"/>
              <a:buFont typeface="Malgun Gothic"/>
              <a:buChar char="▪"/>
              <a:tabLst>
                <a:tab pos="469265" algn="l"/>
                <a:tab pos="469900" algn="l"/>
              </a:tabLst>
            </a:pPr>
            <a:r>
              <a:rPr dirty="0"/>
              <a:t>1 </a:t>
            </a:r>
            <a:r>
              <a:rPr dirty="0" spc="-10"/>
              <a:t>month </a:t>
            </a:r>
            <a:r>
              <a:rPr dirty="0"/>
              <a:t>of</a:t>
            </a:r>
            <a:r>
              <a:rPr dirty="0" spc="-60"/>
              <a:t> </a:t>
            </a:r>
            <a:r>
              <a:rPr dirty="0" spc="-5"/>
              <a:t>activity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52150" y="2320036"/>
            <a:ext cx="4582160" cy="3329940"/>
          </a:xfrm>
          <a:prstGeom prst="rect">
            <a:avLst/>
          </a:prstGeom>
        </p:spPr>
        <p:txBody>
          <a:bodyPr wrap="square" lIns="0" tIns="9461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745"/>
              </a:spcBef>
              <a:buClr>
                <a:srgbClr val="60B5CC"/>
              </a:buClr>
              <a:buFont typeface="Malgun Gothic"/>
              <a:buChar char="▪"/>
              <a:tabLst>
                <a:tab pos="469265" algn="l"/>
                <a:tab pos="469900" algn="l"/>
              </a:tabLst>
            </a:pPr>
            <a:r>
              <a:rPr dirty="0" sz="2800">
                <a:latin typeface="Calibri"/>
                <a:cs typeface="Calibri"/>
              </a:rPr>
              <a:t>245 </a:t>
            </a:r>
            <a:r>
              <a:rPr dirty="0" sz="2800" spc="-5">
                <a:latin typeface="Calibri"/>
                <a:cs typeface="Calibri"/>
              </a:rPr>
              <a:t>million </a:t>
            </a:r>
            <a:r>
              <a:rPr dirty="0" sz="2800" spc="-15">
                <a:latin typeface="Calibri"/>
                <a:cs typeface="Calibri"/>
              </a:rPr>
              <a:t>users </a:t>
            </a:r>
            <a:r>
              <a:rPr dirty="0" sz="2800" spc="-5">
                <a:latin typeface="Calibri"/>
                <a:cs typeface="Calibri"/>
              </a:rPr>
              <a:t>logged</a:t>
            </a:r>
            <a:r>
              <a:rPr dirty="0" sz="2800" spc="-1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in</a:t>
            </a:r>
            <a:endParaRPr sz="2800">
              <a:latin typeface="Calibri"/>
              <a:cs typeface="Calibri"/>
            </a:endParaRPr>
          </a:p>
          <a:p>
            <a:pPr marL="469900" marR="5080" indent="-457200">
              <a:lnSpc>
                <a:spcPts val="3290"/>
              </a:lnSpc>
              <a:spcBef>
                <a:spcPts val="810"/>
              </a:spcBef>
              <a:buClr>
                <a:srgbClr val="60B5CC"/>
              </a:buClr>
              <a:buFont typeface="Malgun Gothic"/>
              <a:buChar char="▪"/>
              <a:tabLst>
                <a:tab pos="469265" algn="l"/>
                <a:tab pos="469900" algn="l"/>
              </a:tabLst>
            </a:pPr>
            <a:r>
              <a:rPr dirty="0" sz="2800">
                <a:latin typeface="Calibri"/>
                <a:cs typeface="Calibri"/>
              </a:rPr>
              <a:t>180 </a:t>
            </a:r>
            <a:r>
              <a:rPr dirty="0" sz="2800" spc="-5">
                <a:latin typeface="Calibri"/>
                <a:cs typeface="Calibri"/>
              </a:rPr>
              <a:t>million </a:t>
            </a:r>
            <a:r>
              <a:rPr dirty="0" sz="2800" spc="-15">
                <a:latin typeface="Calibri"/>
                <a:cs typeface="Calibri"/>
              </a:rPr>
              <a:t>users </a:t>
            </a:r>
            <a:r>
              <a:rPr dirty="0" sz="2800" spc="-20">
                <a:latin typeface="Calibri"/>
                <a:cs typeface="Calibri"/>
              </a:rPr>
              <a:t>engaged </a:t>
            </a:r>
            <a:r>
              <a:rPr dirty="0" sz="2800" spc="-5">
                <a:latin typeface="Calibri"/>
                <a:cs typeface="Calibri"/>
              </a:rPr>
              <a:t>in  </a:t>
            </a:r>
            <a:r>
              <a:rPr dirty="0" sz="2800" spc="-20">
                <a:latin typeface="Calibri"/>
                <a:cs typeface="Calibri"/>
              </a:rPr>
              <a:t>conversations</a:t>
            </a:r>
            <a:endParaRPr sz="2800">
              <a:latin typeface="Calibri"/>
              <a:cs typeface="Calibri"/>
            </a:endParaRPr>
          </a:p>
          <a:p>
            <a:pPr marL="469900" marR="1160780" indent="-457200">
              <a:lnSpc>
                <a:spcPts val="3290"/>
              </a:lnSpc>
              <a:spcBef>
                <a:spcPts val="715"/>
              </a:spcBef>
              <a:buClr>
                <a:srgbClr val="60B5CC"/>
              </a:buClr>
              <a:buFont typeface="Malgun Gothic"/>
              <a:buChar char="▪"/>
              <a:tabLst>
                <a:tab pos="469265" algn="l"/>
                <a:tab pos="469900" algn="l"/>
              </a:tabLst>
            </a:pPr>
            <a:r>
              <a:rPr dirty="0" sz="2800" spc="-10">
                <a:latin typeface="Calibri"/>
                <a:cs typeface="Calibri"/>
              </a:rPr>
              <a:t>More </a:t>
            </a:r>
            <a:r>
              <a:rPr dirty="0" sz="2800" spc="-5">
                <a:latin typeface="Calibri"/>
                <a:cs typeface="Calibri"/>
              </a:rPr>
              <a:t>than </a:t>
            </a:r>
            <a:r>
              <a:rPr dirty="0" sz="2800">
                <a:latin typeface="Calibri"/>
                <a:cs typeface="Calibri"/>
              </a:rPr>
              <a:t>30 </a:t>
            </a:r>
            <a:r>
              <a:rPr dirty="0" sz="2800" spc="-5">
                <a:latin typeface="Calibri"/>
                <a:cs typeface="Calibri"/>
              </a:rPr>
              <a:t>billion  </a:t>
            </a:r>
            <a:r>
              <a:rPr dirty="0" sz="2800" spc="-20">
                <a:latin typeface="Calibri"/>
                <a:cs typeface="Calibri"/>
              </a:rPr>
              <a:t>conversations</a:t>
            </a:r>
            <a:endParaRPr sz="2800">
              <a:latin typeface="Calibri"/>
              <a:cs typeface="Calibri"/>
            </a:endParaRPr>
          </a:p>
          <a:p>
            <a:pPr marL="469900" marR="979805" indent="-457200">
              <a:lnSpc>
                <a:spcPct val="101400"/>
              </a:lnSpc>
              <a:spcBef>
                <a:spcPts val="500"/>
              </a:spcBef>
              <a:buClr>
                <a:srgbClr val="60B5CC"/>
              </a:buClr>
              <a:buFont typeface="Malgun Gothic"/>
              <a:buChar char="▪"/>
              <a:tabLst>
                <a:tab pos="469265" algn="l"/>
                <a:tab pos="469900" algn="l"/>
              </a:tabLst>
            </a:pPr>
            <a:r>
              <a:rPr dirty="0" sz="2800" spc="-10">
                <a:latin typeface="Calibri"/>
                <a:cs typeface="Calibri"/>
              </a:rPr>
              <a:t>More </a:t>
            </a:r>
            <a:r>
              <a:rPr dirty="0" sz="2800" spc="-5">
                <a:latin typeface="Calibri"/>
                <a:cs typeface="Calibri"/>
              </a:rPr>
              <a:t>than </a:t>
            </a:r>
            <a:r>
              <a:rPr dirty="0" sz="2800">
                <a:latin typeface="Calibri"/>
                <a:cs typeface="Calibri"/>
              </a:rPr>
              <a:t>255 </a:t>
            </a:r>
            <a:r>
              <a:rPr dirty="0" sz="2800" spc="-5">
                <a:latin typeface="Calibri"/>
                <a:cs typeface="Calibri"/>
              </a:rPr>
              <a:t>billion  </a:t>
            </a:r>
            <a:r>
              <a:rPr dirty="0" sz="2800" spc="-20">
                <a:latin typeface="Calibri"/>
                <a:cs typeface="Calibri"/>
              </a:rPr>
              <a:t>exchanged</a:t>
            </a:r>
            <a:r>
              <a:rPr dirty="0" sz="2800" spc="-4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messages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33400" y="1429511"/>
            <a:ext cx="2663952" cy="497128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8706984" y="6699893"/>
            <a:ext cx="16573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14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879" y="1514855"/>
            <a:ext cx="8778240" cy="4581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69976" y="347472"/>
            <a:ext cx="6199632" cy="4267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43959" y="5983732"/>
            <a:ext cx="733869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0" b="1">
                <a:solidFill>
                  <a:srgbClr val="D60093"/>
                </a:solidFill>
                <a:latin typeface="Calibri"/>
                <a:cs typeface="Calibri"/>
              </a:rPr>
              <a:t>Network: </a:t>
            </a:r>
            <a:r>
              <a:rPr dirty="0" sz="4000" spc="-5">
                <a:latin typeface="Calibri"/>
                <a:cs typeface="Calibri"/>
              </a:rPr>
              <a:t>180M people, 1.3B</a:t>
            </a:r>
            <a:r>
              <a:rPr dirty="0" sz="4000" spc="-80">
                <a:latin typeface="Calibri"/>
                <a:cs typeface="Calibri"/>
              </a:rPr>
              <a:t> </a:t>
            </a:r>
            <a:r>
              <a:rPr dirty="0" sz="4000" spc="-10">
                <a:latin typeface="Calibri"/>
                <a:cs typeface="Calibri"/>
              </a:rPr>
              <a:t>edges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05000" y="1925034"/>
            <a:ext cx="2597150" cy="589915"/>
          </a:xfrm>
          <a:custGeom>
            <a:avLst/>
            <a:gdLst/>
            <a:ahLst/>
            <a:cxnLst/>
            <a:rect l="l" t="t" r="r" b="b"/>
            <a:pathLst>
              <a:path w="2597150" h="589914">
                <a:moveTo>
                  <a:pt x="0" y="589564"/>
                </a:moveTo>
                <a:lnTo>
                  <a:pt x="37688" y="555578"/>
                </a:lnTo>
                <a:lnTo>
                  <a:pt x="75422" y="521693"/>
                </a:lnTo>
                <a:lnTo>
                  <a:pt x="113248" y="488008"/>
                </a:lnTo>
                <a:lnTo>
                  <a:pt x="151210" y="454625"/>
                </a:lnTo>
                <a:lnTo>
                  <a:pt x="189355" y="421644"/>
                </a:lnTo>
                <a:lnTo>
                  <a:pt x="227728" y="389166"/>
                </a:lnTo>
                <a:lnTo>
                  <a:pt x="266375" y="357291"/>
                </a:lnTo>
                <a:lnTo>
                  <a:pt x="305341" y="326119"/>
                </a:lnTo>
                <a:lnTo>
                  <a:pt x="344672" y="295752"/>
                </a:lnTo>
                <a:lnTo>
                  <a:pt x="384414" y="266289"/>
                </a:lnTo>
                <a:lnTo>
                  <a:pt x="424612" y="237832"/>
                </a:lnTo>
                <a:lnTo>
                  <a:pt x="465312" y="210480"/>
                </a:lnTo>
                <a:lnTo>
                  <a:pt x="506559" y="184335"/>
                </a:lnTo>
                <a:lnTo>
                  <a:pt x="548400" y="159496"/>
                </a:lnTo>
                <a:lnTo>
                  <a:pt x="590879" y="136064"/>
                </a:lnTo>
                <a:lnTo>
                  <a:pt x="634042" y="114141"/>
                </a:lnTo>
                <a:lnTo>
                  <a:pt x="677936" y="93825"/>
                </a:lnTo>
                <a:lnTo>
                  <a:pt x="722604" y="75219"/>
                </a:lnTo>
                <a:lnTo>
                  <a:pt x="768095" y="58422"/>
                </a:lnTo>
                <a:lnTo>
                  <a:pt x="814452" y="43534"/>
                </a:lnTo>
                <a:lnTo>
                  <a:pt x="861721" y="30658"/>
                </a:lnTo>
                <a:lnTo>
                  <a:pt x="909949" y="19892"/>
                </a:lnTo>
                <a:lnTo>
                  <a:pt x="959180" y="11337"/>
                </a:lnTo>
                <a:lnTo>
                  <a:pt x="1009460" y="5094"/>
                </a:lnTo>
                <a:lnTo>
                  <a:pt x="1060836" y="1264"/>
                </a:lnTo>
                <a:lnTo>
                  <a:pt x="1101757" y="0"/>
                </a:lnTo>
                <a:lnTo>
                  <a:pt x="1143353" y="221"/>
                </a:lnTo>
                <a:lnTo>
                  <a:pt x="1185601" y="1879"/>
                </a:lnTo>
                <a:lnTo>
                  <a:pt x="1228480" y="4928"/>
                </a:lnTo>
                <a:lnTo>
                  <a:pt x="1271968" y="9320"/>
                </a:lnTo>
                <a:lnTo>
                  <a:pt x="1316044" y="15005"/>
                </a:lnTo>
                <a:lnTo>
                  <a:pt x="1360685" y="21936"/>
                </a:lnTo>
                <a:lnTo>
                  <a:pt x="1405870" y="30066"/>
                </a:lnTo>
                <a:lnTo>
                  <a:pt x="1451578" y="39346"/>
                </a:lnTo>
                <a:lnTo>
                  <a:pt x="1497785" y="49729"/>
                </a:lnTo>
                <a:lnTo>
                  <a:pt x="1544471" y="61166"/>
                </a:lnTo>
                <a:lnTo>
                  <a:pt x="1591614" y="73609"/>
                </a:lnTo>
                <a:lnTo>
                  <a:pt x="1639192" y="87011"/>
                </a:lnTo>
                <a:lnTo>
                  <a:pt x="1687184" y="101324"/>
                </a:lnTo>
                <a:lnTo>
                  <a:pt x="1735567" y="116500"/>
                </a:lnTo>
                <a:lnTo>
                  <a:pt x="1784320" y="132490"/>
                </a:lnTo>
                <a:lnTo>
                  <a:pt x="1833421" y="149248"/>
                </a:lnTo>
                <a:lnTo>
                  <a:pt x="1882848" y="166724"/>
                </a:lnTo>
                <a:lnTo>
                  <a:pt x="1932580" y="184872"/>
                </a:lnTo>
                <a:lnTo>
                  <a:pt x="1982594" y="203642"/>
                </a:lnTo>
                <a:lnTo>
                  <a:pt x="2032870" y="222988"/>
                </a:lnTo>
                <a:lnTo>
                  <a:pt x="2083385" y="242861"/>
                </a:lnTo>
                <a:lnTo>
                  <a:pt x="2134118" y="263213"/>
                </a:lnTo>
                <a:lnTo>
                  <a:pt x="2185046" y="283997"/>
                </a:lnTo>
                <a:lnTo>
                  <a:pt x="2236148" y="305164"/>
                </a:lnTo>
                <a:lnTo>
                  <a:pt x="2287403" y="326667"/>
                </a:lnTo>
                <a:lnTo>
                  <a:pt x="2338788" y="348457"/>
                </a:lnTo>
                <a:lnTo>
                  <a:pt x="2390282" y="370487"/>
                </a:lnTo>
                <a:lnTo>
                  <a:pt x="2441863" y="392708"/>
                </a:lnTo>
                <a:lnTo>
                  <a:pt x="2493509" y="415074"/>
                </a:lnTo>
                <a:lnTo>
                  <a:pt x="2545199" y="437535"/>
                </a:lnTo>
                <a:lnTo>
                  <a:pt x="2596910" y="460044"/>
                </a:lnTo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957330" y="2376891"/>
            <a:ext cx="520065" cy="1742439"/>
          </a:xfrm>
          <a:custGeom>
            <a:avLst/>
            <a:gdLst/>
            <a:ahLst/>
            <a:cxnLst/>
            <a:rect l="l" t="t" r="r" b="b"/>
            <a:pathLst>
              <a:path w="520064" h="1742439">
                <a:moveTo>
                  <a:pt x="3568" y="1742117"/>
                </a:moveTo>
                <a:lnTo>
                  <a:pt x="2576" y="1690308"/>
                </a:lnTo>
                <a:lnTo>
                  <a:pt x="1654" y="1638541"/>
                </a:lnTo>
                <a:lnTo>
                  <a:pt x="871" y="1586856"/>
                </a:lnTo>
                <a:lnTo>
                  <a:pt x="296" y="1535296"/>
                </a:lnTo>
                <a:lnTo>
                  <a:pt x="0" y="1483900"/>
                </a:lnTo>
                <a:lnTo>
                  <a:pt x="51" y="1432711"/>
                </a:lnTo>
                <a:lnTo>
                  <a:pt x="519" y="1381770"/>
                </a:lnTo>
                <a:lnTo>
                  <a:pt x="1474" y="1331119"/>
                </a:lnTo>
                <a:lnTo>
                  <a:pt x="2986" y="1280797"/>
                </a:lnTo>
                <a:lnTo>
                  <a:pt x="5123" y="1230848"/>
                </a:lnTo>
                <a:lnTo>
                  <a:pt x="7956" y="1181311"/>
                </a:lnTo>
                <a:lnTo>
                  <a:pt x="11553" y="1132229"/>
                </a:lnTo>
                <a:lnTo>
                  <a:pt x="15985" y="1083643"/>
                </a:lnTo>
                <a:lnTo>
                  <a:pt x="21322" y="1035594"/>
                </a:lnTo>
                <a:lnTo>
                  <a:pt x="27631" y="988123"/>
                </a:lnTo>
                <a:lnTo>
                  <a:pt x="34984" y="941272"/>
                </a:lnTo>
                <a:lnTo>
                  <a:pt x="43449" y="895082"/>
                </a:lnTo>
                <a:lnTo>
                  <a:pt x="53097" y="849594"/>
                </a:lnTo>
                <a:lnTo>
                  <a:pt x="63996" y="804850"/>
                </a:lnTo>
                <a:lnTo>
                  <a:pt x="76216" y="760891"/>
                </a:lnTo>
                <a:lnTo>
                  <a:pt x="91397" y="712999"/>
                </a:lnTo>
                <a:lnTo>
                  <a:pt x="108199" y="666071"/>
                </a:lnTo>
                <a:lnTo>
                  <a:pt x="126528" y="620050"/>
                </a:lnTo>
                <a:lnTo>
                  <a:pt x="146287" y="574878"/>
                </a:lnTo>
                <a:lnTo>
                  <a:pt x="167382" y="530500"/>
                </a:lnTo>
                <a:lnTo>
                  <a:pt x="189717" y="486859"/>
                </a:lnTo>
                <a:lnTo>
                  <a:pt x="213196" y="443898"/>
                </a:lnTo>
                <a:lnTo>
                  <a:pt x="237725" y="401560"/>
                </a:lnTo>
                <a:lnTo>
                  <a:pt x="263207" y="359789"/>
                </a:lnTo>
                <a:lnTo>
                  <a:pt x="289549" y="318528"/>
                </a:lnTo>
                <a:lnTo>
                  <a:pt x="316653" y="277720"/>
                </a:lnTo>
                <a:lnTo>
                  <a:pt x="344425" y="237309"/>
                </a:lnTo>
                <a:lnTo>
                  <a:pt x="372769" y="197238"/>
                </a:lnTo>
                <a:lnTo>
                  <a:pt x="401590" y="157450"/>
                </a:lnTo>
                <a:lnTo>
                  <a:pt x="430793" y="117889"/>
                </a:lnTo>
                <a:lnTo>
                  <a:pt x="460282" y="78498"/>
                </a:lnTo>
                <a:lnTo>
                  <a:pt x="489962" y="39221"/>
                </a:lnTo>
                <a:lnTo>
                  <a:pt x="519737" y="0"/>
                </a:lnTo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388561" y="2319178"/>
            <a:ext cx="1258570" cy="1876425"/>
          </a:xfrm>
          <a:custGeom>
            <a:avLst/>
            <a:gdLst/>
            <a:ahLst/>
            <a:cxnLst/>
            <a:rect l="l" t="t" r="r" b="b"/>
            <a:pathLst>
              <a:path w="1258570" h="1876425">
                <a:moveTo>
                  <a:pt x="0" y="1876030"/>
                </a:moveTo>
                <a:lnTo>
                  <a:pt x="4812" y="1820383"/>
                </a:lnTo>
                <a:lnTo>
                  <a:pt x="9665" y="1764791"/>
                </a:lnTo>
                <a:lnTo>
                  <a:pt x="14598" y="1709310"/>
                </a:lnTo>
                <a:lnTo>
                  <a:pt x="19652" y="1653995"/>
                </a:lnTo>
                <a:lnTo>
                  <a:pt x="24866" y="1598903"/>
                </a:lnTo>
                <a:lnTo>
                  <a:pt x="30281" y="1544087"/>
                </a:lnTo>
                <a:lnTo>
                  <a:pt x="35937" y="1489604"/>
                </a:lnTo>
                <a:lnTo>
                  <a:pt x="41875" y="1435509"/>
                </a:lnTo>
                <a:lnTo>
                  <a:pt x="48133" y="1381857"/>
                </a:lnTo>
                <a:lnTo>
                  <a:pt x="54754" y="1328705"/>
                </a:lnTo>
                <a:lnTo>
                  <a:pt x="61776" y="1276107"/>
                </a:lnTo>
                <a:lnTo>
                  <a:pt x="69240" y="1224118"/>
                </a:lnTo>
                <a:lnTo>
                  <a:pt x="77186" y="1172795"/>
                </a:lnTo>
                <a:lnTo>
                  <a:pt x="85654" y="1122193"/>
                </a:lnTo>
                <a:lnTo>
                  <a:pt x="94685" y="1072366"/>
                </a:lnTo>
                <a:lnTo>
                  <a:pt x="104319" y="1023371"/>
                </a:lnTo>
                <a:lnTo>
                  <a:pt x="114595" y="975263"/>
                </a:lnTo>
                <a:lnTo>
                  <a:pt x="125554" y="928098"/>
                </a:lnTo>
                <a:lnTo>
                  <a:pt x="137236" y="881930"/>
                </a:lnTo>
                <a:lnTo>
                  <a:pt x="149681" y="836816"/>
                </a:lnTo>
                <a:lnTo>
                  <a:pt x="162930" y="792810"/>
                </a:lnTo>
                <a:lnTo>
                  <a:pt x="177023" y="749969"/>
                </a:lnTo>
                <a:lnTo>
                  <a:pt x="191999" y="708347"/>
                </a:lnTo>
                <a:lnTo>
                  <a:pt x="207899" y="668000"/>
                </a:lnTo>
                <a:lnTo>
                  <a:pt x="224764" y="628984"/>
                </a:lnTo>
                <a:lnTo>
                  <a:pt x="242633" y="591354"/>
                </a:lnTo>
                <a:lnTo>
                  <a:pt x="261546" y="555165"/>
                </a:lnTo>
                <a:lnTo>
                  <a:pt x="281544" y="520472"/>
                </a:lnTo>
                <a:lnTo>
                  <a:pt x="302667" y="487332"/>
                </a:lnTo>
                <a:lnTo>
                  <a:pt x="332266" y="446071"/>
                </a:lnTo>
                <a:lnTo>
                  <a:pt x="363798" y="407476"/>
                </a:lnTo>
                <a:lnTo>
                  <a:pt x="397170" y="371420"/>
                </a:lnTo>
                <a:lnTo>
                  <a:pt x="432290" y="337777"/>
                </a:lnTo>
                <a:lnTo>
                  <a:pt x="469067" y="306420"/>
                </a:lnTo>
                <a:lnTo>
                  <a:pt x="507408" y="277221"/>
                </a:lnTo>
                <a:lnTo>
                  <a:pt x="547221" y="250054"/>
                </a:lnTo>
                <a:lnTo>
                  <a:pt x="588414" y="224792"/>
                </a:lnTo>
                <a:lnTo>
                  <a:pt x="630896" y="201307"/>
                </a:lnTo>
                <a:lnTo>
                  <a:pt x="674574" y="179473"/>
                </a:lnTo>
                <a:lnTo>
                  <a:pt x="719355" y="159163"/>
                </a:lnTo>
                <a:lnTo>
                  <a:pt x="765150" y="140249"/>
                </a:lnTo>
                <a:lnTo>
                  <a:pt x="811864" y="122605"/>
                </a:lnTo>
                <a:lnTo>
                  <a:pt x="859406" y="106104"/>
                </a:lnTo>
                <a:lnTo>
                  <a:pt x="907685" y="90619"/>
                </a:lnTo>
                <a:lnTo>
                  <a:pt x="956607" y="76023"/>
                </a:lnTo>
                <a:lnTo>
                  <a:pt x="1006082" y="62188"/>
                </a:lnTo>
                <a:lnTo>
                  <a:pt x="1056017" y="48989"/>
                </a:lnTo>
                <a:lnTo>
                  <a:pt x="1106320" y="36297"/>
                </a:lnTo>
                <a:lnTo>
                  <a:pt x="1156899" y="23986"/>
                </a:lnTo>
                <a:lnTo>
                  <a:pt x="1207662" y="11929"/>
                </a:lnTo>
                <a:lnTo>
                  <a:pt x="1258517" y="0"/>
                </a:lnTo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20722" y="2066252"/>
            <a:ext cx="2016760" cy="833755"/>
          </a:xfrm>
          <a:custGeom>
            <a:avLst/>
            <a:gdLst/>
            <a:ahLst/>
            <a:cxnLst/>
            <a:rect l="l" t="t" r="r" b="b"/>
            <a:pathLst>
              <a:path w="2016759" h="833755">
                <a:moveTo>
                  <a:pt x="2016709" y="833556"/>
                </a:moveTo>
                <a:lnTo>
                  <a:pt x="1977146" y="798701"/>
                </a:lnTo>
                <a:lnTo>
                  <a:pt x="1937575" y="763906"/>
                </a:lnTo>
                <a:lnTo>
                  <a:pt x="1897986" y="729234"/>
                </a:lnTo>
                <a:lnTo>
                  <a:pt x="1858372" y="694743"/>
                </a:lnTo>
                <a:lnTo>
                  <a:pt x="1818724" y="660496"/>
                </a:lnTo>
                <a:lnTo>
                  <a:pt x="1779034" y="626553"/>
                </a:lnTo>
                <a:lnTo>
                  <a:pt x="1739292" y="592974"/>
                </a:lnTo>
                <a:lnTo>
                  <a:pt x="1699491" y="559821"/>
                </a:lnTo>
                <a:lnTo>
                  <a:pt x="1659621" y="527154"/>
                </a:lnTo>
                <a:lnTo>
                  <a:pt x="1619675" y="495033"/>
                </a:lnTo>
                <a:lnTo>
                  <a:pt x="1579643" y="463521"/>
                </a:lnTo>
                <a:lnTo>
                  <a:pt x="1539518" y="432677"/>
                </a:lnTo>
                <a:lnTo>
                  <a:pt x="1499291" y="402563"/>
                </a:lnTo>
                <a:lnTo>
                  <a:pt x="1458953" y="373238"/>
                </a:lnTo>
                <a:lnTo>
                  <a:pt x="1418496" y="344765"/>
                </a:lnTo>
                <a:lnTo>
                  <a:pt x="1377910" y="317203"/>
                </a:lnTo>
                <a:lnTo>
                  <a:pt x="1337189" y="290614"/>
                </a:lnTo>
                <a:lnTo>
                  <a:pt x="1296323" y="265057"/>
                </a:lnTo>
                <a:lnTo>
                  <a:pt x="1255303" y="240595"/>
                </a:lnTo>
                <a:lnTo>
                  <a:pt x="1214122" y="217288"/>
                </a:lnTo>
                <a:lnTo>
                  <a:pt x="1172770" y="195196"/>
                </a:lnTo>
                <a:lnTo>
                  <a:pt x="1131239" y="174380"/>
                </a:lnTo>
                <a:lnTo>
                  <a:pt x="1089521" y="154901"/>
                </a:lnTo>
                <a:lnTo>
                  <a:pt x="1047607" y="136821"/>
                </a:lnTo>
                <a:lnTo>
                  <a:pt x="999459" y="117916"/>
                </a:lnTo>
                <a:lnTo>
                  <a:pt x="951056" y="100826"/>
                </a:lnTo>
                <a:lnTo>
                  <a:pt x="902412" y="85460"/>
                </a:lnTo>
                <a:lnTo>
                  <a:pt x="853539" y="71727"/>
                </a:lnTo>
                <a:lnTo>
                  <a:pt x="804450" y="59536"/>
                </a:lnTo>
                <a:lnTo>
                  <a:pt x="755157" y="48797"/>
                </a:lnTo>
                <a:lnTo>
                  <a:pt x="705674" y="39419"/>
                </a:lnTo>
                <a:lnTo>
                  <a:pt x="656012" y="31310"/>
                </a:lnTo>
                <a:lnTo>
                  <a:pt x="606186" y="24381"/>
                </a:lnTo>
                <a:lnTo>
                  <a:pt x="556206" y="18541"/>
                </a:lnTo>
                <a:lnTo>
                  <a:pt x="506087" y="13699"/>
                </a:lnTo>
                <a:lnTo>
                  <a:pt x="455841" y="9764"/>
                </a:lnTo>
                <a:lnTo>
                  <a:pt x="405480" y="6645"/>
                </a:lnTo>
                <a:lnTo>
                  <a:pt x="355017" y="4252"/>
                </a:lnTo>
                <a:lnTo>
                  <a:pt x="304466" y="2494"/>
                </a:lnTo>
                <a:lnTo>
                  <a:pt x="253838" y="1281"/>
                </a:lnTo>
                <a:lnTo>
                  <a:pt x="203147" y="521"/>
                </a:lnTo>
                <a:lnTo>
                  <a:pt x="152404" y="124"/>
                </a:lnTo>
                <a:lnTo>
                  <a:pt x="101624" y="0"/>
                </a:lnTo>
                <a:lnTo>
                  <a:pt x="50818" y="56"/>
                </a:lnTo>
                <a:lnTo>
                  <a:pt x="0" y="204"/>
                </a:lnTo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742391" y="3283756"/>
            <a:ext cx="672465" cy="454659"/>
          </a:xfrm>
          <a:custGeom>
            <a:avLst/>
            <a:gdLst/>
            <a:ahLst/>
            <a:cxnLst/>
            <a:rect l="l" t="t" r="r" b="b"/>
            <a:pathLst>
              <a:path w="672464" h="454660">
                <a:moveTo>
                  <a:pt x="672155" y="454252"/>
                </a:moveTo>
                <a:lnTo>
                  <a:pt x="644356" y="402895"/>
                </a:lnTo>
                <a:lnTo>
                  <a:pt x="616441" y="352147"/>
                </a:lnTo>
                <a:lnTo>
                  <a:pt x="588292" y="302618"/>
                </a:lnTo>
                <a:lnTo>
                  <a:pt x="559794" y="254920"/>
                </a:lnTo>
                <a:lnTo>
                  <a:pt x="530830" y="209660"/>
                </a:lnTo>
                <a:lnTo>
                  <a:pt x="501282" y="167451"/>
                </a:lnTo>
                <a:lnTo>
                  <a:pt x="471036" y="128900"/>
                </a:lnTo>
                <a:lnTo>
                  <a:pt x="439973" y="94618"/>
                </a:lnTo>
                <a:lnTo>
                  <a:pt x="407978" y="65216"/>
                </a:lnTo>
                <a:lnTo>
                  <a:pt x="374933" y="41302"/>
                </a:lnTo>
                <a:lnTo>
                  <a:pt x="332051" y="19660"/>
                </a:lnTo>
                <a:lnTo>
                  <a:pt x="287575" y="6357"/>
                </a:lnTo>
                <a:lnTo>
                  <a:pt x="241733" y="200"/>
                </a:lnTo>
                <a:lnTo>
                  <a:pt x="194752" y="0"/>
                </a:lnTo>
                <a:lnTo>
                  <a:pt x="146861" y="4563"/>
                </a:lnTo>
                <a:lnTo>
                  <a:pt x="98286" y="12701"/>
                </a:lnTo>
                <a:lnTo>
                  <a:pt x="49257" y="23220"/>
                </a:lnTo>
                <a:lnTo>
                  <a:pt x="0" y="34931"/>
                </a:lnTo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010139" y="2464832"/>
            <a:ext cx="768985" cy="154940"/>
          </a:xfrm>
          <a:custGeom>
            <a:avLst/>
            <a:gdLst/>
            <a:ahLst/>
            <a:cxnLst/>
            <a:rect l="l" t="t" r="r" b="b"/>
            <a:pathLst>
              <a:path w="768985" h="154939">
                <a:moveTo>
                  <a:pt x="768819" y="109160"/>
                </a:moveTo>
                <a:lnTo>
                  <a:pt x="718145" y="89821"/>
                </a:lnTo>
                <a:lnTo>
                  <a:pt x="667669" y="71024"/>
                </a:lnTo>
                <a:lnTo>
                  <a:pt x="617587" y="53312"/>
                </a:lnTo>
                <a:lnTo>
                  <a:pt x="568098" y="37226"/>
                </a:lnTo>
                <a:lnTo>
                  <a:pt x="519398" y="23310"/>
                </a:lnTo>
                <a:lnTo>
                  <a:pt x="471685" y="12105"/>
                </a:lnTo>
                <a:lnTo>
                  <a:pt x="425156" y="4154"/>
                </a:lnTo>
                <a:lnTo>
                  <a:pt x="380009" y="0"/>
                </a:lnTo>
                <a:lnTo>
                  <a:pt x="336442" y="183"/>
                </a:lnTo>
                <a:lnTo>
                  <a:pt x="289468" y="5993"/>
                </a:lnTo>
                <a:lnTo>
                  <a:pt x="244461" y="17207"/>
                </a:lnTo>
                <a:lnTo>
                  <a:pt x="201141" y="33055"/>
                </a:lnTo>
                <a:lnTo>
                  <a:pt x="159227" y="52763"/>
                </a:lnTo>
                <a:lnTo>
                  <a:pt x="118436" y="75560"/>
                </a:lnTo>
                <a:lnTo>
                  <a:pt x="78489" y="100673"/>
                </a:lnTo>
                <a:lnTo>
                  <a:pt x="39104" y="127330"/>
                </a:lnTo>
                <a:lnTo>
                  <a:pt x="0" y="154760"/>
                </a:lnTo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060162" y="2279563"/>
            <a:ext cx="371475" cy="737235"/>
          </a:xfrm>
          <a:custGeom>
            <a:avLst/>
            <a:gdLst/>
            <a:ahLst/>
            <a:cxnLst/>
            <a:rect l="l" t="t" r="r" b="b"/>
            <a:pathLst>
              <a:path w="371475" h="737235">
                <a:moveTo>
                  <a:pt x="0" y="736665"/>
                </a:moveTo>
                <a:lnTo>
                  <a:pt x="45513" y="700074"/>
                </a:lnTo>
                <a:lnTo>
                  <a:pt x="90406" y="663478"/>
                </a:lnTo>
                <a:lnTo>
                  <a:pt x="134058" y="626873"/>
                </a:lnTo>
                <a:lnTo>
                  <a:pt x="175846" y="590253"/>
                </a:lnTo>
                <a:lnTo>
                  <a:pt x="215151" y="553613"/>
                </a:lnTo>
                <a:lnTo>
                  <a:pt x="251352" y="516950"/>
                </a:lnTo>
                <a:lnTo>
                  <a:pt x="283827" y="480257"/>
                </a:lnTo>
                <a:lnTo>
                  <a:pt x="311956" y="443530"/>
                </a:lnTo>
                <a:lnTo>
                  <a:pt x="335118" y="406764"/>
                </a:lnTo>
                <a:lnTo>
                  <a:pt x="352692" y="369954"/>
                </a:lnTo>
                <a:lnTo>
                  <a:pt x="366259" y="323876"/>
                </a:lnTo>
                <a:lnTo>
                  <a:pt x="371338" y="277731"/>
                </a:lnTo>
                <a:lnTo>
                  <a:pt x="369141" y="231530"/>
                </a:lnTo>
                <a:lnTo>
                  <a:pt x="360880" y="185281"/>
                </a:lnTo>
                <a:lnTo>
                  <a:pt x="347768" y="138994"/>
                </a:lnTo>
                <a:lnTo>
                  <a:pt x="331019" y="92678"/>
                </a:lnTo>
                <a:lnTo>
                  <a:pt x="311844" y="46344"/>
                </a:lnTo>
                <a:lnTo>
                  <a:pt x="291456" y="0"/>
                </a:lnTo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28502" y="2215633"/>
            <a:ext cx="147955" cy="584200"/>
          </a:xfrm>
          <a:custGeom>
            <a:avLst/>
            <a:gdLst/>
            <a:ahLst/>
            <a:cxnLst/>
            <a:rect l="l" t="t" r="r" b="b"/>
            <a:pathLst>
              <a:path w="147955" h="584200">
                <a:moveTo>
                  <a:pt x="54968" y="0"/>
                </a:moveTo>
                <a:lnTo>
                  <a:pt x="40836" y="51674"/>
                </a:lnTo>
                <a:lnTo>
                  <a:pt x="27556" y="102939"/>
                </a:lnTo>
                <a:lnTo>
                  <a:pt x="15980" y="153387"/>
                </a:lnTo>
                <a:lnTo>
                  <a:pt x="6961" y="202609"/>
                </a:lnTo>
                <a:lnTo>
                  <a:pt x="1350" y="250195"/>
                </a:lnTo>
                <a:lnTo>
                  <a:pt x="0" y="295737"/>
                </a:lnTo>
                <a:lnTo>
                  <a:pt x="3762" y="338826"/>
                </a:lnTo>
                <a:lnTo>
                  <a:pt x="15298" y="385668"/>
                </a:lnTo>
                <a:lnTo>
                  <a:pt x="33601" y="429264"/>
                </a:lnTo>
                <a:lnTo>
                  <a:pt x="57316" y="470263"/>
                </a:lnTo>
                <a:lnTo>
                  <a:pt x="85090" y="509315"/>
                </a:lnTo>
                <a:lnTo>
                  <a:pt x="115570" y="547068"/>
                </a:lnTo>
                <a:lnTo>
                  <a:pt x="147404" y="584173"/>
                </a:lnTo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636811" y="1902181"/>
            <a:ext cx="427355" cy="389890"/>
          </a:xfrm>
          <a:custGeom>
            <a:avLst/>
            <a:gdLst/>
            <a:ahLst/>
            <a:cxnLst/>
            <a:rect l="l" t="t" r="r" b="b"/>
            <a:pathLst>
              <a:path w="427354" h="389889">
                <a:moveTo>
                  <a:pt x="0" y="389650"/>
                </a:moveTo>
                <a:lnTo>
                  <a:pt x="56075" y="352285"/>
                </a:lnTo>
                <a:lnTo>
                  <a:pt x="111282" y="315278"/>
                </a:lnTo>
                <a:lnTo>
                  <a:pt x="164751" y="278989"/>
                </a:lnTo>
                <a:lnTo>
                  <a:pt x="215614" y="243776"/>
                </a:lnTo>
                <a:lnTo>
                  <a:pt x="263001" y="209999"/>
                </a:lnTo>
                <a:lnTo>
                  <a:pt x="306043" y="178016"/>
                </a:lnTo>
                <a:lnTo>
                  <a:pt x="343872" y="148186"/>
                </a:lnTo>
                <a:lnTo>
                  <a:pt x="375619" y="120869"/>
                </a:lnTo>
                <a:lnTo>
                  <a:pt x="417391" y="75205"/>
                </a:lnTo>
                <a:lnTo>
                  <a:pt x="427288" y="47441"/>
                </a:lnTo>
                <a:lnTo>
                  <a:pt x="417071" y="27984"/>
                </a:lnTo>
                <a:lnTo>
                  <a:pt x="390763" y="15173"/>
                </a:lnTo>
                <a:lnTo>
                  <a:pt x="352388" y="7346"/>
                </a:lnTo>
                <a:lnTo>
                  <a:pt x="305967" y="2842"/>
                </a:lnTo>
                <a:lnTo>
                  <a:pt x="255523" y="0"/>
                </a:lnTo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255316" y="2060236"/>
            <a:ext cx="2675890" cy="2516505"/>
          </a:xfrm>
          <a:custGeom>
            <a:avLst/>
            <a:gdLst/>
            <a:ahLst/>
            <a:cxnLst/>
            <a:rect l="l" t="t" r="r" b="b"/>
            <a:pathLst>
              <a:path w="2675890" h="2516504">
                <a:moveTo>
                  <a:pt x="2675558" y="2515970"/>
                </a:moveTo>
                <a:lnTo>
                  <a:pt x="2646539" y="2471744"/>
                </a:lnTo>
                <a:lnTo>
                  <a:pt x="2617512" y="2427533"/>
                </a:lnTo>
                <a:lnTo>
                  <a:pt x="2588468" y="2383352"/>
                </a:lnTo>
                <a:lnTo>
                  <a:pt x="2559398" y="2339218"/>
                </a:lnTo>
                <a:lnTo>
                  <a:pt x="2530293" y="2295146"/>
                </a:lnTo>
                <a:lnTo>
                  <a:pt x="2501146" y="2251150"/>
                </a:lnTo>
                <a:lnTo>
                  <a:pt x="2471947" y="2207247"/>
                </a:lnTo>
                <a:lnTo>
                  <a:pt x="2442688" y="2163452"/>
                </a:lnTo>
                <a:lnTo>
                  <a:pt x="2413361" y="2119780"/>
                </a:lnTo>
                <a:lnTo>
                  <a:pt x="2383957" y="2076247"/>
                </a:lnTo>
                <a:lnTo>
                  <a:pt x="2354467" y="2032868"/>
                </a:lnTo>
                <a:lnTo>
                  <a:pt x="2324882" y="1989658"/>
                </a:lnTo>
                <a:lnTo>
                  <a:pt x="2295195" y="1946634"/>
                </a:lnTo>
                <a:lnTo>
                  <a:pt x="2265397" y="1903809"/>
                </a:lnTo>
                <a:lnTo>
                  <a:pt x="2235478" y="1861200"/>
                </a:lnTo>
                <a:lnTo>
                  <a:pt x="2205431" y="1818823"/>
                </a:lnTo>
                <a:lnTo>
                  <a:pt x="2175246" y="1776692"/>
                </a:lnTo>
                <a:lnTo>
                  <a:pt x="2144917" y="1734822"/>
                </a:lnTo>
                <a:lnTo>
                  <a:pt x="2114432" y="1693230"/>
                </a:lnTo>
                <a:lnTo>
                  <a:pt x="2083785" y="1651931"/>
                </a:lnTo>
                <a:lnTo>
                  <a:pt x="2052967" y="1610940"/>
                </a:lnTo>
                <a:lnTo>
                  <a:pt x="2021968" y="1570273"/>
                </a:lnTo>
                <a:lnTo>
                  <a:pt x="1990781" y="1529944"/>
                </a:lnTo>
                <a:lnTo>
                  <a:pt x="1959397" y="1489970"/>
                </a:lnTo>
                <a:lnTo>
                  <a:pt x="1927808" y="1450366"/>
                </a:lnTo>
                <a:lnTo>
                  <a:pt x="1896004" y="1411147"/>
                </a:lnTo>
                <a:lnTo>
                  <a:pt x="1863977" y="1372328"/>
                </a:lnTo>
                <a:lnTo>
                  <a:pt x="1831719" y="1333926"/>
                </a:lnTo>
                <a:lnTo>
                  <a:pt x="1799221" y="1295955"/>
                </a:lnTo>
                <a:lnTo>
                  <a:pt x="1766474" y="1258430"/>
                </a:lnTo>
                <a:lnTo>
                  <a:pt x="1733470" y="1221368"/>
                </a:lnTo>
                <a:lnTo>
                  <a:pt x="1700201" y="1184784"/>
                </a:lnTo>
                <a:lnTo>
                  <a:pt x="1666657" y="1148692"/>
                </a:lnTo>
                <a:lnTo>
                  <a:pt x="1632831" y="1113109"/>
                </a:lnTo>
                <a:lnTo>
                  <a:pt x="1598713" y="1078050"/>
                </a:lnTo>
                <a:lnTo>
                  <a:pt x="1564295" y="1043530"/>
                </a:lnTo>
                <a:lnTo>
                  <a:pt x="1529569" y="1009565"/>
                </a:lnTo>
                <a:lnTo>
                  <a:pt x="1494525" y="976170"/>
                </a:lnTo>
                <a:lnTo>
                  <a:pt x="1456113" y="940569"/>
                </a:lnTo>
                <a:lnTo>
                  <a:pt x="1417328" y="905639"/>
                </a:lnTo>
                <a:lnTo>
                  <a:pt x="1378180" y="871360"/>
                </a:lnTo>
                <a:lnTo>
                  <a:pt x="1338682" y="837711"/>
                </a:lnTo>
                <a:lnTo>
                  <a:pt x="1298844" y="804674"/>
                </a:lnTo>
                <a:lnTo>
                  <a:pt x="1258677" y="772228"/>
                </a:lnTo>
                <a:lnTo>
                  <a:pt x="1218192" y="740354"/>
                </a:lnTo>
                <a:lnTo>
                  <a:pt x="1177399" y="709033"/>
                </a:lnTo>
                <a:lnTo>
                  <a:pt x="1136311" y="678243"/>
                </a:lnTo>
                <a:lnTo>
                  <a:pt x="1094937" y="647967"/>
                </a:lnTo>
                <a:lnTo>
                  <a:pt x="1053289" y="618183"/>
                </a:lnTo>
                <a:lnTo>
                  <a:pt x="1011378" y="588873"/>
                </a:lnTo>
                <a:lnTo>
                  <a:pt x="969215" y="560016"/>
                </a:lnTo>
                <a:lnTo>
                  <a:pt x="926810" y="531593"/>
                </a:lnTo>
                <a:lnTo>
                  <a:pt x="884175" y="503584"/>
                </a:lnTo>
                <a:lnTo>
                  <a:pt x="841321" y="475970"/>
                </a:lnTo>
                <a:lnTo>
                  <a:pt x="798258" y="448730"/>
                </a:lnTo>
                <a:lnTo>
                  <a:pt x="754998" y="421845"/>
                </a:lnTo>
                <a:lnTo>
                  <a:pt x="711552" y="395295"/>
                </a:lnTo>
                <a:lnTo>
                  <a:pt x="667930" y="369061"/>
                </a:lnTo>
                <a:lnTo>
                  <a:pt x="624143" y="343122"/>
                </a:lnTo>
                <a:lnTo>
                  <a:pt x="580203" y="317460"/>
                </a:lnTo>
                <a:lnTo>
                  <a:pt x="536120" y="292054"/>
                </a:lnTo>
                <a:lnTo>
                  <a:pt x="491906" y="266885"/>
                </a:lnTo>
                <a:lnTo>
                  <a:pt x="447571" y="241932"/>
                </a:lnTo>
                <a:lnTo>
                  <a:pt x="403127" y="217177"/>
                </a:lnTo>
                <a:lnTo>
                  <a:pt x="358583" y="192599"/>
                </a:lnTo>
                <a:lnTo>
                  <a:pt x="313952" y="168179"/>
                </a:lnTo>
                <a:lnTo>
                  <a:pt x="269244" y="143897"/>
                </a:lnTo>
                <a:lnTo>
                  <a:pt x="224471" y="119733"/>
                </a:lnTo>
                <a:lnTo>
                  <a:pt x="179642" y="95668"/>
                </a:lnTo>
                <a:lnTo>
                  <a:pt x="134770" y="71682"/>
                </a:lnTo>
                <a:lnTo>
                  <a:pt x="89865" y="47755"/>
                </a:lnTo>
                <a:lnTo>
                  <a:pt x="44938" y="23867"/>
                </a:lnTo>
                <a:lnTo>
                  <a:pt x="0" y="0"/>
                </a:lnTo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35837" y="3805820"/>
            <a:ext cx="2381885" cy="580390"/>
          </a:xfrm>
          <a:custGeom>
            <a:avLst/>
            <a:gdLst/>
            <a:ahLst/>
            <a:cxnLst/>
            <a:rect l="l" t="t" r="r" b="b"/>
            <a:pathLst>
              <a:path w="2381885" h="580389">
                <a:moveTo>
                  <a:pt x="0" y="0"/>
                </a:moveTo>
                <a:lnTo>
                  <a:pt x="56960" y="1893"/>
                </a:lnTo>
                <a:lnTo>
                  <a:pt x="113883" y="3804"/>
                </a:lnTo>
                <a:lnTo>
                  <a:pt x="170729" y="5750"/>
                </a:lnTo>
                <a:lnTo>
                  <a:pt x="227459" y="7748"/>
                </a:lnTo>
                <a:lnTo>
                  <a:pt x="284036" y="9814"/>
                </a:lnTo>
                <a:lnTo>
                  <a:pt x="340422" y="11967"/>
                </a:lnTo>
                <a:lnTo>
                  <a:pt x="396576" y="14224"/>
                </a:lnTo>
                <a:lnTo>
                  <a:pt x="452462" y="16601"/>
                </a:lnTo>
                <a:lnTo>
                  <a:pt x="508041" y="19117"/>
                </a:lnTo>
                <a:lnTo>
                  <a:pt x="563275" y="21788"/>
                </a:lnTo>
                <a:lnTo>
                  <a:pt x="618124" y="24632"/>
                </a:lnTo>
                <a:lnTo>
                  <a:pt x="672551" y="27666"/>
                </a:lnTo>
                <a:lnTo>
                  <a:pt x="726518" y="30907"/>
                </a:lnTo>
                <a:lnTo>
                  <a:pt x="779985" y="34373"/>
                </a:lnTo>
                <a:lnTo>
                  <a:pt x="832915" y="38081"/>
                </a:lnTo>
                <a:lnTo>
                  <a:pt x="885270" y="42048"/>
                </a:lnTo>
                <a:lnTo>
                  <a:pt x="937010" y="46291"/>
                </a:lnTo>
                <a:lnTo>
                  <a:pt x="988097" y="50828"/>
                </a:lnTo>
                <a:lnTo>
                  <a:pt x="1038493" y="55676"/>
                </a:lnTo>
                <a:lnTo>
                  <a:pt x="1088160" y="60852"/>
                </a:lnTo>
                <a:lnTo>
                  <a:pt x="1137059" y="66373"/>
                </a:lnTo>
                <a:lnTo>
                  <a:pt x="1185152" y="72258"/>
                </a:lnTo>
                <a:lnTo>
                  <a:pt x="1232401" y="78522"/>
                </a:lnTo>
                <a:lnTo>
                  <a:pt x="1278766" y="85184"/>
                </a:lnTo>
                <a:lnTo>
                  <a:pt x="1324210" y="92260"/>
                </a:lnTo>
                <a:lnTo>
                  <a:pt x="1368694" y="99769"/>
                </a:lnTo>
                <a:lnTo>
                  <a:pt x="1412181" y="107726"/>
                </a:lnTo>
                <a:lnTo>
                  <a:pt x="1454630" y="116150"/>
                </a:lnTo>
                <a:lnTo>
                  <a:pt x="1496005" y="125057"/>
                </a:lnTo>
                <a:lnTo>
                  <a:pt x="1536267" y="134466"/>
                </a:lnTo>
                <a:lnTo>
                  <a:pt x="1597528" y="150361"/>
                </a:lnTo>
                <a:lnTo>
                  <a:pt x="1656069" y="167480"/>
                </a:lnTo>
                <a:lnTo>
                  <a:pt x="1712041" y="185755"/>
                </a:lnTo>
                <a:lnTo>
                  <a:pt x="1765595" y="205118"/>
                </a:lnTo>
                <a:lnTo>
                  <a:pt x="1816883" y="225501"/>
                </a:lnTo>
                <a:lnTo>
                  <a:pt x="1866055" y="246836"/>
                </a:lnTo>
                <a:lnTo>
                  <a:pt x="1913262" y="269055"/>
                </a:lnTo>
                <a:lnTo>
                  <a:pt x="1958656" y="292090"/>
                </a:lnTo>
                <a:lnTo>
                  <a:pt x="2002387" y="315873"/>
                </a:lnTo>
                <a:lnTo>
                  <a:pt x="2044608" y="340337"/>
                </a:lnTo>
                <a:lnTo>
                  <a:pt x="2085468" y="365412"/>
                </a:lnTo>
                <a:lnTo>
                  <a:pt x="2125119" y="391031"/>
                </a:lnTo>
                <a:lnTo>
                  <a:pt x="2163713" y="417127"/>
                </a:lnTo>
                <a:lnTo>
                  <a:pt x="2201400" y="443630"/>
                </a:lnTo>
                <a:lnTo>
                  <a:pt x="2238331" y="470473"/>
                </a:lnTo>
                <a:lnTo>
                  <a:pt x="2274658" y="497588"/>
                </a:lnTo>
                <a:lnTo>
                  <a:pt x="2310531" y="524908"/>
                </a:lnTo>
                <a:lnTo>
                  <a:pt x="2346102" y="552363"/>
                </a:lnTo>
                <a:lnTo>
                  <a:pt x="2381523" y="579887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607760" y="2290208"/>
            <a:ext cx="863600" cy="876300"/>
          </a:xfrm>
          <a:custGeom>
            <a:avLst/>
            <a:gdLst/>
            <a:ahLst/>
            <a:cxnLst/>
            <a:rect l="l" t="t" r="r" b="b"/>
            <a:pathLst>
              <a:path w="863600" h="876300">
                <a:moveTo>
                  <a:pt x="0" y="0"/>
                </a:moveTo>
                <a:lnTo>
                  <a:pt x="51608" y="7211"/>
                </a:lnTo>
                <a:lnTo>
                  <a:pt x="102998" y="14831"/>
                </a:lnTo>
                <a:lnTo>
                  <a:pt x="153954" y="23266"/>
                </a:lnTo>
                <a:lnTo>
                  <a:pt x="204257" y="32925"/>
                </a:lnTo>
                <a:lnTo>
                  <a:pt x="253690" y="44216"/>
                </a:lnTo>
                <a:lnTo>
                  <a:pt x="302036" y="57546"/>
                </a:lnTo>
                <a:lnTo>
                  <a:pt x="349076" y="73324"/>
                </a:lnTo>
                <a:lnTo>
                  <a:pt x="394594" y="91957"/>
                </a:lnTo>
                <a:lnTo>
                  <a:pt x="438372" y="113853"/>
                </a:lnTo>
                <a:lnTo>
                  <a:pt x="480192" y="139420"/>
                </a:lnTo>
                <a:lnTo>
                  <a:pt x="519836" y="169066"/>
                </a:lnTo>
                <a:lnTo>
                  <a:pt x="557089" y="203200"/>
                </a:lnTo>
                <a:lnTo>
                  <a:pt x="585059" y="233941"/>
                </a:lnTo>
                <a:lnTo>
                  <a:pt x="611469" y="267606"/>
                </a:lnTo>
                <a:lnTo>
                  <a:pt x="636432" y="303987"/>
                </a:lnTo>
                <a:lnTo>
                  <a:pt x="660059" y="342873"/>
                </a:lnTo>
                <a:lnTo>
                  <a:pt x="682461" y="384057"/>
                </a:lnTo>
                <a:lnTo>
                  <a:pt x="703748" y="427329"/>
                </a:lnTo>
                <a:lnTo>
                  <a:pt x="724034" y="472481"/>
                </a:lnTo>
                <a:lnTo>
                  <a:pt x="743429" y="519303"/>
                </a:lnTo>
                <a:lnTo>
                  <a:pt x="762044" y="567588"/>
                </a:lnTo>
                <a:lnTo>
                  <a:pt x="779991" y="617125"/>
                </a:lnTo>
                <a:lnTo>
                  <a:pt x="797381" y="667707"/>
                </a:lnTo>
                <a:lnTo>
                  <a:pt x="814325" y="719124"/>
                </a:lnTo>
                <a:lnTo>
                  <a:pt x="830935" y="771168"/>
                </a:lnTo>
                <a:lnTo>
                  <a:pt x="847323" y="823629"/>
                </a:lnTo>
                <a:lnTo>
                  <a:pt x="863600" y="87630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450924" y="2403575"/>
            <a:ext cx="273050" cy="979805"/>
          </a:xfrm>
          <a:custGeom>
            <a:avLst/>
            <a:gdLst/>
            <a:ahLst/>
            <a:cxnLst/>
            <a:rect l="l" t="t" r="r" b="b"/>
            <a:pathLst>
              <a:path w="273050" h="979804">
                <a:moveTo>
                  <a:pt x="107790" y="0"/>
                </a:moveTo>
                <a:lnTo>
                  <a:pt x="91751" y="52747"/>
                </a:lnTo>
                <a:lnTo>
                  <a:pt x="76031" y="105327"/>
                </a:lnTo>
                <a:lnTo>
                  <a:pt x="60948" y="157576"/>
                </a:lnTo>
                <a:lnTo>
                  <a:pt x="46822" y="209325"/>
                </a:lnTo>
                <a:lnTo>
                  <a:pt x="33971" y="260409"/>
                </a:lnTo>
                <a:lnTo>
                  <a:pt x="22714" y="310662"/>
                </a:lnTo>
                <a:lnTo>
                  <a:pt x="13369" y="359917"/>
                </a:lnTo>
                <a:lnTo>
                  <a:pt x="6256" y="408007"/>
                </a:lnTo>
                <a:lnTo>
                  <a:pt x="1693" y="454768"/>
                </a:lnTo>
                <a:lnTo>
                  <a:pt x="0" y="500031"/>
                </a:lnTo>
                <a:lnTo>
                  <a:pt x="1494" y="543632"/>
                </a:lnTo>
                <a:lnTo>
                  <a:pt x="6494" y="585403"/>
                </a:lnTo>
                <a:lnTo>
                  <a:pt x="17389" y="632975"/>
                </a:lnTo>
                <a:lnTo>
                  <a:pt x="33241" y="677961"/>
                </a:lnTo>
                <a:lnTo>
                  <a:pt x="53501" y="720648"/>
                </a:lnTo>
                <a:lnTo>
                  <a:pt x="77616" y="761323"/>
                </a:lnTo>
                <a:lnTo>
                  <a:pt x="105036" y="800274"/>
                </a:lnTo>
                <a:lnTo>
                  <a:pt x="135211" y="837788"/>
                </a:lnTo>
                <a:lnTo>
                  <a:pt x="167589" y="874153"/>
                </a:lnTo>
                <a:lnTo>
                  <a:pt x="201620" y="909656"/>
                </a:lnTo>
                <a:lnTo>
                  <a:pt x="236753" y="944583"/>
                </a:lnTo>
                <a:lnTo>
                  <a:pt x="272436" y="979224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742391" y="2222249"/>
            <a:ext cx="672465" cy="454659"/>
          </a:xfrm>
          <a:custGeom>
            <a:avLst/>
            <a:gdLst/>
            <a:ahLst/>
            <a:cxnLst/>
            <a:rect l="l" t="t" r="r" b="b"/>
            <a:pathLst>
              <a:path w="672464" h="454660">
                <a:moveTo>
                  <a:pt x="672155" y="454252"/>
                </a:moveTo>
                <a:lnTo>
                  <a:pt x="644356" y="402895"/>
                </a:lnTo>
                <a:lnTo>
                  <a:pt x="616441" y="352147"/>
                </a:lnTo>
                <a:lnTo>
                  <a:pt x="588292" y="302618"/>
                </a:lnTo>
                <a:lnTo>
                  <a:pt x="559794" y="254920"/>
                </a:lnTo>
                <a:lnTo>
                  <a:pt x="530830" y="209660"/>
                </a:lnTo>
                <a:lnTo>
                  <a:pt x="501282" y="167451"/>
                </a:lnTo>
                <a:lnTo>
                  <a:pt x="471036" y="128900"/>
                </a:lnTo>
                <a:lnTo>
                  <a:pt x="439973" y="94618"/>
                </a:lnTo>
                <a:lnTo>
                  <a:pt x="407978" y="65216"/>
                </a:lnTo>
                <a:lnTo>
                  <a:pt x="374933" y="41302"/>
                </a:lnTo>
                <a:lnTo>
                  <a:pt x="332051" y="19660"/>
                </a:lnTo>
                <a:lnTo>
                  <a:pt x="287575" y="6357"/>
                </a:lnTo>
                <a:lnTo>
                  <a:pt x="241733" y="200"/>
                </a:lnTo>
                <a:lnTo>
                  <a:pt x="194752" y="0"/>
                </a:lnTo>
                <a:lnTo>
                  <a:pt x="146861" y="4563"/>
                </a:lnTo>
                <a:lnTo>
                  <a:pt x="98286" y="12701"/>
                </a:lnTo>
                <a:lnTo>
                  <a:pt x="49257" y="23220"/>
                </a:lnTo>
                <a:lnTo>
                  <a:pt x="0" y="34931"/>
                </a:lnTo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075391" y="2216955"/>
            <a:ext cx="672465" cy="454659"/>
          </a:xfrm>
          <a:custGeom>
            <a:avLst/>
            <a:gdLst/>
            <a:ahLst/>
            <a:cxnLst/>
            <a:rect l="l" t="t" r="r" b="b"/>
            <a:pathLst>
              <a:path w="672464" h="454660">
                <a:moveTo>
                  <a:pt x="672155" y="454252"/>
                </a:moveTo>
                <a:lnTo>
                  <a:pt x="644356" y="402895"/>
                </a:lnTo>
                <a:lnTo>
                  <a:pt x="616441" y="352147"/>
                </a:lnTo>
                <a:lnTo>
                  <a:pt x="588292" y="302618"/>
                </a:lnTo>
                <a:lnTo>
                  <a:pt x="559794" y="254920"/>
                </a:lnTo>
                <a:lnTo>
                  <a:pt x="530830" y="209660"/>
                </a:lnTo>
                <a:lnTo>
                  <a:pt x="501282" y="167451"/>
                </a:lnTo>
                <a:lnTo>
                  <a:pt x="471036" y="128900"/>
                </a:lnTo>
                <a:lnTo>
                  <a:pt x="439973" y="94618"/>
                </a:lnTo>
                <a:lnTo>
                  <a:pt x="407978" y="65216"/>
                </a:lnTo>
                <a:lnTo>
                  <a:pt x="374933" y="41302"/>
                </a:lnTo>
                <a:lnTo>
                  <a:pt x="332051" y="19660"/>
                </a:lnTo>
                <a:lnTo>
                  <a:pt x="287575" y="6357"/>
                </a:lnTo>
                <a:lnTo>
                  <a:pt x="241733" y="200"/>
                </a:lnTo>
                <a:lnTo>
                  <a:pt x="194752" y="0"/>
                </a:lnTo>
                <a:lnTo>
                  <a:pt x="146861" y="4563"/>
                </a:lnTo>
                <a:lnTo>
                  <a:pt x="98286" y="12701"/>
                </a:lnTo>
                <a:lnTo>
                  <a:pt x="49257" y="23220"/>
                </a:lnTo>
                <a:lnTo>
                  <a:pt x="0" y="34931"/>
                </a:lnTo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900095" y="2427901"/>
            <a:ext cx="689610" cy="335915"/>
          </a:xfrm>
          <a:custGeom>
            <a:avLst/>
            <a:gdLst/>
            <a:ahLst/>
            <a:cxnLst/>
            <a:rect l="l" t="t" r="r" b="b"/>
            <a:pathLst>
              <a:path w="689610" h="335914">
                <a:moveTo>
                  <a:pt x="0" y="0"/>
                </a:moveTo>
                <a:lnTo>
                  <a:pt x="34706" y="38428"/>
                </a:lnTo>
                <a:lnTo>
                  <a:pt x="69502" y="76363"/>
                </a:lnTo>
                <a:lnTo>
                  <a:pt x="104476" y="113308"/>
                </a:lnTo>
                <a:lnTo>
                  <a:pt x="139718" y="148771"/>
                </a:lnTo>
                <a:lnTo>
                  <a:pt x="175316" y="182257"/>
                </a:lnTo>
                <a:lnTo>
                  <a:pt x="211359" y="213271"/>
                </a:lnTo>
                <a:lnTo>
                  <a:pt x="247937" y="241319"/>
                </a:lnTo>
                <a:lnTo>
                  <a:pt x="285139" y="265907"/>
                </a:lnTo>
                <a:lnTo>
                  <a:pt x="323053" y="286540"/>
                </a:lnTo>
                <a:lnTo>
                  <a:pt x="372928" y="306813"/>
                </a:lnTo>
                <a:lnTo>
                  <a:pt x="423939" y="320782"/>
                </a:lnTo>
                <a:lnTo>
                  <a:pt x="475897" y="329497"/>
                </a:lnTo>
                <a:lnTo>
                  <a:pt x="528613" y="334011"/>
                </a:lnTo>
                <a:lnTo>
                  <a:pt x="581896" y="335372"/>
                </a:lnTo>
                <a:lnTo>
                  <a:pt x="635558" y="334633"/>
                </a:lnTo>
                <a:lnTo>
                  <a:pt x="689410" y="332842"/>
                </a:lnTo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975957" y="2878066"/>
            <a:ext cx="689610" cy="335915"/>
          </a:xfrm>
          <a:custGeom>
            <a:avLst/>
            <a:gdLst/>
            <a:ahLst/>
            <a:cxnLst/>
            <a:rect l="l" t="t" r="r" b="b"/>
            <a:pathLst>
              <a:path w="689610" h="335914">
                <a:moveTo>
                  <a:pt x="0" y="0"/>
                </a:moveTo>
                <a:lnTo>
                  <a:pt x="34706" y="38428"/>
                </a:lnTo>
                <a:lnTo>
                  <a:pt x="69502" y="76363"/>
                </a:lnTo>
                <a:lnTo>
                  <a:pt x="104476" y="113308"/>
                </a:lnTo>
                <a:lnTo>
                  <a:pt x="139718" y="148771"/>
                </a:lnTo>
                <a:lnTo>
                  <a:pt x="175316" y="182257"/>
                </a:lnTo>
                <a:lnTo>
                  <a:pt x="211359" y="213271"/>
                </a:lnTo>
                <a:lnTo>
                  <a:pt x="247937" y="241319"/>
                </a:lnTo>
                <a:lnTo>
                  <a:pt x="285139" y="265907"/>
                </a:lnTo>
                <a:lnTo>
                  <a:pt x="323053" y="286540"/>
                </a:lnTo>
                <a:lnTo>
                  <a:pt x="372928" y="306813"/>
                </a:lnTo>
                <a:lnTo>
                  <a:pt x="423939" y="320782"/>
                </a:lnTo>
                <a:lnTo>
                  <a:pt x="475897" y="329497"/>
                </a:lnTo>
                <a:lnTo>
                  <a:pt x="528613" y="334011"/>
                </a:lnTo>
                <a:lnTo>
                  <a:pt x="581896" y="335372"/>
                </a:lnTo>
                <a:lnTo>
                  <a:pt x="635558" y="334633"/>
                </a:lnTo>
                <a:lnTo>
                  <a:pt x="689410" y="332842"/>
                </a:lnTo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262437" y="2498869"/>
            <a:ext cx="492125" cy="586740"/>
          </a:xfrm>
          <a:custGeom>
            <a:avLst/>
            <a:gdLst/>
            <a:ahLst/>
            <a:cxnLst/>
            <a:rect l="l" t="t" r="r" b="b"/>
            <a:pathLst>
              <a:path w="492125" h="586739">
                <a:moveTo>
                  <a:pt x="491904" y="586601"/>
                </a:moveTo>
                <a:lnTo>
                  <a:pt x="476041" y="537309"/>
                </a:lnTo>
                <a:lnTo>
                  <a:pt x="459893" y="488431"/>
                </a:lnTo>
                <a:lnTo>
                  <a:pt x="443176" y="440382"/>
                </a:lnTo>
                <a:lnTo>
                  <a:pt x="425607" y="393575"/>
                </a:lnTo>
                <a:lnTo>
                  <a:pt x="406901" y="348424"/>
                </a:lnTo>
                <a:lnTo>
                  <a:pt x="386774" y="305344"/>
                </a:lnTo>
                <a:lnTo>
                  <a:pt x="364941" y="264749"/>
                </a:lnTo>
                <a:lnTo>
                  <a:pt x="341119" y="227053"/>
                </a:lnTo>
                <a:lnTo>
                  <a:pt x="315023" y="192669"/>
                </a:lnTo>
                <a:lnTo>
                  <a:pt x="277873" y="153703"/>
                </a:lnTo>
                <a:lnTo>
                  <a:pt x="237098" y="120017"/>
                </a:lnTo>
                <a:lnTo>
                  <a:pt x="193303" y="90733"/>
                </a:lnTo>
                <a:lnTo>
                  <a:pt x="147092" y="64969"/>
                </a:lnTo>
                <a:lnTo>
                  <a:pt x="99068" y="41846"/>
                </a:lnTo>
                <a:lnTo>
                  <a:pt x="49836" y="20482"/>
                </a:lnTo>
                <a:lnTo>
                  <a:pt x="0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567237" y="2541806"/>
            <a:ext cx="492125" cy="586740"/>
          </a:xfrm>
          <a:custGeom>
            <a:avLst/>
            <a:gdLst/>
            <a:ahLst/>
            <a:cxnLst/>
            <a:rect l="l" t="t" r="r" b="b"/>
            <a:pathLst>
              <a:path w="492125" h="586739">
                <a:moveTo>
                  <a:pt x="491904" y="586601"/>
                </a:moveTo>
                <a:lnTo>
                  <a:pt x="476041" y="537309"/>
                </a:lnTo>
                <a:lnTo>
                  <a:pt x="459893" y="488431"/>
                </a:lnTo>
                <a:lnTo>
                  <a:pt x="443176" y="440382"/>
                </a:lnTo>
                <a:lnTo>
                  <a:pt x="425607" y="393575"/>
                </a:lnTo>
                <a:lnTo>
                  <a:pt x="406901" y="348424"/>
                </a:lnTo>
                <a:lnTo>
                  <a:pt x="386774" y="305344"/>
                </a:lnTo>
                <a:lnTo>
                  <a:pt x="364941" y="264749"/>
                </a:lnTo>
                <a:lnTo>
                  <a:pt x="341119" y="227053"/>
                </a:lnTo>
                <a:lnTo>
                  <a:pt x="315023" y="192669"/>
                </a:lnTo>
                <a:lnTo>
                  <a:pt x="277873" y="153703"/>
                </a:lnTo>
                <a:lnTo>
                  <a:pt x="237098" y="120017"/>
                </a:lnTo>
                <a:lnTo>
                  <a:pt x="193303" y="90733"/>
                </a:lnTo>
                <a:lnTo>
                  <a:pt x="147092" y="64969"/>
                </a:lnTo>
                <a:lnTo>
                  <a:pt x="99068" y="41846"/>
                </a:lnTo>
                <a:lnTo>
                  <a:pt x="49836" y="20482"/>
                </a:lnTo>
                <a:lnTo>
                  <a:pt x="0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881437" y="2422669"/>
            <a:ext cx="492125" cy="586740"/>
          </a:xfrm>
          <a:custGeom>
            <a:avLst/>
            <a:gdLst/>
            <a:ahLst/>
            <a:cxnLst/>
            <a:rect l="l" t="t" r="r" b="b"/>
            <a:pathLst>
              <a:path w="492125" h="586739">
                <a:moveTo>
                  <a:pt x="491904" y="586601"/>
                </a:moveTo>
                <a:lnTo>
                  <a:pt x="476041" y="537309"/>
                </a:lnTo>
                <a:lnTo>
                  <a:pt x="459893" y="488431"/>
                </a:lnTo>
                <a:lnTo>
                  <a:pt x="443176" y="440382"/>
                </a:lnTo>
                <a:lnTo>
                  <a:pt x="425607" y="393575"/>
                </a:lnTo>
                <a:lnTo>
                  <a:pt x="406901" y="348424"/>
                </a:lnTo>
                <a:lnTo>
                  <a:pt x="386774" y="305344"/>
                </a:lnTo>
                <a:lnTo>
                  <a:pt x="364941" y="264749"/>
                </a:lnTo>
                <a:lnTo>
                  <a:pt x="341119" y="227053"/>
                </a:lnTo>
                <a:lnTo>
                  <a:pt x="315023" y="192669"/>
                </a:lnTo>
                <a:lnTo>
                  <a:pt x="277873" y="153703"/>
                </a:lnTo>
                <a:lnTo>
                  <a:pt x="237098" y="120017"/>
                </a:lnTo>
                <a:lnTo>
                  <a:pt x="193303" y="90733"/>
                </a:lnTo>
                <a:lnTo>
                  <a:pt x="147092" y="64969"/>
                </a:lnTo>
                <a:lnTo>
                  <a:pt x="99068" y="41846"/>
                </a:lnTo>
                <a:lnTo>
                  <a:pt x="49836" y="20482"/>
                </a:lnTo>
                <a:lnTo>
                  <a:pt x="0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129882" y="1856006"/>
            <a:ext cx="492125" cy="586740"/>
          </a:xfrm>
          <a:custGeom>
            <a:avLst/>
            <a:gdLst/>
            <a:ahLst/>
            <a:cxnLst/>
            <a:rect l="l" t="t" r="r" b="b"/>
            <a:pathLst>
              <a:path w="492125" h="586739">
                <a:moveTo>
                  <a:pt x="491904" y="586601"/>
                </a:moveTo>
                <a:lnTo>
                  <a:pt x="476041" y="537309"/>
                </a:lnTo>
                <a:lnTo>
                  <a:pt x="459893" y="488431"/>
                </a:lnTo>
                <a:lnTo>
                  <a:pt x="443176" y="440382"/>
                </a:lnTo>
                <a:lnTo>
                  <a:pt x="425607" y="393575"/>
                </a:lnTo>
                <a:lnTo>
                  <a:pt x="406901" y="348424"/>
                </a:lnTo>
                <a:lnTo>
                  <a:pt x="386774" y="305344"/>
                </a:lnTo>
                <a:lnTo>
                  <a:pt x="364941" y="264749"/>
                </a:lnTo>
                <a:lnTo>
                  <a:pt x="341119" y="227053"/>
                </a:lnTo>
                <a:lnTo>
                  <a:pt x="315023" y="192669"/>
                </a:lnTo>
                <a:lnTo>
                  <a:pt x="277873" y="153703"/>
                </a:lnTo>
                <a:lnTo>
                  <a:pt x="237098" y="120017"/>
                </a:lnTo>
                <a:lnTo>
                  <a:pt x="193303" y="90733"/>
                </a:lnTo>
                <a:lnTo>
                  <a:pt x="147092" y="64969"/>
                </a:lnTo>
                <a:lnTo>
                  <a:pt x="99068" y="41846"/>
                </a:lnTo>
                <a:lnTo>
                  <a:pt x="49836" y="20482"/>
                </a:lnTo>
                <a:lnTo>
                  <a:pt x="0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532957" y="2455607"/>
            <a:ext cx="394335" cy="825500"/>
          </a:xfrm>
          <a:custGeom>
            <a:avLst/>
            <a:gdLst/>
            <a:ahLst/>
            <a:cxnLst/>
            <a:rect l="l" t="t" r="r" b="b"/>
            <a:pathLst>
              <a:path w="394335" h="825500">
                <a:moveTo>
                  <a:pt x="303402" y="825200"/>
                </a:moveTo>
                <a:lnTo>
                  <a:pt x="316477" y="764613"/>
                </a:lnTo>
                <a:lnTo>
                  <a:pt x="329307" y="704346"/>
                </a:lnTo>
                <a:lnTo>
                  <a:pt x="341649" y="644719"/>
                </a:lnTo>
                <a:lnTo>
                  <a:pt x="353257" y="586050"/>
                </a:lnTo>
                <a:lnTo>
                  <a:pt x="363888" y="528661"/>
                </a:lnTo>
                <a:lnTo>
                  <a:pt x="373297" y="472870"/>
                </a:lnTo>
                <a:lnTo>
                  <a:pt x="381239" y="418999"/>
                </a:lnTo>
                <a:lnTo>
                  <a:pt x="387470" y="367365"/>
                </a:lnTo>
                <a:lnTo>
                  <a:pt x="391747" y="318290"/>
                </a:lnTo>
                <a:lnTo>
                  <a:pt x="393824" y="272093"/>
                </a:lnTo>
                <a:lnTo>
                  <a:pt x="393456" y="229093"/>
                </a:lnTo>
                <a:lnTo>
                  <a:pt x="390401" y="189611"/>
                </a:lnTo>
                <a:lnTo>
                  <a:pt x="375246" y="122478"/>
                </a:lnTo>
                <a:lnTo>
                  <a:pt x="354404" y="82112"/>
                </a:lnTo>
                <a:lnTo>
                  <a:pt x="326203" y="51375"/>
                </a:lnTo>
                <a:lnTo>
                  <a:pt x="291562" y="29063"/>
                </a:lnTo>
                <a:lnTo>
                  <a:pt x="251401" y="13974"/>
                </a:lnTo>
                <a:lnTo>
                  <a:pt x="206640" y="4902"/>
                </a:lnTo>
                <a:lnTo>
                  <a:pt x="158200" y="645"/>
                </a:lnTo>
                <a:lnTo>
                  <a:pt x="107000" y="0"/>
                </a:lnTo>
                <a:lnTo>
                  <a:pt x="53960" y="1761"/>
                </a:lnTo>
                <a:lnTo>
                  <a:pt x="0" y="4726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624623" y="1862942"/>
            <a:ext cx="1583690" cy="441959"/>
          </a:xfrm>
          <a:custGeom>
            <a:avLst/>
            <a:gdLst/>
            <a:ahLst/>
            <a:cxnLst/>
            <a:rect l="l" t="t" r="r" b="b"/>
            <a:pathLst>
              <a:path w="1583689" h="441960">
                <a:moveTo>
                  <a:pt x="1583337" y="173265"/>
                </a:moveTo>
                <a:lnTo>
                  <a:pt x="1529418" y="156919"/>
                </a:lnTo>
                <a:lnTo>
                  <a:pt x="1475566" y="140703"/>
                </a:lnTo>
                <a:lnTo>
                  <a:pt x="1421850" y="124746"/>
                </a:lnTo>
                <a:lnTo>
                  <a:pt x="1368338" y="109179"/>
                </a:lnTo>
                <a:lnTo>
                  <a:pt x="1315098" y="94131"/>
                </a:lnTo>
                <a:lnTo>
                  <a:pt x="1262197" y="79732"/>
                </a:lnTo>
                <a:lnTo>
                  <a:pt x="1209704" y="66112"/>
                </a:lnTo>
                <a:lnTo>
                  <a:pt x="1157687" y="53401"/>
                </a:lnTo>
                <a:lnTo>
                  <a:pt x="1106213" y="41728"/>
                </a:lnTo>
                <a:lnTo>
                  <a:pt x="1055351" y="31223"/>
                </a:lnTo>
                <a:lnTo>
                  <a:pt x="1005168" y="22017"/>
                </a:lnTo>
                <a:lnTo>
                  <a:pt x="955733" y="14238"/>
                </a:lnTo>
                <a:lnTo>
                  <a:pt x="907113" y="8017"/>
                </a:lnTo>
                <a:lnTo>
                  <a:pt x="859376" y="3484"/>
                </a:lnTo>
                <a:lnTo>
                  <a:pt x="812590" y="768"/>
                </a:lnTo>
                <a:lnTo>
                  <a:pt x="766824" y="0"/>
                </a:lnTo>
                <a:lnTo>
                  <a:pt x="722145" y="1308"/>
                </a:lnTo>
                <a:lnTo>
                  <a:pt x="678621" y="4823"/>
                </a:lnTo>
                <a:lnTo>
                  <a:pt x="636320" y="10674"/>
                </a:lnTo>
                <a:lnTo>
                  <a:pt x="587732" y="20765"/>
                </a:lnTo>
                <a:lnTo>
                  <a:pt x="540850" y="34116"/>
                </a:lnTo>
                <a:lnTo>
                  <a:pt x="495562" y="50510"/>
                </a:lnTo>
                <a:lnTo>
                  <a:pt x="451753" y="69730"/>
                </a:lnTo>
                <a:lnTo>
                  <a:pt x="409309" y="91559"/>
                </a:lnTo>
                <a:lnTo>
                  <a:pt x="368116" y="115779"/>
                </a:lnTo>
                <a:lnTo>
                  <a:pt x="328062" y="142173"/>
                </a:lnTo>
                <a:lnTo>
                  <a:pt x="289032" y="170523"/>
                </a:lnTo>
                <a:lnTo>
                  <a:pt x="250911" y="200612"/>
                </a:lnTo>
                <a:lnTo>
                  <a:pt x="213588" y="232223"/>
                </a:lnTo>
                <a:lnTo>
                  <a:pt x="176947" y="265138"/>
                </a:lnTo>
                <a:lnTo>
                  <a:pt x="140875" y="299140"/>
                </a:lnTo>
                <a:lnTo>
                  <a:pt x="105258" y="334011"/>
                </a:lnTo>
                <a:lnTo>
                  <a:pt x="69982" y="369535"/>
                </a:lnTo>
                <a:lnTo>
                  <a:pt x="34934" y="405493"/>
                </a:lnTo>
                <a:lnTo>
                  <a:pt x="0" y="441669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641526" y="2290208"/>
            <a:ext cx="1966595" cy="710565"/>
          </a:xfrm>
          <a:custGeom>
            <a:avLst/>
            <a:gdLst/>
            <a:ahLst/>
            <a:cxnLst/>
            <a:rect l="l" t="t" r="r" b="b"/>
            <a:pathLst>
              <a:path w="1966595" h="710564">
                <a:moveTo>
                  <a:pt x="1966234" y="0"/>
                </a:moveTo>
                <a:lnTo>
                  <a:pt x="1923819" y="36346"/>
                </a:lnTo>
                <a:lnTo>
                  <a:pt x="1881418" y="72608"/>
                </a:lnTo>
                <a:lnTo>
                  <a:pt x="1839045" y="108699"/>
                </a:lnTo>
                <a:lnTo>
                  <a:pt x="1796712" y="144536"/>
                </a:lnTo>
                <a:lnTo>
                  <a:pt x="1754434" y="180033"/>
                </a:lnTo>
                <a:lnTo>
                  <a:pt x="1712224" y="215105"/>
                </a:lnTo>
                <a:lnTo>
                  <a:pt x="1670095" y="249667"/>
                </a:lnTo>
                <a:lnTo>
                  <a:pt x="1628062" y="283634"/>
                </a:lnTo>
                <a:lnTo>
                  <a:pt x="1586138" y="316921"/>
                </a:lnTo>
                <a:lnTo>
                  <a:pt x="1544337" y="349443"/>
                </a:lnTo>
                <a:lnTo>
                  <a:pt x="1502672" y="381115"/>
                </a:lnTo>
                <a:lnTo>
                  <a:pt x="1461156" y="411853"/>
                </a:lnTo>
                <a:lnTo>
                  <a:pt x="1419804" y="441571"/>
                </a:lnTo>
                <a:lnTo>
                  <a:pt x="1378630" y="470184"/>
                </a:lnTo>
                <a:lnTo>
                  <a:pt x="1337646" y="497607"/>
                </a:lnTo>
                <a:lnTo>
                  <a:pt x="1296866" y="523755"/>
                </a:lnTo>
                <a:lnTo>
                  <a:pt x="1256304" y="548543"/>
                </a:lnTo>
                <a:lnTo>
                  <a:pt x="1215974" y="571887"/>
                </a:lnTo>
                <a:lnTo>
                  <a:pt x="1175889" y="593701"/>
                </a:lnTo>
                <a:lnTo>
                  <a:pt x="1136063" y="613900"/>
                </a:lnTo>
                <a:lnTo>
                  <a:pt x="1096509" y="632400"/>
                </a:lnTo>
                <a:lnTo>
                  <a:pt x="1057241" y="649115"/>
                </a:lnTo>
                <a:lnTo>
                  <a:pt x="1018273" y="663960"/>
                </a:lnTo>
                <a:lnTo>
                  <a:pt x="979619" y="676850"/>
                </a:lnTo>
                <a:lnTo>
                  <a:pt x="941291" y="687701"/>
                </a:lnTo>
                <a:lnTo>
                  <a:pt x="903304" y="696427"/>
                </a:lnTo>
                <a:lnTo>
                  <a:pt x="854443" y="704517"/>
                </a:lnTo>
                <a:lnTo>
                  <a:pt x="806150" y="709060"/>
                </a:lnTo>
                <a:lnTo>
                  <a:pt x="758396" y="710241"/>
                </a:lnTo>
                <a:lnTo>
                  <a:pt x="711150" y="708249"/>
                </a:lnTo>
                <a:lnTo>
                  <a:pt x="664384" y="703269"/>
                </a:lnTo>
                <a:lnTo>
                  <a:pt x="618066" y="695488"/>
                </a:lnTo>
                <a:lnTo>
                  <a:pt x="572168" y="685093"/>
                </a:lnTo>
                <a:lnTo>
                  <a:pt x="526658" y="672271"/>
                </a:lnTo>
                <a:lnTo>
                  <a:pt x="481508" y="657208"/>
                </a:lnTo>
                <a:lnTo>
                  <a:pt x="436687" y="640092"/>
                </a:lnTo>
                <a:lnTo>
                  <a:pt x="392165" y="621108"/>
                </a:lnTo>
                <a:lnTo>
                  <a:pt x="347913" y="600444"/>
                </a:lnTo>
                <a:lnTo>
                  <a:pt x="303900" y="578286"/>
                </a:lnTo>
                <a:lnTo>
                  <a:pt x="260096" y="554821"/>
                </a:lnTo>
                <a:lnTo>
                  <a:pt x="216473" y="530236"/>
                </a:lnTo>
                <a:lnTo>
                  <a:pt x="172998" y="504717"/>
                </a:lnTo>
                <a:lnTo>
                  <a:pt x="129644" y="478451"/>
                </a:lnTo>
                <a:lnTo>
                  <a:pt x="86379" y="451625"/>
                </a:lnTo>
                <a:lnTo>
                  <a:pt x="43174" y="424426"/>
                </a:lnTo>
                <a:lnTo>
                  <a:pt x="0" y="397040"/>
                </a:lnTo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966210" y="2752040"/>
            <a:ext cx="617855" cy="226060"/>
          </a:xfrm>
          <a:custGeom>
            <a:avLst/>
            <a:gdLst/>
            <a:ahLst/>
            <a:cxnLst/>
            <a:rect l="l" t="t" r="r" b="b"/>
            <a:pathLst>
              <a:path w="617855" h="226060">
                <a:moveTo>
                  <a:pt x="0" y="199433"/>
                </a:moveTo>
                <a:lnTo>
                  <a:pt x="53140" y="207173"/>
                </a:lnTo>
                <a:lnTo>
                  <a:pt x="105824" y="214278"/>
                </a:lnTo>
                <a:lnTo>
                  <a:pt x="157595" y="220114"/>
                </a:lnTo>
                <a:lnTo>
                  <a:pt x="207995" y="224046"/>
                </a:lnTo>
                <a:lnTo>
                  <a:pt x="256569" y="225439"/>
                </a:lnTo>
                <a:lnTo>
                  <a:pt x="302859" y="223659"/>
                </a:lnTo>
                <a:lnTo>
                  <a:pt x="346408" y="218070"/>
                </a:lnTo>
                <a:lnTo>
                  <a:pt x="386761" y="208039"/>
                </a:lnTo>
                <a:lnTo>
                  <a:pt x="435162" y="187157"/>
                </a:lnTo>
                <a:lnTo>
                  <a:pt x="478151" y="158752"/>
                </a:lnTo>
                <a:lnTo>
                  <a:pt x="516808" y="124330"/>
                </a:lnTo>
                <a:lnTo>
                  <a:pt x="552218" y="85394"/>
                </a:lnTo>
                <a:lnTo>
                  <a:pt x="585463" y="43449"/>
                </a:lnTo>
                <a:lnTo>
                  <a:pt x="617625" y="0"/>
                </a:lnTo>
              </a:path>
            </a:pathLst>
          </a:custGeom>
          <a:ln w="28574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572000" y="2172706"/>
            <a:ext cx="651510" cy="284480"/>
          </a:xfrm>
          <a:custGeom>
            <a:avLst/>
            <a:gdLst/>
            <a:ahLst/>
            <a:cxnLst/>
            <a:rect l="l" t="t" r="r" b="b"/>
            <a:pathLst>
              <a:path w="651510" h="284480">
                <a:moveTo>
                  <a:pt x="0" y="181496"/>
                </a:moveTo>
                <a:lnTo>
                  <a:pt x="55722" y="198507"/>
                </a:lnTo>
                <a:lnTo>
                  <a:pt x="111012" y="215099"/>
                </a:lnTo>
                <a:lnTo>
                  <a:pt x="165435" y="230854"/>
                </a:lnTo>
                <a:lnTo>
                  <a:pt x="218560" y="245353"/>
                </a:lnTo>
                <a:lnTo>
                  <a:pt x="269952" y="258177"/>
                </a:lnTo>
                <a:lnTo>
                  <a:pt x="319179" y="268907"/>
                </a:lnTo>
                <a:lnTo>
                  <a:pt x="365807" y="277126"/>
                </a:lnTo>
                <a:lnTo>
                  <a:pt x="409404" y="282413"/>
                </a:lnTo>
                <a:lnTo>
                  <a:pt x="449537" y="284352"/>
                </a:lnTo>
                <a:lnTo>
                  <a:pt x="485772" y="282522"/>
                </a:lnTo>
                <a:lnTo>
                  <a:pt x="558580" y="258125"/>
                </a:lnTo>
                <a:lnTo>
                  <a:pt x="589401" y="229997"/>
                </a:lnTo>
                <a:lnTo>
                  <a:pt x="611820" y="193746"/>
                </a:lnTo>
                <a:lnTo>
                  <a:pt x="627516" y="150996"/>
                </a:lnTo>
                <a:lnTo>
                  <a:pt x="638172" y="103372"/>
                </a:lnTo>
                <a:lnTo>
                  <a:pt x="645466" y="52498"/>
                </a:lnTo>
                <a:lnTo>
                  <a:pt x="651079" y="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8706984" y="6699893"/>
            <a:ext cx="16573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14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50520"/>
            <a:ext cx="7050024" cy="5547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457200" y="1121663"/>
            <a:ext cx="7851648" cy="54985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706984" y="6699893"/>
            <a:ext cx="16573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14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32816" y="350520"/>
            <a:ext cx="8485632" cy="5547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51104" y="1097279"/>
            <a:ext cx="8241792" cy="57607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751614" y="1706372"/>
            <a:ext cx="2096135" cy="139446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99700"/>
              </a:lnSpc>
              <a:spcBef>
                <a:spcPts val="105"/>
              </a:spcBef>
            </a:pPr>
            <a:r>
              <a:rPr dirty="0" sz="1800" spc="-5" b="0">
                <a:solidFill>
                  <a:srgbClr val="008000"/>
                </a:solidFill>
                <a:latin typeface="Arial"/>
                <a:cs typeface="Arial"/>
              </a:rPr>
              <a:t>Note: </a:t>
            </a:r>
            <a:r>
              <a:rPr dirty="0" sz="1800" spc="-20" b="0">
                <a:solidFill>
                  <a:srgbClr val="008000"/>
                </a:solidFill>
                <a:latin typeface="Arial"/>
                <a:cs typeface="Arial"/>
              </a:rPr>
              <a:t>We </a:t>
            </a:r>
            <a:r>
              <a:rPr dirty="0" sz="1800" spc="-5" b="0">
                <a:solidFill>
                  <a:srgbClr val="008000"/>
                </a:solidFill>
                <a:latin typeface="Arial"/>
                <a:cs typeface="Arial"/>
              </a:rPr>
              <a:t>plotted  the same data as</a:t>
            </a:r>
            <a:r>
              <a:rPr dirty="0" sz="1800" spc="-70" b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 b="0">
                <a:solidFill>
                  <a:srgbClr val="008000"/>
                </a:solidFill>
                <a:latin typeface="Arial"/>
                <a:cs typeface="Arial"/>
              </a:rPr>
              <a:t>on  the previous slide,  just the axes are  now</a:t>
            </a:r>
            <a:r>
              <a:rPr dirty="0" sz="1800" spc="-60" b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 b="0">
                <a:solidFill>
                  <a:srgbClr val="008000"/>
                </a:solidFill>
                <a:latin typeface="Arial"/>
                <a:cs typeface="Arial"/>
              </a:rPr>
              <a:t>logarithmic.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06984" y="6699893"/>
            <a:ext cx="16573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14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2000" y="1207007"/>
            <a:ext cx="6662928" cy="48889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5216" y="350520"/>
            <a:ext cx="4681728" cy="5547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992623" y="6053327"/>
            <a:ext cx="1679448" cy="72847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810646" y="6185915"/>
            <a:ext cx="401256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 i="1">
                <a:solidFill>
                  <a:srgbClr val="008000"/>
                </a:solidFill>
                <a:latin typeface="Times New Roman"/>
                <a:cs typeface="Times New Roman"/>
              </a:rPr>
              <a:t>C</a:t>
            </a:r>
            <a:r>
              <a:rPr dirty="0" baseline="-17094" sz="1950" b="1" i="1">
                <a:solidFill>
                  <a:srgbClr val="008000"/>
                </a:solidFill>
                <a:latin typeface="Times New Roman"/>
                <a:cs typeface="Times New Roman"/>
              </a:rPr>
              <a:t>k</a:t>
            </a:r>
            <a:r>
              <a:rPr dirty="0" sz="2000" b="1">
                <a:solidFill>
                  <a:srgbClr val="008000"/>
                </a:solidFill>
                <a:latin typeface="Corbel"/>
                <a:cs typeface="Corbel"/>
              </a:rPr>
              <a:t>: </a:t>
            </a:r>
            <a:r>
              <a:rPr dirty="0" sz="2000" spc="-5" b="1">
                <a:solidFill>
                  <a:srgbClr val="008000"/>
                </a:solidFill>
                <a:latin typeface="Corbel"/>
                <a:cs typeface="Corbel"/>
              </a:rPr>
              <a:t>average </a:t>
            </a:r>
            <a:r>
              <a:rPr dirty="0" sz="2000" b="1" i="1">
                <a:solidFill>
                  <a:srgbClr val="008000"/>
                </a:solidFill>
                <a:latin typeface="Times New Roman"/>
                <a:cs typeface="Times New Roman"/>
              </a:rPr>
              <a:t>C</a:t>
            </a:r>
            <a:r>
              <a:rPr dirty="0" baseline="-17094" sz="1950" b="1" i="1">
                <a:solidFill>
                  <a:srgbClr val="008000"/>
                </a:solidFill>
                <a:latin typeface="Times New Roman"/>
                <a:cs typeface="Times New Roman"/>
              </a:rPr>
              <a:t>i </a:t>
            </a:r>
            <a:r>
              <a:rPr dirty="0" sz="2000" b="1">
                <a:solidFill>
                  <a:srgbClr val="008000"/>
                </a:solidFill>
                <a:latin typeface="Corbel"/>
                <a:cs typeface="Corbel"/>
              </a:rPr>
              <a:t>of </a:t>
            </a:r>
            <a:r>
              <a:rPr dirty="0" sz="2000" spc="-5" b="1">
                <a:solidFill>
                  <a:srgbClr val="008000"/>
                </a:solidFill>
                <a:latin typeface="Corbel"/>
                <a:cs typeface="Corbel"/>
              </a:rPr>
              <a:t>nodes </a:t>
            </a:r>
            <a:r>
              <a:rPr dirty="0" sz="2000" b="1" i="1">
                <a:solidFill>
                  <a:srgbClr val="008000"/>
                </a:solidFill>
                <a:latin typeface="Corbel"/>
                <a:cs typeface="Corbel"/>
              </a:rPr>
              <a:t>i </a:t>
            </a:r>
            <a:r>
              <a:rPr dirty="0" sz="2000" b="1">
                <a:solidFill>
                  <a:srgbClr val="008000"/>
                </a:solidFill>
                <a:latin typeface="Corbel"/>
                <a:cs typeface="Corbel"/>
              </a:rPr>
              <a:t>of </a:t>
            </a:r>
            <a:r>
              <a:rPr dirty="0" sz="2000" spc="-5" b="1">
                <a:solidFill>
                  <a:srgbClr val="008000"/>
                </a:solidFill>
                <a:latin typeface="Corbel"/>
                <a:cs typeface="Corbel"/>
              </a:rPr>
              <a:t>degree</a:t>
            </a:r>
            <a:r>
              <a:rPr dirty="0" sz="2000" spc="-65" b="1">
                <a:solidFill>
                  <a:srgbClr val="008000"/>
                </a:solidFill>
                <a:latin typeface="Corbel"/>
                <a:cs typeface="Corbel"/>
              </a:rPr>
              <a:t> </a:t>
            </a:r>
            <a:r>
              <a:rPr dirty="0" sz="2000" b="1" i="1">
                <a:solidFill>
                  <a:srgbClr val="008000"/>
                </a:solidFill>
                <a:latin typeface="Times New Roman"/>
                <a:cs typeface="Times New Roman"/>
              </a:rPr>
              <a:t>k: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06984" y="6699893"/>
            <a:ext cx="16573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14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69524" y="3209035"/>
            <a:ext cx="2214880" cy="1116965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 marR="5080">
              <a:lnSpc>
                <a:spcPts val="2810"/>
              </a:lnSpc>
              <a:spcBef>
                <a:spcPts val="250"/>
              </a:spcBef>
            </a:pPr>
            <a:r>
              <a:rPr dirty="0" sz="2400" spc="-25" b="1">
                <a:solidFill>
                  <a:srgbClr val="0000FF"/>
                </a:solidFill>
                <a:latin typeface="Arial"/>
                <a:cs typeface="Arial"/>
              </a:rPr>
              <a:t>Avg.</a:t>
            </a:r>
            <a:r>
              <a:rPr dirty="0" sz="2400" spc="-7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0000FF"/>
                </a:solidFill>
                <a:latin typeface="Arial"/>
                <a:cs typeface="Arial"/>
              </a:rPr>
              <a:t>clustering  of the</a:t>
            </a:r>
            <a:r>
              <a:rPr dirty="0" sz="2400" spc="-65" b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spc="-5" b="1">
                <a:solidFill>
                  <a:srgbClr val="0000FF"/>
                </a:solidFill>
                <a:latin typeface="Arial"/>
                <a:cs typeface="Arial"/>
              </a:rPr>
              <a:t>MSN: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ts val="2820"/>
              </a:lnSpc>
            </a:pPr>
            <a:r>
              <a:rPr dirty="0" sz="2400" b="1" i="1">
                <a:solidFill>
                  <a:srgbClr val="0000FF"/>
                </a:solidFill>
                <a:latin typeface="Arial"/>
                <a:cs typeface="Arial"/>
              </a:rPr>
              <a:t>C =</a:t>
            </a:r>
            <a:r>
              <a:rPr dirty="0" sz="2400" spc="-90" b="1" i="1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dirty="0" sz="2400" spc="-35" b="1" i="1">
                <a:solidFill>
                  <a:srgbClr val="0000FF"/>
                </a:solidFill>
                <a:latin typeface="Arial"/>
                <a:cs typeface="Arial"/>
              </a:rPr>
              <a:t>0.1140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93063" y="1142999"/>
            <a:ext cx="7357872" cy="53492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85216" y="350520"/>
            <a:ext cx="8086344" cy="548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699645" y="2824340"/>
            <a:ext cx="346075" cy="45085"/>
          </a:xfrm>
          <a:custGeom>
            <a:avLst/>
            <a:gdLst/>
            <a:ahLst/>
            <a:cxnLst/>
            <a:rect l="l" t="t" r="r" b="b"/>
            <a:pathLst>
              <a:path w="346075" h="45085">
                <a:moveTo>
                  <a:pt x="0" y="0"/>
                </a:moveTo>
                <a:lnTo>
                  <a:pt x="346014" y="4493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918522" y="2111543"/>
            <a:ext cx="94615" cy="419100"/>
          </a:xfrm>
          <a:custGeom>
            <a:avLst/>
            <a:gdLst/>
            <a:ahLst/>
            <a:cxnLst/>
            <a:rect l="l" t="t" r="r" b="b"/>
            <a:pathLst>
              <a:path w="94614" h="419100">
                <a:moveTo>
                  <a:pt x="0" y="418888"/>
                </a:moveTo>
                <a:lnTo>
                  <a:pt x="9454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488233" y="2180828"/>
            <a:ext cx="421005" cy="157480"/>
          </a:xfrm>
          <a:custGeom>
            <a:avLst/>
            <a:gdLst/>
            <a:ahLst/>
            <a:cxnLst/>
            <a:rect l="l" t="t" r="r" b="b"/>
            <a:pathLst>
              <a:path w="421004" h="157480">
                <a:moveTo>
                  <a:pt x="0" y="156952"/>
                </a:moveTo>
                <a:lnTo>
                  <a:pt x="42044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225451" y="2339577"/>
            <a:ext cx="196215" cy="0"/>
          </a:xfrm>
          <a:custGeom>
            <a:avLst/>
            <a:gdLst/>
            <a:ahLst/>
            <a:cxnLst/>
            <a:rect l="l" t="t" r="r" b="b"/>
            <a:pathLst>
              <a:path w="196214" h="0">
                <a:moveTo>
                  <a:pt x="0" y="0"/>
                </a:moveTo>
                <a:lnTo>
                  <a:pt x="195683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251612" y="2398778"/>
            <a:ext cx="295910" cy="224154"/>
          </a:xfrm>
          <a:custGeom>
            <a:avLst/>
            <a:gdLst/>
            <a:ahLst/>
            <a:cxnLst/>
            <a:rect l="l" t="t" r="r" b="b"/>
            <a:pathLst>
              <a:path w="295909" h="224155">
                <a:moveTo>
                  <a:pt x="0" y="0"/>
                </a:moveTo>
                <a:lnTo>
                  <a:pt x="295603" y="22399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013063" y="2095622"/>
            <a:ext cx="191135" cy="259079"/>
          </a:xfrm>
          <a:custGeom>
            <a:avLst/>
            <a:gdLst/>
            <a:ahLst/>
            <a:cxnLst/>
            <a:rect l="l" t="t" r="r" b="b"/>
            <a:pathLst>
              <a:path w="191135" h="259080">
                <a:moveTo>
                  <a:pt x="191103" y="25880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18577" y="2398779"/>
            <a:ext cx="238760" cy="135890"/>
          </a:xfrm>
          <a:custGeom>
            <a:avLst/>
            <a:gdLst/>
            <a:ahLst/>
            <a:cxnLst/>
            <a:rect l="l" t="t" r="r" b="b"/>
            <a:pathLst>
              <a:path w="238760" h="135889">
                <a:moveTo>
                  <a:pt x="0" y="135817"/>
                </a:moveTo>
                <a:lnTo>
                  <a:pt x="23814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045649" y="2806585"/>
            <a:ext cx="134620" cy="125730"/>
          </a:xfrm>
          <a:custGeom>
            <a:avLst/>
            <a:gdLst/>
            <a:ahLst/>
            <a:cxnLst/>
            <a:rect l="l" t="t" r="r" b="b"/>
            <a:pathLst>
              <a:path w="134620" h="125730">
                <a:moveTo>
                  <a:pt x="67099" y="0"/>
                </a:moveTo>
                <a:lnTo>
                  <a:pt x="40981" y="4929"/>
                </a:lnTo>
                <a:lnTo>
                  <a:pt x="19653" y="18373"/>
                </a:lnTo>
                <a:lnTo>
                  <a:pt x="5273" y="38313"/>
                </a:lnTo>
                <a:lnTo>
                  <a:pt x="0" y="62731"/>
                </a:lnTo>
                <a:lnTo>
                  <a:pt x="5273" y="87149"/>
                </a:lnTo>
                <a:lnTo>
                  <a:pt x="19653" y="107089"/>
                </a:lnTo>
                <a:lnTo>
                  <a:pt x="40981" y="120533"/>
                </a:lnTo>
                <a:lnTo>
                  <a:pt x="67099" y="125463"/>
                </a:lnTo>
                <a:lnTo>
                  <a:pt x="93216" y="120533"/>
                </a:lnTo>
                <a:lnTo>
                  <a:pt x="114544" y="107089"/>
                </a:lnTo>
                <a:lnTo>
                  <a:pt x="128924" y="87149"/>
                </a:lnTo>
                <a:lnTo>
                  <a:pt x="134197" y="62731"/>
                </a:lnTo>
                <a:lnTo>
                  <a:pt x="128924" y="38313"/>
                </a:lnTo>
                <a:lnTo>
                  <a:pt x="114544" y="18373"/>
                </a:lnTo>
                <a:lnTo>
                  <a:pt x="93216" y="4929"/>
                </a:lnTo>
                <a:lnTo>
                  <a:pt x="6709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45649" y="2806585"/>
            <a:ext cx="134620" cy="125730"/>
          </a:xfrm>
          <a:custGeom>
            <a:avLst/>
            <a:gdLst/>
            <a:ahLst/>
            <a:cxnLst/>
            <a:rect l="l" t="t" r="r" b="b"/>
            <a:pathLst>
              <a:path w="134620" h="125730">
                <a:moveTo>
                  <a:pt x="0" y="62731"/>
                </a:moveTo>
                <a:lnTo>
                  <a:pt x="5272" y="38313"/>
                </a:lnTo>
                <a:lnTo>
                  <a:pt x="19652" y="18373"/>
                </a:lnTo>
                <a:lnTo>
                  <a:pt x="40980" y="4929"/>
                </a:lnTo>
                <a:lnTo>
                  <a:pt x="67098" y="0"/>
                </a:lnTo>
                <a:lnTo>
                  <a:pt x="93216" y="4929"/>
                </a:lnTo>
                <a:lnTo>
                  <a:pt x="114544" y="18373"/>
                </a:lnTo>
                <a:lnTo>
                  <a:pt x="128924" y="38313"/>
                </a:lnTo>
                <a:lnTo>
                  <a:pt x="134197" y="62731"/>
                </a:lnTo>
                <a:lnTo>
                  <a:pt x="128924" y="87149"/>
                </a:lnTo>
                <a:lnTo>
                  <a:pt x="114544" y="107089"/>
                </a:lnTo>
                <a:lnTo>
                  <a:pt x="93216" y="120533"/>
                </a:lnTo>
                <a:lnTo>
                  <a:pt x="67098" y="125463"/>
                </a:lnTo>
                <a:lnTo>
                  <a:pt x="40980" y="120533"/>
                </a:lnTo>
                <a:lnTo>
                  <a:pt x="19652" y="107089"/>
                </a:lnTo>
                <a:lnTo>
                  <a:pt x="5272" y="87149"/>
                </a:lnTo>
                <a:lnTo>
                  <a:pt x="0" y="6273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565448" y="2761609"/>
            <a:ext cx="134620" cy="125730"/>
          </a:xfrm>
          <a:custGeom>
            <a:avLst/>
            <a:gdLst/>
            <a:ahLst/>
            <a:cxnLst/>
            <a:rect l="l" t="t" r="r" b="b"/>
            <a:pathLst>
              <a:path w="134620" h="125730">
                <a:moveTo>
                  <a:pt x="67099" y="0"/>
                </a:moveTo>
                <a:lnTo>
                  <a:pt x="40981" y="4929"/>
                </a:lnTo>
                <a:lnTo>
                  <a:pt x="19653" y="18373"/>
                </a:lnTo>
                <a:lnTo>
                  <a:pt x="5273" y="38313"/>
                </a:lnTo>
                <a:lnTo>
                  <a:pt x="0" y="62731"/>
                </a:lnTo>
                <a:lnTo>
                  <a:pt x="5273" y="87149"/>
                </a:lnTo>
                <a:lnTo>
                  <a:pt x="19653" y="107089"/>
                </a:lnTo>
                <a:lnTo>
                  <a:pt x="40981" y="120533"/>
                </a:lnTo>
                <a:lnTo>
                  <a:pt x="67099" y="125463"/>
                </a:lnTo>
                <a:lnTo>
                  <a:pt x="93216" y="120533"/>
                </a:lnTo>
                <a:lnTo>
                  <a:pt x="114544" y="107089"/>
                </a:lnTo>
                <a:lnTo>
                  <a:pt x="128924" y="87149"/>
                </a:lnTo>
                <a:lnTo>
                  <a:pt x="134197" y="62731"/>
                </a:lnTo>
                <a:lnTo>
                  <a:pt x="128924" y="38313"/>
                </a:lnTo>
                <a:lnTo>
                  <a:pt x="114544" y="18373"/>
                </a:lnTo>
                <a:lnTo>
                  <a:pt x="93216" y="4929"/>
                </a:lnTo>
                <a:lnTo>
                  <a:pt x="6709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565448" y="2761609"/>
            <a:ext cx="134620" cy="125730"/>
          </a:xfrm>
          <a:custGeom>
            <a:avLst/>
            <a:gdLst/>
            <a:ahLst/>
            <a:cxnLst/>
            <a:rect l="l" t="t" r="r" b="b"/>
            <a:pathLst>
              <a:path w="134620" h="125730">
                <a:moveTo>
                  <a:pt x="0" y="62731"/>
                </a:moveTo>
                <a:lnTo>
                  <a:pt x="5272" y="38313"/>
                </a:lnTo>
                <a:lnTo>
                  <a:pt x="19652" y="18373"/>
                </a:lnTo>
                <a:lnTo>
                  <a:pt x="40980" y="4929"/>
                </a:lnTo>
                <a:lnTo>
                  <a:pt x="67098" y="0"/>
                </a:lnTo>
                <a:lnTo>
                  <a:pt x="93216" y="4929"/>
                </a:lnTo>
                <a:lnTo>
                  <a:pt x="114544" y="18373"/>
                </a:lnTo>
                <a:lnTo>
                  <a:pt x="128924" y="38313"/>
                </a:lnTo>
                <a:lnTo>
                  <a:pt x="134197" y="62731"/>
                </a:lnTo>
                <a:lnTo>
                  <a:pt x="128924" y="87149"/>
                </a:lnTo>
                <a:lnTo>
                  <a:pt x="114544" y="107089"/>
                </a:lnTo>
                <a:lnTo>
                  <a:pt x="93216" y="120533"/>
                </a:lnTo>
                <a:lnTo>
                  <a:pt x="67098" y="125463"/>
                </a:lnTo>
                <a:lnTo>
                  <a:pt x="40980" y="120533"/>
                </a:lnTo>
                <a:lnTo>
                  <a:pt x="19652" y="107089"/>
                </a:lnTo>
                <a:lnTo>
                  <a:pt x="5272" y="87149"/>
                </a:lnTo>
                <a:lnTo>
                  <a:pt x="0" y="6273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851423" y="2467701"/>
            <a:ext cx="134620" cy="125730"/>
          </a:xfrm>
          <a:custGeom>
            <a:avLst/>
            <a:gdLst/>
            <a:ahLst/>
            <a:cxnLst/>
            <a:rect l="l" t="t" r="r" b="b"/>
            <a:pathLst>
              <a:path w="134620" h="125730">
                <a:moveTo>
                  <a:pt x="67097" y="0"/>
                </a:moveTo>
                <a:lnTo>
                  <a:pt x="40980" y="4929"/>
                </a:lnTo>
                <a:lnTo>
                  <a:pt x="19652" y="18373"/>
                </a:lnTo>
                <a:lnTo>
                  <a:pt x="5272" y="38312"/>
                </a:lnTo>
                <a:lnTo>
                  <a:pt x="0" y="62730"/>
                </a:lnTo>
                <a:lnTo>
                  <a:pt x="5272" y="87148"/>
                </a:lnTo>
                <a:lnTo>
                  <a:pt x="19652" y="107088"/>
                </a:lnTo>
                <a:lnTo>
                  <a:pt x="40980" y="120532"/>
                </a:lnTo>
                <a:lnTo>
                  <a:pt x="67097" y="125462"/>
                </a:lnTo>
                <a:lnTo>
                  <a:pt x="93215" y="120532"/>
                </a:lnTo>
                <a:lnTo>
                  <a:pt x="114543" y="107088"/>
                </a:lnTo>
                <a:lnTo>
                  <a:pt x="128922" y="87148"/>
                </a:lnTo>
                <a:lnTo>
                  <a:pt x="134195" y="62730"/>
                </a:lnTo>
                <a:lnTo>
                  <a:pt x="128922" y="38312"/>
                </a:lnTo>
                <a:lnTo>
                  <a:pt x="114543" y="18373"/>
                </a:lnTo>
                <a:lnTo>
                  <a:pt x="93215" y="4929"/>
                </a:lnTo>
                <a:lnTo>
                  <a:pt x="6709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51423" y="2467701"/>
            <a:ext cx="134620" cy="125730"/>
          </a:xfrm>
          <a:custGeom>
            <a:avLst/>
            <a:gdLst/>
            <a:ahLst/>
            <a:cxnLst/>
            <a:rect l="l" t="t" r="r" b="b"/>
            <a:pathLst>
              <a:path w="134620" h="125730">
                <a:moveTo>
                  <a:pt x="0" y="62731"/>
                </a:moveTo>
                <a:lnTo>
                  <a:pt x="5272" y="38313"/>
                </a:lnTo>
                <a:lnTo>
                  <a:pt x="19652" y="18373"/>
                </a:lnTo>
                <a:lnTo>
                  <a:pt x="40980" y="4929"/>
                </a:lnTo>
                <a:lnTo>
                  <a:pt x="67098" y="0"/>
                </a:lnTo>
                <a:lnTo>
                  <a:pt x="93216" y="4929"/>
                </a:lnTo>
                <a:lnTo>
                  <a:pt x="114544" y="18373"/>
                </a:lnTo>
                <a:lnTo>
                  <a:pt x="128924" y="38313"/>
                </a:lnTo>
                <a:lnTo>
                  <a:pt x="134197" y="62731"/>
                </a:lnTo>
                <a:lnTo>
                  <a:pt x="128924" y="87149"/>
                </a:lnTo>
                <a:lnTo>
                  <a:pt x="114544" y="107089"/>
                </a:lnTo>
                <a:lnTo>
                  <a:pt x="93216" y="120533"/>
                </a:lnTo>
                <a:lnTo>
                  <a:pt x="67098" y="125463"/>
                </a:lnTo>
                <a:lnTo>
                  <a:pt x="40980" y="120533"/>
                </a:lnTo>
                <a:lnTo>
                  <a:pt x="19652" y="107089"/>
                </a:lnTo>
                <a:lnTo>
                  <a:pt x="5272" y="87149"/>
                </a:lnTo>
                <a:lnTo>
                  <a:pt x="0" y="6273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483733" y="2156420"/>
            <a:ext cx="134620" cy="125730"/>
          </a:xfrm>
          <a:custGeom>
            <a:avLst/>
            <a:gdLst/>
            <a:ahLst/>
            <a:cxnLst/>
            <a:rect l="l" t="t" r="r" b="b"/>
            <a:pathLst>
              <a:path w="134620" h="125730">
                <a:moveTo>
                  <a:pt x="67097" y="0"/>
                </a:moveTo>
                <a:lnTo>
                  <a:pt x="40980" y="4929"/>
                </a:lnTo>
                <a:lnTo>
                  <a:pt x="19652" y="18373"/>
                </a:lnTo>
                <a:lnTo>
                  <a:pt x="5272" y="38313"/>
                </a:lnTo>
                <a:lnTo>
                  <a:pt x="0" y="62731"/>
                </a:lnTo>
                <a:lnTo>
                  <a:pt x="5272" y="87149"/>
                </a:lnTo>
                <a:lnTo>
                  <a:pt x="19652" y="107089"/>
                </a:lnTo>
                <a:lnTo>
                  <a:pt x="40980" y="120533"/>
                </a:lnTo>
                <a:lnTo>
                  <a:pt x="67097" y="125463"/>
                </a:lnTo>
                <a:lnTo>
                  <a:pt x="93215" y="120533"/>
                </a:lnTo>
                <a:lnTo>
                  <a:pt x="114543" y="107089"/>
                </a:lnTo>
                <a:lnTo>
                  <a:pt x="128924" y="87149"/>
                </a:lnTo>
                <a:lnTo>
                  <a:pt x="134197" y="62731"/>
                </a:lnTo>
                <a:lnTo>
                  <a:pt x="128924" y="38313"/>
                </a:lnTo>
                <a:lnTo>
                  <a:pt x="114543" y="18373"/>
                </a:lnTo>
                <a:lnTo>
                  <a:pt x="93215" y="4929"/>
                </a:lnTo>
                <a:lnTo>
                  <a:pt x="6709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483733" y="2156420"/>
            <a:ext cx="134620" cy="125730"/>
          </a:xfrm>
          <a:custGeom>
            <a:avLst/>
            <a:gdLst/>
            <a:ahLst/>
            <a:cxnLst/>
            <a:rect l="l" t="t" r="r" b="b"/>
            <a:pathLst>
              <a:path w="134620" h="125730">
                <a:moveTo>
                  <a:pt x="0" y="62731"/>
                </a:moveTo>
                <a:lnTo>
                  <a:pt x="5272" y="38313"/>
                </a:lnTo>
                <a:lnTo>
                  <a:pt x="19652" y="18373"/>
                </a:lnTo>
                <a:lnTo>
                  <a:pt x="40980" y="4929"/>
                </a:lnTo>
                <a:lnTo>
                  <a:pt x="67098" y="0"/>
                </a:lnTo>
                <a:lnTo>
                  <a:pt x="93216" y="4929"/>
                </a:lnTo>
                <a:lnTo>
                  <a:pt x="114544" y="18373"/>
                </a:lnTo>
                <a:lnTo>
                  <a:pt x="128924" y="38313"/>
                </a:lnTo>
                <a:lnTo>
                  <a:pt x="134197" y="62731"/>
                </a:lnTo>
                <a:lnTo>
                  <a:pt x="128924" y="87149"/>
                </a:lnTo>
                <a:lnTo>
                  <a:pt x="114544" y="107089"/>
                </a:lnTo>
                <a:lnTo>
                  <a:pt x="93216" y="120533"/>
                </a:lnTo>
                <a:lnTo>
                  <a:pt x="67098" y="125463"/>
                </a:lnTo>
                <a:lnTo>
                  <a:pt x="40980" y="120533"/>
                </a:lnTo>
                <a:lnTo>
                  <a:pt x="19652" y="107089"/>
                </a:lnTo>
                <a:lnTo>
                  <a:pt x="5272" y="87149"/>
                </a:lnTo>
                <a:lnTo>
                  <a:pt x="0" y="6273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945967" y="2032890"/>
            <a:ext cx="134620" cy="125730"/>
          </a:xfrm>
          <a:custGeom>
            <a:avLst/>
            <a:gdLst/>
            <a:ahLst/>
            <a:cxnLst/>
            <a:rect l="l" t="t" r="r" b="b"/>
            <a:pathLst>
              <a:path w="134620" h="125730">
                <a:moveTo>
                  <a:pt x="67097" y="0"/>
                </a:moveTo>
                <a:lnTo>
                  <a:pt x="40980" y="4929"/>
                </a:lnTo>
                <a:lnTo>
                  <a:pt x="19652" y="18373"/>
                </a:lnTo>
                <a:lnTo>
                  <a:pt x="5272" y="38313"/>
                </a:lnTo>
                <a:lnTo>
                  <a:pt x="0" y="62731"/>
                </a:lnTo>
                <a:lnTo>
                  <a:pt x="5272" y="87149"/>
                </a:lnTo>
                <a:lnTo>
                  <a:pt x="19652" y="107089"/>
                </a:lnTo>
                <a:lnTo>
                  <a:pt x="40980" y="120533"/>
                </a:lnTo>
                <a:lnTo>
                  <a:pt x="67097" y="125463"/>
                </a:lnTo>
                <a:lnTo>
                  <a:pt x="93215" y="120533"/>
                </a:lnTo>
                <a:lnTo>
                  <a:pt x="114543" y="107089"/>
                </a:lnTo>
                <a:lnTo>
                  <a:pt x="128924" y="87149"/>
                </a:lnTo>
                <a:lnTo>
                  <a:pt x="134197" y="62731"/>
                </a:lnTo>
                <a:lnTo>
                  <a:pt x="128924" y="38313"/>
                </a:lnTo>
                <a:lnTo>
                  <a:pt x="114543" y="18373"/>
                </a:lnTo>
                <a:lnTo>
                  <a:pt x="93215" y="4929"/>
                </a:lnTo>
                <a:lnTo>
                  <a:pt x="6709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945967" y="2032890"/>
            <a:ext cx="134620" cy="125730"/>
          </a:xfrm>
          <a:custGeom>
            <a:avLst/>
            <a:gdLst/>
            <a:ahLst/>
            <a:cxnLst/>
            <a:rect l="l" t="t" r="r" b="b"/>
            <a:pathLst>
              <a:path w="134620" h="125730">
                <a:moveTo>
                  <a:pt x="0" y="62731"/>
                </a:moveTo>
                <a:lnTo>
                  <a:pt x="5272" y="38313"/>
                </a:lnTo>
                <a:lnTo>
                  <a:pt x="19652" y="18373"/>
                </a:lnTo>
                <a:lnTo>
                  <a:pt x="40980" y="4929"/>
                </a:lnTo>
                <a:lnTo>
                  <a:pt x="67098" y="0"/>
                </a:lnTo>
                <a:lnTo>
                  <a:pt x="93216" y="4929"/>
                </a:lnTo>
                <a:lnTo>
                  <a:pt x="114544" y="18373"/>
                </a:lnTo>
                <a:lnTo>
                  <a:pt x="128924" y="38313"/>
                </a:lnTo>
                <a:lnTo>
                  <a:pt x="134197" y="62731"/>
                </a:lnTo>
                <a:lnTo>
                  <a:pt x="128924" y="87149"/>
                </a:lnTo>
                <a:lnTo>
                  <a:pt x="114544" y="107089"/>
                </a:lnTo>
                <a:lnTo>
                  <a:pt x="93216" y="120533"/>
                </a:lnTo>
                <a:lnTo>
                  <a:pt x="67098" y="125463"/>
                </a:lnTo>
                <a:lnTo>
                  <a:pt x="40980" y="120533"/>
                </a:lnTo>
                <a:lnTo>
                  <a:pt x="19652" y="107089"/>
                </a:lnTo>
                <a:lnTo>
                  <a:pt x="5272" y="87149"/>
                </a:lnTo>
                <a:lnTo>
                  <a:pt x="0" y="6273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137069" y="2291688"/>
            <a:ext cx="134620" cy="125730"/>
          </a:xfrm>
          <a:custGeom>
            <a:avLst/>
            <a:gdLst/>
            <a:ahLst/>
            <a:cxnLst/>
            <a:rect l="l" t="t" r="r" b="b"/>
            <a:pathLst>
              <a:path w="134620" h="125730">
                <a:moveTo>
                  <a:pt x="67097" y="0"/>
                </a:moveTo>
                <a:lnTo>
                  <a:pt x="40980" y="4929"/>
                </a:lnTo>
                <a:lnTo>
                  <a:pt x="19652" y="18373"/>
                </a:lnTo>
                <a:lnTo>
                  <a:pt x="5272" y="38313"/>
                </a:lnTo>
                <a:lnTo>
                  <a:pt x="0" y="62731"/>
                </a:lnTo>
                <a:lnTo>
                  <a:pt x="5272" y="87149"/>
                </a:lnTo>
                <a:lnTo>
                  <a:pt x="19652" y="107089"/>
                </a:lnTo>
                <a:lnTo>
                  <a:pt x="40980" y="120533"/>
                </a:lnTo>
                <a:lnTo>
                  <a:pt x="67097" y="125463"/>
                </a:lnTo>
                <a:lnTo>
                  <a:pt x="93215" y="120533"/>
                </a:lnTo>
                <a:lnTo>
                  <a:pt x="114543" y="107089"/>
                </a:lnTo>
                <a:lnTo>
                  <a:pt x="128924" y="87149"/>
                </a:lnTo>
                <a:lnTo>
                  <a:pt x="134197" y="62731"/>
                </a:lnTo>
                <a:lnTo>
                  <a:pt x="128924" y="38313"/>
                </a:lnTo>
                <a:lnTo>
                  <a:pt x="114543" y="18373"/>
                </a:lnTo>
                <a:lnTo>
                  <a:pt x="93215" y="4929"/>
                </a:lnTo>
                <a:lnTo>
                  <a:pt x="6709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37069" y="2291688"/>
            <a:ext cx="134620" cy="125730"/>
          </a:xfrm>
          <a:custGeom>
            <a:avLst/>
            <a:gdLst/>
            <a:ahLst/>
            <a:cxnLst/>
            <a:rect l="l" t="t" r="r" b="b"/>
            <a:pathLst>
              <a:path w="134620" h="125730">
                <a:moveTo>
                  <a:pt x="0" y="62731"/>
                </a:moveTo>
                <a:lnTo>
                  <a:pt x="5272" y="38313"/>
                </a:lnTo>
                <a:lnTo>
                  <a:pt x="19652" y="18373"/>
                </a:lnTo>
                <a:lnTo>
                  <a:pt x="40980" y="4929"/>
                </a:lnTo>
                <a:lnTo>
                  <a:pt x="67098" y="0"/>
                </a:lnTo>
                <a:lnTo>
                  <a:pt x="93216" y="4929"/>
                </a:lnTo>
                <a:lnTo>
                  <a:pt x="114544" y="18373"/>
                </a:lnTo>
                <a:lnTo>
                  <a:pt x="128924" y="38313"/>
                </a:lnTo>
                <a:lnTo>
                  <a:pt x="134197" y="62731"/>
                </a:lnTo>
                <a:lnTo>
                  <a:pt x="128924" y="87149"/>
                </a:lnTo>
                <a:lnTo>
                  <a:pt x="114544" y="107089"/>
                </a:lnTo>
                <a:lnTo>
                  <a:pt x="93216" y="120533"/>
                </a:lnTo>
                <a:lnTo>
                  <a:pt x="67098" y="125463"/>
                </a:lnTo>
                <a:lnTo>
                  <a:pt x="40980" y="120533"/>
                </a:lnTo>
                <a:lnTo>
                  <a:pt x="19652" y="107089"/>
                </a:lnTo>
                <a:lnTo>
                  <a:pt x="5272" y="87149"/>
                </a:lnTo>
                <a:lnTo>
                  <a:pt x="0" y="6273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421134" y="2276845"/>
            <a:ext cx="134620" cy="125730"/>
          </a:xfrm>
          <a:custGeom>
            <a:avLst/>
            <a:gdLst/>
            <a:ahLst/>
            <a:cxnLst/>
            <a:rect l="l" t="t" r="r" b="b"/>
            <a:pathLst>
              <a:path w="134620" h="125730">
                <a:moveTo>
                  <a:pt x="67097" y="0"/>
                </a:moveTo>
                <a:lnTo>
                  <a:pt x="40980" y="4929"/>
                </a:lnTo>
                <a:lnTo>
                  <a:pt x="19652" y="18373"/>
                </a:lnTo>
                <a:lnTo>
                  <a:pt x="5272" y="38313"/>
                </a:lnTo>
                <a:lnTo>
                  <a:pt x="0" y="62731"/>
                </a:lnTo>
                <a:lnTo>
                  <a:pt x="5272" y="87149"/>
                </a:lnTo>
                <a:lnTo>
                  <a:pt x="19652" y="107089"/>
                </a:lnTo>
                <a:lnTo>
                  <a:pt x="40980" y="120533"/>
                </a:lnTo>
                <a:lnTo>
                  <a:pt x="67097" y="125463"/>
                </a:lnTo>
                <a:lnTo>
                  <a:pt x="93215" y="120533"/>
                </a:lnTo>
                <a:lnTo>
                  <a:pt x="114543" y="107089"/>
                </a:lnTo>
                <a:lnTo>
                  <a:pt x="128924" y="87149"/>
                </a:lnTo>
                <a:lnTo>
                  <a:pt x="134197" y="62731"/>
                </a:lnTo>
                <a:lnTo>
                  <a:pt x="128924" y="38313"/>
                </a:lnTo>
                <a:lnTo>
                  <a:pt x="114543" y="18373"/>
                </a:lnTo>
                <a:lnTo>
                  <a:pt x="93215" y="4929"/>
                </a:lnTo>
                <a:lnTo>
                  <a:pt x="6709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421134" y="2276845"/>
            <a:ext cx="134620" cy="125730"/>
          </a:xfrm>
          <a:custGeom>
            <a:avLst/>
            <a:gdLst/>
            <a:ahLst/>
            <a:cxnLst/>
            <a:rect l="l" t="t" r="r" b="b"/>
            <a:pathLst>
              <a:path w="134620" h="125730">
                <a:moveTo>
                  <a:pt x="0" y="62731"/>
                </a:moveTo>
                <a:lnTo>
                  <a:pt x="5272" y="38313"/>
                </a:lnTo>
                <a:lnTo>
                  <a:pt x="19652" y="18373"/>
                </a:lnTo>
                <a:lnTo>
                  <a:pt x="40980" y="4929"/>
                </a:lnTo>
                <a:lnTo>
                  <a:pt x="67098" y="0"/>
                </a:lnTo>
                <a:lnTo>
                  <a:pt x="93216" y="4929"/>
                </a:lnTo>
                <a:lnTo>
                  <a:pt x="114544" y="18373"/>
                </a:lnTo>
                <a:lnTo>
                  <a:pt x="128924" y="38313"/>
                </a:lnTo>
                <a:lnTo>
                  <a:pt x="134197" y="62731"/>
                </a:lnTo>
                <a:lnTo>
                  <a:pt x="128924" y="87149"/>
                </a:lnTo>
                <a:lnTo>
                  <a:pt x="114544" y="107089"/>
                </a:lnTo>
                <a:lnTo>
                  <a:pt x="93216" y="120533"/>
                </a:lnTo>
                <a:lnTo>
                  <a:pt x="67098" y="125463"/>
                </a:lnTo>
                <a:lnTo>
                  <a:pt x="40980" y="120533"/>
                </a:lnTo>
                <a:lnTo>
                  <a:pt x="19652" y="107089"/>
                </a:lnTo>
                <a:lnTo>
                  <a:pt x="5272" y="87149"/>
                </a:lnTo>
                <a:lnTo>
                  <a:pt x="0" y="6273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527486" y="2604444"/>
            <a:ext cx="134620" cy="125730"/>
          </a:xfrm>
          <a:custGeom>
            <a:avLst/>
            <a:gdLst/>
            <a:ahLst/>
            <a:cxnLst/>
            <a:rect l="l" t="t" r="r" b="b"/>
            <a:pathLst>
              <a:path w="134620" h="125730">
                <a:moveTo>
                  <a:pt x="67099" y="0"/>
                </a:moveTo>
                <a:lnTo>
                  <a:pt x="40981" y="4929"/>
                </a:lnTo>
                <a:lnTo>
                  <a:pt x="19653" y="18373"/>
                </a:lnTo>
                <a:lnTo>
                  <a:pt x="5273" y="38313"/>
                </a:lnTo>
                <a:lnTo>
                  <a:pt x="0" y="62731"/>
                </a:lnTo>
                <a:lnTo>
                  <a:pt x="5273" y="87149"/>
                </a:lnTo>
                <a:lnTo>
                  <a:pt x="19653" y="107089"/>
                </a:lnTo>
                <a:lnTo>
                  <a:pt x="40981" y="120533"/>
                </a:lnTo>
                <a:lnTo>
                  <a:pt x="67099" y="125463"/>
                </a:lnTo>
                <a:lnTo>
                  <a:pt x="93216" y="120533"/>
                </a:lnTo>
                <a:lnTo>
                  <a:pt x="114544" y="107089"/>
                </a:lnTo>
                <a:lnTo>
                  <a:pt x="128924" y="87149"/>
                </a:lnTo>
                <a:lnTo>
                  <a:pt x="134197" y="62731"/>
                </a:lnTo>
                <a:lnTo>
                  <a:pt x="128924" y="38313"/>
                </a:lnTo>
                <a:lnTo>
                  <a:pt x="114544" y="18373"/>
                </a:lnTo>
                <a:lnTo>
                  <a:pt x="93216" y="4929"/>
                </a:lnTo>
                <a:lnTo>
                  <a:pt x="6709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527486" y="2604444"/>
            <a:ext cx="134620" cy="125730"/>
          </a:xfrm>
          <a:custGeom>
            <a:avLst/>
            <a:gdLst/>
            <a:ahLst/>
            <a:cxnLst/>
            <a:rect l="l" t="t" r="r" b="b"/>
            <a:pathLst>
              <a:path w="134620" h="125730">
                <a:moveTo>
                  <a:pt x="0" y="62731"/>
                </a:moveTo>
                <a:lnTo>
                  <a:pt x="5272" y="38313"/>
                </a:lnTo>
                <a:lnTo>
                  <a:pt x="19652" y="18373"/>
                </a:lnTo>
                <a:lnTo>
                  <a:pt x="40980" y="4929"/>
                </a:lnTo>
                <a:lnTo>
                  <a:pt x="67098" y="0"/>
                </a:lnTo>
                <a:lnTo>
                  <a:pt x="93216" y="4929"/>
                </a:lnTo>
                <a:lnTo>
                  <a:pt x="114544" y="18373"/>
                </a:lnTo>
                <a:lnTo>
                  <a:pt x="128924" y="38313"/>
                </a:lnTo>
                <a:lnTo>
                  <a:pt x="134197" y="62731"/>
                </a:lnTo>
                <a:lnTo>
                  <a:pt x="128924" y="87149"/>
                </a:lnTo>
                <a:lnTo>
                  <a:pt x="114544" y="107089"/>
                </a:lnTo>
                <a:lnTo>
                  <a:pt x="93216" y="120533"/>
                </a:lnTo>
                <a:lnTo>
                  <a:pt x="67098" y="125463"/>
                </a:lnTo>
                <a:lnTo>
                  <a:pt x="40980" y="120533"/>
                </a:lnTo>
                <a:lnTo>
                  <a:pt x="19652" y="107089"/>
                </a:lnTo>
                <a:lnTo>
                  <a:pt x="5272" y="87149"/>
                </a:lnTo>
                <a:lnTo>
                  <a:pt x="0" y="6273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841578" y="2111543"/>
            <a:ext cx="134620" cy="125730"/>
          </a:xfrm>
          <a:custGeom>
            <a:avLst/>
            <a:gdLst/>
            <a:ahLst/>
            <a:cxnLst/>
            <a:rect l="l" t="t" r="r" b="b"/>
            <a:pathLst>
              <a:path w="134620" h="125730">
                <a:moveTo>
                  <a:pt x="67097" y="0"/>
                </a:moveTo>
                <a:lnTo>
                  <a:pt x="40980" y="4929"/>
                </a:lnTo>
                <a:lnTo>
                  <a:pt x="19652" y="18373"/>
                </a:lnTo>
                <a:lnTo>
                  <a:pt x="5272" y="38313"/>
                </a:lnTo>
                <a:lnTo>
                  <a:pt x="0" y="62731"/>
                </a:lnTo>
                <a:lnTo>
                  <a:pt x="5272" y="87149"/>
                </a:lnTo>
                <a:lnTo>
                  <a:pt x="19652" y="107089"/>
                </a:lnTo>
                <a:lnTo>
                  <a:pt x="40980" y="120533"/>
                </a:lnTo>
                <a:lnTo>
                  <a:pt x="67097" y="125463"/>
                </a:lnTo>
                <a:lnTo>
                  <a:pt x="93216" y="120533"/>
                </a:lnTo>
                <a:lnTo>
                  <a:pt x="114544" y="107089"/>
                </a:lnTo>
                <a:lnTo>
                  <a:pt x="128924" y="87149"/>
                </a:lnTo>
                <a:lnTo>
                  <a:pt x="134197" y="62731"/>
                </a:lnTo>
                <a:lnTo>
                  <a:pt x="128924" y="38313"/>
                </a:lnTo>
                <a:lnTo>
                  <a:pt x="114544" y="18373"/>
                </a:lnTo>
                <a:lnTo>
                  <a:pt x="93216" y="4929"/>
                </a:lnTo>
                <a:lnTo>
                  <a:pt x="6709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841578" y="2111543"/>
            <a:ext cx="134620" cy="125730"/>
          </a:xfrm>
          <a:custGeom>
            <a:avLst/>
            <a:gdLst/>
            <a:ahLst/>
            <a:cxnLst/>
            <a:rect l="l" t="t" r="r" b="b"/>
            <a:pathLst>
              <a:path w="134620" h="125730">
                <a:moveTo>
                  <a:pt x="0" y="62731"/>
                </a:moveTo>
                <a:lnTo>
                  <a:pt x="5272" y="38313"/>
                </a:lnTo>
                <a:lnTo>
                  <a:pt x="19652" y="18373"/>
                </a:lnTo>
                <a:lnTo>
                  <a:pt x="40980" y="4929"/>
                </a:lnTo>
                <a:lnTo>
                  <a:pt x="67098" y="0"/>
                </a:lnTo>
                <a:lnTo>
                  <a:pt x="93216" y="4929"/>
                </a:lnTo>
                <a:lnTo>
                  <a:pt x="114544" y="18373"/>
                </a:lnTo>
                <a:lnTo>
                  <a:pt x="128924" y="38313"/>
                </a:lnTo>
                <a:lnTo>
                  <a:pt x="134197" y="62731"/>
                </a:lnTo>
                <a:lnTo>
                  <a:pt x="128924" y="87149"/>
                </a:lnTo>
                <a:lnTo>
                  <a:pt x="114544" y="107089"/>
                </a:lnTo>
                <a:lnTo>
                  <a:pt x="93216" y="120533"/>
                </a:lnTo>
                <a:lnTo>
                  <a:pt x="67098" y="125463"/>
                </a:lnTo>
                <a:lnTo>
                  <a:pt x="40980" y="120533"/>
                </a:lnTo>
                <a:lnTo>
                  <a:pt x="19652" y="107089"/>
                </a:lnTo>
                <a:lnTo>
                  <a:pt x="5272" y="87149"/>
                </a:lnTo>
                <a:lnTo>
                  <a:pt x="0" y="6273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142100" y="2381398"/>
            <a:ext cx="134620" cy="125730"/>
          </a:xfrm>
          <a:custGeom>
            <a:avLst/>
            <a:gdLst/>
            <a:ahLst/>
            <a:cxnLst/>
            <a:rect l="l" t="t" r="r" b="b"/>
            <a:pathLst>
              <a:path w="134620" h="125730">
                <a:moveTo>
                  <a:pt x="67097" y="0"/>
                </a:moveTo>
                <a:lnTo>
                  <a:pt x="40980" y="4929"/>
                </a:lnTo>
                <a:lnTo>
                  <a:pt x="19652" y="18373"/>
                </a:lnTo>
                <a:lnTo>
                  <a:pt x="5272" y="38313"/>
                </a:lnTo>
                <a:lnTo>
                  <a:pt x="0" y="62731"/>
                </a:lnTo>
                <a:lnTo>
                  <a:pt x="5272" y="87149"/>
                </a:lnTo>
                <a:lnTo>
                  <a:pt x="19652" y="107089"/>
                </a:lnTo>
                <a:lnTo>
                  <a:pt x="40980" y="120533"/>
                </a:lnTo>
                <a:lnTo>
                  <a:pt x="67097" y="125463"/>
                </a:lnTo>
                <a:lnTo>
                  <a:pt x="93215" y="120533"/>
                </a:lnTo>
                <a:lnTo>
                  <a:pt x="114543" y="107089"/>
                </a:lnTo>
                <a:lnTo>
                  <a:pt x="128924" y="87149"/>
                </a:lnTo>
                <a:lnTo>
                  <a:pt x="134197" y="62731"/>
                </a:lnTo>
                <a:lnTo>
                  <a:pt x="128924" y="38313"/>
                </a:lnTo>
                <a:lnTo>
                  <a:pt x="114543" y="18373"/>
                </a:lnTo>
                <a:lnTo>
                  <a:pt x="93215" y="4929"/>
                </a:lnTo>
                <a:lnTo>
                  <a:pt x="6709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142100" y="2381398"/>
            <a:ext cx="134620" cy="125730"/>
          </a:xfrm>
          <a:custGeom>
            <a:avLst/>
            <a:gdLst/>
            <a:ahLst/>
            <a:cxnLst/>
            <a:rect l="l" t="t" r="r" b="b"/>
            <a:pathLst>
              <a:path w="134620" h="125730">
                <a:moveTo>
                  <a:pt x="0" y="62731"/>
                </a:moveTo>
                <a:lnTo>
                  <a:pt x="5272" y="38313"/>
                </a:lnTo>
                <a:lnTo>
                  <a:pt x="19652" y="18373"/>
                </a:lnTo>
                <a:lnTo>
                  <a:pt x="40980" y="4929"/>
                </a:lnTo>
                <a:lnTo>
                  <a:pt x="67098" y="0"/>
                </a:lnTo>
                <a:lnTo>
                  <a:pt x="93216" y="4929"/>
                </a:lnTo>
                <a:lnTo>
                  <a:pt x="114544" y="18373"/>
                </a:lnTo>
                <a:lnTo>
                  <a:pt x="128924" y="38313"/>
                </a:lnTo>
                <a:lnTo>
                  <a:pt x="134197" y="62731"/>
                </a:lnTo>
                <a:lnTo>
                  <a:pt x="128924" y="87149"/>
                </a:lnTo>
                <a:lnTo>
                  <a:pt x="114544" y="107089"/>
                </a:lnTo>
                <a:lnTo>
                  <a:pt x="93216" y="120533"/>
                </a:lnTo>
                <a:lnTo>
                  <a:pt x="67098" y="125463"/>
                </a:lnTo>
                <a:lnTo>
                  <a:pt x="40980" y="120533"/>
                </a:lnTo>
                <a:lnTo>
                  <a:pt x="19652" y="107089"/>
                </a:lnTo>
                <a:lnTo>
                  <a:pt x="5272" y="87149"/>
                </a:lnTo>
                <a:lnTo>
                  <a:pt x="0" y="62731"/>
                </a:lnTo>
                <a:close/>
              </a:path>
            </a:pathLst>
          </a:custGeom>
          <a:ln w="952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8706984" y="6699893"/>
            <a:ext cx="16573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14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181525" y="1021080"/>
            <a:ext cx="0" cy="45720"/>
          </a:xfrm>
          <a:custGeom>
            <a:avLst/>
            <a:gdLst/>
            <a:ahLst/>
            <a:cxnLst/>
            <a:rect l="l" t="t" r="r" b="b"/>
            <a:pathLst>
              <a:path w="0" h="45719">
                <a:moveTo>
                  <a:pt x="0" y="0"/>
                </a:moveTo>
                <a:lnTo>
                  <a:pt x="0" y="45720"/>
                </a:lnTo>
              </a:path>
            </a:pathLst>
          </a:custGeom>
          <a:ln w="317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043939"/>
            <a:ext cx="7391400" cy="0"/>
          </a:xfrm>
          <a:custGeom>
            <a:avLst/>
            <a:gdLst/>
            <a:ahLst/>
            <a:cxnLst/>
            <a:rect l="l" t="t" r="r" b="b"/>
            <a:pathLst>
              <a:path w="7391400" h="0">
                <a:moveTo>
                  <a:pt x="0" y="0"/>
                </a:moveTo>
                <a:lnTo>
                  <a:pt x="7391400" y="0"/>
                </a:lnTo>
              </a:path>
            </a:pathLst>
          </a:custGeom>
          <a:ln w="4572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5216" y="350520"/>
            <a:ext cx="5266944" cy="5547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554224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2/25/21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32384" y="6712593"/>
            <a:ext cx="114300" cy="1397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35"/>
              </a:lnSpc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18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85800" y="1219199"/>
            <a:ext cx="5867400" cy="44348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4378836" y="1835404"/>
            <a:ext cx="1629410" cy="123571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ctr" marL="12700" marR="5080" indent="-635">
              <a:lnSpc>
                <a:spcPct val="99100"/>
              </a:lnSpc>
              <a:spcBef>
                <a:spcPts val="114"/>
              </a:spcBef>
            </a:pP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Number of links  between pairs of  nodes in the  largest</a:t>
            </a:r>
            <a:r>
              <a:rPr dirty="0" sz="1600" spc="-5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connected  component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33400" y="5715000"/>
            <a:ext cx="6477000" cy="914400"/>
          </a:xfrm>
          <a:custGeom>
            <a:avLst/>
            <a:gdLst/>
            <a:ahLst/>
            <a:cxnLst/>
            <a:rect l="l" t="t" r="r" b="b"/>
            <a:pathLst>
              <a:path w="6477000" h="914400">
                <a:moveTo>
                  <a:pt x="6324594" y="0"/>
                </a:moveTo>
                <a:lnTo>
                  <a:pt x="152404" y="0"/>
                </a:lnTo>
                <a:lnTo>
                  <a:pt x="104233" y="7769"/>
                </a:lnTo>
                <a:lnTo>
                  <a:pt x="62396" y="29405"/>
                </a:lnTo>
                <a:lnTo>
                  <a:pt x="29405" y="62396"/>
                </a:lnTo>
                <a:lnTo>
                  <a:pt x="7769" y="104233"/>
                </a:lnTo>
                <a:lnTo>
                  <a:pt x="0" y="152405"/>
                </a:lnTo>
                <a:lnTo>
                  <a:pt x="0" y="761994"/>
                </a:lnTo>
                <a:lnTo>
                  <a:pt x="7769" y="810166"/>
                </a:lnTo>
                <a:lnTo>
                  <a:pt x="29405" y="852003"/>
                </a:lnTo>
                <a:lnTo>
                  <a:pt x="62396" y="884994"/>
                </a:lnTo>
                <a:lnTo>
                  <a:pt x="104233" y="906630"/>
                </a:lnTo>
                <a:lnTo>
                  <a:pt x="152404" y="914399"/>
                </a:lnTo>
                <a:lnTo>
                  <a:pt x="6324594" y="914399"/>
                </a:lnTo>
                <a:lnTo>
                  <a:pt x="6372766" y="906630"/>
                </a:lnTo>
                <a:lnTo>
                  <a:pt x="6414603" y="884994"/>
                </a:lnTo>
                <a:lnTo>
                  <a:pt x="6447594" y="852003"/>
                </a:lnTo>
                <a:lnTo>
                  <a:pt x="6469230" y="810166"/>
                </a:lnTo>
                <a:lnTo>
                  <a:pt x="6477000" y="761994"/>
                </a:lnTo>
                <a:lnTo>
                  <a:pt x="6477000" y="152405"/>
                </a:lnTo>
                <a:lnTo>
                  <a:pt x="6469230" y="104233"/>
                </a:lnTo>
                <a:lnTo>
                  <a:pt x="6447594" y="62396"/>
                </a:lnTo>
                <a:lnTo>
                  <a:pt x="6414603" y="29405"/>
                </a:lnTo>
                <a:lnTo>
                  <a:pt x="6372766" y="7769"/>
                </a:lnTo>
                <a:lnTo>
                  <a:pt x="632459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9430" y="5692009"/>
            <a:ext cx="6525259" cy="961390"/>
          </a:xfrm>
          <a:custGeom>
            <a:avLst/>
            <a:gdLst/>
            <a:ahLst/>
            <a:cxnLst/>
            <a:rect l="l" t="t" r="r" b="b"/>
            <a:pathLst>
              <a:path w="6525259" h="961390">
                <a:moveTo>
                  <a:pt x="6365357" y="0"/>
                </a:moveTo>
                <a:lnTo>
                  <a:pt x="175164" y="0"/>
                </a:lnTo>
                <a:lnTo>
                  <a:pt x="157171" y="1269"/>
                </a:lnTo>
                <a:lnTo>
                  <a:pt x="106635" y="13969"/>
                </a:lnTo>
                <a:lnTo>
                  <a:pt x="76777" y="30480"/>
                </a:lnTo>
                <a:lnTo>
                  <a:pt x="52153" y="50800"/>
                </a:lnTo>
                <a:lnTo>
                  <a:pt x="30752" y="76200"/>
                </a:lnTo>
                <a:lnTo>
                  <a:pt x="30084" y="77469"/>
                </a:lnTo>
                <a:lnTo>
                  <a:pt x="20741" y="92709"/>
                </a:lnTo>
                <a:lnTo>
                  <a:pt x="3340" y="142239"/>
                </a:lnTo>
                <a:lnTo>
                  <a:pt x="0" y="787400"/>
                </a:lnTo>
                <a:lnTo>
                  <a:pt x="1030" y="805179"/>
                </a:lnTo>
                <a:lnTo>
                  <a:pt x="14324" y="855979"/>
                </a:lnTo>
                <a:lnTo>
                  <a:pt x="30084" y="883919"/>
                </a:lnTo>
                <a:lnTo>
                  <a:pt x="30751" y="885189"/>
                </a:lnTo>
                <a:lnTo>
                  <a:pt x="52153" y="910589"/>
                </a:lnTo>
                <a:lnTo>
                  <a:pt x="76776" y="930910"/>
                </a:lnTo>
                <a:lnTo>
                  <a:pt x="77719" y="932179"/>
                </a:lnTo>
                <a:lnTo>
                  <a:pt x="125077" y="955039"/>
                </a:lnTo>
                <a:lnTo>
                  <a:pt x="159581" y="961389"/>
                </a:lnTo>
                <a:lnTo>
                  <a:pt x="6367768" y="961389"/>
                </a:lnTo>
                <a:lnTo>
                  <a:pt x="6402134" y="953769"/>
                </a:lnTo>
                <a:lnTo>
                  <a:pt x="6418303" y="947419"/>
                </a:lnTo>
                <a:lnTo>
                  <a:pt x="6433670" y="939800"/>
                </a:lnTo>
                <a:lnTo>
                  <a:pt x="6444963" y="933450"/>
                </a:lnTo>
                <a:lnTo>
                  <a:pt x="176374" y="933450"/>
                </a:lnTo>
                <a:lnTo>
                  <a:pt x="161033" y="932179"/>
                </a:lnTo>
                <a:lnTo>
                  <a:pt x="118701" y="922019"/>
                </a:lnTo>
                <a:lnTo>
                  <a:pt x="72017" y="890269"/>
                </a:lnTo>
                <a:lnTo>
                  <a:pt x="46466" y="855979"/>
                </a:lnTo>
                <a:lnTo>
                  <a:pt x="31714" y="815339"/>
                </a:lnTo>
                <a:lnTo>
                  <a:pt x="28834" y="175259"/>
                </a:lnTo>
                <a:lnTo>
                  <a:pt x="29550" y="161289"/>
                </a:lnTo>
                <a:lnTo>
                  <a:pt x="40453" y="118109"/>
                </a:lnTo>
                <a:lnTo>
                  <a:pt x="72017" y="71119"/>
                </a:lnTo>
                <a:lnTo>
                  <a:pt x="106221" y="45719"/>
                </a:lnTo>
                <a:lnTo>
                  <a:pt x="146854" y="31750"/>
                </a:lnTo>
                <a:lnTo>
                  <a:pt x="176616" y="27939"/>
                </a:lnTo>
                <a:lnTo>
                  <a:pt x="6444993" y="27939"/>
                </a:lnTo>
                <a:lnTo>
                  <a:pt x="6431626" y="20319"/>
                </a:lnTo>
                <a:lnTo>
                  <a:pt x="6416136" y="12700"/>
                </a:lnTo>
                <a:lnTo>
                  <a:pt x="6399860" y="7619"/>
                </a:lnTo>
                <a:lnTo>
                  <a:pt x="6382900" y="2539"/>
                </a:lnTo>
                <a:lnTo>
                  <a:pt x="6365357" y="0"/>
                </a:lnTo>
                <a:close/>
              </a:path>
              <a:path w="6525259" h="961390">
                <a:moveTo>
                  <a:pt x="6444993" y="27939"/>
                </a:moveTo>
                <a:lnTo>
                  <a:pt x="6348564" y="27939"/>
                </a:lnTo>
                <a:lnTo>
                  <a:pt x="6363904" y="29209"/>
                </a:lnTo>
                <a:lnTo>
                  <a:pt x="6378555" y="31750"/>
                </a:lnTo>
                <a:lnTo>
                  <a:pt x="6419126" y="45719"/>
                </a:lnTo>
                <a:lnTo>
                  <a:pt x="6452921" y="71119"/>
                </a:lnTo>
                <a:lnTo>
                  <a:pt x="6478472" y="105409"/>
                </a:lnTo>
                <a:lnTo>
                  <a:pt x="6493223" y="146050"/>
                </a:lnTo>
                <a:lnTo>
                  <a:pt x="6496113" y="175259"/>
                </a:lnTo>
                <a:lnTo>
                  <a:pt x="6496103" y="787400"/>
                </a:lnTo>
                <a:lnTo>
                  <a:pt x="6489468" y="829310"/>
                </a:lnTo>
                <a:lnTo>
                  <a:pt x="6471017" y="867410"/>
                </a:lnTo>
                <a:lnTo>
                  <a:pt x="6430987" y="908050"/>
                </a:lnTo>
                <a:lnTo>
                  <a:pt x="6392234" y="927100"/>
                </a:lnTo>
                <a:lnTo>
                  <a:pt x="6348321" y="933450"/>
                </a:lnTo>
                <a:lnTo>
                  <a:pt x="6444963" y="933450"/>
                </a:lnTo>
                <a:lnTo>
                  <a:pt x="6447221" y="932179"/>
                </a:lnTo>
                <a:lnTo>
                  <a:pt x="6448160" y="930910"/>
                </a:lnTo>
                <a:lnTo>
                  <a:pt x="6472785" y="910589"/>
                </a:lnTo>
                <a:lnTo>
                  <a:pt x="6494186" y="885189"/>
                </a:lnTo>
                <a:lnTo>
                  <a:pt x="6494854" y="883919"/>
                </a:lnTo>
                <a:lnTo>
                  <a:pt x="6504196" y="868679"/>
                </a:lnTo>
                <a:lnTo>
                  <a:pt x="6521598" y="820419"/>
                </a:lnTo>
                <a:lnTo>
                  <a:pt x="6524938" y="175259"/>
                </a:lnTo>
                <a:lnTo>
                  <a:pt x="6523908" y="156209"/>
                </a:lnTo>
                <a:lnTo>
                  <a:pt x="6510615" y="106680"/>
                </a:lnTo>
                <a:lnTo>
                  <a:pt x="6494854" y="77469"/>
                </a:lnTo>
                <a:lnTo>
                  <a:pt x="6494186" y="76200"/>
                </a:lnTo>
                <a:lnTo>
                  <a:pt x="6472785" y="50800"/>
                </a:lnTo>
                <a:lnTo>
                  <a:pt x="6448160" y="30480"/>
                </a:lnTo>
                <a:lnTo>
                  <a:pt x="6447221" y="29209"/>
                </a:lnTo>
                <a:lnTo>
                  <a:pt x="6444993" y="27939"/>
                </a:lnTo>
                <a:close/>
              </a:path>
              <a:path w="6525259" h="961390">
                <a:moveTo>
                  <a:pt x="6348564" y="38100"/>
                </a:moveTo>
                <a:lnTo>
                  <a:pt x="162964" y="38100"/>
                </a:lnTo>
                <a:lnTo>
                  <a:pt x="149245" y="40639"/>
                </a:lnTo>
                <a:lnTo>
                  <a:pt x="111205" y="54609"/>
                </a:lnTo>
                <a:lnTo>
                  <a:pt x="78836" y="78739"/>
                </a:lnTo>
                <a:lnTo>
                  <a:pt x="55337" y="109219"/>
                </a:lnTo>
                <a:lnTo>
                  <a:pt x="41300" y="147319"/>
                </a:lnTo>
                <a:lnTo>
                  <a:pt x="38433" y="175259"/>
                </a:lnTo>
                <a:lnTo>
                  <a:pt x="38467" y="787400"/>
                </a:lnTo>
                <a:lnTo>
                  <a:pt x="44343" y="825500"/>
                </a:lnTo>
                <a:lnTo>
                  <a:pt x="61765" y="862329"/>
                </a:lnTo>
                <a:lnTo>
                  <a:pt x="99527" y="900429"/>
                </a:lnTo>
                <a:lnTo>
                  <a:pt x="134639" y="916939"/>
                </a:lnTo>
                <a:lnTo>
                  <a:pt x="161518" y="923289"/>
                </a:lnTo>
                <a:lnTo>
                  <a:pt x="6361974" y="923289"/>
                </a:lnTo>
                <a:lnTo>
                  <a:pt x="6388935" y="918210"/>
                </a:lnTo>
                <a:lnTo>
                  <a:pt x="6398462" y="914400"/>
                </a:lnTo>
                <a:lnTo>
                  <a:pt x="176374" y="914400"/>
                </a:lnTo>
                <a:lnTo>
                  <a:pt x="162002" y="913129"/>
                </a:lnTo>
                <a:lnTo>
                  <a:pt x="114145" y="897889"/>
                </a:lnTo>
                <a:lnTo>
                  <a:pt x="69611" y="857250"/>
                </a:lnTo>
                <a:lnTo>
                  <a:pt x="50309" y="810260"/>
                </a:lnTo>
                <a:lnTo>
                  <a:pt x="48032" y="175259"/>
                </a:lnTo>
                <a:lnTo>
                  <a:pt x="48725" y="161289"/>
                </a:lnTo>
                <a:lnTo>
                  <a:pt x="58484" y="124459"/>
                </a:lnTo>
                <a:lnTo>
                  <a:pt x="85656" y="85089"/>
                </a:lnTo>
                <a:lnTo>
                  <a:pt x="116190" y="62230"/>
                </a:lnTo>
                <a:lnTo>
                  <a:pt x="177584" y="46989"/>
                </a:lnTo>
                <a:lnTo>
                  <a:pt x="6396618" y="46989"/>
                </a:lnTo>
                <a:lnTo>
                  <a:pt x="6390299" y="44450"/>
                </a:lnTo>
                <a:lnTo>
                  <a:pt x="6377106" y="40639"/>
                </a:lnTo>
                <a:lnTo>
                  <a:pt x="6348564" y="38100"/>
                </a:lnTo>
                <a:close/>
              </a:path>
              <a:path w="6525259" h="961390">
                <a:moveTo>
                  <a:pt x="6396618" y="46989"/>
                </a:moveTo>
                <a:lnTo>
                  <a:pt x="6348564" y="46989"/>
                </a:lnTo>
                <a:lnTo>
                  <a:pt x="6362935" y="48259"/>
                </a:lnTo>
                <a:lnTo>
                  <a:pt x="6387907" y="53339"/>
                </a:lnTo>
                <a:lnTo>
                  <a:pt x="6439281" y="85089"/>
                </a:lnTo>
                <a:lnTo>
                  <a:pt x="6467370" y="127000"/>
                </a:lnTo>
                <a:lnTo>
                  <a:pt x="6476900" y="175259"/>
                </a:lnTo>
                <a:lnTo>
                  <a:pt x="6476900" y="787400"/>
                </a:lnTo>
                <a:lnTo>
                  <a:pt x="6470873" y="825500"/>
                </a:lnTo>
                <a:lnTo>
                  <a:pt x="6439281" y="876300"/>
                </a:lnTo>
                <a:lnTo>
                  <a:pt x="6408748" y="899160"/>
                </a:lnTo>
                <a:lnTo>
                  <a:pt x="6347354" y="914400"/>
                </a:lnTo>
                <a:lnTo>
                  <a:pt x="6398462" y="914400"/>
                </a:lnTo>
                <a:lnTo>
                  <a:pt x="6446101" y="882650"/>
                </a:lnTo>
                <a:lnTo>
                  <a:pt x="6469601" y="852169"/>
                </a:lnTo>
                <a:lnTo>
                  <a:pt x="6483637" y="814069"/>
                </a:lnTo>
                <a:lnTo>
                  <a:pt x="6486529" y="175259"/>
                </a:lnTo>
                <a:lnTo>
                  <a:pt x="6485947" y="162559"/>
                </a:lnTo>
                <a:lnTo>
                  <a:pt x="6476020" y="123189"/>
                </a:lnTo>
                <a:lnTo>
                  <a:pt x="6446101" y="78739"/>
                </a:lnTo>
                <a:lnTo>
                  <a:pt x="6414959" y="54609"/>
                </a:lnTo>
                <a:lnTo>
                  <a:pt x="6402938" y="49530"/>
                </a:lnTo>
                <a:lnTo>
                  <a:pt x="6396618" y="469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991393" y="5769355"/>
            <a:ext cx="5709920" cy="1087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40970">
              <a:lnSpc>
                <a:spcPct val="100000"/>
              </a:lnSpc>
              <a:spcBef>
                <a:spcPts val="100"/>
              </a:spcBef>
            </a:pPr>
            <a:r>
              <a:rPr dirty="0" sz="2400" spc="-15">
                <a:solidFill>
                  <a:srgbClr val="FFFFFF"/>
                </a:solidFill>
                <a:latin typeface="Corbel"/>
                <a:cs typeface="Corbel"/>
              </a:rPr>
              <a:t>Avg.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path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length</a:t>
            </a:r>
            <a:r>
              <a:rPr dirty="0" sz="2400" spc="-5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 b="1">
                <a:solidFill>
                  <a:srgbClr val="FFFFFF"/>
                </a:solidFill>
                <a:latin typeface="Corbel"/>
                <a:cs typeface="Corbel"/>
              </a:rPr>
              <a:t>6.6</a:t>
            </a:r>
            <a:endParaRPr sz="2400">
              <a:latin typeface="Corbel"/>
              <a:cs typeface="Corbel"/>
            </a:endParaRPr>
          </a:p>
          <a:p>
            <a:pPr algn="ctr" marR="142240">
              <a:lnSpc>
                <a:spcPct val="100000"/>
              </a:lnSpc>
            </a:pP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90%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of the nodes can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be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reached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in &lt; 8</a:t>
            </a:r>
            <a:r>
              <a:rPr dirty="0" sz="2400" spc="-6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hops</a:t>
            </a:r>
            <a:endParaRPr sz="2400">
              <a:latin typeface="Corbel"/>
              <a:cs typeface="Corbel"/>
            </a:endParaRPr>
          </a:p>
          <a:p>
            <a:pPr marL="1694814">
              <a:lnSpc>
                <a:spcPct val="100000"/>
              </a:lnSpc>
              <a:spcBef>
                <a:spcPts val="152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391400" y="0"/>
            <a:ext cx="790575" cy="374650"/>
          </a:xfrm>
          <a:custGeom>
            <a:avLst/>
            <a:gdLst/>
            <a:ahLst/>
            <a:cxnLst/>
            <a:rect l="l" t="t" r="r" b="b"/>
            <a:pathLst>
              <a:path w="790575" h="374650">
                <a:moveTo>
                  <a:pt x="0" y="374074"/>
                </a:moveTo>
                <a:lnTo>
                  <a:pt x="790125" y="374074"/>
                </a:lnTo>
                <a:lnTo>
                  <a:pt x="790125" y="0"/>
                </a:lnTo>
                <a:lnTo>
                  <a:pt x="0" y="0"/>
                </a:lnTo>
                <a:lnTo>
                  <a:pt x="0" y="3740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181525" y="0"/>
            <a:ext cx="962660" cy="374650"/>
          </a:xfrm>
          <a:custGeom>
            <a:avLst/>
            <a:gdLst/>
            <a:ahLst/>
            <a:cxnLst/>
            <a:rect l="l" t="t" r="r" b="b"/>
            <a:pathLst>
              <a:path w="962659" h="374650">
                <a:moveTo>
                  <a:pt x="0" y="374074"/>
                </a:moveTo>
                <a:lnTo>
                  <a:pt x="962474" y="374074"/>
                </a:lnTo>
                <a:lnTo>
                  <a:pt x="962474" y="0"/>
                </a:lnTo>
                <a:lnTo>
                  <a:pt x="0" y="0"/>
                </a:lnTo>
                <a:lnTo>
                  <a:pt x="0" y="3740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391400" y="374069"/>
            <a:ext cx="790575" cy="249554"/>
          </a:xfrm>
          <a:custGeom>
            <a:avLst/>
            <a:gdLst/>
            <a:ahLst/>
            <a:cxnLst/>
            <a:rect l="l" t="t" r="r" b="b"/>
            <a:pathLst>
              <a:path w="790575" h="249554">
                <a:moveTo>
                  <a:pt x="0" y="249375"/>
                </a:moveTo>
                <a:lnTo>
                  <a:pt x="790125" y="249375"/>
                </a:lnTo>
                <a:lnTo>
                  <a:pt x="790125" y="0"/>
                </a:lnTo>
                <a:lnTo>
                  <a:pt x="0" y="0"/>
                </a:lnTo>
                <a:lnTo>
                  <a:pt x="0" y="249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181525" y="374069"/>
            <a:ext cx="962660" cy="249554"/>
          </a:xfrm>
          <a:custGeom>
            <a:avLst/>
            <a:gdLst/>
            <a:ahLst/>
            <a:cxnLst/>
            <a:rect l="l" t="t" r="r" b="b"/>
            <a:pathLst>
              <a:path w="962659" h="249554">
                <a:moveTo>
                  <a:pt x="0" y="249375"/>
                </a:moveTo>
                <a:lnTo>
                  <a:pt x="962474" y="249375"/>
                </a:lnTo>
                <a:lnTo>
                  <a:pt x="962474" y="0"/>
                </a:lnTo>
                <a:lnTo>
                  <a:pt x="0" y="0"/>
                </a:lnTo>
                <a:lnTo>
                  <a:pt x="0" y="249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729953" y="623443"/>
            <a:ext cx="452120" cy="249554"/>
          </a:xfrm>
          <a:custGeom>
            <a:avLst/>
            <a:gdLst/>
            <a:ahLst/>
            <a:cxnLst/>
            <a:rect l="l" t="t" r="r" b="b"/>
            <a:pathLst>
              <a:path w="452120" h="249555">
                <a:moveTo>
                  <a:pt x="0" y="249375"/>
                </a:moveTo>
                <a:lnTo>
                  <a:pt x="451570" y="249375"/>
                </a:lnTo>
                <a:lnTo>
                  <a:pt x="451570" y="0"/>
                </a:lnTo>
                <a:lnTo>
                  <a:pt x="0" y="0"/>
                </a:lnTo>
                <a:lnTo>
                  <a:pt x="0" y="249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181525" y="623443"/>
            <a:ext cx="962660" cy="249554"/>
          </a:xfrm>
          <a:custGeom>
            <a:avLst/>
            <a:gdLst/>
            <a:ahLst/>
            <a:cxnLst/>
            <a:rect l="l" t="t" r="r" b="b"/>
            <a:pathLst>
              <a:path w="962659" h="249555">
                <a:moveTo>
                  <a:pt x="0" y="249375"/>
                </a:moveTo>
                <a:lnTo>
                  <a:pt x="962474" y="249375"/>
                </a:lnTo>
                <a:lnTo>
                  <a:pt x="962474" y="0"/>
                </a:lnTo>
                <a:lnTo>
                  <a:pt x="0" y="0"/>
                </a:lnTo>
                <a:lnTo>
                  <a:pt x="0" y="249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729953" y="872818"/>
            <a:ext cx="452120" cy="249554"/>
          </a:xfrm>
          <a:custGeom>
            <a:avLst/>
            <a:gdLst/>
            <a:ahLst/>
            <a:cxnLst/>
            <a:rect l="l" t="t" r="r" b="b"/>
            <a:pathLst>
              <a:path w="452120" h="249555">
                <a:moveTo>
                  <a:pt x="0" y="249375"/>
                </a:moveTo>
                <a:lnTo>
                  <a:pt x="451570" y="249375"/>
                </a:lnTo>
                <a:lnTo>
                  <a:pt x="451570" y="0"/>
                </a:lnTo>
                <a:lnTo>
                  <a:pt x="0" y="0"/>
                </a:lnTo>
                <a:lnTo>
                  <a:pt x="0" y="249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181525" y="872818"/>
            <a:ext cx="962660" cy="249554"/>
          </a:xfrm>
          <a:custGeom>
            <a:avLst/>
            <a:gdLst/>
            <a:ahLst/>
            <a:cxnLst/>
            <a:rect l="l" t="t" r="r" b="b"/>
            <a:pathLst>
              <a:path w="962659" h="249555">
                <a:moveTo>
                  <a:pt x="0" y="249375"/>
                </a:moveTo>
                <a:lnTo>
                  <a:pt x="962474" y="249375"/>
                </a:lnTo>
                <a:lnTo>
                  <a:pt x="962474" y="0"/>
                </a:lnTo>
                <a:lnTo>
                  <a:pt x="0" y="0"/>
                </a:lnTo>
                <a:lnTo>
                  <a:pt x="0" y="249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8181525" y="6608443"/>
            <a:ext cx="962660" cy="249554"/>
          </a:xfrm>
          <a:custGeom>
            <a:avLst/>
            <a:gdLst/>
            <a:ahLst/>
            <a:cxnLst/>
            <a:rect l="l" t="t" r="r" b="b"/>
            <a:pathLst>
              <a:path w="962659" h="249554">
                <a:moveTo>
                  <a:pt x="0" y="249375"/>
                </a:moveTo>
                <a:lnTo>
                  <a:pt x="962474" y="249375"/>
                </a:lnTo>
                <a:lnTo>
                  <a:pt x="962474" y="0"/>
                </a:lnTo>
                <a:lnTo>
                  <a:pt x="0" y="0"/>
                </a:lnTo>
                <a:lnTo>
                  <a:pt x="0" y="24937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181524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952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386638" y="374068"/>
            <a:ext cx="1757680" cy="0"/>
          </a:xfrm>
          <a:custGeom>
            <a:avLst/>
            <a:gdLst/>
            <a:ahLst/>
            <a:cxnLst/>
            <a:rect l="l" t="t" r="r" b="b"/>
            <a:pathLst>
              <a:path w="1757679" h="0">
                <a:moveTo>
                  <a:pt x="0" y="0"/>
                </a:moveTo>
                <a:lnTo>
                  <a:pt x="1757361" y="0"/>
                </a:lnTo>
              </a:path>
            </a:pathLst>
          </a:custGeom>
          <a:ln w="952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729953" y="623443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 h="0">
                <a:moveTo>
                  <a:pt x="0" y="0"/>
                </a:moveTo>
                <a:lnTo>
                  <a:pt x="1414045" y="0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389018" y="618681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729953" y="872818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 h="0">
                <a:moveTo>
                  <a:pt x="0" y="0"/>
                </a:moveTo>
                <a:lnTo>
                  <a:pt x="1414045" y="0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389018" y="868056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729953" y="1122193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 h="0">
                <a:moveTo>
                  <a:pt x="0" y="0"/>
                </a:moveTo>
                <a:lnTo>
                  <a:pt x="1414045" y="0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389018" y="1117431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729953" y="1371568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 h="0">
                <a:moveTo>
                  <a:pt x="0" y="0"/>
                </a:moveTo>
                <a:lnTo>
                  <a:pt x="1414045" y="0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389018" y="1366806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729953" y="1620943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 h="0">
                <a:moveTo>
                  <a:pt x="0" y="0"/>
                </a:moveTo>
                <a:lnTo>
                  <a:pt x="1414045" y="0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389018" y="1616181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7729953" y="1870318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 h="0">
                <a:moveTo>
                  <a:pt x="0" y="0"/>
                </a:moveTo>
                <a:lnTo>
                  <a:pt x="1414045" y="0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389018" y="1865556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729953" y="2119693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 h="0">
                <a:moveTo>
                  <a:pt x="0" y="0"/>
                </a:moveTo>
                <a:lnTo>
                  <a:pt x="1414045" y="0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389018" y="2114931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729953" y="2369068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 h="0">
                <a:moveTo>
                  <a:pt x="0" y="0"/>
                </a:moveTo>
                <a:lnTo>
                  <a:pt x="1414045" y="0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389018" y="2364306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729953" y="2618443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 h="0">
                <a:moveTo>
                  <a:pt x="0" y="0"/>
                </a:moveTo>
                <a:lnTo>
                  <a:pt x="1414045" y="0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389018" y="2613681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729953" y="2867818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 h="0">
                <a:moveTo>
                  <a:pt x="0" y="0"/>
                </a:moveTo>
                <a:lnTo>
                  <a:pt x="1414045" y="0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389018" y="2863056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729953" y="3117193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 h="0">
                <a:moveTo>
                  <a:pt x="0" y="0"/>
                </a:moveTo>
                <a:lnTo>
                  <a:pt x="1414045" y="0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389018" y="3112431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729953" y="3366568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 h="0">
                <a:moveTo>
                  <a:pt x="0" y="0"/>
                </a:moveTo>
                <a:lnTo>
                  <a:pt x="1414045" y="0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389018" y="3361806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729953" y="3615943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 h="0">
                <a:moveTo>
                  <a:pt x="0" y="0"/>
                </a:moveTo>
                <a:lnTo>
                  <a:pt x="1414045" y="0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7389018" y="3611181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7729953" y="3865318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 h="0">
                <a:moveTo>
                  <a:pt x="0" y="0"/>
                </a:moveTo>
                <a:lnTo>
                  <a:pt x="1414045" y="0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389018" y="3860556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729953" y="4114693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 h="0">
                <a:moveTo>
                  <a:pt x="0" y="0"/>
                </a:moveTo>
                <a:lnTo>
                  <a:pt x="1414045" y="0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7389018" y="4109931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7729953" y="4364068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 h="0">
                <a:moveTo>
                  <a:pt x="0" y="0"/>
                </a:moveTo>
                <a:lnTo>
                  <a:pt x="1414045" y="0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389018" y="4359306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7729953" y="4613443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 h="0">
                <a:moveTo>
                  <a:pt x="0" y="0"/>
                </a:moveTo>
                <a:lnTo>
                  <a:pt x="1414045" y="0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389018" y="4608681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729953" y="4862818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 h="0">
                <a:moveTo>
                  <a:pt x="0" y="0"/>
                </a:moveTo>
                <a:lnTo>
                  <a:pt x="1414045" y="0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389018" y="4858056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729953" y="5112193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 h="0">
                <a:moveTo>
                  <a:pt x="0" y="0"/>
                </a:moveTo>
                <a:lnTo>
                  <a:pt x="1414045" y="0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389018" y="5107431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729953" y="5361568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 h="0">
                <a:moveTo>
                  <a:pt x="0" y="0"/>
                </a:moveTo>
                <a:lnTo>
                  <a:pt x="1414045" y="0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7389018" y="5356806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729953" y="5610943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 h="0">
                <a:moveTo>
                  <a:pt x="0" y="0"/>
                </a:moveTo>
                <a:lnTo>
                  <a:pt x="1414045" y="0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389018" y="5606181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389018" y="5855556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389018" y="6104931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389018" y="6354306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389018" y="6603681"/>
            <a:ext cx="0" cy="9525"/>
          </a:xfrm>
          <a:custGeom>
            <a:avLst/>
            <a:gdLst/>
            <a:ahLst/>
            <a:cxnLst/>
            <a:rect l="l" t="t" r="r" b="b"/>
            <a:pathLst>
              <a:path w="0" h="9525">
                <a:moveTo>
                  <a:pt x="0" y="0"/>
                </a:moveTo>
                <a:lnTo>
                  <a:pt x="0" y="9525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7391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w="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952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7729953" y="6855528"/>
            <a:ext cx="1414145" cy="0"/>
          </a:xfrm>
          <a:custGeom>
            <a:avLst/>
            <a:gdLst/>
            <a:ahLst/>
            <a:cxnLst/>
            <a:rect l="l" t="t" r="r" b="b"/>
            <a:pathLst>
              <a:path w="1414145" h="0">
                <a:moveTo>
                  <a:pt x="0" y="0"/>
                </a:moveTo>
                <a:lnTo>
                  <a:pt x="1414045" y="0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7389018" y="6853056"/>
            <a:ext cx="0" cy="5080"/>
          </a:xfrm>
          <a:custGeom>
            <a:avLst/>
            <a:gdLst/>
            <a:ahLst/>
            <a:cxnLst/>
            <a:rect l="l" t="t" r="r" b="b"/>
            <a:pathLst>
              <a:path w="0" h="5079">
                <a:moveTo>
                  <a:pt x="0" y="0"/>
                </a:moveTo>
                <a:lnTo>
                  <a:pt x="0" y="4943"/>
                </a:lnTo>
              </a:path>
            </a:pathLst>
          </a:custGeom>
          <a:ln w="4762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>
            <a:spLocks noGrp="1"/>
          </p:cNvSpPr>
          <p:nvPr>
            <p:ph type="title"/>
          </p:nvPr>
        </p:nvSpPr>
        <p:spPr>
          <a:xfrm>
            <a:off x="7524125" y="58419"/>
            <a:ext cx="578485" cy="269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000000"/>
                </a:solidFill>
                <a:latin typeface="Arial"/>
                <a:cs typeface="Arial"/>
              </a:rPr>
              <a:t>S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t</a:t>
            </a:r>
            <a:r>
              <a:rPr dirty="0" sz="1600" spc="-5">
                <a:solidFill>
                  <a:srgbClr val="000000"/>
                </a:solidFill>
                <a:latin typeface="Arial"/>
                <a:cs typeface="Arial"/>
              </a:rPr>
              <a:t>ep</a:t>
            </a:r>
            <a:r>
              <a:rPr dirty="0" sz="1600">
                <a:solidFill>
                  <a:srgbClr val="000000"/>
                </a:solidFill>
                <a:latin typeface="Arial"/>
                <a:cs typeface="Arial"/>
              </a:rPr>
              <a:t>s</a:t>
            </a:r>
            <a:endParaRPr sz="16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307900" y="58419"/>
            <a:ext cx="7575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latin typeface="Arial"/>
                <a:cs typeface="Arial"/>
              </a:rPr>
              <a:t>#Nodes</a:t>
            </a:r>
            <a:endParaRPr sz="16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8006725" y="399795"/>
            <a:ext cx="965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Arial"/>
                <a:cs typeface="Arial"/>
              </a:rPr>
              <a:t>0</a:t>
            </a:r>
            <a:endParaRPr sz="10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8969888" y="399795"/>
            <a:ext cx="965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8006725" y="649731"/>
            <a:ext cx="965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Arial"/>
                <a:cs typeface="Arial"/>
              </a:rPr>
              <a:t>1</a:t>
            </a:r>
            <a:endParaRPr sz="10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8900036" y="649731"/>
            <a:ext cx="1651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10</a:t>
            </a:r>
            <a:endParaRPr sz="100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8006725" y="899667"/>
            <a:ext cx="965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Arial"/>
                <a:cs typeface="Arial"/>
              </a:rPr>
              <a:t>2</a:t>
            </a:r>
            <a:endParaRPr sz="100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8900036" y="899667"/>
            <a:ext cx="1651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78</a:t>
            </a:r>
            <a:endParaRPr sz="100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8006725" y="1146555"/>
            <a:ext cx="965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Arial"/>
                <a:cs typeface="Arial"/>
              </a:rPr>
              <a:t>3</a:t>
            </a:r>
            <a:endParaRPr sz="10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8795261" y="1146555"/>
            <a:ext cx="2698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3</a:t>
            </a:r>
            <a:r>
              <a:rPr dirty="0" sz="1000" spc="-5" b="1">
                <a:latin typeface="Arial"/>
                <a:cs typeface="Arial"/>
              </a:rPr>
              <a:t>,</a:t>
            </a:r>
            <a:r>
              <a:rPr dirty="0" sz="1000" spc="-10" b="1">
                <a:latin typeface="Arial"/>
                <a:cs typeface="Arial"/>
              </a:rPr>
              <a:t>96</a:t>
            </a:r>
            <a:endParaRPr sz="10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8006725" y="1396491"/>
            <a:ext cx="965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Arial"/>
                <a:cs typeface="Arial"/>
              </a:rPr>
              <a:t>4</a:t>
            </a:r>
            <a:endParaRPr sz="10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8725411" y="1396491"/>
            <a:ext cx="3397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8</a:t>
            </a:r>
            <a:r>
              <a:rPr dirty="0" sz="1000" spc="-5" b="1">
                <a:latin typeface="Arial"/>
                <a:cs typeface="Arial"/>
              </a:rPr>
              <a:t>,</a:t>
            </a:r>
            <a:r>
              <a:rPr dirty="0" sz="1000" spc="-10" b="1">
                <a:latin typeface="Arial"/>
                <a:cs typeface="Arial"/>
              </a:rPr>
              <a:t>648</a:t>
            </a:r>
            <a:endParaRPr sz="10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8006725" y="1646427"/>
            <a:ext cx="965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Arial"/>
                <a:cs typeface="Arial"/>
              </a:rPr>
              <a:t>5</a:t>
            </a:r>
            <a:endParaRPr sz="10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8480936" y="1646427"/>
            <a:ext cx="5842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3</a:t>
            </a:r>
            <a:r>
              <a:rPr dirty="0" sz="1000" spc="-5" b="1">
                <a:latin typeface="Arial"/>
                <a:cs typeface="Arial"/>
              </a:rPr>
              <a:t>,</a:t>
            </a:r>
            <a:r>
              <a:rPr dirty="0" sz="1000" spc="-10" b="1">
                <a:latin typeface="Arial"/>
                <a:cs typeface="Arial"/>
              </a:rPr>
              <a:t>299</a:t>
            </a:r>
            <a:r>
              <a:rPr dirty="0" sz="1000" spc="-5" b="1">
                <a:latin typeface="Arial"/>
                <a:cs typeface="Arial"/>
              </a:rPr>
              <a:t>,</a:t>
            </a:r>
            <a:r>
              <a:rPr dirty="0" sz="1000" spc="-10" b="1">
                <a:latin typeface="Arial"/>
                <a:cs typeface="Arial"/>
              </a:rPr>
              <a:t>252</a:t>
            </a:r>
            <a:endParaRPr sz="100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006725" y="1896364"/>
            <a:ext cx="965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Arial"/>
                <a:cs typeface="Arial"/>
              </a:rPr>
              <a:t>6</a:t>
            </a:r>
            <a:endParaRPr sz="10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8411086" y="1896364"/>
            <a:ext cx="6540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28,395,849</a:t>
            </a:r>
            <a:endParaRPr sz="10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006725" y="2146300"/>
            <a:ext cx="965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Arial"/>
                <a:cs typeface="Arial"/>
              </a:rPr>
              <a:t>7</a:t>
            </a:r>
            <a:endParaRPr sz="10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8411086" y="2146300"/>
            <a:ext cx="6540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79,059,497</a:t>
            </a:r>
            <a:endParaRPr sz="10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006725" y="2396236"/>
            <a:ext cx="965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Arial"/>
                <a:cs typeface="Arial"/>
              </a:rPr>
              <a:t>8</a:t>
            </a:r>
            <a:endParaRPr sz="10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8411086" y="2396236"/>
            <a:ext cx="6540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52,995,778</a:t>
            </a:r>
            <a:endParaRPr sz="10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8006725" y="2643123"/>
            <a:ext cx="9652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Arial"/>
                <a:cs typeface="Arial"/>
              </a:rPr>
              <a:t>9</a:t>
            </a:r>
            <a:endParaRPr sz="100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8411086" y="2643123"/>
            <a:ext cx="6540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10,321,008</a:t>
            </a:r>
            <a:endParaRPr sz="10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7936873" y="2893060"/>
            <a:ext cx="1651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10</a:t>
            </a:r>
            <a:endParaRPr sz="100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8480936" y="2893060"/>
            <a:ext cx="5842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1</a:t>
            </a:r>
            <a:r>
              <a:rPr dirty="0" sz="1000" spc="-5" b="1">
                <a:latin typeface="Arial"/>
                <a:cs typeface="Arial"/>
              </a:rPr>
              <a:t>,</a:t>
            </a:r>
            <a:r>
              <a:rPr dirty="0" sz="1000" spc="-10" b="1">
                <a:latin typeface="Arial"/>
                <a:cs typeface="Arial"/>
              </a:rPr>
              <a:t>955</a:t>
            </a:r>
            <a:r>
              <a:rPr dirty="0" sz="1000" spc="-5" b="1">
                <a:latin typeface="Arial"/>
                <a:cs typeface="Arial"/>
              </a:rPr>
              <a:t>,</a:t>
            </a:r>
            <a:r>
              <a:rPr dirty="0" sz="1000" spc="-10" b="1">
                <a:latin typeface="Arial"/>
                <a:cs typeface="Arial"/>
              </a:rPr>
              <a:t>007</a:t>
            </a:r>
            <a:endParaRPr sz="1000">
              <a:latin typeface="Arial"/>
              <a:cs typeface="Arial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7936873" y="3142995"/>
            <a:ext cx="1651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11</a:t>
            </a:r>
            <a:endParaRPr sz="1000">
              <a:latin typeface="Arial"/>
              <a:cs typeface="Arial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8585711" y="3142995"/>
            <a:ext cx="4794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518</a:t>
            </a:r>
            <a:r>
              <a:rPr dirty="0" sz="1000" spc="-5" b="1">
                <a:latin typeface="Arial"/>
                <a:cs typeface="Arial"/>
              </a:rPr>
              <a:t>,</a:t>
            </a:r>
            <a:r>
              <a:rPr dirty="0" sz="1000" spc="-10" b="1">
                <a:latin typeface="Arial"/>
                <a:cs typeface="Arial"/>
              </a:rPr>
              <a:t>410</a:t>
            </a:r>
            <a:endParaRPr sz="1000">
              <a:latin typeface="Arial"/>
              <a:cs typeface="Arial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7936873" y="3392932"/>
            <a:ext cx="1651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12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8585711" y="3392932"/>
            <a:ext cx="4794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149</a:t>
            </a:r>
            <a:r>
              <a:rPr dirty="0" sz="1000" spc="-5" b="1">
                <a:latin typeface="Arial"/>
                <a:cs typeface="Arial"/>
              </a:rPr>
              <a:t>,</a:t>
            </a:r>
            <a:r>
              <a:rPr dirty="0" sz="1000" spc="-10" b="1">
                <a:latin typeface="Arial"/>
                <a:cs typeface="Arial"/>
              </a:rPr>
              <a:t>945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1" name="object 101"/>
          <p:cNvSpPr txBox="1"/>
          <p:nvPr/>
        </p:nvSpPr>
        <p:spPr>
          <a:xfrm>
            <a:off x="7936873" y="3642867"/>
            <a:ext cx="1651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13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8655563" y="3642867"/>
            <a:ext cx="4095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44</a:t>
            </a:r>
            <a:r>
              <a:rPr dirty="0" sz="1000" spc="-5" b="1">
                <a:latin typeface="Arial"/>
                <a:cs typeface="Arial"/>
              </a:rPr>
              <a:t>,</a:t>
            </a:r>
            <a:r>
              <a:rPr dirty="0" sz="1000" spc="-10" b="1">
                <a:latin typeface="Arial"/>
                <a:cs typeface="Arial"/>
              </a:rPr>
              <a:t>616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7936873" y="3889755"/>
            <a:ext cx="1651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14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8655563" y="3889755"/>
            <a:ext cx="4095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13</a:t>
            </a:r>
            <a:r>
              <a:rPr dirty="0" sz="1000" spc="-5" b="1">
                <a:latin typeface="Arial"/>
                <a:cs typeface="Arial"/>
              </a:rPr>
              <a:t>,</a:t>
            </a:r>
            <a:r>
              <a:rPr dirty="0" sz="1000" spc="-10" b="1">
                <a:latin typeface="Arial"/>
                <a:cs typeface="Arial"/>
              </a:rPr>
              <a:t>740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5" name="object 105"/>
          <p:cNvSpPr txBox="1"/>
          <p:nvPr/>
        </p:nvSpPr>
        <p:spPr>
          <a:xfrm>
            <a:off x="7936873" y="4139691"/>
            <a:ext cx="1651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15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6" name="object 106"/>
          <p:cNvSpPr txBox="1"/>
          <p:nvPr/>
        </p:nvSpPr>
        <p:spPr>
          <a:xfrm>
            <a:off x="8725411" y="4139691"/>
            <a:ext cx="3397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4</a:t>
            </a:r>
            <a:r>
              <a:rPr dirty="0" sz="1000" spc="-5" b="1">
                <a:latin typeface="Arial"/>
                <a:cs typeface="Arial"/>
              </a:rPr>
              <a:t>,</a:t>
            </a:r>
            <a:r>
              <a:rPr dirty="0" sz="1000" spc="-10" b="1">
                <a:latin typeface="Arial"/>
                <a:cs typeface="Arial"/>
              </a:rPr>
              <a:t>476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7" name="object 107"/>
          <p:cNvSpPr txBox="1"/>
          <p:nvPr/>
        </p:nvSpPr>
        <p:spPr>
          <a:xfrm>
            <a:off x="7936873" y="4389628"/>
            <a:ext cx="1651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16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8725411" y="4389628"/>
            <a:ext cx="3397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1</a:t>
            </a:r>
            <a:r>
              <a:rPr dirty="0" sz="1000" spc="-5" b="1">
                <a:latin typeface="Arial"/>
                <a:cs typeface="Arial"/>
              </a:rPr>
              <a:t>,</a:t>
            </a:r>
            <a:r>
              <a:rPr dirty="0" sz="1000" spc="-10" b="1">
                <a:latin typeface="Arial"/>
                <a:cs typeface="Arial"/>
              </a:rPr>
              <a:t>542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7936873" y="4639564"/>
            <a:ext cx="1651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17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8830186" y="4639564"/>
            <a:ext cx="2349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536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7936873" y="4889500"/>
            <a:ext cx="1651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18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8830186" y="4889500"/>
            <a:ext cx="23495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167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7936873" y="5139435"/>
            <a:ext cx="1651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19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4" name="object 114"/>
          <p:cNvSpPr txBox="1"/>
          <p:nvPr/>
        </p:nvSpPr>
        <p:spPr>
          <a:xfrm>
            <a:off x="8900036" y="5139435"/>
            <a:ext cx="1651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71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7936873" y="5386323"/>
            <a:ext cx="1651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20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8900036" y="5386323"/>
            <a:ext cx="1651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29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7936873" y="5636259"/>
            <a:ext cx="1651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21</a:t>
            </a:r>
            <a:endParaRPr sz="1000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8900036" y="5636259"/>
            <a:ext cx="16510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 b="1">
                <a:latin typeface="Arial"/>
                <a:cs typeface="Arial"/>
              </a:rPr>
              <a:t>16</a:t>
            </a:r>
            <a:endParaRPr sz="1000">
              <a:latin typeface="Arial"/>
              <a:cs typeface="Arial"/>
            </a:endParaRPr>
          </a:p>
        </p:txBody>
      </p:sp>
      <p:graphicFrame>
        <p:nvGraphicFramePr>
          <p:cNvPr id="119" name="object 119"/>
          <p:cNvGraphicFramePr>
            <a:graphicFrameLocks noGrp="1"/>
          </p:cNvGraphicFramePr>
          <p:nvPr/>
        </p:nvGraphicFramePr>
        <p:xfrm>
          <a:off x="7729953" y="5860318"/>
          <a:ext cx="1414145" cy="995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1570"/>
                <a:gridCol w="962475"/>
              </a:tblGrid>
              <a:tr h="241300">
                <a:tc>
                  <a:txBody>
                    <a:bodyPr/>
                    <a:lstStyle/>
                    <a:p>
                      <a:pPr algn="r" marR="8445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00" spc="-10" b="1">
                          <a:latin typeface="Arial"/>
                          <a:cs typeface="Arial"/>
                        </a:rPr>
                        <a:t>22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lnT w="6350">
                      <a:solidFill>
                        <a:srgbClr val="7F7F7F"/>
                      </a:solidFill>
                      <a:prstDash val="solid"/>
                    </a:lnT>
                    <a:lnB w="6350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382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000" spc="-10" b="1">
                          <a:latin typeface="Arial"/>
                          <a:cs typeface="Arial"/>
                        </a:rPr>
                        <a:t>10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34925">
                    <a:lnT w="6350">
                      <a:solidFill>
                        <a:srgbClr val="7F7F7F"/>
                      </a:solidFill>
                      <a:prstDash val="solid"/>
                    </a:lnT>
                    <a:lnB w="6350">
                      <a:solidFill>
                        <a:srgbClr val="7F7F7F"/>
                      </a:solidFill>
                      <a:prstDash val="solid"/>
                    </a:lnB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r" marR="8445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spc="-10" b="1">
                          <a:latin typeface="Arial"/>
                          <a:cs typeface="Arial"/>
                        </a:rPr>
                        <a:t>23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T w="6350">
                      <a:solidFill>
                        <a:srgbClr val="7F7F7F"/>
                      </a:solidFill>
                      <a:prstDash val="solid"/>
                    </a:lnT>
                    <a:lnB w="6350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255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dirty="0" sz="1000" b="1">
                          <a:latin typeface="Arial"/>
                          <a:cs typeface="Arial"/>
                        </a:rPr>
                        <a:t>3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35560">
                    <a:lnT w="6350">
                      <a:solidFill>
                        <a:srgbClr val="7F7F7F"/>
                      </a:solidFill>
                      <a:prstDash val="solid"/>
                    </a:lnT>
                    <a:lnB w="6350">
                      <a:solidFill>
                        <a:srgbClr val="7F7F7F"/>
                      </a:solidFill>
                      <a:prstDash val="solid"/>
                    </a:lnB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r" marR="8445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 spc="-10" b="1">
                          <a:latin typeface="Arial"/>
                          <a:cs typeface="Arial"/>
                        </a:rPr>
                        <a:t>24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36195">
                    <a:lnT w="6350">
                      <a:solidFill>
                        <a:srgbClr val="7F7F7F"/>
                      </a:solidFill>
                      <a:prstDash val="solid"/>
                    </a:lnT>
                    <a:lnB w="6350">
                      <a:solidFill>
                        <a:srgbClr val="7F7F7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255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 b="1">
                          <a:latin typeface="Arial"/>
                          <a:cs typeface="Arial"/>
                        </a:rPr>
                        <a:t>2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36195">
                    <a:lnT w="6350">
                      <a:solidFill>
                        <a:srgbClr val="7F7F7F"/>
                      </a:solidFill>
                      <a:prstDash val="solid"/>
                    </a:lnT>
                    <a:lnB w="6350">
                      <a:solidFill>
                        <a:srgbClr val="7F7F7F"/>
                      </a:solidFill>
                      <a:prstDash val="solid"/>
                    </a:lnB>
                  </a:tcPr>
                </a:tc>
              </a:tr>
              <a:tr h="241300">
                <a:tc>
                  <a:txBody>
                    <a:bodyPr/>
                    <a:lstStyle/>
                    <a:p>
                      <a:pPr algn="r" marR="8445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000" spc="-10" b="1">
                          <a:latin typeface="Arial"/>
                          <a:cs typeface="Arial"/>
                        </a:rPr>
                        <a:t>25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33655">
                    <a:lnT w="6350">
                      <a:solidFill>
                        <a:srgbClr val="7F7F7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825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000" b="1">
                          <a:latin typeface="Arial"/>
                          <a:cs typeface="Arial"/>
                        </a:rPr>
                        <a:t>3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B="0" marT="33655">
                    <a:lnT w="6350">
                      <a:solidFill>
                        <a:srgbClr val="7F7F7F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20" name="object 120"/>
          <p:cNvSpPr txBox="1"/>
          <p:nvPr/>
        </p:nvSpPr>
        <p:spPr>
          <a:xfrm>
            <a:off x="7430943" y="1628373"/>
            <a:ext cx="252729" cy="406019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1870"/>
              </a:lnSpc>
            </a:pP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#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node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s</a:t>
            </a:r>
            <a:r>
              <a:rPr dirty="0" sz="1600" spc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a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s</a:t>
            </a:r>
            <a:r>
              <a:rPr dirty="0" sz="1600" spc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10">
                <a:solidFill>
                  <a:srgbClr val="008000"/>
                </a:solidFill>
                <a:latin typeface="Arial"/>
                <a:cs typeface="Arial"/>
              </a:rPr>
              <a:t>w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e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d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o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BF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S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ou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t</a:t>
            </a:r>
            <a:r>
              <a:rPr dirty="0" sz="1600" spc="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o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f</a:t>
            </a:r>
            <a:r>
              <a:rPr dirty="0" sz="1600" spc="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a r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ando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m</a:t>
            </a:r>
            <a:r>
              <a:rPr dirty="0" sz="1600" spc="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nod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e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5216" y="350520"/>
            <a:ext cx="7348728" cy="548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554224" y="6694423"/>
            <a:ext cx="40068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2/25/21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719684" y="6694423"/>
            <a:ext cx="1397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19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21725" y="1396491"/>
            <a:ext cx="4257040" cy="635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0">
                <a:solidFill>
                  <a:srgbClr val="000000"/>
                </a:solidFill>
              </a:rPr>
              <a:t>Degree</a:t>
            </a:r>
            <a:r>
              <a:rPr dirty="0" sz="4000" spc="-75">
                <a:solidFill>
                  <a:srgbClr val="000000"/>
                </a:solidFill>
              </a:rPr>
              <a:t> </a:t>
            </a:r>
            <a:r>
              <a:rPr dirty="0" sz="4000" spc="-5">
                <a:solidFill>
                  <a:srgbClr val="000000"/>
                </a:solidFill>
              </a:rPr>
              <a:t>distribution:</a:t>
            </a:r>
            <a:endParaRPr sz="4000"/>
          </a:p>
        </p:txBody>
      </p:sp>
      <p:sp>
        <p:nvSpPr>
          <p:cNvPr id="8" name="object 8"/>
          <p:cNvSpPr txBox="1"/>
          <p:nvPr/>
        </p:nvSpPr>
        <p:spPr>
          <a:xfrm>
            <a:off x="1221725" y="2310891"/>
            <a:ext cx="461073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5" b="1">
                <a:latin typeface="Calibri"/>
                <a:cs typeface="Calibri"/>
              </a:rPr>
              <a:t>Clustering</a:t>
            </a:r>
            <a:r>
              <a:rPr dirty="0" sz="4000" spc="-25" b="1">
                <a:latin typeface="Calibri"/>
                <a:cs typeface="Calibri"/>
              </a:rPr>
              <a:t> </a:t>
            </a:r>
            <a:r>
              <a:rPr dirty="0" sz="4000" spc="-10" b="1">
                <a:latin typeface="Calibri"/>
                <a:cs typeface="Calibri"/>
              </a:rPr>
              <a:t>coefficient: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21725" y="2920492"/>
            <a:ext cx="2804795" cy="1854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4000" spc="-5" b="1">
                <a:latin typeface="Calibri"/>
                <a:cs typeface="Calibri"/>
              </a:rPr>
              <a:t>Con</a:t>
            </a:r>
            <a:r>
              <a:rPr dirty="0" sz="4000" b="1">
                <a:latin typeface="Calibri"/>
                <a:cs typeface="Calibri"/>
              </a:rPr>
              <a:t>n</a:t>
            </a:r>
            <a:r>
              <a:rPr dirty="0" sz="4000" spc="-5" b="1">
                <a:latin typeface="Calibri"/>
                <a:cs typeface="Calibri"/>
              </a:rPr>
              <a:t>e</a:t>
            </a:r>
            <a:r>
              <a:rPr dirty="0" sz="4000" b="1">
                <a:latin typeface="Calibri"/>
                <a:cs typeface="Calibri"/>
              </a:rPr>
              <a:t>ct</a:t>
            </a:r>
            <a:r>
              <a:rPr dirty="0" sz="4000" spc="0" b="1">
                <a:latin typeface="Calibri"/>
                <a:cs typeface="Calibri"/>
              </a:rPr>
              <a:t>i</a:t>
            </a:r>
            <a:r>
              <a:rPr dirty="0" sz="4000" spc="-5" b="1">
                <a:latin typeface="Calibri"/>
                <a:cs typeface="Calibri"/>
              </a:rPr>
              <a:t>v</a:t>
            </a:r>
            <a:r>
              <a:rPr dirty="0" sz="4000" b="1">
                <a:latin typeface="Calibri"/>
                <a:cs typeface="Calibri"/>
              </a:rPr>
              <a:t>it</a:t>
            </a:r>
            <a:r>
              <a:rPr dirty="0" sz="4000" spc="0" b="1">
                <a:latin typeface="Calibri"/>
                <a:cs typeface="Calibri"/>
              </a:rPr>
              <a:t>y</a:t>
            </a:r>
            <a:r>
              <a:rPr dirty="0" sz="4000" b="1">
                <a:latin typeface="Calibri"/>
                <a:cs typeface="Calibri"/>
              </a:rPr>
              <a:t>:  </a:t>
            </a:r>
            <a:r>
              <a:rPr dirty="0" sz="4000" spc="-35" b="1">
                <a:latin typeface="Calibri"/>
                <a:cs typeface="Calibri"/>
              </a:rPr>
              <a:t>Path</a:t>
            </a:r>
            <a:r>
              <a:rPr dirty="0" sz="4000" spc="-90" b="1">
                <a:latin typeface="Calibri"/>
                <a:cs typeface="Calibri"/>
              </a:rPr>
              <a:t> </a:t>
            </a:r>
            <a:r>
              <a:rPr dirty="0" sz="4000" spc="-5" b="1">
                <a:latin typeface="Calibri"/>
                <a:cs typeface="Calibri"/>
              </a:rPr>
              <a:t>length: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793724" y="3066796"/>
            <a:ext cx="2747010" cy="1708150"/>
          </a:xfrm>
          <a:prstGeom prst="rect">
            <a:avLst/>
          </a:prstGeom>
        </p:spPr>
        <p:txBody>
          <a:bodyPr wrap="square" lIns="0" tIns="2724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dirty="0" sz="3200" spc="-5" i="1">
                <a:latin typeface="Times New Roman"/>
                <a:cs typeface="Times New Roman"/>
              </a:rPr>
              <a:t>giant</a:t>
            </a:r>
            <a:r>
              <a:rPr dirty="0" sz="3200" spc="-85" i="1">
                <a:latin typeface="Times New Roman"/>
                <a:cs typeface="Times New Roman"/>
              </a:rPr>
              <a:t> </a:t>
            </a:r>
            <a:r>
              <a:rPr dirty="0" sz="3200" i="1">
                <a:latin typeface="Times New Roman"/>
                <a:cs typeface="Times New Roman"/>
              </a:rPr>
              <a:t>component</a:t>
            </a:r>
            <a:endParaRPr sz="3200">
              <a:latin typeface="Times New Roman"/>
              <a:cs typeface="Times New Roman"/>
            </a:endParaRPr>
          </a:p>
          <a:p>
            <a:pPr algn="ctr" marR="249554">
              <a:lnSpc>
                <a:spcPct val="100000"/>
              </a:lnSpc>
              <a:spcBef>
                <a:spcPts val="2555"/>
              </a:spcBef>
            </a:pPr>
            <a:r>
              <a:rPr dirty="0" sz="4000" i="1">
                <a:latin typeface="Times New Roman"/>
                <a:cs typeface="Times New Roman"/>
              </a:rPr>
              <a:t>6.6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09471" y="1235964"/>
            <a:ext cx="3113405" cy="171005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27940" marR="5080" indent="-15875">
              <a:lnSpc>
                <a:spcPct val="101899"/>
              </a:lnSpc>
              <a:spcBef>
                <a:spcPts val="25"/>
              </a:spcBef>
            </a:pPr>
            <a:r>
              <a:rPr dirty="0" sz="3200" spc="-5" i="1">
                <a:latin typeface="Times New Roman"/>
                <a:cs typeface="Times New Roman"/>
              </a:rPr>
              <a:t>Heavily </a:t>
            </a:r>
            <a:r>
              <a:rPr dirty="0" sz="3200" i="1">
                <a:latin typeface="Times New Roman"/>
                <a:cs typeface="Times New Roman"/>
              </a:rPr>
              <a:t>skewed;  </a:t>
            </a:r>
            <a:r>
              <a:rPr dirty="0" sz="3200" i="1">
                <a:latin typeface="Times New Roman"/>
                <a:cs typeface="Times New Roman"/>
              </a:rPr>
              <a:t>avg. </a:t>
            </a:r>
            <a:r>
              <a:rPr dirty="0" sz="3200" spc="-20" i="1">
                <a:latin typeface="Times New Roman"/>
                <a:cs typeface="Times New Roman"/>
              </a:rPr>
              <a:t>degree </a:t>
            </a:r>
            <a:r>
              <a:rPr dirty="0" sz="3200" i="1">
                <a:latin typeface="Times New Roman"/>
                <a:cs typeface="Times New Roman"/>
              </a:rPr>
              <a:t>=</a:t>
            </a:r>
            <a:r>
              <a:rPr dirty="0" sz="3200" spc="-75" i="1">
                <a:latin typeface="Times New Roman"/>
                <a:cs typeface="Times New Roman"/>
              </a:rPr>
              <a:t> </a:t>
            </a:r>
            <a:r>
              <a:rPr dirty="0" sz="3200" i="1">
                <a:latin typeface="Times New Roman"/>
                <a:cs typeface="Times New Roman"/>
              </a:rPr>
              <a:t>14.4</a:t>
            </a:r>
            <a:endParaRPr sz="3200">
              <a:latin typeface="Times New Roman"/>
              <a:cs typeface="Times New Roman"/>
            </a:endParaRPr>
          </a:p>
          <a:p>
            <a:pPr marL="911225">
              <a:lnSpc>
                <a:spcPct val="100000"/>
              </a:lnSpc>
              <a:spcBef>
                <a:spcPts val="710"/>
              </a:spcBef>
            </a:pPr>
            <a:r>
              <a:rPr dirty="0" sz="4000" spc="-75" i="1">
                <a:latin typeface="Times New Roman"/>
                <a:cs typeface="Times New Roman"/>
              </a:rPr>
              <a:t>0.11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2000" y="4876800"/>
            <a:ext cx="7862570" cy="1828800"/>
          </a:xfrm>
          <a:custGeom>
            <a:avLst/>
            <a:gdLst/>
            <a:ahLst/>
            <a:cxnLst/>
            <a:rect l="l" t="t" r="r" b="b"/>
            <a:pathLst>
              <a:path w="7862570" h="1828800">
                <a:moveTo>
                  <a:pt x="7557731" y="0"/>
                </a:moveTo>
                <a:lnTo>
                  <a:pt x="304802" y="0"/>
                </a:lnTo>
                <a:lnTo>
                  <a:pt x="255361" y="3989"/>
                </a:lnTo>
                <a:lnTo>
                  <a:pt x="208461" y="15539"/>
                </a:lnTo>
                <a:lnTo>
                  <a:pt x="164728" y="34021"/>
                </a:lnTo>
                <a:lnTo>
                  <a:pt x="124789" y="58809"/>
                </a:lnTo>
                <a:lnTo>
                  <a:pt x="89274" y="89274"/>
                </a:lnTo>
                <a:lnTo>
                  <a:pt x="58809" y="124790"/>
                </a:lnTo>
                <a:lnTo>
                  <a:pt x="34021" y="164728"/>
                </a:lnTo>
                <a:lnTo>
                  <a:pt x="15539" y="208461"/>
                </a:lnTo>
                <a:lnTo>
                  <a:pt x="3989" y="255362"/>
                </a:lnTo>
                <a:lnTo>
                  <a:pt x="0" y="304802"/>
                </a:lnTo>
                <a:lnTo>
                  <a:pt x="0" y="1523997"/>
                </a:lnTo>
                <a:lnTo>
                  <a:pt x="3989" y="1573437"/>
                </a:lnTo>
                <a:lnTo>
                  <a:pt x="15539" y="1620338"/>
                </a:lnTo>
                <a:lnTo>
                  <a:pt x="34021" y="1664071"/>
                </a:lnTo>
                <a:lnTo>
                  <a:pt x="58809" y="1704009"/>
                </a:lnTo>
                <a:lnTo>
                  <a:pt x="89274" y="1739525"/>
                </a:lnTo>
                <a:lnTo>
                  <a:pt x="124789" y="1769990"/>
                </a:lnTo>
                <a:lnTo>
                  <a:pt x="164728" y="1794778"/>
                </a:lnTo>
                <a:lnTo>
                  <a:pt x="208461" y="1813260"/>
                </a:lnTo>
                <a:lnTo>
                  <a:pt x="255361" y="1824810"/>
                </a:lnTo>
                <a:lnTo>
                  <a:pt x="304802" y="1828800"/>
                </a:lnTo>
                <a:lnTo>
                  <a:pt x="7557731" y="1828800"/>
                </a:lnTo>
                <a:lnTo>
                  <a:pt x="7607172" y="1824810"/>
                </a:lnTo>
                <a:lnTo>
                  <a:pt x="7654073" y="1813260"/>
                </a:lnTo>
                <a:lnTo>
                  <a:pt x="7697806" y="1794778"/>
                </a:lnTo>
                <a:lnTo>
                  <a:pt x="7737744" y="1769990"/>
                </a:lnTo>
                <a:lnTo>
                  <a:pt x="7773260" y="1739525"/>
                </a:lnTo>
                <a:lnTo>
                  <a:pt x="7803725" y="1704009"/>
                </a:lnTo>
                <a:lnTo>
                  <a:pt x="7828513" y="1664071"/>
                </a:lnTo>
                <a:lnTo>
                  <a:pt x="7846995" y="1620338"/>
                </a:lnTo>
                <a:lnTo>
                  <a:pt x="7858545" y="1573437"/>
                </a:lnTo>
                <a:lnTo>
                  <a:pt x="7862534" y="1523997"/>
                </a:lnTo>
                <a:lnTo>
                  <a:pt x="7862534" y="304802"/>
                </a:lnTo>
                <a:lnTo>
                  <a:pt x="7858545" y="255362"/>
                </a:lnTo>
                <a:lnTo>
                  <a:pt x="7846995" y="208461"/>
                </a:lnTo>
                <a:lnTo>
                  <a:pt x="7828513" y="164728"/>
                </a:lnTo>
                <a:lnTo>
                  <a:pt x="7803725" y="124790"/>
                </a:lnTo>
                <a:lnTo>
                  <a:pt x="7773260" y="89274"/>
                </a:lnTo>
                <a:lnTo>
                  <a:pt x="7737744" y="58809"/>
                </a:lnTo>
                <a:lnTo>
                  <a:pt x="7697806" y="34021"/>
                </a:lnTo>
                <a:lnTo>
                  <a:pt x="7654073" y="15539"/>
                </a:lnTo>
                <a:lnTo>
                  <a:pt x="7607172" y="3989"/>
                </a:lnTo>
                <a:lnTo>
                  <a:pt x="755773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37999" y="4862699"/>
            <a:ext cx="7910830" cy="1866900"/>
          </a:xfrm>
          <a:custGeom>
            <a:avLst/>
            <a:gdLst/>
            <a:ahLst/>
            <a:cxnLst/>
            <a:rect l="l" t="t" r="r" b="b"/>
            <a:pathLst>
              <a:path w="7910830" h="1866900">
                <a:moveTo>
                  <a:pt x="7646781" y="0"/>
                </a:moveTo>
                <a:lnTo>
                  <a:pt x="261397" y="0"/>
                </a:lnTo>
                <a:lnTo>
                  <a:pt x="229914" y="12700"/>
                </a:lnTo>
                <a:lnTo>
                  <a:pt x="199743" y="25400"/>
                </a:lnTo>
                <a:lnTo>
                  <a:pt x="171054" y="38100"/>
                </a:lnTo>
                <a:lnTo>
                  <a:pt x="144011" y="50800"/>
                </a:lnTo>
                <a:lnTo>
                  <a:pt x="118777" y="76200"/>
                </a:lnTo>
                <a:lnTo>
                  <a:pt x="95513" y="88900"/>
                </a:lnTo>
                <a:lnTo>
                  <a:pt x="74381" y="114300"/>
                </a:lnTo>
                <a:lnTo>
                  <a:pt x="55543" y="139700"/>
                </a:lnTo>
                <a:lnTo>
                  <a:pt x="39166" y="165100"/>
                </a:lnTo>
                <a:lnTo>
                  <a:pt x="25415" y="203200"/>
                </a:lnTo>
                <a:lnTo>
                  <a:pt x="14459" y="228600"/>
                </a:lnTo>
                <a:lnTo>
                  <a:pt x="6467" y="254000"/>
                </a:lnTo>
                <a:lnTo>
                  <a:pt x="1604" y="292100"/>
                </a:lnTo>
                <a:lnTo>
                  <a:pt x="0" y="330200"/>
                </a:lnTo>
                <a:lnTo>
                  <a:pt x="30" y="1549400"/>
                </a:lnTo>
                <a:lnTo>
                  <a:pt x="1848" y="1574800"/>
                </a:lnTo>
                <a:lnTo>
                  <a:pt x="6948" y="1612900"/>
                </a:lnTo>
                <a:lnTo>
                  <a:pt x="15165" y="1638300"/>
                </a:lnTo>
                <a:lnTo>
                  <a:pt x="26330" y="1676400"/>
                </a:lnTo>
                <a:lnTo>
                  <a:pt x="56835" y="1727200"/>
                </a:lnTo>
                <a:lnTo>
                  <a:pt x="97132" y="1778000"/>
                </a:lnTo>
                <a:lnTo>
                  <a:pt x="145923" y="1816100"/>
                </a:lnTo>
                <a:lnTo>
                  <a:pt x="201910" y="1841500"/>
                </a:lnTo>
                <a:lnTo>
                  <a:pt x="263753" y="1866900"/>
                </a:lnTo>
                <a:lnTo>
                  <a:pt x="7649137" y="1866900"/>
                </a:lnTo>
                <a:lnTo>
                  <a:pt x="7680620" y="1854200"/>
                </a:lnTo>
                <a:lnTo>
                  <a:pt x="7710791" y="1841500"/>
                </a:lnTo>
                <a:lnTo>
                  <a:pt x="268098" y="1841500"/>
                </a:lnTo>
                <a:lnTo>
                  <a:pt x="239358" y="1828800"/>
                </a:lnTo>
                <a:lnTo>
                  <a:pt x="185598" y="1803400"/>
                </a:lnTo>
                <a:lnTo>
                  <a:pt x="137794" y="1778000"/>
                </a:lnTo>
                <a:lnTo>
                  <a:pt x="116502" y="1752600"/>
                </a:lnTo>
                <a:lnTo>
                  <a:pt x="97154" y="1739900"/>
                </a:lnTo>
                <a:lnTo>
                  <a:pt x="64890" y="1689100"/>
                </a:lnTo>
                <a:lnTo>
                  <a:pt x="42210" y="1638300"/>
                </a:lnTo>
                <a:lnTo>
                  <a:pt x="34841" y="1600200"/>
                </a:lnTo>
                <a:lnTo>
                  <a:pt x="28793" y="1549400"/>
                </a:lnTo>
                <a:lnTo>
                  <a:pt x="28800" y="330200"/>
                </a:lnTo>
                <a:lnTo>
                  <a:pt x="30367" y="292100"/>
                </a:lnTo>
                <a:lnTo>
                  <a:pt x="34937" y="266700"/>
                </a:lnTo>
                <a:lnTo>
                  <a:pt x="42352" y="241300"/>
                </a:lnTo>
                <a:lnTo>
                  <a:pt x="52460" y="203200"/>
                </a:lnTo>
                <a:lnTo>
                  <a:pt x="65112" y="177800"/>
                </a:lnTo>
                <a:lnTo>
                  <a:pt x="80157" y="152400"/>
                </a:lnTo>
                <a:lnTo>
                  <a:pt x="97446" y="139700"/>
                </a:lnTo>
                <a:lnTo>
                  <a:pt x="116826" y="114300"/>
                </a:lnTo>
                <a:lnTo>
                  <a:pt x="161259" y="76200"/>
                </a:lnTo>
                <a:lnTo>
                  <a:pt x="212242" y="50800"/>
                </a:lnTo>
                <a:lnTo>
                  <a:pt x="268569" y="25400"/>
                </a:lnTo>
                <a:lnTo>
                  <a:pt x="7708624" y="25400"/>
                </a:lnTo>
                <a:lnTo>
                  <a:pt x="7678348" y="12700"/>
                </a:lnTo>
                <a:lnTo>
                  <a:pt x="7646781" y="0"/>
                </a:lnTo>
                <a:close/>
              </a:path>
              <a:path w="7910830" h="1866900">
                <a:moveTo>
                  <a:pt x="7708624" y="25400"/>
                </a:moveTo>
                <a:lnTo>
                  <a:pt x="7642436" y="25400"/>
                </a:lnTo>
                <a:lnTo>
                  <a:pt x="7671176" y="38100"/>
                </a:lnTo>
                <a:lnTo>
                  <a:pt x="7698725" y="50800"/>
                </a:lnTo>
                <a:lnTo>
                  <a:pt x="7749657" y="76200"/>
                </a:lnTo>
                <a:lnTo>
                  <a:pt x="7794031" y="114300"/>
                </a:lnTo>
                <a:lnTo>
                  <a:pt x="7813381" y="139700"/>
                </a:lnTo>
                <a:lnTo>
                  <a:pt x="7830635" y="152400"/>
                </a:lnTo>
                <a:lnTo>
                  <a:pt x="7845644" y="177800"/>
                </a:lnTo>
                <a:lnTo>
                  <a:pt x="7858257" y="203200"/>
                </a:lnTo>
                <a:lnTo>
                  <a:pt x="7868323" y="241300"/>
                </a:lnTo>
                <a:lnTo>
                  <a:pt x="7875693" y="266700"/>
                </a:lnTo>
                <a:lnTo>
                  <a:pt x="7880216" y="292100"/>
                </a:lnTo>
                <a:lnTo>
                  <a:pt x="7881740" y="330200"/>
                </a:lnTo>
                <a:lnTo>
                  <a:pt x="7881735" y="1549400"/>
                </a:lnTo>
                <a:lnTo>
                  <a:pt x="7875597" y="1600200"/>
                </a:lnTo>
                <a:lnTo>
                  <a:pt x="7868181" y="1638300"/>
                </a:lnTo>
                <a:lnTo>
                  <a:pt x="7845422" y="1689100"/>
                </a:lnTo>
                <a:lnTo>
                  <a:pt x="7813089" y="1739900"/>
                </a:lnTo>
                <a:lnTo>
                  <a:pt x="7793708" y="1752600"/>
                </a:lnTo>
                <a:lnTo>
                  <a:pt x="7772386" y="1778000"/>
                </a:lnTo>
                <a:lnTo>
                  <a:pt x="7724526" y="1803400"/>
                </a:lnTo>
                <a:lnTo>
                  <a:pt x="7670722" y="1828800"/>
                </a:lnTo>
                <a:lnTo>
                  <a:pt x="7641965" y="1841500"/>
                </a:lnTo>
                <a:lnTo>
                  <a:pt x="7710791" y="1841500"/>
                </a:lnTo>
                <a:lnTo>
                  <a:pt x="7766523" y="1816100"/>
                </a:lnTo>
                <a:lnTo>
                  <a:pt x="7815020" y="1778000"/>
                </a:lnTo>
                <a:lnTo>
                  <a:pt x="7854990" y="1727200"/>
                </a:lnTo>
                <a:lnTo>
                  <a:pt x="7885119" y="1676400"/>
                </a:lnTo>
                <a:lnTo>
                  <a:pt x="7896074" y="1638300"/>
                </a:lnTo>
                <a:lnTo>
                  <a:pt x="7904068" y="1612900"/>
                </a:lnTo>
                <a:lnTo>
                  <a:pt x="7908930" y="1574800"/>
                </a:lnTo>
                <a:lnTo>
                  <a:pt x="7910534" y="1549400"/>
                </a:lnTo>
                <a:lnTo>
                  <a:pt x="7910504" y="330200"/>
                </a:lnTo>
                <a:lnTo>
                  <a:pt x="7908687" y="292100"/>
                </a:lnTo>
                <a:lnTo>
                  <a:pt x="7903586" y="254000"/>
                </a:lnTo>
                <a:lnTo>
                  <a:pt x="7895369" y="228600"/>
                </a:lnTo>
                <a:lnTo>
                  <a:pt x="7884204" y="190500"/>
                </a:lnTo>
                <a:lnTo>
                  <a:pt x="7853699" y="139700"/>
                </a:lnTo>
                <a:lnTo>
                  <a:pt x="7813402" y="88900"/>
                </a:lnTo>
                <a:lnTo>
                  <a:pt x="7789987" y="76200"/>
                </a:lnTo>
                <a:lnTo>
                  <a:pt x="7764611" y="50800"/>
                </a:lnTo>
                <a:lnTo>
                  <a:pt x="7737435" y="38100"/>
                </a:lnTo>
                <a:lnTo>
                  <a:pt x="7708624" y="25400"/>
                </a:lnTo>
                <a:close/>
              </a:path>
              <a:path w="7910830" h="1866900">
                <a:moveTo>
                  <a:pt x="270994" y="1816100"/>
                </a:moveTo>
                <a:lnTo>
                  <a:pt x="241749" y="1816100"/>
                </a:lnTo>
                <a:lnTo>
                  <a:pt x="269546" y="1828800"/>
                </a:lnTo>
                <a:lnTo>
                  <a:pt x="298848" y="1828800"/>
                </a:lnTo>
                <a:lnTo>
                  <a:pt x="270994" y="1816100"/>
                </a:lnTo>
                <a:close/>
              </a:path>
              <a:path w="7910830" h="1866900">
                <a:moveTo>
                  <a:pt x="7667422" y="1816100"/>
                </a:moveTo>
                <a:lnTo>
                  <a:pt x="7637183" y="1816100"/>
                </a:lnTo>
                <a:lnTo>
                  <a:pt x="7609275" y="1828800"/>
                </a:lnTo>
                <a:lnTo>
                  <a:pt x="7639575" y="1828800"/>
                </a:lnTo>
                <a:lnTo>
                  <a:pt x="7667422" y="1816100"/>
                </a:lnTo>
                <a:close/>
              </a:path>
              <a:path w="7910830" h="1866900">
                <a:moveTo>
                  <a:pt x="330012" y="38100"/>
                </a:moveTo>
                <a:lnTo>
                  <a:pt x="270959" y="38100"/>
                </a:lnTo>
                <a:lnTo>
                  <a:pt x="243112" y="50800"/>
                </a:lnTo>
                <a:lnTo>
                  <a:pt x="216409" y="63500"/>
                </a:lnTo>
                <a:lnTo>
                  <a:pt x="190992" y="63500"/>
                </a:lnTo>
                <a:lnTo>
                  <a:pt x="167008" y="88900"/>
                </a:lnTo>
                <a:lnTo>
                  <a:pt x="144604" y="101600"/>
                </a:lnTo>
                <a:lnTo>
                  <a:pt x="123930" y="114300"/>
                </a:lnTo>
                <a:lnTo>
                  <a:pt x="88362" y="165100"/>
                </a:lnTo>
                <a:lnTo>
                  <a:pt x="61475" y="215900"/>
                </a:lnTo>
                <a:lnTo>
                  <a:pt x="44427" y="266700"/>
                </a:lnTo>
                <a:lnTo>
                  <a:pt x="38400" y="330200"/>
                </a:lnTo>
                <a:lnTo>
                  <a:pt x="38381" y="1549400"/>
                </a:lnTo>
                <a:lnTo>
                  <a:pt x="39808" y="1574800"/>
                </a:lnTo>
                <a:lnTo>
                  <a:pt x="51226" y="1625600"/>
                </a:lnTo>
                <a:lnTo>
                  <a:pt x="73094" y="1676400"/>
                </a:lnTo>
                <a:lnTo>
                  <a:pt x="104258" y="1727200"/>
                </a:lnTo>
                <a:lnTo>
                  <a:pt x="143543" y="1765300"/>
                </a:lnTo>
                <a:lnTo>
                  <a:pt x="165861" y="1790700"/>
                </a:lnTo>
                <a:lnTo>
                  <a:pt x="189764" y="1803400"/>
                </a:lnTo>
                <a:lnTo>
                  <a:pt x="215108" y="1816100"/>
                </a:lnTo>
                <a:lnTo>
                  <a:pt x="244140" y="1816100"/>
                </a:lnTo>
                <a:lnTo>
                  <a:pt x="218408" y="1803400"/>
                </a:lnTo>
                <a:lnTo>
                  <a:pt x="193931" y="1790700"/>
                </a:lnTo>
                <a:lnTo>
                  <a:pt x="170845" y="1778000"/>
                </a:lnTo>
                <a:lnTo>
                  <a:pt x="149292" y="1765300"/>
                </a:lnTo>
                <a:lnTo>
                  <a:pt x="129416" y="1739900"/>
                </a:lnTo>
                <a:lnTo>
                  <a:pt x="111362" y="1727200"/>
                </a:lnTo>
                <a:lnTo>
                  <a:pt x="81299" y="1676400"/>
                </a:lnTo>
                <a:lnTo>
                  <a:pt x="60241" y="1625600"/>
                </a:lnTo>
                <a:lnTo>
                  <a:pt x="49298" y="1574800"/>
                </a:lnTo>
                <a:lnTo>
                  <a:pt x="47969" y="1549400"/>
                </a:lnTo>
                <a:lnTo>
                  <a:pt x="48000" y="330200"/>
                </a:lnTo>
                <a:lnTo>
                  <a:pt x="49543" y="292100"/>
                </a:lnTo>
                <a:lnTo>
                  <a:pt x="60947" y="241300"/>
                </a:lnTo>
                <a:lnTo>
                  <a:pt x="82410" y="190500"/>
                </a:lnTo>
                <a:lnTo>
                  <a:pt x="112822" y="139700"/>
                </a:lnTo>
                <a:lnTo>
                  <a:pt x="131035" y="127000"/>
                </a:lnTo>
                <a:lnTo>
                  <a:pt x="151061" y="101600"/>
                </a:lnTo>
                <a:lnTo>
                  <a:pt x="172757" y="88900"/>
                </a:lnTo>
                <a:lnTo>
                  <a:pt x="195976" y="76200"/>
                </a:lnTo>
                <a:lnTo>
                  <a:pt x="220575" y="63500"/>
                </a:lnTo>
                <a:lnTo>
                  <a:pt x="246412" y="50800"/>
                </a:lnTo>
                <a:lnTo>
                  <a:pt x="301258" y="50800"/>
                </a:lnTo>
                <a:lnTo>
                  <a:pt x="330012" y="38100"/>
                </a:lnTo>
                <a:close/>
              </a:path>
              <a:path w="7910830" h="1866900">
                <a:moveTo>
                  <a:pt x="7640988" y="38100"/>
                </a:moveTo>
                <a:lnTo>
                  <a:pt x="330012" y="38100"/>
                </a:lnTo>
                <a:lnTo>
                  <a:pt x="7581733" y="50800"/>
                </a:lnTo>
                <a:lnTo>
                  <a:pt x="7639539" y="50800"/>
                </a:lnTo>
                <a:lnTo>
                  <a:pt x="7666395" y="63500"/>
                </a:lnTo>
                <a:lnTo>
                  <a:pt x="7692126" y="63500"/>
                </a:lnTo>
                <a:lnTo>
                  <a:pt x="7716603" y="76200"/>
                </a:lnTo>
                <a:lnTo>
                  <a:pt x="7739689" y="88900"/>
                </a:lnTo>
                <a:lnTo>
                  <a:pt x="7761242" y="114300"/>
                </a:lnTo>
                <a:lnTo>
                  <a:pt x="7781118" y="127000"/>
                </a:lnTo>
                <a:lnTo>
                  <a:pt x="7799172" y="152400"/>
                </a:lnTo>
                <a:lnTo>
                  <a:pt x="7815258" y="165100"/>
                </a:lnTo>
                <a:lnTo>
                  <a:pt x="7829235" y="190500"/>
                </a:lnTo>
                <a:lnTo>
                  <a:pt x="7850293" y="241300"/>
                </a:lnTo>
                <a:lnTo>
                  <a:pt x="7861236" y="292100"/>
                </a:lnTo>
                <a:lnTo>
                  <a:pt x="7862565" y="330200"/>
                </a:lnTo>
                <a:lnTo>
                  <a:pt x="7862535" y="1549400"/>
                </a:lnTo>
                <a:lnTo>
                  <a:pt x="7856617" y="1600200"/>
                </a:lnTo>
                <a:lnTo>
                  <a:pt x="7840043" y="1651000"/>
                </a:lnTo>
                <a:lnTo>
                  <a:pt x="7813967" y="1701800"/>
                </a:lnTo>
                <a:lnTo>
                  <a:pt x="7779500" y="1739900"/>
                </a:lnTo>
                <a:lnTo>
                  <a:pt x="7759473" y="1765300"/>
                </a:lnTo>
                <a:lnTo>
                  <a:pt x="7737778" y="1778000"/>
                </a:lnTo>
                <a:lnTo>
                  <a:pt x="7714558" y="1790700"/>
                </a:lnTo>
                <a:lnTo>
                  <a:pt x="7689958" y="1803400"/>
                </a:lnTo>
                <a:lnTo>
                  <a:pt x="7664123" y="1816100"/>
                </a:lnTo>
                <a:lnTo>
                  <a:pt x="7694125" y="1816100"/>
                </a:lnTo>
                <a:lnTo>
                  <a:pt x="7719543" y="1803400"/>
                </a:lnTo>
                <a:lnTo>
                  <a:pt x="7743527" y="1790700"/>
                </a:lnTo>
                <a:lnTo>
                  <a:pt x="7765930" y="1765300"/>
                </a:lnTo>
                <a:lnTo>
                  <a:pt x="7786603" y="1752600"/>
                </a:lnTo>
                <a:lnTo>
                  <a:pt x="7805400" y="1727200"/>
                </a:lnTo>
                <a:lnTo>
                  <a:pt x="7822172" y="1701800"/>
                </a:lnTo>
                <a:lnTo>
                  <a:pt x="7836773" y="1689100"/>
                </a:lnTo>
                <a:lnTo>
                  <a:pt x="7849059" y="1663700"/>
                </a:lnTo>
                <a:lnTo>
                  <a:pt x="7858885" y="1625600"/>
                </a:lnTo>
                <a:lnTo>
                  <a:pt x="7866107" y="1600200"/>
                </a:lnTo>
                <a:lnTo>
                  <a:pt x="7870579" y="1574800"/>
                </a:lnTo>
                <a:lnTo>
                  <a:pt x="7872135" y="1549400"/>
                </a:lnTo>
                <a:lnTo>
                  <a:pt x="7872153" y="330200"/>
                </a:lnTo>
                <a:lnTo>
                  <a:pt x="7870726" y="292100"/>
                </a:lnTo>
                <a:lnTo>
                  <a:pt x="7859308" y="241300"/>
                </a:lnTo>
                <a:lnTo>
                  <a:pt x="7837440" y="190500"/>
                </a:lnTo>
                <a:lnTo>
                  <a:pt x="7806276" y="139700"/>
                </a:lnTo>
                <a:lnTo>
                  <a:pt x="7766991" y="101600"/>
                </a:lnTo>
                <a:lnTo>
                  <a:pt x="7720770" y="76200"/>
                </a:lnTo>
                <a:lnTo>
                  <a:pt x="7668785" y="50800"/>
                </a:lnTo>
                <a:lnTo>
                  <a:pt x="7640988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420064" y="4854955"/>
            <a:ext cx="6548755" cy="2002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310"/>
              </a:lnSpc>
              <a:spcBef>
                <a:spcPts val="100"/>
              </a:spcBef>
            </a:pPr>
            <a:r>
              <a:rPr dirty="0" sz="3600" spc="-5" b="1">
                <a:solidFill>
                  <a:srgbClr val="FFFFFF"/>
                </a:solidFill>
                <a:latin typeface="Corbel"/>
                <a:cs typeface="Corbel"/>
              </a:rPr>
              <a:t>Are these values</a:t>
            </a:r>
            <a:r>
              <a:rPr dirty="0" sz="3600" spc="-30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5" b="1">
                <a:solidFill>
                  <a:srgbClr val="FFFFFF"/>
                </a:solidFill>
                <a:latin typeface="Corbel"/>
                <a:cs typeface="Corbel"/>
              </a:rPr>
              <a:t>“expected”?</a:t>
            </a:r>
            <a:endParaRPr sz="3600">
              <a:latin typeface="Corbel"/>
              <a:cs typeface="Corbel"/>
            </a:endParaRPr>
          </a:p>
          <a:p>
            <a:pPr algn="ctr">
              <a:lnSpc>
                <a:spcPts val="4310"/>
              </a:lnSpc>
            </a:pPr>
            <a:r>
              <a:rPr dirty="0" sz="3600" spc="-5" b="1">
                <a:solidFill>
                  <a:srgbClr val="FFFFFF"/>
                </a:solidFill>
                <a:latin typeface="Corbel"/>
                <a:cs typeface="Corbel"/>
              </a:rPr>
              <a:t>Are </a:t>
            </a:r>
            <a:r>
              <a:rPr dirty="0" sz="3600" spc="-10" b="1">
                <a:solidFill>
                  <a:srgbClr val="FFFFFF"/>
                </a:solidFill>
                <a:latin typeface="Corbel"/>
                <a:cs typeface="Corbel"/>
              </a:rPr>
              <a:t>they</a:t>
            </a:r>
            <a:r>
              <a:rPr dirty="0" sz="3600" spc="-30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600" spc="-5" b="1">
                <a:solidFill>
                  <a:srgbClr val="FFFFFF"/>
                </a:solidFill>
                <a:latin typeface="Corbel"/>
                <a:cs typeface="Corbel"/>
              </a:rPr>
              <a:t>“surprising”?</a:t>
            </a:r>
            <a:endParaRPr sz="3600">
              <a:latin typeface="Corbel"/>
              <a:cs typeface="Corbel"/>
            </a:endParaRPr>
          </a:p>
          <a:p>
            <a:pPr algn="ctr">
              <a:lnSpc>
                <a:spcPct val="100000"/>
              </a:lnSpc>
              <a:spcBef>
                <a:spcPts val="1175"/>
              </a:spcBef>
            </a:pPr>
            <a:r>
              <a:rPr dirty="0" sz="3600" spc="-120" b="1">
                <a:solidFill>
                  <a:srgbClr val="FFFF00"/>
                </a:solidFill>
                <a:latin typeface="Corbel"/>
                <a:cs typeface="Corbel"/>
              </a:rPr>
              <a:t>To </a:t>
            </a:r>
            <a:r>
              <a:rPr dirty="0" sz="3600" spc="-5" b="1">
                <a:solidFill>
                  <a:srgbClr val="FFFF00"/>
                </a:solidFill>
                <a:latin typeface="Corbel"/>
                <a:cs typeface="Corbel"/>
              </a:rPr>
              <a:t>answer this, </a:t>
            </a:r>
            <a:r>
              <a:rPr dirty="0" sz="3600" b="1">
                <a:solidFill>
                  <a:srgbClr val="FFFF00"/>
                </a:solidFill>
                <a:latin typeface="Corbel"/>
                <a:cs typeface="Corbel"/>
              </a:rPr>
              <a:t>we need a</a:t>
            </a:r>
            <a:r>
              <a:rPr dirty="0" sz="3600" spc="60" b="1">
                <a:solidFill>
                  <a:srgbClr val="FFFF00"/>
                </a:solidFill>
                <a:latin typeface="Corbel"/>
                <a:cs typeface="Corbel"/>
              </a:rPr>
              <a:t> </a:t>
            </a:r>
            <a:r>
              <a:rPr dirty="0" sz="3600" spc="-5" b="1">
                <a:solidFill>
                  <a:srgbClr val="FFFF00"/>
                </a:solidFill>
                <a:latin typeface="Corbel"/>
                <a:cs typeface="Corbel"/>
              </a:rPr>
              <a:t>model!</a:t>
            </a:r>
            <a:endParaRPr sz="3600">
              <a:latin typeface="Corbel"/>
              <a:cs typeface="Corbel"/>
            </a:endParaRPr>
          </a:p>
          <a:p>
            <a:pPr algn="ctr" marR="6350">
              <a:lnSpc>
                <a:spcPct val="100000"/>
              </a:lnSpc>
              <a:spcBef>
                <a:spcPts val="370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Machine Learning with Graphs,</a:t>
            </a:r>
            <a:r>
              <a:rPr dirty="0" sz="900" spc="5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cs224w.stanford.edu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4672" y="3718559"/>
            <a:ext cx="7315200" cy="12923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73023" y="341375"/>
            <a:ext cx="6266687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99349" y="1348740"/>
            <a:ext cx="8256270" cy="9582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ts val="3670"/>
              </a:lnSpc>
              <a:spcBef>
                <a:spcPts val="100"/>
              </a:spcBef>
              <a:buClr>
                <a:srgbClr val="F0AD00"/>
              </a:buClr>
              <a:buSzPct val="68750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pc="-20"/>
              <a:t>Erdös-Renyi </a:t>
            </a:r>
            <a:r>
              <a:rPr dirty="0" spc="-5"/>
              <a:t>Random </a:t>
            </a:r>
            <a:r>
              <a:rPr dirty="0" spc="-15"/>
              <a:t>Graphs </a:t>
            </a:r>
            <a:r>
              <a:rPr dirty="0" spc="-15" b="0">
                <a:solidFill>
                  <a:srgbClr val="7F7F7F"/>
                </a:solidFill>
                <a:latin typeface="Calibri"/>
                <a:cs typeface="Calibri"/>
              </a:rPr>
              <a:t>[Erdös-Renyi,</a:t>
            </a:r>
            <a:r>
              <a:rPr dirty="0" b="0">
                <a:solidFill>
                  <a:srgbClr val="7F7F7F"/>
                </a:solidFill>
                <a:latin typeface="Calibri"/>
                <a:cs typeface="Calibri"/>
              </a:rPr>
              <a:t> ‘60]</a:t>
            </a:r>
          </a:p>
          <a:p>
            <a:pPr lvl="1" marL="451484" indent="-320040">
              <a:lnSpc>
                <a:spcPts val="3670"/>
              </a:lnSpc>
              <a:buClr>
                <a:srgbClr val="F0AD00"/>
              </a:buClr>
              <a:buSzPct val="81250"/>
              <a:buFont typeface="Malgun Gothic"/>
              <a:buChar char="▪"/>
              <a:tabLst>
                <a:tab pos="451484" algn="l"/>
              </a:tabLst>
            </a:pPr>
            <a:r>
              <a:rPr dirty="0" sz="3200" spc="-40" b="1">
                <a:latin typeface="Calibri"/>
                <a:cs typeface="Calibri"/>
              </a:rPr>
              <a:t>Two</a:t>
            </a:r>
            <a:r>
              <a:rPr dirty="0" sz="3200" spc="-60" b="1">
                <a:latin typeface="Calibri"/>
                <a:cs typeface="Calibri"/>
              </a:rPr>
              <a:t> </a:t>
            </a:r>
            <a:r>
              <a:rPr dirty="0" sz="3200" spc="-15" b="1">
                <a:latin typeface="Calibri"/>
                <a:cs typeface="Calibri"/>
              </a:rPr>
              <a:t>variants: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859279" y="4779263"/>
            <a:ext cx="5425440" cy="153924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033016" y="4901183"/>
            <a:ext cx="5163311" cy="1408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905000" y="4800600"/>
            <a:ext cx="5334000" cy="14477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05000" y="4800600"/>
            <a:ext cx="5334000" cy="1447800"/>
          </a:xfrm>
          <a:custGeom>
            <a:avLst/>
            <a:gdLst/>
            <a:ahLst/>
            <a:cxnLst/>
            <a:rect l="l" t="t" r="r" b="b"/>
            <a:pathLst>
              <a:path w="5334000" h="1447800">
                <a:moveTo>
                  <a:pt x="0" y="241301"/>
                </a:moveTo>
                <a:lnTo>
                  <a:pt x="4902" y="192671"/>
                </a:lnTo>
                <a:lnTo>
                  <a:pt x="18962" y="147376"/>
                </a:lnTo>
                <a:lnTo>
                  <a:pt x="41210" y="106387"/>
                </a:lnTo>
                <a:lnTo>
                  <a:pt x="70675" y="70675"/>
                </a:lnTo>
                <a:lnTo>
                  <a:pt x="106387" y="41210"/>
                </a:lnTo>
                <a:lnTo>
                  <a:pt x="147376" y="18962"/>
                </a:lnTo>
                <a:lnTo>
                  <a:pt x="192670" y="4902"/>
                </a:lnTo>
                <a:lnTo>
                  <a:pt x="241301" y="0"/>
                </a:lnTo>
                <a:lnTo>
                  <a:pt x="5092698" y="0"/>
                </a:lnTo>
                <a:lnTo>
                  <a:pt x="5141329" y="4902"/>
                </a:lnTo>
                <a:lnTo>
                  <a:pt x="5186623" y="18962"/>
                </a:lnTo>
                <a:lnTo>
                  <a:pt x="5227612" y="41210"/>
                </a:lnTo>
                <a:lnTo>
                  <a:pt x="5263324" y="70675"/>
                </a:lnTo>
                <a:lnTo>
                  <a:pt x="5292789" y="106387"/>
                </a:lnTo>
                <a:lnTo>
                  <a:pt x="5315037" y="147376"/>
                </a:lnTo>
                <a:lnTo>
                  <a:pt x="5329097" y="192671"/>
                </a:lnTo>
                <a:lnTo>
                  <a:pt x="5334000" y="241301"/>
                </a:lnTo>
                <a:lnTo>
                  <a:pt x="5334000" y="1206498"/>
                </a:lnTo>
                <a:lnTo>
                  <a:pt x="5329097" y="1255128"/>
                </a:lnTo>
                <a:lnTo>
                  <a:pt x="5315037" y="1300423"/>
                </a:lnTo>
                <a:lnTo>
                  <a:pt x="5292789" y="1341412"/>
                </a:lnTo>
                <a:lnTo>
                  <a:pt x="5263324" y="1377124"/>
                </a:lnTo>
                <a:lnTo>
                  <a:pt x="5227612" y="1406589"/>
                </a:lnTo>
                <a:lnTo>
                  <a:pt x="5186623" y="1428837"/>
                </a:lnTo>
                <a:lnTo>
                  <a:pt x="5141329" y="1442897"/>
                </a:lnTo>
                <a:lnTo>
                  <a:pt x="5092698" y="1447800"/>
                </a:lnTo>
                <a:lnTo>
                  <a:pt x="241301" y="1447800"/>
                </a:lnTo>
                <a:lnTo>
                  <a:pt x="192670" y="1442897"/>
                </a:lnTo>
                <a:lnTo>
                  <a:pt x="147376" y="1428837"/>
                </a:lnTo>
                <a:lnTo>
                  <a:pt x="106387" y="1406589"/>
                </a:lnTo>
                <a:lnTo>
                  <a:pt x="70675" y="1377124"/>
                </a:lnTo>
                <a:lnTo>
                  <a:pt x="41210" y="1341412"/>
                </a:lnTo>
                <a:lnTo>
                  <a:pt x="18962" y="1300423"/>
                </a:lnTo>
                <a:lnTo>
                  <a:pt x="4902" y="1255128"/>
                </a:lnTo>
                <a:lnTo>
                  <a:pt x="0" y="1206498"/>
                </a:lnTo>
                <a:lnTo>
                  <a:pt x="0" y="241301"/>
                </a:lnTo>
                <a:close/>
              </a:path>
            </a:pathLst>
          </a:custGeom>
          <a:ln w="9525">
            <a:solidFill>
              <a:srgbClr val="C442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956548" y="2313939"/>
            <a:ext cx="7075170" cy="3681095"/>
          </a:xfrm>
          <a:prstGeom prst="rect">
            <a:avLst/>
          </a:prstGeom>
        </p:spPr>
        <p:txBody>
          <a:bodyPr wrap="square" lIns="0" tIns="63500" rIns="0" bIns="0" rtlCol="0" vert="horz">
            <a:spAutoFit/>
          </a:bodyPr>
          <a:lstStyle/>
          <a:p>
            <a:pPr marL="469900" marR="5080" indent="-457200">
              <a:lnSpc>
                <a:spcPts val="3000"/>
              </a:lnSpc>
              <a:spcBef>
                <a:spcPts val="500"/>
              </a:spcBef>
              <a:buClr>
                <a:srgbClr val="60B5CC"/>
              </a:buClr>
              <a:buFont typeface="Malgun Gothic"/>
              <a:buChar char="▪"/>
              <a:tabLst>
                <a:tab pos="469265" algn="l"/>
                <a:tab pos="469900" algn="l"/>
              </a:tabLst>
            </a:pPr>
            <a:r>
              <a:rPr dirty="0" sz="2800" spc="-10" b="1" i="1">
                <a:solidFill>
                  <a:srgbClr val="0000FF"/>
                </a:solidFill>
                <a:latin typeface="Times New Roman"/>
                <a:cs typeface="Times New Roman"/>
              </a:rPr>
              <a:t>G</a:t>
            </a:r>
            <a:r>
              <a:rPr dirty="0" baseline="-17543" sz="2850" spc="-15" b="1" i="1">
                <a:solidFill>
                  <a:srgbClr val="0000FF"/>
                </a:solidFill>
                <a:latin typeface="Times New Roman"/>
                <a:cs typeface="Times New Roman"/>
              </a:rPr>
              <a:t>np</a:t>
            </a:r>
            <a:r>
              <a:rPr dirty="0" sz="2800" spc="-10">
                <a:latin typeface="Calibri"/>
                <a:cs typeface="Calibri"/>
              </a:rPr>
              <a:t>: undirected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5">
                <a:latin typeface="Calibri"/>
                <a:cs typeface="Calibri"/>
              </a:rPr>
              <a:t>on </a:t>
            </a:r>
            <a:r>
              <a:rPr dirty="0" sz="2800" i="1">
                <a:solidFill>
                  <a:srgbClr val="0070C0"/>
                </a:solidFill>
                <a:latin typeface="Times New Roman"/>
                <a:cs typeface="Times New Roman"/>
              </a:rPr>
              <a:t>n </a:t>
            </a:r>
            <a:r>
              <a:rPr dirty="0" sz="2800" spc="-5">
                <a:solidFill>
                  <a:srgbClr val="0070C0"/>
                </a:solidFill>
                <a:latin typeface="Calibri"/>
                <a:cs typeface="Calibri"/>
              </a:rPr>
              <a:t>nodes </a:t>
            </a:r>
            <a:r>
              <a:rPr dirty="0" sz="2800" spc="-15">
                <a:latin typeface="Calibri"/>
                <a:cs typeface="Calibri"/>
              </a:rPr>
              <a:t>where </a:t>
            </a:r>
            <a:r>
              <a:rPr dirty="0" sz="2800" spc="-5">
                <a:latin typeface="Calibri"/>
                <a:cs typeface="Calibri"/>
              </a:rPr>
              <a:t>each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edge </a:t>
            </a:r>
            <a:r>
              <a:rPr dirty="0" sz="2800" spc="-5" i="1">
                <a:solidFill>
                  <a:srgbClr val="C00000"/>
                </a:solidFill>
                <a:latin typeface="Times New Roman"/>
                <a:cs typeface="Times New Roman"/>
              </a:rPr>
              <a:t>(u,v) </a:t>
            </a:r>
            <a:r>
              <a:rPr dirty="0" sz="2800" spc="-15">
                <a:solidFill>
                  <a:srgbClr val="C00000"/>
                </a:solidFill>
                <a:latin typeface="Calibri"/>
                <a:cs typeface="Calibri"/>
              </a:rPr>
              <a:t>appears </a:t>
            </a:r>
            <a:r>
              <a:rPr dirty="0" sz="2800" spc="-5">
                <a:solidFill>
                  <a:srgbClr val="C00000"/>
                </a:solidFill>
                <a:latin typeface="Calibri"/>
                <a:cs typeface="Calibri"/>
              </a:rPr>
              <a:t>i.i.d. with </a:t>
            </a:r>
            <a:r>
              <a:rPr dirty="0" sz="2800" spc="-10">
                <a:solidFill>
                  <a:srgbClr val="C00000"/>
                </a:solidFill>
                <a:latin typeface="Calibri"/>
                <a:cs typeface="Calibri"/>
              </a:rPr>
              <a:t>probability </a:t>
            </a:r>
            <a:r>
              <a:rPr dirty="0" sz="2800" i="1">
                <a:solidFill>
                  <a:srgbClr val="C00000"/>
                </a:solidFill>
                <a:latin typeface="Times New Roman"/>
                <a:cs typeface="Times New Roman"/>
              </a:rPr>
              <a:t>p</a:t>
            </a:r>
            <a:endParaRPr sz="2800">
              <a:latin typeface="Times New Roman"/>
              <a:cs typeface="Times New Roman"/>
            </a:endParaRPr>
          </a:p>
          <a:p>
            <a:pPr marL="469900" indent="-457200">
              <a:lnSpc>
                <a:spcPts val="3180"/>
              </a:lnSpc>
              <a:spcBef>
                <a:spcPts val="2600"/>
              </a:spcBef>
              <a:buClr>
                <a:srgbClr val="60B5CC"/>
              </a:buClr>
              <a:buFont typeface="Malgun Gothic"/>
              <a:buChar char="▪"/>
              <a:tabLst>
                <a:tab pos="469265" algn="l"/>
                <a:tab pos="469900" algn="l"/>
                <a:tab pos="3007995" algn="l"/>
              </a:tabLst>
            </a:pPr>
            <a:r>
              <a:rPr dirty="0" sz="2800" spc="-10" b="1" i="1">
                <a:solidFill>
                  <a:srgbClr val="7F7F7F"/>
                </a:solidFill>
                <a:latin typeface="Times New Roman"/>
                <a:cs typeface="Times New Roman"/>
              </a:rPr>
              <a:t>G</a:t>
            </a:r>
            <a:r>
              <a:rPr dirty="0" baseline="-17543" sz="2850" spc="-15" b="1" i="1">
                <a:solidFill>
                  <a:srgbClr val="7F7F7F"/>
                </a:solidFill>
                <a:latin typeface="Times New Roman"/>
                <a:cs typeface="Times New Roman"/>
              </a:rPr>
              <a:t>nm</a:t>
            </a:r>
            <a:r>
              <a:rPr dirty="0" baseline="-17543" sz="2850" spc="-284" b="1" i="1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dirty="0" sz="2800">
                <a:solidFill>
                  <a:srgbClr val="7F7F7F"/>
                </a:solidFill>
                <a:latin typeface="Calibri"/>
                <a:cs typeface="Calibri"/>
              </a:rPr>
              <a:t>:</a:t>
            </a:r>
            <a:r>
              <a:rPr dirty="0" sz="2800" spc="5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dirty="0" sz="2800" spc="-10">
                <a:solidFill>
                  <a:srgbClr val="7F7F7F"/>
                </a:solidFill>
                <a:latin typeface="Calibri"/>
                <a:cs typeface="Calibri"/>
              </a:rPr>
              <a:t>undirected	</a:t>
            </a:r>
            <a:r>
              <a:rPr dirty="0" sz="2800" spc="-15">
                <a:solidFill>
                  <a:srgbClr val="7F7F7F"/>
                </a:solidFill>
                <a:latin typeface="Calibri"/>
                <a:cs typeface="Calibri"/>
              </a:rPr>
              <a:t>graph </a:t>
            </a:r>
            <a:r>
              <a:rPr dirty="0" sz="2800" spc="-5">
                <a:solidFill>
                  <a:srgbClr val="7F7F7F"/>
                </a:solidFill>
                <a:latin typeface="Calibri"/>
                <a:cs typeface="Calibri"/>
              </a:rPr>
              <a:t>with </a:t>
            </a:r>
            <a:r>
              <a:rPr dirty="0" sz="2800" i="1">
                <a:solidFill>
                  <a:srgbClr val="7F7F7F"/>
                </a:solidFill>
                <a:latin typeface="Times New Roman"/>
                <a:cs typeface="Times New Roman"/>
              </a:rPr>
              <a:t>n </a:t>
            </a:r>
            <a:r>
              <a:rPr dirty="0" sz="2800" spc="-5">
                <a:solidFill>
                  <a:srgbClr val="7F7F7F"/>
                </a:solidFill>
                <a:latin typeface="Calibri"/>
                <a:cs typeface="Calibri"/>
              </a:rPr>
              <a:t>nodes,</a:t>
            </a:r>
            <a:r>
              <a:rPr dirty="0" sz="2800" spc="-100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dirty="0" sz="2800" spc="-5">
                <a:solidFill>
                  <a:srgbClr val="7F7F7F"/>
                </a:solidFill>
                <a:latin typeface="Calibri"/>
                <a:cs typeface="Calibri"/>
              </a:rPr>
              <a:t>and</a:t>
            </a:r>
            <a:endParaRPr sz="2800">
              <a:latin typeface="Calibri"/>
              <a:cs typeface="Calibri"/>
            </a:endParaRPr>
          </a:p>
          <a:p>
            <a:pPr marL="469265">
              <a:lnSpc>
                <a:spcPts val="3180"/>
              </a:lnSpc>
            </a:pPr>
            <a:r>
              <a:rPr dirty="0" sz="2800" i="1">
                <a:solidFill>
                  <a:srgbClr val="7F7F7F"/>
                </a:solidFill>
                <a:latin typeface="Times New Roman"/>
                <a:cs typeface="Times New Roman"/>
              </a:rPr>
              <a:t>m </a:t>
            </a:r>
            <a:r>
              <a:rPr dirty="0" sz="2800" spc="-10">
                <a:solidFill>
                  <a:srgbClr val="7F7F7F"/>
                </a:solidFill>
                <a:latin typeface="Calibri"/>
                <a:cs typeface="Calibri"/>
              </a:rPr>
              <a:t>edges </a:t>
            </a:r>
            <a:r>
              <a:rPr dirty="0" sz="2800" spc="-20">
                <a:solidFill>
                  <a:srgbClr val="7F7F7F"/>
                </a:solidFill>
                <a:latin typeface="Calibri"/>
                <a:cs typeface="Calibri"/>
              </a:rPr>
              <a:t>picked </a:t>
            </a:r>
            <a:r>
              <a:rPr dirty="0" sz="2800" spc="-15">
                <a:solidFill>
                  <a:srgbClr val="7F7F7F"/>
                </a:solidFill>
                <a:latin typeface="Calibri"/>
                <a:cs typeface="Calibri"/>
              </a:rPr>
              <a:t>uniformly at</a:t>
            </a:r>
            <a:r>
              <a:rPr dirty="0" sz="2800" spc="-35">
                <a:solidFill>
                  <a:srgbClr val="7F7F7F"/>
                </a:solidFill>
                <a:latin typeface="Calibri"/>
                <a:cs typeface="Calibri"/>
              </a:rPr>
              <a:t> </a:t>
            </a:r>
            <a:r>
              <a:rPr dirty="0" sz="2800" spc="-15">
                <a:solidFill>
                  <a:srgbClr val="7F7F7F"/>
                </a:solidFill>
                <a:latin typeface="Calibri"/>
                <a:cs typeface="Calibri"/>
              </a:rPr>
              <a:t>random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 marL="1683385" marR="1194435" indent="-325755">
              <a:lnSpc>
                <a:spcPts val="3820"/>
              </a:lnSpc>
              <a:spcBef>
                <a:spcPts val="2000"/>
              </a:spcBef>
            </a:pPr>
            <a:r>
              <a:rPr dirty="0" sz="3200" spc="-5" b="1">
                <a:solidFill>
                  <a:srgbClr val="FFFFFF"/>
                </a:solidFill>
                <a:latin typeface="Corbel"/>
                <a:cs typeface="Corbel"/>
              </a:rPr>
              <a:t>What kind </a:t>
            </a:r>
            <a:r>
              <a:rPr dirty="0" sz="3200" b="1">
                <a:solidFill>
                  <a:srgbClr val="FFFFFF"/>
                </a:solidFill>
                <a:latin typeface="Corbel"/>
                <a:cs typeface="Corbel"/>
              </a:rPr>
              <a:t>of </a:t>
            </a:r>
            <a:r>
              <a:rPr dirty="0" sz="3200" spc="-5" b="1">
                <a:solidFill>
                  <a:srgbClr val="FFFFFF"/>
                </a:solidFill>
                <a:latin typeface="Corbel"/>
                <a:cs typeface="Corbel"/>
              </a:rPr>
              <a:t>networks </a:t>
            </a:r>
            <a:r>
              <a:rPr dirty="0" sz="3200" b="1">
                <a:solidFill>
                  <a:srgbClr val="FFFFFF"/>
                </a:solidFill>
                <a:latin typeface="Corbel"/>
                <a:cs typeface="Corbel"/>
              </a:rPr>
              <a:t>do  such </a:t>
            </a:r>
            <a:r>
              <a:rPr dirty="0" sz="3200" spc="-5" b="1">
                <a:solidFill>
                  <a:srgbClr val="FFFFFF"/>
                </a:solidFill>
                <a:latin typeface="Corbel"/>
                <a:cs typeface="Corbel"/>
              </a:rPr>
              <a:t>models</a:t>
            </a:r>
            <a:r>
              <a:rPr dirty="0" sz="3200" spc="-30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Corbel"/>
                <a:cs typeface="Corbel"/>
              </a:rPr>
              <a:t>produce?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76300" y="3429000"/>
            <a:ext cx="140335" cy="838200"/>
          </a:xfrm>
          <a:custGeom>
            <a:avLst/>
            <a:gdLst/>
            <a:ahLst/>
            <a:cxnLst/>
            <a:rect l="l" t="t" r="r" b="b"/>
            <a:pathLst>
              <a:path w="140334" h="838200">
                <a:moveTo>
                  <a:pt x="139704" y="838200"/>
                </a:moveTo>
                <a:lnTo>
                  <a:pt x="95547" y="831077"/>
                </a:lnTo>
                <a:lnTo>
                  <a:pt x="57196" y="811245"/>
                </a:lnTo>
                <a:lnTo>
                  <a:pt x="26954" y="781003"/>
                </a:lnTo>
                <a:lnTo>
                  <a:pt x="7122" y="742652"/>
                </a:lnTo>
                <a:lnTo>
                  <a:pt x="0" y="698495"/>
                </a:lnTo>
                <a:lnTo>
                  <a:pt x="0" y="139704"/>
                </a:lnTo>
                <a:lnTo>
                  <a:pt x="7122" y="95547"/>
                </a:lnTo>
                <a:lnTo>
                  <a:pt x="26954" y="57196"/>
                </a:lnTo>
                <a:lnTo>
                  <a:pt x="57196" y="26954"/>
                </a:lnTo>
                <a:lnTo>
                  <a:pt x="95547" y="7122"/>
                </a:lnTo>
                <a:lnTo>
                  <a:pt x="139704" y="0"/>
                </a:lnTo>
              </a:path>
            </a:pathLst>
          </a:custGeom>
          <a:ln w="285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327895" y="3429000"/>
            <a:ext cx="140335" cy="838200"/>
          </a:xfrm>
          <a:custGeom>
            <a:avLst/>
            <a:gdLst/>
            <a:ahLst/>
            <a:cxnLst/>
            <a:rect l="l" t="t" r="r" b="b"/>
            <a:pathLst>
              <a:path w="140334" h="838200">
                <a:moveTo>
                  <a:pt x="0" y="0"/>
                </a:moveTo>
                <a:lnTo>
                  <a:pt x="44157" y="7122"/>
                </a:lnTo>
                <a:lnTo>
                  <a:pt x="82507" y="26954"/>
                </a:lnTo>
                <a:lnTo>
                  <a:pt x="112750" y="57196"/>
                </a:lnTo>
                <a:lnTo>
                  <a:pt x="132582" y="95547"/>
                </a:lnTo>
                <a:lnTo>
                  <a:pt x="139705" y="139704"/>
                </a:lnTo>
                <a:lnTo>
                  <a:pt x="139705" y="698495"/>
                </a:lnTo>
                <a:lnTo>
                  <a:pt x="132582" y="742652"/>
                </a:lnTo>
                <a:lnTo>
                  <a:pt x="112750" y="781003"/>
                </a:lnTo>
                <a:lnTo>
                  <a:pt x="82507" y="811245"/>
                </a:lnTo>
                <a:lnTo>
                  <a:pt x="44157" y="831077"/>
                </a:lnTo>
                <a:lnTo>
                  <a:pt x="0" y="838200"/>
                </a:lnTo>
              </a:path>
            </a:pathLst>
          </a:custGeom>
          <a:ln w="28575">
            <a:solidFill>
              <a:srgbClr val="7F7F7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24</a:t>
            </a:fld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5216" y="347472"/>
            <a:ext cx="6230112" cy="6339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095" y="1348740"/>
            <a:ext cx="804481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i="1">
                <a:solidFill>
                  <a:srgbClr val="8000FF"/>
                </a:solidFill>
                <a:latin typeface="Times New Roman"/>
                <a:cs typeface="Times New Roman"/>
              </a:rPr>
              <a:t>n </a:t>
            </a:r>
            <a:r>
              <a:rPr dirty="0" spc="-5">
                <a:solidFill>
                  <a:srgbClr val="8000FF"/>
                </a:solidFill>
              </a:rPr>
              <a:t>and </a:t>
            </a:r>
            <a:r>
              <a:rPr dirty="0" i="1">
                <a:solidFill>
                  <a:srgbClr val="8000FF"/>
                </a:solidFill>
                <a:latin typeface="Times New Roman"/>
                <a:cs typeface="Times New Roman"/>
              </a:rPr>
              <a:t>p </a:t>
            </a:r>
            <a:r>
              <a:rPr dirty="0" spc="-5">
                <a:solidFill>
                  <a:srgbClr val="8000FF"/>
                </a:solidFill>
              </a:rPr>
              <a:t>do not uniquely </a:t>
            </a:r>
            <a:r>
              <a:rPr dirty="0" spc="-10">
                <a:solidFill>
                  <a:srgbClr val="8000FF"/>
                </a:solidFill>
              </a:rPr>
              <a:t>determine </a:t>
            </a:r>
            <a:r>
              <a:rPr dirty="0" spc="-5">
                <a:solidFill>
                  <a:srgbClr val="8000FF"/>
                </a:solidFill>
              </a:rPr>
              <a:t>the</a:t>
            </a:r>
            <a:r>
              <a:rPr dirty="0" spc="-140">
                <a:solidFill>
                  <a:srgbClr val="8000FF"/>
                </a:solidFill>
              </a:rPr>
              <a:t> </a:t>
            </a:r>
            <a:r>
              <a:rPr dirty="0" spc="-40">
                <a:solidFill>
                  <a:srgbClr val="8000FF"/>
                </a:solidFill>
              </a:rPr>
              <a:t>graph!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8095" y="1920747"/>
            <a:ext cx="7912734" cy="142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8355" indent="-457200">
              <a:lnSpc>
                <a:spcPts val="3329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5">
                <a:latin typeface="Calibri"/>
                <a:cs typeface="Calibri"/>
              </a:rPr>
              <a:t>is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0">
                <a:latin typeface="Calibri"/>
                <a:cs typeface="Calibri"/>
              </a:rPr>
              <a:t>result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random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process</a:t>
            </a:r>
            <a:endParaRPr sz="2800">
              <a:latin typeface="Calibri"/>
              <a:cs typeface="Calibri"/>
            </a:endParaRPr>
          </a:p>
          <a:p>
            <a:pPr marL="332740" marR="5080" indent="-320040">
              <a:lnSpc>
                <a:spcPts val="3890"/>
              </a:lnSpc>
              <a:spcBef>
                <a:spcPts val="55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z="3200" spc="-60">
                <a:latin typeface="Calibri"/>
                <a:cs typeface="Calibri"/>
              </a:rPr>
              <a:t>We </a:t>
            </a:r>
            <a:r>
              <a:rPr dirty="0" sz="3200" spc="-10">
                <a:latin typeface="Calibri"/>
                <a:cs typeface="Calibri"/>
              </a:rPr>
              <a:t>can </a:t>
            </a:r>
            <a:r>
              <a:rPr dirty="0" sz="3200" spc="-20">
                <a:latin typeface="Calibri"/>
                <a:cs typeface="Calibri"/>
              </a:rPr>
              <a:t>have </a:t>
            </a:r>
            <a:r>
              <a:rPr dirty="0" sz="3200" spc="-15">
                <a:latin typeface="Calibri"/>
                <a:cs typeface="Calibri"/>
              </a:rPr>
              <a:t>many </a:t>
            </a:r>
            <a:r>
              <a:rPr dirty="0" sz="3200" spc="-25">
                <a:latin typeface="Calibri"/>
                <a:cs typeface="Calibri"/>
              </a:rPr>
              <a:t>different </a:t>
            </a:r>
            <a:r>
              <a:rPr dirty="0" sz="3200" spc="-15">
                <a:latin typeface="Calibri"/>
                <a:cs typeface="Calibri"/>
              </a:rPr>
              <a:t>realizations </a:t>
            </a:r>
            <a:r>
              <a:rPr dirty="0" sz="3200" spc="-70">
                <a:latin typeface="Calibri"/>
                <a:cs typeface="Calibri"/>
              </a:rPr>
              <a:t>given 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5">
                <a:latin typeface="Calibri"/>
                <a:cs typeface="Calibri"/>
              </a:rPr>
              <a:t>same </a:t>
            </a:r>
            <a:r>
              <a:rPr dirty="0" sz="3200" b="1" i="1">
                <a:solidFill>
                  <a:srgbClr val="8000FF"/>
                </a:solidFill>
                <a:latin typeface="Times New Roman"/>
                <a:cs typeface="Times New Roman"/>
              </a:rPr>
              <a:t>n </a:t>
            </a:r>
            <a:r>
              <a:rPr dirty="0" sz="3200">
                <a:latin typeface="Calibri"/>
                <a:cs typeface="Calibri"/>
              </a:rPr>
              <a:t>and</a:t>
            </a:r>
            <a:r>
              <a:rPr dirty="0" sz="3200" spc="-150">
                <a:latin typeface="Calibri"/>
                <a:cs typeface="Calibri"/>
              </a:rPr>
              <a:t> </a:t>
            </a:r>
            <a:r>
              <a:rPr dirty="0" sz="3200" b="1" i="1">
                <a:solidFill>
                  <a:srgbClr val="8000FF"/>
                </a:solidFill>
                <a:latin typeface="Times New Roman"/>
                <a:cs typeface="Times New Roman"/>
              </a:rPr>
              <a:t>p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96893" y="5584732"/>
            <a:ext cx="449580" cy="135255"/>
          </a:xfrm>
          <a:custGeom>
            <a:avLst/>
            <a:gdLst/>
            <a:ahLst/>
            <a:cxnLst/>
            <a:rect l="l" t="t" r="r" b="b"/>
            <a:pathLst>
              <a:path w="449580" h="135254">
                <a:moveTo>
                  <a:pt x="0" y="0"/>
                </a:moveTo>
                <a:lnTo>
                  <a:pt x="449371" y="13496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89000" y="4513262"/>
            <a:ext cx="0" cy="455930"/>
          </a:xfrm>
          <a:custGeom>
            <a:avLst/>
            <a:gdLst/>
            <a:ahLst/>
            <a:cxnLst/>
            <a:rect l="l" t="t" r="r" b="b"/>
            <a:pathLst>
              <a:path w="0" h="455929">
                <a:moveTo>
                  <a:pt x="0" y="0"/>
                </a:moveTo>
                <a:lnTo>
                  <a:pt x="1" y="4555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22387" y="3940290"/>
            <a:ext cx="1003300" cy="2540"/>
          </a:xfrm>
          <a:custGeom>
            <a:avLst/>
            <a:gdLst/>
            <a:ahLst/>
            <a:cxnLst/>
            <a:rect l="l" t="t" r="r" b="b"/>
            <a:pathLst>
              <a:path w="1003300" h="2539">
                <a:moveTo>
                  <a:pt x="0" y="2266"/>
                </a:moveTo>
                <a:lnTo>
                  <a:pt x="100327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296893" y="4489418"/>
            <a:ext cx="1409700" cy="988060"/>
          </a:xfrm>
          <a:custGeom>
            <a:avLst/>
            <a:gdLst/>
            <a:ahLst/>
            <a:cxnLst/>
            <a:rect l="l" t="t" r="r" b="b"/>
            <a:pathLst>
              <a:path w="1409700" h="988060">
                <a:moveTo>
                  <a:pt x="0" y="987549"/>
                </a:moveTo>
                <a:lnTo>
                  <a:pt x="140957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300340" y="3995895"/>
            <a:ext cx="1045844" cy="1481455"/>
          </a:xfrm>
          <a:custGeom>
            <a:avLst/>
            <a:gdLst/>
            <a:ahLst/>
            <a:cxnLst/>
            <a:rect l="l" t="t" r="r" b="b"/>
            <a:pathLst>
              <a:path w="1045844" h="1481454">
                <a:moveTo>
                  <a:pt x="1045845" y="1481072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873201" y="3806836"/>
            <a:ext cx="832485" cy="1181735"/>
          </a:xfrm>
          <a:custGeom>
            <a:avLst/>
            <a:gdLst/>
            <a:ahLst/>
            <a:cxnLst/>
            <a:rect l="l" t="t" r="r" b="b"/>
            <a:pathLst>
              <a:path w="832485" h="1181735">
                <a:moveTo>
                  <a:pt x="831991" y="1181181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65200" y="5044281"/>
            <a:ext cx="1718310" cy="0"/>
          </a:xfrm>
          <a:custGeom>
            <a:avLst/>
            <a:gdLst/>
            <a:ahLst/>
            <a:cxnLst/>
            <a:rect l="l" t="t" r="r" b="b"/>
            <a:pathLst>
              <a:path w="1718310" h="0">
                <a:moveTo>
                  <a:pt x="0" y="0"/>
                </a:moveTo>
                <a:lnTo>
                  <a:pt x="1717887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813259" y="3994077"/>
            <a:ext cx="249554" cy="387985"/>
          </a:xfrm>
          <a:custGeom>
            <a:avLst/>
            <a:gdLst/>
            <a:ahLst/>
            <a:cxnLst/>
            <a:rect l="l" t="t" r="r" b="b"/>
            <a:pathLst>
              <a:path w="249554" h="387985">
                <a:moveTo>
                  <a:pt x="249371" y="387516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115755" y="4511676"/>
            <a:ext cx="1270" cy="454025"/>
          </a:xfrm>
          <a:custGeom>
            <a:avLst/>
            <a:gdLst/>
            <a:ahLst/>
            <a:cxnLst/>
            <a:rect l="l" t="t" r="r" b="b"/>
            <a:pathLst>
              <a:path w="1270" h="454025">
                <a:moveTo>
                  <a:pt x="756" y="0"/>
                </a:moveTo>
                <a:lnTo>
                  <a:pt x="0" y="45399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298963" y="3806757"/>
            <a:ext cx="824230" cy="1184275"/>
          </a:xfrm>
          <a:custGeom>
            <a:avLst/>
            <a:gdLst/>
            <a:ahLst/>
            <a:cxnLst/>
            <a:rect l="l" t="t" r="r" b="b"/>
            <a:pathLst>
              <a:path w="824229" h="1184275">
                <a:moveTo>
                  <a:pt x="0" y="1184203"/>
                </a:moveTo>
                <a:lnTo>
                  <a:pt x="82393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298861" y="3995875"/>
            <a:ext cx="251460" cy="387350"/>
          </a:xfrm>
          <a:custGeom>
            <a:avLst/>
            <a:gdLst/>
            <a:ahLst/>
            <a:cxnLst/>
            <a:rect l="l" t="t" r="r" b="b"/>
            <a:pathLst>
              <a:path w="251460" h="387350">
                <a:moveTo>
                  <a:pt x="250882" y="0"/>
                </a:moveTo>
                <a:lnTo>
                  <a:pt x="0" y="38726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810263" y="4489418"/>
            <a:ext cx="252729" cy="988060"/>
          </a:xfrm>
          <a:custGeom>
            <a:avLst/>
            <a:gdLst/>
            <a:ahLst/>
            <a:cxnLst/>
            <a:rect l="l" t="t" r="r" b="b"/>
            <a:pathLst>
              <a:path w="252729" h="988060">
                <a:moveTo>
                  <a:pt x="0" y="987549"/>
                </a:moveTo>
                <a:lnTo>
                  <a:pt x="25239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654293" y="3829050"/>
            <a:ext cx="522605" cy="1648460"/>
          </a:xfrm>
          <a:custGeom>
            <a:avLst/>
            <a:gdLst/>
            <a:ahLst/>
            <a:cxnLst/>
            <a:rect l="l" t="t" r="r" b="b"/>
            <a:pathLst>
              <a:path w="522604" h="1648460">
                <a:moveTo>
                  <a:pt x="522419" y="0"/>
                </a:moveTo>
                <a:lnTo>
                  <a:pt x="0" y="164801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232181" y="5530917"/>
            <a:ext cx="449580" cy="135255"/>
          </a:xfrm>
          <a:custGeom>
            <a:avLst/>
            <a:gdLst/>
            <a:ahLst/>
            <a:cxnLst/>
            <a:rect l="l" t="t" r="r" b="b"/>
            <a:pathLst>
              <a:path w="449579" h="135254">
                <a:moveTo>
                  <a:pt x="0" y="134963"/>
                </a:moveTo>
                <a:lnTo>
                  <a:pt x="44937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726148" y="3976593"/>
            <a:ext cx="251460" cy="387350"/>
          </a:xfrm>
          <a:custGeom>
            <a:avLst/>
            <a:gdLst/>
            <a:ahLst/>
            <a:cxnLst/>
            <a:rect l="l" t="t" r="r" b="b"/>
            <a:pathLst>
              <a:path w="251460" h="387350">
                <a:moveTo>
                  <a:pt x="250882" y="0"/>
                </a:moveTo>
                <a:lnTo>
                  <a:pt x="0" y="38726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672931" y="4492625"/>
            <a:ext cx="0" cy="455930"/>
          </a:xfrm>
          <a:custGeom>
            <a:avLst/>
            <a:gdLst/>
            <a:ahLst/>
            <a:cxnLst/>
            <a:rect l="l" t="t" r="r" b="b"/>
            <a:pathLst>
              <a:path w="0" h="455929">
                <a:moveTo>
                  <a:pt x="0" y="0"/>
                </a:moveTo>
                <a:lnTo>
                  <a:pt x="1" y="45550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748337" y="5022171"/>
            <a:ext cx="1719580" cy="2540"/>
          </a:xfrm>
          <a:custGeom>
            <a:avLst/>
            <a:gdLst/>
            <a:ahLst/>
            <a:cxnLst/>
            <a:rect l="l" t="t" r="r" b="b"/>
            <a:pathLst>
              <a:path w="1719579" h="2539">
                <a:moveTo>
                  <a:pt x="0" y="2266"/>
                </a:moveTo>
                <a:lnTo>
                  <a:pt x="171914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081618" y="3920210"/>
            <a:ext cx="1029335" cy="1537970"/>
          </a:xfrm>
          <a:custGeom>
            <a:avLst/>
            <a:gdLst/>
            <a:ahLst/>
            <a:cxnLst/>
            <a:rect l="l" t="t" r="r" b="b"/>
            <a:pathLst>
              <a:path w="1029334" h="1537970">
                <a:moveTo>
                  <a:pt x="0" y="1537475"/>
                </a:moveTo>
                <a:lnTo>
                  <a:pt x="102871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748337" y="4470231"/>
            <a:ext cx="1741805" cy="554355"/>
          </a:xfrm>
          <a:custGeom>
            <a:avLst/>
            <a:gdLst/>
            <a:ahLst/>
            <a:cxnLst/>
            <a:rect l="l" t="t" r="r" b="b"/>
            <a:pathLst>
              <a:path w="1741804" h="554354">
                <a:moveTo>
                  <a:pt x="0" y="554206"/>
                </a:moveTo>
                <a:lnTo>
                  <a:pt x="1741564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084678" y="3976498"/>
            <a:ext cx="521334" cy="1648460"/>
          </a:xfrm>
          <a:custGeom>
            <a:avLst/>
            <a:gdLst/>
            <a:ahLst/>
            <a:cxnLst/>
            <a:rect l="l" t="t" r="r" b="b"/>
            <a:pathLst>
              <a:path w="521334" h="1648460">
                <a:moveTo>
                  <a:pt x="520908" y="1648014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656434" y="3787806"/>
            <a:ext cx="833755" cy="1181100"/>
          </a:xfrm>
          <a:custGeom>
            <a:avLst/>
            <a:gdLst/>
            <a:ahLst/>
            <a:cxnLst/>
            <a:rect l="l" t="t" r="r" b="b"/>
            <a:pathLst>
              <a:path w="833754" h="1181100">
                <a:moveTo>
                  <a:pt x="833251" y="118092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237549" y="5075457"/>
            <a:ext cx="252729" cy="382270"/>
          </a:xfrm>
          <a:custGeom>
            <a:avLst/>
            <a:gdLst/>
            <a:ahLst/>
            <a:cxnLst/>
            <a:rect l="l" t="t" r="r" b="b"/>
            <a:pathLst>
              <a:path w="252729" h="382270">
                <a:moveTo>
                  <a:pt x="0" y="382228"/>
                </a:moveTo>
                <a:lnTo>
                  <a:pt x="25214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965200" y="4435551"/>
            <a:ext cx="1719580" cy="1905"/>
          </a:xfrm>
          <a:custGeom>
            <a:avLst/>
            <a:gdLst/>
            <a:ahLst/>
            <a:cxnLst/>
            <a:rect l="l" t="t" r="r" b="b"/>
            <a:pathLst>
              <a:path w="1719580" h="1904">
                <a:moveTo>
                  <a:pt x="0" y="1511"/>
                </a:moveTo>
                <a:lnTo>
                  <a:pt x="1719146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746250" y="5643562"/>
            <a:ext cx="151130" cy="152400"/>
          </a:xfrm>
          <a:custGeom>
            <a:avLst/>
            <a:gdLst/>
            <a:ahLst/>
            <a:cxnLst/>
            <a:rect l="l" t="t" r="r" b="b"/>
            <a:pathLst>
              <a:path w="151130" h="152400">
                <a:moveTo>
                  <a:pt x="75406" y="0"/>
                </a:moveTo>
                <a:lnTo>
                  <a:pt x="46054" y="5988"/>
                </a:lnTo>
                <a:lnTo>
                  <a:pt x="22085" y="22318"/>
                </a:lnTo>
                <a:lnTo>
                  <a:pt x="5925" y="46539"/>
                </a:lnTo>
                <a:lnTo>
                  <a:pt x="0" y="76200"/>
                </a:lnTo>
                <a:lnTo>
                  <a:pt x="5925" y="105860"/>
                </a:lnTo>
                <a:lnTo>
                  <a:pt x="22085" y="130081"/>
                </a:lnTo>
                <a:lnTo>
                  <a:pt x="46054" y="146411"/>
                </a:lnTo>
                <a:lnTo>
                  <a:pt x="75406" y="152400"/>
                </a:lnTo>
                <a:lnTo>
                  <a:pt x="104757" y="146411"/>
                </a:lnTo>
                <a:lnTo>
                  <a:pt x="128726" y="130081"/>
                </a:lnTo>
                <a:lnTo>
                  <a:pt x="144886" y="105860"/>
                </a:lnTo>
                <a:lnTo>
                  <a:pt x="150812" y="76200"/>
                </a:lnTo>
                <a:lnTo>
                  <a:pt x="144886" y="46539"/>
                </a:lnTo>
                <a:lnTo>
                  <a:pt x="128726" y="22318"/>
                </a:lnTo>
                <a:lnTo>
                  <a:pt x="104757" y="5988"/>
                </a:lnTo>
                <a:lnTo>
                  <a:pt x="7540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166812" y="5454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39" y="5988"/>
                </a:lnTo>
                <a:lnTo>
                  <a:pt x="22318" y="22318"/>
                </a:lnTo>
                <a:lnTo>
                  <a:pt x="5988" y="46539"/>
                </a:lnTo>
                <a:lnTo>
                  <a:pt x="0" y="76200"/>
                </a:lnTo>
                <a:lnTo>
                  <a:pt x="5988" y="105860"/>
                </a:lnTo>
                <a:lnTo>
                  <a:pt x="22318" y="130081"/>
                </a:lnTo>
                <a:lnTo>
                  <a:pt x="46539" y="146411"/>
                </a:lnTo>
                <a:lnTo>
                  <a:pt x="76200" y="152400"/>
                </a:lnTo>
                <a:lnTo>
                  <a:pt x="105860" y="146411"/>
                </a:lnTo>
                <a:lnTo>
                  <a:pt x="130081" y="130081"/>
                </a:lnTo>
                <a:lnTo>
                  <a:pt x="146412" y="105860"/>
                </a:lnTo>
                <a:lnTo>
                  <a:pt x="152400" y="76200"/>
                </a:lnTo>
                <a:lnTo>
                  <a:pt x="146412" y="46539"/>
                </a:lnTo>
                <a:lnTo>
                  <a:pt x="130081" y="22318"/>
                </a:lnTo>
                <a:lnTo>
                  <a:pt x="105860" y="5988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812800" y="4968875"/>
            <a:ext cx="152400" cy="151130"/>
          </a:xfrm>
          <a:custGeom>
            <a:avLst/>
            <a:gdLst/>
            <a:ahLst/>
            <a:cxnLst/>
            <a:rect l="l" t="t" r="r" b="b"/>
            <a:pathLst>
              <a:path w="152400" h="151129">
                <a:moveTo>
                  <a:pt x="76200" y="0"/>
                </a:moveTo>
                <a:lnTo>
                  <a:pt x="46539" y="5925"/>
                </a:lnTo>
                <a:lnTo>
                  <a:pt x="22318" y="22085"/>
                </a:lnTo>
                <a:lnTo>
                  <a:pt x="5988" y="46054"/>
                </a:lnTo>
                <a:lnTo>
                  <a:pt x="0" y="75406"/>
                </a:lnTo>
                <a:lnTo>
                  <a:pt x="5988" y="104757"/>
                </a:lnTo>
                <a:lnTo>
                  <a:pt x="22318" y="128726"/>
                </a:lnTo>
                <a:lnTo>
                  <a:pt x="46539" y="144886"/>
                </a:lnTo>
                <a:lnTo>
                  <a:pt x="76200" y="150812"/>
                </a:lnTo>
                <a:lnTo>
                  <a:pt x="105860" y="144886"/>
                </a:lnTo>
                <a:lnTo>
                  <a:pt x="130081" y="128726"/>
                </a:lnTo>
                <a:lnTo>
                  <a:pt x="146411" y="104757"/>
                </a:lnTo>
                <a:lnTo>
                  <a:pt x="152400" y="75406"/>
                </a:lnTo>
                <a:lnTo>
                  <a:pt x="146411" y="46054"/>
                </a:lnTo>
                <a:lnTo>
                  <a:pt x="130081" y="22085"/>
                </a:lnTo>
                <a:lnTo>
                  <a:pt x="105860" y="5925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812800" y="436086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39" y="5988"/>
                </a:lnTo>
                <a:lnTo>
                  <a:pt x="22318" y="22318"/>
                </a:lnTo>
                <a:lnTo>
                  <a:pt x="5988" y="46539"/>
                </a:lnTo>
                <a:lnTo>
                  <a:pt x="0" y="76200"/>
                </a:lnTo>
                <a:lnTo>
                  <a:pt x="5988" y="105860"/>
                </a:lnTo>
                <a:lnTo>
                  <a:pt x="22318" y="130081"/>
                </a:lnTo>
                <a:lnTo>
                  <a:pt x="46539" y="146411"/>
                </a:lnTo>
                <a:lnTo>
                  <a:pt x="76200" y="152400"/>
                </a:lnTo>
                <a:lnTo>
                  <a:pt x="105860" y="146411"/>
                </a:lnTo>
                <a:lnTo>
                  <a:pt x="130081" y="130081"/>
                </a:lnTo>
                <a:lnTo>
                  <a:pt x="146411" y="105860"/>
                </a:lnTo>
                <a:lnTo>
                  <a:pt x="152400" y="76200"/>
                </a:lnTo>
                <a:lnTo>
                  <a:pt x="146411" y="46539"/>
                </a:lnTo>
                <a:lnTo>
                  <a:pt x="130081" y="22318"/>
                </a:lnTo>
                <a:lnTo>
                  <a:pt x="105860" y="5988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743075" y="3676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39" y="5988"/>
                </a:lnTo>
                <a:lnTo>
                  <a:pt x="22318" y="22318"/>
                </a:lnTo>
                <a:lnTo>
                  <a:pt x="5988" y="46539"/>
                </a:lnTo>
                <a:lnTo>
                  <a:pt x="0" y="76200"/>
                </a:lnTo>
                <a:lnTo>
                  <a:pt x="5988" y="105860"/>
                </a:lnTo>
                <a:lnTo>
                  <a:pt x="22318" y="130081"/>
                </a:lnTo>
                <a:lnTo>
                  <a:pt x="46539" y="146411"/>
                </a:lnTo>
                <a:lnTo>
                  <a:pt x="76200" y="152400"/>
                </a:lnTo>
                <a:lnTo>
                  <a:pt x="105860" y="146411"/>
                </a:lnTo>
                <a:lnTo>
                  <a:pt x="130081" y="130081"/>
                </a:lnTo>
                <a:lnTo>
                  <a:pt x="146411" y="105860"/>
                </a:lnTo>
                <a:lnTo>
                  <a:pt x="152400" y="76200"/>
                </a:lnTo>
                <a:lnTo>
                  <a:pt x="146411" y="46539"/>
                </a:lnTo>
                <a:lnTo>
                  <a:pt x="130081" y="22318"/>
                </a:lnTo>
                <a:lnTo>
                  <a:pt x="105860" y="5988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682875" y="49657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39" y="5988"/>
                </a:lnTo>
                <a:lnTo>
                  <a:pt x="22318" y="22318"/>
                </a:lnTo>
                <a:lnTo>
                  <a:pt x="5988" y="46539"/>
                </a:lnTo>
                <a:lnTo>
                  <a:pt x="0" y="76200"/>
                </a:lnTo>
                <a:lnTo>
                  <a:pt x="5988" y="105860"/>
                </a:lnTo>
                <a:lnTo>
                  <a:pt x="22318" y="130081"/>
                </a:lnTo>
                <a:lnTo>
                  <a:pt x="46539" y="146411"/>
                </a:lnTo>
                <a:lnTo>
                  <a:pt x="76200" y="152400"/>
                </a:lnTo>
                <a:lnTo>
                  <a:pt x="105860" y="146411"/>
                </a:lnTo>
                <a:lnTo>
                  <a:pt x="130081" y="130081"/>
                </a:lnTo>
                <a:lnTo>
                  <a:pt x="146411" y="105860"/>
                </a:lnTo>
                <a:lnTo>
                  <a:pt x="152400" y="76200"/>
                </a:lnTo>
                <a:lnTo>
                  <a:pt x="146411" y="46539"/>
                </a:lnTo>
                <a:lnTo>
                  <a:pt x="130081" y="22318"/>
                </a:lnTo>
                <a:lnTo>
                  <a:pt x="105860" y="5988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171575" y="3867150"/>
            <a:ext cx="151130" cy="151130"/>
          </a:xfrm>
          <a:custGeom>
            <a:avLst/>
            <a:gdLst/>
            <a:ahLst/>
            <a:cxnLst/>
            <a:rect l="l" t="t" r="r" b="b"/>
            <a:pathLst>
              <a:path w="151130" h="151129">
                <a:moveTo>
                  <a:pt x="75405" y="0"/>
                </a:moveTo>
                <a:lnTo>
                  <a:pt x="46054" y="5925"/>
                </a:lnTo>
                <a:lnTo>
                  <a:pt x="22085" y="22085"/>
                </a:lnTo>
                <a:lnTo>
                  <a:pt x="5925" y="46054"/>
                </a:lnTo>
                <a:lnTo>
                  <a:pt x="0" y="75406"/>
                </a:lnTo>
                <a:lnTo>
                  <a:pt x="5925" y="104757"/>
                </a:lnTo>
                <a:lnTo>
                  <a:pt x="22085" y="128726"/>
                </a:lnTo>
                <a:lnTo>
                  <a:pt x="46054" y="144886"/>
                </a:lnTo>
                <a:lnTo>
                  <a:pt x="75405" y="150812"/>
                </a:lnTo>
                <a:lnTo>
                  <a:pt x="104757" y="144886"/>
                </a:lnTo>
                <a:lnTo>
                  <a:pt x="128726" y="128726"/>
                </a:lnTo>
                <a:lnTo>
                  <a:pt x="144886" y="104757"/>
                </a:lnTo>
                <a:lnTo>
                  <a:pt x="150812" y="75406"/>
                </a:lnTo>
                <a:lnTo>
                  <a:pt x="144886" y="46054"/>
                </a:lnTo>
                <a:lnTo>
                  <a:pt x="128726" y="22085"/>
                </a:lnTo>
                <a:lnTo>
                  <a:pt x="104757" y="5925"/>
                </a:lnTo>
                <a:lnTo>
                  <a:pt x="7540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324100" y="5454650"/>
            <a:ext cx="151130" cy="152400"/>
          </a:xfrm>
          <a:custGeom>
            <a:avLst/>
            <a:gdLst/>
            <a:ahLst/>
            <a:cxnLst/>
            <a:rect l="l" t="t" r="r" b="b"/>
            <a:pathLst>
              <a:path w="151130" h="152400">
                <a:moveTo>
                  <a:pt x="75406" y="0"/>
                </a:moveTo>
                <a:lnTo>
                  <a:pt x="46054" y="5988"/>
                </a:lnTo>
                <a:lnTo>
                  <a:pt x="22085" y="22318"/>
                </a:lnTo>
                <a:lnTo>
                  <a:pt x="5925" y="46539"/>
                </a:lnTo>
                <a:lnTo>
                  <a:pt x="0" y="76200"/>
                </a:lnTo>
                <a:lnTo>
                  <a:pt x="5925" y="105860"/>
                </a:lnTo>
                <a:lnTo>
                  <a:pt x="22085" y="130081"/>
                </a:lnTo>
                <a:lnTo>
                  <a:pt x="46054" y="146411"/>
                </a:lnTo>
                <a:lnTo>
                  <a:pt x="75406" y="152400"/>
                </a:lnTo>
                <a:lnTo>
                  <a:pt x="104757" y="146411"/>
                </a:lnTo>
                <a:lnTo>
                  <a:pt x="128726" y="130081"/>
                </a:lnTo>
                <a:lnTo>
                  <a:pt x="144886" y="105860"/>
                </a:lnTo>
                <a:lnTo>
                  <a:pt x="150812" y="76200"/>
                </a:lnTo>
                <a:lnTo>
                  <a:pt x="144886" y="46539"/>
                </a:lnTo>
                <a:lnTo>
                  <a:pt x="128726" y="22318"/>
                </a:lnTo>
                <a:lnTo>
                  <a:pt x="104757" y="5988"/>
                </a:lnTo>
                <a:lnTo>
                  <a:pt x="7540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325687" y="3863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39" y="5988"/>
                </a:lnTo>
                <a:lnTo>
                  <a:pt x="22318" y="22318"/>
                </a:lnTo>
                <a:lnTo>
                  <a:pt x="5988" y="46539"/>
                </a:lnTo>
                <a:lnTo>
                  <a:pt x="0" y="76200"/>
                </a:lnTo>
                <a:lnTo>
                  <a:pt x="5988" y="105860"/>
                </a:lnTo>
                <a:lnTo>
                  <a:pt x="22318" y="130081"/>
                </a:lnTo>
                <a:lnTo>
                  <a:pt x="46539" y="146411"/>
                </a:lnTo>
                <a:lnTo>
                  <a:pt x="76200" y="152400"/>
                </a:lnTo>
                <a:lnTo>
                  <a:pt x="105860" y="146411"/>
                </a:lnTo>
                <a:lnTo>
                  <a:pt x="130081" y="130081"/>
                </a:lnTo>
                <a:lnTo>
                  <a:pt x="146411" y="105860"/>
                </a:lnTo>
                <a:lnTo>
                  <a:pt x="152400" y="76200"/>
                </a:lnTo>
                <a:lnTo>
                  <a:pt x="146411" y="46539"/>
                </a:lnTo>
                <a:lnTo>
                  <a:pt x="130081" y="22318"/>
                </a:lnTo>
                <a:lnTo>
                  <a:pt x="105860" y="5988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684462" y="4359275"/>
            <a:ext cx="151130" cy="152400"/>
          </a:xfrm>
          <a:custGeom>
            <a:avLst/>
            <a:gdLst/>
            <a:ahLst/>
            <a:cxnLst/>
            <a:rect l="l" t="t" r="r" b="b"/>
            <a:pathLst>
              <a:path w="151130" h="152400">
                <a:moveTo>
                  <a:pt x="75406" y="0"/>
                </a:moveTo>
                <a:lnTo>
                  <a:pt x="46054" y="5988"/>
                </a:lnTo>
                <a:lnTo>
                  <a:pt x="22085" y="22318"/>
                </a:lnTo>
                <a:lnTo>
                  <a:pt x="5925" y="46539"/>
                </a:lnTo>
                <a:lnTo>
                  <a:pt x="0" y="76200"/>
                </a:lnTo>
                <a:lnTo>
                  <a:pt x="5925" y="105860"/>
                </a:lnTo>
                <a:lnTo>
                  <a:pt x="22085" y="130081"/>
                </a:lnTo>
                <a:lnTo>
                  <a:pt x="46054" y="146411"/>
                </a:lnTo>
                <a:lnTo>
                  <a:pt x="75406" y="152400"/>
                </a:lnTo>
                <a:lnTo>
                  <a:pt x="104757" y="146411"/>
                </a:lnTo>
                <a:lnTo>
                  <a:pt x="128726" y="130081"/>
                </a:lnTo>
                <a:lnTo>
                  <a:pt x="144886" y="105860"/>
                </a:lnTo>
                <a:lnTo>
                  <a:pt x="150812" y="76200"/>
                </a:lnTo>
                <a:lnTo>
                  <a:pt x="144886" y="46539"/>
                </a:lnTo>
                <a:lnTo>
                  <a:pt x="128726" y="22318"/>
                </a:lnTo>
                <a:lnTo>
                  <a:pt x="104757" y="5988"/>
                </a:lnTo>
                <a:lnTo>
                  <a:pt x="7540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102100" y="564356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39" y="5988"/>
                </a:lnTo>
                <a:lnTo>
                  <a:pt x="22318" y="22318"/>
                </a:lnTo>
                <a:lnTo>
                  <a:pt x="5988" y="46539"/>
                </a:lnTo>
                <a:lnTo>
                  <a:pt x="0" y="76200"/>
                </a:lnTo>
                <a:lnTo>
                  <a:pt x="5988" y="105860"/>
                </a:lnTo>
                <a:lnTo>
                  <a:pt x="22318" y="130081"/>
                </a:lnTo>
                <a:lnTo>
                  <a:pt x="46539" y="146411"/>
                </a:lnTo>
                <a:lnTo>
                  <a:pt x="76200" y="152400"/>
                </a:lnTo>
                <a:lnTo>
                  <a:pt x="105860" y="146411"/>
                </a:lnTo>
                <a:lnTo>
                  <a:pt x="130081" y="130081"/>
                </a:lnTo>
                <a:lnTo>
                  <a:pt x="146411" y="105860"/>
                </a:lnTo>
                <a:lnTo>
                  <a:pt x="152400" y="76200"/>
                </a:lnTo>
                <a:lnTo>
                  <a:pt x="146411" y="46539"/>
                </a:lnTo>
                <a:lnTo>
                  <a:pt x="130081" y="22318"/>
                </a:lnTo>
                <a:lnTo>
                  <a:pt x="105860" y="5988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524250" y="5454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39" y="5988"/>
                </a:lnTo>
                <a:lnTo>
                  <a:pt x="22318" y="22318"/>
                </a:lnTo>
                <a:lnTo>
                  <a:pt x="5988" y="46539"/>
                </a:lnTo>
                <a:lnTo>
                  <a:pt x="0" y="76200"/>
                </a:lnTo>
                <a:lnTo>
                  <a:pt x="5988" y="105860"/>
                </a:lnTo>
                <a:lnTo>
                  <a:pt x="22318" y="130081"/>
                </a:lnTo>
                <a:lnTo>
                  <a:pt x="46539" y="146411"/>
                </a:lnTo>
                <a:lnTo>
                  <a:pt x="76200" y="152400"/>
                </a:lnTo>
                <a:lnTo>
                  <a:pt x="105860" y="146411"/>
                </a:lnTo>
                <a:lnTo>
                  <a:pt x="130081" y="130081"/>
                </a:lnTo>
                <a:lnTo>
                  <a:pt x="146411" y="105860"/>
                </a:lnTo>
                <a:lnTo>
                  <a:pt x="152400" y="76200"/>
                </a:lnTo>
                <a:lnTo>
                  <a:pt x="146411" y="46539"/>
                </a:lnTo>
                <a:lnTo>
                  <a:pt x="130081" y="22318"/>
                </a:lnTo>
                <a:lnTo>
                  <a:pt x="105860" y="5988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170237" y="4968875"/>
            <a:ext cx="151130" cy="151130"/>
          </a:xfrm>
          <a:custGeom>
            <a:avLst/>
            <a:gdLst/>
            <a:ahLst/>
            <a:cxnLst/>
            <a:rect l="l" t="t" r="r" b="b"/>
            <a:pathLst>
              <a:path w="151129" h="151129">
                <a:moveTo>
                  <a:pt x="75406" y="0"/>
                </a:moveTo>
                <a:lnTo>
                  <a:pt x="46054" y="5925"/>
                </a:lnTo>
                <a:lnTo>
                  <a:pt x="22085" y="22085"/>
                </a:lnTo>
                <a:lnTo>
                  <a:pt x="5925" y="46054"/>
                </a:lnTo>
                <a:lnTo>
                  <a:pt x="0" y="75406"/>
                </a:lnTo>
                <a:lnTo>
                  <a:pt x="5925" y="104757"/>
                </a:lnTo>
                <a:lnTo>
                  <a:pt x="22085" y="128726"/>
                </a:lnTo>
                <a:lnTo>
                  <a:pt x="46054" y="144886"/>
                </a:lnTo>
                <a:lnTo>
                  <a:pt x="75406" y="150812"/>
                </a:lnTo>
                <a:lnTo>
                  <a:pt x="104757" y="144886"/>
                </a:lnTo>
                <a:lnTo>
                  <a:pt x="128726" y="128726"/>
                </a:lnTo>
                <a:lnTo>
                  <a:pt x="144886" y="104757"/>
                </a:lnTo>
                <a:lnTo>
                  <a:pt x="150812" y="75406"/>
                </a:lnTo>
                <a:lnTo>
                  <a:pt x="144886" y="46054"/>
                </a:lnTo>
                <a:lnTo>
                  <a:pt x="128726" y="22085"/>
                </a:lnTo>
                <a:lnTo>
                  <a:pt x="104757" y="5925"/>
                </a:lnTo>
                <a:lnTo>
                  <a:pt x="7540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170237" y="4360862"/>
            <a:ext cx="151130" cy="152400"/>
          </a:xfrm>
          <a:custGeom>
            <a:avLst/>
            <a:gdLst/>
            <a:ahLst/>
            <a:cxnLst/>
            <a:rect l="l" t="t" r="r" b="b"/>
            <a:pathLst>
              <a:path w="151129" h="152400">
                <a:moveTo>
                  <a:pt x="75406" y="0"/>
                </a:moveTo>
                <a:lnTo>
                  <a:pt x="46054" y="5988"/>
                </a:lnTo>
                <a:lnTo>
                  <a:pt x="22085" y="22318"/>
                </a:lnTo>
                <a:lnTo>
                  <a:pt x="5925" y="46539"/>
                </a:lnTo>
                <a:lnTo>
                  <a:pt x="0" y="76200"/>
                </a:lnTo>
                <a:lnTo>
                  <a:pt x="5925" y="105860"/>
                </a:lnTo>
                <a:lnTo>
                  <a:pt x="22085" y="130081"/>
                </a:lnTo>
                <a:lnTo>
                  <a:pt x="46054" y="146411"/>
                </a:lnTo>
                <a:lnTo>
                  <a:pt x="75406" y="152400"/>
                </a:lnTo>
                <a:lnTo>
                  <a:pt x="104757" y="146411"/>
                </a:lnTo>
                <a:lnTo>
                  <a:pt x="128726" y="130081"/>
                </a:lnTo>
                <a:lnTo>
                  <a:pt x="144886" y="105860"/>
                </a:lnTo>
                <a:lnTo>
                  <a:pt x="150812" y="76200"/>
                </a:lnTo>
                <a:lnTo>
                  <a:pt x="144886" y="46539"/>
                </a:lnTo>
                <a:lnTo>
                  <a:pt x="128726" y="22318"/>
                </a:lnTo>
                <a:lnTo>
                  <a:pt x="104757" y="5988"/>
                </a:lnTo>
                <a:lnTo>
                  <a:pt x="7540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100512" y="367665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39" y="5988"/>
                </a:lnTo>
                <a:lnTo>
                  <a:pt x="22318" y="22318"/>
                </a:lnTo>
                <a:lnTo>
                  <a:pt x="5988" y="46539"/>
                </a:lnTo>
                <a:lnTo>
                  <a:pt x="0" y="76200"/>
                </a:lnTo>
                <a:lnTo>
                  <a:pt x="5988" y="105860"/>
                </a:lnTo>
                <a:lnTo>
                  <a:pt x="22318" y="130081"/>
                </a:lnTo>
                <a:lnTo>
                  <a:pt x="46539" y="146411"/>
                </a:lnTo>
                <a:lnTo>
                  <a:pt x="76200" y="152400"/>
                </a:lnTo>
                <a:lnTo>
                  <a:pt x="105860" y="146411"/>
                </a:lnTo>
                <a:lnTo>
                  <a:pt x="130081" y="130081"/>
                </a:lnTo>
                <a:lnTo>
                  <a:pt x="146411" y="105860"/>
                </a:lnTo>
                <a:lnTo>
                  <a:pt x="152400" y="76200"/>
                </a:lnTo>
                <a:lnTo>
                  <a:pt x="146411" y="46539"/>
                </a:lnTo>
                <a:lnTo>
                  <a:pt x="130081" y="22318"/>
                </a:lnTo>
                <a:lnTo>
                  <a:pt x="105860" y="5988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040311" y="4965700"/>
            <a:ext cx="151130" cy="152400"/>
          </a:xfrm>
          <a:custGeom>
            <a:avLst/>
            <a:gdLst/>
            <a:ahLst/>
            <a:cxnLst/>
            <a:rect l="l" t="t" r="r" b="b"/>
            <a:pathLst>
              <a:path w="151129" h="152400">
                <a:moveTo>
                  <a:pt x="75407" y="0"/>
                </a:moveTo>
                <a:lnTo>
                  <a:pt x="46055" y="5988"/>
                </a:lnTo>
                <a:lnTo>
                  <a:pt x="22086" y="22318"/>
                </a:lnTo>
                <a:lnTo>
                  <a:pt x="5925" y="46539"/>
                </a:lnTo>
                <a:lnTo>
                  <a:pt x="0" y="76200"/>
                </a:lnTo>
                <a:lnTo>
                  <a:pt x="5925" y="105860"/>
                </a:lnTo>
                <a:lnTo>
                  <a:pt x="22086" y="130081"/>
                </a:lnTo>
                <a:lnTo>
                  <a:pt x="46055" y="146411"/>
                </a:lnTo>
                <a:lnTo>
                  <a:pt x="75407" y="152400"/>
                </a:lnTo>
                <a:lnTo>
                  <a:pt x="104759" y="146411"/>
                </a:lnTo>
                <a:lnTo>
                  <a:pt x="128727" y="130081"/>
                </a:lnTo>
                <a:lnTo>
                  <a:pt x="144887" y="105860"/>
                </a:lnTo>
                <a:lnTo>
                  <a:pt x="150813" y="76200"/>
                </a:lnTo>
                <a:lnTo>
                  <a:pt x="144887" y="46539"/>
                </a:lnTo>
                <a:lnTo>
                  <a:pt x="128727" y="22318"/>
                </a:lnTo>
                <a:lnTo>
                  <a:pt x="104759" y="5988"/>
                </a:lnTo>
                <a:lnTo>
                  <a:pt x="75407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527425" y="3867150"/>
            <a:ext cx="152400" cy="151130"/>
          </a:xfrm>
          <a:custGeom>
            <a:avLst/>
            <a:gdLst/>
            <a:ahLst/>
            <a:cxnLst/>
            <a:rect l="l" t="t" r="r" b="b"/>
            <a:pathLst>
              <a:path w="152400" h="151129">
                <a:moveTo>
                  <a:pt x="76200" y="0"/>
                </a:moveTo>
                <a:lnTo>
                  <a:pt x="46539" y="5925"/>
                </a:lnTo>
                <a:lnTo>
                  <a:pt x="22318" y="22085"/>
                </a:lnTo>
                <a:lnTo>
                  <a:pt x="5988" y="46054"/>
                </a:lnTo>
                <a:lnTo>
                  <a:pt x="0" y="75406"/>
                </a:lnTo>
                <a:lnTo>
                  <a:pt x="5988" y="104757"/>
                </a:lnTo>
                <a:lnTo>
                  <a:pt x="22318" y="128726"/>
                </a:lnTo>
                <a:lnTo>
                  <a:pt x="46539" y="144886"/>
                </a:lnTo>
                <a:lnTo>
                  <a:pt x="76200" y="150812"/>
                </a:lnTo>
                <a:lnTo>
                  <a:pt x="105860" y="144886"/>
                </a:lnTo>
                <a:lnTo>
                  <a:pt x="130081" y="128726"/>
                </a:lnTo>
                <a:lnTo>
                  <a:pt x="146411" y="104757"/>
                </a:lnTo>
                <a:lnTo>
                  <a:pt x="152400" y="75406"/>
                </a:lnTo>
                <a:lnTo>
                  <a:pt x="146411" y="46054"/>
                </a:lnTo>
                <a:lnTo>
                  <a:pt x="130081" y="22085"/>
                </a:lnTo>
                <a:lnTo>
                  <a:pt x="105860" y="5925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681537" y="5454650"/>
            <a:ext cx="151130" cy="152400"/>
          </a:xfrm>
          <a:custGeom>
            <a:avLst/>
            <a:gdLst/>
            <a:ahLst/>
            <a:cxnLst/>
            <a:rect l="l" t="t" r="r" b="b"/>
            <a:pathLst>
              <a:path w="151129" h="152400">
                <a:moveTo>
                  <a:pt x="75406" y="0"/>
                </a:moveTo>
                <a:lnTo>
                  <a:pt x="46054" y="5988"/>
                </a:lnTo>
                <a:lnTo>
                  <a:pt x="22085" y="22318"/>
                </a:lnTo>
                <a:lnTo>
                  <a:pt x="5925" y="46539"/>
                </a:lnTo>
                <a:lnTo>
                  <a:pt x="0" y="76200"/>
                </a:lnTo>
                <a:lnTo>
                  <a:pt x="5925" y="105860"/>
                </a:lnTo>
                <a:lnTo>
                  <a:pt x="22085" y="130081"/>
                </a:lnTo>
                <a:lnTo>
                  <a:pt x="46054" y="146411"/>
                </a:lnTo>
                <a:lnTo>
                  <a:pt x="75406" y="152400"/>
                </a:lnTo>
                <a:lnTo>
                  <a:pt x="104757" y="146411"/>
                </a:lnTo>
                <a:lnTo>
                  <a:pt x="128726" y="130081"/>
                </a:lnTo>
                <a:lnTo>
                  <a:pt x="144886" y="105860"/>
                </a:lnTo>
                <a:lnTo>
                  <a:pt x="150812" y="76200"/>
                </a:lnTo>
                <a:lnTo>
                  <a:pt x="144886" y="46539"/>
                </a:lnTo>
                <a:lnTo>
                  <a:pt x="128726" y="22318"/>
                </a:lnTo>
                <a:lnTo>
                  <a:pt x="104757" y="5988"/>
                </a:lnTo>
                <a:lnTo>
                  <a:pt x="7540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683125" y="38639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39" y="5988"/>
                </a:lnTo>
                <a:lnTo>
                  <a:pt x="22318" y="22318"/>
                </a:lnTo>
                <a:lnTo>
                  <a:pt x="5988" y="46539"/>
                </a:lnTo>
                <a:lnTo>
                  <a:pt x="0" y="76200"/>
                </a:lnTo>
                <a:lnTo>
                  <a:pt x="5988" y="105860"/>
                </a:lnTo>
                <a:lnTo>
                  <a:pt x="22318" y="130081"/>
                </a:lnTo>
                <a:lnTo>
                  <a:pt x="46539" y="146411"/>
                </a:lnTo>
                <a:lnTo>
                  <a:pt x="76200" y="152400"/>
                </a:lnTo>
                <a:lnTo>
                  <a:pt x="105860" y="146411"/>
                </a:lnTo>
                <a:lnTo>
                  <a:pt x="130081" y="130081"/>
                </a:lnTo>
                <a:lnTo>
                  <a:pt x="146411" y="105860"/>
                </a:lnTo>
                <a:lnTo>
                  <a:pt x="152400" y="76200"/>
                </a:lnTo>
                <a:lnTo>
                  <a:pt x="146411" y="46539"/>
                </a:lnTo>
                <a:lnTo>
                  <a:pt x="130081" y="22318"/>
                </a:lnTo>
                <a:lnTo>
                  <a:pt x="105860" y="5988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040311" y="43592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39" y="5988"/>
                </a:lnTo>
                <a:lnTo>
                  <a:pt x="22318" y="22318"/>
                </a:lnTo>
                <a:lnTo>
                  <a:pt x="5988" y="46539"/>
                </a:lnTo>
                <a:lnTo>
                  <a:pt x="0" y="76200"/>
                </a:lnTo>
                <a:lnTo>
                  <a:pt x="5988" y="105860"/>
                </a:lnTo>
                <a:lnTo>
                  <a:pt x="22318" y="130081"/>
                </a:lnTo>
                <a:lnTo>
                  <a:pt x="46539" y="146411"/>
                </a:lnTo>
                <a:lnTo>
                  <a:pt x="76200" y="152400"/>
                </a:lnTo>
                <a:lnTo>
                  <a:pt x="105860" y="146411"/>
                </a:lnTo>
                <a:lnTo>
                  <a:pt x="130081" y="130081"/>
                </a:lnTo>
                <a:lnTo>
                  <a:pt x="146411" y="105860"/>
                </a:lnTo>
                <a:lnTo>
                  <a:pt x="152400" y="76200"/>
                </a:lnTo>
                <a:lnTo>
                  <a:pt x="146411" y="46539"/>
                </a:lnTo>
                <a:lnTo>
                  <a:pt x="130081" y="22318"/>
                </a:lnTo>
                <a:lnTo>
                  <a:pt x="105860" y="5988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529385" y="562451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39" y="5988"/>
                </a:lnTo>
                <a:lnTo>
                  <a:pt x="22318" y="22318"/>
                </a:lnTo>
                <a:lnTo>
                  <a:pt x="5988" y="46539"/>
                </a:lnTo>
                <a:lnTo>
                  <a:pt x="0" y="76200"/>
                </a:lnTo>
                <a:lnTo>
                  <a:pt x="5988" y="105860"/>
                </a:lnTo>
                <a:lnTo>
                  <a:pt x="22318" y="130081"/>
                </a:lnTo>
                <a:lnTo>
                  <a:pt x="46539" y="146411"/>
                </a:lnTo>
                <a:lnTo>
                  <a:pt x="76200" y="152400"/>
                </a:lnTo>
                <a:lnTo>
                  <a:pt x="105860" y="146411"/>
                </a:lnTo>
                <a:lnTo>
                  <a:pt x="130081" y="130081"/>
                </a:lnTo>
                <a:lnTo>
                  <a:pt x="146411" y="105860"/>
                </a:lnTo>
                <a:lnTo>
                  <a:pt x="152400" y="76200"/>
                </a:lnTo>
                <a:lnTo>
                  <a:pt x="146411" y="46539"/>
                </a:lnTo>
                <a:lnTo>
                  <a:pt x="130081" y="22318"/>
                </a:lnTo>
                <a:lnTo>
                  <a:pt x="105860" y="5988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951537" y="5435600"/>
            <a:ext cx="152400" cy="151130"/>
          </a:xfrm>
          <a:custGeom>
            <a:avLst/>
            <a:gdLst/>
            <a:ahLst/>
            <a:cxnLst/>
            <a:rect l="l" t="t" r="r" b="b"/>
            <a:pathLst>
              <a:path w="152400" h="151129">
                <a:moveTo>
                  <a:pt x="76200" y="0"/>
                </a:moveTo>
                <a:lnTo>
                  <a:pt x="46539" y="5925"/>
                </a:lnTo>
                <a:lnTo>
                  <a:pt x="22318" y="22085"/>
                </a:lnTo>
                <a:lnTo>
                  <a:pt x="5988" y="46054"/>
                </a:lnTo>
                <a:lnTo>
                  <a:pt x="0" y="75406"/>
                </a:lnTo>
                <a:lnTo>
                  <a:pt x="5988" y="104757"/>
                </a:lnTo>
                <a:lnTo>
                  <a:pt x="22318" y="128726"/>
                </a:lnTo>
                <a:lnTo>
                  <a:pt x="46539" y="144886"/>
                </a:lnTo>
                <a:lnTo>
                  <a:pt x="76200" y="150812"/>
                </a:lnTo>
                <a:lnTo>
                  <a:pt x="105860" y="144886"/>
                </a:lnTo>
                <a:lnTo>
                  <a:pt x="130081" y="128726"/>
                </a:lnTo>
                <a:lnTo>
                  <a:pt x="146411" y="104757"/>
                </a:lnTo>
                <a:lnTo>
                  <a:pt x="152400" y="75406"/>
                </a:lnTo>
                <a:lnTo>
                  <a:pt x="146411" y="46054"/>
                </a:lnTo>
                <a:lnTo>
                  <a:pt x="130081" y="22085"/>
                </a:lnTo>
                <a:lnTo>
                  <a:pt x="105860" y="5925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597525" y="4948237"/>
            <a:ext cx="151130" cy="152400"/>
          </a:xfrm>
          <a:custGeom>
            <a:avLst/>
            <a:gdLst/>
            <a:ahLst/>
            <a:cxnLst/>
            <a:rect l="l" t="t" r="r" b="b"/>
            <a:pathLst>
              <a:path w="151129" h="152400">
                <a:moveTo>
                  <a:pt x="75406" y="0"/>
                </a:moveTo>
                <a:lnTo>
                  <a:pt x="46054" y="5988"/>
                </a:lnTo>
                <a:lnTo>
                  <a:pt x="22085" y="22318"/>
                </a:lnTo>
                <a:lnTo>
                  <a:pt x="5925" y="46539"/>
                </a:lnTo>
                <a:lnTo>
                  <a:pt x="0" y="76200"/>
                </a:lnTo>
                <a:lnTo>
                  <a:pt x="5925" y="105860"/>
                </a:lnTo>
                <a:lnTo>
                  <a:pt x="22085" y="130081"/>
                </a:lnTo>
                <a:lnTo>
                  <a:pt x="46054" y="146411"/>
                </a:lnTo>
                <a:lnTo>
                  <a:pt x="75406" y="152400"/>
                </a:lnTo>
                <a:lnTo>
                  <a:pt x="104757" y="146411"/>
                </a:lnTo>
                <a:lnTo>
                  <a:pt x="128726" y="130081"/>
                </a:lnTo>
                <a:lnTo>
                  <a:pt x="144886" y="105860"/>
                </a:lnTo>
                <a:lnTo>
                  <a:pt x="150812" y="76200"/>
                </a:lnTo>
                <a:lnTo>
                  <a:pt x="144886" y="46539"/>
                </a:lnTo>
                <a:lnTo>
                  <a:pt x="128726" y="22318"/>
                </a:lnTo>
                <a:lnTo>
                  <a:pt x="104757" y="5988"/>
                </a:lnTo>
                <a:lnTo>
                  <a:pt x="7540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5597525" y="4341812"/>
            <a:ext cx="151130" cy="151130"/>
          </a:xfrm>
          <a:custGeom>
            <a:avLst/>
            <a:gdLst/>
            <a:ahLst/>
            <a:cxnLst/>
            <a:rect l="l" t="t" r="r" b="b"/>
            <a:pathLst>
              <a:path w="151129" h="151129">
                <a:moveTo>
                  <a:pt x="75406" y="0"/>
                </a:moveTo>
                <a:lnTo>
                  <a:pt x="46054" y="5925"/>
                </a:lnTo>
                <a:lnTo>
                  <a:pt x="22085" y="22085"/>
                </a:lnTo>
                <a:lnTo>
                  <a:pt x="5925" y="46054"/>
                </a:lnTo>
                <a:lnTo>
                  <a:pt x="0" y="75406"/>
                </a:lnTo>
                <a:lnTo>
                  <a:pt x="5925" y="104757"/>
                </a:lnTo>
                <a:lnTo>
                  <a:pt x="22085" y="128726"/>
                </a:lnTo>
                <a:lnTo>
                  <a:pt x="46054" y="144886"/>
                </a:lnTo>
                <a:lnTo>
                  <a:pt x="75406" y="150812"/>
                </a:lnTo>
                <a:lnTo>
                  <a:pt x="104757" y="144886"/>
                </a:lnTo>
                <a:lnTo>
                  <a:pt x="128726" y="128726"/>
                </a:lnTo>
                <a:lnTo>
                  <a:pt x="144886" y="104757"/>
                </a:lnTo>
                <a:lnTo>
                  <a:pt x="150812" y="75406"/>
                </a:lnTo>
                <a:lnTo>
                  <a:pt x="144886" y="46054"/>
                </a:lnTo>
                <a:lnTo>
                  <a:pt x="128726" y="22085"/>
                </a:lnTo>
                <a:lnTo>
                  <a:pt x="104757" y="5925"/>
                </a:lnTo>
                <a:lnTo>
                  <a:pt x="7540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527800" y="3657600"/>
            <a:ext cx="151130" cy="152400"/>
          </a:xfrm>
          <a:custGeom>
            <a:avLst/>
            <a:gdLst/>
            <a:ahLst/>
            <a:cxnLst/>
            <a:rect l="l" t="t" r="r" b="b"/>
            <a:pathLst>
              <a:path w="151129" h="152400">
                <a:moveTo>
                  <a:pt x="75406" y="0"/>
                </a:moveTo>
                <a:lnTo>
                  <a:pt x="46054" y="5988"/>
                </a:lnTo>
                <a:lnTo>
                  <a:pt x="22085" y="22318"/>
                </a:lnTo>
                <a:lnTo>
                  <a:pt x="5925" y="46539"/>
                </a:lnTo>
                <a:lnTo>
                  <a:pt x="0" y="76200"/>
                </a:lnTo>
                <a:lnTo>
                  <a:pt x="5925" y="105860"/>
                </a:lnTo>
                <a:lnTo>
                  <a:pt x="22085" y="130081"/>
                </a:lnTo>
                <a:lnTo>
                  <a:pt x="46054" y="146411"/>
                </a:lnTo>
                <a:lnTo>
                  <a:pt x="75406" y="152400"/>
                </a:lnTo>
                <a:lnTo>
                  <a:pt x="104757" y="146411"/>
                </a:lnTo>
                <a:lnTo>
                  <a:pt x="128726" y="130081"/>
                </a:lnTo>
                <a:lnTo>
                  <a:pt x="144886" y="105860"/>
                </a:lnTo>
                <a:lnTo>
                  <a:pt x="150812" y="76200"/>
                </a:lnTo>
                <a:lnTo>
                  <a:pt x="144886" y="46539"/>
                </a:lnTo>
                <a:lnTo>
                  <a:pt x="128726" y="22318"/>
                </a:lnTo>
                <a:lnTo>
                  <a:pt x="104757" y="5988"/>
                </a:lnTo>
                <a:lnTo>
                  <a:pt x="7540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467600" y="4946650"/>
            <a:ext cx="151130" cy="151130"/>
          </a:xfrm>
          <a:custGeom>
            <a:avLst/>
            <a:gdLst/>
            <a:ahLst/>
            <a:cxnLst/>
            <a:rect l="l" t="t" r="r" b="b"/>
            <a:pathLst>
              <a:path w="151129" h="151129">
                <a:moveTo>
                  <a:pt x="75406" y="0"/>
                </a:moveTo>
                <a:lnTo>
                  <a:pt x="46054" y="5925"/>
                </a:lnTo>
                <a:lnTo>
                  <a:pt x="22085" y="22085"/>
                </a:lnTo>
                <a:lnTo>
                  <a:pt x="5925" y="46054"/>
                </a:lnTo>
                <a:lnTo>
                  <a:pt x="0" y="75406"/>
                </a:lnTo>
                <a:lnTo>
                  <a:pt x="5925" y="104757"/>
                </a:lnTo>
                <a:lnTo>
                  <a:pt x="22085" y="128725"/>
                </a:lnTo>
                <a:lnTo>
                  <a:pt x="46054" y="144885"/>
                </a:lnTo>
                <a:lnTo>
                  <a:pt x="75406" y="150811"/>
                </a:lnTo>
                <a:lnTo>
                  <a:pt x="104757" y="144885"/>
                </a:lnTo>
                <a:lnTo>
                  <a:pt x="128725" y="128725"/>
                </a:lnTo>
                <a:lnTo>
                  <a:pt x="144885" y="104757"/>
                </a:lnTo>
                <a:lnTo>
                  <a:pt x="150811" y="75406"/>
                </a:lnTo>
                <a:lnTo>
                  <a:pt x="144885" y="46054"/>
                </a:lnTo>
                <a:lnTo>
                  <a:pt x="128725" y="22085"/>
                </a:lnTo>
                <a:lnTo>
                  <a:pt x="104757" y="5925"/>
                </a:lnTo>
                <a:lnTo>
                  <a:pt x="7540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954711" y="384651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39" y="5988"/>
                </a:lnTo>
                <a:lnTo>
                  <a:pt x="22318" y="22318"/>
                </a:lnTo>
                <a:lnTo>
                  <a:pt x="5988" y="46539"/>
                </a:lnTo>
                <a:lnTo>
                  <a:pt x="0" y="76200"/>
                </a:lnTo>
                <a:lnTo>
                  <a:pt x="5988" y="105860"/>
                </a:lnTo>
                <a:lnTo>
                  <a:pt x="22318" y="130081"/>
                </a:lnTo>
                <a:lnTo>
                  <a:pt x="46539" y="146411"/>
                </a:lnTo>
                <a:lnTo>
                  <a:pt x="76200" y="152400"/>
                </a:lnTo>
                <a:lnTo>
                  <a:pt x="105860" y="146411"/>
                </a:lnTo>
                <a:lnTo>
                  <a:pt x="130081" y="130081"/>
                </a:lnTo>
                <a:lnTo>
                  <a:pt x="146411" y="105860"/>
                </a:lnTo>
                <a:lnTo>
                  <a:pt x="152400" y="76200"/>
                </a:lnTo>
                <a:lnTo>
                  <a:pt x="146411" y="46539"/>
                </a:lnTo>
                <a:lnTo>
                  <a:pt x="130081" y="22318"/>
                </a:lnTo>
                <a:lnTo>
                  <a:pt x="105860" y="5988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7108825" y="5435600"/>
            <a:ext cx="151130" cy="151130"/>
          </a:xfrm>
          <a:custGeom>
            <a:avLst/>
            <a:gdLst/>
            <a:ahLst/>
            <a:cxnLst/>
            <a:rect l="l" t="t" r="r" b="b"/>
            <a:pathLst>
              <a:path w="151129" h="151129">
                <a:moveTo>
                  <a:pt x="75406" y="0"/>
                </a:moveTo>
                <a:lnTo>
                  <a:pt x="46054" y="5925"/>
                </a:lnTo>
                <a:lnTo>
                  <a:pt x="22085" y="22085"/>
                </a:lnTo>
                <a:lnTo>
                  <a:pt x="5925" y="46054"/>
                </a:lnTo>
                <a:lnTo>
                  <a:pt x="0" y="75406"/>
                </a:lnTo>
                <a:lnTo>
                  <a:pt x="5925" y="104757"/>
                </a:lnTo>
                <a:lnTo>
                  <a:pt x="22085" y="128726"/>
                </a:lnTo>
                <a:lnTo>
                  <a:pt x="46054" y="144886"/>
                </a:lnTo>
                <a:lnTo>
                  <a:pt x="75406" y="150812"/>
                </a:lnTo>
                <a:lnTo>
                  <a:pt x="104757" y="144886"/>
                </a:lnTo>
                <a:lnTo>
                  <a:pt x="128726" y="128726"/>
                </a:lnTo>
                <a:lnTo>
                  <a:pt x="144886" y="104757"/>
                </a:lnTo>
                <a:lnTo>
                  <a:pt x="150812" y="75406"/>
                </a:lnTo>
                <a:lnTo>
                  <a:pt x="144886" y="46054"/>
                </a:lnTo>
                <a:lnTo>
                  <a:pt x="128726" y="22085"/>
                </a:lnTo>
                <a:lnTo>
                  <a:pt x="104757" y="5925"/>
                </a:lnTo>
                <a:lnTo>
                  <a:pt x="7540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110410" y="3844925"/>
            <a:ext cx="152400" cy="151130"/>
          </a:xfrm>
          <a:custGeom>
            <a:avLst/>
            <a:gdLst/>
            <a:ahLst/>
            <a:cxnLst/>
            <a:rect l="l" t="t" r="r" b="b"/>
            <a:pathLst>
              <a:path w="152400" h="151129">
                <a:moveTo>
                  <a:pt x="76200" y="0"/>
                </a:moveTo>
                <a:lnTo>
                  <a:pt x="46539" y="5925"/>
                </a:lnTo>
                <a:lnTo>
                  <a:pt x="22318" y="22085"/>
                </a:lnTo>
                <a:lnTo>
                  <a:pt x="5988" y="46054"/>
                </a:lnTo>
                <a:lnTo>
                  <a:pt x="0" y="75406"/>
                </a:lnTo>
                <a:lnTo>
                  <a:pt x="5988" y="104757"/>
                </a:lnTo>
                <a:lnTo>
                  <a:pt x="22318" y="128726"/>
                </a:lnTo>
                <a:lnTo>
                  <a:pt x="46539" y="144886"/>
                </a:lnTo>
                <a:lnTo>
                  <a:pt x="76200" y="150812"/>
                </a:lnTo>
                <a:lnTo>
                  <a:pt x="105860" y="144886"/>
                </a:lnTo>
                <a:lnTo>
                  <a:pt x="130081" y="128726"/>
                </a:lnTo>
                <a:lnTo>
                  <a:pt x="146411" y="104757"/>
                </a:lnTo>
                <a:lnTo>
                  <a:pt x="152400" y="75406"/>
                </a:lnTo>
                <a:lnTo>
                  <a:pt x="146411" y="46054"/>
                </a:lnTo>
                <a:lnTo>
                  <a:pt x="130081" y="22085"/>
                </a:lnTo>
                <a:lnTo>
                  <a:pt x="105860" y="5925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467600" y="43402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46539" y="5988"/>
                </a:lnTo>
                <a:lnTo>
                  <a:pt x="22318" y="22318"/>
                </a:lnTo>
                <a:lnTo>
                  <a:pt x="5988" y="46539"/>
                </a:lnTo>
                <a:lnTo>
                  <a:pt x="0" y="76200"/>
                </a:lnTo>
                <a:lnTo>
                  <a:pt x="5988" y="105860"/>
                </a:lnTo>
                <a:lnTo>
                  <a:pt x="22318" y="130081"/>
                </a:lnTo>
                <a:lnTo>
                  <a:pt x="46539" y="146411"/>
                </a:lnTo>
                <a:lnTo>
                  <a:pt x="76200" y="152400"/>
                </a:lnTo>
                <a:lnTo>
                  <a:pt x="105860" y="146411"/>
                </a:lnTo>
                <a:lnTo>
                  <a:pt x="130081" y="130081"/>
                </a:lnTo>
                <a:lnTo>
                  <a:pt x="146411" y="105860"/>
                </a:lnTo>
                <a:lnTo>
                  <a:pt x="152400" y="76200"/>
                </a:lnTo>
                <a:lnTo>
                  <a:pt x="146411" y="46539"/>
                </a:lnTo>
                <a:lnTo>
                  <a:pt x="130081" y="22318"/>
                </a:lnTo>
                <a:lnTo>
                  <a:pt x="105860" y="5988"/>
                </a:lnTo>
                <a:lnTo>
                  <a:pt x="7620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8116093" y="5009388"/>
            <a:ext cx="77978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dirty="0" sz="2000" spc="-40" b="1">
                <a:solidFill>
                  <a:srgbClr val="FF0000"/>
                </a:solidFill>
                <a:latin typeface="Arial"/>
                <a:cs typeface="Arial"/>
              </a:rPr>
              <a:t>n </a:t>
            </a:r>
            <a:r>
              <a:rPr dirty="0" sz="2000" spc="25" b="1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dirty="0" sz="2000" spc="-6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spc="-5" b="1">
                <a:solidFill>
                  <a:srgbClr val="FF0000"/>
                </a:solidFill>
                <a:latin typeface="Arial"/>
                <a:cs typeface="Arial"/>
              </a:rPr>
              <a:t>10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000" spc="10" b="1">
                <a:solidFill>
                  <a:srgbClr val="FF0000"/>
                </a:solidFill>
                <a:latin typeface="Arial"/>
                <a:cs typeface="Arial"/>
              </a:rPr>
              <a:t>p=</a:t>
            </a:r>
            <a:r>
              <a:rPr dirty="0" sz="2000" spc="-110" b="1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dirty="0" sz="2000" spc="55" b="1">
                <a:solidFill>
                  <a:srgbClr val="FF0000"/>
                </a:solidFill>
                <a:latin typeface="Arial"/>
                <a:cs typeface="Arial"/>
              </a:rPr>
              <a:t>1/6</a:t>
            </a:r>
            <a:endParaRPr sz="2000">
              <a:latin typeface="Arial"/>
              <a:cs typeface="Arial"/>
            </a:endParaRPr>
          </a:p>
        </p:txBody>
      </p:sp>
      <p:sp>
        <p:nvSpPr>
          <p:cNvPr id="61" name="object 6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62" name="object 6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63" name="object 6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24</a:t>
            </a:fld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4424"/>
            <a:ext cx="4050791" cy="640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630679" y="4398263"/>
            <a:ext cx="5882640" cy="2072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560575" y="4632959"/>
            <a:ext cx="6022848" cy="175869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76400" y="4419600"/>
            <a:ext cx="5791200" cy="19811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76400" y="4419600"/>
            <a:ext cx="5791200" cy="1981200"/>
          </a:xfrm>
          <a:custGeom>
            <a:avLst/>
            <a:gdLst/>
            <a:ahLst/>
            <a:cxnLst/>
            <a:rect l="l" t="t" r="r" b="b"/>
            <a:pathLst>
              <a:path w="5791200" h="1981200">
                <a:moveTo>
                  <a:pt x="0" y="330207"/>
                </a:moveTo>
                <a:lnTo>
                  <a:pt x="3580" y="281411"/>
                </a:lnTo>
                <a:lnTo>
                  <a:pt x="13980" y="234839"/>
                </a:lnTo>
                <a:lnTo>
                  <a:pt x="30690" y="191000"/>
                </a:lnTo>
                <a:lnTo>
                  <a:pt x="53198" y="150406"/>
                </a:lnTo>
                <a:lnTo>
                  <a:pt x="80994" y="113567"/>
                </a:lnTo>
                <a:lnTo>
                  <a:pt x="113567" y="80994"/>
                </a:lnTo>
                <a:lnTo>
                  <a:pt x="150405" y="53198"/>
                </a:lnTo>
                <a:lnTo>
                  <a:pt x="191000" y="30690"/>
                </a:lnTo>
                <a:lnTo>
                  <a:pt x="234839" y="13980"/>
                </a:lnTo>
                <a:lnTo>
                  <a:pt x="281411" y="3580"/>
                </a:lnTo>
                <a:lnTo>
                  <a:pt x="330207" y="0"/>
                </a:lnTo>
                <a:lnTo>
                  <a:pt x="5460993" y="0"/>
                </a:lnTo>
                <a:lnTo>
                  <a:pt x="5509788" y="3580"/>
                </a:lnTo>
                <a:lnTo>
                  <a:pt x="5556361" y="13980"/>
                </a:lnTo>
                <a:lnTo>
                  <a:pt x="5600199" y="30690"/>
                </a:lnTo>
                <a:lnTo>
                  <a:pt x="5640794" y="53198"/>
                </a:lnTo>
                <a:lnTo>
                  <a:pt x="5677633" y="80994"/>
                </a:lnTo>
                <a:lnTo>
                  <a:pt x="5710205" y="113567"/>
                </a:lnTo>
                <a:lnTo>
                  <a:pt x="5738001" y="150406"/>
                </a:lnTo>
                <a:lnTo>
                  <a:pt x="5760509" y="191000"/>
                </a:lnTo>
                <a:lnTo>
                  <a:pt x="5777219" y="234839"/>
                </a:lnTo>
                <a:lnTo>
                  <a:pt x="5787619" y="281411"/>
                </a:lnTo>
                <a:lnTo>
                  <a:pt x="5791200" y="330207"/>
                </a:lnTo>
                <a:lnTo>
                  <a:pt x="5791200" y="1650993"/>
                </a:lnTo>
                <a:lnTo>
                  <a:pt x="5787619" y="1699788"/>
                </a:lnTo>
                <a:lnTo>
                  <a:pt x="5777219" y="1746361"/>
                </a:lnTo>
                <a:lnTo>
                  <a:pt x="5760509" y="1790199"/>
                </a:lnTo>
                <a:lnTo>
                  <a:pt x="5738001" y="1830794"/>
                </a:lnTo>
                <a:lnTo>
                  <a:pt x="5710205" y="1867632"/>
                </a:lnTo>
                <a:lnTo>
                  <a:pt x="5677633" y="1900205"/>
                </a:lnTo>
                <a:lnTo>
                  <a:pt x="5640794" y="1928001"/>
                </a:lnTo>
                <a:lnTo>
                  <a:pt x="5600199" y="1950509"/>
                </a:lnTo>
                <a:lnTo>
                  <a:pt x="5556361" y="1967219"/>
                </a:lnTo>
                <a:lnTo>
                  <a:pt x="5509788" y="1977619"/>
                </a:lnTo>
                <a:lnTo>
                  <a:pt x="5460993" y="1981200"/>
                </a:lnTo>
                <a:lnTo>
                  <a:pt x="330207" y="1981200"/>
                </a:lnTo>
                <a:lnTo>
                  <a:pt x="281411" y="1977619"/>
                </a:lnTo>
                <a:lnTo>
                  <a:pt x="234839" y="1967219"/>
                </a:lnTo>
                <a:lnTo>
                  <a:pt x="191000" y="1950509"/>
                </a:lnTo>
                <a:lnTo>
                  <a:pt x="150405" y="1928001"/>
                </a:lnTo>
                <a:lnTo>
                  <a:pt x="113567" y="1900205"/>
                </a:lnTo>
                <a:lnTo>
                  <a:pt x="80994" y="1867632"/>
                </a:lnTo>
                <a:lnTo>
                  <a:pt x="53198" y="1830794"/>
                </a:lnTo>
                <a:lnTo>
                  <a:pt x="30690" y="1790199"/>
                </a:lnTo>
                <a:lnTo>
                  <a:pt x="13980" y="1746361"/>
                </a:lnTo>
                <a:lnTo>
                  <a:pt x="3580" y="1699788"/>
                </a:lnTo>
                <a:lnTo>
                  <a:pt x="0" y="1650993"/>
                </a:lnTo>
                <a:lnTo>
                  <a:pt x="0" y="330207"/>
                </a:lnTo>
                <a:close/>
              </a:path>
            </a:pathLst>
          </a:custGeom>
          <a:ln w="9525">
            <a:solidFill>
              <a:srgbClr val="C44241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332349" y="1387347"/>
            <a:ext cx="6386195" cy="4606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  <a:tabLst>
                <a:tab pos="5498465" algn="l"/>
              </a:tabLst>
            </a:pPr>
            <a:r>
              <a:rPr dirty="0" sz="4000" b="1">
                <a:latin typeface="Calibri"/>
                <a:cs typeface="Calibri"/>
              </a:rPr>
              <a:t>D</a:t>
            </a:r>
            <a:r>
              <a:rPr dirty="0" sz="4000" spc="-5" b="1">
                <a:latin typeface="Calibri"/>
                <a:cs typeface="Calibri"/>
              </a:rPr>
              <a:t>e</a:t>
            </a:r>
            <a:r>
              <a:rPr dirty="0" sz="4000" b="1">
                <a:latin typeface="Calibri"/>
                <a:cs typeface="Calibri"/>
              </a:rPr>
              <a:t>g</a:t>
            </a:r>
            <a:r>
              <a:rPr dirty="0" sz="4000" spc="-40" b="1">
                <a:latin typeface="Calibri"/>
                <a:cs typeface="Calibri"/>
              </a:rPr>
              <a:t>r</a:t>
            </a:r>
            <a:r>
              <a:rPr dirty="0" sz="4000" spc="-5" b="1">
                <a:latin typeface="Calibri"/>
                <a:cs typeface="Calibri"/>
              </a:rPr>
              <a:t>e</a:t>
            </a:r>
            <a:r>
              <a:rPr dirty="0" sz="4000" b="1">
                <a:latin typeface="Calibri"/>
                <a:cs typeface="Calibri"/>
              </a:rPr>
              <a:t>e</a:t>
            </a:r>
            <a:r>
              <a:rPr dirty="0" sz="4000" spc="-5" b="1">
                <a:latin typeface="Calibri"/>
                <a:cs typeface="Calibri"/>
              </a:rPr>
              <a:t> </a:t>
            </a:r>
            <a:r>
              <a:rPr dirty="0" sz="4000" b="1">
                <a:latin typeface="Calibri"/>
                <a:cs typeface="Calibri"/>
              </a:rPr>
              <a:t>d</a:t>
            </a:r>
            <a:r>
              <a:rPr dirty="0" sz="4000" spc="0" b="1">
                <a:latin typeface="Calibri"/>
                <a:cs typeface="Calibri"/>
              </a:rPr>
              <a:t>i</a:t>
            </a:r>
            <a:r>
              <a:rPr dirty="0" sz="4000" spc="-45" b="1">
                <a:latin typeface="Calibri"/>
                <a:cs typeface="Calibri"/>
              </a:rPr>
              <a:t>s</a:t>
            </a:r>
            <a:r>
              <a:rPr dirty="0" sz="4000" b="1">
                <a:latin typeface="Calibri"/>
                <a:cs typeface="Calibri"/>
              </a:rPr>
              <a:t>tri</a:t>
            </a:r>
            <a:r>
              <a:rPr dirty="0" sz="4000" spc="-5" b="1">
                <a:latin typeface="Calibri"/>
                <a:cs typeface="Calibri"/>
              </a:rPr>
              <a:t>b</a:t>
            </a:r>
            <a:r>
              <a:rPr dirty="0" sz="4000" b="1">
                <a:latin typeface="Calibri"/>
                <a:cs typeface="Calibri"/>
              </a:rPr>
              <a:t>ut</a:t>
            </a:r>
            <a:r>
              <a:rPr dirty="0" sz="4000" spc="0" b="1">
                <a:latin typeface="Calibri"/>
                <a:cs typeface="Calibri"/>
              </a:rPr>
              <a:t>i</a:t>
            </a:r>
            <a:r>
              <a:rPr dirty="0" sz="4000" spc="-5" b="1">
                <a:latin typeface="Calibri"/>
                <a:cs typeface="Calibri"/>
              </a:rPr>
              <a:t>o</a:t>
            </a:r>
            <a:r>
              <a:rPr dirty="0" sz="4000" b="1">
                <a:latin typeface="Calibri"/>
                <a:cs typeface="Calibri"/>
              </a:rPr>
              <a:t>n:	</a:t>
            </a:r>
            <a:r>
              <a:rPr dirty="0" sz="4000" spc="-10" i="1">
                <a:latin typeface="Times New Roman"/>
                <a:cs typeface="Times New Roman"/>
              </a:rPr>
              <a:t>P</a:t>
            </a:r>
            <a:r>
              <a:rPr dirty="0" sz="4000" spc="0" i="1">
                <a:latin typeface="Times New Roman"/>
                <a:cs typeface="Times New Roman"/>
              </a:rPr>
              <a:t>(</a:t>
            </a:r>
            <a:r>
              <a:rPr dirty="0" sz="4000" spc="-5" i="1">
                <a:latin typeface="Times New Roman"/>
                <a:cs typeface="Times New Roman"/>
              </a:rPr>
              <a:t>k</a:t>
            </a:r>
            <a:r>
              <a:rPr dirty="0" sz="4000" i="1">
                <a:latin typeface="Times New Roman"/>
                <a:cs typeface="Times New Roman"/>
              </a:rPr>
              <a:t>) </a:t>
            </a:r>
            <a:r>
              <a:rPr dirty="0" sz="4000" i="1">
                <a:latin typeface="Times New Roman"/>
                <a:cs typeface="Times New Roman"/>
              </a:rPr>
              <a:t> </a:t>
            </a:r>
            <a:r>
              <a:rPr dirty="0" sz="4000" spc="-15" b="1">
                <a:latin typeface="Calibri"/>
                <a:cs typeface="Calibri"/>
              </a:rPr>
              <a:t>Clustering</a:t>
            </a:r>
            <a:r>
              <a:rPr dirty="0" sz="4000" spc="15" b="1">
                <a:latin typeface="Calibri"/>
                <a:cs typeface="Calibri"/>
              </a:rPr>
              <a:t> </a:t>
            </a:r>
            <a:r>
              <a:rPr dirty="0" sz="4000" spc="-10" b="1">
                <a:latin typeface="Calibri"/>
                <a:cs typeface="Calibri"/>
              </a:rPr>
              <a:t>coefficient:	</a:t>
            </a:r>
            <a:r>
              <a:rPr dirty="0" sz="4000" i="1">
                <a:latin typeface="Times New Roman"/>
                <a:cs typeface="Times New Roman"/>
              </a:rPr>
              <a:t>C  </a:t>
            </a:r>
            <a:r>
              <a:rPr dirty="0" sz="4000" spc="-35" b="1">
                <a:latin typeface="Calibri"/>
                <a:cs typeface="Calibri"/>
              </a:rPr>
              <a:t>Path</a:t>
            </a:r>
            <a:r>
              <a:rPr dirty="0" sz="4000" spc="-5" b="1">
                <a:latin typeface="Calibri"/>
                <a:cs typeface="Calibri"/>
              </a:rPr>
              <a:t> length:	</a:t>
            </a:r>
            <a:r>
              <a:rPr dirty="0" sz="4000" i="1">
                <a:latin typeface="Times New Roman"/>
                <a:cs typeface="Times New Roman"/>
              </a:rPr>
              <a:t>h</a:t>
            </a:r>
            <a:endParaRPr sz="4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4200">
              <a:latin typeface="Times New Roman"/>
              <a:cs typeface="Times New Roman"/>
            </a:endParaRPr>
          </a:p>
          <a:p>
            <a:pPr marL="573405" marR="472440" indent="217804">
              <a:lnSpc>
                <a:spcPct val="100000"/>
              </a:lnSpc>
            </a:pPr>
            <a:r>
              <a:rPr dirty="0" sz="4000" spc="-5" b="1">
                <a:solidFill>
                  <a:srgbClr val="FFFFFF"/>
                </a:solidFill>
                <a:latin typeface="Corbel"/>
                <a:cs typeface="Corbel"/>
              </a:rPr>
              <a:t>What </a:t>
            </a:r>
            <a:r>
              <a:rPr dirty="0" sz="4000" b="1">
                <a:solidFill>
                  <a:srgbClr val="FFFFFF"/>
                </a:solidFill>
                <a:latin typeface="Corbel"/>
                <a:cs typeface="Corbel"/>
              </a:rPr>
              <a:t>are </a:t>
            </a:r>
            <a:r>
              <a:rPr dirty="0" sz="4000" spc="-5" b="1">
                <a:solidFill>
                  <a:srgbClr val="FFFFFF"/>
                </a:solidFill>
                <a:latin typeface="Corbel"/>
                <a:cs typeface="Corbel"/>
              </a:rPr>
              <a:t>the values of  these properties for</a:t>
            </a:r>
            <a:r>
              <a:rPr dirty="0" sz="4000" spc="-25" b="1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4000" spc="-15" b="1" i="1">
                <a:solidFill>
                  <a:srgbClr val="FFFFFF"/>
                </a:solidFill>
                <a:latin typeface="Corbel"/>
                <a:cs typeface="Corbel"/>
              </a:rPr>
              <a:t>G</a:t>
            </a:r>
            <a:r>
              <a:rPr dirty="0" baseline="-18518" sz="4050" spc="-22" b="1" i="1">
                <a:solidFill>
                  <a:srgbClr val="FFFFFF"/>
                </a:solidFill>
                <a:latin typeface="Corbel"/>
                <a:cs typeface="Corbel"/>
              </a:rPr>
              <a:t>np</a:t>
            </a:r>
            <a:r>
              <a:rPr dirty="0" sz="4000" spc="-15" b="1">
                <a:solidFill>
                  <a:srgbClr val="FFFFFF"/>
                </a:solidFill>
                <a:latin typeface="Corbel"/>
                <a:cs typeface="Corbel"/>
              </a:rPr>
              <a:t>?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24</a:t>
            </a:fld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69976" y="341375"/>
            <a:ext cx="7120128" cy="640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095" y="1348740"/>
            <a:ext cx="7655559" cy="14916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pc="-20" u="heavy">
                <a:solidFill>
                  <a:srgbClr val="000000"/>
                </a:solidFill>
              </a:rPr>
              <a:t>Fact:</a:t>
            </a:r>
            <a:r>
              <a:rPr dirty="0" spc="-20">
                <a:solidFill>
                  <a:srgbClr val="000000"/>
                </a:solidFill>
              </a:rPr>
              <a:t> </a:t>
            </a:r>
            <a:r>
              <a:rPr dirty="0" spc="-10">
                <a:solidFill>
                  <a:srgbClr val="FF0066"/>
                </a:solidFill>
              </a:rPr>
              <a:t>Degree distribution </a:t>
            </a:r>
            <a:r>
              <a:rPr dirty="0">
                <a:solidFill>
                  <a:srgbClr val="FF0066"/>
                </a:solidFill>
              </a:rPr>
              <a:t>of </a:t>
            </a:r>
            <a:r>
              <a:rPr dirty="0" i="1">
                <a:solidFill>
                  <a:srgbClr val="FF0066"/>
                </a:solidFill>
                <a:latin typeface="Times New Roman"/>
                <a:cs typeface="Times New Roman"/>
              </a:rPr>
              <a:t>G</a:t>
            </a:r>
            <a:r>
              <a:rPr dirty="0" baseline="-18518" sz="3150" i="1">
                <a:solidFill>
                  <a:srgbClr val="FF0066"/>
                </a:solidFill>
                <a:latin typeface="Times New Roman"/>
                <a:cs typeface="Times New Roman"/>
              </a:rPr>
              <a:t>np </a:t>
            </a:r>
            <a:r>
              <a:rPr dirty="0" sz="3200">
                <a:solidFill>
                  <a:srgbClr val="FF0066"/>
                </a:solidFill>
              </a:rPr>
              <a:t>is</a:t>
            </a:r>
            <a:r>
              <a:rPr dirty="0" sz="3200" spc="10">
                <a:solidFill>
                  <a:srgbClr val="FF0066"/>
                </a:solidFill>
              </a:rPr>
              <a:t> </a:t>
            </a:r>
            <a:r>
              <a:rPr dirty="0" sz="3200" spc="-5" u="heavy">
                <a:solidFill>
                  <a:srgbClr val="FF0066"/>
                </a:solidFill>
              </a:rPr>
              <a:t>binomial</a:t>
            </a:r>
            <a:r>
              <a:rPr dirty="0" sz="3200" spc="-5">
                <a:solidFill>
                  <a:srgbClr val="FF0066"/>
                </a:solidFill>
              </a:rPr>
              <a:t>.</a:t>
            </a:r>
            <a:endParaRPr sz="3200">
              <a:latin typeface="Times New Roman"/>
              <a:cs typeface="Times New Roman"/>
            </a:endParaRPr>
          </a:p>
          <a:p>
            <a:pPr marL="332740" marR="354965" indent="-320040">
              <a:lnSpc>
                <a:spcPts val="3820"/>
              </a:lnSpc>
              <a:spcBef>
                <a:spcPts val="19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Let </a:t>
            </a:r>
            <a:r>
              <a:rPr dirty="0" spc="-5" i="1">
                <a:solidFill>
                  <a:srgbClr val="000000"/>
                </a:solidFill>
                <a:latin typeface="Times New Roman"/>
                <a:cs typeface="Times New Roman"/>
              </a:rPr>
              <a:t>P(k)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denote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fraction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of nodes </a:t>
            </a:r>
            <a:r>
              <a:rPr dirty="0" spc="-40" b="0">
                <a:solidFill>
                  <a:srgbClr val="000000"/>
                </a:solidFill>
                <a:latin typeface="Calibri"/>
                <a:cs typeface="Calibri"/>
              </a:rPr>
              <a:t>with 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degree</a:t>
            </a:r>
            <a:r>
              <a:rPr dirty="0" spc="-6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i="1">
                <a:solidFill>
                  <a:srgbClr val="000000"/>
                </a:solidFill>
                <a:latin typeface="Times New Roman"/>
                <a:cs typeface="Times New Roman"/>
              </a:rPr>
              <a:t>k</a:t>
            </a:r>
            <a:r>
              <a:rPr dirty="0" b="0" i="1">
                <a:solidFill>
                  <a:srgbClr val="000000"/>
                </a:solidFill>
                <a:latin typeface="Times New Roman"/>
                <a:cs typeface="Times New Roman"/>
              </a:rPr>
              <a:t>:</a:t>
            </a:r>
          </a:p>
        </p:txBody>
      </p:sp>
      <p:sp>
        <p:nvSpPr>
          <p:cNvPr id="6" name="object 6"/>
          <p:cNvSpPr/>
          <p:nvPr/>
        </p:nvSpPr>
        <p:spPr>
          <a:xfrm>
            <a:off x="2185416" y="2727960"/>
            <a:ext cx="4983480" cy="11917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619613" y="4220971"/>
            <a:ext cx="1032510" cy="385445"/>
          </a:xfrm>
          <a:prstGeom prst="rect">
            <a:avLst/>
          </a:prstGeom>
        </p:spPr>
        <p:txBody>
          <a:bodyPr wrap="square" lIns="0" tIns="23495" rIns="0" bIns="0" rtlCol="0" vert="horz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Select </a:t>
            </a:r>
            <a:r>
              <a:rPr dirty="0" sz="1200" spc="-25" i="1">
                <a:solidFill>
                  <a:srgbClr val="008000"/>
                </a:solidFill>
                <a:latin typeface="Arial"/>
                <a:cs typeface="Arial"/>
              </a:rPr>
              <a:t>k</a:t>
            </a:r>
            <a:r>
              <a:rPr dirty="0" sz="1200" spc="-60" i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200" spc="0">
                <a:solidFill>
                  <a:srgbClr val="008000"/>
                </a:solidFill>
                <a:latin typeface="Arial"/>
                <a:cs typeface="Arial"/>
              </a:rPr>
              <a:t>nodes  </a:t>
            </a:r>
            <a:r>
              <a:rPr dirty="0" sz="1200" spc="10">
                <a:solidFill>
                  <a:srgbClr val="008000"/>
                </a:solidFill>
                <a:latin typeface="Arial"/>
                <a:cs typeface="Arial"/>
              </a:rPr>
              <a:t>out of</a:t>
            </a:r>
            <a:r>
              <a:rPr dirty="0" sz="1200" spc="-9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200" spc="10" i="1">
                <a:solidFill>
                  <a:srgbClr val="008000"/>
                </a:solidFill>
                <a:latin typeface="Arial"/>
                <a:cs typeface="Arial"/>
              </a:rPr>
              <a:t>n-1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29350" y="4123435"/>
            <a:ext cx="1052195" cy="409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100"/>
              </a:spcBef>
            </a:pP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Probability </a:t>
            </a:r>
            <a:r>
              <a:rPr dirty="0" sz="1200" spc="10">
                <a:solidFill>
                  <a:srgbClr val="008000"/>
                </a:solidFill>
                <a:latin typeface="Arial"/>
                <a:cs typeface="Arial"/>
              </a:rPr>
              <a:t>of 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having </a:t>
            </a:r>
            <a:r>
              <a:rPr dirty="0" sz="1200" spc="-25" i="1">
                <a:solidFill>
                  <a:srgbClr val="008000"/>
                </a:solidFill>
                <a:latin typeface="Arial"/>
                <a:cs typeface="Arial"/>
              </a:rPr>
              <a:t>k</a:t>
            </a:r>
            <a:r>
              <a:rPr dirty="0" sz="1200" spc="-50" i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edges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03381" y="3955796"/>
            <a:ext cx="1276350" cy="5772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5"/>
              </a:spcBef>
            </a:pP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Probability </a:t>
            </a:r>
            <a:r>
              <a:rPr dirty="0" sz="1200" spc="10">
                <a:solidFill>
                  <a:srgbClr val="008000"/>
                </a:solidFill>
                <a:latin typeface="Arial"/>
                <a:cs typeface="Arial"/>
              </a:rPr>
              <a:t>of  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missing the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rest </a:t>
            </a:r>
            <a:r>
              <a:rPr dirty="0" sz="1200" spc="10">
                <a:solidFill>
                  <a:srgbClr val="008000"/>
                </a:solidFill>
                <a:latin typeface="Arial"/>
                <a:cs typeface="Arial"/>
              </a:rPr>
              <a:t>of  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the </a:t>
            </a:r>
            <a:r>
              <a:rPr dirty="0" sz="1200" spc="10" i="1">
                <a:solidFill>
                  <a:srgbClr val="008000"/>
                </a:solidFill>
                <a:latin typeface="Arial"/>
                <a:cs typeface="Arial"/>
              </a:rPr>
              <a:t>n-1-k</a:t>
            </a:r>
            <a:r>
              <a:rPr dirty="0" sz="1200" spc="-45" i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edges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398069" y="3922144"/>
            <a:ext cx="464820" cy="280035"/>
          </a:xfrm>
          <a:custGeom>
            <a:avLst/>
            <a:gdLst/>
            <a:ahLst/>
            <a:cxnLst/>
            <a:rect l="l" t="t" r="r" b="b"/>
            <a:pathLst>
              <a:path w="464820" h="280035">
                <a:moveTo>
                  <a:pt x="383200" y="30942"/>
                </a:moveTo>
                <a:lnTo>
                  <a:pt x="0" y="255040"/>
                </a:lnTo>
                <a:lnTo>
                  <a:pt x="14425" y="279706"/>
                </a:lnTo>
                <a:lnTo>
                  <a:pt x="397625" y="55609"/>
                </a:lnTo>
                <a:lnTo>
                  <a:pt x="383200" y="30942"/>
                </a:lnTo>
                <a:close/>
              </a:path>
              <a:path w="464820" h="280035">
                <a:moveTo>
                  <a:pt x="448933" y="23729"/>
                </a:moveTo>
                <a:lnTo>
                  <a:pt x="395533" y="23729"/>
                </a:lnTo>
                <a:lnTo>
                  <a:pt x="409958" y="48397"/>
                </a:lnTo>
                <a:lnTo>
                  <a:pt x="397625" y="55609"/>
                </a:lnTo>
                <a:lnTo>
                  <a:pt x="412050" y="80275"/>
                </a:lnTo>
                <a:lnTo>
                  <a:pt x="448933" y="23729"/>
                </a:lnTo>
                <a:close/>
              </a:path>
              <a:path w="464820" h="280035">
                <a:moveTo>
                  <a:pt x="395533" y="23729"/>
                </a:moveTo>
                <a:lnTo>
                  <a:pt x="383200" y="30942"/>
                </a:lnTo>
                <a:lnTo>
                  <a:pt x="397625" y="55609"/>
                </a:lnTo>
                <a:lnTo>
                  <a:pt x="409958" y="48397"/>
                </a:lnTo>
                <a:lnTo>
                  <a:pt x="395533" y="23729"/>
                </a:lnTo>
                <a:close/>
              </a:path>
              <a:path w="464820" h="280035">
                <a:moveTo>
                  <a:pt x="464412" y="0"/>
                </a:moveTo>
                <a:lnTo>
                  <a:pt x="368774" y="6276"/>
                </a:lnTo>
                <a:lnTo>
                  <a:pt x="383200" y="30942"/>
                </a:lnTo>
                <a:lnTo>
                  <a:pt x="395533" y="23729"/>
                </a:lnTo>
                <a:lnTo>
                  <a:pt x="448933" y="23729"/>
                </a:lnTo>
                <a:lnTo>
                  <a:pt x="464412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790501" y="3597106"/>
            <a:ext cx="121920" cy="574040"/>
          </a:xfrm>
          <a:custGeom>
            <a:avLst/>
            <a:gdLst/>
            <a:ahLst/>
            <a:cxnLst/>
            <a:rect l="l" t="t" r="r" b="b"/>
            <a:pathLst>
              <a:path w="121920" h="574039">
                <a:moveTo>
                  <a:pt x="64878" y="83086"/>
                </a:moveTo>
                <a:lnTo>
                  <a:pt x="0" y="570010"/>
                </a:lnTo>
                <a:lnTo>
                  <a:pt x="28324" y="573784"/>
                </a:lnTo>
                <a:lnTo>
                  <a:pt x="93201" y="86860"/>
                </a:lnTo>
                <a:lnTo>
                  <a:pt x="64878" y="83086"/>
                </a:lnTo>
                <a:close/>
              </a:path>
              <a:path w="121920" h="574039">
                <a:moveTo>
                  <a:pt x="114062" y="68924"/>
                </a:moveTo>
                <a:lnTo>
                  <a:pt x="66765" y="68924"/>
                </a:lnTo>
                <a:lnTo>
                  <a:pt x="95088" y="72698"/>
                </a:lnTo>
                <a:lnTo>
                  <a:pt x="93201" y="86860"/>
                </a:lnTo>
                <a:lnTo>
                  <a:pt x="121527" y="90634"/>
                </a:lnTo>
                <a:lnTo>
                  <a:pt x="114062" y="68924"/>
                </a:lnTo>
                <a:close/>
              </a:path>
              <a:path w="121920" h="574039">
                <a:moveTo>
                  <a:pt x="66765" y="68924"/>
                </a:moveTo>
                <a:lnTo>
                  <a:pt x="64878" y="83086"/>
                </a:lnTo>
                <a:lnTo>
                  <a:pt x="93201" y="86860"/>
                </a:lnTo>
                <a:lnTo>
                  <a:pt x="95088" y="72698"/>
                </a:lnTo>
                <a:lnTo>
                  <a:pt x="66765" y="68924"/>
                </a:lnTo>
                <a:close/>
              </a:path>
              <a:path w="121920" h="574039">
                <a:moveTo>
                  <a:pt x="90361" y="0"/>
                </a:moveTo>
                <a:lnTo>
                  <a:pt x="36553" y="79312"/>
                </a:lnTo>
                <a:lnTo>
                  <a:pt x="64878" y="83086"/>
                </a:lnTo>
                <a:lnTo>
                  <a:pt x="66765" y="68924"/>
                </a:lnTo>
                <a:lnTo>
                  <a:pt x="114062" y="68924"/>
                </a:lnTo>
                <a:lnTo>
                  <a:pt x="90361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124668" y="3536383"/>
            <a:ext cx="241300" cy="428625"/>
          </a:xfrm>
          <a:custGeom>
            <a:avLst/>
            <a:gdLst/>
            <a:ahLst/>
            <a:cxnLst/>
            <a:rect l="l" t="t" r="r" b="b"/>
            <a:pathLst>
              <a:path w="241300" h="428625">
                <a:moveTo>
                  <a:pt x="53429" y="68543"/>
                </a:moveTo>
                <a:lnTo>
                  <a:pt x="28311" y="82167"/>
                </a:lnTo>
                <a:lnTo>
                  <a:pt x="216042" y="428293"/>
                </a:lnTo>
                <a:lnTo>
                  <a:pt x="241160" y="414668"/>
                </a:lnTo>
                <a:lnTo>
                  <a:pt x="53429" y="68543"/>
                </a:lnTo>
                <a:close/>
              </a:path>
              <a:path w="241300" h="428625">
                <a:moveTo>
                  <a:pt x="0" y="0"/>
                </a:moveTo>
                <a:lnTo>
                  <a:pt x="3192" y="95791"/>
                </a:lnTo>
                <a:lnTo>
                  <a:pt x="28311" y="82167"/>
                </a:lnTo>
                <a:lnTo>
                  <a:pt x="21499" y="69607"/>
                </a:lnTo>
                <a:lnTo>
                  <a:pt x="46617" y="55984"/>
                </a:lnTo>
                <a:lnTo>
                  <a:pt x="76586" y="55984"/>
                </a:lnTo>
                <a:lnTo>
                  <a:pt x="78548" y="54919"/>
                </a:lnTo>
                <a:lnTo>
                  <a:pt x="0" y="0"/>
                </a:lnTo>
                <a:close/>
              </a:path>
              <a:path w="241300" h="428625">
                <a:moveTo>
                  <a:pt x="46617" y="55984"/>
                </a:moveTo>
                <a:lnTo>
                  <a:pt x="21499" y="69607"/>
                </a:lnTo>
                <a:lnTo>
                  <a:pt x="28311" y="82167"/>
                </a:lnTo>
                <a:lnTo>
                  <a:pt x="53429" y="68543"/>
                </a:lnTo>
                <a:lnTo>
                  <a:pt x="46617" y="55984"/>
                </a:lnTo>
                <a:close/>
              </a:path>
              <a:path w="241300" h="428625">
                <a:moveTo>
                  <a:pt x="76586" y="55984"/>
                </a:moveTo>
                <a:lnTo>
                  <a:pt x="46617" y="55984"/>
                </a:lnTo>
                <a:lnTo>
                  <a:pt x="53429" y="68543"/>
                </a:lnTo>
                <a:lnTo>
                  <a:pt x="76586" y="55984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840223" y="5897879"/>
            <a:ext cx="2270760" cy="43891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840223" y="5263895"/>
            <a:ext cx="1679448" cy="53949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71600" y="4864607"/>
            <a:ext cx="2215896" cy="17556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048587" y="5475298"/>
            <a:ext cx="281305" cy="44450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 spc="-5">
                <a:latin typeface="Arial"/>
                <a:cs typeface="Arial"/>
              </a:rPr>
              <a:t>P</a:t>
            </a:r>
            <a:r>
              <a:rPr dirty="0" sz="1800">
                <a:latin typeface="Arial"/>
                <a:cs typeface="Arial"/>
              </a:rPr>
              <a:t>(k)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24</a:t>
            </a:fld>
          </a:p>
        </p:txBody>
      </p:sp>
      <p:sp>
        <p:nvSpPr>
          <p:cNvPr id="17" name="object 17"/>
          <p:cNvSpPr txBox="1"/>
          <p:nvPr/>
        </p:nvSpPr>
        <p:spPr>
          <a:xfrm>
            <a:off x="4385779" y="4997196"/>
            <a:ext cx="3459479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15" b="1">
                <a:solidFill>
                  <a:srgbClr val="008000"/>
                </a:solidFill>
                <a:latin typeface="Arial"/>
                <a:cs typeface="Arial"/>
              </a:rPr>
              <a:t>Mean, </a:t>
            </a:r>
            <a:r>
              <a:rPr dirty="0" sz="1400" spc="-5" b="1">
                <a:solidFill>
                  <a:srgbClr val="008000"/>
                </a:solidFill>
                <a:latin typeface="Arial"/>
                <a:cs typeface="Arial"/>
              </a:rPr>
              <a:t>variance of </a:t>
            </a:r>
            <a:r>
              <a:rPr dirty="0" sz="1400" spc="15" b="1">
                <a:solidFill>
                  <a:srgbClr val="008000"/>
                </a:solidFill>
                <a:latin typeface="Arial"/>
                <a:cs typeface="Arial"/>
              </a:rPr>
              <a:t>a </a:t>
            </a:r>
            <a:r>
              <a:rPr dirty="0" sz="1400" spc="-15" b="1">
                <a:solidFill>
                  <a:srgbClr val="008000"/>
                </a:solidFill>
                <a:latin typeface="Arial"/>
                <a:cs typeface="Arial"/>
              </a:rPr>
              <a:t>binomial</a:t>
            </a:r>
            <a:r>
              <a:rPr dirty="0" sz="1400" spc="-75" b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00" spc="-15" b="1">
                <a:solidFill>
                  <a:srgbClr val="008000"/>
                </a:solidFill>
                <a:latin typeface="Arial"/>
                <a:cs typeface="Arial"/>
              </a:rPr>
              <a:t>distribution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73891" y="6409435"/>
            <a:ext cx="1397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k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69976" y="341375"/>
            <a:ext cx="7525511" cy="640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718816" y="4267200"/>
            <a:ext cx="4901183" cy="11277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5638800"/>
            <a:ext cx="7924800" cy="92354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24200" y="1143000"/>
            <a:ext cx="2514600" cy="11430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64152" y="2874264"/>
            <a:ext cx="2218944" cy="9570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863206" y="3666235"/>
            <a:ext cx="2169795" cy="3886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>
              <a:lnSpc>
                <a:spcPts val="1420"/>
              </a:lnSpc>
              <a:spcBef>
                <a:spcPts val="160"/>
              </a:spcBef>
            </a:pPr>
            <a:r>
              <a:rPr dirty="0" sz="1200" spc="0">
                <a:solidFill>
                  <a:srgbClr val="008000"/>
                </a:solidFill>
                <a:latin typeface="Arial"/>
                <a:cs typeface="Arial"/>
              </a:rPr>
              <a:t>Number </a:t>
            </a:r>
            <a:r>
              <a:rPr dirty="0" sz="1200" spc="10">
                <a:solidFill>
                  <a:srgbClr val="008000"/>
                </a:solidFill>
                <a:latin typeface="Arial"/>
                <a:cs typeface="Arial"/>
              </a:rPr>
              <a:t>of distinct 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pairs </a:t>
            </a:r>
            <a:r>
              <a:rPr dirty="0" sz="1200" spc="10">
                <a:solidFill>
                  <a:srgbClr val="008000"/>
                </a:solidFill>
                <a:latin typeface="Arial"/>
                <a:cs typeface="Arial"/>
              </a:rPr>
              <a:t>of  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neighbors </a:t>
            </a:r>
            <a:r>
              <a:rPr dirty="0" sz="1200" spc="10">
                <a:solidFill>
                  <a:srgbClr val="008000"/>
                </a:solidFill>
                <a:latin typeface="Arial"/>
                <a:cs typeface="Arial"/>
              </a:rPr>
              <a:t>of </a:t>
            </a:r>
            <a:r>
              <a:rPr dirty="0" sz="1200" spc="0">
                <a:solidFill>
                  <a:srgbClr val="008000"/>
                </a:solidFill>
                <a:latin typeface="Arial"/>
                <a:cs typeface="Arial"/>
              </a:rPr>
              <a:t>node </a:t>
            </a:r>
            <a:r>
              <a:rPr dirty="0" sz="1200" spc="-5" i="1">
                <a:solidFill>
                  <a:srgbClr val="008000"/>
                </a:solidFill>
                <a:latin typeface="Arial"/>
                <a:cs typeface="Arial"/>
              </a:rPr>
              <a:t>i </a:t>
            </a:r>
            <a:r>
              <a:rPr dirty="0" sz="1200" spc="10">
                <a:solidFill>
                  <a:srgbClr val="008000"/>
                </a:solidFill>
                <a:latin typeface="Arial"/>
                <a:cs typeface="Arial"/>
              </a:rPr>
              <a:t>of </a:t>
            </a:r>
            <a:r>
              <a:rPr dirty="0" sz="1200" spc="-10">
                <a:solidFill>
                  <a:srgbClr val="008000"/>
                </a:solidFill>
                <a:latin typeface="Arial"/>
                <a:cs typeface="Arial"/>
              </a:rPr>
              <a:t>degree</a:t>
            </a:r>
            <a:r>
              <a:rPr dirty="0" sz="1200" spc="-1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200" spc="-15" i="1">
                <a:solidFill>
                  <a:srgbClr val="008000"/>
                </a:solidFill>
                <a:latin typeface="Arial"/>
                <a:cs typeface="Arial"/>
              </a:rPr>
              <a:t>k</a:t>
            </a:r>
            <a:r>
              <a:rPr dirty="0" baseline="-13888" sz="1200" spc="-22" i="1">
                <a:solidFill>
                  <a:srgbClr val="008000"/>
                </a:solidFill>
                <a:latin typeface="Arial"/>
                <a:cs typeface="Arial"/>
              </a:rPr>
              <a:t>i</a:t>
            </a:r>
            <a:endParaRPr baseline="-13888" sz="12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251082" y="3557675"/>
            <a:ext cx="541020" cy="317500"/>
          </a:xfrm>
          <a:custGeom>
            <a:avLst/>
            <a:gdLst/>
            <a:ahLst/>
            <a:cxnLst/>
            <a:rect l="l" t="t" r="r" b="b"/>
            <a:pathLst>
              <a:path w="541020" h="317500">
                <a:moveTo>
                  <a:pt x="81518" y="30126"/>
                </a:moveTo>
                <a:lnTo>
                  <a:pt x="67341" y="54935"/>
                </a:lnTo>
                <a:lnTo>
                  <a:pt x="526310" y="317205"/>
                </a:lnTo>
                <a:lnTo>
                  <a:pt x="540487" y="292394"/>
                </a:lnTo>
                <a:lnTo>
                  <a:pt x="81518" y="30126"/>
                </a:lnTo>
                <a:close/>
              </a:path>
              <a:path w="541020" h="317500">
                <a:moveTo>
                  <a:pt x="0" y="0"/>
                </a:moveTo>
                <a:lnTo>
                  <a:pt x="53163" y="79745"/>
                </a:lnTo>
                <a:lnTo>
                  <a:pt x="67341" y="54935"/>
                </a:lnTo>
                <a:lnTo>
                  <a:pt x="54936" y="47847"/>
                </a:lnTo>
                <a:lnTo>
                  <a:pt x="69113" y="23037"/>
                </a:lnTo>
                <a:lnTo>
                  <a:pt x="85568" y="23037"/>
                </a:lnTo>
                <a:lnTo>
                  <a:pt x="95695" y="5316"/>
                </a:lnTo>
                <a:lnTo>
                  <a:pt x="0" y="0"/>
                </a:lnTo>
                <a:close/>
              </a:path>
              <a:path w="541020" h="317500">
                <a:moveTo>
                  <a:pt x="69113" y="23037"/>
                </a:moveTo>
                <a:lnTo>
                  <a:pt x="54936" y="47847"/>
                </a:lnTo>
                <a:lnTo>
                  <a:pt x="67341" y="54935"/>
                </a:lnTo>
                <a:lnTo>
                  <a:pt x="81518" y="30126"/>
                </a:lnTo>
                <a:lnTo>
                  <a:pt x="69113" y="23037"/>
                </a:lnTo>
                <a:close/>
              </a:path>
              <a:path w="541020" h="317500">
                <a:moveTo>
                  <a:pt x="85568" y="23037"/>
                </a:moveTo>
                <a:lnTo>
                  <a:pt x="69113" y="23037"/>
                </a:lnTo>
                <a:lnTo>
                  <a:pt x="81518" y="30126"/>
                </a:lnTo>
                <a:lnTo>
                  <a:pt x="85568" y="23037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586607" y="3818635"/>
            <a:ext cx="1587500" cy="388620"/>
          </a:xfrm>
          <a:prstGeom prst="rect">
            <a:avLst/>
          </a:prstGeom>
        </p:spPr>
        <p:txBody>
          <a:bodyPr wrap="square" lIns="0" tIns="20320" rIns="0" bIns="0" rtlCol="0" vert="horz">
            <a:spAutoFit/>
          </a:bodyPr>
          <a:lstStyle/>
          <a:p>
            <a:pPr marL="12700" marR="5080">
              <a:lnSpc>
                <a:spcPts val="1420"/>
              </a:lnSpc>
              <a:spcBef>
                <a:spcPts val="160"/>
              </a:spcBef>
            </a:pPr>
            <a:r>
              <a:rPr dirty="0" sz="1200" spc="-15">
                <a:solidFill>
                  <a:srgbClr val="008000"/>
                </a:solidFill>
                <a:latin typeface="Arial"/>
                <a:cs typeface="Arial"/>
              </a:rPr>
              <a:t>Each </a:t>
            </a:r>
            <a:r>
              <a:rPr dirty="0" sz="1200">
                <a:solidFill>
                  <a:srgbClr val="008000"/>
                </a:solidFill>
                <a:latin typeface="Arial"/>
                <a:cs typeface="Arial"/>
              </a:rPr>
              <a:t>pair </a:t>
            </a:r>
            <a:r>
              <a:rPr dirty="0" sz="1200" spc="-5">
                <a:solidFill>
                  <a:srgbClr val="008000"/>
                </a:solidFill>
                <a:latin typeface="Arial"/>
                <a:cs typeface="Arial"/>
              </a:rPr>
              <a:t>is </a:t>
            </a:r>
            <a:r>
              <a:rPr dirty="0" sz="1200" spc="5">
                <a:solidFill>
                  <a:srgbClr val="008000"/>
                </a:solidFill>
                <a:latin typeface="Arial"/>
                <a:cs typeface="Arial"/>
              </a:rPr>
              <a:t>connected  </a:t>
            </a:r>
            <a:r>
              <a:rPr dirty="0" sz="1200" spc="10">
                <a:solidFill>
                  <a:srgbClr val="008000"/>
                </a:solidFill>
                <a:latin typeface="Arial"/>
                <a:cs typeface="Arial"/>
              </a:rPr>
              <a:t>with prob.</a:t>
            </a:r>
            <a:r>
              <a:rPr dirty="0" sz="1200" spc="-9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200" spc="35" i="1">
                <a:solidFill>
                  <a:srgbClr val="008000"/>
                </a:solidFill>
                <a:latin typeface="Arial"/>
                <a:cs typeface="Arial"/>
              </a:rPr>
              <a:t>p</a:t>
            </a:r>
            <a:endParaRPr sz="12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65756" y="3562140"/>
            <a:ext cx="390525" cy="316230"/>
          </a:xfrm>
          <a:custGeom>
            <a:avLst/>
            <a:gdLst/>
            <a:ahLst/>
            <a:cxnLst/>
            <a:rect l="l" t="t" r="r" b="b"/>
            <a:pathLst>
              <a:path w="390525" h="316229">
                <a:moveTo>
                  <a:pt x="314060" y="42396"/>
                </a:moveTo>
                <a:lnTo>
                  <a:pt x="0" y="293644"/>
                </a:lnTo>
                <a:lnTo>
                  <a:pt x="17849" y="315956"/>
                </a:lnTo>
                <a:lnTo>
                  <a:pt x="331910" y="64709"/>
                </a:lnTo>
                <a:lnTo>
                  <a:pt x="314060" y="42396"/>
                </a:lnTo>
                <a:close/>
              </a:path>
              <a:path w="390525" h="316229">
                <a:moveTo>
                  <a:pt x="374477" y="33470"/>
                </a:moveTo>
                <a:lnTo>
                  <a:pt x="325216" y="33470"/>
                </a:lnTo>
                <a:lnTo>
                  <a:pt x="343067" y="55783"/>
                </a:lnTo>
                <a:lnTo>
                  <a:pt x="331910" y="64709"/>
                </a:lnTo>
                <a:lnTo>
                  <a:pt x="349760" y="87022"/>
                </a:lnTo>
                <a:lnTo>
                  <a:pt x="374477" y="33470"/>
                </a:lnTo>
                <a:close/>
              </a:path>
              <a:path w="390525" h="316229">
                <a:moveTo>
                  <a:pt x="325216" y="33470"/>
                </a:moveTo>
                <a:lnTo>
                  <a:pt x="314060" y="42396"/>
                </a:lnTo>
                <a:lnTo>
                  <a:pt x="331910" y="64709"/>
                </a:lnTo>
                <a:lnTo>
                  <a:pt x="343067" y="55783"/>
                </a:lnTo>
                <a:lnTo>
                  <a:pt x="325216" y="33470"/>
                </a:lnTo>
                <a:close/>
              </a:path>
              <a:path w="390525" h="316229">
                <a:moveTo>
                  <a:pt x="389925" y="0"/>
                </a:moveTo>
                <a:lnTo>
                  <a:pt x="296209" y="20082"/>
                </a:lnTo>
                <a:lnTo>
                  <a:pt x="314060" y="42396"/>
                </a:lnTo>
                <a:lnTo>
                  <a:pt x="325216" y="33470"/>
                </a:lnTo>
                <a:lnTo>
                  <a:pt x="374477" y="33470"/>
                </a:lnTo>
                <a:lnTo>
                  <a:pt x="389925" y="0"/>
                </a:lnTo>
                <a:close/>
              </a:path>
            </a:pathLst>
          </a:custGeom>
          <a:solidFill>
            <a:srgbClr val="008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6936724" y="1314196"/>
            <a:ext cx="1953895" cy="754380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600" spc="-5" b="0">
                <a:solidFill>
                  <a:srgbClr val="008000"/>
                </a:solidFill>
                <a:latin typeface="Corbel"/>
                <a:cs typeface="Corbel"/>
              </a:rPr>
              <a:t>Where </a:t>
            </a:r>
            <a:r>
              <a:rPr dirty="0" sz="1600" b="0">
                <a:solidFill>
                  <a:srgbClr val="008000"/>
                </a:solidFill>
                <a:latin typeface="Corbel"/>
                <a:cs typeface="Corbel"/>
              </a:rPr>
              <a:t>e</a:t>
            </a:r>
            <a:r>
              <a:rPr dirty="0" baseline="-15151" sz="1650" b="0">
                <a:solidFill>
                  <a:srgbClr val="008000"/>
                </a:solidFill>
                <a:latin typeface="Corbel"/>
                <a:cs typeface="Corbel"/>
              </a:rPr>
              <a:t>i </a:t>
            </a:r>
            <a:r>
              <a:rPr dirty="0" sz="1600" b="0">
                <a:solidFill>
                  <a:srgbClr val="008000"/>
                </a:solidFill>
                <a:latin typeface="Corbel"/>
                <a:cs typeface="Corbel"/>
              </a:rPr>
              <a:t>is </a:t>
            </a:r>
            <a:r>
              <a:rPr dirty="0" sz="1600" spc="-5" b="0">
                <a:solidFill>
                  <a:srgbClr val="008000"/>
                </a:solidFill>
                <a:latin typeface="Corbel"/>
                <a:cs typeface="Corbel"/>
              </a:rPr>
              <a:t>the number  of </a:t>
            </a:r>
            <a:r>
              <a:rPr dirty="0" sz="1600" b="0">
                <a:solidFill>
                  <a:srgbClr val="008000"/>
                </a:solidFill>
                <a:latin typeface="Corbel"/>
                <a:cs typeface="Corbel"/>
              </a:rPr>
              <a:t>edges </a:t>
            </a:r>
            <a:r>
              <a:rPr dirty="0" sz="1600" spc="-5" b="0">
                <a:solidFill>
                  <a:srgbClr val="008000"/>
                </a:solidFill>
                <a:latin typeface="Corbel"/>
                <a:cs typeface="Corbel"/>
              </a:rPr>
              <a:t>between </a:t>
            </a:r>
            <a:r>
              <a:rPr dirty="0" sz="1600" spc="-20" b="0">
                <a:solidFill>
                  <a:srgbClr val="008000"/>
                </a:solidFill>
                <a:latin typeface="Corbel"/>
                <a:cs typeface="Corbel"/>
              </a:rPr>
              <a:t>i’s  </a:t>
            </a:r>
            <a:r>
              <a:rPr dirty="0" sz="1600" spc="-5" b="0">
                <a:solidFill>
                  <a:srgbClr val="008000"/>
                </a:solidFill>
                <a:latin typeface="Corbel"/>
                <a:cs typeface="Corbel"/>
              </a:rPr>
              <a:t>neighbors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4265119" y="3124200"/>
            <a:ext cx="309880" cy="509905"/>
          </a:xfrm>
          <a:custGeom>
            <a:avLst/>
            <a:gdLst/>
            <a:ahLst/>
            <a:cxnLst/>
            <a:rect l="l" t="t" r="r" b="b"/>
            <a:pathLst>
              <a:path w="309879" h="509904">
                <a:moveTo>
                  <a:pt x="0" y="0"/>
                </a:moveTo>
                <a:lnTo>
                  <a:pt x="309562" y="0"/>
                </a:lnTo>
                <a:lnTo>
                  <a:pt x="309562" y="509676"/>
                </a:lnTo>
                <a:lnTo>
                  <a:pt x="0" y="50967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948295" y="1348740"/>
            <a:ext cx="199771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8000FF"/>
                </a:solidFill>
                <a:latin typeface="Calibri"/>
                <a:cs typeface="Calibri"/>
              </a:rPr>
              <a:t>Remember: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24</a:t>
            </a:fld>
          </a:p>
        </p:txBody>
      </p:sp>
      <p:sp>
        <p:nvSpPr>
          <p:cNvPr id="16" name="object 16"/>
          <p:cNvSpPr txBox="1"/>
          <p:nvPr/>
        </p:nvSpPr>
        <p:spPr>
          <a:xfrm>
            <a:off x="948295" y="2199132"/>
            <a:ext cx="6205855" cy="1351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5">
                <a:latin typeface="Calibri"/>
                <a:cs typeface="Calibri"/>
              </a:rPr>
              <a:t>Edges </a:t>
            </a:r>
            <a:r>
              <a:rPr dirty="0" sz="3200">
                <a:latin typeface="Calibri"/>
                <a:cs typeface="Calibri"/>
              </a:rPr>
              <a:t>in </a:t>
            </a:r>
            <a:r>
              <a:rPr dirty="0" sz="3200" b="1" i="1">
                <a:latin typeface="Times New Roman"/>
                <a:cs typeface="Times New Roman"/>
              </a:rPr>
              <a:t>G</a:t>
            </a:r>
            <a:r>
              <a:rPr dirty="0" baseline="-18518" sz="3150" b="1" i="1">
                <a:latin typeface="Times New Roman"/>
                <a:cs typeface="Times New Roman"/>
              </a:rPr>
              <a:t>np </a:t>
            </a:r>
            <a:r>
              <a:rPr dirty="0" sz="3200" spc="-5">
                <a:latin typeface="Calibri"/>
                <a:cs typeface="Calibri"/>
              </a:rPr>
              <a:t>appear </a:t>
            </a:r>
            <a:r>
              <a:rPr dirty="0" sz="3200">
                <a:latin typeface="Calibri"/>
                <a:cs typeface="Calibri"/>
              </a:rPr>
              <a:t>i.i.d. with </a:t>
            </a:r>
            <a:r>
              <a:rPr dirty="0" sz="3200" spc="-15">
                <a:latin typeface="Calibri"/>
                <a:cs typeface="Calibri"/>
              </a:rPr>
              <a:t>prob.</a:t>
            </a:r>
            <a:r>
              <a:rPr dirty="0" sz="3200" spc="-30">
                <a:latin typeface="Calibri"/>
                <a:cs typeface="Calibri"/>
              </a:rPr>
              <a:t> </a:t>
            </a:r>
            <a:r>
              <a:rPr dirty="0" sz="3200" b="1" i="1">
                <a:latin typeface="Times New Roman"/>
                <a:cs typeface="Times New Roman"/>
              </a:rPr>
              <a:t>p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60"/>
              </a:spcBef>
            </a:pP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So, </a:t>
            </a:r>
            <a:r>
              <a:rPr dirty="0" sz="3200" spc="-15" b="1" u="heavy">
                <a:solidFill>
                  <a:srgbClr val="0000FF"/>
                </a:solidFill>
                <a:latin typeface="Calibri"/>
                <a:cs typeface="Calibri"/>
              </a:rPr>
              <a:t>expected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E[</a:t>
            </a:r>
            <a:r>
              <a:rPr dirty="0" sz="3200" spc="-5" b="1" i="1">
                <a:solidFill>
                  <a:srgbClr val="0000FF"/>
                </a:solidFill>
                <a:latin typeface="Calibri"/>
                <a:cs typeface="Calibri"/>
              </a:rPr>
              <a:t>e</a:t>
            </a:r>
            <a:r>
              <a:rPr dirty="0" baseline="-18518" sz="3150" spc="-7" b="1" i="1">
                <a:solidFill>
                  <a:srgbClr val="0000FF"/>
                </a:solidFill>
                <a:latin typeface="Calibri"/>
                <a:cs typeface="Calibri"/>
              </a:rPr>
              <a:t>i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]</a:t>
            </a:r>
            <a:r>
              <a:rPr dirty="0" sz="3200" spc="-3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is: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48295" y="4497323"/>
            <a:ext cx="181102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" b="1">
                <a:solidFill>
                  <a:srgbClr val="FF0066"/>
                </a:solidFill>
                <a:latin typeface="Calibri"/>
                <a:cs typeface="Calibri"/>
              </a:rPr>
              <a:t>Then</a:t>
            </a:r>
            <a:r>
              <a:rPr dirty="0" sz="3200" spc="-70" b="1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3200" spc="-5" b="1" i="1">
                <a:solidFill>
                  <a:srgbClr val="FF0066"/>
                </a:solidFill>
                <a:latin typeface="Calibri"/>
                <a:cs typeface="Calibri"/>
              </a:rPr>
              <a:t>E[C</a:t>
            </a:r>
            <a:r>
              <a:rPr dirty="0" baseline="-18518" sz="3150" spc="-7" b="1" i="1">
                <a:solidFill>
                  <a:srgbClr val="FF0066"/>
                </a:solidFill>
                <a:latin typeface="Calibri"/>
                <a:cs typeface="Calibri"/>
              </a:rPr>
              <a:t>i</a:t>
            </a:r>
            <a:r>
              <a:rPr dirty="0" sz="3200" spc="-5" b="1" i="1">
                <a:solidFill>
                  <a:srgbClr val="FF0066"/>
                </a:solidFill>
                <a:latin typeface="Calibri"/>
                <a:cs typeface="Calibri"/>
              </a:rPr>
              <a:t>]</a:t>
            </a:r>
            <a:r>
              <a:rPr dirty="0" sz="3200" spc="-5" b="1">
                <a:solidFill>
                  <a:srgbClr val="FF0066"/>
                </a:solidFill>
                <a:latin typeface="Calibri"/>
                <a:cs typeface="Calibri"/>
              </a:rPr>
              <a:t>: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2776" y="341375"/>
            <a:ext cx="8129016" cy="640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095" y="1296924"/>
            <a:ext cx="643572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pc="-20"/>
              <a:t>Graph </a:t>
            </a:r>
            <a:r>
              <a:rPr dirty="0" spc="-15"/>
              <a:t>structure </a:t>
            </a:r>
            <a:r>
              <a:rPr dirty="0"/>
              <a:t>of </a:t>
            </a:r>
            <a:r>
              <a:rPr dirty="0" i="1">
                <a:latin typeface="Times New Roman"/>
                <a:cs typeface="Times New Roman"/>
              </a:rPr>
              <a:t>G</a:t>
            </a:r>
            <a:r>
              <a:rPr dirty="0" baseline="-18518" sz="3150" i="1">
                <a:latin typeface="Times New Roman"/>
                <a:cs typeface="Times New Roman"/>
              </a:rPr>
              <a:t>np </a:t>
            </a:r>
            <a:r>
              <a:rPr dirty="0" sz="3200" spc="-5"/>
              <a:t>as </a:t>
            </a:r>
            <a:r>
              <a:rPr dirty="0" sz="3200" i="1">
                <a:latin typeface="Calibri"/>
                <a:cs typeface="Calibri"/>
              </a:rPr>
              <a:t>p</a:t>
            </a:r>
            <a:r>
              <a:rPr dirty="0" sz="3200" spc="-20" i="1">
                <a:latin typeface="Calibri"/>
                <a:cs typeface="Calibri"/>
              </a:rPr>
              <a:t> </a:t>
            </a:r>
            <a:r>
              <a:rPr dirty="0" sz="3200" spc="-10"/>
              <a:t>changes: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095" y="3659123"/>
            <a:ext cx="7867650" cy="2410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67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Emergence </a:t>
            </a:r>
            <a:r>
              <a:rPr dirty="0" sz="3200" b="1">
                <a:solidFill>
                  <a:srgbClr val="008000"/>
                </a:solidFill>
                <a:latin typeface="Calibri"/>
                <a:cs typeface="Calibri"/>
              </a:rPr>
              <a:t>of a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giant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component:</a:t>
            </a:r>
            <a:endParaRPr sz="3200">
              <a:latin typeface="Calibri"/>
              <a:cs typeface="Calibri"/>
            </a:endParaRPr>
          </a:p>
          <a:p>
            <a:pPr marL="808355" indent="-795655">
              <a:lnSpc>
                <a:spcPts val="3190"/>
              </a:lnSpc>
              <a:buClr>
                <a:srgbClr val="F0AD00"/>
              </a:buClr>
              <a:buSzPct val="78571"/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800" spc="-30">
                <a:latin typeface="Calibri"/>
                <a:cs typeface="Calibri"/>
              </a:rPr>
              <a:t>avg. </a:t>
            </a:r>
            <a:r>
              <a:rPr dirty="0" sz="2800" spc="-15">
                <a:latin typeface="Calibri"/>
                <a:cs typeface="Calibri"/>
              </a:rPr>
              <a:t>degree </a:t>
            </a:r>
            <a:r>
              <a:rPr dirty="0" sz="2800" spc="-5" b="1" i="1">
                <a:latin typeface="Times New Roman"/>
                <a:cs typeface="Times New Roman"/>
              </a:rPr>
              <a:t>k=2E/n </a:t>
            </a:r>
            <a:r>
              <a:rPr dirty="0" sz="2800" spc="-5">
                <a:latin typeface="Calibri"/>
                <a:cs typeface="Calibri"/>
              </a:rPr>
              <a:t>or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p=k/(n-1)</a:t>
            </a:r>
            <a:endParaRPr sz="2800">
              <a:latin typeface="Times New Roman"/>
              <a:cs typeface="Times New Roman"/>
            </a:endParaRPr>
          </a:p>
          <a:p>
            <a:pPr lvl="1" marL="694055" indent="-342900">
              <a:lnSpc>
                <a:spcPct val="100000"/>
              </a:lnSpc>
              <a:spcBef>
                <a:spcPts val="254"/>
              </a:spcBef>
              <a:buClr>
                <a:srgbClr val="60B5CC"/>
              </a:buClr>
              <a:buFont typeface="Malgun Gothic"/>
              <a:buChar char="▪"/>
              <a:tabLst>
                <a:tab pos="693420" algn="l"/>
                <a:tab pos="694055" algn="l"/>
              </a:tabLst>
            </a:pPr>
            <a:r>
              <a:rPr dirty="0" sz="2400" spc="-10" b="1">
                <a:latin typeface="Calibri"/>
                <a:cs typeface="Calibri"/>
              </a:rPr>
              <a:t>Degree </a:t>
            </a:r>
            <a:r>
              <a:rPr dirty="0" sz="2400" spc="-5" b="1" i="1">
                <a:latin typeface="Times New Roman"/>
                <a:cs typeface="Times New Roman"/>
              </a:rPr>
              <a:t>k=1-ε</a:t>
            </a:r>
            <a:r>
              <a:rPr dirty="0" sz="2400" spc="-5" b="1">
                <a:latin typeface="Calibri"/>
                <a:cs typeface="Calibri"/>
              </a:rPr>
              <a:t>: </a:t>
            </a:r>
            <a:r>
              <a:rPr dirty="0" sz="2400">
                <a:latin typeface="Calibri"/>
                <a:cs typeface="Calibri"/>
              </a:rPr>
              <a:t>all </a:t>
            </a:r>
            <a:r>
              <a:rPr dirty="0" sz="2400" spc="-10">
                <a:latin typeface="Calibri"/>
                <a:cs typeface="Calibri"/>
              </a:rPr>
              <a:t>components </a:t>
            </a:r>
            <a:r>
              <a:rPr dirty="0" sz="2400" spc="-15">
                <a:latin typeface="Calibri"/>
                <a:cs typeface="Calibri"/>
              </a:rPr>
              <a:t>are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 spc="-20">
                <a:latin typeface="Calibri"/>
                <a:cs typeface="Calibri"/>
              </a:rPr>
              <a:t>size </a:t>
            </a:r>
            <a:r>
              <a:rPr dirty="0" sz="2400" spc="-5" i="1">
                <a:latin typeface="Times New Roman"/>
                <a:cs typeface="Times New Roman"/>
              </a:rPr>
              <a:t>Ω(log</a:t>
            </a:r>
            <a:r>
              <a:rPr dirty="0" sz="2400" spc="125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n)</a:t>
            </a:r>
            <a:endParaRPr sz="2400">
              <a:latin typeface="Times New Roman"/>
              <a:cs typeface="Times New Roman"/>
            </a:endParaRPr>
          </a:p>
          <a:p>
            <a:pPr lvl="1" marL="694055" indent="-342900">
              <a:lnSpc>
                <a:spcPts val="2735"/>
              </a:lnSpc>
              <a:spcBef>
                <a:spcPts val="215"/>
              </a:spcBef>
              <a:buClr>
                <a:srgbClr val="60B5CC"/>
              </a:buClr>
              <a:buFont typeface="Malgun Gothic"/>
              <a:buChar char="▪"/>
              <a:tabLst>
                <a:tab pos="693420" algn="l"/>
                <a:tab pos="694055" algn="l"/>
              </a:tabLst>
            </a:pPr>
            <a:r>
              <a:rPr dirty="0" sz="2400" spc="-10" b="1">
                <a:latin typeface="Calibri"/>
                <a:cs typeface="Calibri"/>
              </a:rPr>
              <a:t>Degree </a:t>
            </a:r>
            <a:r>
              <a:rPr dirty="0" sz="2400" spc="-5" b="1" i="1">
                <a:latin typeface="Times New Roman"/>
                <a:cs typeface="Times New Roman"/>
              </a:rPr>
              <a:t>k=1+ε</a:t>
            </a:r>
            <a:r>
              <a:rPr dirty="0" sz="2400" spc="-5" b="1">
                <a:latin typeface="Calibri"/>
                <a:cs typeface="Calibri"/>
              </a:rPr>
              <a:t>: </a:t>
            </a:r>
            <a:r>
              <a:rPr dirty="0" sz="2400">
                <a:latin typeface="Calibri"/>
                <a:cs typeface="Calibri"/>
              </a:rPr>
              <a:t>1 </a:t>
            </a:r>
            <a:r>
              <a:rPr dirty="0" sz="2400" spc="-10">
                <a:latin typeface="Calibri"/>
                <a:cs typeface="Calibri"/>
              </a:rPr>
              <a:t>component </a:t>
            </a:r>
            <a:r>
              <a:rPr dirty="0" sz="2400" spc="-5">
                <a:latin typeface="Calibri"/>
                <a:cs typeface="Calibri"/>
              </a:rPr>
              <a:t>of </a:t>
            </a:r>
            <a:r>
              <a:rPr dirty="0" sz="2400" spc="-20">
                <a:latin typeface="Calibri"/>
                <a:cs typeface="Calibri"/>
              </a:rPr>
              <a:t>size </a:t>
            </a:r>
            <a:r>
              <a:rPr dirty="0" sz="2400" i="1">
                <a:latin typeface="Times New Roman"/>
                <a:cs typeface="Times New Roman"/>
              </a:rPr>
              <a:t>Ω(n), </a:t>
            </a:r>
            <a:r>
              <a:rPr dirty="0" sz="2400" spc="-10">
                <a:latin typeface="Calibri"/>
                <a:cs typeface="Calibri"/>
              </a:rPr>
              <a:t>others </a:t>
            </a:r>
            <a:r>
              <a:rPr dirty="0" sz="2400" spc="-20">
                <a:latin typeface="Calibri"/>
                <a:cs typeface="Calibri"/>
              </a:rPr>
              <a:t>have</a:t>
            </a:r>
            <a:r>
              <a:rPr dirty="0" sz="2400" spc="2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  <a:p>
            <a:pPr marL="694055">
              <a:lnSpc>
                <a:spcPts val="2735"/>
              </a:lnSpc>
            </a:pPr>
            <a:r>
              <a:rPr dirty="0" sz="2400" spc="-5" i="1">
                <a:latin typeface="Times New Roman"/>
                <a:cs typeface="Times New Roman"/>
              </a:rPr>
              <a:t>Ω(log</a:t>
            </a:r>
            <a:r>
              <a:rPr dirty="0" sz="2400" spc="-80" i="1">
                <a:latin typeface="Times New Roman"/>
                <a:cs typeface="Times New Roman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n)</a:t>
            </a:r>
            <a:endParaRPr sz="2400">
              <a:latin typeface="Times New Roman"/>
              <a:cs typeface="Times New Roman"/>
            </a:endParaRPr>
          </a:p>
          <a:p>
            <a:pPr lvl="2" marL="890905" indent="-228600">
              <a:lnSpc>
                <a:spcPct val="100000"/>
              </a:lnSpc>
              <a:spcBef>
                <a:spcPts val="215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15">
                <a:latin typeface="Calibri"/>
                <a:cs typeface="Calibri"/>
              </a:rPr>
              <a:t>Each </a:t>
            </a:r>
            <a:r>
              <a:rPr dirty="0" sz="2400" spc="-5">
                <a:latin typeface="Calibri"/>
                <a:cs typeface="Calibri"/>
              </a:rPr>
              <a:t>node has </a:t>
            </a:r>
            <a:r>
              <a:rPr dirty="0" sz="2400" spc="-15">
                <a:latin typeface="Calibri"/>
                <a:cs typeface="Calibri"/>
              </a:rPr>
              <a:t>at </a:t>
            </a:r>
            <a:r>
              <a:rPr dirty="0" sz="2400" spc="-10">
                <a:latin typeface="Calibri"/>
                <a:cs typeface="Calibri"/>
              </a:rPr>
              <a:t>least </a:t>
            </a:r>
            <a:r>
              <a:rPr dirty="0" sz="2400" spc="-5">
                <a:latin typeface="Calibri"/>
                <a:cs typeface="Calibri"/>
              </a:rPr>
              <a:t>one </a:t>
            </a:r>
            <a:r>
              <a:rPr dirty="0" sz="2400" spc="-10">
                <a:latin typeface="Calibri"/>
                <a:cs typeface="Calibri"/>
              </a:rPr>
              <a:t>edge </a:t>
            </a:r>
            <a:r>
              <a:rPr dirty="0" sz="2400" spc="-5">
                <a:latin typeface="Calibri"/>
                <a:cs typeface="Calibri"/>
              </a:rPr>
              <a:t>in</a:t>
            </a:r>
            <a:r>
              <a:rPr dirty="0" sz="2400" spc="5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expectation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838200" y="2401669"/>
            <a:ext cx="7620000" cy="0"/>
          </a:xfrm>
          <a:custGeom>
            <a:avLst/>
            <a:gdLst/>
            <a:ahLst/>
            <a:cxnLst/>
            <a:rect l="l" t="t" r="r" b="b"/>
            <a:pathLst>
              <a:path w="7620000" h="0">
                <a:moveTo>
                  <a:pt x="0" y="0"/>
                </a:moveTo>
                <a:lnTo>
                  <a:pt x="7620000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838199" y="2173069"/>
            <a:ext cx="0" cy="457200"/>
          </a:xfrm>
          <a:custGeom>
            <a:avLst/>
            <a:gdLst/>
            <a:ahLst/>
            <a:cxnLst/>
            <a:rect l="l" t="t" r="r" b="b"/>
            <a:pathLst>
              <a:path w="0" h="457200">
                <a:moveTo>
                  <a:pt x="1" y="0"/>
                </a:moveTo>
                <a:lnTo>
                  <a:pt x="0" y="457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458199" y="2173069"/>
            <a:ext cx="0" cy="457200"/>
          </a:xfrm>
          <a:custGeom>
            <a:avLst/>
            <a:gdLst/>
            <a:ahLst/>
            <a:cxnLst/>
            <a:rect l="l" t="t" r="r" b="b"/>
            <a:pathLst>
              <a:path w="0" h="457200">
                <a:moveTo>
                  <a:pt x="1" y="0"/>
                </a:moveTo>
                <a:lnTo>
                  <a:pt x="0" y="4572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69979" y="2154427"/>
            <a:ext cx="3835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Times New Roman"/>
                <a:cs typeface="Times New Roman"/>
              </a:rPr>
              <a:t>p=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62199" y="2325469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1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878806" y="2498851"/>
            <a:ext cx="1046480" cy="5353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1/(n-1)</a:t>
            </a:r>
            <a:endParaRPr sz="1200">
              <a:latin typeface="Arial"/>
              <a:cs typeface="Arial"/>
            </a:endParaRPr>
          </a:p>
          <a:p>
            <a:pPr algn="ctr" marL="12700" marR="5080">
              <a:lnSpc>
                <a:spcPts val="1200"/>
              </a:lnSpc>
              <a:spcBef>
                <a:spcPts val="190"/>
              </a:spcBef>
            </a:pPr>
            <a:r>
              <a:rPr dirty="0" sz="1100" spc="-25">
                <a:latin typeface="Arial"/>
                <a:cs typeface="Arial"/>
              </a:rPr>
              <a:t>Giant</a:t>
            </a:r>
            <a:r>
              <a:rPr dirty="0" sz="1100" spc="-11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component  appears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147218" y="2498851"/>
            <a:ext cx="947419" cy="6997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c/(n-1)</a:t>
            </a:r>
            <a:endParaRPr sz="1200">
              <a:latin typeface="Arial"/>
              <a:cs typeface="Arial"/>
            </a:endParaRPr>
          </a:p>
          <a:p>
            <a:pPr algn="ctr" marL="12700" marR="5080">
              <a:lnSpc>
                <a:spcPct val="94500"/>
              </a:lnSpc>
              <a:spcBef>
                <a:spcPts val="125"/>
              </a:spcBef>
            </a:pPr>
            <a:r>
              <a:rPr dirty="0" sz="1100" spc="-25">
                <a:latin typeface="Arial"/>
                <a:cs typeface="Arial"/>
              </a:rPr>
              <a:t>Avg. </a:t>
            </a:r>
            <a:r>
              <a:rPr dirty="0" sz="1100" spc="-20">
                <a:latin typeface="Arial"/>
                <a:cs typeface="Arial"/>
              </a:rPr>
              <a:t>deg</a:t>
            </a:r>
            <a:r>
              <a:rPr dirty="0" sz="1100" spc="-135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const.  Lots </a:t>
            </a:r>
            <a:r>
              <a:rPr dirty="0" sz="1100" spc="-15">
                <a:latin typeface="Arial"/>
                <a:cs typeface="Arial"/>
              </a:rPr>
              <a:t>of</a:t>
            </a:r>
            <a:r>
              <a:rPr dirty="0" sz="1100" spc="-114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isolated  nodes.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581398" y="2325469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1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229225" y="2498851"/>
            <a:ext cx="899160" cy="53530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ctr" marL="12700" marR="5080" indent="-4445">
              <a:lnSpc>
                <a:spcPct val="97400"/>
              </a:lnSpc>
              <a:spcBef>
                <a:spcPts val="135"/>
              </a:spcBef>
            </a:pPr>
            <a:r>
              <a:rPr dirty="0" sz="1200" spc="-5" b="1">
                <a:latin typeface="Arial"/>
                <a:cs typeface="Arial"/>
              </a:rPr>
              <a:t>log(n)/(n-1)  </a:t>
            </a:r>
            <a:r>
              <a:rPr dirty="0" sz="1100" spc="-25">
                <a:latin typeface="Arial"/>
                <a:cs typeface="Arial"/>
              </a:rPr>
              <a:t>Fewer</a:t>
            </a:r>
            <a:r>
              <a:rPr dirty="0" sz="1100" spc="-110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isolated  </a:t>
            </a:r>
            <a:r>
              <a:rPr dirty="0" sz="1100" spc="-25">
                <a:latin typeface="Arial"/>
                <a:cs typeface="Arial"/>
              </a:rPr>
              <a:t>nodes.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638798" y="2325721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1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329361" y="2498851"/>
            <a:ext cx="1136015" cy="370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1420"/>
              </a:lnSpc>
              <a:spcBef>
                <a:spcPts val="100"/>
              </a:spcBef>
            </a:pPr>
            <a:r>
              <a:rPr dirty="0" sz="1200" spc="-5" b="1">
                <a:latin typeface="Arial"/>
                <a:cs typeface="Arial"/>
              </a:rPr>
              <a:t>2*log(n)/(n-1)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ts val="1300"/>
              </a:lnSpc>
            </a:pPr>
            <a:r>
              <a:rPr dirty="0" sz="1100" spc="-20">
                <a:latin typeface="Arial"/>
                <a:cs typeface="Arial"/>
              </a:rPr>
              <a:t>No isolated</a:t>
            </a:r>
            <a:r>
              <a:rPr dirty="0" sz="1100" spc="-130">
                <a:latin typeface="Arial"/>
                <a:cs typeface="Arial"/>
              </a:rPr>
              <a:t> </a:t>
            </a:r>
            <a:r>
              <a:rPr dirty="0" sz="1100" spc="-25">
                <a:latin typeface="Arial"/>
                <a:cs typeface="Arial"/>
              </a:rPr>
              <a:t>nodes.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857999" y="2325469"/>
            <a:ext cx="0" cy="152400"/>
          </a:xfrm>
          <a:custGeom>
            <a:avLst/>
            <a:gdLst/>
            <a:ahLst/>
            <a:cxnLst/>
            <a:rect l="l" t="t" r="r" b="b"/>
            <a:pathLst>
              <a:path w="0" h="152400">
                <a:moveTo>
                  <a:pt x="1" y="0"/>
                </a:moveTo>
                <a:lnTo>
                  <a:pt x="0" y="15240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63834" y="2651251"/>
            <a:ext cx="681355" cy="793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72390">
              <a:lnSpc>
                <a:spcPts val="198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0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945"/>
              </a:lnSpc>
            </a:pPr>
            <a:r>
              <a:rPr dirty="0" sz="1800" b="1">
                <a:solidFill>
                  <a:srgbClr val="0000FF"/>
                </a:solidFill>
                <a:latin typeface="Corbel"/>
                <a:cs typeface="Corbel"/>
              </a:rPr>
              <a:t>Em</a:t>
            </a:r>
            <a:r>
              <a:rPr dirty="0" sz="1800" spc="-5" b="1">
                <a:solidFill>
                  <a:srgbClr val="0000FF"/>
                </a:solidFill>
                <a:latin typeface="Corbel"/>
                <a:cs typeface="Corbel"/>
              </a:rPr>
              <a:t>p</a:t>
            </a:r>
            <a:r>
              <a:rPr dirty="0" sz="1800" spc="0" b="1">
                <a:solidFill>
                  <a:srgbClr val="0000FF"/>
                </a:solidFill>
                <a:latin typeface="Corbel"/>
                <a:cs typeface="Corbel"/>
              </a:rPr>
              <a:t>t</a:t>
            </a:r>
            <a:r>
              <a:rPr dirty="0" sz="1800" b="1">
                <a:solidFill>
                  <a:srgbClr val="0000FF"/>
                </a:solidFill>
                <a:latin typeface="Corbel"/>
                <a:cs typeface="Corbel"/>
              </a:rPr>
              <a:t>y</a:t>
            </a:r>
            <a:endParaRPr sz="1800">
              <a:latin typeface="Corbel"/>
              <a:cs typeface="Corbel"/>
            </a:endParaRPr>
          </a:p>
          <a:p>
            <a:pPr algn="ctr">
              <a:lnSpc>
                <a:spcPts val="2125"/>
              </a:lnSpc>
            </a:pPr>
            <a:r>
              <a:rPr dirty="0" sz="1800" spc="-5" b="1">
                <a:solidFill>
                  <a:srgbClr val="0000FF"/>
                </a:solidFill>
                <a:latin typeface="Corbel"/>
                <a:cs typeface="Corbel"/>
              </a:rPr>
              <a:t>graph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24</a:t>
            </a:fld>
          </a:p>
        </p:txBody>
      </p:sp>
      <p:sp>
        <p:nvSpPr>
          <p:cNvPr id="20" name="object 20"/>
          <p:cNvSpPr txBox="1"/>
          <p:nvPr/>
        </p:nvSpPr>
        <p:spPr>
          <a:xfrm>
            <a:off x="7938271" y="2651251"/>
            <a:ext cx="986155" cy="754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59055">
              <a:lnSpc>
                <a:spcPts val="1825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ts val="1789"/>
              </a:lnSpc>
            </a:pPr>
            <a:r>
              <a:rPr dirty="0" sz="1800" spc="-5" b="1">
                <a:solidFill>
                  <a:srgbClr val="0000FF"/>
                </a:solidFill>
                <a:latin typeface="Corbel"/>
                <a:cs typeface="Corbel"/>
              </a:rPr>
              <a:t>Complete</a:t>
            </a:r>
            <a:endParaRPr sz="1800">
              <a:latin typeface="Corbel"/>
              <a:cs typeface="Corbel"/>
            </a:endParaRPr>
          </a:p>
          <a:p>
            <a:pPr algn="ctr">
              <a:lnSpc>
                <a:spcPts val="2125"/>
              </a:lnSpc>
            </a:pPr>
            <a:r>
              <a:rPr dirty="0" sz="1800" spc="-5" b="1">
                <a:solidFill>
                  <a:srgbClr val="0000FF"/>
                </a:solidFill>
                <a:latin typeface="Corbel"/>
                <a:cs typeface="Corbel"/>
              </a:rPr>
              <a:t>graph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876018" y="1957323"/>
            <a:ext cx="111315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5">
                <a:solidFill>
                  <a:srgbClr val="008000"/>
                </a:solidFill>
                <a:latin typeface="Arial"/>
                <a:cs typeface="Arial"/>
              </a:rPr>
              <a:t>Avg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deg 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=</a:t>
            </a:r>
            <a:r>
              <a:rPr dirty="0" sz="1600" spc="-6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1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69976" y="347472"/>
            <a:ext cx="6583680" cy="6339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48295" y="5615940"/>
            <a:ext cx="574675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0">
                <a:latin typeface="Calibri"/>
                <a:cs typeface="Calibri"/>
              </a:rPr>
              <a:t>G</a:t>
            </a:r>
            <a:r>
              <a:rPr dirty="0" baseline="-18518" sz="3150" spc="0">
                <a:latin typeface="Calibri"/>
                <a:cs typeface="Calibri"/>
              </a:rPr>
              <a:t>np</a:t>
            </a:r>
            <a:r>
              <a:rPr dirty="0" sz="3200" spc="0">
                <a:latin typeface="Calibri"/>
                <a:cs typeface="Calibri"/>
              </a:rPr>
              <a:t>, </a:t>
            </a:r>
            <a:r>
              <a:rPr dirty="0" sz="3200" i="1">
                <a:latin typeface="Times New Roman"/>
                <a:cs typeface="Times New Roman"/>
              </a:rPr>
              <a:t>n</a:t>
            </a:r>
            <a:r>
              <a:rPr dirty="0" sz="3200">
                <a:latin typeface="Calibri"/>
                <a:cs typeface="Calibri"/>
              </a:rPr>
              <a:t>=100,000, </a:t>
            </a:r>
            <a:r>
              <a:rPr dirty="0" sz="3200" spc="-5" i="1">
                <a:latin typeface="Times New Roman"/>
                <a:cs typeface="Times New Roman"/>
              </a:rPr>
              <a:t>k=p(n-1) </a:t>
            </a:r>
            <a:r>
              <a:rPr dirty="0" sz="3200">
                <a:latin typeface="Calibri"/>
                <a:cs typeface="Calibri"/>
              </a:rPr>
              <a:t>= 0.5 …</a:t>
            </a:r>
            <a:r>
              <a:rPr dirty="0" sz="3200" spc="-120">
                <a:latin typeface="Calibri"/>
                <a:cs typeface="Calibri"/>
              </a:rPr>
              <a:t> </a:t>
            </a:r>
            <a:r>
              <a:rPr dirty="0" sz="3200">
                <a:latin typeface="Calibri"/>
                <a:cs typeface="Calibri"/>
              </a:rPr>
              <a:t>3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52400" y="1600200"/>
            <a:ext cx="5943600" cy="3962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50221" y="3048000"/>
            <a:ext cx="0" cy="2057400"/>
          </a:xfrm>
          <a:custGeom>
            <a:avLst/>
            <a:gdLst/>
            <a:ahLst/>
            <a:cxnLst/>
            <a:rect l="l" t="t" r="r" b="b"/>
            <a:pathLst>
              <a:path w="0" h="2057400">
                <a:moveTo>
                  <a:pt x="0" y="0"/>
                </a:moveTo>
                <a:lnTo>
                  <a:pt x="1" y="205740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272784" y="1828800"/>
            <a:ext cx="2871216" cy="23926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623048" y="4407916"/>
            <a:ext cx="2172970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237490" marR="5080" indent="-225425">
              <a:lnSpc>
                <a:spcPts val="1900"/>
              </a:lnSpc>
              <a:spcBef>
                <a:spcPts val="180"/>
              </a:spcBef>
            </a:pPr>
            <a:r>
              <a:rPr dirty="0" sz="1600">
                <a:latin typeface="Arial"/>
                <a:cs typeface="Arial"/>
              </a:rPr>
              <a:t>Fraction </a:t>
            </a:r>
            <a:r>
              <a:rPr dirty="0" sz="1600" spc="15">
                <a:latin typeface="Arial"/>
                <a:cs typeface="Arial"/>
              </a:rPr>
              <a:t>of </a:t>
            </a:r>
            <a:r>
              <a:rPr dirty="0" sz="1600" spc="0">
                <a:latin typeface="Arial"/>
                <a:cs typeface="Arial"/>
              </a:rPr>
              <a:t>nodes </a:t>
            </a:r>
            <a:r>
              <a:rPr dirty="0" sz="1600" spc="-10">
                <a:latin typeface="Arial"/>
                <a:cs typeface="Arial"/>
              </a:rPr>
              <a:t>in </a:t>
            </a:r>
            <a:r>
              <a:rPr dirty="0" sz="1600" spc="0">
                <a:latin typeface="Arial"/>
                <a:cs typeface="Arial"/>
              </a:rPr>
              <a:t>the  </a:t>
            </a:r>
            <a:r>
              <a:rPr dirty="0" sz="1600" spc="-10">
                <a:latin typeface="Arial"/>
                <a:cs typeface="Arial"/>
              </a:rPr>
              <a:t>largest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15">
                <a:latin typeface="Arial"/>
                <a:cs typeface="Arial"/>
              </a:rPr>
              <a:t>component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24</a:t>
            </a:fld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450324" y="2730500"/>
            <a:ext cx="922655" cy="2997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 b="0">
                <a:solidFill>
                  <a:srgbClr val="000000"/>
                </a:solidFill>
                <a:latin typeface="Corbel"/>
                <a:cs typeface="Corbel"/>
              </a:rPr>
              <a:t>p*</a:t>
            </a:r>
            <a:r>
              <a:rPr dirty="0" sz="1800" spc="-20" b="0">
                <a:solidFill>
                  <a:srgbClr val="000000"/>
                </a:solidFill>
                <a:latin typeface="Corbel"/>
                <a:cs typeface="Corbel"/>
              </a:rPr>
              <a:t>(</a:t>
            </a:r>
            <a:r>
              <a:rPr dirty="0" sz="1800" b="0">
                <a:solidFill>
                  <a:srgbClr val="000000"/>
                </a:solidFill>
                <a:latin typeface="Corbel"/>
                <a:cs typeface="Corbel"/>
              </a:rPr>
              <a:t>n-</a:t>
            </a:r>
            <a:r>
              <a:rPr dirty="0" sz="1800" spc="0" b="0">
                <a:solidFill>
                  <a:srgbClr val="000000"/>
                </a:solidFill>
                <a:latin typeface="Corbel"/>
                <a:cs typeface="Corbel"/>
              </a:rPr>
              <a:t>1</a:t>
            </a:r>
            <a:r>
              <a:rPr dirty="0" sz="1800" spc="-5" b="0">
                <a:solidFill>
                  <a:srgbClr val="000000"/>
                </a:solidFill>
                <a:latin typeface="Corbel"/>
                <a:cs typeface="Corbel"/>
              </a:rPr>
              <a:t>)</a:t>
            </a:r>
            <a:r>
              <a:rPr dirty="0" sz="1800" b="0">
                <a:solidFill>
                  <a:srgbClr val="000000"/>
                </a:solidFill>
                <a:latin typeface="Corbel"/>
                <a:cs typeface="Corbel"/>
              </a:rPr>
              <a:t>=1</a:t>
            </a:r>
            <a:endParaRPr sz="18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44424"/>
            <a:ext cx="6336792" cy="640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5940" y="1902460"/>
            <a:ext cx="4610735" cy="2768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100"/>
              </a:spcBef>
            </a:pPr>
            <a:r>
              <a:rPr dirty="0" sz="4000" spc="-10">
                <a:solidFill>
                  <a:srgbClr val="000000"/>
                </a:solidFill>
              </a:rPr>
              <a:t>Degree </a:t>
            </a:r>
            <a:r>
              <a:rPr dirty="0" sz="4000" spc="-5">
                <a:solidFill>
                  <a:srgbClr val="000000"/>
                </a:solidFill>
              </a:rPr>
              <a:t>distribution:  </a:t>
            </a:r>
            <a:r>
              <a:rPr dirty="0" sz="4000" spc="-15">
                <a:solidFill>
                  <a:srgbClr val="000000"/>
                </a:solidFill>
              </a:rPr>
              <a:t>Clustering </a:t>
            </a:r>
            <a:r>
              <a:rPr dirty="0" sz="4000" spc="-10">
                <a:solidFill>
                  <a:srgbClr val="000000"/>
                </a:solidFill>
              </a:rPr>
              <a:t>coefficient:  </a:t>
            </a:r>
            <a:r>
              <a:rPr dirty="0" sz="4000" spc="-5">
                <a:solidFill>
                  <a:srgbClr val="000000"/>
                </a:solidFill>
              </a:rPr>
              <a:t>Connectivity: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535940" y="4950459"/>
            <a:ext cx="257619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35" b="1">
                <a:latin typeface="Calibri"/>
                <a:cs typeface="Calibri"/>
              </a:rPr>
              <a:t>Path</a:t>
            </a:r>
            <a:r>
              <a:rPr dirty="0" sz="4000" spc="-90" b="1">
                <a:latin typeface="Calibri"/>
                <a:cs typeface="Calibri"/>
              </a:rPr>
              <a:t> </a:t>
            </a:r>
            <a:r>
              <a:rPr dirty="0" sz="4000" spc="-5" b="1">
                <a:latin typeface="Calibri"/>
                <a:cs typeface="Calibri"/>
              </a:rPr>
              <a:t>length: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474559" y="2248320"/>
            <a:ext cx="114300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-105" i="1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38218" y="2652222"/>
            <a:ext cx="923290" cy="4933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779145" algn="l"/>
              </a:tabLst>
            </a:pPr>
            <a:r>
              <a:rPr dirty="0" sz="3050" spc="-140">
                <a:latin typeface="Symbol"/>
                <a:cs typeface="Symbol"/>
              </a:rPr>
              <a:t></a:t>
            </a:r>
            <a:r>
              <a:rPr dirty="0" sz="3050" spc="-140">
                <a:latin typeface="Times New Roman"/>
                <a:cs typeface="Times New Roman"/>
              </a:rPr>
              <a:t>	</a:t>
            </a:r>
            <a:r>
              <a:rPr dirty="0" sz="3050" spc="-140">
                <a:latin typeface="Symbol"/>
                <a:cs typeface="Symbol"/>
              </a:rPr>
              <a:t></a:t>
            </a:r>
            <a:endParaRPr sz="305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85005" y="2248320"/>
            <a:ext cx="532130" cy="2990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800" spc="-125" i="1">
                <a:latin typeface="Times New Roman"/>
                <a:cs typeface="Times New Roman"/>
              </a:rPr>
              <a:t>n</a:t>
            </a:r>
            <a:r>
              <a:rPr dirty="0" sz="1800" spc="-125">
                <a:latin typeface="Symbol"/>
                <a:cs typeface="Symbol"/>
              </a:rPr>
              <a:t></a:t>
            </a:r>
            <a:r>
              <a:rPr dirty="0" sz="1800" spc="-125">
                <a:latin typeface="Times New Roman"/>
                <a:cs typeface="Times New Roman"/>
              </a:rPr>
              <a:t>1</a:t>
            </a:r>
            <a:r>
              <a:rPr dirty="0" sz="1800" spc="-125">
                <a:latin typeface="Symbol"/>
                <a:cs typeface="Symbol"/>
              </a:rPr>
              <a:t></a:t>
            </a:r>
            <a:r>
              <a:rPr dirty="0" sz="1800" spc="-125" i="1">
                <a:latin typeface="Times New Roman"/>
                <a:cs typeface="Times New Roman"/>
              </a:rPr>
              <a:t>k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38218" y="1974868"/>
            <a:ext cx="923290" cy="4933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baseline="-3642" sz="4575" spc="-209">
                <a:latin typeface="Symbol"/>
                <a:cs typeface="Symbol"/>
              </a:rPr>
              <a:t></a:t>
            </a:r>
            <a:r>
              <a:rPr dirty="0" baseline="-3642" sz="4575" spc="-757">
                <a:latin typeface="Times New Roman"/>
                <a:cs typeface="Times New Roman"/>
              </a:rPr>
              <a:t> </a:t>
            </a:r>
            <a:r>
              <a:rPr dirty="0" sz="3050" spc="-185" i="1">
                <a:latin typeface="Times New Roman"/>
                <a:cs typeface="Times New Roman"/>
              </a:rPr>
              <a:t>n</a:t>
            </a:r>
            <a:r>
              <a:rPr dirty="0" sz="3050" spc="-380" i="1">
                <a:latin typeface="Times New Roman"/>
                <a:cs typeface="Times New Roman"/>
              </a:rPr>
              <a:t> </a:t>
            </a:r>
            <a:r>
              <a:rPr dirty="0" sz="3050" spc="-140">
                <a:latin typeface="Symbol"/>
                <a:cs typeface="Symbol"/>
              </a:rPr>
              <a:t></a:t>
            </a:r>
            <a:r>
              <a:rPr dirty="0" sz="3050" spc="-140">
                <a:latin typeface="Times New Roman"/>
                <a:cs typeface="Times New Roman"/>
              </a:rPr>
              <a:t>1</a:t>
            </a:r>
            <a:r>
              <a:rPr dirty="0" baseline="-3642" sz="4575" spc="-209">
                <a:latin typeface="Symbol"/>
                <a:cs typeface="Symbol"/>
              </a:rPr>
              <a:t></a:t>
            </a:r>
            <a:endParaRPr baseline="-3642" sz="4575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83209" y="2260976"/>
            <a:ext cx="3112135" cy="4933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332230" algn="l"/>
                <a:tab pos="1734185" algn="l"/>
                <a:tab pos="2245360" algn="l"/>
              </a:tabLst>
            </a:pPr>
            <a:r>
              <a:rPr dirty="0" sz="3050" spc="-85" i="1">
                <a:latin typeface="Times New Roman"/>
                <a:cs typeface="Times New Roman"/>
              </a:rPr>
              <a:t>P</a:t>
            </a:r>
            <a:r>
              <a:rPr dirty="0" sz="3050" spc="-85">
                <a:latin typeface="Times New Roman"/>
                <a:cs typeface="Times New Roman"/>
              </a:rPr>
              <a:t>(</a:t>
            </a:r>
            <a:r>
              <a:rPr dirty="0" sz="3050" spc="-85" i="1">
                <a:latin typeface="Times New Roman"/>
                <a:cs typeface="Times New Roman"/>
              </a:rPr>
              <a:t>k</a:t>
            </a:r>
            <a:r>
              <a:rPr dirty="0" sz="3050" spc="-85">
                <a:latin typeface="Times New Roman"/>
                <a:cs typeface="Times New Roman"/>
              </a:rPr>
              <a:t>)</a:t>
            </a:r>
            <a:r>
              <a:rPr dirty="0" sz="3050" spc="-165">
                <a:latin typeface="Times New Roman"/>
                <a:cs typeface="Times New Roman"/>
              </a:rPr>
              <a:t> </a:t>
            </a:r>
            <a:r>
              <a:rPr dirty="0" sz="3050" spc="-200">
                <a:latin typeface="Symbol"/>
                <a:cs typeface="Symbol"/>
              </a:rPr>
              <a:t></a:t>
            </a:r>
            <a:r>
              <a:rPr dirty="0" sz="3050" spc="-254">
                <a:latin typeface="Times New Roman"/>
                <a:cs typeface="Times New Roman"/>
              </a:rPr>
              <a:t> </a:t>
            </a:r>
            <a:r>
              <a:rPr dirty="0" sz="3050" spc="-660">
                <a:latin typeface="Symbol"/>
                <a:cs typeface="Symbol"/>
              </a:rPr>
              <a:t></a:t>
            </a:r>
            <a:r>
              <a:rPr dirty="0" baseline="-20036" sz="4575" spc="-989">
                <a:latin typeface="Symbol"/>
                <a:cs typeface="Symbol"/>
              </a:rPr>
              <a:t></a:t>
            </a:r>
            <a:r>
              <a:rPr dirty="0" baseline="-20036" sz="4575" spc="-989">
                <a:latin typeface="Times New Roman"/>
                <a:cs typeface="Times New Roman"/>
              </a:rPr>
              <a:t>	</a:t>
            </a:r>
            <a:r>
              <a:rPr dirty="0" baseline="-42805" sz="4575" spc="-247" i="1">
                <a:latin typeface="Times New Roman"/>
                <a:cs typeface="Times New Roman"/>
              </a:rPr>
              <a:t>k	</a:t>
            </a:r>
            <a:r>
              <a:rPr dirty="0" sz="3050" spc="-1165">
                <a:latin typeface="Symbol"/>
                <a:cs typeface="Symbol"/>
              </a:rPr>
              <a:t></a:t>
            </a:r>
            <a:r>
              <a:rPr dirty="0" baseline="-20036" sz="4575" spc="-1747">
                <a:latin typeface="Symbol"/>
                <a:cs typeface="Symbol"/>
              </a:rPr>
              <a:t></a:t>
            </a:r>
            <a:r>
              <a:rPr dirty="0" baseline="-20036" sz="4575" spc="-592">
                <a:latin typeface="Times New Roman"/>
                <a:cs typeface="Times New Roman"/>
              </a:rPr>
              <a:t> </a:t>
            </a:r>
            <a:r>
              <a:rPr dirty="0" sz="3050" spc="-185" i="1">
                <a:latin typeface="Times New Roman"/>
                <a:cs typeface="Times New Roman"/>
              </a:rPr>
              <a:t>p	</a:t>
            </a:r>
            <a:r>
              <a:rPr dirty="0" sz="3050" spc="-190">
                <a:latin typeface="Times New Roman"/>
                <a:cs typeface="Times New Roman"/>
              </a:rPr>
              <a:t>(1</a:t>
            </a:r>
            <a:r>
              <a:rPr dirty="0" sz="3050" spc="-190">
                <a:latin typeface="Symbol"/>
                <a:cs typeface="Symbol"/>
              </a:rPr>
              <a:t></a:t>
            </a:r>
            <a:r>
              <a:rPr dirty="0" sz="3050" spc="-95">
                <a:latin typeface="Times New Roman"/>
                <a:cs typeface="Times New Roman"/>
              </a:rPr>
              <a:t> </a:t>
            </a:r>
            <a:r>
              <a:rPr dirty="0" sz="3050" spc="-125" i="1">
                <a:latin typeface="Times New Roman"/>
                <a:cs typeface="Times New Roman"/>
              </a:rPr>
              <a:t>p</a:t>
            </a:r>
            <a:r>
              <a:rPr dirty="0" sz="3050" spc="-125">
                <a:latin typeface="Times New Roman"/>
                <a:cs typeface="Times New Roman"/>
              </a:rPr>
              <a:t>)</a:t>
            </a:r>
            <a:endParaRPr sz="305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39169" y="3256722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 h="0">
                <a:moveTo>
                  <a:pt x="0" y="0"/>
                </a:moveTo>
                <a:lnTo>
                  <a:pt x="22860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5577204" y="3121659"/>
            <a:ext cx="1924685" cy="2463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4000" spc="-10" i="1">
                <a:latin typeface="Times New Roman"/>
                <a:cs typeface="Times New Roman"/>
              </a:rPr>
              <a:t>C</a:t>
            </a:r>
            <a:r>
              <a:rPr dirty="0" sz="4000" i="1">
                <a:latin typeface="Times New Roman"/>
                <a:cs typeface="Times New Roman"/>
              </a:rPr>
              <a:t>=p=</a:t>
            </a:r>
            <a:r>
              <a:rPr dirty="0" sz="4000" spc="-5" i="1">
                <a:latin typeface="Times New Roman"/>
                <a:cs typeface="Times New Roman"/>
              </a:rPr>
              <a:t>k</a:t>
            </a:r>
            <a:r>
              <a:rPr dirty="0" sz="4000" i="1">
                <a:latin typeface="Times New Roman"/>
                <a:cs typeface="Times New Roman"/>
              </a:rPr>
              <a:t>/n</a:t>
            </a:r>
            <a:endParaRPr sz="4000">
              <a:latin typeface="Times New Roman"/>
              <a:cs typeface="Times New Roman"/>
            </a:endParaRPr>
          </a:p>
          <a:p>
            <a:pPr algn="ctr" marL="199390" marR="175260">
              <a:lnSpc>
                <a:spcPct val="100800"/>
              </a:lnSpc>
              <a:spcBef>
                <a:spcPts val="2440"/>
              </a:spcBef>
            </a:pPr>
            <a:r>
              <a:rPr dirty="0" sz="2400" spc="-5">
                <a:latin typeface="Arial"/>
                <a:cs typeface="Arial"/>
              </a:rPr>
              <a:t>GCC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exists  </a:t>
            </a:r>
            <a:r>
              <a:rPr dirty="0" sz="2400">
                <a:latin typeface="Arial"/>
                <a:cs typeface="Arial"/>
              </a:rPr>
              <a:t>when</a:t>
            </a:r>
            <a:r>
              <a:rPr dirty="0" sz="2400" spc="-90">
                <a:latin typeface="Arial"/>
                <a:cs typeface="Arial"/>
              </a:rPr>
              <a:t> </a:t>
            </a:r>
            <a:r>
              <a:rPr dirty="0" sz="2400" spc="-5">
                <a:latin typeface="Arial"/>
                <a:cs typeface="Arial"/>
              </a:rPr>
              <a:t>k&gt;1.</a:t>
            </a:r>
            <a:endParaRPr sz="2400">
              <a:latin typeface="Arial"/>
              <a:cs typeface="Arial"/>
            </a:endParaRPr>
          </a:p>
          <a:p>
            <a:pPr algn="ctr" marL="92075">
              <a:lnSpc>
                <a:spcPct val="100000"/>
              </a:lnSpc>
              <a:spcBef>
                <a:spcPts val="1350"/>
              </a:spcBef>
            </a:pPr>
            <a:r>
              <a:rPr dirty="0" sz="4000" spc="-5" b="1" i="1">
                <a:solidFill>
                  <a:srgbClr val="FF0000"/>
                </a:solidFill>
                <a:latin typeface="Times New Roman"/>
                <a:cs typeface="Times New Roman"/>
              </a:rPr>
              <a:t>next!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673615" y="6699893"/>
            <a:ext cx="3894454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Analysis 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Networks,</a:t>
            </a:r>
            <a:r>
              <a:rPr dirty="0" sz="90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28</a:t>
            </a:fld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5216" y="341375"/>
            <a:ext cx="3657600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618108" y="1325912"/>
            <a:ext cx="7302500" cy="541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3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5">
                <a:latin typeface="Calibri"/>
                <a:cs typeface="Calibri"/>
              </a:rPr>
              <a:t>Graph </a:t>
            </a:r>
            <a:r>
              <a:rPr dirty="0" sz="3200" spc="-110" i="1">
                <a:latin typeface="Times New Roman"/>
                <a:cs typeface="Times New Roman"/>
              </a:rPr>
              <a:t>G(V, </a:t>
            </a:r>
            <a:r>
              <a:rPr dirty="0" sz="3200" spc="-5" i="1">
                <a:latin typeface="Times New Roman"/>
                <a:cs typeface="Times New Roman"/>
              </a:rPr>
              <a:t>E) </a:t>
            </a:r>
            <a:r>
              <a:rPr dirty="0" sz="3200">
                <a:latin typeface="Calibri"/>
                <a:cs typeface="Calibri"/>
              </a:rPr>
              <a:t>has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expansion </a:t>
            </a:r>
            <a:r>
              <a:rPr dirty="0" sz="3200" b="1" i="1">
                <a:solidFill>
                  <a:srgbClr val="0000FF"/>
                </a:solidFill>
                <a:latin typeface="Times New Roman"/>
                <a:cs typeface="Times New Roman"/>
              </a:rPr>
              <a:t>α</a:t>
            </a:r>
            <a:r>
              <a:rPr dirty="0" sz="3200">
                <a:latin typeface="Calibri"/>
                <a:cs typeface="Calibri"/>
              </a:rPr>
              <a:t>: </a:t>
            </a:r>
            <a:r>
              <a:rPr dirty="0" sz="3200" spc="290">
                <a:latin typeface="Calibri"/>
                <a:cs typeface="Calibri"/>
              </a:rPr>
              <a:t>if</a:t>
            </a:r>
            <a:r>
              <a:rPr dirty="0" sz="3350" spc="290" i="1">
                <a:latin typeface="Symbol"/>
                <a:cs typeface="Symbol"/>
              </a:rPr>
              <a:t></a:t>
            </a:r>
            <a:r>
              <a:rPr dirty="0" sz="3350" spc="290" i="1">
                <a:latin typeface="Times New Roman"/>
                <a:cs typeface="Times New Roman"/>
              </a:rPr>
              <a:t> </a:t>
            </a:r>
            <a:r>
              <a:rPr dirty="0" sz="3200" i="1">
                <a:latin typeface="Times New Roman"/>
                <a:cs typeface="Times New Roman"/>
              </a:rPr>
              <a:t>S </a:t>
            </a:r>
            <a:r>
              <a:rPr dirty="0" sz="3350" spc="-110" i="1">
                <a:latin typeface="Symbol"/>
                <a:cs typeface="Symbol"/>
              </a:rPr>
              <a:t></a:t>
            </a:r>
            <a:r>
              <a:rPr dirty="0" sz="3350" spc="-320" i="1">
                <a:latin typeface="Times New Roman"/>
                <a:cs typeface="Times New Roman"/>
              </a:rPr>
              <a:t> </a:t>
            </a:r>
            <a:r>
              <a:rPr dirty="0" sz="3200" spc="-215" i="1">
                <a:latin typeface="Times New Roman"/>
                <a:cs typeface="Times New Roman"/>
              </a:rPr>
              <a:t>V: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38149" y="1830043"/>
            <a:ext cx="6487160" cy="6051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43020" algn="l"/>
              </a:tabLst>
            </a:pPr>
            <a:r>
              <a:rPr dirty="0" b="0" i="1">
                <a:solidFill>
                  <a:srgbClr val="000000"/>
                </a:solidFill>
                <a:latin typeface="Times New Roman"/>
                <a:cs typeface="Times New Roman"/>
              </a:rPr>
              <a:t># </a:t>
            </a:r>
            <a:r>
              <a:rPr dirty="0" b="0">
                <a:solidFill>
                  <a:srgbClr val="000000"/>
                </a:solidFill>
                <a:latin typeface="Times New Roman"/>
                <a:cs typeface="Times New Roman"/>
              </a:rPr>
              <a:t>of edges </a:t>
            </a:r>
            <a:r>
              <a:rPr dirty="0" spc="-5" b="0">
                <a:solidFill>
                  <a:srgbClr val="000000"/>
                </a:solidFill>
                <a:latin typeface="Times New Roman"/>
                <a:cs typeface="Times New Roman"/>
              </a:rPr>
              <a:t>leaving</a:t>
            </a:r>
            <a:r>
              <a:rPr dirty="0" spc="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b="0" i="1">
                <a:solidFill>
                  <a:srgbClr val="000000"/>
                </a:solidFill>
                <a:latin typeface="Times New Roman"/>
                <a:cs typeface="Times New Roman"/>
              </a:rPr>
              <a:t>S</a:t>
            </a:r>
            <a:r>
              <a:rPr dirty="0" spc="-90" b="0" i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800" spc="-110" b="0" i="1">
                <a:solidFill>
                  <a:srgbClr val="000000"/>
                </a:solidFill>
                <a:latin typeface="Symbol"/>
                <a:cs typeface="Symbol"/>
              </a:rPr>
              <a:t></a:t>
            </a:r>
            <a:r>
              <a:rPr dirty="0" sz="3800" spc="-110" b="0">
                <a:solidFill>
                  <a:srgbClr val="000000"/>
                </a:solidFill>
                <a:latin typeface="Times New Roman"/>
                <a:cs typeface="Times New Roman"/>
              </a:rPr>
              <a:t>	</a:t>
            </a:r>
            <a:r>
              <a:rPr dirty="0" spc="-525" b="0" i="1">
                <a:solidFill>
                  <a:srgbClr val="000000"/>
                </a:solidFill>
                <a:latin typeface="Times New Roman"/>
                <a:cs typeface="Times New Roman"/>
              </a:rPr>
              <a:t>α</a:t>
            </a:r>
            <a:r>
              <a:rPr dirty="0" sz="3350" spc="-525" b="0" i="1">
                <a:solidFill>
                  <a:srgbClr val="000000"/>
                </a:solidFill>
                <a:latin typeface="Symbol"/>
                <a:cs typeface="Symbol"/>
              </a:rPr>
              <a:t></a:t>
            </a:r>
            <a:r>
              <a:rPr dirty="0" sz="3350" spc="-525" b="0" i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350" spc="-434" b="0" i="1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pc="-5" b="0">
                <a:solidFill>
                  <a:srgbClr val="000000"/>
                </a:solidFill>
                <a:latin typeface="Times New Roman"/>
                <a:cs typeface="Times New Roman"/>
              </a:rPr>
              <a:t>min(</a:t>
            </a:r>
            <a:r>
              <a:rPr dirty="0" spc="-5" b="0" i="1">
                <a:solidFill>
                  <a:srgbClr val="000000"/>
                </a:solidFill>
                <a:latin typeface="Times New Roman"/>
                <a:cs typeface="Times New Roman"/>
              </a:rPr>
              <a:t>|S|,|V\S|</a:t>
            </a:r>
            <a:r>
              <a:rPr dirty="0" spc="-5" b="0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8108" y="2391156"/>
            <a:ext cx="304673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Or</a:t>
            </a:r>
            <a:r>
              <a:rPr dirty="0" sz="3200" spc="-85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D60093"/>
                </a:solidFill>
                <a:latin typeface="Calibri"/>
                <a:cs typeface="Calibri"/>
              </a:rPr>
              <a:t>equivalently: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85751" y="3446257"/>
            <a:ext cx="412750" cy="2603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00" spc="35" i="1">
                <a:latin typeface="Times New Roman"/>
                <a:cs typeface="Times New Roman"/>
              </a:rPr>
              <a:t>S</a:t>
            </a:r>
            <a:r>
              <a:rPr dirty="0" sz="1500" spc="-280" i="1">
                <a:latin typeface="Times New Roman"/>
                <a:cs typeface="Times New Roman"/>
              </a:rPr>
              <a:t> </a:t>
            </a:r>
            <a:r>
              <a:rPr dirty="0" sz="1500" spc="30">
                <a:latin typeface="Symbol"/>
                <a:cs typeface="Symbol"/>
              </a:rPr>
              <a:t></a:t>
            </a:r>
            <a:r>
              <a:rPr dirty="0" sz="1500" spc="30" i="1">
                <a:latin typeface="Times New Roman"/>
                <a:cs typeface="Times New Roman"/>
              </a:rPr>
              <a:t>V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82664" y="2623448"/>
            <a:ext cx="3884295" cy="628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-33333" sz="4125" spc="-30" i="1">
                <a:latin typeface="Symbol"/>
                <a:cs typeface="Symbol"/>
              </a:rPr>
              <a:t></a:t>
            </a:r>
            <a:r>
              <a:rPr dirty="0" baseline="-33333" sz="4125" spc="307" i="1">
                <a:latin typeface="Times New Roman"/>
                <a:cs typeface="Times New Roman"/>
              </a:rPr>
              <a:t> </a:t>
            </a:r>
            <a:r>
              <a:rPr dirty="0" baseline="-35256" sz="3900" spc="89">
                <a:latin typeface="Symbol"/>
                <a:cs typeface="Symbol"/>
              </a:rPr>
              <a:t></a:t>
            </a:r>
            <a:r>
              <a:rPr dirty="0" baseline="-35256" sz="3900" spc="-382">
                <a:latin typeface="Times New Roman"/>
                <a:cs typeface="Times New Roman"/>
              </a:rPr>
              <a:t> </a:t>
            </a:r>
            <a:r>
              <a:rPr dirty="0" baseline="-35161" sz="5925" spc="97">
                <a:latin typeface="Times New Roman"/>
                <a:cs typeface="Times New Roman"/>
              </a:rPr>
              <a:t>min</a:t>
            </a:r>
            <a:r>
              <a:rPr dirty="0" baseline="-35161" sz="5925" spc="-525">
                <a:latin typeface="Times New Roman"/>
                <a:cs typeface="Times New Roman"/>
              </a:rPr>
              <a:t> </a:t>
            </a:r>
            <a:r>
              <a:rPr dirty="0" sz="2600" spc="55" u="heavy">
                <a:latin typeface="Times New Roman"/>
                <a:cs typeface="Times New Roman"/>
              </a:rPr>
              <a:t>#</a:t>
            </a:r>
            <a:r>
              <a:rPr dirty="0" sz="2600" spc="-365" u="heavy">
                <a:latin typeface="Times New Roman"/>
                <a:cs typeface="Times New Roman"/>
              </a:rPr>
              <a:t> </a:t>
            </a:r>
            <a:r>
              <a:rPr dirty="0" sz="2600" spc="50" i="1" u="heavy">
                <a:latin typeface="Times New Roman"/>
                <a:cs typeface="Times New Roman"/>
              </a:rPr>
              <a:t>edges</a:t>
            </a:r>
            <a:r>
              <a:rPr dirty="0" sz="2600" spc="-105" i="1" u="heavy">
                <a:latin typeface="Times New Roman"/>
                <a:cs typeface="Times New Roman"/>
              </a:rPr>
              <a:t> </a:t>
            </a:r>
            <a:r>
              <a:rPr dirty="0" sz="2600" spc="50" i="1" u="heavy">
                <a:latin typeface="Times New Roman"/>
                <a:cs typeface="Times New Roman"/>
              </a:rPr>
              <a:t>leaving</a:t>
            </a:r>
            <a:r>
              <a:rPr dirty="0" sz="2600" spc="155" i="1" u="heavy">
                <a:latin typeface="Times New Roman"/>
                <a:cs typeface="Times New Roman"/>
              </a:rPr>
              <a:t> </a:t>
            </a:r>
            <a:r>
              <a:rPr dirty="0" sz="2600" spc="55" i="1" u="heavy">
                <a:latin typeface="Times New Roman"/>
                <a:cs typeface="Times New Roman"/>
              </a:rPr>
              <a:t>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952750" y="4267537"/>
            <a:ext cx="2916567" cy="23809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279140" y="4106164"/>
            <a:ext cx="22352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673615" y="6699893"/>
            <a:ext cx="3894454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Analysis 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Networks,</a:t>
            </a:r>
            <a:r>
              <a:rPr dirty="0" sz="90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4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28</a:t>
            </a:fld>
          </a:p>
        </p:txBody>
      </p:sp>
      <p:sp>
        <p:nvSpPr>
          <p:cNvPr id="12" name="object 12"/>
          <p:cNvSpPr txBox="1"/>
          <p:nvPr/>
        </p:nvSpPr>
        <p:spPr>
          <a:xfrm>
            <a:off x="4140198" y="3124863"/>
            <a:ext cx="2289810" cy="1141095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2600" spc="50">
                <a:latin typeface="Times New Roman"/>
                <a:cs typeface="Times New Roman"/>
              </a:rPr>
              <a:t>min(|</a:t>
            </a:r>
            <a:r>
              <a:rPr dirty="0" sz="2600" spc="-150">
                <a:latin typeface="Times New Roman"/>
                <a:cs typeface="Times New Roman"/>
              </a:rPr>
              <a:t> </a:t>
            </a:r>
            <a:r>
              <a:rPr dirty="0" sz="2600" spc="55" i="1">
                <a:latin typeface="Times New Roman"/>
                <a:cs typeface="Times New Roman"/>
              </a:rPr>
              <a:t>S</a:t>
            </a:r>
            <a:r>
              <a:rPr dirty="0" sz="2600" spc="5" i="1">
                <a:latin typeface="Times New Roman"/>
                <a:cs typeface="Times New Roman"/>
              </a:rPr>
              <a:t> </a:t>
            </a:r>
            <a:r>
              <a:rPr dirty="0" sz="2600" spc="80">
                <a:latin typeface="Times New Roman"/>
                <a:cs typeface="Times New Roman"/>
              </a:rPr>
              <a:t>|,|</a:t>
            </a:r>
            <a:r>
              <a:rPr dirty="0" sz="2600" spc="-400">
                <a:latin typeface="Times New Roman"/>
                <a:cs typeface="Times New Roman"/>
              </a:rPr>
              <a:t> </a:t>
            </a:r>
            <a:r>
              <a:rPr dirty="0" sz="2600" spc="75" i="1">
                <a:latin typeface="Times New Roman"/>
                <a:cs typeface="Times New Roman"/>
              </a:rPr>
              <a:t>V</a:t>
            </a:r>
            <a:r>
              <a:rPr dirty="0" sz="2600" spc="210" i="1">
                <a:latin typeface="Times New Roman"/>
                <a:cs typeface="Times New Roman"/>
              </a:rPr>
              <a:t> </a:t>
            </a:r>
            <a:r>
              <a:rPr dirty="0" sz="2600" spc="25">
                <a:latin typeface="Times New Roman"/>
                <a:cs typeface="Times New Roman"/>
              </a:rPr>
              <a:t>\</a:t>
            </a:r>
            <a:r>
              <a:rPr dirty="0" sz="2600" spc="-105">
                <a:latin typeface="Times New Roman"/>
                <a:cs typeface="Times New Roman"/>
              </a:rPr>
              <a:t> </a:t>
            </a:r>
            <a:r>
              <a:rPr dirty="0" sz="2600" spc="55" i="1">
                <a:latin typeface="Times New Roman"/>
                <a:cs typeface="Times New Roman"/>
              </a:rPr>
              <a:t>S</a:t>
            </a:r>
            <a:r>
              <a:rPr dirty="0" sz="2600" spc="5" i="1">
                <a:latin typeface="Times New Roman"/>
                <a:cs typeface="Times New Roman"/>
              </a:rPr>
              <a:t> </a:t>
            </a:r>
            <a:r>
              <a:rPr dirty="0" sz="2600" spc="25">
                <a:latin typeface="Times New Roman"/>
                <a:cs typeface="Times New Roman"/>
              </a:rPr>
              <a:t>|)</a:t>
            </a:r>
            <a:endParaRPr sz="2600">
              <a:latin typeface="Times New Roman"/>
              <a:cs typeface="Times New Roman"/>
            </a:endParaRPr>
          </a:p>
          <a:p>
            <a:pPr marL="657860">
              <a:lnSpc>
                <a:spcPct val="100000"/>
              </a:lnSpc>
              <a:spcBef>
                <a:spcPts val="1165"/>
              </a:spcBef>
            </a:pPr>
            <a:r>
              <a:rPr dirty="0" sz="2800" b="1" i="1">
                <a:solidFill>
                  <a:srgbClr val="0000FF"/>
                </a:solidFill>
                <a:latin typeface="Times New Roman"/>
                <a:cs typeface="Times New Roman"/>
              </a:rPr>
              <a:t>V \</a:t>
            </a:r>
            <a:r>
              <a:rPr dirty="0" sz="2800" spc="-165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0000FF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5216" y="347472"/>
            <a:ext cx="8116824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640397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Expansion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is </a:t>
            </a:r>
            <a:r>
              <a:rPr dirty="0" spc="-10"/>
              <a:t>measure </a:t>
            </a:r>
            <a:r>
              <a:rPr dirty="0"/>
              <a:t>of</a:t>
            </a:r>
            <a:r>
              <a:rPr dirty="0" spc="-10"/>
              <a:t> robustness: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8108" y="1912965"/>
            <a:ext cx="7837170" cy="34563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25475" indent="-274320">
              <a:lnSpc>
                <a:spcPts val="3495"/>
              </a:lnSpc>
              <a:spcBef>
                <a:spcPts val="10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130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disconnect </a:t>
            </a:r>
            <a:r>
              <a:rPr dirty="0" sz="2800" i="1">
                <a:latin typeface="Times New Roman"/>
                <a:cs typeface="Times New Roman"/>
              </a:rPr>
              <a:t>l </a:t>
            </a:r>
            <a:r>
              <a:rPr dirty="0" sz="2800" spc="-5">
                <a:latin typeface="Calibri"/>
                <a:cs typeface="Calibri"/>
              </a:rPr>
              <a:t>nodes,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5">
                <a:latin typeface="Calibri"/>
                <a:cs typeface="Calibri"/>
              </a:rPr>
              <a:t>need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cut </a:t>
            </a:r>
            <a:r>
              <a:rPr dirty="0" sz="2950" spc="-85" i="1">
                <a:latin typeface="Symbol"/>
                <a:cs typeface="Symbol"/>
              </a:rPr>
              <a:t></a:t>
            </a:r>
            <a:r>
              <a:rPr dirty="0" sz="2950" spc="-85" i="1">
                <a:latin typeface="Times New Roman"/>
                <a:cs typeface="Times New Roman"/>
              </a:rPr>
              <a:t> </a:t>
            </a:r>
            <a:r>
              <a:rPr dirty="0" sz="2800" spc="-459" i="1">
                <a:latin typeface="Times New Roman"/>
                <a:cs typeface="Times New Roman"/>
              </a:rPr>
              <a:t>α</a:t>
            </a:r>
            <a:r>
              <a:rPr dirty="0" sz="2950" spc="-459" i="1">
                <a:latin typeface="Symbol"/>
                <a:cs typeface="Symbol"/>
              </a:rPr>
              <a:t></a:t>
            </a:r>
            <a:r>
              <a:rPr dirty="0" sz="2950" spc="-459" i="1">
                <a:latin typeface="Times New Roman"/>
                <a:cs typeface="Times New Roman"/>
              </a:rPr>
              <a:t>   </a:t>
            </a:r>
            <a:r>
              <a:rPr dirty="0" sz="2800" i="1">
                <a:latin typeface="Times New Roman"/>
                <a:cs typeface="Times New Roman"/>
              </a:rPr>
              <a:t>l</a:t>
            </a:r>
            <a:r>
              <a:rPr dirty="0" sz="2800" spc="-25" i="1">
                <a:latin typeface="Times New Roman"/>
                <a:cs typeface="Times New Roman"/>
              </a:rPr>
              <a:t> </a:t>
            </a:r>
            <a:r>
              <a:rPr dirty="0" sz="2800" spc="-90">
                <a:latin typeface="Calibri"/>
                <a:cs typeface="Calibri"/>
              </a:rPr>
              <a:t>edges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79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8000FF"/>
                </a:solidFill>
                <a:latin typeface="Calibri"/>
                <a:cs typeface="Calibri"/>
              </a:rPr>
              <a:t>Low</a:t>
            </a:r>
            <a:r>
              <a:rPr dirty="0" sz="3200" spc="-65">
                <a:solidFill>
                  <a:srgbClr val="8000FF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8000FF"/>
                </a:solidFill>
                <a:latin typeface="Calibri"/>
                <a:cs typeface="Calibri"/>
              </a:rPr>
              <a:t>expansion: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0AD00"/>
              </a:buClr>
              <a:buFont typeface="Arial"/>
              <a:buChar char="▪"/>
            </a:pPr>
            <a:endParaRPr sz="34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>
                <a:solidFill>
                  <a:srgbClr val="0000FF"/>
                </a:solidFill>
                <a:latin typeface="Calibri"/>
                <a:cs typeface="Calibri"/>
              </a:rPr>
              <a:t>High</a:t>
            </a:r>
            <a:r>
              <a:rPr dirty="0" sz="3200" spc="-3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0000FF"/>
                </a:solidFill>
                <a:latin typeface="Calibri"/>
                <a:cs typeface="Calibri"/>
              </a:rPr>
              <a:t>expansion: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F0AD00"/>
              </a:buClr>
              <a:buFont typeface="Arial"/>
              <a:buChar char="▪"/>
            </a:pPr>
            <a:endParaRPr sz="35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>
                <a:solidFill>
                  <a:srgbClr val="008000"/>
                </a:solidFill>
                <a:latin typeface="Calibri"/>
                <a:cs typeface="Calibri"/>
              </a:rPr>
              <a:t>Social</a:t>
            </a:r>
            <a:r>
              <a:rPr dirty="0" sz="3200" spc="-45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15">
                <a:solidFill>
                  <a:srgbClr val="008000"/>
                </a:solidFill>
                <a:latin typeface="Calibri"/>
                <a:cs typeface="Calibri"/>
              </a:rPr>
              <a:t>networks: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6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spc="-5">
                <a:latin typeface="Calibri"/>
                <a:cs typeface="Calibri"/>
              </a:rPr>
              <a:t>“Communities”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81389" y="2856946"/>
            <a:ext cx="635000" cy="109220"/>
          </a:xfrm>
          <a:custGeom>
            <a:avLst/>
            <a:gdLst/>
            <a:ahLst/>
            <a:cxnLst/>
            <a:rect l="l" t="t" r="r" b="b"/>
            <a:pathLst>
              <a:path w="635000" h="109219">
                <a:moveTo>
                  <a:pt x="0" y="0"/>
                </a:moveTo>
                <a:lnTo>
                  <a:pt x="634530" y="10860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329381" y="2680454"/>
            <a:ext cx="76200" cy="121920"/>
          </a:xfrm>
          <a:custGeom>
            <a:avLst/>
            <a:gdLst/>
            <a:ahLst/>
            <a:cxnLst/>
            <a:rect l="l" t="t" r="r" b="b"/>
            <a:pathLst>
              <a:path w="76200" h="121919">
                <a:moveTo>
                  <a:pt x="0" y="0"/>
                </a:moveTo>
                <a:lnTo>
                  <a:pt x="76004" y="12174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094438" y="2606715"/>
            <a:ext cx="153670" cy="3810"/>
          </a:xfrm>
          <a:custGeom>
            <a:avLst/>
            <a:gdLst/>
            <a:ahLst/>
            <a:cxnLst/>
            <a:rect l="l" t="t" r="r" b="b"/>
            <a:pathLst>
              <a:path w="153670" h="3810">
                <a:moveTo>
                  <a:pt x="153464" y="3212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70573" y="2656585"/>
            <a:ext cx="102870" cy="328295"/>
          </a:xfrm>
          <a:custGeom>
            <a:avLst/>
            <a:gdLst/>
            <a:ahLst/>
            <a:cxnLst/>
            <a:rect l="l" t="t" r="r" b="b"/>
            <a:pathLst>
              <a:path w="102870" h="328294">
                <a:moveTo>
                  <a:pt x="0" y="0"/>
                </a:moveTo>
                <a:lnTo>
                  <a:pt x="102261" y="3281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254313" y="2920039"/>
            <a:ext cx="101600" cy="135255"/>
          </a:xfrm>
          <a:custGeom>
            <a:avLst/>
            <a:gdLst/>
            <a:ahLst/>
            <a:cxnLst/>
            <a:rect l="l" t="t" r="r" b="b"/>
            <a:pathLst>
              <a:path w="101600" h="135255">
                <a:moveTo>
                  <a:pt x="101202" y="0"/>
                </a:moveTo>
                <a:lnTo>
                  <a:pt x="0" y="13523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972524" y="2867901"/>
            <a:ext cx="356870" cy="16510"/>
          </a:xfrm>
          <a:custGeom>
            <a:avLst/>
            <a:gdLst/>
            <a:ahLst/>
            <a:cxnLst/>
            <a:rect l="l" t="t" r="r" b="b"/>
            <a:pathLst>
              <a:path w="356870" h="16510">
                <a:moveTo>
                  <a:pt x="356858" y="0"/>
                </a:moveTo>
                <a:lnTo>
                  <a:pt x="0" y="1622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940914" y="2664331"/>
            <a:ext cx="22225" cy="183515"/>
          </a:xfrm>
          <a:custGeom>
            <a:avLst/>
            <a:gdLst/>
            <a:ahLst/>
            <a:cxnLst/>
            <a:rect l="l" t="t" r="r" b="b"/>
            <a:pathLst>
              <a:path w="22225" h="183514">
                <a:moveTo>
                  <a:pt x="22172" y="0"/>
                </a:moveTo>
                <a:lnTo>
                  <a:pt x="0" y="1834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948661" y="2955249"/>
            <a:ext cx="146050" cy="100330"/>
          </a:xfrm>
          <a:custGeom>
            <a:avLst/>
            <a:gdLst/>
            <a:ahLst/>
            <a:cxnLst/>
            <a:rect l="l" t="t" r="r" b="b"/>
            <a:pathLst>
              <a:path w="146050" h="100330">
                <a:moveTo>
                  <a:pt x="0" y="0"/>
                </a:moveTo>
                <a:lnTo>
                  <a:pt x="145777" y="10002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67048" y="2662066"/>
            <a:ext cx="307340" cy="238125"/>
          </a:xfrm>
          <a:custGeom>
            <a:avLst/>
            <a:gdLst/>
            <a:ahLst/>
            <a:cxnLst/>
            <a:rect l="l" t="t" r="r" b="b"/>
            <a:pathLst>
              <a:path w="307339" h="238125">
                <a:moveTo>
                  <a:pt x="0" y="237836"/>
                </a:moveTo>
                <a:lnTo>
                  <a:pt x="30698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936954" y="253071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1" y="8104"/>
                </a:lnTo>
                <a:lnTo>
                  <a:pt x="18387" y="26133"/>
                </a:lnTo>
                <a:lnTo>
                  <a:pt x="3840" y="51466"/>
                </a:lnTo>
                <a:lnTo>
                  <a:pt x="0" y="81480"/>
                </a:lnTo>
                <a:lnTo>
                  <a:pt x="8104" y="110633"/>
                </a:lnTo>
                <a:lnTo>
                  <a:pt x="26133" y="133618"/>
                </a:lnTo>
                <a:lnTo>
                  <a:pt x="51465" y="148165"/>
                </a:lnTo>
                <a:lnTo>
                  <a:pt x="81479" y="152006"/>
                </a:lnTo>
                <a:lnTo>
                  <a:pt x="110633" y="143901"/>
                </a:lnTo>
                <a:lnTo>
                  <a:pt x="133617" y="125872"/>
                </a:lnTo>
                <a:lnTo>
                  <a:pt x="148164" y="100540"/>
                </a:lnTo>
                <a:lnTo>
                  <a:pt x="152005" y="70525"/>
                </a:lnTo>
                <a:lnTo>
                  <a:pt x="143900" y="41372"/>
                </a:lnTo>
                <a:lnTo>
                  <a:pt x="125871" y="18388"/>
                </a:lnTo>
                <a:lnTo>
                  <a:pt x="100539" y="3841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329383" y="27864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2" y="8104"/>
                </a:lnTo>
                <a:lnTo>
                  <a:pt x="18387" y="26133"/>
                </a:lnTo>
                <a:lnTo>
                  <a:pt x="3840" y="51466"/>
                </a:lnTo>
                <a:lnTo>
                  <a:pt x="0" y="81480"/>
                </a:lnTo>
                <a:lnTo>
                  <a:pt x="8104" y="110633"/>
                </a:lnTo>
                <a:lnTo>
                  <a:pt x="26133" y="133618"/>
                </a:lnTo>
                <a:lnTo>
                  <a:pt x="51466" y="148165"/>
                </a:lnTo>
                <a:lnTo>
                  <a:pt x="81480" y="152006"/>
                </a:lnTo>
                <a:lnTo>
                  <a:pt x="110633" y="143901"/>
                </a:lnTo>
                <a:lnTo>
                  <a:pt x="133618" y="125872"/>
                </a:lnTo>
                <a:lnTo>
                  <a:pt x="148165" y="100540"/>
                </a:lnTo>
                <a:lnTo>
                  <a:pt x="152006" y="70525"/>
                </a:lnTo>
                <a:lnTo>
                  <a:pt x="143901" y="41372"/>
                </a:lnTo>
                <a:lnTo>
                  <a:pt x="125872" y="18388"/>
                </a:lnTo>
                <a:lnTo>
                  <a:pt x="100540" y="3841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247902" y="252844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1" y="8104"/>
                </a:lnTo>
                <a:lnTo>
                  <a:pt x="18387" y="26133"/>
                </a:lnTo>
                <a:lnTo>
                  <a:pt x="3840" y="51465"/>
                </a:lnTo>
                <a:lnTo>
                  <a:pt x="0" y="81479"/>
                </a:lnTo>
                <a:lnTo>
                  <a:pt x="8104" y="110633"/>
                </a:lnTo>
                <a:lnTo>
                  <a:pt x="26133" y="133617"/>
                </a:lnTo>
                <a:lnTo>
                  <a:pt x="51465" y="148165"/>
                </a:lnTo>
                <a:lnTo>
                  <a:pt x="81479" y="152006"/>
                </a:lnTo>
                <a:lnTo>
                  <a:pt x="110633" y="143901"/>
                </a:lnTo>
                <a:lnTo>
                  <a:pt x="133617" y="125872"/>
                </a:lnTo>
                <a:lnTo>
                  <a:pt x="148164" y="100539"/>
                </a:lnTo>
                <a:lnTo>
                  <a:pt x="152005" y="70525"/>
                </a:lnTo>
                <a:lnTo>
                  <a:pt x="143900" y="41372"/>
                </a:lnTo>
                <a:lnTo>
                  <a:pt x="125871" y="18387"/>
                </a:lnTo>
                <a:lnTo>
                  <a:pt x="100539" y="3840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815041" y="282937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2" y="8104"/>
                </a:lnTo>
                <a:lnTo>
                  <a:pt x="18387" y="26133"/>
                </a:lnTo>
                <a:lnTo>
                  <a:pt x="3840" y="51465"/>
                </a:lnTo>
                <a:lnTo>
                  <a:pt x="0" y="81479"/>
                </a:lnTo>
                <a:lnTo>
                  <a:pt x="8104" y="110633"/>
                </a:lnTo>
                <a:lnTo>
                  <a:pt x="26133" y="133617"/>
                </a:lnTo>
                <a:lnTo>
                  <a:pt x="51466" y="148164"/>
                </a:lnTo>
                <a:lnTo>
                  <a:pt x="81480" y="152005"/>
                </a:lnTo>
                <a:lnTo>
                  <a:pt x="110633" y="143900"/>
                </a:lnTo>
                <a:lnTo>
                  <a:pt x="133618" y="125871"/>
                </a:lnTo>
                <a:lnTo>
                  <a:pt x="148165" y="100539"/>
                </a:lnTo>
                <a:lnTo>
                  <a:pt x="152006" y="70525"/>
                </a:lnTo>
                <a:lnTo>
                  <a:pt x="143901" y="41372"/>
                </a:lnTo>
                <a:lnTo>
                  <a:pt x="125872" y="18387"/>
                </a:lnTo>
                <a:lnTo>
                  <a:pt x="100540" y="3840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102308" y="298474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1" y="8104"/>
                </a:lnTo>
                <a:lnTo>
                  <a:pt x="18387" y="26133"/>
                </a:lnTo>
                <a:lnTo>
                  <a:pt x="3840" y="51466"/>
                </a:lnTo>
                <a:lnTo>
                  <a:pt x="0" y="81480"/>
                </a:lnTo>
                <a:lnTo>
                  <a:pt x="8104" y="110633"/>
                </a:lnTo>
                <a:lnTo>
                  <a:pt x="26133" y="133618"/>
                </a:lnTo>
                <a:lnTo>
                  <a:pt x="51465" y="148165"/>
                </a:lnTo>
                <a:lnTo>
                  <a:pt x="81479" y="152006"/>
                </a:lnTo>
                <a:lnTo>
                  <a:pt x="110633" y="143901"/>
                </a:lnTo>
                <a:lnTo>
                  <a:pt x="133617" y="125872"/>
                </a:lnTo>
                <a:lnTo>
                  <a:pt x="148164" y="100540"/>
                </a:lnTo>
                <a:lnTo>
                  <a:pt x="152005" y="70525"/>
                </a:lnTo>
                <a:lnTo>
                  <a:pt x="143900" y="41372"/>
                </a:lnTo>
                <a:lnTo>
                  <a:pt x="125871" y="18387"/>
                </a:lnTo>
                <a:lnTo>
                  <a:pt x="100539" y="3840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630259" y="2735149"/>
            <a:ext cx="76200" cy="121920"/>
          </a:xfrm>
          <a:custGeom>
            <a:avLst/>
            <a:gdLst/>
            <a:ahLst/>
            <a:cxnLst/>
            <a:rect l="l" t="t" r="r" b="b"/>
            <a:pathLst>
              <a:path w="76200" h="121919">
                <a:moveTo>
                  <a:pt x="0" y="0"/>
                </a:moveTo>
                <a:lnTo>
                  <a:pt x="76004" y="12174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395314" y="2661410"/>
            <a:ext cx="153670" cy="3810"/>
          </a:xfrm>
          <a:custGeom>
            <a:avLst/>
            <a:gdLst/>
            <a:ahLst/>
            <a:cxnLst/>
            <a:rect l="l" t="t" r="r" b="b"/>
            <a:pathLst>
              <a:path w="153670" h="3810">
                <a:moveTo>
                  <a:pt x="153464" y="3212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371449" y="2711281"/>
            <a:ext cx="102870" cy="328295"/>
          </a:xfrm>
          <a:custGeom>
            <a:avLst/>
            <a:gdLst/>
            <a:ahLst/>
            <a:cxnLst/>
            <a:rect l="l" t="t" r="r" b="b"/>
            <a:pathLst>
              <a:path w="102870" h="328294">
                <a:moveTo>
                  <a:pt x="0" y="0"/>
                </a:moveTo>
                <a:lnTo>
                  <a:pt x="102261" y="3281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555191" y="2974734"/>
            <a:ext cx="101600" cy="135255"/>
          </a:xfrm>
          <a:custGeom>
            <a:avLst/>
            <a:gdLst/>
            <a:ahLst/>
            <a:cxnLst/>
            <a:rect l="l" t="t" r="r" b="b"/>
            <a:pathLst>
              <a:path w="101600" h="135255">
                <a:moveTo>
                  <a:pt x="101202" y="0"/>
                </a:moveTo>
                <a:lnTo>
                  <a:pt x="0" y="13523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273401" y="2922596"/>
            <a:ext cx="356870" cy="16510"/>
          </a:xfrm>
          <a:custGeom>
            <a:avLst/>
            <a:gdLst/>
            <a:ahLst/>
            <a:cxnLst/>
            <a:rect l="l" t="t" r="r" b="b"/>
            <a:pathLst>
              <a:path w="356870" h="16510">
                <a:moveTo>
                  <a:pt x="356858" y="0"/>
                </a:moveTo>
                <a:lnTo>
                  <a:pt x="0" y="1622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241792" y="2719026"/>
            <a:ext cx="22225" cy="183515"/>
          </a:xfrm>
          <a:custGeom>
            <a:avLst/>
            <a:gdLst/>
            <a:ahLst/>
            <a:cxnLst/>
            <a:rect l="l" t="t" r="r" b="b"/>
            <a:pathLst>
              <a:path w="22225" h="183514">
                <a:moveTo>
                  <a:pt x="22172" y="0"/>
                </a:moveTo>
                <a:lnTo>
                  <a:pt x="0" y="1834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249538" y="3009944"/>
            <a:ext cx="146050" cy="100330"/>
          </a:xfrm>
          <a:custGeom>
            <a:avLst/>
            <a:gdLst/>
            <a:ahLst/>
            <a:cxnLst/>
            <a:rect l="l" t="t" r="r" b="b"/>
            <a:pathLst>
              <a:path w="146050" h="100330">
                <a:moveTo>
                  <a:pt x="0" y="0"/>
                </a:moveTo>
                <a:lnTo>
                  <a:pt x="145777" y="10002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267924" y="2716761"/>
            <a:ext cx="307340" cy="238125"/>
          </a:xfrm>
          <a:custGeom>
            <a:avLst/>
            <a:gdLst/>
            <a:ahLst/>
            <a:cxnLst/>
            <a:rect l="l" t="t" r="r" b="b"/>
            <a:pathLst>
              <a:path w="307339" h="238125">
                <a:moveTo>
                  <a:pt x="0" y="237836"/>
                </a:moveTo>
                <a:lnTo>
                  <a:pt x="30698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237830" y="258540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6" y="0"/>
                </a:moveTo>
                <a:lnTo>
                  <a:pt x="41373" y="8104"/>
                </a:lnTo>
                <a:lnTo>
                  <a:pt x="18388" y="26133"/>
                </a:lnTo>
                <a:lnTo>
                  <a:pt x="3841" y="51466"/>
                </a:lnTo>
                <a:lnTo>
                  <a:pt x="0" y="81480"/>
                </a:lnTo>
                <a:lnTo>
                  <a:pt x="8104" y="110633"/>
                </a:lnTo>
                <a:lnTo>
                  <a:pt x="26134" y="133618"/>
                </a:lnTo>
                <a:lnTo>
                  <a:pt x="51466" y="148165"/>
                </a:lnTo>
                <a:lnTo>
                  <a:pt x="81480" y="152006"/>
                </a:lnTo>
                <a:lnTo>
                  <a:pt x="110633" y="143901"/>
                </a:lnTo>
                <a:lnTo>
                  <a:pt x="133618" y="125872"/>
                </a:lnTo>
                <a:lnTo>
                  <a:pt x="148165" y="100540"/>
                </a:lnTo>
                <a:lnTo>
                  <a:pt x="152006" y="70525"/>
                </a:lnTo>
                <a:lnTo>
                  <a:pt x="143901" y="41372"/>
                </a:lnTo>
                <a:lnTo>
                  <a:pt x="125872" y="18388"/>
                </a:lnTo>
                <a:lnTo>
                  <a:pt x="100540" y="3841"/>
                </a:lnTo>
                <a:lnTo>
                  <a:pt x="705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630260" y="284111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1" y="8104"/>
                </a:lnTo>
                <a:lnTo>
                  <a:pt x="18387" y="26133"/>
                </a:lnTo>
                <a:lnTo>
                  <a:pt x="3840" y="51466"/>
                </a:lnTo>
                <a:lnTo>
                  <a:pt x="0" y="81480"/>
                </a:lnTo>
                <a:lnTo>
                  <a:pt x="8104" y="110633"/>
                </a:lnTo>
                <a:lnTo>
                  <a:pt x="26133" y="133618"/>
                </a:lnTo>
                <a:lnTo>
                  <a:pt x="51465" y="148165"/>
                </a:lnTo>
                <a:lnTo>
                  <a:pt x="81479" y="152006"/>
                </a:lnTo>
                <a:lnTo>
                  <a:pt x="110632" y="143901"/>
                </a:lnTo>
                <a:lnTo>
                  <a:pt x="133617" y="125872"/>
                </a:lnTo>
                <a:lnTo>
                  <a:pt x="148164" y="100540"/>
                </a:lnTo>
                <a:lnTo>
                  <a:pt x="152005" y="70525"/>
                </a:lnTo>
                <a:lnTo>
                  <a:pt x="143900" y="41372"/>
                </a:lnTo>
                <a:lnTo>
                  <a:pt x="125871" y="18387"/>
                </a:lnTo>
                <a:lnTo>
                  <a:pt x="100539" y="3840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548778" y="258314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2" y="8104"/>
                </a:lnTo>
                <a:lnTo>
                  <a:pt x="18387" y="26133"/>
                </a:lnTo>
                <a:lnTo>
                  <a:pt x="3840" y="51465"/>
                </a:lnTo>
                <a:lnTo>
                  <a:pt x="0" y="81479"/>
                </a:lnTo>
                <a:lnTo>
                  <a:pt x="8104" y="110633"/>
                </a:lnTo>
                <a:lnTo>
                  <a:pt x="26133" y="133617"/>
                </a:lnTo>
                <a:lnTo>
                  <a:pt x="51466" y="148165"/>
                </a:lnTo>
                <a:lnTo>
                  <a:pt x="81480" y="152006"/>
                </a:lnTo>
                <a:lnTo>
                  <a:pt x="110633" y="143901"/>
                </a:lnTo>
                <a:lnTo>
                  <a:pt x="133618" y="125872"/>
                </a:lnTo>
                <a:lnTo>
                  <a:pt x="148165" y="100539"/>
                </a:lnTo>
                <a:lnTo>
                  <a:pt x="152006" y="70525"/>
                </a:lnTo>
                <a:lnTo>
                  <a:pt x="143901" y="41372"/>
                </a:lnTo>
                <a:lnTo>
                  <a:pt x="125872" y="18387"/>
                </a:lnTo>
                <a:lnTo>
                  <a:pt x="100540" y="3840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115919" y="288407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1" y="8104"/>
                </a:lnTo>
                <a:lnTo>
                  <a:pt x="18387" y="26133"/>
                </a:lnTo>
                <a:lnTo>
                  <a:pt x="3840" y="51465"/>
                </a:lnTo>
                <a:lnTo>
                  <a:pt x="0" y="81479"/>
                </a:lnTo>
                <a:lnTo>
                  <a:pt x="8104" y="110633"/>
                </a:lnTo>
                <a:lnTo>
                  <a:pt x="26133" y="133617"/>
                </a:lnTo>
                <a:lnTo>
                  <a:pt x="51465" y="148164"/>
                </a:lnTo>
                <a:lnTo>
                  <a:pt x="81479" y="152005"/>
                </a:lnTo>
                <a:lnTo>
                  <a:pt x="110632" y="143900"/>
                </a:lnTo>
                <a:lnTo>
                  <a:pt x="133617" y="125871"/>
                </a:lnTo>
                <a:lnTo>
                  <a:pt x="148164" y="100539"/>
                </a:lnTo>
                <a:lnTo>
                  <a:pt x="152005" y="70525"/>
                </a:lnTo>
                <a:lnTo>
                  <a:pt x="143900" y="41372"/>
                </a:lnTo>
                <a:lnTo>
                  <a:pt x="125871" y="18387"/>
                </a:lnTo>
                <a:lnTo>
                  <a:pt x="100539" y="3840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403184" y="30394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6" y="0"/>
                </a:moveTo>
                <a:lnTo>
                  <a:pt x="41373" y="8104"/>
                </a:lnTo>
                <a:lnTo>
                  <a:pt x="18388" y="26133"/>
                </a:lnTo>
                <a:lnTo>
                  <a:pt x="3841" y="51466"/>
                </a:lnTo>
                <a:lnTo>
                  <a:pt x="0" y="81480"/>
                </a:lnTo>
                <a:lnTo>
                  <a:pt x="8104" y="110633"/>
                </a:lnTo>
                <a:lnTo>
                  <a:pt x="26134" y="133618"/>
                </a:lnTo>
                <a:lnTo>
                  <a:pt x="51466" y="148165"/>
                </a:lnTo>
                <a:lnTo>
                  <a:pt x="81480" y="152006"/>
                </a:lnTo>
                <a:lnTo>
                  <a:pt x="110633" y="143901"/>
                </a:lnTo>
                <a:lnTo>
                  <a:pt x="133618" y="125872"/>
                </a:lnTo>
                <a:lnTo>
                  <a:pt x="148165" y="100540"/>
                </a:lnTo>
                <a:lnTo>
                  <a:pt x="152006" y="70525"/>
                </a:lnTo>
                <a:lnTo>
                  <a:pt x="143901" y="41372"/>
                </a:lnTo>
                <a:lnTo>
                  <a:pt x="125872" y="18387"/>
                </a:lnTo>
                <a:lnTo>
                  <a:pt x="100540" y="3840"/>
                </a:lnTo>
                <a:lnTo>
                  <a:pt x="705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953589" y="3885830"/>
            <a:ext cx="76200" cy="121920"/>
          </a:xfrm>
          <a:custGeom>
            <a:avLst/>
            <a:gdLst/>
            <a:ahLst/>
            <a:cxnLst/>
            <a:rect l="l" t="t" r="r" b="b"/>
            <a:pathLst>
              <a:path w="76200" h="121920">
                <a:moveTo>
                  <a:pt x="0" y="0"/>
                </a:moveTo>
                <a:lnTo>
                  <a:pt x="76004" y="12174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718644" y="3812091"/>
            <a:ext cx="153670" cy="3810"/>
          </a:xfrm>
          <a:custGeom>
            <a:avLst/>
            <a:gdLst/>
            <a:ahLst/>
            <a:cxnLst/>
            <a:rect l="l" t="t" r="r" b="b"/>
            <a:pathLst>
              <a:path w="153670" h="3810">
                <a:moveTo>
                  <a:pt x="153464" y="3212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694779" y="3861961"/>
            <a:ext cx="102870" cy="328295"/>
          </a:xfrm>
          <a:custGeom>
            <a:avLst/>
            <a:gdLst/>
            <a:ahLst/>
            <a:cxnLst/>
            <a:rect l="l" t="t" r="r" b="b"/>
            <a:pathLst>
              <a:path w="102870" h="328295">
                <a:moveTo>
                  <a:pt x="0" y="0"/>
                </a:moveTo>
                <a:lnTo>
                  <a:pt x="102261" y="3281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878521" y="4125416"/>
            <a:ext cx="101600" cy="135255"/>
          </a:xfrm>
          <a:custGeom>
            <a:avLst/>
            <a:gdLst/>
            <a:ahLst/>
            <a:cxnLst/>
            <a:rect l="l" t="t" r="r" b="b"/>
            <a:pathLst>
              <a:path w="101600" h="135254">
                <a:moveTo>
                  <a:pt x="101202" y="0"/>
                </a:moveTo>
                <a:lnTo>
                  <a:pt x="0" y="13523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596732" y="4073277"/>
            <a:ext cx="356870" cy="16510"/>
          </a:xfrm>
          <a:custGeom>
            <a:avLst/>
            <a:gdLst/>
            <a:ahLst/>
            <a:cxnLst/>
            <a:rect l="l" t="t" r="r" b="b"/>
            <a:pathLst>
              <a:path w="356870" h="16510">
                <a:moveTo>
                  <a:pt x="356858" y="0"/>
                </a:moveTo>
                <a:lnTo>
                  <a:pt x="0" y="1622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565121" y="3869707"/>
            <a:ext cx="22225" cy="183515"/>
          </a:xfrm>
          <a:custGeom>
            <a:avLst/>
            <a:gdLst/>
            <a:ahLst/>
            <a:cxnLst/>
            <a:rect l="l" t="t" r="r" b="b"/>
            <a:pathLst>
              <a:path w="22225" h="183514">
                <a:moveTo>
                  <a:pt x="22172" y="0"/>
                </a:moveTo>
                <a:lnTo>
                  <a:pt x="0" y="1834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572867" y="4160625"/>
            <a:ext cx="146050" cy="100330"/>
          </a:xfrm>
          <a:custGeom>
            <a:avLst/>
            <a:gdLst/>
            <a:ahLst/>
            <a:cxnLst/>
            <a:rect l="l" t="t" r="r" b="b"/>
            <a:pathLst>
              <a:path w="146050" h="100329">
                <a:moveTo>
                  <a:pt x="0" y="0"/>
                </a:moveTo>
                <a:lnTo>
                  <a:pt x="145777" y="10002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4591254" y="3867442"/>
            <a:ext cx="307340" cy="238125"/>
          </a:xfrm>
          <a:custGeom>
            <a:avLst/>
            <a:gdLst/>
            <a:ahLst/>
            <a:cxnLst/>
            <a:rect l="l" t="t" r="r" b="b"/>
            <a:pathLst>
              <a:path w="307339" h="238125">
                <a:moveTo>
                  <a:pt x="0" y="237836"/>
                </a:moveTo>
                <a:lnTo>
                  <a:pt x="30698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236513" y="3880353"/>
            <a:ext cx="29209" cy="222250"/>
          </a:xfrm>
          <a:custGeom>
            <a:avLst/>
            <a:gdLst/>
            <a:ahLst/>
            <a:cxnLst/>
            <a:rect l="l" t="t" r="r" b="b"/>
            <a:pathLst>
              <a:path w="29210" h="222250">
                <a:moveTo>
                  <a:pt x="0" y="0"/>
                </a:moveTo>
                <a:lnTo>
                  <a:pt x="29092" y="22189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001568" y="3806615"/>
            <a:ext cx="153670" cy="3810"/>
          </a:xfrm>
          <a:custGeom>
            <a:avLst/>
            <a:gdLst/>
            <a:ahLst/>
            <a:cxnLst/>
            <a:rect l="l" t="t" r="r" b="b"/>
            <a:pathLst>
              <a:path w="153670" h="3810">
                <a:moveTo>
                  <a:pt x="153464" y="3212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869366" y="3613967"/>
            <a:ext cx="304165" cy="140970"/>
          </a:xfrm>
          <a:custGeom>
            <a:avLst/>
            <a:gdLst/>
            <a:ahLst/>
            <a:cxnLst/>
            <a:rect l="l" t="t" r="r" b="b"/>
            <a:pathLst>
              <a:path w="304164" h="140970">
                <a:moveTo>
                  <a:pt x="0" y="0"/>
                </a:moveTo>
                <a:lnTo>
                  <a:pt x="304053" y="14051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184124" y="4235865"/>
            <a:ext cx="37465" cy="106680"/>
          </a:xfrm>
          <a:custGeom>
            <a:avLst/>
            <a:gdLst/>
            <a:ahLst/>
            <a:cxnLst/>
            <a:rect l="l" t="t" r="r" b="b"/>
            <a:pathLst>
              <a:path w="37464" h="106679">
                <a:moveTo>
                  <a:pt x="37088" y="0"/>
                </a:moveTo>
                <a:lnTo>
                  <a:pt x="0" y="10626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105595" y="4062322"/>
            <a:ext cx="107950" cy="66675"/>
          </a:xfrm>
          <a:custGeom>
            <a:avLst/>
            <a:gdLst/>
            <a:ahLst/>
            <a:cxnLst/>
            <a:rect l="l" t="t" r="r" b="b"/>
            <a:pathLst>
              <a:path w="107950" h="66675">
                <a:moveTo>
                  <a:pt x="0" y="0"/>
                </a:moveTo>
                <a:lnTo>
                  <a:pt x="107870" y="6605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422320" y="3621713"/>
            <a:ext cx="339725" cy="38100"/>
          </a:xfrm>
          <a:custGeom>
            <a:avLst/>
            <a:gdLst/>
            <a:ahLst/>
            <a:cxnLst/>
            <a:rect l="l" t="t" r="r" b="b"/>
            <a:pathLst>
              <a:path w="339725" h="38100">
                <a:moveTo>
                  <a:pt x="339560" y="0"/>
                </a:moveTo>
                <a:lnTo>
                  <a:pt x="0" y="3789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4430067" y="3767090"/>
            <a:ext cx="80010" cy="267970"/>
          </a:xfrm>
          <a:custGeom>
            <a:avLst/>
            <a:gdLst/>
            <a:ahLst/>
            <a:cxnLst/>
            <a:rect l="l" t="t" r="r" b="b"/>
            <a:pathLst>
              <a:path w="80010" h="267970">
                <a:moveTo>
                  <a:pt x="0" y="0"/>
                </a:moveTo>
                <a:lnTo>
                  <a:pt x="79708" y="26766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4448454" y="3711743"/>
            <a:ext cx="131445" cy="50800"/>
          </a:xfrm>
          <a:custGeom>
            <a:avLst/>
            <a:gdLst/>
            <a:ahLst/>
            <a:cxnLst/>
            <a:rect l="l" t="t" r="r" b="b"/>
            <a:pathLst>
              <a:path w="131445" h="50800">
                <a:moveTo>
                  <a:pt x="0" y="0"/>
                </a:moveTo>
                <a:lnTo>
                  <a:pt x="131094" y="5047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817228" y="3640100"/>
            <a:ext cx="125730" cy="93980"/>
          </a:xfrm>
          <a:custGeom>
            <a:avLst/>
            <a:gdLst/>
            <a:ahLst/>
            <a:cxnLst/>
            <a:rect l="l" t="t" r="r" b="b"/>
            <a:pathLst>
              <a:path w="125729" h="93979">
                <a:moveTo>
                  <a:pt x="0" y="0"/>
                </a:moveTo>
                <a:lnTo>
                  <a:pt x="125407" y="9372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079462" y="3861965"/>
            <a:ext cx="102235" cy="148590"/>
          </a:xfrm>
          <a:custGeom>
            <a:avLst/>
            <a:gdLst/>
            <a:ahLst/>
            <a:cxnLst/>
            <a:rect l="l" t="t" r="r" b="b"/>
            <a:pathLst>
              <a:path w="102235" h="148589">
                <a:moveTo>
                  <a:pt x="101703" y="0"/>
                </a:moveTo>
                <a:lnTo>
                  <a:pt x="0" y="14821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035069" y="4143802"/>
            <a:ext cx="67945" cy="128270"/>
          </a:xfrm>
          <a:custGeom>
            <a:avLst/>
            <a:gdLst/>
            <a:ahLst/>
            <a:cxnLst/>
            <a:rect l="l" t="t" r="r" b="b"/>
            <a:pathLst>
              <a:path w="67945" h="128270">
                <a:moveTo>
                  <a:pt x="0" y="0"/>
                </a:moveTo>
                <a:lnTo>
                  <a:pt x="67574" y="12779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860133" y="4315993"/>
            <a:ext cx="167005" cy="31750"/>
          </a:xfrm>
          <a:custGeom>
            <a:avLst/>
            <a:gdLst/>
            <a:ahLst/>
            <a:cxnLst/>
            <a:rect l="l" t="t" r="r" b="b"/>
            <a:pathLst>
              <a:path w="167004" h="31750">
                <a:moveTo>
                  <a:pt x="0" y="0"/>
                </a:moveTo>
                <a:lnTo>
                  <a:pt x="166506" y="3161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4591254" y="4105278"/>
            <a:ext cx="459740" cy="193040"/>
          </a:xfrm>
          <a:custGeom>
            <a:avLst/>
            <a:gdLst/>
            <a:ahLst/>
            <a:cxnLst/>
            <a:rect l="l" t="t" r="r" b="b"/>
            <a:pathLst>
              <a:path w="459739" h="193039">
                <a:moveTo>
                  <a:pt x="0" y="0"/>
                </a:moveTo>
                <a:lnTo>
                  <a:pt x="459250" y="19245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4591254" y="3861965"/>
            <a:ext cx="589915" cy="243840"/>
          </a:xfrm>
          <a:custGeom>
            <a:avLst/>
            <a:gdLst/>
            <a:ahLst/>
            <a:cxnLst/>
            <a:rect l="l" t="t" r="r" b="b"/>
            <a:pathLst>
              <a:path w="589914" h="243839">
                <a:moveTo>
                  <a:pt x="0" y="243313"/>
                </a:moveTo>
                <a:lnTo>
                  <a:pt x="58991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797041" y="3640100"/>
            <a:ext cx="20320" cy="550545"/>
          </a:xfrm>
          <a:custGeom>
            <a:avLst/>
            <a:gdLst/>
            <a:ahLst/>
            <a:cxnLst/>
            <a:rect l="l" t="t" r="r" b="b"/>
            <a:pathLst>
              <a:path w="20320" h="550545">
                <a:moveTo>
                  <a:pt x="20187" y="0"/>
                </a:moveTo>
                <a:lnTo>
                  <a:pt x="0" y="55001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4687033" y="3621713"/>
            <a:ext cx="74930" cy="133350"/>
          </a:xfrm>
          <a:custGeom>
            <a:avLst/>
            <a:gdLst/>
            <a:ahLst/>
            <a:cxnLst/>
            <a:rect l="l" t="t" r="r" b="b"/>
            <a:pathLst>
              <a:path w="74929" h="133350">
                <a:moveTo>
                  <a:pt x="74847" y="0"/>
                </a:moveTo>
                <a:lnTo>
                  <a:pt x="0" y="13276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4561160" y="373608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2" y="8104"/>
                </a:lnTo>
                <a:lnTo>
                  <a:pt x="18388" y="26134"/>
                </a:lnTo>
                <a:lnTo>
                  <a:pt x="3841" y="51466"/>
                </a:lnTo>
                <a:lnTo>
                  <a:pt x="0" y="81480"/>
                </a:lnTo>
                <a:lnTo>
                  <a:pt x="8104" y="110633"/>
                </a:lnTo>
                <a:lnTo>
                  <a:pt x="26133" y="133618"/>
                </a:lnTo>
                <a:lnTo>
                  <a:pt x="51466" y="148165"/>
                </a:lnTo>
                <a:lnTo>
                  <a:pt x="81480" y="152006"/>
                </a:lnTo>
                <a:lnTo>
                  <a:pt x="110633" y="143901"/>
                </a:lnTo>
                <a:lnTo>
                  <a:pt x="133618" y="125872"/>
                </a:lnTo>
                <a:lnTo>
                  <a:pt x="148165" y="100540"/>
                </a:lnTo>
                <a:lnTo>
                  <a:pt x="152006" y="70526"/>
                </a:lnTo>
                <a:lnTo>
                  <a:pt x="143901" y="41373"/>
                </a:lnTo>
                <a:lnTo>
                  <a:pt x="125872" y="18388"/>
                </a:lnTo>
                <a:lnTo>
                  <a:pt x="100540" y="3841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872108" y="373382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2" y="8104"/>
                </a:lnTo>
                <a:lnTo>
                  <a:pt x="18388" y="26133"/>
                </a:lnTo>
                <a:lnTo>
                  <a:pt x="3841" y="51465"/>
                </a:lnTo>
                <a:lnTo>
                  <a:pt x="0" y="81479"/>
                </a:lnTo>
                <a:lnTo>
                  <a:pt x="8104" y="110633"/>
                </a:lnTo>
                <a:lnTo>
                  <a:pt x="26133" y="133617"/>
                </a:lnTo>
                <a:lnTo>
                  <a:pt x="51466" y="148164"/>
                </a:lnTo>
                <a:lnTo>
                  <a:pt x="81480" y="152005"/>
                </a:lnTo>
                <a:lnTo>
                  <a:pt x="110633" y="143900"/>
                </a:lnTo>
                <a:lnTo>
                  <a:pt x="133618" y="125871"/>
                </a:lnTo>
                <a:lnTo>
                  <a:pt x="148165" y="100539"/>
                </a:lnTo>
                <a:lnTo>
                  <a:pt x="152006" y="70525"/>
                </a:lnTo>
                <a:lnTo>
                  <a:pt x="143901" y="41372"/>
                </a:lnTo>
                <a:lnTo>
                  <a:pt x="125872" y="18387"/>
                </a:lnTo>
                <a:lnTo>
                  <a:pt x="100540" y="3840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4439249" y="403475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2" y="8104"/>
                </a:lnTo>
                <a:lnTo>
                  <a:pt x="18387" y="26133"/>
                </a:lnTo>
                <a:lnTo>
                  <a:pt x="3840" y="51465"/>
                </a:lnTo>
                <a:lnTo>
                  <a:pt x="0" y="81479"/>
                </a:lnTo>
                <a:lnTo>
                  <a:pt x="8104" y="110633"/>
                </a:lnTo>
                <a:lnTo>
                  <a:pt x="26133" y="133617"/>
                </a:lnTo>
                <a:lnTo>
                  <a:pt x="51465" y="148164"/>
                </a:lnTo>
                <a:lnTo>
                  <a:pt x="81479" y="152005"/>
                </a:lnTo>
                <a:lnTo>
                  <a:pt x="110633" y="143900"/>
                </a:lnTo>
                <a:lnTo>
                  <a:pt x="133617" y="125871"/>
                </a:lnTo>
                <a:lnTo>
                  <a:pt x="148164" y="100539"/>
                </a:lnTo>
                <a:lnTo>
                  <a:pt x="152005" y="70525"/>
                </a:lnTo>
                <a:lnTo>
                  <a:pt x="143900" y="41371"/>
                </a:lnTo>
                <a:lnTo>
                  <a:pt x="125871" y="18387"/>
                </a:lnTo>
                <a:lnTo>
                  <a:pt x="100539" y="3840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4726514" y="41901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2" y="8104"/>
                </a:lnTo>
                <a:lnTo>
                  <a:pt x="18388" y="26133"/>
                </a:lnTo>
                <a:lnTo>
                  <a:pt x="3841" y="51466"/>
                </a:lnTo>
                <a:lnTo>
                  <a:pt x="0" y="81480"/>
                </a:lnTo>
                <a:lnTo>
                  <a:pt x="8104" y="110633"/>
                </a:lnTo>
                <a:lnTo>
                  <a:pt x="26133" y="133618"/>
                </a:lnTo>
                <a:lnTo>
                  <a:pt x="51466" y="148165"/>
                </a:lnTo>
                <a:lnTo>
                  <a:pt x="81480" y="152006"/>
                </a:lnTo>
                <a:lnTo>
                  <a:pt x="110633" y="143901"/>
                </a:lnTo>
                <a:lnTo>
                  <a:pt x="133618" y="125872"/>
                </a:lnTo>
                <a:lnTo>
                  <a:pt x="148165" y="100540"/>
                </a:lnTo>
                <a:lnTo>
                  <a:pt x="152006" y="70525"/>
                </a:lnTo>
                <a:lnTo>
                  <a:pt x="143901" y="41372"/>
                </a:lnTo>
                <a:lnTo>
                  <a:pt x="125872" y="18387"/>
                </a:lnTo>
                <a:lnTo>
                  <a:pt x="100540" y="3840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4735747" y="348809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2" y="8104"/>
                </a:lnTo>
                <a:lnTo>
                  <a:pt x="18388" y="26134"/>
                </a:lnTo>
                <a:lnTo>
                  <a:pt x="3841" y="51466"/>
                </a:lnTo>
                <a:lnTo>
                  <a:pt x="0" y="81480"/>
                </a:lnTo>
                <a:lnTo>
                  <a:pt x="8104" y="110633"/>
                </a:lnTo>
                <a:lnTo>
                  <a:pt x="26133" y="133618"/>
                </a:lnTo>
                <a:lnTo>
                  <a:pt x="51466" y="148165"/>
                </a:lnTo>
                <a:lnTo>
                  <a:pt x="81480" y="152006"/>
                </a:lnTo>
                <a:lnTo>
                  <a:pt x="110633" y="143901"/>
                </a:lnTo>
                <a:lnTo>
                  <a:pt x="133618" y="125872"/>
                </a:lnTo>
                <a:lnTo>
                  <a:pt x="148165" y="100540"/>
                </a:lnTo>
                <a:lnTo>
                  <a:pt x="152006" y="70526"/>
                </a:lnTo>
                <a:lnTo>
                  <a:pt x="143901" y="41373"/>
                </a:lnTo>
                <a:lnTo>
                  <a:pt x="125872" y="18388"/>
                </a:lnTo>
                <a:lnTo>
                  <a:pt x="100540" y="3841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5195078" y="410224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6" y="0"/>
                </a:moveTo>
                <a:lnTo>
                  <a:pt x="41373" y="8104"/>
                </a:lnTo>
                <a:lnTo>
                  <a:pt x="18388" y="26133"/>
                </a:lnTo>
                <a:lnTo>
                  <a:pt x="3841" y="51465"/>
                </a:lnTo>
                <a:lnTo>
                  <a:pt x="0" y="81479"/>
                </a:lnTo>
                <a:lnTo>
                  <a:pt x="8104" y="110633"/>
                </a:lnTo>
                <a:lnTo>
                  <a:pt x="26134" y="133617"/>
                </a:lnTo>
                <a:lnTo>
                  <a:pt x="51466" y="148165"/>
                </a:lnTo>
                <a:lnTo>
                  <a:pt x="81480" y="152006"/>
                </a:lnTo>
                <a:lnTo>
                  <a:pt x="110633" y="143901"/>
                </a:lnTo>
                <a:lnTo>
                  <a:pt x="133618" y="125872"/>
                </a:lnTo>
                <a:lnTo>
                  <a:pt x="148165" y="100539"/>
                </a:lnTo>
                <a:lnTo>
                  <a:pt x="152006" y="70525"/>
                </a:lnTo>
                <a:lnTo>
                  <a:pt x="143901" y="41372"/>
                </a:lnTo>
                <a:lnTo>
                  <a:pt x="125872" y="18387"/>
                </a:lnTo>
                <a:lnTo>
                  <a:pt x="100540" y="3840"/>
                </a:lnTo>
                <a:lnTo>
                  <a:pt x="705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5155033" y="372834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2" y="8104"/>
                </a:lnTo>
                <a:lnTo>
                  <a:pt x="18387" y="26133"/>
                </a:lnTo>
                <a:lnTo>
                  <a:pt x="3840" y="51466"/>
                </a:lnTo>
                <a:lnTo>
                  <a:pt x="0" y="81480"/>
                </a:lnTo>
                <a:lnTo>
                  <a:pt x="8104" y="110633"/>
                </a:lnTo>
                <a:lnTo>
                  <a:pt x="26133" y="133618"/>
                </a:lnTo>
                <a:lnTo>
                  <a:pt x="51465" y="148165"/>
                </a:lnTo>
                <a:lnTo>
                  <a:pt x="81479" y="152006"/>
                </a:lnTo>
                <a:lnTo>
                  <a:pt x="110633" y="143901"/>
                </a:lnTo>
                <a:lnTo>
                  <a:pt x="133617" y="125872"/>
                </a:lnTo>
                <a:lnTo>
                  <a:pt x="148165" y="100540"/>
                </a:lnTo>
                <a:lnTo>
                  <a:pt x="152006" y="70525"/>
                </a:lnTo>
                <a:lnTo>
                  <a:pt x="143901" y="41372"/>
                </a:lnTo>
                <a:lnTo>
                  <a:pt x="125872" y="18387"/>
                </a:lnTo>
                <a:lnTo>
                  <a:pt x="100539" y="3840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4296448" y="364121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2" y="8104"/>
                </a:lnTo>
                <a:lnTo>
                  <a:pt x="18387" y="26133"/>
                </a:lnTo>
                <a:lnTo>
                  <a:pt x="3840" y="51465"/>
                </a:lnTo>
                <a:lnTo>
                  <a:pt x="0" y="81479"/>
                </a:lnTo>
                <a:lnTo>
                  <a:pt x="8104" y="110633"/>
                </a:lnTo>
                <a:lnTo>
                  <a:pt x="26133" y="133617"/>
                </a:lnTo>
                <a:lnTo>
                  <a:pt x="51465" y="148165"/>
                </a:lnTo>
                <a:lnTo>
                  <a:pt x="81479" y="152006"/>
                </a:lnTo>
                <a:lnTo>
                  <a:pt x="110633" y="143901"/>
                </a:lnTo>
                <a:lnTo>
                  <a:pt x="133617" y="125872"/>
                </a:lnTo>
                <a:lnTo>
                  <a:pt x="148164" y="100539"/>
                </a:lnTo>
                <a:lnTo>
                  <a:pt x="152005" y="70525"/>
                </a:lnTo>
                <a:lnTo>
                  <a:pt x="143900" y="41372"/>
                </a:lnTo>
                <a:lnTo>
                  <a:pt x="125871" y="18387"/>
                </a:lnTo>
                <a:lnTo>
                  <a:pt x="100539" y="3840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032118" y="42716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1" y="8104"/>
                </a:lnTo>
                <a:lnTo>
                  <a:pt x="18387" y="26133"/>
                </a:lnTo>
                <a:lnTo>
                  <a:pt x="3840" y="51466"/>
                </a:lnTo>
                <a:lnTo>
                  <a:pt x="0" y="81480"/>
                </a:lnTo>
                <a:lnTo>
                  <a:pt x="8104" y="110633"/>
                </a:lnTo>
                <a:lnTo>
                  <a:pt x="26133" y="133618"/>
                </a:lnTo>
                <a:lnTo>
                  <a:pt x="51465" y="148165"/>
                </a:lnTo>
                <a:lnTo>
                  <a:pt x="81479" y="152006"/>
                </a:lnTo>
                <a:lnTo>
                  <a:pt x="110632" y="143901"/>
                </a:lnTo>
                <a:lnTo>
                  <a:pt x="133617" y="125872"/>
                </a:lnTo>
                <a:lnTo>
                  <a:pt x="148164" y="100540"/>
                </a:lnTo>
                <a:lnTo>
                  <a:pt x="152005" y="70525"/>
                </a:lnTo>
                <a:lnTo>
                  <a:pt x="143900" y="41372"/>
                </a:lnTo>
                <a:lnTo>
                  <a:pt x="125871" y="18387"/>
                </a:lnTo>
                <a:lnTo>
                  <a:pt x="100539" y="3840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4953589" y="399179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6" y="0"/>
                </a:moveTo>
                <a:lnTo>
                  <a:pt x="41373" y="8104"/>
                </a:lnTo>
                <a:lnTo>
                  <a:pt x="18388" y="26133"/>
                </a:lnTo>
                <a:lnTo>
                  <a:pt x="3841" y="51466"/>
                </a:lnTo>
                <a:lnTo>
                  <a:pt x="0" y="81480"/>
                </a:lnTo>
                <a:lnTo>
                  <a:pt x="8104" y="110633"/>
                </a:lnTo>
                <a:lnTo>
                  <a:pt x="26134" y="133618"/>
                </a:lnTo>
                <a:lnTo>
                  <a:pt x="51466" y="148165"/>
                </a:lnTo>
                <a:lnTo>
                  <a:pt x="81480" y="152006"/>
                </a:lnTo>
                <a:lnTo>
                  <a:pt x="110633" y="143901"/>
                </a:lnTo>
                <a:lnTo>
                  <a:pt x="133618" y="125872"/>
                </a:lnTo>
                <a:lnTo>
                  <a:pt x="148165" y="100540"/>
                </a:lnTo>
                <a:lnTo>
                  <a:pt x="152006" y="70525"/>
                </a:lnTo>
                <a:lnTo>
                  <a:pt x="143901" y="41372"/>
                </a:lnTo>
                <a:lnTo>
                  <a:pt x="125872" y="18387"/>
                </a:lnTo>
                <a:lnTo>
                  <a:pt x="100540" y="3840"/>
                </a:lnTo>
                <a:lnTo>
                  <a:pt x="705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4565782" y="5075322"/>
            <a:ext cx="838200" cy="67945"/>
          </a:xfrm>
          <a:custGeom>
            <a:avLst/>
            <a:gdLst/>
            <a:ahLst/>
            <a:cxnLst/>
            <a:rect l="l" t="t" r="r" b="b"/>
            <a:pathLst>
              <a:path w="838200" h="67945">
                <a:moveTo>
                  <a:pt x="0" y="0"/>
                </a:moveTo>
                <a:lnTo>
                  <a:pt x="837923" y="6791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5098205" y="5494039"/>
            <a:ext cx="210185" cy="591820"/>
          </a:xfrm>
          <a:custGeom>
            <a:avLst/>
            <a:gdLst/>
            <a:ahLst/>
            <a:cxnLst/>
            <a:rect l="l" t="t" r="r" b="b"/>
            <a:pathLst>
              <a:path w="210185" h="591820">
                <a:moveTo>
                  <a:pt x="0" y="591567"/>
                </a:moveTo>
                <a:lnTo>
                  <a:pt x="20972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4349662" y="5613098"/>
            <a:ext cx="330200" cy="482600"/>
          </a:xfrm>
          <a:custGeom>
            <a:avLst/>
            <a:gdLst/>
            <a:ahLst/>
            <a:cxnLst/>
            <a:rect l="l" t="t" r="r" b="b"/>
            <a:pathLst>
              <a:path w="330200" h="482600">
                <a:moveTo>
                  <a:pt x="330110" y="482519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4647262" y="5333296"/>
            <a:ext cx="635000" cy="109220"/>
          </a:xfrm>
          <a:custGeom>
            <a:avLst/>
            <a:gdLst/>
            <a:ahLst/>
            <a:cxnLst/>
            <a:rect l="l" t="t" r="r" b="b"/>
            <a:pathLst>
              <a:path w="635000" h="109220">
                <a:moveTo>
                  <a:pt x="0" y="0"/>
                </a:moveTo>
                <a:lnTo>
                  <a:pt x="634530" y="10860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4495256" y="5156803"/>
            <a:ext cx="76200" cy="121920"/>
          </a:xfrm>
          <a:custGeom>
            <a:avLst/>
            <a:gdLst/>
            <a:ahLst/>
            <a:cxnLst/>
            <a:rect l="l" t="t" r="r" b="b"/>
            <a:pathLst>
              <a:path w="76200" h="121920">
                <a:moveTo>
                  <a:pt x="0" y="0"/>
                </a:moveTo>
                <a:lnTo>
                  <a:pt x="76004" y="12174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4260311" y="5083064"/>
            <a:ext cx="153670" cy="3810"/>
          </a:xfrm>
          <a:custGeom>
            <a:avLst/>
            <a:gdLst/>
            <a:ahLst/>
            <a:cxnLst/>
            <a:rect l="l" t="t" r="r" b="b"/>
            <a:pathLst>
              <a:path w="153670" h="3810">
                <a:moveTo>
                  <a:pt x="153464" y="3212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236446" y="5132934"/>
            <a:ext cx="102870" cy="328295"/>
          </a:xfrm>
          <a:custGeom>
            <a:avLst/>
            <a:gdLst/>
            <a:ahLst/>
            <a:cxnLst/>
            <a:rect l="l" t="t" r="r" b="b"/>
            <a:pathLst>
              <a:path w="102870" h="328295">
                <a:moveTo>
                  <a:pt x="0" y="0"/>
                </a:moveTo>
                <a:lnTo>
                  <a:pt x="102261" y="3281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4420187" y="5396388"/>
            <a:ext cx="101600" cy="135255"/>
          </a:xfrm>
          <a:custGeom>
            <a:avLst/>
            <a:gdLst/>
            <a:ahLst/>
            <a:cxnLst/>
            <a:rect l="l" t="t" r="r" b="b"/>
            <a:pathLst>
              <a:path w="101600" h="135254">
                <a:moveTo>
                  <a:pt x="101202" y="0"/>
                </a:moveTo>
                <a:lnTo>
                  <a:pt x="0" y="13523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4138398" y="5344250"/>
            <a:ext cx="356870" cy="16510"/>
          </a:xfrm>
          <a:custGeom>
            <a:avLst/>
            <a:gdLst/>
            <a:ahLst/>
            <a:cxnLst/>
            <a:rect l="l" t="t" r="r" b="b"/>
            <a:pathLst>
              <a:path w="356870" h="16510">
                <a:moveTo>
                  <a:pt x="356858" y="0"/>
                </a:moveTo>
                <a:lnTo>
                  <a:pt x="0" y="1622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4106788" y="5140680"/>
            <a:ext cx="22225" cy="183515"/>
          </a:xfrm>
          <a:custGeom>
            <a:avLst/>
            <a:gdLst/>
            <a:ahLst/>
            <a:cxnLst/>
            <a:rect l="l" t="t" r="r" b="b"/>
            <a:pathLst>
              <a:path w="22225" h="183514">
                <a:moveTo>
                  <a:pt x="22172" y="0"/>
                </a:moveTo>
                <a:lnTo>
                  <a:pt x="0" y="1834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4114534" y="5431598"/>
            <a:ext cx="146050" cy="100330"/>
          </a:xfrm>
          <a:custGeom>
            <a:avLst/>
            <a:gdLst/>
            <a:ahLst/>
            <a:cxnLst/>
            <a:rect l="l" t="t" r="r" b="b"/>
            <a:pathLst>
              <a:path w="146050" h="100329">
                <a:moveTo>
                  <a:pt x="0" y="0"/>
                </a:moveTo>
                <a:lnTo>
                  <a:pt x="145777" y="10002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4132921" y="5138415"/>
            <a:ext cx="307340" cy="238125"/>
          </a:xfrm>
          <a:custGeom>
            <a:avLst/>
            <a:gdLst/>
            <a:ahLst/>
            <a:cxnLst/>
            <a:rect l="l" t="t" r="r" b="b"/>
            <a:pathLst>
              <a:path w="307339" h="238125">
                <a:moveTo>
                  <a:pt x="0" y="237836"/>
                </a:moveTo>
                <a:lnTo>
                  <a:pt x="30698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4102827" y="500706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2" y="8104"/>
                </a:lnTo>
                <a:lnTo>
                  <a:pt x="18387" y="26133"/>
                </a:lnTo>
                <a:lnTo>
                  <a:pt x="3840" y="51466"/>
                </a:lnTo>
                <a:lnTo>
                  <a:pt x="0" y="81480"/>
                </a:lnTo>
                <a:lnTo>
                  <a:pt x="8104" y="110633"/>
                </a:lnTo>
                <a:lnTo>
                  <a:pt x="26133" y="133618"/>
                </a:lnTo>
                <a:lnTo>
                  <a:pt x="51466" y="148165"/>
                </a:lnTo>
                <a:lnTo>
                  <a:pt x="81480" y="152006"/>
                </a:lnTo>
                <a:lnTo>
                  <a:pt x="110633" y="143901"/>
                </a:lnTo>
                <a:lnTo>
                  <a:pt x="133618" y="125872"/>
                </a:lnTo>
                <a:lnTo>
                  <a:pt x="148165" y="100540"/>
                </a:lnTo>
                <a:lnTo>
                  <a:pt x="152006" y="70525"/>
                </a:lnTo>
                <a:lnTo>
                  <a:pt x="143901" y="41372"/>
                </a:lnTo>
                <a:lnTo>
                  <a:pt x="125872" y="18388"/>
                </a:lnTo>
                <a:lnTo>
                  <a:pt x="100540" y="3841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4495256" y="526276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2" y="8104"/>
                </a:lnTo>
                <a:lnTo>
                  <a:pt x="18388" y="26134"/>
                </a:lnTo>
                <a:lnTo>
                  <a:pt x="3841" y="51466"/>
                </a:lnTo>
                <a:lnTo>
                  <a:pt x="0" y="81480"/>
                </a:lnTo>
                <a:lnTo>
                  <a:pt x="8104" y="110633"/>
                </a:lnTo>
                <a:lnTo>
                  <a:pt x="26133" y="133618"/>
                </a:lnTo>
                <a:lnTo>
                  <a:pt x="51466" y="148165"/>
                </a:lnTo>
                <a:lnTo>
                  <a:pt x="81480" y="152006"/>
                </a:lnTo>
                <a:lnTo>
                  <a:pt x="110633" y="143901"/>
                </a:lnTo>
                <a:lnTo>
                  <a:pt x="133618" y="125872"/>
                </a:lnTo>
                <a:lnTo>
                  <a:pt x="148165" y="100540"/>
                </a:lnTo>
                <a:lnTo>
                  <a:pt x="152006" y="70526"/>
                </a:lnTo>
                <a:lnTo>
                  <a:pt x="143901" y="41373"/>
                </a:lnTo>
                <a:lnTo>
                  <a:pt x="125872" y="18388"/>
                </a:lnTo>
                <a:lnTo>
                  <a:pt x="100540" y="3841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4413775" y="500479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2" y="8104"/>
                </a:lnTo>
                <a:lnTo>
                  <a:pt x="18387" y="26133"/>
                </a:lnTo>
                <a:lnTo>
                  <a:pt x="3840" y="51466"/>
                </a:lnTo>
                <a:lnTo>
                  <a:pt x="0" y="81480"/>
                </a:lnTo>
                <a:lnTo>
                  <a:pt x="8104" y="110633"/>
                </a:lnTo>
                <a:lnTo>
                  <a:pt x="26133" y="133618"/>
                </a:lnTo>
                <a:lnTo>
                  <a:pt x="51466" y="148165"/>
                </a:lnTo>
                <a:lnTo>
                  <a:pt x="81480" y="152006"/>
                </a:lnTo>
                <a:lnTo>
                  <a:pt x="110633" y="143901"/>
                </a:lnTo>
                <a:lnTo>
                  <a:pt x="133618" y="125872"/>
                </a:lnTo>
                <a:lnTo>
                  <a:pt x="148165" y="100540"/>
                </a:lnTo>
                <a:lnTo>
                  <a:pt x="152006" y="70525"/>
                </a:lnTo>
                <a:lnTo>
                  <a:pt x="143901" y="41372"/>
                </a:lnTo>
                <a:lnTo>
                  <a:pt x="125872" y="18387"/>
                </a:lnTo>
                <a:lnTo>
                  <a:pt x="100540" y="3840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980915" y="530572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6" y="0"/>
                </a:moveTo>
                <a:lnTo>
                  <a:pt x="41373" y="8104"/>
                </a:lnTo>
                <a:lnTo>
                  <a:pt x="18388" y="26133"/>
                </a:lnTo>
                <a:lnTo>
                  <a:pt x="3841" y="51466"/>
                </a:lnTo>
                <a:lnTo>
                  <a:pt x="0" y="81480"/>
                </a:lnTo>
                <a:lnTo>
                  <a:pt x="8104" y="110633"/>
                </a:lnTo>
                <a:lnTo>
                  <a:pt x="26134" y="133617"/>
                </a:lnTo>
                <a:lnTo>
                  <a:pt x="51466" y="148165"/>
                </a:lnTo>
                <a:lnTo>
                  <a:pt x="81480" y="152006"/>
                </a:lnTo>
                <a:lnTo>
                  <a:pt x="110633" y="143901"/>
                </a:lnTo>
                <a:lnTo>
                  <a:pt x="133618" y="125872"/>
                </a:lnTo>
                <a:lnTo>
                  <a:pt x="148165" y="100540"/>
                </a:lnTo>
                <a:lnTo>
                  <a:pt x="152006" y="70525"/>
                </a:lnTo>
                <a:lnTo>
                  <a:pt x="143901" y="41372"/>
                </a:lnTo>
                <a:lnTo>
                  <a:pt x="125872" y="18387"/>
                </a:lnTo>
                <a:lnTo>
                  <a:pt x="100540" y="3840"/>
                </a:lnTo>
                <a:lnTo>
                  <a:pt x="7052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4268181" y="546109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2" y="8104"/>
                </a:lnTo>
                <a:lnTo>
                  <a:pt x="18387" y="26133"/>
                </a:lnTo>
                <a:lnTo>
                  <a:pt x="3840" y="51466"/>
                </a:lnTo>
                <a:lnTo>
                  <a:pt x="0" y="81480"/>
                </a:lnTo>
                <a:lnTo>
                  <a:pt x="8104" y="110633"/>
                </a:lnTo>
                <a:lnTo>
                  <a:pt x="26133" y="133618"/>
                </a:lnTo>
                <a:lnTo>
                  <a:pt x="51466" y="148165"/>
                </a:lnTo>
                <a:lnTo>
                  <a:pt x="81480" y="152006"/>
                </a:lnTo>
                <a:lnTo>
                  <a:pt x="110633" y="143901"/>
                </a:lnTo>
                <a:lnTo>
                  <a:pt x="133618" y="125872"/>
                </a:lnTo>
                <a:lnTo>
                  <a:pt x="148165" y="100540"/>
                </a:lnTo>
                <a:lnTo>
                  <a:pt x="152006" y="70525"/>
                </a:lnTo>
                <a:lnTo>
                  <a:pt x="143901" y="41372"/>
                </a:lnTo>
                <a:lnTo>
                  <a:pt x="125872" y="18387"/>
                </a:lnTo>
                <a:lnTo>
                  <a:pt x="100540" y="3840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5796132" y="5211498"/>
            <a:ext cx="76200" cy="121920"/>
          </a:xfrm>
          <a:custGeom>
            <a:avLst/>
            <a:gdLst/>
            <a:ahLst/>
            <a:cxnLst/>
            <a:rect l="l" t="t" r="r" b="b"/>
            <a:pathLst>
              <a:path w="76200" h="121920">
                <a:moveTo>
                  <a:pt x="0" y="0"/>
                </a:moveTo>
                <a:lnTo>
                  <a:pt x="76004" y="12174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5561189" y="5137759"/>
            <a:ext cx="153670" cy="3810"/>
          </a:xfrm>
          <a:custGeom>
            <a:avLst/>
            <a:gdLst/>
            <a:ahLst/>
            <a:cxnLst/>
            <a:rect l="l" t="t" r="r" b="b"/>
            <a:pathLst>
              <a:path w="153670" h="3810">
                <a:moveTo>
                  <a:pt x="153464" y="3212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537324" y="5187629"/>
            <a:ext cx="102870" cy="328295"/>
          </a:xfrm>
          <a:custGeom>
            <a:avLst/>
            <a:gdLst/>
            <a:ahLst/>
            <a:cxnLst/>
            <a:rect l="l" t="t" r="r" b="b"/>
            <a:pathLst>
              <a:path w="102870" h="328295">
                <a:moveTo>
                  <a:pt x="0" y="0"/>
                </a:moveTo>
                <a:lnTo>
                  <a:pt x="102261" y="32815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5721064" y="5451083"/>
            <a:ext cx="101600" cy="135255"/>
          </a:xfrm>
          <a:custGeom>
            <a:avLst/>
            <a:gdLst/>
            <a:ahLst/>
            <a:cxnLst/>
            <a:rect l="l" t="t" r="r" b="b"/>
            <a:pathLst>
              <a:path w="101600" h="135254">
                <a:moveTo>
                  <a:pt x="101202" y="0"/>
                </a:moveTo>
                <a:lnTo>
                  <a:pt x="0" y="13523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5439276" y="5398945"/>
            <a:ext cx="356870" cy="16510"/>
          </a:xfrm>
          <a:custGeom>
            <a:avLst/>
            <a:gdLst/>
            <a:ahLst/>
            <a:cxnLst/>
            <a:rect l="l" t="t" r="r" b="b"/>
            <a:pathLst>
              <a:path w="356870" h="16510">
                <a:moveTo>
                  <a:pt x="356858" y="0"/>
                </a:moveTo>
                <a:lnTo>
                  <a:pt x="0" y="1622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5407666" y="5195375"/>
            <a:ext cx="22225" cy="183515"/>
          </a:xfrm>
          <a:custGeom>
            <a:avLst/>
            <a:gdLst/>
            <a:ahLst/>
            <a:cxnLst/>
            <a:rect l="l" t="t" r="r" b="b"/>
            <a:pathLst>
              <a:path w="22225" h="183514">
                <a:moveTo>
                  <a:pt x="22172" y="0"/>
                </a:moveTo>
                <a:lnTo>
                  <a:pt x="0" y="18343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5415412" y="5486293"/>
            <a:ext cx="146050" cy="100330"/>
          </a:xfrm>
          <a:custGeom>
            <a:avLst/>
            <a:gdLst/>
            <a:ahLst/>
            <a:cxnLst/>
            <a:rect l="l" t="t" r="r" b="b"/>
            <a:pathLst>
              <a:path w="146050" h="100329">
                <a:moveTo>
                  <a:pt x="0" y="0"/>
                </a:moveTo>
                <a:lnTo>
                  <a:pt x="145777" y="10002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5433798" y="5193110"/>
            <a:ext cx="307340" cy="238125"/>
          </a:xfrm>
          <a:custGeom>
            <a:avLst/>
            <a:gdLst/>
            <a:ahLst/>
            <a:cxnLst/>
            <a:rect l="l" t="t" r="r" b="b"/>
            <a:pathLst>
              <a:path w="307339" h="238125">
                <a:moveTo>
                  <a:pt x="0" y="237836"/>
                </a:moveTo>
                <a:lnTo>
                  <a:pt x="30698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5403705" y="5061756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1" y="8104"/>
                </a:lnTo>
                <a:lnTo>
                  <a:pt x="18387" y="26133"/>
                </a:lnTo>
                <a:lnTo>
                  <a:pt x="3840" y="51466"/>
                </a:lnTo>
                <a:lnTo>
                  <a:pt x="0" y="81480"/>
                </a:lnTo>
                <a:lnTo>
                  <a:pt x="8104" y="110633"/>
                </a:lnTo>
                <a:lnTo>
                  <a:pt x="26133" y="133618"/>
                </a:lnTo>
                <a:lnTo>
                  <a:pt x="51465" y="148165"/>
                </a:lnTo>
                <a:lnTo>
                  <a:pt x="81479" y="152006"/>
                </a:lnTo>
                <a:lnTo>
                  <a:pt x="110633" y="143901"/>
                </a:lnTo>
                <a:lnTo>
                  <a:pt x="133617" y="125872"/>
                </a:lnTo>
                <a:lnTo>
                  <a:pt x="148164" y="100540"/>
                </a:lnTo>
                <a:lnTo>
                  <a:pt x="152005" y="70525"/>
                </a:lnTo>
                <a:lnTo>
                  <a:pt x="143900" y="41372"/>
                </a:lnTo>
                <a:lnTo>
                  <a:pt x="125871" y="18388"/>
                </a:lnTo>
                <a:lnTo>
                  <a:pt x="100539" y="3841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5796133" y="531746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2" y="8104"/>
                </a:lnTo>
                <a:lnTo>
                  <a:pt x="18387" y="26133"/>
                </a:lnTo>
                <a:lnTo>
                  <a:pt x="3840" y="51466"/>
                </a:lnTo>
                <a:lnTo>
                  <a:pt x="0" y="81480"/>
                </a:lnTo>
                <a:lnTo>
                  <a:pt x="8104" y="110633"/>
                </a:lnTo>
                <a:lnTo>
                  <a:pt x="26133" y="133618"/>
                </a:lnTo>
                <a:lnTo>
                  <a:pt x="51466" y="148165"/>
                </a:lnTo>
                <a:lnTo>
                  <a:pt x="81480" y="152006"/>
                </a:lnTo>
                <a:lnTo>
                  <a:pt x="110633" y="143901"/>
                </a:lnTo>
                <a:lnTo>
                  <a:pt x="133618" y="125872"/>
                </a:lnTo>
                <a:lnTo>
                  <a:pt x="148165" y="100540"/>
                </a:lnTo>
                <a:lnTo>
                  <a:pt x="152006" y="70525"/>
                </a:lnTo>
                <a:lnTo>
                  <a:pt x="143901" y="41372"/>
                </a:lnTo>
                <a:lnTo>
                  <a:pt x="125872" y="18387"/>
                </a:lnTo>
                <a:lnTo>
                  <a:pt x="100540" y="3840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5714653" y="505949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1" y="8104"/>
                </a:lnTo>
                <a:lnTo>
                  <a:pt x="18387" y="26133"/>
                </a:lnTo>
                <a:lnTo>
                  <a:pt x="3840" y="51466"/>
                </a:lnTo>
                <a:lnTo>
                  <a:pt x="0" y="81480"/>
                </a:lnTo>
                <a:lnTo>
                  <a:pt x="8104" y="110633"/>
                </a:lnTo>
                <a:lnTo>
                  <a:pt x="26133" y="133618"/>
                </a:lnTo>
                <a:lnTo>
                  <a:pt x="51465" y="148165"/>
                </a:lnTo>
                <a:lnTo>
                  <a:pt x="81479" y="152006"/>
                </a:lnTo>
                <a:lnTo>
                  <a:pt x="110633" y="143901"/>
                </a:lnTo>
                <a:lnTo>
                  <a:pt x="133617" y="125872"/>
                </a:lnTo>
                <a:lnTo>
                  <a:pt x="148164" y="100540"/>
                </a:lnTo>
                <a:lnTo>
                  <a:pt x="152005" y="70525"/>
                </a:lnTo>
                <a:lnTo>
                  <a:pt x="143900" y="41372"/>
                </a:lnTo>
                <a:lnTo>
                  <a:pt x="125871" y="18387"/>
                </a:lnTo>
                <a:lnTo>
                  <a:pt x="100539" y="3840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5281792" y="5360421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2" y="8104"/>
                </a:lnTo>
                <a:lnTo>
                  <a:pt x="18387" y="26133"/>
                </a:lnTo>
                <a:lnTo>
                  <a:pt x="3840" y="51466"/>
                </a:lnTo>
                <a:lnTo>
                  <a:pt x="0" y="81480"/>
                </a:lnTo>
                <a:lnTo>
                  <a:pt x="8104" y="110633"/>
                </a:lnTo>
                <a:lnTo>
                  <a:pt x="26133" y="133617"/>
                </a:lnTo>
                <a:lnTo>
                  <a:pt x="51466" y="148165"/>
                </a:lnTo>
                <a:lnTo>
                  <a:pt x="81480" y="152006"/>
                </a:lnTo>
                <a:lnTo>
                  <a:pt x="110633" y="143901"/>
                </a:lnTo>
                <a:lnTo>
                  <a:pt x="133618" y="125872"/>
                </a:lnTo>
                <a:lnTo>
                  <a:pt x="148165" y="100540"/>
                </a:lnTo>
                <a:lnTo>
                  <a:pt x="152006" y="70525"/>
                </a:lnTo>
                <a:lnTo>
                  <a:pt x="143901" y="41372"/>
                </a:lnTo>
                <a:lnTo>
                  <a:pt x="125872" y="18387"/>
                </a:lnTo>
                <a:lnTo>
                  <a:pt x="100540" y="3840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5569059" y="5515787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1" y="8104"/>
                </a:lnTo>
                <a:lnTo>
                  <a:pt x="18387" y="26133"/>
                </a:lnTo>
                <a:lnTo>
                  <a:pt x="3840" y="51465"/>
                </a:lnTo>
                <a:lnTo>
                  <a:pt x="0" y="81480"/>
                </a:lnTo>
                <a:lnTo>
                  <a:pt x="8104" y="110633"/>
                </a:lnTo>
                <a:lnTo>
                  <a:pt x="26133" y="133618"/>
                </a:lnTo>
                <a:lnTo>
                  <a:pt x="51465" y="148165"/>
                </a:lnTo>
                <a:lnTo>
                  <a:pt x="81479" y="152006"/>
                </a:lnTo>
                <a:lnTo>
                  <a:pt x="110633" y="143901"/>
                </a:lnTo>
                <a:lnTo>
                  <a:pt x="133617" y="125872"/>
                </a:lnTo>
                <a:lnTo>
                  <a:pt x="148164" y="100539"/>
                </a:lnTo>
                <a:lnTo>
                  <a:pt x="152005" y="70525"/>
                </a:lnTo>
                <a:lnTo>
                  <a:pt x="143900" y="41372"/>
                </a:lnTo>
                <a:lnTo>
                  <a:pt x="125871" y="18387"/>
                </a:lnTo>
                <a:lnTo>
                  <a:pt x="100539" y="3840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5053812" y="6219225"/>
            <a:ext cx="76200" cy="121920"/>
          </a:xfrm>
          <a:custGeom>
            <a:avLst/>
            <a:gdLst/>
            <a:ahLst/>
            <a:cxnLst/>
            <a:rect l="l" t="t" r="r" b="b"/>
            <a:pathLst>
              <a:path w="76200" h="121920">
                <a:moveTo>
                  <a:pt x="0" y="0"/>
                </a:moveTo>
                <a:lnTo>
                  <a:pt x="76004" y="12174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4818869" y="6145488"/>
            <a:ext cx="153670" cy="3810"/>
          </a:xfrm>
          <a:custGeom>
            <a:avLst/>
            <a:gdLst/>
            <a:ahLst/>
            <a:cxnLst/>
            <a:rect l="l" t="t" r="r" b="b"/>
            <a:pathLst>
              <a:path w="153670" h="3810">
                <a:moveTo>
                  <a:pt x="153464" y="3212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4795004" y="6195357"/>
            <a:ext cx="274955" cy="167640"/>
          </a:xfrm>
          <a:custGeom>
            <a:avLst/>
            <a:gdLst/>
            <a:ahLst/>
            <a:cxnLst/>
            <a:rect l="l" t="t" r="r" b="b"/>
            <a:pathLst>
              <a:path w="274954" h="167639">
                <a:moveTo>
                  <a:pt x="274748" y="167313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4763037" y="6406672"/>
            <a:ext cx="290830" cy="5715"/>
          </a:xfrm>
          <a:custGeom>
            <a:avLst/>
            <a:gdLst/>
            <a:ahLst/>
            <a:cxnLst/>
            <a:rect l="l" t="t" r="r" b="b"/>
            <a:pathLst>
              <a:path w="290829" h="5714">
                <a:moveTo>
                  <a:pt x="290776" y="0"/>
                </a:moveTo>
                <a:lnTo>
                  <a:pt x="0" y="560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4681558" y="6203103"/>
            <a:ext cx="6350" cy="139065"/>
          </a:xfrm>
          <a:custGeom>
            <a:avLst/>
            <a:gdLst/>
            <a:ahLst/>
            <a:cxnLst/>
            <a:rect l="l" t="t" r="r" b="b"/>
            <a:pathLst>
              <a:path w="6350" h="139064">
                <a:moveTo>
                  <a:pt x="5960" y="0"/>
                </a:moveTo>
                <a:lnTo>
                  <a:pt x="0" y="138649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763038" y="6200838"/>
            <a:ext cx="235585" cy="211454"/>
          </a:xfrm>
          <a:custGeom>
            <a:avLst/>
            <a:gdLst/>
            <a:ahLst/>
            <a:cxnLst/>
            <a:rect l="l" t="t" r="r" b="b"/>
            <a:pathLst>
              <a:path w="235585" h="211454">
                <a:moveTo>
                  <a:pt x="0" y="211440"/>
                </a:moveTo>
                <a:lnTo>
                  <a:pt x="2354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4661385" y="6069484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1" y="8104"/>
                </a:lnTo>
                <a:lnTo>
                  <a:pt x="18387" y="26133"/>
                </a:lnTo>
                <a:lnTo>
                  <a:pt x="3840" y="51465"/>
                </a:lnTo>
                <a:lnTo>
                  <a:pt x="0" y="81480"/>
                </a:lnTo>
                <a:lnTo>
                  <a:pt x="8104" y="110633"/>
                </a:lnTo>
                <a:lnTo>
                  <a:pt x="26133" y="133617"/>
                </a:lnTo>
                <a:lnTo>
                  <a:pt x="51465" y="148165"/>
                </a:lnTo>
                <a:lnTo>
                  <a:pt x="81479" y="152005"/>
                </a:lnTo>
                <a:lnTo>
                  <a:pt x="110633" y="143901"/>
                </a:lnTo>
                <a:lnTo>
                  <a:pt x="133617" y="125872"/>
                </a:lnTo>
                <a:lnTo>
                  <a:pt x="148164" y="100539"/>
                </a:lnTo>
                <a:lnTo>
                  <a:pt x="152005" y="70525"/>
                </a:lnTo>
                <a:lnTo>
                  <a:pt x="143900" y="41372"/>
                </a:lnTo>
                <a:lnTo>
                  <a:pt x="125871" y="18387"/>
                </a:lnTo>
                <a:lnTo>
                  <a:pt x="100539" y="3840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5053814" y="632519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2" y="8104"/>
                </a:lnTo>
                <a:lnTo>
                  <a:pt x="18387" y="26133"/>
                </a:lnTo>
                <a:lnTo>
                  <a:pt x="3840" y="51465"/>
                </a:lnTo>
                <a:lnTo>
                  <a:pt x="0" y="81480"/>
                </a:lnTo>
                <a:lnTo>
                  <a:pt x="8104" y="110633"/>
                </a:lnTo>
                <a:lnTo>
                  <a:pt x="26133" y="133617"/>
                </a:lnTo>
                <a:lnTo>
                  <a:pt x="51466" y="148165"/>
                </a:lnTo>
                <a:lnTo>
                  <a:pt x="81480" y="152005"/>
                </a:lnTo>
                <a:lnTo>
                  <a:pt x="110633" y="143901"/>
                </a:lnTo>
                <a:lnTo>
                  <a:pt x="133618" y="125872"/>
                </a:lnTo>
                <a:lnTo>
                  <a:pt x="148165" y="100539"/>
                </a:lnTo>
                <a:lnTo>
                  <a:pt x="152006" y="70525"/>
                </a:lnTo>
                <a:lnTo>
                  <a:pt x="143901" y="41372"/>
                </a:lnTo>
                <a:lnTo>
                  <a:pt x="125872" y="18387"/>
                </a:lnTo>
                <a:lnTo>
                  <a:pt x="100540" y="3840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4972333" y="6067219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2" y="8104"/>
                </a:lnTo>
                <a:lnTo>
                  <a:pt x="18387" y="26133"/>
                </a:lnTo>
                <a:lnTo>
                  <a:pt x="3840" y="51465"/>
                </a:lnTo>
                <a:lnTo>
                  <a:pt x="0" y="81480"/>
                </a:lnTo>
                <a:lnTo>
                  <a:pt x="8104" y="110633"/>
                </a:lnTo>
                <a:lnTo>
                  <a:pt x="26133" y="133617"/>
                </a:lnTo>
                <a:lnTo>
                  <a:pt x="51465" y="148165"/>
                </a:lnTo>
                <a:lnTo>
                  <a:pt x="81479" y="152005"/>
                </a:lnTo>
                <a:lnTo>
                  <a:pt x="110633" y="143901"/>
                </a:lnTo>
                <a:lnTo>
                  <a:pt x="133617" y="125872"/>
                </a:lnTo>
                <a:lnTo>
                  <a:pt x="148164" y="100539"/>
                </a:lnTo>
                <a:lnTo>
                  <a:pt x="152005" y="70525"/>
                </a:lnTo>
                <a:lnTo>
                  <a:pt x="143900" y="41372"/>
                </a:lnTo>
                <a:lnTo>
                  <a:pt x="125871" y="18387"/>
                </a:lnTo>
                <a:lnTo>
                  <a:pt x="100539" y="3840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4611032" y="6341752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0525" y="0"/>
                </a:moveTo>
                <a:lnTo>
                  <a:pt x="41372" y="8104"/>
                </a:lnTo>
                <a:lnTo>
                  <a:pt x="18387" y="26133"/>
                </a:lnTo>
                <a:lnTo>
                  <a:pt x="3840" y="51465"/>
                </a:lnTo>
                <a:lnTo>
                  <a:pt x="0" y="81480"/>
                </a:lnTo>
                <a:lnTo>
                  <a:pt x="8104" y="110633"/>
                </a:lnTo>
                <a:lnTo>
                  <a:pt x="26133" y="133618"/>
                </a:lnTo>
                <a:lnTo>
                  <a:pt x="51465" y="148165"/>
                </a:lnTo>
                <a:lnTo>
                  <a:pt x="81479" y="152005"/>
                </a:lnTo>
                <a:lnTo>
                  <a:pt x="110633" y="143901"/>
                </a:lnTo>
                <a:lnTo>
                  <a:pt x="133617" y="125872"/>
                </a:lnTo>
                <a:lnTo>
                  <a:pt x="148165" y="100540"/>
                </a:lnTo>
                <a:lnTo>
                  <a:pt x="152006" y="70525"/>
                </a:lnTo>
                <a:lnTo>
                  <a:pt x="143901" y="41372"/>
                </a:lnTo>
                <a:lnTo>
                  <a:pt x="125872" y="18387"/>
                </a:lnTo>
                <a:lnTo>
                  <a:pt x="100539" y="3840"/>
                </a:lnTo>
                <a:lnTo>
                  <a:pt x="70525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 txBox="1"/>
          <p:nvPr/>
        </p:nvSpPr>
        <p:spPr>
          <a:xfrm>
            <a:off x="8006805" y="1344275"/>
            <a:ext cx="1027430" cy="214629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0">
                <a:latin typeface="Times New Roman"/>
                <a:cs typeface="Times New Roman"/>
              </a:rPr>
              <a:t>min(|</a:t>
            </a:r>
            <a:r>
              <a:rPr dirty="0" sz="1200" spc="-120">
                <a:latin typeface="Times New Roman"/>
                <a:cs typeface="Times New Roman"/>
              </a:rPr>
              <a:t> </a:t>
            </a:r>
            <a:r>
              <a:rPr dirty="0" sz="1200" spc="15" i="1">
                <a:latin typeface="Times New Roman"/>
                <a:cs typeface="Times New Roman"/>
              </a:rPr>
              <a:t>S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25">
                <a:latin typeface="Times New Roman"/>
                <a:cs typeface="Times New Roman"/>
              </a:rPr>
              <a:t>|,|</a:t>
            </a:r>
            <a:r>
              <a:rPr dirty="0" sz="1200" spc="-195">
                <a:latin typeface="Times New Roman"/>
                <a:cs typeface="Times New Roman"/>
              </a:rPr>
              <a:t> </a:t>
            </a:r>
            <a:r>
              <a:rPr dirty="0" sz="1200" spc="25" i="1">
                <a:latin typeface="Times New Roman"/>
                <a:cs typeface="Times New Roman"/>
              </a:rPr>
              <a:t>V</a:t>
            </a:r>
            <a:r>
              <a:rPr dirty="0" sz="1200" spc="55" i="1">
                <a:latin typeface="Times New Roman"/>
                <a:cs typeface="Times New Roman"/>
              </a:rPr>
              <a:t> </a:t>
            </a:r>
            <a:r>
              <a:rPr dirty="0" sz="1200" spc="5">
                <a:latin typeface="Times New Roman"/>
                <a:cs typeface="Times New Roman"/>
              </a:rPr>
              <a:t>\</a:t>
            </a:r>
            <a:r>
              <a:rPr dirty="0" sz="1200" spc="-70">
                <a:latin typeface="Times New Roman"/>
                <a:cs typeface="Times New Roman"/>
              </a:rPr>
              <a:t> </a:t>
            </a:r>
            <a:r>
              <a:rPr dirty="0" sz="1200" spc="15" i="1">
                <a:latin typeface="Times New Roman"/>
                <a:cs typeface="Times New Roman"/>
              </a:rPr>
              <a:t>S</a:t>
            </a:r>
            <a:r>
              <a:rPr dirty="0" sz="1200" spc="-25" i="1">
                <a:latin typeface="Times New Roman"/>
                <a:cs typeface="Times New Roman"/>
              </a:rPr>
              <a:t> </a:t>
            </a:r>
            <a:r>
              <a:rPr dirty="0" sz="1200" spc="-25">
                <a:latin typeface="Times New Roman"/>
                <a:cs typeface="Times New Roman"/>
              </a:rPr>
              <a:t>|)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111" name="object 1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112" name="object 112"/>
          <p:cNvSpPr txBox="1"/>
          <p:nvPr/>
        </p:nvSpPr>
        <p:spPr>
          <a:xfrm>
            <a:off x="2673615" y="6699893"/>
            <a:ext cx="3894454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Analysis 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Networks,</a:t>
            </a:r>
            <a:r>
              <a:rPr dirty="0" sz="90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13" name="object 113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30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7670968" y="1430124"/>
            <a:ext cx="199390" cy="13525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700" spc="5" i="1">
                <a:latin typeface="Times New Roman"/>
                <a:cs typeface="Times New Roman"/>
              </a:rPr>
              <a:t>S</a:t>
            </a:r>
            <a:r>
              <a:rPr dirty="0" sz="700" spc="-100" i="1">
                <a:latin typeface="Times New Roman"/>
                <a:cs typeface="Times New Roman"/>
              </a:rPr>
              <a:t> </a:t>
            </a:r>
            <a:r>
              <a:rPr dirty="0" sz="700" spc="-15">
                <a:latin typeface="Symbol"/>
                <a:cs typeface="Symbol"/>
              </a:rPr>
              <a:t></a:t>
            </a:r>
            <a:r>
              <a:rPr dirty="0" sz="700" spc="5" i="1">
                <a:latin typeface="Times New Roman"/>
                <a:cs typeface="Times New Roman"/>
              </a:rPr>
              <a:t>V</a:t>
            </a:r>
            <a:endParaRPr sz="700">
              <a:latin typeface="Times New Roman"/>
              <a:cs typeface="Times New Roman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7313589" y="1044459"/>
            <a:ext cx="1744980" cy="307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-34188" sz="1950" spc="-60" i="1">
                <a:latin typeface="Symbol"/>
                <a:cs typeface="Symbol"/>
              </a:rPr>
              <a:t></a:t>
            </a:r>
            <a:r>
              <a:rPr dirty="0" baseline="-34188" sz="1950" spc="75" i="1">
                <a:latin typeface="Times New Roman"/>
                <a:cs typeface="Times New Roman"/>
              </a:rPr>
              <a:t> </a:t>
            </a:r>
            <a:r>
              <a:rPr dirty="0" baseline="-37037" sz="1800" spc="22">
                <a:latin typeface="Symbol"/>
                <a:cs typeface="Symbol"/>
              </a:rPr>
              <a:t></a:t>
            </a:r>
            <a:r>
              <a:rPr dirty="0" baseline="-37037" sz="1800" spc="-209">
                <a:latin typeface="Times New Roman"/>
                <a:cs typeface="Times New Roman"/>
              </a:rPr>
              <a:t> </a:t>
            </a:r>
            <a:r>
              <a:rPr dirty="0" baseline="-36036" sz="2775" spc="82">
                <a:latin typeface="Times New Roman"/>
                <a:cs typeface="Times New Roman"/>
              </a:rPr>
              <a:t>min</a:t>
            </a:r>
            <a:r>
              <a:rPr dirty="0" sz="1200" spc="55" u="sng">
                <a:latin typeface="Times New Roman"/>
                <a:cs typeface="Times New Roman"/>
              </a:rPr>
              <a:t>#</a:t>
            </a:r>
            <a:r>
              <a:rPr dirty="0" sz="1200" spc="-190" u="sng">
                <a:latin typeface="Times New Roman"/>
                <a:cs typeface="Times New Roman"/>
              </a:rPr>
              <a:t> </a:t>
            </a:r>
            <a:r>
              <a:rPr dirty="0" sz="1200" spc="5" i="1" u="sng">
                <a:latin typeface="Times New Roman"/>
                <a:cs typeface="Times New Roman"/>
              </a:rPr>
              <a:t>edges</a:t>
            </a:r>
            <a:r>
              <a:rPr dirty="0" sz="1200" spc="-110" i="1" u="sng">
                <a:latin typeface="Times New Roman"/>
                <a:cs typeface="Times New Roman"/>
              </a:rPr>
              <a:t> </a:t>
            </a:r>
            <a:r>
              <a:rPr dirty="0" sz="1200" spc="0" i="1" u="sng">
                <a:latin typeface="Times New Roman"/>
                <a:cs typeface="Times New Roman"/>
              </a:rPr>
              <a:t>leaving</a:t>
            </a:r>
            <a:r>
              <a:rPr dirty="0" sz="1200" spc="25" i="1" u="sng">
                <a:latin typeface="Times New Roman"/>
                <a:cs typeface="Times New Roman"/>
              </a:rPr>
              <a:t> </a:t>
            </a:r>
            <a:r>
              <a:rPr dirty="0" sz="1200" spc="15" i="1" u="sng">
                <a:latin typeface="Times New Roman"/>
                <a:cs typeface="Times New Roman"/>
              </a:rPr>
              <a:t>S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81585" y="5762207"/>
            <a:ext cx="1891664" cy="239395"/>
          </a:xfrm>
          <a:custGeom>
            <a:avLst/>
            <a:gdLst/>
            <a:ahLst/>
            <a:cxnLst/>
            <a:rect l="l" t="t" r="r" b="b"/>
            <a:pathLst>
              <a:path w="1891664" h="239395">
                <a:moveTo>
                  <a:pt x="0" y="0"/>
                </a:moveTo>
                <a:lnTo>
                  <a:pt x="1891621" y="23902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44118" y="5156280"/>
            <a:ext cx="1955800" cy="530860"/>
          </a:xfrm>
          <a:custGeom>
            <a:avLst/>
            <a:gdLst/>
            <a:ahLst/>
            <a:cxnLst/>
            <a:rect l="l" t="t" r="r" b="b"/>
            <a:pathLst>
              <a:path w="1955800" h="530860">
                <a:moveTo>
                  <a:pt x="0" y="530639"/>
                </a:moveTo>
                <a:lnTo>
                  <a:pt x="195535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55300" y="4574829"/>
            <a:ext cx="1941195" cy="886460"/>
          </a:xfrm>
          <a:custGeom>
            <a:avLst/>
            <a:gdLst/>
            <a:ahLst/>
            <a:cxnLst/>
            <a:rect l="l" t="t" r="r" b="b"/>
            <a:pathLst>
              <a:path w="1941195" h="886460">
                <a:moveTo>
                  <a:pt x="0" y="0"/>
                </a:moveTo>
                <a:lnTo>
                  <a:pt x="1940720" y="886403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824630" y="5008341"/>
            <a:ext cx="1877060" cy="411480"/>
          </a:xfrm>
          <a:custGeom>
            <a:avLst/>
            <a:gdLst/>
            <a:ahLst/>
            <a:cxnLst/>
            <a:rect l="l" t="t" r="r" b="b"/>
            <a:pathLst>
              <a:path w="1877060" h="411479">
                <a:moveTo>
                  <a:pt x="0" y="410909"/>
                </a:moveTo>
                <a:lnTo>
                  <a:pt x="187676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62096" y="5355472"/>
            <a:ext cx="1802130" cy="139065"/>
          </a:xfrm>
          <a:custGeom>
            <a:avLst/>
            <a:gdLst/>
            <a:ahLst/>
            <a:cxnLst/>
            <a:rect l="l" t="t" r="r" b="b"/>
            <a:pathLst>
              <a:path w="1802129" h="139064">
                <a:moveTo>
                  <a:pt x="0" y="139064"/>
                </a:moveTo>
                <a:lnTo>
                  <a:pt x="1801827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5216" y="347472"/>
            <a:ext cx="673912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56563" y="2707639"/>
            <a:ext cx="2641600" cy="0"/>
          </a:xfrm>
          <a:custGeom>
            <a:avLst/>
            <a:gdLst/>
            <a:ahLst/>
            <a:cxnLst/>
            <a:rect l="l" t="t" r="r" b="b"/>
            <a:pathLst>
              <a:path w="2641600" h="0">
                <a:moveTo>
                  <a:pt x="0" y="0"/>
                </a:moveTo>
                <a:lnTo>
                  <a:pt x="2641600" y="0"/>
                </a:lnTo>
              </a:path>
            </a:pathLst>
          </a:custGeom>
          <a:ln w="25400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598164" y="2777489"/>
            <a:ext cx="266700" cy="0"/>
          </a:xfrm>
          <a:custGeom>
            <a:avLst/>
            <a:gdLst/>
            <a:ahLst/>
            <a:cxnLst/>
            <a:rect l="l" t="t" r="r" b="b"/>
            <a:pathLst>
              <a:path w="266700" h="0">
                <a:moveTo>
                  <a:pt x="0" y="0"/>
                </a:moveTo>
                <a:lnTo>
                  <a:pt x="266700" y="0"/>
                </a:lnTo>
              </a:path>
            </a:pathLst>
          </a:custGeom>
          <a:ln w="12700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618108" y="1349755"/>
            <a:ext cx="8208645" cy="1397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25" u="heavy"/>
              <a:t>Fact:</a:t>
            </a:r>
            <a:r>
              <a:rPr dirty="0" sz="3000" spc="-25"/>
              <a:t>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In </a:t>
            </a:r>
            <a:r>
              <a:rPr dirty="0" sz="300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graph </a:t>
            </a:r>
            <a:r>
              <a:rPr dirty="0" sz="3000" b="0">
                <a:solidFill>
                  <a:srgbClr val="000000"/>
                </a:solidFill>
                <a:latin typeface="Calibri"/>
                <a:cs typeface="Calibri"/>
              </a:rPr>
              <a:t>on </a:t>
            </a:r>
            <a:r>
              <a:rPr dirty="0" sz="3000" b="0" i="1">
                <a:solidFill>
                  <a:srgbClr val="000000"/>
                </a:solidFill>
                <a:latin typeface="Times New Roman"/>
                <a:cs typeface="Times New Roman"/>
              </a:rPr>
              <a:t>n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nodes with </a:t>
            </a:r>
            <a:r>
              <a:rPr dirty="0" sz="3000" spc="-10" b="0">
                <a:solidFill>
                  <a:srgbClr val="000000"/>
                </a:solidFill>
                <a:latin typeface="Calibri"/>
                <a:cs typeface="Calibri"/>
              </a:rPr>
              <a:t>expansion </a:t>
            </a:r>
            <a:r>
              <a:rPr dirty="0" sz="3000" b="0" i="1">
                <a:solidFill>
                  <a:srgbClr val="000000"/>
                </a:solidFill>
                <a:latin typeface="Times New Roman"/>
                <a:cs typeface="Times New Roman"/>
              </a:rPr>
              <a:t>α </a:t>
            </a:r>
            <a:r>
              <a:rPr dirty="0" sz="3000" spc="-25" b="0">
                <a:solidFill>
                  <a:srgbClr val="000000"/>
                </a:solidFill>
                <a:latin typeface="Calibri"/>
                <a:cs typeface="Calibri"/>
              </a:rPr>
              <a:t>for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all 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pairs </a:t>
            </a:r>
            <a:r>
              <a:rPr dirty="0" sz="3000" b="0">
                <a:solidFill>
                  <a:srgbClr val="000000"/>
                </a:solidFill>
                <a:latin typeface="Calibri"/>
                <a:cs typeface="Calibri"/>
              </a:rPr>
              <a:t>of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nodes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there </a:t>
            </a:r>
            <a:r>
              <a:rPr dirty="0" sz="3000" spc="-5" b="0">
                <a:solidFill>
                  <a:srgbClr val="000000"/>
                </a:solidFill>
                <a:latin typeface="Calibri"/>
                <a:cs typeface="Calibri"/>
              </a:rPr>
              <a:t>is </a:t>
            </a:r>
            <a:r>
              <a:rPr dirty="0" sz="3000" b="0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sz="3000" spc="-10" b="0">
                <a:solidFill>
                  <a:srgbClr val="000000"/>
                </a:solidFill>
                <a:latin typeface="Calibri"/>
                <a:cs typeface="Calibri"/>
              </a:rPr>
              <a:t>path </a:t>
            </a:r>
            <a:r>
              <a:rPr dirty="0" sz="3000" b="0">
                <a:solidFill>
                  <a:srgbClr val="000000"/>
                </a:solidFill>
                <a:latin typeface="Calibri"/>
                <a:cs typeface="Calibri"/>
              </a:rPr>
              <a:t>of </a:t>
            </a:r>
            <a:r>
              <a:rPr dirty="0" sz="3000" spc="-15" b="0">
                <a:solidFill>
                  <a:srgbClr val="000000"/>
                </a:solidFill>
                <a:latin typeface="Calibri"/>
                <a:cs typeface="Calibri"/>
              </a:rPr>
              <a:t>lehth </a:t>
            </a:r>
            <a:r>
              <a:rPr dirty="0" sz="3000" spc="-5" b="0" i="1">
                <a:solidFill>
                  <a:srgbClr val="000000"/>
                </a:solidFill>
                <a:latin typeface="Times New Roman"/>
                <a:cs typeface="Times New Roman"/>
              </a:rPr>
              <a:t>O((log</a:t>
            </a:r>
            <a:r>
              <a:rPr dirty="0" sz="3000" b="0" i="1">
                <a:solidFill>
                  <a:srgbClr val="000000"/>
                </a:solidFill>
                <a:latin typeface="Times New Roman"/>
                <a:cs typeface="Times New Roman"/>
              </a:rPr>
              <a:t> n)/α).</a:t>
            </a:r>
            <a:endParaRPr sz="3000">
              <a:latin typeface="Times New Roman"/>
              <a:cs typeface="Times New Roman"/>
            </a:endParaRPr>
          </a:p>
          <a:p>
            <a:pPr marL="332740" indent="-320040">
              <a:lnSpc>
                <a:spcPct val="100000"/>
              </a:lnSpc>
              <a:buClr>
                <a:srgbClr val="F0AD00"/>
              </a:buClr>
              <a:buSzPct val="80000"/>
              <a:buFont typeface="Arial"/>
              <a:buChar char="▪"/>
              <a:tabLst>
                <a:tab pos="332740" algn="l"/>
              </a:tabLst>
            </a:pPr>
            <a:r>
              <a:rPr dirty="0" sz="3000" spc="-5"/>
              <a:t>Random </a:t>
            </a:r>
            <a:r>
              <a:rPr dirty="0" sz="3000" spc="-20"/>
              <a:t>graph</a:t>
            </a:r>
            <a:r>
              <a:rPr dirty="0" sz="3000" spc="-65"/>
              <a:t> </a:t>
            </a:r>
            <a:r>
              <a:rPr dirty="0" sz="3000" spc="-5" i="1">
                <a:latin typeface="Calibri"/>
                <a:cs typeface="Calibri"/>
              </a:rPr>
              <a:t>G</a:t>
            </a:r>
            <a:r>
              <a:rPr dirty="0" baseline="-19444" sz="3000" spc="-7" i="1">
                <a:latin typeface="Calibri"/>
                <a:cs typeface="Calibri"/>
              </a:rPr>
              <a:t>np</a:t>
            </a:r>
            <a:r>
              <a:rPr dirty="0" sz="3000" spc="-5" u="heavy"/>
              <a:t>: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8149" y="2620537"/>
            <a:ext cx="7759700" cy="1460500"/>
          </a:xfrm>
          <a:prstGeom prst="rect">
            <a:avLst/>
          </a:prstGeom>
        </p:spPr>
        <p:txBody>
          <a:bodyPr wrap="square" lIns="0" tIns="1130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3000" spc="-15">
                <a:latin typeface="Calibri"/>
                <a:cs typeface="Calibri"/>
              </a:rPr>
              <a:t>For </a:t>
            </a:r>
            <a:r>
              <a:rPr dirty="0" sz="3000" b="1" i="1">
                <a:latin typeface="Times New Roman"/>
                <a:cs typeface="Times New Roman"/>
              </a:rPr>
              <a:t>log n &gt; </a:t>
            </a:r>
            <a:r>
              <a:rPr dirty="0" sz="3000" spc="-5" b="1" i="1">
                <a:solidFill>
                  <a:srgbClr val="D60093"/>
                </a:solidFill>
                <a:latin typeface="Times New Roman"/>
                <a:cs typeface="Times New Roman"/>
              </a:rPr>
              <a:t>np </a:t>
            </a:r>
            <a:r>
              <a:rPr dirty="0" sz="3000" b="1" i="1">
                <a:latin typeface="Times New Roman"/>
                <a:cs typeface="Times New Roman"/>
              </a:rPr>
              <a:t>&gt; c, </a:t>
            </a:r>
            <a:r>
              <a:rPr dirty="0" sz="3000" spc="-5">
                <a:solidFill>
                  <a:srgbClr val="0000FF"/>
                </a:solidFill>
                <a:latin typeface="Calibri"/>
                <a:cs typeface="Calibri"/>
              </a:rPr>
              <a:t>diam(</a:t>
            </a:r>
            <a:r>
              <a:rPr dirty="0" sz="3000" spc="-5" b="1" i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baseline="-19444" sz="3000" spc="-7" b="1" i="1">
                <a:solidFill>
                  <a:srgbClr val="0000FF"/>
                </a:solidFill>
                <a:latin typeface="Calibri"/>
                <a:cs typeface="Calibri"/>
              </a:rPr>
              <a:t>np</a:t>
            </a:r>
            <a:r>
              <a:rPr dirty="0" sz="3000" spc="-5">
                <a:solidFill>
                  <a:srgbClr val="0000FF"/>
                </a:solidFill>
                <a:latin typeface="Calibri"/>
                <a:cs typeface="Calibri"/>
              </a:rPr>
              <a:t>) </a:t>
            </a:r>
            <a:r>
              <a:rPr dirty="0" sz="3000" b="1" i="1">
                <a:solidFill>
                  <a:srgbClr val="0000FF"/>
                </a:solidFill>
                <a:latin typeface="Times New Roman"/>
                <a:cs typeface="Times New Roman"/>
              </a:rPr>
              <a:t>= </a:t>
            </a:r>
            <a:r>
              <a:rPr dirty="0" sz="3000" spc="-5" b="1" i="1">
                <a:solidFill>
                  <a:srgbClr val="0000FF"/>
                </a:solidFill>
                <a:latin typeface="Times New Roman"/>
                <a:cs typeface="Times New Roman"/>
              </a:rPr>
              <a:t>O(log </a:t>
            </a:r>
            <a:r>
              <a:rPr dirty="0" sz="3000" b="1" i="1">
                <a:solidFill>
                  <a:srgbClr val="0000FF"/>
                </a:solidFill>
                <a:latin typeface="Times New Roman"/>
                <a:cs typeface="Times New Roman"/>
              </a:rPr>
              <a:t>n / log</a:t>
            </a:r>
            <a:r>
              <a:rPr dirty="0" sz="3000" spc="-40" b="1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 i="1">
                <a:solidFill>
                  <a:srgbClr val="0000FF"/>
                </a:solidFill>
                <a:latin typeface="Times New Roman"/>
                <a:cs typeface="Times New Roman"/>
              </a:rPr>
              <a:t>(np))</a:t>
            </a:r>
            <a:endParaRPr sz="3000">
              <a:latin typeface="Times New Roman"/>
              <a:cs typeface="Times New Roman"/>
            </a:endParaRPr>
          </a:p>
          <a:p>
            <a:pPr marL="305435" marR="415290" indent="-274320">
              <a:lnSpc>
                <a:spcPts val="3100"/>
              </a:lnSpc>
              <a:spcBef>
                <a:spcPts val="805"/>
              </a:spcBef>
              <a:buClr>
                <a:srgbClr val="60B5CC"/>
              </a:buClr>
              <a:buFont typeface="Malgun Gothic"/>
              <a:buChar char="▪"/>
              <a:tabLst>
                <a:tab pos="305435" algn="l"/>
              </a:tabLst>
            </a:pPr>
            <a:r>
              <a:rPr dirty="0" sz="2600" spc="-5">
                <a:latin typeface="Calibri"/>
                <a:cs typeface="Calibri"/>
              </a:rPr>
              <a:t>Random </a:t>
            </a:r>
            <a:r>
              <a:rPr dirty="0" sz="2600" spc="-10">
                <a:latin typeface="Calibri"/>
                <a:cs typeface="Calibri"/>
              </a:rPr>
              <a:t>graphs </a:t>
            </a:r>
            <a:r>
              <a:rPr dirty="0" sz="2600" spc="-20">
                <a:latin typeface="Calibri"/>
                <a:cs typeface="Calibri"/>
              </a:rPr>
              <a:t>have </a:t>
            </a:r>
            <a:r>
              <a:rPr dirty="0" sz="2600" spc="-5">
                <a:latin typeface="Calibri"/>
                <a:cs typeface="Calibri"/>
              </a:rPr>
              <a:t>good </a:t>
            </a:r>
            <a:r>
              <a:rPr dirty="0" sz="2600" spc="-10">
                <a:latin typeface="Calibri"/>
                <a:cs typeface="Calibri"/>
              </a:rPr>
              <a:t>expansion </a:t>
            </a:r>
            <a:r>
              <a:rPr dirty="0" sz="2600" spc="-5">
                <a:latin typeface="Calibri"/>
                <a:cs typeface="Calibri"/>
              </a:rPr>
              <a:t>so </a:t>
            </a:r>
            <a:r>
              <a:rPr dirty="0" sz="2600">
                <a:latin typeface="Calibri"/>
                <a:cs typeface="Calibri"/>
              </a:rPr>
              <a:t>it </a:t>
            </a:r>
            <a:r>
              <a:rPr dirty="0" sz="2600" spc="-25">
                <a:latin typeface="Calibri"/>
                <a:cs typeface="Calibri"/>
              </a:rPr>
              <a:t>takes </a:t>
            </a:r>
            <a:r>
              <a:rPr dirty="0" sz="2600">
                <a:latin typeface="Calibri"/>
                <a:cs typeface="Calibri"/>
              </a:rPr>
              <a:t>a  </a:t>
            </a:r>
            <a:r>
              <a:rPr dirty="0" sz="2600" spc="-10">
                <a:latin typeface="Calibri"/>
                <a:cs typeface="Calibri"/>
              </a:rPr>
              <a:t>logarithmic </a:t>
            </a:r>
            <a:r>
              <a:rPr dirty="0" sz="2600" spc="-5">
                <a:latin typeface="Calibri"/>
                <a:cs typeface="Calibri"/>
              </a:rPr>
              <a:t>number </a:t>
            </a:r>
            <a:r>
              <a:rPr dirty="0" sz="2600">
                <a:latin typeface="Calibri"/>
                <a:cs typeface="Calibri"/>
              </a:rPr>
              <a:t>of </a:t>
            </a:r>
            <a:r>
              <a:rPr dirty="0" sz="2600" spc="-20">
                <a:latin typeface="Calibri"/>
                <a:cs typeface="Calibri"/>
              </a:rPr>
              <a:t>steps </a:t>
            </a:r>
            <a:r>
              <a:rPr dirty="0" sz="2600" spc="-25">
                <a:latin typeface="Calibri"/>
                <a:cs typeface="Calibri"/>
              </a:rPr>
              <a:t>for </a:t>
            </a:r>
            <a:r>
              <a:rPr dirty="0" sz="2600" spc="-15">
                <a:latin typeface="Calibri"/>
                <a:cs typeface="Calibri"/>
              </a:rPr>
              <a:t>BFS to </a:t>
            </a:r>
            <a:r>
              <a:rPr dirty="0" sz="2600" spc="-5">
                <a:latin typeface="Calibri"/>
                <a:cs typeface="Calibri"/>
              </a:rPr>
              <a:t>visit </a:t>
            </a:r>
            <a:r>
              <a:rPr dirty="0" sz="2600">
                <a:latin typeface="Calibri"/>
                <a:cs typeface="Calibri"/>
              </a:rPr>
              <a:t>all</a:t>
            </a:r>
            <a:r>
              <a:rPr dirty="0" sz="2600" spc="100">
                <a:latin typeface="Calibri"/>
                <a:cs typeface="Calibri"/>
              </a:rPr>
              <a:t> </a:t>
            </a:r>
            <a:r>
              <a:rPr dirty="0" sz="2600" spc="-5">
                <a:latin typeface="Calibri"/>
                <a:cs typeface="Calibri"/>
              </a:rPr>
              <a:t>nodes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855300" y="5842086"/>
            <a:ext cx="1965325" cy="539750"/>
          </a:xfrm>
          <a:custGeom>
            <a:avLst/>
            <a:gdLst/>
            <a:ahLst/>
            <a:cxnLst/>
            <a:rect l="l" t="t" r="r" b="b"/>
            <a:pathLst>
              <a:path w="1965325" h="539750">
                <a:moveTo>
                  <a:pt x="0" y="0"/>
                </a:moveTo>
                <a:lnTo>
                  <a:pt x="1964951" y="539384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862095" y="4933054"/>
            <a:ext cx="1802130" cy="99695"/>
          </a:xfrm>
          <a:custGeom>
            <a:avLst/>
            <a:gdLst/>
            <a:ahLst/>
            <a:cxnLst/>
            <a:rect l="l" t="t" r="r" b="b"/>
            <a:pathLst>
              <a:path w="1802129" h="99695">
                <a:moveTo>
                  <a:pt x="0" y="99675"/>
                </a:moveTo>
                <a:lnTo>
                  <a:pt x="180182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824629" y="4510635"/>
            <a:ext cx="1839595" cy="447040"/>
          </a:xfrm>
          <a:custGeom>
            <a:avLst/>
            <a:gdLst/>
            <a:ahLst/>
            <a:cxnLst/>
            <a:rect l="l" t="t" r="r" b="b"/>
            <a:pathLst>
              <a:path w="1839595" h="447039">
                <a:moveTo>
                  <a:pt x="0" y="446807"/>
                </a:moveTo>
                <a:lnTo>
                  <a:pt x="1839295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835810" y="5112609"/>
            <a:ext cx="1854835" cy="163195"/>
          </a:xfrm>
          <a:custGeom>
            <a:avLst/>
            <a:gdLst/>
            <a:ahLst/>
            <a:cxnLst/>
            <a:rect l="l" t="t" r="r" b="b"/>
            <a:pathLst>
              <a:path w="1854835" h="163195">
                <a:moveTo>
                  <a:pt x="0" y="0"/>
                </a:moveTo>
                <a:lnTo>
                  <a:pt x="1854398" y="162982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835811" y="5574417"/>
            <a:ext cx="1854835" cy="123825"/>
          </a:xfrm>
          <a:custGeom>
            <a:avLst/>
            <a:gdLst/>
            <a:ahLst/>
            <a:cxnLst/>
            <a:rect l="l" t="t" r="r" b="b"/>
            <a:pathLst>
              <a:path w="1854835" h="123825">
                <a:moveTo>
                  <a:pt x="0" y="0"/>
                </a:moveTo>
                <a:lnTo>
                  <a:pt x="1854397" y="12359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490734" y="4585308"/>
            <a:ext cx="546100" cy="1285240"/>
          </a:xfrm>
          <a:custGeom>
            <a:avLst/>
            <a:gdLst/>
            <a:ahLst/>
            <a:cxnLst/>
            <a:rect l="l" t="t" r="r" b="b"/>
            <a:pathLst>
              <a:path w="546100" h="1285239">
                <a:moveTo>
                  <a:pt x="0" y="642471"/>
                </a:moveTo>
                <a:lnTo>
                  <a:pt x="1408" y="576782"/>
                </a:lnTo>
                <a:lnTo>
                  <a:pt x="5541" y="512990"/>
                </a:lnTo>
                <a:lnTo>
                  <a:pt x="12263" y="451419"/>
                </a:lnTo>
                <a:lnTo>
                  <a:pt x="21436" y="392392"/>
                </a:lnTo>
                <a:lnTo>
                  <a:pt x="32923" y="336231"/>
                </a:lnTo>
                <a:lnTo>
                  <a:pt x="46586" y="283259"/>
                </a:lnTo>
                <a:lnTo>
                  <a:pt x="62290" y="233799"/>
                </a:lnTo>
                <a:lnTo>
                  <a:pt x="79896" y="188175"/>
                </a:lnTo>
                <a:lnTo>
                  <a:pt x="99267" y="146709"/>
                </a:lnTo>
                <a:lnTo>
                  <a:pt x="120267" y="109723"/>
                </a:lnTo>
                <a:lnTo>
                  <a:pt x="142758" y="77542"/>
                </a:lnTo>
                <a:lnTo>
                  <a:pt x="191665" y="28884"/>
                </a:lnTo>
                <a:lnTo>
                  <a:pt x="244892" y="3317"/>
                </a:lnTo>
                <a:lnTo>
                  <a:pt x="272782" y="0"/>
                </a:lnTo>
                <a:lnTo>
                  <a:pt x="300672" y="3317"/>
                </a:lnTo>
                <a:lnTo>
                  <a:pt x="353899" y="28884"/>
                </a:lnTo>
                <a:lnTo>
                  <a:pt x="402806" y="77542"/>
                </a:lnTo>
                <a:lnTo>
                  <a:pt x="425297" y="109723"/>
                </a:lnTo>
                <a:lnTo>
                  <a:pt x="446297" y="146709"/>
                </a:lnTo>
                <a:lnTo>
                  <a:pt x="465668" y="188175"/>
                </a:lnTo>
                <a:lnTo>
                  <a:pt x="483274" y="233799"/>
                </a:lnTo>
                <a:lnTo>
                  <a:pt x="498978" y="283259"/>
                </a:lnTo>
                <a:lnTo>
                  <a:pt x="512641" y="336231"/>
                </a:lnTo>
                <a:lnTo>
                  <a:pt x="524128" y="392392"/>
                </a:lnTo>
                <a:lnTo>
                  <a:pt x="533301" y="451419"/>
                </a:lnTo>
                <a:lnTo>
                  <a:pt x="540023" y="512990"/>
                </a:lnTo>
                <a:lnTo>
                  <a:pt x="544156" y="576782"/>
                </a:lnTo>
                <a:lnTo>
                  <a:pt x="545565" y="642471"/>
                </a:lnTo>
                <a:lnTo>
                  <a:pt x="544156" y="708159"/>
                </a:lnTo>
                <a:lnTo>
                  <a:pt x="540023" y="771951"/>
                </a:lnTo>
                <a:lnTo>
                  <a:pt x="533301" y="833522"/>
                </a:lnTo>
                <a:lnTo>
                  <a:pt x="524128" y="892549"/>
                </a:lnTo>
                <a:lnTo>
                  <a:pt x="512641" y="948710"/>
                </a:lnTo>
                <a:lnTo>
                  <a:pt x="498978" y="1001682"/>
                </a:lnTo>
                <a:lnTo>
                  <a:pt x="483274" y="1051142"/>
                </a:lnTo>
                <a:lnTo>
                  <a:pt x="465668" y="1096766"/>
                </a:lnTo>
                <a:lnTo>
                  <a:pt x="446297" y="1138232"/>
                </a:lnTo>
                <a:lnTo>
                  <a:pt x="425297" y="1175218"/>
                </a:lnTo>
                <a:lnTo>
                  <a:pt x="402806" y="1207399"/>
                </a:lnTo>
                <a:lnTo>
                  <a:pt x="353899" y="1256057"/>
                </a:lnTo>
                <a:lnTo>
                  <a:pt x="300672" y="1281625"/>
                </a:lnTo>
                <a:lnTo>
                  <a:pt x="272782" y="1284942"/>
                </a:lnTo>
                <a:lnTo>
                  <a:pt x="244892" y="1281625"/>
                </a:lnTo>
                <a:lnTo>
                  <a:pt x="191665" y="1256057"/>
                </a:lnTo>
                <a:lnTo>
                  <a:pt x="142758" y="1207399"/>
                </a:lnTo>
                <a:lnTo>
                  <a:pt x="120267" y="1175218"/>
                </a:lnTo>
                <a:lnTo>
                  <a:pt x="99267" y="1138232"/>
                </a:lnTo>
                <a:lnTo>
                  <a:pt x="79896" y="1096766"/>
                </a:lnTo>
                <a:lnTo>
                  <a:pt x="62290" y="1051142"/>
                </a:lnTo>
                <a:lnTo>
                  <a:pt x="46586" y="1001682"/>
                </a:lnTo>
                <a:lnTo>
                  <a:pt x="32923" y="948710"/>
                </a:lnTo>
                <a:lnTo>
                  <a:pt x="21436" y="892549"/>
                </a:lnTo>
                <a:lnTo>
                  <a:pt x="12263" y="833522"/>
                </a:lnTo>
                <a:lnTo>
                  <a:pt x="5541" y="771951"/>
                </a:lnTo>
                <a:lnTo>
                  <a:pt x="1408" y="708159"/>
                </a:lnTo>
                <a:lnTo>
                  <a:pt x="0" y="642471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445416" y="4214747"/>
            <a:ext cx="654685" cy="1847850"/>
          </a:xfrm>
          <a:custGeom>
            <a:avLst/>
            <a:gdLst/>
            <a:ahLst/>
            <a:cxnLst/>
            <a:rect l="l" t="t" r="r" b="b"/>
            <a:pathLst>
              <a:path w="654685" h="1847850">
                <a:moveTo>
                  <a:pt x="0" y="923700"/>
                </a:moveTo>
                <a:lnTo>
                  <a:pt x="897" y="854763"/>
                </a:lnTo>
                <a:lnTo>
                  <a:pt x="3549" y="787202"/>
                </a:lnTo>
                <a:lnTo>
                  <a:pt x="7890" y="721196"/>
                </a:lnTo>
                <a:lnTo>
                  <a:pt x="13859" y="656923"/>
                </a:lnTo>
                <a:lnTo>
                  <a:pt x="21391" y="594562"/>
                </a:lnTo>
                <a:lnTo>
                  <a:pt x="30423" y="534291"/>
                </a:lnTo>
                <a:lnTo>
                  <a:pt x="40893" y="476289"/>
                </a:lnTo>
                <a:lnTo>
                  <a:pt x="52736" y="420735"/>
                </a:lnTo>
                <a:lnTo>
                  <a:pt x="65889" y="367808"/>
                </a:lnTo>
                <a:lnTo>
                  <a:pt x="80290" y="317685"/>
                </a:lnTo>
                <a:lnTo>
                  <a:pt x="95875" y="270545"/>
                </a:lnTo>
                <a:lnTo>
                  <a:pt x="112580" y="226568"/>
                </a:lnTo>
                <a:lnTo>
                  <a:pt x="130343" y="185931"/>
                </a:lnTo>
                <a:lnTo>
                  <a:pt x="149099" y="148813"/>
                </a:lnTo>
                <a:lnTo>
                  <a:pt x="168786" y="115394"/>
                </a:lnTo>
                <a:lnTo>
                  <a:pt x="210699" y="60362"/>
                </a:lnTo>
                <a:lnTo>
                  <a:pt x="255576" y="22266"/>
                </a:lnTo>
                <a:lnTo>
                  <a:pt x="302909" y="2533"/>
                </a:lnTo>
                <a:lnTo>
                  <a:pt x="327339" y="0"/>
                </a:lnTo>
                <a:lnTo>
                  <a:pt x="351768" y="2533"/>
                </a:lnTo>
                <a:lnTo>
                  <a:pt x="399101" y="22266"/>
                </a:lnTo>
                <a:lnTo>
                  <a:pt x="443978" y="60362"/>
                </a:lnTo>
                <a:lnTo>
                  <a:pt x="485891" y="115394"/>
                </a:lnTo>
                <a:lnTo>
                  <a:pt x="505578" y="148813"/>
                </a:lnTo>
                <a:lnTo>
                  <a:pt x="524334" y="185931"/>
                </a:lnTo>
                <a:lnTo>
                  <a:pt x="542097" y="226568"/>
                </a:lnTo>
                <a:lnTo>
                  <a:pt x="558802" y="270545"/>
                </a:lnTo>
                <a:lnTo>
                  <a:pt x="574387" y="317685"/>
                </a:lnTo>
                <a:lnTo>
                  <a:pt x="588788" y="367808"/>
                </a:lnTo>
                <a:lnTo>
                  <a:pt x="601941" y="420735"/>
                </a:lnTo>
                <a:lnTo>
                  <a:pt x="613784" y="476289"/>
                </a:lnTo>
                <a:lnTo>
                  <a:pt x="624254" y="534291"/>
                </a:lnTo>
                <a:lnTo>
                  <a:pt x="633286" y="594562"/>
                </a:lnTo>
                <a:lnTo>
                  <a:pt x="640818" y="656923"/>
                </a:lnTo>
                <a:lnTo>
                  <a:pt x="646787" y="721196"/>
                </a:lnTo>
                <a:lnTo>
                  <a:pt x="651128" y="787202"/>
                </a:lnTo>
                <a:lnTo>
                  <a:pt x="653780" y="854763"/>
                </a:lnTo>
                <a:lnTo>
                  <a:pt x="654678" y="923700"/>
                </a:lnTo>
                <a:lnTo>
                  <a:pt x="653780" y="992637"/>
                </a:lnTo>
                <a:lnTo>
                  <a:pt x="651128" y="1060198"/>
                </a:lnTo>
                <a:lnTo>
                  <a:pt x="646787" y="1126204"/>
                </a:lnTo>
                <a:lnTo>
                  <a:pt x="640818" y="1190477"/>
                </a:lnTo>
                <a:lnTo>
                  <a:pt x="633286" y="1252838"/>
                </a:lnTo>
                <a:lnTo>
                  <a:pt x="624254" y="1313109"/>
                </a:lnTo>
                <a:lnTo>
                  <a:pt x="613784" y="1371110"/>
                </a:lnTo>
                <a:lnTo>
                  <a:pt x="601941" y="1426665"/>
                </a:lnTo>
                <a:lnTo>
                  <a:pt x="588788" y="1479592"/>
                </a:lnTo>
                <a:lnTo>
                  <a:pt x="574387" y="1529715"/>
                </a:lnTo>
                <a:lnTo>
                  <a:pt x="558802" y="1576855"/>
                </a:lnTo>
                <a:lnTo>
                  <a:pt x="542097" y="1620832"/>
                </a:lnTo>
                <a:lnTo>
                  <a:pt x="524334" y="1661469"/>
                </a:lnTo>
                <a:lnTo>
                  <a:pt x="505578" y="1698587"/>
                </a:lnTo>
                <a:lnTo>
                  <a:pt x="485891" y="1732006"/>
                </a:lnTo>
                <a:lnTo>
                  <a:pt x="443978" y="1787038"/>
                </a:lnTo>
                <a:lnTo>
                  <a:pt x="399101" y="1825134"/>
                </a:lnTo>
                <a:lnTo>
                  <a:pt x="351768" y="1844867"/>
                </a:lnTo>
                <a:lnTo>
                  <a:pt x="327339" y="1847401"/>
                </a:lnTo>
                <a:lnTo>
                  <a:pt x="302909" y="1844867"/>
                </a:lnTo>
                <a:lnTo>
                  <a:pt x="255576" y="1825134"/>
                </a:lnTo>
                <a:lnTo>
                  <a:pt x="210699" y="1787038"/>
                </a:lnTo>
                <a:lnTo>
                  <a:pt x="168786" y="1732006"/>
                </a:lnTo>
                <a:lnTo>
                  <a:pt x="149099" y="1698587"/>
                </a:lnTo>
                <a:lnTo>
                  <a:pt x="130343" y="1661469"/>
                </a:lnTo>
                <a:lnTo>
                  <a:pt x="112580" y="1620832"/>
                </a:lnTo>
                <a:lnTo>
                  <a:pt x="95875" y="1576855"/>
                </a:lnTo>
                <a:lnTo>
                  <a:pt x="80290" y="1529715"/>
                </a:lnTo>
                <a:lnTo>
                  <a:pt x="65889" y="1479592"/>
                </a:lnTo>
                <a:lnTo>
                  <a:pt x="52736" y="1426665"/>
                </a:lnTo>
                <a:lnTo>
                  <a:pt x="40893" y="1371110"/>
                </a:lnTo>
                <a:lnTo>
                  <a:pt x="30423" y="1313109"/>
                </a:lnTo>
                <a:lnTo>
                  <a:pt x="21391" y="1252838"/>
                </a:lnTo>
                <a:lnTo>
                  <a:pt x="13859" y="1190477"/>
                </a:lnTo>
                <a:lnTo>
                  <a:pt x="7890" y="1126204"/>
                </a:lnTo>
                <a:lnTo>
                  <a:pt x="3549" y="1060198"/>
                </a:lnTo>
                <a:lnTo>
                  <a:pt x="897" y="992637"/>
                </a:lnTo>
                <a:lnTo>
                  <a:pt x="0" y="92370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644435" y="5392659"/>
            <a:ext cx="217804" cy="219710"/>
          </a:xfrm>
          <a:custGeom>
            <a:avLst/>
            <a:gdLst/>
            <a:ahLst/>
            <a:cxnLst/>
            <a:rect l="l" t="t" r="r" b="b"/>
            <a:pathLst>
              <a:path w="217805" h="219710">
                <a:moveTo>
                  <a:pt x="100924" y="0"/>
                </a:moveTo>
                <a:lnTo>
                  <a:pt x="59183" y="11674"/>
                </a:lnTo>
                <a:lnTo>
                  <a:pt x="26284" y="37681"/>
                </a:lnTo>
                <a:lnTo>
                  <a:pt x="5474" y="74238"/>
                </a:lnTo>
                <a:lnTo>
                  <a:pt x="0" y="117562"/>
                </a:lnTo>
                <a:lnTo>
                  <a:pt x="11629" y="159654"/>
                </a:lnTo>
                <a:lnTo>
                  <a:pt x="37466" y="192849"/>
                </a:lnTo>
                <a:lnTo>
                  <a:pt x="73754" y="213869"/>
                </a:lnTo>
                <a:lnTo>
                  <a:pt x="116737" y="219439"/>
                </a:lnTo>
                <a:lnTo>
                  <a:pt x="158478" y="207764"/>
                </a:lnTo>
                <a:lnTo>
                  <a:pt x="191376" y="181757"/>
                </a:lnTo>
                <a:lnTo>
                  <a:pt x="212186" y="145201"/>
                </a:lnTo>
                <a:lnTo>
                  <a:pt x="217661" y="101876"/>
                </a:lnTo>
                <a:lnTo>
                  <a:pt x="206031" y="59785"/>
                </a:lnTo>
                <a:lnTo>
                  <a:pt x="180194" y="26590"/>
                </a:lnTo>
                <a:lnTo>
                  <a:pt x="143907" y="5569"/>
                </a:lnTo>
                <a:lnTo>
                  <a:pt x="1009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644434" y="4930852"/>
            <a:ext cx="217804" cy="219710"/>
          </a:xfrm>
          <a:custGeom>
            <a:avLst/>
            <a:gdLst/>
            <a:ahLst/>
            <a:cxnLst/>
            <a:rect l="l" t="t" r="r" b="b"/>
            <a:pathLst>
              <a:path w="217805" h="219710">
                <a:moveTo>
                  <a:pt x="100924" y="0"/>
                </a:moveTo>
                <a:lnTo>
                  <a:pt x="59183" y="11675"/>
                </a:lnTo>
                <a:lnTo>
                  <a:pt x="26284" y="37682"/>
                </a:lnTo>
                <a:lnTo>
                  <a:pt x="5474" y="74238"/>
                </a:lnTo>
                <a:lnTo>
                  <a:pt x="0" y="117562"/>
                </a:lnTo>
                <a:lnTo>
                  <a:pt x="11630" y="159654"/>
                </a:lnTo>
                <a:lnTo>
                  <a:pt x="37466" y="192849"/>
                </a:lnTo>
                <a:lnTo>
                  <a:pt x="73754" y="213870"/>
                </a:lnTo>
                <a:lnTo>
                  <a:pt x="116737" y="219439"/>
                </a:lnTo>
                <a:lnTo>
                  <a:pt x="158478" y="207764"/>
                </a:lnTo>
                <a:lnTo>
                  <a:pt x="191377" y="181757"/>
                </a:lnTo>
                <a:lnTo>
                  <a:pt x="212187" y="145201"/>
                </a:lnTo>
                <a:lnTo>
                  <a:pt x="217661" y="101876"/>
                </a:lnTo>
                <a:lnTo>
                  <a:pt x="206031" y="59785"/>
                </a:lnTo>
                <a:lnTo>
                  <a:pt x="180195" y="26590"/>
                </a:lnTo>
                <a:lnTo>
                  <a:pt x="143907" y="5569"/>
                </a:lnTo>
                <a:lnTo>
                  <a:pt x="1009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855300" y="5419666"/>
            <a:ext cx="1944370" cy="502284"/>
          </a:xfrm>
          <a:custGeom>
            <a:avLst/>
            <a:gdLst/>
            <a:ahLst/>
            <a:cxnLst/>
            <a:rect l="l" t="t" r="r" b="b"/>
            <a:pathLst>
              <a:path w="1944370" h="502285">
                <a:moveTo>
                  <a:pt x="0" y="0"/>
                </a:moveTo>
                <a:lnTo>
                  <a:pt x="1944191" y="501685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855300" y="4997249"/>
            <a:ext cx="1906905" cy="83820"/>
          </a:xfrm>
          <a:custGeom>
            <a:avLst/>
            <a:gdLst/>
            <a:ahLst/>
            <a:cxnLst/>
            <a:rect l="l" t="t" r="r" b="b"/>
            <a:pathLst>
              <a:path w="1906904" h="83820">
                <a:moveTo>
                  <a:pt x="0" y="0"/>
                </a:moveTo>
                <a:lnTo>
                  <a:pt x="1906706" y="83746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881585" y="5339787"/>
            <a:ext cx="1888489" cy="201930"/>
          </a:xfrm>
          <a:custGeom>
            <a:avLst/>
            <a:gdLst/>
            <a:ahLst/>
            <a:cxnLst/>
            <a:rect l="l" t="t" r="r" b="b"/>
            <a:pathLst>
              <a:path w="1888489" h="201929">
                <a:moveTo>
                  <a:pt x="0" y="0"/>
                </a:moveTo>
                <a:lnTo>
                  <a:pt x="1888150" y="201327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881585" y="4620875"/>
            <a:ext cx="1880870" cy="296545"/>
          </a:xfrm>
          <a:custGeom>
            <a:avLst/>
            <a:gdLst/>
            <a:ahLst/>
            <a:cxnLst/>
            <a:rect l="l" t="t" r="r" b="b"/>
            <a:pathLst>
              <a:path w="1880870" h="296545">
                <a:moveTo>
                  <a:pt x="0" y="296493"/>
                </a:moveTo>
                <a:lnTo>
                  <a:pt x="1880421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881585" y="4160756"/>
            <a:ext cx="1880870" cy="334645"/>
          </a:xfrm>
          <a:custGeom>
            <a:avLst/>
            <a:gdLst/>
            <a:ahLst/>
            <a:cxnLst/>
            <a:rect l="l" t="t" r="r" b="b"/>
            <a:pathLst>
              <a:path w="1880870" h="334645">
                <a:moveTo>
                  <a:pt x="0" y="334193"/>
                </a:moveTo>
                <a:lnTo>
                  <a:pt x="1880418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762007" y="4503311"/>
            <a:ext cx="217804" cy="219710"/>
          </a:xfrm>
          <a:custGeom>
            <a:avLst/>
            <a:gdLst/>
            <a:ahLst/>
            <a:cxnLst/>
            <a:rect l="l" t="t" r="r" b="b"/>
            <a:pathLst>
              <a:path w="217804" h="219710">
                <a:moveTo>
                  <a:pt x="100923" y="0"/>
                </a:moveTo>
                <a:lnTo>
                  <a:pt x="59182" y="11675"/>
                </a:lnTo>
                <a:lnTo>
                  <a:pt x="26284" y="37682"/>
                </a:lnTo>
                <a:lnTo>
                  <a:pt x="5474" y="74238"/>
                </a:lnTo>
                <a:lnTo>
                  <a:pt x="0" y="117562"/>
                </a:lnTo>
                <a:lnTo>
                  <a:pt x="11629" y="159654"/>
                </a:lnTo>
                <a:lnTo>
                  <a:pt x="37466" y="192849"/>
                </a:lnTo>
                <a:lnTo>
                  <a:pt x="73754" y="213870"/>
                </a:lnTo>
                <a:lnTo>
                  <a:pt x="116737" y="219440"/>
                </a:lnTo>
                <a:lnTo>
                  <a:pt x="158477" y="207765"/>
                </a:lnTo>
                <a:lnTo>
                  <a:pt x="191376" y="181758"/>
                </a:lnTo>
                <a:lnTo>
                  <a:pt x="212186" y="145201"/>
                </a:lnTo>
                <a:lnTo>
                  <a:pt x="217661" y="101876"/>
                </a:lnTo>
                <a:lnTo>
                  <a:pt x="206030" y="59785"/>
                </a:lnTo>
                <a:lnTo>
                  <a:pt x="180193" y="26591"/>
                </a:lnTo>
                <a:lnTo>
                  <a:pt x="143906" y="5570"/>
                </a:lnTo>
                <a:lnTo>
                  <a:pt x="10092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5762004" y="4043193"/>
            <a:ext cx="217804" cy="219710"/>
          </a:xfrm>
          <a:custGeom>
            <a:avLst/>
            <a:gdLst/>
            <a:ahLst/>
            <a:cxnLst/>
            <a:rect l="l" t="t" r="r" b="b"/>
            <a:pathLst>
              <a:path w="217804" h="219710">
                <a:moveTo>
                  <a:pt x="100924" y="0"/>
                </a:moveTo>
                <a:lnTo>
                  <a:pt x="59183" y="11675"/>
                </a:lnTo>
                <a:lnTo>
                  <a:pt x="26284" y="37682"/>
                </a:lnTo>
                <a:lnTo>
                  <a:pt x="5474" y="74238"/>
                </a:lnTo>
                <a:lnTo>
                  <a:pt x="0" y="117562"/>
                </a:lnTo>
                <a:lnTo>
                  <a:pt x="11629" y="159654"/>
                </a:lnTo>
                <a:lnTo>
                  <a:pt x="37466" y="192849"/>
                </a:lnTo>
                <a:lnTo>
                  <a:pt x="73754" y="213870"/>
                </a:lnTo>
                <a:lnTo>
                  <a:pt x="116737" y="219439"/>
                </a:lnTo>
                <a:lnTo>
                  <a:pt x="158478" y="207764"/>
                </a:lnTo>
                <a:lnTo>
                  <a:pt x="191376" y="181757"/>
                </a:lnTo>
                <a:lnTo>
                  <a:pt x="212186" y="145201"/>
                </a:lnTo>
                <a:lnTo>
                  <a:pt x="217661" y="101876"/>
                </a:lnTo>
                <a:lnTo>
                  <a:pt x="206031" y="59785"/>
                </a:lnTo>
                <a:lnTo>
                  <a:pt x="180195" y="26590"/>
                </a:lnTo>
                <a:lnTo>
                  <a:pt x="143907" y="5569"/>
                </a:lnTo>
                <a:lnTo>
                  <a:pt x="1009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769735" y="5423550"/>
            <a:ext cx="217804" cy="219710"/>
          </a:xfrm>
          <a:custGeom>
            <a:avLst/>
            <a:gdLst/>
            <a:ahLst/>
            <a:cxnLst/>
            <a:rect l="l" t="t" r="r" b="b"/>
            <a:pathLst>
              <a:path w="217804" h="219710">
                <a:moveTo>
                  <a:pt x="100924" y="0"/>
                </a:moveTo>
                <a:lnTo>
                  <a:pt x="59184" y="11675"/>
                </a:lnTo>
                <a:lnTo>
                  <a:pt x="26285" y="37682"/>
                </a:lnTo>
                <a:lnTo>
                  <a:pt x="5475" y="74238"/>
                </a:lnTo>
                <a:lnTo>
                  <a:pt x="0" y="117562"/>
                </a:lnTo>
                <a:lnTo>
                  <a:pt x="11630" y="159654"/>
                </a:lnTo>
                <a:lnTo>
                  <a:pt x="37467" y="192849"/>
                </a:lnTo>
                <a:lnTo>
                  <a:pt x="73754" y="213870"/>
                </a:lnTo>
                <a:lnTo>
                  <a:pt x="116738" y="219440"/>
                </a:lnTo>
                <a:lnTo>
                  <a:pt x="158478" y="207765"/>
                </a:lnTo>
                <a:lnTo>
                  <a:pt x="191377" y="181758"/>
                </a:lnTo>
                <a:lnTo>
                  <a:pt x="212187" y="145201"/>
                </a:lnTo>
                <a:lnTo>
                  <a:pt x="217661" y="101876"/>
                </a:lnTo>
                <a:lnTo>
                  <a:pt x="206031" y="59785"/>
                </a:lnTo>
                <a:lnTo>
                  <a:pt x="180195" y="26591"/>
                </a:lnTo>
                <a:lnTo>
                  <a:pt x="143907" y="5570"/>
                </a:lnTo>
                <a:lnTo>
                  <a:pt x="1009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793967" y="6343788"/>
            <a:ext cx="217804" cy="219710"/>
          </a:xfrm>
          <a:custGeom>
            <a:avLst/>
            <a:gdLst/>
            <a:ahLst/>
            <a:cxnLst/>
            <a:rect l="l" t="t" r="r" b="b"/>
            <a:pathLst>
              <a:path w="217804" h="219709">
                <a:moveTo>
                  <a:pt x="100923" y="0"/>
                </a:moveTo>
                <a:lnTo>
                  <a:pt x="59182" y="11675"/>
                </a:lnTo>
                <a:lnTo>
                  <a:pt x="26284" y="37681"/>
                </a:lnTo>
                <a:lnTo>
                  <a:pt x="5474" y="74238"/>
                </a:lnTo>
                <a:lnTo>
                  <a:pt x="0" y="117562"/>
                </a:lnTo>
                <a:lnTo>
                  <a:pt x="11629" y="159654"/>
                </a:lnTo>
                <a:lnTo>
                  <a:pt x="37466" y="192849"/>
                </a:lnTo>
                <a:lnTo>
                  <a:pt x="73754" y="213870"/>
                </a:lnTo>
                <a:lnTo>
                  <a:pt x="116737" y="219439"/>
                </a:lnTo>
                <a:lnTo>
                  <a:pt x="158477" y="207764"/>
                </a:lnTo>
                <a:lnTo>
                  <a:pt x="191376" y="181757"/>
                </a:lnTo>
                <a:lnTo>
                  <a:pt x="212186" y="145201"/>
                </a:lnTo>
                <a:lnTo>
                  <a:pt x="217661" y="101877"/>
                </a:lnTo>
                <a:lnTo>
                  <a:pt x="206031" y="59785"/>
                </a:lnTo>
                <a:lnTo>
                  <a:pt x="180194" y="26590"/>
                </a:lnTo>
                <a:lnTo>
                  <a:pt x="143906" y="5569"/>
                </a:lnTo>
                <a:lnTo>
                  <a:pt x="10092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762007" y="4963431"/>
            <a:ext cx="217804" cy="219710"/>
          </a:xfrm>
          <a:custGeom>
            <a:avLst/>
            <a:gdLst/>
            <a:ahLst/>
            <a:cxnLst/>
            <a:rect l="l" t="t" r="r" b="b"/>
            <a:pathLst>
              <a:path w="217804" h="219710">
                <a:moveTo>
                  <a:pt x="100923" y="0"/>
                </a:moveTo>
                <a:lnTo>
                  <a:pt x="59182" y="11674"/>
                </a:lnTo>
                <a:lnTo>
                  <a:pt x="26284" y="37681"/>
                </a:lnTo>
                <a:lnTo>
                  <a:pt x="5474" y="74238"/>
                </a:lnTo>
                <a:lnTo>
                  <a:pt x="0" y="117562"/>
                </a:lnTo>
                <a:lnTo>
                  <a:pt x="11629" y="159654"/>
                </a:lnTo>
                <a:lnTo>
                  <a:pt x="37466" y="192849"/>
                </a:lnTo>
                <a:lnTo>
                  <a:pt x="73754" y="213870"/>
                </a:lnTo>
                <a:lnTo>
                  <a:pt x="116737" y="219439"/>
                </a:lnTo>
                <a:lnTo>
                  <a:pt x="158477" y="207764"/>
                </a:lnTo>
                <a:lnTo>
                  <a:pt x="191376" y="181757"/>
                </a:lnTo>
                <a:lnTo>
                  <a:pt x="212186" y="145201"/>
                </a:lnTo>
                <a:lnTo>
                  <a:pt x="217661" y="101876"/>
                </a:lnTo>
                <a:lnTo>
                  <a:pt x="206030" y="59785"/>
                </a:lnTo>
                <a:lnTo>
                  <a:pt x="180193" y="26590"/>
                </a:lnTo>
                <a:lnTo>
                  <a:pt x="143906" y="5569"/>
                </a:lnTo>
                <a:lnTo>
                  <a:pt x="10092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773206" y="5883669"/>
            <a:ext cx="217804" cy="219710"/>
          </a:xfrm>
          <a:custGeom>
            <a:avLst/>
            <a:gdLst/>
            <a:ahLst/>
            <a:cxnLst/>
            <a:rect l="l" t="t" r="r" b="b"/>
            <a:pathLst>
              <a:path w="217804" h="219710">
                <a:moveTo>
                  <a:pt x="100924" y="0"/>
                </a:moveTo>
                <a:lnTo>
                  <a:pt x="59184" y="11675"/>
                </a:lnTo>
                <a:lnTo>
                  <a:pt x="26285" y="37681"/>
                </a:lnTo>
                <a:lnTo>
                  <a:pt x="5475" y="74238"/>
                </a:lnTo>
                <a:lnTo>
                  <a:pt x="0" y="117562"/>
                </a:lnTo>
                <a:lnTo>
                  <a:pt x="11630" y="159654"/>
                </a:lnTo>
                <a:lnTo>
                  <a:pt x="37467" y="192849"/>
                </a:lnTo>
                <a:lnTo>
                  <a:pt x="73754" y="213870"/>
                </a:lnTo>
                <a:lnTo>
                  <a:pt x="116738" y="219439"/>
                </a:lnTo>
                <a:lnTo>
                  <a:pt x="158478" y="207764"/>
                </a:lnTo>
                <a:lnTo>
                  <a:pt x="191377" y="181757"/>
                </a:lnTo>
                <a:lnTo>
                  <a:pt x="212187" y="145201"/>
                </a:lnTo>
                <a:lnTo>
                  <a:pt x="217661" y="101877"/>
                </a:lnTo>
                <a:lnTo>
                  <a:pt x="206031" y="59785"/>
                </a:lnTo>
                <a:lnTo>
                  <a:pt x="180195" y="26590"/>
                </a:lnTo>
                <a:lnTo>
                  <a:pt x="143907" y="5569"/>
                </a:lnTo>
                <a:lnTo>
                  <a:pt x="1009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472741" y="4035350"/>
            <a:ext cx="819150" cy="2594610"/>
          </a:xfrm>
          <a:custGeom>
            <a:avLst/>
            <a:gdLst/>
            <a:ahLst/>
            <a:cxnLst/>
            <a:rect l="l" t="t" r="r" b="b"/>
            <a:pathLst>
              <a:path w="819150" h="2594609">
                <a:moveTo>
                  <a:pt x="0" y="1297025"/>
                </a:moveTo>
                <a:lnTo>
                  <a:pt x="567" y="1228141"/>
                </a:lnTo>
                <a:lnTo>
                  <a:pt x="2250" y="1160194"/>
                </a:lnTo>
                <a:lnTo>
                  <a:pt x="5021" y="1093273"/>
                </a:lnTo>
                <a:lnTo>
                  <a:pt x="8851" y="1027467"/>
                </a:lnTo>
                <a:lnTo>
                  <a:pt x="13712" y="962867"/>
                </a:lnTo>
                <a:lnTo>
                  <a:pt x="19575" y="899562"/>
                </a:lnTo>
                <a:lnTo>
                  <a:pt x="26413" y="837642"/>
                </a:lnTo>
                <a:lnTo>
                  <a:pt x="34197" y="777195"/>
                </a:lnTo>
                <a:lnTo>
                  <a:pt x="42899" y="718313"/>
                </a:lnTo>
                <a:lnTo>
                  <a:pt x="52491" y="661084"/>
                </a:lnTo>
                <a:lnTo>
                  <a:pt x="62943" y="605599"/>
                </a:lnTo>
                <a:lnTo>
                  <a:pt x="74229" y="551946"/>
                </a:lnTo>
                <a:lnTo>
                  <a:pt x="86319" y="500216"/>
                </a:lnTo>
                <a:lnTo>
                  <a:pt x="99186" y="450498"/>
                </a:lnTo>
                <a:lnTo>
                  <a:pt x="112801" y="402881"/>
                </a:lnTo>
                <a:lnTo>
                  <a:pt x="127135" y="357456"/>
                </a:lnTo>
                <a:lnTo>
                  <a:pt x="142161" y="314312"/>
                </a:lnTo>
                <a:lnTo>
                  <a:pt x="157851" y="273539"/>
                </a:lnTo>
                <a:lnTo>
                  <a:pt x="174175" y="235226"/>
                </a:lnTo>
                <a:lnTo>
                  <a:pt x="191106" y="199463"/>
                </a:lnTo>
                <a:lnTo>
                  <a:pt x="226675" y="135945"/>
                </a:lnTo>
                <a:lnTo>
                  <a:pt x="264331" y="83702"/>
                </a:lnTo>
                <a:lnTo>
                  <a:pt x="303848" y="43452"/>
                </a:lnTo>
                <a:lnTo>
                  <a:pt x="344999" y="15911"/>
                </a:lnTo>
                <a:lnTo>
                  <a:pt x="387559" y="1797"/>
                </a:lnTo>
                <a:lnTo>
                  <a:pt x="409297" y="0"/>
                </a:lnTo>
                <a:lnTo>
                  <a:pt x="431034" y="1797"/>
                </a:lnTo>
                <a:lnTo>
                  <a:pt x="473594" y="15911"/>
                </a:lnTo>
                <a:lnTo>
                  <a:pt x="514745" y="43452"/>
                </a:lnTo>
                <a:lnTo>
                  <a:pt x="554262" y="83702"/>
                </a:lnTo>
                <a:lnTo>
                  <a:pt x="591918" y="135945"/>
                </a:lnTo>
                <a:lnTo>
                  <a:pt x="627487" y="199463"/>
                </a:lnTo>
                <a:lnTo>
                  <a:pt x="644418" y="235226"/>
                </a:lnTo>
                <a:lnTo>
                  <a:pt x="660742" y="273539"/>
                </a:lnTo>
                <a:lnTo>
                  <a:pt x="676432" y="314312"/>
                </a:lnTo>
                <a:lnTo>
                  <a:pt x="691458" y="357456"/>
                </a:lnTo>
                <a:lnTo>
                  <a:pt x="705792" y="402881"/>
                </a:lnTo>
                <a:lnTo>
                  <a:pt x="719407" y="450498"/>
                </a:lnTo>
                <a:lnTo>
                  <a:pt x="732274" y="500216"/>
                </a:lnTo>
                <a:lnTo>
                  <a:pt x="744364" y="551946"/>
                </a:lnTo>
                <a:lnTo>
                  <a:pt x="755650" y="605599"/>
                </a:lnTo>
                <a:lnTo>
                  <a:pt x="766102" y="661084"/>
                </a:lnTo>
                <a:lnTo>
                  <a:pt x="775694" y="718313"/>
                </a:lnTo>
                <a:lnTo>
                  <a:pt x="784396" y="777195"/>
                </a:lnTo>
                <a:lnTo>
                  <a:pt x="792180" y="837642"/>
                </a:lnTo>
                <a:lnTo>
                  <a:pt x="799018" y="899562"/>
                </a:lnTo>
                <a:lnTo>
                  <a:pt x="804881" y="962867"/>
                </a:lnTo>
                <a:lnTo>
                  <a:pt x="809742" y="1027467"/>
                </a:lnTo>
                <a:lnTo>
                  <a:pt x="813572" y="1093273"/>
                </a:lnTo>
                <a:lnTo>
                  <a:pt x="816343" y="1160194"/>
                </a:lnTo>
                <a:lnTo>
                  <a:pt x="818026" y="1228141"/>
                </a:lnTo>
                <a:lnTo>
                  <a:pt x="818594" y="1297025"/>
                </a:lnTo>
                <a:lnTo>
                  <a:pt x="818026" y="1365908"/>
                </a:lnTo>
                <a:lnTo>
                  <a:pt x="816343" y="1433855"/>
                </a:lnTo>
                <a:lnTo>
                  <a:pt x="813572" y="1500776"/>
                </a:lnTo>
                <a:lnTo>
                  <a:pt x="809742" y="1566582"/>
                </a:lnTo>
                <a:lnTo>
                  <a:pt x="804881" y="1631182"/>
                </a:lnTo>
                <a:lnTo>
                  <a:pt x="799018" y="1694487"/>
                </a:lnTo>
                <a:lnTo>
                  <a:pt x="792180" y="1756407"/>
                </a:lnTo>
                <a:lnTo>
                  <a:pt x="784396" y="1816854"/>
                </a:lnTo>
                <a:lnTo>
                  <a:pt x="775694" y="1875736"/>
                </a:lnTo>
                <a:lnTo>
                  <a:pt x="766102" y="1932965"/>
                </a:lnTo>
                <a:lnTo>
                  <a:pt x="755650" y="1988450"/>
                </a:lnTo>
                <a:lnTo>
                  <a:pt x="744364" y="2042103"/>
                </a:lnTo>
                <a:lnTo>
                  <a:pt x="732274" y="2093833"/>
                </a:lnTo>
                <a:lnTo>
                  <a:pt x="719407" y="2143551"/>
                </a:lnTo>
                <a:lnTo>
                  <a:pt x="705792" y="2191168"/>
                </a:lnTo>
                <a:lnTo>
                  <a:pt x="691458" y="2236593"/>
                </a:lnTo>
                <a:lnTo>
                  <a:pt x="676432" y="2279737"/>
                </a:lnTo>
                <a:lnTo>
                  <a:pt x="660742" y="2320510"/>
                </a:lnTo>
                <a:lnTo>
                  <a:pt x="644418" y="2358823"/>
                </a:lnTo>
                <a:lnTo>
                  <a:pt x="627487" y="2394586"/>
                </a:lnTo>
                <a:lnTo>
                  <a:pt x="591918" y="2458104"/>
                </a:lnTo>
                <a:lnTo>
                  <a:pt x="554262" y="2510347"/>
                </a:lnTo>
                <a:lnTo>
                  <a:pt x="514745" y="2550597"/>
                </a:lnTo>
                <a:lnTo>
                  <a:pt x="473594" y="2578138"/>
                </a:lnTo>
                <a:lnTo>
                  <a:pt x="431034" y="2592252"/>
                </a:lnTo>
                <a:lnTo>
                  <a:pt x="409297" y="2594050"/>
                </a:lnTo>
                <a:lnTo>
                  <a:pt x="387559" y="2592252"/>
                </a:lnTo>
                <a:lnTo>
                  <a:pt x="344999" y="2578138"/>
                </a:lnTo>
                <a:lnTo>
                  <a:pt x="303848" y="2550597"/>
                </a:lnTo>
                <a:lnTo>
                  <a:pt x="264331" y="2510347"/>
                </a:lnTo>
                <a:lnTo>
                  <a:pt x="226675" y="2458104"/>
                </a:lnTo>
                <a:lnTo>
                  <a:pt x="191106" y="2394586"/>
                </a:lnTo>
                <a:lnTo>
                  <a:pt x="174175" y="2358823"/>
                </a:lnTo>
                <a:lnTo>
                  <a:pt x="157851" y="2320510"/>
                </a:lnTo>
                <a:lnTo>
                  <a:pt x="142161" y="2279737"/>
                </a:lnTo>
                <a:lnTo>
                  <a:pt x="127135" y="2236593"/>
                </a:lnTo>
                <a:lnTo>
                  <a:pt x="112801" y="2191168"/>
                </a:lnTo>
                <a:lnTo>
                  <a:pt x="99186" y="2143551"/>
                </a:lnTo>
                <a:lnTo>
                  <a:pt x="86319" y="2093833"/>
                </a:lnTo>
                <a:lnTo>
                  <a:pt x="74229" y="2042103"/>
                </a:lnTo>
                <a:lnTo>
                  <a:pt x="62943" y="1988450"/>
                </a:lnTo>
                <a:lnTo>
                  <a:pt x="52491" y="1932965"/>
                </a:lnTo>
                <a:lnTo>
                  <a:pt x="42899" y="1875736"/>
                </a:lnTo>
                <a:lnTo>
                  <a:pt x="34197" y="1816854"/>
                </a:lnTo>
                <a:lnTo>
                  <a:pt x="26413" y="1756407"/>
                </a:lnTo>
                <a:lnTo>
                  <a:pt x="19575" y="1694487"/>
                </a:lnTo>
                <a:lnTo>
                  <a:pt x="13712" y="1631182"/>
                </a:lnTo>
                <a:lnTo>
                  <a:pt x="8851" y="1566582"/>
                </a:lnTo>
                <a:lnTo>
                  <a:pt x="5021" y="1500776"/>
                </a:lnTo>
                <a:lnTo>
                  <a:pt x="2250" y="1433855"/>
                </a:lnTo>
                <a:lnTo>
                  <a:pt x="567" y="1365908"/>
                </a:lnTo>
                <a:lnTo>
                  <a:pt x="0" y="1297025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663924" y="4815490"/>
            <a:ext cx="217804" cy="219710"/>
          </a:xfrm>
          <a:custGeom>
            <a:avLst/>
            <a:gdLst/>
            <a:ahLst/>
            <a:cxnLst/>
            <a:rect l="l" t="t" r="r" b="b"/>
            <a:pathLst>
              <a:path w="217804" h="219710">
                <a:moveTo>
                  <a:pt x="100923" y="0"/>
                </a:moveTo>
                <a:lnTo>
                  <a:pt x="59182" y="11675"/>
                </a:lnTo>
                <a:lnTo>
                  <a:pt x="26284" y="37682"/>
                </a:lnTo>
                <a:lnTo>
                  <a:pt x="5474" y="74239"/>
                </a:lnTo>
                <a:lnTo>
                  <a:pt x="0" y="117563"/>
                </a:lnTo>
                <a:lnTo>
                  <a:pt x="11629" y="159654"/>
                </a:lnTo>
                <a:lnTo>
                  <a:pt x="37466" y="192849"/>
                </a:lnTo>
                <a:lnTo>
                  <a:pt x="73754" y="213870"/>
                </a:lnTo>
                <a:lnTo>
                  <a:pt x="116737" y="219440"/>
                </a:lnTo>
                <a:lnTo>
                  <a:pt x="158477" y="207765"/>
                </a:lnTo>
                <a:lnTo>
                  <a:pt x="191376" y="181758"/>
                </a:lnTo>
                <a:lnTo>
                  <a:pt x="212186" y="145202"/>
                </a:lnTo>
                <a:lnTo>
                  <a:pt x="217661" y="101878"/>
                </a:lnTo>
                <a:lnTo>
                  <a:pt x="206030" y="59786"/>
                </a:lnTo>
                <a:lnTo>
                  <a:pt x="180193" y="26591"/>
                </a:lnTo>
                <a:lnTo>
                  <a:pt x="143906" y="5570"/>
                </a:lnTo>
                <a:lnTo>
                  <a:pt x="10092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663924" y="5237909"/>
            <a:ext cx="217804" cy="219710"/>
          </a:xfrm>
          <a:custGeom>
            <a:avLst/>
            <a:gdLst/>
            <a:ahLst/>
            <a:cxnLst/>
            <a:rect l="l" t="t" r="r" b="b"/>
            <a:pathLst>
              <a:path w="217804" h="219710">
                <a:moveTo>
                  <a:pt x="100923" y="0"/>
                </a:moveTo>
                <a:lnTo>
                  <a:pt x="59182" y="11675"/>
                </a:lnTo>
                <a:lnTo>
                  <a:pt x="26284" y="37682"/>
                </a:lnTo>
                <a:lnTo>
                  <a:pt x="5474" y="74238"/>
                </a:lnTo>
                <a:lnTo>
                  <a:pt x="0" y="117562"/>
                </a:lnTo>
                <a:lnTo>
                  <a:pt x="11629" y="159654"/>
                </a:lnTo>
                <a:lnTo>
                  <a:pt x="37466" y="192849"/>
                </a:lnTo>
                <a:lnTo>
                  <a:pt x="73754" y="213870"/>
                </a:lnTo>
                <a:lnTo>
                  <a:pt x="116737" y="219439"/>
                </a:lnTo>
                <a:lnTo>
                  <a:pt x="158477" y="207764"/>
                </a:lnTo>
                <a:lnTo>
                  <a:pt x="191376" y="181757"/>
                </a:lnTo>
                <a:lnTo>
                  <a:pt x="212186" y="145201"/>
                </a:lnTo>
                <a:lnTo>
                  <a:pt x="217661" y="101876"/>
                </a:lnTo>
                <a:lnTo>
                  <a:pt x="206030" y="59785"/>
                </a:lnTo>
                <a:lnTo>
                  <a:pt x="180193" y="26590"/>
                </a:lnTo>
                <a:lnTo>
                  <a:pt x="143906" y="5569"/>
                </a:lnTo>
                <a:lnTo>
                  <a:pt x="10092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663924" y="5660329"/>
            <a:ext cx="217804" cy="219710"/>
          </a:xfrm>
          <a:custGeom>
            <a:avLst/>
            <a:gdLst/>
            <a:ahLst/>
            <a:cxnLst/>
            <a:rect l="l" t="t" r="r" b="b"/>
            <a:pathLst>
              <a:path w="217804" h="219710">
                <a:moveTo>
                  <a:pt x="100923" y="0"/>
                </a:moveTo>
                <a:lnTo>
                  <a:pt x="59182" y="11675"/>
                </a:lnTo>
                <a:lnTo>
                  <a:pt x="26284" y="37681"/>
                </a:lnTo>
                <a:lnTo>
                  <a:pt x="5474" y="74238"/>
                </a:lnTo>
                <a:lnTo>
                  <a:pt x="0" y="117562"/>
                </a:lnTo>
                <a:lnTo>
                  <a:pt x="11629" y="159654"/>
                </a:lnTo>
                <a:lnTo>
                  <a:pt x="37466" y="192849"/>
                </a:lnTo>
                <a:lnTo>
                  <a:pt x="73754" y="213870"/>
                </a:lnTo>
                <a:lnTo>
                  <a:pt x="116737" y="219439"/>
                </a:lnTo>
                <a:lnTo>
                  <a:pt x="158477" y="207764"/>
                </a:lnTo>
                <a:lnTo>
                  <a:pt x="191376" y="181757"/>
                </a:lnTo>
                <a:lnTo>
                  <a:pt x="212186" y="145201"/>
                </a:lnTo>
                <a:lnTo>
                  <a:pt x="217661" y="101877"/>
                </a:lnTo>
                <a:lnTo>
                  <a:pt x="206030" y="59785"/>
                </a:lnTo>
                <a:lnTo>
                  <a:pt x="180193" y="26590"/>
                </a:lnTo>
                <a:lnTo>
                  <a:pt x="143906" y="5569"/>
                </a:lnTo>
                <a:lnTo>
                  <a:pt x="10092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63924" y="4393072"/>
            <a:ext cx="217804" cy="219710"/>
          </a:xfrm>
          <a:custGeom>
            <a:avLst/>
            <a:gdLst/>
            <a:ahLst/>
            <a:cxnLst/>
            <a:rect l="l" t="t" r="r" b="b"/>
            <a:pathLst>
              <a:path w="217804" h="219710">
                <a:moveTo>
                  <a:pt x="100923" y="0"/>
                </a:moveTo>
                <a:lnTo>
                  <a:pt x="59182" y="11675"/>
                </a:lnTo>
                <a:lnTo>
                  <a:pt x="26284" y="37682"/>
                </a:lnTo>
                <a:lnTo>
                  <a:pt x="5474" y="74238"/>
                </a:lnTo>
                <a:lnTo>
                  <a:pt x="0" y="117562"/>
                </a:lnTo>
                <a:lnTo>
                  <a:pt x="11629" y="159654"/>
                </a:lnTo>
                <a:lnTo>
                  <a:pt x="37466" y="192849"/>
                </a:lnTo>
                <a:lnTo>
                  <a:pt x="73754" y="213870"/>
                </a:lnTo>
                <a:lnTo>
                  <a:pt x="116737" y="219440"/>
                </a:lnTo>
                <a:lnTo>
                  <a:pt x="158477" y="207765"/>
                </a:lnTo>
                <a:lnTo>
                  <a:pt x="191376" y="181758"/>
                </a:lnTo>
                <a:lnTo>
                  <a:pt x="212186" y="145201"/>
                </a:lnTo>
                <a:lnTo>
                  <a:pt x="217661" y="101876"/>
                </a:lnTo>
                <a:lnTo>
                  <a:pt x="206030" y="59785"/>
                </a:lnTo>
                <a:lnTo>
                  <a:pt x="180193" y="26590"/>
                </a:lnTo>
                <a:lnTo>
                  <a:pt x="143906" y="5569"/>
                </a:lnTo>
                <a:lnTo>
                  <a:pt x="10092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381232" y="5973571"/>
            <a:ext cx="7562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 i="1">
                <a:latin typeface="Times New Roman"/>
                <a:cs typeface="Times New Roman"/>
              </a:rPr>
              <a:t>S</a:t>
            </a:r>
            <a:r>
              <a:rPr dirty="0" sz="1800" spc="-85" b="1" i="1">
                <a:latin typeface="Times New Roman"/>
                <a:cs typeface="Times New Roman"/>
              </a:rPr>
              <a:t> </a:t>
            </a:r>
            <a:r>
              <a:rPr dirty="0" sz="1800" spc="-5" b="1" i="1">
                <a:latin typeface="Times New Roman"/>
                <a:cs typeface="Times New Roman"/>
              </a:rPr>
              <a:t>nodes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411920" y="5970523"/>
            <a:ext cx="9150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latin typeface="Times New Roman"/>
                <a:cs typeface="Times New Roman"/>
              </a:rPr>
              <a:t>α·S</a:t>
            </a:r>
            <a:r>
              <a:rPr dirty="0" sz="1800" spc="-95" b="1" i="1">
                <a:latin typeface="Times New Roman"/>
                <a:cs typeface="Times New Roman"/>
              </a:rPr>
              <a:t> </a:t>
            </a:r>
            <a:r>
              <a:rPr dirty="0" sz="1800" b="1" i="1">
                <a:latin typeface="Times New Roman"/>
                <a:cs typeface="Times New Roman"/>
              </a:rPr>
              <a:t>edges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329931" y="6433820"/>
            <a:ext cx="81534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latin typeface="Times New Roman"/>
                <a:cs typeface="Times New Roman"/>
              </a:rPr>
              <a:t>S’</a:t>
            </a:r>
            <a:r>
              <a:rPr dirty="0" sz="1800" spc="-210" b="1" i="1">
                <a:latin typeface="Times New Roman"/>
                <a:cs typeface="Times New Roman"/>
              </a:rPr>
              <a:t> </a:t>
            </a:r>
            <a:r>
              <a:rPr dirty="0" sz="1800" spc="-5" b="1" i="1">
                <a:latin typeface="Times New Roman"/>
                <a:cs typeface="Times New Roman"/>
              </a:rPr>
              <a:t>nodes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314159" y="6421628"/>
            <a:ext cx="9740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latin typeface="Times New Roman"/>
                <a:cs typeface="Times New Roman"/>
              </a:rPr>
              <a:t>α·S’</a:t>
            </a:r>
            <a:r>
              <a:rPr dirty="0" sz="1800" spc="-225" b="1" i="1">
                <a:latin typeface="Times New Roman"/>
                <a:cs typeface="Times New Roman"/>
              </a:rPr>
              <a:t> </a:t>
            </a:r>
            <a:r>
              <a:rPr dirty="0" sz="1800" b="1" i="1">
                <a:latin typeface="Times New Roman"/>
                <a:cs typeface="Times New Roman"/>
              </a:rPr>
              <a:t>edges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295400" y="5901620"/>
            <a:ext cx="929640" cy="133350"/>
          </a:xfrm>
          <a:custGeom>
            <a:avLst/>
            <a:gdLst/>
            <a:ahLst/>
            <a:cxnLst/>
            <a:rect l="l" t="t" r="r" b="b"/>
            <a:pathLst>
              <a:path w="929639" h="133350">
                <a:moveTo>
                  <a:pt x="929140" y="0"/>
                </a:moveTo>
                <a:lnTo>
                  <a:pt x="924466" y="25952"/>
                </a:lnTo>
                <a:lnTo>
                  <a:pt x="911721" y="47146"/>
                </a:lnTo>
                <a:lnTo>
                  <a:pt x="892818" y="61435"/>
                </a:lnTo>
                <a:lnTo>
                  <a:pt x="869670" y="66675"/>
                </a:lnTo>
                <a:lnTo>
                  <a:pt x="529837" y="66675"/>
                </a:lnTo>
                <a:lnTo>
                  <a:pt x="506689" y="71914"/>
                </a:lnTo>
                <a:lnTo>
                  <a:pt x="487786" y="86203"/>
                </a:lnTo>
                <a:lnTo>
                  <a:pt x="475041" y="107397"/>
                </a:lnTo>
                <a:lnTo>
                  <a:pt x="470368" y="133350"/>
                </a:lnTo>
                <a:lnTo>
                  <a:pt x="465694" y="107397"/>
                </a:lnTo>
                <a:lnTo>
                  <a:pt x="452949" y="86203"/>
                </a:lnTo>
                <a:lnTo>
                  <a:pt x="434046" y="71914"/>
                </a:lnTo>
                <a:lnTo>
                  <a:pt x="410898" y="66675"/>
                </a:lnTo>
                <a:lnTo>
                  <a:pt x="59469" y="66675"/>
                </a:lnTo>
                <a:lnTo>
                  <a:pt x="36321" y="61435"/>
                </a:lnTo>
                <a:lnTo>
                  <a:pt x="17418" y="47146"/>
                </a:lnTo>
                <a:lnTo>
                  <a:pt x="4673" y="25952"/>
                </a:lnTo>
                <a:lnTo>
                  <a:pt x="0" y="0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309218" y="6343644"/>
            <a:ext cx="2720975" cy="133985"/>
          </a:xfrm>
          <a:custGeom>
            <a:avLst/>
            <a:gdLst/>
            <a:ahLst/>
            <a:cxnLst/>
            <a:rect l="l" t="t" r="r" b="b"/>
            <a:pathLst>
              <a:path w="2720975" h="133985">
                <a:moveTo>
                  <a:pt x="2720374" y="3"/>
                </a:moveTo>
                <a:lnTo>
                  <a:pt x="2715700" y="25956"/>
                </a:lnTo>
                <a:lnTo>
                  <a:pt x="2702955" y="47151"/>
                </a:lnTo>
                <a:lnTo>
                  <a:pt x="2684051" y="61440"/>
                </a:lnTo>
                <a:lnTo>
                  <a:pt x="2660903" y="66680"/>
                </a:lnTo>
                <a:lnTo>
                  <a:pt x="1436634" y="66677"/>
                </a:lnTo>
                <a:lnTo>
                  <a:pt x="1413485" y="71917"/>
                </a:lnTo>
                <a:lnTo>
                  <a:pt x="1394581" y="86206"/>
                </a:lnTo>
                <a:lnTo>
                  <a:pt x="1381836" y="107401"/>
                </a:lnTo>
                <a:lnTo>
                  <a:pt x="1377163" y="133355"/>
                </a:lnTo>
                <a:lnTo>
                  <a:pt x="1372489" y="107401"/>
                </a:lnTo>
                <a:lnTo>
                  <a:pt x="1359744" y="86206"/>
                </a:lnTo>
                <a:lnTo>
                  <a:pt x="1340840" y="71917"/>
                </a:lnTo>
                <a:lnTo>
                  <a:pt x="1317692" y="66677"/>
                </a:lnTo>
                <a:lnTo>
                  <a:pt x="59470" y="66677"/>
                </a:lnTo>
                <a:lnTo>
                  <a:pt x="36322" y="61437"/>
                </a:lnTo>
                <a:lnTo>
                  <a:pt x="17418" y="47148"/>
                </a:lnTo>
                <a:lnTo>
                  <a:pt x="4673" y="25953"/>
                </a:lnTo>
                <a:lnTo>
                  <a:pt x="0" y="0"/>
                </a:lnTo>
              </a:path>
            </a:pathLst>
          </a:custGeom>
          <a:ln w="28575">
            <a:solidFill>
              <a:srgbClr val="FF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730195" y="5161679"/>
            <a:ext cx="222250" cy="318135"/>
          </a:xfrm>
          <a:custGeom>
            <a:avLst/>
            <a:gdLst/>
            <a:ahLst/>
            <a:cxnLst/>
            <a:rect l="l" t="t" r="r" b="b"/>
            <a:pathLst>
              <a:path w="222250" h="318135">
                <a:moveTo>
                  <a:pt x="0" y="0"/>
                </a:moveTo>
                <a:lnTo>
                  <a:pt x="221689" y="317917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039318" y="5568278"/>
            <a:ext cx="201295" cy="120014"/>
          </a:xfrm>
          <a:custGeom>
            <a:avLst/>
            <a:gdLst/>
            <a:ahLst/>
            <a:cxnLst/>
            <a:rect l="l" t="t" r="r" b="b"/>
            <a:pathLst>
              <a:path w="201295" h="120014">
                <a:moveTo>
                  <a:pt x="0" y="0"/>
                </a:moveTo>
                <a:lnTo>
                  <a:pt x="201081" y="11953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039318" y="5369895"/>
            <a:ext cx="201295" cy="109855"/>
          </a:xfrm>
          <a:custGeom>
            <a:avLst/>
            <a:gdLst/>
            <a:ahLst/>
            <a:cxnLst/>
            <a:rect l="l" t="t" r="r" b="b"/>
            <a:pathLst>
              <a:path w="201295" h="109854">
                <a:moveTo>
                  <a:pt x="0" y="109701"/>
                </a:moveTo>
                <a:lnTo>
                  <a:pt x="20108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730195" y="4736208"/>
            <a:ext cx="222250" cy="337185"/>
          </a:xfrm>
          <a:custGeom>
            <a:avLst/>
            <a:gdLst/>
            <a:ahLst/>
            <a:cxnLst/>
            <a:rect l="l" t="t" r="r" b="b"/>
            <a:pathLst>
              <a:path w="222250" h="337185">
                <a:moveTo>
                  <a:pt x="0" y="336789"/>
                </a:moveTo>
                <a:lnTo>
                  <a:pt x="22168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039318" y="4736208"/>
            <a:ext cx="201295" cy="120014"/>
          </a:xfrm>
          <a:custGeom>
            <a:avLst/>
            <a:gdLst/>
            <a:ahLst/>
            <a:cxnLst/>
            <a:rect l="l" t="t" r="r" b="b"/>
            <a:pathLst>
              <a:path w="201295" h="120014">
                <a:moveTo>
                  <a:pt x="0" y="0"/>
                </a:moveTo>
                <a:lnTo>
                  <a:pt x="201081" y="11953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039318" y="4526989"/>
            <a:ext cx="201295" cy="120650"/>
          </a:xfrm>
          <a:custGeom>
            <a:avLst/>
            <a:gdLst/>
            <a:ahLst/>
            <a:cxnLst/>
            <a:rect l="l" t="t" r="r" b="b"/>
            <a:pathLst>
              <a:path w="201295" h="120650">
                <a:moveTo>
                  <a:pt x="0" y="120539"/>
                </a:moveTo>
                <a:lnTo>
                  <a:pt x="201081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327831" y="5776496"/>
            <a:ext cx="121285" cy="65405"/>
          </a:xfrm>
          <a:custGeom>
            <a:avLst/>
            <a:gdLst/>
            <a:ahLst/>
            <a:cxnLst/>
            <a:rect l="l" t="t" r="r" b="b"/>
            <a:pathLst>
              <a:path w="121284" h="65404">
                <a:moveTo>
                  <a:pt x="0" y="0"/>
                </a:moveTo>
                <a:lnTo>
                  <a:pt x="121149" y="65065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327831" y="5628046"/>
            <a:ext cx="121285" cy="60325"/>
          </a:xfrm>
          <a:custGeom>
            <a:avLst/>
            <a:gdLst/>
            <a:ahLst/>
            <a:cxnLst/>
            <a:rect l="l" t="t" r="r" b="b"/>
            <a:pathLst>
              <a:path w="121284" h="60325">
                <a:moveTo>
                  <a:pt x="0" y="59767"/>
                </a:moveTo>
                <a:lnTo>
                  <a:pt x="12114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327831" y="5369896"/>
            <a:ext cx="121285" cy="50165"/>
          </a:xfrm>
          <a:custGeom>
            <a:avLst/>
            <a:gdLst/>
            <a:ahLst/>
            <a:cxnLst/>
            <a:rect l="l" t="t" r="r" b="b"/>
            <a:pathLst>
              <a:path w="121284" h="50164">
                <a:moveTo>
                  <a:pt x="0" y="0"/>
                </a:moveTo>
                <a:lnTo>
                  <a:pt x="121149" y="5002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327831" y="5262847"/>
            <a:ext cx="121285" cy="18415"/>
          </a:xfrm>
          <a:custGeom>
            <a:avLst/>
            <a:gdLst/>
            <a:ahLst/>
            <a:cxnLst/>
            <a:rect l="l" t="t" r="r" b="b"/>
            <a:pathLst>
              <a:path w="121284" h="18414">
                <a:moveTo>
                  <a:pt x="0" y="18366"/>
                </a:moveTo>
                <a:lnTo>
                  <a:pt x="12114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8327831" y="4944426"/>
            <a:ext cx="121285" cy="50165"/>
          </a:xfrm>
          <a:custGeom>
            <a:avLst/>
            <a:gdLst/>
            <a:ahLst/>
            <a:cxnLst/>
            <a:rect l="l" t="t" r="r" b="b"/>
            <a:pathLst>
              <a:path w="121284" h="50164">
                <a:moveTo>
                  <a:pt x="0" y="0"/>
                </a:moveTo>
                <a:lnTo>
                  <a:pt x="121149" y="5002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8327831" y="4837378"/>
            <a:ext cx="121285" cy="18415"/>
          </a:xfrm>
          <a:custGeom>
            <a:avLst/>
            <a:gdLst/>
            <a:ahLst/>
            <a:cxnLst/>
            <a:rect l="l" t="t" r="r" b="b"/>
            <a:pathLst>
              <a:path w="121284" h="18414">
                <a:moveTo>
                  <a:pt x="0" y="18366"/>
                </a:moveTo>
                <a:lnTo>
                  <a:pt x="12114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8327831" y="4526988"/>
            <a:ext cx="121285" cy="50165"/>
          </a:xfrm>
          <a:custGeom>
            <a:avLst/>
            <a:gdLst/>
            <a:ahLst/>
            <a:cxnLst/>
            <a:rect l="l" t="t" r="r" b="b"/>
            <a:pathLst>
              <a:path w="121284" h="50164">
                <a:moveTo>
                  <a:pt x="0" y="0"/>
                </a:moveTo>
                <a:lnTo>
                  <a:pt x="121149" y="50026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8327831" y="4387213"/>
            <a:ext cx="114935" cy="51435"/>
          </a:xfrm>
          <a:custGeom>
            <a:avLst/>
            <a:gdLst/>
            <a:ahLst/>
            <a:cxnLst/>
            <a:rect l="l" t="t" r="r" b="b"/>
            <a:pathLst>
              <a:path w="114934" h="51435">
                <a:moveTo>
                  <a:pt x="0" y="51094"/>
                </a:moveTo>
                <a:lnTo>
                  <a:pt x="114709" y="0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8222289" y="5669445"/>
            <a:ext cx="123825" cy="125730"/>
          </a:xfrm>
          <a:custGeom>
            <a:avLst/>
            <a:gdLst/>
            <a:ahLst/>
            <a:cxnLst/>
            <a:rect l="l" t="t" r="r" b="b"/>
            <a:pathLst>
              <a:path w="123825" h="125729">
                <a:moveTo>
                  <a:pt x="61824" y="0"/>
                </a:moveTo>
                <a:lnTo>
                  <a:pt x="37759" y="4927"/>
                </a:lnTo>
                <a:lnTo>
                  <a:pt x="18107" y="18366"/>
                </a:lnTo>
                <a:lnTo>
                  <a:pt x="4858" y="38298"/>
                </a:lnTo>
                <a:lnTo>
                  <a:pt x="0" y="62707"/>
                </a:lnTo>
                <a:lnTo>
                  <a:pt x="4858" y="87116"/>
                </a:lnTo>
                <a:lnTo>
                  <a:pt x="18107" y="107048"/>
                </a:lnTo>
                <a:lnTo>
                  <a:pt x="37759" y="120487"/>
                </a:lnTo>
                <a:lnTo>
                  <a:pt x="61824" y="125415"/>
                </a:lnTo>
                <a:lnTo>
                  <a:pt x="85890" y="120487"/>
                </a:lnTo>
                <a:lnTo>
                  <a:pt x="105541" y="107048"/>
                </a:lnTo>
                <a:lnTo>
                  <a:pt x="118791" y="87116"/>
                </a:lnTo>
                <a:lnTo>
                  <a:pt x="123649" y="62707"/>
                </a:lnTo>
                <a:lnTo>
                  <a:pt x="118791" y="38298"/>
                </a:lnTo>
                <a:lnTo>
                  <a:pt x="105541" y="18366"/>
                </a:lnTo>
                <a:lnTo>
                  <a:pt x="85890" y="4927"/>
                </a:lnTo>
                <a:lnTo>
                  <a:pt x="618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8222289" y="5262846"/>
            <a:ext cx="123825" cy="125730"/>
          </a:xfrm>
          <a:custGeom>
            <a:avLst/>
            <a:gdLst/>
            <a:ahLst/>
            <a:cxnLst/>
            <a:rect l="l" t="t" r="r" b="b"/>
            <a:pathLst>
              <a:path w="123825" h="125729">
                <a:moveTo>
                  <a:pt x="61824" y="0"/>
                </a:moveTo>
                <a:lnTo>
                  <a:pt x="37759" y="4927"/>
                </a:lnTo>
                <a:lnTo>
                  <a:pt x="18107" y="18366"/>
                </a:lnTo>
                <a:lnTo>
                  <a:pt x="4858" y="38298"/>
                </a:lnTo>
                <a:lnTo>
                  <a:pt x="0" y="62707"/>
                </a:lnTo>
                <a:lnTo>
                  <a:pt x="4858" y="87116"/>
                </a:lnTo>
                <a:lnTo>
                  <a:pt x="18107" y="107048"/>
                </a:lnTo>
                <a:lnTo>
                  <a:pt x="37759" y="120487"/>
                </a:lnTo>
                <a:lnTo>
                  <a:pt x="61824" y="125415"/>
                </a:lnTo>
                <a:lnTo>
                  <a:pt x="85890" y="120487"/>
                </a:lnTo>
                <a:lnTo>
                  <a:pt x="105541" y="107048"/>
                </a:lnTo>
                <a:lnTo>
                  <a:pt x="118791" y="87116"/>
                </a:lnTo>
                <a:lnTo>
                  <a:pt x="123649" y="62707"/>
                </a:lnTo>
                <a:lnTo>
                  <a:pt x="118791" y="38298"/>
                </a:lnTo>
                <a:lnTo>
                  <a:pt x="105541" y="18366"/>
                </a:lnTo>
                <a:lnTo>
                  <a:pt x="85890" y="4927"/>
                </a:lnTo>
                <a:lnTo>
                  <a:pt x="618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222289" y="4837376"/>
            <a:ext cx="123825" cy="125730"/>
          </a:xfrm>
          <a:custGeom>
            <a:avLst/>
            <a:gdLst/>
            <a:ahLst/>
            <a:cxnLst/>
            <a:rect l="l" t="t" r="r" b="b"/>
            <a:pathLst>
              <a:path w="123825" h="125729">
                <a:moveTo>
                  <a:pt x="61824" y="0"/>
                </a:moveTo>
                <a:lnTo>
                  <a:pt x="37759" y="4927"/>
                </a:lnTo>
                <a:lnTo>
                  <a:pt x="18107" y="18366"/>
                </a:lnTo>
                <a:lnTo>
                  <a:pt x="4858" y="38299"/>
                </a:lnTo>
                <a:lnTo>
                  <a:pt x="0" y="62707"/>
                </a:lnTo>
                <a:lnTo>
                  <a:pt x="4858" y="87116"/>
                </a:lnTo>
                <a:lnTo>
                  <a:pt x="18107" y="107048"/>
                </a:lnTo>
                <a:lnTo>
                  <a:pt x="37759" y="120487"/>
                </a:lnTo>
                <a:lnTo>
                  <a:pt x="61824" y="125415"/>
                </a:lnTo>
                <a:lnTo>
                  <a:pt x="85890" y="120487"/>
                </a:lnTo>
                <a:lnTo>
                  <a:pt x="105541" y="107048"/>
                </a:lnTo>
                <a:lnTo>
                  <a:pt x="118791" y="87116"/>
                </a:lnTo>
                <a:lnTo>
                  <a:pt x="123649" y="62707"/>
                </a:lnTo>
                <a:lnTo>
                  <a:pt x="118791" y="38299"/>
                </a:lnTo>
                <a:lnTo>
                  <a:pt x="105541" y="18366"/>
                </a:lnTo>
                <a:lnTo>
                  <a:pt x="85890" y="4927"/>
                </a:lnTo>
                <a:lnTo>
                  <a:pt x="618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8222289" y="4419940"/>
            <a:ext cx="123825" cy="125730"/>
          </a:xfrm>
          <a:custGeom>
            <a:avLst/>
            <a:gdLst/>
            <a:ahLst/>
            <a:cxnLst/>
            <a:rect l="l" t="t" r="r" b="b"/>
            <a:pathLst>
              <a:path w="123825" h="125729">
                <a:moveTo>
                  <a:pt x="61824" y="0"/>
                </a:moveTo>
                <a:lnTo>
                  <a:pt x="37759" y="4927"/>
                </a:lnTo>
                <a:lnTo>
                  <a:pt x="18107" y="18366"/>
                </a:lnTo>
                <a:lnTo>
                  <a:pt x="4858" y="38298"/>
                </a:lnTo>
                <a:lnTo>
                  <a:pt x="0" y="62707"/>
                </a:lnTo>
                <a:lnTo>
                  <a:pt x="4858" y="87115"/>
                </a:lnTo>
                <a:lnTo>
                  <a:pt x="18107" y="107048"/>
                </a:lnTo>
                <a:lnTo>
                  <a:pt x="37759" y="120487"/>
                </a:lnTo>
                <a:lnTo>
                  <a:pt x="61824" y="125415"/>
                </a:lnTo>
                <a:lnTo>
                  <a:pt x="85890" y="120487"/>
                </a:lnTo>
                <a:lnTo>
                  <a:pt x="105541" y="107048"/>
                </a:lnTo>
                <a:lnTo>
                  <a:pt x="118791" y="87115"/>
                </a:lnTo>
                <a:lnTo>
                  <a:pt x="123649" y="62707"/>
                </a:lnTo>
                <a:lnTo>
                  <a:pt x="118791" y="38298"/>
                </a:lnTo>
                <a:lnTo>
                  <a:pt x="105541" y="18366"/>
                </a:lnTo>
                <a:lnTo>
                  <a:pt x="85890" y="4927"/>
                </a:lnTo>
                <a:lnTo>
                  <a:pt x="618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7933775" y="5461229"/>
            <a:ext cx="123825" cy="125730"/>
          </a:xfrm>
          <a:custGeom>
            <a:avLst/>
            <a:gdLst/>
            <a:ahLst/>
            <a:cxnLst/>
            <a:rect l="l" t="t" r="r" b="b"/>
            <a:pathLst>
              <a:path w="123825" h="125729">
                <a:moveTo>
                  <a:pt x="61824" y="0"/>
                </a:moveTo>
                <a:lnTo>
                  <a:pt x="37760" y="4927"/>
                </a:lnTo>
                <a:lnTo>
                  <a:pt x="18108" y="18366"/>
                </a:lnTo>
                <a:lnTo>
                  <a:pt x="4858" y="38298"/>
                </a:lnTo>
                <a:lnTo>
                  <a:pt x="0" y="62707"/>
                </a:lnTo>
                <a:lnTo>
                  <a:pt x="4858" y="87116"/>
                </a:lnTo>
                <a:lnTo>
                  <a:pt x="18108" y="107048"/>
                </a:lnTo>
                <a:lnTo>
                  <a:pt x="37760" y="120487"/>
                </a:lnTo>
                <a:lnTo>
                  <a:pt x="61824" y="125415"/>
                </a:lnTo>
                <a:lnTo>
                  <a:pt x="85890" y="120487"/>
                </a:lnTo>
                <a:lnTo>
                  <a:pt x="105541" y="107048"/>
                </a:lnTo>
                <a:lnTo>
                  <a:pt x="118791" y="87116"/>
                </a:lnTo>
                <a:lnTo>
                  <a:pt x="123649" y="62707"/>
                </a:lnTo>
                <a:lnTo>
                  <a:pt x="118791" y="38298"/>
                </a:lnTo>
                <a:lnTo>
                  <a:pt x="105541" y="18366"/>
                </a:lnTo>
                <a:lnTo>
                  <a:pt x="85890" y="4927"/>
                </a:lnTo>
                <a:lnTo>
                  <a:pt x="618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624653" y="5054630"/>
            <a:ext cx="123825" cy="125730"/>
          </a:xfrm>
          <a:custGeom>
            <a:avLst/>
            <a:gdLst/>
            <a:ahLst/>
            <a:cxnLst/>
            <a:rect l="l" t="t" r="r" b="b"/>
            <a:pathLst>
              <a:path w="123825" h="125729">
                <a:moveTo>
                  <a:pt x="61824" y="0"/>
                </a:moveTo>
                <a:lnTo>
                  <a:pt x="37759" y="4927"/>
                </a:lnTo>
                <a:lnTo>
                  <a:pt x="18107" y="18366"/>
                </a:lnTo>
                <a:lnTo>
                  <a:pt x="4858" y="38299"/>
                </a:lnTo>
                <a:lnTo>
                  <a:pt x="0" y="62707"/>
                </a:lnTo>
                <a:lnTo>
                  <a:pt x="4858" y="87116"/>
                </a:lnTo>
                <a:lnTo>
                  <a:pt x="18107" y="107048"/>
                </a:lnTo>
                <a:lnTo>
                  <a:pt x="37759" y="120487"/>
                </a:lnTo>
                <a:lnTo>
                  <a:pt x="61824" y="125415"/>
                </a:lnTo>
                <a:lnTo>
                  <a:pt x="85890" y="120487"/>
                </a:lnTo>
                <a:lnTo>
                  <a:pt x="105541" y="107048"/>
                </a:lnTo>
                <a:lnTo>
                  <a:pt x="118791" y="87116"/>
                </a:lnTo>
                <a:lnTo>
                  <a:pt x="123649" y="62707"/>
                </a:lnTo>
                <a:lnTo>
                  <a:pt x="118791" y="38299"/>
                </a:lnTo>
                <a:lnTo>
                  <a:pt x="105541" y="18366"/>
                </a:lnTo>
                <a:lnTo>
                  <a:pt x="85890" y="4927"/>
                </a:lnTo>
                <a:lnTo>
                  <a:pt x="618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7933775" y="4629160"/>
            <a:ext cx="123825" cy="125730"/>
          </a:xfrm>
          <a:custGeom>
            <a:avLst/>
            <a:gdLst/>
            <a:ahLst/>
            <a:cxnLst/>
            <a:rect l="l" t="t" r="r" b="b"/>
            <a:pathLst>
              <a:path w="123825" h="125729">
                <a:moveTo>
                  <a:pt x="61824" y="0"/>
                </a:moveTo>
                <a:lnTo>
                  <a:pt x="37760" y="4927"/>
                </a:lnTo>
                <a:lnTo>
                  <a:pt x="18108" y="18366"/>
                </a:lnTo>
                <a:lnTo>
                  <a:pt x="4858" y="38298"/>
                </a:lnTo>
                <a:lnTo>
                  <a:pt x="0" y="62707"/>
                </a:lnTo>
                <a:lnTo>
                  <a:pt x="4858" y="87115"/>
                </a:lnTo>
                <a:lnTo>
                  <a:pt x="18108" y="107048"/>
                </a:lnTo>
                <a:lnTo>
                  <a:pt x="37760" y="120487"/>
                </a:lnTo>
                <a:lnTo>
                  <a:pt x="61824" y="125415"/>
                </a:lnTo>
                <a:lnTo>
                  <a:pt x="85890" y="120487"/>
                </a:lnTo>
                <a:lnTo>
                  <a:pt x="105541" y="107048"/>
                </a:lnTo>
                <a:lnTo>
                  <a:pt x="118791" y="87115"/>
                </a:lnTo>
                <a:lnTo>
                  <a:pt x="123649" y="62707"/>
                </a:lnTo>
                <a:lnTo>
                  <a:pt x="118791" y="38298"/>
                </a:lnTo>
                <a:lnTo>
                  <a:pt x="105541" y="18366"/>
                </a:lnTo>
                <a:lnTo>
                  <a:pt x="85890" y="4927"/>
                </a:lnTo>
                <a:lnTo>
                  <a:pt x="6182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7516431" y="4940300"/>
            <a:ext cx="1149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i="1">
                <a:latin typeface="Times New Roman"/>
                <a:cs typeface="Times New Roman"/>
              </a:rPr>
              <a:t>s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8345940" y="5325555"/>
            <a:ext cx="103505" cy="0"/>
          </a:xfrm>
          <a:custGeom>
            <a:avLst/>
            <a:gdLst/>
            <a:ahLst/>
            <a:cxnLst/>
            <a:rect l="l" t="t" r="r" b="b"/>
            <a:pathLst>
              <a:path w="103504" h="0">
                <a:moveTo>
                  <a:pt x="0" y="0"/>
                </a:moveTo>
                <a:lnTo>
                  <a:pt x="103040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8348530" y="5732200"/>
            <a:ext cx="103505" cy="0"/>
          </a:xfrm>
          <a:custGeom>
            <a:avLst/>
            <a:gdLst/>
            <a:ahLst/>
            <a:cxnLst/>
            <a:rect l="l" t="t" r="r" b="b"/>
            <a:pathLst>
              <a:path w="103504" h="0">
                <a:moveTo>
                  <a:pt x="0" y="0"/>
                </a:moveTo>
                <a:lnTo>
                  <a:pt x="103040" y="1"/>
                </a:lnTo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70" name="object 70"/>
          <p:cNvSpPr txBox="1"/>
          <p:nvPr/>
        </p:nvSpPr>
        <p:spPr>
          <a:xfrm>
            <a:off x="2673615" y="6699893"/>
            <a:ext cx="3894454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Jure Leskovec, Stanford </a:t>
            </a: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CS224W: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Analysis </a:t>
            </a:r>
            <a:r>
              <a:rPr dirty="0" sz="900">
                <a:solidFill>
                  <a:srgbClr val="3F3F3F"/>
                </a:solidFill>
                <a:latin typeface="Calibri"/>
                <a:cs typeface="Calibri"/>
              </a:rPr>
              <a:t>of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</a:rPr>
              <a:t>Networks,</a:t>
            </a:r>
            <a:r>
              <a:rPr dirty="0" sz="900" spc="40">
                <a:solidFill>
                  <a:srgbClr val="3F3F3F"/>
                </a:solidFill>
                <a:latin typeface="Calibri"/>
                <a:cs typeface="Calibri"/>
              </a:rPr>
              <a:t> </a:t>
            </a:r>
            <a:r>
              <a:rPr dirty="0" sz="900" spc="-5">
                <a:solidFill>
                  <a:srgbClr val="3F3F3F"/>
                </a:solidFill>
                <a:latin typeface="Calibri"/>
                <a:cs typeface="Calibri"/>
                <a:hlinkClick r:id="rId3"/>
              </a:rPr>
              <a:t>http://cs224w.stanford.edu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719697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31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69976" y="341375"/>
            <a:ext cx="5687568" cy="640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095" y="1348740"/>
            <a:ext cx="747522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65"/>
              </a:spcBef>
            </a:pPr>
            <a:r>
              <a:rPr dirty="0" spc="-20">
                <a:solidFill>
                  <a:srgbClr val="C00000"/>
                </a:solidFill>
              </a:rPr>
              <a:t>Erdös-Renyi </a:t>
            </a:r>
            <a:r>
              <a:rPr dirty="0" spc="-5">
                <a:solidFill>
                  <a:srgbClr val="C00000"/>
                </a:solidFill>
              </a:rPr>
              <a:t>Random </a:t>
            </a:r>
            <a:r>
              <a:rPr dirty="0" spc="-20">
                <a:solidFill>
                  <a:srgbClr val="C00000"/>
                </a:solidFill>
              </a:rPr>
              <a:t>Graph </a:t>
            </a:r>
            <a:r>
              <a:rPr dirty="0" spc="-10">
                <a:solidFill>
                  <a:srgbClr val="C00000"/>
                </a:solidFill>
              </a:rPr>
              <a:t>can </a:t>
            </a:r>
            <a:r>
              <a:rPr dirty="0" spc="-15">
                <a:solidFill>
                  <a:srgbClr val="C00000"/>
                </a:solidFill>
              </a:rPr>
              <a:t>grow </a:t>
            </a:r>
            <a:r>
              <a:rPr dirty="0" spc="-10">
                <a:solidFill>
                  <a:srgbClr val="C00000"/>
                </a:solidFill>
              </a:rPr>
              <a:t>very  </a:t>
            </a:r>
            <a:r>
              <a:rPr dirty="0" spc="-20">
                <a:solidFill>
                  <a:srgbClr val="C00000"/>
                </a:solidFill>
              </a:rPr>
              <a:t>large </a:t>
            </a:r>
            <a:r>
              <a:rPr dirty="0" spc="-5">
                <a:solidFill>
                  <a:srgbClr val="C00000"/>
                </a:solidFill>
              </a:rPr>
              <a:t>but nodes </a:t>
            </a:r>
            <a:r>
              <a:rPr dirty="0">
                <a:solidFill>
                  <a:srgbClr val="C00000"/>
                </a:solidFill>
              </a:rPr>
              <a:t>will </a:t>
            </a:r>
            <a:r>
              <a:rPr dirty="0" spc="-5">
                <a:solidFill>
                  <a:srgbClr val="C00000"/>
                </a:solidFill>
              </a:rPr>
              <a:t>be </a:t>
            </a:r>
            <a:r>
              <a:rPr dirty="0" spc="-15">
                <a:solidFill>
                  <a:srgbClr val="C00000"/>
                </a:solidFill>
              </a:rPr>
              <a:t>just </a:t>
            </a:r>
            <a:r>
              <a:rPr dirty="0">
                <a:solidFill>
                  <a:srgbClr val="C00000"/>
                </a:solidFill>
              </a:rPr>
              <a:t>a </a:t>
            </a:r>
            <a:r>
              <a:rPr dirty="0" spc="-25">
                <a:solidFill>
                  <a:srgbClr val="C00000"/>
                </a:solidFill>
              </a:rPr>
              <a:t>few </a:t>
            </a:r>
            <a:r>
              <a:rPr dirty="0" spc="-10">
                <a:solidFill>
                  <a:srgbClr val="C00000"/>
                </a:solidFill>
              </a:rPr>
              <a:t>hops</a:t>
            </a:r>
            <a:r>
              <a:rPr dirty="0" spc="55">
                <a:solidFill>
                  <a:srgbClr val="C00000"/>
                </a:solidFill>
              </a:rPr>
              <a:t> </a:t>
            </a:r>
            <a:r>
              <a:rPr dirty="0" spc="-5">
                <a:solidFill>
                  <a:srgbClr val="C00000"/>
                </a:solidFill>
              </a:rPr>
              <a:t>apart</a:t>
            </a:r>
          </a:p>
        </p:txBody>
      </p:sp>
      <p:sp>
        <p:nvSpPr>
          <p:cNvPr id="6" name="object 6"/>
          <p:cNvSpPr/>
          <p:nvPr/>
        </p:nvSpPr>
        <p:spPr>
          <a:xfrm>
            <a:off x="1066800" y="1752599"/>
            <a:ext cx="7254240" cy="4916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4184421" y="4358132"/>
            <a:ext cx="3484245" cy="760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Shortest </a:t>
            </a:r>
            <a:r>
              <a:rPr dirty="0" sz="2400" spc="-25">
                <a:solidFill>
                  <a:srgbClr val="C00000"/>
                </a:solidFill>
                <a:latin typeface="Calibri"/>
                <a:cs typeface="Calibri"/>
              </a:rPr>
              <a:t>Path </a:t>
            </a:r>
            <a:r>
              <a:rPr dirty="0" sz="2400" spc="-10">
                <a:solidFill>
                  <a:srgbClr val="C00000"/>
                </a:solidFill>
                <a:latin typeface="Calibri"/>
                <a:cs typeface="Calibri"/>
              </a:rPr>
              <a:t>length</a:t>
            </a:r>
            <a:r>
              <a:rPr dirty="0" sz="2400" spc="-45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5">
                <a:solidFill>
                  <a:srgbClr val="C00000"/>
                </a:solidFill>
                <a:latin typeface="Calibri"/>
                <a:cs typeface="Calibri"/>
              </a:rPr>
              <a:t>follows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2400" spc="-5" b="1" i="1">
                <a:solidFill>
                  <a:srgbClr val="C00000"/>
                </a:solidFill>
                <a:latin typeface="Calibri"/>
                <a:cs typeface="Calibri"/>
              </a:rPr>
              <a:t>O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(log</a:t>
            </a:r>
            <a:r>
              <a:rPr dirty="0" sz="2400" spc="-9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5" b="1" i="1">
                <a:solidFill>
                  <a:srgbClr val="C00000"/>
                </a:solidFill>
                <a:latin typeface="Calibri"/>
                <a:cs typeface="Calibri"/>
              </a:rPr>
              <a:t>n</a:t>
            </a:r>
            <a:r>
              <a:rPr dirty="0" sz="2400" spc="-5" b="1">
                <a:solidFill>
                  <a:srgbClr val="C00000"/>
                </a:solidFill>
                <a:latin typeface="Calibri"/>
                <a:cs typeface="Calibri"/>
              </a:rPr>
              <a:t>)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32</a:t>
            </a:fld>
          </a:p>
        </p:txBody>
      </p:sp>
      <p:sp>
        <p:nvSpPr>
          <p:cNvPr id="8" name="object 8"/>
          <p:cNvSpPr txBox="1"/>
          <p:nvPr/>
        </p:nvSpPr>
        <p:spPr>
          <a:xfrm>
            <a:off x="6045987" y="6095491"/>
            <a:ext cx="265366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>
              <a:lnSpc>
                <a:spcPts val="2090"/>
              </a:lnSpc>
              <a:spcBef>
                <a:spcPts val="225"/>
              </a:spcBef>
            </a:pPr>
            <a:r>
              <a:rPr dirty="0" sz="1800" spc="-10">
                <a:solidFill>
                  <a:srgbClr val="6BB76D"/>
                </a:solidFill>
                <a:latin typeface="Calibri"/>
                <a:cs typeface="Calibri"/>
              </a:rPr>
              <a:t>Here we control </a:t>
            </a:r>
            <a:r>
              <a:rPr dirty="0" sz="1800" spc="-5">
                <a:solidFill>
                  <a:srgbClr val="6BB76D"/>
                </a:solidFill>
                <a:latin typeface="Calibri"/>
                <a:cs typeface="Calibri"/>
              </a:rPr>
              <a:t>the </a:t>
            </a:r>
            <a:r>
              <a:rPr dirty="0" sz="1800" spc="-20">
                <a:solidFill>
                  <a:srgbClr val="6BB76D"/>
                </a:solidFill>
                <a:latin typeface="Calibri"/>
                <a:cs typeface="Calibri"/>
              </a:rPr>
              <a:t>average  </a:t>
            </a:r>
            <a:r>
              <a:rPr dirty="0" sz="1800" spc="-5">
                <a:solidFill>
                  <a:srgbClr val="6BB76D"/>
                </a:solidFill>
                <a:latin typeface="Calibri"/>
                <a:cs typeface="Calibri"/>
              </a:rPr>
              <a:t>degree </a:t>
            </a:r>
            <a:r>
              <a:rPr dirty="0" sz="1800" spc="-15">
                <a:solidFill>
                  <a:srgbClr val="6BB76D"/>
                </a:solidFill>
                <a:latin typeface="Calibri"/>
                <a:cs typeface="Calibri"/>
              </a:rPr>
              <a:t>to </a:t>
            </a:r>
            <a:r>
              <a:rPr dirty="0" sz="1800">
                <a:solidFill>
                  <a:srgbClr val="6BB76D"/>
                </a:solidFill>
                <a:latin typeface="Calibri"/>
                <a:cs typeface="Calibri"/>
              </a:rPr>
              <a:t>be</a:t>
            </a:r>
            <a:r>
              <a:rPr dirty="0" sz="1800" spc="-30">
                <a:solidFill>
                  <a:srgbClr val="6BB76D"/>
                </a:solidFill>
                <a:latin typeface="Calibri"/>
                <a:cs typeface="Calibri"/>
              </a:rPr>
              <a:t> </a:t>
            </a:r>
            <a:r>
              <a:rPr dirty="0" sz="1800" spc="-15">
                <a:solidFill>
                  <a:srgbClr val="6BB76D"/>
                </a:solidFill>
                <a:latin typeface="Calibri"/>
                <a:cs typeface="Calibri"/>
              </a:rPr>
              <a:t>constant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50520"/>
            <a:ext cx="4846320" cy="6339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07325" y="1902460"/>
            <a:ext cx="5551805" cy="2768600"/>
          </a:xfrm>
          <a:prstGeom prst="rect">
            <a:avLst/>
          </a:prstGeom>
        </p:spPr>
        <p:txBody>
          <a:bodyPr wrap="square" lIns="0" tIns="3175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0"/>
              </a:spcBef>
            </a:pPr>
            <a:r>
              <a:rPr dirty="0" sz="4000" spc="-10" b="1">
                <a:latin typeface="Calibri"/>
                <a:cs typeface="Calibri"/>
              </a:rPr>
              <a:t>Degree</a:t>
            </a:r>
            <a:r>
              <a:rPr dirty="0" sz="4000" spc="-75" b="1">
                <a:latin typeface="Calibri"/>
                <a:cs typeface="Calibri"/>
              </a:rPr>
              <a:t> </a:t>
            </a:r>
            <a:r>
              <a:rPr dirty="0" sz="4000" spc="-5" b="1">
                <a:latin typeface="Calibri"/>
                <a:cs typeface="Calibri"/>
              </a:rPr>
              <a:t>distribution:</a:t>
            </a:r>
            <a:endParaRPr sz="4000">
              <a:latin typeface="Calibri"/>
              <a:cs typeface="Calibri"/>
            </a:endParaRPr>
          </a:p>
          <a:p>
            <a:pPr marL="12700" marR="5080">
              <a:lnSpc>
                <a:spcPct val="150000"/>
              </a:lnSpc>
              <a:tabLst>
                <a:tab pos="4687570" algn="l"/>
                <a:tab pos="4812665" algn="l"/>
              </a:tabLst>
            </a:pPr>
            <a:r>
              <a:rPr dirty="0" sz="4000" spc="-40" b="1">
                <a:latin typeface="Calibri"/>
                <a:cs typeface="Calibri"/>
              </a:rPr>
              <a:t>Avg.</a:t>
            </a:r>
            <a:r>
              <a:rPr dirty="0" sz="4000" spc="-5" b="1">
                <a:latin typeface="Calibri"/>
                <a:cs typeface="Calibri"/>
              </a:rPr>
              <a:t> </a:t>
            </a:r>
            <a:r>
              <a:rPr dirty="0" sz="4000" spc="-10" b="1">
                <a:latin typeface="Calibri"/>
                <a:cs typeface="Calibri"/>
              </a:rPr>
              <a:t>path</a:t>
            </a:r>
            <a:r>
              <a:rPr dirty="0" sz="4000" spc="0" b="1">
                <a:latin typeface="Calibri"/>
                <a:cs typeface="Calibri"/>
              </a:rPr>
              <a:t> </a:t>
            </a:r>
            <a:r>
              <a:rPr dirty="0" sz="4000" spc="-5" b="1">
                <a:latin typeface="Calibri"/>
                <a:cs typeface="Calibri"/>
              </a:rPr>
              <a:t>length:		6.6  </a:t>
            </a:r>
            <a:r>
              <a:rPr dirty="0" sz="4000" spc="-100" b="1">
                <a:latin typeface="Calibri"/>
                <a:cs typeface="Calibri"/>
              </a:rPr>
              <a:t>A</a:t>
            </a:r>
            <a:r>
              <a:rPr dirty="0" sz="4000" spc="-50" b="1">
                <a:latin typeface="Calibri"/>
                <a:cs typeface="Calibri"/>
              </a:rPr>
              <a:t>v</a:t>
            </a:r>
            <a:r>
              <a:rPr dirty="0" sz="4000" b="1">
                <a:latin typeface="Calibri"/>
                <a:cs typeface="Calibri"/>
              </a:rPr>
              <a:t>g.</a:t>
            </a:r>
            <a:r>
              <a:rPr dirty="0" sz="4000" spc="-10" b="1">
                <a:latin typeface="Calibri"/>
                <a:cs typeface="Calibri"/>
              </a:rPr>
              <a:t> </a:t>
            </a:r>
            <a:r>
              <a:rPr dirty="0" sz="4000" b="1">
                <a:latin typeface="Calibri"/>
                <a:cs typeface="Calibri"/>
              </a:rPr>
              <a:t>c</a:t>
            </a:r>
            <a:r>
              <a:rPr dirty="0" sz="4000" spc="0" b="1">
                <a:latin typeface="Calibri"/>
                <a:cs typeface="Calibri"/>
              </a:rPr>
              <a:t>lu</a:t>
            </a:r>
            <a:r>
              <a:rPr dirty="0" sz="4000" spc="-45" b="1">
                <a:latin typeface="Calibri"/>
                <a:cs typeface="Calibri"/>
              </a:rPr>
              <a:t>s</a:t>
            </a:r>
            <a:r>
              <a:rPr dirty="0" sz="4000" spc="-50" b="1">
                <a:latin typeface="Calibri"/>
                <a:cs typeface="Calibri"/>
              </a:rPr>
              <a:t>t</a:t>
            </a:r>
            <a:r>
              <a:rPr dirty="0" sz="4000" spc="-5" b="1">
                <a:latin typeface="Calibri"/>
                <a:cs typeface="Calibri"/>
              </a:rPr>
              <a:t>e</a:t>
            </a:r>
            <a:r>
              <a:rPr dirty="0" sz="4000" b="1">
                <a:latin typeface="Calibri"/>
                <a:cs typeface="Calibri"/>
              </a:rPr>
              <a:t>r</a:t>
            </a:r>
            <a:r>
              <a:rPr dirty="0" sz="4000" spc="0" b="1">
                <a:latin typeface="Calibri"/>
                <a:cs typeface="Calibri"/>
              </a:rPr>
              <a:t>in</a:t>
            </a:r>
            <a:r>
              <a:rPr dirty="0" sz="4000" b="1">
                <a:latin typeface="Calibri"/>
                <a:cs typeface="Calibri"/>
              </a:rPr>
              <a:t>g</a:t>
            </a:r>
            <a:r>
              <a:rPr dirty="0" sz="4000" spc="-5" b="1">
                <a:latin typeface="Calibri"/>
                <a:cs typeface="Calibri"/>
              </a:rPr>
              <a:t> </a:t>
            </a:r>
            <a:r>
              <a:rPr dirty="0" sz="4000" spc="-20" b="1">
                <a:latin typeface="Calibri"/>
                <a:cs typeface="Calibri"/>
              </a:rPr>
              <a:t>c</a:t>
            </a:r>
            <a:r>
              <a:rPr dirty="0" sz="4000" b="1">
                <a:latin typeface="Calibri"/>
                <a:cs typeface="Calibri"/>
              </a:rPr>
              <a:t>o</a:t>
            </a:r>
            <a:r>
              <a:rPr dirty="0" sz="4000" spc="-35" b="1">
                <a:latin typeface="Calibri"/>
                <a:cs typeface="Calibri"/>
              </a:rPr>
              <a:t>e</a:t>
            </a:r>
            <a:r>
              <a:rPr dirty="0" sz="4000" spc="-220" b="1">
                <a:latin typeface="Calibri"/>
                <a:cs typeface="Calibri"/>
              </a:rPr>
              <a:t>f</a:t>
            </a:r>
            <a:r>
              <a:rPr dirty="0" sz="4000" spc="-5" b="1">
                <a:latin typeface="Calibri"/>
                <a:cs typeface="Calibri"/>
              </a:rPr>
              <a:t>.</a:t>
            </a:r>
            <a:r>
              <a:rPr dirty="0" sz="4000" b="1">
                <a:latin typeface="Calibri"/>
                <a:cs typeface="Calibri"/>
              </a:rPr>
              <a:t>:	</a:t>
            </a:r>
            <a:r>
              <a:rPr dirty="0" sz="4000" i="1">
                <a:latin typeface="Times New Roman"/>
                <a:cs typeface="Times New Roman"/>
              </a:rPr>
              <a:t>0.</a:t>
            </a:r>
            <a:r>
              <a:rPr dirty="0" sz="4000" spc="-300" i="1">
                <a:latin typeface="Times New Roman"/>
                <a:cs typeface="Times New Roman"/>
              </a:rPr>
              <a:t>1</a:t>
            </a:r>
            <a:r>
              <a:rPr dirty="0" sz="4000" i="1">
                <a:latin typeface="Times New Roman"/>
                <a:cs typeface="Times New Roman"/>
              </a:rPr>
              <a:t>1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25" y="5066283"/>
            <a:ext cx="564324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9000" algn="l"/>
              </a:tabLst>
            </a:pPr>
            <a:r>
              <a:rPr dirty="0" sz="4000" spc="-5" b="1">
                <a:latin typeface="Calibri"/>
                <a:cs typeface="Calibri"/>
              </a:rPr>
              <a:t>L</a:t>
            </a:r>
            <a:r>
              <a:rPr dirty="0" sz="4000" b="1">
                <a:latin typeface="Calibri"/>
                <a:cs typeface="Calibri"/>
              </a:rPr>
              <a:t>a</a:t>
            </a:r>
            <a:r>
              <a:rPr dirty="0" sz="4000" spc="-45" b="1">
                <a:latin typeface="Calibri"/>
                <a:cs typeface="Calibri"/>
              </a:rPr>
              <a:t>rg</a:t>
            </a:r>
            <a:r>
              <a:rPr dirty="0" sz="4000" spc="-5" b="1">
                <a:latin typeface="Calibri"/>
                <a:cs typeface="Calibri"/>
              </a:rPr>
              <a:t>e</a:t>
            </a:r>
            <a:r>
              <a:rPr dirty="0" sz="4000" spc="-45" b="1">
                <a:latin typeface="Calibri"/>
                <a:cs typeface="Calibri"/>
              </a:rPr>
              <a:t>s</a:t>
            </a:r>
            <a:r>
              <a:rPr dirty="0" sz="4000" b="1">
                <a:latin typeface="Calibri"/>
                <a:cs typeface="Calibri"/>
              </a:rPr>
              <a:t>t</a:t>
            </a:r>
            <a:r>
              <a:rPr dirty="0" sz="4000" spc="-5" b="1">
                <a:latin typeface="Calibri"/>
                <a:cs typeface="Calibri"/>
              </a:rPr>
              <a:t> </a:t>
            </a:r>
            <a:r>
              <a:rPr dirty="0" sz="4000" spc="-10" b="1">
                <a:latin typeface="Calibri"/>
                <a:cs typeface="Calibri"/>
              </a:rPr>
              <a:t>C</a:t>
            </a:r>
            <a:r>
              <a:rPr dirty="0" sz="4000" spc="-5" b="1">
                <a:latin typeface="Calibri"/>
                <a:cs typeface="Calibri"/>
              </a:rPr>
              <a:t>o</a:t>
            </a:r>
            <a:r>
              <a:rPr dirty="0" sz="4000" spc="0" b="1">
                <a:latin typeface="Calibri"/>
                <a:cs typeface="Calibri"/>
              </a:rPr>
              <a:t>nn</a:t>
            </a:r>
            <a:r>
              <a:rPr dirty="0" sz="4000" b="1">
                <a:latin typeface="Calibri"/>
                <a:cs typeface="Calibri"/>
              </a:rPr>
              <a:t>.</a:t>
            </a:r>
            <a:r>
              <a:rPr dirty="0" sz="4000" spc="-10" b="1">
                <a:latin typeface="Calibri"/>
                <a:cs typeface="Calibri"/>
              </a:rPr>
              <a:t> C</a:t>
            </a:r>
            <a:r>
              <a:rPr dirty="0" sz="4000" spc="-5" b="1">
                <a:latin typeface="Calibri"/>
                <a:cs typeface="Calibri"/>
              </a:rPr>
              <a:t>om</a:t>
            </a:r>
            <a:r>
              <a:rPr dirty="0" sz="4000" spc="0" b="1">
                <a:latin typeface="Calibri"/>
                <a:cs typeface="Calibri"/>
              </a:rPr>
              <a:t>p</a:t>
            </a:r>
            <a:r>
              <a:rPr dirty="0" sz="4000" spc="-10" b="1">
                <a:latin typeface="Calibri"/>
                <a:cs typeface="Calibri"/>
              </a:rPr>
              <a:t>.</a:t>
            </a:r>
            <a:r>
              <a:rPr dirty="0" sz="4000" b="1">
                <a:latin typeface="Calibri"/>
                <a:cs typeface="Calibri"/>
              </a:rPr>
              <a:t>:	</a:t>
            </a:r>
            <a:r>
              <a:rPr dirty="0" sz="4000" i="1">
                <a:latin typeface="Times New Roman"/>
                <a:cs typeface="Times New Roman"/>
              </a:rPr>
              <a:t>99%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77047" y="4178889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 h="0">
                <a:moveTo>
                  <a:pt x="0" y="0"/>
                </a:moveTo>
                <a:lnTo>
                  <a:pt x="228600" y="1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553200" y="2033016"/>
            <a:ext cx="1688592" cy="104546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76800" y="1996439"/>
            <a:ext cx="1219200" cy="10820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953751" y="1366011"/>
            <a:ext cx="110807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5" b="1">
                <a:solidFill>
                  <a:srgbClr val="0000FF"/>
                </a:solidFill>
                <a:latin typeface="Corbel"/>
                <a:cs typeface="Corbel"/>
              </a:rPr>
              <a:t>M</a:t>
            </a:r>
            <a:r>
              <a:rPr dirty="0" sz="4000" b="1">
                <a:solidFill>
                  <a:srgbClr val="0000FF"/>
                </a:solidFill>
                <a:latin typeface="Corbel"/>
                <a:cs typeface="Corbel"/>
              </a:rPr>
              <a:t>SN</a:t>
            </a:r>
            <a:endParaRPr sz="40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53660" y="1481835"/>
            <a:ext cx="74104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baseline="12500" sz="6000" spc="0" b="1">
                <a:solidFill>
                  <a:srgbClr val="0000FF"/>
                </a:solidFill>
                <a:latin typeface="Corbel"/>
                <a:cs typeface="Corbel"/>
              </a:rPr>
              <a:t>G</a:t>
            </a:r>
            <a:r>
              <a:rPr dirty="0" sz="2700" spc="-25" b="1">
                <a:solidFill>
                  <a:srgbClr val="0000FF"/>
                </a:solidFill>
                <a:latin typeface="Corbel"/>
                <a:cs typeface="Corbel"/>
              </a:rPr>
              <a:t>np</a:t>
            </a:r>
            <a:endParaRPr sz="27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837304" y="3957037"/>
            <a:ext cx="1310005" cy="2099310"/>
          </a:xfrm>
          <a:prstGeom prst="rect">
            <a:avLst/>
          </a:prstGeom>
        </p:spPr>
        <p:txBody>
          <a:bodyPr wrap="square" lIns="0" tIns="9144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720"/>
              </a:spcBef>
            </a:pPr>
            <a:r>
              <a:rPr dirty="0" sz="4000" i="1">
                <a:latin typeface="Times New Roman"/>
                <a:cs typeface="Times New Roman"/>
              </a:rPr>
              <a:t>k /</a:t>
            </a:r>
            <a:r>
              <a:rPr dirty="0" sz="4000" spc="-105" i="1">
                <a:latin typeface="Times New Roman"/>
                <a:cs typeface="Times New Roman"/>
              </a:rPr>
              <a:t> </a:t>
            </a:r>
            <a:r>
              <a:rPr dirty="0" sz="4000" i="1">
                <a:latin typeface="Times New Roman"/>
                <a:cs typeface="Times New Roman"/>
              </a:rPr>
              <a:t>n</a:t>
            </a:r>
            <a:endParaRPr sz="4000">
              <a:latin typeface="Times New Roman"/>
              <a:cs typeface="Times New Roman"/>
            </a:endParaRPr>
          </a:p>
          <a:p>
            <a:pPr algn="ctr" marR="3810">
              <a:lnSpc>
                <a:spcPct val="100000"/>
              </a:lnSpc>
              <a:spcBef>
                <a:spcPts val="275"/>
              </a:spcBef>
              <a:tabLst>
                <a:tab pos="292100" algn="l"/>
              </a:tabLst>
            </a:pPr>
            <a:r>
              <a:rPr dirty="0" sz="1800" i="1">
                <a:solidFill>
                  <a:srgbClr val="008000"/>
                </a:solidFill>
                <a:latin typeface="Arial"/>
                <a:cs typeface="Arial"/>
              </a:rPr>
              <a:t>C	≈</a:t>
            </a:r>
            <a:r>
              <a:rPr dirty="0" sz="1800" spc="-90" i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 i="1">
                <a:solidFill>
                  <a:srgbClr val="008000"/>
                </a:solidFill>
                <a:latin typeface="Arial"/>
                <a:cs typeface="Arial"/>
              </a:rPr>
              <a:t>8·10</a:t>
            </a:r>
            <a:r>
              <a:rPr dirty="0" baseline="23148" sz="1800" spc="-7" i="1">
                <a:solidFill>
                  <a:srgbClr val="008000"/>
                </a:solidFill>
                <a:latin typeface="Arial"/>
                <a:cs typeface="Arial"/>
              </a:rPr>
              <a:t>-8</a:t>
            </a:r>
            <a:endParaRPr baseline="23148" sz="1800">
              <a:latin typeface="Arial"/>
              <a:cs typeface="Arial"/>
            </a:endParaRPr>
          </a:p>
          <a:p>
            <a:pPr algn="ctr" marL="12065" marR="5080">
              <a:lnSpc>
                <a:spcPct val="100000"/>
              </a:lnSpc>
              <a:spcBef>
                <a:spcPts val="1260"/>
              </a:spcBef>
            </a:pPr>
            <a:r>
              <a:rPr dirty="0" sz="2000" spc="-5">
                <a:latin typeface="Arial"/>
                <a:cs typeface="Arial"/>
              </a:rPr>
              <a:t>GCC</a:t>
            </a:r>
            <a:r>
              <a:rPr dirty="0" sz="2000" spc="-65">
                <a:latin typeface="Arial"/>
                <a:cs typeface="Arial"/>
              </a:rPr>
              <a:t> </a:t>
            </a:r>
            <a:r>
              <a:rPr dirty="0" sz="2000" spc="-5">
                <a:latin typeface="Arial"/>
                <a:cs typeface="Arial"/>
              </a:rPr>
              <a:t>e</a:t>
            </a:r>
            <a:r>
              <a:rPr dirty="0" sz="2000" spc="-5" u="heavy">
                <a:latin typeface="Arial"/>
                <a:cs typeface="Arial"/>
              </a:rPr>
              <a:t>x</a:t>
            </a:r>
            <a:r>
              <a:rPr dirty="0" sz="2000" spc="-5">
                <a:latin typeface="Arial"/>
                <a:cs typeface="Arial"/>
              </a:rPr>
              <a:t>ists  </a:t>
            </a:r>
            <a:r>
              <a:rPr dirty="0" sz="2000">
                <a:latin typeface="Arial"/>
                <a:cs typeface="Arial"/>
              </a:rPr>
              <a:t>when </a:t>
            </a:r>
            <a:r>
              <a:rPr dirty="0" sz="2000" spc="-5">
                <a:latin typeface="Arial"/>
                <a:cs typeface="Arial"/>
              </a:rPr>
              <a:t>k&gt;1.  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k </a:t>
            </a:r>
            <a:r>
              <a:rPr dirty="0" sz="2000" i="1">
                <a:solidFill>
                  <a:srgbClr val="008000"/>
                </a:solidFill>
                <a:latin typeface="Arial"/>
                <a:cs typeface="Arial"/>
              </a:rPr>
              <a:t>≈</a:t>
            </a:r>
            <a:r>
              <a:rPr dirty="0" sz="2000" spc="-114" i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14.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105647" y="5787895"/>
            <a:ext cx="164465" cy="0"/>
          </a:xfrm>
          <a:custGeom>
            <a:avLst/>
            <a:gdLst/>
            <a:ahLst/>
            <a:cxnLst/>
            <a:rect l="l" t="t" r="r" b="b"/>
            <a:pathLst>
              <a:path w="164465" h="0">
                <a:moveTo>
                  <a:pt x="0" y="0"/>
                </a:moveTo>
                <a:lnTo>
                  <a:pt x="163833" y="1"/>
                </a:lnTo>
              </a:path>
            </a:pathLst>
          </a:custGeom>
          <a:ln w="127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007958" y="1637514"/>
            <a:ext cx="976630" cy="1218565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1800" spc="-5" b="1">
                <a:latin typeface="Corbel"/>
                <a:cs typeface="Corbel"/>
              </a:rPr>
              <a:t>n=180M</a:t>
            </a:r>
            <a:endParaRPr sz="1800">
              <a:latin typeface="Corbel"/>
              <a:cs typeface="Corbel"/>
            </a:endParaRPr>
          </a:p>
          <a:p>
            <a:pPr marL="465455">
              <a:lnSpc>
                <a:spcPct val="100000"/>
              </a:lnSpc>
              <a:spcBef>
                <a:spcPts val="1380"/>
              </a:spcBef>
            </a:pPr>
            <a:r>
              <a:rPr dirty="0" sz="4400">
                <a:solidFill>
                  <a:srgbClr val="FF0000"/>
                </a:solidFill>
                <a:latin typeface="Segoe UI Symbol"/>
                <a:cs typeface="Segoe UI Symbol"/>
              </a:rPr>
              <a:t>🗷</a:t>
            </a:r>
            <a:endParaRPr sz="4400">
              <a:latin typeface="Segoe UI Symbol"/>
              <a:cs typeface="Segoe UI Symbo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32</a:t>
            </a:fld>
          </a:p>
        </p:txBody>
      </p:sp>
      <p:sp>
        <p:nvSpPr>
          <p:cNvPr id="13" name="object 13"/>
          <p:cNvSpPr txBox="1"/>
          <p:nvPr/>
        </p:nvSpPr>
        <p:spPr>
          <a:xfrm>
            <a:off x="6443012" y="3008771"/>
            <a:ext cx="2541905" cy="105791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  <a:tabLst>
                <a:tab pos="2030095" algn="l"/>
              </a:tabLst>
            </a:pPr>
            <a:r>
              <a:rPr dirty="0" sz="4000" spc="-5" i="1">
                <a:latin typeface="Times New Roman"/>
                <a:cs typeface="Times New Roman"/>
              </a:rPr>
              <a:t>O</a:t>
            </a:r>
            <a:r>
              <a:rPr dirty="0" sz="4000" spc="0">
                <a:latin typeface="Times New Roman"/>
                <a:cs typeface="Times New Roman"/>
              </a:rPr>
              <a:t>(</a:t>
            </a:r>
            <a:r>
              <a:rPr dirty="0" sz="4000">
                <a:latin typeface="Times New Roman"/>
                <a:cs typeface="Times New Roman"/>
              </a:rPr>
              <a:t>log </a:t>
            </a:r>
            <a:r>
              <a:rPr dirty="0" sz="4000" i="1">
                <a:latin typeface="Times New Roman"/>
                <a:cs typeface="Times New Roman"/>
              </a:rPr>
              <a:t>n</a:t>
            </a:r>
            <a:r>
              <a:rPr dirty="0" sz="4000">
                <a:latin typeface="Times New Roman"/>
                <a:cs typeface="Times New Roman"/>
              </a:rPr>
              <a:t>)	</a:t>
            </a:r>
            <a:r>
              <a:rPr dirty="0" sz="4400">
                <a:solidFill>
                  <a:srgbClr val="008000"/>
                </a:solidFill>
                <a:latin typeface="Segoe UI Symbol"/>
                <a:cs typeface="Segoe UI Symbol"/>
              </a:rPr>
              <a:t>🗹</a:t>
            </a:r>
            <a:endParaRPr sz="4400">
              <a:latin typeface="Segoe UI Symbol"/>
              <a:cs typeface="Segoe UI Symbol"/>
            </a:endParaRPr>
          </a:p>
          <a:p>
            <a:pPr marL="544195">
              <a:lnSpc>
                <a:spcPct val="100000"/>
              </a:lnSpc>
              <a:spcBef>
                <a:spcPts val="195"/>
              </a:spcBef>
            </a:pPr>
            <a:r>
              <a:rPr dirty="0" sz="1800" i="1">
                <a:solidFill>
                  <a:srgbClr val="008000"/>
                </a:solidFill>
                <a:latin typeface="Arial"/>
                <a:cs typeface="Arial"/>
              </a:rPr>
              <a:t>h  ≈</a:t>
            </a:r>
            <a:r>
              <a:rPr dirty="0" sz="1800" spc="-110" i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 i="1">
                <a:solidFill>
                  <a:srgbClr val="008000"/>
                </a:solidFill>
                <a:latin typeface="Arial"/>
                <a:cs typeface="Arial"/>
              </a:rPr>
              <a:t>8.2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60724" y="4116323"/>
            <a:ext cx="523875" cy="1838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>
                <a:solidFill>
                  <a:srgbClr val="FF0000"/>
                </a:solidFill>
                <a:latin typeface="Segoe UI Symbol"/>
                <a:cs typeface="Segoe UI Symbol"/>
              </a:rPr>
              <a:t>🗷</a:t>
            </a:r>
            <a:endParaRPr sz="44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3720"/>
              </a:spcBef>
            </a:pPr>
            <a:r>
              <a:rPr dirty="0" sz="4400">
                <a:solidFill>
                  <a:srgbClr val="008000"/>
                </a:solidFill>
                <a:latin typeface="Segoe UI Symbol"/>
                <a:cs typeface="Segoe UI Symbol"/>
              </a:rPr>
              <a:t>🗹</a:t>
            </a:r>
            <a:endParaRPr sz="44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5216" y="347472"/>
            <a:ext cx="5269992" cy="6339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095" y="1297939"/>
            <a:ext cx="635381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0000"/>
              <a:buFont typeface="Malgun Gothic"/>
              <a:buChar char="▪"/>
              <a:tabLst>
                <a:tab pos="332740" algn="l"/>
              </a:tabLst>
            </a:pPr>
            <a:r>
              <a:rPr dirty="0" sz="3000" spc="-30"/>
              <a:t>Are </a:t>
            </a:r>
            <a:r>
              <a:rPr dirty="0" sz="3000" spc="-25"/>
              <a:t>real </a:t>
            </a:r>
            <a:r>
              <a:rPr dirty="0" sz="3000" spc="-30"/>
              <a:t>networks </a:t>
            </a:r>
            <a:r>
              <a:rPr dirty="0" sz="3000" spc="-35"/>
              <a:t>like random</a:t>
            </a:r>
            <a:r>
              <a:rPr dirty="0" sz="3000" spc="-45"/>
              <a:t> </a:t>
            </a:r>
            <a:r>
              <a:rPr dirty="0" sz="3000" spc="-55"/>
              <a:t>graphs?</a:t>
            </a:r>
            <a:endParaRPr sz="3000"/>
          </a:p>
        </p:txBody>
      </p:sp>
      <p:sp>
        <p:nvSpPr>
          <p:cNvPr id="6" name="object 6"/>
          <p:cNvSpPr/>
          <p:nvPr/>
        </p:nvSpPr>
        <p:spPr>
          <a:xfrm>
            <a:off x="5395962" y="1802801"/>
            <a:ext cx="330200" cy="3175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268265" y="2220377"/>
            <a:ext cx="330200" cy="3175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440540" y="2641001"/>
            <a:ext cx="330200" cy="317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201336" y="3058577"/>
            <a:ext cx="330200" cy="3175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18095" y="1760219"/>
            <a:ext cx="7902575" cy="454279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808355" indent="-457200">
              <a:lnSpc>
                <a:spcPct val="100000"/>
              </a:lnSpc>
              <a:spcBef>
                <a:spcPts val="265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600" spc="-10">
                <a:latin typeface="Calibri"/>
                <a:cs typeface="Calibri"/>
              </a:rPr>
              <a:t>Giant </a:t>
            </a:r>
            <a:r>
              <a:rPr dirty="0" sz="2600" spc="-15">
                <a:latin typeface="Calibri"/>
                <a:cs typeface="Calibri"/>
              </a:rPr>
              <a:t>connected component:</a:t>
            </a:r>
            <a:r>
              <a:rPr dirty="0" sz="2600" spc="-25">
                <a:latin typeface="Calibri"/>
                <a:cs typeface="Calibri"/>
              </a:rPr>
              <a:t> </a:t>
            </a:r>
            <a:r>
              <a:rPr dirty="0" baseline="1133" sz="3675" spc="-1185">
                <a:solidFill>
                  <a:srgbClr val="008000"/>
                </a:solidFill>
                <a:latin typeface="Segoe UI Emoji"/>
                <a:cs typeface="Segoe UI Emoji"/>
              </a:rPr>
              <a:t>☺</a:t>
            </a:r>
            <a:endParaRPr baseline="1133" sz="3675">
              <a:latin typeface="Segoe UI Emoji"/>
              <a:cs typeface="Segoe UI Emoji"/>
            </a:endParaRPr>
          </a:p>
          <a:p>
            <a:pPr marL="808355" indent="-457200">
              <a:lnSpc>
                <a:spcPct val="100000"/>
              </a:lnSpc>
              <a:spcBef>
                <a:spcPts val="165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600" spc="-30">
                <a:latin typeface="Calibri"/>
                <a:cs typeface="Calibri"/>
              </a:rPr>
              <a:t>Average </a:t>
            </a:r>
            <a:r>
              <a:rPr dirty="0" sz="2600" spc="-15">
                <a:latin typeface="Calibri"/>
                <a:cs typeface="Calibri"/>
              </a:rPr>
              <a:t>path </a:t>
            </a:r>
            <a:r>
              <a:rPr dirty="0" sz="2600" spc="-10">
                <a:latin typeface="Calibri"/>
                <a:cs typeface="Calibri"/>
              </a:rPr>
              <a:t>length: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baseline="1133" sz="3675" spc="-1185">
                <a:solidFill>
                  <a:srgbClr val="008000"/>
                </a:solidFill>
                <a:latin typeface="Segoe UI Emoji"/>
                <a:cs typeface="Segoe UI Emoji"/>
              </a:rPr>
              <a:t>☺</a:t>
            </a:r>
            <a:endParaRPr baseline="1133" sz="3675">
              <a:latin typeface="Segoe UI Emoji"/>
              <a:cs typeface="Segoe UI Emoji"/>
            </a:endParaRPr>
          </a:p>
          <a:p>
            <a:pPr marL="808355" indent="-457200">
              <a:lnSpc>
                <a:spcPct val="100000"/>
              </a:lnSpc>
              <a:spcBef>
                <a:spcPts val="190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600" spc="-15">
                <a:latin typeface="Calibri"/>
                <a:cs typeface="Calibri"/>
              </a:rPr>
              <a:t>Clustering Coefficient:</a:t>
            </a:r>
            <a:r>
              <a:rPr dirty="0" sz="2600" spc="-35">
                <a:latin typeface="Calibri"/>
                <a:cs typeface="Calibri"/>
              </a:rPr>
              <a:t> </a:t>
            </a:r>
            <a:r>
              <a:rPr dirty="0" baseline="1133" sz="3675" spc="-1185">
                <a:solidFill>
                  <a:srgbClr val="FF0000"/>
                </a:solidFill>
                <a:latin typeface="Segoe UI Emoji"/>
                <a:cs typeface="Segoe UI Emoji"/>
              </a:rPr>
              <a:t>☹</a:t>
            </a:r>
            <a:endParaRPr baseline="1133" sz="3675">
              <a:latin typeface="Segoe UI Emoji"/>
              <a:cs typeface="Segoe UI Emoji"/>
            </a:endParaRPr>
          </a:p>
          <a:p>
            <a:pPr marL="808355" indent="-457200">
              <a:lnSpc>
                <a:spcPts val="2910"/>
              </a:lnSpc>
              <a:spcBef>
                <a:spcPts val="165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600" spc="-15">
                <a:latin typeface="Calibri"/>
                <a:cs typeface="Calibri"/>
              </a:rPr>
              <a:t>Degree </a:t>
            </a:r>
            <a:r>
              <a:rPr dirty="0" sz="2600" spc="-10">
                <a:latin typeface="Calibri"/>
                <a:cs typeface="Calibri"/>
              </a:rPr>
              <a:t>Distribution:</a:t>
            </a:r>
            <a:r>
              <a:rPr dirty="0" sz="2600" spc="-70">
                <a:latin typeface="Calibri"/>
                <a:cs typeface="Calibri"/>
              </a:rPr>
              <a:t> </a:t>
            </a:r>
            <a:r>
              <a:rPr dirty="0" baseline="1133" sz="3675" spc="-1185">
                <a:solidFill>
                  <a:srgbClr val="FF0000"/>
                </a:solidFill>
                <a:latin typeface="Segoe UI Emoji"/>
                <a:cs typeface="Segoe UI Emoji"/>
              </a:rPr>
              <a:t>☹</a:t>
            </a:r>
            <a:endParaRPr baseline="1133" sz="3675">
              <a:latin typeface="Segoe UI Emoji"/>
              <a:cs typeface="Segoe UI Emoji"/>
            </a:endParaRPr>
          </a:p>
          <a:p>
            <a:pPr marL="332740" indent="-320040">
              <a:lnSpc>
                <a:spcPts val="3390"/>
              </a:lnSpc>
              <a:buClr>
                <a:srgbClr val="F0AD00"/>
              </a:buClr>
              <a:buSzPct val="80000"/>
              <a:buFont typeface="Malgun Gothic"/>
              <a:buChar char="▪"/>
              <a:tabLst>
                <a:tab pos="332740" algn="l"/>
              </a:tabLst>
            </a:pPr>
            <a:r>
              <a:rPr dirty="0" sz="3000" spc="-30" b="1">
                <a:solidFill>
                  <a:srgbClr val="0000FF"/>
                </a:solidFill>
                <a:latin typeface="Calibri"/>
                <a:cs typeface="Calibri"/>
              </a:rPr>
              <a:t>Problems </a:t>
            </a:r>
            <a:r>
              <a:rPr dirty="0" sz="3000" spc="-20" b="1">
                <a:solidFill>
                  <a:srgbClr val="0000FF"/>
                </a:solidFill>
                <a:latin typeface="Calibri"/>
                <a:cs typeface="Calibri"/>
              </a:rPr>
              <a:t>with </a:t>
            </a:r>
            <a:r>
              <a:rPr dirty="0" sz="3000" spc="-15" b="1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dirty="0" sz="3000" spc="-35" b="1">
                <a:solidFill>
                  <a:srgbClr val="0000FF"/>
                </a:solidFill>
                <a:latin typeface="Calibri"/>
                <a:cs typeface="Calibri"/>
              </a:rPr>
              <a:t>random </a:t>
            </a:r>
            <a:r>
              <a:rPr dirty="0" sz="3000" spc="-30" b="1">
                <a:solidFill>
                  <a:srgbClr val="0000FF"/>
                </a:solidFill>
                <a:latin typeface="Calibri"/>
                <a:cs typeface="Calibri"/>
              </a:rPr>
              <a:t>networks</a:t>
            </a:r>
            <a:r>
              <a:rPr dirty="0" sz="3000" spc="-4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000" spc="-25" b="1">
                <a:solidFill>
                  <a:srgbClr val="0000FF"/>
                </a:solidFill>
                <a:latin typeface="Calibri"/>
                <a:cs typeface="Calibri"/>
              </a:rPr>
              <a:t>model:</a:t>
            </a:r>
            <a:endParaRPr sz="3000">
              <a:latin typeface="Calibri"/>
              <a:cs typeface="Calibri"/>
            </a:endParaRPr>
          </a:p>
          <a:p>
            <a:pPr lvl="1" marL="808355" indent="-457200">
              <a:lnSpc>
                <a:spcPct val="100000"/>
              </a:lnSpc>
              <a:spcBef>
                <a:spcPts val="209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600" spc="-15">
                <a:latin typeface="Calibri"/>
                <a:cs typeface="Calibri"/>
              </a:rPr>
              <a:t>Degree </a:t>
            </a:r>
            <a:r>
              <a:rPr dirty="0" sz="2600" spc="-10">
                <a:latin typeface="Calibri"/>
                <a:cs typeface="Calibri"/>
              </a:rPr>
              <a:t>distribution </a:t>
            </a:r>
            <a:r>
              <a:rPr dirty="0" sz="2600" spc="-30">
                <a:latin typeface="Calibri"/>
                <a:cs typeface="Calibri"/>
              </a:rPr>
              <a:t>differs </a:t>
            </a:r>
            <a:r>
              <a:rPr dirty="0" sz="2600" spc="-20">
                <a:latin typeface="Calibri"/>
                <a:cs typeface="Calibri"/>
              </a:rPr>
              <a:t>from </a:t>
            </a:r>
            <a:r>
              <a:rPr dirty="0" sz="2600" spc="-15">
                <a:latin typeface="Calibri"/>
                <a:cs typeface="Calibri"/>
              </a:rPr>
              <a:t>that </a:t>
            </a:r>
            <a:r>
              <a:rPr dirty="0" sz="2600" spc="-5">
                <a:latin typeface="Calibri"/>
                <a:cs typeface="Calibri"/>
              </a:rPr>
              <a:t>of </a:t>
            </a:r>
            <a:r>
              <a:rPr dirty="0" sz="2600" spc="-20">
                <a:latin typeface="Calibri"/>
                <a:cs typeface="Calibri"/>
              </a:rPr>
              <a:t>real</a:t>
            </a:r>
            <a:r>
              <a:rPr dirty="0" sz="2600" spc="80">
                <a:latin typeface="Calibri"/>
                <a:cs typeface="Calibri"/>
              </a:rPr>
              <a:t> </a:t>
            </a:r>
            <a:r>
              <a:rPr dirty="0" sz="2600" spc="-20">
                <a:latin typeface="Calibri"/>
                <a:cs typeface="Calibri"/>
              </a:rPr>
              <a:t>networks</a:t>
            </a:r>
            <a:endParaRPr sz="2600">
              <a:latin typeface="Calibri"/>
              <a:cs typeface="Calibri"/>
            </a:endParaRPr>
          </a:p>
          <a:p>
            <a:pPr lvl="1" marL="808355" marR="421640" indent="-457200">
              <a:lnSpc>
                <a:spcPts val="2810"/>
              </a:lnSpc>
              <a:spcBef>
                <a:spcPts val="520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600" spc="-10">
                <a:latin typeface="Calibri"/>
                <a:cs typeface="Calibri"/>
              </a:rPr>
              <a:t>Giant </a:t>
            </a:r>
            <a:r>
              <a:rPr dirty="0" sz="2600" spc="-15">
                <a:latin typeface="Calibri"/>
                <a:cs typeface="Calibri"/>
              </a:rPr>
              <a:t>component </a:t>
            </a:r>
            <a:r>
              <a:rPr dirty="0" sz="2600">
                <a:latin typeface="Calibri"/>
                <a:cs typeface="Calibri"/>
              </a:rPr>
              <a:t>in </a:t>
            </a:r>
            <a:r>
              <a:rPr dirty="0" sz="2600" spc="-15">
                <a:latin typeface="Calibri"/>
                <a:cs typeface="Calibri"/>
              </a:rPr>
              <a:t>most </a:t>
            </a:r>
            <a:r>
              <a:rPr dirty="0" sz="2600" spc="-20">
                <a:latin typeface="Calibri"/>
                <a:cs typeface="Calibri"/>
              </a:rPr>
              <a:t>real networks </a:t>
            </a:r>
            <a:r>
              <a:rPr dirty="0" sz="2600" spc="-10">
                <a:latin typeface="Calibri"/>
                <a:cs typeface="Calibri"/>
              </a:rPr>
              <a:t>does </a:t>
            </a:r>
            <a:r>
              <a:rPr dirty="0" sz="2600" spc="-30">
                <a:latin typeface="Calibri"/>
                <a:cs typeface="Calibri"/>
              </a:rPr>
              <a:t>NOT  </a:t>
            </a:r>
            <a:r>
              <a:rPr dirty="0" sz="2600" spc="-20">
                <a:latin typeface="Calibri"/>
                <a:cs typeface="Calibri"/>
              </a:rPr>
              <a:t>emerge </a:t>
            </a:r>
            <a:r>
              <a:rPr dirty="0" sz="2600" spc="-15">
                <a:latin typeface="Calibri"/>
                <a:cs typeface="Calibri"/>
              </a:rPr>
              <a:t>through </a:t>
            </a:r>
            <a:r>
              <a:rPr dirty="0" sz="2600">
                <a:latin typeface="Calibri"/>
                <a:cs typeface="Calibri"/>
              </a:rPr>
              <a:t>a </a:t>
            </a:r>
            <a:r>
              <a:rPr dirty="0" sz="2600" spc="-5">
                <a:latin typeface="Calibri"/>
                <a:cs typeface="Calibri"/>
              </a:rPr>
              <a:t>phase</a:t>
            </a:r>
            <a:r>
              <a:rPr dirty="0" sz="2600" spc="-10">
                <a:latin typeface="Calibri"/>
                <a:cs typeface="Calibri"/>
              </a:rPr>
              <a:t> </a:t>
            </a:r>
            <a:r>
              <a:rPr dirty="0" sz="2600" spc="-15">
                <a:latin typeface="Calibri"/>
                <a:cs typeface="Calibri"/>
              </a:rPr>
              <a:t>transition</a:t>
            </a:r>
            <a:endParaRPr sz="2600">
              <a:latin typeface="Calibri"/>
              <a:cs typeface="Calibri"/>
            </a:endParaRPr>
          </a:p>
          <a:p>
            <a:pPr lvl="1" marL="808355" indent="-457200">
              <a:lnSpc>
                <a:spcPts val="2910"/>
              </a:lnSpc>
              <a:spcBef>
                <a:spcPts val="150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600" spc="-5">
                <a:latin typeface="Calibri"/>
                <a:cs typeface="Calibri"/>
              </a:rPr>
              <a:t>No </a:t>
            </a:r>
            <a:r>
              <a:rPr dirty="0" sz="2600" spc="-10">
                <a:latin typeface="Calibri"/>
                <a:cs typeface="Calibri"/>
              </a:rPr>
              <a:t>local </a:t>
            </a:r>
            <a:r>
              <a:rPr dirty="0" sz="2600" spc="-15">
                <a:latin typeface="Calibri"/>
                <a:cs typeface="Calibri"/>
              </a:rPr>
              <a:t>structure </a:t>
            </a:r>
            <a:r>
              <a:rPr dirty="0" sz="2600">
                <a:latin typeface="Calibri"/>
                <a:cs typeface="Calibri"/>
              </a:rPr>
              <a:t>– </a:t>
            </a:r>
            <a:r>
              <a:rPr dirty="0" sz="2600" spc="-15">
                <a:latin typeface="Calibri"/>
                <a:cs typeface="Calibri"/>
              </a:rPr>
              <a:t>clustering coefficient </a:t>
            </a:r>
            <a:r>
              <a:rPr dirty="0" sz="2600">
                <a:latin typeface="Calibri"/>
                <a:cs typeface="Calibri"/>
              </a:rPr>
              <a:t>is </a:t>
            </a:r>
            <a:r>
              <a:rPr dirty="0" sz="2600" spc="-15">
                <a:latin typeface="Calibri"/>
                <a:cs typeface="Calibri"/>
              </a:rPr>
              <a:t>too</a:t>
            </a:r>
            <a:r>
              <a:rPr dirty="0" sz="2600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low</a:t>
            </a:r>
            <a:endParaRPr sz="2600">
              <a:latin typeface="Calibri"/>
              <a:cs typeface="Calibri"/>
            </a:endParaRPr>
          </a:p>
          <a:p>
            <a:pPr marL="332740" indent="-320040">
              <a:lnSpc>
                <a:spcPts val="3390"/>
              </a:lnSpc>
              <a:buClr>
                <a:srgbClr val="F0AD00"/>
              </a:buClr>
              <a:buSzPct val="80000"/>
              <a:buFont typeface="Malgun Gothic"/>
              <a:buChar char="▪"/>
              <a:tabLst>
                <a:tab pos="332740" algn="l"/>
              </a:tabLst>
            </a:pPr>
            <a:r>
              <a:rPr dirty="0" sz="3000" spc="-35" b="1">
                <a:solidFill>
                  <a:srgbClr val="8000FF"/>
                </a:solidFill>
                <a:latin typeface="Calibri"/>
                <a:cs typeface="Calibri"/>
              </a:rPr>
              <a:t>Most </a:t>
            </a:r>
            <a:r>
              <a:rPr dirty="0" sz="3000" spc="-30" b="1">
                <a:solidFill>
                  <a:srgbClr val="8000FF"/>
                </a:solidFill>
                <a:latin typeface="Calibri"/>
                <a:cs typeface="Calibri"/>
              </a:rPr>
              <a:t>important: Are </a:t>
            </a:r>
            <a:r>
              <a:rPr dirty="0" sz="3000" spc="-25" b="1">
                <a:solidFill>
                  <a:srgbClr val="8000FF"/>
                </a:solidFill>
                <a:latin typeface="Calibri"/>
                <a:cs typeface="Calibri"/>
              </a:rPr>
              <a:t>real </a:t>
            </a:r>
            <a:r>
              <a:rPr dirty="0" sz="3000" spc="-30" b="1">
                <a:solidFill>
                  <a:srgbClr val="8000FF"/>
                </a:solidFill>
                <a:latin typeface="Calibri"/>
                <a:cs typeface="Calibri"/>
              </a:rPr>
              <a:t>networks</a:t>
            </a:r>
            <a:r>
              <a:rPr dirty="0" sz="3000" spc="-25" b="1">
                <a:solidFill>
                  <a:srgbClr val="8000FF"/>
                </a:solidFill>
                <a:latin typeface="Calibri"/>
                <a:cs typeface="Calibri"/>
              </a:rPr>
              <a:t> </a:t>
            </a:r>
            <a:r>
              <a:rPr dirty="0" sz="3000" spc="-30" b="1">
                <a:solidFill>
                  <a:srgbClr val="8000FF"/>
                </a:solidFill>
                <a:latin typeface="Calibri"/>
                <a:cs typeface="Calibri"/>
              </a:rPr>
              <a:t>random?</a:t>
            </a:r>
            <a:endParaRPr sz="3000">
              <a:latin typeface="Calibri"/>
              <a:cs typeface="Calibri"/>
            </a:endParaRPr>
          </a:p>
          <a:p>
            <a:pPr lvl="1" marL="808355" indent="-457200">
              <a:lnSpc>
                <a:spcPct val="100000"/>
              </a:lnSpc>
              <a:spcBef>
                <a:spcPts val="180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600" spc="-5">
                <a:latin typeface="Calibri"/>
                <a:cs typeface="Calibri"/>
              </a:rPr>
              <a:t>The </a:t>
            </a:r>
            <a:r>
              <a:rPr dirty="0" sz="2600" spc="-15">
                <a:latin typeface="Calibri"/>
                <a:cs typeface="Calibri"/>
              </a:rPr>
              <a:t>answer </a:t>
            </a:r>
            <a:r>
              <a:rPr dirty="0" sz="2600">
                <a:latin typeface="Calibri"/>
                <a:cs typeface="Calibri"/>
              </a:rPr>
              <a:t>is </a:t>
            </a:r>
            <a:r>
              <a:rPr dirty="0" sz="2600" spc="-5">
                <a:latin typeface="Calibri"/>
                <a:cs typeface="Calibri"/>
              </a:rPr>
              <a:t>simply:</a:t>
            </a:r>
            <a:r>
              <a:rPr dirty="0" sz="2600" spc="-80"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FF0066"/>
                </a:solidFill>
                <a:latin typeface="Calibri"/>
                <a:cs typeface="Calibri"/>
              </a:rPr>
              <a:t>NO!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32</a:t>
            </a:fld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77240" y="3703320"/>
            <a:ext cx="6117336" cy="11765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8263" y="332231"/>
            <a:ext cx="7077456" cy="460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842074" y="4183489"/>
            <a:ext cx="0" cy="1191895"/>
          </a:xfrm>
          <a:custGeom>
            <a:avLst/>
            <a:gdLst/>
            <a:ahLst/>
            <a:cxnLst/>
            <a:rect l="l" t="t" r="r" b="b"/>
            <a:pathLst>
              <a:path w="0" h="1191895">
                <a:moveTo>
                  <a:pt x="0" y="0"/>
                </a:moveTo>
                <a:lnTo>
                  <a:pt x="0" y="11913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146874" y="4183489"/>
            <a:ext cx="0" cy="1191895"/>
          </a:xfrm>
          <a:custGeom>
            <a:avLst/>
            <a:gdLst/>
            <a:ahLst/>
            <a:cxnLst/>
            <a:rect l="l" t="t" r="r" b="b"/>
            <a:pathLst>
              <a:path w="0" h="1191895">
                <a:moveTo>
                  <a:pt x="0" y="0"/>
                </a:moveTo>
                <a:lnTo>
                  <a:pt x="0" y="11913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451674" y="4183489"/>
            <a:ext cx="0" cy="1191895"/>
          </a:xfrm>
          <a:custGeom>
            <a:avLst/>
            <a:gdLst/>
            <a:ahLst/>
            <a:cxnLst/>
            <a:rect l="l" t="t" r="r" b="b"/>
            <a:pathLst>
              <a:path w="0" h="1191895">
                <a:moveTo>
                  <a:pt x="0" y="0"/>
                </a:moveTo>
                <a:lnTo>
                  <a:pt x="0" y="11913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30924" y="4484489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 h="0">
                <a:moveTo>
                  <a:pt x="0" y="0"/>
                </a:moveTo>
                <a:lnTo>
                  <a:pt x="1231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530924" y="4779139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 h="0">
                <a:moveTo>
                  <a:pt x="0" y="0"/>
                </a:moveTo>
                <a:lnTo>
                  <a:pt x="1231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530924" y="5073789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 h="0">
                <a:moveTo>
                  <a:pt x="0" y="0"/>
                </a:moveTo>
                <a:lnTo>
                  <a:pt x="1231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537274" y="4183489"/>
            <a:ext cx="0" cy="1191895"/>
          </a:xfrm>
          <a:custGeom>
            <a:avLst/>
            <a:gdLst/>
            <a:ahLst/>
            <a:cxnLst/>
            <a:rect l="l" t="t" r="r" b="b"/>
            <a:pathLst>
              <a:path w="0" h="1191895">
                <a:moveTo>
                  <a:pt x="0" y="0"/>
                </a:moveTo>
                <a:lnTo>
                  <a:pt x="0" y="11913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756474" y="4183489"/>
            <a:ext cx="0" cy="1191895"/>
          </a:xfrm>
          <a:custGeom>
            <a:avLst/>
            <a:gdLst/>
            <a:ahLst/>
            <a:cxnLst/>
            <a:rect l="l" t="t" r="r" b="b"/>
            <a:pathLst>
              <a:path w="0" h="1191895">
                <a:moveTo>
                  <a:pt x="0" y="0"/>
                </a:moveTo>
                <a:lnTo>
                  <a:pt x="0" y="11913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530924" y="4189839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 h="0">
                <a:moveTo>
                  <a:pt x="0" y="0"/>
                </a:moveTo>
                <a:lnTo>
                  <a:pt x="1231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530924" y="5368439"/>
            <a:ext cx="1231900" cy="0"/>
          </a:xfrm>
          <a:custGeom>
            <a:avLst/>
            <a:gdLst/>
            <a:ahLst/>
            <a:cxnLst/>
            <a:rect l="l" t="t" r="r" b="b"/>
            <a:pathLst>
              <a:path w="1231900" h="0">
                <a:moveTo>
                  <a:pt x="0" y="0"/>
                </a:moveTo>
                <a:lnTo>
                  <a:pt x="1231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537274" y="4189839"/>
            <a:ext cx="1213485" cy="1171575"/>
          </a:xfrm>
          <a:custGeom>
            <a:avLst/>
            <a:gdLst/>
            <a:ahLst/>
            <a:cxnLst/>
            <a:rect l="l" t="t" r="r" b="b"/>
            <a:pathLst>
              <a:path w="1213485" h="1171575">
                <a:moveTo>
                  <a:pt x="0" y="0"/>
                </a:moveTo>
                <a:lnTo>
                  <a:pt x="1213356" y="1170961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533092" y="4185217"/>
            <a:ext cx="1223010" cy="1186180"/>
          </a:xfrm>
          <a:custGeom>
            <a:avLst/>
            <a:gdLst/>
            <a:ahLst/>
            <a:cxnLst/>
            <a:rect l="l" t="t" r="r" b="b"/>
            <a:pathLst>
              <a:path w="1223010" h="1186179">
                <a:moveTo>
                  <a:pt x="1222786" y="0"/>
                </a:moveTo>
                <a:lnTo>
                  <a:pt x="0" y="118607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842074" y="4189839"/>
            <a:ext cx="890905" cy="883285"/>
          </a:xfrm>
          <a:custGeom>
            <a:avLst/>
            <a:gdLst/>
            <a:ahLst/>
            <a:cxnLst/>
            <a:rect l="l" t="t" r="r" b="b"/>
            <a:pathLst>
              <a:path w="890904" h="883285">
                <a:moveTo>
                  <a:pt x="0" y="0"/>
                </a:moveTo>
                <a:lnTo>
                  <a:pt x="890680" y="88291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525713" y="4184591"/>
            <a:ext cx="936625" cy="893444"/>
          </a:xfrm>
          <a:custGeom>
            <a:avLst/>
            <a:gdLst/>
            <a:ahLst/>
            <a:cxnLst/>
            <a:rect l="l" t="t" r="r" b="b"/>
            <a:pathLst>
              <a:path w="936625" h="893445">
                <a:moveTo>
                  <a:pt x="936458" y="0"/>
                </a:moveTo>
                <a:lnTo>
                  <a:pt x="0" y="89340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146874" y="4189839"/>
            <a:ext cx="609600" cy="578485"/>
          </a:xfrm>
          <a:custGeom>
            <a:avLst/>
            <a:gdLst/>
            <a:ahLst/>
            <a:cxnLst/>
            <a:rect l="l" t="t" r="r" b="b"/>
            <a:pathLst>
              <a:path w="609600" h="578485">
                <a:moveTo>
                  <a:pt x="0" y="0"/>
                </a:moveTo>
                <a:lnTo>
                  <a:pt x="609600" y="578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539074" y="4189839"/>
            <a:ext cx="608330" cy="588645"/>
          </a:xfrm>
          <a:custGeom>
            <a:avLst/>
            <a:gdLst/>
            <a:ahLst/>
            <a:cxnLst/>
            <a:rect l="l" t="t" r="r" b="b"/>
            <a:pathLst>
              <a:path w="608330" h="588645">
                <a:moveTo>
                  <a:pt x="607800" y="0"/>
                </a:moveTo>
                <a:lnTo>
                  <a:pt x="0" y="5886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537274" y="4779119"/>
            <a:ext cx="608330" cy="591185"/>
          </a:xfrm>
          <a:custGeom>
            <a:avLst/>
            <a:gdLst/>
            <a:ahLst/>
            <a:cxnLst/>
            <a:rect l="l" t="t" r="r" b="b"/>
            <a:pathLst>
              <a:path w="608330" h="591185">
                <a:moveTo>
                  <a:pt x="0" y="0"/>
                </a:moveTo>
                <a:lnTo>
                  <a:pt x="608100" y="5907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836826" y="4476167"/>
            <a:ext cx="936625" cy="893444"/>
          </a:xfrm>
          <a:custGeom>
            <a:avLst/>
            <a:gdLst/>
            <a:ahLst/>
            <a:cxnLst/>
            <a:rect l="l" t="t" r="r" b="b"/>
            <a:pathLst>
              <a:path w="936625" h="893445">
                <a:moveTo>
                  <a:pt x="936458" y="0"/>
                </a:moveTo>
                <a:lnTo>
                  <a:pt x="0" y="89340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537274" y="4494639"/>
            <a:ext cx="919480" cy="876935"/>
          </a:xfrm>
          <a:custGeom>
            <a:avLst/>
            <a:gdLst/>
            <a:ahLst/>
            <a:cxnLst/>
            <a:rect l="l" t="t" r="r" b="b"/>
            <a:pathLst>
              <a:path w="919479" h="876935">
                <a:moveTo>
                  <a:pt x="0" y="0"/>
                </a:moveTo>
                <a:lnTo>
                  <a:pt x="919468" y="876657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146884" y="4780967"/>
            <a:ext cx="626745" cy="588010"/>
          </a:xfrm>
          <a:custGeom>
            <a:avLst/>
            <a:gdLst/>
            <a:ahLst/>
            <a:cxnLst/>
            <a:rect l="l" t="t" r="r" b="b"/>
            <a:pathLst>
              <a:path w="626745" h="588010">
                <a:moveTo>
                  <a:pt x="626400" y="0"/>
                </a:moveTo>
                <a:lnTo>
                  <a:pt x="0" y="5874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451674" y="4189839"/>
            <a:ext cx="309880" cy="289560"/>
          </a:xfrm>
          <a:custGeom>
            <a:avLst/>
            <a:gdLst/>
            <a:ahLst/>
            <a:cxnLst/>
            <a:rect l="l" t="t" r="r" b="b"/>
            <a:pathLst>
              <a:path w="309879" h="289560">
                <a:moveTo>
                  <a:pt x="0" y="0"/>
                </a:moveTo>
                <a:lnTo>
                  <a:pt x="309452" y="289274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451675" y="5082649"/>
            <a:ext cx="299085" cy="305435"/>
          </a:xfrm>
          <a:custGeom>
            <a:avLst/>
            <a:gdLst/>
            <a:ahLst/>
            <a:cxnLst/>
            <a:rect l="l" t="t" r="r" b="b"/>
            <a:pathLst>
              <a:path w="299085" h="305435">
                <a:moveTo>
                  <a:pt x="298956" y="0"/>
                </a:moveTo>
                <a:lnTo>
                  <a:pt x="0" y="30539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533480" y="4185423"/>
            <a:ext cx="299085" cy="305435"/>
          </a:xfrm>
          <a:custGeom>
            <a:avLst/>
            <a:gdLst/>
            <a:ahLst/>
            <a:cxnLst/>
            <a:rect l="l" t="t" r="r" b="b"/>
            <a:pathLst>
              <a:path w="299085" h="305435">
                <a:moveTo>
                  <a:pt x="298956" y="0"/>
                </a:moveTo>
                <a:lnTo>
                  <a:pt x="0" y="305398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533481" y="5076977"/>
            <a:ext cx="320040" cy="273685"/>
          </a:xfrm>
          <a:custGeom>
            <a:avLst/>
            <a:gdLst/>
            <a:ahLst/>
            <a:cxnLst/>
            <a:rect l="l" t="t" r="r" b="b"/>
            <a:pathLst>
              <a:path w="320039" h="273685">
                <a:moveTo>
                  <a:pt x="0" y="0"/>
                </a:moveTo>
                <a:lnTo>
                  <a:pt x="319741" y="273326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497697" y="4145015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20" y="0"/>
                </a:moveTo>
                <a:lnTo>
                  <a:pt x="27923" y="3592"/>
                </a:lnTo>
                <a:lnTo>
                  <a:pt x="13390" y="13391"/>
                </a:lnTo>
                <a:lnTo>
                  <a:pt x="3592" y="27923"/>
                </a:lnTo>
                <a:lnTo>
                  <a:pt x="0" y="45720"/>
                </a:lnTo>
                <a:lnTo>
                  <a:pt x="3592" y="63516"/>
                </a:lnTo>
                <a:lnTo>
                  <a:pt x="13390" y="78048"/>
                </a:lnTo>
                <a:lnTo>
                  <a:pt x="27923" y="87847"/>
                </a:lnTo>
                <a:lnTo>
                  <a:pt x="45720" y="91440"/>
                </a:lnTo>
                <a:lnTo>
                  <a:pt x="63516" y="87847"/>
                </a:lnTo>
                <a:lnTo>
                  <a:pt x="78048" y="78048"/>
                </a:lnTo>
                <a:lnTo>
                  <a:pt x="87847" y="63516"/>
                </a:lnTo>
                <a:lnTo>
                  <a:pt x="91440" y="45720"/>
                </a:lnTo>
                <a:lnTo>
                  <a:pt x="87847" y="27923"/>
                </a:lnTo>
                <a:lnTo>
                  <a:pt x="78048" y="13391"/>
                </a:lnTo>
                <a:lnTo>
                  <a:pt x="63516" y="3592"/>
                </a:lnTo>
                <a:lnTo>
                  <a:pt x="457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794148" y="4145015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20" y="0"/>
                </a:moveTo>
                <a:lnTo>
                  <a:pt x="27923" y="3592"/>
                </a:lnTo>
                <a:lnTo>
                  <a:pt x="13391" y="13391"/>
                </a:lnTo>
                <a:lnTo>
                  <a:pt x="3592" y="27923"/>
                </a:lnTo>
                <a:lnTo>
                  <a:pt x="0" y="45720"/>
                </a:lnTo>
                <a:lnTo>
                  <a:pt x="3592" y="63516"/>
                </a:lnTo>
                <a:lnTo>
                  <a:pt x="13391" y="78048"/>
                </a:lnTo>
                <a:lnTo>
                  <a:pt x="27923" y="87847"/>
                </a:lnTo>
                <a:lnTo>
                  <a:pt x="45720" y="91440"/>
                </a:lnTo>
                <a:lnTo>
                  <a:pt x="63516" y="87847"/>
                </a:lnTo>
                <a:lnTo>
                  <a:pt x="78049" y="78048"/>
                </a:lnTo>
                <a:lnTo>
                  <a:pt x="87847" y="63516"/>
                </a:lnTo>
                <a:lnTo>
                  <a:pt x="91440" y="45720"/>
                </a:lnTo>
                <a:lnTo>
                  <a:pt x="87847" y="27923"/>
                </a:lnTo>
                <a:lnTo>
                  <a:pt x="78049" y="13391"/>
                </a:lnTo>
                <a:lnTo>
                  <a:pt x="63516" y="3592"/>
                </a:lnTo>
                <a:lnTo>
                  <a:pt x="457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104360" y="4145015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19" y="0"/>
                </a:moveTo>
                <a:lnTo>
                  <a:pt x="27923" y="3592"/>
                </a:lnTo>
                <a:lnTo>
                  <a:pt x="13391" y="13391"/>
                </a:lnTo>
                <a:lnTo>
                  <a:pt x="3592" y="27923"/>
                </a:lnTo>
                <a:lnTo>
                  <a:pt x="0" y="45720"/>
                </a:lnTo>
                <a:lnTo>
                  <a:pt x="3592" y="63516"/>
                </a:lnTo>
                <a:lnTo>
                  <a:pt x="13391" y="78048"/>
                </a:lnTo>
                <a:lnTo>
                  <a:pt x="27923" y="87847"/>
                </a:lnTo>
                <a:lnTo>
                  <a:pt x="45719" y="91440"/>
                </a:lnTo>
                <a:lnTo>
                  <a:pt x="63516" y="87847"/>
                </a:lnTo>
                <a:lnTo>
                  <a:pt x="78048" y="78048"/>
                </a:lnTo>
                <a:lnTo>
                  <a:pt x="87847" y="63516"/>
                </a:lnTo>
                <a:lnTo>
                  <a:pt x="91439" y="45720"/>
                </a:lnTo>
                <a:lnTo>
                  <a:pt x="87847" y="27923"/>
                </a:lnTo>
                <a:lnTo>
                  <a:pt x="78048" y="13391"/>
                </a:lnTo>
                <a:lnTo>
                  <a:pt x="63516" y="3592"/>
                </a:lnTo>
                <a:lnTo>
                  <a:pt x="457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408714" y="4145015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20" y="0"/>
                </a:moveTo>
                <a:lnTo>
                  <a:pt x="27923" y="3592"/>
                </a:lnTo>
                <a:lnTo>
                  <a:pt x="13390" y="13391"/>
                </a:lnTo>
                <a:lnTo>
                  <a:pt x="3592" y="27923"/>
                </a:lnTo>
                <a:lnTo>
                  <a:pt x="0" y="45720"/>
                </a:lnTo>
                <a:lnTo>
                  <a:pt x="3592" y="63516"/>
                </a:lnTo>
                <a:lnTo>
                  <a:pt x="13390" y="78048"/>
                </a:lnTo>
                <a:lnTo>
                  <a:pt x="27923" y="87847"/>
                </a:lnTo>
                <a:lnTo>
                  <a:pt x="45720" y="91440"/>
                </a:lnTo>
                <a:lnTo>
                  <a:pt x="63516" y="87847"/>
                </a:lnTo>
                <a:lnTo>
                  <a:pt x="78048" y="78048"/>
                </a:lnTo>
                <a:lnTo>
                  <a:pt x="87847" y="63516"/>
                </a:lnTo>
                <a:lnTo>
                  <a:pt x="91440" y="45720"/>
                </a:lnTo>
                <a:lnTo>
                  <a:pt x="87847" y="27923"/>
                </a:lnTo>
                <a:lnTo>
                  <a:pt x="78048" y="13391"/>
                </a:lnTo>
                <a:lnTo>
                  <a:pt x="63516" y="3592"/>
                </a:lnTo>
                <a:lnTo>
                  <a:pt x="457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697727" y="4145015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19" y="0"/>
                </a:moveTo>
                <a:lnTo>
                  <a:pt x="27923" y="3592"/>
                </a:lnTo>
                <a:lnTo>
                  <a:pt x="13391" y="13391"/>
                </a:lnTo>
                <a:lnTo>
                  <a:pt x="3592" y="27923"/>
                </a:lnTo>
                <a:lnTo>
                  <a:pt x="0" y="45720"/>
                </a:lnTo>
                <a:lnTo>
                  <a:pt x="3592" y="63516"/>
                </a:lnTo>
                <a:lnTo>
                  <a:pt x="13391" y="78048"/>
                </a:lnTo>
                <a:lnTo>
                  <a:pt x="27923" y="87847"/>
                </a:lnTo>
                <a:lnTo>
                  <a:pt x="45719" y="91440"/>
                </a:lnTo>
                <a:lnTo>
                  <a:pt x="63516" y="87847"/>
                </a:lnTo>
                <a:lnTo>
                  <a:pt x="78048" y="78048"/>
                </a:lnTo>
                <a:lnTo>
                  <a:pt x="87847" y="63516"/>
                </a:lnTo>
                <a:lnTo>
                  <a:pt x="91439" y="45720"/>
                </a:lnTo>
                <a:lnTo>
                  <a:pt x="87847" y="27923"/>
                </a:lnTo>
                <a:lnTo>
                  <a:pt x="78048" y="13391"/>
                </a:lnTo>
                <a:lnTo>
                  <a:pt x="63516" y="3592"/>
                </a:lnTo>
                <a:lnTo>
                  <a:pt x="457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2498731" y="4434352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20" y="0"/>
                </a:moveTo>
                <a:lnTo>
                  <a:pt x="27923" y="3592"/>
                </a:lnTo>
                <a:lnTo>
                  <a:pt x="13391" y="13391"/>
                </a:lnTo>
                <a:lnTo>
                  <a:pt x="3592" y="27923"/>
                </a:lnTo>
                <a:lnTo>
                  <a:pt x="0" y="45719"/>
                </a:lnTo>
                <a:lnTo>
                  <a:pt x="3592" y="63516"/>
                </a:lnTo>
                <a:lnTo>
                  <a:pt x="13391" y="78049"/>
                </a:lnTo>
                <a:lnTo>
                  <a:pt x="27923" y="87847"/>
                </a:lnTo>
                <a:lnTo>
                  <a:pt x="45720" y="91439"/>
                </a:lnTo>
                <a:lnTo>
                  <a:pt x="63516" y="87847"/>
                </a:lnTo>
                <a:lnTo>
                  <a:pt x="78049" y="78049"/>
                </a:lnTo>
                <a:lnTo>
                  <a:pt x="87847" y="63516"/>
                </a:lnTo>
                <a:lnTo>
                  <a:pt x="91440" y="45719"/>
                </a:lnTo>
                <a:lnTo>
                  <a:pt x="87847" y="27923"/>
                </a:lnTo>
                <a:lnTo>
                  <a:pt x="78049" y="13391"/>
                </a:lnTo>
                <a:lnTo>
                  <a:pt x="63516" y="3592"/>
                </a:lnTo>
                <a:lnTo>
                  <a:pt x="457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795183" y="4434352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19" y="0"/>
                </a:moveTo>
                <a:lnTo>
                  <a:pt x="27923" y="3592"/>
                </a:lnTo>
                <a:lnTo>
                  <a:pt x="13391" y="13391"/>
                </a:lnTo>
                <a:lnTo>
                  <a:pt x="3592" y="27923"/>
                </a:lnTo>
                <a:lnTo>
                  <a:pt x="0" y="45719"/>
                </a:lnTo>
                <a:lnTo>
                  <a:pt x="3592" y="63516"/>
                </a:lnTo>
                <a:lnTo>
                  <a:pt x="13391" y="78049"/>
                </a:lnTo>
                <a:lnTo>
                  <a:pt x="27923" y="87847"/>
                </a:lnTo>
                <a:lnTo>
                  <a:pt x="45719" y="91439"/>
                </a:lnTo>
                <a:lnTo>
                  <a:pt x="63516" y="87847"/>
                </a:lnTo>
                <a:lnTo>
                  <a:pt x="78048" y="78049"/>
                </a:lnTo>
                <a:lnTo>
                  <a:pt x="87847" y="63516"/>
                </a:lnTo>
                <a:lnTo>
                  <a:pt x="91440" y="45719"/>
                </a:lnTo>
                <a:lnTo>
                  <a:pt x="87847" y="27923"/>
                </a:lnTo>
                <a:lnTo>
                  <a:pt x="78048" y="13391"/>
                </a:lnTo>
                <a:lnTo>
                  <a:pt x="63516" y="3592"/>
                </a:lnTo>
                <a:lnTo>
                  <a:pt x="457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105395" y="4434352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20" y="0"/>
                </a:moveTo>
                <a:lnTo>
                  <a:pt x="27923" y="3592"/>
                </a:lnTo>
                <a:lnTo>
                  <a:pt x="13391" y="13391"/>
                </a:lnTo>
                <a:lnTo>
                  <a:pt x="3592" y="27923"/>
                </a:lnTo>
                <a:lnTo>
                  <a:pt x="0" y="45719"/>
                </a:lnTo>
                <a:lnTo>
                  <a:pt x="3592" y="63516"/>
                </a:lnTo>
                <a:lnTo>
                  <a:pt x="13391" y="78049"/>
                </a:lnTo>
                <a:lnTo>
                  <a:pt x="27923" y="87847"/>
                </a:lnTo>
                <a:lnTo>
                  <a:pt x="45720" y="91439"/>
                </a:lnTo>
                <a:lnTo>
                  <a:pt x="63516" y="87847"/>
                </a:lnTo>
                <a:lnTo>
                  <a:pt x="78048" y="78049"/>
                </a:lnTo>
                <a:lnTo>
                  <a:pt x="87847" y="63516"/>
                </a:lnTo>
                <a:lnTo>
                  <a:pt x="91440" y="45719"/>
                </a:lnTo>
                <a:lnTo>
                  <a:pt x="87847" y="27923"/>
                </a:lnTo>
                <a:lnTo>
                  <a:pt x="78048" y="13391"/>
                </a:lnTo>
                <a:lnTo>
                  <a:pt x="63516" y="3592"/>
                </a:lnTo>
                <a:lnTo>
                  <a:pt x="457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409749" y="4434352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20" y="0"/>
                </a:moveTo>
                <a:lnTo>
                  <a:pt x="27923" y="3592"/>
                </a:lnTo>
                <a:lnTo>
                  <a:pt x="13390" y="13391"/>
                </a:lnTo>
                <a:lnTo>
                  <a:pt x="3592" y="27923"/>
                </a:lnTo>
                <a:lnTo>
                  <a:pt x="0" y="45719"/>
                </a:lnTo>
                <a:lnTo>
                  <a:pt x="3592" y="63516"/>
                </a:lnTo>
                <a:lnTo>
                  <a:pt x="13390" y="78049"/>
                </a:lnTo>
                <a:lnTo>
                  <a:pt x="27923" y="87847"/>
                </a:lnTo>
                <a:lnTo>
                  <a:pt x="45720" y="91439"/>
                </a:lnTo>
                <a:lnTo>
                  <a:pt x="63516" y="87847"/>
                </a:lnTo>
                <a:lnTo>
                  <a:pt x="78048" y="78049"/>
                </a:lnTo>
                <a:lnTo>
                  <a:pt x="87847" y="63516"/>
                </a:lnTo>
                <a:lnTo>
                  <a:pt x="91439" y="45719"/>
                </a:lnTo>
                <a:lnTo>
                  <a:pt x="87847" y="27923"/>
                </a:lnTo>
                <a:lnTo>
                  <a:pt x="78048" y="13391"/>
                </a:lnTo>
                <a:lnTo>
                  <a:pt x="63516" y="3592"/>
                </a:lnTo>
                <a:lnTo>
                  <a:pt x="457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698761" y="4434352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19" y="0"/>
                </a:moveTo>
                <a:lnTo>
                  <a:pt x="27923" y="3592"/>
                </a:lnTo>
                <a:lnTo>
                  <a:pt x="13391" y="13391"/>
                </a:lnTo>
                <a:lnTo>
                  <a:pt x="3592" y="27923"/>
                </a:lnTo>
                <a:lnTo>
                  <a:pt x="0" y="45719"/>
                </a:lnTo>
                <a:lnTo>
                  <a:pt x="3592" y="63516"/>
                </a:lnTo>
                <a:lnTo>
                  <a:pt x="13391" y="78049"/>
                </a:lnTo>
                <a:lnTo>
                  <a:pt x="27923" y="87847"/>
                </a:lnTo>
                <a:lnTo>
                  <a:pt x="45719" y="91439"/>
                </a:lnTo>
                <a:lnTo>
                  <a:pt x="63516" y="87847"/>
                </a:lnTo>
                <a:lnTo>
                  <a:pt x="78048" y="78049"/>
                </a:lnTo>
                <a:lnTo>
                  <a:pt x="87847" y="63516"/>
                </a:lnTo>
                <a:lnTo>
                  <a:pt x="91439" y="45719"/>
                </a:lnTo>
                <a:lnTo>
                  <a:pt x="87847" y="27923"/>
                </a:lnTo>
                <a:lnTo>
                  <a:pt x="78048" y="13391"/>
                </a:lnTo>
                <a:lnTo>
                  <a:pt x="63516" y="3592"/>
                </a:lnTo>
                <a:lnTo>
                  <a:pt x="457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498589" y="4738159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20" y="0"/>
                </a:moveTo>
                <a:lnTo>
                  <a:pt x="27923" y="3592"/>
                </a:lnTo>
                <a:lnTo>
                  <a:pt x="13391" y="13391"/>
                </a:lnTo>
                <a:lnTo>
                  <a:pt x="3592" y="27923"/>
                </a:lnTo>
                <a:lnTo>
                  <a:pt x="0" y="45720"/>
                </a:lnTo>
                <a:lnTo>
                  <a:pt x="3592" y="63516"/>
                </a:lnTo>
                <a:lnTo>
                  <a:pt x="13391" y="78049"/>
                </a:lnTo>
                <a:lnTo>
                  <a:pt x="27923" y="87847"/>
                </a:lnTo>
                <a:lnTo>
                  <a:pt x="45720" y="91440"/>
                </a:lnTo>
                <a:lnTo>
                  <a:pt x="63516" y="87847"/>
                </a:lnTo>
                <a:lnTo>
                  <a:pt x="78048" y="78049"/>
                </a:lnTo>
                <a:lnTo>
                  <a:pt x="87847" y="63516"/>
                </a:lnTo>
                <a:lnTo>
                  <a:pt x="91440" y="45720"/>
                </a:lnTo>
                <a:lnTo>
                  <a:pt x="87847" y="27923"/>
                </a:lnTo>
                <a:lnTo>
                  <a:pt x="78048" y="13391"/>
                </a:lnTo>
                <a:lnTo>
                  <a:pt x="63516" y="3592"/>
                </a:lnTo>
                <a:lnTo>
                  <a:pt x="457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795041" y="4738159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19" y="0"/>
                </a:moveTo>
                <a:lnTo>
                  <a:pt x="27923" y="3592"/>
                </a:lnTo>
                <a:lnTo>
                  <a:pt x="13390" y="13391"/>
                </a:lnTo>
                <a:lnTo>
                  <a:pt x="3592" y="27923"/>
                </a:lnTo>
                <a:lnTo>
                  <a:pt x="0" y="45720"/>
                </a:lnTo>
                <a:lnTo>
                  <a:pt x="3592" y="63516"/>
                </a:lnTo>
                <a:lnTo>
                  <a:pt x="13390" y="78049"/>
                </a:lnTo>
                <a:lnTo>
                  <a:pt x="27923" y="87847"/>
                </a:lnTo>
                <a:lnTo>
                  <a:pt x="45719" y="91440"/>
                </a:lnTo>
                <a:lnTo>
                  <a:pt x="63516" y="87847"/>
                </a:lnTo>
                <a:lnTo>
                  <a:pt x="78048" y="78049"/>
                </a:lnTo>
                <a:lnTo>
                  <a:pt x="87847" y="63516"/>
                </a:lnTo>
                <a:lnTo>
                  <a:pt x="91440" y="45720"/>
                </a:lnTo>
                <a:lnTo>
                  <a:pt x="87847" y="27923"/>
                </a:lnTo>
                <a:lnTo>
                  <a:pt x="78048" y="13391"/>
                </a:lnTo>
                <a:lnTo>
                  <a:pt x="63516" y="3592"/>
                </a:lnTo>
                <a:lnTo>
                  <a:pt x="457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105251" y="4738159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19" y="0"/>
                </a:moveTo>
                <a:lnTo>
                  <a:pt x="27923" y="3592"/>
                </a:lnTo>
                <a:lnTo>
                  <a:pt x="13391" y="13391"/>
                </a:lnTo>
                <a:lnTo>
                  <a:pt x="3592" y="27923"/>
                </a:lnTo>
                <a:lnTo>
                  <a:pt x="0" y="45720"/>
                </a:lnTo>
                <a:lnTo>
                  <a:pt x="3592" y="63516"/>
                </a:lnTo>
                <a:lnTo>
                  <a:pt x="13391" y="78049"/>
                </a:lnTo>
                <a:lnTo>
                  <a:pt x="27923" y="87847"/>
                </a:lnTo>
                <a:lnTo>
                  <a:pt x="45719" y="91440"/>
                </a:lnTo>
                <a:lnTo>
                  <a:pt x="63516" y="87847"/>
                </a:lnTo>
                <a:lnTo>
                  <a:pt x="78048" y="78049"/>
                </a:lnTo>
                <a:lnTo>
                  <a:pt x="87847" y="63516"/>
                </a:lnTo>
                <a:lnTo>
                  <a:pt x="91439" y="45720"/>
                </a:lnTo>
                <a:lnTo>
                  <a:pt x="87847" y="27923"/>
                </a:lnTo>
                <a:lnTo>
                  <a:pt x="78048" y="13391"/>
                </a:lnTo>
                <a:lnTo>
                  <a:pt x="63516" y="3592"/>
                </a:lnTo>
                <a:lnTo>
                  <a:pt x="457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409605" y="4738159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20" y="0"/>
                </a:moveTo>
                <a:lnTo>
                  <a:pt x="27923" y="3592"/>
                </a:lnTo>
                <a:lnTo>
                  <a:pt x="13391" y="13391"/>
                </a:lnTo>
                <a:lnTo>
                  <a:pt x="3592" y="27923"/>
                </a:lnTo>
                <a:lnTo>
                  <a:pt x="0" y="45720"/>
                </a:lnTo>
                <a:lnTo>
                  <a:pt x="3592" y="63516"/>
                </a:lnTo>
                <a:lnTo>
                  <a:pt x="13391" y="78049"/>
                </a:lnTo>
                <a:lnTo>
                  <a:pt x="27923" y="87847"/>
                </a:lnTo>
                <a:lnTo>
                  <a:pt x="45720" y="91440"/>
                </a:lnTo>
                <a:lnTo>
                  <a:pt x="63516" y="87847"/>
                </a:lnTo>
                <a:lnTo>
                  <a:pt x="78048" y="78049"/>
                </a:lnTo>
                <a:lnTo>
                  <a:pt x="87847" y="63516"/>
                </a:lnTo>
                <a:lnTo>
                  <a:pt x="91440" y="45720"/>
                </a:lnTo>
                <a:lnTo>
                  <a:pt x="87847" y="27923"/>
                </a:lnTo>
                <a:lnTo>
                  <a:pt x="78048" y="13391"/>
                </a:lnTo>
                <a:lnTo>
                  <a:pt x="63516" y="3592"/>
                </a:lnTo>
                <a:lnTo>
                  <a:pt x="457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704030" y="4738159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20" y="0"/>
                </a:moveTo>
                <a:lnTo>
                  <a:pt x="27923" y="3592"/>
                </a:lnTo>
                <a:lnTo>
                  <a:pt x="13391" y="13391"/>
                </a:lnTo>
                <a:lnTo>
                  <a:pt x="3592" y="27923"/>
                </a:lnTo>
                <a:lnTo>
                  <a:pt x="0" y="45720"/>
                </a:lnTo>
                <a:lnTo>
                  <a:pt x="3592" y="63516"/>
                </a:lnTo>
                <a:lnTo>
                  <a:pt x="13391" y="78049"/>
                </a:lnTo>
                <a:lnTo>
                  <a:pt x="27923" y="87847"/>
                </a:lnTo>
                <a:lnTo>
                  <a:pt x="45720" y="91440"/>
                </a:lnTo>
                <a:lnTo>
                  <a:pt x="63516" y="87847"/>
                </a:lnTo>
                <a:lnTo>
                  <a:pt x="78048" y="78049"/>
                </a:lnTo>
                <a:lnTo>
                  <a:pt x="87847" y="63516"/>
                </a:lnTo>
                <a:lnTo>
                  <a:pt x="91440" y="45720"/>
                </a:lnTo>
                <a:lnTo>
                  <a:pt x="87847" y="27923"/>
                </a:lnTo>
                <a:lnTo>
                  <a:pt x="78048" y="13391"/>
                </a:lnTo>
                <a:lnTo>
                  <a:pt x="63516" y="3592"/>
                </a:lnTo>
                <a:lnTo>
                  <a:pt x="457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2487767" y="5032137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19" y="0"/>
                </a:moveTo>
                <a:lnTo>
                  <a:pt x="27923" y="3592"/>
                </a:lnTo>
                <a:lnTo>
                  <a:pt x="13390" y="13391"/>
                </a:lnTo>
                <a:lnTo>
                  <a:pt x="3592" y="27923"/>
                </a:lnTo>
                <a:lnTo>
                  <a:pt x="0" y="45719"/>
                </a:lnTo>
                <a:lnTo>
                  <a:pt x="3592" y="63516"/>
                </a:lnTo>
                <a:lnTo>
                  <a:pt x="13390" y="78048"/>
                </a:lnTo>
                <a:lnTo>
                  <a:pt x="27923" y="87847"/>
                </a:lnTo>
                <a:lnTo>
                  <a:pt x="45719" y="91439"/>
                </a:lnTo>
                <a:lnTo>
                  <a:pt x="63516" y="87847"/>
                </a:lnTo>
                <a:lnTo>
                  <a:pt x="78048" y="78048"/>
                </a:lnTo>
                <a:lnTo>
                  <a:pt x="87847" y="63516"/>
                </a:lnTo>
                <a:lnTo>
                  <a:pt x="91439" y="45719"/>
                </a:lnTo>
                <a:lnTo>
                  <a:pt x="87847" y="27923"/>
                </a:lnTo>
                <a:lnTo>
                  <a:pt x="78048" y="13391"/>
                </a:lnTo>
                <a:lnTo>
                  <a:pt x="63516" y="3592"/>
                </a:lnTo>
                <a:lnTo>
                  <a:pt x="457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784218" y="5032137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19" y="0"/>
                </a:moveTo>
                <a:lnTo>
                  <a:pt x="27923" y="3592"/>
                </a:lnTo>
                <a:lnTo>
                  <a:pt x="13391" y="13391"/>
                </a:lnTo>
                <a:lnTo>
                  <a:pt x="3592" y="27923"/>
                </a:lnTo>
                <a:lnTo>
                  <a:pt x="0" y="45719"/>
                </a:lnTo>
                <a:lnTo>
                  <a:pt x="3592" y="63516"/>
                </a:lnTo>
                <a:lnTo>
                  <a:pt x="13391" y="78048"/>
                </a:lnTo>
                <a:lnTo>
                  <a:pt x="27923" y="87847"/>
                </a:lnTo>
                <a:lnTo>
                  <a:pt x="45719" y="91439"/>
                </a:lnTo>
                <a:lnTo>
                  <a:pt x="63516" y="87847"/>
                </a:lnTo>
                <a:lnTo>
                  <a:pt x="78049" y="78048"/>
                </a:lnTo>
                <a:lnTo>
                  <a:pt x="87847" y="63516"/>
                </a:lnTo>
                <a:lnTo>
                  <a:pt x="91439" y="45719"/>
                </a:lnTo>
                <a:lnTo>
                  <a:pt x="87847" y="27923"/>
                </a:lnTo>
                <a:lnTo>
                  <a:pt x="78049" y="13391"/>
                </a:lnTo>
                <a:lnTo>
                  <a:pt x="63516" y="3592"/>
                </a:lnTo>
                <a:lnTo>
                  <a:pt x="457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094429" y="5032137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19" y="0"/>
                </a:moveTo>
                <a:lnTo>
                  <a:pt x="27923" y="3592"/>
                </a:lnTo>
                <a:lnTo>
                  <a:pt x="13391" y="13391"/>
                </a:lnTo>
                <a:lnTo>
                  <a:pt x="3592" y="27923"/>
                </a:lnTo>
                <a:lnTo>
                  <a:pt x="0" y="45719"/>
                </a:lnTo>
                <a:lnTo>
                  <a:pt x="3592" y="63516"/>
                </a:lnTo>
                <a:lnTo>
                  <a:pt x="13391" y="78048"/>
                </a:lnTo>
                <a:lnTo>
                  <a:pt x="27923" y="87847"/>
                </a:lnTo>
                <a:lnTo>
                  <a:pt x="45719" y="91439"/>
                </a:lnTo>
                <a:lnTo>
                  <a:pt x="63516" y="87847"/>
                </a:lnTo>
                <a:lnTo>
                  <a:pt x="78048" y="78048"/>
                </a:lnTo>
                <a:lnTo>
                  <a:pt x="87847" y="63516"/>
                </a:lnTo>
                <a:lnTo>
                  <a:pt x="91439" y="45719"/>
                </a:lnTo>
                <a:lnTo>
                  <a:pt x="87847" y="27923"/>
                </a:lnTo>
                <a:lnTo>
                  <a:pt x="78048" y="13391"/>
                </a:lnTo>
                <a:lnTo>
                  <a:pt x="63516" y="3592"/>
                </a:lnTo>
                <a:lnTo>
                  <a:pt x="457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398784" y="5032137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20" y="0"/>
                </a:moveTo>
                <a:lnTo>
                  <a:pt x="27923" y="3592"/>
                </a:lnTo>
                <a:lnTo>
                  <a:pt x="13391" y="13391"/>
                </a:lnTo>
                <a:lnTo>
                  <a:pt x="3592" y="27923"/>
                </a:lnTo>
                <a:lnTo>
                  <a:pt x="0" y="45719"/>
                </a:lnTo>
                <a:lnTo>
                  <a:pt x="3592" y="63516"/>
                </a:lnTo>
                <a:lnTo>
                  <a:pt x="13391" y="78048"/>
                </a:lnTo>
                <a:lnTo>
                  <a:pt x="27923" y="87847"/>
                </a:lnTo>
                <a:lnTo>
                  <a:pt x="45720" y="91439"/>
                </a:lnTo>
                <a:lnTo>
                  <a:pt x="63516" y="87847"/>
                </a:lnTo>
                <a:lnTo>
                  <a:pt x="78048" y="78048"/>
                </a:lnTo>
                <a:lnTo>
                  <a:pt x="87847" y="63516"/>
                </a:lnTo>
                <a:lnTo>
                  <a:pt x="91440" y="45719"/>
                </a:lnTo>
                <a:lnTo>
                  <a:pt x="87847" y="27923"/>
                </a:lnTo>
                <a:lnTo>
                  <a:pt x="78048" y="13391"/>
                </a:lnTo>
                <a:lnTo>
                  <a:pt x="63516" y="3592"/>
                </a:lnTo>
                <a:lnTo>
                  <a:pt x="457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704030" y="5026727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20" y="0"/>
                </a:moveTo>
                <a:lnTo>
                  <a:pt x="27923" y="3592"/>
                </a:lnTo>
                <a:lnTo>
                  <a:pt x="13391" y="13390"/>
                </a:lnTo>
                <a:lnTo>
                  <a:pt x="3592" y="27923"/>
                </a:lnTo>
                <a:lnTo>
                  <a:pt x="0" y="45720"/>
                </a:lnTo>
                <a:lnTo>
                  <a:pt x="3592" y="63516"/>
                </a:lnTo>
                <a:lnTo>
                  <a:pt x="13391" y="78048"/>
                </a:lnTo>
                <a:lnTo>
                  <a:pt x="27923" y="87847"/>
                </a:lnTo>
                <a:lnTo>
                  <a:pt x="45720" y="91440"/>
                </a:lnTo>
                <a:lnTo>
                  <a:pt x="63516" y="87847"/>
                </a:lnTo>
                <a:lnTo>
                  <a:pt x="78048" y="78048"/>
                </a:lnTo>
                <a:lnTo>
                  <a:pt x="87847" y="63516"/>
                </a:lnTo>
                <a:lnTo>
                  <a:pt x="91440" y="45720"/>
                </a:lnTo>
                <a:lnTo>
                  <a:pt x="87847" y="27923"/>
                </a:lnTo>
                <a:lnTo>
                  <a:pt x="78048" y="13390"/>
                </a:lnTo>
                <a:lnTo>
                  <a:pt x="63516" y="3592"/>
                </a:lnTo>
                <a:lnTo>
                  <a:pt x="457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493766" y="53203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19" y="0"/>
                </a:moveTo>
                <a:lnTo>
                  <a:pt x="27923" y="3592"/>
                </a:lnTo>
                <a:lnTo>
                  <a:pt x="13391" y="13390"/>
                </a:lnTo>
                <a:lnTo>
                  <a:pt x="3592" y="27923"/>
                </a:lnTo>
                <a:lnTo>
                  <a:pt x="0" y="45720"/>
                </a:lnTo>
                <a:lnTo>
                  <a:pt x="3592" y="63516"/>
                </a:lnTo>
                <a:lnTo>
                  <a:pt x="13391" y="78048"/>
                </a:lnTo>
                <a:lnTo>
                  <a:pt x="27923" y="87847"/>
                </a:lnTo>
                <a:lnTo>
                  <a:pt x="45719" y="91440"/>
                </a:lnTo>
                <a:lnTo>
                  <a:pt x="63516" y="87847"/>
                </a:lnTo>
                <a:lnTo>
                  <a:pt x="78048" y="78048"/>
                </a:lnTo>
                <a:lnTo>
                  <a:pt x="87847" y="63516"/>
                </a:lnTo>
                <a:lnTo>
                  <a:pt x="91439" y="45720"/>
                </a:lnTo>
                <a:lnTo>
                  <a:pt x="87847" y="27923"/>
                </a:lnTo>
                <a:lnTo>
                  <a:pt x="78048" y="13390"/>
                </a:lnTo>
                <a:lnTo>
                  <a:pt x="63516" y="3592"/>
                </a:lnTo>
                <a:lnTo>
                  <a:pt x="457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790219" y="53203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19" y="0"/>
                </a:moveTo>
                <a:lnTo>
                  <a:pt x="27923" y="3592"/>
                </a:lnTo>
                <a:lnTo>
                  <a:pt x="13391" y="13390"/>
                </a:lnTo>
                <a:lnTo>
                  <a:pt x="3592" y="27923"/>
                </a:lnTo>
                <a:lnTo>
                  <a:pt x="0" y="45720"/>
                </a:lnTo>
                <a:lnTo>
                  <a:pt x="3592" y="63516"/>
                </a:lnTo>
                <a:lnTo>
                  <a:pt x="13391" y="78048"/>
                </a:lnTo>
                <a:lnTo>
                  <a:pt x="27923" y="87847"/>
                </a:lnTo>
                <a:lnTo>
                  <a:pt x="45719" y="91440"/>
                </a:lnTo>
                <a:lnTo>
                  <a:pt x="63516" y="87847"/>
                </a:lnTo>
                <a:lnTo>
                  <a:pt x="78048" y="78048"/>
                </a:lnTo>
                <a:lnTo>
                  <a:pt x="87847" y="63516"/>
                </a:lnTo>
                <a:lnTo>
                  <a:pt x="91439" y="45720"/>
                </a:lnTo>
                <a:lnTo>
                  <a:pt x="87847" y="27923"/>
                </a:lnTo>
                <a:lnTo>
                  <a:pt x="78048" y="13390"/>
                </a:lnTo>
                <a:lnTo>
                  <a:pt x="63516" y="3592"/>
                </a:lnTo>
                <a:lnTo>
                  <a:pt x="457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100429" y="53203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19" y="0"/>
                </a:moveTo>
                <a:lnTo>
                  <a:pt x="27923" y="3592"/>
                </a:lnTo>
                <a:lnTo>
                  <a:pt x="13391" y="13390"/>
                </a:lnTo>
                <a:lnTo>
                  <a:pt x="3592" y="27923"/>
                </a:lnTo>
                <a:lnTo>
                  <a:pt x="0" y="45720"/>
                </a:lnTo>
                <a:lnTo>
                  <a:pt x="3592" y="63516"/>
                </a:lnTo>
                <a:lnTo>
                  <a:pt x="13391" y="78048"/>
                </a:lnTo>
                <a:lnTo>
                  <a:pt x="27923" y="87847"/>
                </a:lnTo>
                <a:lnTo>
                  <a:pt x="45719" y="91440"/>
                </a:lnTo>
                <a:lnTo>
                  <a:pt x="63516" y="87847"/>
                </a:lnTo>
                <a:lnTo>
                  <a:pt x="78049" y="78048"/>
                </a:lnTo>
                <a:lnTo>
                  <a:pt x="87847" y="63516"/>
                </a:lnTo>
                <a:lnTo>
                  <a:pt x="91440" y="45720"/>
                </a:lnTo>
                <a:lnTo>
                  <a:pt x="87847" y="27923"/>
                </a:lnTo>
                <a:lnTo>
                  <a:pt x="78049" y="13390"/>
                </a:lnTo>
                <a:lnTo>
                  <a:pt x="63516" y="3592"/>
                </a:lnTo>
                <a:lnTo>
                  <a:pt x="457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404783" y="53203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19" y="0"/>
                </a:moveTo>
                <a:lnTo>
                  <a:pt x="27923" y="3592"/>
                </a:lnTo>
                <a:lnTo>
                  <a:pt x="13391" y="13390"/>
                </a:lnTo>
                <a:lnTo>
                  <a:pt x="3592" y="27923"/>
                </a:lnTo>
                <a:lnTo>
                  <a:pt x="0" y="45720"/>
                </a:lnTo>
                <a:lnTo>
                  <a:pt x="3592" y="63516"/>
                </a:lnTo>
                <a:lnTo>
                  <a:pt x="13391" y="78048"/>
                </a:lnTo>
                <a:lnTo>
                  <a:pt x="27923" y="87847"/>
                </a:lnTo>
                <a:lnTo>
                  <a:pt x="45719" y="91440"/>
                </a:lnTo>
                <a:lnTo>
                  <a:pt x="63516" y="87847"/>
                </a:lnTo>
                <a:lnTo>
                  <a:pt x="78049" y="78048"/>
                </a:lnTo>
                <a:lnTo>
                  <a:pt x="87847" y="63516"/>
                </a:lnTo>
                <a:lnTo>
                  <a:pt x="91439" y="45720"/>
                </a:lnTo>
                <a:lnTo>
                  <a:pt x="87847" y="27923"/>
                </a:lnTo>
                <a:lnTo>
                  <a:pt x="78049" y="13390"/>
                </a:lnTo>
                <a:lnTo>
                  <a:pt x="63516" y="3592"/>
                </a:lnTo>
                <a:lnTo>
                  <a:pt x="45719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693796" y="5320360"/>
            <a:ext cx="91440" cy="91440"/>
          </a:xfrm>
          <a:custGeom>
            <a:avLst/>
            <a:gdLst/>
            <a:ahLst/>
            <a:cxnLst/>
            <a:rect l="l" t="t" r="r" b="b"/>
            <a:pathLst>
              <a:path w="91439" h="91439">
                <a:moveTo>
                  <a:pt x="45720" y="0"/>
                </a:moveTo>
                <a:lnTo>
                  <a:pt x="27923" y="3592"/>
                </a:lnTo>
                <a:lnTo>
                  <a:pt x="13391" y="13390"/>
                </a:lnTo>
                <a:lnTo>
                  <a:pt x="3592" y="27923"/>
                </a:lnTo>
                <a:lnTo>
                  <a:pt x="0" y="45720"/>
                </a:lnTo>
                <a:lnTo>
                  <a:pt x="3592" y="63516"/>
                </a:lnTo>
                <a:lnTo>
                  <a:pt x="13391" y="78048"/>
                </a:lnTo>
                <a:lnTo>
                  <a:pt x="27923" y="87847"/>
                </a:lnTo>
                <a:lnTo>
                  <a:pt x="45720" y="91440"/>
                </a:lnTo>
                <a:lnTo>
                  <a:pt x="63516" y="87847"/>
                </a:lnTo>
                <a:lnTo>
                  <a:pt x="78049" y="78048"/>
                </a:lnTo>
                <a:lnTo>
                  <a:pt x="87847" y="63516"/>
                </a:lnTo>
                <a:lnTo>
                  <a:pt x="91439" y="45720"/>
                </a:lnTo>
                <a:lnTo>
                  <a:pt x="87847" y="27923"/>
                </a:lnTo>
                <a:lnTo>
                  <a:pt x="78049" y="13390"/>
                </a:lnTo>
                <a:lnTo>
                  <a:pt x="63516" y="3592"/>
                </a:lnTo>
                <a:lnTo>
                  <a:pt x="45720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490521" y="3450844"/>
            <a:ext cx="8545830" cy="1523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800" spc="-5">
                <a:latin typeface="Calibri"/>
                <a:cs typeface="Calibri"/>
              </a:rPr>
              <a:t>Can </a:t>
            </a:r>
            <a:r>
              <a:rPr dirty="0" sz="2800" spc="-15">
                <a:latin typeface="Calibri"/>
                <a:cs typeface="Calibri"/>
              </a:rPr>
              <a:t>we </a:t>
            </a:r>
            <a:r>
              <a:rPr dirty="0" sz="2800" spc="-20">
                <a:latin typeface="Calibri"/>
                <a:cs typeface="Calibri"/>
              </a:rPr>
              <a:t>have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high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clustering </a:t>
            </a:r>
            <a:r>
              <a:rPr dirty="0" sz="2800" spc="-5">
                <a:latin typeface="Calibri"/>
                <a:cs typeface="Calibri"/>
              </a:rPr>
              <a:t>while also </a:t>
            </a:r>
            <a:r>
              <a:rPr dirty="0" sz="2800" spc="-10">
                <a:latin typeface="Calibri"/>
                <a:cs typeface="Calibri"/>
              </a:rPr>
              <a:t>having </a:t>
            </a:r>
            <a:r>
              <a:rPr dirty="0" sz="2800" spc="-5" b="1">
                <a:solidFill>
                  <a:srgbClr val="0070C0"/>
                </a:solidFill>
                <a:latin typeface="Calibri"/>
                <a:cs typeface="Calibri"/>
              </a:rPr>
              <a:t>short</a:t>
            </a:r>
            <a:r>
              <a:rPr dirty="0" sz="2800" spc="50" b="1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70C0"/>
                </a:solidFill>
                <a:latin typeface="Calibri"/>
                <a:cs typeface="Calibri"/>
              </a:rPr>
              <a:t>paths</a:t>
            </a:r>
            <a:r>
              <a:rPr dirty="0" sz="2800" spc="-10">
                <a:latin typeface="Calibri"/>
                <a:cs typeface="Calibri"/>
              </a:rPr>
              <a:t>?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950">
              <a:latin typeface="Times New Roman"/>
              <a:cs typeface="Times New Roman"/>
            </a:endParaRPr>
          </a:p>
          <a:p>
            <a:pPr algn="ctr" marR="22225">
              <a:lnSpc>
                <a:spcPct val="100000"/>
              </a:lnSpc>
              <a:spcBef>
                <a:spcPts val="5"/>
              </a:spcBef>
            </a:pPr>
            <a:r>
              <a:rPr dirty="0" sz="3200" spc="-40" b="1">
                <a:latin typeface="Corbel"/>
                <a:cs typeface="Corbel"/>
              </a:rPr>
              <a:t>Vs.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6030286" y="5263970"/>
            <a:ext cx="261620" cy="81915"/>
          </a:xfrm>
          <a:custGeom>
            <a:avLst/>
            <a:gdLst/>
            <a:ahLst/>
            <a:cxnLst/>
            <a:rect l="l" t="t" r="r" b="b"/>
            <a:pathLst>
              <a:path w="261620" h="81914">
                <a:moveTo>
                  <a:pt x="0" y="0"/>
                </a:moveTo>
                <a:lnTo>
                  <a:pt x="261600" y="819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792854" y="4614884"/>
            <a:ext cx="0" cy="276225"/>
          </a:xfrm>
          <a:custGeom>
            <a:avLst/>
            <a:gdLst/>
            <a:ahLst/>
            <a:cxnLst/>
            <a:rect l="l" t="t" r="r" b="b"/>
            <a:pathLst>
              <a:path w="0" h="276225">
                <a:moveTo>
                  <a:pt x="0" y="0"/>
                </a:moveTo>
                <a:lnTo>
                  <a:pt x="1" y="2760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045125" y="4267655"/>
            <a:ext cx="584200" cy="1905"/>
          </a:xfrm>
          <a:custGeom>
            <a:avLst/>
            <a:gdLst/>
            <a:ahLst/>
            <a:cxnLst/>
            <a:rect l="l" t="t" r="r" b="b"/>
            <a:pathLst>
              <a:path w="584200" h="1904">
                <a:moveTo>
                  <a:pt x="0" y="1500"/>
                </a:moveTo>
                <a:lnTo>
                  <a:pt x="5841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030286" y="4600487"/>
            <a:ext cx="821055" cy="598805"/>
          </a:xfrm>
          <a:custGeom>
            <a:avLst/>
            <a:gdLst/>
            <a:ahLst/>
            <a:cxnLst/>
            <a:rect l="l" t="t" r="r" b="b"/>
            <a:pathLst>
              <a:path w="821054" h="598804">
                <a:moveTo>
                  <a:pt x="0" y="598200"/>
                </a:moveTo>
                <a:lnTo>
                  <a:pt x="8205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032367" y="4301387"/>
            <a:ext cx="608965" cy="897890"/>
          </a:xfrm>
          <a:custGeom>
            <a:avLst/>
            <a:gdLst/>
            <a:ahLst/>
            <a:cxnLst/>
            <a:rect l="l" t="t" r="r" b="b"/>
            <a:pathLst>
              <a:path w="608965" h="897889">
                <a:moveTo>
                  <a:pt x="608700" y="897300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365842" y="4186987"/>
            <a:ext cx="484505" cy="715645"/>
          </a:xfrm>
          <a:custGeom>
            <a:avLst/>
            <a:gdLst/>
            <a:ahLst/>
            <a:cxnLst/>
            <a:rect l="l" t="t" r="r" b="b"/>
            <a:pathLst>
              <a:path w="484504" h="715645">
                <a:moveTo>
                  <a:pt x="484200" y="715500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837209" y="4936569"/>
            <a:ext cx="1000125" cy="0"/>
          </a:xfrm>
          <a:custGeom>
            <a:avLst/>
            <a:gdLst/>
            <a:ahLst/>
            <a:cxnLst/>
            <a:rect l="l" t="t" r="r" b="b"/>
            <a:pathLst>
              <a:path w="1000125" h="0">
                <a:moveTo>
                  <a:pt x="0" y="0"/>
                </a:moveTo>
                <a:lnTo>
                  <a:pt x="999900" y="1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874954" y="4613921"/>
            <a:ext cx="0" cy="275590"/>
          </a:xfrm>
          <a:custGeom>
            <a:avLst/>
            <a:gdLst/>
            <a:ahLst/>
            <a:cxnLst/>
            <a:rect l="l" t="t" r="r" b="b"/>
            <a:pathLst>
              <a:path w="0" h="275589">
                <a:moveTo>
                  <a:pt x="1" y="0"/>
                </a:moveTo>
                <a:lnTo>
                  <a:pt x="0" y="27504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5824699" y="4172732"/>
            <a:ext cx="480059" cy="717550"/>
          </a:xfrm>
          <a:custGeom>
            <a:avLst/>
            <a:gdLst/>
            <a:ahLst/>
            <a:cxnLst/>
            <a:rect l="l" t="t" r="r" b="b"/>
            <a:pathLst>
              <a:path w="480060" h="717550">
                <a:moveTo>
                  <a:pt x="0" y="717423"/>
                </a:moveTo>
                <a:lnTo>
                  <a:pt x="47959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696612" y="4600459"/>
            <a:ext cx="147320" cy="598805"/>
          </a:xfrm>
          <a:custGeom>
            <a:avLst/>
            <a:gdLst/>
            <a:ahLst/>
            <a:cxnLst/>
            <a:rect l="l" t="t" r="r" b="b"/>
            <a:pathLst>
              <a:path w="147320" h="598804">
                <a:moveTo>
                  <a:pt x="0" y="598173"/>
                </a:moveTo>
                <a:lnTo>
                  <a:pt x="146926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358099" y="4325132"/>
            <a:ext cx="304165" cy="998855"/>
          </a:xfrm>
          <a:custGeom>
            <a:avLst/>
            <a:gdLst/>
            <a:ahLst/>
            <a:cxnLst/>
            <a:rect l="l" t="t" r="r" b="b"/>
            <a:pathLst>
              <a:path w="304165" h="998854">
                <a:moveTo>
                  <a:pt x="304018" y="0"/>
                </a:moveTo>
                <a:lnTo>
                  <a:pt x="0" y="99823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6360252" y="5251704"/>
            <a:ext cx="261620" cy="81915"/>
          </a:xfrm>
          <a:custGeom>
            <a:avLst/>
            <a:gdLst/>
            <a:ahLst/>
            <a:cxnLst/>
            <a:rect l="l" t="t" r="r" b="b"/>
            <a:pathLst>
              <a:path w="261620" h="81914">
                <a:moveTo>
                  <a:pt x="0" y="81744"/>
                </a:moveTo>
                <a:lnTo>
                  <a:pt x="26151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329143" y="4180608"/>
            <a:ext cx="6985" cy="1119505"/>
          </a:xfrm>
          <a:custGeom>
            <a:avLst/>
            <a:gdLst/>
            <a:ahLst/>
            <a:cxnLst/>
            <a:rect l="l" t="t" r="r" b="b"/>
            <a:pathLst>
              <a:path w="6985" h="1119504">
                <a:moveTo>
                  <a:pt x="0" y="0"/>
                </a:moveTo>
                <a:lnTo>
                  <a:pt x="6600" y="11190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6387127" y="4163971"/>
            <a:ext cx="255270" cy="71120"/>
          </a:xfrm>
          <a:custGeom>
            <a:avLst/>
            <a:gdLst/>
            <a:ahLst/>
            <a:cxnLst/>
            <a:rect l="l" t="t" r="r" b="b"/>
            <a:pathLst>
              <a:path w="255270" h="71120">
                <a:moveTo>
                  <a:pt x="0" y="0"/>
                </a:moveTo>
                <a:lnTo>
                  <a:pt x="255000" y="711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037727" y="4282375"/>
            <a:ext cx="598805" cy="932180"/>
          </a:xfrm>
          <a:custGeom>
            <a:avLst/>
            <a:gdLst/>
            <a:ahLst/>
            <a:cxnLst/>
            <a:rect l="l" t="t" r="r" b="b"/>
            <a:pathLst>
              <a:path w="598804" h="932179">
                <a:moveTo>
                  <a:pt x="0" y="931881"/>
                </a:moveTo>
                <a:lnTo>
                  <a:pt x="598796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5864047" y="4588918"/>
            <a:ext cx="1014094" cy="335915"/>
          </a:xfrm>
          <a:custGeom>
            <a:avLst/>
            <a:gdLst/>
            <a:ahLst/>
            <a:cxnLst/>
            <a:rect l="l" t="t" r="r" b="b"/>
            <a:pathLst>
              <a:path w="1014095" h="335914">
                <a:moveTo>
                  <a:pt x="0" y="335631"/>
                </a:moveTo>
                <a:lnTo>
                  <a:pt x="101370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011432" y="4308567"/>
            <a:ext cx="303530" cy="998855"/>
          </a:xfrm>
          <a:custGeom>
            <a:avLst/>
            <a:gdLst/>
            <a:ahLst/>
            <a:cxnLst/>
            <a:rect l="l" t="t" r="r" b="b"/>
            <a:pathLst>
              <a:path w="303529" h="998854">
                <a:moveTo>
                  <a:pt x="303094" y="998237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835704" y="4596480"/>
            <a:ext cx="485140" cy="715645"/>
          </a:xfrm>
          <a:custGeom>
            <a:avLst/>
            <a:gdLst/>
            <a:ahLst/>
            <a:cxnLst/>
            <a:rect l="l" t="t" r="r" b="b"/>
            <a:pathLst>
              <a:path w="485139" h="715645">
                <a:moveTo>
                  <a:pt x="485135" y="715499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717241" y="4962114"/>
            <a:ext cx="147320" cy="231775"/>
          </a:xfrm>
          <a:custGeom>
            <a:avLst/>
            <a:gdLst/>
            <a:ahLst/>
            <a:cxnLst/>
            <a:rect l="l" t="t" r="r" b="b"/>
            <a:pathLst>
              <a:path w="147320" h="231775">
                <a:moveTo>
                  <a:pt x="0" y="231768"/>
                </a:moveTo>
                <a:lnTo>
                  <a:pt x="146927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837209" y="4300223"/>
            <a:ext cx="805180" cy="268605"/>
          </a:xfrm>
          <a:custGeom>
            <a:avLst/>
            <a:gdLst/>
            <a:ahLst/>
            <a:cxnLst/>
            <a:rect l="l" t="t" r="r" b="b"/>
            <a:pathLst>
              <a:path w="805179" h="268604">
                <a:moveTo>
                  <a:pt x="0" y="268500"/>
                </a:moveTo>
                <a:lnTo>
                  <a:pt x="80490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291850" y="5299609"/>
            <a:ext cx="88265" cy="92710"/>
          </a:xfrm>
          <a:custGeom>
            <a:avLst/>
            <a:gdLst/>
            <a:ahLst/>
            <a:cxnLst/>
            <a:rect l="l" t="t" r="r" b="b"/>
            <a:pathLst>
              <a:path w="88264" h="92710">
                <a:moveTo>
                  <a:pt x="43893" y="0"/>
                </a:moveTo>
                <a:lnTo>
                  <a:pt x="26808" y="3627"/>
                </a:lnTo>
                <a:lnTo>
                  <a:pt x="12856" y="13520"/>
                </a:lnTo>
                <a:lnTo>
                  <a:pt x="3449" y="28192"/>
                </a:lnTo>
                <a:lnTo>
                  <a:pt x="0" y="46160"/>
                </a:lnTo>
                <a:lnTo>
                  <a:pt x="3449" y="64128"/>
                </a:lnTo>
                <a:lnTo>
                  <a:pt x="12856" y="78801"/>
                </a:lnTo>
                <a:lnTo>
                  <a:pt x="26808" y="88694"/>
                </a:lnTo>
                <a:lnTo>
                  <a:pt x="43893" y="92322"/>
                </a:lnTo>
                <a:lnTo>
                  <a:pt x="60978" y="88694"/>
                </a:lnTo>
                <a:lnTo>
                  <a:pt x="74930" y="78801"/>
                </a:lnTo>
                <a:lnTo>
                  <a:pt x="84337" y="64128"/>
                </a:lnTo>
                <a:lnTo>
                  <a:pt x="87786" y="46160"/>
                </a:lnTo>
                <a:lnTo>
                  <a:pt x="84337" y="28192"/>
                </a:lnTo>
                <a:lnTo>
                  <a:pt x="74930" y="13520"/>
                </a:lnTo>
                <a:lnTo>
                  <a:pt x="60978" y="3627"/>
                </a:lnTo>
                <a:lnTo>
                  <a:pt x="438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954566" y="5185167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10">
                <a:moveTo>
                  <a:pt x="44356" y="0"/>
                </a:moveTo>
                <a:lnTo>
                  <a:pt x="27090" y="3627"/>
                </a:lnTo>
                <a:lnTo>
                  <a:pt x="12991" y="13520"/>
                </a:lnTo>
                <a:lnTo>
                  <a:pt x="3485" y="28193"/>
                </a:lnTo>
                <a:lnTo>
                  <a:pt x="0" y="46161"/>
                </a:lnTo>
                <a:lnTo>
                  <a:pt x="3485" y="64130"/>
                </a:lnTo>
                <a:lnTo>
                  <a:pt x="12991" y="78803"/>
                </a:lnTo>
                <a:lnTo>
                  <a:pt x="27090" y="88696"/>
                </a:lnTo>
                <a:lnTo>
                  <a:pt x="44356" y="92323"/>
                </a:lnTo>
                <a:lnTo>
                  <a:pt x="61620" y="88696"/>
                </a:lnTo>
                <a:lnTo>
                  <a:pt x="75719" y="78803"/>
                </a:lnTo>
                <a:lnTo>
                  <a:pt x="85225" y="64130"/>
                </a:lnTo>
                <a:lnTo>
                  <a:pt x="88710" y="46161"/>
                </a:lnTo>
                <a:lnTo>
                  <a:pt x="85225" y="28193"/>
                </a:lnTo>
                <a:lnTo>
                  <a:pt x="75719" y="13520"/>
                </a:lnTo>
                <a:lnTo>
                  <a:pt x="61620" y="3627"/>
                </a:lnTo>
                <a:lnTo>
                  <a:pt x="443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5748499" y="4890889"/>
            <a:ext cx="88900" cy="91440"/>
          </a:xfrm>
          <a:custGeom>
            <a:avLst/>
            <a:gdLst/>
            <a:ahLst/>
            <a:cxnLst/>
            <a:rect l="l" t="t" r="r" b="b"/>
            <a:pathLst>
              <a:path w="88900" h="91439">
                <a:moveTo>
                  <a:pt x="44354" y="0"/>
                </a:moveTo>
                <a:lnTo>
                  <a:pt x="27089" y="3589"/>
                </a:lnTo>
                <a:lnTo>
                  <a:pt x="12990" y="13379"/>
                </a:lnTo>
                <a:lnTo>
                  <a:pt x="3485" y="27899"/>
                </a:lnTo>
                <a:lnTo>
                  <a:pt x="0" y="45680"/>
                </a:lnTo>
                <a:lnTo>
                  <a:pt x="3485" y="63461"/>
                </a:lnTo>
                <a:lnTo>
                  <a:pt x="12990" y="77981"/>
                </a:lnTo>
                <a:lnTo>
                  <a:pt x="27089" y="87771"/>
                </a:lnTo>
                <a:lnTo>
                  <a:pt x="44354" y="91361"/>
                </a:lnTo>
                <a:lnTo>
                  <a:pt x="61619" y="87771"/>
                </a:lnTo>
                <a:lnTo>
                  <a:pt x="75718" y="77981"/>
                </a:lnTo>
                <a:lnTo>
                  <a:pt x="85223" y="63461"/>
                </a:lnTo>
                <a:lnTo>
                  <a:pt x="88709" y="45680"/>
                </a:lnTo>
                <a:lnTo>
                  <a:pt x="85223" y="27899"/>
                </a:lnTo>
                <a:lnTo>
                  <a:pt x="75718" y="13379"/>
                </a:lnTo>
                <a:lnTo>
                  <a:pt x="61619" y="3589"/>
                </a:lnTo>
                <a:lnTo>
                  <a:pt x="443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748499" y="4522561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10">
                <a:moveTo>
                  <a:pt x="44354" y="0"/>
                </a:moveTo>
                <a:lnTo>
                  <a:pt x="27089" y="3627"/>
                </a:lnTo>
                <a:lnTo>
                  <a:pt x="12990" y="13520"/>
                </a:lnTo>
                <a:lnTo>
                  <a:pt x="3485" y="28193"/>
                </a:lnTo>
                <a:lnTo>
                  <a:pt x="0" y="46161"/>
                </a:lnTo>
                <a:lnTo>
                  <a:pt x="3485" y="64130"/>
                </a:lnTo>
                <a:lnTo>
                  <a:pt x="12990" y="78803"/>
                </a:lnTo>
                <a:lnTo>
                  <a:pt x="27089" y="88696"/>
                </a:lnTo>
                <a:lnTo>
                  <a:pt x="44354" y="92323"/>
                </a:lnTo>
                <a:lnTo>
                  <a:pt x="61619" y="88696"/>
                </a:lnTo>
                <a:lnTo>
                  <a:pt x="75718" y="78803"/>
                </a:lnTo>
                <a:lnTo>
                  <a:pt x="85223" y="64130"/>
                </a:lnTo>
                <a:lnTo>
                  <a:pt x="88709" y="46161"/>
                </a:lnTo>
                <a:lnTo>
                  <a:pt x="85223" y="28193"/>
                </a:lnTo>
                <a:lnTo>
                  <a:pt x="75718" y="13520"/>
                </a:lnTo>
                <a:lnTo>
                  <a:pt x="61619" y="3627"/>
                </a:lnTo>
                <a:lnTo>
                  <a:pt x="443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6290002" y="4108071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10">
                <a:moveTo>
                  <a:pt x="44354" y="0"/>
                </a:moveTo>
                <a:lnTo>
                  <a:pt x="27089" y="3627"/>
                </a:lnTo>
                <a:lnTo>
                  <a:pt x="12990" y="13520"/>
                </a:lnTo>
                <a:lnTo>
                  <a:pt x="3485" y="28193"/>
                </a:lnTo>
                <a:lnTo>
                  <a:pt x="0" y="46161"/>
                </a:lnTo>
                <a:lnTo>
                  <a:pt x="3485" y="64129"/>
                </a:lnTo>
                <a:lnTo>
                  <a:pt x="12990" y="78802"/>
                </a:lnTo>
                <a:lnTo>
                  <a:pt x="27089" y="88695"/>
                </a:lnTo>
                <a:lnTo>
                  <a:pt x="44354" y="92322"/>
                </a:lnTo>
                <a:lnTo>
                  <a:pt x="61619" y="88695"/>
                </a:lnTo>
                <a:lnTo>
                  <a:pt x="75718" y="78802"/>
                </a:lnTo>
                <a:lnTo>
                  <a:pt x="85223" y="64129"/>
                </a:lnTo>
                <a:lnTo>
                  <a:pt x="88709" y="46161"/>
                </a:lnTo>
                <a:lnTo>
                  <a:pt x="85223" y="28193"/>
                </a:lnTo>
                <a:lnTo>
                  <a:pt x="75718" y="13520"/>
                </a:lnTo>
                <a:lnTo>
                  <a:pt x="61619" y="3627"/>
                </a:lnTo>
                <a:lnTo>
                  <a:pt x="443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6837051" y="4888966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10">
                <a:moveTo>
                  <a:pt x="44354" y="0"/>
                </a:moveTo>
                <a:lnTo>
                  <a:pt x="27089" y="3627"/>
                </a:lnTo>
                <a:lnTo>
                  <a:pt x="12990" y="13520"/>
                </a:lnTo>
                <a:lnTo>
                  <a:pt x="3485" y="28193"/>
                </a:lnTo>
                <a:lnTo>
                  <a:pt x="0" y="46161"/>
                </a:lnTo>
                <a:lnTo>
                  <a:pt x="3485" y="64130"/>
                </a:lnTo>
                <a:lnTo>
                  <a:pt x="12990" y="78803"/>
                </a:lnTo>
                <a:lnTo>
                  <a:pt x="27089" y="88696"/>
                </a:lnTo>
                <a:lnTo>
                  <a:pt x="44354" y="92323"/>
                </a:lnTo>
                <a:lnTo>
                  <a:pt x="61619" y="88696"/>
                </a:lnTo>
                <a:lnTo>
                  <a:pt x="75718" y="78803"/>
                </a:lnTo>
                <a:lnTo>
                  <a:pt x="85223" y="64130"/>
                </a:lnTo>
                <a:lnTo>
                  <a:pt x="88709" y="46161"/>
                </a:lnTo>
                <a:lnTo>
                  <a:pt x="85223" y="28193"/>
                </a:lnTo>
                <a:lnTo>
                  <a:pt x="75718" y="13520"/>
                </a:lnTo>
                <a:lnTo>
                  <a:pt x="61619" y="3627"/>
                </a:lnTo>
                <a:lnTo>
                  <a:pt x="443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5957338" y="4223475"/>
            <a:ext cx="88265" cy="91440"/>
          </a:xfrm>
          <a:custGeom>
            <a:avLst/>
            <a:gdLst/>
            <a:ahLst/>
            <a:cxnLst/>
            <a:rect l="l" t="t" r="r" b="b"/>
            <a:pathLst>
              <a:path w="88264" h="91439">
                <a:moveTo>
                  <a:pt x="43892" y="0"/>
                </a:moveTo>
                <a:lnTo>
                  <a:pt x="26807" y="3589"/>
                </a:lnTo>
                <a:lnTo>
                  <a:pt x="12856" y="13379"/>
                </a:lnTo>
                <a:lnTo>
                  <a:pt x="3449" y="27899"/>
                </a:lnTo>
                <a:lnTo>
                  <a:pt x="0" y="45680"/>
                </a:lnTo>
                <a:lnTo>
                  <a:pt x="3449" y="63461"/>
                </a:lnTo>
                <a:lnTo>
                  <a:pt x="12856" y="77981"/>
                </a:lnTo>
                <a:lnTo>
                  <a:pt x="26807" y="87771"/>
                </a:lnTo>
                <a:lnTo>
                  <a:pt x="43892" y="91361"/>
                </a:lnTo>
                <a:lnTo>
                  <a:pt x="60977" y="87771"/>
                </a:lnTo>
                <a:lnTo>
                  <a:pt x="74930" y="77981"/>
                </a:lnTo>
                <a:lnTo>
                  <a:pt x="84336" y="63461"/>
                </a:lnTo>
                <a:lnTo>
                  <a:pt x="87786" y="45680"/>
                </a:lnTo>
                <a:lnTo>
                  <a:pt x="84336" y="27899"/>
                </a:lnTo>
                <a:lnTo>
                  <a:pt x="74930" y="13379"/>
                </a:lnTo>
                <a:lnTo>
                  <a:pt x="60977" y="3589"/>
                </a:lnTo>
                <a:lnTo>
                  <a:pt x="438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6628212" y="5185167"/>
            <a:ext cx="88265" cy="92710"/>
          </a:xfrm>
          <a:custGeom>
            <a:avLst/>
            <a:gdLst/>
            <a:ahLst/>
            <a:cxnLst/>
            <a:rect l="l" t="t" r="r" b="b"/>
            <a:pathLst>
              <a:path w="88265" h="92710">
                <a:moveTo>
                  <a:pt x="43892" y="0"/>
                </a:moveTo>
                <a:lnTo>
                  <a:pt x="26807" y="3627"/>
                </a:lnTo>
                <a:lnTo>
                  <a:pt x="12855" y="13520"/>
                </a:lnTo>
                <a:lnTo>
                  <a:pt x="3449" y="28193"/>
                </a:lnTo>
                <a:lnTo>
                  <a:pt x="0" y="46161"/>
                </a:lnTo>
                <a:lnTo>
                  <a:pt x="3449" y="64130"/>
                </a:lnTo>
                <a:lnTo>
                  <a:pt x="12855" y="78803"/>
                </a:lnTo>
                <a:lnTo>
                  <a:pt x="26807" y="88696"/>
                </a:lnTo>
                <a:lnTo>
                  <a:pt x="43892" y="92323"/>
                </a:lnTo>
                <a:lnTo>
                  <a:pt x="60977" y="88696"/>
                </a:lnTo>
                <a:lnTo>
                  <a:pt x="74929" y="78803"/>
                </a:lnTo>
                <a:lnTo>
                  <a:pt x="84336" y="64130"/>
                </a:lnTo>
                <a:lnTo>
                  <a:pt x="87786" y="46161"/>
                </a:lnTo>
                <a:lnTo>
                  <a:pt x="84336" y="28193"/>
                </a:lnTo>
                <a:lnTo>
                  <a:pt x="74929" y="13520"/>
                </a:lnTo>
                <a:lnTo>
                  <a:pt x="60977" y="3627"/>
                </a:lnTo>
                <a:lnTo>
                  <a:pt x="438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6629135" y="4221552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10">
                <a:moveTo>
                  <a:pt x="44354" y="0"/>
                </a:moveTo>
                <a:lnTo>
                  <a:pt x="27089" y="3627"/>
                </a:lnTo>
                <a:lnTo>
                  <a:pt x="12990" y="13520"/>
                </a:lnTo>
                <a:lnTo>
                  <a:pt x="3485" y="28192"/>
                </a:lnTo>
                <a:lnTo>
                  <a:pt x="0" y="46160"/>
                </a:lnTo>
                <a:lnTo>
                  <a:pt x="3485" y="64129"/>
                </a:lnTo>
                <a:lnTo>
                  <a:pt x="12990" y="78802"/>
                </a:lnTo>
                <a:lnTo>
                  <a:pt x="27089" y="88695"/>
                </a:lnTo>
                <a:lnTo>
                  <a:pt x="44354" y="92322"/>
                </a:lnTo>
                <a:lnTo>
                  <a:pt x="61619" y="88695"/>
                </a:lnTo>
                <a:lnTo>
                  <a:pt x="75718" y="78802"/>
                </a:lnTo>
                <a:lnTo>
                  <a:pt x="85223" y="64129"/>
                </a:lnTo>
                <a:lnTo>
                  <a:pt x="88709" y="46160"/>
                </a:lnTo>
                <a:lnTo>
                  <a:pt x="85223" y="28192"/>
                </a:lnTo>
                <a:lnTo>
                  <a:pt x="75718" y="13520"/>
                </a:lnTo>
                <a:lnTo>
                  <a:pt x="61619" y="3627"/>
                </a:lnTo>
                <a:lnTo>
                  <a:pt x="443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837974" y="4521599"/>
            <a:ext cx="88265" cy="92710"/>
          </a:xfrm>
          <a:custGeom>
            <a:avLst/>
            <a:gdLst/>
            <a:ahLst/>
            <a:cxnLst/>
            <a:rect l="l" t="t" r="r" b="b"/>
            <a:pathLst>
              <a:path w="88265" h="92710">
                <a:moveTo>
                  <a:pt x="43893" y="0"/>
                </a:moveTo>
                <a:lnTo>
                  <a:pt x="26808" y="3627"/>
                </a:lnTo>
                <a:lnTo>
                  <a:pt x="12856" y="13520"/>
                </a:lnTo>
                <a:lnTo>
                  <a:pt x="3449" y="28193"/>
                </a:lnTo>
                <a:lnTo>
                  <a:pt x="0" y="46161"/>
                </a:lnTo>
                <a:lnTo>
                  <a:pt x="3449" y="64129"/>
                </a:lnTo>
                <a:lnTo>
                  <a:pt x="12856" y="78802"/>
                </a:lnTo>
                <a:lnTo>
                  <a:pt x="26808" y="88695"/>
                </a:lnTo>
                <a:lnTo>
                  <a:pt x="43893" y="92322"/>
                </a:lnTo>
                <a:lnTo>
                  <a:pt x="60979" y="88695"/>
                </a:lnTo>
                <a:lnTo>
                  <a:pt x="74931" y="78802"/>
                </a:lnTo>
                <a:lnTo>
                  <a:pt x="84338" y="64129"/>
                </a:lnTo>
                <a:lnTo>
                  <a:pt x="87787" y="46161"/>
                </a:lnTo>
                <a:lnTo>
                  <a:pt x="84338" y="28193"/>
                </a:lnTo>
                <a:lnTo>
                  <a:pt x="74931" y="13520"/>
                </a:lnTo>
                <a:lnTo>
                  <a:pt x="60979" y="3627"/>
                </a:lnTo>
                <a:lnTo>
                  <a:pt x="438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1948818" y="5620003"/>
            <a:ext cx="249364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2700" marR="5080">
              <a:lnSpc>
                <a:spcPct val="99400"/>
              </a:lnSpc>
              <a:spcBef>
                <a:spcPts val="110"/>
              </a:spcBef>
            </a:pPr>
            <a:r>
              <a:rPr dirty="0" sz="1800" spc="-15" b="1">
                <a:latin typeface="Corbel"/>
                <a:cs typeface="Corbel"/>
              </a:rPr>
              <a:t>Regular </a:t>
            </a:r>
            <a:r>
              <a:rPr dirty="0" sz="1800" spc="-5" b="1">
                <a:latin typeface="Corbel"/>
                <a:cs typeface="Corbel"/>
              </a:rPr>
              <a:t>lattice graph:  </a:t>
            </a:r>
            <a:r>
              <a:rPr dirty="0" sz="1800" spc="-10">
                <a:solidFill>
                  <a:srgbClr val="C00000"/>
                </a:solidFill>
                <a:latin typeface="Corbel"/>
                <a:cs typeface="Corbel"/>
              </a:rPr>
              <a:t>High </a:t>
            </a:r>
            <a:r>
              <a:rPr dirty="0" sz="1800" spc="-5">
                <a:solidFill>
                  <a:srgbClr val="C00000"/>
                </a:solidFill>
                <a:latin typeface="Corbel"/>
                <a:cs typeface="Corbel"/>
              </a:rPr>
              <a:t>clustering coefficient  </a:t>
            </a:r>
            <a:r>
              <a:rPr dirty="0" sz="1800" spc="-10">
                <a:latin typeface="Corbel"/>
                <a:cs typeface="Corbel"/>
              </a:rPr>
              <a:t>High</a:t>
            </a:r>
            <a:r>
              <a:rPr dirty="0" sz="1800" spc="-55">
                <a:latin typeface="Corbel"/>
                <a:cs typeface="Corbel"/>
              </a:rPr>
              <a:t> </a:t>
            </a:r>
            <a:r>
              <a:rPr dirty="0" sz="1800" spc="-5">
                <a:latin typeface="Corbel"/>
                <a:cs typeface="Corbel"/>
              </a:rPr>
              <a:t>diameter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5072184" y="5620003"/>
            <a:ext cx="2451100" cy="84581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2125"/>
              </a:lnSpc>
              <a:spcBef>
                <a:spcPts val="100"/>
              </a:spcBef>
            </a:pPr>
            <a:r>
              <a:rPr dirty="0" sz="1800" spc="-5" b="1">
                <a:latin typeface="Corbel"/>
                <a:cs typeface="Corbel"/>
              </a:rPr>
              <a:t>G</a:t>
            </a:r>
            <a:r>
              <a:rPr dirty="0" baseline="-13888" sz="1800" spc="-7" b="1">
                <a:latin typeface="Corbel"/>
                <a:cs typeface="Corbel"/>
              </a:rPr>
              <a:t>np </a:t>
            </a:r>
            <a:r>
              <a:rPr dirty="0" sz="1800" spc="-5" b="1">
                <a:latin typeface="Corbel"/>
                <a:cs typeface="Corbel"/>
              </a:rPr>
              <a:t>random</a:t>
            </a:r>
            <a:r>
              <a:rPr dirty="0" sz="1800" spc="-135" b="1">
                <a:latin typeface="Corbel"/>
                <a:cs typeface="Corbel"/>
              </a:rPr>
              <a:t> </a:t>
            </a:r>
            <a:r>
              <a:rPr dirty="0" sz="1800" spc="-5" b="1">
                <a:latin typeface="Corbel"/>
                <a:cs typeface="Corbel"/>
              </a:rPr>
              <a:t>graph:</a:t>
            </a:r>
            <a:endParaRPr sz="1800">
              <a:latin typeface="Corbel"/>
              <a:cs typeface="Corbel"/>
            </a:endParaRPr>
          </a:p>
          <a:p>
            <a:pPr algn="ctr">
              <a:lnSpc>
                <a:spcPts val="2125"/>
              </a:lnSpc>
            </a:pPr>
            <a:r>
              <a:rPr dirty="0" sz="1800">
                <a:latin typeface="Corbel"/>
                <a:cs typeface="Corbel"/>
              </a:rPr>
              <a:t>Low </a:t>
            </a:r>
            <a:r>
              <a:rPr dirty="0" sz="1800" spc="-5">
                <a:latin typeface="Corbel"/>
                <a:cs typeface="Corbel"/>
              </a:rPr>
              <a:t>clustering</a:t>
            </a:r>
            <a:r>
              <a:rPr dirty="0" sz="1800" spc="-60">
                <a:latin typeface="Corbel"/>
                <a:cs typeface="Corbel"/>
              </a:rPr>
              <a:t> </a:t>
            </a:r>
            <a:r>
              <a:rPr dirty="0" sz="1800" spc="-5">
                <a:latin typeface="Corbel"/>
                <a:cs typeface="Corbel"/>
              </a:rPr>
              <a:t>coefficient</a:t>
            </a:r>
            <a:endParaRPr sz="1800">
              <a:latin typeface="Corbel"/>
              <a:cs typeface="Corbel"/>
            </a:endParaRPr>
          </a:p>
          <a:p>
            <a:pPr algn="ctr" marL="635">
              <a:lnSpc>
                <a:spcPct val="100000"/>
              </a:lnSpc>
              <a:spcBef>
                <a:spcPts val="45"/>
              </a:spcBef>
            </a:pPr>
            <a:r>
              <a:rPr dirty="0" sz="1800">
                <a:solidFill>
                  <a:srgbClr val="0070C0"/>
                </a:solidFill>
                <a:latin typeface="Corbel"/>
                <a:cs typeface="Corbel"/>
              </a:rPr>
              <a:t>Low</a:t>
            </a:r>
            <a:r>
              <a:rPr dirty="0" sz="1800" spc="-75">
                <a:solidFill>
                  <a:srgbClr val="0070C0"/>
                </a:solidFill>
                <a:latin typeface="Corbel"/>
                <a:cs typeface="Corbel"/>
              </a:rPr>
              <a:t> </a:t>
            </a:r>
            <a:r>
              <a:rPr dirty="0" sz="1800" spc="-5">
                <a:solidFill>
                  <a:srgbClr val="0070C0"/>
                </a:solidFill>
                <a:latin typeface="Corbel"/>
                <a:cs typeface="Corbel"/>
              </a:rPr>
              <a:t>diameter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6362412" y="2648884"/>
            <a:ext cx="189230" cy="0"/>
          </a:xfrm>
          <a:custGeom>
            <a:avLst/>
            <a:gdLst/>
            <a:ahLst/>
            <a:cxnLst/>
            <a:rect l="l" t="t" r="r" b="b"/>
            <a:pathLst>
              <a:path w="189229" h="0">
                <a:moveTo>
                  <a:pt x="0" y="0"/>
                </a:moveTo>
                <a:lnTo>
                  <a:pt x="188860" y="0"/>
                </a:lnTo>
              </a:path>
            </a:pathLst>
          </a:custGeom>
          <a:ln w="23607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 txBox="1"/>
          <p:nvPr/>
        </p:nvSpPr>
        <p:spPr>
          <a:xfrm>
            <a:off x="6224506" y="3055874"/>
            <a:ext cx="913130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25" i="1">
                <a:solidFill>
                  <a:srgbClr val="008000"/>
                </a:solidFill>
                <a:latin typeface="Arial"/>
                <a:cs typeface="Arial"/>
              </a:rPr>
              <a:t>C  </a:t>
            </a:r>
            <a:r>
              <a:rPr dirty="0" sz="1450" spc="15" i="1">
                <a:solidFill>
                  <a:srgbClr val="008000"/>
                </a:solidFill>
                <a:latin typeface="Arial"/>
                <a:cs typeface="Arial"/>
              </a:rPr>
              <a:t>≈</a:t>
            </a:r>
            <a:r>
              <a:rPr dirty="0" sz="1450" spc="-105" i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50" spc="0" i="1">
                <a:solidFill>
                  <a:srgbClr val="008000"/>
                </a:solidFill>
                <a:latin typeface="Arial"/>
                <a:cs typeface="Arial"/>
              </a:rPr>
              <a:t>8·10</a:t>
            </a:r>
            <a:r>
              <a:rPr dirty="0" baseline="22222" sz="1500" spc="0" i="1">
                <a:solidFill>
                  <a:srgbClr val="008000"/>
                </a:solidFill>
                <a:latin typeface="Arial"/>
                <a:cs typeface="Arial"/>
              </a:rPr>
              <a:t>-8</a:t>
            </a:r>
            <a:endParaRPr baseline="22222" sz="1500">
              <a:latin typeface="Arial"/>
              <a:cs typeface="Arial"/>
            </a:endParaRPr>
          </a:p>
        </p:txBody>
      </p:sp>
      <p:sp>
        <p:nvSpPr>
          <p:cNvPr id="92" name="object 9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93" name="object 9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94" name="object 94"/>
          <p:cNvSpPr txBox="1"/>
          <p:nvPr/>
        </p:nvSpPr>
        <p:spPr>
          <a:xfrm>
            <a:off x="8706984" y="6699893"/>
            <a:ext cx="16573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36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915843" y="831517"/>
            <a:ext cx="4753610" cy="2270760"/>
          </a:xfrm>
          <a:prstGeom prst="rect">
            <a:avLst/>
          </a:prstGeom>
        </p:spPr>
        <p:txBody>
          <a:bodyPr wrap="square" lIns="0" tIns="25463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005"/>
              </a:spcBef>
            </a:pPr>
            <a:r>
              <a:rPr dirty="0" sz="3300" spc="-5" b="1">
                <a:solidFill>
                  <a:srgbClr val="0000FF"/>
                </a:solidFill>
                <a:latin typeface="Corbel"/>
                <a:cs typeface="Corbel"/>
              </a:rPr>
              <a:t>M</a:t>
            </a:r>
            <a:r>
              <a:rPr dirty="0" sz="3300" b="1">
                <a:solidFill>
                  <a:srgbClr val="0000FF"/>
                </a:solidFill>
                <a:latin typeface="Corbel"/>
                <a:cs typeface="Corbel"/>
              </a:rPr>
              <a:t>SN</a:t>
            </a:r>
            <a:endParaRPr sz="3300">
              <a:latin typeface="Corbel"/>
              <a:cs typeface="Corbel"/>
            </a:endParaRPr>
          </a:p>
          <a:p>
            <a:pPr marL="12700" marR="167005">
              <a:lnSpc>
                <a:spcPts val="5950"/>
              </a:lnSpc>
              <a:spcBef>
                <a:spcPts val="445"/>
              </a:spcBef>
              <a:tabLst>
                <a:tab pos="3874770" algn="l"/>
                <a:tab pos="3978275" algn="l"/>
              </a:tabLst>
            </a:pPr>
            <a:r>
              <a:rPr dirty="0" sz="3300" spc="-30" b="1">
                <a:latin typeface="Calibri"/>
                <a:cs typeface="Calibri"/>
              </a:rPr>
              <a:t>Avg.</a:t>
            </a:r>
            <a:r>
              <a:rPr dirty="0" sz="3300" spc="-5" b="1">
                <a:latin typeface="Calibri"/>
                <a:cs typeface="Calibri"/>
              </a:rPr>
              <a:t> </a:t>
            </a:r>
            <a:r>
              <a:rPr dirty="0" sz="3300" spc="-10" b="1">
                <a:latin typeface="Calibri"/>
                <a:cs typeface="Calibri"/>
              </a:rPr>
              <a:t>path</a:t>
            </a:r>
            <a:r>
              <a:rPr dirty="0" sz="3300" b="1">
                <a:latin typeface="Calibri"/>
                <a:cs typeface="Calibri"/>
              </a:rPr>
              <a:t> </a:t>
            </a:r>
            <a:r>
              <a:rPr dirty="0" sz="3300" spc="-5" b="1">
                <a:latin typeface="Calibri"/>
                <a:cs typeface="Calibri"/>
              </a:rPr>
              <a:t>length:		6.6  </a:t>
            </a:r>
            <a:r>
              <a:rPr dirty="0" sz="3300" spc="-80" b="1">
                <a:latin typeface="Calibri"/>
                <a:cs typeface="Calibri"/>
              </a:rPr>
              <a:t>A</a:t>
            </a:r>
            <a:r>
              <a:rPr dirty="0" sz="3300" spc="-40" b="1">
                <a:latin typeface="Calibri"/>
                <a:cs typeface="Calibri"/>
              </a:rPr>
              <a:t>v</a:t>
            </a:r>
            <a:r>
              <a:rPr dirty="0" sz="3300" b="1">
                <a:latin typeface="Calibri"/>
                <a:cs typeface="Calibri"/>
              </a:rPr>
              <a:t>g.</a:t>
            </a:r>
            <a:r>
              <a:rPr dirty="0" sz="3300" spc="-10" b="1">
                <a:latin typeface="Calibri"/>
                <a:cs typeface="Calibri"/>
              </a:rPr>
              <a:t> </a:t>
            </a:r>
            <a:r>
              <a:rPr dirty="0" sz="3300" b="1">
                <a:latin typeface="Calibri"/>
                <a:cs typeface="Calibri"/>
              </a:rPr>
              <a:t>clu</a:t>
            </a:r>
            <a:r>
              <a:rPr dirty="0" sz="3300" spc="-35" b="1">
                <a:latin typeface="Calibri"/>
                <a:cs typeface="Calibri"/>
              </a:rPr>
              <a:t>s</a:t>
            </a:r>
            <a:r>
              <a:rPr dirty="0" sz="3300" spc="-40" b="1">
                <a:latin typeface="Calibri"/>
                <a:cs typeface="Calibri"/>
              </a:rPr>
              <a:t>t</a:t>
            </a:r>
            <a:r>
              <a:rPr dirty="0" sz="3300" spc="-5" b="1">
                <a:latin typeface="Calibri"/>
                <a:cs typeface="Calibri"/>
              </a:rPr>
              <a:t>e</a:t>
            </a:r>
            <a:r>
              <a:rPr dirty="0" sz="3300" b="1">
                <a:latin typeface="Calibri"/>
                <a:cs typeface="Calibri"/>
              </a:rPr>
              <a:t>ring</a:t>
            </a:r>
            <a:r>
              <a:rPr dirty="0" sz="3300" spc="-5" b="1">
                <a:latin typeface="Calibri"/>
                <a:cs typeface="Calibri"/>
              </a:rPr>
              <a:t> </a:t>
            </a:r>
            <a:r>
              <a:rPr dirty="0" sz="3300" spc="-20" b="1">
                <a:latin typeface="Calibri"/>
                <a:cs typeface="Calibri"/>
              </a:rPr>
              <a:t>c</a:t>
            </a:r>
            <a:r>
              <a:rPr dirty="0" sz="3300" b="1">
                <a:latin typeface="Calibri"/>
                <a:cs typeface="Calibri"/>
              </a:rPr>
              <a:t>o</a:t>
            </a:r>
            <a:r>
              <a:rPr dirty="0" sz="3300" spc="-25" b="1">
                <a:latin typeface="Calibri"/>
                <a:cs typeface="Calibri"/>
              </a:rPr>
              <a:t>e</a:t>
            </a:r>
            <a:r>
              <a:rPr dirty="0" sz="3300" spc="-185" b="1">
                <a:latin typeface="Calibri"/>
                <a:cs typeface="Calibri"/>
              </a:rPr>
              <a:t>f</a:t>
            </a:r>
            <a:r>
              <a:rPr dirty="0" sz="3300" spc="-5" b="1">
                <a:latin typeface="Calibri"/>
                <a:cs typeface="Calibri"/>
              </a:rPr>
              <a:t>.</a:t>
            </a:r>
            <a:r>
              <a:rPr dirty="0" sz="3300" b="1">
                <a:latin typeface="Calibri"/>
                <a:cs typeface="Calibri"/>
              </a:rPr>
              <a:t>:</a:t>
            </a:r>
            <a:r>
              <a:rPr dirty="0" sz="3300" b="1">
                <a:latin typeface="Calibri"/>
                <a:cs typeface="Calibri"/>
              </a:rPr>
              <a:t>	</a:t>
            </a:r>
            <a:r>
              <a:rPr dirty="0" sz="3300" i="1">
                <a:latin typeface="Times New Roman"/>
                <a:cs typeface="Times New Roman"/>
              </a:rPr>
              <a:t>0.</a:t>
            </a:r>
            <a:r>
              <a:rPr dirty="0" sz="3300" spc="-250" i="1">
                <a:latin typeface="Times New Roman"/>
                <a:cs typeface="Times New Roman"/>
              </a:rPr>
              <a:t>1</a:t>
            </a:r>
            <a:r>
              <a:rPr dirty="0" sz="3300" i="1">
                <a:latin typeface="Times New Roman"/>
                <a:cs typeface="Times New Roman"/>
              </a:rPr>
              <a:t>1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319575" y="1167269"/>
            <a:ext cx="616585" cy="529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12626" sz="4950" b="1">
                <a:solidFill>
                  <a:srgbClr val="0000FF"/>
                </a:solidFill>
                <a:latin typeface="Corbel"/>
                <a:cs typeface="Corbel"/>
              </a:rPr>
              <a:t>G</a:t>
            </a:r>
            <a:r>
              <a:rPr dirty="0" sz="2200" spc="-5" b="1">
                <a:solidFill>
                  <a:srgbClr val="0000FF"/>
                </a:solidFill>
                <a:latin typeface="Corbel"/>
                <a:cs typeface="Corbel"/>
              </a:rPr>
              <a:t>np</a:t>
            </a:r>
            <a:endParaRPr sz="2200">
              <a:latin typeface="Corbel"/>
              <a:cs typeface="Corbe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7273008" y="1345638"/>
            <a:ext cx="681355" cy="2520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50" spc="10" b="1">
                <a:latin typeface="Corbel"/>
                <a:cs typeface="Corbel"/>
              </a:rPr>
              <a:t>n=180M</a:t>
            </a:r>
            <a:endParaRPr sz="1450">
              <a:latin typeface="Corbel"/>
              <a:cs typeface="Corbe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5984912" y="1775820"/>
            <a:ext cx="2120900" cy="13265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4310"/>
              </a:lnSpc>
              <a:spcBef>
                <a:spcPts val="135"/>
              </a:spcBef>
              <a:tabLst>
                <a:tab pos="1696085" algn="l"/>
              </a:tabLst>
            </a:pPr>
            <a:r>
              <a:rPr dirty="0" sz="3300" spc="-5" i="1">
                <a:latin typeface="Times New Roman"/>
                <a:cs typeface="Times New Roman"/>
              </a:rPr>
              <a:t>O</a:t>
            </a:r>
            <a:r>
              <a:rPr dirty="0" sz="3300">
                <a:latin typeface="Times New Roman"/>
                <a:cs typeface="Times New Roman"/>
              </a:rPr>
              <a:t>(log</a:t>
            </a:r>
            <a:r>
              <a:rPr dirty="0" sz="3300">
                <a:latin typeface="Times New Roman"/>
                <a:cs typeface="Times New Roman"/>
              </a:rPr>
              <a:t> </a:t>
            </a:r>
            <a:r>
              <a:rPr dirty="0" sz="3300" i="1">
                <a:latin typeface="Times New Roman"/>
                <a:cs typeface="Times New Roman"/>
              </a:rPr>
              <a:t>n</a:t>
            </a:r>
            <a:r>
              <a:rPr dirty="0" sz="3300">
                <a:latin typeface="Times New Roman"/>
                <a:cs typeface="Times New Roman"/>
              </a:rPr>
              <a:t>)</a:t>
            </a:r>
            <a:r>
              <a:rPr dirty="0" sz="3300">
                <a:latin typeface="Times New Roman"/>
                <a:cs typeface="Times New Roman"/>
              </a:rPr>
              <a:t>	</a:t>
            </a:r>
            <a:r>
              <a:rPr dirty="0" baseline="-2314" sz="5400" spc="3315">
                <a:solidFill>
                  <a:srgbClr val="008000"/>
                </a:solidFill>
                <a:latin typeface="Segoe UI Symbol"/>
                <a:cs typeface="Segoe UI Symbol"/>
              </a:rPr>
              <a:t>!</a:t>
            </a:r>
            <a:endParaRPr baseline="-2314" sz="5400">
              <a:latin typeface="Segoe UI Symbol"/>
              <a:cs typeface="Segoe UI Symbol"/>
            </a:endParaRPr>
          </a:p>
          <a:p>
            <a:pPr marL="337185">
              <a:lnSpc>
                <a:spcPts val="1730"/>
              </a:lnSpc>
            </a:pPr>
            <a:r>
              <a:rPr dirty="0" sz="1450" spc="15" i="1">
                <a:solidFill>
                  <a:srgbClr val="008000"/>
                </a:solidFill>
                <a:latin typeface="Arial"/>
                <a:cs typeface="Arial"/>
              </a:rPr>
              <a:t>h  ≈</a:t>
            </a:r>
            <a:r>
              <a:rPr dirty="0" sz="1450" spc="-114" i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450" spc="5" i="1">
                <a:solidFill>
                  <a:srgbClr val="008000"/>
                </a:solidFill>
                <a:latin typeface="Arial"/>
                <a:cs typeface="Arial"/>
              </a:rPr>
              <a:t>8.2</a:t>
            </a:r>
            <a:endParaRPr sz="1450">
              <a:latin typeface="Arial"/>
              <a:cs typeface="Arial"/>
            </a:endParaRPr>
          </a:p>
          <a:p>
            <a:pPr marL="348615">
              <a:lnSpc>
                <a:spcPct val="100000"/>
              </a:lnSpc>
              <a:spcBef>
                <a:spcPts val="210"/>
              </a:spcBef>
            </a:pPr>
            <a:r>
              <a:rPr dirty="0" sz="3300" i="1">
                <a:latin typeface="Times New Roman"/>
                <a:cs typeface="Times New Roman"/>
              </a:rPr>
              <a:t>k /</a:t>
            </a:r>
            <a:r>
              <a:rPr dirty="0" sz="3300" spc="-95" i="1">
                <a:latin typeface="Times New Roman"/>
                <a:cs typeface="Times New Roman"/>
              </a:rPr>
              <a:t> </a:t>
            </a:r>
            <a:r>
              <a:rPr dirty="0" sz="3300" i="1">
                <a:latin typeface="Times New Roman"/>
                <a:cs typeface="Times New Roman"/>
              </a:rPr>
              <a:t>n</a:t>
            </a:r>
            <a:endParaRPr sz="3300">
              <a:latin typeface="Times New Roman"/>
              <a:cs typeface="Times New Roman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7668435" y="2657169"/>
            <a:ext cx="437515" cy="579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600" spc="1825">
                <a:solidFill>
                  <a:srgbClr val="FF0000"/>
                </a:solidFill>
                <a:latin typeface="Segoe UI Symbol"/>
                <a:cs typeface="Segoe UI Symbol"/>
              </a:rPr>
              <a:t>"</a:t>
            </a:r>
            <a:endParaRPr sz="36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69976" y="347472"/>
            <a:ext cx="7851648" cy="55778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095" y="1348740"/>
            <a:ext cx="630364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pc="-15">
                <a:solidFill>
                  <a:srgbClr val="C00000"/>
                </a:solidFill>
              </a:rPr>
              <a:t>Real </a:t>
            </a:r>
            <a:r>
              <a:rPr dirty="0" spc="-10">
                <a:solidFill>
                  <a:srgbClr val="C00000"/>
                </a:solidFill>
              </a:rPr>
              <a:t>networks </a:t>
            </a:r>
            <a:r>
              <a:rPr dirty="0" spc="-25">
                <a:solidFill>
                  <a:srgbClr val="C00000"/>
                </a:solidFill>
              </a:rPr>
              <a:t>have </a:t>
            </a:r>
            <a:r>
              <a:rPr dirty="0" spc="-5">
                <a:solidFill>
                  <a:srgbClr val="C00000"/>
                </a:solidFill>
              </a:rPr>
              <a:t>high </a:t>
            </a:r>
            <a:r>
              <a:rPr dirty="0" spc="-35">
                <a:solidFill>
                  <a:srgbClr val="C00000"/>
                </a:solidFill>
              </a:rPr>
              <a:t>clustering: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706984" y="6699893"/>
            <a:ext cx="16573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36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095" y="1844547"/>
            <a:ext cx="7555230" cy="136461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625475" marR="5080" indent="-274320">
              <a:lnSpc>
                <a:spcPts val="3290"/>
              </a:lnSpc>
              <a:spcBef>
                <a:spcPts val="265"/>
              </a:spcBef>
              <a:buClr>
                <a:srgbClr val="60B5CC"/>
              </a:buClr>
              <a:buSzPct val="92857"/>
              <a:buFont typeface="Malgun Gothic"/>
              <a:buChar char="▪"/>
              <a:tabLst>
                <a:tab pos="625475" algn="l"/>
              </a:tabLst>
            </a:pPr>
            <a:r>
              <a:rPr dirty="0" sz="2800" spc="-5" b="1">
                <a:latin typeface="Calibri"/>
                <a:cs typeface="Calibri"/>
              </a:rPr>
              <a:t>MSN </a:t>
            </a:r>
            <a:r>
              <a:rPr dirty="0" sz="2800" spc="-10" b="1">
                <a:latin typeface="Calibri"/>
                <a:cs typeface="Calibri"/>
              </a:rPr>
              <a:t>network </a:t>
            </a:r>
            <a:r>
              <a:rPr dirty="0" sz="2800" spc="-5" b="1">
                <a:latin typeface="Calibri"/>
                <a:cs typeface="Calibri"/>
              </a:rPr>
              <a:t>has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7 </a:t>
            </a:r>
            <a:r>
              <a:rPr dirty="0" sz="2800" spc="-15" b="1">
                <a:solidFill>
                  <a:srgbClr val="C00000"/>
                </a:solidFill>
                <a:latin typeface="Calibri"/>
                <a:cs typeface="Calibri"/>
              </a:rPr>
              <a:t>orders </a:t>
            </a:r>
            <a:r>
              <a:rPr dirty="0" sz="2800" spc="-5" b="1">
                <a:solidFill>
                  <a:srgbClr val="C00000"/>
                </a:solidFill>
                <a:latin typeface="Calibri"/>
                <a:cs typeface="Calibri"/>
              </a:rPr>
              <a:t>of magnitude </a:t>
            </a:r>
            <a:r>
              <a:rPr dirty="0" sz="2800" spc="-80" b="1">
                <a:solidFill>
                  <a:srgbClr val="C00000"/>
                </a:solidFill>
                <a:latin typeface="Calibri"/>
                <a:cs typeface="Calibri"/>
              </a:rPr>
              <a:t>larger 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clustering </a:t>
            </a:r>
            <a:r>
              <a:rPr dirty="0" sz="2800" spc="-5" b="1">
                <a:latin typeface="Calibri"/>
                <a:cs typeface="Calibri"/>
              </a:rPr>
              <a:t>than the </a:t>
            </a:r>
            <a:r>
              <a:rPr dirty="0" sz="2800" spc="-10" b="1">
                <a:latin typeface="Calibri"/>
                <a:cs typeface="Calibri"/>
              </a:rPr>
              <a:t>corresponding</a:t>
            </a:r>
            <a:r>
              <a:rPr dirty="0" sz="2800" spc="15" b="1">
                <a:latin typeface="Calibri"/>
                <a:cs typeface="Calibri"/>
              </a:rPr>
              <a:t> </a:t>
            </a:r>
            <a:r>
              <a:rPr dirty="0" sz="2800" spc="-10" b="1" i="1">
                <a:latin typeface="Calibri"/>
                <a:cs typeface="Calibri"/>
              </a:rPr>
              <a:t>G</a:t>
            </a:r>
            <a:r>
              <a:rPr dirty="0" baseline="-17543" sz="2850" spc="-15" b="1" i="1">
                <a:latin typeface="Calibri"/>
                <a:cs typeface="Calibri"/>
              </a:rPr>
              <a:t>np</a:t>
            </a:r>
            <a:r>
              <a:rPr dirty="0" sz="2800" spc="-10" b="1">
                <a:latin typeface="Calibri"/>
                <a:cs typeface="Calibri"/>
              </a:rPr>
              <a:t>!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00"/>
              </a:lnSpc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Other</a:t>
            </a:r>
            <a:r>
              <a:rPr dirty="0" sz="3200" spc="-9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examples: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67861" y="5958332"/>
            <a:ext cx="4658360" cy="5651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25"/>
              </a:lnSpc>
              <a:spcBef>
                <a:spcPts val="100"/>
              </a:spcBef>
            </a:pPr>
            <a:r>
              <a:rPr dirty="0" sz="1800" spc="-10">
                <a:solidFill>
                  <a:srgbClr val="008000"/>
                </a:solidFill>
                <a:latin typeface="Calibri"/>
                <a:cs typeface="Calibri"/>
              </a:rPr>
              <a:t>“actual” </a:t>
            </a:r>
            <a:r>
              <a:rPr dirty="0" sz="1800">
                <a:solidFill>
                  <a:srgbClr val="008000"/>
                </a:solidFill>
                <a:latin typeface="Calibri"/>
                <a:cs typeface="Calibri"/>
              </a:rPr>
              <a:t>… </a:t>
            </a:r>
            <a:r>
              <a:rPr dirty="0" sz="1800" spc="-10">
                <a:solidFill>
                  <a:srgbClr val="008000"/>
                </a:solidFill>
                <a:latin typeface="Calibri"/>
                <a:cs typeface="Calibri"/>
              </a:rPr>
              <a:t>real</a:t>
            </a:r>
            <a:r>
              <a:rPr dirty="0" sz="1800" spc="-55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Calibri"/>
                <a:cs typeface="Calibri"/>
              </a:rPr>
              <a:t>network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125"/>
              </a:lnSpc>
            </a:pPr>
            <a:r>
              <a:rPr dirty="0" sz="1800" spc="-10">
                <a:solidFill>
                  <a:srgbClr val="008000"/>
                </a:solidFill>
                <a:latin typeface="Calibri"/>
                <a:cs typeface="Calibri"/>
              </a:rPr>
              <a:t>“random” </a:t>
            </a:r>
            <a:r>
              <a:rPr dirty="0" sz="1800">
                <a:solidFill>
                  <a:srgbClr val="008000"/>
                </a:solidFill>
                <a:latin typeface="Calibri"/>
                <a:cs typeface="Calibri"/>
              </a:rPr>
              <a:t>… </a:t>
            </a:r>
            <a:r>
              <a:rPr dirty="0" sz="1800" spc="-10">
                <a:solidFill>
                  <a:srgbClr val="008000"/>
                </a:solidFill>
                <a:latin typeface="Calibri"/>
                <a:cs typeface="Calibri"/>
              </a:rPr>
              <a:t>random graph </a:t>
            </a:r>
            <a:r>
              <a:rPr dirty="0" sz="1800" spc="-5">
                <a:solidFill>
                  <a:srgbClr val="008000"/>
                </a:solidFill>
                <a:latin typeface="Calibri"/>
                <a:cs typeface="Calibri"/>
              </a:rPr>
              <a:t>with same </a:t>
            </a:r>
            <a:r>
              <a:rPr dirty="0" sz="1800" spc="-15">
                <a:solidFill>
                  <a:srgbClr val="008000"/>
                </a:solidFill>
                <a:latin typeface="Calibri"/>
                <a:cs typeface="Calibri"/>
              </a:rPr>
              <a:t>avg.</a:t>
            </a:r>
            <a:r>
              <a:rPr dirty="0" sz="1800" spc="5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Calibri"/>
                <a:cs typeface="Calibri"/>
              </a:rPr>
              <a:t>degree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275536" y="3425825"/>
          <a:ext cx="8669655" cy="2567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09260"/>
                <a:gridCol w="1243114"/>
                <a:gridCol w="1314330"/>
                <a:gridCol w="1092141"/>
                <a:gridCol w="1083006"/>
                <a:gridCol w="937910"/>
                <a:gridCol w="1279785"/>
              </a:tblGrid>
              <a:tr h="635000">
                <a:tc>
                  <a:txBody>
                    <a:bodyPr/>
                    <a:lstStyle/>
                    <a:p>
                      <a:pPr marL="358140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Network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73990">
                    <a:lnL w="9525">
                      <a:solidFill>
                        <a:srgbClr val="F0AC00"/>
                      </a:solidFill>
                      <a:prstDash val="solid"/>
                    </a:lnL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 marL="212725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Nodes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73990"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 marL="158750">
                        <a:lnSpc>
                          <a:spcPct val="100000"/>
                        </a:lnSpc>
                        <a:spcBef>
                          <a:spcPts val="1370"/>
                        </a:spcBef>
                      </a:pPr>
                      <a:r>
                        <a:rPr dirty="0" sz="1800" spc="-5" b="1">
                          <a:solidFill>
                            <a:srgbClr val="FFFFFF"/>
                          </a:solidFill>
                          <a:latin typeface="Corbel"/>
                          <a:cs typeface="Corbel"/>
                        </a:rPr>
                        <a:t>Degree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73990"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248285">
                        <a:lnSpc>
                          <a:spcPct val="100000"/>
                        </a:lnSpc>
                        <a:spcBef>
                          <a:spcPts val="1655"/>
                        </a:spcBef>
                      </a:pPr>
                      <a:r>
                        <a:rPr dirty="0" baseline="9259" sz="2700" spc="0" b="1">
                          <a:solidFill>
                            <a:srgbClr val="0070C0"/>
                          </a:solidFill>
                          <a:latin typeface="Corbel"/>
                          <a:cs typeface="Corbel"/>
                        </a:rPr>
                        <a:t>h</a:t>
                      </a:r>
                      <a:r>
                        <a:rPr dirty="0" sz="1200" spc="-10" b="1">
                          <a:solidFill>
                            <a:srgbClr val="0070C0"/>
                          </a:solidFill>
                          <a:latin typeface="Corbel"/>
                          <a:cs typeface="Corbel"/>
                        </a:rPr>
                        <a:t>a</a:t>
                      </a:r>
                      <a:r>
                        <a:rPr dirty="0" sz="1200" spc="-5" b="1">
                          <a:solidFill>
                            <a:srgbClr val="0070C0"/>
                          </a:solidFill>
                          <a:latin typeface="Corbel"/>
                          <a:cs typeface="Corbel"/>
                        </a:rPr>
                        <a:t>ctu</a:t>
                      </a:r>
                      <a:r>
                        <a:rPr dirty="0" sz="1200" spc="-10" b="1">
                          <a:solidFill>
                            <a:srgbClr val="0070C0"/>
                          </a:solidFill>
                          <a:latin typeface="Corbel"/>
                          <a:cs typeface="Corbel"/>
                        </a:rPr>
                        <a:t>al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210185"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 algn="r" marR="175260">
                        <a:lnSpc>
                          <a:spcPct val="100000"/>
                        </a:lnSpc>
                        <a:spcBef>
                          <a:spcPts val="1655"/>
                        </a:spcBef>
                      </a:pPr>
                      <a:r>
                        <a:rPr dirty="0" baseline="9259" sz="2700" spc="0" b="1">
                          <a:solidFill>
                            <a:srgbClr val="0070C0"/>
                          </a:solidFill>
                          <a:latin typeface="Corbel"/>
                          <a:cs typeface="Corbel"/>
                        </a:rPr>
                        <a:t>h</a:t>
                      </a:r>
                      <a:r>
                        <a:rPr dirty="0" sz="1200" spc="0" b="1">
                          <a:solidFill>
                            <a:srgbClr val="0070C0"/>
                          </a:solidFill>
                          <a:latin typeface="Corbel"/>
                          <a:cs typeface="Corbel"/>
                        </a:rPr>
                        <a:t>r</a:t>
                      </a:r>
                      <a:r>
                        <a:rPr dirty="0" sz="1200" spc="-10" b="1">
                          <a:solidFill>
                            <a:srgbClr val="0070C0"/>
                          </a:solidFill>
                          <a:latin typeface="Corbel"/>
                          <a:cs typeface="Corbel"/>
                        </a:rPr>
                        <a:t>a</a:t>
                      </a:r>
                      <a:r>
                        <a:rPr dirty="0" sz="1200" spc="-5" b="1">
                          <a:solidFill>
                            <a:srgbClr val="0070C0"/>
                          </a:solidFill>
                          <a:latin typeface="Corbel"/>
                          <a:cs typeface="Corbel"/>
                        </a:rPr>
                        <a:t>n</a:t>
                      </a:r>
                      <a:r>
                        <a:rPr dirty="0" sz="1200" spc="0" b="1">
                          <a:solidFill>
                            <a:srgbClr val="0070C0"/>
                          </a:solidFill>
                          <a:latin typeface="Corbel"/>
                          <a:cs typeface="Corbel"/>
                        </a:rPr>
                        <a:t>d</a:t>
                      </a:r>
                      <a:r>
                        <a:rPr dirty="0" sz="1200" spc="-5" b="1">
                          <a:solidFill>
                            <a:srgbClr val="0070C0"/>
                          </a:solidFill>
                          <a:latin typeface="Corbel"/>
                          <a:cs typeface="Corbel"/>
                        </a:rPr>
                        <a:t>o</a:t>
                      </a:r>
                      <a:r>
                        <a:rPr dirty="0" sz="1200" b="1">
                          <a:solidFill>
                            <a:srgbClr val="0070C0"/>
                          </a:solidFill>
                          <a:latin typeface="Corbel"/>
                          <a:cs typeface="Corbel"/>
                        </a:rPr>
                        <a:t>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210185"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1655"/>
                        </a:spcBef>
                      </a:pPr>
                      <a:r>
                        <a:rPr dirty="0" baseline="9259" sz="2700" spc="-15" b="1">
                          <a:solidFill>
                            <a:srgbClr val="C00000"/>
                          </a:solidFill>
                          <a:latin typeface="Corbel"/>
                          <a:cs typeface="Corbel"/>
                        </a:rPr>
                        <a:t>C</a:t>
                      </a:r>
                      <a:r>
                        <a:rPr dirty="0" sz="1200" spc="-10" b="1">
                          <a:solidFill>
                            <a:srgbClr val="C00000"/>
                          </a:solidFill>
                          <a:latin typeface="Corbel"/>
                          <a:cs typeface="Corbel"/>
                        </a:rPr>
                        <a:t>actual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210185">
                    <a:solidFill>
                      <a:srgbClr val="F0AD00"/>
                    </a:solidFill>
                  </a:tcPr>
                </a:tc>
                <a:tc>
                  <a:txBody>
                    <a:bodyPr/>
                    <a:lstStyle/>
                    <a:p>
                      <a:pPr marL="182880">
                        <a:lnSpc>
                          <a:spcPct val="100000"/>
                        </a:lnSpc>
                        <a:spcBef>
                          <a:spcPts val="1655"/>
                        </a:spcBef>
                      </a:pPr>
                      <a:r>
                        <a:rPr dirty="0" baseline="9259" sz="2700" spc="-7" b="1">
                          <a:solidFill>
                            <a:srgbClr val="C00000"/>
                          </a:solidFill>
                          <a:latin typeface="Corbel"/>
                          <a:cs typeface="Corbel"/>
                        </a:rPr>
                        <a:t>C</a:t>
                      </a:r>
                      <a:r>
                        <a:rPr dirty="0" sz="1200" spc="-5" b="1">
                          <a:solidFill>
                            <a:srgbClr val="C00000"/>
                          </a:solidFill>
                          <a:latin typeface="Corbel"/>
                          <a:cs typeface="Corbel"/>
                        </a:rPr>
                        <a:t>random</a:t>
                      </a:r>
                      <a:endParaRPr sz="1200">
                        <a:latin typeface="Corbel"/>
                        <a:cs typeface="Corbel"/>
                      </a:endParaRPr>
                    </a:p>
                  </a:txBody>
                  <a:tcPr marL="0" marR="0" marB="0" marT="210185">
                    <a:lnR w="9525">
                      <a:solidFill>
                        <a:srgbClr val="F0AC00"/>
                      </a:solidFill>
                      <a:prstDash val="solid"/>
                    </a:lnR>
                    <a:solidFill>
                      <a:srgbClr val="F0AD00"/>
                    </a:solidFill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marL="86360" marR="205104">
                        <a:lnSpc>
                          <a:spcPts val="2090"/>
                        </a:lnSpc>
                        <a:spcBef>
                          <a:spcPts val="365"/>
                        </a:spcBef>
                      </a:pPr>
                      <a:r>
                        <a:rPr dirty="0" sz="1800" spc="-5" b="1">
                          <a:latin typeface="Corbel"/>
                          <a:cs typeface="Corbel"/>
                        </a:rPr>
                        <a:t>Film actor  </a:t>
                      </a:r>
                      <a:r>
                        <a:rPr dirty="0" sz="1800" spc="-10" b="1">
                          <a:latin typeface="Corbel"/>
                          <a:cs typeface="Corbel"/>
                        </a:rPr>
                        <a:t>c</a:t>
                      </a:r>
                      <a:r>
                        <a:rPr dirty="0" sz="1800" b="1">
                          <a:latin typeface="Corbel"/>
                          <a:cs typeface="Corbel"/>
                        </a:rPr>
                        <a:t>o</a:t>
                      </a:r>
                      <a:r>
                        <a:rPr dirty="0" sz="1800" spc="-5" b="1">
                          <a:latin typeface="Corbel"/>
                          <a:cs typeface="Corbel"/>
                        </a:rPr>
                        <a:t>llab</a:t>
                      </a:r>
                      <a:r>
                        <a:rPr dirty="0" sz="1800" b="1">
                          <a:latin typeface="Corbel"/>
                          <a:cs typeface="Corbel"/>
                        </a:rPr>
                        <a:t>o</a:t>
                      </a:r>
                      <a:r>
                        <a:rPr dirty="0" sz="1800" spc="-5" b="1">
                          <a:latin typeface="Corbel"/>
                          <a:cs typeface="Corbel"/>
                        </a:rPr>
                        <a:t>ra</a:t>
                      </a:r>
                      <a:r>
                        <a:rPr dirty="0" sz="1800" b="1">
                          <a:latin typeface="Corbel"/>
                          <a:cs typeface="Corbel"/>
                        </a:rPr>
                        <a:t>tions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46355">
                    <a:lnL w="9525">
                      <a:solidFill>
                        <a:srgbClr val="F0AC00"/>
                      </a:solidFill>
                      <a:prstDash val="solid"/>
                    </a:lnL>
                    <a:lnB w="9525">
                      <a:solidFill>
                        <a:srgbClr val="F0A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113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dirty="0" sz="1800" spc="-75">
                          <a:latin typeface="Corbel"/>
                          <a:cs typeface="Corbel"/>
                        </a:rPr>
                        <a:t>2</a:t>
                      </a:r>
                      <a:r>
                        <a:rPr dirty="0" sz="1800" spc="-50">
                          <a:latin typeface="Corbel"/>
                          <a:cs typeface="Corbel"/>
                        </a:rPr>
                        <a:t>2</a:t>
                      </a:r>
                      <a:r>
                        <a:rPr dirty="0" sz="1800" spc="-5">
                          <a:latin typeface="Corbel"/>
                          <a:cs typeface="Corbel"/>
                        </a:rPr>
                        <a:t>5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,</a:t>
                      </a:r>
                      <a:r>
                        <a:rPr dirty="0" sz="1800" spc="-75">
                          <a:latin typeface="Corbel"/>
                          <a:cs typeface="Corbel"/>
                        </a:rPr>
                        <a:t>2</a:t>
                      </a:r>
                      <a:r>
                        <a:rPr dirty="0" sz="1800" spc="0">
                          <a:latin typeface="Corbel"/>
                          <a:cs typeface="Corbel"/>
                        </a:rPr>
                        <a:t>2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6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67005">
                    <a:lnB w="9525">
                      <a:solidFill>
                        <a:srgbClr val="F0A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9972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dirty="0" sz="1800" spc="0">
                          <a:latin typeface="Corbel"/>
                          <a:cs typeface="Corbel"/>
                        </a:rPr>
                        <a:t>61</a:t>
                      </a:r>
                      <a:r>
                        <a:rPr dirty="0" sz="1800" spc="-5">
                          <a:latin typeface="Corbel"/>
                          <a:cs typeface="Corbel"/>
                        </a:rPr>
                        <a:t>.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00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67005">
                    <a:lnB w="9525">
                      <a:solidFill>
                        <a:srgbClr val="F0A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4765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dirty="0" sz="1800" spc="-5">
                          <a:latin typeface="Corbel"/>
                          <a:cs typeface="Corbel"/>
                        </a:rPr>
                        <a:t>3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.</a:t>
                      </a:r>
                      <a:r>
                        <a:rPr dirty="0" sz="1800" spc="-20">
                          <a:latin typeface="Corbel"/>
                          <a:cs typeface="Corbel"/>
                        </a:rPr>
                        <a:t>6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5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67005">
                    <a:lnB w="9525">
                      <a:solidFill>
                        <a:srgbClr val="F0A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589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dirty="0" sz="1800" spc="0">
                          <a:latin typeface="Corbel"/>
                          <a:cs typeface="Corbel"/>
                        </a:rPr>
                        <a:t>2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.</a:t>
                      </a:r>
                      <a:r>
                        <a:rPr dirty="0" sz="1800" spc="0">
                          <a:latin typeface="Corbel"/>
                          <a:cs typeface="Corbel"/>
                        </a:rPr>
                        <a:t>9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9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67005">
                    <a:lnB w="9525">
                      <a:solidFill>
                        <a:srgbClr val="F0A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6530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dirty="0" sz="1800">
                          <a:latin typeface="Corbel"/>
                          <a:cs typeface="Corbel"/>
                        </a:rPr>
                        <a:t>0.</a:t>
                      </a:r>
                      <a:r>
                        <a:rPr dirty="0" sz="1800" spc="0">
                          <a:latin typeface="Corbel"/>
                          <a:cs typeface="Corbel"/>
                        </a:rPr>
                        <a:t>7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9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67005">
                    <a:lnB w="9525">
                      <a:solidFill>
                        <a:srgbClr val="F0A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79375">
                        <a:lnSpc>
                          <a:spcPct val="100000"/>
                        </a:lnSpc>
                        <a:spcBef>
                          <a:spcPts val="1315"/>
                        </a:spcBef>
                      </a:pPr>
                      <a:r>
                        <a:rPr dirty="0" sz="1800">
                          <a:latin typeface="Corbel"/>
                          <a:cs typeface="Corbel"/>
                        </a:rPr>
                        <a:t>0.00</a:t>
                      </a:r>
                      <a:r>
                        <a:rPr dirty="0" sz="1800" spc="-40">
                          <a:latin typeface="Corbel"/>
                          <a:cs typeface="Corbel"/>
                        </a:rPr>
                        <a:t>0</a:t>
                      </a:r>
                      <a:r>
                        <a:rPr dirty="0" sz="1800" spc="-35">
                          <a:latin typeface="Corbel"/>
                          <a:cs typeface="Corbel"/>
                        </a:rPr>
                        <a:t>2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7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67005">
                    <a:lnR w="9525">
                      <a:solidFill>
                        <a:srgbClr val="F0AC00"/>
                      </a:solidFill>
                      <a:prstDash val="solid"/>
                    </a:lnR>
                    <a:lnB w="9525">
                      <a:solidFill>
                        <a:srgbClr val="F0AC00"/>
                      </a:solidFill>
                      <a:prstDash val="solid"/>
                    </a:lnB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dirty="0" sz="1800" spc="-20" b="1">
                          <a:latin typeface="Corbel"/>
                          <a:cs typeface="Corbel"/>
                        </a:rPr>
                        <a:t>Power</a:t>
                      </a:r>
                      <a:r>
                        <a:rPr dirty="0" sz="1800" spc="-150" b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800" spc="-5" b="1">
                          <a:latin typeface="Corbel"/>
                          <a:cs typeface="Corbel"/>
                        </a:rPr>
                        <a:t>Grid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65735">
                    <a:lnL w="9525">
                      <a:solidFill>
                        <a:srgbClr val="F0AC00"/>
                      </a:solidFill>
                      <a:prstDash val="solid"/>
                    </a:lnL>
                    <a:lnT w="9525">
                      <a:solidFill>
                        <a:srgbClr val="F0AC00"/>
                      </a:solidFill>
                      <a:prstDash val="solid"/>
                    </a:lnT>
                    <a:lnB w="9525">
                      <a:solidFill>
                        <a:srgbClr val="F0A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1765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dirty="0" sz="1800" spc="-5">
                          <a:latin typeface="Corbel"/>
                          <a:cs typeface="Corbel"/>
                        </a:rPr>
                        <a:t>4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,</a:t>
                      </a:r>
                      <a:r>
                        <a:rPr dirty="0" sz="1800" spc="0">
                          <a:latin typeface="Corbel"/>
                          <a:cs typeface="Corbel"/>
                        </a:rPr>
                        <a:t>9</a:t>
                      </a:r>
                      <a:r>
                        <a:rPr dirty="0" sz="1800" spc="-5">
                          <a:latin typeface="Corbel"/>
                          <a:cs typeface="Corbel"/>
                        </a:rPr>
                        <a:t>41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65735">
                    <a:lnT w="9525">
                      <a:solidFill>
                        <a:srgbClr val="F0AC00"/>
                      </a:solidFill>
                      <a:prstDash val="solid"/>
                    </a:lnT>
                    <a:lnB w="9525">
                      <a:solidFill>
                        <a:srgbClr val="F0A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dirty="0" sz="1800" spc="0">
                          <a:latin typeface="Corbel"/>
                          <a:cs typeface="Corbel"/>
                        </a:rPr>
                        <a:t>2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.</a:t>
                      </a:r>
                      <a:r>
                        <a:rPr dirty="0" sz="1800" spc="-55">
                          <a:latin typeface="Corbel"/>
                          <a:cs typeface="Corbel"/>
                        </a:rPr>
                        <a:t>6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7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65735">
                    <a:lnT w="9525">
                      <a:solidFill>
                        <a:srgbClr val="F0AC00"/>
                      </a:solidFill>
                      <a:prstDash val="solid"/>
                    </a:lnT>
                    <a:lnB w="9525">
                      <a:solidFill>
                        <a:srgbClr val="F0A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48285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dirty="0" sz="1800" spc="0">
                          <a:latin typeface="Corbel"/>
                          <a:cs typeface="Corbel"/>
                        </a:rPr>
                        <a:t>1</a:t>
                      </a:r>
                      <a:r>
                        <a:rPr dirty="0" sz="1800" spc="-5">
                          <a:latin typeface="Corbel"/>
                          <a:cs typeface="Corbel"/>
                        </a:rPr>
                        <a:t>8.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70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65735">
                    <a:lnT w="9525">
                      <a:solidFill>
                        <a:srgbClr val="F0AC00"/>
                      </a:solidFill>
                      <a:prstDash val="solid"/>
                    </a:lnT>
                    <a:lnB w="9525">
                      <a:solidFill>
                        <a:srgbClr val="F0A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5895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dirty="0" sz="1800" spc="0">
                          <a:latin typeface="Corbel"/>
                          <a:cs typeface="Corbel"/>
                        </a:rPr>
                        <a:t>1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2</a:t>
                      </a:r>
                      <a:r>
                        <a:rPr dirty="0" sz="1800" spc="-5">
                          <a:latin typeface="Corbel"/>
                          <a:cs typeface="Corbel"/>
                        </a:rPr>
                        <a:t>.</a:t>
                      </a:r>
                      <a:r>
                        <a:rPr dirty="0" sz="1800" spc="-10">
                          <a:latin typeface="Corbel"/>
                          <a:cs typeface="Corbel"/>
                        </a:rPr>
                        <a:t>4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0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65735">
                    <a:lnT w="9525">
                      <a:solidFill>
                        <a:srgbClr val="F0AC00"/>
                      </a:solidFill>
                      <a:prstDash val="solid"/>
                    </a:lnT>
                    <a:lnB w="9525">
                      <a:solidFill>
                        <a:srgbClr val="F0A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5895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dirty="0" sz="1800">
                          <a:latin typeface="Corbel"/>
                          <a:cs typeface="Corbel"/>
                        </a:rPr>
                        <a:t>0.0</a:t>
                      </a:r>
                      <a:r>
                        <a:rPr dirty="0" sz="1800" spc="-5">
                          <a:latin typeface="Corbel"/>
                          <a:cs typeface="Corbel"/>
                        </a:rPr>
                        <a:t>8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0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65735">
                    <a:lnT w="9525">
                      <a:solidFill>
                        <a:srgbClr val="F0AC00"/>
                      </a:solidFill>
                      <a:prstDash val="solid"/>
                    </a:lnT>
                    <a:lnB w="9525">
                      <a:solidFill>
                        <a:srgbClr val="F0A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78740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dirty="0" sz="1800">
                          <a:latin typeface="Corbel"/>
                          <a:cs typeface="Corbel"/>
                        </a:rPr>
                        <a:t>0.005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65735">
                    <a:lnR w="9525">
                      <a:solidFill>
                        <a:srgbClr val="F0AC00"/>
                      </a:solidFill>
                      <a:prstDash val="solid"/>
                    </a:lnR>
                    <a:lnT w="9525">
                      <a:solidFill>
                        <a:srgbClr val="F0AC00"/>
                      </a:solidFill>
                      <a:prstDash val="solid"/>
                    </a:lnT>
                    <a:lnB w="9525">
                      <a:solidFill>
                        <a:srgbClr val="F0AC00"/>
                      </a:solidFill>
                      <a:prstDash val="solid"/>
                    </a:lnB>
                  </a:tcPr>
                </a:tc>
              </a:tr>
              <a:tr h="622300">
                <a:tc>
                  <a:txBody>
                    <a:bodyPr/>
                    <a:lstStyle/>
                    <a:p>
                      <a:pPr marL="86360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dirty="0" sz="1800" spc="-5" b="1">
                          <a:latin typeface="Corbel"/>
                          <a:cs typeface="Corbel"/>
                        </a:rPr>
                        <a:t>C.</a:t>
                      </a:r>
                      <a:r>
                        <a:rPr dirty="0" sz="1800" spc="-75" b="1">
                          <a:latin typeface="Corbel"/>
                          <a:cs typeface="Corbel"/>
                        </a:rPr>
                        <a:t> </a:t>
                      </a:r>
                      <a:r>
                        <a:rPr dirty="0" sz="1800" spc="-5" b="1">
                          <a:latin typeface="Corbel"/>
                          <a:cs typeface="Corbel"/>
                        </a:rPr>
                        <a:t>elegans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65735">
                    <a:lnL w="9525">
                      <a:solidFill>
                        <a:srgbClr val="F0AC00"/>
                      </a:solidFill>
                      <a:prstDash val="solid"/>
                    </a:lnL>
                    <a:lnT w="9525">
                      <a:solidFill>
                        <a:srgbClr val="F0AC00"/>
                      </a:solidFill>
                      <a:prstDash val="solid"/>
                    </a:lnT>
                    <a:lnB w="9525">
                      <a:solidFill>
                        <a:srgbClr val="F0A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51765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dirty="0" sz="1800" spc="0">
                          <a:latin typeface="Corbel"/>
                          <a:cs typeface="Corbel"/>
                        </a:rPr>
                        <a:t>2</a:t>
                      </a:r>
                      <a:r>
                        <a:rPr dirty="0" sz="1800" spc="-50">
                          <a:latin typeface="Corbel"/>
                          <a:cs typeface="Corbel"/>
                        </a:rPr>
                        <a:t>8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2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65735">
                    <a:lnT w="9525">
                      <a:solidFill>
                        <a:srgbClr val="F0AC00"/>
                      </a:solidFill>
                      <a:prstDash val="solid"/>
                    </a:lnT>
                    <a:lnB w="9525">
                      <a:solidFill>
                        <a:srgbClr val="F0A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00355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dirty="0" sz="1800" spc="0">
                          <a:latin typeface="Corbel"/>
                          <a:cs typeface="Corbel"/>
                        </a:rPr>
                        <a:t>1</a:t>
                      </a:r>
                      <a:r>
                        <a:rPr dirty="0" sz="1800" spc="-10">
                          <a:latin typeface="Corbel"/>
                          <a:cs typeface="Corbel"/>
                        </a:rPr>
                        <a:t>4</a:t>
                      </a:r>
                      <a:r>
                        <a:rPr dirty="0" sz="1800" spc="-5">
                          <a:latin typeface="Corbel"/>
                          <a:cs typeface="Corbel"/>
                        </a:rPr>
                        <a:t>.0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0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65735">
                    <a:lnT w="9525">
                      <a:solidFill>
                        <a:srgbClr val="F0AC00"/>
                      </a:solidFill>
                      <a:prstDash val="solid"/>
                    </a:lnT>
                    <a:lnB w="9525">
                      <a:solidFill>
                        <a:srgbClr val="F0A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47650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dirty="0" sz="1800" spc="0">
                          <a:latin typeface="Corbel"/>
                          <a:cs typeface="Corbel"/>
                        </a:rPr>
                        <a:t>2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.</a:t>
                      </a:r>
                      <a:r>
                        <a:rPr dirty="0" sz="1800" spc="-25">
                          <a:latin typeface="Corbel"/>
                          <a:cs typeface="Corbel"/>
                        </a:rPr>
                        <a:t>6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5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65735">
                    <a:lnT w="9525">
                      <a:solidFill>
                        <a:srgbClr val="F0AC00"/>
                      </a:solidFill>
                      <a:prstDash val="solid"/>
                    </a:lnT>
                    <a:lnB w="9525">
                      <a:solidFill>
                        <a:srgbClr val="F0A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4625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dirty="0" sz="1800" spc="0">
                          <a:latin typeface="Corbel"/>
                          <a:cs typeface="Corbel"/>
                        </a:rPr>
                        <a:t>2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.</a:t>
                      </a:r>
                      <a:r>
                        <a:rPr dirty="0" sz="1800" spc="-50">
                          <a:latin typeface="Corbel"/>
                          <a:cs typeface="Corbel"/>
                        </a:rPr>
                        <a:t>2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5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65735">
                    <a:lnT w="9525">
                      <a:solidFill>
                        <a:srgbClr val="F0AC00"/>
                      </a:solidFill>
                      <a:prstDash val="solid"/>
                    </a:lnT>
                    <a:lnB w="9525">
                      <a:solidFill>
                        <a:srgbClr val="F0A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75260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dirty="0" sz="1800">
                          <a:latin typeface="Corbel"/>
                          <a:cs typeface="Corbel"/>
                        </a:rPr>
                        <a:t>0.</a:t>
                      </a:r>
                      <a:r>
                        <a:rPr dirty="0" sz="1800" spc="0">
                          <a:latin typeface="Corbel"/>
                          <a:cs typeface="Corbel"/>
                        </a:rPr>
                        <a:t>2</a:t>
                      </a:r>
                      <a:r>
                        <a:rPr dirty="0" sz="1800">
                          <a:latin typeface="Corbel"/>
                          <a:cs typeface="Corbel"/>
                        </a:rPr>
                        <a:t>8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65735">
                    <a:lnT w="9525">
                      <a:solidFill>
                        <a:srgbClr val="F0AC00"/>
                      </a:solidFill>
                      <a:prstDash val="solid"/>
                    </a:lnT>
                    <a:lnB w="9525">
                      <a:solidFill>
                        <a:srgbClr val="F0A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78740">
                        <a:lnSpc>
                          <a:spcPct val="100000"/>
                        </a:lnSpc>
                        <a:spcBef>
                          <a:spcPts val="1305"/>
                        </a:spcBef>
                      </a:pPr>
                      <a:r>
                        <a:rPr dirty="0" sz="1800">
                          <a:latin typeface="Corbel"/>
                          <a:cs typeface="Corbel"/>
                        </a:rPr>
                        <a:t>0.05</a:t>
                      </a:r>
                      <a:endParaRPr sz="1800">
                        <a:latin typeface="Corbel"/>
                        <a:cs typeface="Corbel"/>
                      </a:endParaRPr>
                    </a:p>
                  </a:txBody>
                  <a:tcPr marL="0" marR="0" marB="0" marT="165735">
                    <a:lnR w="9525">
                      <a:solidFill>
                        <a:srgbClr val="F0AC00"/>
                      </a:solidFill>
                      <a:prstDash val="solid"/>
                    </a:lnR>
                    <a:lnT w="9525">
                      <a:solidFill>
                        <a:srgbClr val="F0AC00"/>
                      </a:solidFill>
                      <a:prstDash val="solid"/>
                    </a:lnT>
                    <a:lnB w="9525">
                      <a:solidFill>
                        <a:srgbClr val="F0AC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747964" y="3038347"/>
            <a:ext cx="416115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099945" algn="l"/>
              </a:tabLst>
            </a:pPr>
            <a:r>
              <a:rPr dirty="0" baseline="1543" sz="2700" spc="-30">
                <a:solidFill>
                  <a:srgbClr val="0070C0"/>
                </a:solidFill>
                <a:latin typeface="Calibri"/>
                <a:cs typeface="Calibri"/>
              </a:rPr>
              <a:t>Avg.</a:t>
            </a:r>
            <a:r>
              <a:rPr dirty="0" baseline="1543" sz="2700" spc="7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baseline="1543" sz="2700" spc="-15">
                <a:solidFill>
                  <a:srgbClr val="0070C0"/>
                </a:solidFill>
                <a:latin typeface="Calibri"/>
                <a:cs typeface="Calibri"/>
              </a:rPr>
              <a:t>path</a:t>
            </a:r>
            <a:r>
              <a:rPr dirty="0" baseline="1543" sz="2700" spc="15">
                <a:solidFill>
                  <a:srgbClr val="0070C0"/>
                </a:solidFill>
                <a:latin typeface="Calibri"/>
                <a:cs typeface="Calibri"/>
              </a:rPr>
              <a:t> </a:t>
            </a:r>
            <a:r>
              <a:rPr dirty="0" baseline="1543" sz="2700" spc="-15">
                <a:solidFill>
                  <a:srgbClr val="0070C0"/>
                </a:solidFill>
                <a:latin typeface="Calibri"/>
                <a:cs typeface="Calibri"/>
              </a:rPr>
              <a:t>length	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Clustering</a:t>
            </a:r>
            <a:r>
              <a:rPr dirty="0" sz="1800" spc="-2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800" spc="-10">
                <a:solidFill>
                  <a:srgbClr val="C00000"/>
                </a:solidFill>
                <a:latin typeface="Calibri"/>
                <a:cs typeface="Calibri"/>
              </a:rPr>
              <a:t>coefficients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48640" y="347472"/>
            <a:ext cx="458724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095" y="1296924"/>
            <a:ext cx="495998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00FF"/>
                </a:solidFill>
              </a:rPr>
              <a:t>Consequence </a:t>
            </a:r>
            <a:r>
              <a:rPr dirty="0">
                <a:solidFill>
                  <a:srgbClr val="0000FF"/>
                </a:solidFill>
              </a:rPr>
              <a:t>of </a:t>
            </a:r>
            <a:r>
              <a:rPr dirty="0" spc="-40">
                <a:solidFill>
                  <a:srgbClr val="0000FF"/>
                </a:solidFill>
              </a:rPr>
              <a:t>expansion: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8095" y="1832355"/>
            <a:ext cx="5359400" cy="46259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8355" indent="-45720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800" spc="-5" b="1">
                <a:latin typeface="Calibri"/>
                <a:cs typeface="Calibri"/>
              </a:rPr>
              <a:t>Short </a:t>
            </a:r>
            <a:r>
              <a:rPr dirty="0" sz="2800" spc="-10" b="1">
                <a:latin typeface="Calibri"/>
                <a:cs typeface="Calibri"/>
              </a:rPr>
              <a:t>paths: </a:t>
            </a:r>
            <a:r>
              <a:rPr dirty="0" sz="2800" spc="-5" b="1" i="1">
                <a:latin typeface="Times New Roman"/>
                <a:cs typeface="Times New Roman"/>
              </a:rPr>
              <a:t>O(log </a:t>
            </a:r>
            <a:r>
              <a:rPr dirty="0" sz="2800" b="1" i="1">
                <a:latin typeface="Times New Roman"/>
                <a:cs typeface="Times New Roman"/>
              </a:rPr>
              <a:t>n)</a:t>
            </a:r>
            <a:endParaRPr sz="2800">
              <a:latin typeface="Times New Roman"/>
              <a:cs typeface="Times New Roman"/>
            </a:endParaRPr>
          </a:p>
          <a:p>
            <a:pPr lvl="1" marL="890905" marR="5080" indent="-228600">
              <a:lnSpc>
                <a:spcPts val="2590"/>
              </a:lnSpc>
              <a:spcBef>
                <a:spcPts val="459"/>
              </a:spcBef>
              <a:buClr>
                <a:srgbClr val="E66C7D"/>
              </a:buClr>
              <a:buFont typeface="Malgun Gothic"/>
              <a:buChar char="▪"/>
              <a:tabLst>
                <a:tab pos="890905" algn="l"/>
              </a:tabLst>
            </a:pPr>
            <a:r>
              <a:rPr dirty="0" sz="2400" spc="-5">
                <a:latin typeface="Calibri"/>
                <a:cs typeface="Calibri"/>
              </a:rPr>
              <a:t>This is the </a:t>
            </a:r>
            <a:r>
              <a:rPr dirty="0" sz="2400" spc="-10">
                <a:latin typeface="Calibri"/>
                <a:cs typeface="Calibri"/>
              </a:rPr>
              <a:t>smallest diameter </a:t>
            </a:r>
            <a:r>
              <a:rPr dirty="0" sz="2400" spc="-15">
                <a:latin typeface="Calibri"/>
                <a:cs typeface="Calibri"/>
              </a:rPr>
              <a:t>we </a:t>
            </a:r>
            <a:r>
              <a:rPr dirty="0" sz="2400" spc="-135">
                <a:latin typeface="Calibri"/>
                <a:cs typeface="Calibri"/>
              </a:rPr>
              <a:t>can  </a:t>
            </a:r>
            <a:r>
              <a:rPr dirty="0" sz="2400" spc="-15">
                <a:latin typeface="Calibri"/>
                <a:cs typeface="Calibri"/>
              </a:rPr>
              <a:t>get </a:t>
            </a:r>
            <a:r>
              <a:rPr dirty="0" sz="2400" spc="-5">
                <a:latin typeface="Calibri"/>
                <a:cs typeface="Calibri"/>
              </a:rPr>
              <a:t>if </a:t>
            </a:r>
            <a:r>
              <a:rPr dirty="0" sz="2400" spc="-15">
                <a:latin typeface="Calibri"/>
                <a:cs typeface="Calibri"/>
              </a:rPr>
              <a:t>we </a:t>
            </a:r>
            <a:r>
              <a:rPr dirty="0" sz="2400" spc="-25">
                <a:latin typeface="Calibri"/>
                <a:cs typeface="Calibri"/>
              </a:rPr>
              <a:t>keep </a:t>
            </a:r>
            <a:r>
              <a:rPr dirty="0" sz="2400" spc="-5">
                <a:latin typeface="Calibri"/>
                <a:cs typeface="Calibri"/>
              </a:rPr>
              <a:t>the </a:t>
            </a:r>
            <a:r>
              <a:rPr dirty="0" sz="2400" spc="-10">
                <a:latin typeface="Calibri"/>
                <a:cs typeface="Calibri"/>
              </a:rPr>
              <a:t>degree</a:t>
            </a:r>
            <a:r>
              <a:rPr dirty="0" sz="2400" spc="30">
                <a:latin typeface="Calibri"/>
                <a:cs typeface="Calibri"/>
              </a:rPr>
              <a:t> </a:t>
            </a:r>
            <a:r>
              <a:rPr dirty="0" sz="2400" spc="-15">
                <a:latin typeface="Calibri"/>
                <a:cs typeface="Calibri"/>
              </a:rPr>
              <a:t>constant.</a:t>
            </a:r>
            <a:endParaRPr sz="2400">
              <a:latin typeface="Calibri"/>
              <a:cs typeface="Calibri"/>
            </a:endParaRPr>
          </a:p>
          <a:p>
            <a:pPr marL="808355" indent="-457200">
              <a:lnSpc>
                <a:spcPts val="3185"/>
              </a:lnSpc>
              <a:spcBef>
                <a:spcPts val="180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800">
                <a:latin typeface="Calibri"/>
                <a:cs typeface="Calibri"/>
              </a:rPr>
              <a:t>But </a:t>
            </a:r>
            <a:r>
              <a:rPr dirty="0" sz="2800" spc="-10">
                <a:latin typeface="Calibri"/>
                <a:cs typeface="Calibri"/>
              </a:rPr>
              <a:t>clustering </a:t>
            </a:r>
            <a:r>
              <a:rPr dirty="0" sz="2800" spc="-5">
                <a:latin typeface="Calibri"/>
                <a:cs typeface="Calibri"/>
              </a:rPr>
              <a:t>is</a:t>
            </a:r>
            <a:r>
              <a:rPr dirty="0" sz="2800" spc="-8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low!</a:t>
            </a:r>
            <a:endParaRPr sz="2800">
              <a:latin typeface="Calibri"/>
              <a:cs typeface="Calibri"/>
            </a:endParaRPr>
          </a:p>
          <a:p>
            <a:pPr marL="332740" marR="1863725" indent="-320040">
              <a:lnSpc>
                <a:spcPts val="3479"/>
              </a:lnSpc>
              <a:spcBef>
                <a:spcPts val="235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But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networks </a:t>
            </a:r>
            <a:r>
              <a:rPr dirty="0" sz="3200" spc="-114" b="1">
                <a:solidFill>
                  <a:srgbClr val="008000"/>
                </a:solidFill>
                <a:latin typeface="Calibri"/>
                <a:cs typeface="Calibri"/>
              </a:rPr>
              <a:t>have  </a:t>
            </a: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“local”</a:t>
            </a:r>
            <a:r>
              <a:rPr dirty="0" sz="3200" spc="-100" b="1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structure:</a:t>
            </a:r>
            <a:endParaRPr sz="3200">
              <a:latin typeface="Calibri"/>
              <a:cs typeface="Calibri"/>
            </a:endParaRPr>
          </a:p>
          <a:p>
            <a:pPr lvl="1" marL="808355" indent="-457200">
              <a:lnSpc>
                <a:spcPts val="3180"/>
              </a:lnSpc>
              <a:spcBef>
                <a:spcPts val="220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800" spc="-25" b="1">
                <a:solidFill>
                  <a:srgbClr val="0000FF"/>
                </a:solidFill>
                <a:latin typeface="Calibri"/>
                <a:cs typeface="Calibri"/>
              </a:rPr>
              <a:t>Triadic</a:t>
            </a:r>
            <a:r>
              <a:rPr dirty="0" sz="2800" spc="-5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00FF"/>
                </a:solidFill>
                <a:latin typeface="Calibri"/>
                <a:cs typeface="Calibri"/>
              </a:rPr>
              <a:t>closure:</a:t>
            </a:r>
            <a:endParaRPr sz="2800">
              <a:latin typeface="Calibri"/>
              <a:cs typeface="Calibri"/>
            </a:endParaRPr>
          </a:p>
          <a:p>
            <a:pPr marL="808355">
              <a:lnSpc>
                <a:spcPts val="3180"/>
              </a:lnSpc>
            </a:pPr>
            <a:r>
              <a:rPr dirty="0" sz="2800" spc="-5">
                <a:latin typeface="Calibri"/>
                <a:cs typeface="Calibri"/>
              </a:rPr>
              <a:t>Friend of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friend is </a:t>
            </a:r>
            <a:r>
              <a:rPr dirty="0" sz="2800" spc="-30">
                <a:latin typeface="Calibri"/>
                <a:cs typeface="Calibri"/>
              </a:rPr>
              <a:t>my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friend</a:t>
            </a:r>
            <a:endParaRPr sz="2800">
              <a:latin typeface="Calibri"/>
              <a:cs typeface="Calibri"/>
            </a:endParaRPr>
          </a:p>
          <a:p>
            <a:pPr lvl="1" marL="808355" marR="1567180" indent="-457200">
              <a:lnSpc>
                <a:spcPts val="3100"/>
              </a:lnSpc>
              <a:spcBef>
                <a:spcPts val="560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800" spc="-5">
                <a:latin typeface="Calibri"/>
                <a:cs typeface="Calibri"/>
              </a:rPr>
              <a:t>High </a:t>
            </a:r>
            <a:r>
              <a:rPr dirty="0" sz="2800" spc="-10">
                <a:latin typeface="Calibri"/>
                <a:cs typeface="Calibri"/>
              </a:rPr>
              <a:t>clustering </a:t>
            </a:r>
            <a:r>
              <a:rPr dirty="0" sz="2800">
                <a:latin typeface="Calibri"/>
                <a:cs typeface="Calibri"/>
              </a:rPr>
              <a:t>but  </a:t>
            </a:r>
            <a:r>
              <a:rPr dirty="0" sz="2800" spc="-10">
                <a:latin typeface="Calibri"/>
                <a:cs typeface="Calibri"/>
              </a:rPr>
              <a:t>diameter </a:t>
            </a:r>
            <a:r>
              <a:rPr dirty="0" sz="2800" spc="-5">
                <a:latin typeface="Calibri"/>
                <a:cs typeface="Calibri"/>
              </a:rPr>
              <a:t>is also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high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310"/>
              </a:lnSpc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How </a:t>
            </a:r>
            <a:r>
              <a:rPr dirty="0" sz="3200" spc="-15" b="1">
                <a:solidFill>
                  <a:srgbClr val="D60093"/>
                </a:solidFill>
                <a:latin typeface="Calibri"/>
                <a:cs typeface="Calibri"/>
              </a:rPr>
              <a:t>can we </a:t>
            </a:r>
            <a:r>
              <a:rPr dirty="0" sz="3200" spc="-25" b="1">
                <a:solidFill>
                  <a:srgbClr val="D60093"/>
                </a:solidFill>
                <a:latin typeface="Calibri"/>
                <a:cs typeface="Calibri"/>
              </a:rPr>
              <a:t>have</a:t>
            </a:r>
            <a:r>
              <a:rPr dirty="0" sz="3200" spc="-30" b="1">
                <a:solidFill>
                  <a:srgbClr val="D60093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D60093"/>
                </a:solidFill>
                <a:latin typeface="Calibri"/>
                <a:cs typeface="Calibri"/>
              </a:rPr>
              <a:t>both?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584172" y="4400697"/>
            <a:ext cx="1317228" cy="12763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995219" y="5741923"/>
            <a:ext cx="260286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2700" marR="5080" indent="635">
              <a:lnSpc>
                <a:spcPct val="99400"/>
              </a:lnSpc>
              <a:spcBef>
                <a:spcPts val="110"/>
              </a:spcBef>
            </a:pPr>
            <a:r>
              <a:rPr dirty="0" sz="1800" spc="-15" b="1">
                <a:latin typeface="Corbel"/>
                <a:cs typeface="Corbel"/>
              </a:rPr>
              <a:t>Regular </a:t>
            </a:r>
            <a:r>
              <a:rPr dirty="0" sz="1800" spc="-5" b="1">
                <a:latin typeface="Corbel"/>
                <a:cs typeface="Corbel"/>
              </a:rPr>
              <a:t>lattice graph:  </a:t>
            </a:r>
            <a:r>
              <a:rPr dirty="0" sz="1800" spc="-5" b="1">
                <a:solidFill>
                  <a:srgbClr val="C00000"/>
                </a:solidFill>
                <a:latin typeface="Corbel"/>
                <a:cs typeface="Corbel"/>
              </a:rPr>
              <a:t>High clustering coefficient  </a:t>
            </a:r>
            <a:r>
              <a:rPr dirty="0" sz="1800" spc="-5" b="1">
                <a:latin typeface="Corbel"/>
                <a:cs typeface="Corbel"/>
              </a:rPr>
              <a:t>High</a:t>
            </a:r>
            <a:r>
              <a:rPr dirty="0" sz="1800" spc="-45" b="1">
                <a:latin typeface="Corbel"/>
                <a:cs typeface="Corbel"/>
              </a:rPr>
              <a:t> </a:t>
            </a:r>
            <a:r>
              <a:rPr dirty="0" sz="1800" spc="-5" b="1">
                <a:latin typeface="Corbel"/>
                <a:cs typeface="Corbel"/>
              </a:rPr>
              <a:t>diameter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152694" y="2901188"/>
            <a:ext cx="2552700" cy="845819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 indent="354330">
              <a:lnSpc>
                <a:spcPts val="2090"/>
              </a:lnSpc>
              <a:spcBef>
                <a:spcPts val="225"/>
              </a:spcBef>
            </a:pPr>
            <a:r>
              <a:rPr dirty="0" sz="1800" spc="-5" b="1">
                <a:latin typeface="Corbel"/>
                <a:cs typeface="Corbel"/>
              </a:rPr>
              <a:t>G</a:t>
            </a:r>
            <a:r>
              <a:rPr dirty="0" baseline="-13888" sz="1800" spc="-7" b="1">
                <a:latin typeface="Corbel"/>
                <a:cs typeface="Corbel"/>
              </a:rPr>
              <a:t>np </a:t>
            </a:r>
            <a:r>
              <a:rPr dirty="0" sz="1800" spc="-5" b="1">
                <a:latin typeface="Corbel"/>
                <a:cs typeface="Corbel"/>
              </a:rPr>
              <a:t>random graph:  Low clustering</a:t>
            </a:r>
            <a:r>
              <a:rPr dirty="0" sz="1800" spc="-45" b="1">
                <a:latin typeface="Corbel"/>
                <a:cs typeface="Corbel"/>
              </a:rPr>
              <a:t> </a:t>
            </a:r>
            <a:r>
              <a:rPr dirty="0" sz="1800" spc="-5" b="1">
                <a:latin typeface="Corbel"/>
                <a:cs typeface="Corbel"/>
              </a:rPr>
              <a:t>coefficient</a:t>
            </a:r>
            <a:endParaRPr sz="1800">
              <a:latin typeface="Corbel"/>
              <a:cs typeface="Corbel"/>
            </a:endParaRPr>
          </a:p>
          <a:p>
            <a:pPr marL="592455">
              <a:lnSpc>
                <a:spcPts val="2150"/>
              </a:lnSpc>
            </a:pPr>
            <a:r>
              <a:rPr dirty="0" sz="1800" spc="-5" b="1">
                <a:solidFill>
                  <a:srgbClr val="0070C0"/>
                </a:solidFill>
                <a:latin typeface="Corbel"/>
                <a:cs typeface="Corbel"/>
              </a:rPr>
              <a:t>Low</a:t>
            </a:r>
            <a:r>
              <a:rPr dirty="0" sz="1800" spc="-60" b="1">
                <a:solidFill>
                  <a:srgbClr val="0070C0"/>
                </a:solidFill>
                <a:latin typeface="Corbel"/>
                <a:cs typeface="Corbel"/>
              </a:rPr>
              <a:t> </a:t>
            </a:r>
            <a:r>
              <a:rPr dirty="0" sz="1800" spc="-5" b="1">
                <a:solidFill>
                  <a:srgbClr val="0070C0"/>
                </a:solidFill>
                <a:latin typeface="Corbel"/>
                <a:cs typeface="Corbel"/>
              </a:rPr>
              <a:t>diameter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274203" y="2555185"/>
            <a:ext cx="261620" cy="81915"/>
          </a:xfrm>
          <a:custGeom>
            <a:avLst/>
            <a:gdLst/>
            <a:ahLst/>
            <a:cxnLst/>
            <a:rect l="l" t="t" r="r" b="b"/>
            <a:pathLst>
              <a:path w="261620" h="81914">
                <a:moveTo>
                  <a:pt x="0" y="0"/>
                </a:moveTo>
                <a:lnTo>
                  <a:pt x="261600" y="819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036772" y="1906099"/>
            <a:ext cx="0" cy="276225"/>
          </a:xfrm>
          <a:custGeom>
            <a:avLst/>
            <a:gdLst/>
            <a:ahLst/>
            <a:cxnLst/>
            <a:rect l="l" t="t" r="r" b="b"/>
            <a:pathLst>
              <a:path w="0" h="276225">
                <a:moveTo>
                  <a:pt x="0" y="0"/>
                </a:moveTo>
                <a:lnTo>
                  <a:pt x="1" y="2760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289043" y="1558929"/>
            <a:ext cx="584200" cy="1905"/>
          </a:xfrm>
          <a:custGeom>
            <a:avLst/>
            <a:gdLst/>
            <a:ahLst/>
            <a:cxnLst/>
            <a:rect l="l" t="t" r="r" b="b"/>
            <a:pathLst>
              <a:path w="584200" h="1905">
                <a:moveTo>
                  <a:pt x="0" y="1442"/>
                </a:moveTo>
                <a:lnTo>
                  <a:pt x="58401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274203" y="1891618"/>
            <a:ext cx="821055" cy="598805"/>
          </a:xfrm>
          <a:custGeom>
            <a:avLst/>
            <a:gdLst/>
            <a:ahLst/>
            <a:cxnLst/>
            <a:rect l="l" t="t" r="r" b="b"/>
            <a:pathLst>
              <a:path w="821054" h="598805">
                <a:moveTo>
                  <a:pt x="0" y="598285"/>
                </a:moveTo>
                <a:lnTo>
                  <a:pt x="820545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276186" y="1592671"/>
            <a:ext cx="608965" cy="897255"/>
          </a:xfrm>
          <a:custGeom>
            <a:avLst/>
            <a:gdLst/>
            <a:ahLst/>
            <a:cxnLst/>
            <a:rect l="l" t="t" r="r" b="b"/>
            <a:pathLst>
              <a:path w="608965" h="897255">
                <a:moveTo>
                  <a:pt x="608799" y="897232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609640" y="1478089"/>
            <a:ext cx="484505" cy="715645"/>
          </a:xfrm>
          <a:custGeom>
            <a:avLst/>
            <a:gdLst/>
            <a:ahLst/>
            <a:cxnLst/>
            <a:rect l="l" t="t" r="r" b="b"/>
            <a:pathLst>
              <a:path w="484504" h="715644">
                <a:moveTo>
                  <a:pt x="484320" y="715612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118872" y="1905137"/>
            <a:ext cx="0" cy="275590"/>
          </a:xfrm>
          <a:custGeom>
            <a:avLst/>
            <a:gdLst/>
            <a:ahLst/>
            <a:cxnLst/>
            <a:rect l="l" t="t" r="r" b="b"/>
            <a:pathLst>
              <a:path w="0" h="275589">
                <a:moveTo>
                  <a:pt x="1" y="0"/>
                </a:moveTo>
                <a:lnTo>
                  <a:pt x="0" y="27504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068618" y="1463946"/>
            <a:ext cx="480059" cy="717550"/>
          </a:xfrm>
          <a:custGeom>
            <a:avLst/>
            <a:gdLst/>
            <a:ahLst/>
            <a:cxnLst/>
            <a:rect l="l" t="t" r="r" b="b"/>
            <a:pathLst>
              <a:path w="480059" h="717550">
                <a:moveTo>
                  <a:pt x="0" y="717423"/>
                </a:moveTo>
                <a:lnTo>
                  <a:pt x="47959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940530" y="1891674"/>
            <a:ext cx="147320" cy="598805"/>
          </a:xfrm>
          <a:custGeom>
            <a:avLst/>
            <a:gdLst/>
            <a:ahLst/>
            <a:cxnLst/>
            <a:rect l="l" t="t" r="r" b="b"/>
            <a:pathLst>
              <a:path w="147320" h="598805">
                <a:moveTo>
                  <a:pt x="0" y="598173"/>
                </a:moveTo>
                <a:lnTo>
                  <a:pt x="146926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602017" y="1616348"/>
            <a:ext cx="304165" cy="998855"/>
          </a:xfrm>
          <a:custGeom>
            <a:avLst/>
            <a:gdLst/>
            <a:ahLst/>
            <a:cxnLst/>
            <a:rect l="l" t="t" r="r" b="b"/>
            <a:pathLst>
              <a:path w="304165" h="998855">
                <a:moveTo>
                  <a:pt x="304018" y="0"/>
                </a:moveTo>
                <a:lnTo>
                  <a:pt x="0" y="99823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604170" y="2542919"/>
            <a:ext cx="261620" cy="81915"/>
          </a:xfrm>
          <a:custGeom>
            <a:avLst/>
            <a:gdLst/>
            <a:ahLst/>
            <a:cxnLst/>
            <a:rect l="l" t="t" r="r" b="b"/>
            <a:pathLst>
              <a:path w="261620" h="81914">
                <a:moveTo>
                  <a:pt x="0" y="81744"/>
                </a:moveTo>
                <a:lnTo>
                  <a:pt x="26151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281645" y="1573591"/>
            <a:ext cx="598805" cy="932180"/>
          </a:xfrm>
          <a:custGeom>
            <a:avLst/>
            <a:gdLst/>
            <a:ahLst/>
            <a:cxnLst/>
            <a:rect l="l" t="t" r="r" b="b"/>
            <a:pathLst>
              <a:path w="598804" h="932180">
                <a:moveTo>
                  <a:pt x="0" y="931881"/>
                </a:moveTo>
                <a:lnTo>
                  <a:pt x="598796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107965" y="1880134"/>
            <a:ext cx="1014094" cy="335915"/>
          </a:xfrm>
          <a:custGeom>
            <a:avLst/>
            <a:gdLst/>
            <a:ahLst/>
            <a:cxnLst/>
            <a:rect l="l" t="t" r="r" b="b"/>
            <a:pathLst>
              <a:path w="1014095" h="335914">
                <a:moveTo>
                  <a:pt x="0" y="335631"/>
                </a:moveTo>
                <a:lnTo>
                  <a:pt x="101370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255350" y="1599782"/>
            <a:ext cx="303530" cy="998855"/>
          </a:xfrm>
          <a:custGeom>
            <a:avLst/>
            <a:gdLst/>
            <a:ahLst/>
            <a:cxnLst/>
            <a:rect l="l" t="t" r="r" b="b"/>
            <a:pathLst>
              <a:path w="303529" h="998855">
                <a:moveTo>
                  <a:pt x="303094" y="998237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079622" y="1887696"/>
            <a:ext cx="485140" cy="715645"/>
          </a:xfrm>
          <a:custGeom>
            <a:avLst/>
            <a:gdLst/>
            <a:ahLst/>
            <a:cxnLst/>
            <a:rect l="l" t="t" r="r" b="b"/>
            <a:pathLst>
              <a:path w="485140" h="715644">
                <a:moveTo>
                  <a:pt x="485135" y="715499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961159" y="2253329"/>
            <a:ext cx="147320" cy="231775"/>
          </a:xfrm>
          <a:custGeom>
            <a:avLst/>
            <a:gdLst/>
            <a:ahLst/>
            <a:cxnLst/>
            <a:rect l="l" t="t" r="r" b="b"/>
            <a:pathLst>
              <a:path w="147320" h="231775">
                <a:moveTo>
                  <a:pt x="0" y="231768"/>
                </a:moveTo>
                <a:lnTo>
                  <a:pt x="146927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081127" y="1591570"/>
            <a:ext cx="805180" cy="268605"/>
          </a:xfrm>
          <a:custGeom>
            <a:avLst/>
            <a:gdLst/>
            <a:ahLst/>
            <a:cxnLst/>
            <a:rect l="l" t="t" r="r" b="b"/>
            <a:pathLst>
              <a:path w="805179" h="268605">
                <a:moveTo>
                  <a:pt x="0" y="268369"/>
                </a:moveTo>
                <a:lnTo>
                  <a:pt x="804917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535768" y="2590824"/>
            <a:ext cx="88265" cy="92710"/>
          </a:xfrm>
          <a:custGeom>
            <a:avLst/>
            <a:gdLst/>
            <a:ahLst/>
            <a:cxnLst/>
            <a:rect l="l" t="t" r="r" b="b"/>
            <a:pathLst>
              <a:path w="88265" h="92710">
                <a:moveTo>
                  <a:pt x="43893" y="0"/>
                </a:moveTo>
                <a:lnTo>
                  <a:pt x="26808" y="3627"/>
                </a:lnTo>
                <a:lnTo>
                  <a:pt x="12856" y="13520"/>
                </a:lnTo>
                <a:lnTo>
                  <a:pt x="3449" y="28192"/>
                </a:lnTo>
                <a:lnTo>
                  <a:pt x="0" y="46160"/>
                </a:lnTo>
                <a:lnTo>
                  <a:pt x="3449" y="64129"/>
                </a:lnTo>
                <a:lnTo>
                  <a:pt x="12856" y="78802"/>
                </a:lnTo>
                <a:lnTo>
                  <a:pt x="26808" y="88695"/>
                </a:lnTo>
                <a:lnTo>
                  <a:pt x="43893" y="92322"/>
                </a:lnTo>
                <a:lnTo>
                  <a:pt x="60978" y="88695"/>
                </a:lnTo>
                <a:lnTo>
                  <a:pt x="74930" y="78802"/>
                </a:lnTo>
                <a:lnTo>
                  <a:pt x="84337" y="64129"/>
                </a:lnTo>
                <a:lnTo>
                  <a:pt x="87786" y="46160"/>
                </a:lnTo>
                <a:lnTo>
                  <a:pt x="84337" y="28192"/>
                </a:lnTo>
                <a:lnTo>
                  <a:pt x="74930" y="13520"/>
                </a:lnTo>
                <a:lnTo>
                  <a:pt x="60978" y="3627"/>
                </a:lnTo>
                <a:lnTo>
                  <a:pt x="438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535768" y="2590824"/>
            <a:ext cx="88265" cy="92710"/>
          </a:xfrm>
          <a:custGeom>
            <a:avLst/>
            <a:gdLst/>
            <a:ahLst/>
            <a:cxnLst/>
            <a:rect l="l" t="t" r="r" b="b"/>
            <a:pathLst>
              <a:path w="88265" h="92710">
                <a:moveTo>
                  <a:pt x="0" y="46161"/>
                </a:moveTo>
                <a:lnTo>
                  <a:pt x="3449" y="28193"/>
                </a:lnTo>
                <a:lnTo>
                  <a:pt x="12855" y="13520"/>
                </a:lnTo>
                <a:lnTo>
                  <a:pt x="26807" y="3627"/>
                </a:lnTo>
                <a:lnTo>
                  <a:pt x="43893" y="0"/>
                </a:lnTo>
                <a:lnTo>
                  <a:pt x="60978" y="3627"/>
                </a:lnTo>
                <a:lnTo>
                  <a:pt x="74930" y="13520"/>
                </a:lnTo>
                <a:lnTo>
                  <a:pt x="84336" y="28193"/>
                </a:lnTo>
                <a:lnTo>
                  <a:pt x="87786" y="46161"/>
                </a:lnTo>
                <a:lnTo>
                  <a:pt x="84336" y="64129"/>
                </a:lnTo>
                <a:lnTo>
                  <a:pt x="74930" y="78802"/>
                </a:lnTo>
                <a:lnTo>
                  <a:pt x="60978" y="88695"/>
                </a:lnTo>
                <a:lnTo>
                  <a:pt x="43893" y="92323"/>
                </a:lnTo>
                <a:lnTo>
                  <a:pt x="26807" y="88695"/>
                </a:lnTo>
                <a:lnTo>
                  <a:pt x="12855" y="78802"/>
                </a:lnTo>
                <a:lnTo>
                  <a:pt x="3449" y="64129"/>
                </a:lnTo>
                <a:lnTo>
                  <a:pt x="0" y="4616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198485" y="2476383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10">
                <a:moveTo>
                  <a:pt x="44354" y="0"/>
                </a:moveTo>
                <a:lnTo>
                  <a:pt x="27089" y="3627"/>
                </a:lnTo>
                <a:lnTo>
                  <a:pt x="12990" y="13520"/>
                </a:lnTo>
                <a:lnTo>
                  <a:pt x="3485" y="28192"/>
                </a:lnTo>
                <a:lnTo>
                  <a:pt x="0" y="46160"/>
                </a:lnTo>
                <a:lnTo>
                  <a:pt x="3485" y="64129"/>
                </a:lnTo>
                <a:lnTo>
                  <a:pt x="12990" y="78802"/>
                </a:lnTo>
                <a:lnTo>
                  <a:pt x="27089" y="88695"/>
                </a:lnTo>
                <a:lnTo>
                  <a:pt x="44354" y="92322"/>
                </a:lnTo>
                <a:lnTo>
                  <a:pt x="61619" y="88695"/>
                </a:lnTo>
                <a:lnTo>
                  <a:pt x="75718" y="78802"/>
                </a:lnTo>
                <a:lnTo>
                  <a:pt x="85223" y="64129"/>
                </a:lnTo>
                <a:lnTo>
                  <a:pt x="88709" y="46160"/>
                </a:lnTo>
                <a:lnTo>
                  <a:pt x="85223" y="28192"/>
                </a:lnTo>
                <a:lnTo>
                  <a:pt x="75718" y="13520"/>
                </a:lnTo>
                <a:lnTo>
                  <a:pt x="61619" y="3627"/>
                </a:lnTo>
                <a:lnTo>
                  <a:pt x="443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198485" y="2476383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10">
                <a:moveTo>
                  <a:pt x="0" y="46161"/>
                </a:moveTo>
                <a:lnTo>
                  <a:pt x="3485" y="28193"/>
                </a:lnTo>
                <a:lnTo>
                  <a:pt x="12991" y="13520"/>
                </a:lnTo>
                <a:lnTo>
                  <a:pt x="27090" y="3627"/>
                </a:lnTo>
                <a:lnTo>
                  <a:pt x="44355" y="0"/>
                </a:lnTo>
                <a:lnTo>
                  <a:pt x="61619" y="3627"/>
                </a:lnTo>
                <a:lnTo>
                  <a:pt x="75718" y="13520"/>
                </a:lnTo>
                <a:lnTo>
                  <a:pt x="85224" y="28193"/>
                </a:lnTo>
                <a:lnTo>
                  <a:pt x="88710" y="46161"/>
                </a:lnTo>
                <a:lnTo>
                  <a:pt x="85224" y="64129"/>
                </a:lnTo>
                <a:lnTo>
                  <a:pt x="75718" y="78802"/>
                </a:lnTo>
                <a:lnTo>
                  <a:pt x="61619" y="88695"/>
                </a:lnTo>
                <a:lnTo>
                  <a:pt x="44355" y="92323"/>
                </a:lnTo>
                <a:lnTo>
                  <a:pt x="27090" y="88695"/>
                </a:lnTo>
                <a:lnTo>
                  <a:pt x="12991" y="78802"/>
                </a:lnTo>
                <a:lnTo>
                  <a:pt x="3485" y="64129"/>
                </a:lnTo>
                <a:lnTo>
                  <a:pt x="0" y="4616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992418" y="2182105"/>
            <a:ext cx="88900" cy="91440"/>
          </a:xfrm>
          <a:custGeom>
            <a:avLst/>
            <a:gdLst/>
            <a:ahLst/>
            <a:cxnLst/>
            <a:rect l="l" t="t" r="r" b="b"/>
            <a:pathLst>
              <a:path w="88900" h="91439">
                <a:moveTo>
                  <a:pt x="44354" y="0"/>
                </a:moveTo>
                <a:lnTo>
                  <a:pt x="27089" y="3589"/>
                </a:lnTo>
                <a:lnTo>
                  <a:pt x="12990" y="13379"/>
                </a:lnTo>
                <a:lnTo>
                  <a:pt x="3485" y="27899"/>
                </a:lnTo>
                <a:lnTo>
                  <a:pt x="0" y="45680"/>
                </a:lnTo>
                <a:lnTo>
                  <a:pt x="3485" y="63461"/>
                </a:lnTo>
                <a:lnTo>
                  <a:pt x="12990" y="77981"/>
                </a:lnTo>
                <a:lnTo>
                  <a:pt x="27089" y="87771"/>
                </a:lnTo>
                <a:lnTo>
                  <a:pt x="44354" y="91361"/>
                </a:lnTo>
                <a:lnTo>
                  <a:pt x="61619" y="87771"/>
                </a:lnTo>
                <a:lnTo>
                  <a:pt x="75718" y="77981"/>
                </a:lnTo>
                <a:lnTo>
                  <a:pt x="85223" y="63461"/>
                </a:lnTo>
                <a:lnTo>
                  <a:pt x="88709" y="45680"/>
                </a:lnTo>
                <a:lnTo>
                  <a:pt x="85223" y="27899"/>
                </a:lnTo>
                <a:lnTo>
                  <a:pt x="75718" y="13379"/>
                </a:lnTo>
                <a:lnTo>
                  <a:pt x="61619" y="3589"/>
                </a:lnTo>
                <a:lnTo>
                  <a:pt x="443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992418" y="2182105"/>
            <a:ext cx="88900" cy="91440"/>
          </a:xfrm>
          <a:custGeom>
            <a:avLst/>
            <a:gdLst/>
            <a:ahLst/>
            <a:cxnLst/>
            <a:rect l="l" t="t" r="r" b="b"/>
            <a:pathLst>
              <a:path w="88900" h="91439">
                <a:moveTo>
                  <a:pt x="0" y="45680"/>
                </a:moveTo>
                <a:lnTo>
                  <a:pt x="3485" y="27899"/>
                </a:lnTo>
                <a:lnTo>
                  <a:pt x="12991" y="13379"/>
                </a:lnTo>
                <a:lnTo>
                  <a:pt x="27090" y="3589"/>
                </a:lnTo>
                <a:lnTo>
                  <a:pt x="44355" y="0"/>
                </a:lnTo>
                <a:lnTo>
                  <a:pt x="61619" y="3589"/>
                </a:lnTo>
                <a:lnTo>
                  <a:pt x="75718" y="13379"/>
                </a:lnTo>
                <a:lnTo>
                  <a:pt x="85224" y="27899"/>
                </a:lnTo>
                <a:lnTo>
                  <a:pt x="88710" y="45680"/>
                </a:lnTo>
                <a:lnTo>
                  <a:pt x="85224" y="63461"/>
                </a:lnTo>
                <a:lnTo>
                  <a:pt x="75718" y="77981"/>
                </a:lnTo>
                <a:lnTo>
                  <a:pt x="61619" y="87771"/>
                </a:lnTo>
                <a:lnTo>
                  <a:pt x="44355" y="91361"/>
                </a:lnTo>
                <a:lnTo>
                  <a:pt x="27090" y="87771"/>
                </a:lnTo>
                <a:lnTo>
                  <a:pt x="12991" y="77981"/>
                </a:lnTo>
                <a:lnTo>
                  <a:pt x="3485" y="63461"/>
                </a:lnTo>
                <a:lnTo>
                  <a:pt x="0" y="456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992418" y="1813777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10">
                <a:moveTo>
                  <a:pt x="44354" y="0"/>
                </a:moveTo>
                <a:lnTo>
                  <a:pt x="27089" y="3627"/>
                </a:lnTo>
                <a:lnTo>
                  <a:pt x="12990" y="13520"/>
                </a:lnTo>
                <a:lnTo>
                  <a:pt x="3485" y="28192"/>
                </a:lnTo>
                <a:lnTo>
                  <a:pt x="0" y="46160"/>
                </a:lnTo>
                <a:lnTo>
                  <a:pt x="3485" y="64129"/>
                </a:lnTo>
                <a:lnTo>
                  <a:pt x="12990" y="78802"/>
                </a:lnTo>
                <a:lnTo>
                  <a:pt x="27089" y="88695"/>
                </a:lnTo>
                <a:lnTo>
                  <a:pt x="44354" y="92322"/>
                </a:lnTo>
                <a:lnTo>
                  <a:pt x="61619" y="88695"/>
                </a:lnTo>
                <a:lnTo>
                  <a:pt x="75718" y="78802"/>
                </a:lnTo>
                <a:lnTo>
                  <a:pt x="85223" y="64129"/>
                </a:lnTo>
                <a:lnTo>
                  <a:pt x="88709" y="46160"/>
                </a:lnTo>
                <a:lnTo>
                  <a:pt x="85223" y="28192"/>
                </a:lnTo>
                <a:lnTo>
                  <a:pt x="75718" y="13520"/>
                </a:lnTo>
                <a:lnTo>
                  <a:pt x="61619" y="3627"/>
                </a:lnTo>
                <a:lnTo>
                  <a:pt x="443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992418" y="1813777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10">
                <a:moveTo>
                  <a:pt x="0" y="46161"/>
                </a:moveTo>
                <a:lnTo>
                  <a:pt x="3485" y="28193"/>
                </a:lnTo>
                <a:lnTo>
                  <a:pt x="12991" y="13520"/>
                </a:lnTo>
                <a:lnTo>
                  <a:pt x="27090" y="3627"/>
                </a:lnTo>
                <a:lnTo>
                  <a:pt x="44355" y="0"/>
                </a:lnTo>
                <a:lnTo>
                  <a:pt x="61619" y="3627"/>
                </a:lnTo>
                <a:lnTo>
                  <a:pt x="75718" y="13520"/>
                </a:lnTo>
                <a:lnTo>
                  <a:pt x="85224" y="28193"/>
                </a:lnTo>
                <a:lnTo>
                  <a:pt x="88710" y="46161"/>
                </a:lnTo>
                <a:lnTo>
                  <a:pt x="85224" y="64129"/>
                </a:lnTo>
                <a:lnTo>
                  <a:pt x="75718" y="78802"/>
                </a:lnTo>
                <a:lnTo>
                  <a:pt x="61619" y="88695"/>
                </a:lnTo>
                <a:lnTo>
                  <a:pt x="44355" y="92323"/>
                </a:lnTo>
                <a:lnTo>
                  <a:pt x="27090" y="88695"/>
                </a:lnTo>
                <a:lnTo>
                  <a:pt x="12991" y="78802"/>
                </a:lnTo>
                <a:lnTo>
                  <a:pt x="3485" y="64129"/>
                </a:lnTo>
                <a:lnTo>
                  <a:pt x="0" y="4616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7533920" y="1399287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09">
                <a:moveTo>
                  <a:pt x="44354" y="0"/>
                </a:moveTo>
                <a:lnTo>
                  <a:pt x="27090" y="3627"/>
                </a:lnTo>
                <a:lnTo>
                  <a:pt x="12991" y="13520"/>
                </a:lnTo>
                <a:lnTo>
                  <a:pt x="3485" y="28192"/>
                </a:lnTo>
                <a:lnTo>
                  <a:pt x="0" y="46160"/>
                </a:lnTo>
                <a:lnTo>
                  <a:pt x="3485" y="64129"/>
                </a:lnTo>
                <a:lnTo>
                  <a:pt x="12991" y="78802"/>
                </a:lnTo>
                <a:lnTo>
                  <a:pt x="27090" y="88695"/>
                </a:lnTo>
                <a:lnTo>
                  <a:pt x="44354" y="92322"/>
                </a:lnTo>
                <a:lnTo>
                  <a:pt x="61619" y="88695"/>
                </a:lnTo>
                <a:lnTo>
                  <a:pt x="75718" y="78802"/>
                </a:lnTo>
                <a:lnTo>
                  <a:pt x="85223" y="64129"/>
                </a:lnTo>
                <a:lnTo>
                  <a:pt x="88709" y="46160"/>
                </a:lnTo>
                <a:lnTo>
                  <a:pt x="85223" y="28192"/>
                </a:lnTo>
                <a:lnTo>
                  <a:pt x="75718" y="13520"/>
                </a:lnTo>
                <a:lnTo>
                  <a:pt x="61619" y="3627"/>
                </a:lnTo>
                <a:lnTo>
                  <a:pt x="443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533920" y="1399287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09">
                <a:moveTo>
                  <a:pt x="0" y="46161"/>
                </a:moveTo>
                <a:lnTo>
                  <a:pt x="3485" y="28193"/>
                </a:lnTo>
                <a:lnTo>
                  <a:pt x="12991" y="13520"/>
                </a:lnTo>
                <a:lnTo>
                  <a:pt x="27090" y="3627"/>
                </a:lnTo>
                <a:lnTo>
                  <a:pt x="44355" y="0"/>
                </a:lnTo>
                <a:lnTo>
                  <a:pt x="61619" y="3627"/>
                </a:lnTo>
                <a:lnTo>
                  <a:pt x="75718" y="13520"/>
                </a:lnTo>
                <a:lnTo>
                  <a:pt x="85224" y="28193"/>
                </a:lnTo>
                <a:lnTo>
                  <a:pt x="88710" y="46161"/>
                </a:lnTo>
                <a:lnTo>
                  <a:pt x="85224" y="64129"/>
                </a:lnTo>
                <a:lnTo>
                  <a:pt x="75718" y="78802"/>
                </a:lnTo>
                <a:lnTo>
                  <a:pt x="61619" y="88695"/>
                </a:lnTo>
                <a:lnTo>
                  <a:pt x="44355" y="92323"/>
                </a:lnTo>
                <a:lnTo>
                  <a:pt x="27090" y="88695"/>
                </a:lnTo>
                <a:lnTo>
                  <a:pt x="12991" y="78802"/>
                </a:lnTo>
                <a:lnTo>
                  <a:pt x="3485" y="64129"/>
                </a:lnTo>
                <a:lnTo>
                  <a:pt x="0" y="4616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080969" y="2180182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10">
                <a:moveTo>
                  <a:pt x="44354" y="0"/>
                </a:moveTo>
                <a:lnTo>
                  <a:pt x="27089" y="3627"/>
                </a:lnTo>
                <a:lnTo>
                  <a:pt x="12990" y="13520"/>
                </a:lnTo>
                <a:lnTo>
                  <a:pt x="3485" y="28192"/>
                </a:lnTo>
                <a:lnTo>
                  <a:pt x="0" y="46160"/>
                </a:lnTo>
                <a:lnTo>
                  <a:pt x="3485" y="64129"/>
                </a:lnTo>
                <a:lnTo>
                  <a:pt x="12990" y="78802"/>
                </a:lnTo>
                <a:lnTo>
                  <a:pt x="27089" y="88695"/>
                </a:lnTo>
                <a:lnTo>
                  <a:pt x="44354" y="92322"/>
                </a:lnTo>
                <a:lnTo>
                  <a:pt x="61619" y="88695"/>
                </a:lnTo>
                <a:lnTo>
                  <a:pt x="75718" y="78802"/>
                </a:lnTo>
                <a:lnTo>
                  <a:pt x="85223" y="64129"/>
                </a:lnTo>
                <a:lnTo>
                  <a:pt x="88709" y="46160"/>
                </a:lnTo>
                <a:lnTo>
                  <a:pt x="85223" y="28192"/>
                </a:lnTo>
                <a:lnTo>
                  <a:pt x="75718" y="13520"/>
                </a:lnTo>
                <a:lnTo>
                  <a:pt x="61619" y="3627"/>
                </a:lnTo>
                <a:lnTo>
                  <a:pt x="443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080969" y="2180182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10">
                <a:moveTo>
                  <a:pt x="0" y="46161"/>
                </a:moveTo>
                <a:lnTo>
                  <a:pt x="3485" y="28193"/>
                </a:lnTo>
                <a:lnTo>
                  <a:pt x="12991" y="13520"/>
                </a:lnTo>
                <a:lnTo>
                  <a:pt x="27090" y="3627"/>
                </a:lnTo>
                <a:lnTo>
                  <a:pt x="44355" y="0"/>
                </a:lnTo>
                <a:lnTo>
                  <a:pt x="61619" y="3627"/>
                </a:lnTo>
                <a:lnTo>
                  <a:pt x="75718" y="13520"/>
                </a:lnTo>
                <a:lnTo>
                  <a:pt x="85224" y="28193"/>
                </a:lnTo>
                <a:lnTo>
                  <a:pt x="88710" y="46161"/>
                </a:lnTo>
                <a:lnTo>
                  <a:pt x="85224" y="64129"/>
                </a:lnTo>
                <a:lnTo>
                  <a:pt x="75718" y="78802"/>
                </a:lnTo>
                <a:lnTo>
                  <a:pt x="61619" y="88695"/>
                </a:lnTo>
                <a:lnTo>
                  <a:pt x="44355" y="92323"/>
                </a:lnTo>
                <a:lnTo>
                  <a:pt x="27090" y="88695"/>
                </a:lnTo>
                <a:lnTo>
                  <a:pt x="12991" y="78802"/>
                </a:lnTo>
                <a:lnTo>
                  <a:pt x="3485" y="64129"/>
                </a:lnTo>
                <a:lnTo>
                  <a:pt x="0" y="4616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201256" y="1514689"/>
            <a:ext cx="88265" cy="91440"/>
          </a:xfrm>
          <a:custGeom>
            <a:avLst/>
            <a:gdLst/>
            <a:ahLst/>
            <a:cxnLst/>
            <a:rect l="l" t="t" r="r" b="b"/>
            <a:pathLst>
              <a:path w="88265" h="91440">
                <a:moveTo>
                  <a:pt x="43893" y="0"/>
                </a:moveTo>
                <a:lnTo>
                  <a:pt x="26808" y="3589"/>
                </a:lnTo>
                <a:lnTo>
                  <a:pt x="12856" y="13379"/>
                </a:lnTo>
                <a:lnTo>
                  <a:pt x="3449" y="27899"/>
                </a:lnTo>
                <a:lnTo>
                  <a:pt x="0" y="45680"/>
                </a:lnTo>
                <a:lnTo>
                  <a:pt x="3449" y="63461"/>
                </a:lnTo>
                <a:lnTo>
                  <a:pt x="12856" y="77981"/>
                </a:lnTo>
                <a:lnTo>
                  <a:pt x="26808" y="87771"/>
                </a:lnTo>
                <a:lnTo>
                  <a:pt x="43893" y="91361"/>
                </a:lnTo>
                <a:lnTo>
                  <a:pt x="60978" y="87771"/>
                </a:lnTo>
                <a:lnTo>
                  <a:pt x="74930" y="77981"/>
                </a:lnTo>
                <a:lnTo>
                  <a:pt x="84336" y="63461"/>
                </a:lnTo>
                <a:lnTo>
                  <a:pt x="87786" y="45680"/>
                </a:lnTo>
                <a:lnTo>
                  <a:pt x="84336" y="27899"/>
                </a:lnTo>
                <a:lnTo>
                  <a:pt x="74930" y="13379"/>
                </a:lnTo>
                <a:lnTo>
                  <a:pt x="60978" y="3589"/>
                </a:lnTo>
                <a:lnTo>
                  <a:pt x="438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201256" y="1514689"/>
            <a:ext cx="88265" cy="91440"/>
          </a:xfrm>
          <a:custGeom>
            <a:avLst/>
            <a:gdLst/>
            <a:ahLst/>
            <a:cxnLst/>
            <a:rect l="l" t="t" r="r" b="b"/>
            <a:pathLst>
              <a:path w="88265" h="91440">
                <a:moveTo>
                  <a:pt x="0" y="45680"/>
                </a:moveTo>
                <a:lnTo>
                  <a:pt x="3449" y="27899"/>
                </a:lnTo>
                <a:lnTo>
                  <a:pt x="12855" y="13379"/>
                </a:lnTo>
                <a:lnTo>
                  <a:pt x="26807" y="3589"/>
                </a:lnTo>
                <a:lnTo>
                  <a:pt x="43893" y="0"/>
                </a:lnTo>
                <a:lnTo>
                  <a:pt x="60978" y="3589"/>
                </a:lnTo>
                <a:lnTo>
                  <a:pt x="74930" y="13379"/>
                </a:lnTo>
                <a:lnTo>
                  <a:pt x="84336" y="27899"/>
                </a:lnTo>
                <a:lnTo>
                  <a:pt x="87786" y="45680"/>
                </a:lnTo>
                <a:lnTo>
                  <a:pt x="84336" y="63461"/>
                </a:lnTo>
                <a:lnTo>
                  <a:pt x="74930" y="77981"/>
                </a:lnTo>
                <a:lnTo>
                  <a:pt x="60978" y="87771"/>
                </a:lnTo>
                <a:lnTo>
                  <a:pt x="43893" y="91361"/>
                </a:lnTo>
                <a:lnTo>
                  <a:pt x="26807" y="87771"/>
                </a:lnTo>
                <a:lnTo>
                  <a:pt x="12855" y="77981"/>
                </a:lnTo>
                <a:lnTo>
                  <a:pt x="3449" y="63461"/>
                </a:lnTo>
                <a:lnTo>
                  <a:pt x="0" y="456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872129" y="2476383"/>
            <a:ext cx="88265" cy="92710"/>
          </a:xfrm>
          <a:custGeom>
            <a:avLst/>
            <a:gdLst/>
            <a:ahLst/>
            <a:cxnLst/>
            <a:rect l="l" t="t" r="r" b="b"/>
            <a:pathLst>
              <a:path w="88265" h="92710">
                <a:moveTo>
                  <a:pt x="43893" y="0"/>
                </a:moveTo>
                <a:lnTo>
                  <a:pt x="26808" y="3627"/>
                </a:lnTo>
                <a:lnTo>
                  <a:pt x="12856" y="13520"/>
                </a:lnTo>
                <a:lnTo>
                  <a:pt x="3449" y="28192"/>
                </a:lnTo>
                <a:lnTo>
                  <a:pt x="0" y="46160"/>
                </a:lnTo>
                <a:lnTo>
                  <a:pt x="3449" y="64129"/>
                </a:lnTo>
                <a:lnTo>
                  <a:pt x="12856" y="78802"/>
                </a:lnTo>
                <a:lnTo>
                  <a:pt x="26808" y="88695"/>
                </a:lnTo>
                <a:lnTo>
                  <a:pt x="43893" y="92322"/>
                </a:lnTo>
                <a:lnTo>
                  <a:pt x="60978" y="88695"/>
                </a:lnTo>
                <a:lnTo>
                  <a:pt x="74930" y="78802"/>
                </a:lnTo>
                <a:lnTo>
                  <a:pt x="84336" y="64129"/>
                </a:lnTo>
                <a:lnTo>
                  <a:pt x="87786" y="46160"/>
                </a:lnTo>
                <a:lnTo>
                  <a:pt x="84336" y="28192"/>
                </a:lnTo>
                <a:lnTo>
                  <a:pt x="74930" y="13520"/>
                </a:lnTo>
                <a:lnTo>
                  <a:pt x="60978" y="3627"/>
                </a:lnTo>
                <a:lnTo>
                  <a:pt x="438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872129" y="2476383"/>
            <a:ext cx="88265" cy="92710"/>
          </a:xfrm>
          <a:custGeom>
            <a:avLst/>
            <a:gdLst/>
            <a:ahLst/>
            <a:cxnLst/>
            <a:rect l="l" t="t" r="r" b="b"/>
            <a:pathLst>
              <a:path w="88265" h="92710">
                <a:moveTo>
                  <a:pt x="0" y="46161"/>
                </a:moveTo>
                <a:lnTo>
                  <a:pt x="3449" y="28193"/>
                </a:lnTo>
                <a:lnTo>
                  <a:pt x="12855" y="13520"/>
                </a:lnTo>
                <a:lnTo>
                  <a:pt x="26807" y="3627"/>
                </a:lnTo>
                <a:lnTo>
                  <a:pt x="43893" y="0"/>
                </a:lnTo>
                <a:lnTo>
                  <a:pt x="60978" y="3627"/>
                </a:lnTo>
                <a:lnTo>
                  <a:pt x="74930" y="13520"/>
                </a:lnTo>
                <a:lnTo>
                  <a:pt x="84336" y="28193"/>
                </a:lnTo>
                <a:lnTo>
                  <a:pt x="87786" y="46161"/>
                </a:lnTo>
                <a:lnTo>
                  <a:pt x="84336" y="64129"/>
                </a:lnTo>
                <a:lnTo>
                  <a:pt x="74930" y="78802"/>
                </a:lnTo>
                <a:lnTo>
                  <a:pt x="60978" y="88695"/>
                </a:lnTo>
                <a:lnTo>
                  <a:pt x="43893" y="92323"/>
                </a:lnTo>
                <a:lnTo>
                  <a:pt x="26807" y="88695"/>
                </a:lnTo>
                <a:lnTo>
                  <a:pt x="12855" y="78802"/>
                </a:lnTo>
                <a:lnTo>
                  <a:pt x="3449" y="64129"/>
                </a:lnTo>
                <a:lnTo>
                  <a:pt x="0" y="4616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873053" y="1512766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09">
                <a:moveTo>
                  <a:pt x="44354" y="0"/>
                </a:moveTo>
                <a:lnTo>
                  <a:pt x="27089" y="3627"/>
                </a:lnTo>
                <a:lnTo>
                  <a:pt x="12990" y="13520"/>
                </a:lnTo>
                <a:lnTo>
                  <a:pt x="3485" y="28193"/>
                </a:lnTo>
                <a:lnTo>
                  <a:pt x="0" y="46161"/>
                </a:lnTo>
                <a:lnTo>
                  <a:pt x="3485" y="64129"/>
                </a:lnTo>
                <a:lnTo>
                  <a:pt x="12990" y="78802"/>
                </a:lnTo>
                <a:lnTo>
                  <a:pt x="27089" y="88695"/>
                </a:lnTo>
                <a:lnTo>
                  <a:pt x="44354" y="92322"/>
                </a:lnTo>
                <a:lnTo>
                  <a:pt x="61619" y="88695"/>
                </a:lnTo>
                <a:lnTo>
                  <a:pt x="75718" y="78802"/>
                </a:lnTo>
                <a:lnTo>
                  <a:pt x="85223" y="64129"/>
                </a:lnTo>
                <a:lnTo>
                  <a:pt x="88709" y="46161"/>
                </a:lnTo>
                <a:lnTo>
                  <a:pt x="85223" y="28193"/>
                </a:lnTo>
                <a:lnTo>
                  <a:pt x="75718" y="13520"/>
                </a:lnTo>
                <a:lnTo>
                  <a:pt x="61619" y="3627"/>
                </a:lnTo>
                <a:lnTo>
                  <a:pt x="443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873053" y="1512766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09">
                <a:moveTo>
                  <a:pt x="0" y="46161"/>
                </a:moveTo>
                <a:lnTo>
                  <a:pt x="3485" y="28193"/>
                </a:lnTo>
                <a:lnTo>
                  <a:pt x="12991" y="13520"/>
                </a:lnTo>
                <a:lnTo>
                  <a:pt x="27090" y="3627"/>
                </a:lnTo>
                <a:lnTo>
                  <a:pt x="44355" y="0"/>
                </a:lnTo>
                <a:lnTo>
                  <a:pt x="61619" y="3627"/>
                </a:lnTo>
                <a:lnTo>
                  <a:pt x="75718" y="13520"/>
                </a:lnTo>
                <a:lnTo>
                  <a:pt x="85224" y="28193"/>
                </a:lnTo>
                <a:lnTo>
                  <a:pt x="88710" y="46161"/>
                </a:lnTo>
                <a:lnTo>
                  <a:pt x="85224" y="64129"/>
                </a:lnTo>
                <a:lnTo>
                  <a:pt x="75718" y="78802"/>
                </a:lnTo>
                <a:lnTo>
                  <a:pt x="61619" y="88695"/>
                </a:lnTo>
                <a:lnTo>
                  <a:pt x="44355" y="92323"/>
                </a:lnTo>
                <a:lnTo>
                  <a:pt x="27090" y="88695"/>
                </a:lnTo>
                <a:lnTo>
                  <a:pt x="12991" y="78802"/>
                </a:lnTo>
                <a:lnTo>
                  <a:pt x="3485" y="64129"/>
                </a:lnTo>
                <a:lnTo>
                  <a:pt x="0" y="4616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8081892" y="1812814"/>
            <a:ext cx="88265" cy="92710"/>
          </a:xfrm>
          <a:custGeom>
            <a:avLst/>
            <a:gdLst/>
            <a:ahLst/>
            <a:cxnLst/>
            <a:rect l="l" t="t" r="r" b="b"/>
            <a:pathLst>
              <a:path w="88265" h="92710">
                <a:moveTo>
                  <a:pt x="43893" y="0"/>
                </a:moveTo>
                <a:lnTo>
                  <a:pt x="26808" y="3627"/>
                </a:lnTo>
                <a:lnTo>
                  <a:pt x="12856" y="13520"/>
                </a:lnTo>
                <a:lnTo>
                  <a:pt x="3449" y="28193"/>
                </a:lnTo>
                <a:lnTo>
                  <a:pt x="0" y="46161"/>
                </a:lnTo>
                <a:lnTo>
                  <a:pt x="3449" y="64130"/>
                </a:lnTo>
                <a:lnTo>
                  <a:pt x="12856" y="78803"/>
                </a:lnTo>
                <a:lnTo>
                  <a:pt x="26808" y="88696"/>
                </a:lnTo>
                <a:lnTo>
                  <a:pt x="43893" y="92323"/>
                </a:lnTo>
                <a:lnTo>
                  <a:pt x="60979" y="88696"/>
                </a:lnTo>
                <a:lnTo>
                  <a:pt x="74931" y="78803"/>
                </a:lnTo>
                <a:lnTo>
                  <a:pt x="84338" y="64130"/>
                </a:lnTo>
                <a:lnTo>
                  <a:pt x="87787" y="46161"/>
                </a:lnTo>
                <a:lnTo>
                  <a:pt x="84338" y="28193"/>
                </a:lnTo>
                <a:lnTo>
                  <a:pt x="74931" y="13520"/>
                </a:lnTo>
                <a:lnTo>
                  <a:pt x="60979" y="3627"/>
                </a:lnTo>
                <a:lnTo>
                  <a:pt x="438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081892" y="1812814"/>
            <a:ext cx="88265" cy="92710"/>
          </a:xfrm>
          <a:custGeom>
            <a:avLst/>
            <a:gdLst/>
            <a:ahLst/>
            <a:cxnLst/>
            <a:rect l="l" t="t" r="r" b="b"/>
            <a:pathLst>
              <a:path w="88265" h="92710">
                <a:moveTo>
                  <a:pt x="0" y="46161"/>
                </a:moveTo>
                <a:lnTo>
                  <a:pt x="3449" y="28193"/>
                </a:lnTo>
                <a:lnTo>
                  <a:pt x="12856" y="13520"/>
                </a:lnTo>
                <a:lnTo>
                  <a:pt x="26808" y="3627"/>
                </a:lnTo>
                <a:lnTo>
                  <a:pt x="43893" y="0"/>
                </a:lnTo>
                <a:lnTo>
                  <a:pt x="60978" y="3627"/>
                </a:lnTo>
                <a:lnTo>
                  <a:pt x="74930" y="13520"/>
                </a:lnTo>
                <a:lnTo>
                  <a:pt x="84337" y="28193"/>
                </a:lnTo>
                <a:lnTo>
                  <a:pt x="87787" y="46161"/>
                </a:lnTo>
                <a:lnTo>
                  <a:pt x="84337" y="64129"/>
                </a:lnTo>
                <a:lnTo>
                  <a:pt x="74930" y="78802"/>
                </a:lnTo>
                <a:lnTo>
                  <a:pt x="60978" y="88695"/>
                </a:lnTo>
                <a:lnTo>
                  <a:pt x="43893" y="92323"/>
                </a:lnTo>
                <a:lnTo>
                  <a:pt x="26808" y="88695"/>
                </a:lnTo>
                <a:lnTo>
                  <a:pt x="12856" y="78802"/>
                </a:lnTo>
                <a:lnTo>
                  <a:pt x="3449" y="64129"/>
                </a:lnTo>
                <a:lnTo>
                  <a:pt x="0" y="4616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48" name="object 4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8706984" y="6699893"/>
            <a:ext cx="16573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36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73023" y="347472"/>
            <a:ext cx="6144767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04151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000000"/>
                </a:solidFill>
              </a:rPr>
              <a:t>Idea: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Interpolate between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regular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lattice  graphs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dirty="0" spc="0" b="0">
                <a:solidFill>
                  <a:srgbClr val="000000"/>
                </a:solidFill>
                <a:latin typeface="Calibri"/>
                <a:cs typeface="Calibri"/>
              </a:rPr>
              <a:t>G</a:t>
            </a:r>
            <a:r>
              <a:rPr dirty="0" baseline="-18518" sz="3150" spc="0" b="0">
                <a:solidFill>
                  <a:srgbClr val="000000"/>
                </a:solidFill>
                <a:latin typeface="Calibri"/>
                <a:cs typeface="Calibri"/>
              </a:rPr>
              <a:t>np </a:t>
            </a:r>
            <a:r>
              <a:rPr dirty="0" sz="3200" spc="-15" b="0">
                <a:solidFill>
                  <a:srgbClr val="000000"/>
                </a:solidFill>
                <a:latin typeface="Calibri"/>
                <a:cs typeface="Calibri"/>
              </a:rPr>
              <a:t>random</a:t>
            </a:r>
            <a:r>
              <a:rPr dirty="0" sz="3200" spc="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3200" spc="-15" b="0">
                <a:solidFill>
                  <a:srgbClr val="000000"/>
                </a:solidFill>
                <a:latin typeface="Calibri"/>
                <a:cs typeface="Calibri"/>
              </a:rPr>
              <a:t>graph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8108" y="5247132"/>
            <a:ext cx="7567930" cy="1010285"/>
          </a:xfrm>
          <a:prstGeom prst="rect">
            <a:avLst/>
          </a:prstGeom>
        </p:spPr>
        <p:txBody>
          <a:bodyPr wrap="square" lIns="0" tIns="3175" rIns="0" bIns="0" rtlCol="0" vert="horz">
            <a:spAutoFit/>
          </a:bodyPr>
          <a:lstStyle/>
          <a:p>
            <a:pPr marL="332740" marR="5080" indent="-320040">
              <a:lnSpc>
                <a:spcPct val="101899"/>
              </a:lnSpc>
              <a:spcBef>
                <a:spcPts val="2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How do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we interpolate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between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these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two  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graphs?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20684" y="4135628"/>
            <a:ext cx="2552700" cy="845819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 indent="354330">
              <a:lnSpc>
                <a:spcPts val="2090"/>
              </a:lnSpc>
              <a:spcBef>
                <a:spcPts val="225"/>
              </a:spcBef>
            </a:pPr>
            <a:r>
              <a:rPr dirty="0" sz="1800" spc="-5" b="1">
                <a:latin typeface="Corbel"/>
                <a:cs typeface="Corbel"/>
              </a:rPr>
              <a:t>G</a:t>
            </a:r>
            <a:r>
              <a:rPr dirty="0" baseline="-13888" sz="1800" spc="-7" b="1">
                <a:latin typeface="Corbel"/>
                <a:cs typeface="Corbel"/>
              </a:rPr>
              <a:t>np </a:t>
            </a:r>
            <a:r>
              <a:rPr dirty="0" sz="1800" spc="-5" b="1">
                <a:latin typeface="Corbel"/>
                <a:cs typeface="Corbel"/>
              </a:rPr>
              <a:t>random graph:  Low clustering</a:t>
            </a:r>
            <a:r>
              <a:rPr dirty="0" sz="1800" spc="-45" b="1">
                <a:latin typeface="Corbel"/>
                <a:cs typeface="Corbel"/>
              </a:rPr>
              <a:t> </a:t>
            </a:r>
            <a:r>
              <a:rPr dirty="0" sz="1800" spc="-5" b="1">
                <a:latin typeface="Corbel"/>
                <a:cs typeface="Corbel"/>
              </a:rPr>
              <a:t>coefficient</a:t>
            </a:r>
            <a:endParaRPr sz="1800">
              <a:latin typeface="Corbel"/>
              <a:cs typeface="Corbel"/>
            </a:endParaRPr>
          </a:p>
          <a:p>
            <a:pPr marL="592455">
              <a:lnSpc>
                <a:spcPts val="2150"/>
              </a:lnSpc>
            </a:pPr>
            <a:r>
              <a:rPr dirty="0" sz="1800" spc="-5" b="1">
                <a:solidFill>
                  <a:srgbClr val="0070C0"/>
                </a:solidFill>
                <a:latin typeface="Corbel"/>
                <a:cs typeface="Corbel"/>
              </a:rPr>
              <a:t>Low</a:t>
            </a:r>
            <a:r>
              <a:rPr dirty="0" sz="1800" spc="-60" b="1">
                <a:solidFill>
                  <a:srgbClr val="0070C0"/>
                </a:solidFill>
                <a:latin typeface="Corbel"/>
                <a:cs typeface="Corbel"/>
              </a:rPr>
              <a:t> </a:t>
            </a:r>
            <a:r>
              <a:rPr dirty="0" sz="1800" spc="-5" b="1">
                <a:solidFill>
                  <a:srgbClr val="0070C0"/>
                </a:solidFill>
                <a:latin typeface="Corbel"/>
                <a:cs typeface="Corbel"/>
              </a:rPr>
              <a:t>diameter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103750" y="3679597"/>
            <a:ext cx="2945765" cy="86360"/>
          </a:xfrm>
          <a:custGeom>
            <a:avLst/>
            <a:gdLst/>
            <a:ahLst/>
            <a:cxnLst/>
            <a:rect l="l" t="t" r="r" b="b"/>
            <a:pathLst>
              <a:path w="2945765" h="86360">
                <a:moveTo>
                  <a:pt x="2859659" y="57151"/>
                </a:moveTo>
                <a:lnTo>
                  <a:pt x="2859659" y="85726"/>
                </a:lnTo>
                <a:lnTo>
                  <a:pt x="2916809" y="57151"/>
                </a:lnTo>
                <a:lnTo>
                  <a:pt x="2859659" y="57151"/>
                </a:lnTo>
                <a:close/>
              </a:path>
              <a:path w="2945765" h="86360">
                <a:moveTo>
                  <a:pt x="85725" y="0"/>
                </a:moveTo>
                <a:lnTo>
                  <a:pt x="0" y="42862"/>
                </a:lnTo>
                <a:lnTo>
                  <a:pt x="85725" y="85725"/>
                </a:lnTo>
                <a:lnTo>
                  <a:pt x="85725" y="57150"/>
                </a:lnTo>
                <a:lnTo>
                  <a:pt x="63548" y="57150"/>
                </a:lnTo>
                <a:lnTo>
                  <a:pt x="57152" y="50754"/>
                </a:lnTo>
                <a:lnTo>
                  <a:pt x="57151" y="34971"/>
                </a:lnTo>
                <a:lnTo>
                  <a:pt x="63548" y="28575"/>
                </a:lnTo>
                <a:lnTo>
                  <a:pt x="85725" y="28575"/>
                </a:lnTo>
                <a:lnTo>
                  <a:pt x="85725" y="0"/>
                </a:lnTo>
                <a:close/>
              </a:path>
              <a:path w="2945765" h="86360">
                <a:moveTo>
                  <a:pt x="2859659" y="28576"/>
                </a:moveTo>
                <a:lnTo>
                  <a:pt x="2859659" y="57151"/>
                </a:lnTo>
                <a:lnTo>
                  <a:pt x="2881837" y="57150"/>
                </a:lnTo>
                <a:lnTo>
                  <a:pt x="2888232" y="50754"/>
                </a:lnTo>
                <a:lnTo>
                  <a:pt x="2888232" y="34971"/>
                </a:lnTo>
                <a:lnTo>
                  <a:pt x="2881835" y="28576"/>
                </a:lnTo>
                <a:lnTo>
                  <a:pt x="2859659" y="28576"/>
                </a:lnTo>
                <a:close/>
              </a:path>
              <a:path w="2945765" h="86360">
                <a:moveTo>
                  <a:pt x="2859659" y="1"/>
                </a:moveTo>
                <a:lnTo>
                  <a:pt x="2859659" y="28576"/>
                </a:lnTo>
                <a:lnTo>
                  <a:pt x="2873945" y="28576"/>
                </a:lnTo>
                <a:lnTo>
                  <a:pt x="2881835" y="28576"/>
                </a:lnTo>
                <a:lnTo>
                  <a:pt x="2888232" y="34971"/>
                </a:lnTo>
                <a:lnTo>
                  <a:pt x="2888232" y="50754"/>
                </a:lnTo>
                <a:lnTo>
                  <a:pt x="2881835" y="57151"/>
                </a:lnTo>
                <a:lnTo>
                  <a:pt x="2916811" y="57150"/>
                </a:lnTo>
                <a:lnTo>
                  <a:pt x="2945384" y="42863"/>
                </a:lnTo>
                <a:lnTo>
                  <a:pt x="2859659" y="1"/>
                </a:lnTo>
                <a:close/>
              </a:path>
              <a:path w="2945765" h="86360">
                <a:moveTo>
                  <a:pt x="85725" y="28575"/>
                </a:moveTo>
                <a:lnTo>
                  <a:pt x="85725" y="57150"/>
                </a:lnTo>
                <a:lnTo>
                  <a:pt x="2859659" y="57151"/>
                </a:lnTo>
                <a:lnTo>
                  <a:pt x="2859659" y="28576"/>
                </a:lnTo>
                <a:lnTo>
                  <a:pt x="85725" y="28575"/>
                </a:lnTo>
                <a:close/>
              </a:path>
              <a:path w="2945765" h="86360">
                <a:moveTo>
                  <a:pt x="71438" y="28575"/>
                </a:moveTo>
                <a:lnTo>
                  <a:pt x="63546" y="28576"/>
                </a:lnTo>
                <a:lnTo>
                  <a:pt x="57151" y="34971"/>
                </a:lnTo>
                <a:lnTo>
                  <a:pt x="57152" y="50754"/>
                </a:lnTo>
                <a:lnTo>
                  <a:pt x="63548" y="57150"/>
                </a:lnTo>
                <a:lnTo>
                  <a:pt x="85725" y="57150"/>
                </a:lnTo>
                <a:lnTo>
                  <a:pt x="85725" y="28575"/>
                </a:lnTo>
                <a:lnTo>
                  <a:pt x="71438" y="28575"/>
                </a:lnTo>
                <a:close/>
              </a:path>
              <a:path w="2945765" h="86360">
                <a:moveTo>
                  <a:pt x="85725" y="28575"/>
                </a:moveTo>
                <a:lnTo>
                  <a:pt x="71438" y="28575"/>
                </a:lnTo>
                <a:lnTo>
                  <a:pt x="85725" y="285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3794357" y="3141979"/>
            <a:ext cx="149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>
                <a:solidFill>
                  <a:srgbClr val="C00000"/>
                </a:solidFill>
                <a:latin typeface="Corbel"/>
                <a:cs typeface="Corbel"/>
              </a:rPr>
              <a:t>Interpolate</a:t>
            </a:r>
            <a:endParaRPr sz="2400">
              <a:latin typeface="Corbel"/>
              <a:cs typeface="Corbe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85759" y="4084828"/>
            <a:ext cx="2602865" cy="966469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41910">
              <a:lnSpc>
                <a:spcPct val="100000"/>
              </a:lnSpc>
              <a:spcBef>
                <a:spcPts val="259"/>
              </a:spcBef>
            </a:pPr>
            <a:r>
              <a:rPr dirty="0" sz="2400" spc="-5" b="1">
                <a:latin typeface="Corbel"/>
                <a:cs typeface="Corbel"/>
              </a:rPr>
              <a:t>Small-world</a:t>
            </a:r>
            <a:r>
              <a:rPr dirty="0" sz="2400" spc="-55" b="1">
                <a:latin typeface="Corbel"/>
                <a:cs typeface="Corbel"/>
              </a:rPr>
              <a:t> </a:t>
            </a:r>
            <a:r>
              <a:rPr dirty="0" sz="2400" spc="-5" b="1">
                <a:latin typeface="Corbel"/>
                <a:cs typeface="Corbel"/>
              </a:rPr>
              <a:t>graph:</a:t>
            </a:r>
            <a:endParaRPr sz="2400">
              <a:latin typeface="Corbel"/>
              <a:cs typeface="Corbel"/>
            </a:endParaRPr>
          </a:p>
          <a:p>
            <a:pPr marL="617855" marR="5080" indent="-605790">
              <a:lnSpc>
                <a:spcPts val="2090"/>
              </a:lnSpc>
              <a:spcBef>
                <a:spcPts val="245"/>
              </a:spcBef>
            </a:pPr>
            <a:r>
              <a:rPr dirty="0" sz="1800" spc="-5" b="1">
                <a:solidFill>
                  <a:srgbClr val="C00000"/>
                </a:solidFill>
                <a:latin typeface="Corbel"/>
                <a:cs typeface="Corbel"/>
              </a:rPr>
              <a:t>High clustering coefficient  </a:t>
            </a:r>
            <a:r>
              <a:rPr dirty="0" sz="1800" spc="-5" b="1">
                <a:solidFill>
                  <a:srgbClr val="0070C0"/>
                </a:solidFill>
                <a:latin typeface="Corbel"/>
                <a:cs typeface="Corbel"/>
              </a:rPr>
              <a:t>Low</a:t>
            </a:r>
            <a:r>
              <a:rPr dirty="0" sz="1800" spc="-60" b="1">
                <a:solidFill>
                  <a:srgbClr val="0070C0"/>
                </a:solidFill>
                <a:latin typeface="Corbel"/>
                <a:cs typeface="Corbel"/>
              </a:rPr>
              <a:t> </a:t>
            </a:r>
            <a:r>
              <a:rPr dirty="0" sz="1800" spc="-5" b="1">
                <a:solidFill>
                  <a:srgbClr val="0070C0"/>
                </a:solidFill>
                <a:latin typeface="Corbel"/>
                <a:cs typeface="Corbel"/>
              </a:rPr>
              <a:t>diameter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213669" y="3811792"/>
            <a:ext cx="261620" cy="81915"/>
          </a:xfrm>
          <a:custGeom>
            <a:avLst/>
            <a:gdLst/>
            <a:ahLst/>
            <a:cxnLst/>
            <a:rect l="l" t="t" r="r" b="b"/>
            <a:pathLst>
              <a:path w="261620" h="81914">
                <a:moveTo>
                  <a:pt x="0" y="0"/>
                </a:moveTo>
                <a:lnTo>
                  <a:pt x="261565" y="8180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976238" y="3162706"/>
            <a:ext cx="0" cy="276225"/>
          </a:xfrm>
          <a:custGeom>
            <a:avLst/>
            <a:gdLst/>
            <a:ahLst/>
            <a:cxnLst/>
            <a:rect l="l" t="t" r="r" b="b"/>
            <a:pathLst>
              <a:path w="0" h="276225">
                <a:moveTo>
                  <a:pt x="0" y="0"/>
                </a:moveTo>
                <a:lnTo>
                  <a:pt x="1" y="276005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228508" y="2815534"/>
            <a:ext cx="584200" cy="1905"/>
          </a:xfrm>
          <a:custGeom>
            <a:avLst/>
            <a:gdLst/>
            <a:ahLst/>
            <a:cxnLst/>
            <a:rect l="l" t="t" r="r" b="b"/>
            <a:pathLst>
              <a:path w="584200" h="1905">
                <a:moveTo>
                  <a:pt x="0" y="1442"/>
                </a:moveTo>
                <a:lnTo>
                  <a:pt x="58401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213669" y="3148223"/>
            <a:ext cx="821055" cy="598805"/>
          </a:xfrm>
          <a:custGeom>
            <a:avLst/>
            <a:gdLst/>
            <a:ahLst/>
            <a:cxnLst/>
            <a:rect l="l" t="t" r="r" b="b"/>
            <a:pathLst>
              <a:path w="821054" h="598804">
                <a:moveTo>
                  <a:pt x="0" y="598285"/>
                </a:moveTo>
                <a:lnTo>
                  <a:pt x="820545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215653" y="2849276"/>
            <a:ext cx="608965" cy="897255"/>
          </a:xfrm>
          <a:custGeom>
            <a:avLst/>
            <a:gdLst/>
            <a:ahLst/>
            <a:cxnLst/>
            <a:rect l="l" t="t" r="r" b="b"/>
            <a:pathLst>
              <a:path w="608965" h="897254">
                <a:moveTo>
                  <a:pt x="608799" y="897232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549105" y="2734696"/>
            <a:ext cx="484505" cy="715645"/>
          </a:xfrm>
          <a:custGeom>
            <a:avLst/>
            <a:gdLst/>
            <a:ahLst/>
            <a:cxnLst/>
            <a:rect l="l" t="t" r="r" b="b"/>
            <a:pathLst>
              <a:path w="484504" h="715645">
                <a:moveTo>
                  <a:pt x="484320" y="715612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058338" y="3161742"/>
            <a:ext cx="0" cy="275590"/>
          </a:xfrm>
          <a:custGeom>
            <a:avLst/>
            <a:gdLst/>
            <a:ahLst/>
            <a:cxnLst/>
            <a:rect l="l" t="t" r="r" b="b"/>
            <a:pathLst>
              <a:path w="0" h="275589">
                <a:moveTo>
                  <a:pt x="1" y="0"/>
                </a:moveTo>
                <a:lnTo>
                  <a:pt x="0" y="275044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008083" y="2720553"/>
            <a:ext cx="480059" cy="717550"/>
          </a:xfrm>
          <a:custGeom>
            <a:avLst/>
            <a:gdLst/>
            <a:ahLst/>
            <a:cxnLst/>
            <a:rect l="l" t="t" r="r" b="b"/>
            <a:pathLst>
              <a:path w="480059" h="717550">
                <a:moveTo>
                  <a:pt x="0" y="717423"/>
                </a:moveTo>
                <a:lnTo>
                  <a:pt x="47959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879997" y="3148279"/>
            <a:ext cx="147320" cy="598805"/>
          </a:xfrm>
          <a:custGeom>
            <a:avLst/>
            <a:gdLst/>
            <a:ahLst/>
            <a:cxnLst/>
            <a:rect l="l" t="t" r="r" b="b"/>
            <a:pathLst>
              <a:path w="147320" h="598804">
                <a:moveTo>
                  <a:pt x="0" y="598173"/>
                </a:moveTo>
                <a:lnTo>
                  <a:pt x="146926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541483" y="2872953"/>
            <a:ext cx="304165" cy="998855"/>
          </a:xfrm>
          <a:custGeom>
            <a:avLst/>
            <a:gdLst/>
            <a:ahLst/>
            <a:cxnLst/>
            <a:rect l="l" t="t" r="r" b="b"/>
            <a:pathLst>
              <a:path w="304165" h="998854">
                <a:moveTo>
                  <a:pt x="304018" y="0"/>
                </a:moveTo>
                <a:lnTo>
                  <a:pt x="0" y="998237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543636" y="3799525"/>
            <a:ext cx="261620" cy="81915"/>
          </a:xfrm>
          <a:custGeom>
            <a:avLst/>
            <a:gdLst/>
            <a:ahLst/>
            <a:cxnLst/>
            <a:rect l="l" t="t" r="r" b="b"/>
            <a:pathLst>
              <a:path w="261620" h="81914">
                <a:moveTo>
                  <a:pt x="0" y="81744"/>
                </a:moveTo>
                <a:lnTo>
                  <a:pt x="261511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7221111" y="2830196"/>
            <a:ext cx="598805" cy="932180"/>
          </a:xfrm>
          <a:custGeom>
            <a:avLst/>
            <a:gdLst/>
            <a:ahLst/>
            <a:cxnLst/>
            <a:rect l="l" t="t" r="r" b="b"/>
            <a:pathLst>
              <a:path w="598804" h="932179">
                <a:moveTo>
                  <a:pt x="0" y="931881"/>
                </a:moveTo>
                <a:lnTo>
                  <a:pt x="598796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047430" y="3136739"/>
            <a:ext cx="1014094" cy="335915"/>
          </a:xfrm>
          <a:custGeom>
            <a:avLst/>
            <a:gdLst/>
            <a:ahLst/>
            <a:cxnLst/>
            <a:rect l="l" t="t" r="r" b="b"/>
            <a:pathLst>
              <a:path w="1014095" h="335914">
                <a:moveTo>
                  <a:pt x="0" y="335631"/>
                </a:moveTo>
                <a:lnTo>
                  <a:pt x="1013702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194815" y="2856388"/>
            <a:ext cx="303530" cy="998855"/>
          </a:xfrm>
          <a:custGeom>
            <a:avLst/>
            <a:gdLst/>
            <a:ahLst/>
            <a:cxnLst/>
            <a:rect l="l" t="t" r="r" b="b"/>
            <a:pathLst>
              <a:path w="303529" h="998854">
                <a:moveTo>
                  <a:pt x="303094" y="998237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019089" y="3144301"/>
            <a:ext cx="485140" cy="715645"/>
          </a:xfrm>
          <a:custGeom>
            <a:avLst/>
            <a:gdLst/>
            <a:ahLst/>
            <a:cxnLst/>
            <a:rect l="l" t="t" r="r" b="b"/>
            <a:pathLst>
              <a:path w="485140" h="715645">
                <a:moveTo>
                  <a:pt x="485135" y="715499"/>
                </a:moveTo>
                <a:lnTo>
                  <a:pt x="0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900623" y="3509935"/>
            <a:ext cx="147320" cy="231775"/>
          </a:xfrm>
          <a:custGeom>
            <a:avLst/>
            <a:gdLst/>
            <a:ahLst/>
            <a:cxnLst/>
            <a:rect l="l" t="t" r="r" b="b"/>
            <a:pathLst>
              <a:path w="147320" h="231775">
                <a:moveTo>
                  <a:pt x="0" y="231768"/>
                </a:moveTo>
                <a:lnTo>
                  <a:pt x="146927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020593" y="2848175"/>
            <a:ext cx="805180" cy="268605"/>
          </a:xfrm>
          <a:custGeom>
            <a:avLst/>
            <a:gdLst/>
            <a:ahLst/>
            <a:cxnLst/>
            <a:rect l="l" t="t" r="r" b="b"/>
            <a:pathLst>
              <a:path w="805179" h="268605">
                <a:moveTo>
                  <a:pt x="0" y="268369"/>
                </a:moveTo>
                <a:lnTo>
                  <a:pt x="804917" y="0"/>
                </a:lnTo>
              </a:path>
            </a:pathLst>
          </a:custGeom>
          <a:ln w="190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475235" y="3847429"/>
            <a:ext cx="88265" cy="92710"/>
          </a:xfrm>
          <a:custGeom>
            <a:avLst/>
            <a:gdLst/>
            <a:ahLst/>
            <a:cxnLst/>
            <a:rect l="l" t="t" r="r" b="b"/>
            <a:pathLst>
              <a:path w="88265" h="92710">
                <a:moveTo>
                  <a:pt x="43892" y="0"/>
                </a:moveTo>
                <a:lnTo>
                  <a:pt x="26807" y="3627"/>
                </a:lnTo>
                <a:lnTo>
                  <a:pt x="12855" y="13520"/>
                </a:lnTo>
                <a:lnTo>
                  <a:pt x="3449" y="28193"/>
                </a:lnTo>
                <a:lnTo>
                  <a:pt x="0" y="46161"/>
                </a:lnTo>
                <a:lnTo>
                  <a:pt x="3449" y="64130"/>
                </a:lnTo>
                <a:lnTo>
                  <a:pt x="12855" y="78803"/>
                </a:lnTo>
                <a:lnTo>
                  <a:pt x="26807" y="88696"/>
                </a:lnTo>
                <a:lnTo>
                  <a:pt x="43892" y="92323"/>
                </a:lnTo>
                <a:lnTo>
                  <a:pt x="60977" y="88696"/>
                </a:lnTo>
                <a:lnTo>
                  <a:pt x="74929" y="78803"/>
                </a:lnTo>
                <a:lnTo>
                  <a:pt x="84335" y="64130"/>
                </a:lnTo>
                <a:lnTo>
                  <a:pt x="87784" y="46161"/>
                </a:lnTo>
                <a:lnTo>
                  <a:pt x="84335" y="28193"/>
                </a:lnTo>
                <a:lnTo>
                  <a:pt x="74929" y="13520"/>
                </a:lnTo>
                <a:lnTo>
                  <a:pt x="60977" y="3627"/>
                </a:lnTo>
                <a:lnTo>
                  <a:pt x="438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475235" y="3847429"/>
            <a:ext cx="88265" cy="92710"/>
          </a:xfrm>
          <a:custGeom>
            <a:avLst/>
            <a:gdLst/>
            <a:ahLst/>
            <a:cxnLst/>
            <a:rect l="l" t="t" r="r" b="b"/>
            <a:pathLst>
              <a:path w="88265" h="92710">
                <a:moveTo>
                  <a:pt x="0" y="46161"/>
                </a:moveTo>
                <a:lnTo>
                  <a:pt x="3449" y="28193"/>
                </a:lnTo>
                <a:lnTo>
                  <a:pt x="12855" y="13520"/>
                </a:lnTo>
                <a:lnTo>
                  <a:pt x="26807" y="3627"/>
                </a:lnTo>
                <a:lnTo>
                  <a:pt x="43893" y="0"/>
                </a:lnTo>
                <a:lnTo>
                  <a:pt x="60978" y="3627"/>
                </a:lnTo>
                <a:lnTo>
                  <a:pt x="74930" y="13520"/>
                </a:lnTo>
                <a:lnTo>
                  <a:pt x="84336" y="28193"/>
                </a:lnTo>
                <a:lnTo>
                  <a:pt x="87786" y="46161"/>
                </a:lnTo>
                <a:lnTo>
                  <a:pt x="84336" y="64129"/>
                </a:lnTo>
                <a:lnTo>
                  <a:pt x="74930" y="78802"/>
                </a:lnTo>
                <a:lnTo>
                  <a:pt x="60978" y="88695"/>
                </a:lnTo>
                <a:lnTo>
                  <a:pt x="43893" y="92323"/>
                </a:lnTo>
                <a:lnTo>
                  <a:pt x="26807" y="88695"/>
                </a:lnTo>
                <a:lnTo>
                  <a:pt x="12855" y="78802"/>
                </a:lnTo>
                <a:lnTo>
                  <a:pt x="3449" y="64129"/>
                </a:lnTo>
                <a:lnTo>
                  <a:pt x="0" y="4616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137951" y="3732988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10">
                <a:moveTo>
                  <a:pt x="44354" y="0"/>
                </a:moveTo>
                <a:lnTo>
                  <a:pt x="27089" y="3627"/>
                </a:lnTo>
                <a:lnTo>
                  <a:pt x="12990" y="13520"/>
                </a:lnTo>
                <a:lnTo>
                  <a:pt x="3485" y="28193"/>
                </a:lnTo>
                <a:lnTo>
                  <a:pt x="0" y="46161"/>
                </a:lnTo>
                <a:lnTo>
                  <a:pt x="3485" y="64130"/>
                </a:lnTo>
                <a:lnTo>
                  <a:pt x="12990" y="78803"/>
                </a:lnTo>
                <a:lnTo>
                  <a:pt x="27089" y="88696"/>
                </a:lnTo>
                <a:lnTo>
                  <a:pt x="44354" y="92323"/>
                </a:lnTo>
                <a:lnTo>
                  <a:pt x="61619" y="88696"/>
                </a:lnTo>
                <a:lnTo>
                  <a:pt x="75718" y="78803"/>
                </a:lnTo>
                <a:lnTo>
                  <a:pt x="85223" y="64130"/>
                </a:lnTo>
                <a:lnTo>
                  <a:pt x="88709" y="46161"/>
                </a:lnTo>
                <a:lnTo>
                  <a:pt x="85223" y="28193"/>
                </a:lnTo>
                <a:lnTo>
                  <a:pt x="75718" y="13520"/>
                </a:lnTo>
                <a:lnTo>
                  <a:pt x="61619" y="3627"/>
                </a:lnTo>
                <a:lnTo>
                  <a:pt x="443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137951" y="3732988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10">
                <a:moveTo>
                  <a:pt x="0" y="46161"/>
                </a:moveTo>
                <a:lnTo>
                  <a:pt x="3485" y="28193"/>
                </a:lnTo>
                <a:lnTo>
                  <a:pt x="12991" y="13520"/>
                </a:lnTo>
                <a:lnTo>
                  <a:pt x="27090" y="3627"/>
                </a:lnTo>
                <a:lnTo>
                  <a:pt x="44355" y="0"/>
                </a:lnTo>
                <a:lnTo>
                  <a:pt x="61619" y="3627"/>
                </a:lnTo>
                <a:lnTo>
                  <a:pt x="75718" y="13520"/>
                </a:lnTo>
                <a:lnTo>
                  <a:pt x="85224" y="28193"/>
                </a:lnTo>
                <a:lnTo>
                  <a:pt x="88710" y="46161"/>
                </a:lnTo>
                <a:lnTo>
                  <a:pt x="85224" y="64129"/>
                </a:lnTo>
                <a:lnTo>
                  <a:pt x="75718" y="78802"/>
                </a:lnTo>
                <a:lnTo>
                  <a:pt x="61619" y="88695"/>
                </a:lnTo>
                <a:lnTo>
                  <a:pt x="44355" y="92323"/>
                </a:lnTo>
                <a:lnTo>
                  <a:pt x="27090" y="88695"/>
                </a:lnTo>
                <a:lnTo>
                  <a:pt x="12991" y="78802"/>
                </a:lnTo>
                <a:lnTo>
                  <a:pt x="3485" y="64129"/>
                </a:lnTo>
                <a:lnTo>
                  <a:pt x="0" y="4616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931883" y="3438710"/>
            <a:ext cx="88900" cy="91440"/>
          </a:xfrm>
          <a:custGeom>
            <a:avLst/>
            <a:gdLst/>
            <a:ahLst/>
            <a:cxnLst/>
            <a:rect l="l" t="t" r="r" b="b"/>
            <a:pathLst>
              <a:path w="88900" h="91439">
                <a:moveTo>
                  <a:pt x="44356" y="0"/>
                </a:moveTo>
                <a:lnTo>
                  <a:pt x="27090" y="3589"/>
                </a:lnTo>
                <a:lnTo>
                  <a:pt x="12991" y="13379"/>
                </a:lnTo>
                <a:lnTo>
                  <a:pt x="3485" y="27899"/>
                </a:lnTo>
                <a:lnTo>
                  <a:pt x="0" y="45680"/>
                </a:lnTo>
                <a:lnTo>
                  <a:pt x="3485" y="63461"/>
                </a:lnTo>
                <a:lnTo>
                  <a:pt x="12991" y="77981"/>
                </a:lnTo>
                <a:lnTo>
                  <a:pt x="27090" y="87771"/>
                </a:lnTo>
                <a:lnTo>
                  <a:pt x="44356" y="91361"/>
                </a:lnTo>
                <a:lnTo>
                  <a:pt x="61620" y="87771"/>
                </a:lnTo>
                <a:lnTo>
                  <a:pt x="75719" y="77981"/>
                </a:lnTo>
                <a:lnTo>
                  <a:pt x="85225" y="63461"/>
                </a:lnTo>
                <a:lnTo>
                  <a:pt x="88710" y="45680"/>
                </a:lnTo>
                <a:lnTo>
                  <a:pt x="85225" y="27899"/>
                </a:lnTo>
                <a:lnTo>
                  <a:pt x="75719" y="13379"/>
                </a:lnTo>
                <a:lnTo>
                  <a:pt x="61620" y="3589"/>
                </a:lnTo>
                <a:lnTo>
                  <a:pt x="443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931883" y="3438710"/>
            <a:ext cx="88900" cy="91440"/>
          </a:xfrm>
          <a:custGeom>
            <a:avLst/>
            <a:gdLst/>
            <a:ahLst/>
            <a:cxnLst/>
            <a:rect l="l" t="t" r="r" b="b"/>
            <a:pathLst>
              <a:path w="88900" h="91439">
                <a:moveTo>
                  <a:pt x="0" y="45680"/>
                </a:moveTo>
                <a:lnTo>
                  <a:pt x="3485" y="27899"/>
                </a:lnTo>
                <a:lnTo>
                  <a:pt x="12991" y="13379"/>
                </a:lnTo>
                <a:lnTo>
                  <a:pt x="27090" y="3589"/>
                </a:lnTo>
                <a:lnTo>
                  <a:pt x="44355" y="0"/>
                </a:lnTo>
                <a:lnTo>
                  <a:pt x="61619" y="3589"/>
                </a:lnTo>
                <a:lnTo>
                  <a:pt x="75718" y="13379"/>
                </a:lnTo>
                <a:lnTo>
                  <a:pt x="85224" y="27899"/>
                </a:lnTo>
                <a:lnTo>
                  <a:pt x="88710" y="45680"/>
                </a:lnTo>
                <a:lnTo>
                  <a:pt x="85224" y="63461"/>
                </a:lnTo>
                <a:lnTo>
                  <a:pt x="75718" y="77981"/>
                </a:lnTo>
                <a:lnTo>
                  <a:pt x="61619" y="87771"/>
                </a:lnTo>
                <a:lnTo>
                  <a:pt x="44355" y="91361"/>
                </a:lnTo>
                <a:lnTo>
                  <a:pt x="27090" y="87771"/>
                </a:lnTo>
                <a:lnTo>
                  <a:pt x="12991" y="77981"/>
                </a:lnTo>
                <a:lnTo>
                  <a:pt x="3485" y="63461"/>
                </a:lnTo>
                <a:lnTo>
                  <a:pt x="0" y="456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931883" y="3070382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10">
                <a:moveTo>
                  <a:pt x="44356" y="0"/>
                </a:moveTo>
                <a:lnTo>
                  <a:pt x="27090" y="3627"/>
                </a:lnTo>
                <a:lnTo>
                  <a:pt x="12991" y="13520"/>
                </a:lnTo>
                <a:lnTo>
                  <a:pt x="3485" y="28193"/>
                </a:lnTo>
                <a:lnTo>
                  <a:pt x="0" y="46161"/>
                </a:lnTo>
                <a:lnTo>
                  <a:pt x="3485" y="64130"/>
                </a:lnTo>
                <a:lnTo>
                  <a:pt x="12991" y="78803"/>
                </a:lnTo>
                <a:lnTo>
                  <a:pt x="27090" y="88696"/>
                </a:lnTo>
                <a:lnTo>
                  <a:pt x="44356" y="92323"/>
                </a:lnTo>
                <a:lnTo>
                  <a:pt x="61620" y="88696"/>
                </a:lnTo>
                <a:lnTo>
                  <a:pt x="75719" y="78803"/>
                </a:lnTo>
                <a:lnTo>
                  <a:pt x="85225" y="64130"/>
                </a:lnTo>
                <a:lnTo>
                  <a:pt x="88710" y="46161"/>
                </a:lnTo>
                <a:lnTo>
                  <a:pt x="85225" y="28193"/>
                </a:lnTo>
                <a:lnTo>
                  <a:pt x="75719" y="13520"/>
                </a:lnTo>
                <a:lnTo>
                  <a:pt x="61620" y="3627"/>
                </a:lnTo>
                <a:lnTo>
                  <a:pt x="44356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931883" y="3070382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10">
                <a:moveTo>
                  <a:pt x="0" y="46161"/>
                </a:moveTo>
                <a:lnTo>
                  <a:pt x="3485" y="28193"/>
                </a:lnTo>
                <a:lnTo>
                  <a:pt x="12991" y="13520"/>
                </a:lnTo>
                <a:lnTo>
                  <a:pt x="27090" y="3627"/>
                </a:lnTo>
                <a:lnTo>
                  <a:pt x="44355" y="0"/>
                </a:lnTo>
                <a:lnTo>
                  <a:pt x="61619" y="3627"/>
                </a:lnTo>
                <a:lnTo>
                  <a:pt x="75718" y="13520"/>
                </a:lnTo>
                <a:lnTo>
                  <a:pt x="85224" y="28193"/>
                </a:lnTo>
                <a:lnTo>
                  <a:pt x="88710" y="46161"/>
                </a:lnTo>
                <a:lnTo>
                  <a:pt x="85224" y="64129"/>
                </a:lnTo>
                <a:lnTo>
                  <a:pt x="75718" y="78802"/>
                </a:lnTo>
                <a:lnTo>
                  <a:pt x="61619" y="88695"/>
                </a:lnTo>
                <a:lnTo>
                  <a:pt x="44355" y="92323"/>
                </a:lnTo>
                <a:lnTo>
                  <a:pt x="27090" y="88695"/>
                </a:lnTo>
                <a:lnTo>
                  <a:pt x="12991" y="78802"/>
                </a:lnTo>
                <a:lnTo>
                  <a:pt x="3485" y="64129"/>
                </a:lnTo>
                <a:lnTo>
                  <a:pt x="0" y="4616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473387" y="2655892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10">
                <a:moveTo>
                  <a:pt x="44354" y="0"/>
                </a:moveTo>
                <a:lnTo>
                  <a:pt x="27089" y="3627"/>
                </a:lnTo>
                <a:lnTo>
                  <a:pt x="12990" y="13520"/>
                </a:lnTo>
                <a:lnTo>
                  <a:pt x="3485" y="28193"/>
                </a:lnTo>
                <a:lnTo>
                  <a:pt x="0" y="46161"/>
                </a:lnTo>
                <a:lnTo>
                  <a:pt x="3485" y="64130"/>
                </a:lnTo>
                <a:lnTo>
                  <a:pt x="12990" y="78803"/>
                </a:lnTo>
                <a:lnTo>
                  <a:pt x="27089" y="88696"/>
                </a:lnTo>
                <a:lnTo>
                  <a:pt x="44354" y="92323"/>
                </a:lnTo>
                <a:lnTo>
                  <a:pt x="61619" y="88696"/>
                </a:lnTo>
                <a:lnTo>
                  <a:pt x="75718" y="78803"/>
                </a:lnTo>
                <a:lnTo>
                  <a:pt x="85223" y="64130"/>
                </a:lnTo>
                <a:lnTo>
                  <a:pt x="88709" y="46161"/>
                </a:lnTo>
                <a:lnTo>
                  <a:pt x="85223" y="28193"/>
                </a:lnTo>
                <a:lnTo>
                  <a:pt x="75718" y="13520"/>
                </a:lnTo>
                <a:lnTo>
                  <a:pt x="61619" y="3627"/>
                </a:lnTo>
                <a:lnTo>
                  <a:pt x="443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473387" y="2655892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10">
                <a:moveTo>
                  <a:pt x="0" y="46161"/>
                </a:moveTo>
                <a:lnTo>
                  <a:pt x="3485" y="28193"/>
                </a:lnTo>
                <a:lnTo>
                  <a:pt x="12991" y="13520"/>
                </a:lnTo>
                <a:lnTo>
                  <a:pt x="27090" y="3627"/>
                </a:lnTo>
                <a:lnTo>
                  <a:pt x="44355" y="0"/>
                </a:lnTo>
                <a:lnTo>
                  <a:pt x="61619" y="3627"/>
                </a:lnTo>
                <a:lnTo>
                  <a:pt x="75718" y="13520"/>
                </a:lnTo>
                <a:lnTo>
                  <a:pt x="85224" y="28193"/>
                </a:lnTo>
                <a:lnTo>
                  <a:pt x="88710" y="46161"/>
                </a:lnTo>
                <a:lnTo>
                  <a:pt x="85224" y="64129"/>
                </a:lnTo>
                <a:lnTo>
                  <a:pt x="75718" y="78802"/>
                </a:lnTo>
                <a:lnTo>
                  <a:pt x="61619" y="88695"/>
                </a:lnTo>
                <a:lnTo>
                  <a:pt x="44355" y="92323"/>
                </a:lnTo>
                <a:lnTo>
                  <a:pt x="27090" y="88695"/>
                </a:lnTo>
                <a:lnTo>
                  <a:pt x="12991" y="78802"/>
                </a:lnTo>
                <a:lnTo>
                  <a:pt x="3485" y="64129"/>
                </a:lnTo>
                <a:lnTo>
                  <a:pt x="0" y="4616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020434" y="3436787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10">
                <a:moveTo>
                  <a:pt x="44354" y="0"/>
                </a:moveTo>
                <a:lnTo>
                  <a:pt x="27089" y="3627"/>
                </a:lnTo>
                <a:lnTo>
                  <a:pt x="12990" y="13520"/>
                </a:lnTo>
                <a:lnTo>
                  <a:pt x="3485" y="28193"/>
                </a:lnTo>
                <a:lnTo>
                  <a:pt x="0" y="46161"/>
                </a:lnTo>
                <a:lnTo>
                  <a:pt x="3485" y="64130"/>
                </a:lnTo>
                <a:lnTo>
                  <a:pt x="12990" y="78803"/>
                </a:lnTo>
                <a:lnTo>
                  <a:pt x="27089" y="88696"/>
                </a:lnTo>
                <a:lnTo>
                  <a:pt x="44354" y="92323"/>
                </a:lnTo>
                <a:lnTo>
                  <a:pt x="61619" y="88696"/>
                </a:lnTo>
                <a:lnTo>
                  <a:pt x="75718" y="78803"/>
                </a:lnTo>
                <a:lnTo>
                  <a:pt x="85223" y="64130"/>
                </a:lnTo>
                <a:lnTo>
                  <a:pt x="88709" y="46161"/>
                </a:lnTo>
                <a:lnTo>
                  <a:pt x="85223" y="28193"/>
                </a:lnTo>
                <a:lnTo>
                  <a:pt x="75718" y="13520"/>
                </a:lnTo>
                <a:lnTo>
                  <a:pt x="61619" y="3627"/>
                </a:lnTo>
                <a:lnTo>
                  <a:pt x="443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020434" y="3436787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10">
                <a:moveTo>
                  <a:pt x="0" y="46161"/>
                </a:moveTo>
                <a:lnTo>
                  <a:pt x="3485" y="28193"/>
                </a:lnTo>
                <a:lnTo>
                  <a:pt x="12991" y="13520"/>
                </a:lnTo>
                <a:lnTo>
                  <a:pt x="27090" y="3627"/>
                </a:lnTo>
                <a:lnTo>
                  <a:pt x="44355" y="0"/>
                </a:lnTo>
                <a:lnTo>
                  <a:pt x="61619" y="3627"/>
                </a:lnTo>
                <a:lnTo>
                  <a:pt x="75718" y="13520"/>
                </a:lnTo>
                <a:lnTo>
                  <a:pt x="85224" y="28193"/>
                </a:lnTo>
                <a:lnTo>
                  <a:pt x="88710" y="46161"/>
                </a:lnTo>
                <a:lnTo>
                  <a:pt x="85224" y="64129"/>
                </a:lnTo>
                <a:lnTo>
                  <a:pt x="75718" y="78802"/>
                </a:lnTo>
                <a:lnTo>
                  <a:pt x="61619" y="88695"/>
                </a:lnTo>
                <a:lnTo>
                  <a:pt x="44355" y="92323"/>
                </a:lnTo>
                <a:lnTo>
                  <a:pt x="27090" y="88695"/>
                </a:lnTo>
                <a:lnTo>
                  <a:pt x="12991" y="78802"/>
                </a:lnTo>
                <a:lnTo>
                  <a:pt x="3485" y="64129"/>
                </a:lnTo>
                <a:lnTo>
                  <a:pt x="0" y="4616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140722" y="2771296"/>
            <a:ext cx="88265" cy="91440"/>
          </a:xfrm>
          <a:custGeom>
            <a:avLst/>
            <a:gdLst/>
            <a:ahLst/>
            <a:cxnLst/>
            <a:rect l="l" t="t" r="r" b="b"/>
            <a:pathLst>
              <a:path w="88265" h="91439">
                <a:moveTo>
                  <a:pt x="43893" y="0"/>
                </a:moveTo>
                <a:lnTo>
                  <a:pt x="26808" y="3589"/>
                </a:lnTo>
                <a:lnTo>
                  <a:pt x="12856" y="13379"/>
                </a:lnTo>
                <a:lnTo>
                  <a:pt x="3449" y="27899"/>
                </a:lnTo>
                <a:lnTo>
                  <a:pt x="0" y="45680"/>
                </a:lnTo>
                <a:lnTo>
                  <a:pt x="3449" y="63461"/>
                </a:lnTo>
                <a:lnTo>
                  <a:pt x="12856" y="77981"/>
                </a:lnTo>
                <a:lnTo>
                  <a:pt x="26808" y="87771"/>
                </a:lnTo>
                <a:lnTo>
                  <a:pt x="43893" y="91361"/>
                </a:lnTo>
                <a:lnTo>
                  <a:pt x="60978" y="87771"/>
                </a:lnTo>
                <a:lnTo>
                  <a:pt x="74930" y="77981"/>
                </a:lnTo>
                <a:lnTo>
                  <a:pt x="84336" y="63461"/>
                </a:lnTo>
                <a:lnTo>
                  <a:pt x="87786" y="45680"/>
                </a:lnTo>
                <a:lnTo>
                  <a:pt x="84336" y="27899"/>
                </a:lnTo>
                <a:lnTo>
                  <a:pt x="74930" y="13379"/>
                </a:lnTo>
                <a:lnTo>
                  <a:pt x="60978" y="3589"/>
                </a:lnTo>
                <a:lnTo>
                  <a:pt x="438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140722" y="2771296"/>
            <a:ext cx="88265" cy="91440"/>
          </a:xfrm>
          <a:custGeom>
            <a:avLst/>
            <a:gdLst/>
            <a:ahLst/>
            <a:cxnLst/>
            <a:rect l="l" t="t" r="r" b="b"/>
            <a:pathLst>
              <a:path w="88265" h="91439">
                <a:moveTo>
                  <a:pt x="0" y="45680"/>
                </a:moveTo>
                <a:lnTo>
                  <a:pt x="3449" y="27899"/>
                </a:lnTo>
                <a:lnTo>
                  <a:pt x="12855" y="13379"/>
                </a:lnTo>
                <a:lnTo>
                  <a:pt x="26807" y="3589"/>
                </a:lnTo>
                <a:lnTo>
                  <a:pt x="43893" y="0"/>
                </a:lnTo>
                <a:lnTo>
                  <a:pt x="60978" y="3589"/>
                </a:lnTo>
                <a:lnTo>
                  <a:pt x="74930" y="13379"/>
                </a:lnTo>
                <a:lnTo>
                  <a:pt x="84336" y="27899"/>
                </a:lnTo>
                <a:lnTo>
                  <a:pt x="87786" y="45680"/>
                </a:lnTo>
                <a:lnTo>
                  <a:pt x="84336" y="63461"/>
                </a:lnTo>
                <a:lnTo>
                  <a:pt x="74930" y="77981"/>
                </a:lnTo>
                <a:lnTo>
                  <a:pt x="60978" y="87771"/>
                </a:lnTo>
                <a:lnTo>
                  <a:pt x="43893" y="91361"/>
                </a:lnTo>
                <a:lnTo>
                  <a:pt x="26807" y="87771"/>
                </a:lnTo>
                <a:lnTo>
                  <a:pt x="12855" y="77981"/>
                </a:lnTo>
                <a:lnTo>
                  <a:pt x="3449" y="63461"/>
                </a:lnTo>
                <a:lnTo>
                  <a:pt x="0" y="4568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811596" y="3732988"/>
            <a:ext cx="88265" cy="92710"/>
          </a:xfrm>
          <a:custGeom>
            <a:avLst/>
            <a:gdLst/>
            <a:ahLst/>
            <a:cxnLst/>
            <a:rect l="l" t="t" r="r" b="b"/>
            <a:pathLst>
              <a:path w="88265" h="92710">
                <a:moveTo>
                  <a:pt x="43892" y="0"/>
                </a:moveTo>
                <a:lnTo>
                  <a:pt x="26807" y="3627"/>
                </a:lnTo>
                <a:lnTo>
                  <a:pt x="12856" y="13520"/>
                </a:lnTo>
                <a:lnTo>
                  <a:pt x="3449" y="28193"/>
                </a:lnTo>
                <a:lnTo>
                  <a:pt x="0" y="46161"/>
                </a:lnTo>
                <a:lnTo>
                  <a:pt x="3449" y="64130"/>
                </a:lnTo>
                <a:lnTo>
                  <a:pt x="12856" y="78803"/>
                </a:lnTo>
                <a:lnTo>
                  <a:pt x="26807" y="88696"/>
                </a:lnTo>
                <a:lnTo>
                  <a:pt x="43892" y="92323"/>
                </a:lnTo>
                <a:lnTo>
                  <a:pt x="60977" y="88696"/>
                </a:lnTo>
                <a:lnTo>
                  <a:pt x="74929" y="78803"/>
                </a:lnTo>
                <a:lnTo>
                  <a:pt x="84336" y="64130"/>
                </a:lnTo>
                <a:lnTo>
                  <a:pt x="87786" y="46161"/>
                </a:lnTo>
                <a:lnTo>
                  <a:pt x="84336" y="28193"/>
                </a:lnTo>
                <a:lnTo>
                  <a:pt x="74929" y="13520"/>
                </a:lnTo>
                <a:lnTo>
                  <a:pt x="60977" y="3627"/>
                </a:lnTo>
                <a:lnTo>
                  <a:pt x="438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811596" y="3732988"/>
            <a:ext cx="88265" cy="92710"/>
          </a:xfrm>
          <a:custGeom>
            <a:avLst/>
            <a:gdLst/>
            <a:ahLst/>
            <a:cxnLst/>
            <a:rect l="l" t="t" r="r" b="b"/>
            <a:pathLst>
              <a:path w="88265" h="92710">
                <a:moveTo>
                  <a:pt x="0" y="46161"/>
                </a:moveTo>
                <a:lnTo>
                  <a:pt x="3449" y="28193"/>
                </a:lnTo>
                <a:lnTo>
                  <a:pt x="12855" y="13520"/>
                </a:lnTo>
                <a:lnTo>
                  <a:pt x="26807" y="3627"/>
                </a:lnTo>
                <a:lnTo>
                  <a:pt x="43893" y="0"/>
                </a:lnTo>
                <a:lnTo>
                  <a:pt x="60978" y="3627"/>
                </a:lnTo>
                <a:lnTo>
                  <a:pt x="74930" y="13520"/>
                </a:lnTo>
                <a:lnTo>
                  <a:pt x="84336" y="28193"/>
                </a:lnTo>
                <a:lnTo>
                  <a:pt x="87786" y="46161"/>
                </a:lnTo>
                <a:lnTo>
                  <a:pt x="84336" y="64129"/>
                </a:lnTo>
                <a:lnTo>
                  <a:pt x="74930" y="78802"/>
                </a:lnTo>
                <a:lnTo>
                  <a:pt x="60978" y="88695"/>
                </a:lnTo>
                <a:lnTo>
                  <a:pt x="43893" y="92323"/>
                </a:lnTo>
                <a:lnTo>
                  <a:pt x="26807" y="88695"/>
                </a:lnTo>
                <a:lnTo>
                  <a:pt x="12855" y="78802"/>
                </a:lnTo>
                <a:lnTo>
                  <a:pt x="3449" y="64129"/>
                </a:lnTo>
                <a:lnTo>
                  <a:pt x="0" y="4616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812520" y="2769373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10">
                <a:moveTo>
                  <a:pt x="44354" y="0"/>
                </a:moveTo>
                <a:lnTo>
                  <a:pt x="27089" y="3627"/>
                </a:lnTo>
                <a:lnTo>
                  <a:pt x="12990" y="13520"/>
                </a:lnTo>
                <a:lnTo>
                  <a:pt x="3485" y="28192"/>
                </a:lnTo>
                <a:lnTo>
                  <a:pt x="0" y="46160"/>
                </a:lnTo>
                <a:lnTo>
                  <a:pt x="3485" y="64128"/>
                </a:lnTo>
                <a:lnTo>
                  <a:pt x="12990" y="78801"/>
                </a:lnTo>
                <a:lnTo>
                  <a:pt x="27089" y="88694"/>
                </a:lnTo>
                <a:lnTo>
                  <a:pt x="44354" y="92322"/>
                </a:lnTo>
                <a:lnTo>
                  <a:pt x="61619" y="88694"/>
                </a:lnTo>
                <a:lnTo>
                  <a:pt x="75718" y="78801"/>
                </a:lnTo>
                <a:lnTo>
                  <a:pt x="85223" y="64128"/>
                </a:lnTo>
                <a:lnTo>
                  <a:pt x="88709" y="46160"/>
                </a:lnTo>
                <a:lnTo>
                  <a:pt x="85223" y="28192"/>
                </a:lnTo>
                <a:lnTo>
                  <a:pt x="75718" y="13520"/>
                </a:lnTo>
                <a:lnTo>
                  <a:pt x="61619" y="3627"/>
                </a:lnTo>
                <a:lnTo>
                  <a:pt x="44354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812520" y="2769373"/>
            <a:ext cx="88900" cy="92710"/>
          </a:xfrm>
          <a:custGeom>
            <a:avLst/>
            <a:gdLst/>
            <a:ahLst/>
            <a:cxnLst/>
            <a:rect l="l" t="t" r="r" b="b"/>
            <a:pathLst>
              <a:path w="88900" h="92710">
                <a:moveTo>
                  <a:pt x="0" y="46161"/>
                </a:moveTo>
                <a:lnTo>
                  <a:pt x="3485" y="28193"/>
                </a:lnTo>
                <a:lnTo>
                  <a:pt x="12991" y="13520"/>
                </a:lnTo>
                <a:lnTo>
                  <a:pt x="27090" y="3627"/>
                </a:lnTo>
                <a:lnTo>
                  <a:pt x="44355" y="0"/>
                </a:lnTo>
                <a:lnTo>
                  <a:pt x="61619" y="3627"/>
                </a:lnTo>
                <a:lnTo>
                  <a:pt x="75718" y="13520"/>
                </a:lnTo>
                <a:lnTo>
                  <a:pt x="85224" y="28193"/>
                </a:lnTo>
                <a:lnTo>
                  <a:pt x="88710" y="46161"/>
                </a:lnTo>
                <a:lnTo>
                  <a:pt x="85224" y="64129"/>
                </a:lnTo>
                <a:lnTo>
                  <a:pt x="75718" y="78802"/>
                </a:lnTo>
                <a:lnTo>
                  <a:pt x="61619" y="88695"/>
                </a:lnTo>
                <a:lnTo>
                  <a:pt x="44355" y="92323"/>
                </a:lnTo>
                <a:lnTo>
                  <a:pt x="27090" y="88695"/>
                </a:lnTo>
                <a:lnTo>
                  <a:pt x="12991" y="78802"/>
                </a:lnTo>
                <a:lnTo>
                  <a:pt x="3485" y="64129"/>
                </a:lnTo>
                <a:lnTo>
                  <a:pt x="0" y="4616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8021359" y="3069421"/>
            <a:ext cx="88265" cy="92710"/>
          </a:xfrm>
          <a:custGeom>
            <a:avLst/>
            <a:gdLst/>
            <a:ahLst/>
            <a:cxnLst/>
            <a:rect l="l" t="t" r="r" b="b"/>
            <a:pathLst>
              <a:path w="88265" h="92710">
                <a:moveTo>
                  <a:pt x="43892" y="0"/>
                </a:moveTo>
                <a:lnTo>
                  <a:pt x="26807" y="3627"/>
                </a:lnTo>
                <a:lnTo>
                  <a:pt x="12855" y="13520"/>
                </a:lnTo>
                <a:lnTo>
                  <a:pt x="3449" y="28193"/>
                </a:lnTo>
                <a:lnTo>
                  <a:pt x="0" y="46161"/>
                </a:lnTo>
                <a:lnTo>
                  <a:pt x="3449" y="64129"/>
                </a:lnTo>
                <a:lnTo>
                  <a:pt x="12855" y="78802"/>
                </a:lnTo>
                <a:lnTo>
                  <a:pt x="26807" y="88695"/>
                </a:lnTo>
                <a:lnTo>
                  <a:pt x="43892" y="92322"/>
                </a:lnTo>
                <a:lnTo>
                  <a:pt x="60977" y="88695"/>
                </a:lnTo>
                <a:lnTo>
                  <a:pt x="74929" y="78802"/>
                </a:lnTo>
                <a:lnTo>
                  <a:pt x="84336" y="64129"/>
                </a:lnTo>
                <a:lnTo>
                  <a:pt x="87786" y="46161"/>
                </a:lnTo>
                <a:lnTo>
                  <a:pt x="84336" y="28193"/>
                </a:lnTo>
                <a:lnTo>
                  <a:pt x="74929" y="13520"/>
                </a:lnTo>
                <a:lnTo>
                  <a:pt x="60977" y="3627"/>
                </a:lnTo>
                <a:lnTo>
                  <a:pt x="43892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021359" y="3069421"/>
            <a:ext cx="88265" cy="92710"/>
          </a:xfrm>
          <a:custGeom>
            <a:avLst/>
            <a:gdLst/>
            <a:ahLst/>
            <a:cxnLst/>
            <a:rect l="l" t="t" r="r" b="b"/>
            <a:pathLst>
              <a:path w="88265" h="92710">
                <a:moveTo>
                  <a:pt x="0" y="46161"/>
                </a:moveTo>
                <a:lnTo>
                  <a:pt x="3449" y="28193"/>
                </a:lnTo>
                <a:lnTo>
                  <a:pt x="12856" y="13520"/>
                </a:lnTo>
                <a:lnTo>
                  <a:pt x="26808" y="3627"/>
                </a:lnTo>
                <a:lnTo>
                  <a:pt x="43893" y="0"/>
                </a:lnTo>
                <a:lnTo>
                  <a:pt x="60978" y="3627"/>
                </a:lnTo>
                <a:lnTo>
                  <a:pt x="74930" y="13520"/>
                </a:lnTo>
                <a:lnTo>
                  <a:pt x="84337" y="28193"/>
                </a:lnTo>
                <a:lnTo>
                  <a:pt x="87787" y="46161"/>
                </a:lnTo>
                <a:lnTo>
                  <a:pt x="84337" y="64129"/>
                </a:lnTo>
                <a:lnTo>
                  <a:pt x="74930" y="78802"/>
                </a:lnTo>
                <a:lnTo>
                  <a:pt x="60978" y="88695"/>
                </a:lnTo>
                <a:lnTo>
                  <a:pt x="43893" y="92323"/>
                </a:lnTo>
                <a:lnTo>
                  <a:pt x="26808" y="88695"/>
                </a:lnTo>
                <a:lnTo>
                  <a:pt x="12856" y="78802"/>
                </a:lnTo>
                <a:lnTo>
                  <a:pt x="3449" y="64129"/>
                </a:lnTo>
                <a:lnTo>
                  <a:pt x="0" y="46161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889410" y="2794008"/>
            <a:ext cx="1317228" cy="12763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300455" y="4135628"/>
            <a:ext cx="2602865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2065" marR="5080" indent="635">
              <a:lnSpc>
                <a:spcPct val="99400"/>
              </a:lnSpc>
              <a:spcBef>
                <a:spcPts val="110"/>
              </a:spcBef>
            </a:pPr>
            <a:r>
              <a:rPr dirty="0" sz="1800" spc="-15" b="1">
                <a:latin typeface="Corbel"/>
                <a:cs typeface="Corbel"/>
              </a:rPr>
              <a:t>Regular </a:t>
            </a:r>
            <a:r>
              <a:rPr dirty="0" sz="1800" spc="-5" b="1">
                <a:latin typeface="Corbel"/>
                <a:cs typeface="Corbel"/>
              </a:rPr>
              <a:t>lattice graph:  </a:t>
            </a:r>
            <a:r>
              <a:rPr dirty="0" sz="1800" spc="-5" b="1">
                <a:solidFill>
                  <a:srgbClr val="C00000"/>
                </a:solidFill>
                <a:latin typeface="Corbel"/>
                <a:cs typeface="Corbel"/>
              </a:rPr>
              <a:t>High clustering coefficient  </a:t>
            </a:r>
            <a:r>
              <a:rPr dirty="0" sz="1800" spc="-5" b="1">
                <a:latin typeface="Corbel"/>
                <a:cs typeface="Corbel"/>
              </a:rPr>
              <a:t>High</a:t>
            </a:r>
            <a:r>
              <a:rPr dirty="0" sz="1800" spc="-45" b="1">
                <a:latin typeface="Corbel"/>
                <a:cs typeface="Corbel"/>
              </a:rPr>
              <a:t> </a:t>
            </a:r>
            <a:r>
              <a:rPr dirty="0" sz="1800" spc="-5" b="1">
                <a:latin typeface="Corbel"/>
                <a:cs typeface="Corbel"/>
              </a:rPr>
              <a:t>diameter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51" name="object 5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52" name="object 52"/>
          <p:cNvSpPr txBox="1"/>
          <p:nvPr/>
        </p:nvSpPr>
        <p:spPr>
          <a:xfrm>
            <a:off x="8706984" y="6699893"/>
            <a:ext cx="16573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36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69976" y="368808"/>
            <a:ext cx="7251192" cy="390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ts val="347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469265" algn="l"/>
                <a:tab pos="469900" algn="l"/>
              </a:tabLst>
            </a:pPr>
            <a:r>
              <a:rPr dirty="0" spc="-15"/>
              <a:t>Small-World</a:t>
            </a:r>
            <a:r>
              <a:rPr dirty="0" spc="-60"/>
              <a:t> </a:t>
            </a:r>
            <a:r>
              <a:rPr dirty="0" spc="-5"/>
              <a:t>Model</a:t>
            </a:r>
          </a:p>
          <a:p>
            <a:pPr marL="469900" indent="-457200">
              <a:lnSpc>
                <a:spcPts val="3470"/>
              </a:lnSpc>
              <a:buClr>
                <a:srgbClr val="F0AD00"/>
              </a:buClr>
              <a:buSzPct val="81250"/>
              <a:buFont typeface="Malgun Gothic"/>
              <a:buChar char="▪"/>
              <a:tabLst>
                <a:tab pos="469265" algn="l"/>
                <a:tab pos="469900" algn="l"/>
              </a:tabLst>
            </a:pPr>
            <a:r>
              <a:rPr dirty="0" spc="-60" b="0">
                <a:solidFill>
                  <a:srgbClr val="000000"/>
                </a:solidFill>
                <a:latin typeface="Calibri"/>
                <a:cs typeface="Calibri"/>
              </a:rPr>
              <a:t>Two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components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dirty="0" spc="5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model: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8094" y="2135124"/>
            <a:ext cx="8328025" cy="1353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ts val="382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469265" algn="l"/>
                <a:tab pos="469900" algn="l"/>
              </a:tabLst>
            </a:pPr>
            <a:r>
              <a:rPr dirty="0" sz="3200" b="1">
                <a:latin typeface="Calibri"/>
                <a:cs typeface="Calibri"/>
              </a:rPr>
              <a:t>(1) </a:t>
            </a:r>
            <a:r>
              <a:rPr dirty="0" sz="3200" spc="-10" b="1">
                <a:latin typeface="Calibri"/>
                <a:cs typeface="Calibri"/>
              </a:rPr>
              <a:t>Start </a:t>
            </a:r>
            <a:r>
              <a:rPr dirty="0" sz="3200" b="1">
                <a:latin typeface="Calibri"/>
                <a:cs typeface="Calibri"/>
              </a:rPr>
              <a:t>with a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low-dimensional regular</a:t>
            </a:r>
            <a:r>
              <a:rPr dirty="0" sz="3200" spc="3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lattice</a:t>
            </a:r>
            <a:endParaRPr sz="3200">
              <a:latin typeface="Calibri"/>
              <a:cs typeface="Calibri"/>
            </a:endParaRPr>
          </a:p>
          <a:p>
            <a:pPr lvl="1" marL="808990" indent="-457200">
              <a:lnSpc>
                <a:spcPts val="3310"/>
              </a:lnSpc>
              <a:buClr>
                <a:srgbClr val="60B5CC"/>
              </a:buClr>
              <a:buFont typeface="Malgun Gothic"/>
              <a:buChar char="▪"/>
              <a:tabLst>
                <a:tab pos="808355" algn="l"/>
                <a:tab pos="808990" algn="l"/>
              </a:tabLst>
            </a:pPr>
            <a:r>
              <a:rPr dirty="0" sz="2800" spc="-5">
                <a:latin typeface="Calibri"/>
                <a:cs typeface="Calibri"/>
              </a:rPr>
              <a:t>(In our </a:t>
            </a:r>
            <a:r>
              <a:rPr dirty="0" sz="2800" spc="-10">
                <a:latin typeface="Calibri"/>
                <a:cs typeface="Calibri"/>
              </a:rPr>
              <a:t>case </a:t>
            </a:r>
            <a:r>
              <a:rPr dirty="0" sz="2800" spc="-15">
                <a:latin typeface="Calibri"/>
                <a:cs typeface="Calibri"/>
              </a:rPr>
              <a:t>we are </a:t>
            </a:r>
            <a:r>
              <a:rPr dirty="0" sz="2800" spc="-5">
                <a:latin typeface="Calibri"/>
                <a:cs typeface="Calibri"/>
              </a:rPr>
              <a:t>using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5">
                <a:latin typeface="Calibri"/>
                <a:cs typeface="Calibri"/>
              </a:rPr>
              <a:t>ring as </a:t>
            </a:r>
            <a:r>
              <a:rPr dirty="0" sz="2800">
                <a:latin typeface="Calibri"/>
                <a:cs typeface="Calibri"/>
              </a:rPr>
              <a:t>a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lattice)</a:t>
            </a:r>
            <a:endParaRPr sz="2800">
              <a:latin typeface="Calibri"/>
              <a:cs typeface="Calibri"/>
            </a:endParaRPr>
          </a:p>
          <a:p>
            <a:pPr lvl="1" marL="808990" indent="-457200">
              <a:lnSpc>
                <a:spcPts val="3325"/>
              </a:lnSpc>
              <a:buClr>
                <a:srgbClr val="60B5CC"/>
              </a:buClr>
              <a:buFont typeface="Malgun Gothic"/>
              <a:buChar char="▪"/>
              <a:tabLst>
                <a:tab pos="808355" algn="l"/>
                <a:tab pos="808990" algn="l"/>
              </a:tabLst>
            </a:pPr>
            <a:r>
              <a:rPr dirty="0" sz="2800" spc="-5">
                <a:latin typeface="Calibri"/>
                <a:cs typeface="Calibri"/>
              </a:rPr>
              <a:t>Has high </a:t>
            </a:r>
            <a:r>
              <a:rPr dirty="0" sz="2800" spc="-10">
                <a:latin typeface="Calibri"/>
                <a:cs typeface="Calibri"/>
              </a:rPr>
              <a:t>clustering</a:t>
            </a:r>
            <a:r>
              <a:rPr dirty="0" sz="2800" spc="-2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coefficient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32217" y="19811"/>
            <a:ext cx="58331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">
                <a:solidFill>
                  <a:srgbClr val="FFFFFF"/>
                </a:solidFill>
                <a:latin typeface="Corbel"/>
                <a:cs typeface="Corbel"/>
              </a:rPr>
              <a:t>[</a:t>
            </a:r>
            <a:r>
              <a:rPr dirty="0" sz="1400" spc="-15">
                <a:solidFill>
                  <a:srgbClr val="FFFFFF"/>
                </a:solidFill>
                <a:latin typeface="Calibri"/>
                <a:cs typeface="Calibri"/>
              </a:rPr>
              <a:t>D. Wattts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1400" spc="-5">
                <a:solidFill>
                  <a:srgbClr val="FFFFFF"/>
                </a:solidFill>
                <a:latin typeface="Calibri"/>
                <a:cs typeface="Calibri"/>
              </a:rPr>
              <a:t>S.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Strogatz, </a:t>
            </a:r>
            <a:r>
              <a:rPr dirty="0" sz="1400" spc="-5" u="sng">
                <a:solidFill>
                  <a:srgbClr val="168BBA"/>
                </a:solidFill>
                <a:latin typeface="Calibri"/>
                <a:cs typeface="Calibri"/>
              </a:rPr>
              <a:t>Collective dynamics of </a:t>
            </a:r>
            <a:r>
              <a:rPr dirty="0" sz="1400" spc="-10" u="sng">
                <a:solidFill>
                  <a:srgbClr val="168BBA"/>
                </a:solidFill>
                <a:latin typeface="Calibri"/>
                <a:cs typeface="Calibri"/>
              </a:rPr>
              <a:t>’small-world’networks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14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Calibri"/>
                <a:cs typeface="Calibri"/>
              </a:rPr>
              <a:t>Nature</a:t>
            </a:r>
            <a:r>
              <a:rPr dirty="0" sz="1400" spc="-5">
                <a:solidFill>
                  <a:srgbClr val="FFFFFF"/>
                </a:solidFill>
                <a:latin typeface="Corbel"/>
                <a:cs typeface="Corbel"/>
              </a:rPr>
              <a:t>]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35679" y="4075176"/>
            <a:ext cx="2225040" cy="22920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8719684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40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69976" y="368808"/>
            <a:ext cx="7251192" cy="390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094" y="1348740"/>
            <a:ext cx="5648325" cy="9067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ts val="347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469265" algn="l"/>
                <a:tab pos="469900" algn="l"/>
              </a:tabLst>
            </a:pPr>
            <a:r>
              <a:rPr dirty="0" spc="-15"/>
              <a:t>Small-World</a:t>
            </a:r>
            <a:r>
              <a:rPr dirty="0" spc="-60"/>
              <a:t> </a:t>
            </a:r>
            <a:r>
              <a:rPr dirty="0" spc="-5"/>
              <a:t>Model</a:t>
            </a:r>
          </a:p>
          <a:p>
            <a:pPr marL="469900" indent="-457200">
              <a:lnSpc>
                <a:spcPts val="3470"/>
              </a:lnSpc>
              <a:buClr>
                <a:srgbClr val="F0AD00"/>
              </a:buClr>
              <a:buSzPct val="81250"/>
              <a:buFont typeface="Malgun Gothic"/>
              <a:buChar char="▪"/>
              <a:tabLst>
                <a:tab pos="469265" algn="l"/>
                <a:tab pos="469900" algn="l"/>
              </a:tabLst>
            </a:pPr>
            <a:r>
              <a:rPr dirty="0" spc="-60" b="0">
                <a:solidFill>
                  <a:srgbClr val="000000"/>
                </a:solidFill>
                <a:latin typeface="Calibri"/>
                <a:cs typeface="Calibri"/>
              </a:rPr>
              <a:t>Two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components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to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</a:t>
            </a:r>
            <a:r>
              <a:rPr dirty="0" spc="5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model: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8094" y="2351532"/>
            <a:ext cx="6202680" cy="310642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469900" marR="5080" indent="-457200">
              <a:lnSpc>
                <a:spcPct val="78100"/>
              </a:lnSpc>
              <a:spcBef>
                <a:spcPts val="94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469265" algn="l"/>
                <a:tab pos="469900" algn="l"/>
              </a:tabLst>
            </a:pPr>
            <a:r>
              <a:rPr dirty="0" sz="3200" b="1">
                <a:latin typeface="Calibri"/>
                <a:cs typeface="Calibri"/>
              </a:rPr>
              <a:t>(2) </a:t>
            </a:r>
            <a:r>
              <a:rPr dirty="0" sz="3200" spc="-15" b="1">
                <a:solidFill>
                  <a:srgbClr val="008000"/>
                </a:solidFill>
                <a:latin typeface="Calibri"/>
                <a:cs typeface="Calibri"/>
              </a:rPr>
              <a:t>Rewire: </a:t>
            </a:r>
            <a:r>
              <a:rPr dirty="0" sz="3200" spc="-15" b="1">
                <a:solidFill>
                  <a:srgbClr val="7030A0"/>
                </a:solidFill>
                <a:latin typeface="Calibri"/>
                <a:cs typeface="Calibri"/>
              </a:rPr>
              <a:t>Introduce randomness  (“shortcuts”)</a:t>
            </a:r>
            <a:endParaRPr sz="3200">
              <a:latin typeface="Calibri"/>
              <a:cs typeface="Calibri"/>
            </a:endParaRPr>
          </a:p>
          <a:p>
            <a:pPr lvl="1" marL="808990" marR="1069975" indent="-457200">
              <a:lnSpc>
                <a:spcPct val="80400"/>
              </a:lnSpc>
              <a:spcBef>
                <a:spcPts val="625"/>
              </a:spcBef>
              <a:buClr>
                <a:srgbClr val="60B5CC"/>
              </a:buClr>
              <a:buFont typeface="Malgun Gothic"/>
              <a:buChar char="▪"/>
              <a:tabLst>
                <a:tab pos="808355" algn="l"/>
                <a:tab pos="808990" algn="l"/>
              </a:tabLst>
            </a:pPr>
            <a:r>
              <a:rPr dirty="0" sz="2800" spc="-10">
                <a:latin typeface="Calibri"/>
                <a:cs typeface="Calibri"/>
              </a:rPr>
              <a:t>Add/remove </a:t>
            </a:r>
            <a:r>
              <a:rPr dirty="0" sz="2800" spc="-15">
                <a:latin typeface="Calibri"/>
                <a:cs typeface="Calibri"/>
              </a:rPr>
              <a:t>edges to </a:t>
            </a:r>
            <a:r>
              <a:rPr dirty="0" sz="2800" spc="-20">
                <a:latin typeface="Calibri"/>
                <a:cs typeface="Calibri"/>
              </a:rPr>
              <a:t>create  </a:t>
            </a:r>
            <a:r>
              <a:rPr dirty="0" sz="2800" spc="-10">
                <a:latin typeface="Calibri"/>
                <a:cs typeface="Calibri"/>
              </a:rPr>
              <a:t>shortcuts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 spc="-5">
                <a:latin typeface="Calibri"/>
                <a:cs typeface="Calibri"/>
              </a:rPr>
              <a:t>join </a:t>
            </a:r>
            <a:r>
              <a:rPr dirty="0" sz="2800" spc="-15">
                <a:latin typeface="Calibri"/>
                <a:cs typeface="Calibri"/>
              </a:rPr>
              <a:t>remote </a:t>
            </a:r>
            <a:r>
              <a:rPr dirty="0" sz="2800" spc="-5">
                <a:latin typeface="Calibri"/>
                <a:cs typeface="Calibri"/>
              </a:rPr>
              <a:t>parts  of the</a:t>
            </a:r>
            <a:r>
              <a:rPr dirty="0" sz="2800" spc="-6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lattice</a:t>
            </a:r>
            <a:endParaRPr sz="2800">
              <a:latin typeface="Calibri"/>
              <a:cs typeface="Calibri"/>
            </a:endParaRPr>
          </a:p>
          <a:p>
            <a:pPr algn="just" lvl="1" marL="808990" marR="1355725" indent="-457200">
              <a:lnSpc>
                <a:spcPct val="80400"/>
              </a:lnSpc>
              <a:spcBef>
                <a:spcPts val="585"/>
              </a:spcBef>
              <a:buClr>
                <a:srgbClr val="60B5CC"/>
              </a:buClr>
              <a:buFont typeface="Malgun Gothic"/>
              <a:buChar char="▪"/>
              <a:tabLst>
                <a:tab pos="808990" algn="l"/>
              </a:tabLst>
            </a:pPr>
            <a:r>
              <a:rPr dirty="0" sz="2800" spc="-1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each </a:t>
            </a:r>
            <a:r>
              <a:rPr dirty="0" sz="2800" spc="-10">
                <a:latin typeface="Calibri"/>
                <a:cs typeface="Calibri"/>
              </a:rPr>
              <a:t>edge, </a:t>
            </a:r>
            <a:r>
              <a:rPr dirty="0" sz="2800" spc="-5">
                <a:latin typeface="Calibri"/>
                <a:cs typeface="Calibri"/>
              </a:rPr>
              <a:t>with </a:t>
            </a:r>
            <a:r>
              <a:rPr dirty="0" sz="2800" spc="-15">
                <a:latin typeface="Calibri"/>
                <a:cs typeface="Calibri"/>
              </a:rPr>
              <a:t>prob. </a:t>
            </a:r>
            <a:r>
              <a:rPr dirty="0" sz="2800" spc="-615" i="1">
                <a:latin typeface="Times New Roman"/>
                <a:cs typeface="Times New Roman"/>
              </a:rPr>
              <a:t>p,  </a:t>
            </a:r>
            <a:r>
              <a:rPr dirty="0" sz="2800" spc="-15">
                <a:latin typeface="Calibri"/>
                <a:cs typeface="Calibri"/>
              </a:rPr>
              <a:t>move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5">
                <a:latin typeface="Calibri"/>
                <a:cs typeface="Calibri"/>
              </a:rPr>
              <a:t>other </a:t>
            </a:r>
            <a:r>
              <a:rPr dirty="0" sz="2800" spc="-10">
                <a:latin typeface="Calibri"/>
                <a:cs typeface="Calibri"/>
              </a:rPr>
              <a:t>endpoint </a:t>
            </a:r>
            <a:r>
              <a:rPr dirty="0" sz="2800" spc="-15">
                <a:latin typeface="Calibri"/>
                <a:cs typeface="Calibri"/>
              </a:rPr>
              <a:t>to 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15">
                <a:latin typeface="Calibri"/>
                <a:cs typeface="Calibri"/>
              </a:rPr>
              <a:t>random</a:t>
            </a:r>
            <a:r>
              <a:rPr dirty="0" sz="2800" spc="-6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node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32217" y="19811"/>
            <a:ext cx="58331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">
                <a:solidFill>
                  <a:srgbClr val="FFFFFF"/>
                </a:solidFill>
                <a:latin typeface="Corbel"/>
                <a:cs typeface="Corbel"/>
              </a:rPr>
              <a:t>[</a:t>
            </a:r>
            <a:r>
              <a:rPr dirty="0" sz="1400" spc="-15">
                <a:solidFill>
                  <a:srgbClr val="FFFFFF"/>
                </a:solidFill>
                <a:latin typeface="Calibri"/>
                <a:cs typeface="Calibri"/>
              </a:rPr>
              <a:t>D. Wattts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1400" spc="-5">
                <a:solidFill>
                  <a:srgbClr val="FFFFFF"/>
                </a:solidFill>
                <a:latin typeface="Calibri"/>
                <a:cs typeface="Calibri"/>
              </a:rPr>
              <a:t>S.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Strogatz, </a:t>
            </a:r>
            <a:r>
              <a:rPr dirty="0" sz="1400" spc="-5" u="sng">
                <a:solidFill>
                  <a:srgbClr val="168BBA"/>
                </a:solidFill>
                <a:latin typeface="Calibri"/>
                <a:cs typeface="Calibri"/>
              </a:rPr>
              <a:t>Collective dynamics of </a:t>
            </a:r>
            <a:r>
              <a:rPr dirty="0" sz="1400" spc="-10" u="sng">
                <a:solidFill>
                  <a:srgbClr val="168BBA"/>
                </a:solidFill>
                <a:latin typeface="Calibri"/>
                <a:cs typeface="Calibri"/>
              </a:rPr>
              <a:t>’small-world’networks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14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Calibri"/>
                <a:cs typeface="Calibri"/>
              </a:rPr>
              <a:t>Nature</a:t>
            </a:r>
            <a:r>
              <a:rPr dirty="0" sz="1400" spc="-5">
                <a:solidFill>
                  <a:srgbClr val="FFFFFF"/>
                </a:solidFill>
                <a:latin typeface="Corbel"/>
                <a:cs typeface="Corbel"/>
              </a:rPr>
              <a:t>]</a:t>
            </a:r>
            <a:endParaRPr sz="14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553200" y="3614927"/>
            <a:ext cx="2225040" cy="2295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64955" y="3737400"/>
            <a:ext cx="224154" cy="12700"/>
          </a:xfrm>
          <a:custGeom>
            <a:avLst/>
            <a:gdLst/>
            <a:ahLst/>
            <a:cxnLst/>
            <a:rect l="l" t="t" r="r" b="b"/>
            <a:pathLst>
              <a:path w="224154" h="12700">
                <a:moveTo>
                  <a:pt x="0" y="0"/>
                </a:moveTo>
                <a:lnTo>
                  <a:pt x="223773" y="12400"/>
                </a:lnTo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620000" y="3737400"/>
            <a:ext cx="609600" cy="1784985"/>
          </a:xfrm>
          <a:custGeom>
            <a:avLst/>
            <a:gdLst/>
            <a:ahLst/>
            <a:cxnLst/>
            <a:rect l="l" t="t" r="r" b="b"/>
            <a:pathLst>
              <a:path w="609600" h="1784985">
                <a:moveTo>
                  <a:pt x="0" y="0"/>
                </a:moveTo>
                <a:lnTo>
                  <a:pt x="609600" y="1784388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363895" y="5697635"/>
            <a:ext cx="212090" cy="17145"/>
          </a:xfrm>
          <a:custGeom>
            <a:avLst/>
            <a:gdLst/>
            <a:ahLst/>
            <a:cxnLst/>
            <a:rect l="l" t="t" r="r" b="b"/>
            <a:pathLst>
              <a:path w="212090" h="17145">
                <a:moveTo>
                  <a:pt x="0" y="0"/>
                </a:moveTo>
                <a:lnTo>
                  <a:pt x="211917" y="17134"/>
                </a:lnTo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315200" y="4454988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0" y="1219200"/>
                </a:moveTo>
                <a:lnTo>
                  <a:pt x="121920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631200" y="4469417"/>
            <a:ext cx="19050" cy="182245"/>
          </a:xfrm>
          <a:custGeom>
            <a:avLst/>
            <a:gdLst/>
            <a:ahLst/>
            <a:cxnLst/>
            <a:rect l="l" t="t" r="r" b="b"/>
            <a:pathLst>
              <a:path w="19050" h="182245">
                <a:moveTo>
                  <a:pt x="0" y="181822"/>
                </a:moveTo>
                <a:lnTo>
                  <a:pt x="18489" y="0"/>
                </a:lnTo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689366" y="4150188"/>
            <a:ext cx="1769110" cy="584835"/>
          </a:xfrm>
          <a:custGeom>
            <a:avLst/>
            <a:gdLst/>
            <a:ahLst/>
            <a:cxnLst/>
            <a:rect l="l" t="t" r="r" b="b"/>
            <a:pathLst>
              <a:path w="1769109" h="584835">
                <a:moveTo>
                  <a:pt x="0" y="584793"/>
                </a:moveTo>
                <a:lnTo>
                  <a:pt x="1768833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461190" y="5109697"/>
            <a:ext cx="112395" cy="144780"/>
          </a:xfrm>
          <a:custGeom>
            <a:avLst/>
            <a:gdLst/>
            <a:ahLst/>
            <a:cxnLst/>
            <a:rect l="l" t="t" r="r" b="b"/>
            <a:pathLst>
              <a:path w="112395" h="144779">
                <a:moveTo>
                  <a:pt x="112068" y="0"/>
                </a:moveTo>
                <a:lnTo>
                  <a:pt x="0" y="144366"/>
                </a:lnTo>
              </a:path>
            </a:pathLst>
          </a:custGeom>
          <a:ln w="762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044665" y="3922941"/>
            <a:ext cx="1493520" cy="1087755"/>
          </a:xfrm>
          <a:custGeom>
            <a:avLst/>
            <a:gdLst/>
            <a:ahLst/>
            <a:cxnLst/>
            <a:rect l="l" t="t" r="r" b="b"/>
            <a:pathLst>
              <a:path w="1493520" h="1087754">
                <a:moveTo>
                  <a:pt x="1493340" y="1087540"/>
                </a:moveTo>
                <a:lnTo>
                  <a:pt x="0" y="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50520"/>
            <a:ext cx="5733288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33400" y="1143000"/>
            <a:ext cx="7851648" cy="3505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587496" y="4315967"/>
            <a:ext cx="1722120" cy="74980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44823" y="4297679"/>
            <a:ext cx="1792224" cy="8473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638445" y="4343400"/>
            <a:ext cx="1619354" cy="64633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3638445" y="4343400"/>
            <a:ext cx="1619885" cy="64643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marL="86360" marR="93980">
              <a:lnSpc>
                <a:spcPts val="2090"/>
              </a:lnSpc>
              <a:spcBef>
                <a:spcPts val="355"/>
              </a:spcBef>
            </a:pPr>
            <a:r>
              <a:rPr dirty="0" sz="1800" spc="-10">
                <a:latin typeface="Corbel"/>
                <a:cs typeface="Corbel"/>
              </a:rPr>
              <a:t>High </a:t>
            </a:r>
            <a:r>
              <a:rPr dirty="0" sz="1800" spc="-5">
                <a:latin typeface="Corbel"/>
                <a:cs typeface="Corbel"/>
              </a:rPr>
              <a:t>clustering  </a:t>
            </a:r>
            <a:r>
              <a:rPr dirty="0" sz="1800">
                <a:latin typeface="Corbel"/>
                <a:cs typeface="Corbel"/>
              </a:rPr>
              <a:t>Low</a:t>
            </a:r>
            <a:r>
              <a:rPr dirty="0" sz="1800" spc="-75">
                <a:latin typeface="Corbel"/>
                <a:cs typeface="Corbel"/>
              </a:rPr>
              <a:t> </a:t>
            </a:r>
            <a:r>
              <a:rPr dirty="0" sz="1800" spc="-5">
                <a:latin typeface="Corbel"/>
                <a:cs typeface="Corbel"/>
              </a:rPr>
              <a:t>diameter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373367" y="4315967"/>
            <a:ext cx="1679447" cy="74980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330696" y="4297679"/>
            <a:ext cx="1749552" cy="8473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424927" y="4343400"/>
            <a:ext cx="1576072" cy="64633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424927" y="4343400"/>
            <a:ext cx="1576705" cy="64643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marL="86360" marR="93345">
              <a:lnSpc>
                <a:spcPts val="2090"/>
              </a:lnSpc>
              <a:spcBef>
                <a:spcPts val="355"/>
              </a:spcBef>
            </a:pPr>
            <a:r>
              <a:rPr dirty="0" sz="1800">
                <a:latin typeface="Corbel"/>
                <a:cs typeface="Corbel"/>
              </a:rPr>
              <a:t>Low </a:t>
            </a:r>
            <a:r>
              <a:rPr dirty="0" sz="1800" spc="-5">
                <a:latin typeface="Corbel"/>
                <a:cs typeface="Corbel"/>
              </a:rPr>
              <a:t>clustering  </a:t>
            </a:r>
            <a:r>
              <a:rPr dirty="0" sz="1800">
                <a:latin typeface="Corbel"/>
                <a:cs typeface="Corbel"/>
              </a:rPr>
              <a:t>Low</a:t>
            </a:r>
            <a:r>
              <a:rPr dirty="0" sz="1800" spc="-75">
                <a:latin typeface="Corbel"/>
                <a:cs typeface="Corbel"/>
              </a:rPr>
              <a:t> </a:t>
            </a:r>
            <a:r>
              <a:rPr dirty="0" sz="1800" spc="-5">
                <a:latin typeface="Corbel"/>
                <a:cs typeface="Corbel"/>
              </a:rPr>
              <a:t>diameter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93063" y="5023103"/>
            <a:ext cx="1490472" cy="48767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397752" y="5105400"/>
            <a:ext cx="1755648" cy="530352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138362" y="5835396"/>
            <a:ext cx="4867275" cy="574040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388620" marR="5080" indent="-376555">
              <a:lnSpc>
                <a:spcPts val="1920"/>
              </a:lnSpc>
              <a:spcBef>
                <a:spcPts val="560"/>
              </a:spcBef>
            </a:pP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Rewiring 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allows us </a:t>
            </a: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to “interpolate” between  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a </a:t>
            </a: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regular lattice </a:t>
            </a:r>
            <a:r>
              <a:rPr dirty="0" sz="2000">
                <a:solidFill>
                  <a:srgbClr val="008000"/>
                </a:solidFill>
                <a:latin typeface="Arial"/>
                <a:cs typeface="Arial"/>
              </a:rPr>
              <a:t>and a </a:t>
            </a: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random</a:t>
            </a:r>
            <a:r>
              <a:rPr dirty="0" sz="2000" spc="-4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000" spc="-5">
                <a:solidFill>
                  <a:srgbClr val="008000"/>
                </a:solidFill>
                <a:latin typeface="Arial"/>
                <a:cs typeface="Arial"/>
              </a:rPr>
              <a:t>graph</a:t>
            </a:r>
            <a:endParaRPr sz="2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168029" y="4977824"/>
            <a:ext cx="287655" cy="584835"/>
          </a:xfrm>
          <a:custGeom>
            <a:avLst/>
            <a:gdLst/>
            <a:ahLst/>
            <a:cxnLst/>
            <a:rect l="l" t="t" r="r" b="b"/>
            <a:pathLst>
              <a:path w="287655" h="584835">
                <a:moveTo>
                  <a:pt x="0" y="0"/>
                </a:moveTo>
                <a:lnTo>
                  <a:pt x="287258" y="0"/>
                </a:lnTo>
                <a:lnTo>
                  <a:pt x="287258" y="584775"/>
                </a:lnTo>
                <a:lnTo>
                  <a:pt x="0" y="58477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205560" y="4999228"/>
            <a:ext cx="168275" cy="51054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53340" marR="5080" indent="-41275">
              <a:lnSpc>
                <a:spcPts val="1900"/>
              </a:lnSpc>
              <a:spcBef>
                <a:spcPts val="180"/>
              </a:spcBef>
            </a:pPr>
            <a:r>
              <a:rPr dirty="0" sz="1600" spc="-80" u="heavy">
                <a:latin typeface="Times New Roman"/>
                <a:cs typeface="Times New Roman"/>
              </a:rPr>
              <a:t> </a:t>
            </a:r>
            <a:r>
              <a:rPr dirty="0" sz="1600" u="heavy">
                <a:latin typeface="Times New Roman"/>
                <a:cs typeface="Times New Roman"/>
              </a:rPr>
              <a:t>1 </a:t>
            </a:r>
            <a:r>
              <a:rPr dirty="0" sz="1600">
                <a:latin typeface="Times New Roman"/>
                <a:cs typeface="Times New Roman"/>
              </a:rPr>
              <a:t> 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844296" y="4315967"/>
            <a:ext cx="1722119" cy="74980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01623" y="4297679"/>
            <a:ext cx="1792224" cy="84734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95246" y="4343400"/>
            <a:ext cx="1619354" cy="64633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95246" y="4343400"/>
            <a:ext cx="1619885" cy="646430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marL="86360" marR="93980">
              <a:lnSpc>
                <a:spcPts val="2090"/>
              </a:lnSpc>
              <a:spcBef>
                <a:spcPts val="355"/>
              </a:spcBef>
            </a:pPr>
            <a:r>
              <a:rPr dirty="0" sz="1800" spc="-10">
                <a:latin typeface="Corbel"/>
                <a:cs typeface="Corbel"/>
              </a:rPr>
              <a:t>High </a:t>
            </a:r>
            <a:r>
              <a:rPr dirty="0" sz="1800" spc="-5">
                <a:latin typeface="Corbel"/>
                <a:cs typeface="Corbel"/>
              </a:rPr>
              <a:t>clustering  </a:t>
            </a:r>
            <a:r>
              <a:rPr dirty="0" sz="1800" spc="-10">
                <a:latin typeface="Corbel"/>
                <a:cs typeface="Corbel"/>
              </a:rPr>
              <a:t>High</a:t>
            </a:r>
            <a:r>
              <a:rPr dirty="0" sz="1800" spc="-55">
                <a:latin typeface="Corbel"/>
                <a:cs typeface="Corbel"/>
              </a:rPr>
              <a:t> </a:t>
            </a:r>
            <a:r>
              <a:rPr dirty="0" sz="1800" spc="-5">
                <a:latin typeface="Corbel"/>
                <a:cs typeface="Corbel"/>
              </a:rPr>
              <a:t>diameter</a:t>
            </a:r>
            <a:endParaRPr sz="1800">
              <a:latin typeface="Corbel"/>
              <a:cs typeface="Corbe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21" name="object 21"/>
          <p:cNvSpPr txBox="1"/>
          <p:nvPr/>
        </p:nvSpPr>
        <p:spPr>
          <a:xfrm>
            <a:off x="3232217" y="19811"/>
            <a:ext cx="58331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5">
                <a:solidFill>
                  <a:srgbClr val="FFFFFF"/>
                </a:solidFill>
                <a:latin typeface="Corbel"/>
                <a:cs typeface="Corbel"/>
              </a:rPr>
              <a:t>[</a:t>
            </a:r>
            <a:r>
              <a:rPr dirty="0" sz="1400" spc="-15">
                <a:solidFill>
                  <a:srgbClr val="FFFFFF"/>
                </a:solidFill>
                <a:latin typeface="Calibri"/>
                <a:cs typeface="Calibri"/>
              </a:rPr>
              <a:t>D. Wattts </a:t>
            </a:r>
            <a:r>
              <a:rPr dirty="0" sz="140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dirty="0" sz="1400" spc="-5">
                <a:solidFill>
                  <a:srgbClr val="FFFFFF"/>
                </a:solidFill>
                <a:latin typeface="Calibri"/>
                <a:cs typeface="Calibri"/>
              </a:rPr>
              <a:t>S. 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Strogatz, </a:t>
            </a:r>
            <a:r>
              <a:rPr dirty="0" sz="1400" spc="-5" u="sng">
                <a:solidFill>
                  <a:srgbClr val="168BBA"/>
                </a:solidFill>
                <a:latin typeface="Calibri"/>
                <a:cs typeface="Calibri"/>
              </a:rPr>
              <a:t>Collective dynamics of </a:t>
            </a:r>
            <a:r>
              <a:rPr dirty="0" sz="1400" spc="-10" u="sng">
                <a:solidFill>
                  <a:srgbClr val="168BBA"/>
                </a:solidFill>
                <a:latin typeface="Calibri"/>
                <a:cs typeface="Calibri"/>
              </a:rPr>
              <a:t>’small-world’networks</a:t>
            </a:r>
            <a:r>
              <a:rPr dirty="0" sz="1400" spc="-10">
                <a:solidFill>
                  <a:srgbClr val="FFFFFF"/>
                </a:solidFill>
                <a:latin typeface="Calibri"/>
                <a:cs typeface="Calibri"/>
              </a:rPr>
              <a:t>,</a:t>
            </a:r>
            <a:r>
              <a:rPr dirty="0" sz="1400" spc="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400" spc="-5">
                <a:solidFill>
                  <a:srgbClr val="FFFFFF"/>
                </a:solidFill>
                <a:latin typeface="Calibri"/>
                <a:cs typeface="Calibri"/>
              </a:rPr>
              <a:t>Nature</a:t>
            </a:r>
            <a:r>
              <a:rPr dirty="0" sz="1400" spc="-5">
                <a:solidFill>
                  <a:srgbClr val="FFFFFF"/>
                </a:solidFill>
                <a:latin typeface="Corbel"/>
                <a:cs typeface="Corbel"/>
              </a:rPr>
              <a:t>]</a:t>
            </a:r>
            <a:endParaRPr sz="14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48640" y="350520"/>
            <a:ext cx="5733288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90600" y="1219199"/>
            <a:ext cx="6556248" cy="51389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754354" y="6305803"/>
            <a:ext cx="181102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libri"/>
                <a:cs typeface="Calibri"/>
              </a:rPr>
              <a:t>Prob. </a:t>
            </a:r>
            <a:r>
              <a:rPr dirty="0" sz="1800">
                <a:latin typeface="Calibri"/>
                <a:cs typeface="Calibri"/>
              </a:rPr>
              <a:t>of </a:t>
            </a:r>
            <a:r>
              <a:rPr dirty="0" sz="1800" spc="-5">
                <a:latin typeface="Calibri"/>
                <a:cs typeface="Calibri"/>
              </a:rPr>
              <a:t>rewiring,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76600" y="5105400"/>
            <a:ext cx="2971800" cy="228600"/>
          </a:xfrm>
          <a:custGeom>
            <a:avLst/>
            <a:gdLst/>
            <a:ahLst/>
            <a:cxnLst/>
            <a:rect l="l" t="t" r="r" b="b"/>
            <a:pathLst>
              <a:path w="2971800" h="228600">
                <a:moveTo>
                  <a:pt x="0" y="114300"/>
                </a:moveTo>
                <a:lnTo>
                  <a:pt x="114299" y="0"/>
                </a:lnTo>
                <a:lnTo>
                  <a:pt x="114299" y="57151"/>
                </a:lnTo>
                <a:lnTo>
                  <a:pt x="2857501" y="57151"/>
                </a:lnTo>
                <a:lnTo>
                  <a:pt x="2857501" y="0"/>
                </a:lnTo>
                <a:lnTo>
                  <a:pt x="2971800" y="114300"/>
                </a:lnTo>
                <a:lnTo>
                  <a:pt x="2857501" y="228600"/>
                </a:lnTo>
                <a:lnTo>
                  <a:pt x="2857501" y="171451"/>
                </a:lnTo>
                <a:lnTo>
                  <a:pt x="114299" y="171451"/>
                </a:lnTo>
                <a:lnTo>
                  <a:pt x="114299" y="228600"/>
                </a:lnTo>
                <a:lnTo>
                  <a:pt x="0" y="114300"/>
                </a:lnTo>
                <a:close/>
              </a:path>
            </a:pathLst>
          </a:custGeom>
          <a:ln w="38100">
            <a:solidFill>
              <a:srgbClr val="008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238500" y="4480052"/>
            <a:ext cx="3048635" cy="565150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 marR="5080" indent="254000">
              <a:lnSpc>
                <a:spcPts val="2090"/>
              </a:lnSpc>
              <a:spcBef>
                <a:spcPts val="225"/>
              </a:spcBef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Parameter region of high  clustering and low path</a:t>
            </a:r>
            <a:r>
              <a:rPr dirty="0" sz="1800" spc="-4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length</a:t>
            </a:r>
            <a:endParaRPr sz="18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7089124" y="1195324"/>
            <a:ext cx="1869439" cy="147637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 marR="5080">
              <a:lnSpc>
                <a:spcPct val="99000"/>
              </a:lnSpc>
              <a:spcBef>
                <a:spcPts val="120"/>
              </a:spcBef>
            </a:pPr>
            <a:r>
              <a:rPr dirty="0" sz="1600" spc="-5" b="1">
                <a:solidFill>
                  <a:srgbClr val="008000"/>
                </a:solidFill>
                <a:latin typeface="Arial"/>
                <a:cs typeface="Arial"/>
              </a:rPr>
              <a:t>Intuition: 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It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takes 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a 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lot of randomness 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to 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ruin the clustering,  but 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a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very small  amount </a:t>
            </a:r>
            <a:r>
              <a:rPr dirty="0" sz="1600">
                <a:solidFill>
                  <a:srgbClr val="008000"/>
                </a:solidFill>
                <a:latin typeface="Arial"/>
                <a:cs typeface="Arial"/>
              </a:rPr>
              <a:t>to </a:t>
            </a:r>
            <a:r>
              <a:rPr dirty="0" sz="1600" spc="-5">
                <a:solidFill>
                  <a:srgbClr val="008000"/>
                </a:solidFill>
                <a:latin typeface="Arial"/>
                <a:cs typeface="Arial"/>
              </a:rPr>
              <a:t>create  shortcuts.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70860" y="2880376"/>
            <a:ext cx="306705" cy="3014980"/>
          </a:xfrm>
          <a:prstGeom prst="rect">
            <a:avLst/>
          </a:prstGeom>
        </p:spPr>
        <p:txBody>
          <a:bodyPr wrap="square" lIns="0" tIns="0" rIns="0" bIns="0" rtlCol="0" vert="vert270">
            <a:spAutoFit/>
          </a:bodyPr>
          <a:lstStyle/>
          <a:p>
            <a:pPr marL="12700">
              <a:lnSpc>
                <a:spcPts val="2280"/>
              </a:lnSpc>
            </a:pPr>
            <a:r>
              <a:rPr dirty="0" sz="2000" spc="-5">
                <a:latin typeface="Times New Roman"/>
                <a:cs typeface="Times New Roman"/>
              </a:rPr>
              <a:t>(sca</a:t>
            </a:r>
            <a:r>
              <a:rPr dirty="0" sz="2000" spc="-10">
                <a:latin typeface="Times New Roman"/>
                <a:cs typeface="Times New Roman"/>
              </a:rPr>
              <a:t>l</a:t>
            </a:r>
            <a:r>
              <a:rPr dirty="0" sz="2000" spc="-5">
                <a:latin typeface="Times New Roman"/>
                <a:cs typeface="Times New Roman"/>
              </a:rPr>
              <a:t>e</a:t>
            </a:r>
            <a:r>
              <a:rPr dirty="0" sz="2000">
                <a:latin typeface="Times New Roman"/>
                <a:cs typeface="Times New Roman"/>
              </a:rPr>
              <a:t>d)</a:t>
            </a:r>
            <a:r>
              <a:rPr dirty="0" sz="2000" spc="-114">
                <a:latin typeface="Times New Roman"/>
                <a:cs typeface="Times New Roman"/>
              </a:rPr>
              <a:t> </a:t>
            </a:r>
            <a:r>
              <a:rPr dirty="0" sz="2000" spc="-145">
                <a:latin typeface="Times New Roman"/>
                <a:cs typeface="Times New Roman"/>
              </a:rPr>
              <a:t>A</a:t>
            </a:r>
            <a:r>
              <a:rPr dirty="0" sz="2000">
                <a:latin typeface="Times New Roman"/>
                <a:cs typeface="Times New Roman"/>
              </a:rPr>
              <a:t>v</a:t>
            </a:r>
            <a:r>
              <a:rPr dirty="0" sz="2000" spc="-5">
                <a:latin typeface="Times New Roman"/>
                <a:cs typeface="Times New Roman"/>
              </a:rPr>
              <a:t>era</a:t>
            </a:r>
            <a:r>
              <a:rPr dirty="0" sz="2000">
                <a:latin typeface="Times New Roman"/>
                <a:cs typeface="Times New Roman"/>
              </a:rPr>
              <a:t>ge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</a:t>
            </a:r>
            <a:r>
              <a:rPr dirty="0" sz="2000" spc="-5">
                <a:latin typeface="Times New Roman"/>
                <a:cs typeface="Times New Roman"/>
              </a:rPr>
              <a:t>a</a:t>
            </a:r>
            <a:r>
              <a:rPr dirty="0" sz="2000" spc="-10">
                <a:latin typeface="Times New Roman"/>
                <a:cs typeface="Times New Roman"/>
              </a:rPr>
              <a:t>t</a:t>
            </a:r>
            <a:r>
              <a:rPr dirty="0" sz="2000">
                <a:latin typeface="Times New Roman"/>
                <a:cs typeface="Times New Roman"/>
              </a:rPr>
              <a:t>h L</a:t>
            </a:r>
            <a:r>
              <a:rPr dirty="0" sz="2000" spc="-5">
                <a:latin typeface="Times New Roman"/>
                <a:cs typeface="Times New Roman"/>
              </a:rPr>
              <a:t>e</a:t>
            </a:r>
            <a:r>
              <a:rPr dirty="0" sz="2000">
                <a:latin typeface="Times New Roman"/>
                <a:cs typeface="Times New Roman"/>
              </a:rPr>
              <a:t>ng</a:t>
            </a:r>
            <a:r>
              <a:rPr dirty="0" sz="2000" spc="-10">
                <a:latin typeface="Times New Roman"/>
                <a:cs typeface="Times New Roman"/>
              </a:rPr>
              <a:t>t</a:t>
            </a:r>
            <a:r>
              <a:rPr dirty="0" sz="2000">
                <a:latin typeface="Times New Roman"/>
                <a:cs typeface="Times New Roman"/>
              </a:rPr>
              <a:t>h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55000" y="2652777"/>
            <a:ext cx="304800" cy="2215515"/>
          </a:xfrm>
          <a:prstGeom prst="rect">
            <a:avLst/>
          </a:prstGeom>
        </p:spPr>
        <p:txBody>
          <a:bodyPr wrap="square" lIns="0" tIns="127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800">
                <a:latin typeface="Calibri"/>
                <a:cs typeface="Calibri"/>
              </a:rPr>
              <a:t>C</a:t>
            </a:r>
            <a:r>
              <a:rPr dirty="0" sz="1800" spc="-5">
                <a:latin typeface="Calibri"/>
                <a:cs typeface="Calibri"/>
              </a:rPr>
              <a:t>l</a:t>
            </a:r>
            <a:r>
              <a:rPr dirty="0" sz="1800">
                <a:latin typeface="Calibri"/>
                <a:cs typeface="Calibri"/>
              </a:rPr>
              <a:t>u</a:t>
            </a:r>
            <a:r>
              <a:rPr dirty="0" sz="1800" spc="-25">
                <a:latin typeface="Calibri"/>
                <a:cs typeface="Calibri"/>
              </a:rPr>
              <a:t>st</a:t>
            </a:r>
            <a:r>
              <a:rPr dirty="0" sz="1800">
                <a:latin typeface="Calibri"/>
                <a:cs typeface="Calibri"/>
              </a:rPr>
              <a:t>e</a:t>
            </a:r>
            <a:r>
              <a:rPr dirty="0" sz="1800" spc="-5">
                <a:latin typeface="Calibri"/>
                <a:cs typeface="Calibri"/>
              </a:rPr>
              <a:t>ri</a:t>
            </a:r>
            <a:r>
              <a:rPr dirty="0" sz="1800">
                <a:latin typeface="Calibri"/>
                <a:cs typeface="Calibri"/>
              </a:rPr>
              <a:t>ng</a:t>
            </a:r>
            <a:r>
              <a:rPr dirty="0" sz="1800" spc="0">
                <a:latin typeface="Calibri"/>
                <a:cs typeface="Calibri"/>
              </a:rPr>
              <a:t> </a:t>
            </a:r>
            <a:r>
              <a:rPr dirty="0" sz="1800" spc="-15">
                <a:latin typeface="Calibri"/>
                <a:cs typeface="Calibri"/>
              </a:rPr>
              <a:t>c</a:t>
            </a:r>
            <a:r>
              <a:rPr dirty="0" sz="1800">
                <a:latin typeface="Calibri"/>
                <a:cs typeface="Calibri"/>
              </a:rPr>
              <a:t>o</a:t>
            </a:r>
            <a:r>
              <a:rPr dirty="0" sz="1800" spc="-15">
                <a:latin typeface="Calibri"/>
                <a:cs typeface="Calibri"/>
              </a:rPr>
              <a:t>e</a:t>
            </a:r>
            <a:r>
              <a:rPr dirty="0" sz="1800" spc="-20">
                <a:latin typeface="Calibri"/>
                <a:cs typeface="Calibri"/>
              </a:rPr>
              <a:t>f</a:t>
            </a:r>
            <a:r>
              <a:rPr dirty="0" sz="1800">
                <a:latin typeface="Calibri"/>
                <a:cs typeface="Calibri"/>
              </a:rPr>
              <a:t>f</a:t>
            </a:r>
            <a:r>
              <a:rPr dirty="0" sz="1800" spc="-5">
                <a:latin typeface="Calibri"/>
                <a:cs typeface="Calibri"/>
              </a:rPr>
              <a:t>i</a:t>
            </a:r>
            <a:r>
              <a:rPr dirty="0" sz="1800">
                <a:latin typeface="Calibri"/>
                <a:cs typeface="Calibri"/>
              </a:rPr>
              <a:t>c</a:t>
            </a:r>
            <a:r>
              <a:rPr dirty="0" sz="1800" spc="-5">
                <a:latin typeface="Calibri"/>
                <a:cs typeface="Calibri"/>
              </a:rPr>
              <a:t>i</a:t>
            </a:r>
            <a:r>
              <a:rPr dirty="0" sz="1800">
                <a:latin typeface="Calibri"/>
                <a:cs typeface="Calibri"/>
              </a:rPr>
              <a:t>e</a:t>
            </a:r>
            <a:r>
              <a:rPr dirty="0" sz="1800" spc="-15">
                <a:latin typeface="Calibri"/>
                <a:cs typeface="Calibri"/>
              </a:rPr>
              <a:t>n</a:t>
            </a:r>
            <a:r>
              <a:rPr dirty="0" sz="1800" spc="-5">
                <a:latin typeface="Calibri"/>
                <a:cs typeface="Calibri"/>
              </a:rPr>
              <a:t>t</a:t>
            </a:r>
            <a:r>
              <a:rPr dirty="0" sz="1800">
                <a:latin typeface="Calibri"/>
                <a:cs typeface="Calibri"/>
              </a:rPr>
              <a:t>,</a:t>
            </a:r>
            <a:r>
              <a:rPr dirty="0" sz="1800" spc="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73023" y="347472"/>
            <a:ext cx="571500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095" y="1348740"/>
            <a:ext cx="812419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pc="-5"/>
              <a:t>Could </a:t>
            </a:r>
            <a:r>
              <a:rPr dirty="0"/>
              <a:t>a </a:t>
            </a:r>
            <a:r>
              <a:rPr dirty="0" spc="-10"/>
              <a:t>network </a:t>
            </a:r>
            <a:r>
              <a:rPr dirty="0"/>
              <a:t>with </a:t>
            </a:r>
            <a:r>
              <a:rPr dirty="0" spc="-5"/>
              <a:t>high </a:t>
            </a:r>
            <a:r>
              <a:rPr dirty="0" spc="-10"/>
              <a:t>clustering </a:t>
            </a:r>
            <a:r>
              <a:rPr dirty="0" spc="-5"/>
              <a:t>be </a:t>
            </a:r>
            <a:r>
              <a:rPr dirty="0" spc="-20"/>
              <a:t>at </a:t>
            </a:r>
            <a:r>
              <a:rPr dirty="0" spc="-110"/>
              <a:t>the  </a:t>
            </a:r>
            <a:r>
              <a:rPr dirty="0" spc="-5"/>
              <a:t>same time </a:t>
            </a:r>
            <a:r>
              <a:rPr dirty="0"/>
              <a:t>a </a:t>
            </a:r>
            <a:r>
              <a:rPr dirty="0" spc="-5"/>
              <a:t>small</a:t>
            </a:r>
            <a:r>
              <a:rPr dirty="0" spc="-35"/>
              <a:t> </a:t>
            </a:r>
            <a:r>
              <a:rPr dirty="0" spc="-10"/>
              <a:t>world?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41</a:t>
            </a:fld>
          </a:p>
        </p:txBody>
      </p:sp>
      <p:sp>
        <p:nvSpPr>
          <p:cNvPr id="6" name="object 6"/>
          <p:cNvSpPr txBox="1"/>
          <p:nvPr/>
        </p:nvSpPr>
        <p:spPr>
          <a:xfrm>
            <a:off x="618095" y="2402331"/>
            <a:ext cx="8307070" cy="33724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08355" indent="-457200">
              <a:lnSpc>
                <a:spcPts val="3329"/>
              </a:lnSpc>
              <a:spcBef>
                <a:spcPts val="100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800" spc="-55">
                <a:latin typeface="Calibri"/>
                <a:cs typeface="Calibri"/>
              </a:rPr>
              <a:t>Yes! </a:t>
            </a:r>
            <a:r>
              <a:rPr dirty="0" sz="2800" spc="-75">
                <a:latin typeface="Calibri"/>
                <a:cs typeface="Calibri"/>
              </a:rPr>
              <a:t>You </a:t>
            </a:r>
            <a:r>
              <a:rPr dirty="0" sz="2800" spc="-5">
                <a:latin typeface="Calibri"/>
                <a:cs typeface="Calibri"/>
              </a:rPr>
              <a:t>don’t need </a:t>
            </a:r>
            <a:r>
              <a:rPr dirty="0" sz="2800" spc="-15">
                <a:latin typeface="Calibri"/>
                <a:cs typeface="Calibri"/>
              </a:rPr>
              <a:t>more </a:t>
            </a:r>
            <a:r>
              <a:rPr dirty="0" sz="2800" spc="-5">
                <a:latin typeface="Calibri"/>
                <a:cs typeface="Calibri"/>
              </a:rPr>
              <a:t>than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35">
                <a:latin typeface="Calibri"/>
                <a:cs typeface="Calibri"/>
              </a:rPr>
              <a:t>few </a:t>
            </a:r>
            <a:r>
              <a:rPr dirty="0" sz="2800" spc="-15">
                <a:latin typeface="Calibri"/>
                <a:cs typeface="Calibri"/>
              </a:rPr>
              <a:t>random</a:t>
            </a:r>
            <a:r>
              <a:rPr dirty="0" sz="2800" spc="210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links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810"/>
              </a:lnSpc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The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Small-World</a:t>
            </a:r>
            <a:r>
              <a:rPr dirty="0" sz="3200" spc="-4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Model:</a:t>
            </a:r>
            <a:endParaRPr sz="3200">
              <a:latin typeface="Calibri"/>
              <a:cs typeface="Calibri"/>
            </a:endParaRPr>
          </a:p>
          <a:p>
            <a:pPr lvl="1" marL="808355" marR="5080" indent="-457200">
              <a:lnSpc>
                <a:spcPct val="101400"/>
              </a:lnSpc>
              <a:spcBef>
                <a:spcPts val="615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800" spc="-15">
                <a:latin typeface="Calibri"/>
                <a:cs typeface="Calibri"/>
              </a:rPr>
              <a:t>Provides </a:t>
            </a:r>
            <a:r>
              <a:rPr dirty="0" sz="2800" spc="-10">
                <a:latin typeface="Calibri"/>
                <a:cs typeface="Calibri"/>
              </a:rPr>
              <a:t>insight </a:t>
            </a:r>
            <a:r>
              <a:rPr dirty="0" sz="2800" spc="-5">
                <a:latin typeface="Calibri"/>
                <a:cs typeface="Calibri"/>
              </a:rPr>
              <a:t>on the </a:t>
            </a:r>
            <a:r>
              <a:rPr dirty="0" sz="2800" spc="-20">
                <a:latin typeface="Calibri"/>
                <a:cs typeface="Calibri"/>
              </a:rPr>
              <a:t>interplay </a:t>
            </a:r>
            <a:r>
              <a:rPr dirty="0" sz="2800" spc="-10">
                <a:latin typeface="Calibri"/>
                <a:cs typeface="Calibri"/>
              </a:rPr>
              <a:t>between clustering  </a:t>
            </a:r>
            <a:r>
              <a:rPr dirty="0" sz="2800" spc="-5">
                <a:latin typeface="Calibri"/>
                <a:cs typeface="Calibri"/>
              </a:rPr>
              <a:t>and the</a:t>
            </a:r>
            <a:r>
              <a:rPr dirty="0" sz="2800" spc="-25">
                <a:latin typeface="Calibri"/>
                <a:cs typeface="Calibri"/>
              </a:rPr>
              <a:t> </a:t>
            </a:r>
            <a:r>
              <a:rPr dirty="0" sz="2800" spc="-10">
                <a:latin typeface="Calibri"/>
                <a:cs typeface="Calibri"/>
              </a:rPr>
              <a:t>small-world</a:t>
            </a:r>
            <a:endParaRPr sz="2800">
              <a:latin typeface="Calibri"/>
              <a:cs typeface="Calibri"/>
            </a:endParaRPr>
          </a:p>
          <a:p>
            <a:pPr lvl="1" marL="808355" indent="-457200">
              <a:lnSpc>
                <a:spcPct val="100000"/>
              </a:lnSpc>
              <a:spcBef>
                <a:spcPts val="525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800" spc="-10">
                <a:latin typeface="Calibri"/>
                <a:cs typeface="Calibri"/>
              </a:rPr>
              <a:t>Captures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10">
                <a:latin typeface="Calibri"/>
                <a:cs typeface="Calibri"/>
              </a:rPr>
              <a:t>structure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5">
                <a:latin typeface="Calibri"/>
                <a:cs typeface="Calibri"/>
              </a:rPr>
              <a:t>many realistic</a:t>
            </a:r>
            <a:r>
              <a:rPr dirty="0" sz="2800" spc="5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networks</a:t>
            </a:r>
            <a:endParaRPr sz="2800">
              <a:latin typeface="Calibri"/>
              <a:cs typeface="Calibri"/>
            </a:endParaRPr>
          </a:p>
          <a:p>
            <a:pPr lvl="1" marL="808355" indent="-457200">
              <a:lnSpc>
                <a:spcPct val="100000"/>
              </a:lnSpc>
              <a:spcBef>
                <a:spcPts val="645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800" spc="-10">
                <a:latin typeface="Calibri"/>
                <a:cs typeface="Calibri"/>
              </a:rPr>
              <a:t>Accounts </a:t>
            </a:r>
            <a:r>
              <a:rPr dirty="0" sz="2800" spc="-25">
                <a:latin typeface="Calibri"/>
                <a:cs typeface="Calibri"/>
              </a:rPr>
              <a:t>for </a:t>
            </a:r>
            <a:r>
              <a:rPr dirty="0" sz="2800" spc="-5">
                <a:latin typeface="Calibri"/>
                <a:cs typeface="Calibri"/>
              </a:rPr>
              <a:t>the high </a:t>
            </a:r>
            <a:r>
              <a:rPr dirty="0" sz="2800" spc="-10">
                <a:latin typeface="Calibri"/>
                <a:cs typeface="Calibri"/>
              </a:rPr>
              <a:t>clustering </a:t>
            </a:r>
            <a:r>
              <a:rPr dirty="0" sz="2800" spc="-5">
                <a:latin typeface="Calibri"/>
                <a:cs typeface="Calibri"/>
              </a:rPr>
              <a:t>of </a:t>
            </a:r>
            <a:r>
              <a:rPr dirty="0" sz="2800" spc="-15">
                <a:latin typeface="Calibri"/>
                <a:cs typeface="Calibri"/>
              </a:rPr>
              <a:t>real</a:t>
            </a:r>
            <a:r>
              <a:rPr dirty="0" sz="2800" spc="40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networks</a:t>
            </a:r>
            <a:endParaRPr sz="2800">
              <a:latin typeface="Calibri"/>
              <a:cs typeface="Calibri"/>
            </a:endParaRPr>
          </a:p>
          <a:p>
            <a:pPr lvl="1" marL="808355" indent="-457200">
              <a:lnSpc>
                <a:spcPct val="100000"/>
              </a:lnSpc>
              <a:spcBef>
                <a:spcPts val="525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800" spc="-5">
                <a:latin typeface="Calibri"/>
                <a:cs typeface="Calibri"/>
              </a:rPr>
              <a:t>Does not lead </a:t>
            </a:r>
            <a:r>
              <a:rPr dirty="0" sz="2800" spc="-15">
                <a:latin typeface="Calibri"/>
                <a:cs typeface="Calibri"/>
              </a:rPr>
              <a:t>to </a:t>
            </a:r>
            <a:r>
              <a:rPr dirty="0" sz="2800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correct degree</a:t>
            </a:r>
            <a:r>
              <a:rPr dirty="0" sz="2800" spc="30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distribution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79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5135880"/>
          </a:xfrm>
          <a:custGeom>
            <a:avLst/>
            <a:gdLst/>
            <a:ahLst/>
            <a:cxnLst/>
            <a:rect l="l" t="t" r="r" b="b"/>
            <a:pathLst>
              <a:path w="9144000" h="5135880">
                <a:moveTo>
                  <a:pt x="0" y="0"/>
                </a:moveTo>
                <a:lnTo>
                  <a:pt x="9143998" y="0"/>
                </a:lnTo>
                <a:lnTo>
                  <a:pt x="9143998" y="5135430"/>
                </a:lnTo>
                <a:lnTo>
                  <a:pt x="0" y="513543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0" y="5105400"/>
            <a:ext cx="9144000" cy="112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0" y="5151193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 h="0">
                <a:moveTo>
                  <a:pt x="0" y="0"/>
                </a:moveTo>
                <a:lnTo>
                  <a:pt x="9144000" y="0"/>
                </a:lnTo>
              </a:path>
            </a:pathLst>
          </a:custGeom>
          <a:ln w="45719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04672" y="3718559"/>
            <a:ext cx="5983224" cy="12923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840739" y="5266435"/>
            <a:ext cx="5060950" cy="1249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20">
                <a:solidFill>
                  <a:srgbClr val="FFFFFF"/>
                </a:solidFill>
                <a:latin typeface="Corbel"/>
                <a:cs typeface="Corbel"/>
              </a:rPr>
              <a:t>CS224W: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Machine Learning </a:t>
            </a:r>
            <a:r>
              <a:rPr dirty="0" sz="2400">
                <a:solidFill>
                  <a:srgbClr val="FFFFFF"/>
                </a:solidFill>
                <a:latin typeface="Corbel"/>
                <a:cs typeface="Corbel"/>
              </a:rPr>
              <a:t>with</a:t>
            </a:r>
            <a:r>
              <a:rPr dirty="0" sz="2400" spc="-114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400" spc="-5">
                <a:solidFill>
                  <a:srgbClr val="FFFFFF"/>
                </a:solidFill>
                <a:latin typeface="Corbel"/>
                <a:cs typeface="Corbel"/>
              </a:rPr>
              <a:t>Graphs  Jure </a:t>
            </a:r>
            <a:r>
              <a:rPr dirty="0" sz="2400" spc="-10">
                <a:solidFill>
                  <a:srgbClr val="FFFFFF"/>
                </a:solidFill>
                <a:latin typeface="Corbel"/>
                <a:cs typeface="Corbel"/>
              </a:rPr>
              <a:t>Leskovec,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Stanford</a:t>
            </a:r>
            <a:r>
              <a:rPr dirty="0" sz="2000" spc="-35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2000" spc="-5">
                <a:solidFill>
                  <a:srgbClr val="FFFFFF"/>
                </a:solidFill>
                <a:latin typeface="Corbel"/>
                <a:cs typeface="Corbel"/>
              </a:rPr>
              <a:t>University</a:t>
            </a:r>
            <a:endParaRPr sz="2000">
              <a:latin typeface="Corbel"/>
              <a:cs typeface="Corbe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3200" spc="-15">
                <a:solidFill>
                  <a:srgbClr val="FFFFFF"/>
                </a:solidFill>
                <a:latin typeface="Corbel"/>
                <a:cs typeface="Corbel"/>
                <a:hlinkClick r:id="rId5"/>
              </a:rPr>
              <a:t>http://cs224w.stanford.edu</a:t>
            </a:r>
            <a:endParaRPr sz="3200">
              <a:latin typeface="Corbel"/>
              <a:cs typeface="Corbe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52359" y="5166359"/>
            <a:ext cx="1691640" cy="169163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5216" y="347472"/>
            <a:ext cx="8122920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095" y="1348740"/>
            <a:ext cx="6938645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  <a:tab pos="2524125" algn="l"/>
              </a:tabLst>
            </a:pPr>
            <a:r>
              <a:rPr dirty="0" spc="-5">
                <a:solidFill>
                  <a:srgbClr val="0000FF"/>
                </a:solidFill>
              </a:rPr>
              <a:t>How </a:t>
            </a:r>
            <a:r>
              <a:rPr dirty="0" spc="-10">
                <a:solidFill>
                  <a:srgbClr val="0000FF"/>
                </a:solidFill>
              </a:rPr>
              <a:t>can </a:t>
            </a:r>
            <a:r>
              <a:rPr dirty="0" spc="-15">
                <a:solidFill>
                  <a:srgbClr val="0000FF"/>
                </a:solidFill>
              </a:rPr>
              <a:t>we </a:t>
            </a:r>
            <a:r>
              <a:rPr dirty="0" spc="-5">
                <a:solidFill>
                  <a:srgbClr val="0000FF"/>
                </a:solidFill>
              </a:rPr>
              <a:t>think </a:t>
            </a:r>
            <a:r>
              <a:rPr dirty="0">
                <a:solidFill>
                  <a:srgbClr val="0000FF"/>
                </a:solidFill>
              </a:rPr>
              <a:t>of </a:t>
            </a:r>
            <a:r>
              <a:rPr dirty="0" spc="-10">
                <a:solidFill>
                  <a:srgbClr val="0000FF"/>
                </a:solidFill>
              </a:rPr>
              <a:t>network </a:t>
            </a:r>
            <a:r>
              <a:rPr dirty="0" spc="-55">
                <a:solidFill>
                  <a:srgbClr val="0000FF"/>
                </a:solidFill>
              </a:rPr>
              <a:t>structure  </a:t>
            </a:r>
            <a:r>
              <a:rPr dirty="0" spc="-15">
                <a:solidFill>
                  <a:srgbClr val="0000FF"/>
                </a:solidFill>
              </a:rPr>
              <a:t>recursively?	</a:t>
            </a:r>
            <a:r>
              <a:rPr dirty="0" spc="-10">
                <a:solidFill>
                  <a:srgbClr val="008000"/>
                </a:solidFill>
              </a:rPr>
              <a:t>Intuition:</a:t>
            </a:r>
            <a:r>
              <a:rPr dirty="0" spc="-5">
                <a:solidFill>
                  <a:srgbClr val="008000"/>
                </a:solidFill>
              </a:rPr>
              <a:t> </a:t>
            </a:r>
            <a:r>
              <a:rPr dirty="0" spc="-10" b="0">
                <a:solidFill>
                  <a:srgbClr val="008000"/>
                </a:solidFill>
                <a:latin typeface="Calibri"/>
                <a:cs typeface="Calibri"/>
              </a:rPr>
              <a:t>Self-similarity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8095" y="2402331"/>
            <a:ext cx="7928609" cy="1364615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marL="808355" marR="5080" indent="-457200">
              <a:lnSpc>
                <a:spcPct val="101400"/>
              </a:lnSpc>
              <a:spcBef>
                <a:spcPts val="50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800" spc="-5" b="1">
                <a:latin typeface="Calibri"/>
                <a:cs typeface="Calibri"/>
              </a:rPr>
              <a:t>Object is similar </a:t>
            </a:r>
            <a:r>
              <a:rPr dirty="0" sz="2800" spc="-15" b="1">
                <a:latin typeface="Calibri"/>
                <a:cs typeface="Calibri"/>
              </a:rPr>
              <a:t>to </a:t>
            </a:r>
            <a:r>
              <a:rPr dirty="0" sz="2800" b="1">
                <a:latin typeface="Calibri"/>
                <a:cs typeface="Calibri"/>
              </a:rPr>
              <a:t>a </a:t>
            </a:r>
            <a:r>
              <a:rPr dirty="0" sz="2800" spc="-5" b="1">
                <a:latin typeface="Calibri"/>
                <a:cs typeface="Calibri"/>
              </a:rPr>
              <a:t>part of itself</a:t>
            </a:r>
            <a:r>
              <a:rPr dirty="0" sz="2800" spc="-5">
                <a:latin typeface="Calibri"/>
                <a:cs typeface="Calibri"/>
              </a:rPr>
              <a:t>: the whole has  the same shape as one or </a:t>
            </a:r>
            <a:r>
              <a:rPr dirty="0" sz="2800" spc="-15">
                <a:latin typeface="Calibri"/>
                <a:cs typeface="Calibri"/>
              </a:rPr>
              <a:t>more </a:t>
            </a:r>
            <a:r>
              <a:rPr dirty="0" sz="2800" spc="-5">
                <a:latin typeface="Calibri"/>
                <a:cs typeface="Calibri"/>
              </a:rPr>
              <a:t>of the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parts</a:t>
            </a:r>
            <a:endParaRPr sz="2800">
              <a:latin typeface="Calibri"/>
              <a:cs typeface="Calibri"/>
            </a:endParaRPr>
          </a:p>
          <a:p>
            <a:pPr marL="332740" indent="-320040">
              <a:lnSpc>
                <a:spcPts val="3775"/>
              </a:lnSpc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z="3200" spc="-5" b="1">
                <a:latin typeface="Calibri"/>
                <a:cs typeface="Calibri"/>
              </a:rPr>
              <a:t>Mimic </a:t>
            </a:r>
            <a:r>
              <a:rPr dirty="0" sz="3200" spc="-15" b="1">
                <a:latin typeface="Calibri"/>
                <a:cs typeface="Calibri"/>
              </a:rPr>
              <a:t>recursive graph/community</a:t>
            </a:r>
            <a:r>
              <a:rPr dirty="0" sz="3200" spc="-35" b="1">
                <a:latin typeface="Calibri"/>
                <a:cs typeface="Calibri"/>
              </a:rPr>
              <a:t> </a:t>
            </a:r>
            <a:r>
              <a:rPr dirty="0" sz="3200" spc="-10" b="1">
                <a:latin typeface="Calibri"/>
                <a:cs typeface="Calibri"/>
              </a:rPr>
              <a:t>growth: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24455" y="3822191"/>
            <a:ext cx="606551" cy="14508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285232" y="3806952"/>
            <a:ext cx="2060448" cy="14660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618095" y="5262371"/>
            <a:ext cx="7132955" cy="1259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09040">
              <a:lnSpc>
                <a:spcPts val="2195"/>
              </a:lnSpc>
              <a:spcBef>
                <a:spcPts val="100"/>
              </a:spcBef>
              <a:tabLst>
                <a:tab pos="4620260" algn="l"/>
              </a:tabLst>
            </a:pPr>
            <a:r>
              <a:rPr dirty="0" sz="2000" spc="-5">
                <a:latin typeface="Corbel"/>
                <a:cs typeface="Corbel"/>
              </a:rPr>
              <a:t>Initial</a:t>
            </a:r>
            <a:r>
              <a:rPr dirty="0" sz="2000">
                <a:latin typeface="Corbel"/>
                <a:cs typeface="Corbel"/>
              </a:rPr>
              <a:t> </a:t>
            </a:r>
            <a:r>
              <a:rPr dirty="0" sz="2000" spc="-5">
                <a:latin typeface="Corbel"/>
                <a:cs typeface="Corbel"/>
              </a:rPr>
              <a:t>graph	Recursive</a:t>
            </a:r>
            <a:r>
              <a:rPr dirty="0" sz="2000" spc="-70">
                <a:latin typeface="Corbel"/>
                <a:cs typeface="Corbel"/>
              </a:rPr>
              <a:t> </a:t>
            </a:r>
            <a:r>
              <a:rPr dirty="0" sz="2000" spc="-5">
                <a:latin typeface="Corbel"/>
                <a:cs typeface="Corbel"/>
              </a:rPr>
              <a:t>expansion</a:t>
            </a:r>
            <a:endParaRPr sz="2000">
              <a:latin typeface="Corbel"/>
              <a:cs typeface="Corbel"/>
            </a:endParaRPr>
          </a:p>
          <a:p>
            <a:pPr marL="332740" indent="-320040">
              <a:lnSpc>
                <a:spcPts val="3635"/>
              </a:lnSpc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z="3200" spc="-20" b="1">
                <a:solidFill>
                  <a:srgbClr val="FF0000"/>
                </a:solidFill>
                <a:latin typeface="Calibri"/>
                <a:cs typeface="Calibri"/>
              </a:rPr>
              <a:t>Kronecker </a:t>
            </a:r>
            <a:r>
              <a:rPr dirty="0" sz="3200" spc="-10" b="1">
                <a:solidFill>
                  <a:srgbClr val="FF0000"/>
                </a:solidFill>
                <a:latin typeface="Calibri"/>
                <a:cs typeface="Calibri"/>
              </a:rPr>
              <a:t>product </a:t>
            </a:r>
            <a:r>
              <a:rPr dirty="0" sz="3200">
                <a:latin typeface="Calibri"/>
                <a:cs typeface="Calibri"/>
              </a:rPr>
              <a:t>is a </a:t>
            </a:r>
            <a:r>
              <a:rPr dirty="0" sz="3200" spc="-35">
                <a:latin typeface="Calibri"/>
                <a:cs typeface="Calibri"/>
              </a:rPr>
              <a:t>way </a:t>
            </a:r>
            <a:r>
              <a:rPr dirty="0" sz="3200">
                <a:latin typeface="Calibri"/>
                <a:cs typeface="Calibri"/>
              </a:rPr>
              <a:t>of</a:t>
            </a:r>
            <a:r>
              <a:rPr dirty="0" sz="3200" spc="25">
                <a:latin typeface="Calibri"/>
                <a:cs typeface="Calibri"/>
              </a:rPr>
              <a:t> </a:t>
            </a:r>
            <a:r>
              <a:rPr dirty="0" sz="3200" spc="-40">
                <a:latin typeface="Calibri"/>
                <a:cs typeface="Calibri"/>
              </a:rPr>
              <a:t>generating</a:t>
            </a:r>
            <a:endParaRPr sz="3200">
              <a:latin typeface="Calibri"/>
              <a:cs typeface="Calibri"/>
            </a:endParaRPr>
          </a:p>
          <a:p>
            <a:pPr marL="332105">
              <a:lnSpc>
                <a:spcPct val="100000"/>
              </a:lnSpc>
              <a:spcBef>
                <a:spcPts val="45"/>
              </a:spcBef>
            </a:pPr>
            <a:r>
              <a:rPr dirty="0" sz="3200" spc="-10">
                <a:latin typeface="Calibri"/>
                <a:cs typeface="Calibri"/>
              </a:rPr>
              <a:t>self-similar</a:t>
            </a:r>
            <a:r>
              <a:rPr dirty="0" sz="3200" spc="-45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matrices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733800" y="4418012"/>
            <a:ext cx="838200" cy="381000"/>
          </a:xfrm>
          <a:custGeom>
            <a:avLst/>
            <a:gdLst/>
            <a:ahLst/>
            <a:cxnLst/>
            <a:rect l="l" t="t" r="r" b="b"/>
            <a:pathLst>
              <a:path w="838200" h="381000">
                <a:moveTo>
                  <a:pt x="628650" y="0"/>
                </a:moveTo>
                <a:lnTo>
                  <a:pt x="628650" y="95250"/>
                </a:lnTo>
                <a:lnTo>
                  <a:pt x="0" y="95250"/>
                </a:lnTo>
                <a:lnTo>
                  <a:pt x="0" y="285750"/>
                </a:lnTo>
                <a:lnTo>
                  <a:pt x="628650" y="285750"/>
                </a:lnTo>
                <a:lnTo>
                  <a:pt x="628650" y="381000"/>
                </a:lnTo>
                <a:lnTo>
                  <a:pt x="838200" y="190500"/>
                </a:lnTo>
                <a:lnTo>
                  <a:pt x="62865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733800" y="4418012"/>
            <a:ext cx="838200" cy="381000"/>
          </a:xfrm>
          <a:custGeom>
            <a:avLst/>
            <a:gdLst/>
            <a:ahLst/>
            <a:cxnLst/>
            <a:rect l="l" t="t" r="r" b="b"/>
            <a:pathLst>
              <a:path w="838200" h="381000">
                <a:moveTo>
                  <a:pt x="0" y="95250"/>
                </a:moveTo>
                <a:lnTo>
                  <a:pt x="628650" y="95250"/>
                </a:lnTo>
                <a:lnTo>
                  <a:pt x="628650" y="0"/>
                </a:lnTo>
                <a:lnTo>
                  <a:pt x="838200" y="190500"/>
                </a:lnTo>
                <a:lnTo>
                  <a:pt x="628650" y="381000"/>
                </a:lnTo>
                <a:lnTo>
                  <a:pt x="628650" y="285750"/>
                </a:lnTo>
                <a:lnTo>
                  <a:pt x="0" y="285750"/>
                </a:lnTo>
                <a:lnTo>
                  <a:pt x="0" y="952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46</a:t>
            </a:fld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5216" y="347472"/>
            <a:ext cx="4059936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095" y="1268602"/>
            <a:ext cx="7426325" cy="1215390"/>
          </a:xfrm>
          <a:prstGeom prst="rect"/>
        </p:spPr>
        <p:txBody>
          <a:bodyPr wrap="square" lIns="0" tIns="9398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740"/>
              </a:spcBef>
              <a:buClr>
                <a:srgbClr val="F0AD00"/>
              </a:buClr>
              <a:buSzPct val="80555"/>
              <a:buFont typeface="Malgun Gothic"/>
              <a:buChar char="▪"/>
              <a:tabLst>
                <a:tab pos="332740" algn="l"/>
              </a:tabLst>
            </a:pPr>
            <a:r>
              <a:rPr dirty="0" sz="3600" spc="-25">
                <a:solidFill>
                  <a:srgbClr val="FF0066"/>
                </a:solidFill>
              </a:rPr>
              <a:t>Kronecker</a:t>
            </a:r>
            <a:r>
              <a:rPr dirty="0" sz="3600" spc="-55">
                <a:solidFill>
                  <a:srgbClr val="FF0066"/>
                </a:solidFill>
              </a:rPr>
              <a:t> </a:t>
            </a:r>
            <a:r>
              <a:rPr dirty="0" sz="3600" spc="-15">
                <a:solidFill>
                  <a:srgbClr val="FF0066"/>
                </a:solidFill>
              </a:rPr>
              <a:t>graphs:</a:t>
            </a:r>
            <a:endParaRPr sz="3600"/>
          </a:p>
          <a:p>
            <a:pPr lvl="1" marL="808355" indent="-457200">
              <a:lnSpc>
                <a:spcPct val="100000"/>
              </a:lnSpc>
              <a:spcBef>
                <a:spcPts val="565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3200" b="1">
                <a:latin typeface="Calibri"/>
                <a:cs typeface="Calibri"/>
              </a:rPr>
              <a:t>A </a:t>
            </a:r>
            <a:r>
              <a:rPr dirty="0" sz="3200" spc="-15" b="1">
                <a:latin typeface="Calibri"/>
                <a:cs typeface="Calibri"/>
              </a:rPr>
              <a:t>recursive </a:t>
            </a:r>
            <a:r>
              <a:rPr dirty="0" sz="3200" spc="-5" b="1">
                <a:latin typeface="Calibri"/>
                <a:cs typeface="Calibri"/>
              </a:rPr>
              <a:t>model </a:t>
            </a:r>
            <a:r>
              <a:rPr dirty="0" sz="3200" b="1">
                <a:latin typeface="Calibri"/>
                <a:cs typeface="Calibri"/>
              </a:rPr>
              <a:t>of </a:t>
            </a:r>
            <a:r>
              <a:rPr dirty="0" sz="3200" spc="-10" b="1">
                <a:latin typeface="Calibri"/>
                <a:cs typeface="Calibri"/>
              </a:rPr>
              <a:t>network </a:t>
            </a:r>
            <a:r>
              <a:rPr dirty="0" sz="3200" spc="-15" b="1">
                <a:latin typeface="Calibri"/>
                <a:cs typeface="Calibri"/>
              </a:rPr>
              <a:t>structure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562600" y="2584703"/>
            <a:ext cx="3276600" cy="32796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021387" y="5964428"/>
            <a:ext cx="25736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81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x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81 adjacency</a:t>
            </a:r>
            <a:r>
              <a:rPr dirty="0" sz="1800" spc="10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matrix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81000" y="3203448"/>
            <a:ext cx="1676400" cy="15971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638800" y="2627610"/>
          <a:ext cx="3132455" cy="3165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"/>
                <a:gridCol w="357187"/>
                <a:gridCol w="324643"/>
                <a:gridCol w="1006475"/>
                <a:gridCol w="1062831"/>
              </a:tblGrid>
              <a:tr h="355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0000"/>
                      </a:solidFill>
                      <a:prstDash val="solid"/>
                    </a:lnL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0000"/>
                      </a:solidFill>
                      <a:prstDash val="solid"/>
                    </a:lnL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>
                    <a:lnL w="38100">
                      <a:solidFill>
                        <a:srgbClr val="FF0000"/>
                      </a:solidFill>
                      <a:prstDash val="solid"/>
                    </a:lnL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10033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0000"/>
                      </a:solidFill>
                      <a:prstDash val="solid"/>
                    </a:lnL>
                    <a:lnT w="38100">
                      <a:solidFill>
                        <a:srgbClr val="FF0000"/>
                      </a:solidFill>
                      <a:prstDash val="solid"/>
                    </a:lnT>
                    <a:lnB w="38100">
                      <a:solidFill>
                        <a:srgbClr val="FF0000"/>
                      </a:solidFill>
                      <a:prstDash val="solid"/>
                    </a:lnB>
                  </a:tcPr>
                </a:tc>
              </a:tr>
              <a:tr h="1054100"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0000"/>
                      </a:solidFill>
                      <a:prstDash val="solid"/>
                    </a:lnL>
                    <a:lnR w="38100">
                      <a:solidFill>
                        <a:srgbClr val="FF0000"/>
                      </a:solidFill>
                      <a:prstDash val="solid"/>
                    </a:lnR>
                    <a:lnT w="38100">
                      <a:solidFill>
                        <a:srgbClr val="FF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FF0000"/>
                      </a:solidFill>
                      <a:prstDash val="solid"/>
                    </a:lnL>
                    <a:lnT w="38100">
                      <a:solidFill>
                        <a:srgbClr val="FF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2209800" y="3729334"/>
            <a:ext cx="685800" cy="457200"/>
          </a:xfrm>
          <a:custGeom>
            <a:avLst/>
            <a:gdLst/>
            <a:ahLst/>
            <a:cxnLst/>
            <a:rect l="l" t="t" r="r" b="b"/>
            <a:pathLst>
              <a:path w="685800" h="457200">
                <a:moveTo>
                  <a:pt x="514350" y="0"/>
                </a:moveTo>
                <a:lnTo>
                  <a:pt x="514350" y="114299"/>
                </a:lnTo>
                <a:lnTo>
                  <a:pt x="0" y="114299"/>
                </a:lnTo>
                <a:lnTo>
                  <a:pt x="0" y="342899"/>
                </a:lnTo>
                <a:lnTo>
                  <a:pt x="514350" y="342899"/>
                </a:lnTo>
                <a:lnTo>
                  <a:pt x="514350" y="457199"/>
                </a:lnTo>
                <a:lnTo>
                  <a:pt x="685800" y="228599"/>
                </a:lnTo>
                <a:lnTo>
                  <a:pt x="51435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209800" y="3729334"/>
            <a:ext cx="685800" cy="457200"/>
          </a:xfrm>
          <a:custGeom>
            <a:avLst/>
            <a:gdLst/>
            <a:ahLst/>
            <a:cxnLst/>
            <a:rect l="l" t="t" r="r" b="b"/>
            <a:pathLst>
              <a:path w="685800" h="457200">
                <a:moveTo>
                  <a:pt x="0" y="114300"/>
                </a:moveTo>
                <a:lnTo>
                  <a:pt x="514350" y="114300"/>
                </a:lnTo>
                <a:lnTo>
                  <a:pt x="514350" y="0"/>
                </a:lnTo>
                <a:lnTo>
                  <a:pt x="685800" y="228600"/>
                </a:lnTo>
                <a:lnTo>
                  <a:pt x="514350" y="457200"/>
                </a:lnTo>
                <a:lnTo>
                  <a:pt x="514350" y="342900"/>
                </a:lnTo>
                <a:lnTo>
                  <a:pt x="0" y="342900"/>
                </a:lnTo>
                <a:lnTo>
                  <a:pt x="0" y="1143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876800" y="3805534"/>
            <a:ext cx="685800" cy="457200"/>
          </a:xfrm>
          <a:custGeom>
            <a:avLst/>
            <a:gdLst/>
            <a:ahLst/>
            <a:cxnLst/>
            <a:rect l="l" t="t" r="r" b="b"/>
            <a:pathLst>
              <a:path w="685800" h="457200">
                <a:moveTo>
                  <a:pt x="514350" y="0"/>
                </a:moveTo>
                <a:lnTo>
                  <a:pt x="514350" y="114299"/>
                </a:lnTo>
                <a:lnTo>
                  <a:pt x="0" y="114299"/>
                </a:lnTo>
                <a:lnTo>
                  <a:pt x="0" y="342899"/>
                </a:lnTo>
                <a:lnTo>
                  <a:pt x="514350" y="342899"/>
                </a:lnTo>
                <a:lnTo>
                  <a:pt x="514350" y="457199"/>
                </a:lnTo>
                <a:lnTo>
                  <a:pt x="685800" y="228599"/>
                </a:lnTo>
                <a:lnTo>
                  <a:pt x="51435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876800" y="3805534"/>
            <a:ext cx="685800" cy="457200"/>
          </a:xfrm>
          <a:custGeom>
            <a:avLst/>
            <a:gdLst/>
            <a:ahLst/>
            <a:cxnLst/>
            <a:rect l="l" t="t" r="r" b="b"/>
            <a:pathLst>
              <a:path w="685800" h="457200">
                <a:moveTo>
                  <a:pt x="0" y="114300"/>
                </a:moveTo>
                <a:lnTo>
                  <a:pt x="514350" y="114300"/>
                </a:lnTo>
                <a:lnTo>
                  <a:pt x="514350" y="0"/>
                </a:lnTo>
                <a:lnTo>
                  <a:pt x="685800" y="228600"/>
                </a:lnTo>
                <a:lnTo>
                  <a:pt x="514350" y="457200"/>
                </a:lnTo>
                <a:lnTo>
                  <a:pt x="514350" y="342900"/>
                </a:lnTo>
                <a:lnTo>
                  <a:pt x="0" y="342900"/>
                </a:lnTo>
                <a:lnTo>
                  <a:pt x="0" y="1143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145525" y="4728972"/>
            <a:ext cx="43053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i="1">
                <a:latin typeface="Times New Roman"/>
                <a:cs typeface="Times New Roman"/>
              </a:rPr>
              <a:t>K</a:t>
            </a:r>
            <a:r>
              <a:rPr dirty="0" baseline="-18518" sz="3150" i="1">
                <a:latin typeface="Times New Roman"/>
                <a:cs typeface="Times New Roman"/>
              </a:rPr>
              <a:t>1</a:t>
            </a:r>
            <a:endParaRPr baseline="-18518" sz="31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71800" y="3118104"/>
            <a:ext cx="1920239" cy="17465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883407" y="4946903"/>
            <a:ext cx="2069592" cy="35661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8113078" y="18795"/>
            <a:ext cx="9518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FFFFFF"/>
                </a:solidFill>
                <a:latin typeface="Corbel"/>
                <a:cs typeface="Corbel"/>
              </a:rPr>
              <a:t>[PKDD</a:t>
            </a:r>
            <a:r>
              <a:rPr dirty="0" sz="1600" spc="-8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Corbel"/>
                <a:cs typeface="Corbel"/>
              </a:rPr>
              <a:t>‘05]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46</a:t>
            </a:fld>
          </a:p>
        </p:txBody>
      </p:sp>
      <p:sp>
        <p:nvSpPr>
          <p:cNvPr id="18" name="object 18"/>
          <p:cNvSpPr txBox="1"/>
          <p:nvPr/>
        </p:nvSpPr>
        <p:spPr>
          <a:xfrm>
            <a:off x="973842" y="5818123"/>
            <a:ext cx="5213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3 x</a:t>
            </a:r>
            <a:r>
              <a:rPr dirty="0" sz="1800" spc="-11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67361" y="5805932"/>
            <a:ext cx="521334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9 x</a:t>
            </a:r>
            <a:r>
              <a:rPr dirty="0" sz="1800" spc="-11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008000"/>
                </a:solidFill>
                <a:latin typeface="Arial"/>
                <a:cs typeface="Arial"/>
              </a:rPr>
              <a:t>9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43000" y="2438400"/>
            <a:ext cx="7010400" cy="218236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5216" y="341375"/>
            <a:ext cx="7278624" cy="4328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18094" y="1306068"/>
            <a:ext cx="7105650" cy="998219"/>
          </a:xfrm>
          <a:prstGeom prst="rect"/>
        </p:spPr>
        <p:txBody>
          <a:bodyPr wrap="square" lIns="0" tIns="30480" rIns="0" bIns="0" rtlCol="0" vert="horz">
            <a:spAutoFit/>
          </a:bodyPr>
          <a:lstStyle/>
          <a:p>
            <a:pPr marL="332740" marR="5080" indent="-320040">
              <a:lnSpc>
                <a:spcPts val="3820"/>
              </a:lnSpc>
              <a:spcBef>
                <a:spcPts val="24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pc="-20">
                <a:solidFill>
                  <a:srgbClr val="0000FF"/>
                </a:solidFill>
              </a:rPr>
              <a:t>Kronecker </a:t>
            </a:r>
            <a:r>
              <a:rPr dirty="0" spc="-10">
                <a:solidFill>
                  <a:srgbClr val="0000FF"/>
                </a:solidFill>
              </a:rPr>
              <a:t>product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of matrices </a:t>
            </a:r>
            <a:r>
              <a:rPr dirty="0" b="0" i="1">
                <a:solidFill>
                  <a:srgbClr val="000000"/>
                </a:solidFill>
                <a:latin typeface="Calibri"/>
                <a:cs typeface="Calibri"/>
              </a:rPr>
              <a:t>A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and </a:t>
            </a:r>
            <a:r>
              <a:rPr dirty="0" b="0" i="1">
                <a:solidFill>
                  <a:srgbClr val="000000"/>
                </a:solidFill>
                <a:latin typeface="Calibri"/>
                <a:cs typeface="Calibri"/>
              </a:rPr>
              <a:t>B </a:t>
            </a:r>
            <a:r>
              <a:rPr dirty="0" spc="-315" b="0">
                <a:solidFill>
                  <a:srgbClr val="000000"/>
                </a:solidFill>
                <a:latin typeface="Calibri"/>
                <a:cs typeface="Calibri"/>
              </a:rPr>
              <a:t>is 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given</a:t>
            </a:r>
            <a:r>
              <a:rPr dirty="0" spc="-7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by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46</a:t>
            </a:fld>
          </a:p>
        </p:txBody>
      </p:sp>
      <p:sp>
        <p:nvSpPr>
          <p:cNvPr id="7" name="object 7"/>
          <p:cNvSpPr txBox="1"/>
          <p:nvPr/>
        </p:nvSpPr>
        <p:spPr>
          <a:xfrm>
            <a:off x="618094" y="3754628"/>
            <a:ext cx="8010525" cy="22834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58215">
              <a:lnSpc>
                <a:spcPct val="100000"/>
              </a:lnSpc>
              <a:spcBef>
                <a:spcPts val="100"/>
              </a:spcBef>
              <a:tabLst>
                <a:tab pos="2117725" algn="l"/>
              </a:tabLst>
            </a:pPr>
            <a:r>
              <a:rPr dirty="0" sz="2400" i="1">
                <a:solidFill>
                  <a:srgbClr val="008000"/>
                </a:solidFill>
                <a:latin typeface="Arial"/>
                <a:cs typeface="Arial"/>
              </a:rPr>
              <a:t>N x</a:t>
            </a:r>
            <a:r>
              <a:rPr dirty="0" sz="2400" spc="-5" i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 i="1">
                <a:solidFill>
                  <a:srgbClr val="008000"/>
                </a:solidFill>
                <a:latin typeface="Arial"/>
                <a:cs typeface="Arial"/>
              </a:rPr>
              <a:t>M	K x</a:t>
            </a:r>
            <a:r>
              <a:rPr dirty="0" sz="2400" spc="-114" i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 i="1">
                <a:solidFill>
                  <a:srgbClr val="008000"/>
                </a:solidFill>
                <a:latin typeface="Arial"/>
                <a:cs typeface="Arial"/>
              </a:rPr>
              <a:t>L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750">
              <a:latin typeface="Times New Roman"/>
              <a:cs typeface="Times New Roman"/>
            </a:endParaRPr>
          </a:p>
          <a:p>
            <a:pPr marL="4624705">
              <a:lnSpc>
                <a:spcPct val="100000"/>
              </a:lnSpc>
            </a:pPr>
            <a:r>
              <a:rPr dirty="0" sz="2400" i="1">
                <a:solidFill>
                  <a:srgbClr val="008000"/>
                </a:solidFill>
                <a:latin typeface="Arial"/>
                <a:cs typeface="Arial"/>
              </a:rPr>
              <a:t>N*K x</a:t>
            </a:r>
            <a:r>
              <a:rPr dirty="0" sz="2400" spc="-114" i="1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2400" i="1">
                <a:solidFill>
                  <a:srgbClr val="008000"/>
                </a:solidFill>
                <a:latin typeface="Arial"/>
                <a:cs typeface="Arial"/>
              </a:rPr>
              <a:t>M*L</a:t>
            </a:r>
            <a:endParaRPr sz="2400">
              <a:latin typeface="Arial"/>
              <a:cs typeface="Arial"/>
            </a:endParaRPr>
          </a:p>
          <a:p>
            <a:pPr marL="332740" marR="5080" indent="-320040">
              <a:lnSpc>
                <a:spcPts val="3820"/>
              </a:lnSpc>
              <a:spcBef>
                <a:spcPts val="18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>
                <a:latin typeface="Calibri"/>
                <a:cs typeface="Calibri"/>
              </a:rPr>
              <a:t>Define </a:t>
            </a:r>
            <a:r>
              <a:rPr dirty="0" sz="3200">
                <a:latin typeface="Calibri"/>
                <a:cs typeface="Calibri"/>
              </a:rPr>
              <a:t>a </a:t>
            </a:r>
            <a:r>
              <a:rPr dirty="0" sz="3200" spc="-30">
                <a:latin typeface="Calibri"/>
                <a:cs typeface="Calibri"/>
              </a:rPr>
              <a:t>Kronecker </a:t>
            </a:r>
            <a:r>
              <a:rPr dirty="0" sz="3200" spc="-10">
                <a:latin typeface="Calibri"/>
                <a:cs typeface="Calibri"/>
              </a:rPr>
              <a:t>product </a:t>
            </a:r>
            <a:r>
              <a:rPr dirty="0" sz="3200" spc="-5">
                <a:latin typeface="Calibri"/>
                <a:cs typeface="Calibri"/>
              </a:rPr>
              <a:t>of </a:t>
            </a:r>
            <a:r>
              <a:rPr dirty="0" sz="3200" spc="-15">
                <a:latin typeface="Calibri"/>
                <a:cs typeface="Calibri"/>
              </a:rPr>
              <a:t>two graphs </a:t>
            </a:r>
            <a:r>
              <a:rPr dirty="0" sz="3200">
                <a:latin typeface="Calibri"/>
                <a:cs typeface="Calibri"/>
              </a:rPr>
              <a:t>as a  </a:t>
            </a:r>
            <a:r>
              <a:rPr dirty="0" sz="3200" spc="-30">
                <a:latin typeface="Calibri"/>
                <a:cs typeface="Calibri"/>
              </a:rPr>
              <a:t>Kronecker </a:t>
            </a:r>
            <a:r>
              <a:rPr dirty="0" sz="3200" spc="-10">
                <a:latin typeface="Calibri"/>
                <a:cs typeface="Calibri"/>
              </a:rPr>
              <a:t>product </a:t>
            </a:r>
            <a:r>
              <a:rPr dirty="0" sz="3200" spc="-5">
                <a:latin typeface="Calibri"/>
                <a:cs typeface="Calibri"/>
              </a:rPr>
              <a:t>of their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adjacency</a:t>
            </a:r>
            <a:r>
              <a:rPr dirty="0" sz="3200" spc="3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matrices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5216" y="347472"/>
            <a:ext cx="4315968" cy="5516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153400" y="2462783"/>
            <a:ext cx="697992" cy="16794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8319437" y="4070604"/>
            <a:ext cx="43053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i="1">
                <a:latin typeface="Times New Roman"/>
                <a:cs typeface="Times New Roman"/>
              </a:rPr>
              <a:t>K</a:t>
            </a:r>
            <a:r>
              <a:rPr dirty="0" baseline="-18518" sz="3150" i="1">
                <a:latin typeface="Times New Roman"/>
                <a:cs typeface="Times New Roman"/>
              </a:rPr>
              <a:t>1</a:t>
            </a:r>
            <a:endParaRPr baseline="-18518" sz="31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91895" y="3191255"/>
            <a:ext cx="7013448" cy="12100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8113078" y="18795"/>
            <a:ext cx="9518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FFFFFF"/>
                </a:solidFill>
                <a:latin typeface="Corbel"/>
                <a:cs typeface="Corbel"/>
              </a:rPr>
              <a:t>[PKDD</a:t>
            </a:r>
            <a:r>
              <a:rPr dirty="0" sz="1600" spc="-8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Corbel"/>
                <a:cs typeface="Corbel"/>
              </a:rPr>
              <a:t>‘05]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863840" y="1243583"/>
            <a:ext cx="1203959" cy="114604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429000" y="3916740"/>
            <a:ext cx="398145" cy="40068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32384" rIns="0" bIns="0" rtlCol="0" vert="horz">
            <a:spAutoFit/>
          </a:bodyPr>
          <a:lstStyle/>
          <a:p>
            <a:pPr marL="90805">
              <a:lnSpc>
                <a:spcPct val="100000"/>
              </a:lnSpc>
              <a:spcBef>
                <a:spcPts val="254"/>
              </a:spcBef>
            </a:pPr>
            <a:r>
              <a:rPr dirty="0" sz="2000">
                <a:latin typeface="Arial"/>
                <a:cs typeface="Arial"/>
              </a:rPr>
              <a:t>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00793" y="3316470"/>
            <a:ext cx="320675" cy="277495"/>
          </a:xfrm>
          <a:custGeom>
            <a:avLst/>
            <a:gdLst/>
            <a:ahLst/>
            <a:cxnLst/>
            <a:rect l="l" t="t" r="r" b="b"/>
            <a:pathLst>
              <a:path w="320675" h="277495">
                <a:moveTo>
                  <a:pt x="0" y="0"/>
                </a:moveTo>
                <a:lnTo>
                  <a:pt x="320601" y="0"/>
                </a:lnTo>
                <a:lnTo>
                  <a:pt x="320601" y="276998"/>
                </a:lnTo>
                <a:lnTo>
                  <a:pt x="0" y="276998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88093" y="3291332"/>
            <a:ext cx="3435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latin typeface="Arial"/>
                <a:cs typeface="Arial"/>
              </a:rPr>
              <a:t>[</a:t>
            </a:r>
            <a:r>
              <a:rPr dirty="0" sz="1800">
                <a:latin typeface="Arial"/>
                <a:cs typeface="Arial"/>
              </a:rPr>
              <a:t>m]</a:t>
            </a:r>
            <a:endParaRPr sz="1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99561" y="3545070"/>
            <a:ext cx="462280" cy="277495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060"/>
              </a:lnSpc>
            </a:pPr>
            <a:r>
              <a:rPr dirty="0" sz="1800">
                <a:latin typeface="Arial"/>
                <a:cs typeface="Arial"/>
              </a:rPr>
              <a:t>m-1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90091" y="3517361"/>
            <a:ext cx="192405" cy="277495"/>
          </a:xfrm>
          <a:custGeom>
            <a:avLst/>
            <a:gdLst/>
            <a:ahLst/>
            <a:cxnLst/>
            <a:rect l="l" t="t" r="r" b="b"/>
            <a:pathLst>
              <a:path w="192405" h="277495">
                <a:moveTo>
                  <a:pt x="0" y="0"/>
                </a:moveTo>
                <a:lnTo>
                  <a:pt x="192359" y="0"/>
                </a:lnTo>
                <a:lnTo>
                  <a:pt x="192359" y="276999"/>
                </a:lnTo>
                <a:lnTo>
                  <a:pt x="0" y="2769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2077391" y="3492500"/>
            <a:ext cx="2159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m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89769" y="1199951"/>
            <a:ext cx="8468995" cy="5249545"/>
          </a:xfrm>
          <a:custGeom>
            <a:avLst/>
            <a:gdLst/>
            <a:ahLst/>
            <a:cxnLst/>
            <a:rect l="l" t="t" r="r" b="b"/>
            <a:pathLst>
              <a:path w="8468995" h="5249545">
                <a:moveTo>
                  <a:pt x="0" y="0"/>
                </a:moveTo>
                <a:lnTo>
                  <a:pt x="8468449" y="0"/>
                </a:lnTo>
                <a:lnTo>
                  <a:pt x="8468449" y="5249377"/>
                </a:lnTo>
                <a:lnTo>
                  <a:pt x="0" y="5249377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450663" y="1254252"/>
            <a:ext cx="5542915" cy="197358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algn="just" marL="196850" marR="5080" indent="-184150">
              <a:lnSpc>
                <a:spcPct val="99800"/>
              </a:lnSpc>
              <a:spcBef>
                <a:spcPts val="105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pc="-20">
                <a:solidFill>
                  <a:srgbClr val="0000FF"/>
                </a:solidFill>
              </a:rPr>
              <a:t>Kronecker graph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is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obtained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by 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growing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sequence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of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graphs </a:t>
            </a:r>
            <a:r>
              <a:rPr dirty="0" spc="-5" b="0">
                <a:solidFill>
                  <a:srgbClr val="000000"/>
                </a:solidFill>
                <a:latin typeface="Calibri"/>
                <a:cs typeface="Calibri"/>
              </a:rPr>
              <a:t>by  </a:t>
            </a:r>
            <a:r>
              <a:rPr dirty="0" spc="-15" b="0">
                <a:solidFill>
                  <a:srgbClr val="000000"/>
                </a:solidFill>
                <a:latin typeface="Calibri"/>
                <a:cs typeface="Calibri"/>
              </a:rPr>
              <a:t>iterating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pc="-20">
                <a:solidFill>
                  <a:srgbClr val="FF0000"/>
                </a:solidFill>
              </a:rPr>
              <a:t>Kronecker </a:t>
            </a:r>
            <a:r>
              <a:rPr dirty="0" spc="-10">
                <a:solidFill>
                  <a:srgbClr val="FF0000"/>
                </a:solidFill>
              </a:rPr>
              <a:t>product  over </a:t>
            </a:r>
            <a:r>
              <a:rPr dirty="0" spc="-5">
                <a:solidFill>
                  <a:srgbClr val="FF0000"/>
                </a:solidFill>
              </a:rPr>
              <a:t>the </a:t>
            </a:r>
            <a:r>
              <a:rPr dirty="0" spc="-10">
                <a:solidFill>
                  <a:srgbClr val="FF0000"/>
                </a:solidFill>
              </a:rPr>
              <a:t>initiator matrix</a:t>
            </a:r>
            <a:r>
              <a:rPr dirty="0" spc="-15">
                <a:solidFill>
                  <a:srgbClr val="FF0000"/>
                </a:solidFill>
              </a:rPr>
              <a:t> </a:t>
            </a:r>
            <a:r>
              <a:rPr dirty="0" i="1">
                <a:solidFill>
                  <a:srgbClr val="FF0000"/>
                </a:solidFill>
                <a:latin typeface="Calibri"/>
                <a:cs typeface="Calibri"/>
              </a:rPr>
              <a:t>K</a:t>
            </a:r>
            <a:r>
              <a:rPr dirty="0" baseline="-18518" sz="3150">
                <a:solidFill>
                  <a:srgbClr val="FF0000"/>
                </a:solidFill>
              </a:rPr>
              <a:t>1</a:t>
            </a:r>
            <a:r>
              <a:rPr dirty="0" sz="3200">
                <a:solidFill>
                  <a:srgbClr val="FF0000"/>
                </a:solidFill>
              </a:rPr>
              <a:t>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46</a:t>
            </a:fld>
          </a:p>
        </p:txBody>
      </p:sp>
      <p:sp>
        <p:nvSpPr>
          <p:cNvPr id="18" name="object 18"/>
          <p:cNvSpPr txBox="1"/>
          <p:nvPr/>
        </p:nvSpPr>
        <p:spPr>
          <a:xfrm>
            <a:off x="450663" y="5113020"/>
            <a:ext cx="8024495" cy="998219"/>
          </a:xfrm>
          <a:prstGeom prst="rect">
            <a:avLst/>
          </a:prstGeom>
        </p:spPr>
        <p:txBody>
          <a:bodyPr wrap="square" lIns="0" tIns="30480" rIns="0" bIns="0" rtlCol="0" vert="horz">
            <a:spAutoFit/>
          </a:bodyPr>
          <a:lstStyle/>
          <a:p>
            <a:pPr marL="332740" marR="5080" indent="-320040">
              <a:lnSpc>
                <a:spcPts val="3820"/>
              </a:lnSpc>
              <a:spcBef>
                <a:spcPts val="2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solidFill>
                  <a:srgbClr val="008000"/>
                </a:solidFill>
                <a:latin typeface="Calibri"/>
                <a:cs typeface="Calibri"/>
              </a:rPr>
              <a:t>Note: </a:t>
            </a:r>
            <a:r>
              <a:rPr dirty="0" sz="3200">
                <a:latin typeface="Calibri"/>
                <a:cs typeface="Calibri"/>
              </a:rPr>
              <a:t>One </a:t>
            </a:r>
            <a:r>
              <a:rPr dirty="0" sz="3200" spc="-15">
                <a:latin typeface="Calibri"/>
                <a:cs typeface="Calibri"/>
              </a:rPr>
              <a:t>can </a:t>
            </a:r>
            <a:r>
              <a:rPr dirty="0" sz="3200" spc="-5">
                <a:latin typeface="Calibri"/>
                <a:cs typeface="Calibri"/>
              </a:rPr>
              <a:t>easily use </a:t>
            </a:r>
            <a:r>
              <a:rPr dirty="0" sz="3200">
                <a:latin typeface="Calibri"/>
                <a:cs typeface="Calibri"/>
              </a:rPr>
              <a:t>multiple </a:t>
            </a:r>
            <a:r>
              <a:rPr dirty="0" sz="3200" spc="-10">
                <a:latin typeface="Calibri"/>
                <a:cs typeface="Calibri"/>
              </a:rPr>
              <a:t>initiator  matrices </a:t>
            </a:r>
            <a:r>
              <a:rPr dirty="0" sz="3200">
                <a:latin typeface="Calibri"/>
                <a:cs typeface="Calibri"/>
              </a:rPr>
              <a:t>(</a:t>
            </a:r>
            <a:r>
              <a:rPr dirty="0" sz="3200" i="1">
                <a:latin typeface="Calibri"/>
                <a:cs typeface="Calibri"/>
              </a:rPr>
              <a:t>K</a:t>
            </a:r>
            <a:r>
              <a:rPr dirty="0" baseline="-18518" sz="3150">
                <a:latin typeface="Calibri"/>
                <a:cs typeface="Calibri"/>
              </a:rPr>
              <a:t>1</a:t>
            </a:r>
            <a:r>
              <a:rPr dirty="0" sz="3200">
                <a:latin typeface="Calibri"/>
                <a:cs typeface="Calibri"/>
              </a:rPr>
              <a:t>', </a:t>
            </a:r>
            <a:r>
              <a:rPr dirty="0" sz="3200" i="1">
                <a:latin typeface="Calibri"/>
                <a:cs typeface="Calibri"/>
              </a:rPr>
              <a:t>K</a:t>
            </a:r>
            <a:r>
              <a:rPr dirty="0" baseline="-18518" sz="3150">
                <a:latin typeface="Calibri"/>
                <a:cs typeface="Calibri"/>
              </a:rPr>
              <a:t>1</a:t>
            </a:r>
            <a:r>
              <a:rPr dirty="0" sz="3200">
                <a:latin typeface="Calibri"/>
                <a:cs typeface="Calibri"/>
              </a:rPr>
              <a:t>'', </a:t>
            </a:r>
            <a:r>
              <a:rPr dirty="0" sz="3200" i="1">
                <a:latin typeface="Calibri"/>
                <a:cs typeface="Calibri"/>
              </a:rPr>
              <a:t>K</a:t>
            </a:r>
            <a:r>
              <a:rPr dirty="0" baseline="-18518" sz="3150">
                <a:latin typeface="Calibri"/>
                <a:cs typeface="Calibri"/>
              </a:rPr>
              <a:t>1</a:t>
            </a:r>
            <a:r>
              <a:rPr dirty="0" sz="3200">
                <a:latin typeface="Calibri"/>
                <a:cs typeface="Calibri"/>
              </a:rPr>
              <a:t>''') </a:t>
            </a:r>
            <a:r>
              <a:rPr dirty="0" sz="3200" spc="-15">
                <a:latin typeface="Calibri"/>
                <a:cs typeface="Calibri"/>
              </a:rPr>
              <a:t>(even </a:t>
            </a:r>
            <a:r>
              <a:rPr dirty="0" sz="3200">
                <a:latin typeface="Calibri"/>
                <a:cs typeface="Calibri"/>
              </a:rPr>
              <a:t>of </a:t>
            </a:r>
            <a:r>
              <a:rPr dirty="0" sz="3200" spc="-25">
                <a:latin typeface="Calibri"/>
                <a:cs typeface="Calibri"/>
              </a:rPr>
              <a:t>different</a:t>
            </a:r>
            <a:r>
              <a:rPr dirty="0" sz="3200" spc="90">
                <a:latin typeface="Calibri"/>
                <a:cs typeface="Calibri"/>
              </a:rPr>
              <a:t> </a:t>
            </a:r>
            <a:r>
              <a:rPr dirty="0" sz="3200" spc="-20">
                <a:latin typeface="Calibri"/>
                <a:cs typeface="Calibri"/>
              </a:rPr>
              <a:t>sizes)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85216" y="350520"/>
            <a:ext cx="6818376" cy="4267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09600" y="1219199"/>
            <a:ext cx="7821168" cy="52425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8113078" y="18795"/>
            <a:ext cx="9518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FFFFFF"/>
                </a:solidFill>
                <a:latin typeface="Corbel"/>
                <a:cs typeface="Corbel"/>
              </a:rPr>
              <a:t>[PKDD</a:t>
            </a:r>
            <a:r>
              <a:rPr dirty="0" sz="1600" spc="-8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Corbel"/>
                <a:cs typeface="Corbel"/>
              </a:rPr>
              <a:t>‘05]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719684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50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73023" y="350520"/>
            <a:ext cx="7028688" cy="5486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90512" y="4557712"/>
          <a:ext cx="1414780" cy="10655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/>
                <a:gridCol w="685800"/>
              </a:tblGrid>
              <a:tr h="482600"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</a:pPr>
                      <a:r>
                        <a:rPr dirty="0" sz="2800" spc="-5">
                          <a:latin typeface="Arial"/>
                          <a:cs typeface="Arial"/>
                        </a:rPr>
                        <a:t>0.5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</a:pPr>
                      <a:r>
                        <a:rPr dirty="0" sz="2800" spc="-5">
                          <a:latin typeface="Arial"/>
                          <a:cs typeface="Arial"/>
                        </a:rPr>
                        <a:t>0.2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algn="ctr" marR="254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800" spc="-5">
                          <a:latin typeface="Arial"/>
                          <a:cs typeface="Arial"/>
                        </a:rPr>
                        <a:t>0.1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dirty="0" sz="2800" spc="-5">
                          <a:latin typeface="Arial"/>
                          <a:cs typeface="Arial"/>
                        </a:rPr>
                        <a:t>0.3</a:t>
                      </a:r>
                      <a:endParaRPr sz="2800">
                        <a:latin typeface="Arial"/>
                        <a:cs typeface="Arial"/>
                      </a:endParaRPr>
                    </a:p>
                  </a:txBody>
                  <a:tcPr marL="0" marR="0" marB="0" marT="9525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762000" y="5659628"/>
            <a:ext cx="3479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Times New Roman"/>
                <a:cs typeface="Times New Roman"/>
              </a:rPr>
              <a:t>Θ</a:t>
            </a:r>
            <a:r>
              <a:rPr dirty="0" baseline="-17361" sz="2400" i="1">
                <a:latin typeface="Times New Roman"/>
                <a:cs typeface="Times New Roman"/>
              </a:rPr>
              <a:t>1</a:t>
            </a:r>
            <a:endParaRPr baseline="-17361"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15200" y="4597400"/>
            <a:ext cx="1676400" cy="1041400"/>
          </a:xfrm>
          <a:prstGeom prst="rect">
            <a:avLst/>
          </a:prstGeom>
          <a:ln w="9525">
            <a:solidFill>
              <a:srgbClr val="CC0000"/>
            </a:solidFill>
          </a:ln>
        </p:spPr>
        <p:txBody>
          <a:bodyPr wrap="square" lIns="0" tIns="165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30"/>
              </a:spcBef>
            </a:pPr>
            <a:r>
              <a:rPr dirty="0" sz="2800" spc="-10" b="1">
                <a:latin typeface="Calibri"/>
                <a:cs typeface="Calibri"/>
              </a:rPr>
              <a:t>Instance</a:t>
            </a:r>
            <a:endParaRPr sz="2800">
              <a:latin typeface="Calibri"/>
              <a:cs typeface="Calibri"/>
            </a:endParaRPr>
          </a:p>
          <a:p>
            <a:pPr algn="ctr" marL="1270">
              <a:lnSpc>
                <a:spcPct val="100000"/>
              </a:lnSpc>
              <a:spcBef>
                <a:spcPts val="620"/>
              </a:spcBef>
            </a:pPr>
            <a:r>
              <a:rPr dirty="0" sz="2800" spc="-10" b="1">
                <a:solidFill>
                  <a:srgbClr val="CC0000"/>
                </a:solidFill>
                <a:latin typeface="Calibri"/>
                <a:cs typeface="Calibri"/>
              </a:rPr>
              <a:t>matrix</a:t>
            </a:r>
            <a:r>
              <a:rPr dirty="0" sz="2800" spc="-60" b="1">
                <a:solidFill>
                  <a:srgbClr val="CC0000"/>
                </a:solidFill>
                <a:latin typeface="Calibri"/>
                <a:cs typeface="Calibri"/>
              </a:rPr>
              <a:t> </a:t>
            </a:r>
            <a:r>
              <a:rPr dirty="0" sz="2800" spc="-5" b="1" i="1">
                <a:solidFill>
                  <a:srgbClr val="CC0000"/>
                </a:solidFill>
                <a:latin typeface="Times New Roman"/>
                <a:cs typeface="Times New Roman"/>
              </a:rPr>
              <a:t>K</a:t>
            </a:r>
            <a:r>
              <a:rPr dirty="0" baseline="-17543" sz="2850" spc="-7" b="1" i="1">
                <a:solidFill>
                  <a:srgbClr val="CC0000"/>
                </a:solidFill>
                <a:latin typeface="Times New Roman"/>
                <a:cs typeface="Times New Roman"/>
              </a:rPr>
              <a:t>2</a:t>
            </a:r>
            <a:endParaRPr baseline="-17543" sz="285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29400" y="48768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422290" y="0"/>
                </a:moveTo>
                <a:lnTo>
                  <a:pt x="422290" y="106342"/>
                </a:lnTo>
                <a:lnTo>
                  <a:pt x="0" y="106342"/>
                </a:lnTo>
                <a:lnTo>
                  <a:pt x="0" y="350857"/>
                </a:lnTo>
                <a:lnTo>
                  <a:pt x="422290" y="350857"/>
                </a:lnTo>
                <a:lnTo>
                  <a:pt x="422290" y="457200"/>
                </a:lnTo>
                <a:lnTo>
                  <a:pt x="609600" y="228600"/>
                </a:lnTo>
                <a:lnTo>
                  <a:pt x="42229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629400" y="4876800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609600" y="228600"/>
                </a:moveTo>
                <a:lnTo>
                  <a:pt x="422290" y="457200"/>
                </a:lnTo>
                <a:lnTo>
                  <a:pt x="422290" y="350857"/>
                </a:lnTo>
                <a:lnTo>
                  <a:pt x="0" y="350857"/>
                </a:lnTo>
                <a:lnTo>
                  <a:pt x="0" y="106342"/>
                </a:lnTo>
                <a:lnTo>
                  <a:pt x="422290" y="106342"/>
                </a:lnTo>
                <a:lnTo>
                  <a:pt x="422290" y="0"/>
                </a:lnTo>
                <a:lnTo>
                  <a:pt x="609600" y="228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828800" y="4800600"/>
            <a:ext cx="1371600" cy="457200"/>
          </a:xfrm>
          <a:custGeom>
            <a:avLst/>
            <a:gdLst/>
            <a:ahLst/>
            <a:cxnLst/>
            <a:rect l="l" t="t" r="r" b="b"/>
            <a:pathLst>
              <a:path w="1371600" h="457200">
                <a:moveTo>
                  <a:pt x="1028700" y="0"/>
                </a:moveTo>
                <a:lnTo>
                  <a:pt x="1028700" y="114300"/>
                </a:lnTo>
                <a:lnTo>
                  <a:pt x="0" y="114300"/>
                </a:lnTo>
                <a:lnTo>
                  <a:pt x="0" y="342900"/>
                </a:lnTo>
                <a:lnTo>
                  <a:pt x="1028700" y="342900"/>
                </a:lnTo>
                <a:lnTo>
                  <a:pt x="1028700" y="457200"/>
                </a:lnTo>
                <a:lnTo>
                  <a:pt x="1371600" y="228600"/>
                </a:lnTo>
                <a:lnTo>
                  <a:pt x="102870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828800" y="4800600"/>
            <a:ext cx="1371600" cy="457200"/>
          </a:xfrm>
          <a:custGeom>
            <a:avLst/>
            <a:gdLst/>
            <a:ahLst/>
            <a:cxnLst/>
            <a:rect l="l" t="t" r="r" b="b"/>
            <a:pathLst>
              <a:path w="1371600" h="457200">
                <a:moveTo>
                  <a:pt x="1371600" y="228600"/>
                </a:moveTo>
                <a:lnTo>
                  <a:pt x="1028700" y="457200"/>
                </a:lnTo>
                <a:lnTo>
                  <a:pt x="1028700" y="342900"/>
                </a:lnTo>
                <a:lnTo>
                  <a:pt x="0" y="342900"/>
                </a:lnTo>
                <a:lnTo>
                  <a:pt x="0" y="114300"/>
                </a:lnTo>
                <a:lnTo>
                  <a:pt x="1028700" y="114300"/>
                </a:lnTo>
                <a:lnTo>
                  <a:pt x="1028700" y="0"/>
                </a:lnTo>
                <a:lnTo>
                  <a:pt x="1371600" y="228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270098" y="6116828"/>
            <a:ext cx="16541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i="1">
                <a:latin typeface="Times New Roman"/>
                <a:cs typeface="Times New Roman"/>
              </a:rPr>
              <a:t>Θ</a:t>
            </a:r>
            <a:r>
              <a:rPr dirty="0" baseline="-17361" sz="2400" i="1">
                <a:latin typeface="Times New Roman"/>
                <a:cs typeface="Times New Roman"/>
              </a:rPr>
              <a:t>2</a:t>
            </a:r>
            <a:r>
              <a:rPr dirty="0" sz="2400" i="1">
                <a:latin typeface="Times New Roman"/>
                <a:cs typeface="Times New Roman"/>
              </a:rPr>
              <a:t>= Θ</a:t>
            </a:r>
            <a:r>
              <a:rPr dirty="0" baseline="-17361" sz="2400" i="1">
                <a:latin typeface="Times New Roman"/>
                <a:cs typeface="Times New Roman"/>
              </a:rPr>
              <a:t>1</a:t>
            </a:r>
            <a:r>
              <a:rPr dirty="0" sz="2400">
                <a:latin typeface="Cambria Math"/>
                <a:cs typeface="Cambria Math"/>
              </a:rPr>
              <a:t>⊗</a:t>
            </a:r>
            <a:r>
              <a:rPr dirty="0" sz="2400" spc="-30">
                <a:latin typeface="Cambria Math"/>
                <a:cs typeface="Cambria Math"/>
              </a:rPr>
              <a:t> </a:t>
            </a:r>
            <a:r>
              <a:rPr dirty="0" sz="2400" i="1">
                <a:latin typeface="Times New Roman"/>
                <a:cs typeface="Times New Roman"/>
              </a:rPr>
              <a:t>Θ</a:t>
            </a:r>
            <a:r>
              <a:rPr dirty="0" baseline="-17361" sz="2400" i="1">
                <a:latin typeface="Times New Roman"/>
                <a:cs typeface="Times New Roman"/>
              </a:rPr>
              <a:t>1</a:t>
            </a:r>
            <a:endParaRPr baseline="-17361"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54910" y="5811011"/>
            <a:ext cx="1191260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1785" marR="5080" indent="-29972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008000"/>
                </a:solidFill>
                <a:latin typeface="Corbel"/>
                <a:cs typeface="Corbel"/>
              </a:rPr>
              <a:t>Flip</a:t>
            </a:r>
            <a:r>
              <a:rPr dirty="0" sz="2000" spc="-70" b="1">
                <a:solidFill>
                  <a:srgbClr val="008000"/>
                </a:solidFill>
                <a:latin typeface="Corbel"/>
                <a:cs typeface="Corbel"/>
              </a:rPr>
              <a:t> </a:t>
            </a:r>
            <a:r>
              <a:rPr dirty="0" sz="2000" spc="-5" b="1">
                <a:solidFill>
                  <a:srgbClr val="008000"/>
                </a:solidFill>
                <a:latin typeface="Corbel"/>
                <a:cs typeface="Corbel"/>
              </a:rPr>
              <a:t>biased  </a:t>
            </a:r>
            <a:r>
              <a:rPr dirty="0" sz="2000" b="1">
                <a:solidFill>
                  <a:srgbClr val="008000"/>
                </a:solidFill>
                <a:latin typeface="Corbel"/>
                <a:cs typeface="Corbel"/>
              </a:rPr>
              <a:t>coins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25612" y="4491228"/>
            <a:ext cx="15557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5" b="1">
                <a:solidFill>
                  <a:srgbClr val="008000"/>
                </a:solidFill>
                <a:latin typeface="Corbel"/>
                <a:cs typeface="Corbel"/>
              </a:rPr>
              <a:t>multiplication</a:t>
            </a:r>
            <a:endParaRPr sz="2000">
              <a:latin typeface="Corbel"/>
              <a:cs typeface="Corbe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324600" y="3861220"/>
            <a:ext cx="699770" cy="406400"/>
          </a:xfrm>
          <a:custGeom>
            <a:avLst/>
            <a:gdLst/>
            <a:ahLst/>
            <a:cxnLst/>
            <a:rect l="l" t="t" r="r" b="b"/>
            <a:pathLst>
              <a:path w="699770" h="406400">
                <a:moveTo>
                  <a:pt x="108242" y="247779"/>
                </a:moveTo>
                <a:lnTo>
                  <a:pt x="0" y="405979"/>
                </a:lnTo>
                <a:lnTo>
                  <a:pt x="191505" y="397653"/>
                </a:lnTo>
                <a:lnTo>
                  <a:pt x="171460" y="361572"/>
                </a:lnTo>
                <a:lnTo>
                  <a:pt x="138771" y="361572"/>
                </a:lnTo>
                <a:lnTo>
                  <a:pt x="111018" y="311614"/>
                </a:lnTo>
                <a:lnTo>
                  <a:pt x="135996" y="297737"/>
                </a:lnTo>
                <a:lnTo>
                  <a:pt x="108242" y="247779"/>
                </a:lnTo>
                <a:close/>
              </a:path>
              <a:path w="699770" h="406400">
                <a:moveTo>
                  <a:pt x="135996" y="297737"/>
                </a:moveTo>
                <a:lnTo>
                  <a:pt x="111018" y="311614"/>
                </a:lnTo>
                <a:lnTo>
                  <a:pt x="138771" y="361572"/>
                </a:lnTo>
                <a:lnTo>
                  <a:pt x="163751" y="347695"/>
                </a:lnTo>
                <a:lnTo>
                  <a:pt x="135996" y="297737"/>
                </a:lnTo>
                <a:close/>
              </a:path>
              <a:path w="699770" h="406400">
                <a:moveTo>
                  <a:pt x="163751" y="347695"/>
                </a:moveTo>
                <a:lnTo>
                  <a:pt x="138771" y="361572"/>
                </a:lnTo>
                <a:lnTo>
                  <a:pt x="171460" y="361572"/>
                </a:lnTo>
                <a:lnTo>
                  <a:pt x="163751" y="347695"/>
                </a:lnTo>
                <a:close/>
              </a:path>
              <a:path w="699770" h="406400">
                <a:moveTo>
                  <a:pt x="671922" y="0"/>
                </a:moveTo>
                <a:lnTo>
                  <a:pt x="135996" y="297737"/>
                </a:lnTo>
                <a:lnTo>
                  <a:pt x="163751" y="347695"/>
                </a:lnTo>
                <a:lnTo>
                  <a:pt x="699677" y="49957"/>
                </a:lnTo>
                <a:lnTo>
                  <a:pt x="671922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782311" y="4099559"/>
            <a:ext cx="91439" cy="206654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17" name="object 17"/>
          <p:cNvGraphicFramePr>
            <a:graphicFrameLocks noGrp="1"/>
          </p:cNvGraphicFramePr>
          <p:nvPr/>
        </p:nvGraphicFramePr>
        <p:xfrm>
          <a:off x="3262312" y="4114800"/>
          <a:ext cx="3152775" cy="20097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1050"/>
                <a:gridCol w="775713"/>
                <a:gridCol w="786386"/>
                <a:gridCol w="781050"/>
              </a:tblGrid>
              <a:tr h="457200"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dirty="0" sz="2000" spc="-5">
                          <a:latin typeface="Arial"/>
                          <a:cs typeface="Arial"/>
                        </a:rPr>
                        <a:t>0.25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62229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dirty="0" sz="2000" spc="-5">
                          <a:latin typeface="Arial"/>
                          <a:cs typeface="Arial"/>
                        </a:rPr>
                        <a:t>0.10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62229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dirty="0" sz="2000" spc="-5">
                          <a:latin typeface="Arial"/>
                          <a:cs typeface="Arial"/>
                        </a:rPr>
                        <a:t>0.10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62229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489"/>
                        </a:spcBef>
                      </a:pPr>
                      <a:r>
                        <a:rPr dirty="0" sz="2000" spc="-5">
                          <a:latin typeface="Arial"/>
                          <a:cs typeface="Arial"/>
                        </a:rPr>
                        <a:t>0.04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62229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000" spc="-5">
                          <a:latin typeface="Arial"/>
                          <a:cs typeface="Arial"/>
                        </a:rPr>
                        <a:t>0.05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000" spc="-5">
                          <a:latin typeface="Arial"/>
                          <a:cs typeface="Arial"/>
                        </a:rPr>
                        <a:t>0.15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000" spc="-5">
                          <a:latin typeface="Arial"/>
                          <a:cs typeface="Arial"/>
                        </a:rPr>
                        <a:t>0.02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000" spc="-5">
                          <a:latin typeface="Arial"/>
                          <a:cs typeface="Arial"/>
                        </a:rPr>
                        <a:t>0.06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000" spc="-5">
                          <a:latin typeface="Arial"/>
                          <a:cs typeface="Arial"/>
                        </a:rPr>
                        <a:t>0.05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000" spc="-5">
                          <a:latin typeface="Arial"/>
                          <a:cs typeface="Arial"/>
                        </a:rPr>
                        <a:t>0.02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000" spc="-5">
                          <a:latin typeface="Arial"/>
                          <a:cs typeface="Arial"/>
                        </a:rPr>
                        <a:t>0.15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dirty="0" sz="2000" spc="-5">
                          <a:latin typeface="Arial"/>
                          <a:cs typeface="Arial"/>
                        </a:rPr>
                        <a:t>0.06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71755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000" spc="-5">
                          <a:latin typeface="Arial"/>
                          <a:cs typeface="Arial"/>
                        </a:rPr>
                        <a:t>0.01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000" spc="-5">
                          <a:latin typeface="Arial"/>
                          <a:cs typeface="Arial"/>
                        </a:rPr>
                        <a:t>0.03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1905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000" spc="-5">
                          <a:latin typeface="Arial"/>
                          <a:cs typeface="Arial"/>
                        </a:rPr>
                        <a:t>0.03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2857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dirty="0" sz="2000" spc="-5">
                          <a:latin typeface="Arial"/>
                          <a:cs typeface="Arial"/>
                        </a:rPr>
                        <a:t>0.09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B="0" marT="73025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object 18"/>
          <p:cNvSpPr/>
          <p:nvPr/>
        </p:nvSpPr>
        <p:spPr>
          <a:xfrm>
            <a:off x="3236976" y="5084064"/>
            <a:ext cx="3209544" cy="9448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113078" y="18795"/>
            <a:ext cx="95186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">
                <a:solidFill>
                  <a:srgbClr val="FFFFFF"/>
                </a:solidFill>
                <a:latin typeface="Corbel"/>
                <a:cs typeface="Corbel"/>
              </a:rPr>
              <a:t>[PKDD</a:t>
            </a:r>
            <a:r>
              <a:rPr dirty="0" sz="1600" spc="-8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spc="-5">
                <a:solidFill>
                  <a:srgbClr val="FFFFFF"/>
                </a:solidFill>
                <a:latin typeface="Corbel"/>
                <a:cs typeface="Corbel"/>
              </a:rPr>
              <a:t>‘05]</a:t>
            </a:r>
            <a:endParaRPr sz="1600">
              <a:latin typeface="Corbel"/>
              <a:cs typeface="Corbe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xfrm>
            <a:off x="507393" y="1263396"/>
            <a:ext cx="8072755" cy="100711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469265" algn="l"/>
                <a:tab pos="469900" algn="l"/>
              </a:tabLst>
            </a:pPr>
            <a:r>
              <a:rPr dirty="0" spc="-10">
                <a:solidFill>
                  <a:srgbClr val="000000"/>
                </a:solidFill>
              </a:rPr>
              <a:t>Step </a:t>
            </a:r>
            <a:r>
              <a:rPr dirty="0">
                <a:solidFill>
                  <a:srgbClr val="000000"/>
                </a:solidFill>
              </a:rPr>
              <a:t>1: </a:t>
            </a:r>
            <a:r>
              <a:rPr dirty="0" spc="-20" b="0">
                <a:solidFill>
                  <a:srgbClr val="000000"/>
                </a:solidFill>
                <a:latin typeface="Calibri"/>
                <a:cs typeface="Calibri"/>
              </a:rPr>
              <a:t>Create </a:t>
            </a:r>
            <a:r>
              <a:rPr dirty="0" b="0" i="1">
                <a:solidFill>
                  <a:srgbClr val="000000"/>
                </a:solidFill>
                <a:latin typeface="Calibri"/>
                <a:cs typeface="Calibri"/>
              </a:rPr>
              <a:t>N</a:t>
            </a:r>
            <a:r>
              <a:rPr dirty="0" baseline="-18518" sz="3150" b="0">
                <a:solidFill>
                  <a:srgbClr val="000000"/>
                </a:solidFill>
                <a:latin typeface="Calibri"/>
                <a:cs typeface="Calibri"/>
              </a:rPr>
              <a:t>1 </a:t>
            </a:r>
            <a:r>
              <a:rPr dirty="0" sz="3200" b="0">
                <a:solidFill>
                  <a:srgbClr val="000000"/>
                </a:solidFill>
                <a:latin typeface="Calibri"/>
                <a:cs typeface="Calibri"/>
              </a:rPr>
              <a:t>x </a:t>
            </a:r>
            <a:r>
              <a:rPr dirty="0" sz="3200" b="0" i="1">
                <a:solidFill>
                  <a:srgbClr val="000000"/>
                </a:solidFill>
                <a:latin typeface="Calibri"/>
                <a:cs typeface="Calibri"/>
              </a:rPr>
              <a:t>N</a:t>
            </a:r>
            <a:r>
              <a:rPr dirty="0" baseline="-18518" sz="3150" b="0">
                <a:solidFill>
                  <a:srgbClr val="000000"/>
                </a:solidFill>
                <a:latin typeface="Calibri"/>
                <a:cs typeface="Calibri"/>
              </a:rPr>
              <a:t>1 </a:t>
            </a:r>
            <a:r>
              <a:rPr dirty="0" sz="3200" spc="-10">
                <a:solidFill>
                  <a:srgbClr val="C00000"/>
                </a:solidFill>
              </a:rPr>
              <a:t>probability matrix</a:t>
            </a:r>
            <a:r>
              <a:rPr dirty="0" sz="3200" spc="-114">
                <a:solidFill>
                  <a:srgbClr val="C00000"/>
                </a:solidFill>
              </a:rPr>
              <a:t> </a:t>
            </a:r>
            <a:r>
              <a:rPr dirty="0" sz="3200" spc="-5" b="0">
                <a:solidFill>
                  <a:srgbClr val="000000"/>
                </a:solidFill>
                <a:latin typeface="Cambria Math"/>
                <a:cs typeface="Cambria Math"/>
              </a:rPr>
              <a:t>Θ</a:t>
            </a:r>
            <a:r>
              <a:rPr dirty="0" baseline="-18518" sz="3150" spc="-7" b="0">
                <a:solidFill>
                  <a:srgbClr val="000000"/>
                </a:solidFill>
                <a:latin typeface="Cambria Math"/>
                <a:cs typeface="Cambria Math"/>
              </a:rPr>
              <a:t>1</a:t>
            </a:r>
            <a:endParaRPr baseline="-18518" sz="3150">
              <a:latin typeface="Cambria Math"/>
              <a:cs typeface="Cambria Math"/>
            </a:endParaRPr>
          </a:p>
          <a:p>
            <a:pPr marL="469900" indent="-457200">
              <a:lnSpc>
                <a:spcPct val="100000"/>
              </a:lnSpc>
              <a:spcBef>
                <a:spcPts val="45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469265" algn="l"/>
                <a:tab pos="469900" algn="l"/>
              </a:tabLst>
            </a:pPr>
            <a:r>
              <a:rPr dirty="0" spc="-10">
                <a:solidFill>
                  <a:srgbClr val="000000"/>
                </a:solidFill>
              </a:rPr>
              <a:t>Step </a:t>
            </a:r>
            <a:r>
              <a:rPr dirty="0">
                <a:solidFill>
                  <a:srgbClr val="000000"/>
                </a:solidFill>
              </a:rPr>
              <a:t>2: </a:t>
            </a:r>
            <a:r>
              <a:rPr dirty="0" spc="-10" b="0">
                <a:solidFill>
                  <a:srgbClr val="000000"/>
                </a:solidFill>
                <a:latin typeface="Calibri"/>
                <a:cs typeface="Calibri"/>
              </a:rPr>
              <a:t>Compute </a:t>
            </a:r>
            <a:r>
              <a:rPr dirty="0" b="0">
                <a:solidFill>
                  <a:srgbClr val="000000"/>
                </a:solidFill>
                <a:latin typeface="Calibri"/>
                <a:cs typeface="Calibri"/>
              </a:rPr>
              <a:t>the </a:t>
            </a:r>
            <a:r>
              <a:rPr dirty="0" spc="315" b="0">
                <a:solidFill>
                  <a:srgbClr val="000000"/>
                </a:solidFill>
                <a:latin typeface="Cambria Math"/>
                <a:cs typeface="Cambria Math"/>
              </a:rPr>
              <a:t>𝑘</a:t>
            </a:r>
            <a:r>
              <a:rPr dirty="0" baseline="28985" sz="3450" spc="472" b="0">
                <a:solidFill>
                  <a:srgbClr val="000000"/>
                </a:solidFill>
                <a:latin typeface="Cambria Math"/>
                <a:cs typeface="Cambria Math"/>
              </a:rPr>
              <a:t>!" </a:t>
            </a:r>
            <a:r>
              <a:rPr dirty="0" sz="3200" spc="-20">
                <a:solidFill>
                  <a:srgbClr val="C00000"/>
                </a:solidFill>
              </a:rPr>
              <a:t>Kronecker </a:t>
            </a:r>
            <a:r>
              <a:rPr dirty="0" sz="3200" spc="-10">
                <a:solidFill>
                  <a:srgbClr val="C00000"/>
                </a:solidFill>
              </a:rPr>
              <a:t>power</a:t>
            </a:r>
            <a:r>
              <a:rPr dirty="0" sz="3200" spc="-130">
                <a:solidFill>
                  <a:srgbClr val="C00000"/>
                </a:solidFill>
              </a:rPr>
              <a:t> </a:t>
            </a:r>
            <a:r>
              <a:rPr dirty="0" sz="3200" spc="-20" b="0">
                <a:solidFill>
                  <a:srgbClr val="000000"/>
                </a:solidFill>
                <a:latin typeface="Cambria Math"/>
                <a:cs typeface="Cambria Math"/>
              </a:rPr>
              <a:t>Θ</a:t>
            </a:r>
            <a:r>
              <a:rPr dirty="0" baseline="-15700" sz="3450" spc="-30" b="0">
                <a:solidFill>
                  <a:srgbClr val="000000"/>
                </a:solidFill>
                <a:latin typeface="Cambria Math"/>
                <a:cs typeface="Cambria Math"/>
              </a:rPr>
              <a:t>#</a:t>
            </a:r>
            <a:endParaRPr baseline="-15700" sz="345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7393" y="2253996"/>
            <a:ext cx="8368030" cy="2211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ts val="3815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469265" algn="l"/>
                <a:tab pos="469900" algn="l"/>
              </a:tabLst>
            </a:pPr>
            <a:r>
              <a:rPr dirty="0" sz="3200" spc="-10" b="1">
                <a:latin typeface="Calibri"/>
                <a:cs typeface="Calibri"/>
              </a:rPr>
              <a:t>Step </a:t>
            </a:r>
            <a:r>
              <a:rPr dirty="0" sz="3200" b="1">
                <a:latin typeface="Calibri"/>
                <a:cs typeface="Calibri"/>
              </a:rPr>
              <a:t>3: </a:t>
            </a:r>
            <a:r>
              <a:rPr dirty="0" sz="3200" spc="-15">
                <a:latin typeface="Calibri"/>
                <a:cs typeface="Calibri"/>
              </a:rPr>
              <a:t>For </a:t>
            </a:r>
            <a:r>
              <a:rPr dirty="0" sz="3200" spc="-5">
                <a:latin typeface="Calibri"/>
                <a:cs typeface="Calibri"/>
              </a:rPr>
              <a:t>each entry </a:t>
            </a:r>
            <a:r>
              <a:rPr dirty="0" sz="3200" spc="0" i="1">
                <a:latin typeface="Calibri"/>
                <a:cs typeface="Calibri"/>
              </a:rPr>
              <a:t>p</a:t>
            </a:r>
            <a:r>
              <a:rPr dirty="0" baseline="-18518" sz="3150" spc="0" i="1">
                <a:latin typeface="Calibri"/>
                <a:cs typeface="Calibri"/>
              </a:rPr>
              <a:t>uv </a:t>
            </a:r>
            <a:r>
              <a:rPr dirty="0" sz="3200" spc="-5">
                <a:latin typeface="Calibri"/>
                <a:cs typeface="Calibri"/>
              </a:rPr>
              <a:t>of </a:t>
            </a:r>
            <a:r>
              <a:rPr dirty="0" sz="3200" spc="-20">
                <a:latin typeface="Cambria Math"/>
                <a:cs typeface="Cambria Math"/>
              </a:rPr>
              <a:t>Θ</a:t>
            </a:r>
            <a:r>
              <a:rPr dirty="0" baseline="-15700" sz="3450" spc="-30">
                <a:latin typeface="Cambria Math"/>
                <a:cs typeface="Cambria Math"/>
              </a:rPr>
              <a:t># 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include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an</a:t>
            </a:r>
            <a:r>
              <a:rPr dirty="0" sz="3200" spc="-25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0">
                <a:solidFill>
                  <a:srgbClr val="C00000"/>
                </a:solidFill>
                <a:latin typeface="Calibri"/>
                <a:cs typeface="Calibri"/>
              </a:rPr>
              <a:t>edge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ts val="3815"/>
              </a:lnSpc>
            </a:pPr>
            <a:r>
              <a:rPr dirty="0" sz="3200" i="1">
                <a:solidFill>
                  <a:srgbClr val="C00000"/>
                </a:solidFill>
                <a:latin typeface="Calibri"/>
                <a:cs typeface="Calibri"/>
              </a:rPr>
              <a:t>(u, </a:t>
            </a:r>
            <a:r>
              <a:rPr dirty="0" sz="3200" spc="-5" i="1">
                <a:solidFill>
                  <a:srgbClr val="C00000"/>
                </a:solidFill>
                <a:latin typeface="Calibri"/>
                <a:cs typeface="Calibri"/>
              </a:rPr>
              <a:t>v) </a:t>
            </a:r>
            <a:r>
              <a:rPr dirty="0" sz="3200">
                <a:solidFill>
                  <a:srgbClr val="C00000"/>
                </a:solidFill>
                <a:latin typeface="Calibri"/>
                <a:cs typeface="Calibri"/>
              </a:rPr>
              <a:t>in </a:t>
            </a:r>
            <a:r>
              <a:rPr dirty="0" sz="3200" i="1">
                <a:solidFill>
                  <a:srgbClr val="C00000"/>
                </a:solidFill>
                <a:latin typeface="Calibri"/>
                <a:cs typeface="Calibri"/>
              </a:rPr>
              <a:t>K</a:t>
            </a:r>
            <a:r>
              <a:rPr dirty="0" baseline="-18518" sz="3150" i="1">
                <a:solidFill>
                  <a:srgbClr val="C00000"/>
                </a:solidFill>
                <a:latin typeface="Calibri"/>
                <a:cs typeface="Calibri"/>
              </a:rPr>
              <a:t>k </a:t>
            </a:r>
            <a:r>
              <a:rPr dirty="0" sz="3200" spc="-5">
                <a:solidFill>
                  <a:srgbClr val="C00000"/>
                </a:solidFill>
                <a:latin typeface="Calibri"/>
                <a:cs typeface="Calibri"/>
              </a:rPr>
              <a:t>with probability</a:t>
            </a:r>
            <a:r>
              <a:rPr dirty="0" sz="3200" spc="-3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5" i="1">
                <a:solidFill>
                  <a:srgbClr val="C00000"/>
                </a:solidFill>
                <a:latin typeface="Calibri"/>
                <a:cs typeface="Calibri"/>
              </a:rPr>
              <a:t>p</a:t>
            </a:r>
            <a:r>
              <a:rPr dirty="0" baseline="-18518" sz="3150" spc="7" i="1">
                <a:solidFill>
                  <a:srgbClr val="C00000"/>
                </a:solidFill>
                <a:latin typeface="Calibri"/>
                <a:cs typeface="Calibri"/>
              </a:rPr>
              <a:t>uv</a:t>
            </a:r>
            <a:endParaRPr baseline="-18518" sz="3150">
              <a:latin typeface="Calibri"/>
              <a:cs typeface="Calibri"/>
            </a:endParaRPr>
          </a:p>
          <a:p>
            <a:pPr algn="r" marL="6593840" marR="675005">
              <a:lnSpc>
                <a:spcPct val="101099"/>
              </a:lnSpc>
              <a:spcBef>
                <a:spcPts val="2960"/>
              </a:spcBef>
            </a:pPr>
            <a:r>
              <a:rPr dirty="0" sz="1800" spc="-10" b="1">
                <a:solidFill>
                  <a:srgbClr val="008000"/>
                </a:solidFill>
                <a:latin typeface="Corbel"/>
                <a:cs typeface="Corbel"/>
              </a:rPr>
              <a:t>P</a:t>
            </a:r>
            <a:r>
              <a:rPr dirty="0" sz="1800" spc="-5" b="1">
                <a:solidFill>
                  <a:srgbClr val="008000"/>
                </a:solidFill>
                <a:latin typeface="Corbel"/>
                <a:cs typeface="Corbel"/>
              </a:rPr>
              <a:t>r</a:t>
            </a:r>
            <a:r>
              <a:rPr dirty="0" sz="1800" b="1">
                <a:solidFill>
                  <a:srgbClr val="008000"/>
                </a:solidFill>
                <a:latin typeface="Corbel"/>
                <a:cs typeface="Corbel"/>
              </a:rPr>
              <a:t>o</a:t>
            </a:r>
            <a:r>
              <a:rPr dirty="0" sz="1800" spc="-5" b="1">
                <a:solidFill>
                  <a:srgbClr val="008000"/>
                </a:solidFill>
                <a:latin typeface="Corbel"/>
                <a:cs typeface="Corbel"/>
              </a:rPr>
              <a:t>bab</a:t>
            </a:r>
            <a:r>
              <a:rPr dirty="0" sz="1800" b="1">
                <a:solidFill>
                  <a:srgbClr val="008000"/>
                </a:solidFill>
                <a:latin typeface="Corbel"/>
                <a:cs typeface="Corbel"/>
              </a:rPr>
              <a:t>i</a:t>
            </a:r>
            <a:r>
              <a:rPr dirty="0" sz="1800" spc="-5" b="1">
                <a:solidFill>
                  <a:srgbClr val="008000"/>
                </a:solidFill>
                <a:latin typeface="Corbel"/>
                <a:cs typeface="Corbel"/>
              </a:rPr>
              <a:t>l</a:t>
            </a:r>
            <a:r>
              <a:rPr dirty="0" sz="1800" b="1">
                <a:solidFill>
                  <a:srgbClr val="008000"/>
                </a:solidFill>
                <a:latin typeface="Corbel"/>
                <a:cs typeface="Corbel"/>
              </a:rPr>
              <a:t>i</a:t>
            </a:r>
            <a:r>
              <a:rPr dirty="0" sz="1800" spc="0" b="1">
                <a:solidFill>
                  <a:srgbClr val="008000"/>
                </a:solidFill>
                <a:latin typeface="Corbel"/>
                <a:cs typeface="Corbel"/>
              </a:rPr>
              <a:t>t</a:t>
            </a:r>
            <a:r>
              <a:rPr dirty="0" sz="1800" b="1">
                <a:solidFill>
                  <a:srgbClr val="008000"/>
                </a:solidFill>
                <a:latin typeface="Corbel"/>
                <a:cs typeface="Corbel"/>
              </a:rPr>
              <a:t>y  of </a:t>
            </a:r>
            <a:r>
              <a:rPr dirty="0" sz="1800" spc="-5" b="1">
                <a:solidFill>
                  <a:srgbClr val="008000"/>
                </a:solidFill>
                <a:latin typeface="Corbel"/>
                <a:cs typeface="Corbel"/>
              </a:rPr>
              <a:t>edge</a:t>
            </a:r>
            <a:r>
              <a:rPr dirty="0" sz="1800" spc="-80" b="1">
                <a:solidFill>
                  <a:srgbClr val="008000"/>
                </a:solidFill>
                <a:latin typeface="Corbel"/>
                <a:cs typeface="Corbel"/>
              </a:rPr>
              <a:t> </a:t>
            </a:r>
            <a:r>
              <a:rPr dirty="0" sz="1800" spc="-5" b="1" i="1">
                <a:solidFill>
                  <a:srgbClr val="008000"/>
                </a:solidFill>
                <a:latin typeface="Times New Roman"/>
                <a:cs typeface="Times New Roman"/>
              </a:rPr>
              <a:t>p</a:t>
            </a:r>
            <a:r>
              <a:rPr dirty="0" baseline="-13888" sz="1800" spc="-7" b="1" i="1">
                <a:solidFill>
                  <a:srgbClr val="008000"/>
                </a:solidFill>
                <a:latin typeface="Times New Roman"/>
                <a:cs typeface="Times New Roman"/>
              </a:rPr>
              <a:t>uv</a:t>
            </a:r>
            <a:endParaRPr baseline="-13888" sz="1800">
              <a:latin typeface="Times New Roman"/>
              <a:cs typeface="Times New Roman"/>
            </a:endParaRPr>
          </a:p>
          <a:p>
            <a:pPr marL="1435735">
              <a:lnSpc>
                <a:spcPts val="2250"/>
              </a:lnSpc>
            </a:pPr>
            <a:r>
              <a:rPr dirty="0" sz="2000" spc="-10" b="1">
                <a:solidFill>
                  <a:srgbClr val="008000"/>
                </a:solidFill>
                <a:latin typeface="Corbel"/>
                <a:cs typeface="Corbel"/>
              </a:rPr>
              <a:t>Kronecker</a:t>
            </a:r>
            <a:endParaRPr sz="20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69976" y="341375"/>
            <a:ext cx="7845552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095" y="1348740"/>
            <a:ext cx="6826250" cy="995044"/>
          </a:xfrm>
          <a:prstGeom prst="rect"/>
        </p:spPr>
        <p:txBody>
          <a:bodyPr wrap="square" lIns="0" tIns="33655" rIns="0" bIns="0" rtlCol="0" vert="horz">
            <a:spAutoFit/>
          </a:bodyPr>
          <a:lstStyle/>
          <a:p>
            <a:pPr marL="332740" marR="5080" indent="-320040">
              <a:lnSpc>
                <a:spcPts val="3790"/>
              </a:lnSpc>
              <a:spcBef>
                <a:spcPts val="265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pc="-5">
                <a:solidFill>
                  <a:srgbClr val="FF0066"/>
                </a:solidFill>
              </a:rPr>
              <a:t>How do </a:t>
            </a:r>
            <a:r>
              <a:rPr dirty="0" spc="-15">
                <a:solidFill>
                  <a:srgbClr val="FF0066"/>
                </a:solidFill>
              </a:rPr>
              <a:t>we </a:t>
            </a:r>
            <a:r>
              <a:rPr dirty="0" spc="-25">
                <a:solidFill>
                  <a:srgbClr val="FF0066"/>
                </a:solidFill>
              </a:rPr>
              <a:t>generate </a:t>
            </a:r>
            <a:r>
              <a:rPr dirty="0" spc="-5">
                <a:solidFill>
                  <a:srgbClr val="FF0066"/>
                </a:solidFill>
              </a:rPr>
              <a:t>an </a:t>
            </a:r>
            <a:r>
              <a:rPr dirty="0" spc="-15">
                <a:solidFill>
                  <a:srgbClr val="FF0066"/>
                </a:solidFill>
              </a:rPr>
              <a:t>instance </a:t>
            </a:r>
            <a:r>
              <a:rPr dirty="0">
                <a:solidFill>
                  <a:srgbClr val="FF0066"/>
                </a:solidFill>
              </a:rPr>
              <a:t>of a  </a:t>
            </a:r>
            <a:r>
              <a:rPr dirty="0" spc="-10">
                <a:solidFill>
                  <a:srgbClr val="FF0066"/>
                </a:solidFill>
              </a:rPr>
              <a:t>(Directed) </a:t>
            </a:r>
            <a:r>
              <a:rPr dirty="0" spc="-15">
                <a:solidFill>
                  <a:srgbClr val="FF0066"/>
                </a:solidFill>
              </a:rPr>
              <a:t>stochastic </a:t>
            </a:r>
            <a:r>
              <a:rPr dirty="0" spc="-20">
                <a:solidFill>
                  <a:srgbClr val="FF0066"/>
                </a:solidFill>
              </a:rPr>
              <a:t>Kronecker</a:t>
            </a:r>
            <a:r>
              <a:rPr dirty="0" spc="-25">
                <a:solidFill>
                  <a:srgbClr val="FF0066"/>
                </a:solidFill>
              </a:rPr>
              <a:t> </a:t>
            </a:r>
            <a:r>
              <a:rPr dirty="0" spc="-20">
                <a:solidFill>
                  <a:srgbClr val="FF0066"/>
                </a:solidFill>
              </a:rPr>
              <a:t>graph?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18095" y="4192523"/>
            <a:ext cx="6671945" cy="1990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ts val="3829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Is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there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a </a:t>
            </a:r>
            <a:r>
              <a:rPr dirty="0" sz="3200" spc="-25" b="1">
                <a:solidFill>
                  <a:srgbClr val="0000FF"/>
                </a:solidFill>
                <a:latin typeface="Calibri"/>
                <a:cs typeface="Calibri"/>
              </a:rPr>
              <a:t>faster </a:t>
            </a:r>
            <a:r>
              <a:rPr dirty="0" sz="3200" spc="-30" b="1">
                <a:solidFill>
                  <a:srgbClr val="0000FF"/>
                </a:solidFill>
                <a:latin typeface="Calibri"/>
                <a:cs typeface="Calibri"/>
              </a:rPr>
              <a:t>way?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0000FF"/>
                </a:solidFill>
                <a:latin typeface="Calibri"/>
                <a:cs typeface="Calibri"/>
              </a:rPr>
              <a:t>YES!</a:t>
            </a:r>
            <a:endParaRPr sz="3200">
              <a:latin typeface="Calibri"/>
              <a:cs typeface="Calibri"/>
            </a:endParaRPr>
          </a:p>
          <a:p>
            <a:pPr marL="332740" marR="11430" indent="-320040">
              <a:lnSpc>
                <a:spcPts val="3790"/>
              </a:lnSpc>
              <a:spcBef>
                <a:spcPts val="155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z="3200" spc="-5" b="1">
                <a:solidFill>
                  <a:srgbClr val="008000"/>
                </a:solidFill>
                <a:latin typeface="Calibri"/>
                <a:cs typeface="Calibri"/>
              </a:rPr>
              <a:t>Idea: </a:t>
            </a:r>
            <a:r>
              <a:rPr dirty="0" sz="3200" spc="-5">
                <a:latin typeface="Calibri"/>
                <a:cs typeface="Calibri"/>
              </a:rPr>
              <a:t>Exploit </a:t>
            </a:r>
            <a:r>
              <a:rPr dirty="0" sz="3200">
                <a:latin typeface="Calibri"/>
                <a:cs typeface="Calibri"/>
              </a:rPr>
              <a:t>the </a:t>
            </a:r>
            <a:r>
              <a:rPr dirty="0" sz="3200" spc="-20">
                <a:latin typeface="Calibri"/>
                <a:cs typeface="Calibri"/>
              </a:rPr>
              <a:t>recursive </a:t>
            </a:r>
            <a:r>
              <a:rPr dirty="0" sz="3200" spc="-15">
                <a:latin typeface="Calibri"/>
                <a:cs typeface="Calibri"/>
              </a:rPr>
              <a:t>structure </a:t>
            </a:r>
            <a:r>
              <a:rPr dirty="0" sz="3200" spc="-310">
                <a:latin typeface="Calibri"/>
                <a:cs typeface="Calibri"/>
              </a:rPr>
              <a:t>of  </a:t>
            </a:r>
            <a:r>
              <a:rPr dirty="0" sz="3200" spc="-30">
                <a:latin typeface="Calibri"/>
                <a:cs typeface="Calibri"/>
              </a:rPr>
              <a:t>Kronecker</a:t>
            </a:r>
            <a:r>
              <a:rPr dirty="0" sz="3200" spc="-50">
                <a:latin typeface="Calibri"/>
                <a:cs typeface="Calibri"/>
              </a:rPr>
              <a:t> </a:t>
            </a:r>
            <a:r>
              <a:rPr dirty="0" sz="3200" spc="-15">
                <a:latin typeface="Calibri"/>
                <a:cs typeface="Calibri"/>
              </a:rPr>
              <a:t>graphs</a:t>
            </a:r>
            <a:endParaRPr sz="3200">
              <a:latin typeface="Calibri"/>
              <a:cs typeface="Calibri"/>
            </a:endParaRPr>
          </a:p>
          <a:p>
            <a:pPr lvl="1" marL="808355" indent="-457200">
              <a:lnSpc>
                <a:spcPct val="100000"/>
              </a:lnSpc>
              <a:spcBef>
                <a:spcPts val="545"/>
              </a:spcBef>
              <a:buClr>
                <a:srgbClr val="60B5CC"/>
              </a:buClr>
              <a:buFont typeface="Malgun Gothic"/>
              <a:buChar char="▪"/>
              <a:tabLst>
                <a:tab pos="807720" algn="l"/>
                <a:tab pos="808355" algn="l"/>
              </a:tabLst>
            </a:pPr>
            <a:r>
              <a:rPr dirty="0" sz="2800" spc="-10">
                <a:latin typeface="Calibri"/>
                <a:cs typeface="Calibri"/>
              </a:rPr>
              <a:t>“Drop” </a:t>
            </a:r>
            <a:r>
              <a:rPr dirty="0" sz="2800" spc="-15">
                <a:latin typeface="Calibri"/>
                <a:cs typeface="Calibri"/>
              </a:rPr>
              <a:t>edges onto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graph </a:t>
            </a:r>
            <a:r>
              <a:rPr dirty="0" sz="2800" spc="-5">
                <a:latin typeface="Calibri"/>
                <a:cs typeface="Calibri"/>
              </a:rPr>
              <a:t>one </a:t>
            </a:r>
            <a:r>
              <a:rPr dirty="0" sz="2800" spc="-10">
                <a:latin typeface="Calibri"/>
                <a:cs typeface="Calibri"/>
              </a:rPr>
              <a:t>by</a:t>
            </a:r>
            <a:r>
              <a:rPr dirty="0" sz="2800" spc="2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one</a:t>
            </a:r>
            <a:endParaRPr sz="28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357312" y="2606992"/>
          <a:ext cx="2633980" cy="1370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7700"/>
                <a:gridCol w="647700"/>
                <a:gridCol w="647700"/>
                <a:gridCol w="647700"/>
              </a:tblGrid>
              <a:tr h="30480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600" spc="-5">
                          <a:latin typeface="Arial"/>
                          <a:cs typeface="Arial"/>
                        </a:rPr>
                        <a:t>0.25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600" spc="-5">
                          <a:latin typeface="Arial"/>
                          <a:cs typeface="Arial"/>
                        </a:rPr>
                        <a:t>0.10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600" spc="-5">
                          <a:latin typeface="Arial"/>
                          <a:cs typeface="Arial"/>
                        </a:rPr>
                        <a:t>0.10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600" spc="-5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600" spc="0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600" spc="-5">
                          <a:latin typeface="Arial"/>
                          <a:cs typeface="Arial"/>
                        </a:rPr>
                        <a:t>04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 spc="-5">
                          <a:latin typeface="Arial"/>
                          <a:cs typeface="Arial"/>
                        </a:rPr>
                        <a:t>0.05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 spc="-5">
                          <a:latin typeface="Arial"/>
                          <a:cs typeface="Arial"/>
                        </a:rPr>
                        <a:t>0.15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 spc="-5">
                          <a:latin typeface="Arial"/>
                          <a:cs typeface="Arial"/>
                        </a:rPr>
                        <a:t>0.02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 spc="-5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600" spc="0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600" spc="-5">
                          <a:latin typeface="Arial"/>
                          <a:cs typeface="Arial"/>
                        </a:rPr>
                        <a:t>06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 spc="-5">
                          <a:latin typeface="Arial"/>
                          <a:cs typeface="Arial"/>
                        </a:rPr>
                        <a:t>0.05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 spc="-5">
                          <a:latin typeface="Arial"/>
                          <a:cs typeface="Arial"/>
                        </a:rPr>
                        <a:t>0.02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 spc="-5">
                          <a:latin typeface="Arial"/>
                          <a:cs typeface="Arial"/>
                        </a:rPr>
                        <a:t>0.15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 spc="-5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600" spc="0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600" spc="-5">
                          <a:latin typeface="Arial"/>
                          <a:cs typeface="Arial"/>
                        </a:rPr>
                        <a:t>06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10668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 spc="-5">
                          <a:latin typeface="Arial"/>
                          <a:cs typeface="Arial"/>
                        </a:rPr>
                        <a:t>0.01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 spc="-5">
                          <a:latin typeface="Arial"/>
                          <a:cs typeface="Arial"/>
                        </a:rPr>
                        <a:t>0.03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 spc="-5">
                          <a:latin typeface="Arial"/>
                          <a:cs typeface="Arial"/>
                        </a:rPr>
                        <a:t>0.03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9906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 spc="-5">
                          <a:latin typeface="Arial"/>
                          <a:cs typeface="Arial"/>
                        </a:rPr>
                        <a:t>0</a:t>
                      </a:r>
                      <a:r>
                        <a:rPr dirty="0" sz="1600" spc="0">
                          <a:latin typeface="Arial"/>
                          <a:cs typeface="Arial"/>
                        </a:rPr>
                        <a:t>.</a:t>
                      </a:r>
                      <a:r>
                        <a:rPr dirty="0" sz="1600" spc="-5">
                          <a:latin typeface="Arial"/>
                          <a:cs typeface="Arial"/>
                        </a:rPr>
                        <a:t>09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4114800" y="3383278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422290" y="0"/>
                </a:moveTo>
                <a:lnTo>
                  <a:pt x="422290" y="106342"/>
                </a:lnTo>
                <a:lnTo>
                  <a:pt x="0" y="106342"/>
                </a:lnTo>
                <a:lnTo>
                  <a:pt x="0" y="350857"/>
                </a:lnTo>
                <a:lnTo>
                  <a:pt x="422290" y="350857"/>
                </a:lnTo>
                <a:lnTo>
                  <a:pt x="422290" y="457200"/>
                </a:lnTo>
                <a:lnTo>
                  <a:pt x="609600" y="228600"/>
                </a:lnTo>
                <a:lnTo>
                  <a:pt x="422290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4114800" y="3383278"/>
            <a:ext cx="609600" cy="457200"/>
          </a:xfrm>
          <a:custGeom>
            <a:avLst/>
            <a:gdLst/>
            <a:ahLst/>
            <a:cxnLst/>
            <a:rect l="l" t="t" r="r" b="b"/>
            <a:pathLst>
              <a:path w="609600" h="457200">
                <a:moveTo>
                  <a:pt x="609600" y="228600"/>
                </a:moveTo>
                <a:lnTo>
                  <a:pt x="422290" y="457200"/>
                </a:lnTo>
                <a:lnTo>
                  <a:pt x="422290" y="350857"/>
                </a:lnTo>
                <a:lnTo>
                  <a:pt x="0" y="350857"/>
                </a:lnTo>
                <a:lnTo>
                  <a:pt x="0" y="106342"/>
                </a:lnTo>
                <a:lnTo>
                  <a:pt x="422290" y="106342"/>
                </a:lnTo>
                <a:lnTo>
                  <a:pt x="422290" y="0"/>
                </a:lnTo>
                <a:lnTo>
                  <a:pt x="609600" y="22860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4862512" y="2606992"/>
          <a:ext cx="2633980" cy="1370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7700"/>
                <a:gridCol w="647700"/>
                <a:gridCol w="647700"/>
                <a:gridCol w="647700"/>
              </a:tblGrid>
              <a:tr h="304800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40029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40029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40029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248285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57810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0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40029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1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24765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object 11"/>
          <p:cNvSpPr/>
          <p:nvPr/>
        </p:nvSpPr>
        <p:spPr>
          <a:xfrm>
            <a:off x="829676" y="3279805"/>
            <a:ext cx="618490" cy="248920"/>
          </a:xfrm>
          <a:custGeom>
            <a:avLst/>
            <a:gdLst/>
            <a:ahLst/>
            <a:cxnLst/>
            <a:rect l="l" t="t" r="r" b="b"/>
            <a:pathLst>
              <a:path w="618490" h="248920">
                <a:moveTo>
                  <a:pt x="445954" y="193909"/>
                </a:moveTo>
                <a:lnTo>
                  <a:pt x="428907" y="248457"/>
                </a:lnTo>
                <a:lnTo>
                  <a:pt x="618123" y="217774"/>
                </a:lnTo>
                <a:lnTo>
                  <a:pt x="602191" y="202432"/>
                </a:lnTo>
                <a:lnTo>
                  <a:pt x="473228" y="202432"/>
                </a:lnTo>
                <a:lnTo>
                  <a:pt x="445954" y="193909"/>
                </a:lnTo>
                <a:close/>
              </a:path>
              <a:path w="618490" h="248920">
                <a:moveTo>
                  <a:pt x="463000" y="139360"/>
                </a:moveTo>
                <a:lnTo>
                  <a:pt x="445954" y="193909"/>
                </a:lnTo>
                <a:lnTo>
                  <a:pt x="473228" y="202432"/>
                </a:lnTo>
                <a:lnTo>
                  <a:pt x="490274" y="147883"/>
                </a:lnTo>
                <a:lnTo>
                  <a:pt x="463000" y="139360"/>
                </a:lnTo>
                <a:close/>
              </a:path>
              <a:path w="618490" h="248920">
                <a:moveTo>
                  <a:pt x="480047" y="84811"/>
                </a:moveTo>
                <a:lnTo>
                  <a:pt x="463000" y="139360"/>
                </a:lnTo>
                <a:lnTo>
                  <a:pt x="490274" y="147883"/>
                </a:lnTo>
                <a:lnTo>
                  <a:pt x="473228" y="202432"/>
                </a:lnTo>
                <a:lnTo>
                  <a:pt x="602191" y="202432"/>
                </a:lnTo>
                <a:lnTo>
                  <a:pt x="480047" y="84811"/>
                </a:lnTo>
                <a:close/>
              </a:path>
              <a:path w="618490" h="248920">
                <a:moveTo>
                  <a:pt x="17046" y="0"/>
                </a:moveTo>
                <a:lnTo>
                  <a:pt x="0" y="54549"/>
                </a:lnTo>
                <a:lnTo>
                  <a:pt x="445954" y="193909"/>
                </a:lnTo>
                <a:lnTo>
                  <a:pt x="463000" y="139360"/>
                </a:lnTo>
                <a:lnTo>
                  <a:pt x="17046" y="0"/>
                </a:lnTo>
                <a:close/>
              </a:path>
            </a:pathLst>
          </a:custGeom>
          <a:solidFill>
            <a:srgbClr val="F0AD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8725" y="2657348"/>
            <a:ext cx="1116330" cy="577215"/>
          </a:xfrm>
          <a:prstGeom prst="rect">
            <a:avLst/>
          </a:prstGeom>
        </p:spPr>
        <p:txBody>
          <a:bodyPr wrap="square" lIns="0" tIns="9525" rIns="0" bIns="0" rtlCol="0" vert="horz">
            <a:spAutoFit/>
          </a:bodyPr>
          <a:lstStyle/>
          <a:p>
            <a:pPr marL="12700" marR="5080">
              <a:lnSpc>
                <a:spcPct val="101099"/>
              </a:lnSpc>
              <a:spcBef>
                <a:spcPts val="75"/>
              </a:spcBef>
            </a:pPr>
            <a:r>
              <a:rPr dirty="0" sz="1800" spc="-10" b="1">
                <a:solidFill>
                  <a:srgbClr val="008000"/>
                </a:solidFill>
                <a:latin typeface="Corbel"/>
                <a:cs typeface="Corbel"/>
              </a:rPr>
              <a:t>P</a:t>
            </a:r>
            <a:r>
              <a:rPr dirty="0" sz="1800" spc="-5" b="1">
                <a:solidFill>
                  <a:srgbClr val="008000"/>
                </a:solidFill>
                <a:latin typeface="Corbel"/>
                <a:cs typeface="Corbel"/>
              </a:rPr>
              <a:t>r</a:t>
            </a:r>
            <a:r>
              <a:rPr dirty="0" sz="1800" b="1">
                <a:solidFill>
                  <a:srgbClr val="008000"/>
                </a:solidFill>
                <a:latin typeface="Corbel"/>
                <a:cs typeface="Corbel"/>
              </a:rPr>
              <a:t>o</a:t>
            </a:r>
            <a:r>
              <a:rPr dirty="0" sz="1800" spc="-5" b="1">
                <a:solidFill>
                  <a:srgbClr val="008000"/>
                </a:solidFill>
                <a:latin typeface="Corbel"/>
                <a:cs typeface="Corbel"/>
              </a:rPr>
              <a:t>bab</a:t>
            </a:r>
            <a:r>
              <a:rPr dirty="0" sz="1800" b="1">
                <a:solidFill>
                  <a:srgbClr val="008000"/>
                </a:solidFill>
                <a:latin typeface="Corbel"/>
                <a:cs typeface="Corbel"/>
              </a:rPr>
              <a:t>i</a:t>
            </a:r>
            <a:r>
              <a:rPr dirty="0" sz="1800" spc="-5" b="1">
                <a:solidFill>
                  <a:srgbClr val="008000"/>
                </a:solidFill>
                <a:latin typeface="Corbel"/>
                <a:cs typeface="Corbel"/>
              </a:rPr>
              <a:t>l</a:t>
            </a:r>
            <a:r>
              <a:rPr dirty="0" sz="1800" b="1">
                <a:solidFill>
                  <a:srgbClr val="008000"/>
                </a:solidFill>
                <a:latin typeface="Corbel"/>
                <a:cs typeface="Corbel"/>
              </a:rPr>
              <a:t>i</a:t>
            </a:r>
            <a:r>
              <a:rPr dirty="0" sz="1800" spc="0" b="1">
                <a:solidFill>
                  <a:srgbClr val="008000"/>
                </a:solidFill>
                <a:latin typeface="Corbel"/>
                <a:cs typeface="Corbel"/>
              </a:rPr>
              <a:t>t</a:t>
            </a:r>
            <a:r>
              <a:rPr dirty="0" sz="1800" b="1">
                <a:solidFill>
                  <a:srgbClr val="008000"/>
                </a:solidFill>
                <a:latin typeface="Corbel"/>
                <a:cs typeface="Corbel"/>
              </a:rPr>
              <a:t>y  of </a:t>
            </a:r>
            <a:r>
              <a:rPr dirty="0" sz="1800" spc="-5" b="1">
                <a:solidFill>
                  <a:srgbClr val="008000"/>
                </a:solidFill>
                <a:latin typeface="Corbel"/>
                <a:cs typeface="Corbel"/>
              </a:rPr>
              <a:t>edge</a:t>
            </a:r>
            <a:r>
              <a:rPr dirty="0" sz="1800" spc="-80" b="1">
                <a:solidFill>
                  <a:srgbClr val="008000"/>
                </a:solidFill>
                <a:latin typeface="Corbel"/>
                <a:cs typeface="Corbel"/>
              </a:rPr>
              <a:t> </a:t>
            </a:r>
            <a:r>
              <a:rPr dirty="0" sz="1800" spc="-5" b="1" i="1">
                <a:solidFill>
                  <a:srgbClr val="008000"/>
                </a:solidFill>
                <a:latin typeface="Times New Roman"/>
                <a:cs typeface="Times New Roman"/>
              </a:rPr>
              <a:t>p</a:t>
            </a:r>
            <a:r>
              <a:rPr dirty="0" baseline="-13888" sz="1800" spc="-7" b="1" i="1">
                <a:solidFill>
                  <a:srgbClr val="008000"/>
                </a:solidFill>
                <a:latin typeface="Times New Roman"/>
                <a:cs typeface="Times New Roman"/>
              </a:rPr>
              <a:t>uv</a:t>
            </a:r>
            <a:endParaRPr baseline="-13888" sz="1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20000" y="2612135"/>
            <a:ext cx="1389888" cy="120700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044950" y="2501900"/>
            <a:ext cx="749300" cy="845819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L="12065" marR="5080">
              <a:lnSpc>
                <a:spcPct val="99400"/>
              </a:lnSpc>
              <a:spcBef>
                <a:spcPts val="110"/>
              </a:spcBef>
            </a:pP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Flip  bi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ase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d  </a:t>
            </a:r>
            <a:r>
              <a:rPr dirty="0" sz="1800" spc="-5" b="1">
                <a:solidFill>
                  <a:srgbClr val="008000"/>
                </a:solidFill>
                <a:latin typeface="Arial"/>
                <a:cs typeface="Arial"/>
              </a:rPr>
              <a:t>coins</a:t>
            </a:r>
            <a:endParaRPr sz="18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/>
              <a:t>51</a:t>
            </a:fld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8669" y="1290828"/>
            <a:ext cx="743902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>
                <a:solidFill>
                  <a:srgbClr val="FF0066"/>
                </a:solidFill>
              </a:rPr>
              <a:t>A </a:t>
            </a:r>
            <a:r>
              <a:rPr dirty="0" spc="-25">
                <a:solidFill>
                  <a:srgbClr val="FF0066"/>
                </a:solidFill>
              </a:rPr>
              <a:t>faster </a:t>
            </a:r>
            <a:r>
              <a:rPr dirty="0" spc="-35">
                <a:solidFill>
                  <a:srgbClr val="FF0066"/>
                </a:solidFill>
              </a:rPr>
              <a:t>way </a:t>
            </a:r>
            <a:r>
              <a:rPr dirty="0" spc="-15">
                <a:solidFill>
                  <a:srgbClr val="FF0066"/>
                </a:solidFill>
              </a:rPr>
              <a:t>to </a:t>
            </a:r>
            <a:r>
              <a:rPr dirty="0" spc="-25">
                <a:solidFill>
                  <a:srgbClr val="FF0066"/>
                </a:solidFill>
              </a:rPr>
              <a:t>generate </a:t>
            </a:r>
            <a:r>
              <a:rPr dirty="0" spc="-20">
                <a:solidFill>
                  <a:srgbClr val="FF0066"/>
                </a:solidFill>
              </a:rPr>
              <a:t>Kronecker</a:t>
            </a:r>
            <a:r>
              <a:rPr dirty="0" spc="30">
                <a:solidFill>
                  <a:srgbClr val="FF0066"/>
                </a:solidFill>
              </a:rPr>
              <a:t> </a:t>
            </a:r>
            <a:r>
              <a:rPr dirty="0" spc="-20">
                <a:solidFill>
                  <a:srgbClr val="FF0066"/>
                </a:solidFill>
              </a:rPr>
              <a:t>graph</a:t>
            </a:r>
          </a:p>
        </p:txBody>
      </p:sp>
      <p:sp>
        <p:nvSpPr>
          <p:cNvPr id="5" name="object 5"/>
          <p:cNvSpPr/>
          <p:nvPr/>
        </p:nvSpPr>
        <p:spPr>
          <a:xfrm>
            <a:off x="569976" y="341375"/>
            <a:ext cx="7845552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852678" y="4494529"/>
          <a:ext cx="2067560" cy="2065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6025"/>
                <a:gridCol w="256025"/>
                <a:gridCol w="256025"/>
                <a:gridCol w="256025"/>
                <a:gridCol w="256025"/>
                <a:gridCol w="256025"/>
                <a:gridCol w="256025"/>
                <a:gridCol w="256025"/>
              </a:tblGrid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1447800" y="2148839"/>
            <a:ext cx="1295400" cy="1356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810000" y="1905000"/>
            <a:ext cx="1645920" cy="1600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348984" y="1905000"/>
            <a:ext cx="1652015" cy="16123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43783" y="2642616"/>
            <a:ext cx="941832" cy="4968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895600" y="2674335"/>
            <a:ext cx="838200" cy="381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95600" y="2674335"/>
            <a:ext cx="838200" cy="381000"/>
          </a:xfrm>
          <a:custGeom>
            <a:avLst/>
            <a:gdLst/>
            <a:ahLst/>
            <a:cxnLst/>
            <a:rect l="l" t="t" r="r" b="b"/>
            <a:pathLst>
              <a:path w="838200" h="381000">
                <a:moveTo>
                  <a:pt x="0" y="95250"/>
                </a:moveTo>
                <a:lnTo>
                  <a:pt x="647700" y="95250"/>
                </a:lnTo>
                <a:lnTo>
                  <a:pt x="647700" y="0"/>
                </a:lnTo>
                <a:lnTo>
                  <a:pt x="838200" y="190500"/>
                </a:lnTo>
                <a:lnTo>
                  <a:pt x="647700" y="381000"/>
                </a:lnTo>
                <a:lnTo>
                  <a:pt x="647700" y="285750"/>
                </a:lnTo>
                <a:lnTo>
                  <a:pt x="0" y="285750"/>
                </a:lnTo>
                <a:lnTo>
                  <a:pt x="0" y="952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8263" y="2545079"/>
            <a:ext cx="621792" cy="3992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98669" y="2357628"/>
            <a:ext cx="7336155" cy="23666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1733550">
              <a:lnSpc>
                <a:spcPct val="100000"/>
              </a:lnSpc>
              <a:spcBef>
                <a:spcPts val="100"/>
              </a:spcBef>
            </a:pPr>
            <a:r>
              <a:rPr dirty="0" sz="4400">
                <a:latin typeface="Corbel"/>
                <a:cs typeface="Corbel"/>
              </a:rPr>
              <a:t>=</a:t>
            </a:r>
            <a:endParaRPr sz="4400">
              <a:latin typeface="Corbel"/>
              <a:cs typeface="Corbel"/>
            </a:endParaRPr>
          </a:p>
          <a:p>
            <a:pPr algn="ctr" marL="1157605">
              <a:lnSpc>
                <a:spcPct val="100000"/>
              </a:lnSpc>
              <a:spcBef>
                <a:spcPts val="3100"/>
              </a:spcBef>
            </a:pPr>
            <a:r>
              <a:rPr dirty="0" sz="1800">
                <a:latin typeface="Times New Roman"/>
                <a:cs typeface="Times New Roman"/>
              </a:rPr>
              <a:t>Θ </a:t>
            </a:r>
            <a:r>
              <a:rPr dirty="0" sz="1800">
                <a:latin typeface="Cambria Math"/>
                <a:cs typeface="Cambria Math"/>
              </a:rPr>
              <a:t>⊗</a:t>
            </a:r>
            <a:r>
              <a:rPr dirty="0" sz="1800" spc="-60">
                <a:latin typeface="Cambria Math"/>
                <a:cs typeface="Cambria Math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Θ</a:t>
            </a:r>
            <a:endParaRPr sz="1800">
              <a:latin typeface="Times New Roman"/>
              <a:cs typeface="Times New Roman"/>
            </a:endParaRPr>
          </a:p>
          <a:p>
            <a:pPr marL="469900" indent="-457200">
              <a:lnSpc>
                <a:spcPts val="3815"/>
              </a:lnSpc>
              <a:spcBef>
                <a:spcPts val="25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How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z="3200" spc="-35" b="1">
                <a:solidFill>
                  <a:srgbClr val="0000FF"/>
                </a:solidFill>
                <a:latin typeface="Calibri"/>
                <a:cs typeface="Calibri"/>
              </a:rPr>
              <a:t>“drop”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an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edge 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into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a 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graph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sz="3200" spc="6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on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ts val="3815"/>
              </a:lnSpc>
            </a:pPr>
            <a:r>
              <a:rPr dirty="0" sz="3200" b="1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=2</a:t>
            </a:r>
            <a:r>
              <a:rPr dirty="0" baseline="26455" sz="3150" b="1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26455" sz="3150" spc="-315" b="1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nodes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021745" y="6367082"/>
            <a:ext cx="2007235" cy="497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Adjacency matrix</a:t>
            </a:r>
            <a:r>
              <a:rPr dirty="0" sz="1800" spc="-6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  <a:p>
            <a:pPr algn="r" marR="173990">
              <a:lnSpc>
                <a:spcPct val="100000"/>
              </a:lnSpc>
              <a:spcBef>
                <a:spcPts val="58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53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7845552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115054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371078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627103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83128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139153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395179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651204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852678" y="4757430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52678" y="5013979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852678" y="5270529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852678" y="5527080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852678" y="5783629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852678" y="6040180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852678" y="6296729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859028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907228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852678" y="4500879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852678" y="6553279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867400" y="4495800"/>
            <a:ext cx="16510" cy="2057400"/>
          </a:xfrm>
          <a:custGeom>
            <a:avLst/>
            <a:gdLst/>
            <a:ahLst/>
            <a:cxnLst/>
            <a:rect l="l" t="t" r="r" b="b"/>
            <a:pathLst>
              <a:path w="16510" h="2057400">
                <a:moveTo>
                  <a:pt x="0" y="0"/>
                </a:moveTo>
                <a:lnTo>
                  <a:pt x="15900" y="205740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876800" y="5524500"/>
            <a:ext cx="2030730" cy="2540"/>
          </a:xfrm>
          <a:custGeom>
            <a:avLst/>
            <a:gdLst/>
            <a:ahLst/>
            <a:cxnLst/>
            <a:rect l="l" t="t" r="r" b="b"/>
            <a:pathLst>
              <a:path w="2030729" h="2539">
                <a:moveTo>
                  <a:pt x="0" y="0"/>
                </a:moveTo>
                <a:lnTo>
                  <a:pt x="2030400" y="240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184124" y="4574540"/>
            <a:ext cx="143700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4580" algn="l"/>
              </a:tabLst>
            </a:pPr>
            <a:r>
              <a:rPr dirty="0" sz="4800">
                <a:solidFill>
                  <a:srgbClr val="0000FF"/>
                </a:solidFill>
                <a:latin typeface="Arial"/>
                <a:cs typeface="Arial"/>
              </a:rPr>
              <a:t>a	b</a:t>
            </a:r>
            <a:endParaRPr sz="48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47800" y="2148839"/>
            <a:ext cx="1295400" cy="1356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810000" y="1905000"/>
            <a:ext cx="1645920" cy="1600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348984" y="1905000"/>
            <a:ext cx="1652015" cy="16123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843783" y="2642616"/>
            <a:ext cx="941832" cy="4968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895600" y="2674335"/>
            <a:ext cx="838200" cy="381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895600" y="2674335"/>
            <a:ext cx="838200" cy="381000"/>
          </a:xfrm>
          <a:custGeom>
            <a:avLst/>
            <a:gdLst/>
            <a:ahLst/>
            <a:cxnLst/>
            <a:rect l="l" t="t" r="r" b="b"/>
            <a:pathLst>
              <a:path w="838200" h="381000">
                <a:moveTo>
                  <a:pt x="0" y="95250"/>
                </a:moveTo>
                <a:lnTo>
                  <a:pt x="647700" y="95250"/>
                </a:lnTo>
                <a:lnTo>
                  <a:pt x="647700" y="0"/>
                </a:lnTo>
                <a:lnTo>
                  <a:pt x="838200" y="190500"/>
                </a:lnTo>
                <a:lnTo>
                  <a:pt x="647700" y="381000"/>
                </a:lnTo>
                <a:lnTo>
                  <a:pt x="647700" y="285750"/>
                </a:lnTo>
                <a:lnTo>
                  <a:pt x="0" y="285750"/>
                </a:lnTo>
                <a:lnTo>
                  <a:pt x="0" y="952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88263" y="2545079"/>
            <a:ext cx="621792" cy="3992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37775" y="1236319"/>
            <a:ext cx="8468995" cy="5154295"/>
          </a:xfrm>
          <a:custGeom>
            <a:avLst/>
            <a:gdLst/>
            <a:ahLst/>
            <a:cxnLst/>
            <a:rect l="l" t="t" r="r" b="b"/>
            <a:pathLst>
              <a:path w="8468995" h="5154295">
                <a:moveTo>
                  <a:pt x="0" y="0"/>
                </a:moveTo>
                <a:lnTo>
                  <a:pt x="8468449" y="0"/>
                </a:lnTo>
                <a:lnTo>
                  <a:pt x="8468449" y="5153929"/>
                </a:lnTo>
                <a:lnTo>
                  <a:pt x="0" y="515392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98669" y="1290828"/>
            <a:ext cx="7439025" cy="34334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z="3200" b="1">
                <a:solidFill>
                  <a:srgbClr val="FF0066"/>
                </a:solidFill>
                <a:latin typeface="Calibri"/>
                <a:cs typeface="Calibri"/>
              </a:rPr>
              <a:t>A </a:t>
            </a:r>
            <a:r>
              <a:rPr dirty="0" sz="3200" spc="-25" b="1">
                <a:solidFill>
                  <a:srgbClr val="FF0066"/>
                </a:solidFill>
                <a:latin typeface="Calibri"/>
                <a:cs typeface="Calibri"/>
              </a:rPr>
              <a:t>faster </a:t>
            </a:r>
            <a:r>
              <a:rPr dirty="0" sz="3200" spc="-35" b="1">
                <a:solidFill>
                  <a:srgbClr val="FF0066"/>
                </a:solidFill>
                <a:latin typeface="Calibri"/>
                <a:cs typeface="Calibri"/>
              </a:rPr>
              <a:t>way </a:t>
            </a:r>
            <a:r>
              <a:rPr dirty="0" sz="3200" spc="-15" b="1">
                <a:solidFill>
                  <a:srgbClr val="FF0066"/>
                </a:solidFill>
                <a:latin typeface="Calibri"/>
                <a:cs typeface="Calibri"/>
              </a:rPr>
              <a:t>to </a:t>
            </a:r>
            <a:r>
              <a:rPr dirty="0" sz="3200" spc="-25" b="1">
                <a:solidFill>
                  <a:srgbClr val="FF0066"/>
                </a:solidFill>
                <a:latin typeface="Calibri"/>
                <a:cs typeface="Calibri"/>
              </a:rPr>
              <a:t>generate </a:t>
            </a:r>
            <a:r>
              <a:rPr dirty="0" sz="3200" spc="-20" b="1">
                <a:solidFill>
                  <a:srgbClr val="FF0066"/>
                </a:solidFill>
                <a:latin typeface="Calibri"/>
                <a:cs typeface="Calibri"/>
              </a:rPr>
              <a:t>Kronecker</a:t>
            </a:r>
            <a:r>
              <a:rPr dirty="0" sz="3200" spc="30" b="1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FF0066"/>
                </a:solidFill>
                <a:latin typeface="Calibri"/>
                <a:cs typeface="Calibri"/>
              </a:rPr>
              <a:t>graph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0AD00"/>
              </a:buClr>
              <a:buFont typeface="Arial"/>
              <a:buChar char="▪"/>
            </a:pPr>
            <a:endParaRPr sz="3950">
              <a:latin typeface="Times New Roman"/>
              <a:cs typeface="Times New Roman"/>
            </a:endParaRPr>
          </a:p>
          <a:p>
            <a:pPr algn="r" marR="1837055">
              <a:lnSpc>
                <a:spcPct val="100000"/>
              </a:lnSpc>
            </a:pPr>
            <a:r>
              <a:rPr dirty="0" sz="4400">
                <a:latin typeface="Corbel"/>
                <a:cs typeface="Corbel"/>
              </a:rPr>
              <a:t>=</a:t>
            </a:r>
            <a:endParaRPr sz="4400">
              <a:latin typeface="Corbel"/>
              <a:cs typeface="Corbel"/>
            </a:endParaRPr>
          </a:p>
          <a:p>
            <a:pPr algn="ctr" marL="1154430">
              <a:lnSpc>
                <a:spcPct val="100000"/>
              </a:lnSpc>
              <a:spcBef>
                <a:spcPts val="2810"/>
              </a:spcBef>
            </a:pPr>
            <a:r>
              <a:rPr dirty="0" sz="1800">
                <a:latin typeface="Times New Roman"/>
                <a:cs typeface="Times New Roman"/>
              </a:rPr>
              <a:t>Θ </a:t>
            </a:r>
            <a:r>
              <a:rPr dirty="0" sz="1800">
                <a:latin typeface="Cambria Math"/>
                <a:cs typeface="Cambria Math"/>
              </a:rPr>
              <a:t>⊗</a:t>
            </a:r>
            <a:r>
              <a:rPr dirty="0" sz="1800" spc="-60">
                <a:latin typeface="Cambria Math"/>
                <a:cs typeface="Cambria Math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Θ</a:t>
            </a:r>
            <a:endParaRPr sz="1800">
              <a:latin typeface="Times New Roman"/>
              <a:cs typeface="Times New Roman"/>
            </a:endParaRPr>
          </a:p>
          <a:p>
            <a:pPr marL="469900" indent="-457200">
              <a:lnSpc>
                <a:spcPts val="3815"/>
              </a:lnSpc>
              <a:spcBef>
                <a:spcPts val="5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How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z="3200" spc="-35" b="1">
                <a:solidFill>
                  <a:srgbClr val="0000FF"/>
                </a:solidFill>
                <a:latin typeface="Calibri"/>
                <a:cs typeface="Calibri"/>
              </a:rPr>
              <a:t>“drop”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an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edge 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into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a 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graph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sz="3200" spc="6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on</a:t>
            </a:r>
            <a:endParaRPr sz="3200">
              <a:latin typeface="Calibri"/>
              <a:cs typeface="Calibri"/>
            </a:endParaRPr>
          </a:p>
          <a:p>
            <a:pPr marL="469900">
              <a:lnSpc>
                <a:spcPts val="3815"/>
              </a:lnSpc>
            </a:pPr>
            <a:r>
              <a:rPr dirty="0" sz="3200" b="1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=2</a:t>
            </a:r>
            <a:r>
              <a:rPr dirty="0" baseline="26455" sz="3150" b="1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26455" sz="3150" spc="-315" b="1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nodes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84124" y="5622885"/>
            <a:ext cx="330200" cy="706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405"/>
              </a:lnSpc>
            </a:pPr>
            <a:r>
              <a:rPr dirty="0" sz="4800">
                <a:solidFill>
                  <a:srgbClr val="0000FF"/>
                </a:solidFill>
                <a:latin typeface="Arial"/>
                <a:cs typeface="Arial"/>
              </a:rPr>
              <a:t>c</a:t>
            </a:r>
            <a:endParaRPr sz="4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256615" y="5622885"/>
            <a:ext cx="364490" cy="706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405"/>
              </a:lnSpc>
            </a:pPr>
            <a:r>
              <a:rPr dirty="0" sz="4800">
                <a:solidFill>
                  <a:srgbClr val="0000FF"/>
                </a:solidFill>
                <a:latin typeface="Arial"/>
                <a:cs typeface="Arial"/>
              </a:rPr>
              <a:t>d</a:t>
            </a:r>
            <a:endParaRPr sz="48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21745" y="6367082"/>
            <a:ext cx="2007235" cy="497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Adjacency matrix</a:t>
            </a:r>
            <a:r>
              <a:rPr dirty="0" sz="1800" spc="-6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  <a:p>
            <a:pPr algn="r" marR="173990">
              <a:lnSpc>
                <a:spcPct val="100000"/>
              </a:lnSpc>
              <a:spcBef>
                <a:spcPts val="58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54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69976" y="341375"/>
            <a:ext cx="7845552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447800" y="2148839"/>
            <a:ext cx="1295400" cy="1356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10000" y="1905000"/>
            <a:ext cx="1645920" cy="1600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348984" y="1905000"/>
            <a:ext cx="1652015" cy="16123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43783" y="2642616"/>
            <a:ext cx="941832" cy="4968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895600" y="2674335"/>
            <a:ext cx="838200" cy="381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895600" y="2674335"/>
            <a:ext cx="838200" cy="381000"/>
          </a:xfrm>
          <a:custGeom>
            <a:avLst/>
            <a:gdLst/>
            <a:ahLst/>
            <a:cxnLst/>
            <a:rect l="l" t="t" r="r" b="b"/>
            <a:pathLst>
              <a:path w="838200" h="381000">
                <a:moveTo>
                  <a:pt x="0" y="95250"/>
                </a:moveTo>
                <a:lnTo>
                  <a:pt x="647700" y="95250"/>
                </a:lnTo>
                <a:lnTo>
                  <a:pt x="647700" y="0"/>
                </a:lnTo>
                <a:lnTo>
                  <a:pt x="838200" y="190500"/>
                </a:lnTo>
                <a:lnTo>
                  <a:pt x="647700" y="381000"/>
                </a:lnTo>
                <a:lnTo>
                  <a:pt x="647700" y="285750"/>
                </a:lnTo>
                <a:lnTo>
                  <a:pt x="0" y="285750"/>
                </a:lnTo>
                <a:lnTo>
                  <a:pt x="0" y="952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88263" y="2545079"/>
            <a:ext cx="621792" cy="3992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115054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371078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627103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883128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139153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395179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651204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852678" y="4757430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852678" y="5013979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852678" y="5270529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852678" y="5527080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852678" y="5783629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852678" y="6040180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852678" y="6296729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859028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907228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852678" y="4500879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852678" y="6553279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867400" y="4495800"/>
            <a:ext cx="16510" cy="2057400"/>
          </a:xfrm>
          <a:custGeom>
            <a:avLst/>
            <a:gdLst/>
            <a:ahLst/>
            <a:cxnLst/>
            <a:rect l="l" t="t" r="r" b="b"/>
            <a:pathLst>
              <a:path w="16510" h="2057400">
                <a:moveTo>
                  <a:pt x="0" y="0"/>
                </a:moveTo>
                <a:lnTo>
                  <a:pt x="15900" y="205740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876800" y="5524500"/>
            <a:ext cx="2030730" cy="2540"/>
          </a:xfrm>
          <a:custGeom>
            <a:avLst/>
            <a:gdLst/>
            <a:ahLst/>
            <a:cxnLst/>
            <a:rect l="l" t="t" r="r" b="b"/>
            <a:pathLst>
              <a:path w="2030729" h="2539">
                <a:moveTo>
                  <a:pt x="0" y="0"/>
                </a:moveTo>
                <a:lnTo>
                  <a:pt x="2030400" y="240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369254" y="4495800"/>
            <a:ext cx="0" cy="1031240"/>
          </a:xfrm>
          <a:custGeom>
            <a:avLst/>
            <a:gdLst/>
            <a:ahLst/>
            <a:cxnLst/>
            <a:rect l="l" t="t" r="r" b="b"/>
            <a:pathLst>
              <a:path w="0" h="1031239">
                <a:moveTo>
                  <a:pt x="0" y="0"/>
                </a:moveTo>
                <a:lnTo>
                  <a:pt x="1" y="1031240"/>
                </a:lnTo>
              </a:path>
            </a:pathLst>
          </a:custGeom>
          <a:ln w="28575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876800" y="5011420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1"/>
                </a:lnTo>
              </a:path>
            </a:pathLst>
          </a:custGeom>
          <a:ln w="28575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009902" y="4484115"/>
            <a:ext cx="84328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12445" algn="l"/>
              </a:tabLst>
            </a:pPr>
            <a:r>
              <a:rPr dirty="0" sz="2800" b="1">
                <a:solidFill>
                  <a:srgbClr val="D60093"/>
                </a:solidFill>
                <a:latin typeface="Arial"/>
                <a:cs typeface="Arial"/>
              </a:rPr>
              <a:t>a	b</a:t>
            </a:r>
            <a:endParaRPr sz="2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010388" y="4574540"/>
            <a:ext cx="161099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58570" algn="l"/>
              </a:tabLst>
            </a:pPr>
            <a:r>
              <a:rPr dirty="0" baseline="-22817" sz="4200" spc="-284" b="1">
                <a:solidFill>
                  <a:srgbClr val="D60093"/>
                </a:solidFill>
                <a:latin typeface="Arial"/>
                <a:cs typeface="Arial"/>
              </a:rPr>
              <a:t>c</a:t>
            </a:r>
            <a:r>
              <a:rPr dirty="0" sz="4800">
                <a:solidFill>
                  <a:srgbClr val="0000FF"/>
                </a:solidFill>
                <a:latin typeface="Arial"/>
                <a:cs typeface="Arial"/>
              </a:rPr>
              <a:t>a	b</a:t>
            </a:r>
            <a:endParaRPr sz="4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536147" y="4971795"/>
            <a:ext cx="31750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800" b="1">
                <a:solidFill>
                  <a:srgbClr val="D60093"/>
                </a:solidFill>
                <a:latin typeface="Arial"/>
                <a:cs typeface="Arial"/>
              </a:rPr>
              <a:t>d</a:t>
            </a:r>
            <a:endParaRPr sz="28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37775" y="1236319"/>
            <a:ext cx="8468995" cy="5154295"/>
          </a:xfrm>
          <a:custGeom>
            <a:avLst/>
            <a:gdLst/>
            <a:ahLst/>
            <a:cxnLst/>
            <a:rect l="l" t="t" r="r" b="b"/>
            <a:pathLst>
              <a:path w="8468995" h="5154295">
                <a:moveTo>
                  <a:pt x="0" y="0"/>
                </a:moveTo>
                <a:lnTo>
                  <a:pt x="8468449" y="0"/>
                </a:lnTo>
                <a:lnTo>
                  <a:pt x="8468449" y="5153929"/>
                </a:lnTo>
                <a:lnTo>
                  <a:pt x="0" y="5153929"/>
                </a:lnTo>
                <a:lnTo>
                  <a:pt x="0" y="0"/>
                </a:lnTo>
                <a:close/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98669" y="1290828"/>
            <a:ext cx="7439025" cy="295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z="3200" b="1">
                <a:solidFill>
                  <a:srgbClr val="FF0066"/>
                </a:solidFill>
                <a:latin typeface="Calibri"/>
                <a:cs typeface="Calibri"/>
              </a:rPr>
              <a:t>A </a:t>
            </a:r>
            <a:r>
              <a:rPr dirty="0" sz="3200" spc="-25" b="1">
                <a:solidFill>
                  <a:srgbClr val="FF0066"/>
                </a:solidFill>
                <a:latin typeface="Calibri"/>
                <a:cs typeface="Calibri"/>
              </a:rPr>
              <a:t>faster </a:t>
            </a:r>
            <a:r>
              <a:rPr dirty="0" sz="3200" spc="-35" b="1">
                <a:solidFill>
                  <a:srgbClr val="FF0066"/>
                </a:solidFill>
                <a:latin typeface="Calibri"/>
                <a:cs typeface="Calibri"/>
              </a:rPr>
              <a:t>way </a:t>
            </a:r>
            <a:r>
              <a:rPr dirty="0" sz="3200" spc="-15" b="1">
                <a:solidFill>
                  <a:srgbClr val="FF0066"/>
                </a:solidFill>
                <a:latin typeface="Calibri"/>
                <a:cs typeface="Calibri"/>
              </a:rPr>
              <a:t>to </a:t>
            </a:r>
            <a:r>
              <a:rPr dirty="0" sz="3200" spc="-25" b="1">
                <a:solidFill>
                  <a:srgbClr val="FF0066"/>
                </a:solidFill>
                <a:latin typeface="Calibri"/>
                <a:cs typeface="Calibri"/>
              </a:rPr>
              <a:t>generate </a:t>
            </a:r>
            <a:r>
              <a:rPr dirty="0" sz="3200" spc="-20" b="1">
                <a:solidFill>
                  <a:srgbClr val="FF0066"/>
                </a:solidFill>
                <a:latin typeface="Calibri"/>
                <a:cs typeface="Calibri"/>
              </a:rPr>
              <a:t>Kronecker</a:t>
            </a:r>
            <a:r>
              <a:rPr dirty="0" sz="3200" spc="30" b="1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FF0066"/>
                </a:solidFill>
                <a:latin typeface="Calibri"/>
                <a:cs typeface="Calibri"/>
              </a:rPr>
              <a:t>graph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F0AD00"/>
              </a:buClr>
              <a:buFont typeface="Arial"/>
              <a:buChar char="▪"/>
            </a:pPr>
            <a:endParaRPr sz="3950">
              <a:latin typeface="Times New Roman"/>
              <a:cs typeface="Times New Roman"/>
            </a:endParaRPr>
          </a:p>
          <a:p>
            <a:pPr algn="r" marR="1837055">
              <a:lnSpc>
                <a:spcPct val="100000"/>
              </a:lnSpc>
            </a:pPr>
            <a:r>
              <a:rPr dirty="0" sz="4400">
                <a:latin typeface="Corbel"/>
                <a:cs typeface="Corbel"/>
              </a:rPr>
              <a:t>=</a:t>
            </a:r>
            <a:endParaRPr sz="4400">
              <a:latin typeface="Corbel"/>
              <a:cs typeface="Corbel"/>
            </a:endParaRPr>
          </a:p>
          <a:p>
            <a:pPr algn="ctr" marL="1154430">
              <a:lnSpc>
                <a:spcPct val="100000"/>
              </a:lnSpc>
              <a:spcBef>
                <a:spcPts val="2810"/>
              </a:spcBef>
            </a:pPr>
            <a:r>
              <a:rPr dirty="0" sz="1800">
                <a:latin typeface="Times New Roman"/>
                <a:cs typeface="Times New Roman"/>
              </a:rPr>
              <a:t>Θ </a:t>
            </a:r>
            <a:r>
              <a:rPr dirty="0" sz="1800">
                <a:latin typeface="Cambria Math"/>
                <a:cs typeface="Cambria Math"/>
              </a:rPr>
              <a:t>⊗</a:t>
            </a:r>
            <a:r>
              <a:rPr dirty="0" sz="1800" spc="-60">
                <a:latin typeface="Cambria Math"/>
                <a:cs typeface="Cambria Math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Θ</a:t>
            </a:r>
            <a:endParaRPr sz="18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4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How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z="3200" spc="-35" b="1">
                <a:solidFill>
                  <a:srgbClr val="0000FF"/>
                </a:solidFill>
                <a:latin typeface="Calibri"/>
                <a:cs typeface="Calibri"/>
              </a:rPr>
              <a:t>“drop”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an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edge 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into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a 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graph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sz="3200" spc="6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184124" y="5622885"/>
            <a:ext cx="330200" cy="706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405"/>
              </a:lnSpc>
            </a:pPr>
            <a:r>
              <a:rPr dirty="0" sz="4800">
                <a:solidFill>
                  <a:srgbClr val="0000FF"/>
                </a:solidFill>
                <a:latin typeface="Arial"/>
                <a:cs typeface="Arial"/>
              </a:rPr>
              <a:t>c</a:t>
            </a:r>
            <a:endParaRPr sz="48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56615" y="5622885"/>
            <a:ext cx="364490" cy="7067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5405"/>
              </a:lnSpc>
            </a:pPr>
            <a:r>
              <a:rPr dirty="0" sz="4800">
                <a:solidFill>
                  <a:srgbClr val="0000FF"/>
                </a:solidFill>
                <a:latin typeface="Arial"/>
                <a:cs typeface="Arial"/>
              </a:rPr>
              <a:t>d</a:t>
            </a:r>
            <a:endParaRPr sz="4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021745" y="6367082"/>
            <a:ext cx="2007235" cy="49784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90"/>
              </a:lnSpc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Adjacency matrix</a:t>
            </a:r>
            <a:r>
              <a:rPr dirty="0" sz="1800" spc="-6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  <a:p>
            <a:pPr algn="r" marR="173990">
              <a:lnSpc>
                <a:spcPct val="100000"/>
              </a:lnSpc>
              <a:spcBef>
                <a:spcPts val="58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54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955869" y="4210811"/>
            <a:ext cx="195072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=2</a:t>
            </a:r>
            <a:r>
              <a:rPr dirty="0" baseline="26455" sz="3150" b="1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26455" sz="3150" spc="-315" b="1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nodes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8200" y="4207764"/>
            <a:ext cx="3505200" cy="179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dirty="0" sz="3200" b="1" i="1">
                <a:solidFill>
                  <a:srgbClr val="0000FF"/>
                </a:solidFill>
                <a:latin typeface="Calibri"/>
                <a:cs typeface="Calibri"/>
              </a:rPr>
              <a:t>n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=2</a:t>
            </a:r>
            <a:r>
              <a:rPr dirty="0" baseline="26455" sz="3150" b="1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26455" sz="3150" spc="-315" b="1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nodes:</a:t>
            </a:r>
            <a:endParaRPr sz="3200">
              <a:latin typeface="Calibri"/>
              <a:cs typeface="Calibri"/>
            </a:endParaRPr>
          </a:p>
          <a:p>
            <a:pPr marL="417195" marR="5080" indent="-404495">
              <a:lnSpc>
                <a:spcPct val="99600"/>
              </a:lnSpc>
              <a:spcBef>
                <a:spcPts val="75"/>
              </a:spcBef>
              <a:buClr>
                <a:srgbClr val="F0AD00"/>
              </a:buClr>
              <a:buSzPct val="92857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z="2800" spc="-55">
                <a:latin typeface="Calibri"/>
                <a:cs typeface="Calibri"/>
              </a:rPr>
              <a:t>We </a:t>
            </a:r>
            <a:r>
              <a:rPr dirty="0" sz="2800" spc="-25">
                <a:latin typeface="Calibri"/>
                <a:cs typeface="Calibri"/>
              </a:rPr>
              <a:t>may </a:t>
            </a:r>
            <a:r>
              <a:rPr dirty="0" sz="2800" spc="-20">
                <a:latin typeface="Calibri"/>
                <a:cs typeface="Calibri"/>
              </a:rPr>
              <a:t>get </a:t>
            </a:r>
            <a:r>
              <a:rPr dirty="0" sz="2800">
                <a:latin typeface="Calibri"/>
                <a:cs typeface="Calibri"/>
              </a:rPr>
              <a:t>a </a:t>
            </a:r>
            <a:r>
              <a:rPr dirty="0" sz="2800" spc="-35">
                <a:latin typeface="Calibri"/>
                <a:cs typeface="Calibri"/>
              </a:rPr>
              <a:t>few  </a:t>
            </a:r>
            <a:r>
              <a:rPr dirty="0" sz="2800" spc="-10">
                <a:latin typeface="Calibri"/>
                <a:cs typeface="Calibri"/>
              </a:rPr>
              <a:t>edges colliding. </a:t>
            </a:r>
            <a:r>
              <a:rPr dirty="0" sz="2800" spc="-55">
                <a:latin typeface="Calibri"/>
                <a:cs typeface="Calibri"/>
              </a:rPr>
              <a:t>We  </a:t>
            </a:r>
            <a:r>
              <a:rPr dirty="0" sz="2800" spc="-5">
                <a:latin typeface="Calibri"/>
                <a:cs typeface="Calibri"/>
              </a:rPr>
              <a:t>simply </a:t>
            </a:r>
            <a:r>
              <a:rPr dirty="0" sz="2800" spc="-10">
                <a:latin typeface="Calibri"/>
                <a:cs typeface="Calibri"/>
              </a:rPr>
              <a:t>reinsert</a:t>
            </a:r>
            <a:r>
              <a:rPr dirty="0" sz="2800" spc="-4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them.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69976" y="341375"/>
            <a:ext cx="7845552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115054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371078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27103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883128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139153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395179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651204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852678" y="4757430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852678" y="5013979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852678" y="5270529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852678" y="5527080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852678" y="5783629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852678" y="6040180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852678" y="6296729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859028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907228" y="4494529"/>
            <a:ext cx="0" cy="2065655"/>
          </a:xfrm>
          <a:custGeom>
            <a:avLst/>
            <a:gdLst/>
            <a:ahLst/>
            <a:cxnLst/>
            <a:rect l="l" t="t" r="r" b="b"/>
            <a:pathLst>
              <a:path w="0" h="2065654">
                <a:moveTo>
                  <a:pt x="0" y="0"/>
                </a:moveTo>
                <a:lnTo>
                  <a:pt x="0" y="206510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852678" y="4500879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852678" y="6553279"/>
            <a:ext cx="2061210" cy="0"/>
          </a:xfrm>
          <a:custGeom>
            <a:avLst/>
            <a:gdLst/>
            <a:ahLst/>
            <a:cxnLst/>
            <a:rect l="l" t="t" r="r" b="b"/>
            <a:pathLst>
              <a:path w="2061209" h="0">
                <a:moveTo>
                  <a:pt x="0" y="0"/>
                </a:moveTo>
                <a:lnTo>
                  <a:pt x="2060900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7021745" y="6345428"/>
            <a:ext cx="20072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">
                <a:solidFill>
                  <a:srgbClr val="008000"/>
                </a:solidFill>
                <a:latin typeface="Arial"/>
                <a:cs typeface="Arial"/>
              </a:rPr>
              <a:t>Adjacency matrix</a:t>
            </a:r>
            <a:r>
              <a:rPr dirty="0" sz="1800" spc="-65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008000"/>
                </a:solidFill>
                <a:latin typeface="Arial"/>
                <a:cs typeface="Arial"/>
              </a:rPr>
              <a:t>G</a:t>
            </a:r>
            <a:endParaRPr sz="18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867400" y="4495800"/>
            <a:ext cx="16510" cy="2057400"/>
          </a:xfrm>
          <a:custGeom>
            <a:avLst/>
            <a:gdLst/>
            <a:ahLst/>
            <a:cxnLst/>
            <a:rect l="l" t="t" r="r" b="b"/>
            <a:pathLst>
              <a:path w="16510" h="2057400">
                <a:moveTo>
                  <a:pt x="0" y="0"/>
                </a:moveTo>
                <a:lnTo>
                  <a:pt x="15900" y="205740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876800" y="5524500"/>
            <a:ext cx="2030730" cy="2540"/>
          </a:xfrm>
          <a:custGeom>
            <a:avLst/>
            <a:gdLst/>
            <a:ahLst/>
            <a:cxnLst/>
            <a:rect l="l" t="t" r="r" b="b"/>
            <a:pathLst>
              <a:path w="2030729" h="2539">
                <a:moveTo>
                  <a:pt x="0" y="0"/>
                </a:moveTo>
                <a:lnTo>
                  <a:pt x="2030400" y="2400"/>
                </a:lnTo>
              </a:path>
            </a:pathLst>
          </a:custGeom>
          <a:ln w="28575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184124" y="5565140"/>
            <a:ext cx="143700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4580" algn="l"/>
              </a:tabLst>
            </a:pPr>
            <a:r>
              <a:rPr dirty="0" sz="4800">
                <a:solidFill>
                  <a:srgbClr val="0000FF"/>
                </a:solidFill>
                <a:latin typeface="Arial"/>
                <a:cs typeface="Arial"/>
              </a:rPr>
              <a:t>c	d</a:t>
            </a:r>
            <a:endParaRPr sz="48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369254" y="4495800"/>
            <a:ext cx="0" cy="1031240"/>
          </a:xfrm>
          <a:custGeom>
            <a:avLst/>
            <a:gdLst/>
            <a:ahLst/>
            <a:cxnLst/>
            <a:rect l="l" t="t" r="r" b="b"/>
            <a:pathLst>
              <a:path w="0" h="1031239">
                <a:moveTo>
                  <a:pt x="0" y="0"/>
                </a:moveTo>
                <a:lnTo>
                  <a:pt x="1" y="1031240"/>
                </a:lnTo>
              </a:path>
            </a:pathLst>
          </a:custGeom>
          <a:ln w="28575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876800" y="5011420"/>
            <a:ext cx="990600" cy="0"/>
          </a:xfrm>
          <a:custGeom>
            <a:avLst/>
            <a:gdLst/>
            <a:ahLst/>
            <a:cxnLst/>
            <a:rect l="l" t="t" r="r" b="b"/>
            <a:pathLst>
              <a:path w="990600" h="0">
                <a:moveTo>
                  <a:pt x="0" y="0"/>
                </a:moveTo>
                <a:lnTo>
                  <a:pt x="990600" y="1"/>
                </a:lnTo>
              </a:path>
            </a:pathLst>
          </a:custGeom>
          <a:ln w="28575">
            <a:solidFill>
              <a:srgbClr val="D6009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009902" y="4484115"/>
            <a:ext cx="84328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12445" algn="l"/>
              </a:tabLst>
            </a:pPr>
            <a:r>
              <a:rPr dirty="0" sz="2800" b="1">
                <a:solidFill>
                  <a:srgbClr val="D60093"/>
                </a:solidFill>
                <a:latin typeface="Arial"/>
                <a:cs typeface="Arial"/>
              </a:rPr>
              <a:t>a	b</a:t>
            </a:r>
            <a:endParaRPr sz="2800">
              <a:latin typeface="Arial"/>
              <a:cs typeface="Aria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5627081" y="5014467"/>
            <a:ext cx="6350" cy="510540"/>
          </a:xfrm>
          <a:custGeom>
            <a:avLst/>
            <a:gdLst/>
            <a:ahLst/>
            <a:cxnLst/>
            <a:rect l="l" t="t" r="r" b="b"/>
            <a:pathLst>
              <a:path w="6350" h="510539">
                <a:moveTo>
                  <a:pt x="0" y="0"/>
                </a:moveTo>
                <a:lnTo>
                  <a:pt x="6027" y="510032"/>
                </a:lnTo>
              </a:path>
            </a:pathLst>
          </a:custGeom>
          <a:ln w="28575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389670" y="5269484"/>
            <a:ext cx="474980" cy="0"/>
          </a:xfrm>
          <a:custGeom>
            <a:avLst/>
            <a:gdLst/>
            <a:ahLst/>
            <a:cxnLst/>
            <a:rect l="l" t="t" r="r" b="b"/>
            <a:pathLst>
              <a:path w="474979" h="0">
                <a:moveTo>
                  <a:pt x="0" y="0"/>
                </a:moveTo>
                <a:lnTo>
                  <a:pt x="474821" y="1"/>
                </a:lnTo>
              </a:path>
            </a:pathLst>
          </a:custGeom>
          <a:ln w="28575">
            <a:solidFill>
              <a:srgbClr val="00B0F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010388" y="4574540"/>
            <a:ext cx="1610995" cy="756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58570" algn="l"/>
              </a:tabLst>
            </a:pPr>
            <a:r>
              <a:rPr dirty="0" baseline="-22817" sz="4200" spc="-284" b="1">
                <a:solidFill>
                  <a:srgbClr val="D60093"/>
                </a:solidFill>
                <a:latin typeface="Arial"/>
                <a:cs typeface="Arial"/>
              </a:rPr>
              <a:t>c</a:t>
            </a:r>
            <a:r>
              <a:rPr dirty="0" sz="4800" spc="-930">
                <a:solidFill>
                  <a:srgbClr val="0000FF"/>
                </a:solidFill>
                <a:latin typeface="Arial"/>
                <a:cs typeface="Arial"/>
              </a:rPr>
              <a:t>a</a:t>
            </a:r>
            <a:r>
              <a:rPr dirty="0" sz="2000">
                <a:solidFill>
                  <a:srgbClr val="00B0F0"/>
                </a:solidFill>
                <a:latin typeface="Arial"/>
                <a:cs typeface="Arial"/>
              </a:rPr>
              <a:t>a	</a:t>
            </a:r>
            <a:r>
              <a:rPr dirty="0" sz="4800">
                <a:solidFill>
                  <a:srgbClr val="0000FF"/>
                </a:solidFill>
                <a:latin typeface="Arial"/>
                <a:cs typeface="Arial"/>
              </a:rPr>
              <a:t>b</a:t>
            </a:r>
            <a:endParaRPr sz="48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615346" y="4855971"/>
            <a:ext cx="23812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baseline="-17857" sz="4200" spc="-937" b="1">
                <a:solidFill>
                  <a:srgbClr val="D60093"/>
                </a:solidFill>
                <a:latin typeface="Arial"/>
                <a:cs typeface="Arial"/>
              </a:rPr>
              <a:t>d</a:t>
            </a:r>
            <a:r>
              <a:rPr dirty="0" sz="2000" spc="-625">
                <a:solidFill>
                  <a:srgbClr val="00B0F0"/>
                </a:solidFill>
                <a:latin typeface="Arial"/>
                <a:cs typeface="Arial"/>
              </a:rPr>
              <a:t>b</a:t>
            </a:r>
            <a:endParaRPr sz="20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385367" y="5198364"/>
            <a:ext cx="2355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00B0F0"/>
                </a:solidFill>
                <a:latin typeface="Arial"/>
                <a:cs typeface="Arial"/>
              </a:rPr>
              <a:t>c</a:t>
            </a:r>
            <a:endParaRPr sz="20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633453" y="5225796"/>
            <a:ext cx="21971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dirty="0" sz="2000">
                <a:solidFill>
                  <a:srgbClr val="00B0F0"/>
                </a:solidFill>
                <a:latin typeface="Arial"/>
                <a:cs typeface="Arial"/>
              </a:rPr>
              <a:t>d</a:t>
            </a:r>
            <a:endParaRPr sz="20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447800" y="2148839"/>
            <a:ext cx="1295400" cy="135636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810000" y="1905000"/>
            <a:ext cx="1645920" cy="16002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348984" y="1905000"/>
            <a:ext cx="1652015" cy="161239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843783" y="2642616"/>
            <a:ext cx="941832" cy="4968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2895600" y="2674335"/>
            <a:ext cx="838200" cy="381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895600" y="2674335"/>
            <a:ext cx="838200" cy="381000"/>
          </a:xfrm>
          <a:custGeom>
            <a:avLst/>
            <a:gdLst/>
            <a:ahLst/>
            <a:cxnLst/>
            <a:rect l="l" t="t" r="r" b="b"/>
            <a:pathLst>
              <a:path w="838200" h="381000">
                <a:moveTo>
                  <a:pt x="0" y="95250"/>
                </a:moveTo>
                <a:lnTo>
                  <a:pt x="647700" y="95250"/>
                </a:lnTo>
                <a:lnTo>
                  <a:pt x="647700" y="0"/>
                </a:lnTo>
                <a:lnTo>
                  <a:pt x="838200" y="190500"/>
                </a:lnTo>
                <a:lnTo>
                  <a:pt x="647700" y="381000"/>
                </a:lnTo>
                <a:lnTo>
                  <a:pt x="647700" y="285750"/>
                </a:lnTo>
                <a:lnTo>
                  <a:pt x="0" y="285750"/>
                </a:lnTo>
                <a:lnTo>
                  <a:pt x="0" y="9525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88263" y="2545079"/>
            <a:ext cx="621792" cy="39928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558200" y="1287780"/>
            <a:ext cx="7439025" cy="2951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z="3200" b="1">
                <a:solidFill>
                  <a:srgbClr val="FF0066"/>
                </a:solidFill>
                <a:latin typeface="Calibri"/>
                <a:cs typeface="Calibri"/>
              </a:rPr>
              <a:t>A </a:t>
            </a:r>
            <a:r>
              <a:rPr dirty="0" sz="3200" spc="-25" b="1">
                <a:solidFill>
                  <a:srgbClr val="FF0066"/>
                </a:solidFill>
                <a:latin typeface="Calibri"/>
                <a:cs typeface="Calibri"/>
              </a:rPr>
              <a:t>faster </a:t>
            </a:r>
            <a:r>
              <a:rPr dirty="0" sz="3200" spc="-35" b="1">
                <a:solidFill>
                  <a:srgbClr val="FF0066"/>
                </a:solidFill>
                <a:latin typeface="Calibri"/>
                <a:cs typeface="Calibri"/>
              </a:rPr>
              <a:t>way </a:t>
            </a:r>
            <a:r>
              <a:rPr dirty="0" sz="3200" spc="-15" b="1">
                <a:solidFill>
                  <a:srgbClr val="FF0066"/>
                </a:solidFill>
                <a:latin typeface="Calibri"/>
                <a:cs typeface="Calibri"/>
              </a:rPr>
              <a:t>to </a:t>
            </a:r>
            <a:r>
              <a:rPr dirty="0" sz="3200" spc="-25" b="1">
                <a:solidFill>
                  <a:srgbClr val="FF0066"/>
                </a:solidFill>
                <a:latin typeface="Calibri"/>
                <a:cs typeface="Calibri"/>
              </a:rPr>
              <a:t>generate </a:t>
            </a:r>
            <a:r>
              <a:rPr dirty="0" sz="3200" spc="-20" b="1">
                <a:solidFill>
                  <a:srgbClr val="FF0066"/>
                </a:solidFill>
                <a:latin typeface="Calibri"/>
                <a:cs typeface="Calibri"/>
              </a:rPr>
              <a:t>Kronecker</a:t>
            </a:r>
            <a:r>
              <a:rPr dirty="0" sz="3200" spc="30" b="1">
                <a:solidFill>
                  <a:srgbClr val="FF0066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FF0066"/>
                </a:solidFill>
                <a:latin typeface="Calibri"/>
                <a:cs typeface="Calibri"/>
              </a:rPr>
              <a:t>graph</a:t>
            </a:r>
            <a:endParaRPr sz="3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Clr>
                <a:srgbClr val="F0AD00"/>
              </a:buClr>
              <a:buFont typeface="Arial"/>
              <a:buChar char="▪"/>
            </a:pPr>
            <a:endParaRPr sz="3950">
              <a:latin typeface="Times New Roman"/>
              <a:cs typeface="Times New Roman"/>
            </a:endParaRPr>
          </a:p>
          <a:p>
            <a:pPr algn="r" marR="1896110">
              <a:lnSpc>
                <a:spcPct val="100000"/>
              </a:lnSpc>
            </a:pPr>
            <a:r>
              <a:rPr dirty="0" sz="4400">
                <a:latin typeface="Corbel"/>
                <a:cs typeface="Corbel"/>
              </a:rPr>
              <a:t>=</a:t>
            </a:r>
            <a:endParaRPr sz="4400">
              <a:latin typeface="Corbel"/>
              <a:cs typeface="Corbel"/>
            </a:endParaRPr>
          </a:p>
          <a:p>
            <a:pPr algn="ctr" marL="1035050">
              <a:lnSpc>
                <a:spcPct val="100000"/>
              </a:lnSpc>
              <a:spcBef>
                <a:spcPts val="2815"/>
              </a:spcBef>
            </a:pPr>
            <a:r>
              <a:rPr dirty="0" sz="1800">
                <a:latin typeface="Times New Roman"/>
                <a:cs typeface="Times New Roman"/>
              </a:rPr>
              <a:t>Θ </a:t>
            </a:r>
            <a:r>
              <a:rPr dirty="0" sz="1800">
                <a:latin typeface="Cambria Math"/>
                <a:cs typeface="Cambria Math"/>
              </a:rPr>
              <a:t>⊗</a:t>
            </a:r>
            <a:r>
              <a:rPr dirty="0" sz="1800" spc="-60">
                <a:latin typeface="Cambria Math"/>
                <a:cs typeface="Cambria Math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Θ</a:t>
            </a:r>
            <a:endParaRPr sz="1800">
              <a:latin typeface="Times New Roman"/>
              <a:cs typeface="Times New Roman"/>
            </a:endParaRPr>
          </a:p>
          <a:p>
            <a:pPr marL="469900" indent="-457200">
              <a:lnSpc>
                <a:spcPct val="100000"/>
              </a:lnSpc>
              <a:spcBef>
                <a:spcPts val="52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How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to </a:t>
            </a:r>
            <a:r>
              <a:rPr dirty="0" sz="3200" spc="-35" b="1">
                <a:solidFill>
                  <a:srgbClr val="0000FF"/>
                </a:solidFill>
                <a:latin typeface="Calibri"/>
                <a:cs typeface="Calibri"/>
              </a:rPr>
              <a:t>“drop”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an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edge 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into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a 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graph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G</a:t>
            </a:r>
            <a:r>
              <a:rPr dirty="0" sz="3200" spc="60" b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on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8719684" y="6699893"/>
            <a:ext cx="139700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z="900" spc="-10">
                <a:solidFill>
                  <a:srgbClr val="3F3F3F"/>
                </a:solidFill>
                <a:latin typeface="Calibri"/>
                <a:cs typeface="Calibri"/>
              </a:rPr>
              <a:t>56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69976" y="341375"/>
            <a:ext cx="7845552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583347" y="5076444"/>
            <a:ext cx="1262380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7894" algn="l"/>
              </a:tabLst>
            </a:pPr>
            <a:r>
              <a:rPr dirty="0" sz="4400">
                <a:solidFill>
                  <a:srgbClr val="0000FF"/>
                </a:solidFill>
                <a:latin typeface="Arial"/>
                <a:cs typeface="Arial"/>
              </a:rPr>
              <a:t>a	b</a:t>
            </a:r>
            <a:endParaRPr sz="4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83347" y="5774435"/>
            <a:ext cx="1262380" cy="695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37894" algn="l"/>
              </a:tabLst>
            </a:pPr>
            <a:r>
              <a:rPr dirty="0" sz="4400">
                <a:solidFill>
                  <a:srgbClr val="0000FF"/>
                </a:solidFill>
                <a:latin typeface="Arial"/>
                <a:cs typeface="Arial"/>
              </a:rPr>
              <a:t>c	d</a:t>
            </a:r>
            <a:endParaRPr sz="4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924800" y="4657344"/>
            <a:ext cx="399288" cy="3718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8770" y="1257725"/>
            <a:ext cx="8509635" cy="5600700"/>
          </a:xfrm>
          <a:custGeom>
            <a:avLst/>
            <a:gdLst/>
            <a:ahLst/>
            <a:cxnLst/>
            <a:rect l="l" t="t" r="r" b="b"/>
            <a:pathLst>
              <a:path w="8509635" h="5600700">
                <a:moveTo>
                  <a:pt x="0" y="0"/>
                </a:moveTo>
                <a:lnTo>
                  <a:pt x="8509490" y="0"/>
                </a:lnTo>
                <a:lnTo>
                  <a:pt x="8509490" y="5600274"/>
                </a:lnTo>
              </a:path>
            </a:pathLst>
          </a:custGeom>
          <a:ln w="9525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589664" y="1312164"/>
            <a:ext cx="6536055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pc="-35" u="heavy">
                <a:solidFill>
                  <a:srgbClr val="FF0066"/>
                </a:solidFill>
              </a:rPr>
              <a:t>Fast </a:t>
            </a:r>
            <a:r>
              <a:rPr dirty="0" spc="-20" u="heavy">
                <a:solidFill>
                  <a:srgbClr val="FF0066"/>
                </a:solidFill>
              </a:rPr>
              <a:t>Kronecker </a:t>
            </a:r>
            <a:r>
              <a:rPr dirty="0" spc="-25" u="heavy">
                <a:solidFill>
                  <a:srgbClr val="FF0066"/>
                </a:solidFill>
              </a:rPr>
              <a:t>generator</a:t>
            </a:r>
            <a:r>
              <a:rPr dirty="0" spc="50" u="heavy">
                <a:solidFill>
                  <a:srgbClr val="FF0066"/>
                </a:solidFill>
              </a:rPr>
              <a:t> </a:t>
            </a:r>
            <a:r>
              <a:rPr dirty="0" spc="-10" u="heavy">
                <a:solidFill>
                  <a:srgbClr val="FF0066"/>
                </a:solidFill>
              </a:rPr>
              <a:t>algorithm: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589664" y="1881123"/>
            <a:ext cx="7856855" cy="2016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62635" indent="-45720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SzPct val="92857"/>
              <a:buFont typeface="Malgun Gothic"/>
              <a:buChar char="▪"/>
              <a:tabLst>
                <a:tab pos="762000" algn="l"/>
                <a:tab pos="762635" algn="l"/>
              </a:tabLst>
            </a:pPr>
            <a:r>
              <a:rPr dirty="0" sz="2800" spc="-15">
                <a:latin typeface="Calibri"/>
                <a:cs typeface="Calibri"/>
              </a:rPr>
              <a:t>For generating </a:t>
            </a:r>
            <a:r>
              <a:rPr dirty="0" sz="2800" spc="-10" b="1">
                <a:latin typeface="Calibri"/>
                <a:cs typeface="Calibri"/>
              </a:rPr>
              <a:t>directed</a:t>
            </a:r>
            <a:r>
              <a:rPr dirty="0" sz="2800" spc="-50" b="1">
                <a:latin typeface="Calibri"/>
                <a:cs typeface="Calibri"/>
              </a:rPr>
              <a:t> </a:t>
            </a:r>
            <a:r>
              <a:rPr dirty="0" sz="2800" spc="-15" b="1">
                <a:latin typeface="Calibri"/>
                <a:cs typeface="Calibri"/>
              </a:rPr>
              <a:t>graphs</a:t>
            </a:r>
            <a:endParaRPr sz="28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55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469265" algn="l"/>
                <a:tab pos="469900" algn="l"/>
              </a:tabLst>
            </a:pP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Insert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1 </a:t>
            </a:r>
            <a:r>
              <a:rPr dirty="0" sz="3200" spc="-15" b="1">
                <a:solidFill>
                  <a:srgbClr val="0000FF"/>
                </a:solidFill>
                <a:latin typeface="Calibri"/>
                <a:cs typeface="Calibri"/>
              </a:rPr>
              <a:t>edge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on </a:t>
            </a:r>
            <a:r>
              <a:rPr dirty="0" sz="3200" spc="-20" b="1">
                <a:solidFill>
                  <a:srgbClr val="0000FF"/>
                </a:solidFill>
                <a:latin typeface="Calibri"/>
                <a:cs typeface="Calibri"/>
              </a:rPr>
              <a:t>graph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G on </a:t>
            </a:r>
            <a:r>
              <a:rPr dirty="0" sz="3200" b="1" i="1">
                <a:solidFill>
                  <a:srgbClr val="0000FF"/>
                </a:solidFill>
                <a:latin typeface="Calibri"/>
                <a:cs typeface="Calibri"/>
              </a:rPr>
              <a:t>n </a:t>
            </a:r>
            <a:r>
              <a:rPr dirty="0" sz="3200" b="1">
                <a:solidFill>
                  <a:srgbClr val="0000FF"/>
                </a:solidFill>
                <a:latin typeface="Calibri"/>
                <a:cs typeface="Calibri"/>
              </a:rPr>
              <a:t>= 2</a:t>
            </a:r>
            <a:r>
              <a:rPr dirty="0" baseline="26455" sz="3150" b="1" i="1">
                <a:solidFill>
                  <a:srgbClr val="0000FF"/>
                </a:solidFill>
                <a:latin typeface="Calibri"/>
                <a:cs typeface="Calibri"/>
              </a:rPr>
              <a:t>m</a:t>
            </a:r>
            <a:r>
              <a:rPr dirty="0" baseline="26455" sz="3150" spc="7" b="1" i="1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sz="3200" spc="-5" b="1">
                <a:solidFill>
                  <a:srgbClr val="0000FF"/>
                </a:solidFill>
                <a:latin typeface="Calibri"/>
                <a:cs typeface="Calibri"/>
              </a:rPr>
              <a:t>nodes:</a:t>
            </a:r>
            <a:endParaRPr sz="3200">
              <a:latin typeface="Calibri"/>
              <a:cs typeface="Calibri"/>
            </a:endParaRPr>
          </a:p>
          <a:p>
            <a:pPr lvl="1" marL="762635" indent="-457200">
              <a:lnSpc>
                <a:spcPct val="100000"/>
              </a:lnSpc>
              <a:spcBef>
                <a:spcPts val="755"/>
              </a:spcBef>
              <a:buClr>
                <a:srgbClr val="60B5CC"/>
              </a:buClr>
              <a:buSzPct val="92857"/>
              <a:buFont typeface="Malgun Gothic"/>
              <a:buChar char="▪"/>
              <a:tabLst>
                <a:tab pos="762000" algn="l"/>
                <a:tab pos="762635" algn="l"/>
                <a:tab pos="5566410" algn="l"/>
              </a:tabLst>
            </a:pPr>
            <a:r>
              <a:rPr dirty="0" sz="2800" spc="-25">
                <a:latin typeface="Calibri"/>
                <a:cs typeface="Calibri"/>
              </a:rPr>
              <a:t>Create </a:t>
            </a:r>
            <a:r>
              <a:rPr dirty="0" sz="2800" spc="-15">
                <a:latin typeface="Calibri"/>
                <a:cs typeface="Calibri"/>
              </a:rPr>
              <a:t>normalized </a:t>
            </a:r>
            <a:r>
              <a:rPr dirty="0" sz="2800" spc="-10">
                <a:latin typeface="Calibri"/>
                <a:cs typeface="Calibri"/>
              </a:rPr>
              <a:t>matrix</a:t>
            </a:r>
            <a:r>
              <a:rPr dirty="0" sz="2800" spc="75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𝑳</a:t>
            </a:r>
            <a:r>
              <a:rPr dirty="0" baseline="-16666" sz="3000">
                <a:latin typeface="Cambria Math"/>
                <a:cs typeface="Cambria Math"/>
              </a:rPr>
              <a:t>𝒖𝒗</a:t>
            </a:r>
            <a:r>
              <a:rPr dirty="0" baseline="-16666" sz="3000" spc="322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	</a:t>
            </a:r>
            <a:r>
              <a:rPr dirty="0" sz="2800" spc="5">
                <a:latin typeface="Cambria Math"/>
                <a:cs typeface="Cambria Math"/>
              </a:rPr>
              <a:t>𝜣</a:t>
            </a:r>
            <a:r>
              <a:rPr dirty="0" baseline="-16666" sz="3000" spc="7">
                <a:latin typeface="Cambria Math"/>
                <a:cs typeface="Cambria Math"/>
              </a:rPr>
              <a:t>𝒖𝒗</a:t>
            </a:r>
            <a:r>
              <a:rPr dirty="0" sz="2800" spc="5">
                <a:latin typeface="Cambria Math"/>
                <a:cs typeface="Cambria Math"/>
              </a:rPr>
              <a:t>/(</a:t>
            </a:r>
            <a:r>
              <a:rPr dirty="0" baseline="1984" sz="4200" spc="7">
                <a:latin typeface="Cambria Math"/>
                <a:cs typeface="Cambria Math"/>
              </a:rPr>
              <a:t>∑</a:t>
            </a:r>
            <a:r>
              <a:rPr dirty="0" baseline="-16666" sz="3000" spc="7">
                <a:latin typeface="Cambria Math"/>
                <a:cs typeface="Cambria Math"/>
              </a:rPr>
              <a:t>𝒐𝒑</a:t>
            </a:r>
            <a:r>
              <a:rPr dirty="0" baseline="-16666" sz="3000" spc="-217">
                <a:latin typeface="Cambria Math"/>
                <a:cs typeface="Cambria Math"/>
              </a:rPr>
              <a:t> </a:t>
            </a:r>
            <a:r>
              <a:rPr dirty="0" sz="2800" spc="15">
                <a:latin typeface="Cambria Math"/>
                <a:cs typeface="Cambria Math"/>
              </a:rPr>
              <a:t>𝜣</a:t>
            </a:r>
            <a:r>
              <a:rPr dirty="0" baseline="-16666" sz="3000" spc="22">
                <a:latin typeface="Cambria Math"/>
                <a:cs typeface="Cambria Math"/>
              </a:rPr>
              <a:t>𝒐𝒑</a:t>
            </a:r>
            <a:r>
              <a:rPr dirty="0" sz="2800" spc="15">
                <a:latin typeface="Cambria Math"/>
                <a:cs typeface="Cambria Math"/>
              </a:rPr>
              <a:t>)</a:t>
            </a:r>
            <a:endParaRPr sz="2800">
              <a:latin typeface="Cambria Math"/>
              <a:cs typeface="Cambria Math"/>
            </a:endParaRPr>
          </a:p>
          <a:p>
            <a:pPr lvl="1" marL="762635" indent="-457200">
              <a:lnSpc>
                <a:spcPct val="100000"/>
              </a:lnSpc>
              <a:spcBef>
                <a:spcPts val="930"/>
              </a:spcBef>
              <a:buClr>
                <a:srgbClr val="60B5CC"/>
              </a:buClr>
              <a:buSzPct val="92857"/>
              <a:buFont typeface="Malgun Gothic"/>
              <a:buChar char="▪"/>
              <a:tabLst>
                <a:tab pos="762000" algn="l"/>
                <a:tab pos="762635" algn="l"/>
                <a:tab pos="2341880" algn="l"/>
              </a:tabLst>
            </a:pPr>
            <a:r>
              <a:rPr dirty="0" sz="2800" spc="-15" b="1">
                <a:latin typeface="Calibri"/>
                <a:cs typeface="Calibri"/>
              </a:rPr>
              <a:t>For </a:t>
            </a:r>
            <a:r>
              <a:rPr dirty="0" sz="2800">
                <a:latin typeface="Cambria Math"/>
                <a:cs typeface="Cambria Math"/>
              </a:rPr>
              <a:t>𝒊</a:t>
            </a:r>
            <a:r>
              <a:rPr dirty="0" sz="2800" spc="175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=</a:t>
            </a:r>
            <a:r>
              <a:rPr dirty="0" sz="2800" spc="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𝟏	…</a:t>
            </a:r>
            <a:r>
              <a:rPr dirty="0" sz="2800" spc="-26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𝒎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7194" y="3890772"/>
            <a:ext cx="5916930" cy="1714500"/>
          </a:xfrm>
          <a:prstGeom prst="rect">
            <a:avLst/>
          </a:prstGeom>
        </p:spPr>
        <p:txBody>
          <a:bodyPr wrap="square" lIns="0" tIns="48895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385"/>
              </a:spcBef>
              <a:buClr>
                <a:srgbClr val="E66C7D"/>
              </a:buClr>
              <a:buSzPct val="108333"/>
              <a:buFont typeface="Malgun Gothic"/>
              <a:buChar char="▪"/>
              <a:tabLst>
                <a:tab pos="469265" algn="l"/>
                <a:tab pos="469900" algn="l"/>
              </a:tabLst>
            </a:pPr>
            <a:r>
              <a:rPr dirty="0" sz="2400" spc="-10">
                <a:latin typeface="Calibri"/>
                <a:cs typeface="Calibri"/>
              </a:rPr>
              <a:t>Start </a:t>
            </a:r>
            <a:r>
              <a:rPr dirty="0" sz="2400" spc="-5">
                <a:latin typeface="Calibri"/>
                <a:cs typeface="Calibri"/>
              </a:rPr>
              <a:t>with </a:t>
            </a:r>
            <a:r>
              <a:rPr dirty="0" sz="2400">
                <a:latin typeface="Cambria Math"/>
                <a:cs typeface="Cambria Math"/>
              </a:rPr>
              <a:t>𝒙 = 𝟎, 𝒚 =</a:t>
            </a:r>
            <a:r>
              <a:rPr dirty="0" sz="2400" spc="315"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𝟎</a:t>
            </a:r>
            <a:endParaRPr sz="2400">
              <a:latin typeface="Cambria Math"/>
              <a:cs typeface="Cambria Math"/>
            </a:endParaRPr>
          </a:p>
          <a:p>
            <a:pPr marL="469900" indent="-457200">
              <a:lnSpc>
                <a:spcPct val="100000"/>
              </a:lnSpc>
              <a:spcBef>
                <a:spcPts val="285"/>
              </a:spcBef>
              <a:buClr>
                <a:srgbClr val="E66C7D"/>
              </a:buClr>
              <a:buSzPct val="108333"/>
              <a:buFont typeface="Malgun Gothic"/>
              <a:buChar char="▪"/>
              <a:tabLst>
                <a:tab pos="469265" algn="l"/>
                <a:tab pos="469900" algn="l"/>
              </a:tabLst>
            </a:pPr>
            <a:r>
              <a:rPr dirty="0" sz="2400" spc="-5">
                <a:latin typeface="Calibri"/>
                <a:cs typeface="Calibri"/>
              </a:rPr>
              <a:t>Pick </a:t>
            </a:r>
            <a:r>
              <a:rPr dirty="0" sz="2400">
                <a:latin typeface="Calibri"/>
                <a:cs typeface="Calibri"/>
              </a:rPr>
              <a:t>a </a:t>
            </a:r>
            <a:r>
              <a:rPr dirty="0" sz="2400" spc="-15">
                <a:latin typeface="Calibri"/>
                <a:cs typeface="Calibri"/>
              </a:rPr>
              <a:t>row/column </a:t>
            </a:r>
            <a:r>
              <a:rPr dirty="0" sz="2400">
                <a:latin typeface="Cambria Math"/>
                <a:cs typeface="Cambria Math"/>
              </a:rPr>
              <a:t>(𝒖, </a:t>
            </a:r>
            <a:r>
              <a:rPr dirty="0" sz="2400" spc="-5">
                <a:latin typeface="Cambria Math"/>
                <a:cs typeface="Cambria Math"/>
              </a:rPr>
              <a:t>𝒗) </a:t>
            </a:r>
            <a:r>
              <a:rPr dirty="0" sz="2400" spc="-5">
                <a:latin typeface="Calibri"/>
                <a:cs typeface="Calibri"/>
              </a:rPr>
              <a:t>with </a:t>
            </a:r>
            <a:r>
              <a:rPr dirty="0" sz="2400" spc="-10">
                <a:latin typeface="Calibri"/>
                <a:cs typeface="Calibri"/>
              </a:rPr>
              <a:t>prob.</a:t>
            </a:r>
            <a:r>
              <a:rPr dirty="0" sz="2400" spc="-204">
                <a:latin typeface="Calibri"/>
                <a:cs typeface="Calibri"/>
              </a:rPr>
              <a:t> </a:t>
            </a:r>
            <a:r>
              <a:rPr dirty="0" sz="2400" spc="-15">
                <a:latin typeface="Cambria Math"/>
                <a:cs typeface="Cambria Math"/>
              </a:rPr>
              <a:t>𝑳</a:t>
            </a:r>
            <a:r>
              <a:rPr dirty="0" baseline="-15432" sz="2700" spc="-22">
                <a:latin typeface="Cambria Math"/>
                <a:cs typeface="Cambria Math"/>
              </a:rPr>
              <a:t>𝒖𝒗</a:t>
            </a:r>
            <a:endParaRPr baseline="-15432" sz="2700">
              <a:latin typeface="Cambria Math"/>
              <a:cs typeface="Cambria Math"/>
            </a:endParaRPr>
          </a:p>
          <a:p>
            <a:pPr marL="469900" indent="-457200">
              <a:lnSpc>
                <a:spcPts val="3060"/>
              </a:lnSpc>
              <a:spcBef>
                <a:spcPts val="359"/>
              </a:spcBef>
              <a:buClr>
                <a:srgbClr val="E66C7D"/>
              </a:buClr>
              <a:buSzPct val="108333"/>
              <a:buFont typeface="Malgun Gothic"/>
              <a:buChar char="▪"/>
              <a:tabLst>
                <a:tab pos="469265" algn="l"/>
                <a:tab pos="469900" algn="l"/>
                <a:tab pos="4236085" algn="l"/>
              </a:tabLst>
            </a:pPr>
            <a:r>
              <a:rPr dirty="0" sz="2400" spc="-5">
                <a:latin typeface="Calibri"/>
                <a:cs typeface="Calibri"/>
              </a:rPr>
              <a:t>Descend </a:t>
            </a:r>
            <a:r>
              <a:rPr dirty="0" sz="2400" spc="-15">
                <a:latin typeface="Calibri"/>
                <a:cs typeface="Calibri"/>
              </a:rPr>
              <a:t>into </a:t>
            </a:r>
            <a:r>
              <a:rPr dirty="0" sz="2400" spc="-10">
                <a:latin typeface="Calibri"/>
                <a:cs typeface="Calibri"/>
              </a:rPr>
              <a:t>quadrant</a:t>
            </a:r>
            <a:r>
              <a:rPr dirty="0" sz="2400" spc="5">
                <a:latin typeface="Calibri"/>
                <a:cs typeface="Calibri"/>
              </a:rPr>
              <a:t> </a:t>
            </a:r>
            <a:r>
              <a:rPr dirty="0" sz="2400">
                <a:latin typeface="Cambria Math"/>
                <a:cs typeface="Cambria Math"/>
              </a:rPr>
              <a:t>(𝒖,</a:t>
            </a:r>
            <a:r>
              <a:rPr dirty="0" sz="2400" spc="-135">
                <a:latin typeface="Cambria Math"/>
                <a:cs typeface="Cambria Math"/>
              </a:rPr>
              <a:t> </a:t>
            </a:r>
            <a:r>
              <a:rPr dirty="0" sz="2400" spc="-5">
                <a:latin typeface="Cambria Math"/>
                <a:cs typeface="Cambria Math"/>
              </a:rPr>
              <a:t>𝒗)	</a:t>
            </a:r>
            <a:r>
              <a:rPr dirty="0" sz="2400" spc="-15">
                <a:latin typeface="Calibri"/>
                <a:cs typeface="Calibri"/>
              </a:rPr>
              <a:t>at </a:t>
            </a:r>
            <a:r>
              <a:rPr dirty="0" sz="2400" spc="-10">
                <a:latin typeface="Calibri"/>
                <a:cs typeface="Calibri"/>
              </a:rPr>
              <a:t>level </a:t>
            </a:r>
            <a:r>
              <a:rPr dirty="0" sz="2400">
                <a:latin typeface="Cambria Math"/>
                <a:cs typeface="Cambria Math"/>
              </a:rPr>
              <a:t>𝒊 </a:t>
            </a:r>
            <a:r>
              <a:rPr dirty="0" sz="2400" spc="-5">
                <a:latin typeface="Calibri"/>
                <a:cs typeface="Calibri"/>
              </a:rPr>
              <a:t>of</a:t>
            </a:r>
            <a:r>
              <a:rPr dirty="0" sz="2400" spc="-60">
                <a:latin typeface="Calibri"/>
                <a:cs typeface="Calibri"/>
              </a:rPr>
              <a:t> </a:t>
            </a:r>
            <a:r>
              <a:rPr dirty="0" sz="2400">
                <a:latin typeface="Cambria Math"/>
                <a:cs typeface="Cambria Math"/>
              </a:rPr>
              <a:t>𝑮</a:t>
            </a:r>
            <a:endParaRPr sz="2400">
              <a:latin typeface="Cambria Math"/>
              <a:cs typeface="Cambria Math"/>
            </a:endParaRPr>
          </a:p>
          <a:p>
            <a:pPr lvl="1" marL="689610" marR="517525" indent="-457200">
              <a:lnSpc>
                <a:spcPts val="3060"/>
              </a:lnSpc>
              <a:buClr>
                <a:srgbClr val="6BB76D"/>
              </a:buClr>
              <a:buSzPct val="130000"/>
              <a:buFont typeface="Malgun Gothic"/>
              <a:buChar char="▪"/>
              <a:tabLst>
                <a:tab pos="456565" algn="l"/>
                <a:tab pos="689610" algn="l"/>
              </a:tabLst>
            </a:pPr>
            <a:r>
              <a:rPr dirty="0" sz="2000" spc="-5" b="1">
                <a:latin typeface="Calibri"/>
                <a:cs typeface="Calibri"/>
              </a:rPr>
              <a:t>This means: </a:t>
            </a:r>
            <a:r>
              <a:rPr dirty="0" sz="2000">
                <a:latin typeface="Cambria Math"/>
                <a:cs typeface="Cambria Math"/>
              </a:rPr>
              <a:t>𝒙 += 𝒖 </a:t>
            </a:r>
            <a:r>
              <a:rPr dirty="0" sz="2000" spc="-270">
                <a:latin typeface="Cambria Math"/>
                <a:cs typeface="Cambria Math"/>
              </a:rPr>
              <a:t>)   </a:t>
            </a:r>
            <a:r>
              <a:rPr dirty="0" sz="2000" spc="85">
                <a:latin typeface="Cambria Math"/>
                <a:cs typeface="Cambria Math"/>
              </a:rPr>
              <a:t>𝟐</a:t>
            </a:r>
            <a:r>
              <a:rPr dirty="0" baseline="25925" sz="2250" spc="127">
                <a:latin typeface="Cambria Math"/>
                <a:cs typeface="Cambria Math"/>
              </a:rPr>
              <a:t>𝒎"𝒊</a:t>
            </a:r>
            <a:r>
              <a:rPr dirty="0" sz="2000" spc="85">
                <a:latin typeface="Cambria Math"/>
                <a:cs typeface="Cambria Math"/>
              </a:rPr>
              <a:t>, </a:t>
            </a:r>
            <a:r>
              <a:rPr dirty="0" sz="2000">
                <a:latin typeface="Cambria Math"/>
                <a:cs typeface="Cambria Math"/>
              </a:rPr>
              <a:t>𝒚 += 𝒗 </a:t>
            </a:r>
            <a:r>
              <a:rPr dirty="0" sz="2000" spc="-270">
                <a:latin typeface="Cambria Math"/>
                <a:cs typeface="Cambria Math"/>
              </a:rPr>
              <a:t>) </a:t>
            </a:r>
            <a:r>
              <a:rPr dirty="0" sz="2000" spc="-204">
                <a:latin typeface="Cambria Math"/>
                <a:cs typeface="Cambria Math"/>
              </a:rPr>
              <a:t> </a:t>
            </a:r>
            <a:r>
              <a:rPr dirty="0" sz="2000" spc="100">
                <a:latin typeface="Cambria Math"/>
                <a:cs typeface="Cambria Math"/>
              </a:rPr>
              <a:t>𝟐</a:t>
            </a:r>
            <a:r>
              <a:rPr dirty="0" baseline="25925" sz="2250" spc="150">
                <a:latin typeface="Cambria Math"/>
                <a:cs typeface="Cambria Math"/>
              </a:rPr>
              <a:t>𝒎"𝒊</a:t>
            </a:r>
            <a:endParaRPr baseline="25925" sz="2250">
              <a:latin typeface="Cambria Math"/>
              <a:cs typeface="Cambria Math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268169" y="5756483"/>
            <a:ext cx="782955" cy="329565"/>
          </a:xfrm>
          <a:custGeom>
            <a:avLst/>
            <a:gdLst/>
            <a:ahLst/>
            <a:cxnLst/>
            <a:rect l="l" t="t" r="r" b="b"/>
            <a:pathLst>
              <a:path w="782954" h="329564">
                <a:moveTo>
                  <a:pt x="677390" y="0"/>
                </a:moveTo>
                <a:lnTo>
                  <a:pt x="672701" y="13369"/>
                </a:lnTo>
                <a:lnTo>
                  <a:pt x="691768" y="21644"/>
                </a:lnTo>
                <a:lnTo>
                  <a:pt x="708166" y="33098"/>
                </a:lnTo>
                <a:lnTo>
                  <a:pt x="732952" y="65546"/>
                </a:lnTo>
                <a:lnTo>
                  <a:pt x="747537" y="109323"/>
                </a:lnTo>
                <a:lnTo>
                  <a:pt x="752398" y="163041"/>
                </a:lnTo>
                <a:lnTo>
                  <a:pt x="751177" y="192092"/>
                </a:lnTo>
                <a:lnTo>
                  <a:pt x="741410" y="242185"/>
                </a:lnTo>
                <a:lnTo>
                  <a:pt x="721812" y="281306"/>
                </a:lnTo>
                <a:lnTo>
                  <a:pt x="691990" y="307698"/>
                </a:lnTo>
                <a:lnTo>
                  <a:pt x="673221" y="316011"/>
                </a:lnTo>
                <a:lnTo>
                  <a:pt x="677390" y="329381"/>
                </a:lnTo>
                <a:lnTo>
                  <a:pt x="722317" y="308306"/>
                </a:lnTo>
                <a:lnTo>
                  <a:pt x="755350" y="271822"/>
                </a:lnTo>
                <a:lnTo>
                  <a:pt x="775665" y="222966"/>
                </a:lnTo>
                <a:lnTo>
                  <a:pt x="782436" y="164777"/>
                </a:lnTo>
                <a:lnTo>
                  <a:pt x="780738" y="134581"/>
                </a:lnTo>
                <a:lnTo>
                  <a:pt x="767152" y="81059"/>
                </a:lnTo>
                <a:lnTo>
                  <a:pt x="740206" y="37488"/>
                </a:lnTo>
                <a:lnTo>
                  <a:pt x="701269" y="8621"/>
                </a:lnTo>
                <a:lnTo>
                  <a:pt x="677390" y="0"/>
                </a:lnTo>
                <a:close/>
              </a:path>
              <a:path w="782954" h="329564">
                <a:moveTo>
                  <a:pt x="105048" y="0"/>
                </a:moveTo>
                <a:lnTo>
                  <a:pt x="60229" y="21118"/>
                </a:lnTo>
                <a:lnTo>
                  <a:pt x="27174" y="57732"/>
                </a:lnTo>
                <a:lnTo>
                  <a:pt x="6793" y="106675"/>
                </a:lnTo>
                <a:lnTo>
                  <a:pt x="0" y="164777"/>
                </a:lnTo>
                <a:lnTo>
                  <a:pt x="1693" y="195038"/>
                </a:lnTo>
                <a:lnTo>
                  <a:pt x="15237" y="248560"/>
                </a:lnTo>
                <a:lnTo>
                  <a:pt x="42117" y="291990"/>
                </a:lnTo>
                <a:lnTo>
                  <a:pt x="81097" y="320770"/>
                </a:lnTo>
                <a:lnTo>
                  <a:pt x="105048" y="329381"/>
                </a:lnTo>
                <a:lnTo>
                  <a:pt x="109214" y="316011"/>
                </a:lnTo>
                <a:lnTo>
                  <a:pt x="90446" y="307698"/>
                </a:lnTo>
                <a:lnTo>
                  <a:pt x="74250" y="296130"/>
                </a:lnTo>
                <a:lnTo>
                  <a:pt x="49573" y="263227"/>
                </a:lnTo>
                <a:lnTo>
                  <a:pt x="34922" y="218473"/>
                </a:lnTo>
                <a:lnTo>
                  <a:pt x="30039" y="163041"/>
                </a:lnTo>
                <a:lnTo>
                  <a:pt x="31260" y="134939"/>
                </a:lnTo>
                <a:lnTo>
                  <a:pt x="41027" y="86192"/>
                </a:lnTo>
                <a:lnTo>
                  <a:pt x="60657" y="47732"/>
                </a:lnTo>
                <a:lnTo>
                  <a:pt x="90739" y="21644"/>
                </a:lnTo>
                <a:lnTo>
                  <a:pt x="109736" y="13369"/>
                </a:lnTo>
                <a:lnTo>
                  <a:pt x="10504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882399" y="5654547"/>
            <a:ext cx="392366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Clr>
                <a:srgbClr val="60B5CC"/>
              </a:buClr>
              <a:buSzPct val="92857"/>
              <a:buFont typeface="Malgun Gothic"/>
              <a:buChar char="▪"/>
              <a:tabLst>
                <a:tab pos="469265" algn="l"/>
                <a:tab pos="469900" algn="l"/>
                <a:tab pos="2501900" algn="l"/>
                <a:tab pos="3279775" algn="l"/>
              </a:tabLst>
            </a:pPr>
            <a:r>
              <a:rPr dirty="0" sz="2800">
                <a:latin typeface="Calibri"/>
                <a:cs typeface="Calibri"/>
              </a:rPr>
              <a:t>Add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5">
                <a:latin typeface="Calibri"/>
                <a:cs typeface="Calibri"/>
              </a:rPr>
              <a:t>an</a:t>
            </a:r>
            <a:r>
              <a:rPr dirty="0" sz="2800" spc="5">
                <a:latin typeface="Calibri"/>
                <a:cs typeface="Calibri"/>
              </a:rPr>
              <a:t> </a:t>
            </a:r>
            <a:r>
              <a:rPr dirty="0" sz="2800" spc="-15">
                <a:latin typeface="Calibri"/>
                <a:cs typeface="Calibri"/>
              </a:rPr>
              <a:t>edge	</a:t>
            </a:r>
            <a:r>
              <a:rPr dirty="0" sz="2800" spc="-5">
                <a:latin typeface="Cambria Math"/>
                <a:cs typeface="Cambria Math"/>
              </a:rPr>
              <a:t>𝒙,</a:t>
            </a:r>
            <a:r>
              <a:rPr dirty="0" sz="2800" spc="-150">
                <a:latin typeface="Cambria Math"/>
                <a:cs typeface="Cambria Math"/>
              </a:rPr>
              <a:t> </a:t>
            </a:r>
            <a:r>
              <a:rPr dirty="0" sz="2800">
                <a:latin typeface="Cambria Math"/>
                <a:cs typeface="Cambria Math"/>
              </a:rPr>
              <a:t>𝒚	</a:t>
            </a:r>
            <a:r>
              <a:rPr dirty="0" sz="2800" spc="-15" b="1">
                <a:latin typeface="Calibri"/>
                <a:cs typeface="Calibri"/>
              </a:rPr>
              <a:t>to</a:t>
            </a:r>
            <a:r>
              <a:rPr dirty="0" sz="2800" spc="-100" b="1">
                <a:latin typeface="Calibri"/>
                <a:cs typeface="Calibri"/>
              </a:rPr>
              <a:t> </a:t>
            </a:r>
            <a:r>
              <a:rPr dirty="0" sz="2800">
                <a:latin typeface="Cambria Math"/>
                <a:cs typeface="Cambria Math"/>
              </a:rPr>
              <a:t>𝑮</a:t>
            </a:r>
            <a:endParaRPr sz="2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06984" y="6699893"/>
            <a:ext cx="16573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57</a:t>
            </a:fld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1000" y="2209799"/>
            <a:ext cx="8458200" cy="44958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2168" y="448055"/>
            <a:ext cx="8330183" cy="4998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18095" y="1348740"/>
            <a:ext cx="6114415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Malgun Gothic"/>
              <a:buChar char="▪"/>
              <a:tabLst>
                <a:tab pos="332740" algn="l"/>
              </a:tabLst>
            </a:pPr>
            <a:r>
              <a:rPr dirty="0" sz="3200" spc="-15" b="1">
                <a:solidFill>
                  <a:srgbClr val="C00000"/>
                </a:solidFill>
                <a:latin typeface="Calibri"/>
                <a:cs typeface="Calibri"/>
              </a:rPr>
              <a:t>Real </a:t>
            </a:r>
            <a:r>
              <a:rPr dirty="0" sz="3200" spc="-5" b="1">
                <a:latin typeface="Calibri"/>
                <a:cs typeface="Calibri"/>
              </a:rPr>
              <a:t>and </a:t>
            </a:r>
            <a:r>
              <a:rPr dirty="0" sz="3200" spc="-20" b="1">
                <a:solidFill>
                  <a:srgbClr val="008000"/>
                </a:solidFill>
                <a:latin typeface="Calibri"/>
                <a:cs typeface="Calibri"/>
              </a:rPr>
              <a:t>Kronecker </a:t>
            </a:r>
            <a:r>
              <a:rPr dirty="0" sz="3200" spc="-15" b="1">
                <a:latin typeface="Calibri"/>
                <a:cs typeface="Calibri"/>
              </a:rPr>
              <a:t>are </a:t>
            </a:r>
            <a:r>
              <a:rPr dirty="0" sz="3200" spc="-10" b="1">
                <a:latin typeface="Calibri"/>
                <a:cs typeface="Calibri"/>
              </a:rPr>
              <a:t>very</a:t>
            </a:r>
            <a:r>
              <a:rPr dirty="0" sz="3200" spc="-5" b="1">
                <a:latin typeface="Calibri"/>
                <a:cs typeface="Calibri"/>
              </a:rPr>
              <a:t> </a:t>
            </a:r>
            <a:r>
              <a:rPr dirty="0" sz="3200" spc="-40" b="1">
                <a:latin typeface="Calibri"/>
                <a:cs typeface="Calibri"/>
              </a:rPr>
              <a:t>close: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91400" y="1615439"/>
            <a:ext cx="734568" cy="48158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8077198" y="1450290"/>
          <a:ext cx="957580" cy="774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/>
                <a:gridCol w="457200"/>
              </a:tblGrid>
              <a:tr h="330200"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0.99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034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0.54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6034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0.49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7625">
                    <a:lnL w="38100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600">
                          <a:latin typeface="Times New Roman"/>
                          <a:cs typeface="Times New Roman"/>
                        </a:rPr>
                        <a:t>0.13</a:t>
                      </a: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8706984" y="6699893"/>
            <a:ext cx="16573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57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772694" y="18795"/>
            <a:ext cx="6292215" cy="2692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" b="0">
                <a:solidFill>
                  <a:srgbClr val="FFFFFF"/>
                </a:solidFill>
                <a:latin typeface="Corbel"/>
                <a:cs typeface="Corbel"/>
              </a:rPr>
              <a:t>Leskovec </a:t>
            </a:r>
            <a:r>
              <a:rPr dirty="0" sz="1400" b="0">
                <a:solidFill>
                  <a:srgbClr val="FFFFFF"/>
                </a:solidFill>
                <a:latin typeface="Corbel"/>
                <a:cs typeface="Corbel"/>
              </a:rPr>
              <a:t>et </a:t>
            </a:r>
            <a:r>
              <a:rPr dirty="0" sz="1400" spc="-5" b="0">
                <a:solidFill>
                  <a:srgbClr val="FFFFFF"/>
                </a:solidFill>
                <a:latin typeface="Corbel"/>
                <a:cs typeface="Corbel"/>
              </a:rPr>
              <a:t>al., </a:t>
            </a:r>
            <a:r>
              <a:rPr dirty="0" sz="1600" spc="-10" b="0" u="sng">
                <a:solidFill>
                  <a:srgbClr val="168BBA"/>
                </a:solidFill>
                <a:latin typeface="Corbel"/>
                <a:cs typeface="Corbel"/>
              </a:rPr>
              <a:t>Kronecker </a:t>
            </a:r>
            <a:r>
              <a:rPr dirty="0" sz="1600" spc="-5" b="0" u="sng">
                <a:solidFill>
                  <a:srgbClr val="168BBA"/>
                </a:solidFill>
                <a:latin typeface="Corbel"/>
                <a:cs typeface="Corbel"/>
              </a:rPr>
              <a:t>graphs: </a:t>
            </a:r>
            <a:r>
              <a:rPr dirty="0" sz="1600" b="0" u="sng">
                <a:solidFill>
                  <a:srgbClr val="168BBA"/>
                </a:solidFill>
                <a:latin typeface="Corbel"/>
                <a:cs typeface="Corbel"/>
              </a:rPr>
              <a:t>an </a:t>
            </a:r>
            <a:r>
              <a:rPr dirty="0" sz="1600" spc="-5" b="0" u="sng">
                <a:solidFill>
                  <a:srgbClr val="168BBA"/>
                </a:solidFill>
                <a:latin typeface="Corbel"/>
                <a:cs typeface="Corbel"/>
              </a:rPr>
              <a:t>approach to modeling networks.</a:t>
            </a:r>
            <a:r>
              <a:rPr dirty="0" sz="1600" spc="-5" b="0">
                <a:solidFill>
                  <a:srgbClr val="FFFFFF"/>
                </a:solidFill>
                <a:latin typeface="Corbel"/>
                <a:cs typeface="Corbel"/>
              </a:rPr>
              <a:t>,</a:t>
            </a:r>
            <a:r>
              <a:rPr dirty="0" sz="1600" spc="75" b="0">
                <a:solidFill>
                  <a:srgbClr val="FFFFFF"/>
                </a:solidFill>
                <a:latin typeface="Corbel"/>
                <a:cs typeface="Corbel"/>
              </a:rPr>
              <a:t> </a:t>
            </a:r>
            <a:r>
              <a:rPr dirty="0" sz="1600" spc="-5" b="0">
                <a:solidFill>
                  <a:srgbClr val="FFFFFF"/>
                </a:solidFill>
                <a:latin typeface="Corbel"/>
                <a:cs typeface="Corbel"/>
              </a:rPr>
              <a:t>JMLR</a:t>
            </a:r>
            <a:endParaRPr sz="1600">
              <a:latin typeface="Corbel"/>
              <a:cs typeface="Corbe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021080"/>
            <a:ext cx="9144000" cy="45720"/>
          </a:xfrm>
          <a:custGeom>
            <a:avLst/>
            <a:gdLst/>
            <a:ahLst/>
            <a:cxnLst/>
            <a:rect l="l" t="t" r="r" b="b"/>
            <a:pathLst>
              <a:path w="9144000" h="45719">
                <a:moveTo>
                  <a:pt x="0" y="45720"/>
                </a:moveTo>
                <a:lnTo>
                  <a:pt x="9144000" y="45720"/>
                </a:lnTo>
                <a:lnTo>
                  <a:pt x="9144000" y="0"/>
                </a:lnTo>
                <a:lnTo>
                  <a:pt x="0" y="0"/>
                </a:lnTo>
                <a:lnTo>
                  <a:pt x="0" y="457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0" y="1"/>
            <a:ext cx="9144000" cy="1021080"/>
          </a:xfrm>
          <a:custGeom>
            <a:avLst/>
            <a:gdLst/>
            <a:ahLst/>
            <a:cxnLst/>
            <a:rect l="l" t="t" r="r" b="b"/>
            <a:pathLst>
              <a:path w="9144000" h="1021080">
                <a:moveTo>
                  <a:pt x="0" y="0"/>
                </a:moveTo>
                <a:lnTo>
                  <a:pt x="9143998" y="0"/>
                </a:lnTo>
                <a:lnTo>
                  <a:pt x="9143998" y="1021078"/>
                </a:lnTo>
                <a:lnTo>
                  <a:pt x="0" y="1021078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73023" y="341375"/>
            <a:ext cx="5922264" cy="557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8108" y="1348740"/>
            <a:ext cx="7604759" cy="5130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32740" indent="-320040">
              <a:lnSpc>
                <a:spcPct val="100000"/>
              </a:lnSpc>
              <a:spcBef>
                <a:spcPts val="100"/>
              </a:spcBef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pc="-60">
                <a:solidFill>
                  <a:srgbClr val="000000"/>
                </a:solidFill>
              </a:rPr>
              <a:t>Today: </a:t>
            </a:r>
            <a:r>
              <a:rPr dirty="0" spc="-25">
                <a:solidFill>
                  <a:srgbClr val="000000"/>
                </a:solidFill>
              </a:rPr>
              <a:t>Traditional </a:t>
            </a:r>
            <a:r>
              <a:rPr dirty="0" spc="-20">
                <a:solidFill>
                  <a:srgbClr val="000000"/>
                </a:solidFill>
              </a:rPr>
              <a:t>graph generative</a:t>
            </a:r>
            <a:r>
              <a:rPr dirty="0" spc="75">
                <a:solidFill>
                  <a:srgbClr val="000000"/>
                </a:solidFill>
              </a:rPr>
              <a:t> </a:t>
            </a:r>
            <a:r>
              <a:rPr dirty="0" spc="-5">
                <a:solidFill>
                  <a:srgbClr val="000000"/>
                </a:solidFill>
              </a:rPr>
              <a:t>models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10"/>
              <a:t>2/25/21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69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"/>
              </a:spcBef>
            </a:pPr>
            <a:r>
              <a:rPr dirty="0" spc="-5"/>
              <a:t>Jure Leskovec, Stanford </a:t>
            </a:r>
            <a:r>
              <a:rPr dirty="0" spc="-10"/>
              <a:t>CS224W: </a:t>
            </a:r>
            <a:r>
              <a:rPr dirty="0" spc="-5"/>
              <a:t>Machine Learning with Graphs,</a:t>
            </a:r>
            <a:r>
              <a:rPr dirty="0" spc="50"/>
              <a:t> </a:t>
            </a:r>
            <a:r>
              <a:rPr dirty="0" spc="-5"/>
              <a:t>cs224w.stanford.edu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8706984" y="6699893"/>
            <a:ext cx="165735" cy="165100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dirty="0" sz="900">
                <a:solidFill>
                  <a:srgbClr val="3F3F3F"/>
                </a:solidFill>
                <a:latin typeface="Calibri"/>
                <a:cs typeface="Calibri"/>
              </a:rPr>
              <a:t>57</a:t>
            </a:fld>
            <a:endParaRPr sz="90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6680" rIns="0" bIns="0" rtlCol="0" vert="horz">
            <a:spAutoFit/>
          </a:bodyPr>
          <a:lstStyle/>
          <a:p>
            <a:pPr marL="625475" indent="-274320">
              <a:lnSpc>
                <a:spcPct val="100000"/>
              </a:lnSpc>
              <a:spcBef>
                <a:spcPts val="8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pc="-15"/>
              <a:t>Erdös-Renyi</a:t>
            </a:r>
            <a:r>
              <a:rPr dirty="0" spc="-75"/>
              <a:t> </a:t>
            </a:r>
            <a:r>
              <a:rPr dirty="0" spc="-15"/>
              <a:t>graphs</a:t>
            </a:r>
          </a:p>
          <a:p>
            <a:pPr marL="625475" indent="-274320">
              <a:lnSpc>
                <a:spcPct val="100000"/>
              </a:lnSpc>
              <a:spcBef>
                <a:spcPts val="74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pc="-10"/>
              <a:t>Small-world</a:t>
            </a:r>
            <a:r>
              <a:rPr dirty="0" spc="-20"/>
              <a:t> </a:t>
            </a:r>
            <a:r>
              <a:rPr dirty="0" spc="-15"/>
              <a:t>graphs</a:t>
            </a:r>
          </a:p>
          <a:p>
            <a:pPr marL="625475" indent="-274320">
              <a:lnSpc>
                <a:spcPct val="100000"/>
              </a:lnSpc>
              <a:spcBef>
                <a:spcPts val="62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pc="-25"/>
              <a:t>Kronecker</a:t>
            </a:r>
            <a:r>
              <a:rPr dirty="0" spc="-70"/>
              <a:t> </a:t>
            </a:r>
            <a:r>
              <a:rPr dirty="0" spc="-15"/>
              <a:t>graphs</a:t>
            </a:r>
          </a:p>
          <a:p>
            <a:pPr marL="625475" marR="585470" indent="-274320">
              <a:lnSpc>
                <a:spcPct val="101400"/>
              </a:lnSpc>
              <a:spcBef>
                <a:spcPts val="595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pc="-5"/>
              <a:t>All these models </a:t>
            </a:r>
            <a:r>
              <a:rPr dirty="0" spc="-25"/>
              <a:t>have </a:t>
            </a:r>
            <a:r>
              <a:rPr dirty="0" spc="-5" b="1">
                <a:solidFill>
                  <a:srgbClr val="C00000"/>
                </a:solidFill>
                <a:latin typeface="Calibri"/>
                <a:cs typeface="Calibri"/>
              </a:rPr>
              <a:t>prior assumption of </a:t>
            </a:r>
            <a:r>
              <a:rPr dirty="0" spc="-140" b="1">
                <a:solidFill>
                  <a:srgbClr val="C00000"/>
                </a:solidFill>
                <a:latin typeface="Calibri"/>
                <a:cs typeface="Calibri"/>
              </a:rPr>
              <a:t>the  </a:t>
            </a:r>
            <a:r>
              <a:rPr dirty="0" spc="-15" b="1">
                <a:solidFill>
                  <a:srgbClr val="C00000"/>
                </a:solidFill>
                <a:latin typeface="Calibri"/>
                <a:cs typeface="Calibri"/>
              </a:rPr>
              <a:t>graph generation</a:t>
            </a:r>
            <a:r>
              <a:rPr dirty="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pc="-10" b="1">
                <a:solidFill>
                  <a:srgbClr val="C00000"/>
                </a:solidFill>
                <a:latin typeface="Calibri"/>
                <a:cs typeface="Calibri"/>
              </a:rPr>
              <a:t>processes</a:t>
            </a:r>
          </a:p>
          <a:p>
            <a:pPr marL="332740" indent="-320040">
              <a:lnSpc>
                <a:spcPts val="3775"/>
              </a:lnSpc>
              <a:buClr>
                <a:srgbClr val="F0AD00"/>
              </a:buClr>
              <a:buSzPct val="81250"/>
              <a:buFont typeface="Arial"/>
              <a:buChar char="▪"/>
              <a:tabLst>
                <a:tab pos="332740" algn="l"/>
              </a:tabLst>
            </a:pPr>
            <a:r>
              <a:rPr dirty="0" sz="3200" spc="-10" b="1">
                <a:latin typeface="Calibri"/>
                <a:cs typeface="Calibri"/>
              </a:rPr>
              <a:t>Next: </a:t>
            </a:r>
            <a:r>
              <a:rPr dirty="0" sz="3200" spc="-5" b="1">
                <a:latin typeface="Calibri"/>
                <a:cs typeface="Calibri"/>
              </a:rPr>
              <a:t>Deep </a:t>
            </a:r>
            <a:r>
              <a:rPr dirty="0" sz="3200" spc="-20" b="1">
                <a:latin typeface="Calibri"/>
                <a:cs typeface="Calibri"/>
              </a:rPr>
              <a:t>graph generative</a:t>
            </a:r>
            <a:r>
              <a:rPr dirty="0" sz="3200" spc="-25" b="1">
                <a:latin typeface="Calibri"/>
                <a:cs typeface="Calibri"/>
              </a:rPr>
              <a:t> </a:t>
            </a:r>
            <a:r>
              <a:rPr dirty="0" sz="3200" spc="-5" b="1">
                <a:latin typeface="Calibri"/>
                <a:cs typeface="Calibri"/>
              </a:rPr>
              <a:t>models</a:t>
            </a:r>
            <a:endParaRPr sz="3200">
              <a:latin typeface="Calibri"/>
              <a:cs typeface="Calibri"/>
            </a:endParaRPr>
          </a:p>
          <a:p>
            <a:pPr lvl="1" marL="625475" indent="-274320">
              <a:lnSpc>
                <a:spcPct val="100000"/>
              </a:lnSpc>
              <a:spcBef>
                <a:spcPts val="760"/>
              </a:spcBef>
              <a:buClr>
                <a:srgbClr val="60B5CC"/>
              </a:buClr>
              <a:buFont typeface="Malgun Gothic"/>
              <a:buChar char="▪"/>
              <a:tabLst>
                <a:tab pos="625475" algn="l"/>
              </a:tabLst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Learn </a:t>
            </a:r>
            <a:r>
              <a:rPr dirty="0" sz="2800" spc="-5">
                <a:latin typeface="Calibri"/>
                <a:cs typeface="Calibri"/>
              </a:rPr>
              <a:t>the </a:t>
            </a:r>
            <a:r>
              <a:rPr dirty="0" sz="2800" spc="-15">
                <a:latin typeface="Calibri"/>
                <a:cs typeface="Calibri"/>
              </a:rPr>
              <a:t>graph generation </a:t>
            </a:r>
            <a:r>
              <a:rPr dirty="0" sz="2800" spc="-10">
                <a:latin typeface="Calibri"/>
                <a:cs typeface="Calibri"/>
              </a:rPr>
              <a:t>process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from </a:t>
            </a:r>
            <a:r>
              <a:rPr dirty="0" sz="2800" spc="-30" b="1">
                <a:solidFill>
                  <a:srgbClr val="C00000"/>
                </a:solidFill>
                <a:latin typeface="Calibri"/>
                <a:cs typeface="Calibri"/>
              </a:rPr>
              <a:t>raw</a:t>
            </a:r>
            <a:r>
              <a:rPr dirty="0" sz="2800" spc="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40" b="1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2026-10-20T23:57:28Z</dcterms:created>
  <dcterms:modified xsi:type="dcterms:W3CDTF">2026-10-20T23:57:28Z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2021-02-25T00:00:00Z</vt:filetime>
  </property>
  <property fmtid="{D5CDD505-2E9C-101B-9397-08002B2CF9AE}" pid="3" name="LastSaved">
    <vt:filetime>2026-10-20T00:00:00Z</vt:filetime>
  </property>
</Properties>
</file>